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8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34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9821D-18CF-658E-5FE3-28D3A97E0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297758D-A173-46DF-7934-42C43AF8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 Learning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C092B6-19B3-F909-838C-640674BDC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8A6E32D-E284-6414-E47C-609204AF66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딥러닝에서</a:t>
            </a:r>
            <a:r>
              <a:rPr lang="ko-KR" altLang="en-US" dirty="0"/>
              <a:t> </a:t>
            </a:r>
            <a:r>
              <a:rPr lang="en-US" altLang="ko-KR" dirty="0"/>
              <a:t>XOR </a:t>
            </a:r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딥러닝 </a:t>
            </a:r>
            <a:r>
              <a:rPr lang="en-US" altLang="ko-KR" dirty="0"/>
              <a:t>→ </a:t>
            </a:r>
            <a:r>
              <a:rPr lang="ko-KR" altLang="en-US" dirty="0" err="1"/>
              <a:t>뉴럴</a:t>
            </a:r>
            <a:r>
              <a:rPr lang="ko-KR" altLang="en-US" dirty="0"/>
              <a:t> 네트워크에서 </a:t>
            </a:r>
            <a:r>
              <a:rPr lang="ko-KR" altLang="en-US" dirty="0" err="1"/>
              <a:t>히든</a:t>
            </a:r>
            <a:r>
              <a:rPr lang="ko-KR" altLang="en-US" dirty="0"/>
              <a:t> 레이어를 </a:t>
            </a:r>
            <a:r>
              <a:rPr lang="en-US" altLang="ko-KR" dirty="0"/>
              <a:t>2</a:t>
            </a:r>
            <a:r>
              <a:rPr lang="ko-KR" altLang="en-US" dirty="0"/>
              <a:t>개 이상 확장</a:t>
            </a:r>
            <a:endParaRPr lang="en-US" altLang="ko-KR" dirty="0"/>
          </a:p>
          <a:p>
            <a:pPr lvl="2"/>
            <a:r>
              <a:rPr lang="ko-KR" altLang="en-US" dirty="0"/>
              <a:t>레이어에 각 노드를 몇 개 넣을 건지 자유</a:t>
            </a:r>
            <a:endParaRPr lang="en-US" altLang="ko-KR" dirty="0"/>
          </a:p>
          <a:p>
            <a:pPr lvl="2"/>
            <a:r>
              <a:rPr lang="ko-KR" altLang="en-US" dirty="0"/>
              <a:t>활성함수 조건 </a:t>
            </a:r>
            <a:r>
              <a:rPr lang="en-US" altLang="ko-KR" dirty="0"/>
              <a:t>: </a:t>
            </a:r>
            <a:r>
              <a:rPr lang="ko-KR" altLang="en-US" dirty="0"/>
              <a:t>비선형</a:t>
            </a:r>
            <a:r>
              <a:rPr lang="en-US" altLang="ko-KR" dirty="0"/>
              <a:t>, </a:t>
            </a:r>
            <a:r>
              <a:rPr lang="ko-KR" altLang="en-US" dirty="0"/>
              <a:t>미분가능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hidden layer → deep learning</a:t>
            </a:r>
          </a:p>
          <a:p>
            <a:pPr lvl="2"/>
            <a:r>
              <a:rPr lang="en-US" altLang="ko-KR" dirty="0"/>
              <a:t>XOR: </a:t>
            </a:r>
            <a:r>
              <a:rPr lang="ko-KR" altLang="en-US" dirty="0"/>
              <a:t>단층 </a:t>
            </a:r>
            <a:r>
              <a:rPr lang="en-US" altLang="ko-KR" dirty="0"/>
              <a:t>→ OK ; </a:t>
            </a:r>
            <a:r>
              <a:rPr lang="ko-KR" altLang="en-US" dirty="0"/>
              <a:t>딥러닝 </a:t>
            </a:r>
            <a:r>
              <a:rPr lang="en-US" altLang="ko-KR" dirty="0"/>
              <a:t>→ NO </a:t>
            </a:r>
            <a:r>
              <a:rPr lang="ko-KR" altLang="en-US" dirty="0"/>
              <a:t>왜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= vanishing</a:t>
            </a:r>
            <a:r>
              <a:rPr lang="ko-KR" altLang="en-US" dirty="0"/>
              <a:t> </a:t>
            </a:r>
            <a:r>
              <a:rPr lang="en-US" altLang="ko-KR" dirty="0"/>
              <a:t>gradient</a:t>
            </a:r>
          </a:p>
          <a:p>
            <a:r>
              <a:rPr lang="en-US" altLang="ko-KR" dirty="0"/>
              <a:t>Gradient Vanishing Problem</a:t>
            </a:r>
          </a:p>
          <a:p>
            <a:pPr lvl="1"/>
            <a:r>
              <a:rPr lang="en-US" altLang="ko-KR" dirty="0"/>
              <a:t>XOR</a:t>
            </a:r>
            <a:r>
              <a:rPr lang="ko-KR" altLang="en-US" dirty="0"/>
              <a:t>을 단층 네트워크 </a:t>
            </a:r>
            <a:r>
              <a:rPr lang="en-US" altLang="ko-KR" dirty="0"/>
              <a:t>→ OK ; </a:t>
            </a:r>
            <a:r>
              <a:rPr lang="ko-KR" altLang="en-US" dirty="0"/>
              <a:t>다층</a:t>
            </a:r>
            <a:r>
              <a:rPr lang="en-US" altLang="ko-KR" dirty="0"/>
              <a:t> </a:t>
            </a:r>
            <a:r>
              <a:rPr lang="ko-KR" altLang="en-US" dirty="0"/>
              <a:t>네트워크</a:t>
            </a:r>
            <a:r>
              <a:rPr lang="en-US" altLang="ko-KR" dirty="0"/>
              <a:t>(</a:t>
            </a:r>
            <a:r>
              <a:rPr lang="ko-KR" altLang="en-US" dirty="0"/>
              <a:t>딥러닝</a:t>
            </a:r>
            <a:r>
              <a:rPr lang="en-US" altLang="ko-KR" dirty="0"/>
              <a:t>)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확장 </a:t>
            </a:r>
            <a:r>
              <a:rPr lang="en-US" altLang="ko-KR" dirty="0"/>
              <a:t>→ NO </a:t>
            </a:r>
            <a:r>
              <a:rPr lang="ko-KR" altLang="en-US" dirty="0"/>
              <a:t>왜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Backpropagation </a:t>
            </a:r>
            <a:r>
              <a:rPr lang="ko-KR" altLang="en-US" dirty="0" err="1"/>
              <a:t>과정중</a:t>
            </a:r>
            <a:r>
              <a:rPr lang="ko-KR" altLang="en-US" dirty="0"/>
              <a:t> </a:t>
            </a:r>
            <a:r>
              <a:rPr lang="en-US" altLang="ko-KR" dirty="0"/>
              <a:t>sigmoid</a:t>
            </a:r>
            <a:r>
              <a:rPr lang="ko-KR" altLang="en-US" dirty="0"/>
              <a:t>의 </a:t>
            </a:r>
            <a:r>
              <a:rPr lang="ko-KR" altLang="en-US" dirty="0" err="1"/>
              <a:t>미분값을</a:t>
            </a:r>
            <a:r>
              <a:rPr lang="ko-KR" altLang="en-US" dirty="0"/>
              <a:t> 계산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 err="1"/>
              <a:t>시그모이드의</a:t>
            </a:r>
            <a:r>
              <a:rPr lang="ko-KR" altLang="en-US" dirty="0"/>
              <a:t> 입력</a:t>
            </a:r>
            <a:r>
              <a:rPr lang="en-US" altLang="ko-KR" dirty="0"/>
              <a:t>(</a:t>
            </a:r>
            <a:r>
              <a:rPr lang="en-US" altLang="ko-KR" dirty="0" err="1"/>
              <a:t>WX+b</a:t>
            </a:r>
            <a:r>
              <a:rPr lang="en-US" altLang="ko-KR" dirty="0"/>
              <a:t>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절대값이 크면 기울기가 거의 </a:t>
            </a:r>
            <a:r>
              <a:rPr lang="en-US" altLang="ko-KR" dirty="0"/>
              <a:t>0. </a:t>
            </a:r>
            <a:r>
              <a:rPr lang="ko-KR" altLang="en-US" dirty="0"/>
              <a:t>가중치 </a:t>
            </a:r>
            <a:r>
              <a:rPr lang="ko-KR" altLang="en-US" dirty="0" err="1"/>
              <a:t>업뎃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이 식에서 </a:t>
            </a:r>
            <a:r>
              <a:rPr lang="en-US" altLang="ko-KR" dirty="0"/>
              <a:t>h(1-h) = S(x)(1-S(x))</a:t>
            </a:r>
            <a:r>
              <a:rPr lang="ko-KR" altLang="en-US" dirty="0"/>
              <a:t>의 </a:t>
            </a:r>
            <a:br>
              <a:rPr lang="en-US" altLang="ko-KR" dirty="0"/>
            </a:br>
            <a:r>
              <a:rPr lang="ko-KR" altLang="en-US" dirty="0"/>
              <a:t>최댓값 </a:t>
            </a:r>
            <a:r>
              <a:rPr lang="en-US" altLang="ko-KR" dirty="0"/>
              <a:t>: h=1/2 → 1/4; </a:t>
            </a:r>
            <a:br>
              <a:rPr lang="en-US" altLang="ko-KR" dirty="0"/>
            </a:br>
            <a:r>
              <a:rPr lang="ko-KR" altLang="en-US" dirty="0"/>
              <a:t>많은</a:t>
            </a:r>
            <a:r>
              <a:rPr lang="en-US" altLang="ko-KR" dirty="0"/>
              <a:t> </a:t>
            </a:r>
            <a:r>
              <a:rPr lang="ko-KR" altLang="en-US" dirty="0"/>
              <a:t>레이어 통과 </a:t>
            </a:r>
            <a:r>
              <a:rPr lang="en-US" altLang="ko-KR" dirty="0"/>
              <a:t>→ </a:t>
            </a:r>
            <a:r>
              <a:rPr lang="en-US" altLang="ko-KR" dirty="0" err="1"/>
              <a:t>δi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0.25</a:t>
            </a:r>
            <a:r>
              <a:rPr lang="ko-KR" altLang="en-US" dirty="0"/>
              <a:t> 보다 작은 수 계속 곱함 </a:t>
            </a:r>
            <a:r>
              <a:rPr lang="en-US" altLang="ko-KR" dirty="0"/>
              <a:t>→ </a:t>
            </a:r>
            <a:r>
              <a:rPr lang="ko-KR" altLang="en-US" dirty="0"/>
              <a:t>결국 </a:t>
            </a:r>
            <a:r>
              <a:rPr lang="en-US" altLang="ko-KR" dirty="0"/>
              <a:t>0</a:t>
            </a:r>
            <a:r>
              <a:rPr lang="ko-KR" altLang="en-US" dirty="0"/>
              <a:t>이 됨</a:t>
            </a:r>
            <a:endParaRPr lang="en-US" altLang="ko-KR" dirty="0"/>
          </a:p>
          <a:p>
            <a:r>
              <a:rPr lang="en-US" altLang="ko-KR" dirty="0" err="1"/>
              <a:t>ReLU</a:t>
            </a:r>
            <a:endParaRPr lang="en-US" altLang="ko-KR" dirty="0"/>
          </a:p>
          <a:p>
            <a:pPr lvl="1"/>
            <a:r>
              <a:rPr lang="ko-KR" altLang="en-US" dirty="0"/>
              <a:t>솔루션</a:t>
            </a:r>
            <a:r>
              <a:rPr lang="en-US" altLang="ko-KR" dirty="0"/>
              <a:t> : </a:t>
            </a:r>
            <a:r>
              <a:rPr lang="ko-KR" altLang="en-US" dirty="0"/>
              <a:t>중간 </a:t>
            </a:r>
            <a:r>
              <a:rPr lang="en-US" altLang="ko-KR" dirty="0"/>
              <a:t>Hidden layer</a:t>
            </a:r>
            <a:r>
              <a:rPr lang="ko-KR" altLang="en-US" dirty="0"/>
              <a:t>에  </a:t>
            </a:r>
            <a:r>
              <a:rPr lang="ko-KR" altLang="en-US" dirty="0" err="1"/>
              <a:t>시그모이드</a:t>
            </a:r>
            <a:r>
              <a:rPr lang="ko-KR" altLang="en-US" dirty="0"/>
              <a:t> 대신 </a:t>
            </a:r>
            <a:br>
              <a:rPr lang="en-US" altLang="ko-KR" dirty="0"/>
            </a:br>
            <a:r>
              <a:rPr lang="en-US" altLang="ko-KR" dirty="0" err="1"/>
              <a:t>ReLU</a:t>
            </a:r>
            <a:r>
              <a:rPr lang="en-US" altLang="ko-KR" dirty="0"/>
              <a:t>(x)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Max(0,x)</a:t>
            </a:r>
            <a:r>
              <a:rPr lang="ko-KR" altLang="en-US" dirty="0"/>
              <a:t>를 사용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함수는 연속적</a:t>
            </a:r>
            <a:r>
              <a:rPr lang="en-US" altLang="ko-KR" dirty="0"/>
              <a:t>, </a:t>
            </a:r>
            <a:r>
              <a:rPr lang="ko-KR" altLang="en-US" dirty="0"/>
              <a:t>미분가능</a:t>
            </a:r>
            <a:r>
              <a:rPr lang="en-US" altLang="ko-KR" dirty="0"/>
              <a:t>(0</a:t>
            </a:r>
            <a:r>
              <a:rPr lang="ko-KR" altLang="en-US" dirty="0"/>
              <a:t>을 기점으로 </a:t>
            </a:r>
            <a:r>
              <a:rPr lang="en-US" altLang="ko-KR" dirty="0"/>
              <a:t>0,1</a:t>
            </a:r>
            <a:r>
              <a:rPr lang="ko-KR" altLang="en-US" dirty="0"/>
              <a:t>의 기울기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 err="1"/>
              <a:t>시그모이드처럼</a:t>
            </a:r>
            <a:r>
              <a:rPr lang="ko-KR" altLang="en-US" dirty="0"/>
              <a:t> 음수를 </a:t>
            </a:r>
            <a:r>
              <a:rPr lang="en-US" altLang="ko-KR" dirty="0"/>
              <a:t>0, </a:t>
            </a:r>
            <a:r>
              <a:rPr lang="ko-KR" altLang="en-US" dirty="0"/>
              <a:t>양수는 </a:t>
            </a:r>
            <a:r>
              <a:rPr lang="en-US" altLang="ko-KR" dirty="0"/>
              <a:t>bypass</a:t>
            </a:r>
            <a:r>
              <a:rPr lang="ko-KR" altLang="en-US" dirty="0"/>
              <a:t>처리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0</a:t>
            </a:r>
            <a:r>
              <a:rPr lang="ko-KR" altLang="en-US" dirty="0"/>
              <a:t>으로 처리된 노드는 학습 </a:t>
            </a:r>
            <a:r>
              <a:rPr lang="en-US" altLang="ko-KR" dirty="0"/>
              <a:t>X. 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en-US" altLang="ko-KR" dirty="0" err="1"/>
              <a:t>leakly</a:t>
            </a:r>
            <a:r>
              <a:rPr lang="en-US" altLang="ko-KR" dirty="0"/>
              <a:t> ReLU, </a:t>
            </a:r>
            <a:r>
              <a:rPr lang="en-US" altLang="ko-KR" dirty="0" err="1"/>
              <a:t>maxout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lvl="1"/>
            <a:r>
              <a:rPr lang="ko-KR" altLang="en-US" dirty="0"/>
              <a:t>코드에서 마지막 </a:t>
            </a:r>
            <a:r>
              <a:rPr lang="en-US" altLang="ko-KR" dirty="0"/>
              <a:t>layer = sigmoid?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 err="1"/>
              <a:t>시그모이드를</a:t>
            </a:r>
            <a:r>
              <a:rPr lang="ko-KR" altLang="en-US" dirty="0"/>
              <a:t> 거치면 </a:t>
            </a:r>
            <a:r>
              <a:rPr lang="en-US" altLang="ko-KR" dirty="0"/>
              <a:t>0~1</a:t>
            </a:r>
            <a:r>
              <a:rPr lang="ko-KR" altLang="en-US" dirty="0"/>
              <a:t> 사이 확률로 출력</a:t>
            </a:r>
            <a:endParaRPr lang="en-US" altLang="ko-KR" dirty="0"/>
          </a:p>
          <a:p>
            <a:r>
              <a:rPr lang="en-US" altLang="ko-KR" dirty="0"/>
              <a:t>Xavier Initialization &amp; Drop out</a:t>
            </a:r>
          </a:p>
          <a:p>
            <a:pPr lvl="1"/>
            <a:r>
              <a:rPr lang="en-US" altLang="ko-KR" dirty="0"/>
              <a:t>Xavier </a:t>
            </a:r>
            <a:r>
              <a:rPr lang="ko-KR" altLang="en-US" dirty="0"/>
              <a:t>초기값</a:t>
            </a:r>
            <a:r>
              <a:rPr lang="en-US" altLang="ko-KR" dirty="0"/>
              <a:t> : </a:t>
            </a:r>
            <a:r>
              <a:rPr lang="ko-KR" altLang="en-US" dirty="0"/>
              <a:t>초기값 설정에 따라 수렴 속도 차이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가중치의 분산을 일정수준 이하로 작게 </a:t>
            </a:r>
            <a:r>
              <a:rPr lang="en-US" altLang="ko-KR" dirty="0"/>
              <a:t>→ </a:t>
            </a:r>
            <a:r>
              <a:rPr lang="ko-KR" altLang="en-US" dirty="0"/>
              <a:t>더 빨리 수렴함</a:t>
            </a:r>
            <a:endParaRPr lang="en-US" altLang="ko-KR" dirty="0"/>
          </a:p>
          <a:p>
            <a:pPr lvl="2"/>
            <a:r>
              <a:rPr lang="en-US" altLang="ko-KR" dirty="0" err="1"/>
              <a:t>np.random.randn</a:t>
            </a:r>
            <a:r>
              <a:rPr lang="en-US" altLang="ko-KR" dirty="0"/>
              <a:t>() : </a:t>
            </a:r>
            <a:r>
              <a:rPr lang="ko-KR" altLang="en-US" dirty="0"/>
              <a:t>표준정규분포상의 난수</a:t>
            </a:r>
            <a:r>
              <a:rPr lang="en-US" altLang="ko-KR" dirty="0"/>
              <a:t>, </a:t>
            </a:r>
            <a:r>
              <a:rPr lang="en-US" altLang="ko-KR" dirty="0" err="1"/>
              <a:t>fan_in</a:t>
            </a:r>
            <a:r>
              <a:rPr lang="en-US" altLang="ko-KR" dirty="0"/>
              <a:t>(out) : </a:t>
            </a: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  <a:r>
              <a:rPr lang="ko-KR" altLang="en-US" dirty="0"/>
              <a:t>노드 수</a:t>
            </a:r>
            <a:br>
              <a:rPr lang="en-US" altLang="ko-KR" dirty="0"/>
            </a:br>
            <a:r>
              <a:rPr lang="en-US" altLang="ko-KR" dirty="0"/>
              <a:t>He</a:t>
            </a:r>
            <a:r>
              <a:rPr lang="ko-KR" altLang="en-US" dirty="0"/>
              <a:t> </a:t>
            </a:r>
            <a:r>
              <a:rPr lang="en-US" altLang="ko-KR" dirty="0"/>
              <a:t>initialization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xavier</a:t>
            </a:r>
            <a:r>
              <a:rPr lang="ko-KR" altLang="en-US" dirty="0"/>
              <a:t>의 개선이라 주장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Drop out : </a:t>
            </a:r>
            <a:r>
              <a:rPr lang="ko-KR" altLang="en-US" dirty="0"/>
              <a:t>레이어마다 어떤 노드를 죽일지 랜덤 결정</a:t>
            </a:r>
            <a:endParaRPr lang="en-US" altLang="ko-KR" dirty="0"/>
          </a:p>
          <a:p>
            <a:pPr lvl="2"/>
            <a:r>
              <a:rPr lang="en-US" altLang="ko-KR" dirty="0"/>
              <a:t>Fully connected neural net : forward</a:t>
            </a:r>
            <a:r>
              <a:rPr lang="ko-KR" altLang="en-US" dirty="0"/>
              <a:t>할 때</a:t>
            </a:r>
            <a:br>
              <a:rPr lang="en-US" altLang="ko-KR" dirty="0"/>
            </a:br>
            <a:r>
              <a:rPr lang="ko-KR" altLang="en-US" dirty="0"/>
              <a:t>랜덤으로 노드 죽임</a:t>
            </a:r>
            <a:r>
              <a:rPr lang="en-US" altLang="ko-KR" dirty="0"/>
              <a:t>. </a:t>
            </a:r>
            <a:r>
              <a:rPr lang="ko-KR" altLang="en-US" dirty="0"/>
              <a:t>왜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몇 노드들이 가중치가 너무 크면</a:t>
            </a:r>
            <a:br>
              <a:rPr lang="en-US" altLang="ko-KR" dirty="0"/>
            </a:br>
            <a:r>
              <a:rPr lang="ko-KR" altLang="en-US" dirty="0"/>
              <a:t>나머지 노드가 있으나</a:t>
            </a:r>
            <a:r>
              <a:rPr lang="en-US" altLang="ko-KR" dirty="0"/>
              <a:t> </a:t>
            </a:r>
            <a:r>
              <a:rPr lang="ko-KR" altLang="en-US" dirty="0"/>
              <a:t>마나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나머지 노드들도 학습 시키기 위해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E17AEB-FDE8-2BCF-8264-43459E64AEA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딥러닝 </a:t>
            </a:r>
            <a:r>
              <a:rPr lang="en-US" altLang="ko-KR" dirty="0"/>
              <a:t>→ </a:t>
            </a:r>
            <a:r>
              <a:rPr lang="ko-KR" altLang="en-US" dirty="0" err="1"/>
              <a:t>뉴럴에서</a:t>
            </a:r>
            <a:r>
              <a:rPr lang="ko-KR" altLang="en-US" dirty="0"/>
              <a:t> </a:t>
            </a:r>
            <a:r>
              <a:rPr lang="ko-KR" altLang="en-US" dirty="0" err="1"/>
              <a:t>히든을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 err="1"/>
              <a:t>개↑확장</a:t>
            </a:r>
            <a:r>
              <a:rPr lang="en-US" altLang="ko-KR" dirty="0"/>
              <a:t>. </a:t>
            </a:r>
            <a:r>
              <a:rPr lang="ko-KR" altLang="en-US" dirty="0"/>
              <a:t>활성함수 조건 </a:t>
            </a:r>
            <a:r>
              <a:rPr lang="en-US" altLang="ko-KR" dirty="0"/>
              <a:t>: </a:t>
            </a:r>
            <a:r>
              <a:rPr lang="ko-KR" altLang="en-US" dirty="0"/>
              <a:t>비선형</a:t>
            </a:r>
            <a:r>
              <a:rPr lang="en-US" altLang="ko-KR" dirty="0"/>
              <a:t>, </a:t>
            </a:r>
            <a:r>
              <a:rPr lang="ko-KR" altLang="en-US" dirty="0"/>
              <a:t>미가</a:t>
            </a:r>
            <a:endParaRPr lang="en-US" altLang="ko-KR" dirty="0"/>
          </a:p>
          <a:p>
            <a:r>
              <a:rPr lang="en-US" altLang="ko-KR" dirty="0"/>
              <a:t>Gradient vanishing problem : </a:t>
            </a:r>
            <a:r>
              <a:rPr lang="en-US" altLang="ko-KR" dirty="0" err="1"/>
              <a:t>Xor</a:t>
            </a:r>
            <a:r>
              <a:rPr lang="en-US" altLang="ko-KR" dirty="0"/>
              <a:t> : </a:t>
            </a:r>
            <a:r>
              <a:rPr lang="ko-KR" altLang="en-US" dirty="0"/>
              <a:t>단층</a:t>
            </a:r>
            <a:r>
              <a:rPr lang="en-US" altLang="ko-KR" dirty="0"/>
              <a:t>O, </a:t>
            </a:r>
            <a:r>
              <a:rPr lang="ko-KR" altLang="en-US" dirty="0"/>
              <a:t>다층</a:t>
            </a:r>
            <a:r>
              <a:rPr lang="en-US" altLang="ko-KR" dirty="0"/>
              <a:t>(</a:t>
            </a:r>
            <a:r>
              <a:rPr lang="ko-KR" altLang="en-US" dirty="0"/>
              <a:t>딥러닝</a:t>
            </a:r>
            <a:r>
              <a:rPr lang="en-US" altLang="ko-KR" dirty="0"/>
              <a:t>)X ?</a:t>
            </a:r>
            <a:r>
              <a:rPr lang="ko-KR" altLang="en-US" dirty="0"/>
              <a:t>→</a:t>
            </a:r>
            <a:r>
              <a:rPr lang="en-US" altLang="ko-KR" dirty="0"/>
              <a:t>BP</a:t>
            </a:r>
            <a:r>
              <a:rPr lang="ko-KR" altLang="en-US" dirty="0"/>
              <a:t>중 </a:t>
            </a:r>
            <a:r>
              <a:rPr lang="en-US" altLang="ko-KR" dirty="0"/>
              <a:t>sigmoid</a:t>
            </a:r>
            <a:r>
              <a:rPr lang="ko-KR" altLang="en-US" dirty="0"/>
              <a:t>의 기울기 </a:t>
            </a:r>
            <a:r>
              <a:rPr lang="en-US" altLang="ko-KR" dirty="0" err="1"/>
              <a:t>wx+b</a:t>
            </a:r>
            <a:r>
              <a:rPr lang="ko-KR" altLang="en-US" dirty="0"/>
              <a:t>↑→기울기≒</a:t>
            </a:r>
            <a:r>
              <a:rPr lang="en-US" altLang="ko-KR" dirty="0"/>
              <a:t>0. </a:t>
            </a:r>
            <a:r>
              <a:rPr lang="ko-KR" altLang="en-US" dirty="0" err="1"/>
              <a:t>업뎃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h(1-h)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최댓값 </a:t>
            </a:r>
            <a:r>
              <a:rPr lang="en-US" altLang="ko-KR" dirty="0"/>
              <a:t>: h=½</a:t>
            </a:r>
            <a:r>
              <a:rPr lang="ko-KR" altLang="en-US" dirty="0"/>
              <a:t>→</a:t>
            </a:r>
            <a:r>
              <a:rPr lang="en-US" altLang="ko-KR" dirty="0"/>
              <a:t>¼ : </a:t>
            </a:r>
            <a:r>
              <a:rPr lang="ko-KR" altLang="en-US" dirty="0"/>
              <a:t>수많은 레이어 통과 → </a:t>
            </a:r>
            <a:r>
              <a:rPr lang="en-US" altLang="ko-KR" dirty="0" err="1"/>
              <a:t>δi</a:t>
            </a:r>
            <a:r>
              <a:rPr lang="ko-KR" altLang="en-US" dirty="0"/>
              <a:t>에 </a:t>
            </a:r>
            <a:r>
              <a:rPr lang="en-US" altLang="ko-KR" dirty="0"/>
              <a:t>¼</a:t>
            </a:r>
            <a:r>
              <a:rPr lang="ko-KR" altLang="en-US" dirty="0"/>
              <a:t>보다 작은 수 계속 </a:t>
            </a:r>
            <a:r>
              <a:rPr lang="ko-KR" altLang="en-US" dirty="0" err="1"/>
              <a:t>곱합</a:t>
            </a:r>
            <a:r>
              <a:rPr lang="en-US" altLang="ko-KR" dirty="0"/>
              <a:t>, </a:t>
            </a:r>
            <a:r>
              <a:rPr lang="ko-KR" altLang="en-US" dirty="0" err="1"/>
              <a:t>언더플로우</a:t>
            </a:r>
            <a:r>
              <a:rPr lang="en-US" altLang="ko-KR" dirty="0"/>
              <a:t>. </a:t>
            </a:r>
            <a:r>
              <a:rPr lang="ko-KR" altLang="en-US" dirty="0"/>
              <a:t>결국 기울기 </a:t>
            </a:r>
            <a:r>
              <a:rPr lang="en-US" altLang="ko-KR" dirty="0"/>
              <a:t>0</a:t>
            </a:r>
          </a:p>
          <a:p>
            <a:r>
              <a:rPr lang="en-US" altLang="ko-KR" dirty="0"/>
              <a:t>ReLU : GV</a:t>
            </a:r>
            <a:r>
              <a:rPr lang="ko-KR" altLang="en-US" dirty="0"/>
              <a:t>의 솔루션 </a:t>
            </a:r>
            <a:r>
              <a:rPr lang="en-US" altLang="ko-KR" dirty="0"/>
              <a:t>: sigmoid </a:t>
            </a:r>
            <a:r>
              <a:rPr lang="ko-KR" altLang="en-US" dirty="0"/>
              <a:t>대신 </a:t>
            </a:r>
            <a:r>
              <a:rPr lang="en-US" altLang="ko-KR" dirty="0"/>
              <a:t>ReLU(x)=max(0,x), </a:t>
            </a:r>
            <a:r>
              <a:rPr lang="ko-KR" altLang="en-US" dirty="0"/>
              <a:t>비선형</a:t>
            </a:r>
            <a:r>
              <a:rPr lang="en-US" altLang="ko-KR" dirty="0"/>
              <a:t>&amp;</a:t>
            </a:r>
            <a:r>
              <a:rPr lang="ko-KR" altLang="en-US" dirty="0"/>
              <a:t>미가→</a:t>
            </a:r>
            <a:r>
              <a:rPr lang="en-US" altLang="ko-KR" dirty="0"/>
              <a:t>0</a:t>
            </a:r>
            <a:r>
              <a:rPr lang="ko-KR" altLang="en-US" dirty="0"/>
              <a:t>처리 노드 학습</a:t>
            </a:r>
            <a:r>
              <a:rPr lang="en-US" altLang="ko-KR" dirty="0"/>
              <a:t>X</a:t>
            </a:r>
            <a:r>
              <a:rPr lang="ko-KR" altLang="en-US" dirty="0"/>
              <a:t>→</a:t>
            </a:r>
            <a:r>
              <a:rPr lang="en-US" altLang="ko-KR" dirty="0" err="1"/>
              <a:t>Leakly</a:t>
            </a:r>
            <a:r>
              <a:rPr lang="ko-KR" altLang="en-US" dirty="0"/>
              <a:t> </a:t>
            </a:r>
            <a:r>
              <a:rPr lang="en-US" altLang="ko-KR" dirty="0"/>
              <a:t>ReLU, </a:t>
            </a:r>
            <a:r>
              <a:rPr lang="en-US" altLang="ko-KR" dirty="0" err="1"/>
              <a:t>maxout</a:t>
            </a:r>
            <a:endParaRPr lang="en-US" altLang="ko-KR" dirty="0"/>
          </a:p>
          <a:p>
            <a:r>
              <a:rPr lang="en-US" altLang="ko-KR" dirty="0"/>
              <a:t>Xavier initialization : (</a:t>
            </a:r>
            <a:r>
              <a:rPr lang="ko-KR" altLang="en-US" dirty="0" err="1"/>
              <a:t>초기값→수렴속도</a:t>
            </a:r>
            <a:r>
              <a:rPr lang="en-US" altLang="ko-KR" dirty="0"/>
              <a:t> </a:t>
            </a:r>
            <a:r>
              <a:rPr lang="ko-KR" altLang="en-US" dirty="0"/>
              <a:t>차이</a:t>
            </a:r>
            <a:r>
              <a:rPr lang="en-US" altLang="ko-KR" dirty="0"/>
              <a:t>)→</a:t>
            </a:r>
            <a:r>
              <a:rPr lang="ko-KR" altLang="en-US" dirty="0"/>
              <a:t>가중치 분산 일정수준</a:t>
            </a:r>
            <a:r>
              <a:rPr lang="en-US" altLang="ko-KR" dirty="0"/>
              <a:t>↓→ </a:t>
            </a:r>
            <a:r>
              <a:rPr lang="ko-KR" altLang="en-US" dirty="0"/>
              <a:t>더 빨리 수렴</a:t>
            </a:r>
            <a:endParaRPr lang="en-US" altLang="ko-KR" dirty="0"/>
          </a:p>
          <a:p>
            <a:r>
              <a:rPr lang="en-US" altLang="ko-KR" dirty="0"/>
              <a:t>Drop out : forward</a:t>
            </a:r>
            <a:r>
              <a:rPr lang="ko-KR" altLang="en-US" dirty="0"/>
              <a:t>시 레이어마다 랜덤 노드 죽임</a:t>
            </a:r>
            <a:r>
              <a:rPr lang="en-US" altLang="ko-KR" dirty="0"/>
              <a:t>.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몇 노드 가중치</a:t>
            </a:r>
            <a:r>
              <a:rPr lang="en-US" altLang="ko-KR" dirty="0"/>
              <a:t>↑↑→ </a:t>
            </a:r>
            <a:r>
              <a:rPr lang="ko-KR" altLang="en-US" dirty="0" err="1"/>
              <a:t>나머지노드</a:t>
            </a:r>
            <a:r>
              <a:rPr lang="ko-KR" altLang="en-US" dirty="0"/>
              <a:t> 학습 </a:t>
            </a:r>
            <a:r>
              <a:rPr lang="en-US" altLang="ko-KR" dirty="0"/>
              <a:t>X, </a:t>
            </a:r>
            <a:r>
              <a:rPr lang="ko-KR" altLang="en-US" dirty="0"/>
              <a:t>나머지 노드도 학습 위해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6EF863-20D0-C6C4-E3B0-EB45A8C03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13" y="992560"/>
            <a:ext cx="2296828" cy="9649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629A83-641E-67A4-D99F-BA68E091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319" y="2864768"/>
            <a:ext cx="2664297" cy="1854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31B0D85-EEAF-AD3A-1F52-C10286896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00" y="3447712"/>
            <a:ext cx="1368152" cy="7198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D901B9-F7D2-C9A3-8A0C-3C9B7010A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144" y="4222322"/>
            <a:ext cx="2033759" cy="12021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72DDE3C-1EC3-F3AB-9643-2CD7ABD754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138" y="6105128"/>
            <a:ext cx="3867025" cy="1854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B96A39B-FE02-77FE-D1D0-A01C24C8D7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3262" y="6674581"/>
            <a:ext cx="2155641" cy="119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32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121DFDB-916B-9BB5-0BC6-6B763B540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AEFC3AA-2970-AE04-8100-765D5031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Deep learning(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CD45E6-07BD-B501-E2C6-477AC21286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3CB1E1E-C255-F936-17BC-3352D4BD45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Batch Normalization</a:t>
            </a:r>
          </a:p>
          <a:p>
            <a:pPr lvl="1"/>
            <a:r>
              <a:rPr lang="ko-KR" altLang="en-US" dirty="0"/>
              <a:t>딥러닝</a:t>
            </a:r>
            <a:r>
              <a:rPr lang="en-US" altLang="ko-KR" dirty="0"/>
              <a:t> </a:t>
            </a:r>
            <a:r>
              <a:rPr lang="ko-KR" altLang="en-US" dirty="0"/>
              <a:t>중간 레이어의 출력 정규화</a:t>
            </a:r>
            <a:r>
              <a:rPr lang="en-US" altLang="ko-KR" dirty="0"/>
              <a:t> ; </a:t>
            </a:r>
            <a:r>
              <a:rPr lang="ko-KR" altLang="en-US" dirty="0"/>
              <a:t>이전 레이어의 출력을 정규화해 학습</a:t>
            </a:r>
            <a:endParaRPr lang="en-US" altLang="ko-KR" dirty="0"/>
          </a:p>
          <a:p>
            <a:pPr lvl="2"/>
            <a:r>
              <a:rPr lang="ko-KR" altLang="en-US" dirty="0"/>
              <a:t>초기값에 상관</a:t>
            </a:r>
            <a:r>
              <a:rPr lang="en-US" altLang="ko-KR" dirty="0"/>
              <a:t>X. N(β, γ^2)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가지는 분포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학습할수록 감마 베타의 오차가 </a:t>
            </a:r>
            <a:r>
              <a:rPr lang="ko-KR" altLang="en-US" dirty="0" err="1"/>
              <a:t>작아짐</a:t>
            </a:r>
            <a:endParaRPr lang="en-US" altLang="ko-KR" dirty="0"/>
          </a:p>
          <a:p>
            <a:r>
              <a:rPr lang="en-US" altLang="ko-KR" dirty="0"/>
              <a:t>Optimizer : </a:t>
            </a:r>
            <a:r>
              <a:rPr lang="ko-KR" altLang="en-US" dirty="0" err="1"/>
              <a:t>학습중</a:t>
            </a:r>
            <a:r>
              <a:rPr lang="en-US" altLang="ko-KR" dirty="0"/>
              <a:t> </a:t>
            </a:r>
            <a:r>
              <a:rPr lang="ko-KR" altLang="en-US" dirty="0"/>
              <a:t>모델의 가중치 </a:t>
            </a:r>
            <a:r>
              <a:rPr lang="ko-KR" altLang="en-US" dirty="0" err="1"/>
              <a:t>업뎃</a:t>
            </a:r>
            <a:r>
              <a:rPr lang="ko-KR" altLang="en-US" dirty="0"/>
              <a:t> 방식 결정</a:t>
            </a:r>
            <a:r>
              <a:rPr lang="en-US" altLang="ko-KR" dirty="0"/>
              <a:t>; </a:t>
            </a:r>
            <a:r>
              <a:rPr lang="ko-KR" altLang="en-US" dirty="0"/>
              <a:t>성능 최적화</a:t>
            </a:r>
            <a:endParaRPr lang="en-US" altLang="ko-KR" dirty="0"/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SGD</a:t>
            </a:r>
            <a:r>
              <a:rPr lang="ko-KR" altLang="en-US" dirty="0"/>
              <a:t>중 비효율적 학습경로 개선</a:t>
            </a:r>
            <a:r>
              <a:rPr lang="en-US" altLang="ko-KR" dirty="0"/>
              <a:t>(</a:t>
            </a:r>
            <a:r>
              <a:rPr lang="ko-KR" altLang="en-US" dirty="0" err="1"/>
              <a:t>업뎃</a:t>
            </a:r>
            <a:r>
              <a:rPr lang="ko-KR" altLang="en-US" dirty="0"/>
              <a:t> 경로 과도하게 흔들림</a:t>
            </a:r>
            <a:r>
              <a:rPr lang="en-US" altLang="ko-KR" dirty="0"/>
              <a:t>↓), </a:t>
            </a:r>
            <a:br>
              <a:rPr lang="en-US" altLang="ko-KR" dirty="0"/>
            </a:br>
            <a:r>
              <a:rPr lang="ko-KR" altLang="en-US" dirty="0"/>
              <a:t>더 빠르고 효율적 해 수렴</a:t>
            </a:r>
            <a:r>
              <a:rPr lang="en-US" altLang="ko-KR" dirty="0"/>
              <a:t>. </a:t>
            </a:r>
            <a:r>
              <a:rPr lang="ko-KR" altLang="en-US" dirty="0"/>
              <a:t>성능</a:t>
            </a:r>
            <a:r>
              <a:rPr lang="en-US" altLang="ko-KR" dirty="0"/>
              <a:t>↑</a:t>
            </a:r>
          </a:p>
          <a:p>
            <a:pPr lvl="1"/>
            <a:r>
              <a:rPr lang="en-US" altLang="ko-KR" dirty="0"/>
              <a:t>Momentum : </a:t>
            </a:r>
            <a:r>
              <a:rPr lang="ko-KR" altLang="en-US" dirty="0"/>
              <a:t>모멘텀</a:t>
            </a:r>
            <a:r>
              <a:rPr lang="en-US" altLang="ko-KR" dirty="0"/>
              <a:t>(</a:t>
            </a:r>
            <a:r>
              <a:rPr lang="ko-KR" altLang="en-US" dirty="0"/>
              <a:t>관성</a:t>
            </a:r>
            <a:r>
              <a:rPr lang="en-US" altLang="ko-KR" dirty="0"/>
              <a:t>)</a:t>
            </a:r>
            <a:r>
              <a:rPr lang="ko-KR" altLang="en-US" dirty="0"/>
              <a:t>처럼 이전 방향이 현재 방향에 영향을 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α*m = </a:t>
            </a:r>
            <a:r>
              <a:rPr lang="ko-KR" altLang="en-US" dirty="0"/>
              <a:t>알파만큼 이전 모멘트 반영</a:t>
            </a:r>
            <a:endParaRPr lang="en-US" altLang="ko-KR" dirty="0"/>
          </a:p>
          <a:p>
            <a:pPr lvl="1"/>
            <a:r>
              <a:rPr lang="en-US" altLang="ko-KR" dirty="0"/>
              <a:t>Nesterov</a:t>
            </a:r>
            <a:r>
              <a:rPr lang="ko-KR" altLang="en-US" dirty="0"/>
              <a:t> </a:t>
            </a:r>
            <a:r>
              <a:rPr lang="en-US" altLang="ko-KR" dirty="0"/>
              <a:t>Momentum :  </a:t>
            </a:r>
            <a:r>
              <a:rPr lang="ko-KR" altLang="en-US" dirty="0"/>
              <a:t>미래에 </a:t>
            </a:r>
            <a:r>
              <a:rPr lang="ko-KR" altLang="en-US" dirty="0" err="1"/>
              <a:t>한스텝</a:t>
            </a:r>
            <a:r>
              <a:rPr lang="ko-KR" altLang="en-US" dirty="0"/>
              <a:t> 움직일 예상 위치에서 경사 계산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미래 경향성 고려</a:t>
            </a:r>
            <a:endParaRPr lang="en-US" altLang="ko-KR" dirty="0"/>
          </a:p>
          <a:p>
            <a:pPr lvl="1"/>
            <a:r>
              <a:rPr lang="ko-KR" altLang="en-US" dirty="0" err="1"/>
              <a:t>학습률</a:t>
            </a:r>
            <a:r>
              <a:rPr lang="ko-KR" altLang="en-US" dirty="0"/>
              <a:t> 개선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손실함수가 작아져서 개선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파라미터 갱신</a:t>
            </a:r>
            <a:br>
              <a:rPr lang="en-US" altLang="ko-KR" dirty="0"/>
            </a:br>
            <a:r>
              <a:rPr lang="ko-KR" altLang="en-US" dirty="0"/>
              <a:t>손실함수 갱신</a:t>
            </a:r>
            <a:r>
              <a:rPr lang="en-US" altLang="ko-KR" dirty="0"/>
              <a:t>X → </a:t>
            </a:r>
            <a:r>
              <a:rPr lang="ko-KR" altLang="en-US" dirty="0" err="1"/>
              <a:t>학습률</a:t>
            </a:r>
            <a:r>
              <a:rPr lang="en-US" altLang="ko-KR" dirty="0"/>
              <a:t>/2</a:t>
            </a:r>
          </a:p>
          <a:p>
            <a:pPr lvl="1"/>
            <a:r>
              <a:rPr lang="en-US" altLang="ko-KR" dirty="0" err="1"/>
              <a:t>AdaGrad</a:t>
            </a:r>
            <a:r>
              <a:rPr lang="en-US" altLang="ko-KR" dirty="0"/>
              <a:t> :</a:t>
            </a:r>
            <a:br>
              <a:rPr lang="en-US" altLang="ko-KR" dirty="0"/>
            </a:br>
            <a:r>
              <a:rPr lang="en-US" altLang="ko-KR" dirty="0"/>
              <a:t>Gradient</a:t>
            </a:r>
            <a:r>
              <a:rPr lang="ko-KR" altLang="en-US" dirty="0"/>
              <a:t>의 제곱의 </a:t>
            </a:r>
            <a:r>
              <a:rPr lang="ko-KR" altLang="en-US" dirty="0" err="1"/>
              <a:t>누적값</a:t>
            </a:r>
            <a:r>
              <a:rPr lang="ko-KR" altLang="en-US" dirty="0"/>
              <a:t> </a:t>
            </a:r>
            <a:r>
              <a:rPr lang="en-US" altLang="ko-KR" dirty="0"/>
              <a:t>h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ko-KR" altLang="en-US" dirty="0"/>
              <a:t>파라미터마다 계산 </a:t>
            </a:r>
            <a:r>
              <a:rPr lang="en-US" altLang="ko-KR" dirty="0"/>
              <a:t>→ </a:t>
            </a:r>
            <a:r>
              <a:rPr lang="ko-KR" altLang="en-US" dirty="0"/>
              <a:t>벡터형태로 저장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 err="1"/>
              <a:t>그레디언트의</a:t>
            </a:r>
            <a:r>
              <a:rPr lang="ko-KR" altLang="en-US" dirty="0"/>
              <a:t> 크기가 클수록 </a:t>
            </a:r>
            <a:r>
              <a:rPr lang="ko-KR" altLang="en-US" dirty="0" err="1"/>
              <a:t>학습률이</a:t>
            </a:r>
            <a:r>
              <a:rPr lang="ko-KR" altLang="en-US" dirty="0"/>
              <a:t> </a:t>
            </a:r>
            <a:r>
              <a:rPr lang="ko-KR" altLang="en-US" dirty="0" err="1"/>
              <a:t>작아짐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조기종료하는</a:t>
            </a:r>
            <a:r>
              <a:rPr lang="ko-KR" altLang="en-US" dirty="0"/>
              <a:t> 경향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 err="1"/>
              <a:t>RMSProp</a:t>
            </a:r>
            <a:r>
              <a:rPr lang="en-US" altLang="ko-KR" dirty="0"/>
              <a:t> : </a:t>
            </a:r>
            <a:r>
              <a:rPr lang="en-US" altLang="ko-KR" dirty="0" err="1"/>
              <a:t>AdaGrad</a:t>
            </a:r>
            <a:r>
              <a:rPr lang="ko-KR" altLang="en-US" dirty="0"/>
              <a:t>의 단점 보완</a:t>
            </a:r>
            <a:r>
              <a:rPr lang="en-US" altLang="ko-KR" dirty="0"/>
              <a:t>. </a:t>
            </a:r>
            <a:r>
              <a:rPr lang="ko-KR" altLang="en-US" dirty="0"/>
              <a:t>변화량의 제곱 누적 </a:t>
            </a:r>
            <a:r>
              <a:rPr lang="en-US" altLang="ko-KR" dirty="0"/>
              <a:t>X. </a:t>
            </a:r>
            <a:r>
              <a:rPr lang="ko-KR" altLang="en-US" dirty="0"/>
              <a:t>지수</a:t>
            </a:r>
            <a:r>
              <a:rPr lang="en-US" altLang="ko-KR" dirty="0"/>
              <a:t> </a:t>
            </a:r>
            <a:r>
              <a:rPr lang="ko-KR" altLang="en-US" dirty="0"/>
              <a:t>평균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최근 변화량이 중요 반영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Adam optimizer : </a:t>
            </a:r>
            <a:r>
              <a:rPr lang="ko-KR" altLang="en-US" dirty="0"/>
              <a:t>모멘텀</a:t>
            </a:r>
            <a:r>
              <a:rPr lang="en-US" altLang="ko-KR" dirty="0"/>
              <a:t>, </a:t>
            </a:r>
            <a:r>
              <a:rPr lang="en-US" altLang="ko-KR" dirty="0" err="1"/>
              <a:t>RMSProp</a:t>
            </a:r>
            <a:r>
              <a:rPr lang="en-US" altLang="ko-KR" dirty="0"/>
              <a:t> </a:t>
            </a:r>
            <a:r>
              <a:rPr lang="ko-KR" altLang="en-US" dirty="0"/>
              <a:t>방식</a:t>
            </a:r>
            <a:r>
              <a:rPr lang="en-US" altLang="ko-KR" dirty="0"/>
              <a:t> </a:t>
            </a:r>
            <a:r>
              <a:rPr lang="ko-KR" altLang="en-US" dirty="0"/>
              <a:t>결합</a:t>
            </a:r>
            <a:r>
              <a:rPr lang="en-US" altLang="ko-KR" dirty="0"/>
              <a:t>. </a:t>
            </a:r>
            <a:r>
              <a:rPr lang="ko-KR" altLang="en-US" dirty="0"/>
              <a:t>가장 널리</a:t>
            </a:r>
            <a:r>
              <a:rPr lang="en-US" altLang="ko-KR" dirty="0"/>
              <a:t>/</a:t>
            </a:r>
            <a:br>
              <a:rPr lang="en-US" altLang="ko-KR" dirty="0"/>
            </a:br>
            <a:r>
              <a:rPr lang="ko-KR" altLang="en-US" dirty="0"/>
              <a:t>성능</a:t>
            </a:r>
            <a:r>
              <a:rPr lang="en-US" altLang="ko-KR" dirty="0"/>
              <a:t>↑. Momentum</a:t>
            </a:r>
            <a:r>
              <a:rPr lang="ko-KR" altLang="en-US" dirty="0"/>
              <a:t>에 의해 최적 경로로 가는 경로의 진동을</a:t>
            </a:r>
            <a:br>
              <a:rPr lang="en-US" altLang="ko-KR" dirty="0"/>
            </a:br>
            <a:r>
              <a:rPr lang="ko-KR" altLang="en-US" dirty="0"/>
              <a:t>방해</a:t>
            </a:r>
            <a:r>
              <a:rPr lang="en-US" altLang="ko-KR" dirty="0"/>
              <a:t>. </a:t>
            </a:r>
            <a:r>
              <a:rPr lang="ko-KR" altLang="en-US" dirty="0"/>
              <a:t>파라미터 벡터가 해로 가는 속도를 비슷하게 맞춰 해를 빠르게 수렴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57F1C8-59B9-79F6-C8EF-0924FE58A4D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Batch normalization : </a:t>
            </a:r>
            <a:r>
              <a:rPr lang="ko-KR" altLang="en-US" dirty="0"/>
              <a:t>딥러닝 중간 레이어 정규화 </a:t>
            </a:r>
            <a:r>
              <a:rPr lang="en-US" altLang="ko-KR" dirty="0"/>
              <a:t>&amp; </a:t>
            </a:r>
            <a:r>
              <a:rPr lang="ko-KR" altLang="en-US" dirty="0"/>
              <a:t>이전 레이어 출력 정규화 학습 </a:t>
            </a:r>
            <a:r>
              <a:rPr lang="en-US" altLang="ko-KR" dirty="0"/>
              <a:t>→ </a:t>
            </a:r>
            <a:r>
              <a:rPr lang="ko-KR" altLang="en-US" dirty="0"/>
              <a:t>초기값에 상관</a:t>
            </a:r>
            <a:r>
              <a:rPr lang="en-US" altLang="ko-KR" dirty="0"/>
              <a:t>X;</a:t>
            </a:r>
            <a:br>
              <a:rPr lang="en-US" altLang="ko-KR" dirty="0"/>
            </a:br>
            <a:r>
              <a:rPr lang="en-US" altLang="ko-KR" dirty="0"/>
              <a:t>X~N(β,γ²)</a:t>
            </a:r>
            <a:r>
              <a:rPr lang="ko-KR" altLang="en-US" dirty="0"/>
              <a:t>를 가지는 분포                       </a:t>
            </a:r>
            <a:r>
              <a:rPr lang="en-US" altLang="ko-KR" dirty="0"/>
              <a:t>; </a:t>
            </a:r>
            <a:r>
              <a:rPr lang="ko-KR" altLang="en-US" dirty="0"/>
              <a:t>학습할수록 </a:t>
            </a:r>
            <a:r>
              <a:rPr lang="el-GR" altLang="ko-KR" dirty="0"/>
              <a:t>γ</a:t>
            </a:r>
            <a:r>
              <a:rPr lang="en-US" altLang="ko-KR" dirty="0"/>
              <a:t>,</a:t>
            </a:r>
            <a:r>
              <a:rPr lang="el-GR" altLang="ko-KR" dirty="0"/>
              <a:t>β</a:t>
            </a:r>
            <a:r>
              <a:rPr lang="en-US" altLang="ko-KR" dirty="0"/>
              <a:t> </a:t>
            </a:r>
            <a:r>
              <a:rPr lang="ko-KR" altLang="en-US" dirty="0"/>
              <a:t>오차</a:t>
            </a:r>
            <a:r>
              <a:rPr lang="en-US" altLang="ko-KR" dirty="0"/>
              <a:t>↓.</a:t>
            </a:r>
          </a:p>
          <a:p>
            <a:r>
              <a:rPr lang="en-US" altLang="ko-KR" dirty="0"/>
              <a:t>Optimizer : </a:t>
            </a:r>
            <a:r>
              <a:rPr lang="ko-KR" altLang="en-US" dirty="0"/>
              <a:t>모델의 가중치 </a:t>
            </a:r>
            <a:r>
              <a:rPr lang="ko-KR" altLang="en-US" dirty="0" err="1"/>
              <a:t>업뎃</a:t>
            </a:r>
            <a:r>
              <a:rPr lang="ko-KR" altLang="en-US" dirty="0"/>
              <a:t> 방식 결정</a:t>
            </a:r>
            <a:r>
              <a:rPr lang="en-US" altLang="ko-KR" dirty="0"/>
              <a:t>, </a:t>
            </a:r>
            <a:r>
              <a:rPr lang="ko-KR" altLang="en-US" dirty="0"/>
              <a:t>성능 최적화</a:t>
            </a:r>
            <a:r>
              <a:rPr lang="en-US" altLang="ko-KR" dirty="0"/>
              <a:t>. </a:t>
            </a:r>
            <a:r>
              <a:rPr lang="ko-KR" altLang="en-US" dirty="0"/>
              <a:t>왜</a:t>
            </a:r>
            <a:r>
              <a:rPr lang="en-US" altLang="ko-KR" dirty="0"/>
              <a:t>? SGD</a:t>
            </a:r>
            <a:r>
              <a:rPr lang="ko-KR" altLang="en-US" dirty="0"/>
              <a:t>중 비효율적 학습경로 개선</a:t>
            </a:r>
            <a:r>
              <a:rPr lang="en-US" altLang="ko-KR" dirty="0"/>
              <a:t>(</a:t>
            </a:r>
            <a:r>
              <a:rPr lang="ko-KR" altLang="en-US" dirty="0" err="1"/>
              <a:t>업뎃</a:t>
            </a:r>
            <a:r>
              <a:rPr lang="ko-KR" altLang="en-US" dirty="0"/>
              <a:t> 경로가 과도하게 흔들림</a:t>
            </a:r>
            <a:r>
              <a:rPr lang="en-US" altLang="ko-KR" dirty="0"/>
              <a:t>↓), </a:t>
            </a:r>
            <a:r>
              <a:rPr lang="ko-KR" altLang="en-US" dirty="0"/>
              <a:t>더 빠르고 효율적 수렴</a:t>
            </a:r>
            <a:r>
              <a:rPr lang="en-US" altLang="ko-KR" dirty="0"/>
              <a:t>. </a:t>
            </a:r>
            <a:r>
              <a:rPr lang="ko-KR" altLang="en-US" dirty="0"/>
              <a:t>성능</a:t>
            </a:r>
            <a:r>
              <a:rPr lang="en-US" altLang="ko-KR" dirty="0"/>
              <a:t>↑.</a:t>
            </a:r>
          </a:p>
          <a:p>
            <a:pPr lvl="1"/>
            <a:r>
              <a:rPr lang="en-US" altLang="ko-KR" dirty="0"/>
              <a:t>Momentum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이전방향 </a:t>
            </a:r>
            <a:r>
              <a:rPr lang="en-US" altLang="ko-KR" dirty="0"/>
              <a:t>→</a:t>
            </a:r>
            <a:r>
              <a:rPr lang="ko-KR" altLang="en-US" dirty="0"/>
              <a:t> 현재 방향에 영향</a:t>
            </a:r>
            <a:r>
              <a:rPr lang="en-US" altLang="ko-KR" dirty="0"/>
              <a:t>.                                      , </a:t>
            </a:r>
            <a:r>
              <a:rPr lang="el-GR" altLang="ko-KR" dirty="0"/>
              <a:t>α</a:t>
            </a:r>
            <a:r>
              <a:rPr lang="ko-KR" altLang="en-US" dirty="0"/>
              <a:t>만큼 반영</a:t>
            </a:r>
            <a:endParaRPr lang="en-US" altLang="ko-KR" dirty="0"/>
          </a:p>
          <a:p>
            <a:pPr lvl="1"/>
            <a:r>
              <a:rPr lang="en-US" altLang="ko-KR" dirty="0"/>
              <a:t>Nesterov momentum : </a:t>
            </a:r>
            <a:r>
              <a:rPr lang="ko-KR" altLang="en-US" dirty="0"/>
              <a:t>미래 </a:t>
            </a:r>
            <a:r>
              <a:rPr lang="ko-KR" altLang="en-US" dirty="0" err="1"/>
              <a:t>한스텝</a:t>
            </a:r>
            <a:r>
              <a:rPr lang="ko-KR" altLang="en-US" dirty="0"/>
              <a:t> 움직일 예상 위치서 경사 계산</a:t>
            </a:r>
            <a:r>
              <a:rPr lang="en-US" altLang="ko-KR" dirty="0"/>
              <a:t>, </a:t>
            </a:r>
            <a:r>
              <a:rPr lang="ko-KR" altLang="en-US" dirty="0"/>
              <a:t>미래 경향성 고려</a:t>
            </a:r>
            <a:endParaRPr lang="en-US" altLang="ko-KR" dirty="0"/>
          </a:p>
          <a:p>
            <a:pPr lvl="1"/>
            <a:r>
              <a:rPr lang="ko-KR" altLang="en-US" dirty="0" err="1"/>
              <a:t>학습률</a:t>
            </a:r>
            <a:r>
              <a:rPr lang="ko-KR" altLang="en-US" dirty="0"/>
              <a:t> 개선 </a:t>
            </a:r>
            <a:r>
              <a:rPr lang="en-US" altLang="ko-KR" dirty="0"/>
              <a:t>: loss↓</a:t>
            </a:r>
            <a:r>
              <a:rPr lang="ko-KR" altLang="en-US" dirty="0"/>
              <a:t>개선</a:t>
            </a:r>
            <a:r>
              <a:rPr lang="en-US" altLang="ko-KR" dirty="0"/>
              <a:t>→ </a:t>
            </a:r>
            <a:r>
              <a:rPr lang="ko-KR" altLang="en-US" dirty="0" err="1"/>
              <a:t>파라갱신</a:t>
            </a:r>
            <a:r>
              <a:rPr lang="en-US" altLang="ko-KR" dirty="0"/>
              <a:t>, </a:t>
            </a:r>
            <a:r>
              <a:rPr lang="ko-KR" altLang="en-US" dirty="0"/>
              <a:t>아니면</a:t>
            </a:r>
            <a:r>
              <a:rPr lang="en-US" altLang="ko-KR" dirty="0"/>
              <a:t>? (</a:t>
            </a:r>
            <a:r>
              <a:rPr lang="ko-KR" altLang="en-US" dirty="0" err="1"/>
              <a:t>학습률</a:t>
            </a:r>
            <a:r>
              <a:rPr lang="en-US" altLang="ko-KR" dirty="0"/>
              <a:t>)*½ </a:t>
            </a:r>
          </a:p>
          <a:p>
            <a:pPr lvl="1"/>
            <a:r>
              <a:rPr lang="en-US" altLang="ko-KR" dirty="0"/>
              <a:t>Adam : </a:t>
            </a:r>
            <a:r>
              <a:rPr lang="ko-KR" altLang="en-US" dirty="0"/>
              <a:t>모멘텀</a:t>
            </a:r>
            <a:r>
              <a:rPr lang="en-US" altLang="ko-KR" dirty="0"/>
              <a:t>+</a:t>
            </a:r>
            <a:r>
              <a:rPr lang="en-US" altLang="ko-KR" dirty="0" err="1"/>
              <a:t>RMSProp</a:t>
            </a:r>
            <a:r>
              <a:rPr lang="en-US" altLang="ko-KR" dirty="0"/>
              <a:t>, momentum</a:t>
            </a:r>
            <a:r>
              <a:rPr lang="ko-KR" altLang="en-US" dirty="0"/>
              <a:t>에 의해 경로 진동</a:t>
            </a:r>
            <a:r>
              <a:rPr lang="en-US" altLang="ko-KR" dirty="0"/>
              <a:t>↓,</a:t>
            </a:r>
            <a:r>
              <a:rPr lang="ko-KR" altLang="en-US" dirty="0"/>
              <a:t>파라</a:t>
            </a:r>
            <a:r>
              <a:rPr lang="en-US" altLang="ko-KR" dirty="0"/>
              <a:t> </a:t>
            </a:r>
            <a:r>
              <a:rPr lang="ko-KR" altLang="en-US" dirty="0"/>
              <a:t>벡터가 해로 가는 속도</a:t>
            </a:r>
            <a:r>
              <a:rPr lang="en-US" altLang="ko-KR" dirty="0"/>
              <a:t> </a:t>
            </a:r>
            <a:r>
              <a:rPr lang="ko-KR" altLang="en-US" dirty="0"/>
              <a:t>비슷하게</a:t>
            </a:r>
            <a:r>
              <a:rPr lang="en-US" altLang="ko-KR" dirty="0"/>
              <a:t>. </a:t>
            </a:r>
            <a:r>
              <a:rPr lang="ko-KR" altLang="en-US" dirty="0"/>
              <a:t>빠른 수렴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203714-2C7F-D71A-0A3A-C4658C3D8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52" y="992560"/>
            <a:ext cx="1459552" cy="3980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DB19A18-DA8E-39B9-40E8-CB471572D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38" y="1349119"/>
            <a:ext cx="2670812" cy="1207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11B7D3-2024-9419-E62C-BD68D3359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980" y="2183518"/>
            <a:ext cx="512153" cy="1207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C756B17-9384-2AD5-4C38-BF12DA860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303" y="1937338"/>
            <a:ext cx="1038799" cy="27057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A97A2F0-1864-835A-0474-44DC32A673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629"/>
          <a:stretch/>
        </p:blipFill>
        <p:spPr>
          <a:xfrm>
            <a:off x="2927716" y="2598109"/>
            <a:ext cx="1795370" cy="1935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54855A0-4DE2-014D-8E12-D4BDE9BC8D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295" y="2721622"/>
            <a:ext cx="1967782" cy="10745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FBE5311-04A8-3A7F-3F56-56609C651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4904" y="2795416"/>
            <a:ext cx="1005383" cy="94277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B8D8EEB-CE29-DB47-96A5-79868B3243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186" y="3828583"/>
            <a:ext cx="937742" cy="53125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D12205-27B1-05CB-27CF-3F07B1C875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3633" y="4392295"/>
            <a:ext cx="1099704" cy="3893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6455AC-13D8-901A-1DE2-62515ADD2C1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4824" y="8335647"/>
            <a:ext cx="936104" cy="2553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846865C-7335-1565-112B-7C3A825C6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999" y="8974685"/>
            <a:ext cx="512153" cy="1207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AC5C1EE-9D7E-2887-857E-A8D784C49B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693" y="8881107"/>
            <a:ext cx="1038799" cy="2705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CE578F2-5561-1E03-0FA9-D7926C7654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629"/>
          <a:stretch/>
        </p:blipFill>
        <p:spPr>
          <a:xfrm>
            <a:off x="5411868" y="9174766"/>
            <a:ext cx="1364234" cy="1470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982A95B-5A99-E05E-BAAB-14B359EAB7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0097"/>
          <a:stretch>
            <a:fillRect/>
          </a:stretch>
        </p:blipFill>
        <p:spPr>
          <a:xfrm>
            <a:off x="5633672" y="9292796"/>
            <a:ext cx="782392" cy="2193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569A7F-5511-BDE8-0E48-396745E1B4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4505" r="23439" b="36795"/>
          <a:stretch>
            <a:fillRect/>
          </a:stretch>
        </p:blipFill>
        <p:spPr>
          <a:xfrm>
            <a:off x="4846324" y="9297383"/>
            <a:ext cx="705643" cy="24804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2BFE906-9A04-B43B-A7BF-FBFBF53D79F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74092"/>
          <a:stretch>
            <a:fillRect/>
          </a:stretch>
        </p:blipFill>
        <p:spPr>
          <a:xfrm>
            <a:off x="3860573" y="9313241"/>
            <a:ext cx="1005383" cy="24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7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14F75C4-57D5-7034-5845-3DB37DBB6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8012B66-C44A-831A-D599-B06F470E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3B1F00-1C41-FCD3-40A2-B8F4ED1E7F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20ABC30-8A2A-5D0F-02EE-AB07513D510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Convolutional layer</a:t>
                </a:r>
              </a:p>
              <a:p>
                <a:pPr lvl="1"/>
                <a:r>
                  <a:rPr lang="ko-KR" altLang="en-US" dirty="0"/>
                  <a:t>이미지를 픽셀 단위로 직접 분류 문제에 사용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비효율적</a:t>
                </a:r>
                <a:r>
                  <a:rPr lang="en-US" altLang="ko-KR" dirty="0"/>
                  <a:t>;</a:t>
                </a:r>
                <a:br>
                  <a:rPr lang="en-US" altLang="ko-KR" dirty="0"/>
                </a:br>
                <a:r>
                  <a:rPr lang="en-US" altLang="ko-KR" dirty="0"/>
                  <a:t>Convolution filter = </a:t>
                </a:r>
                <a:r>
                  <a:rPr lang="ko-KR" altLang="en-US" dirty="0"/>
                  <a:t>자동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특징 </a:t>
                </a:r>
                <a:r>
                  <a:rPr lang="ko-KR" altLang="en-US" dirty="0" err="1"/>
                  <a:t>추출기</a:t>
                </a:r>
                <a:r>
                  <a:rPr lang="en-US" altLang="ko-KR" dirty="0"/>
                  <a:t>(Feature extractor). </a:t>
                </a:r>
                <a:r>
                  <a:rPr lang="ko-KR" altLang="en-US" dirty="0"/>
                  <a:t>이미지의 원본 픽셀을 </a:t>
                </a:r>
                <a:r>
                  <a:rPr lang="ko-KR" altLang="en-US" dirty="0" err="1"/>
                  <a:t>직접사용하는</a:t>
                </a:r>
                <a:r>
                  <a:rPr lang="ko-KR" altLang="en-US" dirty="0"/>
                  <a:t> 대신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이미지 픽셀의 특징으로 바꾸어 사용</a:t>
                </a:r>
                <a:r>
                  <a:rPr lang="en-US" altLang="ko-KR" dirty="0"/>
                  <a:t>; CNN → </a:t>
                </a:r>
                <a:r>
                  <a:rPr lang="ko-KR" altLang="en-US" dirty="0"/>
                  <a:t>자동으로 특징 추출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CNN </a:t>
                </a:r>
                <a:r>
                  <a:rPr lang="ko-KR" altLang="en-US" dirty="0"/>
                  <a:t>처리 과정</a:t>
                </a:r>
                <a:br>
                  <a:rPr lang="en-US" altLang="ko-KR" dirty="0"/>
                </a:br>
                <a:r>
                  <a:rPr lang="en-US" altLang="ko-KR" dirty="0"/>
                  <a:t>1) </a:t>
                </a:r>
                <a:r>
                  <a:rPr lang="ko-KR" altLang="en-US" dirty="0"/>
                  <a:t>이미지의 </a:t>
                </a:r>
                <a:r>
                  <a:rPr lang="en-US" altLang="ko-KR" dirty="0"/>
                  <a:t>Feature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Extraction</a:t>
                </a:r>
                <a:br>
                  <a:rPr lang="en-US" altLang="ko-KR" dirty="0"/>
                </a:br>
                <a:r>
                  <a:rPr lang="en-US" altLang="ko-KR" dirty="0"/>
                  <a:t>2) Feature</a:t>
                </a:r>
                <a:r>
                  <a:rPr lang="ko-KR" altLang="en-US" dirty="0"/>
                  <a:t>를 이용해 딥러닝 수행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단순화된 특징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이미지 구별</a:t>
                </a:r>
                <a:r>
                  <a:rPr lang="en-US" altLang="ko-KR" dirty="0"/>
                  <a:t>O</a:t>
                </a:r>
                <a:r>
                  <a:rPr lang="ko-KR" altLang="en-US" dirty="0"/>
                  <a:t>인 간결한 특징만</a:t>
                </a:r>
                <a:r>
                  <a:rPr lang="en-US" altLang="ko-KR" dirty="0"/>
                  <a:t>. </a:t>
                </a:r>
                <a:r>
                  <a:rPr lang="ko-KR" altLang="en-US" dirty="0" err="1"/>
                  <a:t>판별도움</a:t>
                </a:r>
                <a:r>
                  <a:rPr lang="en-US" altLang="ko-KR" dirty="0"/>
                  <a:t>X </a:t>
                </a:r>
                <a:r>
                  <a:rPr lang="ko-KR" altLang="en-US" dirty="0"/>
                  <a:t>정보는 삭제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Convolutional filter</a:t>
                </a:r>
                <a:r>
                  <a:rPr lang="ko-KR" altLang="en-US" dirty="0"/>
                  <a:t>의 작동 방식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이미지에 </a:t>
                </a:r>
                <a:r>
                  <a:rPr lang="en-US" altLang="ko-KR" dirty="0"/>
                  <a:t>'</a:t>
                </a:r>
                <a:r>
                  <a:rPr lang="ko-KR" altLang="en-US" dirty="0" err="1"/>
                  <a:t>컨볼루션</a:t>
                </a:r>
                <a:r>
                  <a:rPr lang="ko-KR" altLang="en-US" dirty="0"/>
                  <a:t> 필터</a:t>
                </a:r>
                <a:r>
                  <a:rPr lang="en-US" altLang="ko-KR" dirty="0"/>
                  <a:t>'</a:t>
                </a:r>
                <a:br>
                  <a:rPr lang="en-US" altLang="ko-KR" dirty="0"/>
                </a:br>
                <a:r>
                  <a:rPr lang="ko-KR" altLang="en-US" dirty="0"/>
                  <a:t>라는 작은 행렬 겹침 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 이미지와 필터의 위치 </a:t>
                </a:r>
                <a:r>
                  <a:rPr lang="ko-KR" altLang="en-US" dirty="0" err="1"/>
                  <a:t>픽셀값을</a:t>
                </a:r>
                <a:br>
                  <a:rPr lang="en-US" altLang="ko-KR" dirty="0"/>
                </a:br>
                <a:r>
                  <a:rPr lang="ko-KR" altLang="en-US" dirty="0"/>
                  <a:t>모두 </a:t>
                </a:r>
                <a:r>
                  <a:rPr lang="ko-KR" altLang="en-US" dirty="0" err="1"/>
                  <a:t>곱한뒤</a:t>
                </a:r>
                <a:r>
                  <a:rPr lang="ko-KR" altLang="en-US" dirty="0"/>
                  <a:t> 더해 하나의 숫자 생성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이 과정을 반복하여</a:t>
                </a:r>
                <a:br>
                  <a:rPr lang="en-US" altLang="ko-KR" dirty="0"/>
                </a:br>
                <a:r>
                  <a:rPr lang="en-US" altLang="ko-KR" dirty="0"/>
                  <a:t>feature map</a:t>
                </a:r>
                <a:r>
                  <a:rPr lang="ko-KR" altLang="en-US" dirty="0"/>
                  <a:t>이라는 새로운 이미지 생성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이미지 </a:t>
                </a:r>
                <a:r>
                  <a:rPr lang="en-US" altLang="ko-KR" dirty="0"/>
                  <a:t>: 4*4 </a:t>
                </a:r>
                <a:r>
                  <a:rPr lang="ko-KR" altLang="en-US" dirty="0"/>
                  <a:t>크기의 </a:t>
                </a:r>
                <a:r>
                  <a:rPr lang="en-US" altLang="ko-KR" dirty="0"/>
                  <a:t>R,G,B </a:t>
                </a:r>
                <a:r>
                  <a:rPr lang="ko-KR" altLang="en-US" dirty="0"/>
                  <a:t>채널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필터 </a:t>
                </a:r>
                <a:r>
                  <a:rPr lang="en-US" altLang="ko-KR" dirty="0"/>
                  <a:t>: 3*3 ;&gt; </a:t>
                </a:r>
                <a:r>
                  <a:rPr lang="ko-KR" altLang="en-US" dirty="0"/>
                  <a:t>왼쪽 상단</a:t>
                </a:r>
                <a:br>
                  <a:rPr lang="en-US" altLang="ko-KR" dirty="0"/>
                </a:br>
                <a:r>
                  <a:rPr lang="ko-KR" altLang="en-US" dirty="0"/>
                  <a:t>에서 필터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채널</a:t>
                </a:r>
                <a:r>
                  <a:rPr lang="en-US" altLang="ko-KR" dirty="0"/>
                  <a:t> elementwise</a:t>
                </a:r>
                <a:r>
                  <a:rPr lang="ko-KR" altLang="en-US" dirty="0"/>
                  <a:t>곱</a:t>
                </a:r>
                <a:r>
                  <a:rPr lang="en-US" altLang="ko-KR" dirty="0"/>
                  <a:t> ;</a:t>
                </a:r>
                <a:r>
                  <a:rPr lang="ko-KR" altLang="en-US" dirty="0"/>
                  <a:t>하나의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값 완성</a:t>
                </a:r>
                <a:r>
                  <a:rPr lang="en-US" altLang="ko-KR" dirty="0"/>
                  <a:t>. </a:t>
                </a:r>
                <a:br>
                  <a:rPr lang="en-US" altLang="ko-KR" dirty="0"/>
                </a:br>
                <a:r>
                  <a:rPr lang="en-US" altLang="ko-KR" dirty="0"/>
                  <a:t>3</a:t>
                </a:r>
                <a:r>
                  <a:rPr lang="ko-KR" altLang="en-US" dirty="0"/>
                  <a:t>채널에 반복</a:t>
                </a:r>
                <a:r>
                  <a:rPr lang="en-US" altLang="ko-KR" dirty="0"/>
                  <a:t>. → </a:t>
                </a:r>
                <a:r>
                  <a:rPr lang="ko-KR" altLang="en-US" dirty="0"/>
                  <a:t>필터를 우로 </a:t>
                </a:r>
                <a:r>
                  <a:rPr lang="ko-KR" altLang="en-US" dirty="0" err="1"/>
                  <a:t>한칸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→ ... → </a:t>
                </a:r>
                <a:r>
                  <a:rPr lang="ko-KR" altLang="en-US" dirty="0" err="1"/>
                  <a:t>우하단에</a:t>
                </a:r>
                <a:r>
                  <a:rPr lang="ko-KR" altLang="en-US" dirty="0"/>
                  <a:t> </a:t>
                </a:r>
                <a:br>
                  <a:rPr lang="en-US" altLang="ko-KR" dirty="0"/>
                </a:br>
                <a:r>
                  <a:rPr lang="ko-KR" altLang="en-US" dirty="0"/>
                  <a:t>필터 도착</a:t>
                </a:r>
                <a:r>
                  <a:rPr lang="en-US" altLang="ko-KR" dirty="0"/>
                  <a:t>? </a:t>
                </a:r>
                <a:r>
                  <a:rPr lang="ko-KR" altLang="en-US" dirty="0"/>
                  <a:t>멈춤</a:t>
                </a:r>
                <a:r>
                  <a:rPr lang="en-US" altLang="ko-KR" dirty="0"/>
                  <a:t> (elementwise product = </a:t>
                </a:r>
                <a:r>
                  <a:rPr lang="ko-KR" altLang="en-US" dirty="0"/>
                  <a:t>각자리에 </a:t>
                </a:r>
                <a:br>
                  <a:rPr lang="en-US" altLang="ko-KR" dirty="0"/>
                </a:br>
                <a:r>
                  <a:rPr lang="ko-KR" altLang="en-US" dirty="0"/>
                  <a:t>대응되는 </a:t>
                </a:r>
                <a:r>
                  <a:rPr lang="ko-KR" altLang="en-US" dirty="0" err="1"/>
                  <a:t>원소값을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단순히 곱하고 더함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Stride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이미지 </a:t>
                </a:r>
                <a:r>
                  <a:rPr lang="en-US" altLang="ko-KR" dirty="0"/>
                  <a:t>N*N, </a:t>
                </a:r>
                <a:r>
                  <a:rPr lang="ko-KR" altLang="en-US" dirty="0"/>
                  <a:t>필터 </a:t>
                </a:r>
                <a:r>
                  <a:rPr lang="en-US" altLang="ko-KR" dirty="0"/>
                  <a:t>F*F, </a:t>
                </a:r>
                <a:r>
                  <a:rPr lang="ko-KR" altLang="en-US" dirty="0"/>
                  <a:t>이동회수</a:t>
                </a:r>
                <a:r>
                  <a:rPr lang="en-US" altLang="ko-KR" dirty="0"/>
                  <a:t>(stride) S →</a:t>
                </a:r>
                <a:br>
                  <a:rPr lang="en-US" altLang="ko-KR" dirty="0"/>
                </a:br>
                <a:r>
                  <a:rPr lang="ko-KR" altLang="en-US" dirty="0"/>
                  <a:t>필터 </a:t>
                </a:r>
                <a:r>
                  <a:rPr lang="ko-KR" altLang="en-US" dirty="0" err="1"/>
                  <a:t>통과후</a:t>
                </a:r>
                <a:r>
                  <a:rPr lang="ko-KR" altLang="en-US" dirty="0"/>
                  <a:t> 이미지 크기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ko-KR" dirty="0"/>
                  <a:t>; </a:t>
                </a:r>
                <a:r>
                  <a:rPr lang="ko-KR" altLang="en-US" dirty="0"/>
                  <a:t>통과</a:t>
                </a:r>
                <a:r>
                  <a:rPr lang="en-US" altLang="ko-KR" dirty="0"/>
                  <a:t>? → </a:t>
                </a:r>
                <a:r>
                  <a:rPr lang="ko-KR" altLang="en-US" dirty="0" err="1"/>
                  <a:t>작아짐</a:t>
                </a:r>
                <a:br>
                  <a:rPr lang="en-US" altLang="ko-KR" dirty="0"/>
                </a:br>
                <a:r>
                  <a:rPr lang="ko-KR" altLang="en-US" dirty="0"/>
                  <a:t>이미지 줄어듦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판단에 사용 숫자 줄어듦 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 연산 용이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Zero padding : </a:t>
                </a:r>
                <a:r>
                  <a:rPr lang="ko-KR" altLang="en-US" dirty="0"/>
                  <a:t>원본 이미지에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이루어진 부분 추가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이미지 크게 만듦</a:t>
                </a:r>
                <a:r>
                  <a:rPr lang="en-US" altLang="ko-KR" dirty="0"/>
                  <a:t>. (N=5*5, F=3*3) → N'=3*3; N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zero padding; 7*7 → N'=5*5; </a:t>
                </a:r>
                <a:r>
                  <a:rPr lang="ko-KR" altLang="en-US" dirty="0"/>
                  <a:t>이미지 크기가 유지되도록</a:t>
                </a:r>
                <a:r>
                  <a:rPr lang="en-US" altLang="ko-KR" dirty="0"/>
                  <a:t>;</a:t>
                </a:r>
                <a:br>
                  <a:rPr lang="en-US" altLang="ko-KR" dirty="0"/>
                </a:br>
                <a:r>
                  <a:rPr lang="en-US" altLang="ko-KR" dirty="0"/>
                  <a:t>+ '0'</a:t>
                </a:r>
                <a:r>
                  <a:rPr lang="ko-KR" altLang="en-US" dirty="0"/>
                  <a:t>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포함해서 어느 부분이 가장자리인지 알려줄 수 있기 때문</a:t>
                </a:r>
                <a:endParaRPr lang="en-US" altLang="ko-KR" dirty="0"/>
              </a:p>
              <a:p>
                <a:pPr lvl="1"/>
                <a:r>
                  <a:rPr lang="ko-KR" altLang="en-US" dirty="0" err="1"/>
                  <a:t>여러장의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feature map </a:t>
                </a:r>
                <a:r>
                  <a:rPr lang="ko-KR" altLang="en-US" dirty="0"/>
                  <a:t>생성 </a:t>
                </a:r>
                <a:r>
                  <a:rPr lang="en-US" altLang="ko-KR" dirty="0"/>
                  <a:t>: 1</a:t>
                </a:r>
                <a:r>
                  <a:rPr lang="ko-KR" altLang="en-US" dirty="0"/>
                  <a:t>개 이미지 </a:t>
                </a:r>
                <a:br>
                  <a:rPr lang="en-US" altLang="ko-KR" dirty="0"/>
                </a:br>
                <a:r>
                  <a:rPr lang="en-US" altLang="ko-KR" dirty="0"/>
                  <a:t>→ </a:t>
                </a:r>
                <a:r>
                  <a:rPr lang="ko-KR" altLang="en-US" dirty="0" err="1"/>
                  <a:t>여러개</a:t>
                </a:r>
                <a:r>
                  <a:rPr lang="ko-KR" altLang="en-US" dirty="0"/>
                  <a:t> 필터로 처리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다양한 </a:t>
                </a:r>
                <a:r>
                  <a:rPr lang="en-US" altLang="ko-KR" dirty="0"/>
                  <a:t>feature map </a:t>
                </a:r>
                <a:r>
                  <a:rPr lang="ko-KR" altLang="en-US" dirty="0"/>
                  <a:t>생성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각 필터의 숫자는 난수 지정 </a:t>
                </a:r>
                <a:br>
                  <a:rPr lang="en-US" altLang="ko-KR" dirty="0"/>
                </a:br>
                <a:r>
                  <a:rPr lang="en-US" altLang="ko-KR" dirty="0"/>
                  <a:t>→ </a:t>
                </a:r>
                <a:r>
                  <a:rPr lang="ko-KR" altLang="en-US" dirty="0"/>
                  <a:t>학습과정에서  </a:t>
                </a:r>
                <a:r>
                  <a:rPr lang="en-US" altLang="ko-KR" dirty="0"/>
                  <a:t>backpropagation</a:t>
                </a:r>
                <a:r>
                  <a:rPr lang="ko-KR" altLang="en-US" dirty="0"/>
                  <a:t>으로 수정</a:t>
                </a:r>
                <a:r>
                  <a:rPr lang="en-US" altLang="ko-KR" dirty="0"/>
                  <a:t> (convex </a:t>
                </a:r>
                <a:r>
                  <a:rPr lang="ko-KR" altLang="en-US" dirty="0"/>
                  <a:t>하다면 항상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감소</a:t>
                </a:r>
                <a:r>
                  <a:rPr lang="en-US" altLang="ko-KR" dirty="0"/>
                  <a:t>)</a:t>
                </a:r>
                <a:br>
                  <a:rPr lang="en-US" altLang="ko-KR" dirty="0"/>
                </a:br>
                <a:r>
                  <a:rPr lang="ko-KR" altLang="en-US" dirty="0"/>
                  <a:t>이유</a:t>
                </a:r>
                <a:r>
                  <a:rPr lang="en-US" altLang="ko-KR" dirty="0"/>
                  <a:t>? : 1</a:t>
                </a:r>
                <a:r>
                  <a:rPr lang="ko-KR" altLang="en-US" dirty="0"/>
                  <a:t>장 </a:t>
                </a:r>
                <a:r>
                  <a:rPr lang="en-US" altLang="ko-KR" dirty="0"/>
                  <a:t>feature map</a:t>
                </a:r>
                <a:r>
                  <a:rPr lang="ko-KR" altLang="en-US" dirty="0"/>
                  <a:t>에서 놓칠 수 있는 특징을 다른 </a:t>
                </a:r>
                <a:r>
                  <a:rPr lang="en-US" altLang="ko-KR" dirty="0"/>
                  <a:t>feature map</a:t>
                </a:r>
                <a:r>
                  <a:rPr lang="ko-KR" altLang="en-US" dirty="0"/>
                  <a:t>에서 포착 가능</a:t>
                </a:r>
                <a:endParaRPr lang="en-US" altLang="ko-KR" dirty="0"/>
              </a:p>
              <a:p>
                <a:r>
                  <a:rPr lang="en-US" altLang="ko-KR" dirty="0"/>
                  <a:t>Pooling layer</a:t>
                </a:r>
              </a:p>
              <a:p>
                <a:pPr lvl="1"/>
                <a:r>
                  <a:rPr lang="en-US" altLang="ko-KR" dirty="0"/>
                  <a:t>Convolution layer</a:t>
                </a:r>
                <a:r>
                  <a:rPr lang="ko-KR" altLang="en-US" dirty="0"/>
                  <a:t>가 있다면</a:t>
                </a:r>
                <a:r>
                  <a:rPr lang="en-US" altLang="ko-KR" dirty="0"/>
                  <a:t>? → pooling layer O</a:t>
                </a:r>
                <a:br>
                  <a:rPr lang="en-US" altLang="ko-KR" dirty="0"/>
                </a:br>
                <a:r>
                  <a:rPr lang="en-US" altLang="ko-KR" dirty="0"/>
                  <a:t>convolution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layer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값중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대표값을</a:t>
                </a:r>
                <a:r>
                  <a:rPr lang="ko-KR" altLang="en-US" dirty="0"/>
                  <a:t> 하나 뽑아 요약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ko-KR" altLang="en-US" dirty="0"/>
                  <a:t>최대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평균 등</a:t>
                </a:r>
                <a:r>
                  <a:rPr lang="en-US" altLang="ko-KR" dirty="0"/>
                  <a:t>... </a:t>
                </a:r>
                <a:r>
                  <a:rPr lang="ko-KR" altLang="en-US" dirty="0"/>
                  <a:t>일반적으로 </a:t>
                </a:r>
                <a:r>
                  <a:rPr lang="en-US" altLang="ko-KR" dirty="0"/>
                  <a:t>max pooling)</a:t>
                </a:r>
                <a:br>
                  <a:rPr lang="en-US" altLang="ko-KR" dirty="0"/>
                </a:br>
                <a:r>
                  <a:rPr lang="en-US" altLang="ko-KR" dirty="0"/>
                  <a:t>** 2*2 </a:t>
                </a:r>
                <a:r>
                  <a:rPr lang="ko-KR" altLang="en-US" dirty="0"/>
                  <a:t>커널을</a:t>
                </a:r>
                <a:r>
                  <a:rPr lang="en-US" altLang="ko-KR" dirty="0"/>
                  <a:t> 2*2 stride(</a:t>
                </a:r>
                <a:r>
                  <a:rPr lang="ko-KR" altLang="en-US" dirty="0"/>
                  <a:t>우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20ABC30-8A2A-5D0F-02EE-AB07513D51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7DD974C9-3C5F-4836-9F6B-0472096259AE}"/>
                  </a:ext>
                </a:extLst>
              </p:cNvPr>
              <p:cNvSpPr>
                <a:spLocks noGrp="1"/>
              </p:cNvSpPr>
              <p:nvPr>
                <p:ph sz="half" idx="13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/>
                  <a:t>Convolution filter=Feature extractor : </a:t>
                </a:r>
                <a:r>
                  <a:rPr lang="ko-KR" altLang="en-US" dirty="0"/>
                  <a:t>이미지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원본 픽셀</a:t>
                </a:r>
                <a:r>
                  <a:rPr lang="en-US" altLang="ko-KR" dirty="0"/>
                  <a:t>X, </a:t>
                </a:r>
                <a:r>
                  <a:rPr lang="ko-KR" altLang="en-US" dirty="0"/>
                  <a:t>이미지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픽셀의 특징으로 바꿈</a:t>
                </a:r>
                <a:r>
                  <a:rPr lang="en-US" altLang="ko-KR" dirty="0"/>
                  <a:t>. CNN→</a:t>
                </a:r>
                <a:r>
                  <a:rPr lang="ko-KR" altLang="en-US" dirty="0"/>
                  <a:t>자동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특징 추출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CNN </a:t>
                </a:r>
                <a:r>
                  <a:rPr lang="ko-KR" altLang="en-US" dirty="0"/>
                  <a:t>처리 과정 </a:t>
                </a:r>
                <a:r>
                  <a:rPr lang="en-US" altLang="ko-KR" dirty="0"/>
                  <a:t>: 1) Feature extract, 2) Feature→</a:t>
                </a:r>
                <a:r>
                  <a:rPr lang="ko-KR" altLang="en-US" dirty="0"/>
                  <a:t>딥러닝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구별</a:t>
                </a:r>
                <a:r>
                  <a:rPr lang="en-US" altLang="ko-KR" dirty="0"/>
                  <a:t>O</a:t>
                </a:r>
                <a:r>
                  <a:rPr lang="ko-KR" altLang="en-US" dirty="0"/>
                  <a:t>인 간결 특징만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도움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정보</a:t>
                </a:r>
                <a:r>
                  <a:rPr lang="en-US" altLang="ko-KR" dirty="0"/>
                  <a:t>X→</a:t>
                </a:r>
                <a:r>
                  <a:rPr lang="ko-KR" altLang="en-US" dirty="0"/>
                  <a:t>단순화된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Convolution </a:t>
                </a:r>
                <a:r>
                  <a:rPr lang="en-US" altLang="ko-KR" dirty="0" err="1"/>
                  <a:t>filte</a:t>
                </a:r>
                <a:r>
                  <a:rPr lang="ko-KR" altLang="en-US" dirty="0"/>
                  <a:t>를 이미지 겹침</a:t>
                </a:r>
                <a:r>
                  <a:rPr lang="en-US" altLang="ko-KR" dirty="0"/>
                  <a:t>→(</a:t>
                </a:r>
                <a:r>
                  <a:rPr lang="ko-KR" altLang="en-US" dirty="0" err="1"/>
                  <a:t>필터값</a:t>
                </a:r>
                <a:r>
                  <a:rPr lang="en-US" altLang="ko-KR" dirty="0"/>
                  <a:t>)*(</a:t>
                </a:r>
                <a:r>
                  <a:rPr lang="ko-KR" altLang="en-US" dirty="0" err="1"/>
                  <a:t>픽셀값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으로 곱하고 더해서 새 숫자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이 과정을 반복</a:t>
                </a:r>
                <a:r>
                  <a:rPr lang="en-US" altLang="ko-KR" dirty="0"/>
                  <a:t>, 'Feature map' </a:t>
                </a:r>
                <a:r>
                  <a:rPr lang="ko-KR" altLang="en-US" dirty="0"/>
                  <a:t>새 이미지 생성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Stride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이미지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판단 사용 숫자</a:t>
                </a:r>
                <a:r>
                  <a:rPr lang="en-US" altLang="ko-KR" dirty="0"/>
                  <a:t>↓, </a:t>
                </a:r>
                <a:r>
                  <a:rPr lang="ko-KR" altLang="en-US" dirty="0"/>
                  <a:t>연산 용이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Zero padding : </a:t>
                </a:r>
                <a:r>
                  <a:rPr lang="ko-KR" altLang="en-US" dirty="0"/>
                  <a:t>원본 이미지 가장자리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부분 추가</a:t>
                </a:r>
                <a:r>
                  <a:rPr lang="en-US" altLang="ko-KR" dirty="0"/>
                  <a:t>→ Feature map</a:t>
                </a:r>
                <a:r>
                  <a:rPr lang="ko-KR" altLang="en-US" dirty="0"/>
                  <a:t>크기 유지 </a:t>
                </a:r>
                <a:r>
                  <a:rPr lang="en-US" altLang="ko-KR" dirty="0"/>
                  <a:t>+ 0</a:t>
                </a:r>
                <a:r>
                  <a:rPr lang="ko-KR" altLang="en-US" dirty="0"/>
                  <a:t>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통해 어디가 가장자리</a:t>
                </a:r>
                <a:r>
                  <a:rPr lang="en-US" altLang="ko-KR" dirty="0"/>
                  <a:t>?</a:t>
                </a:r>
              </a:p>
              <a:p>
                <a:pPr lvl="1"/>
                <a:r>
                  <a:rPr lang="ko-KR" altLang="en-US" dirty="0"/>
                  <a:t>여러 </a:t>
                </a:r>
                <a:r>
                  <a:rPr lang="en-US" altLang="ko-KR" dirty="0"/>
                  <a:t>Feature map </a:t>
                </a:r>
                <a:r>
                  <a:rPr lang="ko-KR" altLang="en-US" dirty="0"/>
                  <a:t>생성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필터 난수 지정</a:t>
                </a:r>
                <a:r>
                  <a:rPr lang="en-US" altLang="ko-KR" dirty="0"/>
                  <a:t>→</a:t>
                </a:r>
                <a:r>
                  <a:rPr lang="ko-KR" altLang="en-US" dirty="0" err="1"/>
                  <a:t>학습중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BP</a:t>
                </a:r>
                <a:r>
                  <a:rPr lang="ko-KR" altLang="en-US" dirty="0"/>
                  <a:t>로 수정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왜</a:t>
                </a:r>
                <a:r>
                  <a:rPr lang="en-US" altLang="ko-KR" dirty="0"/>
                  <a:t>? 1</a:t>
                </a:r>
                <a:r>
                  <a:rPr lang="ko-KR" altLang="en-US" dirty="0"/>
                  <a:t>장 </a:t>
                </a:r>
                <a:r>
                  <a:rPr lang="en-US" altLang="ko-KR" dirty="0"/>
                  <a:t>FM</a:t>
                </a:r>
                <a:r>
                  <a:rPr lang="ko-KR" altLang="en-US" dirty="0"/>
                  <a:t>에서 놓칠 수 있음 다른 </a:t>
                </a:r>
                <a:r>
                  <a:rPr lang="en-US" altLang="ko-KR" dirty="0"/>
                  <a:t>FM</a:t>
                </a:r>
                <a:r>
                  <a:rPr lang="ko-KR" altLang="en-US" dirty="0"/>
                  <a:t>에서</a:t>
                </a:r>
                <a:endParaRPr lang="en-US" altLang="ko-KR" dirty="0"/>
              </a:p>
              <a:p>
                <a:r>
                  <a:rPr lang="en-US" altLang="ko-KR" dirty="0"/>
                  <a:t>Pooling layer : CL?→Pooling layer O, CL</a:t>
                </a:r>
                <a:r>
                  <a:rPr lang="ko-KR" altLang="en-US" dirty="0" err="1"/>
                  <a:t>값중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대표값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요약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일반적</a:t>
                </a:r>
                <a:r>
                  <a:rPr lang="en-US" altLang="ko-KR" dirty="0"/>
                  <a:t> : </a:t>
                </a:r>
                <a:r>
                  <a:rPr lang="en-US" altLang="ko-KR" dirty="0" err="1"/>
                  <a:t>maxpooling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>
                <a:extLst>
                  <a:ext uri="{FF2B5EF4-FFF2-40B4-BE49-F238E27FC236}">
                    <a16:creationId xmlns:a16="http://schemas.microsoft.com/office/drawing/2014/main" id="{7DD974C9-3C5F-4836-9F6B-047209625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3"/>
              </p:nvPr>
            </p:nvSpPr>
            <p:spPr>
              <a:blipFill>
                <a:blip r:embed="rId3"/>
                <a:stretch>
                  <a:fillRect t="-3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8D9DC44F-AB97-0C09-76E6-59BD256639C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3176" y="2144688"/>
            <a:ext cx="1800199" cy="20239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11BA281-B95F-6E95-4B51-C09A44B45D6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505" t="3129"/>
          <a:stretch/>
        </p:blipFill>
        <p:spPr>
          <a:xfrm>
            <a:off x="4681887" y="5385048"/>
            <a:ext cx="2131488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36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78C9B63-9B2F-F12C-3220-A7A701E4F3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C7EBE75-2604-206A-681B-6B85286D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CNN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Mnist</a:t>
            </a:r>
            <a:r>
              <a:rPr lang="en-US" altLang="ko-KR" dirty="0"/>
              <a:t> data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606601-C95F-4D33-1A97-E7D822CB16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9D3B719-F271-28FB-31A8-2E76C72D26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 err="1"/>
              <a:t>Mnist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에서 적용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입력 레이어 </a:t>
            </a:r>
            <a:r>
              <a:rPr lang="en-US" altLang="ko-KR" dirty="0"/>
              <a:t>: 28*28*1 (1</a:t>
            </a:r>
            <a:r>
              <a:rPr lang="ko-KR" altLang="en-US" dirty="0"/>
              <a:t>은 컬러</a:t>
            </a:r>
            <a:r>
              <a:rPr lang="en-US" altLang="ko-KR" dirty="0"/>
              <a:t>X, </a:t>
            </a:r>
            <a:r>
              <a:rPr lang="ko-KR" altLang="en-US" dirty="0" err="1"/>
              <a:t>단색이미지란</a:t>
            </a:r>
            <a:r>
              <a:rPr lang="ko-KR" altLang="en-US" dirty="0"/>
              <a:t> 뜻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번째 </a:t>
            </a:r>
            <a:r>
              <a:rPr lang="ko-KR" altLang="en-US" dirty="0" err="1"/>
              <a:t>합성곱</a:t>
            </a:r>
            <a:r>
              <a:rPr lang="ko-KR" altLang="en-US" dirty="0"/>
              <a:t> 레이어 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5*5 </a:t>
            </a:r>
            <a:r>
              <a:rPr lang="ko-KR" altLang="en-US" dirty="0" err="1"/>
              <a:t>합성곱</a:t>
            </a:r>
            <a:r>
              <a:rPr lang="ko-KR" altLang="en-US" dirty="0"/>
              <a:t> 필터</a:t>
            </a:r>
            <a:r>
              <a:rPr lang="en-US" altLang="ko-KR" dirty="0"/>
              <a:t>, 16</a:t>
            </a:r>
            <a:r>
              <a:rPr lang="ko-KR" altLang="en-US" dirty="0"/>
              <a:t>개의 </a:t>
            </a:r>
            <a:r>
              <a:rPr lang="en-US" altLang="ko-KR" dirty="0"/>
              <a:t>feature map </a:t>
            </a:r>
            <a:r>
              <a:rPr lang="ko-KR" altLang="en-US" dirty="0"/>
              <a:t>생성</a:t>
            </a:r>
            <a:r>
              <a:rPr lang="en-US" altLang="ko-KR" dirty="0"/>
              <a:t>, Relu </a:t>
            </a:r>
            <a:r>
              <a:rPr lang="ko-KR" altLang="en-US" dirty="0"/>
              <a:t>활성화 함수 사용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Stride = 1;</a:t>
            </a:r>
            <a:br>
              <a:rPr lang="en-US" altLang="ko-KR" dirty="0"/>
            </a:br>
            <a:r>
              <a:rPr lang="ko-KR" altLang="en-US" dirty="0" err="1"/>
              <a:t>파라미터수</a:t>
            </a:r>
            <a:r>
              <a:rPr lang="en-US" altLang="ko-KR" dirty="0"/>
              <a:t> :  </a:t>
            </a:r>
            <a:r>
              <a:rPr lang="en-US" altLang="ko-KR" b="1" dirty="0"/>
              <a:t>416 = {5*5(</a:t>
            </a:r>
            <a:r>
              <a:rPr lang="ko-KR" altLang="en-US" b="1" dirty="0"/>
              <a:t>필터크기</a:t>
            </a:r>
            <a:r>
              <a:rPr lang="en-US" altLang="ko-KR" b="1" dirty="0"/>
              <a:t>)*1(</a:t>
            </a:r>
            <a:r>
              <a:rPr lang="ko-KR" altLang="en-US" b="1" dirty="0"/>
              <a:t>입력채널</a:t>
            </a:r>
            <a:r>
              <a:rPr lang="en-US" altLang="ko-KR" b="1" dirty="0"/>
              <a:t>)+1(</a:t>
            </a:r>
            <a:r>
              <a:rPr lang="ko-KR" altLang="en-US" b="1" dirty="0"/>
              <a:t>바이어스</a:t>
            </a:r>
            <a:r>
              <a:rPr lang="en-US" altLang="ko-KR" b="1" dirty="0"/>
              <a:t>)}*16(</a:t>
            </a:r>
            <a:r>
              <a:rPr lang="ko-KR" altLang="en-US" b="1" dirty="0"/>
              <a:t>필터 수</a:t>
            </a:r>
            <a:r>
              <a:rPr lang="en-US" altLang="ko-KR" b="1" dirty="0"/>
              <a:t>)</a:t>
            </a:r>
            <a:br>
              <a:rPr lang="en-US" altLang="ko-KR" b="1" dirty="0"/>
            </a:br>
            <a:r>
              <a:rPr lang="ko-KR" altLang="en-US" dirty="0"/>
              <a:t>이미지 크기 </a:t>
            </a:r>
            <a:r>
              <a:rPr lang="en-US" altLang="ko-KR" dirty="0"/>
              <a:t>: </a:t>
            </a:r>
            <a:r>
              <a:rPr lang="en-US" altLang="ko-KR" b="1" dirty="0"/>
              <a:t>28*28*1 → 24*24*16</a:t>
            </a:r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번째 </a:t>
            </a:r>
            <a:r>
              <a:rPr lang="en-US" altLang="ko-KR" dirty="0"/>
              <a:t>max pooling </a:t>
            </a:r>
            <a:r>
              <a:rPr lang="ko-KR" altLang="en-US" dirty="0"/>
              <a:t>레이어 </a:t>
            </a:r>
            <a:r>
              <a:rPr lang="en-US" altLang="ko-KR" dirty="0"/>
              <a:t>:</a:t>
            </a:r>
          </a:p>
          <a:p>
            <a:pPr lvl="2"/>
            <a:r>
              <a:rPr lang="en-US" altLang="ko-KR" dirty="0"/>
              <a:t>2*2 </a:t>
            </a:r>
            <a:r>
              <a:rPr lang="ko-KR" altLang="en-US" dirty="0"/>
              <a:t>크기 </a:t>
            </a:r>
            <a:r>
              <a:rPr lang="ko-KR" altLang="en-US" dirty="0" err="1"/>
              <a:t>풀링</a:t>
            </a:r>
            <a:r>
              <a:rPr lang="ko-KR" altLang="en-US" dirty="0"/>
              <a:t> 필터</a:t>
            </a:r>
            <a:r>
              <a:rPr lang="en-US" altLang="ko-KR" dirty="0"/>
              <a:t>, stride = 2; </a:t>
            </a:r>
            <a:r>
              <a:rPr lang="en-US" altLang="ko-KR" b="1" dirty="0"/>
              <a:t>24*24*16 → 12*12*16</a:t>
            </a:r>
            <a:r>
              <a:rPr lang="ko-KR" altLang="en-US" dirty="0"/>
              <a:t>로 </a:t>
            </a:r>
            <a:r>
              <a:rPr lang="ko-KR" altLang="en-US" dirty="0" err="1"/>
              <a:t>줄어듬</a:t>
            </a:r>
            <a:endParaRPr lang="en-US" altLang="ko-KR" dirty="0"/>
          </a:p>
          <a:p>
            <a:pPr lvl="3"/>
            <a:r>
              <a:rPr lang="ko-KR" altLang="en-US" dirty="0" err="1"/>
              <a:t>맥스풀링</a:t>
            </a:r>
            <a:r>
              <a:rPr lang="ko-KR" altLang="en-US" dirty="0"/>
              <a:t> 레이어 </a:t>
            </a:r>
            <a:r>
              <a:rPr lang="en-US" altLang="ko-KR" dirty="0"/>
              <a:t>→ </a:t>
            </a:r>
            <a:r>
              <a:rPr lang="ko-KR" altLang="en-US" b="1" dirty="0"/>
              <a:t>파라미터 필요 </a:t>
            </a:r>
            <a:r>
              <a:rPr lang="en-US" altLang="ko-KR" b="1" dirty="0"/>
              <a:t>X</a:t>
            </a:r>
            <a:r>
              <a:rPr lang="en-US" altLang="ko-KR" dirty="0"/>
              <a:t>. </a:t>
            </a:r>
            <a:r>
              <a:rPr lang="ko-KR" altLang="en-US" dirty="0"/>
              <a:t>왜</a:t>
            </a:r>
            <a:r>
              <a:rPr lang="en-US" altLang="ko-KR" dirty="0"/>
              <a:t>? 4</a:t>
            </a:r>
            <a:r>
              <a:rPr lang="ko-KR" altLang="en-US" dirty="0"/>
              <a:t>개 </a:t>
            </a:r>
            <a:r>
              <a:rPr lang="ko-KR" altLang="en-US" dirty="0" err="1"/>
              <a:t>숫자중</a:t>
            </a:r>
            <a:r>
              <a:rPr lang="ko-KR" altLang="en-US" dirty="0"/>
              <a:t> 가장 </a:t>
            </a:r>
            <a:r>
              <a:rPr lang="ko-KR" altLang="en-US" dirty="0" err="1"/>
              <a:t>큰거</a:t>
            </a:r>
            <a:r>
              <a:rPr lang="ko-KR" altLang="en-US" dirty="0"/>
              <a:t> 하나만 선택</a:t>
            </a:r>
            <a:r>
              <a:rPr lang="en-US" altLang="ko-KR" dirty="0"/>
              <a:t> ok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ko-KR" altLang="en-US" dirty="0" err="1"/>
              <a:t>합성곱</a:t>
            </a:r>
            <a:r>
              <a:rPr lang="ko-KR" altLang="en-US" dirty="0"/>
              <a:t> 레이어 </a:t>
            </a:r>
            <a:r>
              <a:rPr lang="en-US" altLang="ko-KR" dirty="0"/>
              <a:t>: 3*3 </a:t>
            </a:r>
            <a:r>
              <a:rPr lang="ko-KR" altLang="en-US" dirty="0"/>
              <a:t>필터</a:t>
            </a:r>
            <a:r>
              <a:rPr lang="en-US" altLang="ko-KR" dirty="0"/>
              <a:t>, 32</a:t>
            </a:r>
            <a:r>
              <a:rPr lang="ko-KR" altLang="en-US" dirty="0"/>
              <a:t>개 </a:t>
            </a:r>
            <a:r>
              <a:rPr lang="en-US" altLang="ko-KR" dirty="0"/>
              <a:t>feature map </a:t>
            </a:r>
            <a:r>
              <a:rPr lang="ko-KR" altLang="en-US" dirty="0"/>
              <a:t>생성</a:t>
            </a:r>
            <a:r>
              <a:rPr lang="en-US" altLang="ko-KR" dirty="0"/>
              <a:t>, Relu; </a:t>
            </a:r>
            <a:br>
              <a:rPr lang="en-US" altLang="ko-KR" dirty="0"/>
            </a:br>
            <a:r>
              <a:rPr lang="ko-KR" altLang="en-US" dirty="0"/>
              <a:t>파라미터 수 </a:t>
            </a:r>
            <a:r>
              <a:rPr lang="en-US" altLang="ko-KR" dirty="0"/>
              <a:t>= </a:t>
            </a:r>
            <a:r>
              <a:rPr lang="en-US" altLang="ko-KR" b="1" dirty="0"/>
              <a:t>(3*3*16+1) * 32 = 4640</a:t>
            </a:r>
            <a:br>
              <a:rPr lang="en-US" altLang="ko-KR" dirty="0"/>
            </a:br>
            <a:r>
              <a:rPr lang="ko-KR" altLang="en-US" dirty="0"/>
              <a:t>이미지 크기 </a:t>
            </a:r>
            <a:r>
              <a:rPr lang="en-US" altLang="ko-KR" dirty="0"/>
              <a:t>: </a:t>
            </a:r>
            <a:r>
              <a:rPr lang="en-US" altLang="ko-KR" b="1" dirty="0"/>
              <a:t>12*12*16 → 10*10*32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max pooling : 2*2 </a:t>
            </a:r>
            <a:r>
              <a:rPr lang="ko-KR" altLang="en-US" dirty="0"/>
              <a:t>필터</a:t>
            </a:r>
            <a:r>
              <a:rPr lang="en-US" altLang="ko-KR" dirty="0"/>
              <a:t>, stride = 2; </a:t>
            </a:r>
            <a:r>
              <a:rPr lang="en-US" altLang="ko-KR" b="1" dirty="0"/>
              <a:t>10*10*32 → 5*5*32</a:t>
            </a:r>
            <a:r>
              <a:rPr lang="en-US" altLang="ko-KR" dirty="0"/>
              <a:t>; </a:t>
            </a:r>
            <a:r>
              <a:rPr lang="ko-KR" altLang="en-US" b="1" dirty="0"/>
              <a:t>파라미터 </a:t>
            </a:r>
            <a:r>
              <a:rPr lang="en-US" altLang="ko-KR" b="1" dirty="0"/>
              <a:t>= 0</a:t>
            </a:r>
          </a:p>
          <a:p>
            <a:pPr lvl="1"/>
            <a:r>
              <a:rPr lang="en-US" altLang="ko-KR" dirty="0"/>
              <a:t>Flatten layer: Pooling </a:t>
            </a:r>
            <a:r>
              <a:rPr lang="ko-KR" altLang="en-US" dirty="0"/>
              <a:t>에서 </a:t>
            </a:r>
            <a:r>
              <a:rPr lang="en-US" altLang="ko-KR" dirty="0"/>
              <a:t>5*5*32 feature map → 1</a:t>
            </a:r>
            <a:r>
              <a:rPr lang="ko-KR" altLang="en-US" dirty="0"/>
              <a:t>개의</a:t>
            </a:r>
            <a:r>
              <a:rPr lang="en-US" altLang="ko-KR" dirty="0"/>
              <a:t> </a:t>
            </a:r>
            <a:r>
              <a:rPr lang="ko-KR" altLang="en-US" dirty="0"/>
              <a:t>벡터로 펼침 </a:t>
            </a:r>
            <a:r>
              <a:rPr lang="en-US" altLang="ko-KR" dirty="0"/>
              <a:t>: </a:t>
            </a:r>
            <a:r>
              <a:rPr lang="en-US" altLang="ko-KR" b="1" dirty="0"/>
              <a:t>5*5*32 = 800</a:t>
            </a:r>
            <a:r>
              <a:rPr lang="ko-KR" altLang="en-US" b="1" dirty="0"/>
              <a:t>개 숫자</a:t>
            </a:r>
            <a:r>
              <a:rPr lang="en-US" altLang="ko-KR" b="1" dirty="0"/>
              <a:t>; </a:t>
            </a:r>
            <a:r>
              <a:rPr lang="ko-KR" altLang="en-US" b="1" dirty="0"/>
              <a:t>파라미터 </a:t>
            </a:r>
            <a:r>
              <a:rPr lang="en-US" altLang="ko-KR" b="1" dirty="0"/>
              <a:t>X</a:t>
            </a:r>
          </a:p>
          <a:p>
            <a:pPr lvl="1"/>
            <a:r>
              <a:rPr lang="en-US" altLang="ko-KR" dirty="0"/>
              <a:t>Dense layer</a:t>
            </a:r>
            <a:r>
              <a:rPr lang="ko-KR" altLang="en-US" dirty="0"/>
              <a:t> </a:t>
            </a:r>
            <a:r>
              <a:rPr lang="en-US" altLang="ko-KR" dirty="0"/>
              <a:t>: 800</a:t>
            </a:r>
            <a:r>
              <a:rPr lang="ko-KR" altLang="en-US" dirty="0"/>
              <a:t>개 벡터 입력</a:t>
            </a:r>
            <a:r>
              <a:rPr lang="en-US" altLang="ko-KR" dirty="0"/>
              <a:t> → 10</a:t>
            </a:r>
            <a:r>
              <a:rPr lang="ko-KR" altLang="en-US" dirty="0"/>
              <a:t>개의 뉴런으로 반환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10</a:t>
            </a:r>
            <a:r>
              <a:rPr lang="ko-KR" altLang="en-US" dirty="0"/>
              <a:t>개 뉴런 </a:t>
            </a:r>
            <a:r>
              <a:rPr lang="en-US" altLang="ko-KR" dirty="0"/>
              <a:t>→ 0~9</a:t>
            </a:r>
            <a:r>
              <a:rPr lang="ko-KR" altLang="en-US" dirty="0"/>
              <a:t>까지 </a:t>
            </a:r>
            <a:r>
              <a:rPr lang="en-US" altLang="ko-KR" dirty="0"/>
              <a:t>10</a:t>
            </a:r>
            <a:r>
              <a:rPr lang="ko-KR" altLang="en-US" dirty="0"/>
              <a:t>개의 클래스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출력층엔</a:t>
            </a:r>
            <a:r>
              <a:rPr lang="en-US" altLang="ko-KR" dirty="0"/>
              <a:t> </a:t>
            </a:r>
            <a:r>
              <a:rPr lang="en-US" altLang="ko-KR" dirty="0" err="1"/>
              <a:t>softmax</a:t>
            </a:r>
            <a:r>
              <a:rPr lang="ko-KR" altLang="en-US" dirty="0"/>
              <a:t>를 활용해 각 클래스에 속할 확률 계산</a:t>
            </a:r>
            <a:endParaRPr lang="en-US" altLang="ko-KR" dirty="0"/>
          </a:p>
          <a:p>
            <a:pPr lvl="2"/>
            <a:r>
              <a:rPr lang="ko-KR" altLang="en-US" dirty="0"/>
              <a:t>파라미터 수 </a:t>
            </a:r>
            <a:r>
              <a:rPr lang="en-US" altLang="ko-KR" dirty="0"/>
              <a:t>= </a:t>
            </a:r>
            <a:r>
              <a:rPr lang="en-US" altLang="ko-KR" b="1" dirty="0"/>
              <a:t>800(</a:t>
            </a:r>
            <a:r>
              <a:rPr lang="ko-KR" altLang="en-US" b="1" dirty="0"/>
              <a:t>입력 특징</a:t>
            </a:r>
            <a:r>
              <a:rPr lang="en-US" altLang="ko-KR" b="1" dirty="0"/>
              <a:t>) * 10(</a:t>
            </a:r>
            <a:r>
              <a:rPr lang="ko-KR" altLang="en-US" b="1" dirty="0"/>
              <a:t>출력 뉴런</a:t>
            </a:r>
            <a:r>
              <a:rPr lang="en-US" altLang="ko-KR" b="1" dirty="0"/>
              <a:t>) + 10(bias) = 8010</a:t>
            </a:r>
          </a:p>
          <a:p>
            <a:pPr lvl="1"/>
            <a:r>
              <a:rPr lang="ko-KR" altLang="en-US" b="1" dirty="0"/>
              <a:t>총 파라미터 수 </a:t>
            </a:r>
            <a:r>
              <a:rPr lang="en-US" altLang="ko-KR" b="1" dirty="0"/>
              <a:t>= 416 + 4640+ 8010 = 13066</a:t>
            </a:r>
            <a:r>
              <a:rPr lang="ko-KR" altLang="en-US" b="1" dirty="0"/>
              <a:t>개 학습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FE05E-A422-D741-EA80-F292E70E4EF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번째 </a:t>
            </a:r>
            <a:r>
              <a:rPr lang="en-US" altLang="ko-KR" dirty="0"/>
              <a:t>CL : 5*5 CF, 16</a:t>
            </a:r>
            <a:r>
              <a:rPr lang="ko-KR" altLang="en-US" dirty="0"/>
              <a:t>개 </a:t>
            </a:r>
            <a:r>
              <a:rPr lang="en-US" altLang="ko-KR" dirty="0"/>
              <a:t>FM → param # = 416 = [(</a:t>
            </a:r>
            <a:r>
              <a:rPr lang="ko-KR" altLang="en-US" dirty="0"/>
              <a:t>필터크기</a:t>
            </a:r>
            <a:r>
              <a:rPr lang="en-US" altLang="ko-KR" dirty="0"/>
              <a:t>)*(</a:t>
            </a:r>
            <a:r>
              <a:rPr lang="ko-KR" altLang="en-US" dirty="0"/>
              <a:t>채널</a:t>
            </a:r>
            <a:r>
              <a:rPr lang="en-US" altLang="ko-KR" dirty="0"/>
              <a:t>)+(bias)]*(</a:t>
            </a:r>
            <a:r>
              <a:rPr lang="ko-KR" altLang="en-US" dirty="0" err="1"/>
              <a:t>필터수</a:t>
            </a:r>
            <a:r>
              <a:rPr lang="en-US" altLang="ko-KR" dirty="0"/>
              <a:t>); </a:t>
            </a:r>
            <a:r>
              <a:rPr lang="ko-KR" altLang="en-US" dirty="0"/>
              <a:t>크기</a:t>
            </a:r>
            <a:r>
              <a:rPr lang="en-US" altLang="ko-KR" dirty="0"/>
              <a:t>:28*28*1 → 24*24*16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번째 </a:t>
            </a:r>
            <a:r>
              <a:rPr lang="en-US" altLang="ko-KR" dirty="0"/>
              <a:t>MP: 24*24*16→12*12*16, param</a:t>
            </a:r>
            <a:r>
              <a:rPr lang="ko-KR" altLang="en-US" dirty="0"/>
              <a:t> </a:t>
            </a:r>
            <a:r>
              <a:rPr lang="en-US" altLang="ko-KR" dirty="0"/>
              <a:t># = 0; </a:t>
            </a:r>
            <a:r>
              <a:rPr lang="ko-KR" altLang="en-US" dirty="0"/>
              <a:t>∵</a:t>
            </a:r>
            <a:r>
              <a:rPr lang="en-US" altLang="ko-KR" dirty="0"/>
              <a:t>4</a:t>
            </a:r>
            <a:r>
              <a:rPr lang="ko-KR" altLang="en-US" dirty="0"/>
              <a:t>개중 큰 거 </a:t>
            </a:r>
            <a:r>
              <a:rPr lang="en-US" altLang="ko-KR" dirty="0"/>
              <a:t>1</a:t>
            </a:r>
            <a:r>
              <a:rPr lang="ko-KR" altLang="en-US" dirty="0"/>
              <a:t>개만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CL : 3*3 CF, 32</a:t>
            </a:r>
            <a:r>
              <a:rPr lang="ko-KR" altLang="en-US" dirty="0"/>
              <a:t> </a:t>
            </a:r>
            <a:r>
              <a:rPr lang="en-US" altLang="ko-KR" dirty="0"/>
              <a:t>FM → param # = 4640 = [(3*3)*16+1]*16; </a:t>
            </a:r>
            <a:r>
              <a:rPr lang="ko-KR" altLang="en-US" dirty="0"/>
              <a:t>크기</a:t>
            </a:r>
            <a:r>
              <a:rPr lang="en-US" altLang="ko-KR" dirty="0"/>
              <a:t>:12*12*16 → 10*10*32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MP: 10*10*32→5*5*32, param</a:t>
            </a:r>
            <a:r>
              <a:rPr lang="ko-KR" altLang="en-US" dirty="0"/>
              <a:t> </a:t>
            </a:r>
            <a:r>
              <a:rPr lang="en-US" altLang="ko-KR" dirty="0"/>
              <a:t># = 0</a:t>
            </a:r>
          </a:p>
          <a:p>
            <a:r>
              <a:rPr lang="en-US" altLang="ko-KR" dirty="0"/>
              <a:t>Flatten layer : 5*5*32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하나의 벡터로</a:t>
            </a:r>
            <a:r>
              <a:rPr lang="en-US" altLang="ko-KR" dirty="0"/>
              <a:t>, 5*5*32→1*800</a:t>
            </a:r>
          </a:p>
          <a:p>
            <a:r>
              <a:rPr lang="en-US" altLang="ko-KR" dirty="0"/>
              <a:t>Dense layer : </a:t>
            </a:r>
            <a:r>
              <a:rPr lang="en-US" altLang="ko-KR" dirty="0" err="1"/>
              <a:t>softmax</a:t>
            </a:r>
            <a:r>
              <a:rPr lang="en-US" altLang="ko-KR" dirty="0"/>
              <a:t> : 1*800 → (</a:t>
            </a:r>
            <a:r>
              <a:rPr lang="ko-KR" altLang="en-US" dirty="0"/>
              <a:t>입력 </a:t>
            </a:r>
            <a:r>
              <a:rPr lang="en-US" altLang="ko-KR" dirty="0"/>
              <a:t>Feature)*(</a:t>
            </a:r>
            <a:r>
              <a:rPr lang="ko-KR" altLang="en-US" dirty="0" err="1"/>
              <a:t>출력뉴런</a:t>
            </a:r>
            <a:r>
              <a:rPr lang="en-US" altLang="ko-KR" dirty="0"/>
              <a:t>)+(bias)=800*10+10=8010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B82E846-5170-A86E-9939-C901BD6E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24" y="848544"/>
            <a:ext cx="4229218" cy="36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4EAF0F-4E02-D0C7-EF0F-EC85F08EE073}"/>
              </a:ext>
            </a:extLst>
          </p:cNvPr>
          <p:cNvSpPr txBox="1"/>
          <p:nvPr/>
        </p:nvSpPr>
        <p:spPr>
          <a:xfrm>
            <a:off x="4113075" y="9099267"/>
            <a:ext cx="2262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입력 </a:t>
            </a:r>
            <a:r>
              <a:rPr lang="en-US" altLang="ko-KR" sz="1000" dirty="0"/>
              <a:t>layer : 28*28*1(</a:t>
            </a:r>
            <a:r>
              <a:rPr lang="ko-KR" altLang="en-US" sz="1000" dirty="0"/>
              <a:t>컬러채널</a:t>
            </a:r>
            <a:r>
              <a:rPr lang="en-US" altLang="ko-KR" sz="1000" dirty="0"/>
              <a:t>, </a:t>
            </a:r>
            <a:r>
              <a:rPr lang="ko-KR" altLang="en-US" sz="1000" dirty="0"/>
              <a:t>흑백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055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27639C9-43D0-FBD8-8164-E66C50D39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EF7931-08B1-1E92-5B85-4F762A0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CIFAR10/ImageNet challenge/Transfer Learning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C29B88-449E-0083-6F38-0599B2DF87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4D7E5F-0B51-E762-43CF-80D0ABE61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2776" y="560512"/>
            <a:ext cx="5400599" cy="7560840"/>
          </a:xfrm>
        </p:spPr>
        <p:txBody>
          <a:bodyPr/>
          <a:lstStyle/>
          <a:p>
            <a:r>
              <a:rPr lang="ko-KR" altLang="en-US" dirty="0"/>
              <a:t>이미지 파일 </a:t>
            </a:r>
            <a:r>
              <a:rPr lang="en-US" altLang="ko-KR" dirty="0"/>
              <a:t>→ </a:t>
            </a:r>
            <a:r>
              <a:rPr lang="ko-KR" altLang="en-US" dirty="0"/>
              <a:t>행렬로</a:t>
            </a:r>
            <a:r>
              <a:rPr lang="en-US" altLang="ko-KR" dirty="0"/>
              <a:t> </a:t>
            </a:r>
            <a:r>
              <a:rPr lang="ko-KR" altLang="en-US" dirty="0"/>
              <a:t>바꾸는 법</a:t>
            </a:r>
            <a:r>
              <a:rPr lang="en-US" altLang="ko-KR" dirty="0"/>
              <a:t>, </a:t>
            </a:r>
            <a:r>
              <a:rPr lang="en-US" altLang="ko-KR" dirty="0" err="1"/>
              <a:t>ImagegDataGenerator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크기에 상관없이 </a:t>
            </a:r>
            <a:r>
              <a:rPr lang="en-US" altLang="ko-KR" dirty="0"/>
              <a:t>150*150;</a:t>
            </a:r>
            <a:br>
              <a:rPr lang="en-US" altLang="ko-KR" dirty="0"/>
            </a:br>
            <a:r>
              <a:rPr lang="en-US" altLang="ko-KR" dirty="0"/>
              <a:t>1500*1500? GPU </a:t>
            </a:r>
            <a:r>
              <a:rPr lang="ko-KR" altLang="en-US" dirty="0"/>
              <a:t>감당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15*15? </a:t>
            </a:r>
            <a:r>
              <a:rPr lang="ko-KR" altLang="en-US" dirty="0"/>
              <a:t>잘 </a:t>
            </a:r>
            <a:r>
              <a:rPr lang="ko-KR" altLang="en-US" dirty="0" err="1"/>
              <a:t>못맞춤</a:t>
            </a:r>
            <a:br>
              <a:rPr lang="en-US" altLang="ko-KR" dirty="0"/>
            </a:br>
            <a:r>
              <a:rPr lang="en-US" altLang="ko-KR" dirty="0"/>
              <a:t>150*150 &amp; </a:t>
            </a:r>
            <a:r>
              <a:rPr lang="ko-KR" altLang="en-US" dirty="0"/>
              <a:t>배치사이즈 줄임 </a:t>
            </a:r>
            <a:r>
              <a:rPr lang="en-US" altLang="ko-KR" dirty="0"/>
              <a:t>OK</a:t>
            </a:r>
          </a:p>
          <a:p>
            <a:r>
              <a:rPr lang="ko-KR" altLang="en-US" dirty="0"/>
              <a:t>배치 정규화와 규제</a:t>
            </a:r>
            <a:r>
              <a:rPr lang="en-US" altLang="ko-KR" dirty="0"/>
              <a:t>(kernel Regularization)</a:t>
            </a:r>
          </a:p>
          <a:p>
            <a:pPr lvl="1"/>
            <a:r>
              <a:rPr lang="ko-KR" altLang="en-US" dirty="0"/>
              <a:t>배치 정규화 </a:t>
            </a:r>
            <a:r>
              <a:rPr lang="en-US" altLang="ko-KR" dirty="0"/>
              <a:t>: </a:t>
            </a:r>
            <a:r>
              <a:rPr lang="ko-KR" altLang="en-US" dirty="0"/>
              <a:t>미니 배치 처리시 배치의 입력 데이터의 분포가 달라짐 </a:t>
            </a:r>
            <a:r>
              <a:rPr lang="en-US" altLang="ko-KR" dirty="0"/>
              <a:t>→ </a:t>
            </a:r>
            <a:br>
              <a:rPr lang="en-US" altLang="ko-KR" dirty="0"/>
            </a:br>
            <a:r>
              <a:rPr lang="ko-KR" altLang="en-US" dirty="0"/>
              <a:t>학습할 때 해가 불안정하게 수렴 </a:t>
            </a:r>
            <a:r>
              <a:rPr lang="en-US" altLang="ko-KR" dirty="0"/>
              <a:t>→ </a:t>
            </a:r>
            <a:r>
              <a:rPr lang="ko-KR" altLang="en-US" dirty="0"/>
              <a:t> 분포의 평균</a:t>
            </a:r>
            <a:r>
              <a:rPr lang="en-US" altLang="ko-KR" dirty="0"/>
              <a:t>, </a:t>
            </a:r>
            <a:r>
              <a:rPr lang="ko-KR" altLang="en-US" dirty="0"/>
              <a:t>분산을 일정한 값으로 정규화</a:t>
            </a:r>
            <a:endParaRPr lang="en-US" altLang="ko-KR" dirty="0"/>
          </a:p>
          <a:p>
            <a:pPr lvl="1"/>
            <a:r>
              <a:rPr lang="en-US" altLang="ko-KR" dirty="0"/>
              <a:t>Kernel regularization : </a:t>
            </a:r>
            <a:r>
              <a:rPr lang="ko-KR" altLang="en-US" dirty="0"/>
              <a:t>레이어를 </a:t>
            </a:r>
            <a:r>
              <a:rPr lang="ko-KR" altLang="en-US" dirty="0" err="1"/>
              <a:t>쌓을시</a:t>
            </a:r>
            <a:r>
              <a:rPr lang="ko-KR" altLang="en-US" dirty="0"/>
              <a:t> 생기는 </a:t>
            </a:r>
            <a:r>
              <a:rPr lang="ko-KR" altLang="en-US" dirty="0" err="1"/>
              <a:t>오버피팅을</a:t>
            </a:r>
            <a:r>
              <a:rPr lang="ko-KR" altLang="en-US" dirty="0"/>
              <a:t> 방지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let </a:t>
            </a:r>
            <a:r>
              <a:rPr lang="ko-KR" altLang="en-US" dirty="0"/>
              <a:t>회귀방정식 </a:t>
            </a:r>
            <a:r>
              <a:rPr lang="ko-KR" altLang="en-US" dirty="0" err="1"/>
              <a:t>모수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세타</a:t>
            </a:r>
            <a:r>
              <a:rPr lang="en-US" altLang="ko-KR" dirty="0"/>
              <a:t>(</a:t>
            </a:r>
            <a:r>
              <a:rPr lang="ko-KR" altLang="en-US" dirty="0"/>
              <a:t>베타와 동일</a:t>
            </a:r>
            <a:r>
              <a:rPr lang="en-US" altLang="ko-KR" dirty="0"/>
              <a:t>) → </a:t>
            </a:r>
            <a:r>
              <a:rPr lang="ko-KR" altLang="en-US" dirty="0" err="1"/>
              <a:t>세타의</a:t>
            </a:r>
            <a:r>
              <a:rPr lang="ko-KR" altLang="en-US" dirty="0"/>
              <a:t> 제곱</a:t>
            </a:r>
            <a:r>
              <a:rPr lang="en-US" altLang="ko-KR" dirty="0"/>
              <a:t> </a:t>
            </a:r>
            <a:r>
              <a:rPr lang="ko-KR" altLang="en-US" dirty="0"/>
              <a:t>더함 </a:t>
            </a:r>
            <a:r>
              <a:rPr lang="en-US" altLang="ko-KR" dirty="0"/>
              <a:t>→ </a:t>
            </a:r>
            <a:r>
              <a:rPr lang="ko-KR" altLang="en-US" dirty="0"/>
              <a:t>파라미터 수 ↓</a:t>
            </a:r>
            <a:endParaRPr lang="en-US" altLang="ko-KR" dirty="0"/>
          </a:p>
          <a:p>
            <a:pPr lvl="2"/>
            <a:r>
              <a:rPr lang="ko-KR" altLang="en-US" dirty="0"/>
              <a:t>복잡하게 만들수록 </a:t>
            </a:r>
            <a:r>
              <a:rPr lang="ko-KR" altLang="en-US" dirty="0" err="1"/>
              <a:t>람다항</a:t>
            </a:r>
            <a:r>
              <a:rPr lang="ko-KR" altLang="en-US" dirty="0"/>
              <a:t> 커짐</a:t>
            </a:r>
            <a:r>
              <a:rPr lang="en-US" altLang="ko-KR" dirty="0"/>
              <a:t>; </a:t>
            </a:r>
            <a:r>
              <a:rPr lang="ko-KR" altLang="en-US" dirty="0" err="1"/>
              <a:t>세타항을</a:t>
            </a:r>
            <a:r>
              <a:rPr lang="ko-KR" altLang="en-US" dirty="0"/>
              <a:t> 너무 쓰지 않고도</a:t>
            </a:r>
            <a:r>
              <a:rPr lang="en-US" altLang="ko-KR" dirty="0" err="1"/>
              <a:t>oss</a:t>
            </a:r>
            <a:r>
              <a:rPr lang="en-US" altLang="ko-KR" dirty="0"/>
              <a:t> </a:t>
            </a:r>
            <a:r>
              <a:rPr lang="ko-KR" altLang="en-US" dirty="0"/>
              <a:t>최소화</a:t>
            </a:r>
            <a:r>
              <a:rPr lang="en-US" altLang="ko-KR" dirty="0"/>
              <a:t>; </a:t>
            </a:r>
          </a:p>
          <a:p>
            <a:pPr lvl="2"/>
            <a:r>
              <a:rPr lang="ko-KR" altLang="en-US" dirty="0"/>
              <a:t>파라미터 수가 늘어날수록 더 </a:t>
            </a:r>
            <a:r>
              <a:rPr lang="ko-KR" altLang="en-US" dirty="0" err="1"/>
              <a:t>잘맞춘다</a:t>
            </a:r>
            <a:r>
              <a:rPr lang="ko-KR" altLang="en-US" dirty="0"/>
              <a:t> </a:t>
            </a:r>
            <a:r>
              <a:rPr lang="en-US" altLang="ko-KR" dirty="0"/>
              <a:t>→ data set</a:t>
            </a:r>
            <a:r>
              <a:rPr lang="ko-KR" altLang="en-US" dirty="0"/>
              <a:t>을 아예 외워버린다</a:t>
            </a:r>
            <a:r>
              <a:rPr lang="en-US" altLang="ko-KR" dirty="0"/>
              <a:t>(=</a:t>
            </a:r>
            <a:r>
              <a:rPr lang="ko-KR" altLang="en-US" dirty="0" err="1"/>
              <a:t>오버피팅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해결 </a:t>
            </a:r>
            <a:r>
              <a:rPr lang="en-US" altLang="ko-KR" dirty="0"/>
              <a:t>: </a:t>
            </a:r>
            <a:r>
              <a:rPr lang="ko-KR" altLang="en-US" dirty="0"/>
              <a:t>노드를 끈다</a:t>
            </a:r>
            <a:r>
              <a:rPr lang="en-US" altLang="ko-KR" dirty="0"/>
              <a:t>(</a:t>
            </a:r>
            <a:r>
              <a:rPr lang="ko-KR" altLang="en-US" dirty="0"/>
              <a:t>베타를</a:t>
            </a:r>
            <a:r>
              <a:rPr lang="en-US" altLang="ko-KR" dirty="0"/>
              <a:t> 0</a:t>
            </a:r>
            <a:r>
              <a:rPr lang="ko-KR" altLang="en-US" dirty="0"/>
              <a:t>으로</a:t>
            </a:r>
            <a:r>
              <a:rPr lang="en-US" altLang="ko-KR" dirty="0"/>
              <a:t>) </a:t>
            </a:r>
            <a:r>
              <a:rPr lang="ko-KR" altLang="en-US" dirty="0"/>
              <a:t>어떤 노드를 끄는지</a:t>
            </a:r>
            <a:r>
              <a:rPr lang="en-US" altLang="ko-KR" dirty="0"/>
              <a:t>? </a:t>
            </a:r>
            <a:r>
              <a:rPr lang="ko-KR" altLang="en-US" dirty="0"/>
              <a:t>학습으로 </a:t>
            </a:r>
            <a:r>
              <a:rPr lang="en-US" altLang="ko-KR" dirty="0"/>
              <a:t>→ </a:t>
            </a:r>
            <a:r>
              <a:rPr lang="ko-KR" altLang="en-US" dirty="0" err="1"/>
              <a:t>오버피팅을</a:t>
            </a:r>
            <a:r>
              <a:rPr lang="ko-KR" altLang="en-US" dirty="0"/>
              <a:t> 방지하고 모델을 더 깊게 쌓을 수 있음</a:t>
            </a:r>
            <a:endParaRPr lang="en-US" altLang="ko-KR" dirty="0"/>
          </a:p>
          <a:p>
            <a:r>
              <a:rPr lang="en-US" altLang="ko-KR" dirty="0"/>
              <a:t>ImageNet challenge</a:t>
            </a:r>
          </a:p>
          <a:p>
            <a:pPr lvl="1"/>
            <a:r>
              <a:rPr lang="en-US" altLang="ko-KR" dirty="0" err="1"/>
              <a:t>VGGNet</a:t>
            </a:r>
            <a:r>
              <a:rPr lang="en-US" altLang="ko-KR" dirty="0"/>
              <a:t>, </a:t>
            </a:r>
            <a:r>
              <a:rPr lang="en-US" altLang="ko-KR" dirty="0" err="1"/>
              <a:t>GoogleNet</a:t>
            </a:r>
            <a:r>
              <a:rPr lang="en-US" altLang="ko-KR" dirty="0"/>
              <a:t>, </a:t>
            </a:r>
            <a:r>
              <a:rPr lang="en-US" altLang="ko-KR" dirty="0" err="1"/>
              <a:t>ResNet</a:t>
            </a:r>
            <a:r>
              <a:rPr lang="ko-KR" altLang="en-US" dirty="0"/>
              <a:t>은 </a:t>
            </a:r>
            <a:r>
              <a:rPr lang="en-US" altLang="ko-KR" dirty="0"/>
              <a:t>Transfer Learning</a:t>
            </a:r>
            <a:r>
              <a:rPr lang="ko-KR" altLang="en-US" dirty="0"/>
              <a:t>에 주로 사용되는 </a:t>
            </a:r>
            <a:r>
              <a:rPr lang="en-US" altLang="ko-KR" dirty="0"/>
              <a:t>Pre-trained CNN</a:t>
            </a:r>
          </a:p>
          <a:p>
            <a:pPr lvl="2"/>
            <a:r>
              <a:rPr lang="en-US" altLang="ko-KR" dirty="0"/>
              <a:t>Pre-trained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미리 트레이닝 된 네트워크</a:t>
            </a:r>
            <a:r>
              <a:rPr lang="en-US" altLang="ko-KR" dirty="0"/>
              <a:t>; </a:t>
            </a:r>
            <a:r>
              <a:rPr lang="ko-KR" altLang="en-US" dirty="0"/>
              <a:t>이미 공개된 버전 </a:t>
            </a:r>
            <a:r>
              <a:rPr lang="en-US" altLang="ko-KR" dirty="0"/>
              <a:t>→ </a:t>
            </a:r>
            <a:r>
              <a:rPr lang="ko-KR" altLang="en-US" dirty="0"/>
              <a:t>약간 커스터마이징</a:t>
            </a:r>
            <a:endParaRPr lang="en-US" altLang="ko-KR" dirty="0"/>
          </a:p>
          <a:p>
            <a:r>
              <a:rPr lang="en-US" altLang="ko-KR" dirty="0"/>
              <a:t>Transfer Learning</a:t>
            </a:r>
          </a:p>
          <a:p>
            <a:pPr lvl="1"/>
            <a:r>
              <a:rPr lang="ko-KR" altLang="en-US" dirty="0"/>
              <a:t>전이학습 </a:t>
            </a:r>
            <a:r>
              <a:rPr lang="en-US" altLang="ko-KR" dirty="0"/>
              <a:t>: Pre-trained network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계승해 해당 모델과 유사 문제 해결</a:t>
            </a:r>
            <a:endParaRPr lang="en-US" altLang="ko-KR" dirty="0"/>
          </a:p>
          <a:p>
            <a:pPr lvl="2"/>
            <a:r>
              <a:rPr lang="en-US" altLang="ko-KR" dirty="0"/>
              <a:t>CNN :Input layer → Convolution </a:t>
            </a:r>
            <a:br>
              <a:rPr lang="en-US" altLang="ko-KR" dirty="0"/>
            </a:br>
            <a:r>
              <a:rPr lang="en-US" altLang="ko-KR" dirty="0"/>
              <a:t>layer  → Fully Connected layer </a:t>
            </a:r>
            <a:br>
              <a:rPr lang="en-US" altLang="ko-KR" dirty="0"/>
            </a:br>
            <a:r>
              <a:rPr lang="en-US" altLang="ko-KR" dirty="0"/>
              <a:t>→ Output layer</a:t>
            </a:r>
            <a:br>
              <a:rPr lang="en-US" altLang="ko-KR" dirty="0"/>
            </a:br>
            <a:r>
              <a:rPr lang="en-US" altLang="ko-KR" dirty="0"/>
              <a:t>Convolution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만 재사용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FC layer</a:t>
            </a:r>
            <a:r>
              <a:rPr lang="ko-KR" altLang="en-US" dirty="0"/>
              <a:t>를 새로 구성 </a:t>
            </a:r>
            <a:r>
              <a:rPr lang="en-US" altLang="ko-KR" dirty="0"/>
              <a:t>→ </a:t>
            </a:r>
            <a:br>
              <a:rPr lang="en-US" altLang="ko-KR" dirty="0"/>
            </a:br>
            <a:r>
              <a:rPr lang="en-US" altLang="ko-KR" dirty="0"/>
              <a:t>convolution layer </a:t>
            </a:r>
            <a:r>
              <a:rPr lang="ko-KR" altLang="en-US" dirty="0"/>
              <a:t>학습 필요 </a:t>
            </a:r>
            <a:br>
              <a:rPr lang="en-US" altLang="ko-KR" dirty="0"/>
            </a:br>
            <a:r>
              <a:rPr lang="ko-KR" altLang="en-US" dirty="0"/>
              <a:t>리소스 절약</a:t>
            </a:r>
            <a:endParaRPr lang="en-US" altLang="ko-KR" dirty="0"/>
          </a:p>
          <a:p>
            <a:pPr lvl="2"/>
            <a:r>
              <a:rPr lang="en-US" altLang="ko-KR" dirty="0"/>
              <a:t>VGG16 </a:t>
            </a:r>
            <a:r>
              <a:rPr lang="ko-KR" altLang="en-US" dirty="0"/>
              <a:t>사용 예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 err="1"/>
              <a:t>Include_top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FC_layer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 err="1"/>
              <a:t>conv_base.trainable</a:t>
            </a:r>
            <a:r>
              <a:rPr lang="en-US" altLang="ko-KR" dirty="0"/>
              <a:t> :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학습 </a:t>
            </a:r>
            <a:r>
              <a:rPr lang="en-US" altLang="ko-KR" dirty="0"/>
              <a:t>→ VGG16 </a:t>
            </a:r>
            <a:r>
              <a:rPr lang="ko-KR" altLang="en-US" dirty="0"/>
              <a:t>파라미터</a:t>
            </a:r>
            <a:r>
              <a:rPr lang="en-US" altLang="ko-KR" dirty="0"/>
              <a:t> </a:t>
            </a:r>
            <a:r>
              <a:rPr lang="ko-KR" altLang="en-US" dirty="0"/>
              <a:t>바꿈</a:t>
            </a:r>
            <a:r>
              <a:rPr lang="en-US" altLang="ko-KR" dirty="0"/>
              <a:t>?) → </a:t>
            </a:r>
            <a:r>
              <a:rPr lang="ko-KR" altLang="en-US" dirty="0"/>
              <a:t>전이학습에선 </a:t>
            </a:r>
            <a:r>
              <a:rPr lang="en-US" altLang="ko-KR" dirty="0"/>
              <a:t>X</a:t>
            </a:r>
          </a:p>
          <a:p>
            <a:pPr lvl="3"/>
            <a:r>
              <a:rPr lang="en-US" altLang="ko-KR" dirty="0"/>
              <a:t>VGG</a:t>
            </a:r>
            <a:r>
              <a:rPr lang="ko-KR" altLang="en-US" dirty="0"/>
              <a:t> 모형 자체가 완벽</a:t>
            </a:r>
            <a:r>
              <a:rPr lang="en-US" altLang="ko-KR" dirty="0"/>
              <a:t> → conv O,</a:t>
            </a:r>
            <a:r>
              <a:rPr lang="ko-KR" altLang="en-US" dirty="0"/>
              <a:t> </a:t>
            </a:r>
            <a:r>
              <a:rPr lang="en-US" altLang="ko-KR" dirty="0"/>
              <a:t>FC X,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selection</a:t>
            </a:r>
            <a:r>
              <a:rPr lang="ko-KR" altLang="en-US" dirty="0"/>
              <a:t>만 사용</a:t>
            </a:r>
            <a:br>
              <a:rPr lang="en-US" altLang="ko-KR" dirty="0"/>
            </a:br>
            <a:r>
              <a:rPr lang="ko-KR" altLang="en-US" dirty="0" err="1"/>
              <a:t>안좋은</a:t>
            </a:r>
            <a:r>
              <a:rPr lang="ko-KR" altLang="en-US" dirty="0"/>
              <a:t> </a:t>
            </a:r>
            <a:r>
              <a:rPr lang="ko-KR" altLang="en-US" dirty="0" err="1"/>
              <a:t>컴</a:t>
            </a:r>
            <a:r>
              <a:rPr lang="en-US" altLang="ko-KR" dirty="0"/>
              <a:t>, data</a:t>
            </a:r>
            <a:r>
              <a:rPr lang="ko-KR" altLang="en-US" dirty="0"/>
              <a:t>로 </a:t>
            </a:r>
            <a:r>
              <a:rPr lang="ko-KR" altLang="en-US" dirty="0" err="1"/>
              <a:t>못맞출수도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9B49B9-C4C0-BD19-4E3D-8952B86C2A7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이미지</a:t>
            </a:r>
            <a:r>
              <a:rPr lang="en-US" altLang="ko-KR" dirty="0"/>
              <a:t>→</a:t>
            </a:r>
            <a:r>
              <a:rPr lang="ko-KR" altLang="en-US" dirty="0"/>
              <a:t>행렬 </a:t>
            </a:r>
            <a:r>
              <a:rPr lang="en-US" altLang="ko-KR" dirty="0"/>
              <a:t>: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 err="1"/>
              <a:t>컴터는</a:t>
            </a:r>
            <a:r>
              <a:rPr lang="ko-KR" altLang="en-US" dirty="0"/>
              <a:t> 이미지를 그림</a:t>
            </a:r>
            <a:r>
              <a:rPr lang="en-US" altLang="ko-KR" dirty="0"/>
              <a:t>X, </a:t>
            </a:r>
            <a:r>
              <a:rPr lang="ko-KR" altLang="en-US" dirty="0"/>
              <a:t>숫자로 표현</a:t>
            </a:r>
            <a:r>
              <a:rPr lang="en-US" altLang="ko-KR" dirty="0"/>
              <a:t>.+</a:t>
            </a:r>
            <a:r>
              <a:rPr lang="ko-KR" altLang="en-US" dirty="0"/>
              <a:t> 모델학습을 위해선 행렬</a:t>
            </a:r>
            <a:r>
              <a:rPr lang="en-US" altLang="ko-KR" dirty="0"/>
              <a:t>/</a:t>
            </a:r>
            <a:r>
              <a:rPr lang="ko-KR" altLang="en-US" dirty="0"/>
              <a:t>벡터로 입력 해야함</a:t>
            </a:r>
          </a:p>
          <a:p>
            <a:r>
              <a:rPr lang="ko-KR" altLang="en-US" dirty="0"/>
              <a:t>배치 정규화 </a:t>
            </a:r>
            <a:r>
              <a:rPr lang="en-US" altLang="ko-KR" dirty="0"/>
              <a:t>: </a:t>
            </a:r>
            <a:r>
              <a:rPr lang="ko-KR" altLang="en-US" dirty="0"/>
              <a:t>미니배치</a:t>
            </a:r>
            <a:r>
              <a:rPr lang="en-US" altLang="ko-KR" dirty="0"/>
              <a:t>→</a:t>
            </a:r>
            <a:r>
              <a:rPr lang="ko-KR" altLang="en-US" dirty="0"/>
              <a:t>배치의 입력분포 달라짐</a:t>
            </a:r>
            <a:r>
              <a:rPr lang="en-US" altLang="ko-KR" dirty="0"/>
              <a:t>→</a:t>
            </a:r>
            <a:r>
              <a:rPr lang="ko-KR" altLang="en-US" dirty="0" err="1"/>
              <a:t>학습시</a:t>
            </a:r>
            <a:r>
              <a:rPr lang="ko-KR" altLang="en-US" dirty="0"/>
              <a:t> 해가 불안정 수렴</a:t>
            </a:r>
            <a:r>
              <a:rPr lang="en-US" altLang="ko-KR" dirty="0"/>
              <a:t>→ </a:t>
            </a:r>
            <a:r>
              <a:rPr lang="ko-KR" altLang="en-US" dirty="0"/>
              <a:t>분포의 평균</a:t>
            </a:r>
            <a:r>
              <a:rPr lang="en-US" altLang="ko-KR" dirty="0"/>
              <a:t>, </a:t>
            </a:r>
            <a:r>
              <a:rPr lang="ko-KR" altLang="en-US" dirty="0"/>
              <a:t>분산을 정규화</a:t>
            </a:r>
            <a:endParaRPr lang="en-US" altLang="ko-KR" dirty="0"/>
          </a:p>
          <a:p>
            <a:r>
              <a:rPr lang="en-US" altLang="ko-KR" dirty="0"/>
              <a:t>Kernel</a:t>
            </a:r>
            <a:r>
              <a:rPr lang="ko-KR" altLang="en-US" dirty="0"/>
              <a:t> </a:t>
            </a:r>
            <a:r>
              <a:rPr lang="en-US" altLang="ko-KR" dirty="0"/>
              <a:t>regularization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                           </a:t>
            </a:r>
            <a:r>
              <a:rPr lang="en-US" altLang="ko-KR" dirty="0"/>
              <a:t>; </a:t>
            </a:r>
            <a:r>
              <a:rPr lang="ko-KR" altLang="en-US" dirty="0"/>
              <a:t>학습</a:t>
            </a:r>
            <a:r>
              <a:rPr lang="en-US" altLang="ko-KR" dirty="0"/>
              <a:t> </a:t>
            </a:r>
            <a:r>
              <a:rPr lang="ko-KR" altLang="en-US" dirty="0"/>
              <a:t>데이터를 잘 맞추나 아예 외움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오버피팅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n-US" altLang="ko-KR" dirty="0"/>
              <a:t>λ</a:t>
            </a:r>
            <a:r>
              <a:rPr lang="ko-KR" altLang="en-US" dirty="0"/>
              <a:t>항이 커짐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l-GR" altLang="ko-KR" dirty="0"/>
              <a:t>θ</a:t>
            </a:r>
            <a:r>
              <a:rPr lang="ko-KR" altLang="en-US" dirty="0"/>
              <a:t>항을 많이 사용</a:t>
            </a:r>
            <a:r>
              <a:rPr lang="en-US" altLang="ko-KR" dirty="0"/>
              <a:t>X &amp; cost </a:t>
            </a:r>
            <a:r>
              <a:rPr lang="ko-KR" altLang="en-US" dirty="0"/>
              <a:t>최소화가 목표</a:t>
            </a:r>
            <a:r>
              <a:rPr lang="en-US" altLang="ko-KR" dirty="0"/>
              <a:t>, </a:t>
            </a:r>
            <a:r>
              <a:rPr lang="ko-KR" altLang="en-US" dirty="0"/>
              <a:t>어떤</a:t>
            </a:r>
            <a:r>
              <a:rPr lang="el-GR" altLang="ko-KR" dirty="0"/>
              <a:t>θ</a:t>
            </a:r>
            <a:r>
              <a:rPr lang="ko-KR" altLang="en-US" dirty="0"/>
              <a:t>를 지우는지는 </a:t>
            </a:r>
            <a:r>
              <a:rPr lang="el-GR" altLang="ko-KR" dirty="0"/>
              <a:t>θ</a:t>
            </a:r>
            <a:r>
              <a:rPr lang="en-US" altLang="ko-KR" dirty="0"/>
              <a:t>=0</a:t>
            </a:r>
            <a:r>
              <a:rPr lang="ko-KR" altLang="en-US" dirty="0"/>
              <a:t>으로 만들고 </a:t>
            </a:r>
            <a:r>
              <a:rPr lang="en-US" altLang="ko-KR" dirty="0"/>
              <a:t>BP</a:t>
            </a:r>
            <a:r>
              <a:rPr lang="ko-KR" altLang="en-US" dirty="0"/>
              <a:t>로 수정</a:t>
            </a:r>
            <a:endParaRPr lang="en-US" altLang="ko-KR" dirty="0"/>
          </a:p>
          <a:p>
            <a:r>
              <a:rPr lang="en-US" altLang="ko-KR" dirty="0"/>
              <a:t>Pre-trained network : </a:t>
            </a:r>
            <a:r>
              <a:rPr lang="ko-KR" altLang="en-US" dirty="0"/>
              <a:t>이미 </a:t>
            </a:r>
            <a:r>
              <a:rPr lang="ko-KR" altLang="en-US" dirty="0" err="1"/>
              <a:t>트레이닝된</a:t>
            </a:r>
            <a:r>
              <a:rPr lang="ko-KR" altLang="en-US" dirty="0"/>
              <a:t> 네트워크</a:t>
            </a:r>
            <a:r>
              <a:rPr lang="en-US" altLang="ko-KR" dirty="0"/>
              <a:t>, </a:t>
            </a:r>
            <a:r>
              <a:rPr lang="ko-KR" altLang="en-US" dirty="0"/>
              <a:t>공개된 버전</a:t>
            </a:r>
            <a:r>
              <a:rPr lang="en-US" altLang="ko-KR" dirty="0"/>
              <a:t>→ </a:t>
            </a:r>
            <a:r>
              <a:rPr lang="ko-KR" altLang="en-US" dirty="0"/>
              <a:t>커스터마이징</a:t>
            </a:r>
            <a:endParaRPr lang="en-US" altLang="ko-KR" dirty="0"/>
          </a:p>
          <a:p>
            <a:r>
              <a:rPr lang="ko-KR" altLang="en-US" dirty="0"/>
              <a:t>전이학습 </a:t>
            </a:r>
            <a:r>
              <a:rPr lang="en-US" altLang="ko-KR" dirty="0"/>
              <a:t>: pre trained network</a:t>
            </a:r>
            <a:r>
              <a:rPr lang="ko-KR" altLang="en-US" dirty="0"/>
              <a:t>를 계승</a:t>
            </a:r>
            <a:r>
              <a:rPr lang="en-US" altLang="ko-KR" dirty="0"/>
              <a:t>. </a:t>
            </a:r>
            <a:r>
              <a:rPr lang="ko-KR" altLang="en-US" dirty="0"/>
              <a:t>해당 모델과 유사문제 해결</a:t>
            </a:r>
            <a:r>
              <a:rPr lang="en-US" altLang="ko-KR" dirty="0"/>
              <a:t>. Convolution layer</a:t>
            </a:r>
            <a:r>
              <a:rPr lang="ko-KR" altLang="en-US" dirty="0"/>
              <a:t>는 재사용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Fully connected layer</a:t>
            </a:r>
            <a:r>
              <a:rPr lang="ko-KR" altLang="en-US" dirty="0"/>
              <a:t>만 </a:t>
            </a:r>
            <a:r>
              <a:rPr lang="en-US" altLang="ko-KR" dirty="0"/>
              <a:t>fine tuning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565F40B-779E-42DA-60E4-A6A4D30F2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003" y="1985620"/>
            <a:ext cx="1326242" cy="186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B296BB6-DE84-D8D5-BDE6-C7238EB955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4824" y="776536"/>
            <a:ext cx="2761516" cy="4757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9679579-CB6E-1B91-2CCF-ADDED5A13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106" y="1256927"/>
            <a:ext cx="3240360" cy="4228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55B93B9-C87B-7A13-AF34-9B4081C18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3056" y="4448944"/>
            <a:ext cx="2838410" cy="22405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E68C2B-0FDF-2CD2-E7CF-54C2D5F0B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040" y="7181972"/>
            <a:ext cx="2982426" cy="763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867B1-8B35-A1EA-9AC6-335D4872E4DD}"/>
              </a:ext>
            </a:extLst>
          </p:cNvPr>
          <p:cNvSpPr txBox="1"/>
          <p:nvPr/>
        </p:nvSpPr>
        <p:spPr>
          <a:xfrm>
            <a:off x="4562294" y="810512"/>
            <a:ext cx="2327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왜</a:t>
            </a:r>
            <a:r>
              <a:rPr lang="en-US" altLang="ko-KR" sz="800" dirty="0"/>
              <a:t>? </a:t>
            </a:r>
            <a:r>
              <a:rPr lang="ko-KR" altLang="en-US" sz="800" dirty="0" err="1"/>
              <a:t>컴터는</a:t>
            </a:r>
            <a:r>
              <a:rPr lang="ko-KR" altLang="en-US" sz="800" dirty="0"/>
              <a:t> 이미지를 그림</a:t>
            </a:r>
            <a:r>
              <a:rPr lang="en-US" altLang="ko-KR" sz="800" dirty="0"/>
              <a:t>X, </a:t>
            </a:r>
            <a:r>
              <a:rPr lang="ko-KR" altLang="en-US" sz="800" dirty="0"/>
              <a:t>숫자로 표현</a:t>
            </a:r>
            <a:r>
              <a:rPr lang="en-US" altLang="ko-KR" sz="800" dirty="0"/>
              <a:t>. </a:t>
            </a:r>
          </a:p>
          <a:p>
            <a:r>
              <a:rPr lang="en-US" altLang="ko-KR" sz="800" dirty="0"/>
              <a:t>+</a:t>
            </a:r>
            <a:r>
              <a:rPr lang="ko-KR" altLang="en-US" sz="800" dirty="0"/>
              <a:t> 모델학습을 위해선 행렬</a:t>
            </a:r>
            <a:r>
              <a:rPr lang="en-US" altLang="ko-KR" sz="800" dirty="0"/>
              <a:t>/</a:t>
            </a:r>
            <a:r>
              <a:rPr lang="ko-KR" altLang="en-US" sz="800" dirty="0"/>
              <a:t>벡터로 입력 해야함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57C98F6-31EE-EA69-4755-A600DE780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797" y="8697416"/>
            <a:ext cx="1224136" cy="17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469FB6B-A995-EFBE-3509-ECF7E1630F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C9AD7D-67E7-EC9B-14B5-764B0D2B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 Encoder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0A5D06-3562-B7FC-4751-FCB8942732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12489A-4E05-D3FB-B7CC-0F007A444B4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오토인코더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입력데이터 </a:t>
            </a:r>
            <a:r>
              <a:rPr lang="en-US" altLang="ko-KR" dirty="0"/>
              <a:t>→ </a:t>
            </a:r>
            <a:r>
              <a:rPr lang="ko-KR" altLang="en-US" dirty="0" err="1"/>
              <a:t>저차원</a:t>
            </a:r>
            <a:r>
              <a:rPr lang="ko-KR" altLang="en-US" dirty="0"/>
              <a:t> 코드로 압축</a:t>
            </a:r>
            <a:r>
              <a:rPr lang="en-US" altLang="ko-KR" dirty="0"/>
              <a:t>(=</a:t>
            </a:r>
            <a:r>
              <a:rPr lang="ko-KR" altLang="en-US" dirty="0"/>
              <a:t>인코더</a:t>
            </a:r>
            <a:r>
              <a:rPr lang="en-US" altLang="ko-KR" dirty="0"/>
              <a:t>)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이 코드를 다시 원본 데이터와 같은 차원으로 복원</a:t>
            </a:r>
            <a:br>
              <a:rPr lang="en-US" altLang="ko-KR" dirty="0"/>
            </a:br>
            <a:r>
              <a:rPr lang="en-US" altLang="ko-KR" dirty="0"/>
              <a:t>(Decoder); </a:t>
            </a:r>
            <a:r>
              <a:rPr lang="ko-KR" altLang="en-US" dirty="0"/>
              <a:t>최대한 </a:t>
            </a:r>
            <a:r>
              <a:rPr lang="en-US" altLang="ko-KR" dirty="0"/>
              <a:t>(</a:t>
            </a:r>
            <a:r>
              <a:rPr lang="ko-KR" altLang="en-US" dirty="0"/>
              <a:t>입력데이터 </a:t>
            </a:r>
            <a:r>
              <a:rPr lang="en-US" altLang="ko-KR" dirty="0"/>
              <a:t>=</a:t>
            </a:r>
            <a:r>
              <a:rPr lang="ko-KR" altLang="en-US" dirty="0"/>
              <a:t> 출력데이터</a:t>
            </a:r>
            <a:r>
              <a:rPr lang="en-US" altLang="ko-KR" dirty="0"/>
              <a:t>)</a:t>
            </a:r>
            <a:r>
              <a:rPr lang="ko-KR" altLang="en-US" dirty="0"/>
              <a:t>가 목표</a:t>
            </a:r>
            <a:endParaRPr lang="en-US" altLang="ko-KR" dirty="0"/>
          </a:p>
          <a:p>
            <a:pPr lvl="2"/>
            <a:r>
              <a:rPr lang="en-US" altLang="ko-KR" dirty="0"/>
              <a:t>Input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 err="1"/>
              <a:t>히든레이어를</a:t>
            </a:r>
            <a:r>
              <a:rPr lang="ko-KR" altLang="en-US" dirty="0"/>
              <a:t> 통과했다가 재현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암호화</a:t>
            </a:r>
            <a:r>
              <a:rPr lang="en-US" altLang="ko-KR" dirty="0"/>
              <a:t>&amp;</a:t>
            </a:r>
            <a:r>
              <a:rPr lang="ko-KR" altLang="en-US" dirty="0"/>
              <a:t>복호화</a:t>
            </a:r>
            <a:r>
              <a:rPr lang="en-US" altLang="ko-KR" dirty="0"/>
              <a:t>. PCA</a:t>
            </a:r>
            <a:r>
              <a:rPr lang="ko-KR" altLang="en-US" dirty="0"/>
              <a:t>의 비선형버전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활성함수는 무조건 비선형</a:t>
            </a:r>
            <a:r>
              <a:rPr lang="en-US" altLang="ko-KR" dirty="0"/>
              <a:t>. </a:t>
            </a:r>
            <a:r>
              <a:rPr lang="ko-KR" altLang="en-US" dirty="0"/>
              <a:t>선형으로 </a:t>
            </a:r>
            <a:r>
              <a:rPr lang="ko-KR" altLang="en-US" dirty="0" err="1"/>
              <a:t>딥하게</a:t>
            </a:r>
            <a:r>
              <a:rPr lang="ko-KR" altLang="en-US" dirty="0"/>
              <a:t> 쌓아봐야 하나 </a:t>
            </a:r>
            <a:r>
              <a:rPr lang="ko-KR" altLang="en-US" dirty="0" err="1"/>
              <a:t>쌓는것과</a:t>
            </a:r>
            <a:r>
              <a:rPr lang="ko-KR" altLang="en-US" dirty="0"/>
              <a:t> 같음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PCA(Principal Component Analysis)</a:t>
            </a:r>
          </a:p>
          <a:p>
            <a:pPr lvl="1"/>
            <a:r>
              <a:rPr lang="ko-KR" altLang="en-US" dirty="0"/>
              <a:t>다차원 변수의 상관관계를 사용해 차원을 축소</a:t>
            </a:r>
            <a:r>
              <a:rPr lang="en-US" altLang="ko-KR" dirty="0"/>
              <a:t>;  X = </a:t>
            </a:r>
            <a:r>
              <a:rPr lang="ko-KR" altLang="en-US" dirty="0"/>
              <a:t>복싱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Y = </a:t>
            </a:r>
            <a:r>
              <a:rPr lang="ko-KR" altLang="en-US" dirty="0"/>
              <a:t>마라톤</a:t>
            </a:r>
            <a:r>
              <a:rPr lang="en-US" altLang="ko-KR" dirty="0"/>
              <a:t> → PCA1 = </a:t>
            </a:r>
            <a:r>
              <a:rPr lang="ko-KR" altLang="en-US" dirty="0"/>
              <a:t>유산소 능력</a:t>
            </a:r>
            <a:r>
              <a:rPr lang="en-US" altLang="ko-KR" dirty="0"/>
              <a:t>(</a:t>
            </a:r>
            <a:r>
              <a:rPr lang="ko-KR" altLang="en-US" dirty="0"/>
              <a:t>공통요인</a:t>
            </a:r>
            <a:r>
              <a:rPr lang="en-US" altLang="ko-KR" dirty="0"/>
              <a:t>), </a:t>
            </a:r>
            <a:br>
              <a:rPr lang="en-US" altLang="ko-KR" dirty="0"/>
            </a:br>
            <a:r>
              <a:rPr lang="en-US" altLang="ko-KR" dirty="0"/>
              <a:t>PCA2 =</a:t>
            </a:r>
            <a:r>
              <a:rPr lang="ko-KR" altLang="en-US" dirty="0"/>
              <a:t> 그 외 실력에 영향을 주는 능력</a:t>
            </a:r>
            <a:r>
              <a:rPr lang="en-US" altLang="ko-KR" dirty="0"/>
              <a:t>(</a:t>
            </a:r>
            <a:r>
              <a:rPr lang="ko-KR" altLang="en-US" dirty="0"/>
              <a:t>고유영역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PCA1</a:t>
            </a:r>
            <a:r>
              <a:rPr lang="ko-KR" altLang="en-US" dirty="0"/>
              <a:t>만으로 충분히 많은 정보</a:t>
            </a:r>
            <a:r>
              <a:rPr lang="en-US" altLang="ko-KR" dirty="0"/>
              <a:t>? → </a:t>
            </a:r>
            <a:r>
              <a:rPr lang="ko-KR" altLang="en-US" dirty="0"/>
              <a:t>불필요한 차원을 줄이기 가능</a:t>
            </a:r>
            <a:r>
              <a:rPr lang="en-US" altLang="ko-KR" dirty="0"/>
              <a:t>(2D</a:t>
            </a:r>
            <a:r>
              <a:rPr lang="ko-KR" altLang="en-US" dirty="0"/>
              <a:t> </a:t>
            </a:r>
            <a:r>
              <a:rPr lang="en-US" altLang="ko-KR" dirty="0"/>
              <a:t>→ 1D)</a:t>
            </a:r>
          </a:p>
          <a:p>
            <a:pPr lvl="2"/>
            <a:r>
              <a:rPr lang="ko-KR" altLang="en-US" dirty="0"/>
              <a:t>정규화가 </a:t>
            </a:r>
            <a:r>
              <a:rPr lang="ko-KR" altLang="en-US" dirty="0" err="1"/>
              <a:t>됬음을</a:t>
            </a:r>
            <a:r>
              <a:rPr lang="ko-KR" altLang="en-US" dirty="0"/>
              <a:t> 가정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X,Y </a:t>
            </a:r>
            <a:r>
              <a:rPr lang="ko-KR" altLang="en-US" dirty="0"/>
              <a:t>분포를 합치면 </a:t>
            </a:r>
            <a:r>
              <a:rPr lang="en-US" altLang="ko-KR" dirty="0"/>
              <a:t>2</a:t>
            </a:r>
            <a:br>
              <a:rPr lang="en-US" altLang="ko-KR" dirty="0"/>
            </a:br>
            <a:r>
              <a:rPr lang="en-US" altLang="ko-KR" dirty="0"/>
              <a:t>→ PCA1,PCA2</a:t>
            </a:r>
            <a:r>
              <a:rPr lang="ko-KR" altLang="en-US" dirty="0"/>
              <a:t>의 분포를</a:t>
            </a:r>
            <a:br>
              <a:rPr lang="en-US" altLang="ko-KR" dirty="0"/>
            </a:br>
            <a:r>
              <a:rPr lang="ko-KR" altLang="en-US" dirty="0"/>
              <a:t>합치면 </a:t>
            </a:r>
            <a:r>
              <a:rPr lang="en-US" altLang="ko-KR" dirty="0"/>
              <a:t>2.</a:t>
            </a:r>
            <a:br>
              <a:rPr lang="en-US" altLang="ko-KR" dirty="0"/>
            </a:br>
            <a:r>
              <a:rPr lang="en-US" altLang="ko-KR" dirty="0"/>
              <a:t>PCA1</a:t>
            </a:r>
            <a:r>
              <a:rPr lang="ko-KR" altLang="en-US" dirty="0"/>
              <a:t>의 분포 </a:t>
            </a:r>
            <a:r>
              <a:rPr lang="en-US" altLang="ko-KR" dirty="0"/>
              <a:t>&gt; 1</a:t>
            </a:r>
            <a:r>
              <a:rPr lang="ko-KR" altLang="en-US" dirty="0"/>
              <a:t>이면</a:t>
            </a:r>
            <a:br>
              <a:rPr lang="en-US" altLang="ko-KR" dirty="0"/>
            </a:br>
            <a:r>
              <a:rPr lang="en-US" altLang="ko-KR" dirty="0"/>
              <a:t>PCA2</a:t>
            </a:r>
            <a:r>
              <a:rPr lang="ko-KR" altLang="en-US" dirty="0"/>
              <a:t>의 분포 </a:t>
            </a:r>
            <a:r>
              <a:rPr lang="en-US" altLang="ko-KR" dirty="0"/>
              <a:t>&lt; 1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 설명에 필요한 </a:t>
            </a:r>
            <a:r>
              <a:rPr lang="en-US" altLang="ko-KR" dirty="0"/>
              <a:t>PCA1</a:t>
            </a:r>
            <a:r>
              <a:rPr lang="ko-KR" altLang="en-US" dirty="0"/>
              <a:t>만</a:t>
            </a:r>
            <a:br>
              <a:rPr lang="en-US" altLang="ko-KR" dirty="0"/>
            </a:br>
            <a:r>
              <a:rPr lang="ko-KR" altLang="en-US" dirty="0"/>
              <a:t>남기고 </a:t>
            </a:r>
            <a:r>
              <a:rPr lang="en-US" altLang="ko-KR" dirty="0"/>
              <a:t>PCA2</a:t>
            </a:r>
            <a:r>
              <a:rPr lang="ko-KR" altLang="en-US" dirty="0"/>
              <a:t>는 </a:t>
            </a:r>
            <a:r>
              <a:rPr lang="ko-KR" altLang="en-US" dirty="0" err="1"/>
              <a:t>지워버림</a:t>
            </a:r>
            <a:br>
              <a:rPr lang="en-US" altLang="ko-KR" dirty="0"/>
            </a:br>
            <a:r>
              <a:rPr lang="en-US" altLang="ko-KR" dirty="0"/>
              <a:t>→ </a:t>
            </a:r>
            <a:r>
              <a:rPr lang="ko-KR" altLang="en-US" dirty="0"/>
              <a:t>불필요 차원 감소</a:t>
            </a:r>
            <a:endParaRPr lang="en-US" altLang="ko-KR" dirty="0"/>
          </a:p>
          <a:p>
            <a:pPr lvl="1"/>
            <a:r>
              <a:rPr lang="en-US" altLang="ko-KR" dirty="0"/>
              <a:t>PCA </a:t>
            </a:r>
            <a:r>
              <a:rPr lang="ko-KR" altLang="en-US" dirty="0"/>
              <a:t>예제 </a:t>
            </a:r>
            <a:r>
              <a:rPr lang="en-US" altLang="ko-KR" dirty="0"/>
              <a:t>: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AE0495-3AD7-D1EB-59AD-4881A63E0FC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AE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입력</a:t>
            </a:r>
            <a:r>
              <a:rPr lang="en-US" altLang="ko-KR" dirty="0"/>
              <a:t>→</a:t>
            </a:r>
            <a:r>
              <a:rPr lang="ko-KR" altLang="en-US" dirty="0" err="1"/>
              <a:t>저차원</a:t>
            </a:r>
            <a:r>
              <a:rPr lang="ko-KR" altLang="en-US" dirty="0"/>
              <a:t> 코드 압축</a:t>
            </a:r>
            <a:r>
              <a:rPr lang="en-US" altLang="ko-KR" dirty="0"/>
              <a:t>(=</a:t>
            </a:r>
            <a:r>
              <a:rPr lang="ko-KR" altLang="en-US" dirty="0"/>
              <a:t>인코더</a:t>
            </a:r>
            <a:r>
              <a:rPr lang="en-US" altLang="ko-KR" dirty="0"/>
              <a:t>) → </a:t>
            </a:r>
            <a:r>
              <a:rPr lang="ko-KR" altLang="en-US" dirty="0"/>
              <a:t>코드를 원본과 같은 차원</a:t>
            </a:r>
            <a:br>
              <a:rPr lang="en-US" altLang="ko-KR" dirty="0"/>
            </a:br>
            <a:r>
              <a:rPr lang="ko-KR" altLang="en-US" dirty="0"/>
              <a:t>으로 복원</a:t>
            </a:r>
            <a:r>
              <a:rPr lang="en-US" altLang="ko-KR" dirty="0"/>
              <a:t>(=</a:t>
            </a:r>
            <a:r>
              <a:rPr lang="ko-KR" altLang="en-US" dirty="0" err="1"/>
              <a:t>디코더</a:t>
            </a:r>
            <a:r>
              <a:rPr lang="en-US" altLang="ko-KR" dirty="0"/>
              <a:t>); </a:t>
            </a:r>
            <a:r>
              <a:rPr lang="ko-KR" altLang="en-US" dirty="0"/>
              <a:t>최대한 입력</a:t>
            </a:r>
            <a:r>
              <a:rPr lang="en-US" altLang="ko-KR" dirty="0"/>
              <a:t>=</a:t>
            </a:r>
            <a:r>
              <a:rPr lang="ko-KR" altLang="en-US" dirty="0"/>
              <a:t>출력 목표</a:t>
            </a:r>
            <a:r>
              <a:rPr lang="en-US" altLang="ko-KR" dirty="0"/>
              <a:t> PCA</a:t>
            </a:r>
            <a:r>
              <a:rPr lang="ko-KR" altLang="en-US" dirty="0"/>
              <a:t>의 비선형 버전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활성함수는 비선형 왜</a:t>
            </a:r>
            <a:r>
              <a:rPr lang="en-US" altLang="ko-KR" dirty="0"/>
              <a:t>? </a:t>
            </a:r>
            <a:r>
              <a:rPr lang="ko-KR" altLang="en-US" dirty="0"/>
              <a:t>선형이면 하나만 </a:t>
            </a:r>
            <a:r>
              <a:rPr lang="ko-KR" altLang="en-US" dirty="0" err="1"/>
              <a:t>쌓는것과</a:t>
            </a:r>
            <a:r>
              <a:rPr lang="ko-KR" altLang="en-US" dirty="0"/>
              <a:t> 동일</a:t>
            </a:r>
            <a:endParaRPr lang="en-US" altLang="ko-KR" dirty="0"/>
          </a:p>
          <a:p>
            <a:r>
              <a:rPr lang="en-US" altLang="ko-KR" dirty="0"/>
              <a:t>PCA : </a:t>
            </a:r>
            <a:r>
              <a:rPr lang="ko-KR" altLang="en-US" dirty="0"/>
              <a:t>변수간 상관관계 </a:t>
            </a:r>
            <a:r>
              <a:rPr lang="en-US" altLang="ko-KR" dirty="0"/>
              <a:t>→ </a:t>
            </a:r>
            <a:r>
              <a:rPr lang="ko-KR" altLang="en-US" dirty="0"/>
              <a:t>차원축소</a:t>
            </a:r>
            <a:r>
              <a:rPr lang="en-US" altLang="ko-KR" dirty="0"/>
              <a:t>. </a:t>
            </a:r>
            <a:r>
              <a:rPr lang="ko-KR" altLang="en-US" dirty="0"/>
              <a:t>공통</a:t>
            </a:r>
            <a:r>
              <a:rPr lang="en-US" altLang="ko-KR" dirty="0"/>
              <a:t>/</a:t>
            </a:r>
            <a:r>
              <a:rPr lang="ko-KR" altLang="en-US" dirty="0"/>
              <a:t>고유 영역에서 공통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많은 설명</a:t>
            </a:r>
            <a:r>
              <a:rPr lang="en-US" altLang="ko-KR" dirty="0"/>
              <a:t>? </a:t>
            </a:r>
            <a:r>
              <a:rPr lang="ko-KR" altLang="en-US" dirty="0"/>
              <a:t>고유 지움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정규화를 가정</a:t>
            </a:r>
            <a:r>
              <a:rPr lang="en-US" altLang="ko-KR" dirty="0"/>
              <a:t>, (X</a:t>
            </a:r>
            <a:r>
              <a:rPr lang="ko-KR" altLang="en-US" dirty="0"/>
              <a:t>분포</a:t>
            </a:r>
            <a:r>
              <a:rPr lang="en-US" altLang="ko-KR" dirty="0"/>
              <a:t>)=(Y</a:t>
            </a:r>
            <a:r>
              <a:rPr lang="ko-KR" altLang="en-US" dirty="0"/>
              <a:t>분포</a:t>
            </a:r>
            <a:r>
              <a:rPr lang="en-US" altLang="ko-KR" dirty="0"/>
              <a:t>)=1, </a:t>
            </a:r>
            <a:r>
              <a:rPr lang="ko-KR" altLang="en-US" dirty="0"/>
              <a:t>합</a:t>
            </a:r>
            <a:r>
              <a:rPr lang="en-US" altLang="ko-KR" dirty="0"/>
              <a:t>=2 → (PCA1 </a:t>
            </a:r>
            <a:r>
              <a:rPr lang="ko-KR" altLang="en-US" dirty="0"/>
              <a:t>분포</a:t>
            </a:r>
            <a:r>
              <a:rPr lang="en-US" altLang="ko-KR" dirty="0"/>
              <a:t>)&gt;1?,</a:t>
            </a:r>
            <a:br>
              <a:rPr lang="en-US" altLang="ko-KR" dirty="0"/>
            </a:br>
            <a:r>
              <a:rPr lang="en-US" altLang="ko-KR" dirty="0"/>
              <a:t> (PCA2 </a:t>
            </a:r>
            <a:r>
              <a:rPr lang="ko-KR" altLang="en-US" dirty="0"/>
              <a:t>분포</a:t>
            </a:r>
            <a:r>
              <a:rPr lang="en-US" altLang="ko-KR" dirty="0"/>
              <a:t>) &lt;1 → PCA2 X. </a:t>
            </a:r>
            <a:r>
              <a:rPr lang="ko-KR" altLang="en-US" dirty="0" err="1"/>
              <a:t>불필</a:t>
            </a:r>
            <a:r>
              <a:rPr lang="ko-KR" altLang="en-US" dirty="0"/>
              <a:t> 차원</a:t>
            </a:r>
            <a:r>
              <a:rPr lang="en-US" altLang="ko-KR" dirty="0"/>
              <a:t>↓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C9973F-F9EF-885F-E6CD-CBFC0AC055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7741" y="560512"/>
            <a:ext cx="1925634" cy="11263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D8D84BF-CC15-0188-15EF-DB1967C10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579" y="1784648"/>
            <a:ext cx="983556" cy="864096"/>
          </a:xfrm>
          <a:prstGeom prst="rect">
            <a:avLst/>
          </a:prstGeom>
        </p:spPr>
      </p:pic>
      <p:pic>
        <p:nvPicPr>
          <p:cNvPr id="12" name="그림 11" descr="텍스트, 친필, 잉크, 문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D99B9C-BB24-A854-B1B0-A38DDC02F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60" r="58513" b="7016"/>
          <a:stretch/>
        </p:blipFill>
        <p:spPr>
          <a:xfrm>
            <a:off x="5132797" y="5590009"/>
            <a:ext cx="1435522" cy="14355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4E697E5-8CC4-7AFD-AAAB-D3E1E562D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454" y="2914505"/>
            <a:ext cx="3224921" cy="931021"/>
          </a:xfrm>
          <a:prstGeom prst="rect">
            <a:avLst/>
          </a:prstGeom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BCC55B38-70DD-E013-A90C-4EC4D8408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7958" y="4491429"/>
            <a:ext cx="2437146" cy="362225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128B9FA-2A13-2EC7-CA74-338F8C7723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211" y="3876423"/>
            <a:ext cx="2609314" cy="168264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B63A232-34E4-A461-3F3D-B798D94A8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624" y="8193360"/>
            <a:ext cx="2570807" cy="16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8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3D9A35-0408-E6AD-1135-82DC6C8BA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CD72B6-1324-C17E-924B-8CD5D96B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 Encoder(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087C4A-5B05-4A87-34BD-1FE324C475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A56AD3-9CE0-123E-7A96-08F045EE0E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PCA - 8*8 </a:t>
            </a:r>
            <a:r>
              <a:rPr lang="ko-KR" altLang="en-US" dirty="0"/>
              <a:t>숫자 이미지를 </a:t>
            </a:r>
            <a:r>
              <a:rPr lang="en-US" altLang="ko-KR" dirty="0"/>
              <a:t>3</a:t>
            </a:r>
            <a:r>
              <a:rPr lang="ko-KR" altLang="en-US" dirty="0"/>
              <a:t>차원으로 축소 예제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Noise</a:t>
            </a:r>
            <a:r>
              <a:rPr lang="ko-KR" altLang="en-US" dirty="0"/>
              <a:t> </a:t>
            </a:r>
            <a:r>
              <a:rPr lang="en-US" altLang="ko-KR" dirty="0"/>
              <a:t>Reduction</a:t>
            </a:r>
          </a:p>
          <a:p>
            <a:pPr lvl="1"/>
            <a:r>
              <a:rPr lang="en-US" altLang="ko-KR" dirty="0"/>
              <a:t>AE : </a:t>
            </a:r>
            <a:r>
              <a:rPr lang="ko-KR" altLang="en-US" dirty="0"/>
              <a:t>주성분 </a:t>
            </a:r>
            <a:r>
              <a:rPr lang="ko-KR" altLang="en-US" dirty="0" err="1"/>
              <a:t>변환시</a:t>
            </a:r>
            <a:r>
              <a:rPr lang="ko-KR" altLang="en-US" dirty="0"/>
              <a:t> 선형변환으로</a:t>
            </a:r>
            <a:r>
              <a:rPr lang="en-US" altLang="ko-KR" dirty="0"/>
              <a:t>? </a:t>
            </a:r>
            <a:r>
              <a:rPr lang="ko-KR" altLang="en-US" dirty="0"/>
              <a:t>비선형이면서 </a:t>
            </a:r>
            <a:r>
              <a:rPr lang="ko-KR" altLang="en-US" dirty="0" err="1"/>
              <a:t>잘설명</a:t>
            </a:r>
            <a:r>
              <a:rPr lang="ko-KR" altLang="en-US" dirty="0"/>
              <a:t> 안되나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Noise Reduction → </a:t>
            </a:r>
            <a:r>
              <a:rPr lang="ko-KR" altLang="en-US" dirty="0"/>
              <a:t>차원축소시 뚜렷하지 않은 특징 제거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노이즈를 제거해야</a:t>
            </a:r>
            <a:r>
              <a:rPr lang="en-US" altLang="ko-KR" dirty="0"/>
              <a:t> latent layer </a:t>
            </a:r>
            <a:r>
              <a:rPr lang="ko-KR" altLang="en-US" dirty="0"/>
              <a:t>학습 가능</a:t>
            </a:r>
            <a:endParaRPr lang="en-US" altLang="ko-KR" dirty="0"/>
          </a:p>
          <a:p>
            <a:pPr lvl="2"/>
            <a:r>
              <a:rPr lang="en-US" altLang="ko-KR" dirty="0"/>
              <a:t>Flatten</a:t>
            </a:r>
            <a:r>
              <a:rPr lang="ko-KR" altLang="en-US" dirty="0"/>
              <a:t>과 </a:t>
            </a:r>
            <a:r>
              <a:rPr lang="en-US" altLang="ko-KR" dirty="0"/>
              <a:t>convolution </a:t>
            </a:r>
            <a:r>
              <a:rPr lang="ko-KR" altLang="en-US" dirty="0"/>
              <a:t>층을 사용한 </a:t>
            </a:r>
            <a:r>
              <a:rPr lang="en-US" altLang="ko-KR" dirty="0"/>
              <a:t>AE → </a:t>
            </a:r>
            <a:r>
              <a:rPr lang="ko-KR" altLang="en-US" dirty="0"/>
              <a:t>노이즈</a:t>
            </a:r>
            <a:r>
              <a:rPr lang="en-US" altLang="ko-KR" dirty="0"/>
              <a:t> </a:t>
            </a:r>
            <a:r>
              <a:rPr lang="ko-KR" altLang="en-US" dirty="0"/>
              <a:t>제거</a:t>
            </a:r>
            <a:endParaRPr lang="en-US" altLang="ko-KR" dirty="0"/>
          </a:p>
          <a:p>
            <a:r>
              <a:rPr lang="en-US" altLang="ko-KR" dirty="0"/>
              <a:t>Anomaly detection</a:t>
            </a:r>
          </a:p>
          <a:p>
            <a:pPr lvl="1"/>
            <a:r>
              <a:rPr lang="en-US" altLang="ko-KR" dirty="0"/>
              <a:t>AE</a:t>
            </a:r>
            <a:r>
              <a:rPr lang="ko-KR" altLang="en-US" dirty="0"/>
              <a:t>는 정상신호를 복원</a:t>
            </a:r>
            <a:r>
              <a:rPr lang="en-US" altLang="ko-KR" dirty="0"/>
              <a:t>. </a:t>
            </a:r>
            <a:r>
              <a:rPr lang="ko-KR" altLang="en-US" dirty="0"/>
              <a:t>비정상 신호를 복원</a:t>
            </a:r>
            <a:r>
              <a:rPr lang="en-US" altLang="ko-KR" dirty="0"/>
              <a:t>? → </a:t>
            </a:r>
            <a:r>
              <a:rPr lang="ko-KR" altLang="en-US" dirty="0"/>
              <a:t>학습한적</a:t>
            </a:r>
            <a:r>
              <a:rPr lang="en-US" altLang="ko-KR" dirty="0"/>
              <a:t>X, </a:t>
            </a:r>
            <a:r>
              <a:rPr lang="ko-KR" altLang="en-US" dirty="0" err="1"/>
              <a:t>복원률</a:t>
            </a:r>
            <a:r>
              <a:rPr lang="ko-KR" altLang="en-US" dirty="0"/>
              <a:t>↓</a:t>
            </a:r>
            <a:r>
              <a:rPr lang="en-US" altLang="ko-KR" dirty="0"/>
              <a:t>.(</a:t>
            </a:r>
            <a:r>
              <a:rPr lang="ko-KR" altLang="en-US" dirty="0"/>
              <a:t>정상 신호</a:t>
            </a:r>
            <a:r>
              <a:rPr lang="en-US" altLang="ko-KR" dirty="0"/>
              <a:t>(7→7)</a:t>
            </a:r>
            <a:r>
              <a:rPr lang="ko-KR" altLang="en-US" dirty="0"/>
              <a:t>간에는 </a:t>
            </a:r>
            <a:r>
              <a:rPr lang="en-US" altLang="ko-KR" dirty="0"/>
              <a:t>KL distance</a:t>
            </a:r>
            <a:r>
              <a:rPr lang="ko-KR" altLang="en-US" dirty="0"/>
              <a:t>가 작음</a:t>
            </a:r>
            <a:r>
              <a:rPr lang="en-US" altLang="ko-KR" dirty="0"/>
              <a:t>. </a:t>
            </a:r>
            <a:r>
              <a:rPr lang="ko-KR" altLang="en-US" dirty="0"/>
              <a:t>근데 비정상</a:t>
            </a:r>
            <a:r>
              <a:rPr lang="en-US" altLang="ko-KR" dirty="0"/>
              <a:t> </a:t>
            </a:r>
            <a:r>
              <a:rPr lang="ko-KR" altLang="en-US" dirty="0"/>
              <a:t>신호</a:t>
            </a:r>
            <a:r>
              <a:rPr lang="en-US" altLang="ko-KR" dirty="0"/>
              <a:t>(A→8)</a:t>
            </a:r>
            <a:r>
              <a:rPr lang="ko-KR" altLang="en-US" dirty="0"/>
              <a:t>간엔 </a:t>
            </a:r>
            <a:r>
              <a:rPr lang="en-US" altLang="ko-KR" dirty="0" err="1"/>
              <a:t>KLd</a:t>
            </a:r>
            <a:r>
              <a:rPr lang="en-US" altLang="ko-KR" dirty="0"/>
              <a:t> </a:t>
            </a:r>
            <a:r>
              <a:rPr lang="ko-KR" altLang="en-US" dirty="0"/>
              <a:t>큼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Colorization</a:t>
            </a:r>
          </a:p>
          <a:p>
            <a:pPr lvl="1"/>
            <a:r>
              <a:rPr lang="en-US" altLang="ko-KR" dirty="0"/>
              <a:t>AE</a:t>
            </a:r>
            <a:r>
              <a:rPr lang="ko-KR" altLang="en-US" dirty="0"/>
              <a:t>를 이용해 그레이 이미지 </a:t>
            </a:r>
            <a:r>
              <a:rPr lang="en-US" altLang="ko-KR" dirty="0"/>
              <a:t>→ </a:t>
            </a:r>
            <a:r>
              <a:rPr lang="ko-KR" altLang="en-US" dirty="0"/>
              <a:t>컬러 이미지</a:t>
            </a:r>
            <a:r>
              <a:rPr lang="en-US" altLang="ko-KR" dirty="0"/>
              <a:t>. </a:t>
            </a:r>
            <a:r>
              <a:rPr lang="ko-KR" altLang="en-US" dirty="0"/>
              <a:t>흑백 </a:t>
            </a:r>
            <a:r>
              <a:rPr lang="en-US" altLang="ko-KR" dirty="0"/>
              <a:t>= </a:t>
            </a:r>
            <a:r>
              <a:rPr lang="ko-KR" altLang="en-US" dirty="0"/>
              <a:t>입력 </a:t>
            </a:r>
            <a:r>
              <a:rPr lang="en-US" altLang="ko-KR" dirty="0"/>
              <a:t>→ </a:t>
            </a:r>
            <a:r>
              <a:rPr lang="ko-KR" altLang="en-US" dirty="0"/>
              <a:t>컬러 </a:t>
            </a:r>
            <a:r>
              <a:rPr lang="en-US" altLang="ko-KR" dirty="0"/>
              <a:t>= </a:t>
            </a:r>
            <a:r>
              <a:rPr lang="ko-KR" altLang="en-US" dirty="0"/>
              <a:t>출력 으로 학습 후 새로운 흑백</a:t>
            </a:r>
            <a:r>
              <a:rPr lang="en-US" altLang="ko-KR" dirty="0"/>
              <a:t>? → </a:t>
            </a:r>
            <a:r>
              <a:rPr lang="ko-KR" altLang="en-US" dirty="0"/>
              <a:t>컬러</a:t>
            </a:r>
            <a:r>
              <a:rPr lang="en-US" altLang="ko-KR" dirty="0"/>
              <a:t>;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컬러복원</a:t>
            </a:r>
            <a:r>
              <a:rPr lang="en-US" altLang="ko-KR" dirty="0"/>
              <a:t>X, </a:t>
            </a:r>
            <a:r>
              <a:rPr lang="ko-KR" altLang="en-US" dirty="0"/>
              <a:t>색칠하기</a:t>
            </a:r>
            <a:endParaRPr lang="en-US" altLang="ko-KR" dirty="0"/>
          </a:p>
          <a:p>
            <a:r>
              <a:rPr lang="en-US" altLang="ko-KR" dirty="0"/>
              <a:t>Image Search</a:t>
            </a:r>
          </a:p>
          <a:p>
            <a:pPr lvl="1"/>
            <a:r>
              <a:rPr lang="en-US" altLang="ko-KR" dirty="0"/>
              <a:t>AE</a:t>
            </a:r>
            <a:r>
              <a:rPr lang="ko-KR" altLang="en-US" dirty="0"/>
              <a:t>의 좌측을 학습해 </a:t>
            </a:r>
            <a:r>
              <a:rPr lang="en-US" altLang="ko-KR" dirty="0"/>
              <a:t>code</a:t>
            </a:r>
            <a:r>
              <a:rPr lang="ko-KR" altLang="en-US" dirty="0"/>
              <a:t>의 </a:t>
            </a:r>
            <a:r>
              <a:rPr lang="ko-KR" altLang="en-US" dirty="0" err="1"/>
              <a:t>가중값</a:t>
            </a:r>
            <a:r>
              <a:rPr lang="ko-KR" altLang="en-US" dirty="0"/>
              <a:t> 확보</a:t>
            </a:r>
            <a:r>
              <a:rPr lang="en-US" altLang="ko-KR" dirty="0"/>
              <a:t>. Decode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제거한 모형으로 다음을 수행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이미지 </a:t>
            </a:r>
            <a:r>
              <a:rPr lang="en-US" altLang="ko-KR" dirty="0"/>
              <a:t>DB</a:t>
            </a:r>
            <a:r>
              <a:rPr lang="ko-KR" altLang="en-US" dirty="0"/>
              <a:t>의 이미지를 </a:t>
            </a:r>
            <a:r>
              <a:rPr lang="en-US" altLang="ko-KR" dirty="0"/>
              <a:t>Encoded </a:t>
            </a:r>
            <a:r>
              <a:rPr lang="ko-KR" altLang="en-US" dirty="0"/>
              <a:t>벡터로</a:t>
            </a:r>
            <a:r>
              <a:rPr lang="en-US" altLang="ko-KR" dirty="0"/>
              <a:t> </a:t>
            </a:r>
            <a:r>
              <a:rPr lang="ko-KR" altLang="en-US" dirty="0"/>
              <a:t>만듦 </a:t>
            </a:r>
            <a:r>
              <a:rPr lang="en-US" altLang="ko-KR" dirty="0"/>
              <a:t>→ 2) </a:t>
            </a:r>
            <a:r>
              <a:rPr lang="ko-KR" altLang="en-US" dirty="0"/>
              <a:t>사용자의 이미지를 </a:t>
            </a:r>
            <a:r>
              <a:rPr lang="en-US" altLang="ko-KR" dirty="0"/>
              <a:t>Encoded </a:t>
            </a:r>
            <a:r>
              <a:rPr lang="ko-KR" altLang="en-US" dirty="0"/>
              <a:t>벡터로 만듦 </a:t>
            </a:r>
            <a:r>
              <a:rPr lang="en-US" altLang="ko-KR" dirty="0"/>
              <a:t>→ 3) </a:t>
            </a:r>
            <a:r>
              <a:rPr lang="en-US" altLang="ko-KR" dirty="0" err="1"/>
              <a:t>kNN</a:t>
            </a:r>
            <a:r>
              <a:rPr lang="en-US" altLang="ko-KR" dirty="0"/>
              <a:t> </a:t>
            </a:r>
            <a:r>
              <a:rPr lang="ko-KR" altLang="en-US" dirty="0"/>
              <a:t>기법으로 유사도 측정</a:t>
            </a:r>
            <a:r>
              <a:rPr lang="en-US" altLang="ko-KR" dirty="0"/>
              <a:t>, </a:t>
            </a:r>
            <a:r>
              <a:rPr lang="ko-KR" altLang="en-US" dirty="0"/>
              <a:t>가장 가까운 이미지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279246-19AA-C6E5-5242-C263EB4577E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Noise</a:t>
            </a:r>
            <a:r>
              <a:rPr lang="ko-KR" altLang="en-US" dirty="0"/>
              <a:t> </a:t>
            </a:r>
            <a:r>
              <a:rPr lang="en-US" altLang="ko-KR" dirty="0"/>
              <a:t>Reduction : </a:t>
            </a:r>
            <a:r>
              <a:rPr lang="ko-KR" altLang="en-US" dirty="0"/>
              <a:t>차원 </a:t>
            </a:r>
            <a:r>
              <a:rPr lang="ko-KR" altLang="en-US" dirty="0" err="1"/>
              <a:t>축소시</a:t>
            </a:r>
            <a:r>
              <a:rPr lang="ko-KR" altLang="en-US" dirty="0"/>
              <a:t> </a:t>
            </a:r>
            <a:r>
              <a:rPr lang="ko-KR" altLang="en-US" dirty="0" err="1"/>
              <a:t>뚜렷</a:t>
            </a:r>
            <a:r>
              <a:rPr lang="en-US" altLang="ko-KR" dirty="0"/>
              <a:t>X </a:t>
            </a:r>
            <a:r>
              <a:rPr lang="ko-KR" altLang="en-US" dirty="0"/>
              <a:t>특징</a:t>
            </a:r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/>
              <a:t>노이즈</a:t>
            </a:r>
            <a:r>
              <a:rPr lang="en-US" altLang="ko-KR" dirty="0"/>
              <a:t>X</a:t>
            </a:r>
            <a:r>
              <a:rPr lang="ko-KR" altLang="en-US" dirty="0"/>
              <a:t>어야 </a:t>
            </a:r>
            <a:r>
              <a:rPr lang="en-US" altLang="ko-KR" dirty="0"/>
              <a:t>latent layer </a:t>
            </a:r>
            <a:r>
              <a:rPr lang="ko-KR" altLang="en-US" dirty="0"/>
              <a:t>학습</a:t>
            </a:r>
            <a:r>
              <a:rPr lang="en-US" altLang="ko-KR" dirty="0"/>
              <a:t>O. </a:t>
            </a:r>
            <a:r>
              <a:rPr lang="en-US" altLang="ko-KR" dirty="0" err="1"/>
              <a:t>flatten+convolution</a:t>
            </a:r>
            <a:r>
              <a:rPr lang="en-US" altLang="ko-KR" dirty="0"/>
              <a:t> AE →  noise reduction</a:t>
            </a:r>
          </a:p>
          <a:p>
            <a:r>
              <a:rPr lang="en-US" altLang="ko-KR" dirty="0"/>
              <a:t>Anomaly detection : AE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비정상 복</a:t>
            </a:r>
            <a:r>
              <a:rPr lang="en-US" altLang="ko-KR" dirty="0"/>
              <a:t>?-&gt;</a:t>
            </a:r>
            <a:r>
              <a:rPr lang="ko-KR" altLang="en-US" dirty="0"/>
              <a:t>학습</a:t>
            </a:r>
            <a:r>
              <a:rPr lang="en-US" altLang="ko-KR" dirty="0"/>
              <a:t>X, </a:t>
            </a:r>
            <a:r>
              <a:rPr lang="ko-KR" altLang="en-US" dirty="0" err="1"/>
              <a:t>복원률</a:t>
            </a:r>
            <a:r>
              <a:rPr lang="en-US" altLang="ko-KR" dirty="0"/>
              <a:t>↓, </a:t>
            </a:r>
            <a:r>
              <a:rPr lang="en-US" altLang="ko-KR" dirty="0" err="1"/>
              <a:t>KLd</a:t>
            </a:r>
            <a:r>
              <a:rPr lang="en-US" altLang="ko-KR" dirty="0"/>
              <a:t>↑↑</a:t>
            </a:r>
          </a:p>
          <a:p>
            <a:r>
              <a:rPr lang="en-US" altLang="ko-KR" dirty="0"/>
              <a:t>Colorization : </a:t>
            </a:r>
            <a:r>
              <a:rPr lang="ko-KR" altLang="en-US" dirty="0"/>
              <a:t>흑백</a:t>
            </a:r>
            <a:r>
              <a:rPr lang="en-US" altLang="ko-KR" dirty="0"/>
              <a:t>→</a:t>
            </a:r>
            <a:r>
              <a:rPr lang="ko-KR" altLang="en-US" dirty="0"/>
              <a:t>컬러 순으로 학습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컬러복원</a:t>
            </a:r>
            <a:r>
              <a:rPr lang="en-US" altLang="ko-KR" dirty="0"/>
              <a:t>X. </a:t>
            </a:r>
            <a:r>
              <a:rPr lang="ko-KR" altLang="en-US" dirty="0"/>
              <a:t>색칠하기</a:t>
            </a:r>
            <a:endParaRPr lang="en-US" altLang="ko-KR" dirty="0"/>
          </a:p>
          <a:p>
            <a:r>
              <a:rPr lang="en-US" altLang="ko-KR" dirty="0"/>
              <a:t>Image search : AE</a:t>
            </a:r>
            <a:r>
              <a:rPr lang="ko-KR" altLang="en-US" dirty="0"/>
              <a:t> </a:t>
            </a:r>
            <a:r>
              <a:rPr lang="en-US" altLang="ko-KR" dirty="0" err="1"/>
              <a:t>incoder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n-US" altLang="ko-KR" dirty="0"/>
              <a:t>code O, → 1) (DB </a:t>
            </a:r>
            <a:r>
              <a:rPr lang="ko-KR" altLang="en-US" dirty="0"/>
              <a:t>이미지 </a:t>
            </a:r>
            <a:r>
              <a:rPr lang="en-US" altLang="ko-KR" dirty="0"/>
              <a:t>→ Encoded </a:t>
            </a:r>
            <a:r>
              <a:rPr lang="ko-KR" altLang="en-US" dirty="0"/>
              <a:t>벡터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2) (</a:t>
            </a:r>
            <a:r>
              <a:rPr lang="ko-KR" altLang="en-US" dirty="0"/>
              <a:t>사용자 이미지</a:t>
            </a:r>
            <a:r>
              <a:rPr lang="en-US" altLang="ko-KR" dirty="0"/>
              <a:t>→encoded </a:t>
            </a:r>
            <a:r>
              <a:rPr lang="ko-KR" altLang="en-US" dirty="0"/>
              <a:t>벡터</a:t>
            </a:r>
            <a:r>
              <a:rPr lang="en-US" altLang="ko-KR" dirty="0"/>
              <a:t>) 3) KNN </a:t>
            </a:r>
            <a:r>
              <a:rPr lang="ko-KR" altLang="en-US" dirty="0"/>
              <a:t>기법</a:t>
            </a:r>
            <a:r>
              <a:rPr lang="en-US" altLang="ko-KR" dirty="0"/>
              <a:t>. </a:t>
            </a:r>
            <a:r>
              <a:rPr lang="ko-KR" altLang="en-US" dirty="0"/>
              <a:t>유사도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  <a:r>
              <a:rPr lang="en-US" altLang="ko-KR" dirty="0"/>
              <a:t>. </a:t>
            </a:r>
            <a:r>
              <a:rPr lang="ko-KR" altLang="en-US" dirty="0"/>
              <a:t>가까운 이미지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BD3D7B2-B358-4EBB-9BE6-DFC169CD7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10" y="4572161"/>
            <a:ext cx="378735" cy="76167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B928D50-9101-E24D-A225-C3D65802E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97" y="776536"/>
            <a:ext cx="4177194" cy="3312368"/>
          </a:xfrm>
          <a:prstGeom prst="rect">
            <a:avLst/>
          </a:prstGeom>
        </p:spPr>
      </p:pic>
      <p:pic>
        <p:nvPicPr>
          <p:cNvPr id="27" name="그림 26" descr="스크린샷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65B82A-27BF-16F7-B0B7-3C7246FEA3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510" y="3368824"/>
            <a:ext cx="1290996" cy="1035771"/>
          </a:xfrm>
          <a:prstGeom prst="rect">
            <a:avLst/>
          </a:prstGeom>
        </p:spPr>
      </p:pic>
      <p:pic>
        <p:nvPicPr>
          <p:cNvPr id="31" name="그림 30" descr="흑백, 패턴, 사각형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3584EE-ABFE-4B5C-568B-7C1853A56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453" y="892894"/>
            <a:ext cx="650761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0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C32BCB6-0F81-AF41-915D-681058211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9660A77-7849-6C48-637A-EA037775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RNN(Recurrent Neural Network)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B6C99E-D7DA-AD7A-05C9-85DB4D0BE5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D05971-8F77-4975-41C9-78A3D5E6AD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Recurrent Neural Network</a:t>
            </a:r>
          </a:p>
          <a:p>
            <a:pPr lvl="1"/>
            <a:r>
              <a:rPr lang="en-US" altLang="ko-KR" dirty="0"/>
              <a:t>Time Series Forecasting : </a:t>
            </a:r>
            <a:r>
              <a:rPr lang="ko-KR" altLang="en-US" dirty="0"/>
              <a:t>시간</a:t>
            </a:r>
            <a:r>
              <a:rPr lang="en-US" altLang="ko-KR" dirty="0"/>
              <a:t> </a:t>
            </a:r>
            <a:r>
              <a:rPr lang="ko-KR" altLang="en-US" dirty="0"/>
              <a:t>흐름에 따라 순서</a:t>
            </a:r>
            <a:r>
              <a:rPr lang="en-US" altLang="ko-KR" dirty="0"/>
              <a:t>O </a:t>
            </a:r>
            <a:r>
              <a:rPr lang="ko-KR" altLang="en-US" dirty="0"/>
              <a:t>데이터를 </a:t>
            </a:r>
            <a:br>
              <a:rPr lang="en-US" altLang="ko-KR" dirty="0"/>
            </a:br>
            <a:r>
              <a:rPr lang="ko-KR" altLang="en-US" dirty="0"/>
              <a:t>기반</a:t>
            </a:r>
            <a:r>
              <a:rPr lang="en-US" altLang="ko-KR" dirty="0"/>
              <a:t>, </a:t>
            </a:r>
            <a:r>
              <a:rPr lang="ko-KR" altLang="en-US" dirty="0"/>
              <a:t>미래 예측</a:t>
            </a:r>
            <a:r>
              <a:rPr lang="en-US" altLang="ko-KR" dirty="0"/>
              <a:t>; AR(autoregression model) : t</a:t>
            </a:r>
            <a:r>
              <a:rPr lang="ko-KR" altLang="en-US" dirty="0"/>
              <a:t>시점 값은 </a:t>
            </a:r>
            <a:r>
              <a:rPr lang="en-US" altLang="ko-KR" dirty="0"/>
              <a:t>t-1</a:t>
            </a:r>
            <a:r>
              <a:rPr lang="ko-KR" altLang="en-US" dirty="0"/>
              <a:t>시점 </a:t>
            </a:r>
            <a:br>
              <a:rPr lang="en-US" altLang="ko-KR" dirty="0"/>
            </a:br>
            <a:r>
              <a:rPr lang="ko-KR" altLang="en-US" dirty="0"/>
              <a:t>값</a:t>
            </a:r>
            <a:r>
              <a:rPr lang="en-US" altLang="ko-KR" dirty="0"/>
              <a:t>(</a:t>
            </a:r>
            <a:r>
              <a:rPr lang="ko-KR" altLang="en-US" dirty="0"/>
              <a:t>자기자신</a:t>
            </a:r>
            <a:r>
              <a:rPr lang="en-US" altLang="ko-KR" dirty="0"/>
              <a:t>)</a:t>
            </a:r>
            <a:r>
              <a:rPr lang="ko-KR" altLang="en-US" dirty="0"/>
              <a:t>의 영향을 받음</a:t>
            </a:r>
            <a:r>
              <a:rPr lang="en-US" altLang="ko-KR" dirty="0"/>
              <a:t>. </a:t>
            </a:r>
            <a:r>
              <a:rPr lang="ko-KR" altLang="en-US" dirty="0"/>
              <a:t>주가예측</a:t>
            </a:r>
            <a:r>
              <a:rPr lang="en-US" altLang="ko-KR" dirty="0"/>
              <a:t>/</a:t>
            </a:r>
            <a:r>
              <a:rPr lang="ko-KR" altLang="en-US" dirty="0"/>
              <a:t>자연어 </a:t>
            </a:r>
            <a:r>
              <a:rPr lang="ko-KR" altLang="en-US" dirty="0" err="1"/>
              <a:t>처리등</a:t>
            </a:r>
            <a:r>
              <a:rPr lang="ko-KR" altLang="en-US" dirty="0"/>
              <a:t> 시간이 중요한 분야 사용</a:t>
            </a:r>
            <a:endParaRPr lang="en-US" altLang="ko-KR" dirty="0"/>
          </a:p>
          <a:p>
            <a:pPr lvl="1"/>
            <a:r>
              <a:rPr lang="en-US" altLang="ko-KR" dirty="0"/>
              <a:t>RNN </a:t>
            </a:r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과거의 정보</a:t>
            </a:r>
            <a:r>
              <a:rPr lang="en-US" altLang="ko-KR" dirty="0"/>
              <a:t>(ht-1)</a:t>
            </a:r>
            <a:r>
              <a:rPr lang="ko-KR" altLang="en-US" dirty="0"/>
              <a:t>가 현재상태 결정에 영향을 주는 구조</a:t>
            </a:r>
            <a:r>
              <a:rPr lang="en-US" altLang="ko-KR" dirty="0"/>
              <a:t>. </a:t>
            </a:r>
            <a:r>
              <a:rPr lang="ko-KR" altLang="en-US" dirty="0"/>
              <a:t>순환</a:t>
            </a:r>
            <a:r>
              <a:rPr lang="en-US" altLang="ko-KR" dirty="0"/>
              <a:t> : </a:t>
            </a:r>
            <a:r>
              <a:rPr lang="ko-KR" altLang="en-US" dirty="0"/>
              <a:t>과거의 </a:t>
            </a:r>
            <a:r>
              <a:rPr lang="ko-KR" altLang="en-US" dirty="0" err="1"/>
              <a:t>자기값이</a:t>
            </a:r>
            <a:r>
              <a:rPr lang="ko-KR" altLang="en-US" dirty="0"/>
              <a:t> 현재로 다시 피드백</a:t>
            </a:r>
            <a:endParaRPr lang="en-US" altLang="ko-KR" dirty="0"/>
          </a:p>
          <a:p>
            <a:pPr lvl="2"/>
            <a:r>
              <a:rPr lang="en-US" altLang="ko-KR" dirty="0"/>
              <a:t>HT = F(HT-1, XT) </a:t>
            </a:r>
            <a:r>
              <a:rPr lang="ko-KR" altLang="en-US" dirty="0"/>
              <a:t>형태에서</a:t>
            </a:r>
            <a:r>
              <a:rPr lang="en-US" altLang="ko-KR" dirty="0"/>
              <a:t>, F</a:t>
            </a:r>
            <a:r>
              <a:rPr lang="ko-KR" altLang="en-US" dirty="0"/>
              <a:t>에는 </a:t>
            </a:r>
            <a:r>
              <a:rPr lang="en-US" altLang="ko-KR" dirty="0"/>
              <a:t>tanh</a:t>
            </a:r>
            <a:r>
              <a:rPr lang="ko-KR" altLang="en-US" dirty="0"/>
              <a:t>같은</a:t>
            </a:r>
            <a:r>
              <a:rPr lang="en-US" altLang="ko-KR" dirty="0"/>
              <a:t> </a:t>
            </a:r>
            <a:r>
              <a:rPr lang="ko-KR" altLang="en-US" dirty="0"/>
              <a:t>활성함수 사용</a:t>
            </a:r>
            <a:r>
              <a:rPr lang="en-US" altLang="ko-KR" dirty="0"/>
              <a:t>. </a:t>
            </a:r>
            <a:r>
              <a:rPr lang="en-US" altLang="ko-KR" dirty="0" err="1"/>
              <a:t>Whh,Wxh</a:t>
            </a:r>
            <a:r>
              <a:rPr lang="en-US" altLang="ko-KR" dirty="0"/>
              <a:t> </a:t>
            </a:r>
            <a:r>
              <a:rPr lang="ko-KR" altLang="en-US" dirty="0"/>
              <a:t>모두 학습 </a:t>
            </a:r>
            <a:r>
              <a:rPr lang="ko-KR" altLang="en-US" dirty="0" err="1"/>
              <a:t>가능파라미터</a:t>
            </a:r>
            <a:endParaRPr lang="en-US" altLang="ko-KR" dirty="0"/>
          </a:p>
          <a:p>
            <a:pPr lvl="2"/>
            <a:r>
              <a:rPr lang="en-US" altLang="ko-KR" dirty="0" err="1"/>
              <a:t>Yt</a:t>
            </a:r>
            <a:r>
              <a:rPr lang="ko-KR" altLang="en-US" dirty="0"/>
              <a:t>는 모든 과거데이터</a:t>
            </a:r>
            <a:r>
              <a:rPr lang="en-US" altLang="ko-KR" dirty="0"/>
              <a:t>(Y1...Yt-1)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영향</a:t>
            </a:r>
            <a:r>
              <a:rPr lang="en-US" altLang="ko-KR" dirty="0"/>
              <a:t> O. </a:t>
            </a:r>
            <a:r>
              <a:rPr lang="ko-KR" altLang="en-US" dirty="0"/>
              <a:t>하지만</a:t>
            </a:r>
            <a:r>
              <a:rPr lang="en-US" altLang="ko-KR" dirty="0"/>
              <a:t> Yt-1 ... Y1 </a:t>
            </a:r>
            <a:r>
              <a:rPr lang="ko-KR" altLang="en-US" dirty="0"/>
              <a:t>순으로 </a:t>
            </a:r>
            <a:r>
              <a:rPr lang="ko-KR" altLang="en-US" dirty="0" err="1"/>
              <a:t>영향받음</a:t>
            </a:r>
            <a:endParaRPr lang="en-US" altLang="ko-KR" dirty="0"/>
          </a:p>
          <a:p>
            <a:pPr lvl="1"/>
            <a:r>
              <a:rPr lang="ko-KR" altLang="en-US" dirty="0"/>
              <a:t>여러 </a:t>
            </a:r>
            <a:r>
              <a:rPr lang="en-US" altLang="ko-KR" dirty="0"/>
              <a:t>RNN </a:t>
            </a:r>
            <a:r>
              <a:rPr lang="ko-KR" altLang="en-US" dirty="0"/>
              <a:t>모델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One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one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한 입력</a:t>
            </a:r>
            <a:r>
              <a:rPr lang="en-US" altLang="ko-KR" dirty="0"/>
              <a:t>→</a:t>
            </a:r>
            <a:r>
              <a:rPr lang="ko-KR" altLang="en-US" dirty="0"/>
              <a:t>한 출력</a:t>
            </a:r>
            <a:br>
              <a:rPr lang="en-US" altLang="ko-KR" dirty="0"/>
            </a:br>
            <a:r>
              <a:rPr lang="en-US" altLang="ko-KR" dirty="0"/>
              <a:t>'love'→'</a:t>
            </a:r>
            <a:r>
              <a:rPr lang="ko-KR" altLang="en-US" dirty="0"/>
              <a:t>사랑</a:t>
            </a:r>
            <a:r>
              <a:rPr lang="en-US" altLang="ko-KR" dirty="0"/>
              <a:t>'; </a:t>
            </a:r>
            <a:r>
              <a:rPr lang="ko-KR" altLang="en-US" dirty="0"/>
              <a:t>일대일 번역</a:t>
            </a:r>
            <a:br>
              <a:rPr lang="en-US" altLang="ko-KR" dirty="0"/>
            </a:br>
            <a:r>
              <a:rPr lang="en-US" altLang="ko-KR" dirty="0"/>
              <a:t>One</a:t>
            </a:r>
            <a:r>
              <a:rPr lang="ko-KR" altLang="en-US" dirty="0"/>
              <a:t> </a:t>
            </a:r>
            <a:r>
              <a:rPr lang="en-US" altLang="ko-KR" dirty="0"/>
              <a:t>to many : </a:t>
            </a:r>
            <a:r>
              <a:rPr lang="ko-KR" altLang="en-US" dirty="0"/>
              <a:t>한 입력 </a:t>
            </a:r>
            <a:r>
              <a:rPr lang="en-US" altLang="ko-KR" dirty="0"/>
              <a:t>→ </a:t>
            </a:r>
            <a:r>
              <a:rPr lang="ko-KR" altLang="en-US" dirty="0"/>
              <a:t>여러 출력</a:t>
            </a:r>
            <a:br>
              <a:rPr lang="en-US" altLang="ko-KR" dirty="0"/>
            </a:br>
            <a:r>
              <a:rPr lang="ko-KR" altLang="en-US" dirty="0"/>
              <a:t>이미지</a:t>
            </a:r>
            <a:r>
              <a:rPr lang="en-US" altLang="ko-KR" dirty="0"/>
              <a:t>→</a:t>
            </a:r>
            <a:r>
              <a:rPr lang="ko-KR" altLang="en-US" dirty="0"/>
              <a:t>해수욕장</a:t>
            </a:r>
            <a:r>
              <a:rPr lang="en-US" altLang="ko-KR" dirty="0"/>
              <a:t>,</a:t>
            </a:r>
            <a:r>
              <a:rPr lang="ko-KR" altLang="en-US" dirty="0"/>
              <a:t>가족</a:t>
            </a:r>
            <a:r>
              <a:rPr lang="en-US" altLang="ko-KR" dirty="0"/>
              <a:t>,non-adult, ...</a:t>
            </a:r>
            <a:br>
              <a:rPr lang="en-US" altLang="ko-KR" dirty="0"/>
            </a:br>
            <a:r>
              <a:rPr lang="en-US" altLang="ko-KR" dirty="0"/>
              <a:t>Many to one : </a:t>
            </a:r>
            <a:r>
              <a:rPr lang="ko-KR" altLang="en-US" dirty="0"/>
              <a:t>여러 입력 </a:t>
            </a:r>
            <a:r>
              <a:rPr lang="en-US" altLang="ko-KR" dirty="0"/>
              <a:t>→ </a:t>
            </a:r>
            <a:r>
              <a:rPr lang="ko-KR" altLang="en-US" dirty="0"/>
              <a:t>한 출력</a:t>
            </a:r>
            <a:r>
              <a:rPr lang="en-US" altLang="ko-KR" dirty="0"/>
              <a:t> </a:t>
            </a:r>
            <a:r>
              <a:rPr lang="ko-KR" altLang="en-US" dirty="0"/>
              <a:t>글</a:t>
            </a:r>
            <a:r>
              <a:rPr lang="en-US" altLang="ko-KR" dirty="0"/>
              <a:t>/</a:t>
            </a:r>
            <a:r>
              <a:rPr lang="ko-KR" altLang="en-US" dirty="0"/>
              <a:t>음성 내용 분석 </a:t>
            </a:r>
            <a:r>
              <a:rPr lang="en-US" altLang="ko-KR" dirty="0"/>
              <a:t>→ </a:t>
            </a:r>
            <a:r>
              <a:rPr lang="ko-KR" altLang="en-US" dirty="0"/>
              <a:t>하나로 요약</a:t>
            </a:r>
            <a:br>
              <a:rPr lang="en-US" altLang="ko-KR" dirty="0"/>
            </a:br>
            <a:r>
              <a:rPr lang="en-US" altLang="ko-KR" dirty="0"/>
              <a:t>Many to many : </a:t>
            </a:r>
            <a:r>
              <a:rPr lang="ko-KR" altLang="en-US" dirty="0" err="1"/>
              <a:t>여러입력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 err="1"/>
              <a:t>여러입력</a:t>
            </a:r>
            <a:r>
              <a:rPr lang="en-US" altLang="ko-KR" dirty="0"/>
              <a:t>; '</a:t>
            </a:r>
            <a:r>
              <a:rPr lang="ko-KR" altLang="en-US" dirty="0"/>
              <a:t>안</a:t>
            </a:r>
            <a:r>
              <a:rPr lang="en-US" altLang="ko-KR" dirty="0"/>
              <a:t>','</a:t>
            </a:r>
            <a:r>
              <a:rPr lang="ko-KR" altLang="en-US" dirty="0" err="1"/>
              <a:t>녕</a:t>
            </a:r>
            <a:r>
              <a:rPr lang="en-US" altLang="ko-KR" dirty="0"/>
              <a:t>'→'</a:t>
            </a:r>
            <a:r>
              <a:rPr lang="ko-KR" altLang="en-US" dirty="0"/>
              <a:t>하</a:t>
            </a:r>
            <a:r>
              <a:rPr lang="en-US" altLang="ko-KR" dirty="0"/>
              <a:t>','</a:t>
            </a:r>
            <a:r>
              <a:rPr lang="ko-KR" altLang="en-US" dirty="0"/>
              <a:t>세</a:t>
            </a:r>
            <a:r>
              <a:rPr lang="en-US" altLang="ko-KR" dirty="0"/>
              <a:t>','</a:t>
            </a:r>
            <a:r>
              <a:rPr lang="ko-KR" altLang="en-US" dirty="0"/>
              <a:t>요</a:t>
            </a:r>
            <a:r>
              <a:rPr lang="en-US" altLang="ko-KR" dirty="0"/>
              <a:t>'; </a:t>
            </a:r>
            <a:r>
              <a:rPr lang="ko-KR" altLang="en-US" dirty="0"/>
              <a:t>광고카피 등</a:t>
            </a:r>
            <a:endParaRPr lang="en-US" altLang="ko-KR" dirty="0"/>
          </a:p>
          <a:p>
            <a:r>
              <a:rPr lang="en-US" altLang="ko-KR" dirty="0"/>
              <a:t>Char</a:t>
            </a:r>
            <a:r>
              <a:rPr lang="ko-KR" altLang="en-US" dirty="0"/>
              <a:t> </a:t>
            </a:r>
            <a:r>
              <a:rPr lang="en-US" altLang="ko-KR" dirty="0"/>
              <a:t>RNN</a:t>
            </a:r>
          </a:p>
          <a:p>
            <a:pPr lvl="1"/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pt-BR" altLang="ko-KR" dirty="0"/>
              <a:t>hello </a:t>
            </a:r>
            <a:r>
              <a:rPr lang="ko-KR" altLang="en-US" dirty="0"/>
              <a:t>학습</a:t>
            </a:r>
            <a:r>
              <a:rPr lang="pt-BR" altLang="ko-KR" dirty="0"/>
              <a:t> : h→e, he→l, hel→l, hell→o</a:t>
            </a:r>
          </a:p>
          <a:p>
            <a:pPr lvl="1"/>
            <a:r>
              <a:rPr lang="en-US" altLang="ko-KR" dirty="0"/>
              <a:t>One-hot-encoding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모델 학습</a:t>
            </a:r>
            <a:r>
              <a:rPr lang="en-US" altLang="ko-KR" dirty="0"/>
              <a:t>? → </a:t>
            </a:r>
            <a:r>
              <a:rPr lang="ko-KR" altLang="en-US" dirty="0"/>
              <a:t>각 문자를 </a:t>
            </a:r>
            <a:br>
              <a:rPr lang="en-US" altLang="ko-KR" dirty="0"/>
            </a:br>
            <a:r>
              <a:rPr lang="ko-KR" altLang="en-US" dirty="0"/>
              <a:t>수치벡터로 치환</a:t>
            </a:r>
            <a:endParaRPr lang="en-US" altLang="ko-KR" dirty="0"/>
          </a:p>
          <a:p>
            <a:pPr lvl="1"/>
            <a:r>
              <a:rPr lang="ko-KR" altLang="en-US" dirty="0"/>
              <a:t>학습 과정 </a:t>
            </a:r>
            <a:r>
              <a:rPr lang="en-US" altLang="ko-KR" dirty="0"/>
              <a:t>: 1) </a:t>
            </a:r>
            <a:r>
              <a:rPr lang="ko-KR" altLang="en-US" dirty="0"/>
              <a:t>먼저 </a:t>
            </a:r>
            <a:r>
              <a:rPr lang="en-US" altLang="ko-KR" dirty="0"/>
              <a:t>h0</a:t>
            </a:r>
            <a:r>
              <a:rPr lang="ko-KR" altLang="en-US" dirty="0"/>
              <a:t>값의 파라미터를 난수로 줌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다음 </a:t>
            </a:r>
            <a:r>
              <a:rPr lang="en-US" altLang="ko-KR" dirty="0" err="1"/>
              <a:t>ht</a:t>
            </a:r>
            <a:r>
              <a:rPr lang="en-US" altLang="ko-KR" dirty="0"/>
              <a:t>(hidden layer)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tanh(</a:t>
            </a:r>
            <a:r>
              <a:rPr lang="en-US" altLang="ko-KR" dirty="0" err="1"/>
              <a:t>W_hh</a:t>
            </a:r>
            <a:r>
              <a:rPr lang="en-US" altLang="ko-KR" dirty="0"/>
              <a:t>*h_t-1 + </a:t>
            </a:r>
            <a:r>
              <a:rPr lang="en-US" altLang="ko-KR" dirty="0" err="1"/>
              <a:t>W_xh</a:t>
            </a:r>
            <a:r>
              <a:rPr lang="en-US" altLang="ko-KR" dirty="0"/>
              <a:t> * </a:t>
            </a:r>
            <a:r>
              <a:rPr lang="en-US" altLang="ko-KR" dirty="0" err="1"/>
              <a:t>x_t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en-US" altLang="ko-KR" dirty="0" err="1"/>
              <a:t>h_t</a:t>
            </a:r>
            <a:r>
              <a:rPr lang="ko-KR" altLang="en-US" dirty="0"/>
              <a:t>를 구했다면 </a:t>
            </a:r>
            <a:r>
              <a:rPr lang="en-US" altLang="ko-KR" dirty="0" err="1"/>
              <a:t>W_hy</a:t>
            </a:r>
            <a:r>
              <a:rPr lang="en-US" altLang="ko-KR" dirty="0"/>
              <a:t>*</a:t>
            </a:r>
            <a:r>
              <a:rPr lang="en-US" altLang="ko-KR" dirty="0" err="1"/>
              <a:t>h_t</a:t>
            </a:r>
            <a:r>
              <a:rPr lang="en-US" altLang="ko-KR" dirty="0"/>
              <a:t> = </a:t>
            </a:r>
            <a:r>
              <a:rPr lang="en-US" altLang="ko-KR" dirty="0" err="1"/>
              <a:t>y_t</a:t>
            </a:r>
            <a:r>
              <a:rPr lang="ko-KR" altLang="en-US" dirty="0"/>
              <a:t>를 구함</a:t>
            </a:r>
            <a:br>
              <a:rPr lang="en-US" altLang="ko-KR" dirty="0"/>
            </a:br>
            <a:r>
              <a:rPr lang="en-US" altLang="ko-KR" dirty="0"/>
              <a:t>4) </a:t>
            </a:r>
            <a:r>
              <a:rPr lang="ko-KR" altLang="en-US" dirty="0"/>
              <a:t>그럼</a:t>
            </a:r>
            <a:r>
              <a:rPr lang="en-US" altLang="ko-KR" dirty="0"/>
              <a:t> </a:t>
            </a:r>
            <a:r>
              <a:rPr lang="en-US" altLang="ko-KR" dirty="0" err="1"/>
              <a:t>yt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이용해 </a:t>
            </a:r>
            <a:r>
              <a:rPr lang="en-US" altLang="ko-KR" dirty="0"/>
              <a:t>yt+1</a:t>
            </a:r>
            <a:r>
              <a:rPr lang="ko-KR" altLang="en-US" dirty="0"/>
              <a:t>을 구하고 </a:t>
            </a:r>
            <a:r>
              <a:rPr lang="en-US" altLang="ko-KR" dirty="0"/>
              <a:t>...</a:t>
            </a:r>
            <a:br>
              <a:rPr lang="en-US" altLang="ko-KR" dirty="0"/>
            </a:br>
            <a:r>
              <a:rPr lang="ko-KR" altLang="en-US" dirty="0"/>
              <a:t>따라서 </a:t>
            </a:r>
            <a:r>
              <a:rPr lang="en-US" altLang="ko-KR" dirty="0"/>
              <a:t>y0</a:t>
            </a:r>
            <a:r>
              <a:rPr lang="ko-KR" altLang="en-US" dirty="0"/>
              <a:t>부터 결과까지 구함</a:t>
            </a:r>
            <a:br>
              <a:rPr lang="en-US" altLang="ko-KR" dirty="0"/>
            </a:br>
            <a:r>
              <a:rPr lang="en-US" altLang="ko-KR" dirty="0"/>
              <a:t>5) </a:t>
            </a:r>
            <a:r>
              <a:rPr lang="ko-KR" altLang="en-US" dirty="0"/>
              <a:t>그 다음 각 초록색 값</a:t>
            </a:r>
            <a:r>
              <a:rPr lang="en-US" altLang="ko-KR" dirty="0"/>
              <a:t> </a:t>
            </a:r>
            <a:r>
              <a:rPr lang="ko-KR" altLang="en-US" dirty="0"/>
              <a:t>들이 가장 커야 하는데 틀림</a:t>
            </a:r>
            <a:br>
              <a:rPr lang="en-US" altLang="ko-KR" dirty="0"/>
            </a:br>
            <a:r>
              <a:rPr lang="en-US" altLang="ko-KR" dirty="0"/>
              <a:t>→ loss</a:t>
            </a:r>
            <a:r>
              <a:rPr lang="ko-KR" altLang="en-US" dirty="0"/>
              <a:t> 발생</a:t>
            </a:r>
            <a:r>
              <a:rPr lang="en-US" altLang="ko-KR" dirty="0"/>
              <a:t>, backpropagation</a:t>
            </a:r>
            <a:r>
              <a:rPr lang="ko-KR" altLang="en-US" dirty="0"/>
              <a:t>으로 </a:t>
            </a:r>
            <a:r>
              <a:rPr lang="en-US" altLang="ko-KR" dirty="0" err="1"/>
              <a:t>Whh</a:t>
            </a:r>
            <a:r>
              <a:rPr lang="en-US" altLang="ko-KR" dirty="0"/>
              <a:t>, </a:t>
            </a:r>
            <a:r>
              <a:rPr lang="en-US" altLang="ko-KR" dirty="0" err="1"/>
              <a:t>Wxh</a:t>
            </a:r>
            <a:r>
              <a:rPr lang="en-US" altLang="ko-KR" dirty="0"/>
              <a:t>, Why</a:t>
            </a:r>
            <a:r>
              <a:rPr lang="ko-KR" altLang="en-US" dirty="0"/>
              <a:t>를</a:t>
            </a:r>
            <a:br>
              <a:rPr lang="en-US" altLang="ko-KR" dirty="0"/>
            </a:br>
            <a:r>
              <a:rPr lang="ko-KR" altLang="en-US" dirty="0"/>
              <a:t>재조정 후 다시 학습</a:t>
            </a:r>
            <a:endParaRPr lang="en-US" altLang="ko-KR" dirty="0"/>
          </a:p>
          <a:p>
            <a:pPr lvl="2"/>
            <a:r>
              <a:rPr lang="ko-KR" altLang="en-US" dirty="0"/>
              <a:t>결과적으로 인간이 언어를 구사하는 것처럼</a:t>
            </a:r>
            <a:br>
              <a:rPr lang="en-US" altLang="ko-KR" dirty="0"/>
            </a:br>
            <a:r>
              <a:rPr lang="en-US" altLang="ko-KR" dirty="0"/>
              <a:t>RNN</a:t>
            </a:r>
            <a:r>
              <a:rPr lang="ko-KR" altLang="en-US" dirty="0"/>
              <a:t>모델도 수 많은 케이스 외우는 것 처럼 보임</a:t>
            </a:r>
            <a:endParaRPr lang="en-US" altLang="ko-KR" dirty="0"/>
          </a:p>
          <a:p>
            <a:pPr lvl="1"/>
            <a:r>
              <a:rPr lang="en-US" altLang="ko-KR" dirty="0"/>
              <a:t>Prediction </a:t>
            </a:r>
            <a:r>
              <a:rPr lang="ko-KR" altLang="en-US" dirty="0"/>
              <a:t>모델과 </a:t>
            </a:r>
            <a:r>
              <a:rPr lang="en-US" altLang="ko-KR" dirty="0"/>
              <a:t>Generative AI</a:t>
            </a:r>
            <a:r>
              <a:rPr lang="ko-KR" altLang="en-US" dirty="0"/>
              <a:t>의 차이점</a:t>
            </a:r>
            <a:endParaRPr lang="en-US" altLang="ko-KR" dirty="0"/>
          </a:p>
          <a:p>
            <a:pPr lvl="2"/>
            <a:r>
              <a:rPr lang="en-US" altLang="ko-KR" dirty="0"/>
              <a:t>Prediction : </a:t>
            </a:r>
            <a:r>
              <a:rPr lang="ko-KR" altLang="en-US" dirty="0"/>
              <a:t>학습한걸 대답</a:t>
            </a:r>
            <a:r>
              <a:rPr lang="en-US" altLang="ko-KR" dirty="0"/>
              <a:t>; </a:t>
            </a:r>
            <a:r>
              <a:rPr lang="ko-KR" altLang="en-US" dirty="0"/>
              <a:t>같은 </a:t>
            </a:r>
            <a:r>
              <a:rPr lang="en-US" altLang="ko-KR" dirty="0"/>
              <a:t>input?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같은 </a:t>
            </a:r>
            <a:r>
              <a:rPr lang="en-US" altLang="ko-KR" dirty="0"/>
              <a:t>output</a:t>
            </a:r>
          </a:p>
          <a:p>
            <a:pPr lvl="3"/>
            <a:r>
              <a:rPr lang="ko-KR" altLang="en-US" dirty="0" err="1"/>
              <a:t>캣독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뭘 줘도 </a:t>
            </a:r>
            <a:r>
              <a:rPr lang="ko-KR" altLang="en-US" dirty="0" err="1"/>
              <a:t>캣</a:t>
            </a:r>
            <a:r>
              <a:rPr lang="en-US" altLang="ko-KR" dirty="0"/>
              <a:t>/</a:t>
            </a:r>
            <a:r>
              <a:rPr lang="ko-KR" altLang="en-US" dirty="0"/>
              <a:t>독으로</a:t>
            </a:r>
            <a:r>
              <a:rPr lang="en-US" altLang="ko-KR" dirty="0"/>
              <a:t>, </a:t>
            </a:r>
            <a:r>
              <a:rPr lang="ko-KR" altLang="en-US" dirty="0"/>
              <a:t>연봉 </a:t>
            </a:r>
            <a:r>
              <a:rPr lang="en-US" altLang="ko-KR" dirty="0"/>
              <a:t>: (</a:t>
            </a:r>
            <a:r>
              <a:rPr lang="ko-KR" altLang="en-US" dirty="0"/>
              <a:t>연봉리스트 </a:t>
            </a:r>
            <a:r>
              <a:rPr lang="en-US" altLang="ko-KR" dirty="0"/>
              <a:t>→</a:t>
            </a:r>
            <a:br>
              <a:rPr lang="en-US" altLang="ko-KR" dirty="0"/>
            </a:br>
            <a:r>
              <a:rPr lang="ko-KR" altLang="en-US" dirty="0"/>
              <a:t>다음 연봉</a:t>
            </a:r>
            <a:r>
              <a:rPr lang="en-US" altLang="ko-KR" dirty="0"/>
              <a:t>?) → 10</a:t>
            </a:r>
            <a:r>
              <a:rPr lang="ko-KR" altLang="en-US" dirty="0"/>
              <a:t>명의 평균</a:t>
            </a:r>
            <a:endParaRPr lang="en-US" altLang="ko-KR" dirty="0"/>
          </a:p>
          <a:p>
            <a:pPr lvl="2"/>
            <a:r>
              <a:rPr lang="en-US" altLang="ko-KR" dirty="0"/>
              <a:t>Generative : </a:t>
            </a:r>
            <a:r>
              <a:rPr lang="ko-KR" altLang="en-US" dirty="0"/>
              <a:t>학습한</a:t>
            </a:r>
            <a:r>
              <a:rPr lang="en-US" altLang="ko-KR" dirty="0"/>
              <a:t> </a:t>
            </a:r>
            <a:r>
              <a:rPr lang="ko-KR" altLang="en-US" dirty="0"/>
              <a:t>대답</a:t>
            </a:r>
            <a:r>
              <a:rPr lang="en-US" altLang="ko-KR" dirty="0"/>
              <a:t>X; </a:t>
            </a:r>
            <a:r>
              <a:rPr lang="ko-KR" altLang="en-US" dirty="0"/>
              <a:t>학습</a:t>
            </a:r>
            <a:r>
              <a:rPr lang="en-US" altLang="ko-KR" dirty="0"/>
              <a:t> </a:t>
            </a:r>
            <a:r>
              <a:rPr lang="ko-KR" altLang="en-US" dirty="0"/>
              <a:t>분포</a:t>
            </a:r>
            <a:r>
              <a:rPr lang="en-US" altLang="ko-KR" dirty="0"/>
              <a:t>→</a:t>
            </a:r>
            <a:r>
              <a:rPr lang="ko-KR" altLang="en-US" dirty="0" err="1"/>
              <a:t>새로운걸</a:t>
            </a:r>
            <a:r>
              <a:rPr lang="ko-KR" altLang="en-US" dirty="0"/>
              <a:t> 생성</a:t>
            </a:r>
            <a:r>
              <a:rPr lang="en-US" altLang="ko-KR" dirty="0"/>
              <a:t>; </a:t>
            </a:r>
            <a:r>
              <a:rPr lang="ko-KR" altLang="en-US" dirty="0"/>
              <a:t>같은 </a:t>
            </a:r>
            <a:r>
              <a:rPr lang="en-US" altLang="ko-KR" dirty="0"/>
              <a:t>input?→</a:t>
            </a:r>
            <a:r>
              <a:rPr lang="ko-KR" altLang="en-US" dirty="0"/>
              <a:t>다른 </a:t>
            </a:r>
            <a:r>
              <a:rPr lang="en-US" altLang="ko-KR" dirty="0"/>
              <a:t>output</a:t>
            </a:r>
          </a:p>
          <a:p>
            <a:pPr lvl="3"/>
            <a:r>
              <a:rPr lang="ko-KR" altLang="en-US" dirty="0" err="1"/>
              <a:t>캣독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캣</a:t>
            </a:r>
            <a:r>
              <a:rPr lang="en-US" altLang="ko-KR" dirty="0"/>
              <a:t>/</a:t>
            </a:r>
            <a:r>
              <a:rPr lang="ko-KR" altLang="en-US" dirty="0"/>
              <a:t>독 </a:t>
            </a:r>
            <a:r>
              <a:rPr lang="ko-KR" altLang="en-US" dirty="0" err="1"/>
              <a:t>아닐수도</a:t>
            </a:r>
            <a:r>
              <a:rPr lang="en-US" altLang="ko-KR" dirty="0"/>
              <a:t>?; </a:t>
            </a:r>
            <a:r>
              <a:rPr lang="ko-KR" altLang="en-US" dirty="0"/>
              <a:t>연봉 </a:t>
            </a:r>
            <a:r>
              <a:rPr lang="en-US" altLang="ko-KR" dirty="0"/>
              <a:t>: </a:t>
            </a:r>
            <a:r>
              <a:rPr lang="ko-KR" altLang="en-US" dirty="0"/>
              <a:t>이런 조건의 연봉도 있음 </a:t>
            </a:r>
            <a:r>
              <a:rPr lang="en-US" altLang="ko-KR" dirty="0"/>
              <a:t>→ </a:t>
            </a:r>
            <a:r>
              <a:rPr lang="ko-KR" altLang="en-US" dirty="0" err="1"/>
              <a:t>동일값을</a:t>
            </a:r>
            <a:r>
              <a:rPr lang="ko-KR" altLang="en-US" dirty="0"/>
              <a:t> 줘도 </a:t>
            </a:r>
            <a:r>
              <a:rPr lang="ko-KR" altLang="en-US" dirty="0" err="1"/>
              <a:t>다른값</a:t>
            </a:r>
            <a:endParaRPr lang="en-US" altLang="ko-KR" dirty="0"/>
          </a:p>
          <a:p>
            <a:pPr lvl="1"/>
            <a:r>
              <a:rPr lang="en-US" altLang="ko-KR" dirty="0" err="1"/>
              <a:t>TimeDistributed</a:t>
            </a:r>
            <a:r>
              <a:rPr lang="en-US" altLang="ko-KR" dirty="0"/>
              <a:t>()</a:t>
            </a:r>
          </a:p>
          <a:p>
            <a:pPr lvl="2"/>
            <a:r>
              <a:rPr lang="en-US" altLang="ko-KR" dirty="0"/>
              <a:t>RNN</a:t>
            </a:r>
            <a:r>
              <a:rPr lang="ko-KR" altLang="en-US" dirty="0"/>
              <a:t> </a:t>
            </a:r>
            <a:r>
              <a:rPr lang="ko-KR" altLang="en-US" dirty="0" err="1"/>
              <a:t>출력시</a:t>
            </a:r>
            <a:r>
              <a:rPr lang="ko-KR" altLang="en-US" dirty="0"/>
              <a:t> 모든 </a:t>
            </a:r>
            <a:r>
              <a:rPr lang="en-US" altLang="ko-KR" dirty="0"/>
              <a:t>output</a:t>
            </a:r>
            <a:r>
              <a:rPr lang="ko-KR" altLang="en-US" dirty="0"/>
              <a:t>을 반영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many to many</a:t>
            </a:r>
            <a:r>
              <a:rPr lang="ko-KR" altLang="en-US" dirty="0"/>
              <a:t> 출력</a:t>
            </a:r>
            <a:r>
              <a:rPr lang="en-US" altLang="ko-KR" dirty="0"/>
              <a:t>. (</a:t>
            </a:r>
            <a:r>
              <a:rPr lang="ko-KR" altLang="en-US" dirty="0" err="1"/>
              <a:t>앞틀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, </a:t>
            </a:r>
            <a:r>
              <a:rPr lang="ko-KR" altLang="en-US" dirty="0"/>
              <a:t>뒤틀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↔ </a:t>
            </a:r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one</a:t>
            </a:r>
            <a:r>
              <a:rPr lang="ko-KR" altLang="en-US" dirty="0"/>
              <a:t> 방식 </a:t>
            </a:r>
            <a:r>
              <a:rPr lang="en-US" altLang="ko-KR" dirty="0"/>
              <a:t>: </a:t>
            </a:r>
            <a:r>
              <a:rPr lang="ko-KR" altLang="en-US" dirty="0"/>
              <a:t>마지막 </a:t>
            </a:r>
            <a:r>
              <a:rPr lang="en-US" altLang="ko-KR" dirty="0"/>
              <a:t>output </a:t>
            </a:r>
            <a:r>
              <a:rPr lang="ko-KR" altLang="en-US" dirty="0"/>
              <a:t>결과만 중요 </a:t>
            </a:r>
            <a:r>
              <a:rPr lang="en-US" altLang="ko-KR" dirty="0"/>
              <a:t>(</a:t>
            </a:r>
            <a:r>
              <a:rPr lang="ko-KR" altLang="en-US" dirty="0" err="1"/>
              <a:t>앞틀</a:t>
            </a:r>
            <a:r>
              <a:rPr lang="en-US" altLang="ko-KR" dirty="0"/>
              <a:t>? X, </a:t>
            </a:r>
            <a:r>
              <a:rPr lang="ko-KR" altLang="en-US" dirty="0"/>
              <a:t>뒤틀</a:t>
            </a:r>
            <a:r>
              <a:rPr lang="en-US" altLang="ko-KR" dirty="0"/>
              <a:t>? </a:t>
            </a:r>
            <a:r>
              <a:rPr lang="ko-KR" altLang="en-US" dirty="0"/>
              <a:t>중요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A47D5D-CDDD-E605-3868-49AB214AAAB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Time series Forecasting : </a:t>
            </a:r>
            <a:r>
              <a:rPr lang="ko-KR" altLang="en-US" dirty="0"/>
              <a:t>시간</a:t>
            </a:r>
            <a:r>
              <a:rPr lang="en-US" altLang="ko-KR" dirty="0"/>
              <a:t>O</a:t>
            </a:r>
            <a:r>
              <a:rPr lang="ko-KR" altLang="en-US" dirty="0"/>
              <a:t>순서 데이터</a:t>
            </a:r>
            <a:r>
              <a:rPr lang="en-US" altLang="ko-KR" dirty="0"/>
              <a:t>→</a:t>
            </a:r>
            <a:r>
              <a:rPr lang="ko-KR" altLang="en-US" dirty="0"/>
              <a:t>미래예측 </a:t>
            </a:r>
            <a:r>
              <a:rPr lang="en-US" altLang="ko-KR" dirty="0"/>
              <a:t>// AR : t</a:t>
            </a:r>
            <a:r>
              <a:rPr lang="ko-KR" altLang="en-US" dirty="0"/>
              <a:t>시점 값</a:t>
            </a:r>
            <a:r>
              <a:rPr lang="en-US" altLang="ko-KR" dirty="0"/>
              <a:t>→ t-1</a:t>
            </a:r>
            <a:r>
              <a:rPr lang="ko-KR" altLang="en-US" dirty="0"/>
              <a:t>시점 값에 영향</a:t>
            </a:r>
            <a:endParaRPr lang="en-US" altLang="ko-KR" dirty="0"/>
          </a:p>
          <a:p>
            <a:r>
              <a:rPr lang="en-US" altLang="ko-KR" dirty="0"/>
              <a:t>RNN : </a:t>
            </a:r>
            <a:r>
              <a:rPr lang="ko-KR" altLang="en-US" dirty="0"/>
              <a:t>과거정보</a:t>
            </a:r>
            <a:r>
              <a:rPr lang="en-US" altLang="ko-KR" dirty="0"/>
              <a:t>(h_(t-1))→ </a:t>
            </a:r>
            <a:r>
              <a:rPr lang="ko-KR" altLang="en-US" dirty="0"/>
              <a:t>현재상태</a:t>
            </a:r>
            <a:r>
              <a:rPr lang="en-US" altLang="ko-KR" dirty="0"/>
              <a:t> </a:t>
            </a:r>
            <a:r>
              <a:rPr lang="ko-KR" altLang="en-US" dirty="0"/>
              <a:t>결정 영향</a:t>
            </a:r>
            <a:r>
              <a:rPr lang="en-US" altLang="ko-KR" dirty="0"/>
              <a:t>. </a:t>
            </a:r>
            <a:r>
              <a:rPr lang="en-US" altLang="ko-KR" dirty="0" err="1"/>
              <a:t>h_t</a:t>
            </a:r>
            <a:r>
              <a:rPr lang="en-US" altLang="ko-KR" dirty="0"/>
              <a:t>=f(h_(t-1),</a:t>
            </a:r>
            <a:r>
              <a:rPr lang="en-US" altLang="ko-KR" dirty="0" err="1"/>
              <a:t>x_t</a:t>
            </a:r>
            <a:r>
              <a:rPr lang="en-US" altLang="ko-KR" dirty="0"/>
              <a:t>) = tanh(</a:t>
            </a:r>
            <a:r>
              <a:rPr lang="en-US" altLang="ko-KR" dirty="0" err="1"/>
              <a:t>W_hh</a:t>
            </a:r>
            <a:r>
              <a:rPr lang="en-US" altLang="ko-KR" dirty="0"/>
              <a:t>*h_(t-1)+</a:t>
            </a:r>
            <a:r>
              <a:rPr lang="en-US" altLang="ko-KR" dirty="0" err="1"/>
              <a:t>W_xh</a:t>
            </a:r>
            <a:r>
              <a:rPr lang="en-US" altLang="ko-KR" dirty="0"/>
              <a:t>*</a:t>
            </a:r>
            <a:r>
              <a:rPr lang="en-US" altLang="ko-KR" dirty="0" err="1"/>
              <a:t>x_t</a:t>
            </a:r>
            <a:r>
              <a:rPr lang="en-US" altLang="ko-KR" dirty="0"/>
              <a:t>); Y_(t-1)…Y_0</a:t>
            </a:r>
            <a:r>
              <a:rPr lang="ko-KR" altLang="en-US" dirty="0"/>
              <a:t>순</a:t>
            </a:r>
            <a:endParaRPr lang="en-US" altLang="ko-KR" dirty="0"/>
          </a:p>
          <a:p>
            <a:r>
              <a:rPr lang="en-US" altLang="ko-KR" dirty="0"/>
              <a:t>Char CNN </a:t>
            </a:r>
            <a:r>
              <a:rPr lang="ko-KR" altLang="en-US" dirty="0"/>
              <a:t>과정 </a:t>
            </a:r>
            <a:r>
              <a:rPr lang="en-US" altLang="ko-KR" dirty="0"/>
              <a:t>: (OHE)→h_0</a:t>
            </a:r>
            <a:r>
              <a:rPr lang="ko-KR" altLang="en-US" dirty="0"/>
              <a:t>난수</a:t>
            </a:r>
            <a:r>
              <a:rPr lang="en-US" altLang="ko-KR" dirty="0"/>
              <a:t>→(</a:t>
            </a:r>
            <a:r>
              <a:rPr lang="en-US" altLang="ko-KR" dirty="0" err="1"/>
              <a:t>h_t→y_t</a:t>
            </a:r>
            <a:r>
              <a:rPr lang="en-US" altLang="ko-KR" dirty="0"/>
              <a:t>=</a:t>
            </a:r>
            <a:r>
              <a:rPr lang="en-US" altLang="ko-KR" dirty="0" err="1"/>
              <a:t>W_hy</a:t>
            </a:r>
            <a:r>
              <a:rPr lang="en-US" altLang="ko-KR" dirty="0"/>
              <a:t>*</a:t>
            </a:r>
            <a:r>
              <a:rPr lang="en-US" altLang="ko-KR" dirty="0" err="1"/>
              <a:t>h_t</a:t>
            </a:r>
            <a:r>
              <a:rPr lang="en-US" altLang="ko-KR" dirty="0"/>
              <a:t>)→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각 </a:t>
            </a:r>
            <a:r>
              <a:rPr lang="en-US" altLang="ko-KR" dirty="0"/>
              <a:t>output layer</a:t>
            </a:r>
            <a:r>
              <a:rPr lang="ko-KR" altLang="en-US" dirty="0"/>
              <a:t>의 </a:t>
            </a:r>
            <a:r>
              <a:rPr lang="en-US" altLang="ko-KR" dirty="0"/>
              <a:t>loss</a:t>
            </a:r>
            <a:r>
              <a:rPr lang="ko-KR" altLang="en-US" dirty="0"/>
              <a:t>를 </a:t>
            </a:r>
            <a:r>
              <a:rPr lang="en-US" altLang="ko-KR" dirty="0"/>
              <a:t>BP</a:t>
            </a:r>
            <a:r>
              <a:rPr lang="ko-KR" altLang="en-US" dirty="0"/>
              <a:t>로 조정</a:t>
            </a:r>
            <a:endParaRPr lang="en-US" altLang="ko-KR" dirty="0"/>
          </a:p>
          <a:p>
            <a:r>
              <a:rPr lang="en-US" altLang="ko-KR" dirty="0"/>
              <a:t>Prediction vs</a:t>
            </a:r>
            <a:r>
              <a:rPr lang="ko-KR" altLang="en-US" dirty="0"/>
              <a:t> </a:t>
            </a:r>
            <a:r>
              <a:rPr lang="en-US" altLang="ko-KR" dirty="0"/>
              <a:t>Generative : prediction : </a:t>
            </a:r>
            <a:r>
              <a:rPr lang="ko-KR" altLang="en-US" dirty="0"/>
              <a:t>학습한 대답</a:t>
            </a:r>
            <a:r>
              <a:rPr lang="en-US" altLang="ko-KR" dirty="0"/>
              <a:t>. </a:t>
            </a:r>
            <a:r>
              <a:rPr lang="ko-KR" altLang="en-US" dirty="0" err="1"/>
              <a:t>같</a:t>
            </a:r>
            <a:r>
              <a:rPr lang="en-US" altLang="ko-KR" dirty="0"/>
              <a:t>I→</a:t>
            </a:r>
            <a:r>
              <a:rPr lang="ko-KR" altLang="en-US" dirty="0" err="1"/>
              <a:t>같</a:t>
            </a:r>
            <a:r>
              <a:rPr lang="en-US" altLang="ko-KR" dirty="0"/>
              <a:t>O, GAI : </a:t>
            </a:r>
            <a:r>
              <a:rPr lang="ko-KR" altLang="en-US" dirty="0"/>
              <a:t>학 대답</a:t>
            </a:r>
            <a:r>
              <a:rPr lang="en-US" altLang="ko-KR" dirty="0"/>
              <a:t>X, </a:t>
            </a:r>
            <a:r>
              <a:rPr lang="ko-KR" altLang="en-US" dirty="0"/>
              <a:t>분포</a:t>
            </a:r>
            <a:r>
              <a:rPr lang="en-US" altLang="ko-KR" dirty="0"/>
              <a:t>→</a:t>
            </a:r>
            <a:r>
              <a:rPr lang="ko-KR" altLang="en-US" dirty="0"/>
              <a:t>새 생성</a:t>
            </a:r>
            <a:r>
              <a:rPr lang="en-US" altLang="ko-KR" dirty="0"/>
              <a:t>. </a:t>
            </a:r>
            <a:r>
              <a:rPr lang="ko-KR" altLang="en-US" dirty="0" err="1"/>
              <a:t>같</a:t>
            </a:r>
            <a:r>
              <a:rPr lang="en-US" altLang="ko-KR" dirty="0"/>
              <a:t>I→</a:t>
            </a:r>
            <a:r>
              <a:rPr lang="ko-KR" altLang="en-US" dirty="0"/>
              <a:t>다</a:t>
            </a:r>
            <a:r>
              <a:rPr lang="en-US" altLang="ko-KR" dirty="0"/>
              <a:t>O</a:t>
            </a:r>
          </a:p>
          <a:p>
            <a:r>
              <a:rPr lang="en-US" altLang="ko-KR" dirty="0" err="1"/>
              <a:t>TimeDIstributed</a:t>
            </a:r>
            <a:r>
              <a:rPr lang="en-US" altLang="ko-KR" dirty="0"/>
              <a:t>() : RNN</a:t>
            </a:r>
            <a:r>
              <a:rPr lang="ko-KR" altLang="en-US" dirty="0"/>
              <a:t> 출</a:t>
            </a:r>
            <a:r>
              <a:rPr lang="en-US" altLang="ko-KR" dirty="0"/>
              <a:t>→ </a:t>
            </a:r>
            <a:r>
              <a:rPr lang="ko-KR" altLang="en-US" dirty="0"/>
              <a:t>모든 </a:t>
            </a:r>
            <a:r>
              <a:rPr lang="en-US" altLang="ko-KR" dirty="0"/>
              <a:t>Output </a:t>
            </a:r>
            <a:r>
              <a:rPr lang="ko-KR" altLang="en-US" dirty="0"/>
              <a:t>반영</a:t>
            </a:r>
            <a:r>
              <a:rPr lang="en-US" altLang="ko-KR" dirty="0"/>
              <a:t>. Many</a:t>
            </a:r>
            <a:r>
              <a:rPr lang="ko-KR" altLang="en-US" dirty="0"/>
              <a:t> </a:t>
            </a:r>
            <a:r>
              <a:rPr lang="en-US" altLang="ko-KR" dirty="0"/>
              <a:t>to many </a:t>
            </a:r>
            <a:r>
              <a:rPr lang="ko-KR" altLang="en-US" dirty="0"/>
              <a:t>↔ </a:t>
            </a:r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 one : </a:t>
            </a:r>
            <a:r>
              <a:rPr lang="ko-KR" altLang="en-US" dirty="0"/>
              <a:t>마지막 </a:t>
            </a:r>
            <a:r>
              <a:rPr lang="en-US" altLang="ko-KR" dirty="0"/>
              <a:t>output</a:t>
            </a:r>
            <a:r>
              <a:rPr lang="ko-KR" altLang="en-US" dirty="0"/>
              <a:t>만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05F350-8DE2-0F06-5790-754F10E63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458" y="704528"/>
            <a:ext cx="1282917" cy="4352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33F7487-D3E6-B3D1-6B3C-16062E5E0D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5117" y="3537418"/>
            <a:ext cx="2157134" cy="10478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1BA180E-8270-71D4-BC46-02929F6B6F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5517" y="4618030"/>
            <a:ext cx="2586080" cy="5150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1A772A1-1865-082B-2CA9-5D1268F7657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9311" y="2247428"/>
            <a:ext cx="2592286" cy="84907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AD6C781-A8D2-C5F9-ABEA-7F77C734EB2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0837" y="5245448"/>
            <a:ext cx="1820760" cy="146729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7B552D2-786A-2921-8470-30D792F117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283" y="5117234"/>
            <a:ext cx="1612964" cy="15264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75BA333-1E27-6CC1-8B25-91EE1100C0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6283" y="3465410"/>
            <a:ext cx="425196" cy="4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1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F49958-D75D-6B13-018E-D4C075C14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A3D3E3F-3D1F-DCAB-3D64-4DD76ED4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RNN(</a:t>
            </a:r>
            <a:r>
              <a:rPr lang="ko-KR" altLang="en-US" dirty="0"/>
              <a:t>계속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CD1A1A-C80F-D5FC-8769-FF7462F35D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02F2FB-FD7A-F696-6B9A-B5D9C493E7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 one RNN</a:t>
            </a:r>
          </a:p>
          <a:p>
            <a:pPr lvl="1"/>
            <a:r>
              <a:rPr lang="ko-KR" altLang="en-US" dirty="0" err="1"/>
              <a:t>입력시</a:t>
            </a:r>
            <a:r>
              <a:rPr lang="ko-KR" altLang="en-US" dirty="0"/>
              <a:t> 발생하는 문제 </a:t>
            </a:r>
            <a:r>
              <a:rPr lang="en-US" altLang="ko-KR" dirty="0"/>
              <a:t>: </a:t>
            </a:r>
            <a:r>
              <a:rPr lang="en-US" altLang="ko-KR" dirty="0" err="1"/>
              <a:t>g,o,o,d</a:t>
            </a:r>
            <a:r>
              <a:rPr lang="en-US" altLang="ko-KR" dirty="0"/>
              <a:t> → 1; </a:t>
            </a:r>
            <a:r>
              <a:rPr lang="en-US" altLang="ko-KR" dirty="0" err="1"/>
              <a:t>b,a,d</a:t>
            </a:r>
            <a:r>
              <a:rPr lang="en-US" altLang="ko-KR" dirty="0"/>
              <a:t> → 0, </a:t>
            </a:r>
            <a:r>
              <a:rPr lang="en-US" altLang="ko-KR" dirty="0" err="1"/>
              <a:t>w,o,r,s,e</a:t>
            </a:r>
            <a:r>
              <a:rPr lang="en-US" altLang="ko-KR" dirty="0"/>
              <a:t> → 0, </a:t>
            </a:r>
            <a:r>
              <a:rPr lang="en-US" altLang="ko-KR" dirty="0" err="1"/>
              <a:t>s,o</a:t>
            </a:r>
            <a:r>
              <a:rPr lang="en-US" altLang="ko-KR" dirty="0"/>
              <a:t>, ,</a:t>
            </a:r>
            <a:r>
              <a:rPr lang="en-US" altLang="ko-KR" dirty="0" err="1"/>
              <a:t>g,o,o,d</a:t>
            </a:r>
            <a:r>
              <a:rPr lang="en-US" altLang="ko-KR" dirty="0"/>
              <a:t> → 1;</a:t>
            </a:r>
            <a:br>
              <a:rPr lang="en-US" altLang="ko-KR" dirty="0"/>
            </a:br>
            <a:r>
              <a:rPr lang="ko-KR" altLang="en-US" dirty="0"/>
              <a:t>문제점</a:t>
            </a:r>
            <a:r>
              <a:rPr lang="en-US" altLang="ko-KR" dirty="0"/>
              <a:t>? </a:t>
            </a:r>
            <a:r>
              <a:rPr lang="en-US" altLang="ko-KR" dirty="0" err="1"/>
              <a:t>x_data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길이가 다르다</a:t>
            </a:r>
            <a:r>
              <a:rPr lang="en-US" altLang="ko-KR" dirty="0"/>
              <a:t>. → padding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en-US" altLang="ko-KR" dirty="0" err="1"/>
              <a:t>X_data</a:t>
            </a:r>
            <a:r>
              <a:rPr lang="ko-KR" altLang="en-US" dirty="0"/>
              <a:t>가 </a:t>
            </a:r>
            <a:r>
              <a:rPr lang="ko-KR" altLang="en-US" dirty="0" err="1"/>
              <a:t>긴게</a:t>
            </a:r>
            <a:r>
              <a:rPr lang="ko-KR" altLang="en-US" dirty="0"/>
              <a:t> 들어올 수</a:t>
            </a:r>
            <a:br>
              <a:rPr lang="en-US" altLang="ko-KR" dirty="0"/>
            </a:br>
            <a:r>
              <a:rPr lang="ko-KR" altLang="en-US" dirty="0"/>
              <a:t>있으니 일단 </a:t>
            </a:r>
            <a:r>
              <a:rPr lang="en-US" altLang="ko-KR" dirty="0"/>
              <a:t>10</a:t>
            </a:r>
            <a:r>
              <a:rPr lang="ko-KR" altLang="en-US" dirty="0"/>
              <a:t>칸을 </a:t>
            </a:r>
            <a:r>
              <a:rPr lang="ko-KR" altLang="en-US" dirty="0" err="1"/>
              <a:t>비워둠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나중에 </a:t>
            </a:r>
            <a:r>
              <a:rPr lang="en-US" altLang="ko-KR" dirty="0"/>
              <a:t>one hot</a:t>
            </a:r>
            <a:br>
              <a:rPr lang="en-US" altLang="ko-KR" dirty="0"/>
            </a:br>
            <a:r>
              <a:rPr lang="en-US" altLang="ko-KR" dirty="0"/>
              <a:t>encoding. </a:t>
            </a:r>
            <a:r>
              <a:rPr lang="ko-KR" altLang="en-US" dirty="0"/>
              <a:t>단</a:t>
            </a:r>
            <a:r>
              <a:rPr lang="en-US" altLang="ko-KR" dirty="0"/>
              <a:t>, 6774000000</a:t>
            </a:r>
            <a:r>
              <a:rPr lang="ko-KR" altLang="en-US" dirty="0"/>
              <a:t>에서 </a:t>
            </a:r>
            <a:r>
              <a:rPr lang="en-US" altLang="ko-KR" dirty="0"/>
              <a:t>6 </a:t>
            </a:r>
            <a:r>
              <a:rPr lang="ko-KR" altLang="en-US" dirty="0"/>
              <a:t>자체도 </a:t>
            </a:r>
            <a:r>
              <a:rPr lang="en-US" altLang="ko-KR" dirty="0"/>
              <a:t>one hot</a:t>
            </a:r>
            <a:br>
              <a:rPr lang="en-US" altLang="ko-KR" dirty="0"/>
            </a:br>
            <a:r>
              <a:rPr lang="en-US" altLang="ko-KR" dirty="0"/>
              <a:t>encoding</a:t>
            </a:r>
            <a:r>
              <a:rPr lang="ko-KR" altLang="en-US" dirty="0"/>
              <a:t>으로 </a:t>
            </a:r>
            <a:r>
              <a:rPr lang="en-US" altLang="ko-KR" dirty="0"/>
              <a:t>10</a:t>
            </a:r>
            <a:r>
              <a:rPr lang="ko-KR" altLang="en-US" dirty="0"/>
              <a:t>차원 벡터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6774000000</a:t>
            </a:r>
            <a:r>
              <a:rPr lang="ko-KR" altLang="en-US" dirty="0"/>
              <a:t>은</a:t>
            </a:r>
            <a:br>
              <a:rPr lang="en-US" altLang="ko-KR" dirty="0"/>
            </a:br>
            <a:r>
              <a:rPr lang="en-US" altLang="ko-KR" dirty="0"/>
              <a:t>10 * 10 </a:t>
            </a:r>
            <a:r>
              <a:rPr lang="ko-KR" altLang="en-US" dirty="0" err="1"/>
              <a:t>짜리</a:t>
            </a:r>
            <a:r>
              <a:rPr lang="ko-KR" altLang="en-US" dirty="0"/>
              <a:t> 행렬</a:t>
            </a:r>
            <a:endParaRPr lang="en-US" altLang="ko-KR" dirty="0"/>
          </a:p>
          <a:p>
            <a:pPr lvl="1"/>
            <a:r>
              <a:rPr lang="ko-KR" altLang="en-US" dirty="0"/>
              <a:t>축소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: one</a:t>
            </a:r>
            <a:r>
              <a:rPr lang="ko-KR" altLang="en-US" dirty="0"/>
              <a:t> </a:t>
            </a:r>
            <a:r>
              <a:rPr lang="en-US" altLang="ko-KR" dirty="0"/>
              <a:t>hot</a:t>
            </a:r>
            <a:r>
              <a:rPr lang="ko-KR" altLang="en-US" dirty="0"/>
              <a:t> </a:t>
            </a:r>
            <a:r>
              <a:rPr lang="en-US" altLang="ko-KR" dirty="0"/>
              <a:t>encoding</a:t>
            </a:r>
            <a:r>
              <a:rPr lang="ko-KR" altLang="en-US" dirty="0"/>
              <a:t>의 차원을 줄여</a:t>
            </a:r>
            <a:br>
              <a:rPr lang="en-US" altLang="ko-KR" dirty="0"/>
            </a:br>
            <a:r>
              <a:rPr lang="ko-KR" altLang="en-US" dirty="0"/>
              <a:t>차원의 저주</a:t>
            </a:r>
            <a:r>
              <a:rPr lang="en-US" altLang="ko-KR" dirty="0"/>
              <a:t>(=</a:t>
            </a:r>
            <a:r>
              <a:rPr lang="ko-KR" altLang="en-US" dirty="0"/>
              <a:t>입력 차원↑↑</a:t>
            </a:r>
            <a:r>
              <a:rPr lang="en-US" altLang="ko-KR" dirty="0"/>
              <a:t>,</a:t>
            </a:r>
            <a:r>
              <a:rPr lang="ko-KR" altLang="en-US" dirty="0"/>
              <a:t> 계산 효율성</a:t>
            </a:r>
            <a:r>
              <a:rPr lang="en-US" altLang="ko-KR" dirty="0"/>
              <a:t>/</a:t>
            </a:r>
            <a:r>
              <a:rPr lang="ko-KR" altLang="en-US" dirty="0"/>
              <a:t>성능↓</a:t>
            </a:r>
            <a:r>
              <a:rPr lang="en-US" altLang="ko-KR" dirty="0"/>
              <a:t>) </a:t>
            </a:r>
            <a:r>
              <a:rPr lang="ko-KR" altLang="en-US" dirty="0"/>
              <a:t>해결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→ </a:t>
            </a:r>
            <a:r>
              <a:rPr lang="ko-KR" altLang="en-US" dirty="0"/>
              <a:t>적은 차원으로 단어 표현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비슷한</a:t>
            </a:r>
            <a:r>
              <a:rPr lang="en-US" altLang="ko-KR" dirty="0"/>
              <a:t> </a:t>
            </a:r>
            <a:r>
              <a:rPr lang="ko-KR" altLang="en-US" dirty="0"/>
              <a:t>의미 문장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둘간 유사도 </a:t>
            </a:r>
            <a:r>
              <a:rPr lang="en-US" altLang="ko-KR" dirty="0"/>
              <a:t>1</a:t>
            </a:r>
            <a:r>
              <a:rPr lang="ko-KR" altLang="en-US" dirty="0"/>
              <a:t>에</a:t>
            </a:r>
            <a:br>
              <a:rPr lang="en-US" altLang="ko-KR" dirty="0"/>
            </a:br>
            <a:r>
              <a:rPr lang="ko-KR" altLang="en-US" dirty="0"/>
              <a:t> 가까움</a:t>
            </a:r>
            <a:r>
              <a:rPr lang="en-US" altLang="ko-KR" dirty="0"/>
              <a:t> (one-hot-encoding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비슷한 단어들</a:t>
            </a:r>
            <a:br>
              <a:rPr lang="en-US" altLang="ko-KR" dirty="0"/>
            </a:br>
            <a:r>
              <a:rPr lang="ko-KR" altLang="en-US" dirty="0"/>
              <a:t> 서로 다른 취급 </a:t>
            </a:r>
            <a:r>
              <a:rPr lang="en-US" altLang="ko-KR" dirty="0"/>
              <a:t>-(</a:t>
            </a:r>
            <a:r>
              <a:rPr lang="ko-KR" altLang="en-US" dirty="0" err="1"/>
              <a:t>임베딩</a:t>
            </a:r>
            <a:r>
              <a:rPr lang="en-US" altLang="ko-KR" dirty="0"/>
              <a:t>)&gt; </a:t>
            </a:r>
            <a:r>
              <a:rPr lang="ko-KR" altLang="en-US" dirty="0"/>
              <a:t>유사도 </a:t>
            </a:r>
            <a:r>
              <a:rPr lang="en-US" altLang="ko-KR" dirty="0"/>
              <a:t>1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r>
              <a:rPr lang="en-US" altLang="ko-KR" dirty="0"/>
              <a:t>), </a:t>
            </a:r>
            <a:r>
              <a:rPr lang="ko-KR" altLang="en-US" dirty="0" err="1"/>
              <a:t>임베딩</a:t>
            </a:r>
            <a:r>
              <a:rPr lang="ko-KR" altLang="en-US" dirty="0"/>
              <a:t> 벡터간 코사인 유사도가 높기 때문</a:t>
            </a:r>
            <a:r>
              <a:rPr lang="en-US" altLang="ko-KR" dirty="0"/>
              <a:t>. </a:t>
            </a:r>
            <a:r>
              <a:rPr lang="ko-KR" altLang="en-US" dirty="0"/>
              <a:t>모델이 단어간 의미적 관계</a:t>
            </a:r>
            <a:r>
              <a:rPr lang="en-US" altLang="ko-KR" dirty="0"/>
              <a:t>/</a:t>
            </a:r>
            <a:r>
              <a:rPr lang="ko-KR" altLang="en-US" dirty="0"/>
              <a:t>유사성 인지 </a:t>
            </a:r>
            <a:r>
              <a:rPr lang="en-US" altLang="ko-KR" dirty="0"/>
              <a:t>OK</a:t>
            </a:r>
          </a:p>
          <a:p>
            <a:pPr lvl="2"/>
            <a:r>
              <a:rPr lang="ko-KR" altLang="en-US" dirty="0"/>
              <a:t>구현방법 </a:t>
            </a:r>
            <a:r>
              <a:rPr lang="en-US" altLang="ko-KR" dirty="0"/>
              <a:t>: (CBOW)</a:t>
            </a:r>
            <a:r>
              <a:rPr lang="ko-KR" altLang="en-US" dirty="0"/>
              <a:t>특정단어</a:t>
            </a:r>
            <a:r>
              <a:rPr lang="en-US" altLang="ko-KR" dirty="0"/>
              <a:t>→</a:t>
            </a:r>
            <a:r>
              <a:rPr lang="ko-KR" altLang="en-US" dirty="0"/>
              <a:t>주변단어 예측</a:t>
            </a:r>
            <a:r>
              <a:rPr lang="en-US" altLang="ko-KR" dirty="0"/>
              <a:t>,(skip-gram)</a:t>
            </a:r>
            <a:r>
              <a:rPr lang="ko-KR" altLang="en-US" dirty="0"/>
              <a:t>주변단어</a:t>
            </a:r>
            <a:r>
              <a:rPr lang="en-US" altLang="ko-KR" dirty="0"/>
              <a:t>→</a:t>
            </a:r>
            <a:r>
              <a:rPr lang="ko-KR" altLang="en-US" dirty="0"/>
              <a:t>특정단어 예측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오토인코더</a:t>
            </a:r>
            <a:r>
              <a:rPr lang="ko-KR" altLang="en-US" dirty="0"/>
              <a:t> 기반</a:t>
            </a:r>
            <a:r>
              <a:rPr lang="en-US" altLang="ko-KR" dirty="0"/>
              <a:t>) AE </a:t>
            </a:r>
            <a:r>
              <a:rPr lang="ko-KR" altLang="en-US" dirty="0"/>
              <a:t>모델 중간의 </a:t>
            </a:r>
            <a:r>
              <a:rPr lang="ko-KR" altLang="en-US" dirty="0" err="1"/>
              <a:t>프로젝션</a:t>
            </a:r>
            <a:r>
              <a:rPr lang="ko-KR" altLang="en-US" dirty="0"/>
              <a:t> 벡터</a:t>
            </a:r>
            <a:r>
              <a:rPr lang="en-US" altLang="ko-KR" dirty="0"/>
              <a:t>(</a:t>
            </a:r>
            <a:r>
              <a:rPr lang="ko-KR" altLang="en-US" dirty="0"/>
              <a:t>잠재공간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dirty="0" err="1"/>
              <a:t>임베딩</a:t>
            </a:r>
            <a:r>
              <a:rPr lang="ko-KR" altLang="en-US" dirty="0"/>
              <a:t> 벡터로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ex) AE : </a:t>
            </a:r>
            <a:r>
              <a:rPr lang="ko-KR" altLang="en-US" dirty="0"/>
              <a:t>개</a:t>
            </a:r>
            <a:r>
              <a:rPr lang="en-US" altLang="ko-KR" dirty="0"/>
              <a:t> → </a:t>
            </a:r>
            <a:r>
              <a:rPr lang="ko-KR" altLang="en-US" dirty="0"/>
              <a:t>개</a:t>
            </a:r>
            <a:r>
              <a:rPr lang="en-US" altLang="ko-KR" dirty="0"/>
              <a:t>; </a:t>
            </a:r>
            <a:r>
              <a:rPr lang="ko-KR" altLang="en-US" dirty="0"/>
              <a:t>늑대 </a:t>
            </a:r>
            <a:r>
              <a:rPr lang="en-US" altLang="ko-KR" dirty="0"/>
              <a:t>→ </a:t>
            </a:r>
            <a:r>
              <a:rPr lang="ko-KR" altLang="en-US" dirty="0"/>
              <a:t>늑대</a:t>
            </a:r>
            <a:r>
              <a:rPr lang="en-US" altLang="ko-KR" dirty="0"/>
              <a:t>; </a:t>
            </a:r>
            <a:r>
              <a:rPr lang="ko-KR" altLang="en-US" dirty="0"/>
              <a:t>늑대</a:t>
            </a:r>
            <a:r>
              <a:rPr lang="en-US" altLang="ko-KR" dirty="0"/>
              <a:t>, </a:t>
            </a:r>
            <a:r>
              <a:rPr lang="ko-KR" altLang="en-US" dirty="0"/>
              <a:t>개가 비슷한 </a:t>
            </a:r>
            <a:r>
              <a:rPr lang="en-US" altLang="ko-KR" dirty="0"/>
              <a:t>projection layer. 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 유사단어들이 </a:t>
            </a:r>
            <a:r>
              <a:rPr lang="ko-KR" altLang="en-US" dirty="0" err="1"/>
              <a:t>인베딩</a:t>
            </a:r>
            <a:r>
              <a:rPr lang="ko-KR" altLang="en-US" dirty="0"/>
              <a:t> 공간상 가까운 위치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Long Short Term Memory(LSTM, </a:t>
            </a:r>
            <a:r>
              <a:rPr lang="ko-KR" altLang="en-US" dirty="0"/>
              <a:t>장단기 기억 신경망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LSTM</a:t>
            </a:r>
            <a:r>
              <a:rPr lang="ko-KR" altLang="en-US" dirty="0"/>
              <a:t>은 </a:t>
            </a:r>
            <a:r>
              <a:rPr lang="en-US" altLang="ko-KR" dirty="0" err="1"/>
              <a:t>Rnn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고질적 문제인 장기 의존성 해결 위해 고안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필요성 </a:t>
            </a:r>
            <a:r>
              <a:rPr lang="en-US" altLang="ko-KR" dirty="0"/>
              <a:t>: RNN</a:t>
            </a:r>
            <a:r>
              <a:rPr lang="ko-KR" altLang="en-US" dirty="0"/>
              <a:t>은 직전시점의 정보에 큰 영향</a:t>
            </a:r>
            <a:r>
              <a:rPr lang="en-US" altLang="ko-KR" dirty="0"/>
              <a:t>. But, </a:t>
            </a:r>
            <a:r>
              <a:rPr lang="ko-KR" altLang="en-US" dirty="0"/>
              <a:t>먼 과거 정보가 결정적 영향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Ex) I grew up in France, I speak fluent [French] → French</a:t>
            </a:r>
            <a:r>
              <a:rPr lang="ko-KR" altLang="en-US" dirty="0"/>
              <a:t>를 맞추기 위함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France &gt; fluent; fluent</a:t>
            </a:r>
            <a:r>
              <a:rPr lang="ko-KR" altLang="en-US" dirty="0"/>
              <a:t>등 덜 중요</a:t>
            </a:r>
            <a:r>
              <a:rPr lang="en-US" altLang="ko-KR" dirty="0"/>
              <a:t>? → </a:t>
            </a:r>
            <a:r>
              <a:rPr lang="ko-KR" altLang="en-US" dirty="0"/>
              <a:t>덜 입력</a:t>
            </a:r>
            <a:r>
              <a:rPr lang="en-US" altLang="ko-KR" dirty="0"/>
              <a:t>. France </a:t>
            </a:r>
            <a:r>
              <a:rPr lang="ko-KR" altLang="en-US" dirty="0"/>
              <a:t>처럼</a:t>
            </a:r>
            <a:r>
              <a:rPr lang="en-US" altLang="ko-KR" dirty="0"/>
              <a:t> </a:t>
            </a:r>
            <a:r>
              <a:rPr lang="ko-KR" altLang="en-US" dirty="0"/>
              <a:t>많이 중요</a:t>
            </a:r>
            <a:r>
              <a:rPr lang="en-US" altLang="ko-KR" dirty="0"/>
              <a:t>? → </a:t>
            </a:r>
            <a:r>
              <a:rPr lang="ko-KR" altLang="en-US" dirty="0"/>
              <a:t>많이 입력</a:t>
            </a:r>
            <a:endParaRPr lang="en-US" altLang="ko-KR" dirty="0"/>
          </a:p>
          <a:p>
            <a:pPr lvl="2"/>
            <a:r>
              <a:rPr lang="en-US" altLang="ko-KR" dirty="0"/>
              <a:t>Forgot</a:t>
            </a:r>
            <a:r>
              <a:rPr lang="ko-KR" altLang="en-US" dirty="0"/>
              <a:t> </a:t>
            </a:r>
            <a:r>
              <a:rPr lang="en-US" altLang="ko-KR" dirty="0"/>
              <a:t>gate,</a:t>
            </a:r>
            <a:r>
              <a:rPr lang="ko-KR" altLang="en-US" dirty="0"/>
              <a:t> </a:t>
            </a:r>
            <a:r>
              <a:rPr lang="en-US" altLang="ko-KR" dirty="0"/>
              <a:t>input</a:t>
            </a:r>
            <a:r>
              <a:rPr lang="ko-KR" altLang="en-US" dirty="0"/>
              <a:t> </a:t>
            </a:r>
            <a:r>
              <a:rPr lang="en-US" altLang="ko-KR" dirty="0"/>
              <a:t>gate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이전</a:t>
            </a:r>
            <a:r>
              <a:rPr lang="en-US" altLang="ko-KR" dirty="0"/>
              <a:t>→</a:t>
            </a:r>
            <a:r>
              <a:rPr lang="ko-KR" altLang="en-US" dirty="0"/>
              <a:t>다음 </a:t>
            </a:r>
            <a:r>
              <a:rPr lang="en-US" altLang="ko-KR" dirty="0"/>
              <a:t>state </a:t>
            </a:r>
            <a:br>
              <a:rPr lang="en-US" altLang="ko-KR" dirty="0"/>
            </a:br>
            <a:r>
              <a:rPr lang="ko-KR" altLang="en-US" dirty="0" err="1"/>
              <a:t>넘어갈때</a:t>
            </a:r>
            <a:r>
              <a:rPr lang="ko-KR" altLang="en-US" dirty="0"/>
              <a:t> 적절히 </a:t>
            </a:r>
            <a:r>
              <a:rPr lang="en-US" altLang="ko-KR" dirty="0"/>
              <a:t>forget; </a:t>
            </a:r>
            <a:r>
              <a:rPr lang="ko-KR" altLang="en-US" dirty="0"/>
              <a:t>너무 많은 </a:t>
            </a:r>
            <a:r>
              <a:rPr lang="en-US" altLang="ko-KR" dirty="0"/>
              <a:t>hidden layer</a:t>
            </a:r>
            <a:br>
              <a:rPr lang="en-US" altLang="ko-KR" dirty="0"/>
            </a:br>
            <a:r>
              <a:rPr lang="ko-KR" altLang="en-US" dirty="0"/>
              <a:t>방지 </a:t>
            </a:r>
            <a:r>
              <a:rPr lang="en-US" altLang="ko-KR" dirty="0"/>
              <a:t>+ </a:t>
            </a:r>
            <a:r>
              <a:rPr lang="ko-KR" altLang="en-US" dirty="0"/>
              <a:t>과거 중요 정보 선택적으로 가중↑ </a:t>
            </a:r>
            <a:r>
              <a:rPr lang="en-US" altLang="ko-KR" dirty="0"/>
              <a:t>→ RNN </a:t>
            </a:r>
            <a:r>
              <a:rPr lang="ko-KR" altLang="en-US" dirty="0"/>
              <a:t>더 깊게 가능</a:t>
            </a:r>
            <a:endParaRPr lang="en-US" altLang="ko-KR" dirty="0"/>
          </a:p>
          <a:p>
            <a:pPr lvl="2"/>
            <a:r>
              <a:rPr lang="en-US" altLang="ko-KR" dirty="0" err="1"/>
              <a:t>BiLSTM</a:t>
            </a:r>
            <a:r>
              <a:rPr lang="en-US" altLang="ko-KR" dirty="0"/>
              <a:t> : </a:t>
            </a:r>
            <a:r>
              <a:rPr lang="ko-KR" altLang="en-US" dirty="0"/>
              <a:t>시퀀스를</a:t>
            </a:r>
            <a:r>
              <a:rPr lang="en-US" altLang="ko-KR" dirty="0"/>
              <a:t> </a:t>
            </a:r>
            <a:r>
              <a:rPr lang="ko-KR" altLang="en-US" dirty="0" err="1"/>
              <a:t>정방향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역방향으로 처리하는 </a:t>
            </a:r>
            <a:r>
              <a:rPr lang="en-US" altLang="ko-KR" dirty="0"/>
              <a:t>LSTM 2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ko-KR" altLang="en-US" dirty="0"/>
              <a:t>사용 </a:t>
            </a:r>
            <a:r>
              <a:rPr lang="en-US" altLang="ko-KR" dirty="0"/>
              <a:t>→ </a:t>
            </a:r>
            <a:r>
              <a:rPr lang="ko-KR" altLang="en-US" dirty="0"/>
              <a:t>더 풍부한 문맥 정보 </a:t>
            </a:r>
            <a:br>
              <a:rPr lang="en-US" altLang="ko-KR" dirty="0"/>
            </a:br>
            <a:r>
              <a:rPr lang="ko-KR" altLang="en-US" dirty="0"/>
              <a:t>기반 예측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2DF8BA-BB1E-7A07-96C2-7416D896055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one</a:t>
            </a:r>
            <a:r>
              <a:rPr lang="ko-KR" altLang="en-US" dirty="0"/>
              <a:t> </a:t>
            </a:r>
            <a:r>
              <a:rPr lang="en-US" altLang="ko-KR" dirty="0"/>
              <a:t>RNN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입력시</a:t>
            </a:r>
            <a:r>
              <a:rPr lang="ko-KR" altLang="en-US" dirty="0"/>
              <a:t> 발생 문제 </a:t>
            </a:r>
            <a:r>
              <a:rPr lang="en-US" altLang="ko-KR" dirty="0"/>
              <a:t>: </a:t>
            </a:r>
            <a:r>
              <a:rPr lang="en-US" altLang="ko-KR" dirty="0" err="1"/>
              <a:t>x_data</a:t>
            </a:r>
            <a:r>
              <a:rPr lang="en-US" altLang="ko-KR" dirty="0"/>
              <a:t> </a:t>
            </a:r>
            <a:r>
              <a:rPr lang="ko-KR" altLang="en-US" dirty="0"/>
              <a:t>길이</a:t>
            </a:r>
            <a:r>
              <a:rPr lang="en-US" altLang="ko-KR" dirty="0"/>
              <a:t> </a:t>
            </a:r>
            <a:r>
              <a:rPr lang="ko-KR" altLang="en-US" dirty="0"/>
              <a:t>다 다름</a:t>
            </a:r>
            <a:r>
              <a:rPr lang="en-US" altLang="ko-KR" dirty="0"/>
              <a:t>→padding. </a:t>
            </a:r>
            <a:r>
              <a:rPr lang="ko-KR" altLang="en-US" dirty="0"/>
              <a:t>나중에</a:t>
            </a:r>
            <a:r>
              <a:rPr lang="en-US" altLang="ko-KR" dirty="0"/>
              <a:t> OHE; 6774000000→10*10 </a:t>
            </a:r>
            <a:r>
              <a:rPr lang="ko-KR" altLang="en-US" dirty="0"/>
              <a:t>행렬</a:t>
            </a:r>
            <a:endParaRPr lang="en-US" altLang="ko-KR" dirty="0"/>
          </a:p>
          <a:p>
            <a:r>
              <a:rPr lang="ko-KR" altLang="en-US" dirty="0"/>
              <a:t>축소</a:t>
            </a:r>
            <a:r>
              <a:rPr lang="en-US" altLang="ko-KR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ohe</a:t>
            </a:r>
            <a:r>
              <a:rPr lang="ko-KR" altLang="en-US" dirty="0"/>
              <a:t>의 차원</a:t>
            </a:r>
            <a:r>
              <a:rPr lang="en-US" altLang="ko-KR" dirty="0"/>
              <a:t>↓, </a:t>
            </a:r>
            <a:r>
              <a:rPr lang="ko-KR" altLang="en-US" dirty="0"/>
              <a:t>차원의</a:t>
            </a:r>
            <a:r>
              <a:rPr lang="en-US" altLang="ko-KR" dirty="0"/>
              <a:t> </a:t>
            </a:r>
            <a:r>
              <a:rPr lang="ko-KR" altLang="en-US" dirty="0"/>
              <a:t>저주</a:t>
            </a:r>
            <a:r>
              <a:rPr lang="en-US" altLang="ko-KR" dirty="0"/>
              <a:t>(=</a:t>
            </a:r>
            <a:r>
              <a:rPr lang="ko-KR" altLang="en-US" dirty="0"/>
              <a:t>입력차원</a:t>
            </a:r>
            <a:r>
              <a:rPr lang="en-US" altLang="ko-KR" dirty="0"/>
              <a:t>↑↑→</a:t>
            </a:r>
            <a:r>
              <a:rPr lang="ko-KR" altLang="en-US" dirty="0"/>
              <a:t>계산효율</a:t>
            </a:r>
            <a:r>
              <a:rPr lang="en-US" altLang="ko-KR" dirty="0"/>
              <a:t>/</a:t>
            </a:r>
            <a:r>
              <a:rPr lang="ko-KR" altLang="en-US" dirty="0"/>
              <a:t>성능</a:t>
            </a:r>
            <a:r>
              <a:rPr lang="en-US" altLang="ko-KR" dirty="0"/>
              <a:t>↓)</a:t>
            </a:r>
            <a:r>
              <a:rPr lang="ko-KR" altLang="en-US" dirty="0"/>
              <a:t>해결</a:t>
            </a:r>
            <a:r>
              <a:rPr lang="en-US" altLang="ko-KR" dirty="0"/>
              <a:t>→</a:t>
            </a:r>
            <a:r>
              <a:rPr lang="ko-KR" altLang="en-US" dirty="0" err="1"/>
              <a:t>적은차원으로</a:t>
            </a:r>
            <a:r>
              <a:rPr lang="ko-KR" altLang="en-US" dirty="0"/>
              <a:t> 단어표현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비슷한 의미 문장</a:t>
            </a:r>
            <a:r>
              <a:rPr lang="en-US" altLang="ko-KR" dirty="0"/>
              <a:t>/</a:t>
            </a:r>
            <a:r>
              <a:rPr lang="ko-KR" altLang="en-US" dirty="0"/>
              <a:t>단어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둘간 유사도≒</a:t>
            </a:r>
            <a:r>
              <a:rPr lang="en-US" altLang="ko-KR" dirty="0"/>
              <a:t>1 (</a:t>
            </a:r>
            <a:r>
              <a:rPr lang="en-US" altLang="ko-KR" dirty="0" err="1"/>
              <a:t>ohe</a:t>
            </a:r>
            <a:r>
              <a:rPr lang="en-US" altLang="ko-KR" dirty="0"/>
              <a:t>:(</a:t>
            </a:r>
            <a:r>
              <a:rPr lang="ko-KR" altLang="en-US" dirty="0" err="1"/>
              <a:t>비슷</a:t>
            </a:r>
            <a:r>
              <a:rPr lang="en-US" altLang="ko-KR" dirty="0"/>
              <a:t>?-&gt;</a:t>
            </a:r>
            <a:r>
              <a:rPr lang="ko-KR" altLang="en-US" dirty="0"/>
              <a:t>다름</a:t>
            </a:r>
            <a:r>
              <a:rPr lang="en-US" altLang="ko-KR" dirty="0"/>
              <a:t>)-(</a:t>
            </a:r>
            <a:r>
              <a:rPr lang="ko-KR" altLang="en-US" dirty="0" err="1"/>
              <a:t>임베딩</a:t>
            </a:r>
            <a:r>
              <a:rPr lang="en-US" altLang="ko-KR" dirty="0"/>
              <a:t>)→</a:t>
            </a:r>
            <a:r>
              <a:rPr lang="ko-KR" altLang="en-US" dirty="0"/>
              <a:t>유사도≒</a:t>
            </a:r>
            <a:r>
              <a:rPr lang="en-US" altLang="ko-KR" dirty="0"/>
              <a:t>1)→</a:t>
            </a:r>
            <a:r>
              <a:rPr lang="ko-KR" altLang="en-US" dirty="0"/>
              <a:t>단어간 의미</a:t>
            </a:r>
            <a:r>
              <a:rPr lang="en-US" altLang="ko-KR" dirty="0"/>
              <a:t>/</a:t>
            </a:r>
            <a:r>
              <a:rPr lang="ko-KR" altLang="en-US" dirty="0"/>
              <a:t>관계</a:t>
            </a:r>
            <a:endParaRPr lang="en-US" altLang="ko-KR" dirty="0"/>
          </a:p>
          <a:p>
            <a:pPr lvl="1"/>
            <a:r>
              <a:rPr lang="ko-KR" altLang="en-US" dirty="0"/>
              <a:t>구현방법</a:t>
            </a:r>
            <a:r>
              <a:rPr lang="en-US" altLang="ko-KR" dirty="0"/>
              <a:t>:(CBOW)</a:t>
            </a:r>
            <a:r>
              <a:rPr lang="ko-KR" altLang="en-US" dirty="0"/>
              <a:t>특정단어</a:t>
            </a:r>
            <a:r>
              <a:rPr lang="en-US" altLang="ko-KR" dirty="0"/>
              <a:t>-(</a:t>
            </a:r>
            <a:r>
              <a:rPr lang="ko-KR" altLang="en-US" dirty="0"/>
              <a:t>예측</a:t>
            </a:r>
            <a:r>
              <a:rPr lang="en-US" altLang="ko-KR" dirty="0"/>
              <a:t>)→</a:t>
            </a:r>
            <a:r>
              <a:rPr lang="ko-KR" altLang="en-US" dirty="0"/>
              <a:t>주변단어</a:t>
            </a:r>
            <a:r>
              <a:rPr lang="en-US" altLang="ko-KR" dirty="0"/>
              <a:t>, (skip-gram)</a:t>
            </a:r>
            <a:r>
              <a:rPr lang="ko-KR" altLang="en-US" dirty="0"/>
              <a:t>주단</a:t>
            </a:r>
            <a:r>
              <a:rPr lang="en-US" altLang="ko-KR" dirty="0"/>
              <a:t>→</a:t>
            </a:r>
            <a:r>
              <a:rPr lang="ko-KR" altLang="en-US" dirty="0"/>
              <a:t>특단</a:t>
            </a:r>
            <a:r>
              <a:rPr lang="en-US" altLang="ko-KR" dirty="0"/>
              <a:t>, </a:t>
            </a:r>
            <a:r>
              <a:rPr lang="en-US" altLang="ko-KR" dirty="0" err="1"/>
              <a:t>AE:code</a:t>
            </a:r>
            <a:r>
              <a:rPr lang="en-US" altLang="ko-KR" dirty="0"/>
              <a:t>=</a:t>
            </a:r>
            <a:r>
              <a:rPr lang="ko-KR" altLang="en-US" dirty="0" err="1"/>
              <a:t>임베딩벡터</a:t>
            </a:r>
            <a:r>
              <a:rPr lang="en-US" altLang="ko-KR" dirty="0"/>
              <a:t>→</a:t>
            </a:r>
            <a:r>
              <a:rPr lang="ko-KR" altLang="en-US" dirty="0"/>
              <a:t>유사</a:t>
            </a:r>
            <a:r>
              <a:rPr lang="en-US" altLang="ko-KR" dirty="0"/>
              <a:t>? </a:t>
            </a:r>
            <a:r>
              <a:rPr lang="ko-KR" altLang="en-US" dirty="0" err="1"/>
              <a:t>임공가깝</a:t>
            </a:r>
            <a:endParaRPr lang="en-US" altLang="ko-KR" dirty="0"/>
          </a:p>
          <a:p>
            <a:r>
              <a:rPr lang="en-US" altLang="ko-KR" dirty="0"/>
              <a:t>LSTM:(RNN</a:t>
            </a:r>
            <a:r>
              <a:rPr lang="ko-KR" altLang="en-US" dirty="0"/>
              <a:t>문제</a:t>
            </a:r>
            <a:r>
              <a:rPr lang="en-US" altLang="ko-KR" dirty="0"/>
              <a:t>:</a:t>
            </a:r>
            <a:r>
              <a:rPr lang="ko-KR" altLang="en-US" dirty="0"/>
              <a:t>장단기 의존성 </a:t>
            </a:r>
            <a:r>
              <a:rPr lang="ko-KR" altLang="en-US" dirty="0" err="1"/>
              <a:t>해걸</a:t>
            </a:r>
            <a:r>
              <a:rPr lang="ko-KR" altLang="en-US" dirty="0"/>
              <a:t> 위함</a:t>
            </a:r>
            <a:r>
              <a:rPr lang="en-US" altLang="ko-KR" dirty="0"/>
              <a:t>), (</a:t>
            </a:r>
            <a:r>
              <a:rPr lang="ko-KR" altLang="en-US" dirty="0" err="1"/>
              <a:t>먼과거</a:t>
            </a:r>
            <a:r>
              <a:rPr lang="en-US" altLang="ko-KR" dirty="0"/>
              <a:t>→</a:t>
            </a:r>
            <a:r>
              <a:rPr lang="ko-KR" altLang="en-US" dirty="0"/>
              <a:t>결정적 영향</a:t>
            </a:r>
            <a:r>
              <a:rPr lang="en-US" altLang="ko-KR" dirty="0"/>
              <a:t>?)→</a:t>
            </a:r>
            <a:r>
              <a:rPr lang="ko-KR" altLang="en-US" dirty="0" err="1"/>
              <a:t>덜중</a:t>
            </a:r>
            <a:r>
              <a:rPr lang="en-US" altLang="ko-KR" dirty="0"/>
              <a:t>?</a:t>
            </a:r>
            <a:r>
              <a:rPr lang="ko-KR" altLang="en-US" dirty="0" err="1"/>
              <a:t>덜입</a:t>
            </a:r>
            <a:r>
              <a:rPr lang="en-US" altLang="ko-KR" dirty="0"/>
              <a:t>. </a:t>
            </a:r>
            <a:r>
              <a:rPr lang="ko-KR" altLang="en-US" dirty="0" err="1"/>
              <a:t>많중</a:t>
            </a:r>
            <a:r>
              <a:rPr lang="en-US" altLang="ko-KR" dirty="0"/>
              <a:t>?</a:t>
            </a:r>
            <a:r>
              <a:rPr lang="ko-KR" altLang="en-US" dirty="0" err="1"/>
              <a:t>많입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Forgot gate, input gate : </a:t>
            </a:r>
            <a:r>
              <a:rPr lang="ko-KR" altLang="en-US" dirty="0"/>
              <a:t>이전</a:t>
            </a:r>
            <a:r>
              <a:rPr lang="en-US" altLang="ko-KR" dirty="0"/>
              <a:t>→</a:t>
            </a:r>
            <a:r>
              <a:rPr lang="ko-KR" altLang="en-US" dirty="0"/>
              <a:t>다음 </a:t>
            </a:r>
            <a:r>
              <a:rPr lang="en-US" altLang="ko-KR" dirty="0"/>
              <a:t>state</a:t>
            </a:r>
            <a:r>
              <a:rPr lang="ko-KR" altLang="en-US" dirty="0"/>
              <a:t>시 적절 </a:t>
            </a:r>
            <a:r>
              <a:rPr lang="en-US" altLang="ko-KR" dirty="0"/>
              <a:t>forget. Hidden layer↑↑X. </a:t>
            </a:r>
            <a:r>
              <a:rPr lang="ko-KR" altLang="en-US" dirty="0"/>
              <a:t>과거중요정보가중</a:t>
            </a:r>
            <a:r>
              <a:rPr lang="en-US" altLang="ko-KR" dirty="0"/>
              <a:t>→RNN </a:t>
            </a:r>
            <a:r>
              <a:rPr lang="ko-KR" altLang="en-US" dirty="0" err="1"/>
              <a:t>깊</a:t>
            </a:r>
            <a:endParaRPr lang="en-US" altLang="ko-KR" dirty="0"/>
          </a:p>
          <a:p>
            <a:r>
              <a:rPr lang="en-US" altLang="ko-KR" dirty="0" err="1"/>
              <a:t>BiLSTM</a:t>
            </a:r>
            <a:r>
              <a:rPr lang="en-US" altLang="ko-KR" dirty="0"/>
              <a:t> : </a:t>
            </a:r>
            <a:r>
              <a:rPr lang="ko-KR" altLang="en-US" dirty="0"/>
              <a:t>시퀀스를 </a:t>
            </a:r>
            <a:r>
              <a:rPr lang="ko-KR" altLang="en-US" dirty="0" err="1"/>
              <a:t>정방향</a:t>
            </a:r>
            <a:r>
              <a:rPr lang="en-US" altLang="ko-KR" dirty="0"/>
              <a:t>, </a:t>
            </a:r>
            <a:r>
              <a:rPr lang="ko-KR" altLang="en-US" dirty="0"/>
              <a:t>역방향으로 처리</a:t>
            </a:r>
            <a:r>
              <a:rPr lang="en-US" altLang="ko-KR" dirty="0"/>
              <a:t> LSTM 2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더 풍부 문맥정보 기반 예측</a:t>
            </a:r>
            <a:r>
              <a:rPr lang="en-US" altLang="ko-KR" dirty="0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E3335D-AAFF-D4BF-97E5-A716B2C7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08" y="1136576"/>
            <a:ext cx="3312367" cy="1970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842F30-A084-40FA-3876-62AB93061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131" y="1359187"/>
            <a:ext cx="1147185" cy="7134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B6BBE16-CACE-175D-B878-AC52BC092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263" y="2072680"/>
            <a:ext cx="1907112" cy="6756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2E50BAC-0CEC-BEE3-D2E1-7F6F4AC25E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7152" y="4766228"/>
            <a:ext cx="1919242" cy="33078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F1FBC63-4C8A-D061-416C-4948EF14F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949" y="5241363"/>
            <a:ext cx="2901426" cy="72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6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57D0F6-B03D-F4B1-1740-04D7E5271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307528C-B020-9D5C-D274-58B42ADB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총정리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94AEEDE-50F5-15CB-7A04-2D349D5B8AF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4624" y="560512"/>
                <a:ext cx="6768752" cy="9289032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딥러닝 </a:t>
                </a:r>
                <a:r>
                  <a:rPr lang="en-US" altLang="ko-KR" dirty="0"/>
                  <a:t>→ </a:t>
                </a:r>
                <a:r>
                  <a:rPr lang="ko-KR" altLang="en-US" dirty="0" err="1"/>
                  <a:t>뉴럴에서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히든을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2</a:t>
                </a:r>
                <a:r>
                  <a:rPr lang="ko-KR" altLang="en-US" dirty="0" err="1"/>
                  <a:t>개↑확장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활성함수 조건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비선형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미가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Gradient vanishing problem : </a:t>
                </a:r>
                <a:r>
                  <a:rPr lang="en-US" altLang="ko-KR" dirty="0" err="1"/>
                  <a:t>Xor</a:t>
                </a:r>
                <a:r>
                  <a:rPr lang="en-US" altLang="ko-KR" dirty="0"/>
                  <a:t> :</a:t>
                </a:r>
                <a:r>
                  <a:rPr lang="ko-KR" altLang="en-US" dirty="0"/>
                  <a:t>단층</a:t>
                </a:r>
                <a:r>
                  <a:rPr lang="en-US" altLang="ko-KR" dirty="0"/>
                  <a:t>O, </a:t>
                </a:r>
                <a:r>
                  <a:rPr lang="ko-KR" altLang="en-US" dirty="0"/>
                  <a:t>다층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딥러닝</a:t>
                </a:r>
                <a:r>
                  <a:rPr lang="en-US" altLang="ko-KR" dirty="0"/>
                  <a:t>)X ?</a:t>
                </a:r>
                <a:r>
                  <a:rPr lang="ko-KR" altLang="en-US" dirty="0"/>
                  <a:t>→</a:t>
                </a:r>
                <a:r>
                  <a:rPr lang="en-US" altLang="ko-KR" dirty="0"/>
                  <a:t>BP</a:t>
                </a:r>
                <a:r>
                  <a:rPr lang="ko-KR" altLang="en-US" dirty="0"/>
                  <a:t>중 </a:t>
                </a:r>
                <a:r>
                  <a:rPr lang="en-US" altLang="ko-KR" dirty="0"/>
                  <a:t>sigmoid</a:t>
                </a:r>
                <a:r>
                  <a:rPr lang="ko-KR" altLang="en-US" dirty="0"/>
                  <a:t> 기울기 </a:t>
                </a:r>
                <a:r>
                  <a:rPr lang="en-US" altLang="ko-KR" dirty="0" err="1"/>
                  <a:t>wx+b</a:t>
                </a:r>
                <a:r>
                  <a:rPr lang="ko-KR" altLang="en-US" dirty="0"/>
                  <a:t>↑→기울기≒</a:t>
                </a:r>
                <a:r>
                  <a:rPr lang="en-US" altLang="ko-KR" dirty="0"/>
                  <a:t>0. </a:t>
                </a:r>
                <a:r>
                  <a:rPr lang="ko-KR" altLang="en-US" dirty="0" err="1"/>
                  <a:t>업뎃</a:t>
                </a:r>
                <a:r>
                  <a:rPr lang="en-US" altLang="ko-KR" dirty="0"/>
                  <a:t>X</a:t>
                </a:r>
                <a:br>
                  <a:rPr lang="en-US" altLang="ko-KR" dirty="0"/>
                </a:br>
                <a:r>
                  <a:rPr lang="en-US" altLang="ko-KR" dirty="0"/>
                  <a:t>h(1-h)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최댓값 </a:t>
                </a:r>
                <a:r>
                  <a:rPr lang="en-US" altLang="ko-KR" dirty="0"/>
                  <a:t>: h=½</a:t>
                </a:r>
                <a:r>
                  <a:rPr lang="ko-KR" altLang="en-US" dirty="0"/>
                  <a:t>→</a:t>
                </a:r>
                <a:r>
                  <a:rPr lang="en-US" altLang="ko-KR" dirty="0"/>
                  <a:t>¼ : </a:t>
                </a:r>
                <a:r>
                  <a:rPr lang="ko-KR" altLang="en-US" dirty="0"/>
                  <a:t>수많은 레이어 통과 → </a:t>
                </a:r>
                <a:r>
                  <a:rPr lang="en-US" altLang="ko-KR" dirty="0" err="1"/>
                  <a:t>δi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¼</a:t>
                </a:r>
                <a:r>
                  <a:rPr lang="ko-KR" altLang="en-US" dirty="0"/>
                  <a:t>보다 작은 수 계속 </a:t>
                </a:r>
                <a:r>
                  <a:rPr lang="ko-KR" altLang="en-US" dirty="0" err="1"/>
                  <a:t>곱합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언더플로우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∴ 기울기 </a:t>
                </a:r>
                <a:r>
                  <a:rPr lang="en-US" altLang="ko-KR" dirty="0"/>
                  <a:t>0</a:t>
                </a:r>
              </a:p>
              <a:p>
                <a:pPr lvl="1"/>
                <a:r>
                  <a:rPr lang="en-US" altLang="ko-KR" dirty="0"/>
                  <a:t>ReLU : GV</a:t>
                </a:r>
                <a:r>
                  <a:rPr lang="ko-KR" altLang="en-US" dirty="0"/>
                  <a:t> 솔루션 </a:t>
                </a:r>
                <a:r>
                  <a:rPr lang="en-US" altLang="ko-KR" dirty="0"/>
                  <a:t>: sigmoid </a:t>
                </a:r>
                <a:r>
                  <a:rPr lang="ko-KR" altLang="en-US" dirty="0"/>
                  <a:t>대신 </a:t>
                </a:r>
                <a:r>
                  <a:rPr lang="en-US" altLang="ko-KR" dirty="0"/>
                  <a:t>ReLU(x)=max(0,x), </a:t>
                </a:r>
                <a:r>
                  <a:rPr lang="ko-KR" altLang="en-US" dirty="0"/>
                  <a:t>비선형</a:t>
                </a:r>
                <a:r>
                  <a:rPr lang="en-US" altLang="ko-KR" dirty="0"/>
                  <a:t>&amp;</a:t>
                </a:r>
                <a:r>
                  <a:rPr lang="ko-KR" altLang="en-US" dirty="0"/>
                  <a:t>미가→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처리 노드 학습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→</a:t>
                </a:r>
                <a:r>
                  <a:rPr lang="en-US" altLang="ko-KR" dirty="0" err="1"/>
                  <a:t>Leakly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ReLU, </a:t>
                </a:r>
                <a:r>
                  <a:rPr lang="en-US" altLang="ko-KR" dirty="0" err="1"/>
                  <a:t>maxout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Xavier initialization : (</a:t>
                </a:r>
                <a:r>
                  <a:rPr lang="ko-KR" altLang="en-US" dirty="0" err="1"/>
                  <a:t>초기값→수렴속도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차이</a:t>
                </a:r>
                <a:r>
                  <a:rPr lang="en-US" altLang="ko-KR" dirty="0"/>
                  <a:t>)→</a:t>
                </a:r>
                <a:r>
                  <a:rPr lang="ko-KR" altLang="en-US" dirty="0"/>
                  <a:t>가중치 분산 일정수준</a:t>
                </a:r>
                <a:r>
                  <a:rPr lang="en-US" altLang="ko-KR" dirty="0"/>
                  <a:t>↓→ </a:t>
                </a:r>
                <a:r>
                  <a:rPr lang="ko-KR" altLang="en-US" dirty="0"/>
                  <a:t>더 빨리 수렴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Drop out : forward</a:t>
                </a:r>
                <a:r>
                  <a:rPr lang="ko-KR" altLang="en-US" dirty="0"/>
                  <a:t>시 레이어당 랜덤 노드 죽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왜</a:t>
                </a:r>
                <a:r>
                  <a:rPr lang="en-US" altLang="ko-KR" dirty="0"/>
                  <a:t>? </a:t>
                </a:r>
                <a:r>
                  <a:rPr lang="ko-KR" altLang="en-US" dirty="0"/>
                  <a:t>몇 노드 가중치</a:t>
                </a:r>
                <a:r>
                  <a:rPr lang="en-US" altLang="ko-KR" dirty="0"/>
                  <a:t>↑↑→ </a:t>
                </a:r>
                <a:r>
                  <a:rPr lang="ko-KR" altLang="en-US" dirty="0" err="1"/>
                  <a:t>나머지노드</a:t>
                </a:r>
                <a:r>
                  <a:rPr lang="ko-KR" altLang="en-US" dirty="0"/>
                  <a:t> 학습 </a:t>
                </a:r>
                <a:r>
                  <a:rPr lang="en-US" altLang="ko-KR" dirty="0"/>
                  <a:t>X, </a:t>
                </a:r>
                <a:r>
                  <a:rPr lang="ko-KR" altLang="en-US" dirty="0"/>
                  <a:t>나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노 학습 위해</a:t>
                </a:r>
              </a:p>
              <a:p>
                <a:pPr lvl="1"/>
                <a:r>
                  <a:rPr lang="en-US" altLang="ko-KR" dirty="0"/>
                  <a:t>Batch normalization : </a:t>
                </a:r>
                <a:r>
                  <a:rPr lang="ko-KR" altLang="en-US" dirty="0"/>
                  <a:t>딥러닝 중간 레이어 정규화 </a:t>
                </a:r>
                <a:r>
                  <a:rPr lang="en-US" altLang="ko-KR" dirty="0"/>
                  <a:t>&amp; </a:t>
                </a:r>
                <a:r>
                  <a:rPr lang="ko-KR" altLang="en-US" dirty="0"/>
                  <a:t>이전 레이어 출력 정규화 학습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초기값에 상관</a:t>
                </a:r>
                <a:r>
                  <a:rPr lang="en-US" altLang="ko-KR" dirty="0"/>
                  <a:t>X;</a:t>
                </a:r>
                <a:br>
                  <a:rPr lang="en-US" altLang="ko-KR" dirty="0"/>
                </a:br>
                <a:r>
                  <a:rPr lang="en-US" altLang="ko-KR" dirty="0"/>
                  <a:t>X~N(β,γ²)</a:t>
                </a:r>
                <a:r>
                  <a:rPr lang="ko-KR" altLang="en-US" dirty="0"/>
                  <a:t>를 가지는 분포                       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학습할수록 </a:t>
                </a:r>
                <a:r>
                  <a:rPr lang="el-GR" altLang="ko-KR" dirty="0"/>
                  <a:t>γ</a:t>
                </a:r>
                <a:r>
                  <a:rPr lang="en-US" altLang="ko-KR" dirty="0"/>
                  <a:t>,</a:t>
                </a:r>
                <a:r>
                  <a:rPr lang="el-GR" altLang="ko-KR" dirty="0"/>
                  <a:t>β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오차</a:t>
                </a:r>
                <a:r>
                  <a:rPr lang="en-US" altLang="ko-KR" dirty="0"/>
                  <a:t>↓.</a:t>
                </a:r>
              </a:p>
              <a:p>
                <a:pPr lvl="1"/>
                <a:r>
                  <a:rPr lang="en-US" altLang="ko-KR" dirty="0"/>
                  <a:t>Optimizer : </a:t>
                </a:r>
                <a:r>
                  <a:rPr lang="ko-KR" altLang="en-US" dirty="0"/>
                  <a:t>모델의 가중치 </a:t>
                </a:r>
                <a:r>
                  <a:rPr lang="ko-KR" altLang="en-US" dirty="0" err="1"/>
                  <a:t>업뎃</a:t>
                </a:r>
                <a:r>
                  <a:rPr lang="ko-KR" altLang="en-US" dirty="0"/>
                  <a:t> 방식 결정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성능 최적화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왜</a:t>
                </a:r>
                <a:r>
                  <a:rPr lang="en-US" altLang="ko-KR" dirty="0"/>
                  <a:t>? SGD</a:t>
                </a:r>
                <a:r>
                  <a:rPr lang="ko-KR" altLang="en-US" dirty="0"/>
                  <a:t>중 비효율적 학습경로 개선</a:t>
                </a:r>
                <a:r>
                  <a:rPr lang="en-US" altLang="ko-KR" dirty="0"/>
                  <a:t>(</a:t>
                </a:r>
                <a:r>
                  <a:rPr lang="ko-KR" altLang="en-US" dirty="0" err="1"/>
                  <a:t>업뎃</a:t>
                </a:r>
                <a:r>
                  <a:rPr lang="ko-KR" altLang="en-US" dirty="0"/>
                  <a:t> 경로가 과도하게 흔들림</a:t>
                </a:r>
                <a:r>
                  <a:rPr lang="en-US" altLang="ko-KR" dirty="0"/>
                  <a:t>↓), </a:t>
                </a:r>
                <a:r>
                  <a:rPr lang="ko-KR" altLang="en-US" dirty="0"/>
                  <a:t>더 빠르고 효율적 수렴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성능</a:t>
                </a:r>
                <a:r>
                  <a:rPr lang="en-US" altLang="ko-KR" dirty="0"/>
                  <a:t>↑.</a:t>
                </a:r>
              </a:p>
              <a:p>
                <a:pPr lvl="2"/>
                <a:r>
                  <a:rPr lang="en-US" altLang="ko-KR" dirty="0"/>
                  <a:t>Momentum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이전방향 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 현재 방향에 영향</a:t>
                </a:r>
                <a:r>
                  <a:rPr lang="en-US" altLang="ko-KR" dirty="0"/>
                  <a:t>.                                      , </a:t>
                </a:r>
                <a:r>
                  <a:rPr lang="el-GR" altLang="ko-KR" dirty="0"/>
                  <a:t>α</a:t>
                </a:r>
                <a:r>
                  <a:rPr lang="ko-KR" altLang="en-US" dirty="0"/>
                  <a:t>만큼 반영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Nesterov momentum : </a:t>
                </a:r>
                <a:r>
                  <a:rPr lang="ko-KR" altLang="en-US" dirty="0"/>
                  <a:t>미래 </a:t>
                </a:r>
                <a:r>
                  <a:rPr lang="ko-KR" altLang="en-US" dirty="0" err="1"/>
                  <a:t>한스텝</a:t>
                </a:r>
                <a:r>
                  <a:rPr lang="ko-KR" altLang="en-US" dirty="0"/>
                  <a:t> 움직일 예상 위치서 경사 계산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미래 경향성 고려</a:t>
                </a:r>
                <a:endParaRPr lang="en-US" altLang="ko-KR" dirty="0"/>
              </a:p>
              <a:p>
                <a:pPr lvl="2"/>
                <a:r>
                  <a:rPr lang="ko-KR" altLang="en-US" dirty="0" err="1"/>
                  <a:t>학습률</a:t>
                </a:r>
                <a:r>
                  <a:rPr lang="ko-KR" altLang="en-US" dirty="0"/>
                  <a:t> 개선 </a:t>
                </a:r>
                <a:r>
                  <a:rPr lang="en-US" altLang="ko-KR" dirty="0"/>
                  <a:t>: loss↓</a:t>
                </a:r>
                <a:r>
                  <a:rPr lang="ko-KR" altLang="en-US" dirty="0"/>
                  <a:t>개선</a:t>
                </a:r>
                <a:r>
                  <a:rPr lang="en-US" altLang="ko-KR" dirty="0"/>
                  <a:t>→ </a:t>
                </a:r>
                <a:r>
                  <a:rPr lang="ko-KR" altLang="en-US" dirty="0" err="1"/>
                  <a:t>파라갱신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아니면</a:t>
                </a:r>
                <a:r>
                  <a:rPr lang="en-US" altLang="ko-KR" dirty="0"/>
                  <a:t>? (</a:t>
                </a:r>
                <a:r>
                  <a:rPr lang="ko-KR" altLang="en-US" dirty="0" err="1"/>
                  <a:t>학습률</a:t>
                </a:r>
                <a:r>
                  <a:rPr lang="en-US" altLang="ko-KR" dirty="0"/>
                  <a:t>)*½ </a:t>
                </a:r>
              </a:p>
              <a:p>
                <a:pPr lvl="2"/>
                <a:r>
                  <a:rPr lang="en-US" altLang="ko-KR" dirty="0"/>
                  <a:t>Adam : </a:t>
                </a:r>
                <a:r>
                  <a:rPr lang="ko-KR" altLang="en-US" dirty="0"/>
                  <a:t>모멘텀</a:t>
                </a:r>
                <a:r>
                  <a:rPr lang="en-US" altLang="ko-KR" dirty="0"/>
                  <a:t>+</a:t>
                </a:r>
                <a:r>
                  <a:rPr lang="en-US" altLang="ko-KR" dirty="0" err="1"/>
                  <a:t>RMSProp</a:t>
                </a:r>
                <a:r>
                  <a:rPr lang="en-US" altLang="ko-KR" dirty="0"/>
                  <a:t>, momentum</a:t>
                </a:r>
                <a:r>
                  <a:rPr lang="ko-KR" altLang="en-US" dirty="0"/>
                  <a:t>에 의해 경로 진동</a:t>
                </a:r>
                <a:r>
                  <a:rPr lang="en-US" altLang="ko-KR" dirty="0"/>
                  <a:t>↓,</a:t>
                </a:r>
                <a:r>
                  <a:rPr lang="ko-KR" altLang="en-US" dirty="0"/>
                  <a:t>파라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벡터가 해로 가는 속도</a:t>
                </a:r>
                <a:r>
                  <a:rPr lang="en-US" altLang="ko-KR" dirty="0"/>
                  <a:t> </a:t>
                </a:r>
                <a:r>
                  <a:rPr lang="ko-KR" altLang="en-US" dirty="0" err="1"/>
                  <a:t>비슷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빠른 수렴</a:t>
                </a:r>
              </a:p>
              <a:p>
                <a:r>
                  <a:rPr lang="en-US" altLang="ko-KR" dirty="0"/>
                  <a:t>CNN</a:t>
                </a:r>
              </a:p>
              <a:p>
                <a:pPr lvl="1"/>
                <a:r>
                  <a:rPr lang="en-US" altLang="ko-KR" dirty="0"/>
                  <a:t>Convolution filter=Feature extractor : </a:t>
                </a:r>
                <a:r>
                  <a:rPr lang="ko-KR" altLang="en-US" dirty="0"/>
                  <a:t>이미지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원본 픽셀</a:t>
                </a:r>
                <a:r>
                  <a:rPr lang="en-US" altLang="ko-KR" dirty="0"/>
                  <a:t>X,</a:t>
                </a:r>
                <a:r>
                  <a:rPr lang="ko-KR" altLang="en-US" dirty="0"/>
                  <a:t> 특징으로 바꿈</a:t>
                </a:r>
                <a:r>
                  <a:rPr lang="en-US" altLang="ko-KR" dirty="0"/>
                  <a:t>. CNN→</a:t>
                </a:r>
                <a:r>
                  <a:rPr lang="ko-KR" altLang="en-US" dirty="0"/>
                  <a:t>자동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특징 추출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CNN </a:t>
                </a:r>
                <a:r>
                  <a:rPr lang="ko-KR" altLang="en-US" dirty="0"/>
                  <a:t>처리 과정 </a:t>
                </a:r>
                <a:r>
                  <a:rPr lang="en-US" altLang="ko-KR" dirty="0"/>
                  <a:t>: 1) Feature extract, 2) Feature→</a:t>
                </a:r>
                <a:r>
                  <a:rPr lang="ko-KR" altLang="en-US" dirty="0"/>
                  <a:t>딥러닝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구별</a:t>
                </a:r>
                <a:r>
                  <a:rPr lang="en-US" altLang="ko-KR" dirty="0"/>
                  <a:t>O</a:t>
                </a:r>
                <a:r>
                  <a:rPr lang="ko-KR" altLang="en-US" dirty="0"/>
                  <a:t>인 간결 특징만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도움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정보</a:t>
                </a:r>
                <a:r>
                  <a:rPr lang="en-US" altLang="ko-KR" dirty="0"/>
                  <a:t>X→</a:t>
                </a:r>
                <a:r>
                  <a:rPr lang="ko-KR" altLang="en-US" dirty="0"/>
                  <a:t>단순화된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특징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Convolution </a:t>
                </a:r>
                <a:r>
                  <a:rPr lang="en-US" altLang="ko-KR" dirty="0" err="1"/>
                  <a:t>filte</a:t>
                </a:r>
                <a:r>
                  <a:rPr lang="ko-KR" altLang="en-US" dirty="0"/>
                  <a:t>를 이미지 겹침</a:t>
                </a:r>
                <a:r>
                  <a:rPr lang="en-US" altLang="ko-KR" dirty="0"/>
                  <a:t>→(</a:t>
                </a:r>
                <a:r>
                  <a:rPr lang="ko-KR" altLang="en-US" dirty="0" err="1"/>
                  <a:t>필터값</a:t>
                </a:r>
                <a:r>
                  <a:rPr lang="en-US" altLang="ko-KR" dirty="0"/>
                  <a:t>)*(</a:t>
                </a:r>
                <a:r>
                  <a:rPr lang="ko-KR" altLang="en-US" dirty="0" err="1"/>
                  <a:t>픽셀값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으로 곱하고 더해서 새 숫자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이 과정을 반복</a:t>
                </a:r>
                <a:r>
                  <a:rPr lang="en-US" altLang="ko-KR" dirty="0"/>
                  <a:t>, 'Feature map' </a:t>
                </a:r>
                <a:r>
                  <a:rPr lang="ko-KR" altLang="en-US" dirty="0"/>
                  <a:t>새 이미지 생성</a:t>
                </a:r>
                <a:r>
                  <a:rPr lang="en-US" altLang="ko-KR" dirty="0"/>
                  <a:t> 	-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Stride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num>
                          <m:den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이미지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판단 사용 숫자</a:t>
                </a:r>
                <a:r>
                  <a:rPr lang="en-US" altLang="ko-KR" dirty="0"/>
                  <a:t>↓, </a:t>
                </a:r>
                <a:r>
                  <a:rPr lang="ko-KR" altLang="en-US" dirty="0"/>
                  <a:t>연산 용이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Zero padding : </a:t>
                </a:r>
                <a:r>
                  <a:rPr lang="ko-KR" altLang="en-US" dirty="0"/>
                  <a:t>원본 이미지 가장자리</a:t>
                </a:r>
                <a:r>
                  <a:rPr lang="en-US" altLang="ko-KR" dirty="0"/>
                  <a:t> 0</a:t>
                </a:r>
                <a:r>
                  <a:rPr lang="ko-KR" altLang="en-US" dirty="0"/>
                  <a:t>인 부분 추가</a:t>
                </a:r>
                <a:r>
                  <a:rPr lang="en-US" altLang="ko-KR" dirty="0"/>
                  <a:t>→ Feature map</a:t>
                </a:r>
                <a:r>
                  <a:rPr lang="ko-KR" altLang="en-US" dirty="0"/>
                  <a:t>크기 유지 </a:t>
                </a:r>
                <a:r>
                  <a:rPr lang="en-US" altLang="ko-KR" dirty="0"/>
                  <a:t>+ '0' →</a:t>
                </a:r>
                <a:r>
                  <a:rPr lang="ko-KR" altLang="en-US" dirty="0"/>
                  <a:t> 어디가 가장자리</a:t>
                </a:r>
                <a:r>
                  <a:rPr lang="en-US" altLang="ko-KR" dirty="0"/>
                  <a:t>?</a:t>
                </a:r>
              </a:p>
              <a:p>
                <a:pPr lvl="1"/>
                <a:r>
                  <a:rPr lang="ko-KR" altLang="en-US" dirty="0"/>
                  <a:t>여러 </a:t>
                </a:r>
                <a:r>
                  <a:rPr lang="en-US" altLang="ko-KR" dirty="0"/>
                  <a:t>Feature map </a:t>
                </a:r>
                <a:r>
                  <a:rPr lang="ko-KR" altLang="en-US" dirty="0"/>
                  <a:t>생성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필터 난수 지정</a:t>
                </a:r>
                <a:r>
                  <a:rPr lang="en-US" altLang="ko-KR" dirty="0"/>
                  <a:t>→</a:t>
                </a:r>
                <a:r>
                  <a:rPr lang="ko-KR" altLang="en-US" dirty="0" err="1"/>
                  <a:t>학습중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BP</a:t>
                </a:r>
                <a:r>
                  <a:rPr lang="ko-KR" altLang="en-US" dirty="0"/>
                  <a:t>로 수정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왜</a:t>
                </a:r>
                <a:r>
                  <a:rPr lang="en-US" altLang="ko-KR" dirty="0"/>
                  <a:t>? 1</a:t>
                </a:r>
                <a:r>
                  <a:rPr lang="ko-KR" altLang="en-US" dirty="0"/>
                  <a:t>장 </a:t>
                </a:r>
                <a:r>
                  <a:rPr lang="en-US" altLang="ko-KR" dirty="0"/>
                  <a:t>FM</a:t>
                </a:r>
                <a:r>
                  <a:rPr lang="ko-KR" altLang="en-US" dirty="0"/>
                  <a:t>에서 놓칠 수 있음 다른 </a:t>
                </a:r>
                <a:r>
                  <a:rPr lang="en-US" altLang="ko-KR" dirty="0"/>
                  <a:t>FM</a:t>
                </a:r>
                <a:r>
                  <a:rPr lang="ko-KR" altLang="en-US" dirty="0"/>
                  <a:t>에서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Pooling layer : CL?→Pooling layer O, CL</a:t>
                </a:r>
                <a:r>
                  <a:rPr lang="ko-KR" altLang="en-US" dirty="0" err="1"/>
                  <a:t>값중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대표값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요약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일반적</a:t>
                </a:r>
                <a:r>
                  <a:rPr lang="en-US" altLang="ko-KR" dirty="0"/>
                  <a:t> : </a:t>
                </a:r>
                <a:r>
                  <a:rPr lang="en-US" altLang="ko-KR" dirty="0" err="1"/>
                  <a:t>maxpooling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CNN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 </a:t>
                </a:r>
                <a:r>
                  <a:rPr lang="en-US" altLang="ko-KR" dirty="0" err="1"/>
                  <a:t>Mnist</a:t>
                </a:r>
                <a:r>
                  <a:rPr lang="en-US" altLang="ko-KR" dirty="0"/>
                  <a:t> data</a:t>
                </a:r>
              </a:p>
              <a:p>
                <a:pPr lvl="1"/>
                <a:r>
                  <a:rPr lang="en-US" altLang="ko-KR" dirty="0"/>
                  <a:t>1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CL : 5*5 CF, 16</a:t>
                </a:r>
                <a:r>
                  <a:rPr lang="ko-KR" altLang="en-US" dirty="0"/>
                  <a:t>개 </a:t>
                </a:r>
                <a:r>
                  <a:rPr lang="en-US" altLang="ko-KR" dirty="0"/>
                  <a:t>FM → param#=416 = [(</a:t>
                </a:r>
                <a:r>
                  <a:rPr lang="ko-KR" altLang="en-US" dirty="0"/>
                  <a:t>필터크기</a:t>
                </a:r>
                <a:r>
                  <a:rPr lang="en-US" altLang="ko-KR" dirty="0"/>
                  <a:t>)*(</a:t>
                </a:r>
                <a:r>
                  <a:rPr lang="ko-KR" altLang="en-US" dirty="0"/>
                  <a:t>채널</a:t>
                </a:r>
                <a:r>
                  <a:rPr lang="en-US" altLang="ko-KR" dirty="0"/>
                  <a:t>)+(bias)]*(</a:t>
                </a:r>
                <a:r>
                  <a:rPr lang="ko-KR" altLang="en-US" dirty="0" err="1"/>
                  <a:t>필터수</a:t>
                </a:r>
                <a:r>
                  <a:rPr lang="en-US" altLang="ko-KR" dirty="0"/>
                  <a:t>); </a:t>
                </a:r>
                <a:r>
                  <a:rPr lang="ko-KR" altLang="en-US" dirty="0"/>
                  <a:t>크기</a:t>
                </a:r>
                <a:r>
                  <a:rPr lang="en-US" altLang="ko-KR" dirty="0"/>
                  <a:t>:28*28*1 → 24*24*16</a:t>
                </a:r>
              </a:p>
              <a:p>
                <a:pPr lvl="1"/>
                <a:r>
                  <a:rPr lang="en-US" altLang="ko-KR" dirty="0"/>
                  <a:t>1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MP: 24*24*16→12*12*16, param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# = 0; </a:t>
                </a:r>
                <a:r>
                  <a:rPr lang="ko-KR" altLang="en-US" dirty="0"/>
                  <a:t>∵</a:t>
                </a:r>
                <a:r>
                  <a:rPr lang="en-US" altLang="ko-KR" dirty="0"/>
                  <a:t>4</a:t>
                </a:r>
                <a:r>
                  <a:rPr lang="ko-KR" altLang="en-US" dirty="0"/>
                  <a:t>개중 큰 거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개만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2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CL : 3*3 CF, 32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FM → param # = 4640 = [(3*3)*16+1]*16; </a:t>
                </a:r>
                <a:r>
                  <a:rPr lang="ko-KR" altLang="en-US" dirty="0"/>
                  <a:t>크기</a:t>
                </a:r>
                <a:r>
                  <a:rPr lang="en-US" altLang="ko-KR" dirty="0"/>
                  <a:t>:12*12*16 → 10*10*32</a:t>
                </a:r>
              </a:p>
              <a:p>
                <a:pPr lvl="1"/>
                <a:r>
                  <a:rPr lang="en-US" altLang="ko-KR" dirty="0"/>
                  <a:t>2</a:t>
                </a:r>
                <a:r>
                  <a:rPr lang="ko-KR" altLang="en-US" dirty="0"/>
                  <a:t>번째 </a:t>
                </a:r>
                <a:r>
                  <a:rPr lang="en-US" altLang="ko-KR" dirty="0"/>
                  <a:t>MP: 10*10*32→5*5*32, param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# = 0</a:t>
                </a:r>
              </a:p>
              <a:p>
                <a:pPr lvl="1"/>
                <a:r>
                  <a:rPr lang="en-US" altLang="ko-KR" dirty="0"/>
                  <a:t>Flatten layer : 5*5*32</a:t>
                </a:r>
                <a:r>
                  <a:rPr lang="ko-KR" altLang="en-US" dirty="0"/>
                  <a:t>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하나의 벡터로</a:t>
                </a:r>
                <a:r>
                  <a:rPr lang="en-US" altLang="ko-KR" dirty="0"/>
                  <a:t>, 5*5*32→1*800</a:t>
                </a:r>
              </a:p>
              <a:p>
                <a:pPr lvl="1"/>
                <a:r>
                  <a:rPr lang="en-US" altLang="ko-KR" dirty="0"/>
                  <a:t>Dense layer : </a:t>
                </a:r>
                <a:r>
                  <a:rPr lang="en-US" altLang="ko-KR" dirty="0" err="1"/>
                  <a:t>softmax</a:t>
                </a:r>
                <a:r>
                  <a:rPr lang="en-US" altLang="ko-KR" dirty="0"/>
                  <a:t> : 1*800 → (</a:t>
                </a:r>
                <a:r>
                  <a:rPr lang="ko-KR" altLang="en-US" dirty="0"/>
                  <a:t>입력 </a:t>
                </a:r>
                <a:r>
                  <a:rPr lang="en-US" altLang="ko-KR" dirty="0"/>
                  <a:t>Feature)*(</a:t>
                </a:r>
                <a:r>
                  <a:rPr lang="ko-KR" altLang="en-US" dirty="0" err="1"/>
                  <a:t>출력뉴런</a:t>
                </a:r>
                <a:r>
                  <a:rPr lang="en-US" altLang="ko-KR" dirty="0"/>
                  <a:t>)+(bias)=800*10+10=8010</a:t>
                </a:r>
              </a:p>
              <a:p>
                <a:r>
                  <a:rPr lang="en-US" altLang="ko-KR" dirty="0"/>
                  <a:t>CIFAR10/ImageNet challenge/Transfer Learning</a:t>
                </a:r>
                <a:endParaRPr lang="ko-KR" altLang="en-US" dirty="0"/>
              </a:p>
              <a:p>
                <a:pPr lvl="1"/>
                <a:r>
                  <a:rPr lang="ko-KR" altLang="en-US" dirty="0"/>
                  <a:t>이미지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행렬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왜</a:t>
                </a:r>
                <a:r>
                  <a:rPr lang="en-US" altLang="ko-KR" dirty="0"/>
                  <a:t>? </a:t>
                </a:r>
                <a:r>
                  <a:rPr lang="ko-KR" altLang="en-US" dirty="0" err="1"/>
                  <a:t>컴터는</a:t>
                </a:r>
                <a:r>
                  <a:rPr lang="ko-KR" altLang="en-US" dirty="0"/>
                  <a:t> 이미지를 그림</a:t>
                </a:r>
                <a:r>
                  <a:rPr lang="en-US" altLang="ko-KR" dirty="0"/>
                  <a:t>X, </a:t>
                </a:r>
                <a:r>
                  <a:rPr lang="ko-KR" altLang="en-US" dirty="0"/>
                  <a:t>숫자로 표현</a:t>
                </a:r>
                <a:r>
                  <a:rPr lang="en-US" altLang="ko-KR" dirty="0"/>
                  <a:t>.+</a:t>
                </a:r>
                <a:r>
                  <a:rPr lang="ko-KR" altLang="en-US" dirty="0"/>
                  <a:t> 모델학습을 위해선 행렬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벡터로 입력 해야함</a:t>
                </a:r>
              </a:p>
              <a:p>
                <a:pPr lvl="1"/>
                <a:r>
                  <a:rPr lang="ko-KR" altLang="en-US" dirty="0"/>
                  <a:t>배치 정규화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미니배치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배치의 입력분포 달라짐</a:t>
                </a:r>
                <a:r>
                  <a:rPr lang="en-US" altLang="ko-KR" dirty="0"/>
                  <a:t>→</a:t>
                </a:r>
                <a:r>
                  <a:rPr lang="ko-KR" altLang="en-US" dirty="0" err="1"/>
                  <a:t>학습시</a:t>
                </a:r>
                <a:r>
                  <a:rPr lang="ko-KR" altLang="en-US" dirty="0"/>
                  <a:t> 해가 불안정 수렴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분포의 평균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분산을 정규화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Kernel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regularization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                           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학습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데이터를 잘 맞추나 아예 외움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오버피팅</a:t>
                </a:r>
                <a:r>
                  <a:rPr lang="en-US" altLang="ko-KR" dirty="0"/>
                  <a:t>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λ</a:t>
                </a:r>
                <a:r>
                  <a:rPr lang="ko-KR" altLang="en-US" dirty="0"/>
                  <a:t>항이 커짐</a:t>
                </a:r>
                <a:br>
                  <a:rPr lang="en-US" altLang="ko-KR" dirty="0"/>
                </a:br>
                <a:r>
                  <a:rPr lang="en-US" altLang="ko-KR" dirty="0"/>
                  <a:t>→</a:t>
                </a:r>
                <a:r>
                  <a:rPr lang="ko-KR" altLang="en-US" dirty="0"/>
                  <a:t> </a:t>
                </a:r>
                <a:r>
                  <a:rPr lang="el-GR" altLang="ko-KR" dirty="0"/>
                  <a:t>θ</a:t>
                </a:r>
                <a:r>
                  <a:rPr lang="ko-KR" altLang="en-US" dirty="0"/>
                  <a:t>항을 많이 사용</a:t>
                </a:r>
                <a:r>
                  <a:rPr lang="en-US" altLang="ko-KR" dirty="0"/>
                  <a:t>X &amp; cost </a:t>
                </a:r>
                <a:r>
                  <a:rPr lang="ko-KR" altLang="en-US" dirty="0"/>
                  <a:t>최소화가 목표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</a:t>
                </a:r>
                <a:r>
                  <a:rPr lang="el-GR" altLang="ko-KR" dirty="0"/>
                  <a:t>θ</a:t>
                </a:r>
                <a:r>
                  <a:rPr lang="ko-KR" altLang="en-US" dirty="0"/>
                  <a:t>를 지우는지는 </a:t>
                </a:r>
                <a:r>
                  <a:rPr lang="el-GR" altLang="ko-KR" dirty="0"/>
                  <a:t>θ</a:t>
                </a:r>
                <a:r>
                  <a:rPr lang="en-US" altLang="ko-KR" dirty="0"/>
                  <a:t>=0</a:t>
                </a:r>
                <a:r>
                  <a:rPr lang="ko-KR" altLang="en-US" dirty="0"/>
                  <a:t>으로 만들고 </a:t>
                </a:r>
                <a:r>
                  <a:rPr lang="en-US" altLang="ko-KR" dirty="0"/>
                  <a:t>BP</a:t>
                </a:r>
                <a:r>
                  <a:rPr lang="ko-KR" altLang="en-US" dirty="0"/>
                  <a:t>로 수정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Pre-trained network : </a:t>
                </a:r>
                <a:r>
                  <a:rPr lang="ko-KR" altLang="en-US" dirty="0"/>
                  <a:t>이미 </a:t>
                </a:r>
                <a:r>
                  <a:rPr lang="ko-KR" altLang="en-US" dirty="0" err="1"/>
                  <a:t>트레이닝된</a:t>
                </a:r>
                <a:r>
                  <a:rPr lang="ko-KR" altLang="en-US" dirty="0"/>
                  <a:t> 네트워크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공개된 버전</a:t>
                </a:r>
                <a:r>
                  <a:rPr lang="en-US" altLang="ko-KR" dirty="0"/>
                  <a:t>→ </a:t>
                </a:r>
                <a:r>
                  <a:rPr lang="ko-KR" altLang="en-US" dirty="0"/>
                  <a:t>커스터마이징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전이학습 </a:t>
                </a:r>
                <a:r>
                  <a:rPr lang="en-US" altLang="ko-KR" dirty="0"/>
                  <a:t>: pre trained network</a:t>
                </a:r>
                <a:r>
                  <a:rPr lang="ko-KR" altLang="en-US" dirty="0"/>
                  <a:t>를 계승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해당 모델과 유사문제 해결</a:t>
                </a:r>
                <a:r>
                  <a:rPr lang="en-US" altLang="ko-KR" dirty="0"/>
                  <a:t>. Convolution layer</a:t>
                </a:r>
                <a:r>
                  <a:rPr lang="ko-KR" altLang="en-US" dirty="0"/>
                  <a:t>는 재사용</a:t>
                </a:r>
                <a:r>
                  <a:rPr lang="en-US" altLang="ko-KR" dirty="0"/>
                  <a:t>, </a:t>
                </a:r>
                <a:br>
                  <a:rPr lang="en-US" altLang="ko-KR" dirty="0"/>
                </a:br>
                <a:r>
                  <a:rPr lang="en-US" altLang="ko-KR" dirty="0"/>
                  <a:t>Fully connected layer</a:t>
                </a:r>
                <a:r>
                  <a:rPr lang="ko-KR" altLang="en-US" dirty="0"/>
                  <a:t>만 </a:t>
                </a:r>
                <a:r>
                  <a:rPr lang="en-US" altLang="ko-KR" dirty="0"/>
                  <a:t>fine tuning</a:t>
                </a: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E94AEEDE-50F5-15CB-7A04-2D349D5B8A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4624" y="560512"/>
                <a:ext cx="6768752" cy="9289032"/>
              </a:xfrm>
              <a:blipFill>
                <a:blip r:embed="rId2"/>
                <a:stretch>
                  <a:fillRect t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그림 14">
            <a:extLst>
              <a:ext uri="{FF2B5EF4-FFF2-40B4-BE49-F238E27FC236}">
                <a16:creationId xmlns:a16="http://schemas.microsoft.com/office/drawing/2014/main" id="{F7D77EBF-B099-DC8A-46C7-F18F69E5709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4408" y="1979627"/>
            <a:ext cx="936104" cy="2553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1B30390-C32E-6373-D378-8A29606D7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83" y="2618665"/>
            <a:ext cx="512153" cy="12079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DC7AD5D-258F-AD86-031B-AEFC15023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277" y="2525087"/>
            <a:ext cx="1038799" cy="2705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55C08D1-8141-4898-E0CE-FACA624681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629"/>
          <a:stretch/>
        </p:blipFill>
        <p:spPr>
          <a:xfrm>
            <a:off x="5511452" y="2818746"/>
            <a:ext cx="1185484" cy="12777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6CD1A0B-D5C1-3B92-BF3D-754665744D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0097"/>
          <a:stretch>
            <a:fillRect/>
          </a:stretch>
        </p:blipFill>
        <p:spPr>
          <a:xfrm>
            <a:off x="5733256" y="2936776"/>
            <a:ext cx="782392" cy="21938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F9F0901-6DAB-26BF-1B27-3EFBF4DB1B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4505" r="23439" b="36795"/>
          <a:stretch>
            <a:fillRect/>
          </a:stretch>
        </p:blipFill>
        <p:spPr>
          <a:xfrm>
            <a:off x="4945908" y="2965789"/>
            <a:ext cx="705643" cy="22361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7CF55A1-9C44-ADE9-7886-1B9B8F68AD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74092"/>
          <a:stretch>
            <a:fillRect/>
          </a:stretch>
        </p:blipFill>
        <p:spPr>
          <a:xfrm>
            <a:off x="3960157" y="2957221"/>
            <a:ext cx="1005383" cy="24425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DEDA1B6-5928-5F22-D14F-3EDC7699A4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2816" y="7545288"/>
            <a:ext cx="1224136" cy="17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54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3DA-5DC6-F14B-68D8-F44D28C0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820AC51-D7BE-E29C-B46A-CB81FEE45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180345-EDF9-C875-A54E-A96C5B6E9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총정리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89360E1-3047-AA3B-651E-15088F1E2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9289032"/>
          </a:xfrm>
        </p:spPr>
        <p:txBody>
          <a:bodyPr>
            <a:normAutofit/>
          </a:bodyPr>
          <a:lstStyle/>
          <a:p>
            <a:r>
              <a:rPr lang="en-US" altLang="ko-KR" dirty="0"/>
              <a:t>AE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입력</a:t>
            </a:r>
            <a:r>
              <a:rPr lang="en-US" altLang="ko-KR" dirty="0"/>
              <a:t>→</a:t>
            </a:r>
            <a:r>
              <a:rPr lang="ko-KR" altLang="en-US" dirty="0" err="1"/>
              <a:t>저차원</a:t>
            </a:r>
            <a:r>
              <a:rPr lang="ko-KR" altLang="en-US" dirty="0"/>
              <a:t> 코드 압축</a:t>
            </a:r>
            <a:r>
              <a:rPr lang="en-US" altLang="ko-KR" dirty="0"/>
              <a:t>(=</a:t>
            </a:r>
            <a:r>
              <a:rPr lang="ko-KR" altLang="en-US" dirty="0"/>
              <a:t>인코더</a:t>
            </a:r>
            <a:r>
              <a:rPr lang="en-US" altLang="ko-KR" dirty="0"/>
              <a:t>) → </a:t>
            </a:r>
            <a:r>
              <a:rPr lang="ko-KR" altLang="en-US" dirty="0"/>
              <a:t>코드를 원본과 같은 차원 로 복원</a:t>
            </a:r>
            <a:r>
              <a:rPr lang="en-US" altLang="ko-KR" dirty="0"/>
              <a:t>(=</a:t>
            </a:r>
            <a:r>
              <a:rPr lang="ko-KR" altLang="en-US" dirty="0" err="1"/>
              <a:t>디코더</a:t>
            </a:r>
            <a:r>
              <a:rPr lang="en-US" altLang="ko-KR" dirty="0"/>
              <a:t>); </a:t>
            </a:r>
          </a:p>
          <a:p>
            <a:pPr lvl="1"/>
            <a:r>
              <a:rPr lang="ko-KR" altLang="en-US" dirty="0"/>
              <a:t>최대한 입력</a:t>
            </a:r>
            <a:r>
              <a:rPr lang="en-US" altLang="ko-KR" dirty="0"/>
              <a:t>=</a:t>
            </a:r>
            <a:r>
              <a:rPr lang="ko-KR" altLang="en-US" dirty="0"/>
              <a:t>출력 목표</a:t>
            </a:r>
            <a:r>
              <a:rPr lang="en-US" altLang="ko-KR" dirty="0"/>
              <a:t>.PCA</a:t>
            </a:r>
            <a:r>
              <a:rPr lang="ko-KR" altLang="en-US" dirty="0"/>
              <a:t>의 비선형 버전</a:t>
            </a:r>
            <a:r>
              <a:rPr lang="en-US" altLang="ko-KR" dirty="0"/>
              <a:t>,  </a:t>
            </a:r>
            <a:r>
              <a:rPr lang="ko-KR" altLang="en-US" dirty="0"/>
              <a:t>활성함수는 비선형 왜</a:t>
            </a:r>
            <a:r>
              <a:rPr lang="en-US" altLang="ko-KR" dirty="0"/>
              <a:t>? </a:t>
            </a:r>
            <a:r>
              <a:rPr lang="ko-KR" altLang="en-US" dirty="0"/>
              <a:t>선형이면 </a:t>
            </a:r>
            <a:br>
              <a:rPr lang="en-US" altLang="ko-KR" dirty="0"/>
            </a:br>
            <a:r>
              <a:rPr lang="ko-KR" altLang="en-US" dirty="0"/>
              <a:t>하나만 </a:t>
            </a:r>
            <a:r>
              <a:rPr lang="ko-KR" altLang="en-US" dirty="0" err="1"/>
              <a:t>쌓는것과</a:t>
            </a:r>
            <a:r>
              <a:rPr lang="ko-KR" altLang="en-US" dirty="0"/>
              <a:t> 동일</a:t>
            </a:r>
            <a:endParaRPr lang="en-US" altLang="ko-KR" dirty="0"/>
          </a:p>
          <a:p>
            <a:pPr lvl="1"/>
            <a:r>
              <a:rPr lang="en-US" altLang="ko-KR" dirty="0"/>
              <a:t>PCA : </a:t>
            </a:r>
            <a:r>
              <a:rPr lang="ko-KR" altLang="en-US" dirty="0"/>
              <a:t>변수간 상관관계 </a:t>
            </a:r>
            <a:r>
              <a:rPr lang="en-US" altLang="ko-KR" dirty="0"/>
              <a:t>→ </a:t>
            </a:r>
            <a:r>
              <a:rPr lang="ko-KR" altLang="en-US" dirty="0"/>
              <a:t>차원축소</a:t>
            </a:r>
            <a:r>
              <a:rPr lang="en-US" altLang="ko-KR" dirty="0"/>
              <a:t>. </a:t>
            </a:r>
            <a:r>
              <a:rPr lang="ko-KR" altLang="en-US" dirty="0"/>
              <a:t>공통</a:t>
            </a:r>
            <a:r>
              <a:rPr lang="en-US" altLang="ko-KR" dirty="0"/>
              <a:t>/</a:t>
            </a:r>
            <a:r>
              <a:rPr lang="ko-KR" altLang="en-US" dirty="0"/>
              <a:t>고유 영역에서 공통</a:t>
            </a:r>
            <a:br>
              <a:rPr lang="en-US" altLang="ko-KR" dirty="0"/>
            </a:br>
            <a:r>
              <a:rPr lang="en-US" altLang="ko-KR" dirty="0"/>
              <a:t>→</a:t>
            </a:r>
            <a:r>
              <a:rPr lang="ko-KR" altLang="en-US" dirty="0"/>
              <a:t>많은 설명</a:t>
            </a:r>
            <a:r>
              <a:rPr lang="en-US" altLang="ko-KR" dirty="0"/>
              <a:t>? </a:t>
            </a:r>
            <a:r>
              <a:rPr lang="ko-KR" altLang="en-US" dirty="0"/>
              <a:t>고유 지움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정규화를 가정</a:t>
            </a:r>
            <a:r>
              <a:rPr lang="en-US" altLang="ko-KR" dirty="0"/>
              <a:t>, (X</a:t>
            </a:r>
            <a:r>
              <a:rPr lang="ko-KR" altLang="en-US" dirty="0"/>
              <a:t>분포</a:t>
            </a:r>
            <a:r>
              <a:rPr lang="en-US" altLang="ko-KR" dirty="0"/>
              <a:t>)=(Y</a:t>
            </a:r>
            <a:r>
              <a:rPr lang="ko-KR" altLang="en-US" dirty="0"/>
              <a:t>분포</a:t>
            </a:r>
            <a:r>
              <a:rPr lang="en-US" altLang="ko-KR" dirty="0"/>
              <a:t>)=1, </a:t>
            </a:r>
            <a:r>
              <a:rPr lang="ko-KR" altLang="en-US" dirty="0"/>
              <a:t>합</a:t>
            </a:r>
            <a:r>
              <a:rPr lang="en-US" altLang="ko-KR" dirty="0"/>
              <a:t>=2 → (PCA1 </a:t>
            </a:r>
            <a:r>
              <a:rPr lang="ko-KR" altLang="en-US" dirty="0"/>
              <a:t>분포</a:t>
            </a:r>
            <a:r>
              <a:rPr lang="en-US" altLang="ko-KR" dirty="0"/>
              <a:t>)&gt;1?,</a:t>
            </a:r>
            <a:br>
              <a:rPr lang="en-US" altLang="ko-KR" dirty="0"/>
            </a:br>
            <a:r>
              <a:rPr lang="en-US" altLang="ko-KR" dirty="0"/>
              <a:t> (PCA2 </a:t>
            </a:r>
            <a:r>
              <a:rPr lang="ko-KR" altLang="en-US" dirty="0"/>
              <a:t>분포</a:t>
            </a:r>
            <a:r>
              <a:rPr lang="en-US" altLang="ko-KR" dirty="0"/>
              <a:t>) &lt;1 → PCA2 X. </a:t>
            </a:r>
            <a:r>
              <a:rPr lang="ko-KR" altLang="en-US" dirty="0" err="1"/>
              <a:t>불필</a:t>
            </a:r>
            <a:r>
              <a:rPr lang="ko-KR" altLang="en-US" dirty="0"/>
              <a:t> 차원</a:t>
            </a:r>
            <a:r>
              <a:rPr lang="en-US" altLang="ko-KR" dirty="0"/>
              <a:t>↓</a:t>
            </a:r>
          </a:p>
          <a:p>
            <a:pPr lvl="1"/>
            <a:r>
              <a:rPr lang="en-US" altLang="ko-KR" dirty="0"/>
              <a:t>Noise</a:t>
            </a:r>
            <a:r>
              <a:rPr lang="ko-KR" altLang="en-US" dirty="0"/>
              <a:t> </a:t>
            </a:r>
            <a:r>
              <a:rPr lang="en-US" altLang="ko-KR" dirty="0"/>
              <a:t>Reduction : </a:t>
            </a:r>
            <a:r>
              <a:rPr lang="ko-KR" altLang="en-US" dirty="0"/>
              <a:t>차원 </a:t>
            </a:r>
            <a:r>
              <a:rPr lang="ko-KR" altLang="en-US" dirty="0" err="1"/>
              <a:t>축소시</a:t>
            </a:r>
            <a:r>
              <a:rPr lang="ko-KR" altLang="en-US" dirty="0"/>
              <a:t> </a:t>
            </a:r>
            <a:r>
              <a:rPr lang="ko-KR" altLang="en-US" dirty="0" err="1"/>
              <a:t>뚜렷</a:t>
            </a:r>
            <a:r>
              <a:rPr lang="en-US" altLang="ko-KR" dirty="0"/>
              <a:t>X </a:t>
            </a:r>
            <a:r>
              <a:rPr lang="ko-KR" altLang="en-US" dirty="0"/>
              <a:t>특징</a:t>
            </a:r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/>
              <a:t>노이즈</a:t>
            </a:r>
            <a:r>
              <a:rPr lang="en-US" altLang="ko-KR" dirty="0"/>
              <a:t>X</a:t>
            </a:r>
            <a:r>
              <a:rPr lang="ko-KR" altLang="en-US" dirty="0"/>
              <a:t>어야 </a:t>
            </a:r>
            <a:r>
              <a:rPr lang="en-US" altLang="ko-KR" dirty="0"/>
              <a:t>latent layer </a:t>
            </a:r>
            <a:r>
              <a:rPr lang="ko-KR" altLang="en-US" dirty="0"/>
              <a:t>학습</a:t>
            </a:r>
            <a:r>
              <a:rPr lang="en-US" altLang="ko-KR" dirty="0"/>
              <a:t>O. </a:t>
            </a:r>
            <a:r>
              <a:rPr lang="en-US" altLang="ko-KR" dirty="0" err="1"/>
              <a:t>flatten+convolution</a:t>
            </a:r>
            <a:r>
              <a:rPr lang="en-US" altLang="ko-KR" dirty="0"/>
              <a:t> AE →  noise reduction</a:t>
            </a:r>
          </a:p>
          <a:p>
            <a:pPr lvl="1"/>
            <a:r>
              <a:rPr lang="en-US" altLang="ko-KR" dirty="0"/>
              <a:t>Anomaly detection : AE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비정상 복</a:t>
            </a:r>
            <a:r>
              <a:rPr lang="en-US" altLang="ko-KR" dirty="0"/>
              <a:t>?-&gt;</a:t>
            </a:r>
            <a:r>
              <a:rPr lang="ko-KR" altLang="en-US" dirty="0"/>
              <a:t>학습</a:t>
            </a:r>
            <a:r>
              <a:rPr lang="en-US" altLang="ko-KR" dirty="0"/>
              <a:t>X, </a:t>
            </a:r>
            <a:r>
              <a:rPr lang="ko-KR" altLang="en-US" dirty="0" err="1"/>
              <a:t>복원률</a:t>
            </a:r>
            <a:r>
              <a:rPr lang="en-US" altLang="ko-KR" dirty="0"/>
              <a:t>↓, </a:t>
            </a:r>
            <a:r>
              <a:rPr lang="en-US" altLang="ko-KR" dirty="0" err="1"/>
              <a:t>KLd</a:t>
            </a:r>
            <a:r>
              <a:rPr lang="en-US" altLang="ko-KR" dirty="0"/>
              <a:t>↑↑</a:t>
            </a:r>
          </a:p>
          <a:p>
            <a:pPr lvl="1"/>
            <a:r>
              <a:rPr lang="en-US" altLang="ko-KR" dirty="0"/>
              <a:t>Colorization : </a:t>
            </a:r>
            <a:r>
              <a:rPr lang="ko-KR" altLang="en-US" dirty="0"/>
              <a:t>흑백</a:t>
            </a:r>
            <a:r>
              <a:rPr lang="en-US" altLang="ko-KR" dirty="0"/>
              <a:t>→</a:t>
            </a:r>
            <a:r>
              <a:rPr lang="ko-KR" altLang="en-US" dirty="0"/>
              <a:t>컬러 순으로 학습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컬러복원</a:t>
            </a:r>
            <a:r>
              <a:rPr lang="en-US" altLang="ko-KR" dirty="0"/>
              <a:t>X. </a:t>
            </a:r>
            <a:r>
              <a:rPr lang="ko-KR" altLang="en-US" dirty="0"/>
              <a:t>색칠하기</a:t>
            </a:r>
            <a:endParaRPr lang="en-US" altLang="ko-KR" dirty="0"/>
          </a:p>
          <a:p>
            <a:pPr lvl="1"/>
            <a:r>
              <a:rPr lang="en-US" altLang="ko-KR" dirty="0"/>
              <a:t>Image search : AE</a:t>
            </a:r>
            <a:r>
              <a:rPr lang="ko-KR" altLang="en-US" dirty="0"/>
              <a:t> </a:t>
            </a:r>
            <a:r>
              <a:rPr lang="en-US" altLang="ko-KR" dirty="0" err="1"/>
              <a:t>incoder</a:t>
            </a:r>
            <a:r>
              <a:rPr lang="ko-KR" altLang="en-US" dirty="0"/>
              <a:t> </a:t>
            </a:r>
            <a:r>
              <a:rPr lang="en-US" altLang="ko-KR" dirty="0"/>
              <a:t>→</a:t>
            </a:r>
            <a:r>
              <a:rPr lang="ko-KR" altLang="en-US" dirty="0"/>
              <a:t> </a:t>
            </a:r>
            <a:r>
              <a:rPr lang="en-US" altLang="ko-KR" dirty="0"/>
              <a:t>code O, → 1) (DB </a:t>
            </a:r>
            <a:r>
              <a:rPr lang="ko-KR" altLang="en-US" dirty="0"/>
              <a:t>이미지 </a:t>
            </a:r>
            <a:r>
              <a:rPr lang="en-US" altLang="ko-KR" dirty="0"/>
              <a:t>→ Encoded </a:t>
            </a:r>
            <a:r>
              <a:rPr lang="ko-KR" altLang="en-US" dirty="0"/>
              <a:t>벡터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2) (</a:t>
            </a:r>
            <a:r>
              <a:rPr lang="ko-KR" altLang="en-US" dirty="0"/>
              <a:t>사용자 이미지</a:t>
            </a:r>
            <a:r>
              <a:rPr lang="en-US" altLang="ko-KR" dirty="0"/>
              <a:t>→encoded </a:t>
            </a:r>
            <a:r>
              <a:rPr lang="ko-KR" altLang="en-US" dirty="0"/>
              <a:t>벡터</a:t>
            </a:r>
            <a:r>
              <a:rPr lang="en-US" altLang="ko-KR" dirty="0"/>
              <a:t>) 3) KNN </a:t>
            </a:r>
            <a:r>
              <a:rPr lang="ko-KR" altLang="en-US" dirty="0"/>
              <a:t>기법</a:t>
            </a:r>
            <a:r>
              <a:rPr lang="en-US" altLang="ko-KR" dirty="0"/>
              <a:t>. </a:t>
            </a:r>
            <a:r>
              <a:rPr lang="ko-KR" altLang="en-US" dirty="0"/>
              <a:t>유사도</a:t>
            </a:r>
            <a:r>
              <a:rPr lang="en-US" altLang="ko-KR" dirty="0"/>
              <a:t> </a:t>
            </a:r>
            <a:r>
              <a:rPr lang="ko-KR" altLang="en-US" dirty="0"/>
              <a:t>측정</a:t>
            </a:r>
            <a:r>
              <a:rPr lang="en-US" altLang="ko-KR" dirty="0"/>
              <a:t>. </a:t>
            </a:r>
            <a:r>
              <a:rPr lang="ko-KR" altLang="en-US" dirty="0"/>
              <a:t>가까운 이미지</a:t>
            </a:r>
            <a:r>
              <a:rPr lang="en-US" altLang="ko-KR" dirty="0"/>
              <a:t>?</a:t>
            </a:r>
            <a:endParaRPr lang="ko-KR" altLang="en-US" dirty="0"/>
          </a:p>
          <a:p>
            <a:r>
              <a:rPr lang="en-US" altLang="ko-KR" dirty="0"/>
              <a:t>RNN : </a:t>
            </a:r>
            <a:r>
              <a:rPr lang="ko-KR" altLang="en-US" dirty="0"/>
              <a:t>과거정보</a:t>
            </a:r>
            <a:r>
              <a:rPr lang="en-US" altLang="ko-KR" dirty="0"/>
              <a:t>(h_(t-1))→ </a:t>
            </a:r>
            <a:r>
              <a:rPr lang="ko-KR" altLang="en-US" dirty="0"/>
              <a:t>현재상태</a:t>
            </a:r>
            <a:r>
              <a:rPr lang="en-US" altLang="ko-KR" dirty="0"/>
              <a:t>(</a:t>
            </a:r>
            <a:r>
              <a:rPr lang="en-US" altLang="ko-KR" dirty="0" err="1"/>
              <a:t>h_t</a:t>
            </a:r>
            <a:r>
              <a:rPr lang="en-US" altLang="ko-KR" dirty="0"/>
              <a:t>) </a:t>
            </a:r>
            <a:r>
              <a:rPr lang="ko-KR" altLang="en-US" dirty="0"/>
              <a:t>결정 영향</a:t>
            </a:r>
          </a:p>
          <a:p>
            <a:pPr lvl="1"/>
            <a:r>
              <a:rPr lang="en-US" altLang="ko-KR" dirty="0"/>
              <a:t>Time series Forecasting : </a:t>
            </a:r>
            <a:r>
              <a:rPr lang="ko-KR" altLang="en-US" dirty="0"/>
              <a:t>시간</a:t>
            </a:r>
            <a:r>
              <a:rPr lang="en-US" altLang="ko-KR" dirty="0"/>
              <a:t>O</a:t>
            </a:r>
            <a:r>
              <a:rPr lang="ko-KR" altLang="en-US" dirty="0"/>
              <a:t>순서 데이터</a:t>
            </a:r>
            <a:r>
              <a:rPr lang="en-US" altLang="ko-KR" dirty="0"/>
              <a:t>→</a:t>
            </a:r>
            <a:r>
              <a:rPr lang="ko-KR" altLang="en-US" dirty="0"/>
              <a:t>미래예측 </a:t>
            </a:r>
            <a:r>
              <a:rPr lang="en-US" altLang="ko-KR" dirty="0"/>
              <a:t>// AR : t</a:t>
            </a:r>
            <a:r>
              <a:rPr lang="ko-KR" altLang="en-US" dirty="0"/>
              <a:t>시점 값</a:t>
            </a:r>
            <a:r>
              <a:rPr lang="en-US" altLang="ko-KR" dirty="0"/>
              <a:t>→ t-1</a:t>
            </a:r>
            <a:r>
              <a:rPr lang="ko-KR" altLang="en-US" dirty="0"/>
              <a:t>시점 값에 영향</a:t>
            </a:r>
            <a:endParaRPr lang="en-US" altLang="ko-KR" dirty="0"/>
          </a:p>
          <a:p>
            <a:pPr lvl="1"/>
            <a:r>
              <a:rPr lang="en-US" altLang="ko-KR" dirty="0" err="1"/>
              <a:t>h_t</a:t>
            </a:r>
            <a:r>
              <a:rPr lang="en-US" altLang="ko-KR" dirty="0"/>
              <a:t>=f(h_(t-1),</a:t>
            </a:r>
            <a:r>
              <a:rPr lang="en-US" altLang="ko-KR" dirty="0" err="1"/>
              <a:t>x_t</a:t>
            </a:r>
            <a:r>
              <a:rPr lang="en-US" altLang="ko-KR" dirty="0"/>
              <a:t>) = tanh(</a:t>
            </a:r>
            <a:r>
              <a:rPr lang="en-US" altLang="ko-KR" dirty="0" err="1"/>
              <a:t>W_hh</a:t>
            </a:r>
            <a:r>
              <a:rPr lang="en-US" altLang="ko-KR" dirty="0"/>
              <a:t>*h_(t-1)+</a:t>
            </a:r>
            <a:r>
              <a:rPr lang="en-US" altLang="ko-KR" dirty="0" err="1"/>
              <a:t>W_xh</a:t>
            </a:r>
            <a:r>
              <a:rPr lang="en-US" altLang="ko-KR" dirty="0"/>
              <a:t>*</a:t>
            </a:r>
            <a:r>
              <a:rPr lang="en-US" altLang="ko-KR" dirty="0" err="1"/>
              <a:t>x_t</a:t>
            </a:r>
            <a:r>
              <a:rPr lang="en-US" altLang="ko-KR" dirty="0"/>
              <a:t>); Y_(t-1)…Y_0</a:t>
            </a:r>
            <a:r>
              <a:rPr lang="ko-KR" altLang="en-US" dirty="0"/>
              <a:t>순</a:t>
            </a:r>
            <a:endParaRPr lang="en-US" altLang="ko-KR" dirty="0"/>
          </a:p>
          <a:p>
            <a:pPr lvl="1"/>
            <a:r>
              <a:rPr lang="en-US" altLang="ko-KR" dirty="0"/>
              <a:t>Char CNN </a:t>
            </a:r>
            <a:r>
              <a:rPr lang="ko-KR" altLang="en-US" dirty="0"/>
              <a:t>과정 </a:t>
            </a:r>
            <a:r>
              <a:rPr lang="en-US" altLang="ko-KR" dirty="0"/>
              <a:t>: (OHE)→h_0</a:t>
            </a:r>
            <a:r>
              <a:rPr lang="ko-KR" altLang="en-US" dirty="0"/>
              <a:t>난수</a:t>
            </a:r>
            <a:r>
              <a:rPr lang="en-US" altLang="ko-KR" dirty="0"/>
              <a:t>→(</a:t>
            </a:r>
            <a:r>
              <a:rPr lang="en-US" altLang="ko-KR" dirty="0" err="1"/>
              <a:t>h_t→y_t</a:t>
            </a:r>
            <a:r>
              <a:rPr lang="en-US" altLang="ko-KR" dirty="0"/>
              <a:t>=</a:t>
            </a:r>
            <a:r>
              <a:rPr lang="en-US" altLang="ko-KR" dirty="0" err="1"/>
              <a:t>W_hy</a:t>
            </a:r>
            <a:r>
              <a:rPr lang="en-US" altLang="ko-KR" dirty="0"/>
              <a:t>*</a:t>
            </a:r>
            <a:r>
              <a:rPr lang="en-US" altLang="ko-KR" dirty="0" err="1"/>
              <a:t>h_t</a:t>
            </a:r>
            <a:r>
              <a:rPr lang="en-US" altLang="ko-KR" dirty="0"/>
              <a:t>)→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각 </a:t>
            </a:r>
            <a:r>
              <a:rPr lang="en-US" altLang="ko-KR" dirty="0"/>
              <a:t>output layer</a:t>
            </a:r>
            <a:r>
              <a:rPr lang="ko-KR" altLang="en-US" dirty="0"/>
              <a:t>의 </a:t>
            </a:r>
            <a:r>
              <a:rPr lang="en-US" altLang="ko-KR" dirty="0"/>
              <a:t>loss</a:t>
            </a:r>
            <a:r>
              <a:rPr lang="ko-KR" altLang="en-US" dirty="0"/>
              <a:t>를 </a:t>
            </a:r>
            <a:r>
              <a:rPr lang="en-US" altLang="ko-KR" dirty="0"/>
              <a:t>BP</a:t>
            </a:r>
            <a:r>
              <a:rPr lang="ko-KR" altLang="en-US" dirty="0"/>
              <a:t>로 조정</a:t>
            </a:r>
            <a:endParaRPr lang="en-US" altLang="ko-KR" dirty="0"/>
          </a:p>
          <a:p>
            <a:pPr lvl="1"/>
            <a:r>
              <a:rPr lang="en-US" altLang="ko-KR" dirty="0"/>
              <a:t>Prediction vs</a:t>
            </a:r>
            <a:r>
              <a:rPr lang="ko-KR" altLang="en-US" dirty="0"/>
              <a:t> </a:t>
            </a:r>
            <a:r>
              <a:rPr lang="en-US" altLang="ko-KR" dirty="0"/>
              <a:t>Generative : prediction : </a:t>
            </a:r>
            <a:r>
              <a:rPr lang="ko-KR" altLang="en-US" dirty="0"/>
              <a:t>학습한 대답</a:t>
            </a:r>
            <a:r>
              <a:rPr lang="en-US" altLang="ko-KR" dirty="0"/>
              <a:t>. </a:t>
            </a:r>
            <a:r>
              <a:rPr lang="ko-KR" altLang="en-US" dirty="0" err="1"/>
              <a:t>같</a:t>
            </a:r>
            <a:r>
              <a:rPr lang="en-US" altLang="ko-KR" dirty="0"/>
              <a:t>I→</a:t>
            </a:r>
            <a:r>
              <a:rPr lang="ko-KR" altLang="en-US" dirty="0" err="1"/>
              <a:t>같</a:t>
            </a:r>
            <a:r>
              <a:rPr lang="en-US" altLang="ko-KR" dirty="0"/>
              <a:t>O, GAI : </a:t>
            </a:r>
            <a:r>
              <a:rPr lang="ko-KR" altLang="en-US" dirty="0"/>
              <a:t>학 대답</a:t>
            </a:r>
            <a:r>
              <a:rPr lang="en-US" altLang="ko-KR" dirty="0"/>
              <a:t>X, </a:t>
            </a:r>
            <a:r>
              <a:rPr lang="ko-KR" altLang="en-US" dirty="0"/>
              <a:t>분포</a:t>
            </a:r>
            <a:r>
              <a:rPr lang="en-US" altLang="ko-KR" dirty="0"/>
              <a:t>→</a:t>
            </a:r>
            <a:r>
              <a:rPr lang="ko-KR" altLang="en-US" dirty="0"/>
              <a:t>새 생성</a:t>
            </a:r>
            <a:r>
              <a:rPr lang="en-US" altLang="ko-KR" dirty="0"/>
              <a:t>. </a:t>
            </a:r>
            <a:r>
              <a:rPr lang="ko-KR" altLang="en-US" dirty="0" err="1"/>
              <a:t>같</a:t>
            </a:r>
            <a:r>
              <a:rPr lang="en-US" altLang="ko-KR" dirty="0"/>
              <a:t>I→</a:t>
            </a:r>
            <a:r>
              <a:rPr lang="ko-KR" altLang="en-US" dirty="0"/>
              <a:t>다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 err="1"/>
              <a:t>TimeDIstributed</a:t>
            </a:r>
            <a:r>
              <a:rPr lang="en-US" altLang="ko-KR" dirty="0"/>
              <a:t>() : RNN</a:t>
            </a:r>
            <a:r>
              <a:rPr lang="ko-KR" altLang="en-US" dirty="0"/>
              <a:t> 출</a:t>
            </a:r>
            <a:r>
              <a:rPr lang="en-US" altLang="ko-KR" dirty="0"/>
              <a:t>→ </a:t>
            </a:r>
            <a:r>
              <a:rPr lang="ko-KR" altLang="en-US" dirty="0"/>
              <a:t>모든 </a:t>
            </a:r>
            <a:r>
              <a:rPr lang="en-US" altLang="ko-KR" dirty="0"/>
              <a:t>Output </a:t>
            </a:r>
            <a:r>
              <a:rPr lang="ko-KR" altLang="en-US" dirty="0"/>
              <a:t>반영</a:t>
            </a:r>
            <a:r>
              <a:rPr lang="en-US" altLang="ko-KR" dirty="0"/>
              <a:t>. Many</a:t>
            </a:r>
            <a:r>
              <a:rPr lang="ko-KR" altLang="en-US" dirty="0"/>
              <a:t> </a:t>
            </a:r>
            <a:r>
              <a:rPr lang="en-US" altLang="ko-KR" dirty="0"/>
              <a:t>to many </a:t>
            </a:r>
            <a:r>
              <a:rPr lang="ko-KR" altLang="en-US" dirty="0"/>
              <a:t>↔ </a:t>
            </a:r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 one : </a:t>
            </a:r>
            <a:r>
              <a:rPr lang="ko-KR" altLang="en-US" dirty="0"/>
              <a:t>마지막 </a:t>
            </a:r>
            <a:r>
              <a:rPr lang="en-US" altLang="ko-KR" dirty="0"/>
              <a:t>output</a:t>
            </a:r>
            <a:r>
              <a:rPr lang="ko-KR" altLang="en-US" dirty="0"/>
              <a:t>만</a:t>
            </a:r>
          </a:p>
          <a:p>
            <a:pPr lvl="1"/>
            <a:r>
              <a:rPr lang="en-US" altLang="ko-KR" dirty="0"/>
              <a:t>Many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one</a:t>
            </a:r>
            <a:r>
              <a:rPr lang="ko-KR" altLang="en-US" dirty="0"/>
              <a:t> </a:t>
            </a:r>
            <a:r>
              <a:rPr lang="en-US" altLang="ko-KR" dirty="0"/>
              <a:t>RNN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입력시</a:t>
            </a:r>
            <a:r>
              <a:rPr lang="ko-KR" altLang="en-US" dirty="0"/>
              <a:t> 발생 문제 </a:t>
            </a:r>
            <a:r>
              <a:rPr lang="en-US" altLang="ko-KR" dirty="0"/>
              <a:t>: </a:t>
            </a:r>
            <a:r>
              <a:rPr lang="en-US" altLang="ko-KR" dirty="0" err="1"/>
              <a:t>x_data</a:t>
            </a:r>
            <a:r>
              <a:rPr lang="en-US" altLang="ko-KR" dirty="0"/>
              <a:t> </a:t>
            </a:r>
            <a:r>
              <a:rPr lang="ko-KR" altLang="en-US" dirty="0"/>
              <a:t>길이</a:t>
            </a:r>
            <a:r>
              <a:rPr lang="en-US" altLang="ko-KR" dirty="0"/>
              <a:t> </a:t>
            </a:r>
            <a:r>
              <a:rPr lang="ko-KR" altLang="en-US" dirty="0"/>
              <a:t>다름</a:t>
            </a:r>
            <a:r>
              <a:rPr lang="en-US" altLang="ko-KR" dirty="0"/>
              <a:t>→padding. </a:t>
            </a:r>
            <a:r>
              <a:rPr lang="ko-KR" altLang="en-US" dirty="0"/>
              <a:t>나중에</a:t>
            </a:r>
            <a:r>
              <a:rPr lang="en-US" altLang="ko-KR" dirty="0"/>
              <a:t> OHE; 6774000000→10*10 </a:t>
            </a:r>
            <a:r>
              <a:rPr lang="ko-KR" altLang="en-US" dirty="0"/>
              <a:t>행렬</a:t>
            </a:r>
            <a:endParaRPr lang="en-US" altLang="ko-KR" dirty="0"/>
          </a:p>
          <a:p>
            <a:pPr lvl="1"/>
            <a:r>
              <a:rPr lang="ko-KR" altLang="en-US" dirty="0"/>
              <a:t>축소</a:t>
            </a:r>
            <a:r>
              <a:rPr lang="en-US" altLang="ko-KR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ohe</a:t>
            </a:r>
            <a:r>
              <a:rPr lang="ko-KR" altLang="en-US" dirty="0"/>
              <a:t>의 차원</a:t>
            </a:r>
            <a:r>
              <a:rPr lang="en-US" altLang="ko-KR" dirty="0"/>
              <a:t>↓, </a:t>
            </a:r>
            <a:r>
              <a:rPr lang="ko-KR" altLang="en-US" dirty="0"/>
              <a:t>차원의</a:t>
            </a:r>
            <a:r>
              <a:rPr lang="en-US" altLang="ko-KR" dirty="0"/>
              <a:t> </a:t>
            </a:r>
            <a:r>
              <a:rPr lang="ko-KR" altLang="en-US" dirty="0"/>
              <a:t>저주</a:t>
            </a:r>
            <a:r>
              <a:rPr lang="en-US" altLang="ko-KR" dirty="0"/>
              <a:t>(=</a:t>
            </a:r>
            <a:r>
              <a:rPr lang="ko-KR" altLang="en-US" dirty="0"/>
              <a:t>입력차원</a:t>
            </a:r>
            <a:r>
              <a:rPr lang="en-US" altLang="ko-KR" dirty="0"/>
              <a:t>↑↑→</a:t>
            </a:r>
            <a:r>
              <a:rPr lang="ko-KR" altLang="en-US" dirty="0"/>
              <a:t>계산효율</a:t>
            </a:r>
            <a:r>
              <a:rPr lang="en-US" altLang="ko-KR" dirty="0"/>
              <a:t>/</a:t>
            </a:r>
            <a:r>
              <a:rPr lang="ko-KR" altLang="en-US" dirty="0"/>
              <a:t>성능</a:t>
            </a:r>
            <a:r>
              <a:rPr lang="en-US" altLang="ko-KR" dirty="0"/>
              <a:t>↓)</a:t>
            </a:r>
            <a:r>
              <a:rPr lang="ko-KR" altLang="en-US" dirty="0"/>
              <a:t>해결</a:t>
            </a:r>
            <a:r>
              <a:rPr lang="en-US" altLang="ko-KR" dirty="0"/>
              <a:t>→</a:t>
            </a:r>
            <a:r>
              <a:rPr lang="ko-KR" altLang="en-US" dirty="0" err="1"/>
              <a:t>적은차원으로</a:t>
            </a:r>
            <a:r>
              <a:rPr lang="ko-KR" altLang="en-US" dirty="0"/>
              <a:t> 단어표현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 err="1"/>
              <a:t>비슷</a:t>
            </a:r>
            <a:r>
              <a:rPr lang="ko-KR" altLang="en-US" dirty="0"/>
              <a:t> 의미 문장</a:t>
            </a:r>
            <a:r>
              <a:rPr lang="en-US" altLang="ko-KR" dirty="0"/>
              <a:t>/</a:t>
            </a:r>
            <a:r>
              <a:rPr lang="ko-KR" altLang="en-US" dirty="0"/>
              <a:t>단어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r>
              <a:rPr lang="en-US" altLang="ko-KR" dirty="0"/>
              <a:t>→ </a:t>
            </a:r>
            <a:r>
              <a:rPr lang="ko-KR" altLang="en-US" dirty="0"/>
              <a:t>둘간 유사도≒</a:t>
            </a:r>
            <a:r>
              <a:rPr lang="en-US" altLang="ko-KR" dirty="0"/>
              <a:t>1 (</a:t>
            </a:r>
            <a:r>
              <a:rPr lang="en-US" altLang="ko-KR" dirty="0" err="1"/>
              <a:t>ohe</a:t>
            </a:r>
            <a:r>
              <a:rPr lang="en-US" altLang="ko-KR" dirty="0"/>
              <a:t>:(</a:t>
            </a:r>
            <a:r>
              <a:rPr lang="ko-KR" altLang="en-US" dirty="0" err="1"/>
              <a:t>비슷</a:t>
            </a:r>
            <a:r>
              <a:rPr lang="en-US" altLang="ko-KR" dirty="0"/>
              <a:t>?-&gt;</a:t>
            </a:r>
            <a:r>
              <a:rPr lang="ko-KR" altLang="en-US" dirty="0"/>
              <a:t>다름</a:t>
            </a:r>
            <a:r>
              <a:rPr lang="en-US" altLang="ko-KR" dirty="0"/>
              <a:t>)-(</a:t>
            </a:r>
            <a:r>
              <a:rPr lang="ko-KR" altLang="en-US" dirty="0" err="1"/>
              <a:t>임베딩</a:t>
            </a:r>
            <a:r>
              <a:rPr lang="en-US" altLang="ko-KR" dirty="0"/>
              <a:t>)→</a:t>
            </a:r>
            <a:r>
              <a:rPr lang="ko-KR" altLang="en-US" dirty="0"/>
              <a:t>유사도≒</a:t>
            </a:r>
            <a:r>
              <a:rPr lang="en-US" altLang="ko-KR" dirty="0"/>
              <a:t>1)→</a:t>
            </a:r>
            <a:r>
              <a:rPr lang="ko-KR" altLang="en-US" dirty="0"/>
              <a:t>단어간 의미</a:t>
            </a:r>
            <a:r>
              <a:rPr lang="en-US" altLang="ko-KR" dirty="0"/>
              <a:t>/</a:t>
            </a:r>
            <a:r>
              <a:rPr lang="ko-KR" altLang="en-US" dirty="0"/>
              <a:t>관계</a:t>
            </a:r>
            <a:endParaRPr lang="en-US" altLang="ko-KR" dirty="0"/>
          </a:p>
          <a:p>
            <a:pPr lvl="2"/>
            <a:r>
              <a:rPr lang="ko-KR" altLang="en-US" dirty="0"/>
              <a:t>구현</a:t>
            </a:r>
            <a:r>
              <a:rPr lang="en-US" altLang="ko-KR" dirty="0"/>
              <a:t>:(CBOW)</a:t>
            </a:r>
            <a:r>
              <a:rPr lang="ko-KR" altLang="en-US" dirty="0"/>
              <a:t>특정단어</a:t>
            </a:r>
            <a:r>
              <a:rPr lang="en-US" altLang="ko-KR" dirty="0"/>
              <a:t>-(</a:t>
            </a:r>
            <a:r>
              <a:rPr lang="ko-KR" altLang="en-US" dirty="0"/>
              <a:t>예측</a:t>
            </a:r>
            <a:r>
              <a:rPr lang="en-US" altLang="ko-KR" dirty="0"/>
              <a:t>)→</a:t>
            </a:r>
            <a:r>
              <a:rPr lang="ko-KR" altLang="en-US" dirty="0"/>
              <a:t>주변단어</a:t>
            </a:r>
            <a:r>
              <a:rPr lang="en-US" altLang="ko-KR" dirty="0"/>
              <a:t>, (skip-gram)</a:t>
            </a:r>
            <a:r>
              <a:rPr lang="ko-KR" altLang="en-US" dirty="0"/>
              <a:t>주단</a:t>
            </a:r>
            <a:r>
              <a:rPr lang="en-US" altLang="ko-KR" dirty="0"/>
              <a:t>→</a:t>
            </a:r>
            <a:r>
              <a:rPr lang="ko-KR" altLang="en-US" dirty="0"/>
              <a:t>특단</a:t>
            </a:r>
            <a:r>
              <a:rPr lang="en-US" altLang="ko-KR" dirty="0"/>
              <a:t>, </a:t>
            </a:r>
            <a:r>
              <a:rPr lang="en-US" altLang="ko-KR" dirty="0" err="1"/>
              <a:t>AE:code</a:t>
            </a:r>
            <a:r>
              <a:rPr lang="en-US" altLang="ko-KR" dirty="0"/>
              <a:t>=</a:t>
            </a:r>
            <a:r>
              <a:rPr lang="ko-KR" altLang="en-US" dirty="0" err="1"/>
              <a:t>임베딩벡터</a:t>
            </a:r>
            <a:r>
              <a:rPr lang="en-US" altLang="ko-KR" dirty="0"/>
              <a:t>→</a:t>
            </a:r>
            <a:r>
              <a:rPr lang="ko-KR" altLang="en-US" dirty="0"/>
              <a:t>유사</a:t>
            </a:r>
            <a:r>
              <a:rPr lang="en-US" altLang="ko-KR" dirty="0"/>
              <a:t>? </a:t>
            </a:r>
            <a:r>
              <a:rPr lang="ko-KR" altLang="en-US" dirty="0" err="1"/>
              <a:t>임공가깝</a:t>
            </a:r>
            <a:endParaRPr lang="en-US" altLang="ko-KR" dirty="0"/>
          </a:p>
          <a:p>
            <a:pPr lvl="1"/>
            <a:r>
              <a:rPr lang="en-US" altLang="ko-KR" dirty="0"/>
              <a:t>LSTM:(RNN</a:t>
            </a:r>
            <a:r>
              <a:rPr lang="ko-KR" altLang="en-US" dirty="0"/>
              <a:t>문제</a:t>
            </a:r>
            <a:r>
              <a:rPr lang="en-US" altLang="ko-KR" dirty="0"/>
              <a:t>:</a:t>
            </a:r>
            <a:r>
              <a:rPr lang="ko-KR" altLang="en-US" dirty="0"/>
              <a:t>장단기 의존성 </a:t>
            </a:r>
            <a:r>
              <a:rPr lang="ko-KR" altLang="en-US" dirty="0" err="1"/>
              <a:t>해걸</a:t>
            </a:r>
            <a:r>
              <a:rPr lang="ko-KR" altLang="en-US" dirty="0"/>
              <a:t> 위함</a:t>
            </a:r>
            <a:r>
              <a:rPr lang="en-US" altLang="ko-KR" dirty="0"/>
              <a:t>), (</a:t>
            </a:r>
            <a:r>
              <a:rPr lang="ko-KR" altLang="en-US" dirty="0" err="1"/>
              <a:t>먼과거</a:t>
            </a:r>
            <a:r>
              <a:rPr lang="en-US" altLang="ko-KR" dirty="0"/>
              <a:t>→</a:t>
            </a:r>
            <a:r>
              <a:rPr lang="ko-KR" altLang="en-US" dirty="0"/>
              <a:t>결정적 영향</a:t>
            </a:r>
            <a:r>
              <a:rPr lang="en-US" altLang="ko-KR" dirty="0"/>
              <a:t>?)→</a:t>
            </a:r>
            <a:r>
              <a:rPr lang="ko-KR" altLang="en-US" dirty="0" err="1"/>
              <a:t>덜중</a:t>
            </a:r>
            <a:r>
              <a:rPr lang="en-US" altLang="ko-KR" dirty="0"/>
              <a:t>?</a:t>
            </a:r>
            <a:r>
              <a:rPr lang="ko-KR" altLang="en-US" dirty="0" err="1"/>
              <a:t>덜입</a:t>
            </a:r>
            <a:r>
              <a:rPr lang="en-US" altLang="ko-KR" dirty="0"/>
              <a:t>. </a:t>
            </a:r>
            <a:r>
              <a:rPr lang="ko-KR" altLang="en-US" dirty="0" err="1"/>
              <a:t>많중</a:t>
            </a:r>
            <a:r>
              <a:rPr lang="en-US" altLang="ko-KR" dirty="0"/>
              <a:t>?</a:t>
            </a:r>
            <a:r>
              <a:rPr lang="ko-KR" altLang="en-US" dirty="0" err="1"/>
              <a:t>많입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Forgot gate, input gate : </a:t>
            </a:r>
            <a:r>
              <a:rPr lang="ko-KR" altLang="en-US" dirty="0"/>
              <a:t>이전</a:t>
            </a:r>
            <a:r>
              <a:rPr lang="en-US" altLang="ko-KR" dirty="0"/>
              <a:t>→</a:t>
            </a:r>
            <a:r>
              <a:rPr lang="ko-KR" altLang="en-US" dirty="0"/>
              <a:t>다음 </a:t>
            </a:r>
            <a:r>
              <a:rPr lang="en-US" altLang="ko-KR" dirty="0"/>
              <a:t>state</a:t>
            </a:r>
            <a:r>
              <a:rPr lang="ko-KR" altLang="en-US" dirty="0"/>
              <a:t>시 적절 </a:t>
            </a:r>
            <a:r>
              <a:rPr lang="en-US" altLang="ko-KR" dirty="0"/>
              <a:t>forget. Hidden layer↑↑X. </a:t>
            </a:r>
            <a:r>
              <a:rPr lang="ko-KR" altLang="en-US" dirty="0"/>
              <a:t>과거중요정보가중</a:t>
            </a:r>
            <a:r>
              <a:rPr lang="en-US" altLang="ko-KR" dirty="0"/>
              <a:t>→RNN </a:t>
            </a:r>
            <a:r>
              <a:rPr lang="ko-KR" altLang="en-US" dirty="0" err="1"/>
              <a:t>깊</a:t>
            </a:r>
            <a:endParaRPr lang="en-US" altLang="ko-KR" dirty="0"/>
          </a:p>
          <a:p>
            <a:pPr lvl="1"/>
            <a:r>
              <a:rPr lang="en-US" altLang="ko-KR" dirty="0" err="1"/>
              <a:t>BiLSTM</a:t>
            </a:r>
            <a:r>
              <a:rPr lang="en-US" altLang="ko-KR" dirty="0"/>
              <a:t> : </a:t>
            </a:r>
            <a:r>
              <a:rPr lang="ko-KR" altLang="en-US" dirty="0"/>
              <a:t>시퀀스를 </a:t>
            </a:r>
            <a:r>
              <a:rPr lang="ko-KR" altLang="en-US" dirty="0" err="1"/>
              <a:t>정방향</a:t>
            </a:r>
            <a:r>
              <a:rPr lang="en-US" altLang="ko-KR" dirty="0"/>
              <a:t>, </a:t>
            </a:r>
            <a:r>
              <a:rPr lang="ko-KR" altLang="en-US" dirty="0"/>
              <a:t>역방향으로 처리</a:t>
            </a:r>
            <a:r>
              <a:rPr lang="en-US" altLang="ko-KR" dirty="0"/>
              <a:t> LSTM 2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더 풍부 문맥정보 기반 예측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DD095B9-E2EB-A116-EBE4-83E2C428C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76" y="776536"/>
            <a:ext cx="1659313" cy="107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8123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27860</TotalTime>
  <Words>5112</Words>
  <Application>Microsoft Office PowerPoint</Application>
  <PresentationFormat>A4 용지(210x297mm)</PresentationFormat>
  <Paragraphs>255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디자인 사용자 지정</vt:lpstr>
      <vt:lpstr>Deep Learning</vt:lpstr>
      <vt:lpstr>Deep learning(계속)</vt:lpstr>
      <vt:lpstr>Convolutional Neural Network</vt:lpstr>
      <vt:lpstr>CNN - Mnist data</vt:lpstr>
      <vt:lpstr>CIFAR10/ImageNet challenge/Transfer Learning</vt:lpstr>
      <vt:lpstr>Auto Encoder</vt:lpstr>
      <vt:lpstr>Auto Encoder(계속)</vt:lpstr>
      <vt:lpstr>RNN(Recurrent Neural Network)</vt:lpstr>
      <vt:lpstr>RNN(계속)</vt:lpstr>
      <vt:lpstr>총정리</vt:lpstr>
      <vt:lpstr>총정리(계속)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627</cp:revision>
  <dcterms:created xsi:type="dcterms:W3CDTF">2021-05-24T07:27:04Z</dcterms:created>
  <dcterms:modified xsi:type="dcterms:W3CDTF">2025-07-02T07:47:17Z</dcterms:modified>
</cp:coreProperties>
</file>