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6" r:id="rId1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51" autoAdjust="0"/>
    <p:restoredTop sz="96234" autoAdjust="0"/>
  </p:normalViewPr>
  <p:slideViewPr>
    <p:cSldViewPr>
      <p:cViewPr varScale="1">
        <p:scale>
          <a:sx n="52" d="100"/>
          <a:sy n="52" d="100"/>
        </p:scale>
        <p:origin x="1896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2025-04-22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0.png"/><Relationship Id="rId18" Type="http://schemas.openxmlformats.org/officeDocument/2006/relationships/image" Target="../media/image47.png"/><Relationship Id="rId3" Type="http://schemas.openxmlformats.org/officeDocument/2006/relationships/image" Target="../media/image5.png"/><Relationship Id="rId21" Type="http://schemas.openxmlformats.org/officeDocument/2006/relationships/image" Target="../media/image43.png"/><Relationship Id="rId7" Type="http://schemas.openxmlformats.org/officeDocument/2006/relationships/image" Target="../media/image10.png"/><Relationship Id="rId12" Type="http://schemas.openxmlformats.org/officeDocument/2006/relationships/image" Target="../media/image18.png"/><Relationship Id="rId17" Type="http://schemas.openxmlformats.org/officeDocument/2006/relationships/image" Target="../media/image35.png"/><Relationship Id="rId2" Type="http://schemas.openxmlformats.org/officeDocument/2006/relationships/image" Target="../media/image3.png"/><Relationship Id="rId16" Type="http://schemas.openxmlformats.org/officeDocument/2006/relationships/image" Target="../media/image24.png"/><Relationship Id="rId20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5" Type="http://schemas.openxmlformats.org/officeDocument/2006/relationships/image" Target="../media/image22.png"/><Relationship Id="rId10" Type="http://schemas.openxmlformats.org/officeDocument/2006/relationships/image" Target="../media/image15.png"/><Relationship Id="rId19" Type="http://schemas.openxmlformats.org/officeDocument/2006/relationships/image" Target="../media/image41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4269821D-18CF-658E-5FE3-28D3A97E02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297758D-A173-46DF-7934-42C43AF89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빅데이터</a:t>
            </a:r>
            <a:r>
              <a:rPr lang="en-US" altLang="ko-KR" dirty="0"/>
              <a:t>/</a:t>
            </a:r>
            <a:r>
              <a:rPr lang="ko-KR" altLang="en-US" dirty="0" err="1"/>
              <a:t>스몰데이터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C092B6-19B3-F909-838C-640674BDCE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8A6E32D-E284-6414-E47C-609204AF66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err="1"/>
              <a:t>머신러닝과</a:t>
            </a:r>
            <a:r>
              <a:rPr lang="ko-KR" altLang="en-US" dirty="0"/>
              <a:t> 딥러닝</a:t>
            </a:r>
            <a:endParaRPr lang="en-US" altLang="ko-KR" dirty="0"/>
          </a:p>
          <a:p>
            <a:pPr lvl="1"/>
            <a:r>
              <a:rPr lang="ko-KR" altLang="en-US" dirty="0" err="1"/>
              <a:t>머신러닝</a:t>
            </a:r>
            <a:r>
              <a:rPr lang="ko-KR" altLang="en-US" dirty="0"/>
              <a:t> 종류</a:t>
            </a:r>
            <a:endParaRPr lang="en-US" altLang="ko-KR" dirty="0"/>
          </a:p>
          <a:p>
            <a:pPr lvl="2"/>
            <a:r>
              <a:rPr lang="ko-KR" altLang="en-US" dirty="0"/>
              <a:t>지도학습 </a:t>
            </a:r>
            <a:r>
              <a:rPr lang="en-US" altLang="ko-KR" dirty="0"/>
              <a:t>: </a:t>
            </a:r>
            <a:r>
              <a:rPr lang="ko-KR" altLang="en-US" dirty="0"/>
              <a:t>정답이 주어진 데이터로 학습</a:t>
            </a:r>
            <a:endParaRPr lang="en-US" altLang="ko-KR" dirty="0"/>
          </a:p>
          <a:p>
            <a:pPr lvl="2"/>
            <a:r>
              <a:rPr lang="ko-KR" altLang="en-US" dirty="0"/>
              <a:t>비지도 학습 </a:t>
            </a:r>
            <a:r>
              <a:rPr lang="en-US" altLang="ko-KR" dirty="0"/>
              <a:t>: </a:t>
            </a:r>
            <a:r>
              <a:rPr lang="ko-KR" altLang="en-US" dirty="0"/>
              <a:t>정답 없이 데이터 자체의 패턴 파악 및 분류</a:t>
            </a:r>
            <a:endParaRPr lang="en-US" altLang="ko-KR" dirty="0"/>
          </a:p>
          <a:p>
            <a:pPr lvl="2"/>
            <a:r>
              <a:rPr lang="ko-KR" altLang="en-US" dirty="0"/>
              <a:t>강화학습 </a:t>
            </a:r>
            <a:r>
              <a:rPr lang="en-US" altLang="ko-KR" dirty="0"/>
              <a:t>: </a:t>
            </a:r>
            <a:r>
              <a:rPr lang="ko-KR" altLang="en-US" dirty="0"/>
              <a:t>모델이 스스로 경험하며 보상을 통해 학습</a:t>
            </a:r>
            <a:endParaRPr lang="en-US" altLang="ko-KR" dirty="0"/>
          </a:p>
          <a:p>
            <a:r>
              <a:rPr lang="ko-KR" altLang="en-US" dirty="0"/>
              <a:t>빅데이터</a:t>
            </a:r>
            <a:endParaRPr lang="en-US" altLang="ko-KR" dirty="0"/>
          </a:p>
          <a:p>
            <a:pPr lvl="1"/>
            <a:r>
              <a:rPr lang="ko-KR" altLang="en-US" dirty="0"/>
              <a:t>단순히 큰 데이터가 아닌</a:t>
            </a:r>
            <a:r>
              <a:rPr lang="en-US" altLang="ko-KR" dirty="0"/>
              <a:t>, </a:t>
            </a:r>
            <a:r>
              <a:rPr lang="ko-KR" altLang="en-US" dirty="0"/>
              <a:t>단일 컴퓨터로 처리하기 벅찬 데이터</a:t>
            </a:r>
            <a:endParaRPr lang="en-US" altLang="ko-KR" dirty="0"/>
          </a:p>
          <a:p>
            <a:pPr lvl="2"/>
            <a:r>
              <a:rPr lang="ko-KR" altLang="en-US" dirty="0"/>
              <a:t>정형데이터 </a:t>
            </a:r>
            <a:r>
              <a:rPr lang="en-US" altLang="ko-KR" dirty="0"/>
              <a:t>: DB</a:t>
            </a:r>
            <a:r>
              <a:rPr lang="ko-KR" altLang="en-US" dirty="0"/>
              <a:t>처럼 행과 열이 명확하게 정리됨</a:t>
            </a:r>
            <a:endParaRPr lang="en-US" altLang="ko-KR" dirty="0"/>
          </a:p>
          <a:p>
            <a:pPr lvl="2"/>
            <a:r>
              <a:rPr lang="ko-KR" altLang="en-US" dirty="0"/>
              <a:t>비정형 데이터 </a:t>
            </a:r>
            <a:r>
              <a:rPr lang="en-US" altLang="ko-KR" dirty="0"/>
              <a:t>: </a:t>
            </a:r>
            <a:r>
              <a:rPr lang="ko-KR" altLang="en-US" dirty="0"/>
              <a:t>로그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음성 등 형식이 없는 데이터</a:t>
            </a:r>
            <a:endParaRPr lang="en-US" altLang="ko-KR" dirty="0"/>
          </a:p>
          <a:p>
            <a:r>
              <a:rPr lang="ko-KR" altLang="en-US" dirty="0" err="1"/>
              <a:t>스몰데이터</a:t>
            </a:r>
            <a:r>
              <a:rPr lang="en-US" altLang="ko-KR" dirty="0"/>
              <a:t>(</a:t>
            </a:r>
            <a:r>
              <a:rPr lang="ko-KR" altLang="en-US" dirty="0"/>
              <a:t>통계학</a:t>
            </a:r>
            <a:r>
              <a:rPr lang="en-US" altLang="ko-KR" dirty="0"/>
              <a:t>)</a:t>
            </a:r>
            <a:r>
              <a:rPr lang="ko-KR" altLang="en-US" dirty="0"/>
              <a:t>과 빅데이터</a:t>
            </a:r>
            <a:r>
              <a:rPr lang="en-US" altLang="ko-KR" dirty="0"/>
              <a:t>(AI/</a:t>
            </a:r>
            <a:r>
              <a:rPr lang="ko-KR" altLang="en-US" dirty="0"/>
              <a:t>딥러닝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통계학 </a:t>
            </a:r>
            <a:r>
              <a:rPr lang="en-US" altLang="ko-KR" dirty="0"/>
              <a:t>: </a:t>
            </a:r>
            <a:r>
              <a:rPr lang="ko-KR" altLang="en-US" dirty="0"/>
              <a:t>제한된 데이터로 모집단의 정보 추론</a:t>
            </a:r>
            <a:r>
              <a:rPr lang="en-US" altLang="ko-KR" dirty="0"/>
              <a:t>, </a:t>
            </a:r>
            <a:r>
              <a:rPr lang="ko-KR" altLang="en-US" dirty="0"/>
              <a:t>비용과 효율 중시</a:t>
            </a:r>
            <a:endParaRPr lang="en-US" altLang="ko-KR" dirty="0"/>
          </a:p>
          <a:p>
            <a:pPr lvl="2"/>
            <a:r>
              <a:rPr lang="ko-KR" altLang="en-US" dirty="0"/>
              <a:t>제한된 표본을 기반으로 모집단의 정보를 추정</a:t>
            </a:r>
            <a:r>
              <a:rPr lang="en-US" altLang="ko-KR" dirty="0"/>
              <a:t>. </a:t>
            </a:r>
            <a:r>
              <a:rPr lang="ko-KR" altLang="en-US" dirty="0"/>
              <a:t>데이터의 분포와 변수간 관계에 대한 가정을 설정하고 분석 수행 </a:t>
            </a:r>
            <a:r>
              <a:rPr lang="en-US" altLang="ko-KR" dirty="0"/>
              <a:t>-&gt; </a:t>
            </a:r>
            <a:r>
              <a:rPr lang="ko-KR" altLang="en-US" dirty="0"/>
              <a:t>선형회귀 또한 비선형 모델은 수학적 해를 구하기 까다롭기 때문</a:t>
            </a:r>
            <a:endParaRPr lang="en-US" altLang="ko-KR" dirty="0"/>
          </a:p>
          <a:p>
            <a:pPr lvl="1"/>
            <a:r>
              <a:rPr lang="ko-KR" altLang="en-US" dirty="0"/>
              <a:t>빅데이터 </a:t>
            </a:r>
            <a:r>
              <a:rPr lang="en-US" altLang="ko-KR" dirty="0"/>
              <a:t>: </a:t>
            </a:r>
            <a:r>
              <a:rPr lang="ko-KR" altLang="en-US" dirty="0"/>
              <a:t>데이터 수집 비용 낮음</a:t>
            </a:r>
            <a:r>
              <a:rPr lang="en-US" altLang="ko-KR" dirty="0"/>
              <a:t>, </a:t>
            </a:r>
            <a:r>
              <a:rPr lang="ko-KR" altLang="en-US" dirty="0"/>
              <a:t>데이터 양이 풍부 </a:t>
            </a:r>
            <a:r>
              <a:rPr lang="en-US" altLang="ko-KR" dirty="0"/>
              <a:t>-&gt; </a:t>
            </a:r>
            <a:r>
              <a:rPr lang="ko-KR" altLang="en-US" dirty="0"/>
              <a:t>정확도를 위해 더 많은 데이터 활용</a:t>
            </a:r>
            <a:r>
              <a:rPr lang="en-US" altLang="ko-KR" dirty="0"/>
              <a:t>. -&gt; </a:t>
            </a:r>
            <a:r>
              <a:rPr lang="ko-KR" altLang="en-US" dirty="0"/>
              <a:t>비선형적 관계나 복잡한 패턴을 </a:t>
            </a:r>
            <a:r>
              <a:rPr lang="ko-KR" altLang="en-US" dirty="0" err="1"/>
              <a:t>모델링하는게</a:t>
            </a:r>
            <a:r>
              <a:rPr lang="ko-KR" altLang="en-US" dirty="0"/>
              <a:t> 유리해짐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8E17AEB-FDE8-2BCF-8264-43459E64AEA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932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E55BE66-DA48-F05D-8204-8C4C9329B1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FC701089-17B6-6BF1-6A7C-263341BCD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Regression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FC1332-08CF-D9F6-E279-53FBD1CC2B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A9B538-2772-B6A4-E6C2-93F953DF07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회귀분석</a:t>
            </a:r>
            <a:endParaRPr lang="en-US" altLang="ko-KR" dirty="0"/>
          </a:p>
          <a:p>
            <a:pPr lvl="1"/>
            <a:r>
              <a:rPr lang="ko-KR" altLang="en-US" dirty="0"/>
              <a:t>회귀분석은 </a:t>
            </a:r>
            <a:r>
              <a:rPr lang="ko-KR" altLang="en-US" dirty="0" err="1"/>
              <a:t>관측값을</a:t>
            </a:r>
            <a:r>
              <a:rPr lang="ko-KR" altLang="en-US" dirty="0"/>
              <a:t> 가장 잘 지나가는 직선</a:t>
            </a:r>
            <a:r>
              <a:rPr lang="en-US" altLang="ko-KR" dirty="0"/>
              <a:t>/</a:t>
            </a:r>
            <a:r>
              <a:rPr lang="ko-KR" altLang="en-US" dirty="0"/>
              <a:t>곡선의 방정식을 구하는 방법론</a:t>
            </a:r>
            <a:endParaRPr lang="en-US" altLang="ko-KR" dirty="0"/>
          </a:p>
          <a:p>
            <a:pPr lvl="2"/>
            <a:r>
              <a:rPr lang="en-US" altLang="ko-KR" dirty="0"/>
              <a:t>Y = α+βx + ε;</a:t>
            </a:r>
            <a:r>
              <a:rPr lang="ko-KR" altLang="en-US" dirty="0"/>
              <a:t> 엡실론이 작을수록 좋은 모형</a:t>
            </a:r>
            <a:endParaRPr lang="en-US" altLang="ko-KR" dirty="0"/>
          </a:p>
          <a:p>
            <a:pPr lvl="1"/>
            <a:r>
              <a:rPr lang="ko-KR" altLang="en-US" dirty="0"/>
              <a:t>𝑦𝑖 </a:t>
            </a:r>
            <a:r>
              <a:rPr lang="en-US" altLang="ko-KR" dirty="0"/>
              <a:t>= </a:t>
            </a:r>
            <a:r>
              <a:rPr lang="ko-KR" altLang="en-US" dirty="0"/>
              <a:t>𝛼 </a:t>
            </a:r>
            <a:r>
              <a:rPr lang="en-US" altLang="ko-KR" dirty="0"/>
              <a:t>+ </a:t>
            </a:r>
            <a:r>
              <a:rPr lang="ko-KR" altLang="en-US" dirty="0"/>
              <a:t>𝛽𝑥𝑖 </a:t>
            </a:r>
            <a:r>
              <a:rPr lang="en-US" altLang="ko-KR" dirty="0"/>
              <a:t>+ </a:t>
            </a:r>
            <a:r>
              <a:rPr lang="ko-KR" altLang="en-US" dirty="0"/>
              <a:t>𝜖𝑖에서</a:t>
            </a:r>
            <a:r>
              <a:rPr lang="en-US" altLang="ko-KR" dirty="0"/>
              <a:t>, SSE</a:t>
            </a:r>
            <a:r>
              <a:rPr lang="ko-KR" altLang="en-US" dirty="0"/>
              <a:t>란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SSE</a:t>
            </a:r>
            <a:r>
              <a:rPr lang="ko-KR" altLang="en-US" dirty="0"/>
              <a:t>식 유도과정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pPr marL="176213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ko-KR" altLang="en-US" dirty="0"/>
              <a:t>회귀모형에서 미지수는 </a:t>
            </a:r>
            <a:r>
              <a:rPr lang="en-US" altLang="ko-KR" dirty="0"/>
              <a:t>SSE</a:t>
            </a:r>
            <a:r>
              <a:rPr lang="ko-KR" altLang="en-US" dirty="0"/>
              <a:t>를 최소화 하는 미지수 </a:t>
            </a:r>
            <a:r>
              <a:rPr lang="en-US" altLang="ko-KR" dirty="0"/>
              <a:t>α, β</a:t>
            </a:r>
            <a:r>
              <a:rPr lang="ko-KR" altLang="en-US" dirty="0"/>
              <a:t>를 구하는 계산을 수행해서 </a:t>
            </a:r>
            <a:r>
              <a:rPr lang="ko-KR" altLang="en-US" dirty="0" err="1"/>
              <a:t>얻어짐</a:t>
            </a:r>
            <a:r>
              <a:rPr lang="en-US" altLang="ko-KR" dirty="0"/>
              <a:t>. (SSE</a:t>
            </a:r>
            <a:r>
              <a:rPr lang="ko-KR" altLang="en-US" dirty="0"/>
              <a:t>는 </a:t>
            </a:r>
            <a:r>
              <a:rPr lang="en-US" altLang="ko-KR" dirty="0"/>
              <a:t>cost </a:t>
            </a:r>
            <a:r>
              <a:rPr lang="ko-KR" altLang="en-US" dirty="0"/>
              <a:t>함수</a:t>
            </a:r>
            <a:r>
              <a:rPr lang="en-US" altLang="ko-KR" dirty="0"/>
              <a:t>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A946754-0B08-D075-F000-15138CC7788C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 descr="텍스트, 폰트, 화이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B763A7-5171-0604-84CA-A0AF0E97E4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48" y="1496616"/>
            <a:ext cx="1935141" cy="348775"/>
          </a:xfrm>
          <a:prstGeom prst="rect">
            <a:avLst/>
          </a:prstGeom>
        </p:spPr>
      </p:pic>
      <p:pic>
        <p:nvPicPr>
          <p:cNvPr id="12" name="그림 11" descr="텍스트, 폰트, 친필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01E97EC-9F75-D622-AA3B-B82AEBAB4E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406" y="2077623"/>
            <a:ext cx="3214753" cy="2250736"/>
          </a:xfrm>
          <a:prstGeom prst="rect">
            <a:avLst/>
          </a:prstGeom>
        </p:spPr>
      </p:pic>
      <p:pic>
        <p:nvPicPr>
          <p:cNvPr id="14" name="그림 13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FA8F998-CE94-5378-3C90-4A9FD504C3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405" y="4880992"/>
            <a:ext cx="3214753" cy="3073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38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EBE0C50-EC01-285A-0A55-F87E114041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9BC7EF8-A0E8-AC07-E88A-0765232CF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Regression (</a:t>
            </a:r>
            <a:r>
              <a:rPr lang="ko-KR" altLang="en-US" dirty="0"/>
              <a:t>계속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334722-EFE9-203D-9E52-E263ADA219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F79063A-A00A-2258-A7E5-C873F19CC2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다중회귀모형</a:t>
            </a:r>
            <a:endParaRPr lang="en-US" altLang="ko-KR" dirty="0"/>
          </a:p>
          <a:p>
            <a:pPr lvl="1"/>
            <a:r>
              <a:rPr lang="ko-KR" altLang="en-US" dirty="0"/>
              <a:t>다중회귀모형 </a:t>
            </a:r>
            <a:r>
              <a:rPr lang="en-US" altLang="ko-KR" dirty="0"/>
              <a:t>: </a:t>
            </a:r>
            <a:r>
              <a:rPr lang="ko-KR" altLang="en-US" dirty="0"/>
              <a:t>종속변수의 영향을 주는 다수의 독립변수가 존재</a:t>
            </a:r>
            <a:endParaRPr lang="en-US" altLang="ko-KR" dirty="0"/>
          </a:p>
          <a:p>
            <a:pPr lvl="2"/>
            <a:r>
              <a:rPr lang="en-US" altLang="ko-KR" dirty="0"/>
              <a:t>Ex) </a:t>
            </a:r>
            <a:r>
              <a:rPr lang="ko-KR" altLang="en-US" dirty="0"/>
              <a:t>연봉 </a:t>
            </a:r>
            <a:r>
              <a:rPr lang="en-US" altLang="ko-KR" dirty="0"/>
              <a:t>= </a:t>
            </a:r>
            <a:r>
              <a:rPr lang="ko-KR" altLang="en-US" dirty="0"/>
              <a:t>𝛽</a:t>
            </a:r>
            <a:r>
              <a:rPr lang="en-US" altLang="ko-KR" dirty="0"/>
              <a:t>0 + </a:t>
            </a:r>
            <a:r>
              <a:rPr lang="ko-KR" altLang="en-US" dirty="0"/>
              <a:t>𝛽</a:t>
            </a:r>
            <a:r>
              <a:rPr lang="en-US" altLang="ko-KR" dirty="0"/>
              <a:t>1</a:t>
            </a:r>
            <a:r>
              <a:rPr lang="ko-KR" altLang="en-US" dirty="0"/>
              <a:t>나이 </a:t>
            </a:r>
            <a:r>
              <a:rPr lang="en-US" altLang="ko-KR" dirty="0"/>
              <a:t>+ </a:t>
            </a:r>
            <a:r>
              <a:rPr lang="ko-KR" altLang="en-US" dirty="0"/>
              <a:t>𝛽</a:t>
            </a:r>
            <a:r>
              <a:rPr lang="en-US" altLang="ko-KR" dirty="0"/>
              <a:t>2</a:t>
            </a:r>
            <a:r>
              <a:rPr lang="ko-KR" altLang="en-US" dirty="0"/>
              <a:t>성별 </a:t>
            </a:r>
            <a:r>
              <a:rPr lang="en-US" altLang="ko-KR" dirty="0"/>
              <a:t>+ </a:t>
            </a:r>
            <a:r>
              <a:rPr lang="ko-KR" altLang="en-US" dirty="0"/>
              <a:t>𝛽</a:t>
            </a:r>
            <a:r>
              <a:rPr lang="en-US" altLang="ko-KR" dirty="0"/>
              <a:t>3</a:t>
            </a:r>
            <a:r>
              <a:rPr lang="ko-KR" altLang="en-US" dirty="0"/>
              <a:t>학력 </a:t>
            </a:r>
            <a:r>
              <a:rPr lang="en-US" altLang="ko-KR" dirty="0"/>
              <a:t>+ </a:t>
            </a:r>
            <a:r>
              <a:rPr lang="ko-KR" altLang="en-US" dirty="0"/>
              <a:t>𝛽</a:t>
            </a:r>
            <a:r>
              <a:rPr lang="en-US" altLang="ko-KR" dirty="0"/>
              <a:t>4</a:t>
            </a:r>
            <a:r>
              <a:rPr lang="ko-KR" altLang="en-US" dirty="0"/>
              <a:t>직업 </a:t>
            </a:r>
            <a:r>
              <a:rPr lang="en-US" altLang="ko-KR" dirty="0"/>
              <a:t>+ </a:t>
            </a:r>
            <a:r>
              <a:rPr lang="ko-KR" altLang="en-US" dirty="0"/>
              <a:t>𝛽</a:t>
            </a:r>
            <a:r>
              <a:rPr lang="en-US" altLang="ko-KR" dirty="0"/>
              <a:t>5</a:t>
            </a:r>
            <a:r>
              <a:rPr lang="ko-KR" altLang="en-US" dirty="0"/>
              <a:t>월근무시간 </a:t>
            </a:r>
            <a:r>
              <a:rPr lang="en-US" altLang="ko-KR" dirty="0"/>
              <a:t>+ ϵ</a:t>
            </a:r>
          </a:p>
          <a:p>
            <a:pPr lvl="2"/>
            <a:r>
              <a:rPr lang="ko-KR" altLang="en-US" dirty="0"/>
              <a:t>일반화 </a:t>
            </a:r>
            <a:r>
              <a:rPr lang="en-US" altLang="ko-KR" dirty="0"/>
              <a:t>: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392112" lvl="2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미지 </a:t>
            </a:r>
            <a:r>
              <a:rPr lang="ko-KR" altLang="en-US" dirty="0" err="1"/>
              <a:t>모수</a:t>
            </a:r>
            <a:r>
              <a:rPr lang="ko-KR" altLang="en-US" dirty="0"/>
              <a:t> 𝛽</a:t>
            </a:r>
            <a:r>
              <a:rPr lang="ko-KR" altLang="en-US" dirty="0" err="1"/>
              <a:t>를</a:t>
            </a:r>
            <a:r>
              <a:rPr lang="ko-KR" altLang="en-US" dirty="0"/>
              <a:t> 구하는 </a:t>
            </a:r>
            <a:r>
              <a:rPr lang="en-US" altLang="ko-KR" dirty="0"/>
              <a:t>SSE </a:t>
            </a:r>
            <a:r>
              <a:rPr lang="ko-KR" altLang="en-US" dirty="0"/>
              <a:t>식 유도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197FBDB-02FA-7157-3074-89A08EF23E5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도표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56EBE4C-0B0A-BEEF-9971-AF1E91E46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816" y="1424608"/>
            <a:ext cx="4863679" cy="1529388"/>
          </a:xfrm>
          <a:prstGeom prst="rect">
            <a:avLst/>
          </a:prstGeom>
        </p:spPr>
      </p:pic>
      <p:pic>
        <p:nvPicPr>
          <p:cNvPr id="12" name="그림 11" descr="텍스트, 폰트, 친필, 서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47B8B7E-6E82-E89C-1F53-2948FA424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008" y="3153981"/>
            <a:ext cx="2160240" cy="132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449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9C7E64D-EE44-E51E-7D54-D8AD14A19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D63744D-F84C-B6A9-74AA-00E3056DB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Logistic Regression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3B510FF-DBB4-0B04-623D-CC6A41DD58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2EC20E-D496-AA7A-1FE8-E283AFDAE4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로지스틱 회귀모형</a:t>
            </a:r>
            <a:endParaRPr lang="en-US" altLang="ko-KR" dirty="0"/>
          </a:p>
          <a:p>
            <a:pPr lvl="1"/>
            <a:r>
              <a:rPr lang="ko-KR" altLang="en-US" dirty="0"/>
              <a:t>예측하는 종속변수가 </a:t>
            </a:r>
            <a:r>
              <a:rPr lang="en-US" altLang="ko-KR" dirty="0"/>
              <a:t>Binary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경우</a:t>
            </a:r>
            <a:r>
              <a:rPr lang="en-US" altLang="ko-KR" dirty="0"/>
              <a:t>, </a:t>
            </a:r>
            <a:r>
              <a:rPr lang="ko-KR" altLang="en-US" dirty="0"/>
              <a:t>새 원소가 들어올 때 이것이 참인지 거짓인지 판단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이 경우 일반적인 회귀모형은 </a:t>
            </a:r>
            <a:r>
              <a:rPr lang="en-US" altLang="ko-KR" dirty="0"/>
              <a:t>-</a:t>
            </a:r>
            <a:r>
              <a:rPr lang="en-US" altLang="ko-KR" dirty="0" err="1"/>
              <a:t>y_hat</a:t>
            </a:r>
            <a:r>
              <a:rPr lang="ko-KR" altLang="en-US" dirty="0"/>
              <a:t>의 </a:t>
            </a:r>
            <a:br>
              <a:rPr lang="en-US" altLang="ko-KR" dirty="0"/>
            </a:br>
            <a:r>
              <a:rPr lang="ko-KR" altLang="en-US" dirty="0" err="1"/>
              <a:t>치역이</a:t>
            </a:r>
            <a:r>
              <a:rPr lang="ko-KR" altLang="en-US" dirty="0"/>
              <a:t>  −∞</a:t>
            </a:r>
            <a:r>
              <a:rPr lang="en-US" altLang="ko-KR" dirty="0"/>
              <a:t>, ∞ </a:t>
            </a:r>
            <a:r>
              <a:rPr lang="ko-KR" altLang="en-US" dirty="0"/>
              <a:t>이므로 원하는 </a:t>
            </a:r>
            <a:br>
              <a:rPr lang="en-US" altLang="ko-KR" dirty="0"/>
            </a:br>
            <a:r>
              <a:rPr lang="ko-KR" altLang="en-US" dirty="0" err="1"/>
              <a:t>치역인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이 아님</a:t>
            </a:r>
            <a:r>
              <a:rPr lang="en-US" altLang="ko-KR" dirty="0"/>
              <a:t>.</a:t>
            </a:r>
          </a:p>
          <a:p>
            <a:pPr lvl="2"/>
            <a:r>
              <a:rPr lang="ko-KR" altLang="en-US" dirty="0"/>
              <a:t>다음과 같은 예시에서 우리의 목표는</a:t>
            </a:r>
            <a:br>
              <a:rPr lang="en-US" altLang="ko-KR" dirty="0"/>
            </a:br>
            <a:r>
              <a:rPr lang="en-US" altLang="ko-KR" dirty="0"/>
              <a:t>1) </a:t>
            </a:r>
            <a:r>
              <a:rPr lang="ko-KR" altLang="en-US" dirty="0"/>
              <a:t>베타를 구하는 것</a:t>
            </a:r>
            <a:br>
              <a:rPr lang="en-US" altLang="ko-KR" dirty="0"/>
            </a:br>
            <a:r>
              <a:rPr lang="en-US" altLang="ko-KR" dirty="0"/>
              <a:t>2) X = (1,2,4)</a:t>
            </a:r>
            <a:r>
              <a:rPr lang="ko-KR" altLang="en-US" dirty="0"/>
              <a:t>와 같은 새로운 제품이 있을 때</a:t>
            </a:r>
            <a:r>
              <a:rPr lang="en-US" altLang="ko-KR" dirty="0"/>
              <a:t>, </a:t>
            </a:r>
            <a:r>
              <a:rPr lang="ko-KR" altLang="en-US" dirty="0"/>
              <a:t>로지스틱 회귀모형을 통해 </a:t>
            </a:r>
            <a:r>
              <a:rPr lang="en-US" altLang="ko-KR" dirty="0"/>
              <a:t>0,1 </a:t>
            </a:r>
            <a:r>
              <a:rPr lang="ko-KR" altLang="en-US" dirty="0"/>
              <a:t>판단</a:t>
            </a:r>
            <a:endParaRPr lang="en-US" altLang="ko-KR" dirty="0"/>
          </a:p>
          <a:p>
            <a:pPr lvl="1"/>
            <a:r>
              <a:rPr lang="ko-KR" altLang="en-US" dirty="0"/>
              <a:t>로지스틱 함수</a:t>
            </a:r>
            <a:r>
              <a:rPr lang="en-US" altLang="ko-KR" dirty="0"/>
              <a:t>(</a:t>
            </a:r>
            <a:r>
              <a:rPr lang="ko-KR" altLang="en-US" dirty="0" err="1"/>
              <a:t>시그모이드</a:t>
            </a:r>
            <a:r>
              <a:rPr lang="ko-KR" altLang="en-US" dirty="0"/>
              <a:t> 함수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(</a:t>
            </a:r>
            <a:r>
              <a:rPr lang="ko-KR" altLang="en-US" dirty="0"/>
              <a:t>−∞</a:t>
            </a:r>
            <a:r>
              <a:rPr lang="en-US" altLang="ko-KR" dirty="0"/>
              <a:t>, ∞) -&gt; [0,1]</a:t>
            </a:r>
            <a:r>
              <a:rPr lang="ko-KR" altLang="en-US" dirty="0"/>
              <a:t>을 만족하는 함수</a:t>
            </a:r>
            <a:endParaRPr lang="en-US" altLang="ko-KR" dirty="0"/>
          </a:p>
          <a:p>
            <a:pPr lvl="2"/>
            <a:r>
              <a:rPr lang="ko-KR" altLang="en-US" dirty="0" err="1"/>
              <a:t>시그모이드에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회귀 분석을 </a:t>
            </a:r>
            <a:br>
              <a:rPr lang="en-US" altLang="ko-KR" dirty="0"/>
            </a:br>
            <a:r>
              <a:rPr lang="ko-KR" altLang="en-US" dirty="0"/>
              <a:t>적용하면</a:t>
            </a:r>
            <a:br>
              <a:rPr lang="en-US" altLang="ko-KR" dirty="0"/>
            </a:br>
            <a:r>
              <a:rPr lang="en-US" altLang="ko-KR" dirty="0"/>
              <a:t>logistic</a:t>
            </a:r>
            <a:br>
              <a:rPr lang="en-US" altLang="ko-KR" dirty="0"/>
            </a:br>
            <a:r>
              <a:rPr lang="en-US" altLang="ko-KR" dirty="0"/>
              <a:t>regression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392112" lvl="2" indent="0">
              <a:buNone/>
            </a:pPr>
            <a:endParaRPr lang="en-US" altLang="ko-KR" dirty="0"/>
          </a:p>
          <a:p>
            <a:pPr lvl="2"/>
            <a:r>
              <a:rPr lang="ko-KR" altLang="en-US" dirty="0"/>
              <a:t>로지스틱 함수의 표현법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marL="539750" lvl="3" indent="0">
              <a:buNone/>
            </a:pPr>
            <a:endParaRPr lang="en-US" altLang="ko-KR" dirty="0"/>
          </a:p>
          <a:p>
            <a:r>
              <a:rPr lang="en-US" altLang="ko-KR" dirty="0"/>
              <a:t>SSE</a:t>
            </a:r>
            <a:r>
              <a:rPr lang="ko-KR" altLang="en-US" dirty="0"/>
              <a:t>를 로지스틱에서 사용하지 않는 이유</a:t>
            </a:r>
            <a:endParaRPr lang="en-US" altLang="ko-KR" dirty="0"/>
          </a:p>
          <a:p>
            <a:pPr lvl="1"/>
            <a:r>
              <a:rPr lang="ko-KR" altLang="en-US" dirty="0"/>
              <a:t>베타는 </a:t>
            </a:r>
            <a:r>
              <a:rPr lang="en-US" altLang="ko-KR" dirty="0"/>
              <a:t>cost</a:t>
            </a:r>
            <a:r>
              <a:rPr lang="ko-KR" altLang="en-US" dirty="0"/>
              <a:t>함수를 최소화 하는 값</a:t>
            </a:r>
            <a:r>
              <a:rPr lang="en-US" altLang="ko-KR" dirty="0"/>
              <a:t>; cost </a:t>
            </a:r>
            <a:r>
              <a:rPr lang="ko-KR" altLang="en-US" dirty="0"/>
              <a:t>함수는</a:t>
            </a:r>
            <a:br>
              <a:rPr lang="en-US" altLang="ko-KR" dirty="0"/>
            </a:br>
            <a:r>
              <a:rPr lang="ko-KR" altLang="en-US" dirty="0"/>
              <a:t>정답이면 작아지고 오답이면 커짐</a:t>
            </a:r>
            <a:endParaRPr lang="en-US" altLang="ko-KR" dirty="0"/>
          </a:p>
          <a:p>
            <a:pPr lvl="2"/>
            <a:r>
              <a:rPr lang="en-US" altLang="ko-KR" dirty="0"/>
              <a:t>Convex</a:t>
            </a:r>
          </a:p>
          <a:p>
            <a:pPr lvl="2"/>
            <a:r>
              <a:rPr lang="ko-KR" altLang="en-US" dirty="0"/>
              <a:t>오른쪽 함수에서 </a:t>
            </a:r>
            <a:r>
              <a:rPr lang="en-US" altLang="ko-KR" dirty="0"/>
              <a:t>Ti</a:t>
            </a:r>
            <a:r>
              <a:rPr lang="ko-KR" altLang="en-US" dirty="0"/>
              <a:t>가 정답이라 할 때</a:t>
            </a:r>
            <a:r>
              <a:rPr lang="en-US" altLang="ko-KR" dirty="0"/>
              <a:t>, </a:t>
            </a:r>
            <a:r>
              <a:rPr lang="ko-KR" altLang="en-US" dirty="0"/>
              <a:t>예측치 </a:t>
            </a:r>
            <a:r>
              <a:rPr lang="en-US" altLang="ko-KR" dirty="0"/>
              <a:t>Y1</a:t>
            </a:r>
            <a:r>
              <a:rPr lang="ko-KR" altLang="en-US" dirty="0"/>
              <a:t>은</a:t>
            </a:r>
            <a:endParaRPr lang="en-US" altLang="ko-KR" dirty="0"/>
          </a:p>
          <a:p>
            <a:pPr lvl="1"/>
            <a:r>
              <a:rPr lang="en-US" altLang="ko-KR" dirty="0"/>
              <a:t>Cost</a:t>
            </a:r>
            <a:r>
              <a:rPr lang="ko-KR" altLang="en-US" dirty="0"/>
              <a:t>함수로 </a:t>
            </a:r>
            <a:r>
              <a:rPr lang="en-US" altLang="ko-KR" dirty="0"/>
              <a:t>SSE </a:t>
            </a:r>
            <a:r>
              <a:rPr lang="ko-KR" altLang="en-US" dirty="0"/>
              <a:t>대신 </a:t>
            </a:r>
            <a:r>
              <a:rPr lang="en-US" altLang="ko-KR" dirty="0"/>
              <a:t>cross entropy</a:t>
            </a:r>
            <a:r>
              <a:rPr lang="ko-KR" altLang="en-US" dirty="0"/>
              <a:t>를 쓰는 이유</a:t>
            </a:r>
            <a:endParaRPr lang="en-US" altLang="ko-KR" dirty="0"/>
          </a:p>
          <a:p>
            <a:pPr lvl="2"/>
            <a:r>
              <a:rPr lang="ko-KR" altLang="en-US" dirty="0"/>
              <a:t>그래프를 그렸을 때 </a:t>
            </a:r>
            <a:r>
              <a:rPr lang="en-US" altLang="ko-KR" dirty="0"/>
              <a:t>Convex</a:t>
            </a:r>
            <a:r>
              <a:rPr lang="ko-KR" altLang="en-US" dirty="0"/>
              <a:t>함이 보장되지 않음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7DF91EE-BADB-8B4B-53FF-A73ACC5AFD7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10" name="그림 9" descr="스케치, 그림, 친필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17B6755-71ED-5CC1-FEEB-F5FD90B0BA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201" y="1136576"/>
            <a:ext cx="2016224" cy="862663"/>
          </a:xfrm>
          <a:prstGeom prst="rect">
            <a:avLst/>
          </a:prstGeom>
        </p:spPr>
      </p:pic>
      <p:pic>
        <p:nvPicPr>
          <p:cNvPr id="12" name="그림 11" descr="텍스트, 도표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66671F2-0658-144A-AE37-B39335923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429932"/>
            <a:ext cx="3282952" cy="1802988"/>
          </a:xfrm>
          <a:prstGeom prst="rect">
            <a:avLst/>
          </a:prstGeom>
        </p:spPr>
      </p:pic>
      <p:pic>
        <p:nvPicPr>
          <p:cNvPr id="16" name="그림 15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F29EB2-BB34-D116-DBAC-6C92ECDF0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745" y="4304928"/>
            <a:ext cx="3299849" cy="2016224"/>
          </a:xfrm>
          <a:prstGeom prst="rect">
            <a:avLst/>
          </a:prstGeom>
        </p:spPr>
      </p:pic>
      <p:pic>
        <p:nvPicPr>
          <p:cNvPr id="18" name="그림 17" descr="텍스트, 폰트, 스크린샷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2465D54-38F2-A1CA-C487-97269B63DB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167" y="6321152"/>
            <a:ext cx="1872208" cy="148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5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EA6056E-C294-6726-39AA-95152B85B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F969EC-FB05-BADA-816C-8E69400D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Cost minimizing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84FDB4-48F9-A596-720E-2A6719A5133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CF9427B-5B6E-9BE2-D2A5-4DD2585F56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Cross entropy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en-US" altLang="ko-KR" dirty="0"/>
              <a:t>Cross entropy </a:t>
            </a:r>
            <a:r>
              <a:rPr lang="ko-KR" altLang="en-US" dirty="0"/>
              <a:t>함수는 </a:t>
            </a:r>
            <a:r>
              <a:rPr lang="en-US" altLang="ko-KR" dirty="0"/>
              <a:t>logistic regression</a:t>
            </a:r>
            <a:r>
              <a:rPr lang="ko-KR" altLang="en-US" dirty="0"/>
              <a:t>의 </a:t>
            </a:r>
            <a:r>
              <a:rPr lang="en-US" altLang="ko-KR" dirty="0"/>
              <a:t>maximum likelihood </a:t>
            </a:r>
            <a:r>
              <a:rPr lang="ko-KR" altLang="en-US" dirty="0"/>
              <a:t>함수</a:t>
            </a:r>
            <a:endParaRPr lang="en-US" altLang="ko-KR" dirty="0"/>
          </a:p>
          <a:p>
            <a:pPr lvl="1"/>
            <a:r>
              <a:rPr lang="en-US" altLang="ko-KR" dirty="0"/>
              <a:t>Yi</a:t>
            </a:r>
            <a:r>
              <a:rPr lang="ko-KR" altLang="en-US" dirty="0"/>
              <a:t>는 </a:t>
            </a:r>
            <a:r>
              <a:rPr lang="en-US" altLang="ko-KR" dirty="0"/>
              <a:t>0 or 1</a:t>
            </a:r>
            <a:r>
              <a:rPr lang="ko-KR" altLang="en-US" dirty="0"/>
              <a:t>을 갖는 확률 변수</a:t>
            </a:r>
            <a:r>
              <a:rPr lang="en-US" altLang="ko-KR" dirty="0"/>
              <a:t>; Yi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Bernoulli(pi)</a:t>
            </a:r>
          </a:p>
          <a:p>
            <a:pPr lvl="2"/>
            <a:r>
              <a:rPr lang="en-US" altLang="ko-KR" dirty="0"/>
              <a:t>Pi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 err="1"/>
              <a:t>Pr</a:t>
            </a:r>
            <a:r>
              <a:rPr lang="en-US" altLang="ko-KR" dirty="0"/>
              <a:t>(Yi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1)</a:t>
            </a:r>
            <a:r>
              <a:rPr lang="ko-KR" altLang="en-US" dirty="0"/>
              <a:t>에서 확률질량함수</a:t>
            </a:r>
            <a:r>
              <a:rPr lang="en-US" altLang="ko-KR" dirty="0"/>
              <a:t>(PMF)</a:t>
            </a:r>
            <a:r>
              <a:rPr lang="ko-KR" altLang="en-US" dirty="0"/>
              <a:t>는 다음과 같다</a:t>
            </a:r>
            <a:endParaRPr lang="en-US" altLang="ko-KR" dirty="0"/>
          </a:p>
          <a:p>
            <a:pPr lvl="3"/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3"/>
            <a:r>
              <a:rPr lang="ko-KR" altLang="en-US" dirty="0"/>
              <a:t>이 수식을 미지 </a:t>
            </a:r>
            <a:r>
              <a:rPr lang="ko-KR" altLang="en-US" dirty="0" err="1"/>
              <a:t>모수</a:t>
            </a:r>
            <a:r>
              <a:rPr lang="ko-KR" altLang="en-US" dirty="0"/>
              <a:t> </a:t>
            </a:r>
            <a:r>
              <a:rPr lang="en-US" altLang="ko-KR" dirty="0"/>
              <a:t>pi</a:t>
            </a:r>
            <a:r>
              <a:rPr lang="ko-KR" altLang="en-US" dirty="0"/>
              <a:t>에 대한 가능도 함수라고 한다</a:t>
            </a:r>
            <a:r>
              <a:rPr lang="en-US" altLang="ko-KR" dirty="0"/>
              <a:t>. Yi</a:t>
            </a:r>
            <a:r>
              <a:rPr lang="ko-KR" altLang="en-US" dirty="0"/>
              <a:t>는 주어진 값</a:t>
            </a:r>
            <a:r>
              <a:rPr lang="en-US" altLang="ko-KR" dirty="0"/>
              <a:t>, </a:t>
            </a:r>
            <a:r>
              <a:rPr lang="ko-KR" altLang="en-US" dirty="0"/>
              <a:t>미지수는 </a:t>
            </a:r>
            <a:r>
              <a:rPr lang="en-US" altLang="ko-KR" dirty="0"/>
              <a:t>pi.</a:t>
            </a:r>
          </a:p>
          <a:p>
            <a:pPr lvl="3"/>
            <a:r>
              <a:rPr lang="ko-KR" altLang="en-US" dirty="0"/>
              <a:t>이 함수를 최대화하는 </a:t>
            </a:r>
            <a:r>
              <a:rPr lang="en-US" altLang="ko-KR" dirty="0"/>
              <a:t>pi</a:t>
            </a:r>
            <a:r>
              <a:rPr lang="ko-KR" altLang="en-US" dirty="0"/>
              <a:t>가 </a:t>
            </a:r>
            <a:r>
              <a:rPr lang="ko-KR" altLang="en-US" dirty="0" err="1"/>
              <a:t>관측값을</a:t>
            </a:r>
            <a:r>
              <a:rPr lang="ko-KR" altLang="en-US" dirty="0"/>
              <a:t> 가장 잘 설명하는 것이라 </a:t>
            </a:r>
            <a:r>
              <a:rPr lang="ko-KR" altLang="en-US" dirty="0" err="1"/>
              <a:t>생각하는게</a:t>
            </a:r>
            <a:r>
              <a:rPr lang="ko-KR" altLang="en-US" dirty="0"/>
              <a:t> </a:t>
            </a:r>
            <a:r>
              <a:rPr lang="en-US" altLang="ko-KR" dirty="0"/>
              <a:t>MLE </a:t>
            </a:r>
            <a:r>
              <a:rPr lang="ko-KR" altLang="en-US" dirty="0"/>
              <a:t>추정</a:t>
            </a:r>
            <a:endParaRPr lang="en-US" altLang="ko-KR" dirty="0"/>
          </a:p>
          <a:p>
            <a:pPr lvl="2"/>
            <a:r>
              <a:rPr lang="en-US" altLang="ko-KR" dirty="0"/>
              <a:t>Pi</a:t>
            </a:r>
            <a:r>
              <a:rPr lang="ko-KR" altLang="en-US" dirty="0"/>
              <a:t>는 </a:t>
            </a:r>
            <a:r>
              <a:rPr lang="en-US" altLang="ko-KR" dirty="0"/>
              <a:t>Yi</a:t>
            </a:r>
            <a:r>
              <a:rPr lang="ko-KR" altLang="en-US" dirty="0"/>
              <a:t>에 대한 </a:t>
            </a:r>
            <a:r>
              <a:rPr lang="ko-KR" altLang="en-US" dirty="0" err="1"/>
              <a:t>추정값이므로</a:t>
            </a:r>
            <a:r>
              <a:rPr lang="ko-KR" altLang="en-US" dirty="0"/>
              <a:t> </a:t>
            </a:r>
            <a:r>
              <a:rPr lang="en-US" altLang="ko-KR" dirty="0"/>
              <a:t>pi &gt; ½ -&gt; </a:t>
            </a:r>
            <a:r>
              <a:rPr lang="en-US" altLang="ko-KR" dirty="0" err="1"/>
              <a:t>yi</a:t>
            </a:r>
            <a:r>
              <a:rPr lang="en-US" altLang="ko-KR" dirty="0"/>
              <a:t> = 1. </a:t>
            </a:r>
            <a:r>
              <a:rPr lang="ko-KR" altLang="en-US" dirty="0"/>
              <a:t>그게 아니라면 </a:t>
            </a:r>
            <a:r>
              <a:rPr lang="en-US" altLang="ko-KR" dirty="0" err="1"/>
              <a:t>yi</a:t>
            </a:r>
            <a:r>
              <a:rPr lang="en-US" altLang="ko-KR" dirty="0"/>
              <a:t> = 0</a:t>
            </a:r>
            <a:r>
              <a:rPr lang="ko-KR" altLang="en-US" dirty="0"/>
              <a:t>이 되어 다음이 성립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endParaRPr lang="en-US" altLang="ko-KR" dirty="0"/>
          </a:p>
          <a:p>
            <a:pPr lvl="2"/>
            <a:endParaRPr lang="en-US" altLang="ko-KR" dirty="0"/>
          </a:p>
          <a:p>
            <a:pPr lvl="3"/>
            <a:r>
              <a:rPr lang="ko-KR" altLang="en-US" dirty="0"/>
              <a:t>이 식을 최대화하는 베타</a:t>
            </a:r>
            <a:r>
              <a:rPr lang="en-US" altLang="ko-KR" dirty="0"/>
              <a:t>0, </a:t>
            </a:r>
            <a:r>
              <a:rPr lang="ko-KR" altLang="en-US" dirty="0"/>
              <a:t>베타</a:t>
            </a:r>
            <a:r>
              <a:rPr lang="en-US" altLang="ko-KR" dirty="0"/>
              <a:t>1</a:t>
            </a:r>
            <a:r>
              <a:rPr lang="ko-KR" altLang="en-US" dirty="0"/>
              <a:t>이 우리가 구하고자 하는 미지수이고 </a:t>
            </a:r>
            <a:r>
              <a:rPr lang="en-US" altLang="ko-KR" dirty="0"/>
              <a:t>MLE. </a:t>
            </a:r>
            <a:r>
              <a:rPr lang="ko-KR" altLang="en-US" dirty="0"/>
              <a:t>함수에 로그를 취하면</a:t>
            </a:r>
            <a:r>
              <a:rPr lang="en-US" altLang="ko-KR" dirty="0"/>
              <a:t>, =&gt;</a:t>
            </a:r>
          </a:p>
          <a:p>
            <a:pPr lvl="3"/>
            <a:r>
              <a:rPr lang="ko-KR" altLang="en-US" dirty="0"/>
              <a:t>이 수식에 </a:t>
            </a:r>
            <a:r>
              <a:rPr lang="en-US" altLang="ko-KR" dirty="0"/>
              <a:t>-1</a:t>
            </a:r>
            <a:r>
              <a:rPr lang="ko-KR" altLang="en-US" dirty="0"/>
              <a:t>을</a:t>
            </a:r>
            <a:br>
              <a:rPr lang="en-US" altLang="ko-KR" dirty="0"/>
            </a:br>
            <a:r>
              <a:rPr lang="en-US" altLang="ko-KR" dirty="0"/>
              <a:t> </a:t>
            </a:r>
            <a:r>
              <a:rPr lang="ko-KR" altLang="en-US" dirty="0"/>
              <a:t>곱하면</a:t>
            </a:r>
            <a:br>
              <a:rPr lang="en-US" altLang="ko-KR" dirty="0"/>
            </a:br>
            <a:r>
              <a:rPr lang="en-US" altLang="ko-KR" dirty="0"/>
              <a:t>cross entropy;</a:t>
            </a:r>
            <a:br>
              <a:rPr lang="en-US" altLang="ko-KR" dirty="0"/>
            </a:br>
            <a:r>
              <a:rPr lang="ko-KR" altLang="en-US" dirty="0"/>
              <a:t>이 함수를 최소화 하는 베타를 구하면 </a:t>
            </a:r>
            <a:r>
              <a:rPr lang="en-US" altLang="ko-KR" dirty="0"/>
              <a:t>MLE</a:t>
            </a:r>
            <a:r>
              <a:rPr lang="ko-KR" altLang="en-US" dirty="0"/>
              <a:t>가 된다</a:t>
            </a:r>
            <a:endParaRPr lang="en-US" altLang="ko-KR" dirty="0"/>
          </a:p>
          <a:p>
            <a:pPr lvl="2"/>
            <a:r>
              <a:rPr lang="ko-KR" altLang="en-US" dirty="0"/>
              <a:t>좌측은 </a:t>
            </a:r>
            <a:r>
              <a:rPr lang="en-US" altLang="ko-KR" dirty="0"/>
              <a:t>3</a:t>
            </a:r>
            <a:r>
              <a:rPr lang="ko-KR" altLang="en-US" dirty="0"/>
              <a:t>차원 함수의 모양</a:t>
            </a:r>
            <a:r>
              <a:rPr lang="en-US" altLang="ko-KR" dirty="0"/>
              <a:t>, </a:t>
            </a:r>
            <a:r>
              <a:rPr lang="ko-KR" altLang="en-US" dirty="0"/>
              <a:t>우측은 이 함수의 기울기 </a:t>
            </a:r>
            <a:r>
              <a:rPr lang="ko-KR" altLang="en-US" dirty="0" err="1"/>
              <a:t>벡터장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기울기벡터의 반대로 가면 최소가 되는 </a:t>
            </a:r>
            <a:r>
              <a:rPr lang="en-US" altLang="ko-KR" dirty="0"/>
              <a:t>x0, x1</a:t>
            </a:r>
            <a:r>
              <a:rPr lang="ko-KR" altLang="en-US" dirty="0"/>
              <a:t>을 구할 수 있다</a:t>
            </a:r>
            <a:r>
              <a:rPr lang="en-US" altLang="ko-KR" dirty="0"/>
              <a:t>.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AFA5F0-3452-85DC-CA1F-5ED0A9734FA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6AE8676-BD2E-CA82-67EC-713447CB3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4864" y="1424608"/>
            <a:ext cx="1728192" cy="175078"/>
          </a:xfrm>
          <a:prstGeom prst="rect">
            <a:avLst/>
          </a:prstGeom>
        </p:spPr>
      </p:pic>
      <p:pic>
        <p:nvPicPr>
          <p:cNvPr id="10" name="그림 9" descr="텍스트, 폰트, 스크린샷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EA9EFA5-1DF4-4F74-5580-A6574CDED2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856" y="1671694"/>
            <a:ext cx="4320481" cy="645870"/>
          </a:xfrm>
          <a:prstGeom prst="rect">
            <a:avLst/>
          </a:prstGeom>
        </p:spPr>
      </p:pic>
      <p:pic>
        <p:nvPicPr>
          <p:cNvPr id="12" name="그림 11" descr="텍스트, 폰트, 라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429D37-F5CF-4AE9-C86E-34BDCF7FF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943" y="2882265"/>
            <a:ext cx="2376264" cy="33875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197CD72-4369-3496-D731-6E5078A7E5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951" y="3428746"/>
            <a:ext cx="2448273" cy="59376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39245E0-86C6-2B73-94B4-6DF341E22A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2118" y="4785565"/>
            <a:ext cx="4541914" cy="2572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94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F88B4EB-DF5B-FDB1-B5E7-DFDA9B590D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39DA232-B1F2-2998-0C4A-064F30C6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Gradient</a:t>
            </a:r>
            <a:r>
              <a:rPr lang="ko-KR" altLang="en-US" dirty="0"/>
              <a:t> </a:t>
            </a:r>
            <a:r>
              <a:rPr lang="en-US" altLang="ko-KR" dirty="0"/>
              <a:t>Descent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3CAB52-834F-EA47-7993-BBEB1307E2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38C17D-8C74-AA7C-DA04-EDA1C3D336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 err="1"/>
              <a:t>Steepset</a:t>
            </a:r>
            <a:r>
              <a:rPr lang="en-US" altLang="ko-KR" dirty="0"/>
              <a:t> Descending Algorithm</a:t>
            </a:r>
          </a:p>
          <a:p>
            <a:pPr lvl="1"/>
            <a:r>
              <a:rPr lang="en-US" altLang="ko-KR" dirty="0"/>
              <a:t>Cross</a:t>
            </a:r>
            <a:r>
              <a:rPr lang="ko-KR" altLang="en-US" dirty="0"/>
              <a:t> </a:t>
            </a:r>
            <a:r>
              <a:rPr lang="en-US" altLang="ko-KR" dirty="0"/>
              <a:t>Entropy</a:t>
            </a:r>
            <a:r>
              <a:rPr lang="ko-KR" altLang="en-US" dirty="0"/>
              <a:t> 함수를 최소화하는</a:t>
            </a:r>
            <a:r>
              <a:rPr lang="en-US" altLang="ko-KR" dirty="0"/>
              <a:t> </a:t>
            </a:r>
            <a:r>
              <a:rPr lang="ko-KR" altLang="en-US" dirty="0" err="1"/>
              <a:t>미지모수를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ko-KR" altLang="en-US" dirty="0"/>
              <a:t>수학적으로 구할 수</a:t>
            </a:r>
            <a:r>
              <a:rPr lang="en-US" altLang="ko-KR" dirty="0"/>
              <a:t> </a:t>
            </a:r>
            <a:r>
              <a:rPr lang="ko-KR" altLang="en-US" dirty="0"/>
              <a:t>없기 때문에 </a:t>
            </a:r>
            <a:br>
              <a:rPr lang="en-US" altLang="ko-KR" dirty="0"/>
            </a:br>
            <a:r>
              <a:rPr lang="ko-KR" altLang="en-US" dirty="0"/>
              <a:t>최대 경사 하강법을 사용</a:t>
            </a:r>
            <a:endParaRPr lang="en-US" altLang="ko-KR" dirty="0"/>
          </a:p>
          <a:p>
            <a:pPr lvl="1"/>
            <a:r>
              <a:rPr lang="en-US" altLang="ko-KR" dirty="0"/>
              <a:t>Convex Function</a:t>
            </a:r>
            <a:r>
              <a:rPr lang="ko-KR" altLang="en-US" dirty="0"/>
              <a:t>에서 기울기가 </a:t>
            </a:r>
            <a:r>
              <a:rPr lang="en-US" altLang="ko-KR" dirty="0"/>
              <a:t>0</a:t>
            </a:r>
            <a:r>
              <a:rPr lang="ko-KR" altLang="en-US" dirty="0"/>
              <a:t>인 지점을 찾기 위해 초기값 </a:t>
            </a:r>
            <a:r>
              <a:rPr lang="en-US" altLang="ko-KR" dirty="0"/>
              <a:t>W</a:t>
            </a:r>
            <a:r>
              <a:rPr lang="ko-KR" altLang="en-US" dirty="0"/>
              <a:t>에서 기울기의 반대방향으로 조금씩 움직여 </a:t>
            </a:r>
            <a:r>
              <a:rPr lang="en-US" altLang="ko-KR" dirty="0"/>
              <a:t>0</a:t>
            </a:r>
            <a:r>
              <a:rPr lang="ko-KR" altLang="en-US" dirty="0"/>
              <a:t>에 도달</a:t>
            </a:r>
            <a:endParaRPr lang="en-US" altLang="ko-KR" dirty="0"/>
          </a:p>
          <a:p>
            <a:pPr lvl="1"/>
            <a:r>
              <a:rPr lang="en-US" altLang="ko-KR" dirty="0"/>
              <a:t>Logistic Regression</a:t>
            </a:r>
            <a:r>
              <a:rPr lang="ko-KR" altLang="en-US" dirty="0"/>
              <a:t>에서 </a:t>
            </a:r>
            <a:br>
              <a:rPr lang="en-US" altLang="ko-KR" dirty="0"/>
            </a:br>
            <a:r>
              <a:rPr lang="ko-KR" altLang="en-US" dirty="0"/>
              <a:t>손실함수의 도함수는 </a:t>
            </a:r>
            <a:br>
              <a:rPr lang="en-US" altLang="ko-KR" dirty="0"/>
            </a:br>
            <a:r>
              <a:rPr lang="ko-KR" altLang="en-US" dirty="0"/>
              <a:t>다음과 같다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Normalization</a:t>
            </a:r>
          </a:p>
          <a:p>
            <a:pPr lvl="1"/>
            <a:r>
              <a:rPr lang="en-US" altLang="ko-KR" dirty="0"/>
              <a:t>Cost</a:t>
            </a:r>
            <a:r>
              <a:rPr lang="ko-KR" altLang="en-US" dirty="0"/>
              <a:t>함수의 계산은 </a:t>
            </a:r>
            <a:r>
              <a:rPr lang="en-US" altLang="ko-KR" dirty="0"/>
              <a:t>weight</a:t>
            </a:r>
            <a:r>
              <a:rPr lang="ko-KR" altLang="en-US" dirty="0"/>
              <a:t>와 </a:t>
            </a:r>
            <a:br>
              <a:rPr lang="en-US" altLang="ko-KR" dirty="0"/>
            </a:br>
            <a:r>
              <a:rPr lang="en-US" altLang="ko-KR" dirty="0"/>
              <a:t>X</a:t>
            </a:r>
            <a:r>
              <a:rPr lang="ko-KR" altLang="en-US" dirty="0"/>
              <a:t>를 곱하는 연산을 수행</a:t>
            </a:r>
            <a:r>
              <a:rPr lang="en-US" altLang="ko-KR" dirty="0"/>
              <a:t>. </a:t>
            </a:r>
            <a:br>
              <a:rPr lang="en-US" altLang="ko-KR" dirty="0"/>
            </a:br>
            <a:r>
              <a:rPr lang="en-US" altLang="ko-KR" dirty="0"/>
              <a:t>X</a:t>
            </a:r>
            <a:r>
              <a:rPr lang="ko-KR" altLang="en-US" dirty="0"/>
              <a:t>와</a:t>
            </a:r>
            <a:r>
              <a:rPr lang="en-US" altLang="ko-KR" dirty="0"/>
              <a:t>W</a:t>
            </a:r>
            <a:r>
              <a:rPr lang="ko-KR" altLang="en-US" dirty="0"/>
              <a:t>의 </a:t>
            </a:r>
            <a:r>
              <a:rPr lang="en-US" altLang="ko-KR" dirty="0"/>
              <a:t>scale </a:t>
            </a:r>
            <a:r>
              <a:rPr lang="ko-KR" altLang="en-US" dirty="0"/>
              <a:t>조화가 필요</a:t>
            </a:r>
            <a:endParaRPr lang="en-US" altLang="ko-KR" dirty="0"/>
          </a:p>
          <a:p>
            <a:pPr lvl="2"/>
            <a:r>
              <a:rPr lang="en-US" altLang="ko-KR" dirty="0"/>
              <a:t>Cost</a:t>
            </a:r>
            <a:r>
              <a:rPr lang="ko-KR" altLang="en-US" dirty="0"/>
              <a:t>함수가 넓게 퍼져 있는 것 보단 조밀하게 있는 편이 </a:t>
            </a:r>
            <a:r>
              <a:rPr lang="ko-KR" altLang="en-US" dirty="0" err="1"/>
              <a:t>극값에</a:t>
            </a:r>
            <a:r>
              <a:rPr lang="ko-KR" altLang="en-US" dirty="0"/>
              <a:t> 도달하기 편함</a:t>
            </a:r>
            <a:endParaRPr lang="en-US" altLang="ko-KR" dirty="0"/>
          </a:p>
          <a:p>
            <a:pPr lvl="1"/>
            <a:r>
              <a:rPr lang="en-US" altLang="ko-KR" dirty="0"/>
              <a:t>X</a:t>
            </a:r>
            <a:r>
              <a:rPr lang="ko-KR" altLang="en-US" dirty="0"/>
              <a:t>의 </a:t>
            </a:r>
            <a:r>
              <a:rPr lang="en-US" altLang="ko-KR" dirty="0"/>
              <a:t>scale</a:t>
            </a:r>
            <a:r>
              <a:rPr lang="ko-KR" altLang="en-US" dirty="0"/>
              <a:t>에 따라 </a:t>
            </a:r>
            <a:r>
              <a:rPr lang="en-US" altLang="ko-KR" dirty="0"/>
              <a:t>w</a:t>
            </a:r>
            <a:r>
              <a:rPr lang="ko-KR" altLang="en-US" dirty="0"/>
              <a:t>의 </a:t>
            </a:r>
            <a:r>
              <a:rPr lang="en-US" altLang="ko-KR" dirty="0"/>
              <a:t>scale</a:t>
            </a:r>
            <a:r>
              <a:rPr lang="ko-KR" altLang="en-US" dirty="0"/>
              <a:t>을 조절하는 것이 힘들기 때문에 </a:t>
            </a:r>
            <a:r>
              <a:rPr lang="en-US" altLang="ko-KR" dirty="0"/>
              <a:t>X~N(0,1)</a:t>
            </a:r>
            <a:r>
              <a:rPr lang="ko-KR" altLang="en-US" dirty="0"/>
              <a:t>로 표준화를 하거나 </a:t>
            </a:r>
            <a:r>
              <a:rPr lang="en-US" altLang="ko-KR" dirty="0"/>
              <a:t>X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[0,1]</a:t>
            </a:r>
            <a:r>
              <a:rPr lang="ko-KR" altLang="en-US" dirty="0"/>
              <a:t>로 압축하는 </a:t>
            </a:r>
            <a:r>
              <a:rPr lang="en-US" altLang="ko-KR" dirty="0" err="1"/>
              <a:t>scaleing</a:t>
            </a:r>
            <a:r>
              <a:rPr lang="ko-KR" altLang="en-US" dirty="0"/>
              <a:t>을 수행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정규화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ko-KR" altLang="en-US" dirty="0"/>
              <a:t>표준화를 해주면 </a:t>
            </a:r>
            <a:r>
              <a:rPr lang="en-US" altLang="ko-KR" dirty="0"/>
              <a:t>X</a:t>
            </a:r>
            <a:r>
              <a:rPr lang="ko-KR" altLang="en-US" dirty="0"/>
              <a:t>의 단위에 </a:t>
            </a:r>
            <a:r>
              <a:rPr lang="ko-KR" altLang="en-US" dirty="0" err="1"/>
              <a:t>구애받지</a:t>
            </a:r>
            <a:r>
              <a:rPr lang="ko-KR" altLang="en-US" dirty="0"/>
              <a:t> 않고 </a:t>
            </a:r>
            <a:br>
              <a:rPr lang="en-US" altLang="ko-KR" dirty="0"/>
            </a:br>
            <a:r>
              <a:rPr lang="en-US" altLang="ko-KR" dirty="0"/>
              <a:t>gradient descent</a:t>
            </a:r>
            <a:r>
              <a:rPr lang="ko-KR" altLang="en-US" dirty="0"/>
              <a:t>를 해줄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Overfitting</a:t>
            </a:r>
          </a:p>
          <a:p>
            <a:pPr lvl="1"/>
            <a:r>
              <a:rPr lang="ko-KR" altLang="en-US" dirty="0"/>
              <a:t>학습데이터의 양에 비해 많은 </a:t>
            </a:r>
            <a:r>
              <a:rPr lang="en-US" altLang="ko-KR" dirty="0"/>
              <a:t>weigh</a:t>
            </a:r>
            <a:r>
              <a:rPr lang="ko-KR" altLang="en-US" dirty="0"/>
              <a:t>를 가지거나 모형이 필요 이상으로 구부러지는 경우</a:t>
            </a:r>
            <a:endParaRPr lang="en-US" altLang="ko-KR" dirty="0"/>
          </a:p>
          <a:p>
            <a:pPr lvl="2"/>
            <a:r>
              <a:rPr lang="ko-KR" altLang="en-US" dirty="0"/>
              <a:t>트레이닝 데이터는 잘 맞추나 </a:t>
            </a:r>
            <a:br>
              <a:rPr lang="en-US" altLang="ko-KR" dirty="0"/>
            </a:br>
            <a:r>
              <a:rPr lang="ko-KR" altLang="en-US" dirty="0"/>
              <a:t>새 데이터는 잘못맞춤</a:t>
            </a:r>
            <a:endParaRPr lang="en-US" altLang="ko-KR" dirty="0"/>
          </a:p>
          <a:p>
            <a:pPr lvl="2"/>
            <a:r>
              <a:rPr lang="ko-KR" altLang="en-US" dirty="0"/>
              <a:t>언제까지 </a:t>
            </a:r>
            <a:r>
              <a:rPr lang="ko-KR" altLang="en-US" dirty="0" err="1"/>
              <a:t>구부려야하나</a:t>
            </a:r>
            <a:r>
              <a:rPr lang="en-US" altLang="ko-KR" dirty="0"/>
              <a:t>?</a:t>
            </a:r>
          </a:p>
          <a:p>
            <a:pPr lvl="3"/>
            <a:r>
              <a:rPr lang="en-US" altLang="ko-KR" dirty="0">
                <a:sym typeface="Wingdings" panose="05000000000000000000" pitchFamily="2" charset="2"/>
              </a:rPr>
              <a:t>training data</a:t>
            </a:r>
            <a:r>
              <a:rPr lang="ko-KR" altLang="en-US" dirty="0">
                <a:sym typeface="Wingdings" panose="05000000000000000000" pitchFamily="2" charset="2"/>
              </a:rPr>
              <a:t>의 정확성과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example data</a:t>
            </a:r>
            <a:r>
              <a:rPr lang="ko-KR" altLang="en-US" dirty="0">
                <a:sym typeface="Wingdings" panose="05000000000000000000" pitchFamily="2" charset="2"/>
              </a:rPr>
              <a:t>의 정확성이 같도록</a:t>
            </a:r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8A262B2-7142-0395-5FDE-559615370C4D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친필, 폰트, 서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23FC50A-1AC4-0B63-3FDD-B6238F89B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016" y="1712640"/>
            <a:ext cx="2998099" cy="672948"/>
          </a:xfrm>
          <a:prstGeom prst="rect">
            <a:avLst/>
          </a:prstGeom>
        </p:spPr>
      </p:pic>
      <p:pic>
        <p:nvPicPr>
          <p:cNvPr id="10" name="그림 9" descr="텍스트, 폰트, 친필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FC3ACC7-5A0B-4806-A8BF-22FDEC918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5743" y="704528"/>
            <a:ext cx="2119003" cy="51033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DC78F6D-C5C5-6C68-68DD-203B80350A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852" y="2751623"/>
            <a:ext cx="1680425" cy="263481"/>
          </a:xfrm>
          <a:prstGeom prst="rect">
            <a:avLst/>
          </a:prstGeom>
        </p:spPr>
      </p:pic>
      <p:pic>
        <p:nvPicPr>
          <p:cNvPr id="12" name="그림 11" descr="텍스트, 폰트, 라인, 친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9A960BC-0358-71D5-D815-5FE61365C2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00" y="3626711"/>
            <a:ext cx="1020970" cy="535319"/>
          </a:xfrm>
          <a:prstGeom prst="rect">
            <a:avLst/>
          </a:prstGeom>
        </p:spPr>
      </p:pic>
      <p:pic>
        <p:nvPicPr>
          <p:cNvPr id="14" name="그림 13" descr="폰트, 라인, 도표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35CF006-E8EE-2A00-3F78-3CAC5213F2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2426" y="4664968"/>
            <a:ext cx="2890950" cy="116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35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EDB9E3-C849-82F6-7EBB-D4DA3ADEE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5C45B5C-3C6F-22BB-3E16-6FE56EC5C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MNIST Data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221189-767C-4DC1-3BF7-B912FCB1B4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F4FB991-5D09-0477-B903-D9CE81F7DC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MNIST dataset</a:t>
            </a:r>
          </a:p>
          <a:p>
            <a:pPr lvl="1"/>
            <a:r>
              <a:rPr lang="ko-KR" altLang="en-US" dirty="0"/>
              <a:t>우편번호를 자동 인식하기 위한 데이터셋</a:t>
            </a:r>
            <a:endParaRPr lang="en-US" altLang="ko-KR" dirty="0"/>
          </a:p>
          <a:p>
            <a:pPr lvl="1"/>
            <a:r>
              <a:rPr lang="en-US" altLang="ko-KR" dirty="0"/>
              <a:t>28 * 28 = 784</a:t>
            </a:r>
            <a:r>
              <a:rPr lang="ko-KR" altLang="en-US" dirty="0"/>
              <a:t>개의 픽셀에 </a:t>
            </a:r>
            <a:r>
              <a:rPr lang="en-US" altLang="ko-KR" dirty="0"/>
              <a:t>0~255</a:t>
            </a:r>
            <a:r>
              <a:rPr lang="ko-KR" altLang="en-US" dirty="0"/>
              <a:t>사이의 숫자로 표현</a:t>
            </a:r>
            <a:endParaRPr lang="en-US" altLang="ko-KR" dirty="0"/>
          </a:p>
          <a:p>
            <a:r>
              <a:rPr lang="en-US" altLang="ko-KR" dirty="0"/>
              <a:t>One-hot encoding</a:t>
            </a:r>
          </a:p>
          <a:p>
            <a:pPr lvl="1"/>
            <a:r>
              <a:rPr lang="ko-KR" altLang="en-US" dirty="0"/>
              <a:t>로지스틱 회귀모형에서 </a:t>
            </a:r>
            <a:br>
              <a:rPr lang="en-US" altLang="ko-KR" dirty="0"/>
            </a:br>
            <a:r>
              <a:rPr lang="en-US" altLang="ko-KR" dirty="0"/>
              <a:t>Y </a:t>
            </a:r>
            <a:r>
              <a:rPr lang="en-US" altLang="ko-KR" dirty="0">
                <a:sym typeface="Wingdings" panose="05000000000000000000" pitchFamily="2" charset="2"/>
              </a:rPr>
              <a:t> [0,1],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 err="1">
                <a:sym typeface="Wingdings" panose="05000000000000000000" pitchFamily="2" charset="2"/>
              </a:rPr>
              <a:t>mnist</a:t>
            </a:r>
            <a:r>
              <a:rPr lang="en-US" altLang="ko-KR" dirty="0">
                <a:sym typeface="Wingdings" panose="05000000000000000000" pitchFamily="2" charset="2"/>
              </a:rPr>
              <a:t> data</a:t>
            </a:r>
            <a:r>
              <a:rPr lang="ko-KR" altLang="en-US" dirty="0">
                <a:sym typeface="Wingdings" panose="05000000000000000000" pitchFamily="2" charset="2"/>
              </a:rPr>
              <a:t>에선 </a:t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Y  (0,1, … ,9)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Dummy variable</a:t>
            </a:r>
            <a:r>
              <a:rPr lang="ko-KR" altLang="en-US" dirty="0">
                <a:sym typeface="Wingdings" panose="05000000000000000000" pitchFamily="2" charset="2"/>
              </a:rPr>
              <a:t>을 활용해 </a:t>
            </a:r>
            <a:r>
              <a:rPr lang="en-US" altLang="ko-KR" dirty="0">
                <a:sym typeface="Wingdings" panose="05000000000000000000" pitchFamily="2" charset="2"/>
              </a:rPr>
              <a:t>0,1</a:t>
            </a:r>
            <a:r>
              <a:rPr lang="ko-KR" altLang="en-US" dirty="0">
                <a:sym typeface="Wingdings" panose="05000000000000000000" pitchFamily="2" charset="2"/>
              </a:rPr>
              <a:t>로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구성할 수 있다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Y</a:t>
            </a:r>
            <a:r>
              <a:rPr lang="ko-KR" altLang="en-US" dirty="0"/>
              <a:t>가 </a:t>
            </a:r>
            <a:r>
              <a:rPr lang="en-US" altLang="ko-KR" dirty="0"/>
              <a:t>one hot encoding</a:t>
            </a:r>
            <a:r>
              <a:rPr lang="ko-KR" altLang="en-US" dirty="0"/>
              <a:t>이 되면 </a:t>
            </a:r>
            <a:br>
              <a:rPr lang="en-US" altLang="ko-KR" dirty="0"/>
            </a:br>
            <a:r>
              <a:rPr lang="ko-KR" altLang="en-US" dirty="0"/>
              <a:t>이에 해당하는 </a:t>
            </a:r>
            <a:r>
              <a:rPr lang="en-US" altLang="ko-KR" dirty="0"/>
              <a:t>Hypothesis</a:t>
            </a:r>
            <a:r>
              <a:rPr lang="ko-KR" altLang="en-US" dirty="0"/>
              <a:t>값도 </a:t>
            </a:r>
            <a:br>
              <a:rPr lang="en-US" altLang="ko-KR" dirty="0"/>
            </a:br>
            <a:r>
              <a:rPr lang="ko-KR" altLang="en-US" dirty="0"/>
              <a:t>행렬로 표시</a:t>
            </a:r>
            <a:endParaRPr lang="en-US" altLang="ko-KR" dirty="0"/>
          </a:p>
          <a:p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함수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Y = WX + B</a:t>
            </a:r>
            <a:r>
              <a:rPr lang="ko-KR" altLang="en-US" dirty="0"/>
              <a:t>에서</a:t>
            </a:r>
            <a:r>
              <a:rPr lang="en-US" altLang="ko-KR" dirty="0"/>
              <a:t>, </a:t>
            </a:r>
            <a:r>
              <a:rPr lang="ko-KR" altLang="en-US" dirty="0"/>
              <a:t>행렬 연산은 </a:t>
            </a:r>
            <a:r>
              <a:rPr lang="en-US" altLang="ko-KR" dirty="0"/>
              <a:t>(1*784) * (784*10) + (1*10)</a:t>
            </a:r>
            <a:r>
              <a:rPr lang="ko-KR" altLang="en-US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(1*10)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cross entropy </a:t>
            </a:r>
            <a:r>
              <a:rPr lang="ko-KR" altLang="en-US" dirty="0">
                <a:sym typeface="Wingdings" panose="05000000000000000000" pitchFamily="2" charset="2"/>
              </a:rPr>
              <a:t>함수의 값을 </a:t>
            </a:r>
            <a:r>
              <a:rPr lang="en-US" altLang="ko-KR" dirty="0">
                <a:sym typeface="Wingdings" panose="05000000000000000000" pitchFamily="2" charset="2"/>
              </a:rPr>
              <a:t>sigmoid</a:t>
            </a:r>
            <a:r>
              <a:rPr lang="ko-KR" altLang="en-US" dirty="0">
                <a:sym typeface="Wingdings" panose="05000000000000000000" pitchFamily="2" charset="2"/>
              </a:rPr>
              <a:t>에 집어넣어 </a:t>
            </a:r>
            <a:r>
              <a:rPr lang="en-US" altLang="ko-KR" dirty="0">
                <a:sym typeface="Wingdings" panose="05000000000000000000" pitchFamily="2" charset="2"/>
              </a:rPr>
              <a:t>(1*10) </a:t>
            </a:r>
            <a:r>
              <a:rPr lang="ko-KR" altLang="en-US" dirty="0">
                <a:sym typeface="Wingdings" panose="05000000000000000000" pitchFamily="2" charset="2"/>
              </a:rPr>
              <a:t>크기의 </a:t>
            </a:r>
            <a:r>
              <a:rPr lang="en-US" altLang="ko-KR" dirty="0">
                <a:sym typeface="Wingdings" panose="05000000000000000000" pitchFamily="2" charset="2"/>
              </a:rPr>
              <a:t>Y</a:t>
            </a:r>
            <a:r>
              <a:rPr lang="ko-KR" altLang="en-US" dirty="0">
                <a:sym typeface="Wingdings" panose="05000000000000000000" pitchFamily="2" charset="2"/>
              </a:rPr>
              <a:t>로 출력</a:t>
            </a:r>
            <a:endParaRPr lang="en-US" altLang="ko-KR" dirty="0">
              <a:sym typeface="Wingdings" panose="05000000000000000000" pitchFamily="2" charset="2"/>
            </a:endParaRP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각 </a:t>
            </a:r>
            <a:r>
              <a:rPr lang="en-US" altLang="ko-KR" dirty="0">
                <a:sym typeface="Wingdings" panose="05000000000000000000" pitchFamily="2" charset="2"/>
              </a:rPr>
              <a:t>P(y=0) ~ P(y=9)</a:t>
            </a:r>
            <a:r>
              <a:rPr lang="ko-KR" altLang="en-US" dirty="0">
                <a:sym typeface="Wingdings" panose="05000000000000000000" pitchFamily="2" charset="2"/>
              </a:rPr>
              <a:t>까지의 확률을 더하면 </a:t>
            </a:r>
            <a:r>
              <a:rPr lang="en-US" altLang="ko-KR" dirty="0">
                <a:sym typeface="Wingdings" panose="05000000000000000000" pitchFamily="2" charset="2"/>
              </a:rPr>
              <a:t>1</a:t>
            </a:r>
            <a:r>
              <a:rPr lang="ko-KR" altLang="en-US" dirty="0">
                <a:sym typeface="Wingdings" panose="05000000000000000000" pitchFamily="2" charset="2"/>
              </a:rPr>
              <a:t>이므로 다시 각 확률에 대해 </a:t>
            </a:r>
            <a:r>
              <a:rPr lang="ko-KR" altLang="en-US" dirty="0" err="1">
                <a:sym typeface="Wingdings" panose="05000000000000000000" pitchFamily="2" charset="2"/>
              </a:rPr>
              <a:t>가중평균하면</a:t>
            </a:r>
            <a:r>
              <a:rPr lang="ko-KR" altLang="en-US" dirty="0">
                <a:sym typeface="Wingdings" panose="05000000000000000000" pitchFamily="2" charset="2"/>
              </a:rPr>
              <a:t> 이것이 </a:t>
            </a:r>
            <a:r>
              <a:rPr lang="en-US" altLang="ko-KR" dirty="0" err="1">
                <a:sym typeface="Wingdings" panose="05000000000000000000" pitchFamily="2" charset="2"/>
              </a:rPr>
              <a:t>softmax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함수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FC772D0-403E-EC0F-6461-39483869266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텍스트, 폰트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1721686-CAF3-E756-BD3C-3DF69B8F9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024" y="1525136"/>
            <a:ext cx="3093049" cy="519024"/>
          </a:xfrm>
          <a:prstGeom prst="rect">
            <a:avLst/>
          </a:prstGeom>
        </p:spPr>
      </p:pic>
      <p:pic>
        <p:nvPicPr>
          <p:cNvPr id="10" name="그림 9" descr="텍스트, 폰트, 화이트, 타이포그래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92960A2-5498-87AB-BF6C-90BCEF23A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2514" y="2207068"/>
            <a:ext cx="3148088" cy="585691"/>
          </a:xfrm>
          <a:prstGeom prst="rect">
            <a:avLst/>
          </a:prstGeom>
        </p:spPr>
      </p:pic>
      <p:pic>
        <p:nvPicPr>
          <p:cNvPr id="12" name="그림 11" descr="텍스트, 스크린샷, 도표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DAE410-D0DA-2445-F03B-F3C8CA64A5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218" y="3008784"/>
            <a:ext cx="5232855" cy="31333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4A5C37E-6C13-1DCD-929A-C184D68AD0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0349" y="7324290"/>
            <a:ext cx="4485451" cy="39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7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833ED97F-001A-209D-58CF-A9B91AA42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1320D0E-85B5-EC8B-34C0-4FBFF6D8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Mnist</a:t>
            </a:r>
            <a:r>
              <a:rPr lang="en-US" altLang="ko-KR" dirty="0"/>
              <a:t> data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26ACE5-5195-28F1-1641-4727C76A0E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A4EEC7E-775E-9531-C2D8-CA9DBEAAD9A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크로스</a:t>
            </a:r>
            <a:r>
              <a:rPr lang="en-US" altLang="ko-KR" dirty="0"/>
              <a:t> </a:t>
            </a:r>
            <a:r>
              <a:rPr lang="ko-KR" altLang="en-US" dirty="0"/>
              <a:t>엔트로피 손실함수와 </a:t>
            </a:r>
            <a:r>
              <a:rPr lang="en-US" altLang="ko-KR" dirty="0"/>
              <a:t>batch</a:t>
            </a:r>
          </a:p>
          <a:p>
            <a:pPr lvl="1"/>
            <a:r>
              <a:rPr lang="en-US" altLang="ko-KR" dirty="0"/>
              <a:t>Categorical cross entropy</a:t>
            </a:r>
            <a:r>
              <a:rPr lang="ko-KR" altLang="en-US" dirty="0"/>
              <a:t>의 </a:t>
            </a:r>
            <a:r>
              <a:rPr lang="ko-KR" altLang="en-US" dirty="0" err="1"/>
              <a:t>손살함수</a:t>
            </a:r>
            <a:endParaRPr lang="en-US" altLang="ko-KR" dirty="0"/>
          </a:p>
          <a:p>
            <a:pPr lvl="2"/>
            <a:r>
              <a:rPr lang="en-US" altLang="ko-KR" dirty="0"/>
              <a:t>Binary</a:t>
            </a:r>
            <a:r>
              <a:rPr lang="ko-KR" altLang="en-US" dirty="0"/>
              <a:t> </a:t>
            </a:r>
            <a:r>
              <a:rPr lang="en-US" altLang="ko-KR" dirty="0"/>
              <a:t>cross</a:t>
            </a:r>
            <a:r>
              <a:rPr lang="ko-KR" altLang="en-US" dirty="0"/>
              <a:t> </a:t>
            </a:r>
            <a:r>
              <a:rPr lang="en-US" altLang="ko-KR" dirty="0"/>
              <a:t>entropy</a:t>
            </a:r>
            <a:r>
              <a:rPr lang="ko-KR" altLang="en-US" dirty="0"/>
              <a:t>는 </a:t>
            </a:r>
            <a:r>
              <a:rPr lang="en-US" altLang="ko-KR" dirty="0"/>
              <a:t>c=2</a:t>
            </a:r>
            <a:r>
              <a:rPr lang="ko-KR" altLang="en-US" dirty="0"/>
              <a:t>인</a:t>
            </a:r>
            <a:r>
              <a:rPr lang="en-US" altLang="ko-KR" dirty="0"/>
              <a:t> </a:t>
            </a:r>
            <a:r>
              <a:rPr lang="ko-KR" altLang="en-US" dirty="0"/>
              <a:t>경우</a:t>
            </a:r>
            <a:endParaRPr lang="en-US" altLang="ko-KR" dirty="0"/>
          </a:p>
          <a:p>
            <a:pPr lvl="2"/>
            <a:r>
              <a:rPr lang="ko-KR" altLang="en-US" dirty="0" err="1"/>
              <a:t>카테고리컬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/>
              <a:t>모든 확률 </a:t>
            </a:r>
            <a:r>
              <a:rPr lang="ko-KR" altLang="en-US" dirty="0" err="1"/>
              <a:t>구해야함</a:t>
            </a:r>
            <a:r>
              <a:rPr lang="en-US" altLang="ko-KR" dirty="0"/>
              <a:t>, </a:t>
            </a:r>
            <a:r>
              <a:rPr lang="ko-KR" altLang="en-US" dirty="0"/>
              <a:t>바이너리 </a:t>
            </a:r>
            <a:r>
              <a:rPr lang="en-US" altLang="ko-KR" dirty="0"/>
              <a:t>= </a:t>
            </a:r>
            <a:r>
              <a:rPr lang="ko-KR" altLang="en-US" dirty="0"/>
              <a:t>둘 중 하나만 구하면 됨</a:t>
            </a:r>
            <a:endParaRPr lang="en-US" altLang="ko-KR" dirty="0"/>
          </a:p>
          <a:p>
            <a:pPr lvl="2"/>
            <a:r>
              <a:rPr lang="en-US" altLang="ko-KR" dirty="0"/>
              <a:t> </a:t>
            </a:r>
          </a:p>
          <a:p>
            <a:r>
              <a:rPr lang="en-US" altLang="ko-KR" dirty="0"/>
              <a:t>SGD(Stochastic Gradient Descent)</a:t>
            </a:r>
          </a:p>
          <a:p>
            <a:pPr lvl="1"/>
            <a:r>
              <a:rPr lang="ko-KR" altLang="en-US" dirty="0"/>
              <a:t>학습</a:t>
            </a:r>
            <a:r>
              <a:rPr lang="en-US" altLang="ko-KR" dirty="0"/>
              <a:t> </a:t>
            </a:r>
            <a:r>
              <a:rPr lang="ko-KR" altLang="en-US" dirty="0"/>
              <a:t>데이터를 </a:t>
            </a:r>
            <a:r>
              <a:rPr lang="ko-KR" altLang="en-US" dirty="0" err="1"/>
              <a:t>셔플링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배치크기 데이터로 손실함수 계산</a:t>
            </a:r>
            <a:endParaRPr lang="en-US" altLang="ko-KR" dirty="0"/>
          </a:p>
          <a:p>
            <a:pPr lvl="1"/>
            <a:r>
              <a:rPr lang="ko-KR" altLang="en-US" dirty="0"/>
              <a:t>장점 </a:t>
            </a:r>
            <a:r>
              <a:rPr lang="en-US" altLang="ko-KR" dirty="0"/>
              <a:t>: </a:t>
            </a:r>
            <a:r>
              <a:rPr lang="ko-KR" altLang="en-US" dirty="0"/>
              <a:t>같은 시간에 더 많은 해를 갱신 가능</a:t>
            </a:r>
            <a:br>
              <a:rPr lang="en-US" altLang="ko-KR" dirty="0"/>
            </a:br>
            <a:r>
              <a:rPr lang="ko-KR" altLang="en-US" dirty="0"/>
              <a:t>단점 </a:t>
            </a:r>
            <a:r>
              <a:rPr lang="en-US" altLang="ko-KR" dirty="0"/>
              <a:t>: </a:t>
            </a:r>
            <a:r>
              <a:rPr lang="ko-KR" altLang="en-US" dirty="0"/>
              <a:t>해가 진동하는 문제</a:t>
            </a:r>
            <a:r>
              <a:rPr lang="en-US" altLang="ko-KR" dirty="0"/>
              <a:t>, </a:t>
            </a:r>
            <a:r>
              <a:rPr lang="ko-KR" altLang="en-US" dirty="0"/>
              <a:t>손실함수의 </a:t>
            </a:r>
            <a:r>
              <a:rPr lang="en-US" altLang="ko-KR" dirty="0"/>
              <a:t>convexity</a:t>
            </a:r>
            <a:r>
              <a:rPr lang="ko-KR" altLang="en-US" dirty="0"/>
              <a:t>가 보장</a:t>
            </a:r>
            <a:r>
              <a:rPr lang="en-US" altLang="ko-KR" dirty="0"/>
              <a:t>X</a:t>
            </a:r>
          </a:p>
          <a:p>
            <a:pPr lvl="2"/>
            <a:r>
              <a:rPr lang="ko-KR" altLang="en-US" dirty="0"/>
              <a:t>배치크기 </a:t>
            </a:r>
            <a:r>
              <a:rPr lang="en-US" altLang="ko-KR" dirty="0"/>
              <a:t>: </a:t>
            </a:r>
            <a:r>
              <a:rPr lang="ko-KR" altLang="en-US" dirty="0"/>
              <a:t>너무 크면 진동↓</a:t>
            </a:r>
            <a:r>
              <a:rPr lang="en-US" altLang="ko-KR" dirty="0"/>
              <a:t>, </a:t>
            </a:r>
            <a:r>
              <a:rPr lang="ko-KR" altLang="en-US" dirty="0"/>
              <a:t>정확한 경로로 수렴</a:t>
            </a:r>
            <a:r>
              <a:rPr lang="en-US" altLang="ko-KR" dirty="0"/>
              <a:t> but, </a:t>
            </a:r>
            <a:r>
              <a:rPr lang="ko-KR" altLang="en-US" dirty="0"/>
              <a:t>계산속도↓</a:t>
            </a:r>
            <a:br>
              <a:rPr lang="en-US" altLang="ko-KR" dirty="0"/>
            </a:br>
            <a:r>
              <a:rPr lang="en-US" altLang="ko-KR" dirty="0"/>
              <a:t>	      </a:t>
            </a:r>
            <a:r>
              <a:rPr lang="ko-KR" altLang="en-US" dirty="0"/>
              <a:t>너무 작으면 진동 ↑</a:t>
            </a:r>
            <a:r>
              <a:rPr lang="en-US" altLang="ko-KR" dirty="0"/>
              <a:t>, </a:t>
            </a:r>
            <a:r>
              <a:rPr lang="ko-KR" altLang="en-US" dirty="0"/>
              <a:t>정확한 경로 </a:t>
            </a:r>
            <a:r>
              <a:rPr lang="en-US" altLang="ko-KR" dirty="0"/>
              <a:t>X. but, </a:t>
            </a:r>
            <a:r>
              <a:rPr lang="ko-KR" altLang="en-US" dirty="0"/>
              <a:t>계산속도 ↑</a:t>
            </a:r>
            <a:endParaRPr lang="en-US" altLang="ko-KR" dirty="0"/>
          </a:p>
          <a:p>
            <a:pPr lvl="1"/>
            <a:r>
              <a:rPr lang="en-US" altLang="ko-KR" dirty="0" err="1"/>
              <a:t>Ir</a:t>
            </a:r>
            <a:r>
              <a:rPr lang="en-US" altLang="ko-KR" dirty="0"/>
              <a:t>(learning</a:t>
            </a:r>
            <a:r>
              <a:rPr lang="ko-KR" altLang="en-US" dirty="0"/>
              <a:t> </a:t>
            </a:r>
            <a:r>
              <a:rPr lang="en-US" altLang="ko-KR" dirty="0"/>
              <a:t>rate)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처음에</a:t>
            </a:r>
            <a:r>
              <a:rPr lang="en-US" altLang="ko-KR" dirty="0"/>
              <a:t> </a:t>
            </a:r>
            <a:r>
              <a:rPr lang="ko-KR" altLang="en-US" dirty="0"/>
              <a:t>크게 했다 감소 가능</a:t>
            </a:r>
            <a:endParaRPr lang="en-US" altLang="ko-KR" dirty="0"/>
          </a:p>
          <a:p>
            <a:r>
              <a:rPr lang="en-US" altLang="ko-KR" dirty="0"/>
              <a:t>Batch, epoch</a:t>
            </a:r>
          </a:p>
          <a:p>
            <a:pPr lvl="1"/>
            <a:r>
              <a:rPr lang="en-US" altLang="ko-KR" dirty="0"/>
              <a:t>6</a:t>
            </a:r>
            <a:r>
              <a:rPr lang="ko-KR" altLang="en-US" dirty="0" err="1"/>
              <a:t>만건</a:t>
            </a:r>
            <a:r>
              <a:rPr lang="ko-KR" altLang="en-US" dirty="0"/>
              <a:t> 데이터사용 </a:t>
            </a:r>
            <a:r>
              <a:rPr lang="en-US" altLang="ko-KR" dirty="0"/>
              <a:t>-&gt; cost</a:t>
            </a:r>
            <a:r>
              <a:rPr lang="ko-KR" altLang="en-US" dirty="0"/>
              <a:t>함수 계산</a:t>
            </a:r>
            <a:r>
              <a:rPr lang="en-US" altLang="ko-KR" dirty="0"/>
              <a:t>, weight </a:t>
            </a:r>
            <a:r>
              <a:rPr lang="ko-KR" altLang="en-US" dirty="0"/>
              <a:t>조정 </a:t>
            </a:r>
            <a:r>
              <a:rPr lang="en-US" altLang="ko-KR" dirty="0"/>
              <a:t>: </a:t>
            </a:r>
            <a:r>
              <a:rPr lang="ko-KR" altLang="en-US" dirty="0"/>
              <a:t>비효율적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mini-batch</a:t>
            </a:r>
            <a:r>
              <a:rPr lang="ko-KR" altLang="en-US" dirty="0"/>
              <a:t>단위</a:t>
            </a:r>
            <a:r>
              <a:rPr lang="en-US" altLang="ko-KR" dirty="0"/>
              <a:t>(100)</a:t>
            </a:r>
            <a:r>
              <a:rPr lang="ko-KR" altLang="en-US" dirty="0"/>
              <a:t>으로</a:t>
            </a:r>
            <a:r>
              <a:rPr lang="en-US" altLang="ko-KR" dirty="0"/>
              <a:t> cost, weight</a:t>
            </a:r>
            <a:r>
              <a:rPr lang="ko-KR" altLang="en-US" dirty="0"/>
              <a:t>를 계산 </a:t>
            </a:r>
            <a:r>
              <a:rPr lang="en-US" altLang="ko-KR" dirty="0"/>
              <a:t>-&gt; 60000/100 = 600</a:t>
            </a:r>
            <a:r>
              <a:rPr lang="ko-KR" altLang="en-US" dirty="0"/>
              <a:t>번 반복하면 </a:t>
            </a:r>
            <a:r>
              <a:rPr lang="en-US" altLang="ko-KR" dirty="0" err="1"/>
              <a:t>fulldata</a:t>
            </a:r>
            <a:r>
              <a:rPr lang="en-US" altLang="ko-KR" dirty="0"/>
              <a:t> </a:t>
            </a:r>
            <a:r>
              <a:rPr lang="ko-KR" altLang="en-US" dirty="0"/>
              <a:t>학습</a:t>
            </a:r>
            <a:r>
              <a:rPr lang="en-US" altLang="ko-KR" dirty="0"/>
              <a:t> = 1 epoch</a:t>
            </a:r>
          </a:p>
          <a:p>
            <a:r>
              <a:rPr lang="en-US" altLang="ko-KR" dirty="0"/>
              <a:t>Categorical cross entropy function</a:t>
            </a:r>
          </a:p>
          <a:p>
            <a:pPr lvl="1"/>
            <a:r>
              <a:rPr lang="en-US" altLang="ko-KR" dirty="0"/>
              <a:t> 				binary cross entropy</a:t>
            </a:r>
          </a:p>
          <a:p>
            <a:pPr lvl="1"/>
            <a:r>
              <a:rPr lang="en-US" altLang="ko-KR" dirty="0"/>
              <a:t>  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r>
              <a:rPr lang="en-US" altLang="ko-KR" dirty="0"/>
              <a:t> 		         Y</a:t>
            </a:r>
            <a:r>
              <a:rPr lang="ko-KR" altLang="en-US" dirty="0"/>
              <a:t>의 </a:t>
            </a:r>
            <a:r>
              <a:rPr lang="en-US" altLang="ko-KR" dirty="0"/>
              <a:t>one-hot encoding </a:t>
            </a:r>
            <a:r>
              <a:rPr lang="ko-KR" altLang="en-US" dirty="0"/>
              <a:t>방식 표기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		         (</a:t>
            </a:r>
            <a:r>
              <a:rPr lang="ko-KR" altLang="en-US" dirty="0"/>
              <a:t>바이너리에선 </a:t>
            </a:r>
            <a:r>
              <a:rPr lang="en-US" altLang="ko-KR" dirty="0"/>
              <a:t>(1,0,0))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D2612B1-498D-5091-D10A-6995E124CC6F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8" name="그림 7" descr="폰트, 텍스트, 화이트, 서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382233-05F7-ED7C-B7B4-B72AE4E6A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113" y="704528"/>
            <a:ext cx="2016224" cy="4524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0287A76-4CE4-AF15-9C16-94A6B4F8E6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848" y="1491692"/>
            <a:ext cx="2520280" cy="292956"/>
          </a:xfrm>
          <a:prstGeom prst="rect">
            <a:avLst/>
          </a:prstGeom>
        </p:spPr>
      </p:pic>
      <p:pic>
        <p:nvPicPr>
          <p:cNvPr id="12" name="그림 11" descr="텍스트, 폰트, 라인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48F719D-BE08-2430-CE34-95B584FEA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484" y="4510924"/>
            <a:ext cx="4036253" cy="79112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0944E6C-14BA-42CE-6797-0A6510BC72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832" y="4170940"/>
            <a:ext cx="3024336" cy="339984"/>
          </a:xfrm>
          <a:prstGeom prst="rect">
            <a:avLst/>
          </a:prstGeom>
        </p:spPr>
      </p:pic>
      <p:pic>
        <p:nvPicPr>
          <p:cNvPr id="16" name="그림 15" descr="폰트, 도표, 화이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219B258-CC2C-7BF7-578E-8AF0E745D2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1287" y="5302050"/>
            <a:ext cx="1645746" cy="393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48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AD7A64-D4FB-A096-299A-F778FADE26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5E6E414-8547-F31F-1B3E-7771B8F1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Neural network</a:t>
            </a:r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EC60C0-AE8A-3F80-8729-984E307073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AFFEBDA-73CF-0052-AAE8-FF038C1BA93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인공신경망</a:t>
            </a:r>
            <a:endParaRPr lang="en-US" altLang="ko-KR" dirty="0"/>
          </a:p>
          <a:p>
            <a:pPr lvl="1"/>
            <a:r>
              <a:rPr lang="en-US" altLang="ko-KR" dirty="0"/>
              <a:t>f(Σ </a:t>
            </a:r>
            <a:r>
              <a:rPr lang="en-US" altLang="ko-KR" dirty="0" err="1"/>
              <a:t>wi</a:t>
            </a:r>
            <a:r>
              <a:rPr lang="en-US" altLang="ko-KR" dirty="0"/>
              <a:t> </a:t>
            </a:r>
            <a:r>
              <a:rPr lang="en-US" altLang="ko-KR" dirty="0" err="1"/>
              <a:t>xi+b</a:t>
            </a:r>
            <a:r>
              <a:rPr lang="en-US" altLang="ko-KR" dirty="0"/>
              <a:t>)</a:t>
            </a:r>
            <a:r>
              <a:rPr lang="ko-KR" altLang="en-US" dirty="0"/>
              <a:t>의 값이 </a:t>
            </a:r>
            <a:r>
              <a:rPr lang="en-US" altLang="ko-KR" dirty="0"/>
              <a:t>y</a:t>
            </a:r>
            <a:r>
              <a:rPr lang="ko-KR" altLang="en-US" dirty="0"/>
              <a:t>가 되도록 미지수 </a:t>
            </a:r>
            <a:br>
              <a:rPr lang="en-US" altLang="ko-KR" dirty="0"/>
            </a:br>
            <a:r>
              <a:rPr lang="en-US" altLang="ko-KR" dirty="0"/>
              <a:t>w</a:t>
            </a:r>
            <a:r>
              <a:rPr lang="ko-KR" altLang="en-US" dirty="0"/>
              <a:t>값을 구함</a:t>
            </a:r>
            <a:endParaRPr lang="en-US" altLang="ko-KR" dirty="0"/>
          </a:p>
          <a:p>
            <a:pPr lvl="1"/>
            <a:r>
              <a:rPr lang="en-US" altLang="ko-KR" dirty="0"/>
              <a:t>y</a:t>
            </a:r>
            <a:r>
              <a:rPr lang="ko-KR" altLang="en-US" dirty="0"/>
              <a:t>는 종속변수</a:t>
            </a:r>
            <a:r>
              <a:rPr lang="en-US" altLang="ko-KR" dirty="0"/>
              <a:t>, X1,X2,X3</a:t>
            </a:r>
            <a:r>
              <a:rPr lang="ko-KR" altLang="en-US" dirty="0"/>
              <a:t>는 독립변수</a:t>
            </a:r>
            <a:br>
              <a:rPr lang="en-US" altLang="ko-KR" dirty="0"/>
            </a:br>
            <a:r>
              <a:rPr lang="en-US" altLang="ko-KR" dirty="0"/>
              <a:t>X1~X3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Feature, y = hypothesis, t = target</a:t>
            </a:r>
          </a:p>
          <a:p>
            <a:r>
              <a:rPr lang="en-US" altLang="ko-KR" dirty="0"/>
              <a:t>XOR </a:t>
            </a:r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ko-KR" altLang="en-US" dirty="0"/>
              <a:t>초기</a:t>
            </a:r>
            <a:r>
              <a:rPr lang="en-US" altLang="ko-KR" dirty="0"/>
              <a:t> </a:t>
            </a:r>
            <a:r>
              <a:rPr lang="ko-KR" altLang="en-US" dirty="0"/>
              <a:t>신경망 모델에서 </a:t>
            </a:r>
            <a:r>
              <a:rPr lang="en-US" altLang="ko-KR" dirty="0"/>
              <a:t>AND, OR</a:t>
            </a:r>
            <a:r>
              <a:rPr lang="ko-KR" altLang="en-US" dirty="0"/>
              <a:t>은 풀 수 있으나</a:t>
            </a:r>
            <a:br>
              <a:rPr lang="en-US" altLang="ko-KR" dirty="0"/>
            </a:br>
            <a:r>
              <a:rPr lang="en-US" altLang="ko-KR" dirty="0"/>
              <a:t>XOR</a:t>
            </a:r>
            <a:r>
              <a:rPr lang="ko-KR" altLang="en-US" dirty="0"/>
              <a:t>은 풀지 못함 </a:t>
            </a:r>
            <a:r>
              <a:rPr lang="en-US" altLang="ko-KR" dirty="0"/>
              <a:t>-&gt; Backpropagation </a:t>
            </a:r>
            <a:r>
              <a:rPr lang="ko-KR" altLang="en-US" dirty="0"/>
              <a:t>알고리즘</a:t>
            </a:r>
            <a:endParaRPr lang="en-US" altLang="ko-KR" dirty="0"/>
          </a:p>
          <a:p>
            <a:pPr lvl="1"/>
            <a:r>
              <a:rPr lang="en-US" altLang="ko-KR" dirty="0"/>
              <a:t>AND,OR,XOR </a:t>
            </a:r>
            <a:r>
              <a:rPr lang="ko-KR" altLang="en-US" dirty="0"/>
              <a:t>문제</a:t>
            </a:r>
            <a:endParaRPr lang="en-US" altLang="ko-KR" dirty="0"/>
          </a:p>
          <a:p>
            <a:pPr lvl="2"/>
            <a:r>
              <a:rPr lang="ko-KR" altLang="en-US" dirty="0"/>
              <a:t>임의의 </a:t>
            </a:r>
            <a:r>
              <a:rPr lang="en-US" altLang="ko-KR" dirty="0"/>
              <a:t>W</a:t>
            </a:r>
            <a:r>
              <a:rPr lang="ko-KR" altLang="en-US" dirty="0"/>
              <a:t>값으로 연산을 하여 </a:t>
            </a:r>
            <a:r>
              <a:rPr lang="en-US" altLang="ko-KR" dirty="0"/>
              <a:t>error</a:t>
            </a:r>
            <a:r>
              <a:rPr lang="ko-KR" altLang="en-US" dirty="0"/>
              <a:t>을 구함</a:t>
            </a:r>
            <a:br>
              <a:rPr lang="en-US" altLang="ko-KR" dirty="0"/>
            </a:br>
            <a:r>
              <a:rPr lang="ko-KR" altLang="en-US" dirty="0"/>
              <a:t>이후 오차를 줄이는 방향으로 </a:t>
            </a:r>
            <a:r>
              <a:rPr lang="en-US" altLang="ko-KR" dirty="0"/>
              <a:t>W</a:t>
            </a:r>
            <a:r>
              <a:rPr lang="ko-KR" altLang="en-US" dirty="0"/>
              <a:t>값 업데이트</a:t>
            </a:r>
            <a:endParaRPr lang="en-US" altLang="ko-KR" dirty="0"/>
          </a:p>
          <a:p>
            <a:pPr lvl="2"/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이 노드에 대해 </a:t>
            </a:r>
            <a:r>
              <a:rPr lang="en-US" altLang="ko-KR" dirty="0"/>
              <a:t>OR </a:t>
            </a:r>
            <a:r>
              <a:rPr lang="ko-KR" altLang="en-US" dirty="0"/>
              <a:t>연산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9x1 + 9x2 - 4 &gt; 0;</a:t>
            </a:r>
            <a:br>
              <a:rPr lang="en-US" altLang="ko-KR" dirty="0"/>
            </a:br>
            <a:r>
              <a:rPr lang="en-US" altLang="ko-KR" dirty="0"/>
              <a:t>(x1,x2) : (0,0) = -4 -&gt; ok ... </a:t>
            </a:r>
          </a:p>
          <a:p>
            <a:pPr lvl="2"/>
            <a:r>
              <a:rPr lang="en-US" altLang="ko-KR" dirty="0"/>
              <a:t> </a:t>
            </a:r>
            <a:br>
              <a:rPr lang="en-US" altLang="ko-KR" dirty="0"/>
            </a:br>
            <a:r>
              <a:rPr lang="en-US" altLang="ko-KR" dirty="0"/>
              <a:t>                                          </a:t>
            </a:r>
            <a:r>
              <a:rPr lang="ko-KR" altLang="en-US" dirty="0" err="1"/>
              <a:t>시그모이드</a:t>
            </a:r>
            <a:r>
              <a:rPr lang="ko-KR" altLang="en-US" dirty="0"/>
              <a:t> </a:t>
            </a:r>
            <a:r>
              <a:rPr lang="en-US" altLang="ko-KR" dirty="0"/>
              <a:t>&gt; 0.5</a:t>
            </a:r>
            <a:r>
              <a:rPr lang="ko-KR" altLang="en-US" dirty="0"/>
              <a:t>면 </a:t>
            </a:r>
            <a:r>
              <a:rPr lang="en-US" altLang="ko-KR" dirty="0"/>
              <a:t>1</a:t>
            </a:r>
            <a:r>
              <a:rPr lang="ko-KR" altLang="en-US" dirty="0"/>
              <a:t>로 해석</a:t>
            </a:r>
            <a:r>
              <a:rPr lang="en-US" altLang="ko-KR" dirty="0"/>
              <a:t>; </a:t>
            </a:r>
            <a:r>
              <a:rPr lang="ko-KR" altLang="en-US" dirty="0"/>
              <a:t>즉 정의역의 원소가 </a:t>
            </a:r>
            <a:r>
              <a:rPr lang="en-US" altLang="ko-KR" dirty="0"/>
              <a:t>0</a:t>
            </a:r>
            <a:r>
              <a:rPr lang="ko-KR" altLang="en-US" dirty="0"/>
              <a:t>보다 커져야 </a:t>
            </a:r>
            <a:r>
              <a:rPr lang="ko-KR" altLang="en-US" dirty="0" err="1"/>
              <a:t>시그모이드가</a:t>
            </a:r>
            <a:r>
              <a:rPr lang="ko-KR" altLang="en-US" dirty="0"/>
              <a:t> </a:t>
            </a:r>
            <a:r>
              <a:rPr lang="en-US" altLang="ko-KR" dirty="0"/>
              <a:t>0.5</a:t>
            </a:r>
            <a:r>
              <a:rPr lang="ko-KR" altLang="en-US" dirty="0"/>
              <a:t>보다 큼</a:t>
            </a:r>
            <a:endParaRPr lang="en-US" altLang="ko-KR" dirty="0"/>
          </a:p>
          <a:p>
            <a:r>
              <a:rPr lang="en-US" altLang="ko-KR" dirty="0"/>
              <a:t>Perceptron</a:t>
            </a:r>
          </a:p>
          <a:p>
            <a:pPr lvl="1"/>
            <a:r>
              <a:rPr lang="en-US" altLang="ko-KR" dirty="0"/>
              <a:t>AND/OR </a:t>
            </a:r>
            <a:r>
              <a:rPr lang="ko-KR" altLang="en-US" dirty="0"/>
              <a:t>문제를 해결하는 모델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t</a:t>
            </a:r>
            <a:r>
              <a:rPr lang="ko-KR" altLang="en-US" dirty="0"/>
              <a:t>는 </a:t>
            </a:r>
            <a:r>
              <a:rPr lang="en-US" altLang="ko-KR" dirty="0"/>
              <a:t>true</a:t>
            </a:r>
            <a:r>
              <a:rPr lang="ko-KR" altLang="en-US" dirty="0"/>
              <a:t>값</a:t>
            </a:r>
            <a:r>
              <a:rPr lang="en-US" altLang="ko-KR" dirty="0"/>
              <a:t>(0, 1), f(net)</a:t>
            </a:r>
            <a:r>
              <a:rPr lang="ko-KR" altLang="en-US" dirty="0"/>
              <a:t>은 네트워크로 계산된 </a:t>
            </a:r>
            <a:r>
              <a:rPr lang="en-US" altLang="ko-KR" dirty="0"/>
              <a:t>y</a:t>
            </a:r>
            <a:r>
              <a:rPr lang="ko-KR" altLang="en-US" dirty="0"/>
              <a:t>값</a:t>
            </a:r>
            <a:r>
              <a:rPr lang="en-US" altLang="ko-KR" dirty="0"/>
              <a:t>(=w0+w1x1+w2x2). t-f(net)</a:t>
            </a:r>
            <a:r>
              <a:rPr lang="ko-KR" altLang="en-US" dirty="0"/>
              <a:t>은 </a:t>
            </a:r>
            <a:r>
              <a:rPr lang="ko-KR" altLang="en-US" dirty="0" err="1"/>
              <a:t>오차값</a:t>
            </a:r>
            <a:br>
              <a:rPr lang="en-US" altLang="ko-KR" dirty="0"/>
            </a:br>
            <a:r>
              <a:rPr lang="ko-KR" altLang="en-US" dirty="0" err="1"/>
              <a:t>오차값</a:t>
            </a:r>
            <a:r>
              <a:rPr lang="ko-KR" altLang="en-US" dirty="0"/>
              <a:t> </a:t>
            </a:r>
            <a:r>
              <a:rPr lang="en-US" altLang="ko-KR" dirty="0"/>
              <a:t>&gt; 0 -&gt; f(net) </a:t>
            </a:r>
            <a:r>
              <a:rPr lang="ko-KR" altLang="en-US" dirty="0" err="1"/>
              <a:t>커져야함</a:t>
            </a:r>
            <a:r>
              <a:rPr lang="en-US" altLang="ko-KR" dirty="0"/>
              <a:t>. </a:t>
            </a:r>
            <a:r>
              <a:rPr lang="ko-KR" altLang="en-US" dirty="0"/>
              <a:t>가중치 더함</a:t>
            </a:r>
            <a:r>
              <a:rPr lang="en-US" altLang="ko-KR" dirty="0"/>
              <a:t>. </a:t>
            </a:r>
            <a:r>
              <a:rPr lang="ko-KR" altLang="en-US" dirty="0"/>
              <a:t>반대면 가중치 뺌</a:t>
            </a:r>
            <a:r>
              <a:rPr lang="en-US" altLang="ko-KR" dirty="0"/>
              <a:t>. </a:t>
            </a:r>
            <a:r>
              <a:rPr lang="ko-KR" altLang="en-US" dirty="0"/>
              <a:t>에타 </a:t>
            </a:r>
            <a:r>
              <a:rPr lang="en-US" altLang="ko-KR" dirty="0"/>
              <a:t>= </a:t>
            </a:r>
            <a:r>
              <a:rPr lang="ko-KR" altLang="en-US" dirty="0" err="1"/>
              <a:t>학습률</a:t>
            </a:r>
            <a:endParaRPr lang="en-US" altLang="ko-KR" dirty="0"/>
          </a:p>
          <a:p>
            <a:r>
              <a:rPr lang="en-US" altLang="ko-KR" dirty="0"/>
              <a:t>Hidden</a:t>
            </a:r>
            <a:r>
              <a:rPr lang="ko-KR" altLang="en-US" dirty="0"/>
              <a:t> </a:t>
            </a:r>
            <a:r>
              <a:rPr lang="en-US" altLang="ko-KR" dirty="0"/>
              <a:t>Layer</a:t>
            </a:r>
            <a:r>
              <a:rPr lang="ko-KR" altLang="en-US" dirty="0"/>
              <a:t>와 </a:t>
            </a:r>
            <a:r>
              <a:rPr lang="en-US" altLang="ko-KR" dirty="0"/>
              <a:t>XOR </a:t>
            </a:r>
            <a:r>
              <a:rPr lang="ko-KR" altLang="en-US" dirty="0"/>
              <a:t>문제</a:t>
            </a:r>
            <a:endParaRPr lang="en-US" altLang="ko-KR" dirty="0"/>
          </a:p>
          <a:p>
            <a:pPr lvl="1"/>
            <a:r>
              <a:rPr lang="en-US" altLang="ko-KR" dirty="0" err="1"/>
              <a:t>xor</a:t>
            </a:r>
            <a:r>
              <a:rPr lang="en-US" altLang="ko-KR" dirty="0"/>
              <a:t> </a:t>
            </a:r>
            <a:r>
              <a:rPr lang="ko-KR" altLang="en-US" dirty="0"/>
              <a:t>문제는 </a:t>
            </a:r>
            <a:r>
              <a:rPr lang="en-US" altLang="ko-KR" dirty="0"/>
              <a:t>h1,h2 2</a:t>
            </a:r>
            <a:r>
              <a:rPr lang="ko-KR" altLang="en-US" dirty="0"/>
              <a:t>개의 선을 사용하면 해결 가능</a:t>
            </a:r>
            <a:endParaRPr lang="en-US" altLang="ko-KR" dirty="0"/>
          </a:p>
          <a:p>
            <a:pPr lvl="1"/>
            <a:r>
              <a:rPr lang="ko-KR" altLang="en-US" dirty="0"/>
              <a:t>신경망 모형 설계 </a:t>
            </a:r>
            <a:r>
              <a:rPr lang="en-US" altLang="ko-KR" dirty="0"/>
              <a:t>: 2</a:t>
            </a:r>
            <a:r>
              <a:rPr lang="ko-KR" altLang="en-US" dirty="0"/>
              <a:t>개의 입력</a:t>
            </a:r>
            <a:r>
              <a:rPr lang="en-US" altLang="ko-KR" dirty="0"/>
              <a:t>, 1</a:t>
            </a:r>
            <a:r>
              <a:rPr lang="ko-KR" altLang="en-US" dirty="0"/>
              <a:t>개의 출력</a:t>
            </a:r>
            <a:r>
              <a:rPr lang="en-US" altLang="ko-KR" dirty="0"/>
              <a:t>, </a:t>
            </a:r>
            <a:r>
              <a:rPr lang="ko-KR" altLang="en-US" dirty="0" err="1"/>
              <a:t>히든</a:t>
            </a:r>
            <a:r>
              <a:rPr lang="ko-KR" altLang="en-US" dirty="0"/>
              <a:t> 레이어는</a:t>
            </a:r>
            <a:br>
              <a:rPr lang="en-US" altLang="ko-KR" dirty="0"/>
            </a:br>
            <a:r>
              <a:rPr lang="en-US" altLang="ko-KR" dirty="0"/>
              <a:t> 3</a:t>
            </a:r>
            <a:r>
              <a:rPr lang="ko-KR" altLang="en-US" dirty="0"/>
              <a:t>개의 노드로 가정</a:t>
            </a:r>
            <a:r>
              <a:rPr lang="en-US" altLang="ko-KR" dirty="0"/>
              <a:t>(</a:t>
            </a:r>
            <a:r>
              <a:rPr lang="ko-KR" altLang="en-US" dirty="0" err="1"/>
              <a:t>히든레이어와</a:t>
            </a:r>
            <a:r>
              <a:rPr lang="ko-KR" altLang="en-US" dirty="0"/>
              <a:t> 노드 수는 자유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W1 -&gt; 2*3 </a:t>
            </a:r>
            <a:r>
              <a:rPr lang="ko-KR" altLang="en-US" dirty="0"/>
              <a:t>행렬</a:t>
            </a:r>
            <a:r>
              <a:rPr lang="en-US" altLang="ko-KR" dirty="0"/>
              <a:t>, </a:t>
            </a:r>
            <a:r>
              <a:rPr lang="ko-KR" altLang="en-US" dirty="0"/>
              <a:t>총 </a:t>
            </a:r>
            <a:r>
              <a:rPr lang="en-US" altLang="ko-KR" dirty="0"/>
              <a:t>6</a:t>
            </a:r>
            <a:r>
              <a:rPr lang="ko-KR" altLang="en-US" dirty="0"/>
              <a:t>개 선</a:t>
            </a:r>
            <a:r>
              <a:rPr lang="en-US" altLang="ko-KR" dirty="0"/>
              <a:t>, W2 -&gt; 3*1</a:t>
            </a:r>
            <a:r>
              <a:rPr lang="ko-KR" altLang="en-US" dirty="0"/>
              <a:t>행렬</a:t>
            </a:r>
            <a:r>
              <a:rPr lang="en-US" altLang="ko-KR" dirty="0"/>
              <a:t>, </a:t>
            </a:r>
            <a:r>
              <a:rPr lang="ko-KR" altLang="en-US" dirty="0"/>
              <a:t>총</a:t>
            </a:r>
            <a:r>
              <a:rPr lang="en-US" altLang="ko-KR" dirty="0"/>
              <a:t> 3</a:t>
            </a:r>
            <a:r>
              <a:rPr lang="ko-KR" altLang="en-US" dirty="0"/>
              <a:t>개 선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en-US" altLang="ko-KR" dirty="0"/>
              <a:t>b1</a:t>
            </a:r>
            <a:r>
              <a:rPr lang="ko-KR" altLang="en-US" dirty="0"/>
              <a:t>는 </a:t>
            </a:r>
            <a:r>
              <a:rPr lang="en-US" altLang="ko-KR" dirty="0"/>
              <a:t>(1*3), b2</a:t>
            </a:r>
            <a:r>
              <a:rPr lang="ko-KR" altLang="en-US" dirty="0"/>
              <a:t>는 </a:t>
            </a:r>
            <a:r>
              <a:rPr lang="en-US" altLang="ko-KR" dirty="0"/>
              <a:t>1*1 </a:t>
            </a:r>
            <a:r>
              <a:rPr lang="ko-KR" altLang="en-US" dirty="0"/>
              <a:t>행렬</a:t>
            </a:r>
            <a:endParaRPr lang="en-US" altLang="ko-KR" dirty="0"/>
          </a:p>
          <a:p>
            <a:pPr lvl="1"/>
            <a:r>
              <a:rPr lang="en-US" altLang="ko-KR" dirty="0"/>
              <a:t>H=x*w1+b1, output = H*w2+b2;</a:t>
            </a:r>
            <a:br>
              <a:rPr lang="en-US" altLang="ko-KR" dirty="0"/>
            </a:br>
            <a:r>
              <a:rPr lang="ko-KR" altLang="en-US" dirty="0"/>
              <a:t>아래 코드 </a:t>
            </a:r>
            <a:r>
              <a:rPr lang="en-US" altLang="ko-KR" dirty="0"/>
              <a:t>: </a:t>
            </a:r>
            <a:r>
              <a:rPr lang="ko-KR" altLang="en-US" dirty="0" err="1"/>
              <a:t>히든레이어</a:t>
            </a:r>
            <a:r>
              <a:rPr lang="ko-KR" altLang="en-US" dirty="0"/>
              <a:t> 추가 </a:t>
            </a:r>
            <a:r>
              <a:rPr lang="en-US" altLang="ko-KR" dirty="0"/>
              <a:t>-&gt; XOR </a:t>
            </a:r>
            <a:r>
              <a:rPr lang="ko-KR" altLang="en-US" dirty="0"/>
              <a:t>문제 해결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046F42-A0EA-B4B8-EB96-52C6D8DB911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D7AD95F-CD3D-0496-9A79-B8124F561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859" y="560512"/>
            <a:ext cx="2144067" cy="208823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27154E9-74BD-32A5-2821-9D5B75A45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074" y="2713299"/>
            <a:ext cx="1886342" cy="79475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4B103BD-5D41-A7C3-D57E-8BA5E388E7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14"/>
          <a:stretch/>
        </p:blipFill>
        <p:spPr>
          <a:xfrm>
            <a:off x="4437113" y="3580061"/>
            <a:ext cx="1044116" cy="57094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7FC8D13C-3E61-E9C2-E28C-25836C6B6A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1229" y="3580061"/>
            <a:ext cx="1364805" cy="51549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A9C1FE81-6885-7D4E-21B1-BE130521E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1695" y="2783414"/>
            <a:ext cx="1386288" cy="654523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F315267-9888-0251-6799-FE37AD3E80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6817" y="4051221"/>
            <a:ext cx="1808238" cy="35738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B2C23C65-A925-75BF-34D8-4E9E0563476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5294" y="4872386"/>
            <a:ext cx="1955767" cy="161228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0C4B3E09-6CB3-22AE-D976-287FC31FEC1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51889"/>
          <a:stretch/>
        </p:blipFill>
        <p:spPr>
          <a:xfrm>
            <a:off x="5345419" y="5382930"/>
            <a:ext cx="1188130" cy="1080434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C958D2E-FC5D-0376-1967-93582EE5F66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41452" r="57224" b="25637"/>
          <a:stretch/>
        </p:blipFill>
        <p:spPr>
          <a:xfrm>
            <a:off x="5118839" y="6428868"/>
            <a:ext cx="1641290" cy="570945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4DED9B58-12EF-FD50-96DD-AD160C2F99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5294" y="6985665"/>
            <a:ext cx="1987413" cy="1111764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A797519-69ED-26D0-8CBE-1344F67108B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58935" y="6985665"/>
            <a:ext cx="1554140" cy="100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28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5CC6C30-D7D2-2AA2-EB22-F7304A6A8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D96A9B-0705-76E6-F1E3-FCDC249A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Backpropagation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0F8919F-CDEE-A03C-5734-5FEDE2F1DF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FDCCCF3-4914-C12F-833C-89CCD03F28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Sigmoid</a:t>
            </a:r>
            <a:r>
              <a:rPr lang="ko-KR" altLang="en-US" dirty="0"/>
              <a:t>의 미분</a:t>
            </a:r>
            <a:endParaRPr lang="en-US" altLang="ko-KR" dirty="0"/>
          </a:p>
          <a:p>
            <a:pPr lvl="1"/>
            <a:r>
              <a:rPr lang="ko-KR" altLang="en-US" dirty="0" err="1"/>
              <a:t>시그모이드의</a:t>
            </a:r>
            <a:r>
              <a:rPr lang="ko-KR" altLang="en-US" dirty="0"/>
              <a:t> 미분을 합성함수</a:t>
            </a:r>
            <a:br>
              <a:rPr lang="en-US" altLang="ko-KR" dirty="0"/>
            </a:br>
            <a:r>
              <a:rPr lang="ko-KR" altLang="en-US" dirty="0"/>
              <a:t>의 미분의 </a:t>
            </a:r>
            <a:r>
              <a:rPr lang="en-US" altLang="ko-KR" dirty="0"/>
              <a:t>chain rule</a:t>
            </a:r>
            <a:r>
              <a:rPr lang="ko-KR" altLang="en-US" dirty="0"/>
              <a:t>로 표현 가능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Backpropagation (</a:t>
            </a:r>
            <a:r>
              <a:rPr lang="ko-KR" altLang="en-US" dirty="0" err="1"/>
              <a:t>역전파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목표 </a:t>
            </a:r>
            <a:r>
              <a:rPr lang="en-US" altLang="ko-KR" dirty="0"/>
              <a:t>: </a:t>
            </a:r>
            <a:r>
              <a:rPr lang="en-US" altLang="ko-KR" dirty="0" err="1"/>
              <a:t>W,b</a:t>
            </a:r>
            <a:r>
              <a:rPr lang="ko-KR" altLang="en-US" dirty="0"/>
              <a:t>의 변화량에 따른 </a:t>
            </a:r>
            <a:br>
              <a:rPr lang="en-US" altLang="ko-KR" dirty="0"/>
            </a:br>
            <a:r>
              <a:rPr lang="ko-KR" altLang="en-US" dirty="0"/>
              <a:t>손실함수 </a:t>
            </a:r>
            <a:r>
              <a:rPr lang="en-US" altLang="ko-KR" dirty="0"/>
              <a:t>L</a:t>
            </a:r>
            <a:r>
              <a:rPr lang="ko-KR" altLang="en-US" dirty="0"/>
              <a:t>의 변화량 즉</a:t>
            </a:r>
            <a:r>
              <a:rPr lang="en-US" altLang="ko-KR" dirty="0"/>
              <a:t>, </a:t>
            </a:r>
            <a:r>
              <a:rPr lang="ko-KR" altLang="en-US" dirty="0"/>
              <a:t>로스를</a:t>
            </a:r>
            <a:br>
              <a:rPr lang="en-US" altLang="ko-KR" dirty="0"/>
            </a:br>
            <a:r>
              <a:rPr lang="ko-KR" altLang="en-US" dirty="0"/>
              <a:t>줄이기 위해 </a:t>
            </a:r>
            <a:r>
              <a:rPr lang="ko-KR" altLang="en-US" dirty="0" err="1"/>
              <a:t>세타가</a:t>
            </a:r>
            <a:r>
              <a:rPr lang="ko-KR" altLang="en-US" dirty="0"/>
              <a:t> 얼마나 </a:t>
            </a:r>
            <a:r>
              <a:rPr lang="ko-KR" altLang="en-US" dirty="0" err="1"/>
              <a:t>바뀔때</a:t>
            </a:r>
            <a:br>
              <a:rPr lang="en-US" altLang="ko-KR" dirty="0"/>
            </a:br>
            <a:r>
              <a:rPr lang="ko-KR" altLang="en-US" dirty="0"/>
              <a:t>로스는 얼마나 줄어드는가</a:t>
            </a:r>
            <a:r>
              <a:rPr lang="en-US" altLang="ko-KR" dirty="0"/>
              <a:t>?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가중치를 </a:t>
            </a:r>
            <a:r>
              <a:rPr lang="en-US" altLang="ko-KR" dirty="0"/>
              <a:t>backpropagation;</a:t>
            </a:r>
            <a:br>
              <a:rPr lang="en-US" altLang="ko-KR" dirty="0"/>
            </a:br>
            <a:r>
              <a:rPr lang="en-US" altLang="ko-KR" dirty="0"/>
              <a:t>h = s(x*w1), y=s(h*w2)</a:t>
            </a:r>
            <a:br>
              <a:rPr lang="en-US" altLang="ko-KR" dirty="0"/>
            </a:br>
            <a:r>
              <a:rPr lang="en-US" altLang="ko-KR" dirty="0"/>
              <a:t>t=target</a:t>
            </a:r>
          </a:p>
          <a:p>
            <a:pPr lvl="2"/>
            <a:r>
              <a:rPr lang="ko-KR" altLang="en-US" dirty="0"/>
              <a:t>이 식에서 두번째</a:t>
            </a:r>
            <a:br>
              <a:rPr lang="en-US" altLang="ko-KR" dirty="0"/>
            </a:br>
            <a:r>
              <a:rPr lang="en-US" altLang="ko-KR" dirty="0"/>
              <a:t>dL/dw1</a:t>
            </a:r>
            <a:r>
              <a:rPr lang="ko-KR" altLang="en-US" dirty="0"/>
              <a:t>을 계산</a:t>
            </a:r>
            <a:br>
              <a:rPr lang="en-US" altLang="ko-KR" dirty="0"/>
            </a:br>
            <a:r>
              <a:rPr lang="ko-KR" altLang="en-US" dirty="0"/>
              <a:t>할 때 델타</a:t>
            </a:r>
            <a:r>
              <a:rPr lang="en-US" altLang="ko-KR" dirty="0"/>
              <a:t>y</a:t>
            </a:r>
            <a:r>
              <a:rPr lang="ko-KR" altLang="en-US" dirty="0"/>
              <a:t>가 재사용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Backpropagation</a:t>
            </a:r>
            <a:r>
              <a:rPr lang="ko-KR" altLang="en-US" dirty="0"/>
              <a:t>은 앞의 델타를 이용해 </a:t>
            </a:r>
            <a:br>
              <a:rPr lang="en-US" altLang="ko-KR" dirty="0"/>
            </a:br>
            <a:r>
              <a:rPr lang="ko-KR" altLang="en-US" dirty="0"/>
              <a:t>다음 델타를 계산</a:t>
            </a:r>
            <a:r>
              <a:rPr lang="en-US" altLang="ko-KR" dirty="0"/>
              <a:t> -&gt; </a:t>
            </a:r>
            <a:r>
              <a:rPr lang="ko-KR" altLang="en-US" dirty="0"/>
              <a:t>출력층에서 </a:t>
            </a:r>
            <a:r>
              <a:rPr lang="ko-KR" altLang="en-US" dirty="0" err="1"/>
              <a:t>입력층</a:t>
            </a:r>
            <a:br>
              <a:rPr lang="en-US" altLang="ko-KR" dirty="0"/>
            </a:br>
            <a:r>
              <a:rPr lang="ko-KR" altLang="en-US" dirty="0"/>
              <a:t>으로 역으로 가중치 보정 전파</a:t>
            </a:r>
            <a:r>
              <a:rPr lang="en-US" altLang="ko-KR" dirty="0"/>
              <a:t>; </a:t>
            </a:r>
            <a:br>
              <a:rPr lang="en-US" altLang="ko-KR" dirty="0"/>
            </a:br>
            <a:r>
              <a:rPr lang="ko-KR" altLang="en-US" dirty="0" err="1"/>
              <a:t>여러개의</a:t>
            </a:r>
            <a:r>
              <a:rPr lang="ko-KR" altLang="en-US" dirty="0"/>
              <a:t> </a:t>
            </a:r>
            <a:r>
              <a:rPr lang="en-US" altLang="ko-KR" dirty="0"/>
              <a:t>hidden layer</a:t>
            </a:r>
            <a:r>
              <a:rPr lang="ko-KR" altLang="en-US" dirty="0"/>
              <a:t>가 있어도 가중치 </a:t>
            </a:r>
            <a:br>
              <a:rPr lang="en-US" altLang="ko-KR" dirty="0"/>
            </a:br>
            <a:r>
              <a:rPr lang="ko-KR" altLang="en-US" dirty="0"/>
              <a:t>구할 수 있음</a:t>
            </a:r>
            <a:endParaRPr lang="en-US" altLang="ko-KR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6B45907-CA3A-8F50-6212-EDB97909F50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6C46BCD-4DBA-ECEB-B4AC-320322027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697" y="690514"/>
            <a:ext cx="3024336" cy="74210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CE0C6FD-7725-F079-E226-B76800EE3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585" y="1432620"/>
            <a:ext cx="4032448" cy="1005695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198AC64-0432-60A9-554E-B7828D31C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965" y="2404295"/>
            <a:ext cx="2672752" cy="158191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E1392C6-EB53-C678-84E9-658C68E843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5024" y="3985748"/>
            <a:ext cx="2938693" cy="100471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7260D69-DD2F-3369-D126-24B4AF6E7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2016" y="4999214"/>
            <a:ext cx="2559377" cy="1402456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2B33ED1-A1E6-2E88-4C97-8CA2E19B98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7162" y="6446287"/>
            <a:ext cx="2257535" cy="1674227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C877773-B53B-E15D-E6A9-730DF33C3B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96680" y="6559419"/>
            <a:ext cx="3016696" cy="127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63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547F4876-3446-F79F-4FB7-D31039ABF8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C4E7635-E294-07BF-95A3-2B9374671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데이터마이닝</a:t>
            </a:r>
            <a:r>
              <a:rPr lang="ko-KR" altLang="en-US" dirty="0"/>
              <a:t> 중간 총정리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661EE88-18FD-1E79-270C-0F0BA7D4B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2" cy="9289032"/>
          </a:xfrm>
        </p:spPr>
        <p:txBody>
          <a:bodyPr/>
          <a:lstStyle/>
          <a:p>
            <a:r>
              <a:rPr lang="en-US" altLang="ko-KR" dirty="0"/>
              <a:t>Regression	:</a:t>
            </a:r>
          </a:p>
          <a:p>
            <a:r>
              <a:rPr lang="ko-KR" altLang="en-US" dirty="0"/>
              <a:t>다중회귀모형 </a:t>
            </a:r>
            <a:r>
              <a:rPr lang="en-US" altLang="ko-KR" dirty="0"/>
              <a:t>:</a:t>
            </a:r>
          </a:p>
          <a:p>
            <a:r>
              <a:rPr lang="en-US" altLang="ko-KR" dirty="0"/>
              <a:t>Logistic Regression</a:t>
            </a:r>
          </a:p>
          <a:p>
            <a:pPr lvl="1"/>
            <a:r>
              <a:rPr lang="en-US" altLang="ko-KR" dirty="0"/>
              <a:t>Logistic regression : (</a:t>
            </a:r>
            <a:r>
              <a:rPr lang="ko-KR" altLang="en-US" dirty="0" err="1"/>
              <a:t>시그모이드</a:t>
            </a:r>
            <a:r>
              <a:rPr lang="en-US" altLang="ko-KR" dirty="0"/>
              <a:t> -&gt; </a:t>
            </a:r>
            <a:r>
              <a:rPr lang="ko-KR" altLang="en-US" dirty="0"/>
              <a:t>회귀분석</a:t>
            </a:r>
            <a:r>
              <a:rPr lang="en-US" altLang="ko-KR" dirty="0"/>
              <a:t>) : </a:t>
            </a:r>
          </a:p>
          <a:p>
            <a:pPr lvl="1"/>
            <a:r>
              <a:rPr lang="ko-KR" altLang="en-US" dirty="0"/>
              <a:t>로지스틱 함수 표기법 </a:t>
            </a:r>
            <a:r>
              <a:rPr lang="en-US" altLang="ko-KR" dirty="0"/>
              <a:t>: </a:t>
            </a:r>
          </a:p>
          <a:p>
            <a:pPr lvl="1"/>
            <a:r>
              <a:rPr lang="en-US" altLang="ko-KR" dirty="0"/>
              <a:t>SSE</a:t>
            </a:r>
            <a:r>
              <a:rPr lang="ko-KR" altLang="en-US" dirty="0"/>
              <a:t>를 로지스틱에서 </a:t>
            </a:r>
            <a:r>
              <a:rPr lang="en-US" altLang="ko-KR" dirty="0"/>
              <a:t>cost</a:t>
            </a:r>
            <a:r>
              <a:rPr lang="ko-KR" altLang="en-US" dirty="0"/>
              <a:t>로 </a:t>
            </a:r>
            <a:r>
              <a:rPr lang="en-US" altLang="ko-KR" dirty="0"/>
              <a:t>X? : SSE</a:t>
            </a:r>
            <a:r>
              <a:rPr lang="ko-KR" altLang="en-US" dirty="0"/>
              <a:t>가</a:t>
            </a:r>
            <a:r>
              <a:rPr lang="en-US" altLang="ko-KR" dirty="0"/>
              <a:t> convex</a:t>
            </a:r>
            <a:r>
              <a:rPr lang="ko-KR" altLang="en-US" dirty="0"/>
              <a:t>함이 보장</a:t>
            </a:r>
            <a:r>
              <a:rPr lang="en-US" altLang="ko-KR" dirty="0"/>
              <a:t>X</a:t>
            </a:r>
          </a:p>
          <a:p>
            <a:r>
              <a:rPr lang="en-US" altLang="ko-KR" dirty="0"/>
              <a:t>Cost minimizing</a:t>
            </a:r>
          </a:p>
          <a:p>
            <a:pPr lvl="1"/>
            <a:r>
              <a:rPr lang="en-US" altLang="ko-KR" dirty="0"/>
              <a:t>Yi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Bernoulli(pi), </a:t>
            </a:r>
          </a:p>
          <a:p>
            <a:pPr lvl="1"/>
            <a:r>
              <a:rPr lang="en-US" altLang="ko-KR" dirty="0"/>
              <a:t>Cross entropy function : </a:t>
            </a:r>
          </a:p>
          <a:p>
            <a:r>
              <a:rPr lang="en-US" altLang="ko-KR" dirty="0"/>
              <a:t>Gradient Descent</a:t>
            </a:r>
          </a:p>
          <a:p>
            <a:pPr lvl="1"/>
            <a:r>
              <a:rPr lang="en-US" altLang="ko-KR" dirty="0"/>
              <a:t>Steepest Descending Algorithm : </a:t>
            </a:r>
          </a:p>
          <a:p>
            <a:pPr lvl="1"/>
            <a:r>
              <a:rPr lang="en-US" altLang="ko-KR" dirty="0"/>
              <a:t>Normalization : </a:t>
            </a:r>
            <a:br>
              <a:rPr lang="en-US" altLang="ko-KR" dirty="0"/>
            </a:br>
            <a:r>
              <a:rPr lang="en-US" altLang="ko-KR" dirty="0"/>
              <a:t>cost</a:t>
            </a:r>
            <a:r>
              <a:rPr lang="ko-KR" altLang="en-US" dirty="0"/>
              <a:t>함수가 넓게 퍼진 것 보다</a:t>
            </a:r>
            <a:br>
              <a:rPr lang="en-US" altLang="ko-KR" dirty="0"/>
            </a:br>
            <a:r>
              <a:rPr lang="ko-KR" altLang="en-US" dirty="0"/>
              <a:t>조밀하게 있는 편이 </a:t>
            </a:r>
            <a:r>
              <a:rPr lang="ko-KR" altLang="en-US" dirty="0" err="1"/>
              <a:t>극값에</a:t>
            </a:r>
            <a:r>
              <a:rPr lang="ko-KR" altLang="en-US" dirty="0"/>
              <a:t> 도달하기 편함 </a:t>
            </a:r>
            <a:r>
              <a:rPr lang="en-US" altLang="ko-KR" dirty="0"/>
              <a:t>: </a:t>
            </a:r>
          </a:p>
          <a:p>
            <a:pPr lvl="1"/>
            <a:r>
              <a:rPr lang="en-US" altLang="ko-KR" dirty="0"/>
              <a:t>Overfitting : </a:t>
            </a:r>
            <a:r>
              <a:rPr lang="ko-KR" altLang="en-US" dirty="0"/>
              <a:t>언제까지 </a:t>
            </a:r>
            <a:r>
              <a:rPr lang="ko-KR" altLang="en-US" dirty="0" err="1"/>
              <a:t>구부려야함</a:t>
            </a:r>
            <a:r>
              <a:rPr lang="en-US" altLang="ko-KR" dirty="0"/>
              <a:t>?  -&gt; training data</a:t>
            </a:r>
            <a:r>
              <a:rPr lang="ko-KR" altLang="en-US" dirty="0"/>
              <a:t>와</a:t>
            </a:r>
            <a:r>
              <a:rPr lang="en-US" altLang="ko-KR" dirty="0"/>
              <a:t> example data</a:t>
            </a:r>
            <a:r>
              <a:rPr lang="ko-KR" altLang="en-US" dirty="0"/>
              <a:t>의 예측 정확도가 같을 때 까지</a:t>
            </a:r>
            <a:endParaRPr lang="en-US" altLang="ko-KR" dirty="0"/>
          </a:p>
          <a:p>
            <a:r>
              <a:rPr lang="en-US" altLang="ko-KR" dirty="0"/>
              <a:t>MNIST Data</a:t>
            </a:r>
          </a:p>
          <a:p>
            <a:pPr lvl="1"/>
            <a:r>
              <a:rPr lang="en-US" altLang="ko-KR" dirty="0"/>
              <a:t>One-hot encoding : </a:t>
            </a:r>
          </a:p>
          <a:p>
            <a:pPr lvl="1"/>
            <a:r>
              <a:rPr lang="en-US" altLang="ko-KR" dirty="0" err="1"/>
              <a:t>Softmax</a:t>
            </a:r>
            <a:r>
              <a:rPr lang="en-US" altLang="ko-KR" dirty="0"/>
              <a:t> </a:t>
            </a:r>
            <a:r>
              <a:rPr lang="ko-KR" altLang="en-US" dirty="0"/>
              <a:t>함수 </a:t>
            </a:r>
            <a:r>
              <a:rPr lang="en-US" altLang="ko-KR" dirty="0"/>
              <a:t>: SM</a:t>
            </a:r>
            <a:r>
              <a:rPr lang="ko-KR" altLang="en-US" dirty="0"/>
              <a:t>을 거치지 않으면 </a:t>
            </a:r>
            <a:r>
              <a:rPr lang="en-US" altLang="ko-KR" dirty="0"/>
              <a:t>H(x)</a:t>
            </a:r>
            <a:r>
              <a:rPr lang="ko-KR" altLang="en-US" dirty="0"/>
              <a:t>의 합이 </a:t>
            </a:r>
            <a:r>
              <a:rPr lang="en-US" altLang="ko-KR" dirty="0"/>
              <a:t>1</a:t>
            </a:r>
            <a:r>
              <a:rPr lang="ko-KR" altLang="en-US" dirty="0"/>
              <a:t>이 아닐 수 있음</a:t>
            </a:r>
            <a:endParaRPr lang="en-US" altLang="ko-KR" dirty="0"/>
          </a:p>
          <a:p>
            <a:pPr lvl="1"/>
            <a:r>
              <a:rPr lang="en-US" altLang="ko-KR" dirty="0"/>
              <a:t>Categorical</a:t>
            </a:r>
            <a:r>
              <a:rPr lang="ko-KR" altLang="en-US" dirty="0"/>
              <a:t> </a:t>
            </a:r>
            <a:r>
              <a:rPr lang="en-US" altLang="ko-KR" dirty="0"/>
              <a:t>Cross</a:t>
            </a:r>
            <a:r>
              <a:rPr lang="ko-KR" altLang="en-US" dirty="0"/>
              <a:t> </a:t>
            </a:r>
            <a:r>
              <a:rPr lang="en-US" altLang="ko-KR" dirty="0"/>
              <a:t>Entropy : 		</a:t>
            </a:r>
            <a:r>
              <a:rPr lang="en-US" altLang="ko-KR" dirty="0" err="1"/>
              <a:t>Yij</a:t>
            </a:r>
            <a:r>
              <a:rPr lang="en-US" altLang="ko-KR" dirty="0"/>
              <a:t> : </a:t>
            </a:r>
            <a:r>
              <a:rPr lang="en-US" altLang="ko-KR" dirty="0" err="1"/>
              <a:t>i</a:t>
            </a:r>
            <a:r>
              <a:rPr lang="ko-KR" altLang="en-US" dirty="0"/>
              <a:t>번째 </a:t>
            </a:r>
            <a:r>
              <a:rPr lang="en-US" altLang="ko-KR" dirty="0"/>
              <a:t>Y</a:t>
            </a:r>
            <a:r>
              <a:rPr lang="ko-KR" altLang="en-US" dirty="0"/>
              <a:t>의 </a:t>
            </a:r>
            <a:r>
              <a:rPr lang="en-US" altLang="ko-KR" dirty="0"/>
              <a:t>j</a:t>
            </a:r>
            <a:r>
              <a:rPr lang="ko-KR" altLang="en-US" dirty="0"/>
              <a:t>번째 상태</a:t>
            </a:r>
            <a:br>
              <a:rPr lang="en-US" altLang="ko-KR" dirty="0"/>
            </a:br>
            <a:r>
              <a:rPr lang="en-US" altLang="ko-KR" dirty="0"/>
              <a:t>				H(x)</a:t>
            </a:r>
            <a:r>
              <a:rPr lang="en-US" altLang="ko-KR" dirty="0" err="1"/>
              <a:t>ij</a:t>
            </a:r>
            <a:r>
              <a:rPr lang="en-US" altLang="ko-KR" dirty="0"/>
              <a:t> : </a:t>
            </a:r>
            <a:r>
              <a:rPr lang="en-US" altLang="ko-KR" dirty="0" err="1"/>
              <a:t>i</a:t>
            </a:r>
            <a:r>
              <a:rPr lang="ko-KR" altLang="en-US" dirty="0"/>
              <a:t>번째 입력에 대해 </a:t>
            </a:r>
            <a:r>
              <a:rPr lang="en-US" altLang="ko-KR" dirty="0"/>
              <a:t>j</a:t>
            </a:r>
            <a:r>
              <a:rPr lang="ko-KR" altLang="en-US" dirty="0"/>
              <a:t>번째 상태의 예측</a:t>
            </a:r>
            <a:endParaRPr lang="en-US" altLang="ko-KR" dirty="0"/>
          </a:p>
          <a:p>
            <a:pPr lvl="1"/>
            <a:r>
              <a:rPr lang="en-US" altLang="ko-KR" dirty="0"/>
              <a:t>Stochastic Gradient Descent : </a:t>
            </a:r>
            <a:r>
              <a:rPr lang="ko-KR" altLang="en-US" dirty="0"/>
              <a:t>학습</a:t>
            </a:r>
            <a:r>
              <a:rPr lang="en-US" altLang="ko-KR" dirty="0"/>
              <a:t> data -&gt; </a:t>
            </a:r>
            <a:r>
              <a:rPr lang="ko-KR" altLang="en-US" dirty="0"/>
              <a:t>배치 크기 만큼 학습</a:t>
            </a:r>
            <a:br>
              <a:rPr lang="en-US" altLang="ko-KR" dirty="0"/>
            </a:br>
            <a:r>
              <a:rPr lang="ko-KR" altLang="en-US" dirty="0"/>
              <a:t>장 </a:t>
            </a:r>
            <a:r>
              <a:rPr lang="en-US" altLang="ko-KR" dirty="0"/>
              <a:t>: </a:t>
            </a:r>
            <a:r>
              <a:rPr lang="ko-KR" altLang="en-US" dirty="0"/>
              <a:t>같은 시간 내에 더 많이 해를 갱신</a:t>
            </a:r>
            <a:r>
              <a:rPr lang="en-US" altLang="ko-KR" dirty="0"/>
              <a:t>	</a:t>
            </a:r>
            <a:r>
              <a:rPr lang="ko-KR" altLang="en-US" dirty="0"/>
              <a:t>단 </a:t>
            </a:r>
            <a:r>
              <a:rPr lang="en-US" altLang="ko-KR" dirty="0"/>
              <a:t>: </a:t>
            </a:r>
            <a:r>
              <a:rPr lang="ko-KR" altLang="en-US" dirty="0"/>
              <a:t>해가 진동</a:t>
            </a:r>
            <a:r>
              <a:rPr lang="en-US" altLang="ko-KR" dirty="0"/>
              <a:t>, </a:t>
            </a:r>
            <a:r>
              <a:rPr lang="ko-KR" altLang="en-US" dirty="0"/>
              <a:t>학습효율성 ↓</a:t>
            </a:r>
            <a:r>
              <a:rPr lang="en-US" altLang="ko-KR" dirty="0"/>
              <a:t>, convexity </a:t>
            </a:r>
            <a:r>
              <a:rPr lang="ko-KR" altLang="en-US" dirty="0"/>
              <a:t>보장</a:t>
            </a:r>
            <a:r>
              <a:rPr lang="en-US" altLang="ko-KR" dirty="0"/>
              <a:t>X</a:t>
            </a:r>
          </a:p>
          <a:p>
            <a:pPr lvl="2"/>
            <a:r>
              <a:rPr lang="en-US" altLang="ko-KR" dirty="0"/>
              <a:t>Batch size : </a:t>
            </a:r>
            <a:r>
              <a:rPr lang="ko-KR" altLang="en-US" dirty="0"/>
              <a:t>크면</a:t>
            </a:r>
            <a:r>
              <a:rPr lang="en-US" altLang="ko-KR" dirty="0"/>
              <a:t>? : </a:t>
            </a:r>
            <a:r>
              <a:rPr lang="ko-KR" altLang="en-US" dirty="0"/>
              <a:t>진동↓</a:t>
            </a:r>
            <a:r>
              <a:rPr lang="en-US" altLang="ko-KR" dirty="0"/>
              <a:t>,</a:t>
            </a:r>
            <a:r>
              <a:rPr lang="ko-KR" altLang="en-US" dirty="0"/>
              <a:t>수렴 정확</a:t>
            </a:r>
            <a:r>
              <a:rPr lang="en-US" altLang="ko-KR" dirty="0"/>
              <a:t> but, </a:t>
            </a:r>
            <a:r>
              <a:rPr lang="ko-KR" altLang="en-US" dirty="0"/>
              <a:t>계산속도↓</a:t>
            </a:r>
            <a:r>
              <a:rPr lang="en-US" altLang="ko-KR" dirty="0"/>
              <a:t> 	</a:t>
            </a:r>
            <a:r>
              <a:rPr lang="ko-KR" altLang="en-US" dirty="0"/>
              <a:t>작으면</a:t>
            </a:r>
            <a:r>
              <a:rPr lang="en-US" altLang="ko-KR" dirty="0"/>
              <a:t>? : </a:t>
            </a:r>
            <a:r>
              <a:rPr lang="ko-KR" altLang="en-US" dirty="0"/>
              <a:t>계산속도↑</a:t>
            </a:r>
            <a:r>
              <a:rPr lang="en-US" altLang="ko-KR" dirty="0"/>
              <a:t> but, </a:t>
            </a:r>
            <a:r>
              <a:rPr lang="ko-KR" altLang="en-US" dirty="0"/>
              <a:t>진동↑</a:t>
            </a:r>
            <a:r>
              <a:rPr lang="en-US" altLang="ko-KR" dirty="0"/>
              <a:t>,</a:t>
            </a:r>
            <a:r>
              <a:rPr lang="ko-KR" altLang="en-US" dirty="0"/>
              <a:t>수렴 부정확</a:t>
            </a:r>
            <a:endParaRPr lang="en-US" altLang="ko-KR" dirty="0"/>
          </a:p>
          <a:p>
            <a:pPr lvl="1"/>
            <a:r>
              <a:rPr lang="en-US" altLang="ko-KR" dirty="0"/>
              <a:t>Batch,</a:t>
            </a:r>
            <a:r>
              <a:rPr lang="ko-KR" altLang="en-US" dirty="0"/>
              <a:t> </a:t>
            </a:r>
            <a:r>
              <a:rPr lang="en-US" altLang="ko-KR" dirty="0"/>
              <a:t>Epoch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mini-batch </a:t>
            </a:r>
            <a:r>
              <a:rPr lang="ko-KR" altLang="en-US" dirty="0"/>
              <a:t>단위로 학습 </a:t>
            </a:r>
            <a:r>
              <a:rPr lang="en-US" altLang="ko-KR" dirty="0"/>
              <a:t>-&gt; cost, weight </a:t>
            </a:r>
            <a:r>
              <a:rPr lang="ko-KR" altLang="en-US" dirty="0"/>
              <a:t>조정</a:t>
            </a:r>
            <a:r>
              <a:rPr lang="en-US" altLang="ko-KR" dirty="0"/>
              <a:t>; full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 학습 </a:t>
            </a:r>
            <a:r>
              <a:rPr lang="en-US" altLang="ko-KR" dirty="0"/>
              <a:t>= 1 epoch</a:t>
            </a:r>
          </a:p>
          <a:p>
            <a:r>
              <a:rPr lang="en-US" altLang="ko-KR" dirty="0"/>
              <a:t>Neural network</a:t>
            </a:r>
          </a:p>
          <a:p>
            <a:pPr lvl="1"/>
            <a:r>
              <a:rPr lang="en-US" altLang="ko-KR" dirty="0"/>
              <a:t>Neural network : f(</a:t>
            </a:r>
            <a:r>
              <a:rPr lang="en-US" altLang="ko-KR" dirty="0" err="1"/>
              <a:t>Σwi</a:t>
            </a:r>
            <a:r>
              <a:rPr lang="en-US" altLang="ko-KR" dirty="0"/>
              <a:t>*</a:t>
            </a:r>
            <a:r>
              <a:rPr lang="en-US" altLang="ko-KR" dirty="0" err="1"/>
              <a:t>xi+b</a:t>
            </a:r>
            <a:r>
              <a:rPr lang="en-US" altLang="ko-KR" dirty="0"/>
              <a:t>) -&gt; y</a:t>
            </a:r>
            <a:r>
              <a:rPr lang="ko-KR" altLang="en-US" dirty="0"/>
              <a:t>가 되도록 미지수 </a:t>
            </a:r>
            <a:r>
              <a:rPr lang="en-US" altLang="ko-KR" dirty="0"/>
              <a:t>w</a:t>
            </a:r>
            <a:r>
              <a:rPr lang="ko-KR" altLang="en-US" dirty="0"/>
              <a:t>의 값을 구함</a:t>
            </a:r>
            <a:endParaRPr lang="en-US" altLang="ko-KR" dirty="0"/>
          </a:p>
          <a:p>
            <a:pPr lvl="1"/>
            <a:r>
              <a:rPr lang="en-US" altLang="ko-KR" dirty="0"/>
              <a:t>Perceptron : AND/OR </a:t>
            </a:r>
            <a:r>
              <a:rPr lang="ko-KR" altLang="en-US" dirty="0"/>
              <a:t>해결 가능</a:t>
            </a:r>
            <a:r>
              <a:rPr lang="en-US" altLang="ko-KR" dirty="0"/>
              <a:t>. 		              ; w1x1+w2x2+b&gt;0 -&gt; (S(X)&gt;1/2 -&gt; 1)</a:t>
            </a:r>
          </a:p>
          <a:p>
            <a:pPr lvl="1"/>
            <a:r>
              <a:rPr lang="en-US" altLang="ko-KR" dirty="0"/>
              <a:t>Hidden layer</a:t>
            </a:r>
            <a:r>
              <a:rPr lang="ko-KR" altLang="en-US" dirty="0"/>
              <a:t>와 </a:t>
            </a:r>
            <a:r>
              <a:rPr lang="en-US" altLang="ko-KR" dirty="0"/>
              <a:t>XOR : </a:t>
            </a:r>
            <a:r>
              <a:rPr lang="ko-KR" altLang="en-US" dirty="0" err="1"/>
              <a:t>히든레이어</a:t>
            </a:r>
            <a:r>
              <a:rPr lang="ko-KR" altLang="en-US" dirty="0"/>
              <a:t> </a:t>
            </a:r>
            <a:r>
              <a:rPr lang="en-US" altLang="ko-KR" dirty="0"/>
              <a:t>h1(=OR), h2(=AND)</a:t>
            </a:r>
            <a:r>
              <a:rPr lang="ko-KR" altLang="en-US" dirty="0"/>
              <a:t> 추가 </a:t>
            </a:r>
            <a:r>
              <a:rPr lang="en-US" altLang="ko-KR" dirty="0"/>
              <a:t>-&gt; XOR </a:t>
            </a:r>
            <a:r>
              <a:rPr lang="ko-KR" altLang="en-US" dirty="0"/>
              <a:t>해결</a:t>
            </a:r>
            <a:endParaRPr lang="en-US" altLang="ko-KR" dirty="0"/>
          </a:p>
          <a:p>
            <a:r>
              <a:rPr lang="en-US" altLang="ko-KR" dirty="0"/>
              <a:t>Backpropagation</a:t>
            </a:r>
          </a:p>
          <a:p>
            <a:pPr lvl="1"/>
            <a:r>
              <a:rPr lang="ko-KR" altLang="en-US" dirty="0"/>
              <a:t>미분과</a:t>
            </a:r>
            <a:r>
              <a:rPr lang="en-US" altLang="ko-KR" dirty="0"/>
              <a:t> chain rule :</a:t>
            </a:r>
          </a:p>
          <a:p>
            <a:pPr lvl="1"/>
            <a:r>
              <a:rPr lang="en-US" altLang="ko-KR" dirty="0"/>
              <a:t>Backpropagation : </a:t>
            </a:r>
            <a:r>
              <a:rPr lang="ko-KR" altLang="en-US" dirty="0"/>
              <a:t>앞의</a:t>
            </a:r>
            <a:r>
              <a:rPr lang="en-US" altLang="ko-KR" dirty="0"/>
              <a:t> </a:t>
            </a:r>
            <a:r>
              <a:rPr lang="ko-KR" altLang="en-US" dirty="0"/>
              <a:t>델타를 이용</a:t>
            </a:r>
            <a:r>
              <a:rPr lang="en-US" altLang="ko-KR" dirty="0"/>
              <a:t>, </a:t>
            </a:r>
            <a:r>
              <a:rPr lang="ko-KR" altLang="en-US" dirty="0"/>
              <a:t>다음 델타 계산 </a:t>
            </a:r>
            <a:r>
              <a:rPr lang="en-US" altLang="ko-KR" dirty="0"/>
              <a:t>-&gt; </a:t>
            </a:r>
            <a:r>
              <a:rPr lang="ko-KR" altLang="en-US" dirty="0"/>
              <a:t>출력층에서 입력층으로 역으로 가중치 보정 전파</a:t>
            </a:r>
            <a:br>
              <a:rPr lang="en-US" altLang="ko-KR" dirty="0"/>
            </a:br>
            <a:r>
              <a:rPr lang="ko-KR" altLang="en-US" dirty="0" err="1"/>
              <a:t>여러개의</a:t>
            </a:r>
            <a:r>
              <a:rPr lang="ko-KR" altLang="en-US" dirty="0"/>
              <a:t> </a:t>
            </a:r>
            <a:r>
              <a:rPr lang="en-US" altLang="ko-KR" dirty="0"/>
              <a:t>hidden layer</a:t>
            </a:r>
            <a:r>
              <a:rPr lang="ko-KR" altLang="en-US" dirty="0"/>
              <a:t>가 있어도 가중치 구할 수 있음</a:t>
            </a:r>
            <a:endParaRPr lang="en-US" altLang="ko-KR" dirty="0"/>
          </a:p>
        </p:txBody>
      </p:sp>
      <p:pic>
        <p:nvPicPr>
          <p:cNvPr id="7" name="그림 6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3CCA8D-F373-6806-823B-913B84216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22" t="88287"/>
          <a:stretch/>
        </p:blipFill>
        <p:spPr>
          <a:xfrm>
            <a:off x="2747172" y="573100"/>
            <a:ext cx="2664297" cy="360040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47862AD-3336-DA8F-5546-147C8552A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9" r="21603" b="88287"/>
          <a:stretch/>
        </p:blipFill>
        <p:spPr>
          <a:xfrm>
            <a:off x="1129694" y="577072"/>
            <a:ext cx="1584176" cy="273134"/>
          </a:xfrm>
          <a:prstGeom prst="rect">
            <a:avLst/>
          </a:prstGeom>
        </p:spPr>
      </p:pic>
      <p:pic>
        <p:nvPicPr>
          <p:cNvPr id="9" name="그림 8" descr="텍스트, 폰트, 친필, 서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7568C87-63AF-088C-04B8-33A3050A0E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66" b="83736"/>
          <a:stretch/>
        </p:blipFill>
        <p:spPr>
          <a:xfrm>
            <a:off x="1256336" y="873560"/>
            <a:ext cx="1368153" cy="216024"/>
          </a:xfrm>
          <a:prstGeom prst="rect">
            <a:avLst/>
          </a:prstGeom>
        </p:spPr>
      </p:pic>
      <p:pic>
        <p:nvPicPr>
          <p:cNvPr id="10" name="그림 9" descr="텍스트, 폰트, 친필, 서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E37D9676-CC39-18A8-0504-942D296533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85341" r="45000"/>
          <a:stretch/>
        </p:blipFill>
        <p:spPr>
          <a:xfrm>
            <a:off x="2624489" y="870001"/>
            <a:ext cx="1080121" cy="194706"/>
          </a:xfrm>
          <a:prstGeom prst="rect">
            <a:avLst/>
          </a:prstGeom>
        </p:spPr>
      </p:pic>
      <p:pic>
        <p:nvPicPr>
          <p:cNvPr id="11" name="그림 10" descr="텍스트, 도표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192547F-64F2-23F3-81CC-3A6C2F8F3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41" t="63786" r="29882" b="19091"/>
          <a:stretch/>
        </p:blipFill>
        <p:spPr>
          <a:xfrm>
            <a:off x="3281341" y="1336434"/>
            <a:ext cx="1368153" cy="233597"/>
          </a:xfrm>
          <a:prstGeom prst="rect">
            <a:avLst/>
          </a:prstGeom>
        </p:spPr>
      </p:pic>
      <p:pic>
        <p:nvPicPr>
          <p:cNvPr id="12" name="그림 11" descr="텍스트, 스크린샷, 폰트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3400106-E8AF-F8AD-79F7-2AF1689179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7" t="2948" r="75033" b="87812"/>
          <a:stretch/>
        </p:blipFill>
        <p:spPr>
          <a:xfrm>
            <a:off x="4720029" y="1350325"/>
            <a:ext cx="887507" cy="233598"/>
          </a:xfrm>
          <a:prstGeom prst="rect">
            <a:avLst/>
          </a:prstGeom>
        </p:spPr>
      </p:pic>
      <p:pic>
        <p:nvPicPr>
          <p:cNvPr id="13" name="그림 12" descr="텍스트, 도표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317C530-9CB0-0AED-6B3C-8A488F26D5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95" t="62799" r="27456" b="19664"/>
          <a:stretch/>
        </p:blipFill>
        <p:spPr>
          <a:xfrm>
            <a:off x="1829282" y="1589045"/>
            <a:ext cx="1461455" cy="241656"/>
          </a:xfrm>
          <a:prstGeom prst="rect">
            <a:avLst/>
          </a:prstGeom>
        </p:spPr>
      </p:pic>
      <p:pic>
        <p:nvPicPr>
          <p:cNvPr id="14" name="그림 13" descr="텍스트, 도표, 라인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940055D-C547-4A2F-A18B-9E84862C85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2053" r="20180"/>
          <a:stretch/>
        </p:blipFill>
        <p:spPr>
          <a:xfrm>
            <a:off x="3234396" y="1570861"/>
            <a:ext cx="2066751" cy="255203"/>
          </a:xfrm>
          <a:prstGeom prst="rect">
            <a:avLst/>
          </a:prstGeom>
        </p:spPr>
      </p:pic>
      <p:pic>
        <p:nvPicPr>
          <p:cNvPr id="15" name="그림 14" descr="텍스트, 폰트, 스크린샷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8BA6F4-5828-4FF2-0A5B-9C13C30C67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63" b="37574"/>
          <a:stretch/>
        </p:blipFill>
        <p:spPr>
          <a:xfrm>
            <a:off x="3748373" y="1819570"/>
            <a:ext cx="1552774" cy="255204"/>
          </a:xfrm>
          <a:prstGeom prst="rect">
            <a:avLst/>
          </a:prstGeom>
        </p:spPr>
      </p:pic>
      <p:pic>
        <p:nvPicPr>
          <p:cNvPr id="16" name="그림 15" descr="텍스트, 폰트, 스크린샷, 번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BFC2148-EBDE-FF3F-64A4-876C4261A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62" r="11273" b="1"/>
          <a:stretch/>
        </p:blipFill>
        <p:spPr>
          <a:xfrm>
            <a:off x="5291631" y="1795471"/>
            <a:ext cx="1377728" cy="49455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D0643E6-97F1-D442-9C37-2D6EB9C826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545" y="2310400"/>
            <a:ext cx="1728192" cy="175078"/>
          </a:xfrm>
          <a:prstGeom prst="rect">
            <a:avLst/>
          </a:prstGeom>
        </p:spPr>
      </p:pic>
      <p:pic>
        <p:nvPicPr>
          <p:cNvPr id="18" name="그림 17" descr="텍스트, 폰트, 라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67FC64A-480E-BF13-ED9C-FC055A3BF01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174" y="2523456"/>
            <a:ext cx="2066751" cy="29463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CF7D907-290A-F8AB-F67C-2257000FE0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089"/>
          <a:stretch/>
        </p:blipFill>
        <p:spPr>
          <a:xfrm>
            <a:off x="4057032" y="2273711"/>
            <a:ext cx="2448273" cy="612104"/>
          </a:xfrm>
          <a:prstGeom prst="rect">
            <a:avLst/>
          </a:prstGeom>
        </p:spPr>
      </p:pic>
      <p:pic>
        <p:nvPicPr>
          <p:cNvPr id="20" name="그림 19" descr="텍스트, 친필, 폰트, 서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7DC6AC1-B8CB-229D-5878-5BA32C099A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234" y="2895103"/>
            <a:ext cx="3028275" cy="679721"/>
          </a:xfrm>
          <a:prstGeom prst="rect">
            <a:avLst/>
          </a:prstGeom>
        </p:spPr>
      </p:pic>
      <p:pic>
        <p:nvPicPr>
          <p:cNvPr id="21" name="그림 20" descr="텍스트, 폰트, 친필, 화이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6A6566-61AB-E727-37E1-F358BCB243F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9" t="63058" r="15931" b="-3944"/>
          <a:stretch/>
        </p:blipFill>
        <p:spPr>
          <a:xfrm>
            <a:off x="4212008" y="3197306"/>
            <a:ext cx="1163089" cy="173455"/>
          </a:xfrm>
          <a:prstGeom prst="rect">
            <a:avLst/>
          </a:prstGeom>
        </p:spPr>
      </p:pic>
      <p:pic>
        <p:nvPicPr>
          <p:cNvPr id="22" name="그림 21" descr="텍스트, 폰트, 라인, 친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48D0C14-7F9A-4FAC-1C4D-A51092067BB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50" b="59738"/>
          <a:stretch/>
        </p:blipFill>
        <p:spPr>
          <a:xfrm>
            <a:off x="3026528" y="3584112"/>
            <a:ext cx="592644" cy="175346"/>
          </a:xfrm>
          <a:prstGeom prst="rect">
            <a:avLst/>
          </a:prstGeom>
        </p:spPr>
      </p:pic>
      <p:pic>
        <p:nvPicPr>
          <p:cNvPr id="23" name="그림 22" descr="텍스트, 폰트, 라인, 친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F15ED8-1EF8-7C79-0222-B5EDC5953DA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" t="50000"/>
          <a:stretch/>
        </p:blipFill>
        <p:spPr>
          <a:xfrm>
            <a:off x="3577106" y="3544121"/>
            <a:ext cx="830066" cy="217755"/>
          </a:xfrm>
          <a:prstGeom prst="rect">
            <a:avLst/>
          </a:prstGeom>
        </p:spPr>
      </p:pic>
      <p:pic>
        <p:nvPicPr>
          <p:cNvPr id="24" name="그림 23" descr="텍스트, 폰트, 라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AACF8E6-AF6B-16BD-323F-65F79EF15A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693" t="-2744" b="-1"/>
          <a:stretch/>
        </p:blipFill>
        <p:spPr>
          <a:xfrm>
            <a:off x="1707311" y="4049693"/>
            <a:ext cx="1284511" cy="400419"/>
          </a:xfrm>
          <a:prstGeom prst="rect">
            <a:avLst/>
          </a:prstGeom>
        </p:spPr>
      </p:pic>
      <p:pic>
        <p:nvPicPr>
          <p:cNvPr id="25" name="그림 24" descr="텍스트, 폰트, 화이트, 타이포그래피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7D1BA46-CCA9-2F04-D57B-F72D08D33B7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7324" y="4029040"/>
            <a:ext cx="2152251" cy="400419"/>
          </a:xfrm>
          <a:prstGeom prst="rect">
            <a:avLst/>
          </a:prstGeom>
        </p:spPr>
      </p:pic>
      <p:pic>
        <p:nvPicPr>
          <p:cNvPr id="26" name="그림 25" descr="텍스트, 스크린샷, 도표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5A37088-0552-CCB6-6C28-0CB422D8DE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28" t="63986" r="6043" b="26821"/>
          <a:stretch/>
        </p:blipFill>
        <p:spPr>
          <a:xfrm>
            <a:off x="4274428" y="4505463"/>
            <a:ext cx="1512167" cy="202371"/>
          </a:xfrm>
          <a:prstGeom prst="rect">
            <a:avLst/>
          </a:prstGeom>
        </p:spPr>
      </p:pic>
      <p:pic>
        <p:nvPicPr>
          <p:cNvPr id="27" name="그림 26" descr="폰트, 텍스트, 화이트, 서예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B5FD799-08AA-60B7-BC70-155D25AB6B4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489" y="4671600"/>
            <a:ext cx="1567295" cy="35168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7E22E88A-D7E0-5001-10A4-6C11DBFB229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431646" y="6406839"/>
            <a:ext cx="1955767" cy="161228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C5407EE-BE19-4B20-1142-33C99B3EB8C1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t="4391" r="6309" b="5510"/>
          <a:stretch/>
        </p:blipFill>
        <p:spPr>
          <a:xfrm>
            <a:off x="4731497" y="6565804"/>
            <a:ext cx="1139299" cy="54329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C1002858-9F13-121B-79DA-B80CF880AEF7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t="78829" b="4031"/>
          <a:stretch/>
        </p:blipFill>
        <p:spPr>
          <a:xfrm>
            <a:off x="1597671" y="7106836"/>
            <a:ext cx="5060956" cy="21634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5D8E5F3-501E-07B3-8DD3-F8DBA20B72D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884093" y="7549814"/>
            <a:ext cx="2559377" cy="1402456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F57A665-4542-851E-4851-9BD54CCDDFF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77591" y="7795845"/>
            <a:ext cx="2938693" cy="100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154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444C8-8C14-D8A1-EF8B-77E319AE6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6B74E81-A764-B501-CE8D-C2F8AF4B8E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78AE8EF-5960-BF68-1ADD-28CCCC8CD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데이터마이닝</a:t>
            </a:r>
            <a:r>
              <a:rPr lang="ko-KR" altLang="en-US" dirty="0"/>
              <a:t> 중간 총정리 </a:t>
            </a:r>
            <a:r>
              <a:rPr lang="en-US" altLang="ko-KR" dirty="0"/>
              <a:t>(</a:t>
            </a:r>
            <a:r>
              <a:rPr lang="ko-KR" altLang="en-US" dirty="0"/>
              <a:t>문제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1DE81E3-7C1B-9128-ADCF-00DD13CCF7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624" y="560512"/>
            <a:ext cx="6768752" cy="9289032"/>
          </a:xfrm>
        </p:spPr>
        <p:txBody>
          <a:bodyPr/>
          <a:lstStyle/>
          <a:p>
            <a:r>
              <a:rPr lang="en-US" altLang="ko-KR" dirty="0"/>
              <a:t>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Q: </a:t>
            </a:r>
            <a:r>
              <a:rPr lang="ko-KR" altLang="en-US" dirty="0"/>
              <a:t>왜 </a:t>
            </a:r>
            <a:r>
              <a:rPr lang="en-US" altLang="ko-KR" dirty="0"/>
              <a:t>SSE </a:t>
            </a:r>
            <a:r>
              <a:rPr lang="ko-KR" altLang="en-US" dirty="0"/>
              <a:t>함수를 </a:t>
            </a:r>
            <a:r>
              <a:rPr lang="en-US" altLang="ko-KR" dirty="0"/>
              <a:t>Cost </a:t>
            </a:r>
            <a:r>
              <a:rPr lang="ko-KR" altLang="en-US" dirty="0"/>
              <a:t>함수로 사용하지 않았을까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OR </a:t>
            </a:r>
            <a:r>
              <a:rPr lang="ko-KR" altLang="en-US" dirty="0"/>
              <a:t>문제가 해결됨을 보여라</a:t>
            </a:r>
            <a:r>
              <a:rPr lang="en-US" altLang="ko-KR" dirty="0"/>
              <a:t>	# XOR </a:t>
            </a:r>
            <a:r>
              <a:rPr lang="ko-KR" altLang="en-US" dirty="0"/>
              <a:t>문제가 해결됨을 보여라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다음 신경망 모형을 그려라</a:t>
            </a:r>
            <a:endParaRPr lang="en-US" altLang="ko-KR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067726A-8420-C097-AA17-D4528BBE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6438" y="641949"/>
            <a:ext cx="3198125" cy="223224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509C494-05AB-8619-FA94-58B7D9A8B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72" y="641949"/>
            <a:ext cx="2440953" cy="2232248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FE703F33-1FFE-6ADF-213D-6F5C7431B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82" y="3438504"/>
            <a:ext cx="3318415" cy="1948911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BF1F99B6-C400-1069-CE88-0EDFBB656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497" y="3713024"/>
            <a:ext cx="3178504" cy="1674391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FD9F169-D98A-3029-28ED-5970927534D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051" r="4790"/>
          <a:stretch/>
        </p:blipFill>
        <p:spPr>
          <a:xfrm>
            <a:off x="184980" y="5640918"/>
            <a:ext cx="1963038" cy="930095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D11B799-FEA5-2E3A-2661-4978FA09A9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06813" y="5640918"/>
            <a:ext cx="1935458" cy="930095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3A8496A4-DEBC-AD05-20E2-C90E0D79413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8531" b="73850"/>
          <a:stretch/>
        </p:blipFill>
        <p:spPr>
          <a:xfrm>
            <a:off x="283860" y="6824516"/>
            <a:ext cx="4169887" cy="83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75013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25774</TotalTime>
  <Words>1847</Words>
  <Application>Microsoft Office PowerPoint</Application>
  <PresentationFormat>A4 용지(210x297mm)</PresentationFormat>
  <Paragraphs>256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Wingdings</vt:lpstr>
      <vt:lpstr>디자인 사용자 지정</vt:lpstr>
      <vt:lpstr>빅데이터/스몰데이터</vt:lpstr>
      <vt:lpstr>Regression</vt:lpstr>
      <vt:lpstr>Regression (계속)</vt:lpstr>
      <vt:lpstr>Logistic Regression</vt:lpstr>
      <vt:lpstr>Cost minimizing</vt:lpstr>
      <vt:lpstr>Gradient Descent</vt:lpstr>
      <vt:lpstr>MNIST Data</vt:lpstr>
      <vt:lpstr>Mnist data</vt:lpstr>
      <vt:lpstr>Neural network</vt:lpstr>
      <vt:lpstr>Backpropagation</vt:lpstr>
      <vt:lpstr>데이터마이닝 중간 총정리</vt:lpstr>
      <vt:lpstr>데이터마이닝 중간 총정리 (문제)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573</cp:revision>
  <dcterms:created xsi:type="dcterms:W3CDTF">2021-05-24T07:27:04Z</dcterms:created>
  <dcterms:modified xsi:type="dcterms:W3CDTF">2025-04-22T13:22:21Z</dcterms:modified>
</cp:coreProperties>
</file>