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83" r:id="rId2"/>
    <p:sldId id="284" r:id="rId3"/>
    <p:sldId id="285" r:id="rId4"/>
    <p:sldId id="286" r:id="rId5"/>
    <p:sldId id="287" r:id="rId6"/>
    <p:sldId id="288" r:id="rId7"/>
    <p:sldId id="295" r:id="rId8"/>
    <p:sldId id="296" r:id="rId9"/>
    <p:sldId id="297" r:id="rId10"/>
    <p:sldId id="291" r:id="rId11"/>
    <p:sldId id="292" r:id="rId12"/>
    <p:sldId id="293" r:id="rId13"/>
    <p:sldId id="294" r:id="rId14"/>
    <p:sldId id="298" r:id="rId15"/>
    <p:sldId id="299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4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1D99D2-BCD0-2B91-297A-FC78C8B7D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0BCDF0-1EDA-A414-CB45-AC245021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0CFC8D-CD4B-051C-D626-5872F8CCB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C2EFF23-2B30-CF4D-A5E4-650B4351BF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소프트웨어 </a:t>
            </a:r>
            <a:r>
              <a:rPr lang="en-US" altLang="ko-KR" dirty="0"/>
              <a:t>vs </a:t>
            </a:r>
            <a:r>
              <a:rPr lang="ko-KR" altLang="en-US" dirty="0"/>
              <a:t>하드웨어</a:t>
            </a:r>
            <a:endParaRPr lang="en-US" altLang="ko-KR" dirty="0"/>
          </a:p>
          <a:p>
            <a:pPr lvl="1"/>
            <a:r>
              <a:rPr lang="ko-KR" altLang="en-US" dirty="0"/>
              <a:t>소프트웨어 </a:t>
            </a:r>
            <a:r>
              <a:rPr lang="en-US" altLang="ko-KR" dirty="0"/>
              <a:t>: </a:t>
            </a:r>
            <a:r>
              <a:rPr lang="ko-KR" altLang="en-US" dirty="0"/>
              <a:t>코드나 명령이 순차적으로 저장된 것</a:t>
            </a:r>
            <a:endParaRPr lang="en-US" altLang="ko-KR" dirty="0"/>
          </a:p>
          <a:p>
            <a:r>
              <a:rPr lang="ko-KR" altLang="en-US" dirty="0" err="1"/>
              <a:t>폰노이만</a:t>
            </a:r>
            <a:r>
              <a:rPr lang="ko-KR" altLang="en-US" dirty="0"/>
              <a:t> 구조와 하버드 아키텍처</a:t>
            </a:r>
            <a:endParaRPr lang="en-US" altLang="ko-KR" dirty="0"/>
          </a:p>
          <a:p>
            <a:pPr lvl="1"/>
            <a:r>
              <a:rPr lang="ko-KR" altLang="en-US" dirty="0"/>
              <a:t>초기 컴퓨터 </a:t>
            </a:r>
            <a:r>
              <a:rPr lang="en-US" altLang="ko-KR" dirty="0"/>
              <a:t>: </a:t>
            </a:r>
            <a:r>
              <a:rPr lang="ko-KR" altLang="en-US" dirty="0"/>
              <a:t>미리 정해진 로직에 따라 작동</a:t>
            </a:r>
            <a:r>
              <a:rPr lang="en-US" altLang="ko-KR" dirty="0"/>
              <a:t>, </a:t>
            </a:r>
            <a:r>
              <a:rPr lang="ko-KR" altLang="en-US" dirty="0"/>
              <a:t>선을 꽂고 빼는 방식으로 로직 변경</a:t>
            </a:r>
            <a:endParaRPr lang="en-US" altLang="ko-KR" dirty="0"/>
          </a:p>
          <a:p>
            <a:pPr lvl="1"/>
            <a:r>
              <a:rPr lang="ko-KR" altLang="en-US" dirty="0" err="1"/>
              <a:t>폰노이만</a:t>
            </a:r>
            <a:r>
              <a:rPr lang="ko-KR" altLang="en-US" dirty="0"/>
              <a:t> 구조 </a:t>
            </a:r>
            <a:r>
              <a:rPr lang="en-US" altLang="ko-KR" dirty="0"/>
              <a:t>: </a:t>
            </a:r>
            <a:r>
              <a:rPr lang="ko-KR" altLang="en-US" dirty="0"/>
              <a:t>명령어를 메모리에 저장</a:t>
            </a:r>
            <a:r>
              <a:rPr lang="en-US" altLang="ko-KR" dirty="0"/>
              <a:t>, CPU</a:t>
            </a:r>
            <a:r>
              <a:rPr lang="ko-KR" altLang="en-US" dirty="0"/>
              <a:t>가 이를 읽고 해석</a:t>
            </a:r>
            <a:r>
              <a:rPr lang="en-US" altLang="ko-KR" dirty="0"/>
              <a:t>; </a:t>
            </a:r>
            <a:r>
              <a:rPr lang="ko-KR" altLang="en-US" dirty="0"/>
              <a:t>메모리에 모든 명령어와 데이터를 저장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구조 단순</a:t>
            </a:r>
            <a:r>
              <a:rPr lang="en-US" altLang="ko-KR" dirty="0"/>
              <a:t>, </a:t>
            </a:r>
            <a:r>
              <a:rPr lang="ko-KR" altLang="en-US" dirty="0"/>
              <a:t>비용 낮음</a:t>
            </a:r>
            <a:endParaRPr lang="en-US" altLang="ko-KR" dirty="0"/>
          </a:p>
          <a:p>
            <a:pPr lvl="2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메모리 접근 시 병목현상</a:t>
            </a:r>
            <a:r>
              <a:rPr lang="en-US" altLang="ko-KR" dirty="0"/>
              <a:t>. CPU</a:t>
            </a:r>
            <a:r>
              <a:rPr lang="ko-KR" altLang="en-US" dirty="0"/>
              <a:t>와 메모리를 동시에 읽을 수</a:t>
            </a:r>
            <a:r>
              <a:rPr lang="en-US" altLang="ko-KR" dirty="0"/>
              <a:t> X. CPU</a:t>
            </a:r>
            <a:r>
              <a:rPr lang="ko-KR" altLang="en-US" dirty="0"/>
              <a:t>와 메모리 사이 시스템 버스가 하나이기 때문</a:t>
            </a:r>
            <a:endParaRPr lang="en-US" altLang="ko-KR" dirty="0"/>
          </a:p>
          <a:p>
            <a:pPr lvl="1"/>
            <a:r>
              <a:rPr lang="ko-KR" altLang="en-US" dirty="0"/>
              <a:t>하버드 아키텍처 </a:t>
            </a:r>
            <a:r>
              <a:rPr lang="en-US" altLang="ko-KR" dirty="0"/>
              <a:t>: </a:t>
            </a:r>
            <a:r>
              <a:rPr lang="ko-KR" altLang="en-US" dirty="0"/>
              <a:t>명령어와 데이터를 각각 다른 메모리에 저장</a:t>
            </a:r>
            <a:r>
              <a:rPr lang="en-US" altLang="ko-KR" dirty="0"/>
              <a:t>, </a:t>
            </a:r>
            <a:r>
              <a:rPr lang="ko-KR" altLang="en-US" dirty="0"/>
              <a:t>시스템 버스가 분리됨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명령어</a:t>
            </a:r>
            <a:r>
              <a:rPr lang="en-US" altLang="ko-KR" dirty="0"/>
              <a:t> &amp; </a:t>
            </a:r>
            <a:r>
              <a:rPr lang="ko-KR" altLang="en-US" dirty="0"/>
              <a:t>데이터를 동시에 읽음 </a:t>
            </a:r>
            <a:r>
              <a:rPr lang="en-US" altLang="ko-KR" dirty="0"/>
              <a:t>-&gt; </a:t>
            </a:r>
            <a:r>
              <a:rPr lang="ko-KR" altLang="en-US" dirty="0"/>
              <a:t>성능 우수</a:t>
            </a:r>
            <a:endParaRPr lang="en-US" altLang="ko-KR" dirty="0"/>
          </a:p>
          <a:p>
            <a:pPr lvl="2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구조 복잡</a:t>
            </a:r>
            <a:r>
              <a:rPr lang="en-US" altLang="ko-KR" dirty="0"/>
              <a:t>, </a:t>
            </a:r>
            <a:r>
              <a:rPr lang="ko-KR" altLang="en-US" dirty="0"/>
              <a:t>비용 높음</a:t>
            </a:r>
            <a:endParaRPr lang="en-US" altLang="ko-KR" dirty="0"/>
          </a:p>
          <a:p>
            <a:pPr lvl="1"/>
            <a:r>
              <a:rPr lang="ko-KR" altLang="en-US" dirty="0" err="1"/>
              <a:t>폰노이만</a:t>
            </a:r>
            <a:r>
              <a:rPr lang="en-US" altLang="ko-KR" dirty="0"/>
              <a:t> </a:t>
            </a:r>
            <a:r>
              <a:rPr lang="ko-KR" altLang="en-US" dirty="0"/>
              <a:t>구조의 개선</a:t>
            </a:r>
            <a:endParaRPr lang="en-US" altLang="ko-KR" dirty="0"/>
          </a:p>
          <a:p>
            <a:pPr lvl="2"/>
            <a:r>
              <a:rPr lang="ko-KR" altLang="en-US" dirty="0"/>
              <a:t>캐시메모리 </a:t>
            </a:r>
            <a:r>
              <a:rPr lang="en-US" altLang="ko-KR" dirty="0"/>
              <a:t>: CPU/</a:t>
            </a:r>
            <a:r>
              <a:rPr lang="ko-KR" altLang="en-US" dirty="0" err="1"/>
              <a:t>주기억</a:t>
            </a:r>
            <a:r>
              <a:rPr lang="ko-KR" altLang="en-US" dirty="0"/>
              <a:t> 장치 간 캐시메모리</a:t>
            </a:r>
            <a:r>
              <a:rPr lang="en-US" altLang="ko-KR" dirty="0"/>
              <a:t>; </a:t>
            </a:r>
            <a:r>
              <a:rPr lang="ko-KR" altLang="en-US" dirty="0"/>
              <a:t>인텔 </a:t>
            </a:r>
            <a:r>
              <a:rPr lang="en-US" altLang="ko-KR" dirty="0"/>
              <a:t>L1/L2/L3 </a:t>
            </a:r>
            <a:r>
              <a:rPr lang="ko-KR" altLang="en-US" dirty="0"/>
              <a:t>등 </a:t>
            </a:r>
            <a:r>
              <a:rPr lang="en-US" altLang="ko-KR" dirty="0"/>
              <a:t>-&gt; </a:t>
            </a:r>
            <a:r>
              <a:rPr lang="ko-KR" altLang="en-US" dirty="0"/>
              <a:t>병목 해결</a:t>
            </a:r>
            <a:endParaRPr lang="en-US" altLang="ko-KR" dirty="0"/>
          </a:p>
          <a:p>
            <a:pPr lvl="2"/>
            <a:r>
              <a:rPr lang="ko-KR" altLang="en-US" dirty="0"/>
              <a:t>하버드</a:t>
            </a:r>
            <a:r>
              <a:rPr lang="en-US" altLang="ko-KR" dirty="0"/>
              <a:t> </a:t>
            </a:r>
            <a:r>
              <a:rPr lang="ko-KR" altLang="en-US" dirty="0"/>
              <a:t>아키텍처와 병행 </a:t>
            </a:r>
            <a:r>
              <a:rPr lang="en-US" altLang="ko-KR" dirty="0"/>
              <a:t>: </a:t>
            </a:r>
            <a:r>
              <a:rPr lang="ko-KR" altLang="en-US" dirty="0"/>
              <a:t>칩에 내장된 캐시메모리 명령어 캐시</a:t>
            </a:r>
            <a:r>
              <a:rPr lang="en-US" altLang="ko-KR" dirty="0"/>
              <a:t>, </a:t>
            </a:r>
            <a:r>
              <a:rPr lang="ko-KR" altLang="en-US" dirty="0"/>
              <a:t>데이터 캐시로 나눔</a:t>
            </a:r>
            <a:endParaRPr lang="en-US" altLang="ko-KR" dirty="0"/>
          </a:p>
          <a:p>
            <a:r>
              <a:rPr lang="en-US" altLang="ko-KR" dirty="0"/>
              <a:t>CPU</a:t>
            </a:r>
            <a:r>
              <a:rPr lang="ko-KR" altLang="en-US" dirty="0"/>
              <a:t>의 기능</a:t>
            </a:r>
            <a:endParaRPr lang="en-US" altLang="ko-KR" dirty="0"/>
          </a:p>
          <a:p>
            <a:pPr lvl="1"/>
            <a:r>
              <a:rPr lang="ko-KR" altLang="en-US" dirty="0"/>
              <a:t>데이터 처리 </a:t>
            </a:r>
            <a:r>
              <a:rPr lang="en-US" altLang="ko-KR" dirty="0"/>
              <a:t>: </a:t>
            </a:r>
            <a:r>
              <a:rPr lang="ko-KR" altLang="en-US" dirty="0"/>
              <a:t>산술연산 및 논리 연산 수행</a:t>
            </a:r>
            <a:r>
              <a:rPr lang="en-US" altLang="ko-KR" dirty="0"/>
              <a:t>. </a:t>
            </a:r>
            <a:r>
              <a:rPr lang="ko-KR" altLang="en-US" dirty="0"/>
              <a:t>사칙연산 및 논리연산 수행</a:t>
            </a:r>
            <a:r>
              <a:rPr lang="en-US" altLang="ko-KR" dirty="0"/>
              <a:t>, ALU</a:t>
            </a:r>
            <a:r>
              <a:rPr lang="ko-KR" altLang="en-US" dirty="0"/>
              <a:t>는 여기서 핵심 모듈</a:t>
            </a:r>
            <a:endParaRPr lang="en-US" altLang="ko-KR" dirty="0"/>
          </a:p>
          <a:p>
            <a:pPr lvl="1"/>
            <a:r>
              <a:rPr lang="ko-KR" altLang="en-US" dirty="0"/>
              <a:t>데이터 이동 </a:t>
            </a:r>
            <a:r>
              <a:rPr lang="en-US" altLang="ko-KR" dirty="0"/>
              <a:t>: </a:t>
            </a:r>
            <a:r>
              <a:rPr lang="ko-KR" altLang="en-US" dirty="0"/>
              <a:t>메모리</a:t>
            </a:r>
            <a:r>
              <a:rPr lang="en-US" altLang="ko-KR" dirty="0"/>
              <a:t>&lt;-&gt;</a:t>
            </a:r>
            <a:r>
              <a:rPr lang="ko-KR" altLang="en-US" dirty="0"/>
              <a:t>메모리</a:t>
            </a:r>
            <a:r>
              <a:rPr lang="en-US" altLang="ko-KR" dirty="0"/>
              <a:t>, I/O &lt;-&gt; </a:t>
            </a:r>
            <a:r>
              <a:rPr lang="ko-KR" altLang="en-US" dirty="0"/>
              <a:t>메모리 로 데이터를 이동 가능</a:t>
            </a:r>
            <a:endParaRPr lang="en-US" altLang="ko-KR" dirty="0"/>
          </a:p>
          <a:p>
            <a:pPr lvl="1"/>
            <a:r>
              <a:rPr lang="ko-KR" altLang="en-US" dirty="0"/>
              <a:t>흐름제어 </a:t>
            </a:r>
            <a:r>
              <a:rPr lang="en-US" altLang="ko-KR" dirty="0"/>
              <a:t>: </a:t>
            </a:r>
            <a:r>
              <a:rPr lang="ko-KR" altLang="en-US" dirty="0"/>
              <a:t>프로그램의 실행 흐름을 제어</a:t>
            </a:r>
            <a:r>
              <a:rPr lang="en-US" altLang="ko-KR" dirty="0"/>
              <a:t>. </a:t>
            </a:r>
            <a:r>
              <a:rPr lang="ko-KR" altLang="en-US" dirty="0"/>
              <a:t>명령어들은 순차적으로 시행되나 조건문과 같은 제어문을 통해 실행순서 변경 가능</a:t>
            </a:r>
            <a:endParaRPr lang="en-US" altLang="ko-KR" dirty="0"/>
          </a:p>
          <a:p>
            <a:r>
              <a:rPr lang="en-US" altLang="ko-KR" dirty="0"/>
              <a:t>CPU</a:t>
            </a:r>
            <a:r>
              <a:rPr lang="ko-KR" altLang="en-US" dirty="0"/>
              <a:t>의 구조</a:t>
            </a:r>
            <a:endParaRPr lang="en-US" altLang="ko-KR" dirty="0"/>
          </a:p>
          <a:p>
            <a:pPr lvl="1"/>
            <a:r>
              <a:rPr lang="ko-KR" altLang="en-US" dirty="0"/>
              <a:t>컨트롤 유닛 </a:t>
            </a:r>
            <a:r>
              <a:rPr lang="en-US" altLang="ko-KR" dirty="0"/>
              <a:t>: </a:t>
            </a:r>
            <a:r>
              <a:rPr lang="ko-KR" altLang="en-US" dirty="0"/>
              <a:t>명령어</a:t>
            </a:r>
            <a:r>
              <a:rPr lang="en-US" altLang="ko-KR" dirty="0"/>
              <a:t>(</a:t>
            </a:r>
            <a:r>
              <a:rPr lang="ko-KR" altLang="en-US" dirty="0"/>
              <a:t>기계어</a:t>
            </a:r>
            <a:r>
              <a:rPr lang="en-US" altLang="ko-KR" dirty="0"/>
              <a:t>)</a:t>
            </a:r>
            <a:r>
              <a:rPr lang="ko-KR" altLang="en-US" dirty="0"/>
              <a:t>를 읽고 해석 후</a:t>
            </a:r>
            <a:r>
              <a:rPr lang="en-US" altLang="ko-KR" dirty="0"/>
              <a:t> ALU, </a:t>
            </a:r>
            <a:r>
              <a:rPr lang="ko-KR" altLang="en-US" dirty="0"/>
              <a:t>레지스터에게 명령</a:t>
            </a:r>
            <a:endParaRPr lang="en-US" altLang="ko-KR" dirty="0"/>
          </a:p>
          <a:p>
            <a:pPr lvl="1"/>
            <a:r>
              <a:rPr lang="ko-KR" altLang="en-US" dirty="0"/>
              <a:t>산술 논리 연산 장치</a:t>
            </a:r>
            <a:r>
              <a:rPr lang="en-US" altLang="ko-KR" dirty="0"/>
              <a:t>(ALU) : </a:t>
            </a:r>
            <a:r>
              <a:rPr lang="ko-KR" altLang="en-US" dirty="0"/>
              <a:t>데이터의 연산을 수행</a:t>
            </a:r>
            <a:r>
              <a:rPr lang="en-US" altLang="ko-KR" dirty="0"/>
              <a:t>. </a:t>
            </a:r>
            <a:r>
              <a:rPr lang="ko-KR" altLang="en-US" dirty="0"/>
              <a:t>산술연산</a:t>
            </a:r>
            <a:r>
              <a:rPr lang="en-US" altLang="ko-KR" dirty="0"/>
              <a:t> + </a:t>
            </a:r>
            <a:r>
              <a:rPr lang="ko-KR" altLang="en-US" dirty="0"/>
              <a:t>논리연산 수행</a:t>
            </a:r>
            <a:r>
              <a:rPr lang="en-US" altLang="ko-KR" dirty="0"/>
              <a:t>. </a:t>
            </a:r>
            <a:r>
              <a:rPr lang="ko-KR" altLang="en-US" dirty="0"/>
              <a:t>결과값을 레지스터에 저장</a:t>
            </a:r>
            <a:endParaRPr lang="en-US" altLang="ko-KR" dirty="0"/>
          </a:p>
          <a:p>
            <a:pPr lvl="1"/>
            <a:r>
              <a:rPr lang="ko-KR" altLang="en-US" dirty="0"/>
              <a:t>레지스터 </a:t>
            </a:r>
            <a:r>
              <a:rPr lang="en-US" altLang="ko-KR" dirty="0"/>
              <a:t>: CPU </a:t>
            </a:r>
            <a:r>
              <a:rPr lang="ko-KR" altLang="en-US" dirty="0"/>
              <a:t>내부의 고속 저장장치</a:t>
            </a:r>
            <a:r>
              <a:rPr lang="en-US" altLang="ko-KR" dirty="0"/>
              <a:t>; </a:t>
            </a:r>
            <a:r>
              <a:rPr lang="ko-KR" altLang="en-US" dirty="0"/>
              <a:t>명령과 데이터를 임시저장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프로그램 카운터</a:t>
            </a:r>
            <a:r>
              <a:rPr lang="en-US" altLang="ko-KR" dirty="0"/>
              <a:t>(PC) : </a:t>
            </a:r>
            <a:r>
              <a:rPr lang="ko-KR" altLang="en-US" dirty="0"/>
              <a:t>다음에 실행할 명령어의 주소 저장</a:t>
            </a:r>
            <a:endParaRPr lang="en-US" altLang="ko-KR" dirty="0"/>
          </a:p>
          <a:p>
            <a:pPr lvl="2"/>
            <a:r>
              <a:rPr lang="ko-KR" altLang="en-US" dirty="0"/>
              <a:t>명령어 레지스터</a:t>
            </a:r>
            <a:r>
              <a:rPr lang="en-US" altLang="ko-KR" dirty="0"/>
              <a:t>(IR) : </a:t>
            </a:r>
            <a:r>
              <a:rPr lang="ko-KR" altLang="en-US" dirty="0"/>
              <a:t>현재 실행중인 명령어를 저장</a:t>
            </a:r>
            <a:endParaRPr lang="en-US" altLang="ko-KR" dirty="0"/>
          </a:p>
          <a:p>
            <a:pPr lvl="2"/>
            <a:r>
              <a:rPr lang="ko-KR" altLang="en-US" dirty="0"/>
              <a:t>메모리 주소 레지스터</a:t>
            </a:r>
            <a:r>
              <a:rPr lang="en-US" altLang="ko-KR" dirty="0"/>
              <a:t>(MAR)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메모리에 접근하기 위한 주소를 저장</a:t>
            </a:r>
            <a:endParaRPr lang="en-US" altLang="ko-KR" dirty="0"/>
          </a:p>
          <a:p>
            <a:pPr lvl="2"/>
            <a:r>
              <a:rPr lang="ko-KR" altLang="en-US" dirty="0"/>
              <a:t>메모리 버퍼 레지스터</a:t>
            </a:r>
            <a:r>
              <a:rPr lang="en-US" altLang="ko-KR" dirty="0"/>
              <a:t>(MBR) : </a:t>
            </a:r>
            <a:r>
              <a:rPr lang="ko-KR" altLang="en-US" dirty="0"/>
              <a:t>메모리에서 읽어온</a:t>
            </a:r>
            <a:r>
              <a:rPr lang="en-US" altLang="ko-KR" dirty="0"/>
              <a:t>/</a:t>
            </a:r>
            <a:r>
              <a:rPr lang="ko-KR" altLang="en-US" dirty="0"/>
              <a:t>쓸 데이터를 임시 저장</a:t>
            </a:r>
            <a:endParaRPr lang="en-US" altLang="ko-KR" dirty="0"/>
          </a:p>
          <a:p>
            <a:pPr lvl="2"/>
            <a:r>
              <a:rPr lang="en-US" altLang="ko-KR" dirty="0"/>
              <a:t>I/O address resister, I/O buffer resister</a:t>
            </a:r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DA2708-F7F6-6CE5-B4E2-1E18EF6E490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87C3727-A213-9DB2-3B19-A03FF472D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61D01C5-7E49-A4E7-1D45-59BFBCF7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컴퓨터의 구조와 </a:t>
            </a:r>
            <a:r>
              <a:rPr lang="en-US" altLang="ko-KR" dirty="0"/>
              <a:t>CPU </a:t>
            </a:r>
            <a:r>
              <a:rPr lang="ko-KR" altLang="en-US" dirty="0"/>
              <a:t>동작 과정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2805A8-1BAF-B837-92DD-0ABDFA016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3638F0-7555-4BFA-D9A7-D1EB069866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컴퓨터의 구조</a:t>
            </a:r>
            <a:endParaRPr lang="en-US" altLang="ko-KR" dirty="0"/>
          </a:p>
          <a:p>
            <a:pPr lvl="1"/>
            <a:r>
              <a:rPr lang="ko-KR" altLang="en-US" dirty="0"/>
              <a:t>중앙처리장치</a:t>
            </a:r>
            <a:r>
              <a:rPr lang="en-US" altLang="ko-KR" dirty="0"/>
              <a:t>(CPU) : </a:t>
            </a:r>
            <a:r>
              <a:rPr lang="ko-KR" altLang="en-US" dirty="0"/>
              <a:t>컴퓨터의 동작 제어</a:t>
            </a:r>
            <a:r>
              <a:rPr lang="en-US" altLang="ko-KR" dirty="0"/>
              <a:t>, </a:t>
            </a:r>
            <a:r>
              <a:rPr lang="ko-KR" altLang="en-US" dirty="0"/>
              <a:t>데이터 처리</a:t>
            </a:r>
            <a:endParaRPr lang="en-US" altLang="ko-KR" dirty="0"/>
          </a:p>
          <a:p>
            <a:pPr lvl="1"/>
            <a:r>
              <a:rPr lang="ko-KR" altLang="en-US" dirty="0"/>
              <a:t>메모리 </a:t>
            </a:r>
            <a:r>
              <a:rPr lang="en-US" altLang="ko-KR" dirty="0"/>
              <a:t>: </a:t>
            </a:r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와 명령어</a:t>
            </a:r>
            <a:r>
              <a:rPr lang="en-US" altLang="ko-KR" dirty="0"/>
              <a:t>)</a:t>
            </a:r>
            <a:r>
              <a:rPr lang="ko-KR" altLang="en-US" dirty="0"/>
              <a:t>를 저장</a:t>
            </a:r>
            <a:endParaRPr lang="en-US" altLang="ko-KR" dirty="0"/>
          </a:p>
          <a:p>
            <a:pPr lvl="1"/>
            <a:r>
              <a:rPr lang="en-US" altLang="ko-KR" dirty="0"/>
              <a:t>I/O : </a:t>
            </a:r>
            <a:r>
              <a:rPr lang="ko-KR" altLang="en-US" dirty="0" err="1"/>
              <a:t>입력모듈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출력모듈</a:t>
            </a:r>
            <a:endParaRPr lang="en-US" altLang="ko-KR" dirty="0"/>
          </a:p>
          <a:p>
            <a:pPr lvl="1"/>
            <a:r>
              <a:rPr lang="ko-KR" altLang="en-US" dirty="0"/>
              <a:t>시스템버스</a:t>
            </a:r>
            <a:r>
              <a:rPr lang="en-US" altLang="ko-KR" dirty="0"/>
              <a:t>(</a:t>
            </a:r>
            <a:r>
              <a:rPr lang="ko-KR" altLang="en-US" dirty="0"/>
              <a:t>시스템 상호 연결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주소버스 </a:t>
            </a:r>
            <a:r>
              <a:rPr lang="en-US" altLang="ko-KR" dirty="0"/>
              <a:t>: </a:t>
            </a:r>
            <a:r>
              <a:rPr lang="ko-KR" altLang="en-US" dirty="0"/>
              <a:t>메모리 주소를 지정하는데 사용</a:t>
            </a:r>
            <a:endParaRPr lang="en-US" altLang="ko-KR" dirty="0"/>
          </a:p>
          <a:p>
            <a:pPr lvl="2"/>
            <a:r>
              <a:rPr lang="ko-KR" altLang="en-US" dirty="0"/>
              <a:t>데이터버스 </a:t>
            </a:r>
            <a:r>
              <a:rPr lang="en-US" altLang="ko-KR" dirty="0"/>
              <a:t>: </a:t>
            </a:r>
            <a:r>
              <a:rPr lang="ko-KR" altLang="en-US" dirty="0"/>
              <a:t>데이터를 전송하는데 사용</a:t>
            </a:r>
            <a:endParaRPr lang="en-US" altLang="ko-KR" dirty="0"/>
          </a:p>
          <a:p>
            <a:pPr lvl="2"/>
            <a:r>
              <a:rPr lang="ko-KR" altLang="en-US" dirty="0"/>
              <a:t>제어버스 </a:t>
            </a:r>
            <a:r>
              <a:rPr lang="en-US" altLang="ko-KR" dirty="0"/>
              <a:t>: </a:t>
            </a:r>
            <a:r>
              <a:rPr lang="ko-KR" altLang="en-US" dirty="0"/>
              <a:t>제어신호를 전송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CPU: </a:t>
            </a:r>
            <a:r>
              <a:rPr lang="ko-KR" altLang="en-US" dirty="0"/>
              <a:t>명령어</a:t>
            </a:r>
            <a:r>
              <a:rPr lang="en-US" altLang="ko-KR" dirty="0"/>
              <a:t>, </a:t>
            </a:r>
            <a:r>
              <a:rPr lang="ko-KR" altLang="en-US" dirty="0"/>
              <a:t>데이터 읽음 </a:t>
            </a:r>
            <a:r>
              <a:rPr lang="en-US" altLang="ko-KR" dirty="0"/>
              <a:t>-&gt; CU : </a:t>
            </a:r>
            <a:r>
              <a:rPr lang="ko-KR" altLang="en-US" dirty="0"/>
              <a:t>명령어 해석 </a:t>
            </a:r>
            <a:r>
              <a:rPr lang="en-US" altLang="ko-KR" dirty="0"/>
              <a:t>-&gt; ALU : </a:t>
            </a:r>
            <a:r>
              <a:rPr lang="ko-KR" altLang="en-US" dirty="0"/>
              <a:t>데이터 처리 </a:t>
            </a:r>
            <a:r>
              <a:rPr lang="en-US" altLang="ko-KR" dirty="0"/>
              <a:t>-&gt; I/O or</a:t>
            </a:r>
            <a:r>
              <a:rPr lang="ko-KR" altLang="en-US" dirty="0"/>
              <a:t> 메모리로 전달</a:t>
            </a:r>
            <a:endParaRPr lang="en-US" altLang="ko-KR" dirty="0"/>
          </a:p>
          <a:p>
            <a:r>
              <a:rPr lang="en-US" altLang="ko-KR" dirty="0"/>
              <a:t>CPU</a:t>
            </a:r>
            <a:r>
              <a:rPr lang="ko-KR" altLang="en-US" dirty="0"/>
              <a:t> 동작 과정 </a:t>
            </a:r>
            <a:r>
              <a:rPr lang="en-US" altLang="ko-KR" dirty="0"/>
              <a:t>(</a:t>
            </a:r>
            <a:r>
              <a:rPr lang="ko-KR" altLang="en-US" dirty="0"/>
              <a:t>가상</a:t>
            </a:r>
            <a:r>
              <a:rPr lang="en-US" altLang="ko-KR" dirty="0"/>
              <a:t> CPU)</a:t>
            </a:r>
          </a:p>
          <a:p>
            <a:pPr lvl="1"/>
            <a:r>
              <a:rPr lang="en-US" altLang="ko-KR" dirty="0"/>
              <a:t>16</a:t>
            </a:r>
            <a:r>
              <a:rPr lang="ko-KR" altLang="en-US" dirty="0"/>
              <a:t>비트의 명령어</a:t>
            </a:r>
            <a:r>
              <a:rPr lang="en-US" altLang="ko-KR" dirty="0"/>
              <a:t>; </a:t>
            </a:r>
            <a:r>
              <a:rPr lang="ko-KR" altLang="en-US" dirty="0"/>
              <a:t>앞의 </a:t>
            </a:r>
            <a:r>
              <a:rPr lang="en-US" altLang="ko-KR" dirty="0"/>
              <a:t>4</a:t>
            </a:r>
            <a:r>
              <a:rPr lang="ko-KR" altLang="en-US" dirty="0"/>
              <a:t>비트는 명령어인 </a:t>
            </a:r>
            <a:r>
              <a:rPr lang="en-US" altLang="ko-KR" dirty="0"/>
              <a:t>OP</a:t>
            </a:r>
            <a:r>
              <a:rPr lang="ko-KR" altLang="en-US" dirty="0"/>
              <a:t>코드로 구성</a:t>
            </a:r>
            <a:r>
              <a:rPr lang="en-US" altLang="ko-KR" dirty="0"/>
              <a:t>. </a:t>
            </a:r>
            <a:r>
              <a:rPr lang="ko-KR" altLang="en-US" dirty="0"/>
              <a:t>나머지는 주소를 나타냄</a:t>
            </a:r>
            <a:endParaRPr lang="en-US" altLang="ko-KR" dirty="0"/>
          </a:p>
          <a:p>
            <a:pPr lvl="2"/>
            <a:r>
              <a:rPr lang="en-US" altLang="ko-KR" dirty="0"/>
              <a:t>OP</a:t>
            </a:r>
            <a:r>
              <a:rPr lang="ko-KR" altLang="en-US" dirty="0"/>
              <a:t>코드 </a:t>
            </a:r>
            <a:r>
              <a:rPr lang="en-US" altLang="ko-KR" dirty="0"/>
              <a:t>: 0001 -&gt; load, 0010 -&gt; store, 0101 -&gt; add</a:t>
            </a:r>
            <a:r>
              <a:rPr lang="ko-KR" altLang="en-US" dirty="0"/>
              <a:t>라고 하자</a:t>
            </a:r>
            <a:endParaRPr lang="en-US" altLang="ko-KR" dirty="0"/>
          </a:p>
          <a:p>
            <a:pPr lvl="2"/>
            <a:r>
              <a:rPr lang="en-US" altLang="ko-KR" dirty="0"/>
              <a:t>AC : CPU</a:t>
            </a:r>
            <a:r>
              <a:rPr lang="ko-KR" altLang="en-US" dirty="0"/>
              <a:t>코어 내의 레지스터</a:t>
            </a:r>
            <a:endParaRPr lang="en-US" altLang="ko-KR" dirty="0"/>
          </a:p>
          <a:p>
            <a:pPr lvl="1"/>
            <a:r>
              <a:rPr lang="en-US" altLang="ko-KR" dirty="0"/>
              <a:t>1. Fetch : PC</a:t>
            </a:r>
            <a:r>
              <a:rPr lang="ko-KR" altLang="en-US" dirty="0"/>
              <a:t>가 가리키는 메모리 주소에서 명령어를 읽어 </a:t>
            </a:r>
            <a:r>
              <a:rPr lang="en-US" altLang="ko-KR" dirty="0"/>
              <a:t>IR</a:t>
            </a:r>
            <a:r>
              <a:rPr lang="ko-KR" altLang="en-US" dirty="0"/>
              <a:t>에 저장하는 과정</a:t>
            </a:r>
            <a:endParaRPr lang="en-US" altLang="ko-KR" dirty="0"/>
          </a:p>
          <a:p>
            <a:pPr lvl="2"/>
            <a:r>
              <a:rPr lang="en-US" altLang="ko-KR" dirty="0"/>
              <a:t>PC</a:t>
            </a:r>
            <a:r>
              <a:rPr lang="ko-KR" altLang="en-US" dirty="0"/>
              <a:t>가 가리키는 메모리 주소</a:t>
            </a:r>
            <a:r>
              <a:rPr lang="en-US" altLang="ko-KR" dirty="0"/>
              <a:t>(ex) 300</a:t>
            </a:r>
            <a:r>
              <a:rPr lang="ko-KR" altLang="en-US" dirty="0"/>
              <a:t>번지</a:t>
            </a:r>
            <a:r>
              <a:rPr lang="en-US" altLang="ko-KR" dirty="0"/>
              <a:t>)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명령어가 읽혀 나옴</a:t>
            </a:r>
            <a:endParaRPr lang="en-US" altLang="ko-KR" dirty="0"/>
          </a:p>
          <a:p>
            <a:pPr lvl="2"/>
            <a:r>
              <a:rPr lang="ko-KR" altLang="en-US" dirty="0"/>
              <a:t>읽힌 명령어는 </a:t>
            </a:r>
            <a:r>
              <a:rPr lang="en-US" altLang="ko-KR" dirty="0"/>
              <a:t>CPU </a:t>
            </a:r>
            <a:r>
              <a:rPr lang="ko-KR" altLang="en-US" dirty="0"/>
              <a:t>내부의 </a:t>
            </a:r>
            <a:r>
              <a:rPr lang="en-US" altLang="ko-KR" dirty="0"/>
              <a:t>IR</a:t>
            </a:r>
            <a:r>
              <a:rPr lang="ko-KR" altLang="en-US" dirty="0"/>
              <a:t>에 저장</a:t>
            </a:r>
            <a:r>
              <a:rPr lang="en-US" altLang="ko-KR" dirty="0"/>
              <a:t>(ex) 1940)</a:t>
            </a:r>
          </a:p>
          <a:p>
            <a:pPr lvl="1"/>
            <a:r>
              <a:rPr lang="en-US" altLang="ko-KR" dirty="0"/>
              <a:t>2. Decode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IR</a:t>
            </a:r>
            <a:r>
              <a:rPr lang="ko-KR" altLang="en-US" dirty="0"/>
              <a:t>의 명령어를 </a:t>
            </a:r>
            <a:r>
              <a:rPr lang="en-US" altLang="ko-KR" dirty="0"/>
              <a:t>CPU</a:t>
            </a:r>
            <a:r>
              <a:rPr lang="ko-KR" altLang="en-US" dirty="0"/>
              <a:t>의 컨트롤 유닛이 해석</a:t>
            </a:r>
            <a:r>
              <a:rPr lang="en-US" altLang="ko-KR" dirty="0"/>
              <a:t>, </a:t>
            </a:r>
            <a:r>
              <a:rPr lang="ko-KR" altLang="en-US" dirty="0"/>
              <a:t>가상 </a:t>
            </a:r>
            <a:r>
              <a:rPr lang="en-US" altLang="ko-KR" dirty="0"/>
              <a:t>CPU</a:t>
            </a:r>
            <a:r>
              <a:rPr lang="ko-KR" altLang="en-US" dirty="0"/>
              <a:t>에서는 </a:t>
            </a:r>
            <a:r>
              <a:rPr lang="en-US" altLang="ko-KR" dirty="0"/>
              <a:t>OP</a:t>
            </a:r>
            <a:r>
              <a:rPr lang="ko-KR" altLang="en-US" dirty="0"/>
              <a:t>코드를 분석해 어떤 연산을 수행하는지 결정 </a:t>
            </a:r>
            <a:r>
              <a:rPr lang="en-US" altLang="ko-KR" dirty="0"/>
              <a:t>ex) 1 = LOAD</a:t>
            </a:r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실행 </a:t>
            </a:r>
            <a:r>
              <a:rPr lang="en-US" altLang="ko-KR" dirty="0"/>
              <a:t>: CPU</a:t>
            </a:r>
            <a:r>
              <a:rPr lang="ko-KR" altLang="en-US" dirty="0"/>
              <a:t>의 </a:t>
            </a:r>
            <a:r>
              <a:rPr lang="ko-KR" altLang="en-US" dirty="0" err="1"/>
              <a:t>실행유닛의</a:t>
            </a:r>
            <a:r>
              <a:rPr lang="ko-KR" altLang="en-US" dirty="0"/>
              <a:t> </a:t>
            </a:r>
            <a:r>
              <a:rPr lang="en-US" altLang="ko-KR" dirty="0"/>
              <a:t>ALU</a:t>
            </a:r>
            <a:r>
              <a:rPr lang="ko-KR" altLang="en-US" dirty="0"/>
              <a:t>를 사용해 수행</a:t>
            </a:r>
            <a:r>
              <a:rPr lang="en-US" altLang="ko-KR" dirty="0"/>
              <a:t>. </a:t>
            </a:r>
            <a:r>
              <a:rPr lang="ko-KR" altLang="en-US" dirty="0"/>
              <a:t>데이터와 관련된 연산인 경우 </a:t>
            </a:r>
            <a:r>
              <a:rPr lang="en-US" altLang="ko-KR" dirty="0"/>
              <a:t>OP</a:t>
            </a:r>
            <a:r>
              <a:rPr lang="ko-KR" altLang="en-US" dirty="0"/>
              <a:t>코드 외에 </a:t>
            </a:r>
            <a:r>
              <a:rPr lang="en-US" altLang="ko-KR" dirty="0" err="1"/>
              <a:t>adress</a:t>
            </a:r>
            <a:r>
              <a:rPr lang="ko-KR" altLang="en-US" dirty="0"/>
              <a:t>를 사용해 메모리 주소를 지정</a:t>
            </a:r>
            <a:r>
              <a:rPr lang="en-US" altLang="ko-KR" dirty="0"/>
              <a:t>/ </a:t>
            </a:r>
            <a:r>
              <a:rPr lang="ko-KR" altLang="en-US" dirty="0"/>
              <a:t>레지스터를 지정</a:t>
            </a:r>
            <a:endParaRPr lang="en-US" altLang="ko-KR" dirty="0"/>
          </a:p>
          <a:p>
            <a:pPr lvl="2"/>
            <a:r>
              <a:rPr lang="en-US" altLang="ko-KR" dirty="0"/>
              <a:t>1940 : 940</a:t>
            </a:r>
            <a:r>
              <a:rPr lang="ko-KR" altLang="en-US" dirty="0"/>
              <a:t>번지 메모리 데이터를 읽어 </a:t>
            </a:r>
            <a:r>
              <a:rPr lang="en-US" altLang="ko-KR" dirty="0"/>
              <a:t>AC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1"/>
            <a:r>
              <a:rPr lang="en-US" altLang="ko-KR" dirty="0"/>
              <a:t>4. </a:t>
            </a:r>
            <a:r>
              <a:rPr lang="ko-KR" altLang="en-US" dirty="0"/>
              <a:t>다음 </a:t>
            </a:r>
            <a:r>
              <a:rPr lang="en-US" altLang="ko-KR" dirty="0"/>
              <a:t>Fetch </a:t>
            </a:r>
            <a:r>
              <a:rPr lang="ko-KR" altLang="en-US" dirty="0"/>
              <a:t>준비 </a:t>
            </a:r>
            <a:r>
              <a:rPr lang="en-US" altLang="ko-KR" dirty="0"/>
              <a:t>: </a:t>
            </a:r>
            <a:r>
              <a:rPr lang="ko-KR" altLang="en-US" dirty="0"/>
              <a:t>다음 명령어를 준비하기 위해 </a:t>
            </a:r>
            <a:r>
              <a:rPr lang="en-US" altLang="ko-KR" dirty="0"/>
              <a:t>PC</a:t>
            </a:r>
            <a:r>
              <a:rPr lang="ko-KR" altLang="en-US" dirty="0"/>
              <a:t>값을 업데이트 </a:t>
            </a:r>
            <a:r>
              <a:rPr lang="en-US" altLang="ko-KR" dirty="0"/>
              <a:t>ex) 300 -&gt; 301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9561DF-9CA2-C381-29F0-99F68C01222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15">
            <a:extLst>
              <a:ext uri="{FF2B5EF4-FFF2-40B4-BE49-F238E27FC236}">
                <a16:creationId xmlns:a16="http://schemas.microsoft.com/office/drawing/2014/main" id="{28BDE05F-9AC1-5F66-1AAD-308D31FB7B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3075" y="5745084"/>
            <a:ext cx="2547188" cy="2376268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254812F5-0F85-3179-7DAF-C76FBFBED8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2776" y="6063710"/>
            <a:ext cx="2766743" cy="201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5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CCD1ABA-B6FF-B948-E94B-6F59754C8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AED36C-578F-5E86-B805-CC35FDF4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CPU </a:t>
            </a:r>
            <a:r>
              <a:rPr lang="ko-KR" altLang="en-US" dirty="0"/>
              <a:t>내부 구조</a:t>
            </a:r>
            <a:r>
              <a:rPr lang="en-US" altLang="ko-KR" dirty="0"/>
              <a:t>, ISA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FA6F15-8BB0-8FBC-9237-F8B8EEABA4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22259CD-FA8F-0119-811A-AE414937C5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CPU </a:t>
            </a:r>
            <a:r>
              <a:rPr lang="ko-KR" altLang="en-US" dirty="0"/>
              <a:t>내부 구조</a:t>
            </a:r>
            <a:endParaRPr lang="en-US" altLang="ko-KR" dirty="0"/>
          </a:p>
          <a:p>
            <a:pPr lvl="1"/>
            <a:r>
              <a:rPr lang="en-US" altLang="ko-KR" dirty="0"/>
              <a:t>ALU : </a:t>
            </a:r>
            <a:r>
              <a:rPr lang="ko-KR" altLang="en-US" dirty="0"/>
              <a:t>산술연산 </a:t>
            </a:r>
            <a:r>
              <a:rPr lang="en-US" altLang="ko-KR" dirty="0"/>
              <a:t>+ </a:t>
            </a:r>
            <a:r>
              <a:rPr lang="ko-KR" altLang="en-US" dirty="0"/>
              <a:t>논리연산을</a:t>
            </a:r>
            <a:br>
              <a:rPr lang="en-US" altLang="ko-KR" dirty="0"/>
            </a:br>
            <a:r>
              <a:rPr lang="ko-KR" altLang="en-US" dirty="0"/>
              <a:t> 수행</a:t>
            </a:r>
            <a:r>
              <a:rPr lang="en-US" altLang="ko-KR" dirty="0"/>
              <a:t>; OP</a:t>
            </a:r>
            <a:r>
              <a:rPr lang="ko-KR" altLang="en-US" dirty="0"/>
              <a:t>코드라는 신호에 </a:t>
            </a:r>
            <a:br>
              <a:rPr lang="en-US" altLang="ko-KR" dirty="0"/>
            </a:br>
            <a:r>
              <a:rPr lang="ko-KR" altLang="en-US" dirty="0"/>
              <a:t>의해 연산을 결정</a:t>
            </a:r>
            <a:endParaRPr lang="en-US" altLang="ko-KR" dirty="0"/>
          </a:p>
          <a:p>
            <a:pPr lvl="2"/>
            <a:r>
              <a:rPr lang="ko-KR" altLang="en-US" dirty="0"/>
              <a:t>뺄셈은 </a:t>
            </a:r>
            <a:r>
              <a:rPr lang="en-US" altLang="ko-KR" dirty="0"/>
              <a:t>2</a:t>
            </a:r>
            <a:r>
              <a:rPr lang="ko-KR" altLang="en-US" dirty="0"/>
              <a:t>의 보수 방식으로 </a:t>
            </a:r>
            <a:br>
              <a:rPr lang="en-US" altLang="ko-KR" dirty="0"/>
            </a:br>
            <a:r>
              <a:rPr lang="ko-KR" altLang="en-US" dirty="0"/>
              <a:t>덧셈으로 처리</a:t>
            </a:r>
            <a:endParaRPr lang="en-US" altLang="ko-KR" dirty="0"/>
          </a:p>
          <a:p>
            <a:pPr lvl="2"/>
            <a:r>
              <a:rPr lang="en-US" altLang="ko-KR" dirty="0"/>
              <a:t>ALU</a:t>
            </a:r>
            <a:r>
              <a:rPr lang="ko-KR" altLang="en-US" dirty="0"/>
              <a:t>의 출력은 </a:t>
            </a:r>
            <a:r>
              <a:rPr lang="ko-KR" altLang="en-US" dirty="0" err="1"/>
              <a:t>멀티플렉서</a:t>
            </a:r>
            <a:br>
              <a:rPr lang="en-US" altLang="ko-KR" dirty="0"/>
            </a:br>
            <a:r>
              <a:rPr lang="en-US" altLang="ko-KR" dirty="0"/>
              <a:t>(MUX)</a:t>
            </a:r>
            <a:r>
              <a:rPr lang="ko-KR" altLang="en-US" dirty="0"/>
              <a:t>를 통해 외부로 전달</a:t>
            </a:r>
            <a:endParaRPr lang="en-US" altLang="ko-KR" dirty="0"/>
          </a:p>
          <a:p>
            <a:pPr lvl="2"/>
            <a:r>
              <a:rPr lang="ko-KR" altLang="en-US" dirty="0"/>
              <a:t>곱셈</a:t>
            </a:r>
            <a:r>
              <a:rPr lang="en-US" altLang="ko-KR" dirty="0"/>
              <a:t>/</a:t>
            </a:r>
            <a:r>
              <a:rPr lang="ko-KR" altLang="en-US" dirty="0"/>
              <a:t>나눗셈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 err="1">
                <a:sym typeface="Wingdings" panose="05000000000000000000" pitchFamily="2" charset="2"/>
              </a:rPr>
              <a:t>시프터로</a:t>
            </a:r>
            <a:endParaRPr lang="en-US" altLang="ko-KR" dirty="0"/>
          </a:p>
          <a:p>
            <a:pPr marL="392112" lvl="2" indent="0">
              <a:buNone/>
            </a:pPr>
            <a:r>
              <a:rPr lang="ko-KR" altLang="en-US" dirty="0"/>
              <a:t>구현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레지스터 세트 </a:t>
            </a:r>
            <a:r>
              <a:rPr lang="en-US" altLang="ko-KR" dirty="0"/>
              <a:t>: CPU </a:t>
            </a:r>
            <a:r>
              <a:rPr lang="ko-KR" altLang="en-US" dirty="0"/>
              <a:t>내부의 임시 저장</a:t>
            </a:r>
            <a:r>
              <a:rPr lang="en-US" altLang="ko-KR" dirty="0"/>
              <a:t>. ALU</a:t>
            </a:r>
            <a:r>
              <a:rPr lang="ko-KR" altLang="en-US" dirty="0"/>
              <a:t>가 필요한 데이터나 연산 결과 보관</a:t>
            </a:r>
            <a:endParaRPr lang="en-US" altLang="ko-KR" dirty="0"/>
          </a:p>
          <a:p>
            <a:pPr lvl="2"/>
            <a:r>
              <a:rPr lang="ko-KR" altLang="en-US" dirty="0"/>
              <a:t>레지스터 파일 </a:t>
            </a:r>
            <a:r>
              <a:rPr lang="en-US" altLang="ko-KR" dirty="0"/>
              <a:t>: </a:t>
            </a:r>
            <a:r>
              <a:rPr lang="ko-KR" altLang="en-US" dirty="0"/>
              <a:t>사용자가 직접 접근 가능</a:t>
            </a:r>
            <a:r>
              <a:rPr lang="en-US" altLang="ko-KR" dirty="0"/>
              <a:t>;</a:t>
            </a:r>
          </a:p>
          <a:p>
            <a:pPr lvl="2"/>
            <a:r>
              <a:rPr lang="ko-KR" altLang="en-US" dirty="0"/>
              <a:t>접근 불가 특수목적 레지스터 </a:t>
            </a:r>
            <a:r>
              <a:rPr lang="en-US" altLang="ko-KR" dirty="0"/>
              <a:t>: PC, IR, MAR, MBR</a:t>
            </a:r>
          </a:p>
          <a:p>
            <a:pPr lvl="2"/>
            <a:r>
              <a:rPr lang="ko-KR" altLang="en-US" dirty="0"/>
              <a:t>컴파일러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변수들을 레지스터에 할당</a:t>
            </a:r>
            <a:endParaRPr lang="en-US" altLang="ko-KR" dirty="0"/>
          </a:p>
          <a:p>
            <a:pPr lvl="1"/>
            <a:r>
              <a:rPr lang="en-US" altLang="ko-KR" dirty="0"/>
              <a:t>Control</a:t>
            </a:r>
            <a:r>
              <a:rPr lang="ko-KR" altLang="en-US" dirty="0"/>
              <a:t> </a:t>
            </a:r>
            <a:r>
              <a:rPr lang="en-US" altLang="ko-KR" dirty="0"/>
              <a:t>unit : IR</a:t>
            </a:r>
            <a:r>
              <a:rPr lang="ko-KR" altLang="en-US" dirty="0"/>
              <a:t>에 저장된 명령 해석</a:t>
            </a:r>
            <a:r>
              <a:rPr lang="en-US" altLang="ko-KR" dirty="0"/>
              <a:t>. </a:t>
            </a:r>
            <a:r>
              <a:rPr lang="ko-KR" altLang="en-US" dirty="0"/>
              <a:t>그 결과를 </a:t>
            </a:r>
            <a:r>
              <a:rPr lang="en-US" altLang="ko-KR" dirty="0"/>
              <a:t>CPU </a:t>
            </a:r>
            <a:r>
              <a:rPr lang="ko-KR" altLang="en-US" dirty="0"/>
              <a:t>내부의</a:t>
            </a:r>
            <a:r>
              <a:rPr lang="en-US" altLang="ko-KR" dirty="0"/>
              <a:t> </a:t>
            </a:r>
            <a:r>
              <a:rPr lang="ko-KR" altLang="en-US" dirty="0"/>
              <a:t>요소를 제어하는 제어신호 생성</a:t>
            </a:r>
            <a:endParaRPr lang="en-US" altLang="ko-KR" dirty="0"/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내부 버스 </a:t>
            </a:r>
            <a:r>
              <a:rPr lang="en-US" altLang="ko-KR" dirty="0"/>
              <a:t>: address bus, data bus</a:t>
            </a:r>
            <a:r>
              <a:rPr lang="ko-KR" altLang="en-US" dirty="0"/>
              <a:t>등으로 나뉨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Next </a:t>
            </a:r>
            <a:r>
              <a:rPr lang="en-US" altLang="ko-KR" dirty="0" err="1"/>
              <a:t>addr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다음 주소를 만드는 곳</a:t>
            </a:r>
            <a:r>
              <a:rPr lang="en-US" altLang="ko-KR" dirty="0">
                <a:sym typeface="Wingdings" panose="05000000000000000000" pitchFamily="2" charset="2"/>
              </a:rPr>
              <a:t>; PC</a:t>
            </a:r>
            <a:r>
              <a:rPr lang="ko-KR" altLang="en-US" dirty="0">
                <a:sym typeface="Wingdings" panose="05000000000000000000" pitchFamily="2" charset="2"/>
              </a:rPr>
              <a:t>값을 </a:t>
            </a:r>
            <a:r>
              <a:rPr lang="en-US" altLang="ko-KR" dirty="0">
                <a:sym typeface="Wingdings" panose="05000000000000000000" pitchFamily="2" charset="2"/>
              </a:rPr>
              <a:t>1 </a:t>
            </a:r>
            <a:r>
              <a:rPr lang="ko-KR" altLang="en-US" dirty="0">
                <a:sym typeface="Wingdings" panose="05000000000000000000" pitchFamily="2" charset="2"/>
              </a:rPr>
              <a:t>증가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/>
              <a:t>Cache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외부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메모리 내용을 임시로 저장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/>
              <a:t>Reg file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레지스터 파일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레지스터 세트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ISA(Instruction Set Architecture; </a:t>
            </a:r>
            <a:r>
              <a:rPr lang="ko-KR" altLang="en-US" dirty="0">
                <a:sym typeface="Wingdings" panose="05000000000000000000" pitchFamily="2" charset="2"/>
              </a:rPr>
              <a:t>명령어 집합구조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특정 </a:t>
            </a:r>
            <a:r>
              <a:rPr lang="en-US" altLang="ko-KR" dirty="0">
                <a:sym typeface="Wingdings" panose="05000000000000000000" pitchFamily="2" charset="2"/>
              </a:rPr>
              <a:t>CPU</a:t>
            </a:r>
            <a:r>
              <a:rPr lang="ko-KR" altLang="en-US" dirty="0">
                <a:sym typeface="Wingdings" panose="05000000000000000000" pitchFamily="2" charset="2"/>
              </a:rPr>
              <a:t>가 이해하고 실행할 수 있는 명령어의 집합</a:t>
            </a:r>
            <a:r>
              <a:rPr lang="en-US" altLang="ko-KR" dirty="0">
                <a:sym typeface="Wingdings" panose="05000000000000000000" pitchFamily="2" charset="2"/>
              </a:rPr>
              <a:t> -&gt; </a:t>
            </a:r>
            <a:r>
              <a:rPr lang="ko-KR" altLang="en-US" dirty="0">
                <a:sym typeface="Wingdings" panose="05000000000000000000" pitchFamily="2" charset="2"/>
              </a:rPr>
              <a:t>컴퓨터 시스템 설계 </a:t>
            </a:r>
            <a:r>
              <a:rPr lang="ko-KR" altLang="en-US" dirty="0" err="1">
                <a:sym typeface="Wingdings" panose="05000000000000000000" pitchFamily="2" charset="2"/>
              </a:rPr>
              <a:t>첫단계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RISC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명령어의 개수를 줄이고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각 명령어를 빠르게 실행</a:t>
            </a:r>
            <a:r>
              <a:rPr lang="en-US" altLang="ko-KR" dirty="0">
                <a:sym typeface="Wingdings" panose="05000000000000000000" pitchFamily="2" charset="2"/>
              </a:rPr>
              <a:t>. Hardwired </a:t>
            </a:r>
            <a:r>
              <a:rPr lang="ko-KR" altLang="en-US" dirty="0">
                <a:sym typeface="Wingdings" panose="05000000000000000000" pitchFamily="2" charset="2"/>
              </a:rPr>
              <a:t>방식 구현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CISC : </a:t>
            </a:r>
            <a:r>
              <a:rPr lang="ko-KR" altLang="en-US" dirty="0">
                <a:sym typeface="Wingdings" panose="05000000000000000000" pitchFamily="2" charset="2"/>
              </a:rPr>
              <a:t>다양하고 복잡한 명령어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마이크로프로그래밍 방식으로 구현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5DFFCC-CAC0-AA3C-0B1D-C84083A6956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95" name="그림 194">
            <a:extLst>
              <a:ext uri="{FF2B5EF4-FFF2-40B4-BE49-F238E27FC236}">
                <a16:creationId xmlns:a16="http://schemas.microsoft.com/office/drawing/2014/main" id="{330AD718-1CFA-B960-6721-15508CF9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72" y="4520952"/>
            <a:ext cx="3528392" cy="1981781"/>
          </a:xfrm>
          <a:prstGeom prst="rect">
            <a:avLst/>
          </a:prstGeom>
        </p:spPr>
      </p:pic>
      <p:pic>
        <p:nvPicPr>
          <p:cNvPr id="506" name="그림 505">
            <a:extLst>
              <a:ext uri="{FF2B5EF4-FFF2-40B4-BE49-F238E27FC236}">
                <a16:creationId xmlns:a16="http://schemas.microsoft.com/office/drawing/2014/main" id="{F3E14624-DF06-A76B-702A-7FF166A33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860" y="560512"/>
            <a:ext cx="3384375" cy="247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2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8B2B22A-3C54-5E9A-8EB9-AFC690F9B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B5557D-3124-5A3A-05C1-8D1EBE90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CPU </a:t>
            </a:r>
            <a:r>
              <a:rPr lang="ko-KR" altLang="en-US" dirty="0"/>
              <a:t>내부 구조</a:t>
            </a:r>
            <a:r>
              <a:rPr lang="en-US" altLang="ko-KR" dirty="0"/>
              <a:t>, ISA(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8564C3-E659-2D2F-8DFA-E5B67DED30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53A78B-AF16-7D1B-6EFF-45666351E2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어드레싱</a:t>
            </a:r>
            <a:r>
              <a:rPr lang="ko-KR" altLang="en-US" dirty="0"/>
              <a:t> 모드</a:t>
            </a:r>
            <a:endParaRPr lang="en-US" altLang="ko-KR" dirty="0"/>
          </a:p>
          <a:p>
            <a:pPr lvl="1"/>
            <a:r>
              <a:rPr lang="ko-KR" altLang="en-US" dirty="0"/>
              <a:t>명령어에서 피연산자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위치를 지정하는 방법</a:t>
            </a:r>
            <a:endParaRPr lang="en-US" altLang="ko-KR" dirty="0"/>
          </a:p>
          <a:p>
            <a:pPr lvl="2"/>
            <a:r>
              <a:rPr lang="en-US" altLang="ko-KR" dirty="0"/>
              <a:t>Immediate Mode : </a:t>
            </a:r>
            <a:br>
              <a:rPr lang="en-US" altLang="ko-KR" dirty="0"/>
            </a:br>
            <a:r>
              <a:rPr lang="ko-KR" altLang="en-US" dirty="0"/>
              <a:t>명령어 내에 실제 데이터 포함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ADD ACC, #1234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Register Mode : </a:t>
            </a:r>
            <a:r>
              <a:rPr lang="ko-KR" altLang="en-US" dirty="0">
                <a:sym typeface="Wingdings" panose="05000000000000000000" pitchFamily="2" charset="2"/>
              </a:rPr>
              <a:t>명령어 내에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데이터가 저장된 레지스터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번호가 포함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ADD R0, R1, R2</a:t>
            </a:r>
          </a:p>
          <a:p>
            <a:pPr lvl="2"/>
            <a:r>
              <a:rPr lang="en-US" altLang="ko-KR" dirty="0"/>
              <a:t>Direct Mode : </a:t>
            </a:r>
            <a:br>
              <a:rPr lang="en-US" altLang="ko-KR" dirty="0"/>
            </a:br>
            <a:r>
              <a:rPr lang="ko-KR" altLang="en-US" dirty="0"/>
              <a:t>명령어</a:t>
            </a:r>
            <a:r>
              <a:rPr lang="en-US" altLang="ko-KR" dirty="0"/>
              <a:t> </a:t>
            </a:r>
            <a:r>
              <a:rPr lang="ko-KR" altLang="en-US" dirty="0"/>
              <a:t>내에 데이터가 저장된 </a:t>
            </a:r>
            <a:br>
              <a:rPr lang="en-US" altLang="ko-KR" dirty="0"/>
            </a:br>
            <a:r>
              <a:rPr lang="ko-KR" altLang="en-US" dirty="0"/>
              <a:t>메모리의 실제 주소 포함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LOAD ACC, 900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Register Indirect Mode : </a:t>
            </a:r>
            <a:r>
              <a:rPr lang="ko-KR" altLang="en-US" dirty="0">
                <a:sym typeface="Wingdings" panose="05000000000000000000" pitchFamily="2" charset="2"/>
              </a:rPr>
              <a:t>명령어에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메모리 주소가 저장된 레지스터의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번호가 포함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LOAD ACC, (R0)</a:t>
            </a: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Register Indirect Mode with Index :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레지스터에 저장된 </a:t>
            </a:r>
            <a:r>
              <a:rPr lang="ko-KR" altLang="en-US" dirty="0" err="1">
                <a:sym typeface="Wingdings" panose="05000000000000000000" pitchFamily="2" charset="2"/>
              </a:rPr>
              <a:t>주소값에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명렁어에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포함된 </a:t>
            </a:r>
            <a:r>
              <a:rPr lang="ko-KR" altLang="en-US" dirty="0" err="1">
                <a:sym typeface="Wingdings" panose="05000000000000000000" pitchFamily="2" charset="2"/>
              </a:rPr>
              <a:t>오프셋값을</a:t>
            </a:r>
            <a:r>
              <a:rPr lang="ko-KR" altLang="en-US" dirty="0">
                <a:sym typeface="Wingdings" panose="05000000000000000000" pitchFamily="2" charset="2"/>
              </a:rPr>
              <a:t> 더해 실제 메모리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주소를 계산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Register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with Displacement</a:t>
            </a:r>
            <a:r>
              <a:rPr lang="ko-KR" altLang="en-US" dirty="0">
                <a:sym typeface="Wingdings" panose="05000000000000000000" pitchFamily="2" charset="2"/>
              </a:rPr>
              <a:t>라고도 함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LOAD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ACC, 500(R3)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Memory Indirect Mode : </a:t>
            </a:r>
            <a:r>
              <a:rPr lang="ko-KR" altLang="en-US" dirty="0">
                <a:sym typeface="Wingdings" panose="05000000000000000000" pitchFamily="2" charset="2"/>
              </a:rPr>
              <a:t>명령어의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메모리 주소에 실제 데이터의 주소가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저장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LOAD ACC, @900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Implicit Addressing mode : </a:t>
            </a:r>
            <a:r>
              <a:rPr lang="ko-KR" altLang="en-US" dirty="0">
                <a:sym typeface="Wingdings" panose="05000000000000000000" pitchFamily="2" charset="2"/>
              </a:rPr>
              <a:t>명령어 수행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에 필요한 데이터 위치가 미리 지정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Control Unit </a:t>
            </a:r>
            <a:r>
              <a:rPr lang="ko-KR" altLang="en-US" dirty="0"/>
              <a:t>구현 방식</a:t>
            </a:r>
            <a:endParaRPr lang="en-US" altLang="ko-KR" dirty="0"/>
          </a:p>
          <a:p>
            <a:pPr lvl="1"/>
            <a:r>
              <a:rPr lang="en-US" altLang="ko-KR" dirty="0"/>
              <a:t>Hardwired </a:t>
            </a:r>
            <a:r>
              <a:rPr lang="ko-KR" altLang="en-US" dirty="0"/>
              <a:t>방식 </a:t>
            </a:r>
            <a:r>
              <a:rPr lang="en-US" altLang="ko-KR" dirty="0"/>
              <a:t>: </a:t>
            </a:r>
            <a:r>
              <a:rPr lang="ko-KR" altLang="en-US" dirty="0"/>
              <a:t>제어신호</a:t>
            </a:r>
            <a:r>
              <a:rPr lang="en-US" altLang="ko-KR" dirty="0"/>
              <a:t> </a:t>
            </a:r>
            <a:r>
              <a:rPr lang="ko-KR" altLang="en-US" dirty="0"/>
              <a:t>생성 로직을 하드웨어 회로로 구현</a:t>
            </a:r>
            <a:r>
              <a:rPr lang="en-US" altLang="ko-KR" dirty="0"/>
              <a:t>, </a:t>
            </a:r>
            <a:r>
              <a:rPr lang="ko-KR" altLang="en-US" dirty="0"/>
              <a:t>복잡하지만 속도 빠름</a:t>
            </a:r>
            <a:r>
              <a:rPr lang="en-US" altLang="ko-KR" dirty="0"/>
              <a:t>. RISC</a:t>
            </a:r>
            <a:r>
              <a:rPr lang="ko-KR" altLang="en-US" dirty="0"/>
              <a:t>에서 채용</a:t>
            </a:r>
            <a:endParaRPr lang="en-US" altLang="ko-KR" dirty="0"/>
          </a:p>
          <a:p>
            <a:pPr lvl="1"/>
            <a:r>
              <a:rPr lang="en-US" altLang="ko-KR" dirty="0"/>
              <a:t>Microprogrammed </a:t>
            </a:r>
            <a:r>
              <a:rPr lang="ko-KR" altLang="en-US" dirty="0"/>
              <a:t>방식 </a:t>
            </a:r>
            <a:r>
              <a:rPr lang="en-US" altLang="ko-KR" dirty="0"/>
              <a:t>: </a:t>
            </a:r>
            <a:r>
              <a:rPr lang="ko-KR" altLang="en-US" dirty="0"/>
              <a:t>제어 신호들을 </a:t>
            </a:r>
            <a:r>
              <a:rPr lang="ko-KR" altLang="en-US" dirty="0" err="1"/>
              <a:t>마이크로프로그램으로</a:t>
            </a:r>
            <a:r>
              <a:rPr lang="ko-KR" altLang="en-US" dirty="0"/>
              <a:t> </a:t>
            </a:r>
            <a:r>
              <a:rPr lang="en-US" altLang="ko-KR" dirty="0"/>
              <a:t>ROM</a:t>
            </a:r>
            <a:r>
              <a:rPr lang="ko-KR" altLang="en-US" dirty="0"/>
              <a:t>에 저장</a:t>
            </a:r>
            <a:r>
              <a:rPr lang="en-US" altLang="ko-KR" dirty="0"/>
              <a:t>. </a:t>
            </a:r>
            <a:r>
              <a:rPr lang="ko-KR" altLang="en-US" dirty="0"/>
              <a:t>이를 실행해 제어 신호 생성</a:t>
            </a:r>
            <a:r>
              <a:rPr lang="en-US" altLang="ko-KR" dirty="0"/>
              <a:t>. </a:t>
            </a:r>
            <a:r>
              <a:rPr lang="ko-KR" altLang="en-US" dirty="0"/>
              <a:t>유연성이 높지만 속도가 느림</a:t>
            </a:r>
            <a:r>
              <a:rPr lang="en-US" altLang="ko-KR" dirty="0"/>
              <a:t>, CISC</a:t>
            </a:r>
            <a:r>
              <a:rPr lang="ko-KR" altLang="en-US" dirty="0"/>
              <a:t>에서 채용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6F36B2-B363-5548-C79F-5B9DE724240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object 20">
            <a:extLst>
              <a:ext uri="{FF2B5EF4-FFF2-40B4-BE49-F238E27FC236}">
                <a16:creationId xmlns:a16="http://schemas.microsoft.com/office/drawing/2014/main" id="{8DCDB5B3-CBD5-ABA8-7EEC-5244424A92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6548" y="2288705"/>
            <a:ext cx="2016224" cy="504056"/>
          </a:xfrm>
          <a:prstGeom prst="rect">
            <a:avLst/>
          </a:prstGeom>
        </p:spPr>
      </p:pic>
      <p:pic>
        <p:nvPicPr>
          <p:cNvPr id="8" name="object 26">
            <a:extLst>
              <a:ext uri="{FF2B5EF4-FFF2-40B4-BE49-F238E27FC236}">
                <a16:creationId xmlns:a16="http://schemas.microsoft.com/office/drawing/2014/main" id="{EDEB154F-69EB-666A-752B-5C20196765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6548" y="1569069"/>
            <a:ext cx="1872208" cy="647628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ACFE1007-A072-81E5-2713-78640B1CEF2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2113" y="3926301"/>
            <a:ext cx="2463505" cy="111116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B339748-1BCD-A8A9-E02A-031E122D4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088" y="2926350"/>
            <a:ext cx="2205774" cy="999951"/>
          </a:xfrm>
          <a:prstGeom prst="rect">
            <a:avLst/>
          </a:prstGeom>
        </p:spPr>
      </p:pic>
      <p:pic>
        <p:nvPicPr>
          <p:cNvPr id="23" name="object 8">
            <a:extLst>
              <a:ext uri="{FF2B5EF4-FFF2-40B4-BE49-F238E27FC236}">
                <a16:creationId xmlns:a16="http://schemas.microsoft.com/office/drawing/2014/main" id="{719D2F1F-2F07-06EE-BE25-F70D66E6D4B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69938" y="5038885"/>
            <a:ext cx="2164622" cy="778211"/>
          </a:xfrm>
          <a:prstGeom prst="rect">
            <a:avLst/>
          </a:prstGeom>
        </p:spPr>
      </p:pic>
      <p:pic>
        <p:nvPicPr>
          <p:cNvPr id="24" name="object 12">
            <a:extLst>
              <a:ext uri="{FF2B5EF4-FFF2-40B4-BE49-F238E27FC236}">
                <a16:creationId xmlns:a16="http://schemas.microsoft.com/office/drawing/2014/main" id="{93870DEB-22F1-95D8-8504-00FD8A53164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4606" y="1177540"/>
            <a:ext cx="1600618" cy="17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2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513673D-60D0-F61B-966A-A3AFAFE2C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272876B-5847-7906-F361-A7899288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Flow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7B6D1A-67C8-54FC-4650-F6B26D502B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DE785E-91BB-728B-A4C0-C00AC64760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오퍼랜드 시스템</a:t>
            </a:r>
            <a:endParaRPr lang="en-US" altLang="ko-KR" dirty="0"/>
          </a:p>
          <a:p>
            <a:pPr lvl="1"/>
            <a:r>
              <a:rPr lang="ko-KR" altLang="en-US" dirty="0"/>
              <a:t>명령어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연산의 대상이 되는 데이터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오퍼랜드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가질 수 있음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오퍼랜드는 </a:t>
            </a:r>
            <a:r>
              <a:rPr lang="en-US" altLang="ko-KR" dirty="0">
                <a:sym typeface="Wingdings" panose="05000000000000000000" pitchFamily="2" charset="2"/>
              </a:rPr>
              <a:t>source</a:t>
            </a:r>
            <a:r>
              <a:rPr lang="ko-KR" altLang="en-US" dirty="0">
                <a:sym typeface="Wingdings" panose="05000000000000000000" pitchFamily="2" charset="2"/>
              </a:rPr>
              <a:t>와 </a:t>
            </a:r>
            <a:r>
              <a:rPr lang="en-US" altLang="ko-KR" dirty="0">
                <a:sym typeface="Wingdings" panose="05000000000000000000" pitchFamily="2" charset="2"/>
              </a:rPr>
              <a:t>destination</a:t>
            </a:r>
            <a:r>
              <a:rPr lang="ko-KR" altLang="en-US" dirty="0">
                <a:sym typeface="Wingdings" panose="05000000000000000000" pitchFamily="2" charset="2"/>
              </a:rPr>
              <a:t>으로 구분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각각 원래 데이터가 </a:t>
            </a:r>
            <a:r>
              <a:rPr lang="ko-KR" altLang="en-US" dirty="0" err="1">
                <a:sym typeface="Wingdings" panose="05000000000000000000" pitchFamily="2" charset="2"/>
              </a:rPr>
              <a:t>있던곳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연산 결과가 저장될 곳임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3-operand system : </a:t>
            </a:r>
            <a:r>
              <a:rPr lang="ko-KR" altLang="en-US" dirty="0">
                <a:sym typeface="Wingdings" panose="05000000000000000000" pitchFamily="2" charset="2"/>
              </a:rPr>
              <a:t>명령어 하나에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개의 소스 오퍼랜드와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개의 목적지 오퍼랜드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2-operand sys -&gt; 2 </a:t>
            </a:r>
            <a:r>
              <a:rPr lang="ko-KR" altLang="en-US" dirty="0">
                <a:sym typeface="Wingdings" panose="05000000000000000000" pitchFamily="2" charset="2"/>
              </a:rPr>
              <a:t>소스 </a:t>
            </a:r>
            <a:r>
              <a:rPr lang="ko-KR" altLang="en-US" dirty="0" err="1">
                <a:sym typeface="Wingdings" panose="05000000000000000000" pitchFamily="2" charset="2"/>
              </a:rPr>
              <a:t>오퍼</a:t>
            </a:r>
            <a:r>
              <a:rPr lang="en-US" altLang="ko-KR" dirty="0">
                <a:sym typeface="Wingdings" panose="05000000000000000000" pitchFamily="2" charset="2"/>
              </a:rPr>
              <a:t>, 1 </a:t>
            </a:r>
            <a:r>
              <a:rPr lang="en-US" altLang="ko-KR" dirty="0" err="1">
                <a:sym typeface="Wingdings" panose="05000000000000000000" pitchFamily="2" charset="2"/>
              </a:rPr>
              <a:t>dest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오퍼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1-operand sys -&gt; </a:t>
            </a:r>
            <a:r>
              <a:rPr lang="ko-KR" altLang="en-US" dirty="0">
                <a:sym typeface="Wingdings" panose="05000000000000000000" pitchFamily="2" charset="2"/>
              </a:rPr>
              <a:t>명령어 하나에 한 오퍼랜드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주로 소스</a:t>
            </a:r>
            <a:r>
              <a:rPr lang="en-US" altLang="ko-KR" dirty="0">
                <a:sym typeface="Wingdings" panose="05000000000000000000" pitchFamily="2" charset="2"/>
              </a:rPr>
              <a:t>), </a:t>
            </a:r>
            <a:r>
              <a:rPr lang="ko-KR" altLang="en-US" dirty="0">
                <a:sym typeface="Wingdings" panose="05000000000000000000" pitchFamily="2" charset="2"/>
              </a:rPr>
              <a:t>목적지는 </a:t>
            </a:r>
            <a:r>
              <a:rPr lang="en-US" altLang="ko-KR" dirty="0">
                <a:sym typeface="Wingdings" panose="05000000000000000000" pitchFamily="2" charset="2"/>
              </a:rPr>
              <a:t>ACC</a:t>
            </a:r>
            <a:r>
              <a:rPr lang="ko-KR" altLang="en-US" dirty="0">
                <a:sym typeface="Wingdings" panose="05000000000000000000" pitchFamily="2" charset="2"/>
              </a:rPr>
              <a:t>와 같이 묵시적으로 지정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CPU</a:t>
            </a:r>
            <a:r>
              <a:rPr lang="ko-KR" altLang="en-US" dirty="0">
                <a:sym typeface="Wingdings" panose="05000000000000000000" pitchFamily="2" charset="2"/>
              </a:rPr>
              <a:t> 내부 데이터 흐름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다음과 같은 아키텍처의 </a:t>
            </a:r>
            <a:r>
              <a:rPr lang="en-US" altLang="ko-KR" dirty="0">
                <a:sym typeface="Wingdings" panose="05000000000000000000" pitchFamily="2" charset="2"/>
              </a:rPr>
              <a:t>MU0 CPU</a:t>
            </a:r>
            <a:r>
              <a:rPr lang="ko-KR" altLang="en-US" dirty="0">
                <a:sym typeface="Wingdings" panose="05000000000000000000" pitchFamily="2" charset="2"/>
              </a:rPr>
              <a:t>가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있다고 가정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MU0</a:t>
            </a:r>
            <a:r>
              <a:rPr lang="ko-KR" altLang="en-US" dirty="0">
                <a:sym typeface="Wingdings" panose="05000000000000000000" pitchFamily="2" charset="2"/>
              </a:rPr>
              <a:t>는 그림과 같은 </a:t>
            </a:r>
            <a:r>
              <a:rPr lang="en-US" altLang="ko-KR" dirty="0">
                <a:sym typeface="Wingdings" panose="05000000000000000000" pitchFamily="2" charset="2"/>
              </a:rPr>
              <a:t>ISA</a:t>
            </a:r>
            <a:r>
              <a:rPr lang="ko-KR" altLang="en-US" dirty="0">
                <a:sym typeface="Wingdings" panose="05000000000000000000" pitchFamily="2" charset="2"/>
              </a:rPr>
              <a:t>를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또한 메모리 다이렉트 모드만 지원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1) Fetch : PC</a:t>
            </a:r>
            <a:r>
              <a:rPr lang="ko-KR" altLang="en-US" dirty="0">
                <a:sym typeface="Wingdings" panose="05000000000000000000" pitchFamily="2" charset="2"/>
              </a:rPr>
              <a:t>에서 메모리로 명령어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가 담긴 주소를 찾아 메모리에서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IR</a:t>
            </a:r>
            <a:r>
              <a:rPr lang="ko-KR" altLang="en-US" dirty="0">
                <a:sym typeface="Wingdings" panose="05000000000000000000" pitchFamily="2" charset="2"/>
              </a:rPr>
              <a:t>로 명령어를 로드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PC -&gt; add bus -&gt; mem -&gt;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data bus -&gt; IR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2) Instruction decode 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IR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OP</a:t>
            </a:r>
            <a:r>
              <a:rPr lang="ko-KR" altLang="en-US" dirty="0">
                <a:sym typeface="Wingdings" panose="05000000000000000000" pitchFamily="2" charset="2"/>
              </a:rPr>
              <a:t>코드를 분석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control unit</a:t>
            </a:r>
            <a:r>
              <a:rPr lang="ko-KR" altLang="en-US" dirty="0">
                <a:sym typeface="Wingdings" panose="05000000000000000000" pitchFamily="2" charset="2"/>
              </a:rPr>
              <a:t>에선 명령어에 맞는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신호 생성</a:t>
            </a:r>
            <a:r>
              <a:rPr lang="en-US" altLang="ko-KR" dirty="0">
                <a:sym typeface="Wingdings" panose="05000000000000000000" pitchFamily="2" charset="2"/>
              </a:rPr>
              <a:t>. PC</a:t>
            </a:r>
            <a:r>
              <a:rPr lang="ko-KR" altLang="en-US" dirty="0">
                <a:sym typeface="Wingdings" panose="05000000000000000000" pitchFamily="2" charset="2"/>
              </a:rPr>
              <a:t>값은 </a:t>
            </a:r>
            <a:r>
              <a:rPr lang="en-US" altLang="ko-KR" dirty="0">
                <a:sym typeface="Wingdings" panose="05000000000000000000" pitchFamily="2" charset="2"/>
              </a:rPr>
              <a:t>add bus</a:t>
            </a:r>
            <a:r>
              <a:rPr lang="ko-KR" altLang="en-US" dirty="0">
                <a:sym typeface="Wingdings" panose="05000000000000000000" pitchFamily="2" charset="2"/>
              </a:rPr>
              <a:t>를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통해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K</a:t>
            </a:r>
            <a:r>
              <a:rPr lang="ko-KR" altLang="en-US" dirty="0">
                <a:sym typeface="Wingdings" panose="05000000000000000000" pitchFamily="2" charset="2"/>
              </a:rPr>
              <a:t>값 혹은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만큼 증가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IR -&gt; CU -&gt; ALU/MEM/ACC …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PC -&gt; ALU -&gt; PC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3) Operand Fetch : IR</a:t>
            </a:r>
            <a:r>
              <a:rPr lang="ko-KR" altLang="en-US" dirty="0">
                <a:sym typeface="Wingdings" panose="05000000000000000000" pitchFamily="2" charset="2"/>
              </a:rPr>
              <a:t>에서 피연산자의 주소를 </a:t>
            </a:r>
            <a:r>
              <a:rPr lang="en-US" altLang="ko-KR" dirty="0">
                <a:sym typeface="Wingdings" panose="05000000000000000000" pitchFamily="2" charset="2"/>
              </a:rPr>
              <a:t>add bus</a:t>
            </a:r>
            <a:r>
              <a:rPr lang="ko-KR" altLang="en-US" dirty="0">
                <a:sym typeface="Wingdings" panose="05000000000000000000" pitchFamily="2" charset="2"/>
              </a:rPr>
              <a:t>로 메모리에 전달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피연산자의 주소가 </a:t>
            </a:r>
            <a:r>
              <a:rPr lang="en-US" altLang="ko-KR" dirty="0">
                <a:sym typeface="Wingdings" panose="05000000000000000000" pitchFamily="2" charset="2"/>
              </a:rPr>
              <a:t>data bus</a:t>
            </a:r>
            <a:r>
              <a:rPr lang="ko-KR" altLang="en-US" dirty="0">
                <a:sym typeface="Wingdings" panose="05000000000000000000" pitchFamily="2" charset="2"/>
              </a:rPr>
              <a:t>를 통해 </a:t>
            </a:r>
            <a:r>
              <a:rPr lang="en-US" altLang="ko-KR" dirty="0">
                <a:sym typeface="Wingdings" panose="05000000000000000000" pitchFamily="2" charset="2"/>
              </a:rPr>
              <a:t>ALU</a:t>
            </a:r>
            <a:r>
              <a:rPr lang="ko-KR" altLang="en-US" dirty="0">
                <a:sym typeface="Wingdings" panose="05000000000000000000" pitchFamily="2" charset="2"/>
              </a:rPr>
              <a:t>등에 로드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IR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MEM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data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bus -&gt; ALU -&gt; (ACC)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4) Execute Instruction : ALU</a:t>
            </a:r>
            <a:r>
              <a:rPr lang="ko-KR" altLang="en-US" dirty="0">
                <a:sym typeface="Wingdings" panose="05000000000000000000" pitchFamily="2" charset="2"/>
              </a:rPr>
              <a:t>에서 실제로 연산을 수행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그리고 그 결과를 </a:t>
            </a:r>
            <a:r>
              <a:rPr lang="en-US" altLang="ko-KR" dirty="0">
                <a:sym typeface="Wingdings" panose="05000000000000000000" pitchFamily="2" charset="2"/>
              </a:rPr>
              <a:t>ACC</a:t>
            </a:r>
            <a:r>
              <a:rPr lang="ko-KR" altLang="en-US" dirty="0">
                <a:sym typeface="Wingdings" panose="05000000000000000000" pitchFamily="2" charset="2"/>
              </a:rPr>
              <a:t>에 저장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ACC -&gt; ALU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ACC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5) write back: : IR</a:t>
            </a:r>
            <a:r>
              <a:rPr lang="ko-KR" altLang="en-US" dirty="0">
                <a:sym typeface="Wingdings" panose="05000000000000000000" pitchFamily="2" charset="2"/>
              </a:rPr>
              <a:t>에서 메모리로 저장할 주소를 전달</a:t>
            </a:r>
            <a:r>
              <a:rPr lang="en-US" altLang="ko-KR" dirty="0">
                <a:sym typeface="Wingdings" panose="05000000000000000000" pitchFamily="2" charset="2"/>
              </a:rPr>
              <a:t>, ACC</a:t>
            </a:r>
            <a:r>
              <a:rPr lang="ko-KR" altLang="en-US" dirty="0">
                <a:sym typeface="Wingdings" panose="05000000000000000000" pitchFamily="2" charset="2"/>
              </a:rPr>
              <a:t>에서 연산한 결과를 메모리에 저장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IR -&gt; MEM, ACC -&gt; MEM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4459F-FF8B-E9F5-D522-F7D8EB8986F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A42267-85D2-B1F3-D28E-C9EC40615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64" y="3702591"/>
            <a:ext cx="2636896" cy="1256374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503FF2EB-CF68-6679-4F8A-0397626855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5064" y="2462851"/>
            <a:ext cx="2636896" cy="1239740"/>
          </a:xfrm>
          <a:prstGeom prst="rect">
            <a:avLst/>
          </a:prstGeom>
        </p:spPr>
      </p:pic>
      <p:pic>
        <p:nvPicPr>
          <p:cNvPr id="10" name="object 14">
            <a:extLst>
              <a:ext uri="{FF2B5EF4-FFF2-40B4-BE49-F238E27FC236}">
                <a16:creationId xmlns:a16="http://schemas.microsoft.com/office/drawing/2014/main" id="{818B31B9-94C7-A735-FFA1-9F23F60FA55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4028" y="2133340"/>
            <a:ext cx="1858967" cy="29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7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0D07170-F71F-A3D7-855D-2D9E2FA20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A9EBF7D-BA92-9A3E-4176-252BFDC2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성능향상과 파이프라인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C83309-39FC-1027-562C-FCB8D48B17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04B9FE-5601-90DD-3001-1729053ADC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단일 사이클의 성능</a:t>
            </a:r>
            <a:endParaRPr lang="en-US" altLang="ko-KR" dirty="0"/>
          </a:p>
          <a:p>
            <a:pPr lvl="1"/>
            <a:r>
              <a:rPr lang="en-US" altLang="ko-KR" dirty="0"/>
              <a:t>Ins</a:t>
            </a:r>
            <a:r>
              <a:rPr lang="ko-KR" altLang="en-US" dirty="0"/>
              <a:t> </a:t>
            </a:r>
            <a:r>
              <a:rPr lang="en-US" altLang="ko-KR" dirty="0"/>
              <a:t>cache </a:t>
            </a:r>
            <a:r>
              <a:rPr lang="en-US" altLang="ko-KR" dirty="0">
                <a:sym typeface="Wingdings" panose="05000000000000000000" pitchFamily="2" charset="2"/>
              </a:rPr>
              <a:t>-&gt; 2ns,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ALU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OP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2ns, Res read -&gt; 1ns, Res write -&gt; 1ns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ADD r3, r2, r1 -&gt; 6ns, LOAD r5, r6 -&gt; 8ns, STOR (r6), r5 -&gt; 7ns;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각 명령어의 종류에 따라 이것이 성능에 미치는 영향을 가중평균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암달의</a:t>
            </a:r>
            <a:r>
              <a:rPr lang="ko-KR" altLang="en-US" dirty="0">
                <a:sym typeface="Wingdings" panose="05000000000000000000" pitchFamily="2" charset="2"/>
              </a:rPr>
              <a:t> 법칙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시스템 일부를 향상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전체 시스템 성능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3"/>
            <a:r>
              <a:rPr lang="en-US" altLang="ko-KR" dirty="0"/>
              <a:t>Speedup = 1 / ((1 - P) + (P / S)) (P: </a:t>
            </a:r>
            <a:r>
              <a:rPr lang="ko-KR" altLang="en-US" dirty="0"/>
              <a:t>향상되는 부분의 비율</a:t>
            </a:r>
            <a:r>
              <a:rPr lang="en-US" altLang="ko-KR" dirty="0"/>
              <a:t>, S: </a:t>
            </a:r>
            <a:r>
              <a:rPr lang="ko-KR" altLang="en-US" dirty="0"/>
              <a:t>그 부분의 성능 향상 배율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CPU</a:t>
            </a:r>
            <a:r>
              <a:rPr lang="ko-KR" altLang="en-US" dirty="0"/>
              <a:t>의 퍼포먼스</a:t>
            </a:r>
            <a:endParaRPr lang="en-US" altLang="ko-KR" dirty="0"/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바운드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시스템 성능이 </a:t>
            </a:r>
            <a:r>
              <a:rPr lang="en-US" altLang="ko-KR" dirty="0"/>
              <a:t>CPU</a:t>
            </a:r>
            <a:r>
              <a:rPr lang="ko-KR" altLang="en-US" dirty="0"/>
              <a:t>에 성능 때문에 제한</a:t>
            </a:r>
            <a:endParaRPr lang="en-US" altLang="ko-KR" dirty="0"/>
          </a:p>
          <a:p>
            <a:pPr lvl="1"/>
            <a:r>
              <a:rPr lang="en-US" altLang="ko-KR" dirty="0"/>
              <a:t>IO </a:t>
            </a:r>
            <a:r>
              <a:rPr lang="ko-KR" altLang="en-US" dirty="0"/>
              <a:t>바운드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시스템 성능이 입출력 장치 성능 때문에 제한</a:t>
            </a:r>
            <a:endParaRPr lang="en-US" altLang="ko-KR" dirty="0"/>
          </a:p>
          <a:p>
            <a:r>
              <a:rPr lang="en-US" altLang="ko-KR" dirty="0"/>
              <a:t>CPU </a:t>
            </a:r>
            <a:r>
              <a:rPr lang="ko-KR" altLang="en-US" dirty="0"/>
              <a:t>속도의 기본적인 방법들</a:t>
            </a:r>
            <a:endParaRPr lang="en-US" altLang="ko-KR" dirty="0"/>
          </a:p>
          <a:p>
            <a:pPr lvl="1"/>
            <a:r>
              <a:rPr lang="ko-KR" altLang="en-US" dirty="0" err="1"/>
              <a:t>클락</a:t>
            </a:r>
            <a:r>
              <a:rPr lang="ko-KR" altLang="en-US" dirty="0"/>
              <a:t> 증가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소재의 한계 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전압 감소 등의 문제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좋은 소재 사용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반도체 소자 성능을 향상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회로 설계 개선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많은 발전이 있어 개선 어려움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파이프라인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-&gt; ‘</a:t>
            </a:r>
            <a:r>
              <a:rPr lang="ko-KR" altLang="en-US" dirty="0">
                <a:sym typeface="Wingdings" panose="05000000000000000000" pitchFamily="2" charset="2"/>
              </a:rPr>
              <a:t>컴퓨터 구조</a:t>
            </a:r>
            <a:r>
              <a:rPr lang="en-US" altLang="ko-KR" dirty="0">
                <a:sym typeface="Wingdings" panose="05000000000000000000" pitchFamily="2" charset="2"/>
              </a:rPr>
              <a:t>’</a:t>
            </a:r>
            <a:r>
              <a:rPr lang="ko-KR" altLang="en-US" dirty="0">
                <a:sym typeface="Wingdings" panose="05000000000000000000" pitchFamily="2" charset="2"/>
              </a:rPr>
              <a:t>의 관점에서 속도 ↑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명령어 처리 과정을 여러 단계로 나눠 동시에 서로 다른 작업들이 처리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 err="1">
                <a:sym typeface="Wingdings" panose="05000000000000000000" pitchFamily="2" charset="2"/>
              </a:rPr>
              <a:t>병렬성</a:t>
            </a:r>
            <a:r>
              <a:rPr lang="ko-KR" altLang="en-US" dirty="0">
                <a:sym typeface="Wingdings" panose="05000000000000000000" pitchFamily="2" charset="2"/>
              </a:rPr>
              <a:t> 높임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학생증 만드는 과정에서 학생인증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사진찍기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계산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발급을 기다리지 않고 여러 사람이 동시에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파이프라인 </a:t>
            </a:r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단계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예시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en-US" altLang="ko-KR" dirty="0"/>
              <a:t>Fetch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Decode – Execute- Write</a:t>
            </a:r>
          </a:p>
          <a:p>
            <a:pPr lvl="2"/>
            <a:r>
              <a:rPr lang="ko-KR" altLang="en-US" dirty="0"/>
              <a:t>필요에 따라 더 세분화하거나 줄일 수 있음</a:t>
            </a:r>
            <a:r>
              <a:rPr lang="en-US" altLang="ko-KR" dirty="0"/>
              <a:t> : 5</a:t>
            </a:r>
            <a:r>
              <a:rPr lang="ko-KR" altLang="en-US" dirty="0"/>
              <a:t>단계</a:t>
            </a:r>
            <a:r>
              <a:rPr lang="en-US" altLang="ko-KR" dirty="0"/>
              <a:t>, 3</a:t>
            </a:r>
            <a:r>
              <a:rPr lang="ko-KR" altLang="en-US" dirty="0"/>
              <a:t>단계 등</a:t>
            </a:r>
            <a:endParaRPr lang="en-US" altLang="ko-KR" dirty="0"/>
          </a:p>
          <a:p>
            <a:pPr lvl="1"/>
            <a:r>
              <a:rPr lang="ko-KR" altLang="en-US" dirty="0"/>
              <a:t>파이프라인 유형</a:t>
            </a:r>
            <a:endParaRPr lang="en-US" altLang="ko-KR" dirty="0"/>
          </a:p>
          <a:p>
            <a:pPr lvl="2"/>
            <a:r>
              <a:rPr lang="en-US" altLang="ko-KR" dirty="0"/>
              <a:t>Pipeline</a:t>
            </a:r>
          </a:p>
          <a:p>
            <a:pPr lvl="2"/>
            <a:r>
              <a:rPr lang="en-US" altLang="ko-KR" dirty="0"/>
              <a:t>Super pipeline : </a:t>
            </a:r>
            <a:r>
              <a:rPr lang="ko-KR" altLang="en-US" dirty="0"/>
              <a:t>가장 오래 걸리는 단계를 여러 단계로 쪼갬</a:t>
            </a:r>
            <a:endParaRPr lang="en-US" altLang="ko-KR" dirty="0"/>
          </a:p>
          <a:p>
            <a:pPr lvl="2"/>
            <a:r>
              <a:rPr lang="en-US" altLang="ko-KR" dirty="0"/>
              <a:t>Super scalar : </a:t>
            </a:r>
            <a:r>
              <a:rPr lang="ko-KR" altLang="en-US" dirty="0"/>
              <a:t>다중 병렬 처리 과정</a:t>
            </a:r>
            <a:endParaRPr lang="en-US" altLang="ko-KR" dirty="0"/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-&gt; Super pipelined super scalar</a:t>
            </a:r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9B00E3-9F1A-5F26-2B52-43102E055A3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4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E6EBA2-4BD5-A94F-8343-09C58E990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DF78AD-6283-39AA-75CC-5434E1E3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단일</a:t>
            </a:r>
            <a:r>
              <a:rPr lang="en-US" altLang="ko-KR" dirty="0"/>
              <a:t> </a:t>
            </a:r>
            <a:r>
              <a:rPr lang="ko-KR" altLang="en-US" dirty="0"/>
              <a:t>파이프라인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E5B208-6AE4-FEA7-76A4-5BF7A52780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78B630-D6A9-C963-C0E5-1799B28920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Single pipelining</a:t>
            </a:r>
          </a:p>
          <a:p>
            <a:pPr lvl="1"/>
            <a:r>
              <a:rPr lang="ko-KR" altLang="en-US" dirty="0"/>
              <a:t>병렬처리를 위해 몇 개의 동작을 명령어 수행 중 각 단계를 한번만 중첩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 err="1"/>
              <a:t>클락에</a:t>
            </a:r>
            <a:r>
              <a:rPr lang="ko-KR" altLang="en-US" dirty="0"/>
              <a:t> </a:t>
            </a:r>
            <a:r>
              <a:rPr lang="en-US" altLang="ko-KR" dirty="0"/>
              <a:t>1Inst(1cycle)</a:t>
            </a:r>
            <a:r>
              <a:rPr lang="ko-KR" altLang="en-US" dirty="0"/>
              <a:t>만 처리한다고 가정</a:t>
            </a:r>
            <a:r>
              <a:rPr lang="en-US" altLang="ko-KR" dirty="0"/>
              <a:t>;</a:t>
            </a:r>
          </a:p>
          <a:p>
            <a:pPr lvl="2"/>
            <a:r>
              <a:rPr lang="en-US" altLang="ko-KR" dirty="0"/>
              <a:t>(FI-DI-EI-WB)</a:t>
            </a:r>
            <a:r>
              <a:rPr lang="ko-KR" altLang="en-US" dirty="0"/>
              <a:t>에서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Inst</a:t>
            </a:r>
            <a:r>
              <a:rPr lang="ko-KR" altLang="en-US" dirty="0"/>
              <a:t>를 실행하는데 필요한 시간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-&gt; 7 clerk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100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? -&gt; 103clerk, </a:t>
            </a:r>
            <a:r>
              <a:rPr lang="ko-KR" altLang="en-US" dirty="0">
                <a:sym typeface="Wingdings" panose="05000000000000000000" pitchFamily="2" charset="2"/>
              </a:rPr>
              <a:t>성능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향상 </a:t>
            </a:r>
            <a:r>
              <a:rPr lang="en-US" altLang="ko-KR" dirty="0">
                <a:sym typeface="Wingdings" panose="05000000000000000000" pitchFamily="2" charset="2"/>
              </a:rPr>
              <a:t>= 103/400 = </a:t>
            </a:r>
            <a:r>
              <a:rPr lang="ko-KR" altLang="en-US" dirty="0">
                <a:sym typeface="Wingdings" panose="05000000000000000000" pitchFamily="2" charset="2"/>
              </a:rPr>
              <a:t>약 </a:t>
            </a:r>
            <a:r>
              <a:rPr lang="en-US" altLang="ko-KR" dirty="0">
                <a:sym typeface="Wingdings" panose="05000000000000000000" pitchFamily="2" charset="2"/>
              </a:rPr>
              <a:t>25% </a:t>
            </a:r>
            <a:r>
              <a:rPr lang="ko-KR" altLang="en-US" dirty="0">
                <a:sym typeface="Wingdings" panose="05000000000000000000" pitchFamily="2" charset="2"/>
              </a:rPr>
              <a:t>향상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1000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? -&gt; 1003clerk, </a:t>
            </a:r>
            <a:r>
              <a:rPr lang="ko-KR" altLang="en-US" dirty="0">
                <a:sym typeface="Wingdings" panose="05000000000000000000" pitchFamily="2" charset="2"/>
              </a:rPr>
              <a:t>성능향상 </a:t>
            </a:r>
            <a:r>
              <a:rPr lang="en-US" altLang="ko-KR" dirty="0">
                <a:sym typeface="Wingdings" panose="05000000000000000000" pitchFamily="2" charset="2"/>
              </a:rPr>
              <a:t>= 1003/4000 = </a:t>
            </a:r>
            <a:r>
              <a:rPr lang="ko-KR" altLang="en-US" dirty="0">
                <a:sym typeface="Wingdings" panose="05000000000000000000" pitchFamily="2" charset="2"/>
              </a:rPr>
              <a:t>약 </a:t>
            </a:r>
            <a:r>
              <a:rPr lang="en-US" altLang="ko-KR" dirty="0">
                <a:sym typeface="Wingdings" panose="05000000000000000000" pitchFamily="2" charset="2"/>
              </a:rPr>
              <a:t>25% </a:t>
            </a:r>
            <a:r>
              <a:rPr lang="ko-KR" altLang="en-US" dirty="0">
                <a:sym typeface="Wingdings" panose="05000000000000000000" pitchFamily="2" charset="2"/>
              </a:rPr>
              <a:t>향상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명령어에 따라 </a:t>
            </a:r>
            <a:r>
              <a:rPr lang="en-US" altLang="ko-KR" dirty="0"/>
              <a:t>cycle </a:t>
            </a:r>
            <a:r>
              <a:rPr lang="ko-KR" altLang="en-US" dirty="0"/>
              <a:t>차이</a:t>
            </a:r>
            <a:r>
              <a:rPr lang="en-US" altLang="ko-KR" dirty="0"/>
              <a:t>; but,</a:t>
            </a:r>
            <a:r>
              <a:rPr lang="ko-KR" altLang="en-US" dirty="0"/>
              <a:t> 파이프라인에선 건너 뛸 수 없음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반찬 안 먹고 싶어도 단계를 건너 뛸 수 없음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파이프라인의 문제점</a:t>
            </a:r>
            <a:endParaRPr lang="en-US" altLang="ko-KR" dirty="0"/>
          </a:p>
          <a:p>
            <a:pPr lvl="1"/>
            <a:r>
              <a:rPr lang="en-US" altLang="ko-KR" dirty="0"/>
              <a:t>structure hazard</a:t>
            </a:r>
          </a:p>
          <a:p>
            <a:pPr lvl="2"/>
            <a:r>
              <a:rPr lang="en-US" altLang="ko-KR" dirty="0"/>
              <a:t>FI, EI </a:t>
            </a:r>
            <a:r>
              <a:rPr lang="ko-KR" altLang="en-US" dirty="0"/>
              <a:t>단계가 동시에 기억장치를 사용할 경우 기억장치 충돌에 따른 지연시간</a:t>
            </a:r>
            <a:endParaRPr lang="en-US" altLang="ko-KR" dirty="0"/>
          </a:p>
          <a:p>
            <a:pPr lvl="3"/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bus,</a:t>
            </a:r>
            <a:r>
              <a:rPr lang="ko-KR" altLang="en-US" dirty="0"/>
              <a:t> </a:t>
            </a:r>
            <a:r>
              <a:rPr lang="en-US" altLang="ko-KR" dirty="0"/>
              <a:t>address</a:t>
            </a:r>
            <a:r>
              <a:rPr lang="ko-KR" altLang="en-US" dirty="0"/>
              <a:t> </a:t>
            </a:r>
            <a:r>
              <a:rPr lang="en-US" altLang="ko-KR" dirty="0"/>
              <a:t>bus</a:t>
            </a:r>
            <a:r>
              <a:rPr lang="ko-KR" altLang="en-US" dirty="0"/>
              <a:t>가 하나밖에 없어서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address/data bus</a:t>
            </a:r>
            <a:r>
              <a:rPr lang="ko-KR" altLang="en-US" dirty="0">
                <a:sym typeface="Wingdings" panose="05000000000000000000" pitchFamily="2" charset="2"/>
              </a:rPr>
              <a:t>를 서로 분리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하버드 아키텍처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392112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Data hazard</a:t>
            </a:r>
          </a:p>
          <a:p>
            <a:pPr lvl="2"/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forward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그림의 </a:t>
            </a:r>
            <a:r>
              <a:rPr lang="en-US" altLang="ko-KR" dirty="0"/>
              <a:t>$8 = $8 + $6 </a:t>
            </a:r>
            <a:r>
              <a:rPr lang="ko-KR" altLang="en-US" dirty="0"/>
              <a:t>이후 </a:t>
            </a:r>
            <a:r>
              <a:rPr lang="en-US" altLang="ko-KR" dirty="0"/>
              <a:t>$9 = $8 + $2 </a:t>
            </a:r>
            <a:r>
              <a:rPr lang="ko-KR" altLang="en-US" dirty="0"/>
              <a:t>에서 </a:t>
            </a:r>
            <a:r>
              <a:rPr lang="en-US" altLang="ko-KR" dirty="0"/>
              <a:t>8</a:t>
            </a:r>
            <a:r>
              <a:rPr lang="ko-KR" altLang="en-US" dirty="0"/>
              <a:t>번 레지스터를 불러올 때</a:t>
            </a:r>
            <a:r>
              <a:rPr lang="en-US" altLang="ko-KR" dirty="0"/>
              <a:t>, 8</a:t>
            </a:r>
            <a:r>
              <a:rPr lang="ko-KR" altLang="en-US" dirty="0"/>
              <a:t>번 레지는 아직 위의 명령어에 의해 갱신되기 이전의 시점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Data forward</a:t>
            </a:r>
            <a:r>
              <a:rPr lang="ko-KR" altLang="en-US" dirty="0">
                <a:sym typeface="Wingdings" panose="05000000000000000000" pitchFamily="2" charset="2"/>
              </a:rPr>
              <a:t>를 통해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위쪽 빨간 화살표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레지스터에 쓰는 것과 병행해서 </a:t>
            </a:r>
            <a:r>
              <a:rPr lang="en-US" altLang="ko-KR" dirty="0">
                <a:sym typeface="Wingdings" panose="05000000000000000000" pitchFamily="2" charset="2"/>
              </a:rPr>
              <a:t>ALU</a:t>
            </a:r>
            <a:r>
              <a:rPr lang="ko-KR" altLang="en-US" dirty="0">
                <a:sym typeface="Wingdings" panose="05000000000000000000" pitchFamily="2" charset="2"/>
              </a:rPr>
              <a:t>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데이터 공급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Instruction reordering :</a:t>
            </a:r>
            <a:br>
              <a:rPr lang="en-US" altLang="ko-KR" dirty="0"/>
            </a:br>
            <a:r>
              <a:rPr lang="ko-KR" altLang="en-US" dirty="0"/>
              <a:t>오른쪽 코드에서 </a:t>
            </a:r>
            <a:r>
              <a:rPr lang="en-US" altLang="ko-KR" dirty="0"/>
              <a:t>c = c + 1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 err="1"/>
              <a:t>번째와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번째 줄 사이에 끼워 넣으면 </a:t>
            </a:r>
            <a:br>
              <a:rPr lang="en-US" altLang="ko-KR" dirty="0"/>
            </a:br>
            <a:r>
              <a:rPr lang="en-US" altLang="ko-KR" dirty="0"/>
              <a:t>data hazard </a:t>
            </a:r>
            <a:r>
              <a:rPr lang="ko-KR" altLang="en-US" dirty="0"/>
              <a:t>일어나지 않음</a:t>
            </a:r>
            <a:r>
              <a:rPr lang="en-US" altLang="ko-KR" dirty="0"/>
              <a:t>; </a:t>
            </a:r>
            <a:r>
              <a:rPr lang="en-US" altLang="ko-KR" dirty="0">
                <a:sym typeface="Wingdings" panose="05000000000000000000" pitchFamily="2" charset="2"/>
              </a:rPr>
              <a:t>-&gt; data forward </a:t>
            </a:r>
            <a:r>
              <a:rPr lang="ko-KR" altLang="en-US" dirty="0">
                <a:sym typeface="Wingdings" panose="05000000000000000000" pitchFamily="2" charset="2"/>
              </a:rPr>
              <a:t>없이 해결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누가</a:t>
            </a:r>
            <a:r>
              <a:rPr lang="en-US" altLang="ko-KR" dirty="0">
                <a:sym typeface="Wingdings" panose="05000000000000000000" pitchFamily="2" charset="2"/>
              </a:rPr>
              <a:t>? </a:t>
            </a:r>
            <a:r>
              <a:rPr lang="ko-KR" altLang="en-US" dirty="0">
                <a:sym typeface="Wingdings" panose="05000000000000000000" pitchFamily="2" charset="2"/>
              </a:rPr>
              <a:t>컴파일러가 해결</a:t>
            </a:r>
            <a:endParaRPr lang="en-US" altLang="ko-KR" dirty="0"/>
          </a:p>
          <a:p>
            <a:pPr lvl="2"/>
            <a:r>
              <a:rPr lang="en-US" altLang="ko-KR" dirty="0"/>
              <a:t> Data hazard </a:t>
            </a:r>
            <a:r>
              <a:rPr lang="ko-KR" altLang="en-US" dirty="0"/>
              <a:t>해결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1) software </a:t>
            </a:r>
            <a:r>
              <a:rPr lang="en-US" altLang="ko-KR" dirty="0">
                <a:sym typeface="Wingdings" panose="05000000000000000000" pitchFamily="2" charset="2"/>
              </a:rPr>
              <a:t>-&gt; Instruction reordering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2) hardware -&gt; Data forward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3) </a:t>
            </a:r>
            <a:r>
              <a:rPr lang="ko-KR" altLang="en-US" dirty="0">
                <a:sym typeface="Wingdings" panose="05000000000000000000" pitchFamily="2" charset="2"/>
              </a:rPr>
              <a:t>아무 일도 안 하는 </a:t>
            </a:r>
            <a:r>
              <a:rPr lang="en-US" altLang="ko-KR" dirty="0">
                <a:sym typeface="Wingdings" panose="05000000000000000000" pitchFamily="2" charset="2"/>
              </a:rPr>
              <a:t>clerk (bubble) </a:t>
            </a:r>
            <a:r>
              <a:rPr lang="ko-KR" altLang="en-US" dirty="0">
                <a:sym typeface="Wingdings" panose="05000000000000000000" pitchFamily="2" charset="2"/>
              </a:rPr>
              <a:t>추가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5134A9-4DD5-8F01-942F-B091A85BA19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71" name="그림 970">
            <a:extLst>
              <a:ext uri="{FF2B5EF4-FFF2-40B4-BE49-F238E27FC236}">
                <a16:creationId xmlns:a16="http://schemas.microsoft.com/office/drawing/2014/main" id="{7D2207DB-5ADA-94DE-1008-7DD73DC3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91"/>
          <a:stretch/>
        </p:blipFill>
        <p:spPr>
          <a:xfrm>
            <a:off x="1700808" y="3238184"/>
            <a:ext cx="4524124" cy="1930840"/>
          </a:xfrm>
          <a:prstGeom prst="rect">
            <a:avLst/>
          </a:prstGeom>
        </p:spPr>
      </p:pic>
      <p:sp>
        <p:nvSpPr>
          <p:cNvPr id="973" name="타원 972">
            <a:extLst>
              <a:ext uri="{FF2B5EF4-FFF2-40B4-BE49-F238E27FC236}">
                <a16:creationId xmlns:a16="http://schemas.microsoft.com/office/drawing/2014/main" id="{4EF59985-38F1-F129-8CD9-0776A11C61E7}"/>
              </a:ext>
            </a:extLst>
          </p:cNvPr>
          <p:cNvSpPr/>
          <p:nvPr/>
        </p:nvSpPr>
        <p:spPr>
          <a:xfrm>
            <a:off x="4879123" y="3944888"/>
            <a:ext cx="371660" cy="4040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0C980D63-8EE0-DFBD-BB2A-9329CE9E4BAC}"/>
              </a:ext>
            </a:extLst>
          </p:cNvPr>
          <p:cNvSpPr txBox="1"/>
          <p:nvPr/>
        </p:nvSpPr>
        <p:spPr>
          <a:xfrm>
            <a:off x="4873490" y="3563291"/>
            <a:ext cx="7429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$8</a:t>
            </a:r>
            <a:r>
              <a:rPr lang="ko-KR" altLang="en-US" sz="700" dirty="0"/>
              <a:t>이 </a:t>
            </a:r>
            <a:br>
              <a:rPr lang="en-US" altLang="ko-KR" sz="700" dirty="0"/>
            </a:br>
            <a:r>
              <a:rPr lang="ko-KR" altLang="en-US" sz="700" dirty="0"/>
              <a:t>갱신되는 </a:t>
            </a:r>
            <a:br>
              <a:rPr lang="en-US" altLang="ko-KR" sz="700" dirty="0"/>
            </a:br>
            <a:r>
              <a:rPr lang="ko-KR" altLang="en-US" sz="700" dirty="0"/>
              <a:t>시점</a:t>
            </a: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EB4ACE7B-C4FF-F018-1A9D-750EFFBE0230}"/>
              </a:ext>
            </a:extLst>
          </p:cNvPr>
          <p:cNvSpPr txBox="1"/>
          <p:nvPr/>
        </p:nvSpPr>
        <p:spPr>
          <a:xfrm>
            <a:off x="5242006" y="6105128"/>
            <a:ext cx="7489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a = b + c</a:t>
            </a:r>
            <a:br>
              <a:rPr lang="en-US" altLang="ko-KR" sz="1000" dirty="0"/>
            </a:br>
            <a:r>
              <a:rPr lang="en-US" altLang="ko-KR" sz="1000" dirty="0" err="1"/>
              <a:t>c</a:t>
            </a:r>
            <a:r>
              <a:rPr lang="en-US" altLang="ko-KR" sz="1000" dirty="0"/>
              <a:t> = k+1</a:t>
            </a:r>
            <a:br>
              <a:rPr lang="en-US" altLang="ko-KR" sz="1000" dirty="0"/>
            </a:br>
            <a:r>
              <a:rPr lang="en-US" altLang="ko-KR" sz="1000" dirty="0"/>
              <a:t>d = a+3</a:t>
            </a:r>
            <a:br>
              <a:rPr lang="en-US" altLang="ko-KR" sz="1000" dirty="0"/>
            </a:br>
            <a:r>
              <a:rPr lang="en-US" altLang="ko-KR" sz="1000" dirty="0"/>
              <a:t>c = c+1</a:t>
            </a:r>
            <a:endParaRPr lang="ko-KR" altLang="en-US" sz="900" dirty="0"/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F5FB41C5-512F-9DDC-49AC-C6FA4E8DC5C6}"/>
              </a:ext>
            </a:extLst>
          </p:cNvPr>
          <p:cNvSpPr txBox="1"/>
          <p:nvPr/>
        </p:nvSpPr>
        <p:spPr>
          <a:xfrm>
            <a:off x="4437113" y="6885022"/>
            <a:ext cx="2304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($6) -&gt; ALU</a:t>
            </a:r>
            <a:r>
              <a:rPr lang="ko-KR" altLang="en-US" sz="900" dirty="0"/>
              <a:t>의 결과가 아닌 </a:t>
            </a:r>
            <a:r>
              <a:rPr lang="en-US" altLang="ko-KR" sz="900" dirty="0"/>
              <a:t>Data mem</a:t>
            </a:r>
          </a:p>
          <a:p>
            <a:r>
              <a:rPr lang="en-US" altLang="ko-KR" sz="900" dirty="0"/>
              <a:t>#1 LDA $5, ($6)</a:t>
            </a:r>
          </a:p>
          <a:p>
            <a:r>
              <a:rPr lang="en-US" altLang="ko-KR" sz="900" dirty="0"/>
              <a:t>#2 ADD $4, $5, $6</a:t>
            </a:r>
          </a:p>
          <a:p>
            <a:r>
              <a:rPr lang="en-US" altLang="ko-KR" sz="900" dirty="0"/>
              <a:t>#3 ADD $4, $3, $2</a:t>
            </a:r>
            <a:br>
              <a:rPr lang="en-US" altLang="ko-KR" sz="900" dirty="0"/>
            </a:br>
            <a:r>
              <a:rPr lang="en-US" altLang="ko-KR" sz="900" dirty="0"/>
              <a:t>-&gt; $6</a:t>
            </a:r>
            <a:r>
              <a:rPr lang="ko-KR" altLang="en-US" sz="900" dirty="0"/>
              <a:t>과 관련 없는 명령어를 중간에 위치</a:t>
            </a:r>
            <a:br>
              <a:rPr lang="en-US" altLang="ko-KR" sz="900" dirty="0"/>
            </a:br>
            <a:r>
              <a:rPr lang="en-US" altLang="ko-KR" sz="900" dirty="0"/>
              <a:t>bubble</a:t>
            </a:r>
            <a:r>
              <a:rPr lang="ko-KR" altLang="en-US" sz="900" dirty="0"/>
              <a:t> 필요 </a:t>
            </a:r>
            <a:r>
              <a:rPr lang="en-US" altLang="ko-KR" sz="900" dirty="0"/>
              <a:t>X (#3</a:t>
            </a:r>
            <a:r>
              <a:rPr lang="ko-KR" altLang="en-US" sz="900" dirty="0"/>
              <a:t>을 </a:t>
            </a:r>
            <a:r>
              <a:rPr lang="en-US" altLang="ko-KR" sz="900" dirty="0"/>
              <a:t>#1, #2</a:t>
            </a:r>
            <a:r>
              <a:rPr lang="ko-KR" altLang="en-US" sz="900" dirty="0"/>
              <a:t>중간에 위치</a:t>
            </a:r>
            <a:r>
              <a:rPr lang="en-US" altLang="ko-KR" sz="900" dirty="0"/>
              <a:t>)</a:t>
            </a:r>
            <a:br>
              <a:rPr lang="en-US" altLang="ko-KR" sz="900" dirty="0"/>
            </a:br>
            <a:r>
              <a:rPr lang="ko-KR" altLang="en-US" sz="900" dirty="0"/>
              <a:t>의존성 </a:t>
            </a:r>
            <a:r>
              <a:rPr lang="en-US" altLang="ko-KR" sz="900" dirty="0">
                <a:sym typeface="Wingdings" panose="05000000000000000000" pitchFamily="2" charset="2"/>
              </a:rPr>
              <a:t>-&gt; </a:t>
            </a:r>
            <a:r>
              <a:rPr lang="ko-KR" altLang="en-US" sz="900" dirty="0">
                <a:sym typeface="Wingdings" panose="05000000000000000000" pitchFamily="2" charset="2"/>
              </a:rPr>
              <a:t>결과가 업데이트 되기 전 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다시 입력됨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277074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10A1EF-4352-D7C6-4CC4-40F79B584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B17F4E6-A1E1-FD9D-33AC-778404A4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 dependency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5190F6-BFE7-4DF9-5492-078AF8AF61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3E132CE-628E-F846-9EAC-1412D513EF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 Control Dependency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상황</a:t>
            </a:r>
            <a:r>
              <a:rPr lang="en-US" altLang="ko-KR" dirty="0"/>
              <a:t> : </a:t>
            </a:r>
            <a:br>
              <a:rPr lang="en-US" altLang="ko-KR" dirty="0"/>
            </a:br>
            <a:r>
              <a:rPr lang="ko-KR" altLang="en-US" dirty="0"/>
              <a:t>프로그램 진행중 </a:t>
            </a:r>
            <a:r>
              <a:rPr lang="en-US" altLang="ko-KR" dirty="0" err="1"/>
              <a:t>beq</a:t>
            </a:r>
            <a:r>
              <a:rPr lang="ko-KR" altLang="en-US" dirty="0"/>
              <a:t>문을 만남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/>
              <a:t>분기 할지 말지 정해지지 않음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CPU</a:t>
            </a:r>
            <a:r>
              <a:rPr lang="ko-KR" altLang="en-US" dirty="0">
                <a:sym typeface="Wingdings" panose="05000000000000000000" pitchFamily="2" charset="2"/>
              </a:rPr>
              <a:t>는 다음 실행할 명령어를 </a:t>
            </a:r>
            <a:r>
              <a:rPr lang="en-US" altLang="ko-KR" dirty="0">
                <a:sym typeface="Wingdings" panose="05000000000000000000" pitchFamily="2" charset="2"/>
              </a:rPr>
              <a:t>load. </a:t>
            </a:r>
            <a:r>
              <a:rPr lang="ko-KR" altLang="en-US" dirty="0">
                <a:sym typeface="Wingdings" panose="05000000000000000000" pitchFamily="2" charset="2"/>
              </a:rPr>
              <a:t>그런데 분기 여부에 따라 다음 명령어 주소 다를 수 있음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만약</a:t>
            </a:r>
            <a:r>
              <a:rPr lang="en-US" altLang="ko-KR" dirty="0">
                <a:sym typeface="Wingdings" panose="05000000000000000000" pitchFamily="2" charset="2"/>
              </a:rPr>
              <a:t> CPU</a:t>
            </a:r>
            <a:r>
              <a:rPr lang="ko-KR" altLang="en-US" dirty="0">
                <a:sym typeface="Wingdings" panose="05000000000000000000" pitchFamily="2" charset="2"/>
              </a:rPr>
              <a:t>가 잘못된 주소의 명령어를 가져오면 파이프 라인을 비우고 다시 명령어를 </a:t>
            </a:r>
            <a:r>
              <a:rPr lang="en-US" altLang="ko-KR" dirty="0">
                <a:sym typeface="Wingdings" panose="05000000000000000000" pitchFamily="2" charset="2"/>
              </a:rPr>
              <a:t>load </a:t>
            </a:r>
            <a:r>
              <a:rPr lang="ko-KR" altLang="en-US" dirty="0">
                <a:sym typeface="Wingdings" panose="05000000000000000000" pitchFamily="2" charset="2"/>
              </a:rPr>
              <a:t>해야함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Plusing</a:t>
            </a:r>
            <a:r>
              <a:rPr lang="en-US" altLang="ko-KR" dirty="0">
                <a:sym typeface="Wingdings" panose="05000000000000000000" pitchFamily="2" charset="2"/>
              </a:rPr>
              <a:t>) = </a:t>
            </a:r>
            <a:r>
              <a:rPr lang="ko-KR" altLang="en-US" dirty="0">
                <a:sym typeface="Wingdings" panose="05000000000000000000" pitchFamily="2" charset="2"/>
              </a:rPr>
              <a:t>성능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저하</a:t>
            </a:r>
            <a:endParaRPr lang="en-US" altLang="ko-KR" dirty="0"/>
          </a:p>
          <a:p>
            <a:pPr lvl="1"/>
            <a:r>
              <a:rPr lang="ko-KR" altLang="en-US" dirty="0"/>
              <a:t>문제점 </a:t>
            </a:r>
            <a:r>
              <a:rPr lang="en-US" altLang="ko-KR" dirty="0"/>
              <a:t>: if</a:t>
            </a:r>
            <a:r>
              <a:rPr lang="ko-KR" altLang="en-US" dirty="0"/>
              <a:t>문</a:t>
            </a:r>
            <a:r>
              <a:rPr lang="en-US" altLang="ko-KR" dirty="0"/>
              <a:t>(</a:t>
            </a:r>
            <a:r>
              <a:rPr lang="en-US" altLang="ko-KR" dirty="0" err="1"/>
              <a:t>beq</a:t>
            </a:r>
            <a:r>
              <a:rPr lang="en-US" altLang="ko-KR" dirty="0"/>
              <a:t>)</a:t>
            </a:r>
            <a:r>
              <a:rPr lang="ko-KR" altLang="en-US" dirty="0"/>
              <a:t>으로 분기가 달라지면 이전 </a:t>
            </a:r>
            <a:r>
              <a:rPr lang="ko-KR" altLang="en-US" dirty="0" err="1"/>
              <a:t>분기꺼는</a:t>
            </a:r>
            <a:r>
              <a:rPr lang="ko-KR" altLang="en-US" dirty="0"/>
              <a:t> 실행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해결 </a:t>
            </a:r>
            <a:r>
              <a:rPr lang="en-US" altLang="ko-KR" dirty="0"/>
              <a:t>1? : </a:t>
            </a:r>
            <a:r>
              <a:rPr lang="ko-KR" altLang="en-US" dirty="0"/>
              <a:t>이전 거를 모두 지운다 </a:t>
            </a:r>
            <a:r>
              <a:rPr lang="en-US" altLang="ko-KR" dirty="0"/>
              <a:t>(</a:t>
            </a:r>
            <a:r>
              <a:rPr lang="en-US" altLang="ko-KR" dirty="0" err="1"/>
              <a:t>Plusing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해결 </a:t>
            </a:r>
            <a:r>
              <a:rPr lang="en-US" altLang="ko-KR" dirty="0"/>
              <a:t>2 : </a:t>
            </a:r>
            <a:r>
              <a:rPr lang="ko-KR" altLang="en-US" dirty="0"/>
              <a:t>이전 명령어와 순서를 바꾼다 </a:t>
            </a:r>
            <a:r>
              <a:rPr lang="en-US" altLang="ko-KR" dirty="0"/>
              <a:t>= delayed branch</a:t>
            </a:r>
          </a:p>
          <a:p>
            <a:r>
              <a:rPr lang="en-US" altLang="ko-KR" dirty="0"/>
              <a:t>Branch Prediction</a:t>
            </a:r>
          </a:p>
          <a:p>
            <a:pPr lvl="1"/>
            <a:r>
              <a:rPr lang="en-US" altLang="ko-KR" dirty="0" err="1"/>
              <a:t>Beq</a:t>
            </a:r>
            <a:r>
              <a:rPr lang="ko-KR" altLang="en-US" dirty="0"/>
              <a:t>면 결과를 예측해서 </a:t>
            </a:r>
            <a:r>
              <a:rPr lang="en-US" altLang="ko-KR" dirty="0"/>
              <a:t>fetch </a:t>
            </a:r>
            <a:r>
              <a:rPr lang="ko-KR" altLang="en-US" dirty="0"/>
              <a:t>분기를 바꿈</a:t>
            </a:r>
            <a:endParaRPr lang="en-US" altLang="ko-KR" dirty="0"/>
          </a:p>
          <a:p>
            <a:pPr lvl="2"/>
            <a:r>
              <a:rPr lang="en-US" altLang="ko-KR" dirty="0"/>
              <a:t>Taken</a:t>
            </a:r>
            <a:r>
              <a:rPr lang="ko-KR" altLang="en-US" dirty="0"/>
              <a:t>이 높은 확률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for, while</a:t>
            </a:r>
            <a:r>
              <a:rPr lang="ko-KR" altLang="en-US" dirty="0"/>
              <a:t>처럼 </a:t>
            </a:r>
            <a:r>
              <a:rPr lang="ko-KR" altLang="en-US" dirty="0" err="1"/>
              <a:t>루프문</a:t>
            </a:r>
            <a:r>
              <a:rPr lang="ko-KR" altLang="en-US" dirty="0"/>
              <a:t>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/>
              <a:t>명령문이 위로 </a:t>
            </a:r>
            <a:r>
              <a:rPr lang="en-US" altLang="ko-KR" dirty="0"/>
              <a:t>JMP</a:t>
            </a:r>
            <a:r>
              <a:rPr lang="ko-KR" altLang="en-US" dirty="0"/>
              <a:t>면 루프라고 가정</a:t>
            </a:r>
            <a:endParaRPr lang="en-US" altLang="ko-KR" dirty="0"/>
          </a:p>
          <a:p>
            <a:pPr lvl="2"/>
            <a:r>
              <a:rPr lang="ko-KR" altLang="en-US" dirty="0"/>
              <a:t>하드웨어</a:t>
            </a:r>
            <a:r>
              <a:rPr lang="en-US" altLang="ko-KR" dirty="0"/>
              <a:t> </a:t>
            </a:r>
            <a:r>
              <a:rPr lang="ko-KR" altLang="en-US" dirty="0"/>
              <a:t>발전</a:t>
            </a:r>
            <a:r>
              <a:rPr lang="en-US" altLang="ko-KR" dirty="0"/>
              <a:t> : </a:t>
            </a:r>
            <a:r>
              <a:rPr lang="ko-KR" altLang="en-US" dirty="0"/>
              <a:t>둘 다 </a:t>
            </a:r>
            <a:r>
              <a:rPr lang="en-US" altLang="ko-KR" dirty="0"/>
              <a:t>pre fetch</a:t>
            </a:r>
            <a:r>
              <a:rPr lang="ko-KR" altLang="en-US" dirty="0"/>
              <a:t>하고 필요 없는 건 갖다 버림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C717DD-CE9D-6EB4-3304-8DF77EB0A6A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45" name="그림 744">
            <a:extLst>
              <a:ext uri="{FF2B5EF4-FFF2-40B4-BE49-F238E27FC236}">
                <a16:creationId xmlns:a16="http://schemas.microsoft.com/office/drawing/2014/main" id="{4F22F053-1AB1-D47F-CD02-63CAEFFBD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497" y="785549"/>
            <a:ext cx="4617155" cy="242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7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677D83-FD7A-3403-6D5A-023E0C567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CE4E1D-CF00-BE65-D348-0022FA104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Advanced</a:t>
            </a:r>
            <a:r>
              <a:rPr lang="ko-KR" altLang="en-US" dirty="0"/>
              <a:t> </a:t>
            </a:r>
            <a:r>
              <a:rPr lang="en-US" altLang="ko-KR" dirty="0"/>
              <a:t>pipelining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98D9F8-1518-61AB-9C52-2E4E2D5DE2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7BAD24-84C2-78BF-AD62-F275943997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파이프라이닝</a:t>
            </a:r>
            <a:r>
              <a:rPr lang="ko-KR" altLang="en-US" dirty="0"/>
              <a:t> 심화 기법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Instr</a:t>
            </a:r>
            <a:r>
              <a:rPr lang="en-US" altLang="ko-KR" dirty="0"/>
              <a:t> cache : </a:t>
            </a:r>
            <a:r>
              <a:rPr lang="ko-KR" altLang="en-US" dirty="0"/>
              <a:t>메모리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매우 느림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느리므로 쪼갠다</a:t>
            </a:r>
            <a:r>
              <a:rPr lang="en-US" altLang="ko-KR" dirty="0">
                <a:sym typeface="Wingdings" panose="05000000000000000000" pitchFamily="2" charset="2"/>
              </a:rPr>
              <a:t>  -&gt; super pipelining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가장 빠른 </a:t>
            </a:r>
            <a:r>
              <a:rPr lang="ko-KR" altLang="en-US" dirty="0" err="1">
                <a:sym typeface="Wingdings" panose="05000000000000000000" pitchFamily="2" charset="2"/>
              </a:rPr>
              <a:t>스탭에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클락</a:t>
            </a:r>
            <a:r>
              <a:rPr lang="ko-KR" altLang="en-US" dirty="0">
                <a:sym typeface="Wingdings" panose="05000000000000000000" pitchFamily="2" charset="2"/>
              </a:rPr>
              <a:t> 속도를 맞춤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Function unit 1,2,3 : </a:t>
            </a:r>
            <a:r>
              <a:rPr lang="ko-KR" altLang="en-US" dirty="0"/>
              <a:t>여러 개 동시에 </a:t>
            </a:r>
            <a:r>
              <a:rPr lang="en-US" altLang="ko-KR" dirty="0"/>
              <a:t>execute </a:t>
            </a:r>
            <a:r>
              <a:rPr lang="en-US" altLang="ko-KR" dirty="0">
                <a:sym typeface="Wingdings" panose="05000000000000000000" pitchFamily="2" charset="2"/>
              </a:rPr>
              <a:t>-&gt; super scalar; </a:t>
            </a:r>
            <a:r>
              <a:rPr lang="ko-KR" altLang="en-US" dirty="0">
                <a:sym typeface="Wingdings" panose="05000000000000000000" pitchFamily="2" charset="2"/>
              </a:rPr>
              <a:t>하나로 할 때보다 단축</a:t>
            </a:r>
            <a:endParaRPr lang="en-US" altLang="ko-KR" dirty="0"/>
          </a:p>
          <a:p>
            <a:pPr lvl="1"/>
            <a:r>
              <a:rPr lang="en-US" altLang="ko-KR" dirty="0"/>
              <a:t>A = b * c -&gt; d = e + 3 -&gt; k++ ; </a:t>
            </a:r>
            <a:r>
              <a:rPr lang="ko-KR" altLang="en-US" dirty="0"/>
              <a:t>곱셈하는 동안 여러 개의 명령 실행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끝나는 순서대로 </a:t>
            </a:r>
            <a:r>
              <a:rPr lang="en-US" altLang="ko-KR" dirty="0">
                <a:sym typeface="Wingdings" panose="05000000000000000000" pitchFamily="2" charset="2"/>
              </a:rPr>
              <a:t>write? -&gt; </a:t>
            </a:r>
            <a:r>
              <a:rPr lang="ko-KR" altLang="en-US" dirty="0">
                <a:sym typeface="Wingdings" panose="05000000000000000000" pitchFamily="2" charset="2"/>
              </a:rPr>
              <a:t>결과가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달라질 수 있음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retirement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&amp;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commit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stages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write </a:t>
            </a:r>
            <a:r>
              <a:rPr lang="ko-KR" altLang="en-US" dirty="0">
                <a:sym typeface="Wingdings" panose="05000000000000000000" pitchFamily="2" charset="2"/>
              </a:rPr>
              <a:t>할 때 어떤 순서대로 할 것인지 결정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슈퍼 </a:t>
            </a:r>
            <a:r>
              <a:rPr lang="ko-KR" altLang="en-US" dirty="0" err="1">
                <a:sym typeface="Wingdings" panose="05000000000000000000" pitchFamily="2" charset="2"/>
              </a:rPr>
              <a:t>파이프라이닝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슈퍼스칼라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marL="176213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/>
          </a:p>
          <a:p>
            <a:r>
              <a:rPr lang="en-US" altLang="ko-KR" dirty="0"/>
              <a:t>Dependency </a:t>
            </a:r>
            <a:r>
              <a:rPr lang="ko-KR" altLang="en-US" dirty="0"/>
              <a:t>효과 </a:t>
            </a:r>
            <a:r>
              <a:rPr lang="en-US" altLang="ko-KR" dirty="0"/>
              <a:t>: </a:t>
            </a:r>
            <a:r>
              <a:rPr lang="ko-KR" altLang="en-US" dirty="0"/>
              <a:t>슈퍼스칼라</a:t>
            </a:r>
            <a:endParaRPr lang="en-US" altLang="ko-KR" dirty="0"/>
          </a:p>
          <a:p>
            <a:pPr lvl="1"/>
            <a:r>
              <a:rPr lang="en-US" altLang="ko-KR" dirty="0"/>
              <a:t>Renaming:</a:t>
            </a:r>
            <a:br>
              <a:rPr lang="en-US" altLang="ko-KR" dirty="0"/>
            </a:br>
            <a:r>
              <a:rPr lang="en-US" altLang="ko-KR" dirty="0"/>
              <a:t>K=a+2</a:t>
            </a:r>
            <a:br>
              <a:rPr lang="en-US" altLang="ko-KR" dirty="0"/>
            </a:br>
            <a:r>
              <a:rPr lang="en-US" altLang="ko-KR" dirty="0"/>
              <a:t>a=</a:t>
            </a:r>
            <a:r>
              <a:rPr lang="en-US" altLang="ko-KR" dirty="0" err="1"/>
              <a:t>h+c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en-US" altLang="ko-KR" dirty="0" err="1">
                <a:sym typeface="Wingdings" panose="05000000000000000000" pitchFamily="2" charset="2"/>
              </a:rPr>
              <a:t>a_bar</a:t>
            </a:r>
            <a:r>
              <a:rPr lang="en-US" altLang="ko-KR" dirty="0">
                <a:sym typeface="Wingdings" panose="05000000000000000000" pitchFamily="2" charset="2"/>
              </a:rPr>
              <a:t> = </a:t>
            </a:r>
            <a:r>
              <a:rPr lang="en-US" altLang="ko-KR" dirty="0" err="1">
                <a:sym typeface="Wingdings" panose="05000000000000000000" pitchFamily="2" charset="2"/>
              </a:rPr>
              <a:t>h+c</a:t>
            </a:r>
            <a:br>
              <a:rPr lang="en-US" altLang="ko-KR" dirty="0"/>
            </a:br>
            <a:r>
              <a:rPr lang="en-US" altLang="ko-KR" dirty="0"/>
              <a:t>d=a+3 </a:t>
            </a:r>
            <a:r>
              <a:rPr lang="en-US" altLang="ko-KR" dirty="0">
                <a:sym typeface="Wingdings" panose="05000000000000000000" pitchFamily="2" charset="2"/>
              </a:rPr>
              <a:t>-&gt; d = </a:t>
            </a:r>
            <a:r>
              <a:rPr lang="en-US" altLang="ko-KR" dirty="0" err="1">
                <a:sym typeface="Wingdings" panose="05000000000000000000" pitchFamily="2" charset="2"/>
              </a:rPr>
              <a:t>a_bar</a:t>
            </a:r>
            <a:r>
              <a:rPr lang="en-US" altLang="ko-KR" dirty="0">
                <a:sym typeface="Wingdings" panose="05000000000000000000" pitchFamily="2" charset="2"/>
              </a:rPr>
              <a:t> + 3</a:t>
            </a:r>
            <a:endParaRPr lang="en-US" altLang="ko-KR" dirty="0"/>
          </a:p>
          <a:p>
            <a:pPr lvl="2"/>
            <a:r>
              <a:rPr lang="ko-KR" altLang="en-US" dirty="0"/>
              <a:t>같은 변수 </a:t>
            </a:r>
            <a:r>
              <a:rPr lang="en-US" altLang="ko-KR" dirty="0"/>
              <a:t>a</a:t>
            </a:r>
            <a:r>
              <a:rPr lang="ko-KR" altLang="en-US" dirty="0"/>
              <a:t>지만 </a:t>
            </a:r>
            <a:br>
              <a:rPr lang="en-US" altLang="ko-KR" dirty="0"/>
            </a:br>
            <a:r>
              <a:rPr lang="en-US" altLang="ko-KR" dirty="0"/>
              <a:t>d</a:t>
            </a:r>
            <a:r>
              <a:rPr lang="ko-KR" altLang="en-US" dirty="0"/>
              <a:t>에서의</a:t>
            </a:r>
            <a:r>
              <a:rPr lang="en-US" altLang="ko-KR" dirty="0"/>
              <a:t> a</a:t>
            </a:r>
            <a:r>
              <a:rPr lang="ko-KR" altLang="en-US" dirty="0"/>
              <a:t>와 </a:t>
            </a:r>
            <a:r>
              <a:rPr lang="en-US" altLang="ko-KR" dirty="0"/>
              <a:t>k</a:t>
            </a:r>
            <a:r>
              <a:rPr lang="ko-KR" altLang="en-US" dirty="0"/>
              <a:t>에서의 </a:t>
            </a:r>
            <a:r>
              <a:rPr lang="en-US" altLang="ko-KR" dirty="0"/>
              <a:t>a</a:t>
            </a:r>
            <a:r>
              <a:rPr lang="ko-KR" altLang="en-US" dirty="0"/>
              <a:t>는 다르다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a’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b+c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d=a’+3</a:t>
            </a:r>
            <a:r>
              <a:rPr lang="ko-KR" altLang="en-US" dirty="0">
                <a:sym typeface="Wingdings" panose="05000000000000000000" pitchFamily="2" charset="2"/>
              </a:rPr>
              <a:t>으로 이름 변경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슈퍼스칼라의 명령어 이슈와 병합 정책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In-order</a:t>
            </a:r>
            <a:r>
              <a:rPr lang="ko-KR" altLang="en-US" dirty="0"/>
              <a:t> </a:t>
            </a:r>
            <a:r>
              <a:rPr lang="en-US" altLang="ko-KR" dirty="0"/>
              <a:t>issue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in-order</a:t>
            </a:r>
            <a:r>
              <a:rPr lang="ko-KR" altLang="en-US" dirty="0"/>
              <a:t> </a:t>
            </a:r>
            <a:r>
              <a:rPr lang="en-US" altLang="ko-KR" dirty="0"/>
              <a:t>completion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</a:t>
            </a:r>
            <a:r>
              <a:rPr lang="ko-KR" altLang="en-US" dirty="0">
                <a:sym typeface="Wingdings" panose="05000000000000000000" pitchFamily="2" charset="2"/>
              </a:rPr>
              <a:t> 순서대로 와서 순서대로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In-order issue and out-order completion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순서대로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와서 역순으로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Out-of-order issue and out-of-order completion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순서</a:t>
            </a:r>
            <a:r>
              <a:rPr lang="en-US" altLang="ko-KR" dirty="0">
                <a:sym typeface="Wingdings" panose="05000000000000000000" pitchFamily="2" charset="2"/>
              </a:rPr>
              <a:t> X -&gt; </a:t>
            </a:r>
            <a:r>
              <a:rPr lang="ko-KR" altLang="en-US" dirty="0">
                <a:sym typeface="Wingdings" panose="05000000000000000000" pitchFamily="2" charset="2"/>
              </a:rPr>
              <a:t>순서</a:t>
            </a:r>
            <a:r>
              <a:rPr lang="en-US" altLang="ko-KR" dirty="0">
                <a:sym typeface="Wingdings" panose="05000000000000000000" pitchFamily="2" charset="2"/>
              </a:rPr>
              <a:t> X</a:t>
            </a:r>
          </a:p>
          <a:p>
            <a:pPr lvl="2"/>
            <a:r>
              <a:rPr lang="en-US" altLang="ko-KR" dirty="0"/>
              <a:t>Window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어떤게</a:t>
            </a:r>
            <a:r>
              <a:rPr lang="ko-KR" altLang="en-US" dirty="0"/>
              <a:t> 가장 </a:t>
            </a:r>
            <a:r>
              <a:rPr lang="ko-KR" altLang="en-US" dirty="0" err="1"/>
              <a:t>빠른가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이걸 고려해 순서를 고려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9330C7-2839-A96F-2428-F9532C3B985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15203D9-9A48-D343-C30A-90AB63B95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85"/>
          <a:stretch/>
        </p:blipFill>
        <p:spPr>
          <a:xfrm>
            <a:off x="1997811" y="776536"/>
            <a:ext cx="3912056" cy="1584176"/>
          </a:xfrm>
          <a:prstGeom prst="rect">
            <a:avLst/>
          </a:prstGeom>
        </p:spPr>
      </p:pic>
      <p:pic>
        <p:nvPicPr>
          <p:cNvPr id="31" name="object 148">
            <a:extLst>
              <a:ext uri="{FF2B5EF4-FFF2-40B4-BE49-F238E27FC236}">
                <a16:creationId xmlns:a16="http://schemas.microsoft.com/office/drawing/2014/main" id="{193B3A7A-8399-53F6-2D08-2A022E988834}"/>
              </a:ext>
            </a:extLst>
          </p:cNvPr>
          <p:cNvPicPr/>
          <p:nvPr/>
        </p:nvPicPr>
        <p:blipFill>
          <a:blip r:embed="rId3" cstate="print"/>
          <a:srcRect r="41246" b="66486"/>
          <a:stretch/>
        </p:blipFill>
        <p:spPr>
          <a:xfrm>
            <a:off x="1916832" y="3800872"/>
            <a:ext cx="2340262" cy="648072"/>
          </a:xfrm>
          <a:prstGeom prst="rect">
            <a:avLst/>
          </a:prstGeom>
        </p:spPr>
      </p:pic>
      <p:pic>
        <p:nvPicPr>
          <p:cNvPr id="32" name="object 6">
            <a:extLst>
              <a:ext uri="{FF2B5EF4-FFF2-40B4-BE49-F238E27FC236}">
                <a16:creationId xmlns:a16="http://schemas.microsoft.com/office/drawing/2014/main" id="{87803136-1FE8-5F1F-3BF5-9D4E4E8E9103}"/>
              </a:ext>
            </a:extLst>
          </p:cNvPr>
          <p:cNvPicPr/>
          <p:nvPr/>
        </p:nvPicPr>
        <p:blipFill>
          <a:blip r:embed="rId4" cstate="print"/>
          <a:srcRect r="26587" b="43852"/>
          <a:stretch/>
        </p:blipFill>
        <p:spPr>
          <a:xfrm>
            <a:off x="4203393" y="3800872"/>
            <a:ext cx="2093352" cy="854287"/>
          </a:xfrm>
          <a:prstGeom prst="rect">
            <a:avLst/>
          </a:prstGeom>
        </p:spPr>
      </p:pic>
      <p:pic>
        <p:nvPicPr>
          <p:cNvPr id="33" name="object 80">
            <a:extLst>
              <a:ext uri="{FF2B5EF4-FFF2-40B4-BE49-F238E27FC236}">
                <a16:creationId xmlns:a16="http://schemas.microsoft.com/office/drawing/2014/main" id="{2C0AA01B-23BD-075E-6196-B71247711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65105" y="4727167"/>
            <a:ext cx="2093352" cy="1368152"/>
          </a:xfrm>
          <a:prstGeom prst="rect">
            <a:avLst/>
          </a:prstGeom>
        </p:spPr>
      </p:pic>
      <p:pic>
        <p:nvPicPr>
          <p:cNvPr id="34" name="object 27">
            <a:extLst>
              <a:ext uri="{FF2B5EF4-FFF2-40B4-BE49-F238E27FC236}">
                <a16:creationId xmlns:a16="http://schemas.microsoft.com/office/drawing/2014/main" id="{C2E9F7E9-BAD1-B4C9-1F69-D085A2D5C3E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7743" y="6231511"/>
            <a:ext cx="1617619" cy="188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0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A485720-2D18-63E0-314A-A9A2ABB3E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F84BF3C-6D75-D2D8-1762-F23C8E84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CPU </a:t>
            </a:r>
            <a:r>
              <a:rPr lang="ko-KR" altLang="en-US" dirty="0"/>
              <a:t>메모리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297988-F75F-936E-5009-9E5D0484AB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82768BA-F25A-C309-2365-FDBD1B2DB4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컴퓨터 메모리 시스템의 주요 특징들</a:t>
            </a:r>
            <a:endParaRPr lang="en-US" altLang="ko-KR" dirty="0"/>
          </a:p>
          <a:p>
            <a:pPr lvl="1"/>
            <a:r>
              <a:rPr lang="ko-KR" altLang="en-US" dirty="0"/>
              <a:t>저장 위치 </a:t>
            </a:r>
            <a:r>
              <a:rPr lang="en-US" altLang="ko-KR" dirty="0"/>
              <a:t>: </a:t>
            </a:r>
            <a:r>
              <a:rPr lang="ko-KR" altLang="en-US" dirty="0"/>
              <a:t>외부 </a:t>
            </a:r>
            <a:r>
              <a:rPr lang="en-US" altLang="ko-KR" dirty="0"/>
              <a:t>vs </a:t>
            </a:r>
            <a:r>
              <a:rPr lang="ko-KR" altLang="en-US" dirty="0"/>
              <a:t>내부</a:t>
            </a:r>
            <a:endParaRPr lang="en-US" altLang="ko-KR" dirty="0"/>
          </a:p>
          <a:p>
            <a:pPr lvl="1"/>
            <a:r>
              <a:rPr lang="ko-KR" altLang="en-US" dirty="0"/>
              <a:t>용량 </a:t>
            </a:r>
            <a:r>
              <a:rPr lang="en-US" altLang="ko-KR" dirty="0"/>
              <a:t>: </a:t>
            </a:r>
            <a:r>
              <a:rPr lang="ko-KR" altLang="en-US" dirty="0"/>
              <a:t>바이트 용량 </a:t>
            </a:r>
            <a:r>
              <a:rPr lang="en-US" altLang="ko-KR" dirty="0"/>
              <a:t>vs </a:t>
            </a:r>
            <a:r>
              <a:rPr lang="ko-KR" altLang="en-US" dirty="0"/>
              <a:t>단어 수로 용량</a:t>
            </a:r>
            <a:endParaRPr lang="en-US" altLang="ko-KR" dirty="0"/>
          </a:p>
          <a:p>
            <a:pPr lvl="1"/>
            <a:r>
              <a:rPr lang="ko-KR" altLang="en-US" dirty="0"/>
              <a:t>단위 </a:t>
            </a:r>
            <a:r>
              <a:rPr lang="en-US" altLang="ko-KR" dirty="0"/>
              <a:t>: </a:t>
            </a:r>
            <a:r>
              <a:rPr lang="ko-KR" altLang="en-US" dirty="0"/>
              <a:t>바이트 </a:t>
            </a:r>
            <a:r>
              <a:rPr lang="en-US" altLang="ko-KR" dirty="0"/>
              <a:t>vs </a:t>
            </a:r>
            <a:r>
              <a:rPr lang="ko-KR" altLang="en-US" dirty="0"/>
              <a:t>단어 수</a:t>
            </a:r>
            <a:endParaRPr lang="en-US" altLang="ko-KR" dirty="0"/>
          </a:p>
          <a:p>
            <a:pPr lvl="1"/>
            <a:r>
              <a:rPr lang="ko-KR" altLang="en-US" dirty="0"/>
              <a:t>메모리 접근 방법 </a:t>
            </a:r>
            <a:r>
              <a:rPr lang="en-US" altLang="ko-KR" dirty="0"/>
              <a:t>: sequential, Direct, random, associative</a:t>
            </a:r>
          </a:p>
          <a:p>
            <a:pPr lvl="1"/>
            <a:r>
              <a:rPr lang="ko-KR" altLang="en-US" dirty="0"/>
              <a:t>퍼포먼스</a:t>
            </a:r>
            <a:r>
              <a:rPr lang="en-US" altLang="ko-KR" dirty="0"/>
              <a:t>(</a:t>
            </a:r>
            <a:r>
              <a:rPr lang="ko-KR" altLang="en-US" dirty="0"/>
              <a:t>성능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Access time : </a:t>
            </a:r>
            <a:r>
              <a:rPr lang="ko-KR" altLang="en-US" dirty="0"/>
              <a:t>첫</a:t>
            </a:r>
            <a:r>
              <a:rPr lang="en-US" altLang="ko-KR" dirty="0"/>
              <a:t> data </a:t>
            </a:r>
            <a:r>
              <a:rPr lang="ko-KR" altLang="en-US" dirty="0"/>
              <a:t>읽을</a:t>
            </a:r>
            <a:r>
              <a:rPr lang="en-US" altLang="ko-KR" dirty="0"/>
              <a:t> </a:t>
            </a:r>
            <a:r>
              <a:rPr lang="ko-KR" altLang="en-US" dirty="0"/>
              <a:t>때 까지의 시간</a:t>
            </a:r>
            <a:br>
              <a:rPr lang="en-US" altLang="ko-KR" dirty="0"/>
            </a:br>
            <a:r>
              <a:rPr lang="en-US" altLang="ko-KR" dirty="0"/>
              <a:t>Cycle time: </a:t>
            </a:r>
            <a:r>
              <a:rPr lang="ko-KR" altLang="en-US" dirty="0"/>
              <a:t>개별 </a:t>
            </a:r>
            <a:r>
              <a:rPr lang="en-US" altLang="ko-KR" dirty="0"/>
              <a:t>data </a:t>
            </a:r>
            <a:r>
              <a:rPr lang="ko-KR" altLang="en-US" dirty="0"/>
              <a:t>읽을 때 걸리는 시간</a:t>
            </a:r>
            <a:br>
              <a:rPr lang="en-US" altLang="ko-KR" dirty="0"/>
            </a:br>
            <a:r>
              <a:rPr lang="en-US" altLang="ko-KR" dirty="0"/>
              <a:t>Transfer rate : </a:t>
            </a:r>
            <a:r>
              <a:rPr lang="ko-KR" altLang="en-US" dirty="0"/>
              <a:t>전송률</a:t>
            </a:r>
            <a:endParaRPr lang="en-US" altLang="ko-KR" dirty="0"/>
          </a:p>
          <a:p>
            <a:pPr lvl="1"/>
            <a:r>
              <a:rPr lang="en-US" altLang="ko-KR" dirty="0"/>
              <a:t>Physical</a:t>
            </a:r>
            <a:r>
              <a:rPr lang="ko-KR" altLang="en-US" dirty="0"/>
              <a:t> </a:t>
            </a:r>
            <a:r>
              <a:rPr lang="en-US" altLang="ko-KR" dirty="0"/>
              <a:t>type(</a:t>
            </a:r>
            <a:r>
              <a:rPr lang="ko-KR" altLang="en-US" dirty="0"/>
              <a:t>물리적 구성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Semiconductor	Magnetic	Optical	Magneto-optical</a:t>
            </a:r>
          </a:p>
          <a:p>
            <a:pPr lvl="1"/>
            <a:r>
              <a:rPr lang="en-US" altLang="ko-KR" dirty="0"/>
              <a:t>Physical characteristics(</a:t>
            </a:r>
            <a:r>
              <a:rPr lang="ko-KR" altLang="en-US" dirty="0"/>
              <a:t>물리적 특징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Volatile/nonvolatile : </a:t>
            </a:r>
            <a:r>
              <a:rPr lang="ko-KR" altLang="en-US" dirty="0"/>
              <a:t>휘발성</a:t>
            </a:r>
            <a:r>
              <a:rPr lang="en-US" altLang="ko-KR" dirty="0"/>
              <a:t>/</a:t>
            </a:r>
            <a:r>
              <a:rPr lang="ko-KR" altLang="en-US" dirty="0"/>
              <a:t>비휘발성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전원끊김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지워지나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Erasable/nonerasable : </a:t>
            </a:r>
            <a:r>
              <a:rPr lang="ko-KR" altLang="en-US" dirty="0">
                <a:sym typeface="Wingdings" panose="05000000000000000000" pitchFamily="2" charset="2"/>
              </a:rPr>
              <a:t>삭제가능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불가능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Memory hierarchy (</a:t>
            </a:r>
            <a:r>
              <a:rPr lang="ko-KR" altLang="en-US" dirty="0">
                <a:sym typeface="Wingdings" panose="05000000000000000000" pitchFamily="2" charset="2"/>
              </a:rPr>
              <a:t>아래로 내려갈수록 속도↓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비용↓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Inboard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memory (Internal memory)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Registers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ACC,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IR,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R0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…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Cache : CPU </a:t>
            </a:r>
            <a:r>
              <a:rPr lang="ko-KR" altLang="en-US" dirty="0">
                <a:sym typeface="Wingdings" panose="05000000000000000000" pitchFamily="2" charset="2"/>
              </a:rPr>
              <a:t>내부 메모리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Main memory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Outboard memory (Outboard memory +Off-line storage = External memory)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Magnetic disk, CD-ROM, …, BLU-RAY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Off-line storage : Magnetic Tape -&gt; </a:t>
            </a:r>
            <a:r>
              <a:rPr lang="ko-KR" altLang="en-US" dirty="0" err="1">
                <a:sym typeface="Wingdings" panose="05000000000000000000" pitchFamily="2" charset="2"/>
              </a:rPr>
              <a:t>시퀀셜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메모리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Locality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메모리를 항상 다 쓰지 않음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= locality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특정 지역만 사용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전체가 빠를 필요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적은 수의 메모리를 빨리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 err="1">
                <a:sym typeface="Wingdings" panose="05000000000000000000" pitchFamily="2" charset="2"/>
              </a:rPr>
              <a:t>엑세스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925ED7-9AFA-F089-60E0-88EF18C06AA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5896F44-709E-C561-C131-8A5BAAA1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25" y="5242640"/>
            <a:ext cx="3072650" cy="2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8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671FDA4-3A02-AAFE-A32E-637849FB2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8A28B8-D8EB-DF5C-CDF2-BF8C7146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캐시와 메인 메모리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0CD2F1-0D40-457F-6433-758DC4F3D6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B24B2E6-B34D-BF82-240A-099A39B0FD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Cache and main memory</a:t>
            </a:r>
          </a:p>
          <a:p>
            <a:pPr lvl="1"/>
            <a:r>
              <a:rPr lang="en-US" altLang="ko-KR" dirty="0"/>
              <a:t>CPU</a:t>
            </a:r>
            <a:r>
              <a:rPr lang="ko-KR" altLang="en-US" dirty="0"/>
              <a:t>에서 데이터를 찾는 방법</a:t>
            </a:r>
            <a:endParaRPr lang="en-US" altLang="ko-KR" dirty="0"/>
          </a:p>
          <a:p>
            <a:pPr lvl="2"/>
            <a:r>
              <a:rPr lang="en-US" altLang="ko-KR" dirty="0"/>
              <a:t>1) CPU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캐쉬로 접근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데이터가 있나</a:t>
            </a:r>
            <a:r>
              <a:rPr lang="en-US" altLang="ko-KR" dirty="0">
                <a:sym typeface="Wingdings" panose="05000000000000000000" pitchFamily="2" charset="2"/>
              </a:rPr>
              <a:t>? : </a:t>
            </a:r>
            <a:r>
              <a:rPr lang="ko-KR" altLang="en-US" dirty="0">
                <a:sym typeface="Wingdings" panose="05000000000000000000" pitchFamily="2" charset="2"/>
              </a:rPr>
              <a:t>있으면 </a:t>
            </a:r>
            <a:r>
              <a:rPr lang="en-US" altLang="ko-KR" dirty="0">
                <a:sym typeface="Wingdings" panose="05000000000000000000" pitchFamily="2" charset="2"/>
              </a:rPr>
              <a:t>Hit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없으면 메모리로 </a:t>
            </a:r>
            <a:r>
              <a:rPr lang="en-US" altLang="ko-KR" dirty="0">
                <a:sym typeface="Wingdings" panose="05000000000000000000" pitchFamily="2" charset="2"/>
              </a:rPr>
              <a:t>-&gt; miss</a:t>
            </a:r>
            <a:endParaRPr lang="en-US" altLang="ko-KR" dirty="0"/>
          </a:p>
          <a:p>
            <a:pPr lvl="2"/>
            <a:r>
              <a:rPr lang="en-US" altLang="ko-KR" dirty="0"/>
              <a:t>2) miss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메모리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캐쉬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Single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cache (</a:t>
            </a:r>
            <a:r>
              <a:rPr lang="ko-KR" altLang="en-US" dirty="0">
                <a:sym typeface="Wingdings" panose="05000000000000000000" pitchFamily="2" charset="2"/>
              </a:rPr>
              <a:t>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Cache : </a:t>
            </a:r>
            <a:r>
              <a:rPr lang="ko-KR" altLang="en-US" dirty="0">
                <a:sym typeface="Wingdings" panose="05000000000000000000" pitchFamily="2" charset="2"/>
              </a:rPr>
              <a:t>필요한 만큼만 빠름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Main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mem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전부 빠를 필요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3-level cache (</a:t>
            </a:r>
            <a:r>
              <a:rPr lang="ko-KR" altLang="en-US" dirty="0">
                <a:sym typeface="Wingdings" panose="05000000000000000000" pitchFamily="2" charset="2"/>
              </a:rPr>
              <a:t>아래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L1 : L1</a:t>
            </a:r>
            <a:r>
              <a:rPr lang="ko-KR" altLang="en-US" dirty="0">
                <a:sym typeface="Wingdings" panose="05000000000000000000" pitchFamily="2" charset="2"/>
              </a:rPr>
              <a:t>을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개 사용하여 </a:t>
            </a:r>
            <a:r>
              <a:rPr lang="en-US" altLang="ko-KR" dirty="0">
                <a:sym typeface="Wingdings" panose="05000000000000000000" pitchFamily="2" charset="2"/>
              </a:rPr>
              <a:t>Inst/Data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구별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하버드 아키텍처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L2, L3 : </a:t>
            </a:r>
            <a:r>
              <a:rPr lang="ko-KR" altLang="en-US" dirty="0" err="1"/>
              <a:t>폰노이만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  <a:endParaRPr lang="en-US" altLang="ko-KR" dirty="0"/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L1, L2, L3 </a:t>
            </a:r>
            <a:r>
              <a:rPr lang="ko-KR" altLang="en-US" dirty="0">
                <a:sym typeface="Wingdings" panose="05000000000000000000" pitchFamily="2" charset="2"/>
              </a:rPr>
              <a:t>캐쉬로 하여금 </a:t>
            </a:r>
            <a:r>
              <a:rPr lang="en-US" altLang="ko-KR" dirty="0">
                <a:sym typeface="Wingdings" panose="05000000000000000000" pitchFamily="2" charset="2"/>
              </a:rPr>
              <a:t>modified </a:t>
            </a:r>
            <a:r>
              <a:rPr lang="en-US" altLang="ko-KR" dirty="0" err="1">
                <a:sym typeface="Wingdings" panose="05000000000000000000" pitchFamily="2" charset="2"/>
              </a:rPr>
              <a:t>havard</a:t>
            </a:r>
            <a:r>
              <a:rPr lang="en-US" altLang="ko-KR" dirty="0">
                <a:sym typeface="Wingdings" panose="05000000000000000000" pitchFamily="2" charset="2"/>
              </a:rPr>
              <a:t> architecture </a:t>
            </a:r>
            <a:r>
              <a:rPr lang="ko-KR" altLang="en-US" dirty="0">
                <a:sym typeface="Wingdings" panose="05000000000000000000" pitchFamily="2" charset="2"/>
              </a:rPr>
              <a:t>구현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Cache/Main memory structure</a:t>
            </a:r>
          </a:p>
          <a:p>
            <a:pPr lvl="1"/>
            <a:r>
              <a:rPr lang="en-US" altLang="ko-KR" dirty="0"/>
              <a:t>‘</a:t>
            </a:r>
            <a:r>
              <a:rPr lang="ko-KR" altLang="en-US" dirty="0"/>
              <a:t>어떻게 캐쉬를 쓰고 다시 비울 것인가</a:t>
            </a:r>
            <a:r>
              <a:rPr lang="en-US" altLang="ko-KR" dirty="0"/>
              <a:t>?’</a:t>
            </a:r>
          </a:p>
          <a:p>
            <a:pPr lvl="1"/>
            <a:r>
              <a:rPr lang="en-US" altLang="ko-KR" dirty="0"/>
              <a:t>Cache (</a:t>
            </a:r>
            <a:r>
              <a:rPr lang="ko-KR" altLang="en-US" dirty="0"/>
              <a:t>왼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Tag : </a:t>
            </a:r>
            <a:r>
              <a:rPr lang="ko-KR" altLang="en-US" dirty="0"/>
              <a:t>이걸 참조 </a:t>
            </a:r>
            <a:r>
              <a:rPr lang="en-US" altLang="ko-KR" dirty="0">
                <a:sym typeface="Wingdings" panose="05000000000000000000" pitchFamily="2" charset="2"/>
              </a:rPr>
              <a:t>-&gt; ‘</a:t>
            </a:r>
            <a:r>
              <a:rPr lang="ko-KR" altLang="en-US" dirty="0">
                <a:sym typeface="Wingdings" panose="05000000000000000000" pitchFamily="2" charset="2"/>
              </a:rPr>
              <a:t>내가 원하는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data</a:t>
            </a:r>
            <a:r>
              <a:rPr lang="ko-KR" altLang="en-US" dirty="0">
                <a:sym typeface="Wingdings" panose="05000000000000000000" pitchFamily="2" charset="2"/>
              </a:rPr>
              <a:t>가 여기</a:t>
            </a:r>
            <a:r>
              <a:rPr lang="en-US" altLang="ko-KR" dirty="0">
                <a:sym typeface="Wingdings" panose="05000000000000000000" pitchFamily="2" charset="2"/>
              </a:rPr>
              <a:t>?’</a:t>
            </a:r>
          </a:p>
          <a:p>
            <a:pPr lvl="1"/>
            <a:r>
              <a:rPr lang="en-US" altLang="ko-KR" dirty="0"/>
              <a:t>Main memory (</a:t>
            </a:r>
            <a:r>
              <a:rPr lang="ko-KR" altLang="en-US" dirty="0"/>
              <a:t>오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각 블록에 대해 한 블록은 캐쉬</a:t>
            </a:r>
            <a:br>
              <a:rPr lang="en-US" altLang="ko-KR" dirty="0"/>
            </a:br>
            <a:r>
              <a:rPr lang="ko-KR" altLang="en-US" dirty="0"/>
              <a:t>사이즈와 동일한 라인 넘버 가짐</a:t>
            </a:r>
            <a:endParaRPr lang="en-US" altLang="ko-KR" dirty="0"/>
          </a:p>
          <a:p>
            <a:pPr lvl="1"/>
            <a:r>
              <a:rPr lang="ko-KR" altLang="en-US" dirty="0"/>
              <a:t>작동방법 </a:t>
            </a:r>
            <a:r>
              <a:rPr lang="en-US" altLang="ko-KR" dirty="0"/>
              <a:t>: CPU</a:t>
            </a:r>
            <a:r>
              <a:rPr lang="ko-KR" altLang="en-US" dirty="0"/>
              <a:t>가 캐쉬 내에 </a:t>
            </a:r>
            <a:r>
              <a:rPr lang="en-US" altLang="ko-KR" dirty="0"/>
              <a:t>data </a:t>
            </a:r>
            <a:r>
              <a:rPr lang="ko-KR" altLang="en-US" dirty="0"/>
              <a:t>찾음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hit</a:t>
            </a:r>
            <a:r>
              <a:rPr lang="ko-KR" altLang="en-US" dirty="0">
                <a:sym typeface="Wingdings" panose="05000000000000000000" pitchFamily="2" charset="2"/>
              </a:rPr>
              <a:t>면 </a:t>
            </a:r>
            <a:r>
              <a:rPr lang="en-US" altLang="ko-KR" dirty="0">
                <a:sym typeface="Wingdings" panose="05000000000000000000" pitchFamily="2" charset="2"/>
              </a:rPr>
              <a:t>ok, miss</a:t>
            </a:r>
            <a:r>
              <a:rPr lang="ko-KR" altLang="en-US" dirty="0">
                <a:sym typeface="Wingdings" panose="05000000000000000000" pitchFamily="2" charset="2"/>
              </a:rPr>
              <a:t>면 블록을 통째로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지우고 메인 메모리에서 블록 째로 가져와 다시 찾음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비효율적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Logical and physical Cache</a:t>
            </a:r>
          </a:p>
          <a:p>
            <a:pPr lvl="1"/>
            <a:r>
              <a:rPr lang="en-US" altLang="ko-KR" dirty="0"/>
              <a:t>Virtual memory : </a:t>
            </a:r>
            <a:br>
              <a:rPr lang="en-US" altLang="ko-KR" dirty="0"/>
            </a:br>
            <a:r>
              <a:rPr lang="en-US" altLang="ko-KR" dirty="0"/>
              <a:t>CPU</a:t>
            </a:r>
            <a:r>
              <a:rPr lang="ko-KR" altLang="en-US" dirty="0"/>
              <a:t>는 </a:t>
            </a:r>
            <a:r>
              <a:rPr lang="en-US" altLang="ko-KR" dirty="0"/>
              <a:t>mem</a:t>
            </a:r>
            <a:r>
              <a:rPr lang="ko-KR" altLang="en-US" dirty="0"/>
              <a:t>이 없더라도 </a:t>
            </a:r>
            <a:br>
              <a:rPr lang="en-US" altLang="ko-KR" dirty="0"/>
            </a:br>
            <a:r>
              <a:rPr lang="ko-KR" altLang="en-US" dirty="0"/>
              <a:t>마치 있는 것 처럼 다룸</a:t>
            </a:r>
            <a:endParaRPr lang="en-US" altLang="ko-KR" dirty="0"/>
          </a:p>
          <a:p>
            <a:pPr lvl="1"/>
            <a:r>
              <a:rPr lang="en-US" altLang="ko-KR" dirty="0"/>
              <a:t>Logical</a:t>
            </a:r>
            <a:r>
              <a:rPr lang="ko-KR" altLang="en-US" dirty="0"/>
              <a:t> </a:t>
            </a:r>
            <a:r>
              <a:rPr lang="en-US" altLang="ko-KR" dirty="0"/>
              <a:t>cache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logical</a:t>
            </a:r>
            <a:r>
              <a:rPr lang="ko-KR" altLang="en-US" dirty="0"/>
              <a:t> </a:t>
            </a:r>
            <a:r>
              <a:rPr lang="en-US" altLang="ko-KR" dirty="0"/>
              <a:t>address</a:t>
            </a:r>
            <a:r>
              <a:rPr lang="ko-KR" altLang="en-US" dirty="0"/>
              <a:t> 에서 </a:t>
            </a:r>
            <a:r>
              <a:rPr lang="ko-KR" altLang="en-US" dirty="0" err="1"/>
              <a:t>태깅</a:t>
            </a:r>
            <a:endParaRPr lang="en-US" altLang="ko-KR" dirty="0"/>
          </a:p>
          <a:p>
            <a:pPr lvl="1"/>
            <a:r>
              <a:rPr lang="en-US" altLang="ko-KR" dirty="0"/>
              <a:t>Physical cache : </a:t>
            </a:r>
          </a:p>
          <a:p>
            <a:pPr lvl="2"/>
            <a:r>
              <a:rPr lang="en-US" altLang="ko-KR" dirty="0"/>
              <a:t>MMU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logi</a:t>
            </a:r>
            <a:r>
              <a:rPr lang="ko-KR" altLang="en-US" dirty="0"/>
              <a:t> </a:t>
            </a:r>
            <a:r>
              <a:rPr lang="en-US" altLang="ko-KR" dirty="0"/>
              <a:t>add &lt;-&gt; </a:t>
            </a:r>
            <a:r>
              <a:rPr lang="en-US" altLang="ko-KR" dirty="0" err="1"/>
              <a:t>phy</a:t>
            </a:r>
            <a:r>
              <a:rPr lang="en-US" altLang="ko-KR" dirty="0"/>
              <a:t> add</a:t>
            </a:r>
            <a:br>
              <a:rPr lang="en-US" altLang="ko-KR" dirty="0"/>
            </a:br>
            <a:r>
              <a:rPr lang="ko-KR" altLang="en-US" dirty="0"/>
              <a:t>사이의 변환</a:t>
            </a:r>
            <a:endParaRPr lang="en-US" altLang="ko-KR" dirty="0"/>
          </a:p>
          <a:p>
            <a:pPr lvl="2"/>
            <a:r>
              <a:rPr lang="en-US" altLang="ko-KR" dirty="0"/>
              <a:t>Physical cache : </a:t>
            </a:r>
            <a:r>
              <a:rPr lang="en-US" altLang="ko-KR" dirty="0" err="1"/>
              <a:t>phy</a:t>
            </a:r>
            <a:r>
              <a:rPr lang="en-US" altLang="ko-KR" dirty="0"/>
              <a:t> add</a:t>
            </a:r>
            <a:r>
              <a:rPr lang="ko-KR" altLang="en-US" dirty="0"/>
              <a:t>를 </a:t>
            </a:r>
            <a:r>
              <a:rPr lang="en-US" altLang="ko-KR" dirty="0"/>
              <a:t>tagging</a:t>
            </a:r>
          </a:p>
          <a:p>
            <a:pPr lvl="2"/>
            <a:r>
              <a:rPr lang="ko-KR" altLang="en-US" dirty="0"/>
              <a:t>모자란다면</a:t>
            </a:r>
            <a:r>
              <a:rPr lang="en-US" altLang="ko-KR" dirty="0"/>
              <a:t>? Ex) LA=10TB, PA=10GB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SSD/HDD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878E18-1CCA-B961-BA46-72EDEB778C7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object 16">
            <a:extLst>
              <a:ext uri="{FF2B5EF4-FFF2-40B4-BE49-F238E27FC236}">
                <a16:creationId xmlns:a16="http://schemas.microsoft.com/office/drawing/2014/main" id="{A7DD4C7F-0B59-EA9C-46F6-7988437393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3075" y="587088"/>
            <a:ext cx="2700300" cy="2330760"/>
          </a:xfrm>
          <a:prstGeom prst="rect">
            <a:avLst/>
          </a:prstGeom>
        </p:spPr>
      </p:pic>
      <p:pic>
        <p:nvPicPr>
          <p:cNvPr id="8" name="object 23">
            <a:extLst>
              <a:ext uri="{FF2B5EF4-FFF2-40B4-BE49-F238E27FC236}">
                <a16:creationId xmlns:a16="http://schemas.microsoft.com/office/drawing/2014/main" id="{FCB3A51D-4167-402F-D3BF-99D032E7D6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3075" y="3393212"/>
            <a:ext cx="2704352" cy="1944216"/>
          </a:xfrm>
          <a:prstGeom prst="rect">
            <a:avLst/>
          </a:prstGeom>
        </p:spPr>
      </p:pic>
      <p:pic>
        <p:nvPicPr>
          <p:cNvPr id="9" name="object 24">
            <a:extLst>
              <a:ext uri="{FF2B5EF4-FFF2-40B4-BE49-F238E27FC236}">
                <a16:creationId xmlns:a16="http://schemas.microsoft.com/office/drawing/2014/main" id="{1E85F506-82F7-524A-14AE-C7F7CE2A6BD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9445" y="5624201"/>
            <a:ext cx="2533931" cy="24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5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A0D23AF-8F83-30B3-2729-6C1944C84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BC2B02B-D299-734A-FED3-B1C60340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Direct/Associative mapping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9D60BC-09DA-BE48-17F7-87D520FA50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4538B3-0052-C526-DA16-371AC5B42E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Direct mapping</a:t>
            </a:r>
          </a:p>
          <a:p>
            <a:pPr lvl="1"/>
            <a:r>
              <a:rPr lang="ko-KR" altLang="en-US" dirty="0"/>
              <a:t>메인</a:t>
            </a:r>
            <a:r>
              <a:rPr lang="en-US" altLang="ko-KR" dirty="0"/>
              <a:t> MEM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캐쉬</a:t>
            </a:r>
            <a:r>
              <a:rPr lang="en-US" altLang="ko-KR" dirty="0">
                <a:sym typeface="Wingdings" panose="05000000000000000000" pitchFamily="2" charset="2"/>
              </a:rPr>
              <a:t> MEM</a:t>
            </a:r>
            <a:r>
              <a:rPr lang="ko-KR" altLang="en-US" dirty="0">
                <a:sym typeface="Wingdings" panose="05000000000000000000" pitchFamily="2" charset="2"/>
              </a:rPr>
              <a:t>이 </a:t>
            </a:r>
            <a:r>
              <a:rPr lang="en-US" altLang="ko-KR" dirty="0">
                <a:sym typeface="Wingdings" panose="05000000000000000000" pitchFamily="2" charset="2"/>
              </a:rPr>
              <a:t>1:1 </a:t>
            </a:r>
            <a:r>
              <a:rPr lang="ko-KR" altLang="en-US" dirty="0">
                <a:sym typeface="Wingdings" panose="05000000000000000000" pitchFamily="2" charset="2"/>
              </a:rPr>
              <a:t>대응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라인에 붙어있는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Tag</a:t>
            </a:r>
            <a:r>
              <a:rPr lang="ko-KR" altLang="en-US" dirty="0">
                <a:sym typeface="Wingdings" panose="05000000000000000000" pitchFamily="2" charset="2"/>
              </a:rPr>
              <a:t>가 몇 블록인지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보여줌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Direct mapping example</a:t>
            </a:r>
          </a:p>
          <a:p>
            <a:pPr lvl="1"/>
            <a:r>
              <a:rPr lang="ko-KR" altLang="en-US" dirty="0"/>
              <a:t>작동 원리 </a:t>
            </a:r>
            <a:r>
              <a:rPr lang="en-US" altLang="ko-KR" dirty="0"/>
              <a:t>: </a:t>
            </a:r>
            <a:r>
              <a:rPr lang="ko-KR" altLang="en-US" dirty="0"/>
              <a:t>열람실에서 </a:t>
            </a:r>
            <a:br>
              <a:rPr lang="en-US" altLang="ko-KR" dirty="0"/>
            </a:br>
            <a:r>
              <a:rPr lang="ko-KR" altLang="en-US" dirty="0"/>
              <a:t>학번과 자리를 </a:t>
            </a:r>
            <a:r>
              <a:rPr lang="en-US" altLang="ko-KR" dirty="0"/>
              <a:t>1:1 </a:t>
            </a:r>
            <a:r>
              <a:rPr lang="ko-KR" altLang="en-US" dirty="0"/>
              <a:t>매칭</a:t>
            </a:r>
            <a:endParaRPr lang="en-US" altLang="ko-KR" dirty="0"/>
          </a:p>
          <a:p>
            <a:pPr lvl="2"/>
            <a:r>
              <a:rPr lang="ko-KR" altLang="en-US" dirty="0"/>
              <a:t>학생은 학번 뒷자리 숫자에</a:t>
            </a:r>
            <a:br>
              <a:rPr lang="en-US" altLang="ko-KR" dirty="0"/>
            </a:br>
            <a:r>
              <a:rPr lang="ko-KR" altLang="en-US" dirty="0"/>
              <a:t>배정된 좌석만 이용 가능</a:t>
            </a:r>
            <a:endParaRPr lang="en-US" altLang="ko-KR" dirty="0"/>
          </a:p>
          <a:p>
            <a:pPr lvl="2"/>
            <a:r>
              <a:rPr lang="ko-KR" altLang="en-US" dirty="0"/>
              <a:t>다른 학생이 이용하고 </a:t>
            </a:r>
            <a:br>
              <a:rPr lang="en-US" altLang="ko-KR" dirty="0"/>
            </a:br>
            <a:r>
              <a:rPr lang="ko-KR" altLang="en-US" dirty="0"/>
              <a:t>싶으면</a:t>
            </a:r>
            <a:r>
              <a:rPr lang="en-US" altLang="ko-KR" dirty="0"/>
              <a:t> </a:t>
            </a:r>
            <a:r>
              <a:rPr lang="ko-KR" altLang="en-US" dirty="0"/>
              <a:t>원래 학생 나가야 함</a:t>
            </a:r>
            <a:endParaRPr lang="en-US" altLang="ko-KR" dirty="0"/>
          </a:p>
          <a:p>
            <a:pPr lvl="2"/>
            <a:r>
              <a:rPr lang="ko-KR" altLang="en-US" dirty="0"/>
              <a:t>학생을 찾는 방법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학생이 학번 뒷자리와 </a:t>
            </a:r>
            <a:br>
              <a:rPr lang="en-US" altLang="ko-KR" dirty="0"/>
            </a:br>
            <a:r>
              <a:rPr lang="ko-KR" altLang="en-US" dirty="0"/>
              <a:t>매칭되므로 해당 좌석에</a:t>
            </a:r>
            <a:br>
              <a:rPr lang="en-US" altLang="ko-KR" dirty="0"/>
            </a:br>
            <a:r>
              <a:rPr lang="ko-KR" altLang="en-US" dirty="0"/>
              <a:t>가서 확인만 하면 됨</a:t>
            </a:r>
            <a:endParaRPr lang="en-US" altLang="ko-KR" dirty="0"/>
          </a:p>
          <a:p>
            <a:pPr lvl="1"/>
            <a:r>
              <a:rPr lang="en-US" altLang="ko-KR" dirty="0"/>
              <a:t>Tag : </a:t>
            </a:r>
            <a:r>
              <a:rPr lang="ko-KR" altLang="en-US" dirty="0" err="1"/>
              <a:t>몇번째</a:t>
            </a:r>
            <a:r>
              <a:rPr lang="ko-KR" altLang="en-US" dirty="0"/>
              <a:t> 블록인지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서로 다른 학번 앞자리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Line Number : </a:t>
            </a:r>
            <a:r>
              <a:rPr lang="ko-KR" altLang="en-US" dirty="0"/>
              <a:t>캐시</a:t>
            </a:r>
            <a:r>
              <a:rPr lang="en-US" altLang="ko-KR" dirty="0"/>
              <a:t> </a:t>
            </a:r>
            <a:r>
              <a:rPr lang="ko-KR" altLang="en-US" dirty="0"/>
              <a:t>상에서의</a:t>
            </a:r>
            <a:br>
              <a:rPr lang="en-US" altLang="ko-KR" dirty="0"/>
            </a:br>
            <a:r>
              <a:rPr lang="ko-KR" altLang="en-US" dirty="0"/>
              <a:t>주소 </a:t>
            </a:r>
            <a:r>
              <a:rPr lang="en-US" altLang="ko-KR" dirty="0"/>
              <a:t>(</a:t>
            </a:r>
            <a:r>
              <a:rPr lang="ko-KR" altLang="en-US" dirty="0"/>
              <a:t>서로 같은 학번 뒷자리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문제점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같은 </a:t>
            </a:r>
            <a:r>
              <a:rPr lang="ko-KR" altLang="en-US" dirty="0" err="1"/>
              <a:t>라인넘버</a:t>
            </a:r>
            <a:r>
              <a:rPr lang="ko-KR" altLang="en-US" dirty="0"/>
              <a:t> 내에 계속 </a:t>
            </a:r>
            <a:r>
              <a:rPr lang="ko-KR" altLang="en-US" dirty="0" err="1"/>
              <a:t>엑세스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계속 지웠다 써졌다 반복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캐시가 있으나 </a:t>
            </a:r>
            <a:r>
              <a:rPr lang="ko-KR" altLang="en-US" dirty="0" err="1">
                <a:sym typeface="Wingdings" panose="05000000000000000000" pitchFamily="2" charset="2"/>
              </a:rPr>
              <a:t>마나함</a:t>
            </a:r>
            <a:endParaRPr lang="en-US" altLang="ko-KR" dirty="0"/>
          </a:p>
          <a:p>
            <a:r>
              <a:rPr lang="en-US" altLang="ko-KR" dirty="0"/>
              <a:t>Associative mapping : </a:t>
            </a:r>
            <a:r>
              <a:rPr lang="ko-KR" altLang="en-US" dirty="0"/>
              <a:t>문제의 해결법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어느 학생이든 열람실 빈 자리에 아무 </a:t>
            </a:r>
            <a:br>
              <a:rPr lang="en-US" altLang="ko-KR" dirty="0"/>
            </a:br>
            <a:r>
              <a:rPr lang="ko-KR" altLang="en-US" dirty="0"/>
              <a:t>자리나 앉을 수 있음</a:t>
            </a:r>
            <a:br>
              <a:rPr lang="en-US" altLang="ko-KR" dirty="0"/>
            </a:br>
            <a:r>
              <a:rPr lang="en-US" altLang="ko-KR" dirty="0"/>
              <a:t>(= </a:t>
            </a:r>
            <a:r>
              <a:rPr lang="ko-KR" altLang="en-US" dirty="0"/>
              <a:t>메모리의</a:t>
            </a:r>
            <a:r>
              <a:rPr lang="en-US" altLang="ko-KR" dirty="0"/>
              <a:t> </a:t>
            </a:r>
            <a:r>
              <a:rPr lang="ko-KR" altLang="en-US" dirty="0"/>
              <a:t>어떤 블록이든 캐시의 </a:t>
            </a:r>
            <a:br>
              <a:rPr lang="en-US" altLang="ko-KR" dirty="0"/>
            </a:br>
            <a:r>
              <a:rPr lang="ko-KR" altLang="en-US" dirty="0"/>
              <a:t>어떤 라인으로 매핑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데이터를 찾으려면 캐시 내의 </a:t>
            </a:r>
            <a:br>
              <a:rPr lang="en-US" altLang="ko-KR" dirty="0"/>
            </a:br>
            <a:r>
              <a:rPr lang="ko-KR" altLang="en-US" dirty="0"/>
              <a:t>라인을 일일이 찾아야 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9AC9E0A-1474-08C4-0935-D7226754A39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object 60">
            <a:extLst>
              <a:ext uri="{FF2B5EF4-FFF2-40B4-BE49-F238E27FC236}">
                <a16:creationId xmlns:a16="http://schemas.microsoft.com/office/drawing/2014/main" id="{D2752112-8066-4591-DA18-8C0CC0A47AE4}"/>
              </a:ext>
            </a:extLst>
          </p:cNvPr>
          <p:cNvPicPr/>
          <p:nvPr/>
        </p:nvPicPr>
        <p:blipFill>
          <a:blip r:embed="rId2" cstate="print"/>
          <a:srcRect l="7225" t="6342" r="4961" b="50327"/>
          <a:stretch/>
        </p:blipFill>
        <p:spPr>
          <a:xfrm>
            <a:off x="3320989" y="690286"/>
            <a:ext cx="1620178" cy="1190643"/>
          </a:xfrm>
          <a:prstGeom prst="rect">
            <a:avLst/>
          </a:prstGeom>
        </p:spPr>
      </p:pic>
      <p:pic>
        <p:nvPicPr>
          <p:cNvPr id="8" name="object 83">
            <a:extLst>
              <a:ext uri="{FF2B5EF4-FFF2-40B4-BE49-F238E27FC236}">
                <a16:creationId xmlns:a16="http://schemas.microsoft.com/office/drawing/2014/main" id="{9B29DBE4-8118-7D0D-1694-D1313B174A34}"/>
              </a:ext>
            </a:extLst>
          </p:cNvPr>
          <p:cNvPicPr/>
          <p:nvPr/>
        </p:nvPicPr>
        <p:blipFill>
          <a:blip r:embed="rId3" cstate="print"/>
          <a:srcRect l="4520"/>
          <a:stretch/>
        </p:blipFill>
        <p:spPr>
          <a:xfrm>
            <a:off x="3779437" y="1928664"/>
            <a:ext cx="3051383" cy="3456384"/>
          </a:xfrm>
          <a:prstGeom prst="rect">
            <a:avLst/>
          </a:prstGeom>
        </p:spPr>
      </p:pic>
      <p:pic>
        <p:nvPicPr>
          <p:cNvPr id="9" name="object 27">
            <a:extLst>
              <a:ext uri="{FF2B5EF4-FFF2-40B4-BE49-F238E27FC236}">
                <a16:creationId xmlns:a16="http://schemas.microsoft.com/office/drawing/2014/main" id="{8A68CD48-D796-3697-FCDA-C9BBC2030AB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9080" y="5418541"/>
            <a:ext cx="2628481" cy="2702811"/>
          </a:xfrm>
          <a:prstGeom prst="rect">
            <a:avLst/>
          </a:prstGeom>
        </p:spPr>
      </p:pic>
      <p:pic>
        <p:nvPicPr>
          <p:cNvPr id="10" name="object 60">
            <a:extLst>
              <a:ext uri="{FF2B5EF4-FFF2-40B4-BE49-F238E27FC236}">
                <a16:creationId xmlns:a16="http://schemas.microsoft.com/office/drawing/2014/main" id="{DEA681C7-C7FA-D5C7-F538-4E6EBB44EEE2}"/>
              </a:ext>
            </a:extLst>
          </p:cNvPr>
          <p:cNvPicPr/>
          <p:nvPr/>
        </p:nvPicPr>
        <p:blipFill>
          <a:blip r:embed="rId2" cstate="print"/>
          <a:srcRect l="8498" t="58071" r="7930"/>
          <a:stretch/>
        </p:blipFill>
        <p:spPr>
          <a:xfrm>
            <a:off x="5013175" y="690286"/>
            <a:ext cx="1793573" cy="119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54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CC8E978-A4ED-CA2D-328B-EB2A73CF4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2EB05C-1BBE-597B-5E29-F3595ACB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/>
              <a:t>associative</a:t>
            </a:r>
            <a:r>
              <a:rPr lang="ko-KR" altLang="en-US" dirty="0"/>
              <a:t> </a:t>
            </a:r>
            <a:r>
              <a:rPr lang="en-US" altLang="ko-KR" dirty="0"/>
              <a:t>mapping/cache update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F8AD25-56FB-D9CE-EA9F-3AB44D7E4D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E5D3557-9653-EAF8-CAB1-3E3766D77F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/>
              <a:t>associative mapping</a:t>
            </a:r>
          </a:p>
          <a:p>
            <a:pPr lvl="1"/>
            <a:r>
              <a:rPr lang="en-US" altLang="ko-KR" dirty="0"/>
              <a:t>Direct</a:t>
            </a:r>
            <a:r>
              <a:rPr lang="ko-KR" altLang="en-US" dirty="0"/>
              <a:t>가 여러 세트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여러 개의 열람실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캐시의 세트 개수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열람실의 수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2way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set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associative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mapping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example</a:t>
            </a:r>
          </a:p>
          <a:p>
            <a:pPr lvl="1"/>
            <a:r>
              <a:rPr lang="en-US" altLang="ko-KR" dirty="0"/>
              <a:t>Virt. MEM</a:t>
            </a:r>
          </a:p>
          <a:p>
            <a:pPr lvl="2"/>
            <a:r>
              <a:rPr lang="ko-KR" altLang="en-US" dirty="0"/>
              <a:t>캐시 </a:t>
            </a:r>
            <a:r>
              <a:rPr lang="en-US" altLang="ko-KR" dirty="0"/>
              <a:t>-&gt; Mem </a:t>
            </a:r>
            <a:r>
              <a:rPr lang="ko-KR" altLang="en-US" dirty="0"/>
              <a:t>포지션</a:t>
            </a:r>
            <a:endParaRPr lang="en-US" altLang="ko-KR" dirty="0"/>
          </a:p>
          <a:p>
            <a:pPr lvl="2"/>
            <a:r>
              <a:rPr lang="ko-KR" altLang="en-US" dirty="0"/>
              <a:t>하드로 보낼 </a:t>
            </a:r>
            <a:r>
              <a:rPr lang="ko-KR" altLang="en-US" dirty="0" err="1"/>
              <a:t>껀데</a:t>
            </a:r>
            <a:br>
              <a:rPr lang="en-US" altLang="ko-KR" dirty="0"/>
            </a:br>
            <a:r>
              <a:rPr lang="ko-KR" altLang="en-US" dirty="0"/>
              <a:t>어떻게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캐시에서 데이터를 </a:t>
            </a:r>
            <a:br>
              <a:rPr lang="en-US" altLang="ko-KR" dirty="0"/>
            </a:br>
            <a:r>
              <a:rPr lang="ko-KR" altLang="en-US" dirty="0"/>
              <a:t>찾는 법</a:t>
            </a:r>
            <a:endParaRPr lang="en-US" altLang="ko-KR" dirty="0"/>
          </a:p>
          <a:p>
            <a:pPr lvl="2"/>
            <a:r>
              <a:rPr lang="ko-KR" altLang="en-US" dirty="0"/>
              <a:t>두 캐시 세트의 </a:t>
            </a:r>
            <a:r>
              <a:rPr lang="en-US" altLang="ko-KR" dirty="0"/>
              <a:t>Set</a:t>
            </a:r>
            <a:br>
              <a:rPr lang="en-US" altLang="ko-KR" dirty="0"/>
            </a:br>
            <a:r>
              <a:rPr lang="en-US" altLang="ko-KR" dirty="0"/>
              <a:t>Number</a:t>
            </a:r>
            <a:r>
              <a:rPr lang="ko-KR" altLang="en-US" dirty="0"/>
              <a:t>만 찾아내서 비교하면 됨</a:t>
            </a:r>
            <a:r>
              <a:rPr lang="en-US" altLang="ko-KR" dirty="0"/>
              <a:t> (</a:t>
            </a:r>
            <a:r>
              <a:rPr lang="ko-KR" altLang="en-US" dirty="0"/>
              <a:t>지정좌석이 있으므로 열람실만 바꿔가며 확인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캐시 세트를 얼만큼 늘려야 하나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-&gt; 4way cache</a:t>
            </a:r>
            <a:r>
              <a:rPr lang="ko-KR" altLang="en-US" dirty="0">
                <a:sym typeface="Wingdings" panose="05000000000000000000" pitchFamily="2" charset="2"/>
              </a:rPr>
              <a:t>정도면 </a:t>
            </a:r>
            <a:r>
              <a:rPr lang="en-US" altLang="ko-KR" dirty="0">
                <a:sym typeface="Wingdings" panose="05000000000000000000" pitchFamily="2" charset="2"/>
              </a:rPr>
              <a:t>ok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Replacement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algorithms (</a:t>
            </a:r>
            <a:r>
              <a:rPr lang="ko-KR" altLang="en-US" dirty="0">
                <a:sym typeface="Wingdings" panose="05000000000000000000" pitchFamily="2" charset="2"/>
              </a:rPr>
              <a:t>캐시 업데이트 방식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Least recently used(LRU)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가장 예전에 사용된 걸 교체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가장 최근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또 사용될 가능성 높으므로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 err="1">
                <a:sym typeface="Wingdings" panose="05000000000000000000" pitchFamily="2" charset="2"/>
              </a:rPr>
              <a:t>로컬리티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그 지역만 계속 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/>
              <a:t>First in first out(FIFO) : </a:t>
            </a:r>
            <a:r>
              <a:rPr lang="ko-KR" altLang="en-US" dirty="0"/>
              <a:t>가장</a:t>
            </a:r>
            <a:r>
              <a:rPr lang="en-US" altLang="ko-KR" dirty="0"/>
              <a:t> </a:t>
            </a:r>
            <a:r>
              <a:rPr lang="ko-KR" altLang="en-US" dirty="0"/>
              <a:t>일찍 들어온 걸 교체</a:t>
            </a:r>
            <a:endParaRPr lang="en-US" altLang="ko-KR" dirty="0"/>
          </a:p>
          <a:p>
            <a:pPr lvl="1"/>
            <a:r>
              <a:rPr lang="en-US" altLang="ko-KR" dirty="0"/>
              <a:t>Least</a:t>
            </a:r>
            <a:r>
              <a:rPr lang="ko-KR" altLang="en-US" dirty="0"/>
              <a:t> </a:t>
            </a:r>
            <a:r>
              <a:rPr lang="en-US" altLang="ko-KR" dirty="0"/>
              <a:t>frequently</a:t>
            </a:r>
            <a:r>
              <a:rPr lang="ko-KR" altLang="en-US" dirty="0"/>
              <a:t> </a:t>
            </a:r>
            <a:r>
              <a:rPr lang="en-US" altLang="ko-KR" dirty="0" err="1"/>
              <a:t>uesd</a:t>
            </a:r>
            <a:r>
              <a:rPr lang="en-US" altLang="ko-KR" dirty="0"/>
              <a:t>(LFU)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가장 적게 사용된 걸 교체</a:t>
            </a:r>
            <a:endParaRPr lang="en-US" altLang="ko-KR" dirty="0"/>
          </a:p>
          <a:p>
            <a:r>
              <a:rPr lang="en-US" altLang="ko-KR" dirty="0"/>
              <a:t>Write policy</a:t>
            </a:r>
          </a:p>
          <a:p>
            <a:pPr lvl="1"/>
            <a:r>
              <a:rPr lang="en-US" altLang="ko-KR" dirty="0"/>
              <a:t>‘</a:t>
            </a:r>
            <a:r>
              <a:rPr lang="ko-KR" altLang="en-US" dirty="0"/>
              <a:t>어떻게 쓸 것인가</a:t>
            </a:r>
            <a:r>
              <a:rPr lang="en-US" altLang="ko-KR" dirty="0"/>
              <a:t>?’ : </a:t>
            </a:r>
            <a:r>
              <a:rPr lang="ko-KR" altLang="en-US" dirty="0"/>
              <a:t>캐시에 쓰는 시간 필요</a:t>
            </a:r>
            <a:endParaRPr lang="en-US" altLang="ko-KR" dirty="0"/>
          </a:p>
          <a:p>
            <a:pPr lvl="2"/>
            <a:r>
              <a:rPr lang="en-US" altLang="ko-KR" dirty="0"/>
              <a:t>Write through : </a:t>
            </a:r>
            <a:r>
              <a:rPr lang="ko-KR" altLang="en-US" dirty="0"/>
              <a:t>읽은</a:t>
            </a:r>
            <a:r>
              <a:rPr lang="en-US" altLang="ko-KR" dirty="0"/>
              <a:t> </a:t>
            </a:r>
            <a:r>
              <a:rPr lang="ko-KR" altLang="en-US" dirty="0"/>
              <a:t>다음에 쓰는 것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/>
              <a:t>성능↓</a:t>
            </a:r>
            <a:r>
              <a:rPr lang="en-US" altLang="ko-KR" dirty="0"/>
              <a:t>,</a:t>
            </a:r>
            <a:r>
              <a:rPr lang="ko-KR" altLang="en-US" dirty="0" err="1"/>
              <a:t>심플</a:t>
            </a:r>
            <a:endParaRPr lang="en-US" altLang="ko-KR" dirty="0"/>
          </a:p>
          <a:p>
            <a:pPr lvl="2"/>
            <a:r>
              <a:rPr lang="en-US" altLang="ko-KR" dirty="0"/>
              <a:t>Write back : </a:t>
            </a:r>
            <a:r>
              <a:rPr lang="ko-KR" altLang="en-US" dirty="0"/>
              <a:t>읽은 다음 사용하고 나중에 씀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성능 ↑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복잡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WT &amp; WB </a:t>
            </a:r>
            <a:r>
              <a:rPr lang="ko-KR" altLang="en-US" dirty="0">
                <a:sym typeface="Wingdings" panose="05000000000000000000" pitchFamily="2" charset="2"/>
              </a:rPr>
              <a:t>문제</a:t>
            </a:r>
            <a:r>
              <a:rPr lang="en-US" altLang="ko-KR" dirty="0">
                <a:sym typeface="Wingdings" panose="05000000000000000000" pitchFamily="2" charset="2"/>
              </a:rPr>
              <a:t>? : </a:t>
            </a:r>
            <a:r>
              <a:rPr lang="ko-KR" altLang="en-US" dirty="0">
                <a:sym typeface="Wingdings" panose="05000000000000000000" pitchFamily="2" charset="2"/>
              </a:rPr>
              <a:t>코어가 여러 개면 문제 발생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Multilevel cache</a:t>
            </a:r>
          </a:p>
          <a:p>
            <a:pPr lvl="1"/>
            <a:r>
              <a:rPr lang="en-US" altLang="ko-KR" dirty="0"/>
              <a:t>2-level cache : L1, L2 </a:t>
            </a:r>
            <a:r>
              <a:rPr lang="en-US" altLang="ko-KR" dirty="0">
                <a:sym typeface="Wingdings" panose="05000000000000000000" pitchFamily="2" charset="2"/>
              </a:rPr>
              <a:t>-&gt; L2 </a:t>
            </a:r>
            <a:r>
              <a:rPr lang="ko-KR" altLang="en-US" dirty="0">
                <a:sym typeface="Wingdings" panose="05000000000000000000" pitchFamily="2" charset="2"/>
              </a:rPr>
              <a:t>적용시 </a:t>
            </a:r>
            <a:r>
              <a:rPr lang="en-US" altLang="ko-KR" dirty="0">
                <a:sym typeface="Wingdings" panose="05000000000000000000" pitchFamily="2" charset="2"/>
              </a:rPr>
              <a:t>hit ratio </a:t>
            </a:r>
            <a:r>
              <a:rPr lang="ko-KR" altLang="en-US" dirty="0">
                <a:sym typeface="Wingdings" panose="05000000000000000000" pitchFamily="2" charset="2"/>
              </a:rPr>
              <a:t>증가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Intel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Nehalem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architecture (</a:t>
            </a:r>
            <a:r>
              <a:rPr lang="ko-KR" altLang="en-US" dirty="0">
                <a:sym typeface="Wingdings" panose="05000000000000000000" pitchFamily="2" charset="2"/>
              </a:rPr>
              <a:t>오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/>
              <a:t>색이 있는 박스부분 </a:t>
            </a:r>
            <a:r>
              <a:rPr lang="en-US" altLang="ko-KR" dirty="0"/>
              <a:t>: Inst.</a:t>
            </a:r>
          </a:p>
          <a:p>
            <a:pPr lvl="1"/>
            <a:r>
              <a:rPr lang="ko-KR" altLang="en-US" dirty="0"/>
              <a:t>색 박스 윗부분 </a:t>
            </a:r>
            <a:r>
              <a:rPr lang="en-US" altLang="ko-KR" dirty="0"/>
              <a:t>: data</a:t>
            </a:r>
          </a:p>
          <a:p>
            <a:pPr lvl="1"/>
            <a:r>
              <a:rPr lang="en-US" altLang="ko-KR" dirty="0"/>
              <a:t>L3 : </a:t>
            </a:r>
            <a:r>
              <a:rPr lang="ko-KR" altLang="en-US" dirty="0"/>
              <a:t>메모리로부터 읽음</a:t>
            </a:r>
            <a:r>
              <a:rPr lang="en-US" altLang="ko-KR" dirty="0"/>
              <a:t>, </a:t>
            </a:r>
            <a:r>
              <a:rPr lang="ko-KR" altLang="en-US" dirty="0"/>
              <a:t>속도 </a:t>
            </a:r>
            <a:r>
              <a:rPr lang="ko-KR" altLang="en-US" dirty="0" err="1"/>
              <a:t>빠르게함</a:t>
            </a:r>
            <a:endParaRPr lang="en-US" altLang="ko-KR" dirty="0"/>
          </a:p>
          <a:p>
            <a:pPr lvl="1"/>
            <a:r>
              <a:rPr lang="en-US" altLang="ko-KR" dirty="0"/>
              <a:t>L2 : CPU </a:t>
            </a:r>
            <a:r>
              <a:rPr lang="ko-KR" altLang="en-US" dirty="0"/>
              <a:t>코어끼리 공유</a:t>
            </a:r>
            <a:endParaRPr lang="en-US" altLang="ko-KR" dirty="0"/>
          </a:p>
          <a:p>
            <a:pPr lvl="1"/>
            <a:r>
              <a:rPr lang="en-US" altLang="ko-KR" dirty="0"/>
              <a:t>L1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Inst/data</a:t>
            </a:r>
            <a:r>
              <a:rPr lang="ko-KR" altLang="en-US" dirty="0"/>
              <a:t>를 분리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67E397-A6A8-123C-EE33-4E7500D78FE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8ADAA4AB-2AFE-73F0-012B-47B63C2EB3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2976" y="560512"/>
            <a:ext cx="3598164" cy="269138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0AAD14-F2F2-F686-0758-3B6867CE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20" y="6027166"/>
            <a:ext cx="1671793" cy="207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9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2E3CF4-891D-3C3E-0B3E-F2401FF50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445C9B-6420-A801-5113-A231221A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총정리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67D3B-8D46-E3CE-AD22-78932280EE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D154FC7-089B-6404-91EB-74ABFDBD6E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컴시</a:t>
            </a:r>
            <a:r>
              <a:rPr lang="ko-KR" altLang="en-US" dirty="0"/>
              <a:t> 개요</a:t>
            </a:r>
            <a:endParaRPr lang="en-US" altLang="ko-KR" dirty="0"/>
          </a:p>
          <a:p>
            <a:pPr lvl="1"/>
            <a:r>
              <a:rPr lang="ko-KR" altLang="en-US" dirty="0" err="1"/>
              <a:t>폰노</a:t>
            </a:r>
            <a:r>
              <a:rPr lang="ko-KR" altLang="en-US" dirty="0"/>
              <a:t> </a:t>
            </a:r>
            <a:r>
              <a:rPr lang="en-US" altLang="ko-KR" dirty="0"/>
              <a:t>: mem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모든 </a:t>
            </a:r>
            <a:r>
              <a:rPr lang="en-US" altLang="ko-KR" dirty="0" err="1"/>
              <a:t>inst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구조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단순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비용↓</a:t>
            </a:r>
            <a:r>
              <a:rPr lang="en-US" altLang="ko-KR" dirty="0">
                <a:sym typeface="Wingdings" panose="05000000000000000000" pitchFamily="2" charset="2"/>
              </a:rPr>
              <a:t>; but, </a:t>
            </a:r>
            <a:r>
              <a:rPr lang="en-US" altLang="ko-KR" dirty="0" err="1">
                <a:sym typeface="Wingdings" panose="05000000000000000000" pitchFamily="2" charset="2"/>
              </a:rPr>
              <a:t>inst</a:t>
            </a:r>
            <a:r>
              <a:rPr lang="en-US" altLang="ko-KR" dirty="0">
                <a:sym typeface="Wingdings" panose="05000000000000000000" pitchFamily="2" charset="2"/>
              </a:rPr>
              <a:t>, data </a:t>
            </a:r>
            <a:r>
              <a:rPr lang="ko-KR" altLang="en-US" dirty="0">
                <a:sym typeface="Wingdings" panose="05000000000000000000" pitchFamily="2" charset="2"/>
              </a:rPr>
              <a:t>동시</a:t>
            </a:r>
            <a:r>
              <a:rPr lang="en-US" altLang="ko-KR" dirty="0">
                <a:sym typeface="Wingdings" panose="05000000000000000000" pitchFamily="2" charset="2"/>
              </a:rPr>
              <a:t>?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병목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왜</a:t>
            </a:r>
            <a:r>
              <a:rPr lang="en-US" altLang="ko-KR" dirty="0">
                <a:sym typeface="Wingdings" panose="05000000000000000000" pitchFamily="2" charset="2"/>
              </a:rPr>
              <a:t>? Add bus, data bus </a:t>
            </a:r>
            <a:r>
              <a:rPr lang="ko-KR" altLang="en-US" dirty="0">
                <a:sym typeface="Wingdings" panose="05000000000000000000" pitchFamily="2" charset="2"/>
              </a:rPr>
              <a:t>하나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하버드</a:t>
            </a:r>
            <a:r>
              <a:rPr lang="en-US" altLang="ko-KR" dirty="0">
                <a:sym typeface="Wingdings" panose="05000000000000000000" pitchFamily="2" charset="2"/>
              </a:rPr>
              <a:t> : mem</a:t>
            </a:r>
            <a:r>
              <a:rPr lang="ko-KR" altLang="en-US" dirty="0">
                <a:sym typeface="Wingdings" panose="05000000000000000000" pitchFamily="2" charset="2"/>
              </a:rPr>
              <a:t>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inst</a:t>
            </a:r>
            <a:r>
              <a:rPr lang="en-US" altLang="ko-KR" dirty="0">
                <a:sym typeface="Wingdings" panose="05000000000000000000" pitchFamily="2" charset="2"/>
              </a:rPr>
              <a:t>/data </a:t>
            </a:r>
            <a:r>
              <a:rPr lang="ko-KR" altLang="en-US" dirty="0">
                <a:sym typeface="Wingdings" panose="05000000000000000000" pitchFamily="2" charset="2"/>
              </a:rPr>
              <a:t>분리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병목 </a:t>
            </a:r>
            <a:r>
              <a:rPr lang="en-US" altLang="ko-KR" dirty="0">
                <a:sym typeface="Wingdings" panose="05000000000000000000" pitchFamily="2" charset="2"/>
              </a:rPr>
              <a:t>X; add bus, data bus 2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컴퓨터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구조와 </a:t>
            </a:r>
            <a:r>
              <a:rPr lang="en-US" altLang="ko-KR" dirty="0">
                <a:sym typeface="Wingdings" panose="05000000000000000000" pitchFamily="2" charset="2"/>
              </a:rPr>
              <a:t>CPU </a:t>
            </a:r>
            <a:r>
              <a:rPr lang="ko-KR" altLang="en-US" dirty="0">
                <a:sym typeface="Wingdings" panose="05000000000000000000" pitchFamily="2" charset="2"/>
              </a:rPr>
              <a:t>동작 과정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COM = CPU(=CU+ALU+REG) + I/O + MEM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sys bus = add bus + data bus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CPU </a:t>
            </a:r>
            <a:r>
              <a:rPr lang="ko-KR" altLang="en-US" dirty="0">
                <a:sym typeface="Wingdings" panose="05000000000000000000" pitchFamily="2" charset="2"/>
              </a:rPr>
              <a:t>내부구조</a:t>
            </a:r>
            <a:r>
              <a:rPr lang="en-US" altLang="ko-KR" dirty="0">
                <a:sym typeface="Wingdings" panose="05000000000000000000" pitchFamily="2" charset="2"/>
              </a:rPr>
              <a:t>, ISA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ALU : (</a:t>
            </a:r>
            <a:r>
              <a:rPr lang="ko-KR" altLang="en-US" dirty="0">
                <a:sym typeface="Wingdings" panose="05000000000000000000" pitchFamily="2" charset="2"/>
              </a:rPr>
              <a:t>산술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>
                <a:sym typeface="Wingdings" panose="05000000000000000000" pitchFamily="2" charset="2"/>
              </a:rPr>
              <a:t>논리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연산</a:t>
            </a:r>
            <a:r>
              <a:rPr lang="en-US" altLang="ko-KR" dirty="0">
                <a:sym typeface="Wingdings" panose="05000000000000000000" pitchFamily="2" charset="2"/>
              </a:rPr>
              <a:t>, (-) : 2</a:t>
            </a:r>
            <a:r>
              <a:rPr lang="ko-KR" altLang="en-US" dirty="0">
                <a:sym typeface="Wingdings" panose="05000000000000000000" pitchFamily="2" charset="2"/>
              </a:rPr>
              <a:t>의 보수</a:t>
            </a:r>
            <a:r>
              <a:rPr lang="en-US" altLang="ko-KR" dirty="0">
                <a:sym typeface="Wingdings" panose="05000000000000000000" pitchFamily="2" charset="2"/>
              </a:rPr>
              <a:t>, (×/÷) = </a:t>
            </a:r>
            <a:r>
              <a:rPr lang="ko-KR" altLang="en-US" dirty="0" err="1">
                <a:sym typeface="Wingdings" panose="05000000000000000000" pitchFamily="2" charset="2"/>
              </a:rPr>
              <a:t>시프터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레지 세트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레지파일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사용자 접근 가능</a:t>
            </a:r>
            <a:r>
              <a:rPr lang="en-US" altLang="ko-KR" dirty="0">
                <a:sym typeface="Wingdings" panose="05000000000000000000" pitchFamily="2" charset="2"/>
              </a:rPr>
              <a:t>(acc, r0 ...), </a:t>
            </a:r>
            <a:r>
              <a:rPr lang="ko-KR" altLang="en-US" dirty="0" err="1">
                <a:sym typeface="Wingdings" panose="05000000000000000000" pitchFamily="2" charset="2"/>
              </a:rPr>
              <a:t>접불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특목</a:t>
            </a:r>
            <a:r>
              <a:rPr lang="ko-KR" altLang="en-US" dirty="0">
                <a:sym typeface="Wingdings" panose="05000000000000000000" pitchFamily="2" charset="2"/>
              </a:rPr>
              <a:t> 레지 </a:t>
            </a:r>
            <a:r>
              <a:rPr lang="en-US" altLang="ko-KR" dirty="0">
                <a:sym typeface="Wingdings" panose="05000000000000000000" pitchFamily="2" charset="2"/>
              </a:rPr>
              <a:t>= (PC,IR,MAR,MBR) -&gt; </a:t>
            </a:r>
            <a:r>
              <a:rPr lang="ko-KR" altLang="en-US" dirty="0">
                <a:sym typeface="Wingdings" panose="05000000000000000000" pitchFamily="2" charset="2"/>
              </a:rPr>
              <a:t>컴파일러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레지에 변수 할당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ISA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특정 </a:t>
            </a:r>
            <a:r>
              <a:rPr lang="en-US" altLang="ko-KR" dirty="0">
                <a:sym typeface="Wingdings" panose="05000000000000000000" pitchFamily="2" charset="2"/>
              </a:rPr>
              <a:t>CPU </a:t>
            </a:r>
            <a:r>
              <a:rPr lang="ko-KR" altLang="en-US" dirty="0">
                <a:sym typeface="Wingdings" panose="05000000000000000000" pitchFamily="2" charset="2"/>
              </a:rPr>
              <a:t>명령 집합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RISC : </a:t>
            </a:r>
            <a:r>
              <a:rPr lang="ko-KR" altLang="en-US" dirty="0">
                <a:sym typeface="Wingdings" panose="05000000000000000000" pitchFamily="2" charset="2"/>
              </a:rPr>
              <a:t>명령 개수↓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속도↑</a:t>
            </a:r>
            <a:r>
              <a:rPr lang="en-US" altLang="ko-KR" dirty="0">
                <a:sym typeface="Wingdings" panose="05000000000000000000" pitchFamily="2" charset="2"/>
              </a:rPr>
              <a:t>, HW </a:t>
            </a:r>
            <a:r>
              <a:rPr lang="ko-KR" altLang="en-US" dirty="0">
                <a:sym typeface="Wingdings" panose="05000000000000000000" pitchFamily="2" charset="2"/>
              </a:rPr>
              <a:t>구현</a:t>
            </a:r>
            <a:r>
              <a:rPr lang="en-US" altLang="ko-KR" dirty="0">
                <a:sym typeface="Wingdings" panose="05000000000000000000" pitchFamily="2" charset="2"/>
              </a:rPr>
              <a:t>; CISC : </a:t>
            </a:r>
            <a:r>
              <a:rPr lang="ko-KR" altLang="en-US" dirty="0">
                <a:sym typeface="Wingdings" panose="05000000000000000000" pitchFamily="2" charset="2"/>
              </a:rPr>
              <a:t>명령 개수 ↑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속도 ↓</a:t>
            </a:r>
            <a:r>
              <a:rPr lang="en-US" altLang="ko-KR" dirty="0">
                <a:sym typeface="Wingdings" panose="05000000000000000000" pitchFamily="2" charset="2"/>
              </a:rPr>
              <a:t>, MP </a:t>
            </a:r>
            <a:r>
              <a:rPr lang="ko-KR" altLang="en-US" dirty="0">
                <a:sym typeface="Wingdings" panose="05000000000000000000" pitchFamily="2" charset="2"/>
              </a:rPr>
              <a:t>구현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Addressing mode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포함</a:t>
            </a:r>
            <a:r>
              <a:rPr lang="en-US" altLang="ko-KR" dirty="0">
                <a:sym typeface="Wingdings" panose="05000000000000000000" pitchFamily="2" charset="2"/>
              </a:rPr>
              <a:t> : immediate mode : ADD ACC #1234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직접</a:t>
            </a:r>
            <a:r>
              <a:rPr lang="en-US" altLang="ko-KR" dirty="0">
                <a:sym typeface="Wingdings" panose="05000000000000000000" pitchFamily="2" charset="2"/>
              </a:rPr>
              <a:t> : Register mode : ADD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R0, R1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Direct mode : ADD R3, 900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간접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참조</a:t>
            </a:r>
            <a:r>
              <a:rPr lang="en-US" altLang="ko-KR" dirty="0">
                <a:sym typeface="Wingdings" panose="05000000000000000000" pitchFamily="2" charset="2"/>
              </a:rPr>
              <a:t>) : Memory indirect mode : LOAD ACC (700)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Register indirect mode : LOAD ACC, (R5)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Register indirect mode with displacement : LOAD ACC 500(R2)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암시</a:t>
            </a:r>
            <a:r>
              <a:rPr lang="en-US" altLang="ko-KR" dirty="0">
                <a:sym typeface="Wingdings" panose="05000000000000000000" pitchFamily="2" charset="2"/>
              </a:rPr>
              <a:t> : implicit addressing mode : STP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CU </a:t>
            </a:r>
            <a:r>
              <a:rPr lang="ko-KR" altLang="en-US" dirty="0">
                <a:sym typeface="Wingdings" panose="05000000000000000000" pitchFamily="2" charset="2"/>
              </a:rPr>
              <a:t>구현 방식 </a:t>
            </a:r>
            <a:r>
              <a:rPr lang="en-US" altLang="ko-KR" dirty="0">
                <a:sym typeface="Wingdings" panose="05000000000000000000" pitchFamily="2" charset="2"/>
              </a:rPr>
              <a:t>: Hardwired : </a:t>
            </a:r>
            <a:r>
              <a:rPr lang="ko-KR" altLang="en-US" dirty="0">
                <a:sym typeface="Wingdings" panose="05000000000000000000" pitchFamily="2" charset="2"/>
              </a:rPr>
              <a:t>물리적 회로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속도↑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복잡</a:t>
            </a:r>
            <a:r>
              <a:rPr lang="en-US" altLang="ko-KR" dirty="0">
                <a:sym typeface="Wingdings" panose="05000000000000000000" pitchFamily="2" charset="2"/>
              </a:rPr>
              <a:t>, RISC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Micro programmed : ROM</a:t>
            </a:r>
            <a:r>
              <a:rPr lang="ko-KR" altLang="en-US" dirty="0">
                <a:sym typeface="Wingdings" panose="05000000000000000000" pitchFamily="2" charset="2"/>
              </a:rPr>
              <a:t>에 제어 신호 저장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속도 ↓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유연</a:t>
            </a:r>
            <a:r>
              <a:rPr lang="en-US" altLang="ko-KR" dirty="0">
                <a:sym typeface="Wingdings" panose="05000000000000000000" pitchFamily="2" charset="2"/>
              </a:rPr>
              <a:t>, CISC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Data flow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Operand system : operand(=</a:t>
            </a:r>
            <a:r>
              <a:rPr lang="ko-KR" altLang="en-US" dirty="0">
                <a:sym typeface="Wingdings" panose="05000000000000000000" pitchFamily="2" charset="2"/>
              </a:rPr>
              <a:t>피연산자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= source + destination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n-operand sys : n</a:t>
            </a:r>
            <a:r>
              <a:rPr lang="ko-KR" altLang="en-US" dirty="0">
                <a:sym typeface="Wingdings" panose="05000000000000000000" pitchFamily="2" charset="2"/>
              </a:rPr>
              <a:t>개의 피연산자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Data flow 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1)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Fetch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PC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-&gt;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MEM -&gt; IR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2) Inst decode : IR -&gt; CU -&gt; PC/ACC/ALU/MEM ..., PC -&gt; ALU -&gt; PC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3) Operand fetch : IR -&gt; MEM -&gt; ALU -&gt; (ACC)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4) Execute Inst : ACC -&gt; ALU -&gt; ACC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5) Write back : IR -&gt; MEM, ACC -&gt; MEM</a:t>
            </a:r>
          </a:p>
          <a:p>
            <a:r>
              <a:rPr lang="ko-KR" altLang="en-US" dirty="0"/>
              <a:t>성능</a:t>
            </a:r>
            <a:r>
              <a:rPr lang="en-US" altLang="ko-KR" dirty="0"/>
              <a:t> </a:t>
            </a:r>
            <a:r>
              <a:rPr lang="ko-KR" altLang="en-US" dirty="0"/>
              <a:t>향상과 파이프라인</a:t>
            </a:r>
            <a:endParaRPr lang="en-US" altLang="ko-KR" dirty="0"/>
          </a:p>
          <a:p>
            <a:pPr lvl="1"/>
            <a:r>
              <a:rPr lang="ko-KR" altLang="en-US" dirty="0" err="1"/>
              <a:t>암달</a:t>
            </a:r>
            <a:r>
              <a:rPr lang="ko-KR" altLang="en-US" dirty="0"/>
              <a:t> 법칙 </a:t>
            </a:r>
            <a:r>
              <a:rPr lang="en-US" altLang="ko-KR" dirty="0"/>
              <a:t>: </a:t>
            </a:r>
            <a:r>
              <a:rPr lang="ko-KR" altLang="en-US" dirty="0"/>
              <a:t>시스템 일부 향상 </a:t>
            </a:r>
            <a:r>
              <a:rPr lang="en-US" altLang="ko-KR" dirty="0"/>
              <a:t>-&gt; </a:t>
            </a:r>
            <a:r>
              <a:rPr lang="ko-KR" altLang="en-US" dirty="0"/>
              <a:t>전체 향상</a:t>
            </a:r>
            <a:r>
              <a:rPr lang="en-US" altLang="ko-KR" dirty="0"/>
              <a:t>; 1/[(1-P)+(P/S)]</a:t>
            </a:r>
          </a:p>
          <a:p>
            <a:pPr lvl="1"/>
            <a:r>
              <a:rPr lang="en-US" altLang="ko-KR" dirty="0"/>
              <a:t>CPU(I/O) bound : 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성능이 </a:t>
            </a:r>
            <a:r>
              <a:rPr lang="en-US" altLang="ko-KR" dirty="0"/>
              <a:t>CPU(I/O)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의해 제한</a:t>
            </a:r>
            <a:endParaRPr lang="en-US" altLang="ko-KR" dirty="0"/>
          </a:p>
          <a:p>
            <a:pPr lvl="1"/>
            <a:r>
              <a:rPr lang="ko-KR" altLang="en-US" dirty="0"/>
              <a:t>파이프라인 유형 </a:t>
            </a:r>
            <a:r>
              <a:rPr lang="en-US" altLang="ko-KR" dirty="0"/>
              <a:t>: pipeline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super</a:t>
            </a:r>
            <a:r>
              <a:rPr lang="ko-KR" altLang="en-US" dirty="0"/>
              <a:t> </a:t>
            </a:r>
            <a:r>
              <a:rPr lang="en-US" altLang="ko-KR" dirty="0"/>
              <a:t>scalar/pipeline -&gt; super scalar pipeline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A4E28C-4A34-35AB-B141-8839BA10A3C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object 15">
            <a:extLst>
              <a:ext uri="{FF2B5EF4-FFF2-40B4-BE49-F238E27FC236}">
                <a16:creationId xmlns:a16="http://schemas.microsoft.com/office/drawing/2014/main" id="{E58CC72B-3746-2EF1-3062-CBAB516D8D47}"/>
              </a:ext>
            </a:extLst>
          </p:cNvPr>
          <p:cNvPicPr/>
          <p:nvPr/>
        </p:nvPicPr>
        <p:blipFill>
          <a:blip r:embed="rId2" cstate="print"/>
          <a:srcRect l="7691" t="7666" r="7693" b="31922"/>
          <a:stretch/>
        </p:blipFill>
        <p:spPr>
          <a:xfrm>
            <a:off x="4598214" y="983150"/>
            <a:ext cx="1882660" cy="1326420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4095EEAA-F7DF-5292-44A6-11CF3C5EFF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2172" y="5385048"/>
            <a:ext cx="2358702" cy="110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3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B08764-ED73-0355-7923-9315A94DD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618474F-37A9-0D2B-6C75-17825929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2FDBD-7ABC-5ACF-66AC-7C4F23F673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BB7E0C-E863-0DE1-0D50-3F8471CA9C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단일</a:t>
            </a:r>
            <a:r>
              <a:rPr lang="en-US" altLang="ko-KR" dirty="0"/>
              <a:t> </a:t>
            </a:r>
            <a:r>
              <a:rPr lang="ko-KR" altLang="en-US" dirty="0"/>
              <a:t>파이프라인</a:t>
            </a:r>
            <a:endParaRPr lang="en-US" altLang="ko-KR" dirty="0"/>
          </a:p>
          <a:p>
            <a:pPr lvl="1"/>
            <a:r>
              <a:rPr lang="en-US" altLang="ko-KR" dirty="0"/>
              <a:t>Structure hazard : FI, EI</a:t>
            </a:r>
            <a:r>
              <a:rPr lang="ko-KR" altLang="en-US" dirty="0"/>
              <a:t>가 동시에 기억장치 </a:t>
            </a:r>
            <a:r>
              <a:rPr lang="en-US" altLang="ko-KR" dirty="0"/>
              <a:t>-&gt; </a:t>
            </a:r>
            <a:r>
              <a:rPr lang="ko-KR" altLang="en-US" dirty="0"/>
              <a:t>충돌</a:t>
            </a:r>
            <a:r>
              <a:rPr lang="en-US" altLang="ko-KR" dirty="0"/>
              <a:t>, </a:t>
            </a:r>
            <a:r>
              <a:rPr lang="ko-KR" altLang="en-US" dirty="0"/>
              <a:t>지연 </a:t>
            </a:r>
            <a:r>
              <a:rPr lang="en-US" altLang="ko-KR" dirty="0"/>
              <a:t>-&gt; data bus/add bus </a:t>
            </a:r>
            <a:r>
              <a:rPr lang="ko-KR" altLang="en-US" dirty="0"/>
              <a:t>분리</a:t>
            </a:r>
            <a:endParaRPr lang="en-US" altLang="ko-KR" dirty="0"/>
          </a:p>
          <a:p>
            <a:pPr lvl="1"/>
            <a:r>
              <a:rPr lang="en-US" altLang="ko-KR" dirty="0"/>
              <a:t>Data hazard : </a:t>
            </a:r>
            <a:r>
              <a:rPr lang="ko-KR" altLang="en-US" dirty="0"/>
              <a:t>결과값이 갱신되기 전에 </a:t>
            </a:r>
            <a:r>
              <a:rPr lang="ko-KR" altLang="en-US" dirty="0" err="1"/>
              <a:t>입력값으로</a:t>
            </a:r>
            <a:r>
              <a:rPr lang="ko-KR" altLang="en-US" dirty="0"/>
              <a:t> 호출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해결 </a:t>
            </a:r>
            <a:r>
              <a:rPr lang="en-US" altLang="ko-KR" dirty="0"/>
              <a:t>: data forward : </a:t>
            </a:r>
            <a:r>
              <a:rPr lang="ko-KR" altLang="en-US" dirty="0"/>
              <a:t>캐시에 쓰는 것과 동시에 필요한</a:t>
            </a:r>
            <a:r>
              <a:rPr lang="en-US" altLang="ko-KR" dirty="0"/>
              <a:t> </a:t>
            </a:r>
            <a:r>
              <a:rPr lang="ko-KR" altLang="en-US" dirty="0"/>
              <a:t>곳에 </a:t>
            </a:r>
            <a:r>
              <a:rPr lang="en-US" altLang="ko-KR" dirty="0"/>
              <a:t>data</a:t>
            </a:r>
            <a:r>
              <a:rPr lang="ko-KR" altLang="en-US" dirty="0"/>
              <a:t> 공급</a:t>
            </a:r>
            <a:br>
              <a:rPr lang="en-US" altLang="ko-KR" dirty="0"/>
            </a:br>
            <a:r>
              <a:rPr lang="en-US" altLang="ko-KR" dirty="0"/>
              <a:t>Inst reordering : </a:t>
            </a:r>
            <a:r>
              <a:rPr lang="ko-KR" altLang="en-US" dirty="0"/>
              <a:t>갱신 시점이 맞도록 의존성 문제 없는 코드를 재배치</a:t>
            </a:r>
            <a:r>
              <a:rPr lang="en-US" altLang="ko-KR" dirty="0"/>
              <a:t>; bubble </a:t>
            </a:r>
            <a:r>
              <a:rPr lang="ko-KR" altLang="en-US" dirty="0"/>
              <a:t>삽입</a:t>
            </a:r>
            <a:endParaRPr lang="en-US" altLang="ko-KR" dirty="0"/>
          </a:p>
          <a:p>
            <a:r>
              <a:rPr lang="en-US" altLang="ko-KR" dirty="0"/>
              <a:t>Control dependency</a:t>
            </a:r>
          </a:p>
          <a:p>
            <a:pPr lvl="1"/>
            <a:r>
              <a:rPr lang="en-US" altLang="ko-KR" dirty="0" err="1"/>
              <a:t>Beq</a:t>
            </a:r>
            <a:r>
              <a:rPr lang="en-US" altLang="ko-KR" dirty="0"/>
              <a:t>(if)</a:t>
            </a:r>
            <a:r>
              <a:rPr lang="ko-KR" altLang="en-US" dirty="0"/>
              <a:t>문 </a:t>
            </a:r>
            <a:r>
              <a:rPr lang="en-US" altLang="ko-KR" dirty="0"/>
              <a:t>-&gt; </a:t>
            </a:r>
            <a:r>
              <a:rPr lang="ko-KR" altLang="en-US" dirty="0"/>
              <a:t>분기 </a:t>
            </a:r>
            <a:r>
              <a:rPr lang="en-US" altLang="ko-KR" dirty="0"/>
              <a:t>O? X? -&gt; </a:t>
            </a:r>
            <a:r>
              <a:rPr lang="ko-KR" altLang="en-US" dirty="0"/>
              <a:t>분기</a:t>
            </a:r>
            <a:r>
              <a:rPr lang="en-US" altLang="ko-KR" dirty="0"/>
              <a:t> </a:t>
            </a:r>
            <a:r>
              <a:rPr lang="ko-KR" altLang="en-US" dirty="0"/>
              <a:t>예측 </a:t>
            </a:r>
            <a:r>
              <a:rPr lang="ko-KR" altLang="en-US" dirty="0" err="1"/>
              <a:t>실패시</a:t>
            </a:r>
            <a:r>
              <a:rPr lang="ko-KR" alt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를 잘못 </a:t>
            </a:r>
            <a:r>
              <a:rPr lang="ko-KR" altLang="en-US" dirty="0" err="1"/>
              <a:t>로드하면</a:t>
            </a:r>
            <a:r>
              <a:rPr lang="ko-KR" altLang="en-US" dirty="0"/>
              <a:t> 파이프라인에서 명령어를 모두 삭제</a:t>
            </a:r>
            <a:r>
              <a:rPr lang="en-US" altLang="ko-KR" dirty="0"/>
              <a:t>(flushing) -&gt; </a:t>
            </a:r>
            <a:r>
              <a:rPr lang="ko-KR" altLang="en-US" dirty="0"/>
              <a:t>성능↓</a:t>
            </a:r>
            <a:endParaRPr lang="en-US" altLang="ko-KR" dirty="0"/>
          </a:p>
          <a:p>
            <a:pPr lvl="1"/>
            <a:r>
              <a:rPr lang="en-US" altLang="ko-KR" dirty="0"/>
              <a:t>Branch prediction : </a:t>
            </a:r>
            <a:r>
              <a:rPr lang="en-US" altLang="ko-KR" dirty="0" err="1"/>
              <a:t>beq</a:t>
            </a:r>
            <a:r>
              <a:rPr lang="ko-KR" altLang="en-US" dirty="0"/>
              <a:t>면 결과 예측</a:t>
            </a:r>
            <a:r>
              <a:rPr lang="en-US" altLang="ko-KR" dirty="0"/>
              <a:t>, fetch</a:t>
            </a:r>
            <a:r>
              <a:rPr lang="ko-KR" altLang="en-US" dirty="0"/>
              <a:t>를 바꿈 </a:t>
            </a:r>
            <a:r>
              <a:rPr lang="en-US" altLang="ko-KR" dirty="0"/>
              <a:t>-&gt; </a:t>
            </a:r>
            <a:r>
              <a:rPr lang="en-US" altLang="ko-KR" dirty="0" err="1"/>
              <a:t>inst</a:t>
            </a:r>
            <a:r>
              <a:rPr lang="ko-KR" altLang="en-US" dirty="0"/>
              <a:t>가 위로 가면</a:t>
            </a:r>
            <a:r>
              <a:rPr lang="en-US" altLang="ko-KR" dirty="0"/>
              <a:t> : </a:t>
            </a:r>
            <a:r>
              <a:rPr lang="ko-KR" altLang="en-US" dirty="0" err="1"/>
              <a:t>루프문</a:t>
            </a:r>
            <a:r>
              <a:rPr lang="ko-KR" altLang="en-US" dirty="0"/>
              <a:t> 간주</a:t>
            </a:r>
            <a:br>
              <a:rPr lang="en-US" altLang="ko-KR" dirty="0"/>
            </a:br>
            <a:r>
              <a:rPr lang="en-US" altLang="ko-KR" dirty="0"/>
              <a:t>-&gt; HW </a:t>
            </a:r>
            <a:r>
              <a:rPr lang="ko-KR" altLang="en-US" dirty="0"/>
              <a:t>발전</a:t>
            </a:r>
            <a:r>
              <a:rPr lang="en-US" altLang="ko-KR" dirty="0"/>
              <a:t> : </a:t>
            </a:r>
            <a:r>
              <a:rPr lang="ko-KR" altLang="en-US" dirty="0" err="1"/>
              <a:t>둘다</a:t>
            </a:r>
            <a:r>
              <a:rPr lang="ko-KR" altLang="en-US" dirty="0"/>
              <a:t> </a:t>
            </a:r>
            <a:r>
              <a:rPr lang="en-US" altLang="ko-KR" dirty="0"/>
              <a:t>pre fetch, </a:t>
            </a:r>
            <a:r>
              <a:rPr lang="ko-KR" altLang="en-US" dirty="0"/>
              <a:t>필요</a:t>
            </a:r>
            <a:r>
              <a:rPr lang="en-US" altLang="ko-KR" dirty="0"/>
              <a:t>X </a:t>
            </a:r>
            <a:r>
              <a:rPr lang="ko-KR" altLang="en-US" dirty="0"/>
              <a:t>버림</a:t>
            </a:r>
            <a:endParaRPr lang="en-US" altLang="ko-KR" dirty="0"/>
          </a:p>
          <a:p>
            <a:r>
              <a:rPr lang="en-US" altLang="ko-KR" dirty="0"/>
              <a:t>Advanced</a:t>
            </a:r>
            <a:r>
              <a:rPr lang="ko-KR" altLang="en-US" dirty="0"/>
              <a:t> </a:t>
            </a:r>
            <a:r>
              <a:rPr lang="en-US" altLang="ko-KR" dirty="0"/>
              <a:t>pipelining</a:t>
            </a:r>
          </a:p>
          <a:p>
            <a:pPr lvl="1"/>
            <a:r>
              <a:rPr lang="en-US" altLang="ko-KR" dirty="0"/>
              <a:t>Super pipelining : </a:t>
            </a:r>
            <a:r>
              <a:rPr lang="ko-KR" altLang="en-US" dirty="0" err="1"/>
              <a:t>여러개</a:t>
            </a:r>
            <a:r>
              <a:rPr lang="ko-KR" altLang="en-US" dirty="0"/>
              <a:t> 파이프 라인 </a:t>
            </a:r>
            <a:r>
              <a:rPr lang="en-US" altLang="ko-KR" dirty="0"/>
              <a:t>-&gt; </a:t>
            </a:r>
            <a:r>
              <a:rPr lang="ko-KR" altLang="en-US" dirty="0"/>
              <a:t>병렬처리</a:t>
            </a:r>
            <a:br>
              <a:rPr lang="en-US" altLang="ko-KR" dirty="0"/>
            </a:br>
            <a:r>
              <a:rPr lang="en-US" altLang="ko-KR" dirty="0"/>
              <a:t>Super scalar : </a:t>
            </a:r>
            <a:r>
              <a:rPr lang="ko-KR" altLang="en-US" dirty="0"/>
              <a:t>가장</a:t>
            </a:r>
            <a:r>
              <a:rPr lang="en-US" altLang="ko-KR" dirty="0"/>
              <a:t> </a:t>
            </a:r>
            <a:r>
              <a:rPr lang="ko-KR" altLang="en-US" dirty="0"/>
              <a:t>느린 </a:t>
            </a:r>
            <a:r>
              <a:rPr lang="ko-KR" altLang="en-US" dirty="0" err="1"/>
              <a:t>스탭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가장 빠른 </a:t>
            </a:r>
            <a:r>
              <a:rPr lang="ko-KR" altLang="en-US" dirty="0" err="1"/>
              <a:t>스탭의</a:t>
            </a:r>
            <a:r>
              <a:rPr lang="ko-KR" altLang="en-US" dirty="0"/>
              <a:t> </a:t>
            </a:r>
            <a:r>
              <a:rPr lang="ko-KR" altLang="en-US" dirty="0" err="1"/>
              <a:t>클락에</a:t>
            </a:r>
            <a:r>
              <a:rPr lang="ko-KR" altLang="en-US" dirty="0"/>
              <a:t> 맞도록 쪼갬</a:t>
            </a:r>
            <a:endParaRPr lang="en-US" altLang="ko-KR" dirty="0"/>
          </a:p>
          <a:p>
            <a:pPr lvl="1"/>
            <a:r>
              <a:rPr lang="en-US" altLang="ko-KR" dirty="0"/>
              <a:t>Renaming : K=a+2, a'=</a:t>
            </a:r>
            <a:r>
              <a:rPr lang="en-US" altLang="ko-KR" dirty="0" err="1"/>
              <a:t>h+c</a:t>
            </a:r>
            <a:r>
              <a:rPr lang="en-US" altLang="ko-KR" dirty="0"/>
              <a:t>, d=a'+3</a:t>
            </a:r>
          </a:p>
          <a:p>
            <a:pPr lvl="1"/>
            <a:r>
              <a:rPr lang="ko-KR" altLang="en-US" dirty="0"/>
              <a:t>명령어</a:t>
            </a:r>
            <a:r>
              <a:rPr lang="en-US" altLang="ko-KR" dirty="0"/>
              <a:t> </a:t>
            </a:r>
            <a:r>
              <a:rPr lang="ko-KR" altLang="en-US" dirty="0"/>
              <a:t>이슈</a:t>
            </a:r>
            <a:r>
              <a:rPr lang="en-US" altLang="ko-KR" dirty="0"/>
              <a:t>, </a:t>
            </a:r>
            <a:r>
              <a:rPr lang="ko-KR" altLang="en-US" dirty="0"/>
              <a:t>병합정책</a:t>
            </a:r>
            <a:r>
              <a:rPr lang="en-US" altLang="ko-KR" dirty="0"/>
              <a:t> : in</a:t>
            </a:r>
            <a:r>
              <a:rPr lang="ko-KR" altLang="en-US" dirty="0"/>
              <a:t> </a:t>
            </a:r>
            <a:r>
              <a:rPr lang="en-US" altLang="ko-KR" dirty="0"/>
              <a:t>order-in order, in order-out order, </a:t>
            </a:r>
            <a:br>
              <a:rPr lang="en-US" altLang="ko-KR" dirty="0"/>
            </a:br>
            <a:r>
              <a:rPr lang="en-US" altLang="ko-KR" dirty="0"/>
              <a:t>out of order-out of order -&gt; window</a:t>
            </a:r>
            <a:r>
              <a:rPr lang="ko-KR" altLang="en-US" dirty="0"/>
              <a:t>는 가장 </a:t>
            </a:r>
            <a:r>
              <a:rPr lang="ko-KR" altLang="en-US" dirty="0" err="1"/>
              <a:t>빠르게끔</a:t>
            </a:r>
            <a:r>
              <a:rPr lang="ko-KR" altLang="en-US" dirty="0"/>
              <a:t> 배치</a:t>
            </a:r>
            <a:endParaRPr lang="en-US" altLang="ko-KR" dirty="0"/>
          </a:p>
          <a:p>
            <a:r>
              <a:rPr lang="en-US" altLang="ko-KR" dirty="0"/>
              <a:t>CPU </a:t>
            </a:r>
            <a:r>
              <a:rPr lang="ko-KR" altLang="en-US" dirty="0"/>
              <a:t>메모리</a:t>
            </a:r>
            <a:endParaRPr lang="en-US" altLang="ko-KR" dirty="0"/>
          </a:p>
          <a:p>
            <a:pPr lvl="1"/>
            <a:r>
              <a:rPr lang="en-US" altLang="ko-KR" dirty="0"/>
              <a:t>Inboard</a:t>
            </a:r>
            <a:r>
              <a:rPr lang="ko-KR" altLang="en-US" dirty="0"/>
              <a:t> </a:t>
            </a:r>
            <a:r>
              <a:rPr lang="en-US" altLang="ko-KR" dirty="0"/>
              <a:t>mem : Reg, cache, main mem</a:t>
            </a:r>
            <a:br>
              <a:rPr lang="en-US" altLang="ko-KR" dirty="0"/>
            </a:br>
            <a:r>
              <a:rPr lang="en-US" altLang="ko-KR" dirty="0"/>
              <a:t>outboard mem : disk, CD ... BLU RAY</a:t>
            </a:r>
            <a:br>
              <a:rPr lang="en-US" altLang="ko-KR" dirty="0"/>
            </a:br>
            <a:r>
              <a:rPr lang="en-US" altLang="ko-KR" dirty="0"/>
              <a:t>offline mem : magnetic tape</a:t>
            </a:r>
          </a:p>
          <a:p>
            <a:pPr lvl="1"/>
            <a:r>
              <a:rPr lang="en-US" altLang="ko-KR" dirty="0"/>
              <a:t>Locality : </a:t>
            </a:r>
            <a:r>
              <a:rPr lang="ko-KR" altLang="en-US" dirty="0"/>
              <a:t>메모리를 다 쓰지 </a:t>
            </a:r>
            <a:r>
              <a:rPr lang="en-US" altLang="ko-KR" dirty="0"/>
              <a:t>X, </a:t>
            </a:r>
            <a:r>
              <a:rPr lang="ko-KR" altLang="en-US" dirty="0"/>
              <a:t>특정 지역 사용 </a:t>
            </a:r>
            <a:r>
              <a:rPr lang="en-US" altLang="ko-KR" dirty="0"/>
              <a:t>-&gt; </a:t>
            </a:r>
            <a:r>
              <a:rPr lang="ko-KR" altLang="en-US" dirty="0"/>
              <a:t>적은 수의 메모리를 빠르게</a:t>
            </a:r>
            <a:endParaRPr lang="en-US" altLang="ko-KR" dirty="0"/>
          </a:p>
          <a:p>
            <a:r>
              <a:rPr lang="ko-KR" altLang="en-US" dirty="0"/>
              <a:t>캐시와 메인 메모리</a:t>
            </a:r>
            <a:endParaRPr lang="en-US" altLang="ko-KR" dirty="0"/>
          </a:p>
          <a:p>
            <a:pPr lvl="1"/>
            <a:r>
              <a:rPr lang="en-US" altLang="ko-KR" dirty="0"/>
              <a:t>CPU</a:t>
            </a:r>
            <a:r>
              <a:rPr lang="ko-KR" altLang="en-US" dirty="0"/>
              <a:t>에서 </a:t>
            </a:r>
            <a:r>
              <a:rPr lang="en-US" altLang="ko-KR" dirty="0"/>
              <a:t>data? : (CPU -&gt; </a:t>
            </a:r>
            <a:r>
              <a:rPr lang="ko-KR" altLang="en-US" dirty="0"/>
              <a:t>캐시</a:t>
            </a:r>
            <a:r>
              <a:rPr lang="en-US" altLang="ko-KR" dirty="0"/>
              <a:t>) -&gt; (miss?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MEM)</a:t>
            </a:r>
          </a:p>
          <a:p>
            <a:pPr lvl="1"/>
            <a:r>
              <a:rPr lang="en-US" altLang="ko-KR" dirty="0"/>
              <a:t>3 level cache : L1*2 -&gt; </a:t>
            </a:r>
            <a:r>
              <a:rPr lang="ko-KR" altLang="en-US" dirty="0" err="1"/>
              <a:t>하버</a:t>
            </a:r>
            <a:r>
              <a:rPr lang="en-US" altLang="ko-KR" dirty="0"/>
              <a:t>, L2,L3 -&gt; </a:t>
            </a:r>
            <a:r>
              <a:rPr lang="ko-KR" altLang="en-US" dirty="0" err="1"/>
              <a:t>폰노</a:t>
            </a:r>
            <a:r>
              <a:rPr lang="en-US" altLang="ko-KR" dirty="0"/>
              <a:t>; L1,L2,L3 -&gt; mod </a:t>
            </a:r>
            <a:r>
              <a:rPr lang="ko-KR" altLang="en-US" dirty="0" err="1"/>
              <a:t>하버</a:t>
            </a:r>
            <a:endParaRPr lang="en-US" altLang="ko-KR" dirty="0"/>
          </a:p>
          <a:p>
            <a:pPr lvl="1"/>
            <a:r>
              <a:rPr lang="en-US" altLang="ko-KR" dirty="0"/>
              <a:t>Virt MEM : mem</a:t>
            </a:r>
            <a:r>
              <a:rPr lang="ko-KR" altLang="en-US" dirty="0"/>
              <a:t>이 없어도 있는 것처럼</a:t>
            </a:r>
            <a:r>
              <a:rPr lang="en-US" altLang="ko-KR" dirty="0"/>
              <a:t>; </a:t>
            </a:r>
            <a:r>
              <a:rPr lang="en-US" altLang="ko-KR" dirty="0" err="1"/>
              <a:t>logi</a:t>
            </a:r>
            <a:r>
              <a:rPr lang="ko-KR" altLang="en-US" dirty="0"/>
              <a:t> </a:t>
            </a:r>
            <a:r>
              <a:rPr lang="en-US" altLang="ko-KR" dirty="0"/>
              <a:t>cache: logical </a:t>
            </a:r>
            <a:r>
              <a:rPr lang="en-US" altLang="ko-KR" dirty="0" err="1"/>
              <a:t>addres</a:t>
            </a:r>
            <a:r>
              <a:rPr lang="ko-KR" altLang="en-US" dirty="0"/>
              <a:t>에 </a:t>
            </a:r>
            <a:r>
              <a:rPr lang="ko-KR" altLang="en-US" dirty="0" err="1"/>
              <a:t>태깅</a:t>
            </a:r>
            <a:br>
              <a:rPr lang="en-US" altLang="ko-KR" dirty="0"/>
            </a:br>
            <a:r>
              <a:rPr lang="en-US" altLang="ko-KR" dirty="0"/>
              <a:t>physical cache : </a:t>
            </a:r>
            <a:r>
              <a:rPr lang="en-US" altLang="ko-KR" dirty="0" err="1"/>
              <a:t>Phy</a:t>
            </a:r>
            <a:r>
              <a:rPr lang="en-US" altLang="ko-KR" dirty="0"/>
              <a:t> add</a:t>
            </a:r>
            <a:r>
              <a:rPr lang="ko-KR" altLang="en-US" dirty="0"/>
              <a:t>를 </a:t>
            </a:r>
            <a:r>
              <a:rPr lang="ko-KR" altLang="en-US" dirty="0" err="1"/>
              <a:t>태깅</a:t>
            </a:r>
            <a:r>
              <a:rPr lang="en-US" altLang="ko-KR" dirty="0"/>
              <a:t>; MMU = </a:t>
            </a:r>
            <a:r>
              <a:rPr lang="en-US" altLang="ko-KR" dirty="0" err="1"/>
              <a:t>virt</a:t>
            </a:r>
            <a:r>
              <a:rPr lang="en-US" altLang="ko-KR" dirty="0"/>
              <a:t> &lt;-&gt;</a:t>
            </a:r>
            <a:r>
              <a:rPr lang="en-US" altLang="ko-KR" dirty="0" err="1"/>
              <a:t>logi</a:t>
            </a:r>
            <a:r>
              <a:rPr lang="en-US" altLang="ko-KR" dirty="0"/>
              <a:t>; </a:t>
            </a:r>
            <a:r>
              <a:rPr lang="ko-KR" altLang="en-US" dirty="0"/>
              <a:t>모자라면</a:t>
            </a:r>
            <a:r>
              <a:rPr lang="en-US" altLang="ko-KR" dirty="0"/>
              <a:t>? HDD/SSD</a:t>
            </a:r>
          </a:p>
          <a:p>
            <a:r>
              <a:rPr lang="en-US" altLang="ko-KR" dirty="0"/>
              <a:t>Direct/(Fully associative) mapping</a:t>
            </a:r>
          </a:p>
          <a:p>
            <a:pPr lvl="1"/>
            <a:r>
              <a:rPr lang="en-US" altLang="ko-KR" dirty="0"/>
              <a:t>Direct mapping : </a:t>
            </a:r>
            <a:r>
              <a:rPr lang="ko-KR" altLang="en-US" dirty="0"/>
              <a:t>캐시</a:t>
            </a:r>
            <a:r>
              <a:rPr lang="en-US" altLang="ko-KR" dirty="0"/>
              <a:t>-mem</a:t>
            </a:r>
            <a:r>
              <a:rPr lang="ko-KR" altLang="en-US" dirty="0"/>
              <a:t> </a:t>
            </a:r>
            <a:r>
              <a:rPr lang="en-US" altLang="ko-KR" dirty="0"/>
              <a:t>1:1</a:t>
            </a:r>
            <a:r>
              <a:rPr lang="ko-KR" altLang="en-US" dirty="0"/>
              <a:t>대응</a:t>
            </a:r>
            <a:r>
              <a:rPr lang="en-US" altLang="ko-KR" dirty="0"/>
              <a:t>; tag=</a:t>
            </a:r>
            <a:r>
              <a:rPr lang="ko-KR" altLang="en-US" dirty="0"/>
              <a:t>몇 블록</a:t>
            </a:r>
            <a:r>
              <a:rPr lang="en-US" altLang="ko-KR" dirty="0"/>
              <a:t>?; line num=</a:t>
            </a:r>
            <a:r>
              <a:rPr lang="ko-KR" altLang="en-US" dirty="0"/>
              <a:t>캐시상 주소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캐시상의</a:t>
            </a:r>
            <a:r>
              <a:rPr lang="en-US" altLang="ko-KR" dirty="0"/>
              <a:t> locality -&gt; </a:t>
            </a:r>
            <a:r>
              <a:rPr lang="ko-KR" altLang="en-US" dirty="0"/>
              <a:t>성능</a:t>
            </a:r>
            <a:r>
              <a:rPr lang="en-US" altLang="ko-KR" dirty="0"/>
              <a:t> </a:t>
            </a:r>
            <a:r>
              <a:rPr lang="ko-KR" altLang="en-US" dirty="0"/>
              <a:t>↓</a:t>
            </a:r>
            <a:endParaRPr lang="en-US" altLang="ko-KR" dirty="0"/>
          </a:p>
          <a:p>
            <a:pPr lvl="1"/>
            <a:r>
              <a:rPr lang="en-US" altLang="ko-KR" dirty="0"/>
              <a:t>Fully associative mapping : mem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캐시 간 자유 매핑</a:t>
            </a:r>
            <a:r>
              <a:rPr lang="en-US" altLang="ko-KR" dirty="0"/>
              <a:t>; </a:t>
            </a:r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 err="1"/>
              <a:t>찾</a:t>
            </a:r>
            <a:r>
              <a:rPr lang="en-US" altLang="ko-KR" dirty="0"/>
              <a:t>? -&gt;</a:t>
            </a:r>
            <a:r>
              <a:rPr lang="ko-KR" altLang="en-US" dirty="0"/>
              <a:t>모든 라인 조사</a:t>
            </a:r>
            <a:endParaRPr lang="en-US" altLang="ko-KR" dirty="0"/>
          </a:p>
          <a:p>
            <a:r>
              <a:rPr lang="en-US" altLang="ko-KR" dirty="0"/>
              <a:t>Set associative mapping / cache update</a:t>
            </a:r>
          </a:p>
          <a:p>
            <a:pPr lvl="1"/>
            <a:r>
              <a:rPr lang="en-US" altLang="ko-KR" dirty="0"/>
              <a:t>Set associative mapping : </a:t>
            </a:r>
            <a:r>
              <a:rPr lang="ko-KR" altLang="en-US" dirty="0"/>
              <a:t>여러 캐시</a:t>
            </a:r>
            <a:r>
              <a:rPr lang="en-US" altLang="ko-KR" dirty="0"/>
              <a:t>set, 1</a:t>
            </a:r>
            <a:r>
              <a:rPr lang="ko-KR" altLang="en-US" dirty="0"/>
              <a:t>블록 </a:t>
            </a:r>
            <a:r>
              <a:rPr lang="en-US" altLang="ko-KR" dirty="0"/>
              <a:t>-&gt; 1</a:t>
            </a:r>
            <a:r>
              <a:rPr lang="ko-KR" altLang="en-US" dirty="0"/>
              <a:t>세트</a:t>
            </a:r>
            <a:r>
              <a:rPr lang="en-US" altLang="ko-KR" dirty="0"/>
              <a:t>; </a:t>
            </a:r>
            <a:r>
              <a:rPr lang="ko-KR" altLang="en-US" dirty="0"/>
              <a:t>매핑 캐시 내에선 자유 매핑</a:t>
            </a:r>
            <a:br>
              <a:rPr lang="en-US" altLang="ko-KR" dirty="0"/>
            </a:br>
            <a:r>
              <a:rPr lang="en-US" altLang="ko-KR" dirty="0"/>
              <a:t>data </a:t>
            </a:r>
            <a:r>
              <a:rPr lang="ko-KR" altLang="en-US" dirty="0" err="1"/>
              <a:t>찾는법</a:t>
            </a:r>
            <a:r>
              <a:rPr lang="ko-KR" altLang="en-US" dirty="0"/>
              <a:t> </a:t>
            </a:r>
            <a:r>
              <a:rPr lang="en-US" altLang="ko-KR" dirty="0"/>
              <a:t>: set</a:t>
            </a:r>
            <a:r>
              <a:rPr lang="ko-KR" altLang="en-US" dirty="0"/>
              <a:t> </a:t>
            </a:r>
            <a:r>
              <a:rPr lang="en-US" altLang="ko-KR" dirty="0"/>
              <a:t>num</a:t>
            </a:r>
            <a:r>
              <a:rPr lang="ko-KR" altLang="en-US" dirty="0"/>
              <a:t>을 찾음 </a:t>
            </a:r>
            <a:r>
              <a:rPr lang="en-US" altLang="ko-KR" dirty="0"/>
              <a:t>-&gt; </a:t>
            </a:r>
            <a:r>
              <a:rPr lang="ko-KR" altLang="en-US" dirty="0"/>
              <a:t>그 캐시 내에서 라인들을 조사</a:t>
            </a:r>
            <a:endParaRPr lang="en-US" altLang="ko-KR" dirty="0"/>
          </a:p>
          <a:p>
            <a:pPr lvl="1"/>
            <a:r>
              <a:rPr lang="en-US" altLang="ko-KR" dirty="0"/>
              <a:t>Replacement algorithm : LRU, FIFO, LFU</a:t>
            </a:r>
          </a:p>
          <a:p>
            <a:pPr lvl="1"/>
            <a:r>
              <a:rPr lang="en-US" altLang="ko-KR" dirty="0"/>
              <a:t>Write policy : write through, write back; </a:t>
            </a:r>
            <a:r>
              <a:rPr lang="ko-KR" altLang="en-US" dirty="0"/>
              <a:t>코어↑</a:t>
            </a:r>
            <a:r>
              <a:rPr lang="en-US" altLang="ko-KR" dirty="0"/>
              <a:t>,</a:t>
            </a:r>
            <a:r>
              <a:rPr lang="ko-KR" altLang="en-US" dirty="0"/>
              <a:t>문제</a:t>
            </a:r>
            <a:r>
              <a:rPr lang="en-US" altLang="ko-KR" dirty="0"/>
              <a:t>O </a:t>
            </a:r>
          </a:p>
          <a:p>
            <a:pPr lvl="1"/>
            <a:r>
              <a:rPr lang="en-US" altLang="ko-KR" dirty="0"/>
              <a:t>Intel Nehalem : L3=</a:t>
            </a:r>
            <a:r>
              <a:rPr lang="ko-KR" altLang="en-US" dirty="0"/>
              <a:t>메모리</a:t>
            </a:r>
            <a:r>
              <a:rPr lang="en-US" altLang="ko-KR" dirty="0"/>
              <a:t> </a:t>
            </a:r>
            <a:r>
              <a:rPr lang="ko-KR" altLang="en-US" dirty="0"/>
              <a:t>읽음</a:t>
            </a:r>
            <a:r>
              <a:rPr lang="en-US" altLang="ko-KR" dirty="0"/>
              <a:t>, </a:t>
            </a:r>
            <a:r>
              <a:rPr lang="ko-KR" altLang="en-US" dirty="0"/>
              <a:t>속도↑</a:t>
            </a:r>
            <a:r>
              <a:rPr lang="en-US" altLang="ko-KR" dirty="0"/>
              <a:t>; L2=</a:t>
            </a:r>
            <a:r>
              <a:rPr lang="ko-KR" altLang="en-US" dirty="0"/>
              <a:t>코어끼리 공유</a:t>
            </a:r>
            <a:r>
              <a:rPr lang="en-US" altLang="ko-KR" dirty="0"/>
              <a:t>, L1=Inst/data</a:t>
            </a:r>
            <a:r>
              <a:rPr lang="ko-KR" altLang="en-US" dirty="0"/>
              <a:t> 분리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8F63DD-B70F-68FE-F7A2-485913C8EE9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96813-B33A-9719-7DEF-D9327FE5570A}"/>
              </a:ext>
            </a:extLst>
          </p:cNvPr>
          <p:cNvSpPr txBox="1"/>
          <p:nvPr/>
        </p:nvSpPr>
        <p:spPr>
          <a:xfrm>
            <a:off x="2636912" y="3800872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↓</a:t>
            </a:r>
            <a:r>
              <a:rPr lang="en-US" altLang="ko-KR" sz="1100" dirty="0"/>
              <a:t>CPU </a:t>
            </a:r>
            <a:r>
              <a:rPr lang="ko-KR" altLang="en-US" sz="1100" dirty="0"/>
              <a:t>내부</a:t>
            </a:r>
          </a:p>
        </p:txBody>
      </p:sp>
    </p:spTree>
    <p:extLst>
      <p:ext uri="{BB962C8B-B14F-4D97-AF65-F5344CB8AC3E}">
        <p14:creationId xmlns:p14="http://schemas.microsoft.com/office/powerpoint/2010/main" val="222885140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25092</TotalTime>
  <Words>3884</Words>
  <Application>Microsoft Office PowerPoint</Application>
  <PresentationFormat>A4 용지(210x297mm)</PresentationFormat>
  <Paragraphs>373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디자인 사용자 지정</vt:lpstr>
      <vt:lpstr>개요</vt:lpstr>
      <vt:lpstr>컴퓨터의 구조와 CPU 동작 과정</vt:lpstr>
      <vt:lpstr>CPU 내부 구조, ISA</vt:lpstr>
      <vt:lpstr>CPU 내부 구조, ISA(계속)</vt:lpstr>
      <vt:lpstr>Data Flow</vt:lpstr>
      <vt:lpstr>성능향상과 파이프라인</vt:lpstr>
      <vt:lpstr>단일 파이프라인</vt:lpstr>
      <vt:lpstr>Control dependency</vt:lpstr>
      <vt:lpstr>Advanced pipelining</vt:lpstr>
      <vt:lpstr>CPU 메모리</vt:lpstr>
      <vt:lpstr>캐시와 메인 메모리</vt:lpstr>
      <vt:lpstr>Direct/Associative mapping</vt:lpstr>
      <vt:lpstr>Set associative mapping/cache update</vt:lpstr>
      <vt:lpstr>총정리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579</cp:revision>
  <dcterms:created xsi:type="dcterms:W3CDTF">2021-05-24T07:27:04Z</dcterms:created>
  <dcterms:modified xsi:type="dcterms:W3CDTF">2025-04-15T03:39:37Z</dcterms:modified>
</cp:coreProperties>
</file>