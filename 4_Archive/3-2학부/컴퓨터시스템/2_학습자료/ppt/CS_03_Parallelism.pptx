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2979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8.jp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2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png"/><Relationship Id="rId16" Type="http://schemas.openxmlformats.org/officeDocument/2006/relationships/image" Target="../media/image39.png"/><Relationship Id="rId17" Type="http://schemas.openxmlformats.org/officeDocument/2006/relationships/image" Target="../media/image40.png"/><Relationship Id="rId18" Type="http://schemas.openxmlformats.org/officeDocument/2006/relationships/image" Target="../media/image41.png"/><Relationship Id="rId19" Type="http://schemas.openxmlformats.org/officeDocument/2006/relationships/image" Target="../media/image42.png"/><Relationship Id="rId20" Type="http://schemas.openxmlformats.org/officeDocument/2006/relationships/image" Target="../media/image43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Relationship Id="rId27" Type="http://schemas.openxmlformats.org/officeDocument/2006/relationships/image" Target="../media/image50.png"/><Relationship Id="rId28" Type="http://schemas.openxmlformats.org/officeDocument/2006/relationships/image" Target="../media/image51.png"/><Relationship Id="rId29" Type="http://schemas.openxmlformats.org/officeDocument/2006/relationships/image" Target="../media/image52.png"/><Relationship Id="rId30" Type="http://schemas.openxmlformats.org/officeDocument/2006/relationships/image" Target="../media/image53.png"/><Relationship Id="rId31" Type="http://schemas.openxmlformats.org/officeDocument/2006/relationships/image" Target="../media/image54.png"/><Relationship Id="rId32" Type="http://schemas.openxmlformats.org/officeDocument/2006/relationships/image" Target="../media/image55.png"/><Relationship Id="rId33" Type="http://schemas.openxmlformats.org/officeDocument/2006/relationships/image" Target="../media/image56.png"/><Relationship Id="rId34" Type="http://schemas.openxmlformats.org/officeDocument/2006/relationships/image" Target="../media/image57.png"/><Relationship Id="rId35" Type="http://schemas.openxmlformats.org/officeDocument/2006/relationships/image" Target="../media/image58.png"/><Relationship Id="rId36" Type="http://schemas.openxmlformats.org/officeDocument/2006/relationships/image" Target="../media/image59.png"/><Relationship Id="rId37" Type="http://schemas.openxmlformats.org/officeDocument/2006/relationships/image" Target="../media/image60.png"/><Relationship Id="rId38" Type="http://schemas.openxmlformats.org/officeDocument/2006/relationships/image" Target="../media/image61.png"/><Relationship Id="rId39" Type="http://schemas.openxmlformats.org/officeDocument/2006/relationships/image" Target="../media/image62.png"/><Relationship Id="rId40" Type="http://schemas.openxmlformats.org/officeDocument/2006/relationships/image" Target="../media/image63.png"/><Relationship Id="rId41" Type="http://schemas.openxmlformats.org/officeDocument/2006/relationships/image" Target="../media/image6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12979" y="520074"/>
            <a:ext cx="553720" cy="2962910"/>
          </a:xfrm>
          <a:custGeom>
            <a:avLst/>
            <a:gdLst/>
            <a:ahLst/>
            <a:cxnLst/>
            <a:rect l="l" t="t" r="r" b="b"/>
            <a:pathLst>
              <a:path w="553719" h="2962910">
                <a:moveTo>
                  <a:pt x="553405" y="0"/>
                </a:moveTo>
                <a:lnTo>
                  <a:pt x="0" y="0"/>
                </a:lnTo>
                <a:lnTo>
                  <a:pt x="0" y="2962728"/>
                </a:lnTo>
                <a:lnTo>
                  <a:pt x="553405" y="2962728"/>
                </a:lnTo>
                <a:lnTo>
                  <a:pt x="55340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46793" y="1896079"/>
            <a:ext cx="3632835" cy="0"/>
          </a:xfrm>
          <a:custGeom>
            <a:avLst/>
            <a:gdLst/>
            <a:ahLst/>
            <a:cxnLst/>
            <a:rect l="l" t="t" r="r" b="b"/>
            <a:pathLst>
              <a:path w="3632835" h="0">
                <a:moveTo>
                  <a:pt x="0" y="0"/>
                </a:moveTo>
                <a:lnTo>
                  <a:pt x="3632545" y="0"/>
                </a:lnTo>
              </a:path>
            </a:pathLst>
          </a:custGeom>
          <a:ln w="9889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171490" y="1349167"/>
            <a:ext cx="1802130" cy="525780"/>
            <a:chOff x="2171490" y="1349167"/>
            <a:chExt cx="1802130" cy="52578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71490" y="1349167"/>
              <a:ext cx="1024172" cy="52532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49026" y="1349167"/>
              <a:ext cx="1024172" cy="52532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2305904" y="1419337"/>
            <a:ext cx="1514475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65" b="1">
                <a:solidFill>
                  <a:srgbClr val="003366"/>
                </a:solidFill>
                <a:latin typeface="Malgun Gothic"/>
                <a:cs typeface="Malgun Gothic"/>
              </a:rPr>
              <a:t>컴퓨터</a:t>
            </a:r>
            <a:r>
              <a:rPr dirty="0" sz="1800" spc="-125" b="1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800" spc="35" b="1">
                <a:solidFill>
                  <a:srgbClr val="003366"/>
                </a:solidFill>
                <a:latin typeface="Malgun Gothic"/>
                <a:cs typeface="Malgun Gothic"/>
              </a:rPr>
              <a:t>시스템</a:t>
            </a:r>
            <a:endParaRPr sz="1800">
              <a:latin typeface="Malgun Gothic"/>
              <a:cs typeface="Malgun Gothic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1785" y="2000066"/>
            <a:ext cx="1511159" cy="113454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4240023" y="1956232"/>
            <a:ext cx="60579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0" b="1">
                <a:solidFill>
                  <a:srgbClr val="003366"/>
                </a:solidFill>
                <a:latin typeface="Arial"/>
                <a:cs typeface="Arial"/>
              </a:rPr>
              <a:t>Parallelism</a:t>
            </a:r>
            <a:endParaRPr sz="8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003083" y="2639512"/>
            <a:ext cx="1936114" cy="4800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550"/>
              </a:lnSpc>
              <a:spcBef>
                <a:spcPts val="100"/>
              </a:spcBef>
            </a:pPr>
            <a:r>
              <a:rPr dirty="0" sz="500">
                <a:latin typeface="Verdana"/>
                <a:cs typeface="Verdana"/>
              </a:rPr>
              <a:t>This</a:t>
            </a:r>
            <a:r>
              <a:rPr dirty="0" sz="500" spc="4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material</a:t>
            </a:r>
            <a:r>
              <a:rPr dirty="0" sz="500" spc="4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is</a:t>
            </a:r>
            <a:r>
              <a:rPr dirty="0" sz="500" spc="4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reproduced</a:t>
            </a:r>
            <a:r>
              <a:rPr dirty="0" sz="500" spc="5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based</a:t>
            </a:r>
            <a:r>
              <a:rPr dirty="0" sz="500" spc="45">
                <a:latin typeface="Verdana"/>
                <a:cs typeface="Verdana"/>
              </a:rPr>
              <a:t> </a:t>
            </a:r>
            <a:r>
              <a:rPr dirty="0" sz="500" spc="-25">
                <a:latin typeface="Verdana"/>
                <a:cs typeface="Verdana"/>
              </a:rPr>
              <a:t>on</a:t>
            </a:r>
            <a:endParaRPr sz="500">
              <a:latin typeface="Verdana"/>
              <a:cs typeface="Verdana"/>
            </a:endParaRPr>
          </a:p>
          <a:p>
            <a:pPr algn="ctr" marL="12700" marR="5080" indent="1270">
              <a:lnSpc>
                <a:spcPct val="80500"/>
              </a:lnSpc>
              <a:spcBef>
                <a:spcPts val="70"/>
              </a:spcBef>
            </a:pPr>
            <a:r>
              <a:rPr dirty="0" sz="500">
                <a:latin typeface="Malgun Gothic"/>
                <a:cs typeface="Malgun Gothic"/>
              </a:rPr>
              <a:t>핵심</a:t>
            </a:r>
            <a:r>
              <a:rPr dirty="0" sz="500" spc="60">
                <a:latin typeface="Malgun Gothic"/>
                <a:cs typeface="Malgun Gothic"/>
              </a:rPr>
              <a:t> </a:t>
            </a:r>
            <a:r>
              <a:rPr dirty="0" sz="500">
                <a:latin typeface="Malgun Gothic"/>
                <a:cs typeface="Malgun Gothic"/>
              </a:rPr>
              <a:t>컴퓨터구조</a:t>
            </a:r>
            <a:r>
              <a:rPr dirty="0" sz="500" spc="65">
                <a:latin typeface="Malgun Gothic"/>
                <a:cs typeface="Malgun Gothic"/>
              </a:rPr>
              <a:t> </a:t>
            </a:r>
            <a:r>
              <a:rPr dirty="0" sz="500">
                <a:latin typeface="Malgun Gothic"/>
                <a:cs typeface="Malgun Gothic"/>
              </a:rPr>
              <a:t>및</a:t>
            </a:r>
            <a:r>
              <a:rPr dirty="0" sz="500" spc="60">
                <a:latin typeface="Malgun Gothic"/>
                <a:cs typeface="Malgun Gothic"/>
              </a:rPr>
              <a:t> </a:t>
            </a:r>
            <a:r>
              <a:rPr dirty="0" sz="500">
                <a:latin typeface="Malgun Gothic"/>
                <a:cs typeface="Malgun Gothic"/>
              </a:rPr>
              <a:t>운영체제</a:t>
            </a:r>
            <a:r>
              <a:rPr dirty="0" sz="500" spc="65">
                <a:latin typeface="Malgun Gothic"/>
                <a:cs typeface="Malgun Gothic"/>
              </a:rPr>
              <a:t> </a:t>
            </a:r>
            <a:r>
              <a:rPr dirty="0" sz="500">
                <a:latin typeface="Malgun Gothic"/>
                <a:cs typeface="Malgun Gothic"/>
              </a:rPr>
              <a:t>해설</a:t>
            </a:r>
            <a:r>
              <a:rPr dirty="0" sz="500">
                <a:latin typeface="Verdana"/>
                <a:cs typeface="Verdana"/>
              </a:rPr>
              <a:t>(</a:t>
            </a:r>
            <a:r>
              <a:rPr dirty="0" sz="500">
                <a:latin typeface="Malgun Gothic"/>
                <a:cs typeface="Malgun Gothic"/>
              </a:rPr>
              <a:t>최종언저</a:t>
            </a:r>
            <a:r>
              <a:rPr dirty="0" sz="500">
                <a:latin typeface="Verdana"/>
                <a:cs typeface="Verdana"/>
              </a:rPr>
              <a:t>,</a:t>
            </a:r>
            <a:r>
              <a:rPr dirty="0" sz="500" spc="50">
                <a:latin typeface="Verdana"/>
                <a:cs typeface="Verdana"/>
              </a:rPr>
              <a:t> </a:t>
            </a:r>
            <a:r>
              <a:rPr dirty="0" sz="500" spc="-10">
                <a:latin typeface="Malgun Gothic"/>
                <a:cs typeface="Malgun Gothic"/>
              </a:rPr>
              <a:t>예문사</a:t>
            </a:r>
            <a:r>
              <a:rPr dirty="0" sz="500" spc="-10">
                <a:latin typeface="Verdana"/>
                <a:cs typeface="Verdana"/>
              </a:rPr>
              <a:t>),</a:t>
            </a:r>
            <a:r>
              <a:rPr dirty="0" sz="500" spc="50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Computer</a:t>
            </a:r>
            <a:r>
              <a:rPr dirty="0" sz="500" spc="5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Organization</a:t>
            </a:r>
            <a:r>
              <a:rPr dirty="0" sz="500" spc="29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and</a:t>
            </a:r>
            <a:r>
              <a:rPr dirty="0" sz="500" spc="6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Architecture,</a:t>
            </a:r>
            <a:r>
              <a:rPr dirty="0" sz="500" spc="5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9ed(by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 spc="-10">
                <a:latin typeface="Verdana"/>
                <a:cs typeface="Verdana"/>
              </a:rPr>
              <a:t>William</a:t>
            </a:r>
            <a:r>
              <a:rPr dirty="0" sz="500" spc="50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Stallings)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 spc="-25">
                <a:latin typeface="Verdana"/>
                <a:cs typeface="Verdana"/>
              </a:rPr>
              <a:t>and</a:t>
            </a:r>
            <a:endParaRPr sz="500">
              <a:latin typeface="Verdana"/>
              <a:cs typeface="Verdana"/>
            </a:endParaRPr>
          </a:p>
          <a:p>
            <a:pPr algn="ctr" marL="1270">
              <a:lnSpc>
                <a:spcPts val="505"/>
              </a:lnSpc>
            </a:pPr>
            <a:r>
              <a:rPr dirty="0" sz="500">
                <a:latin typeface="Verdana"/>
                <a:cs typeface="Verdana"/>
              </a:rPr>
              <a:t>Computer</a:t>
            </a:r>
            <a:r>
              <a:rPr dirty="0" sz="500" spc="8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Architecture(by</a:t>
            </a:r>
            <a:r>
              <a:rPr dirty="0" sz="500" spc="9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Behrooz</a:t>
            </a:r>
            <a:r>
              <a:rPr dirty="0" sz="500" spc="90">
                <a:latin typeface="Verdana"/>
                <a:cs typeface="Verdana"/>
              </a:rPr>
              <a:t> </a:t>
            </a:r>
            <a:r>
              <a:rPr dirty="0" sz="500" spc="-10">
                <a:latin typeface="Verdana"/>
                <a:cs typeface="Verdana"/>
              </a:rPr>
              <a:t>Parhami),</a:t>
            </a:r>
            <a:endParaRPr sz="500">
              <a:latin typeface="Verdana"/>
              <a:cs typeface="Verdana"/>
            </a:endParaRPr>
          </a:p>
          <a:p>
            <a:pPr algn="ctr" marL="1270">
              <a:lnSpc>
                <a:spcPct val="100000"/>
              </a:lnSpc>
              <a:spcBef>
                <a:spcPts val="400"/>
              </a:spcBef>
            </a:pPr>
            <a:r>
              <a:rPr dirty="0" sz="500">
                <a:latin typeface="Verdana"/>
                <a:cs typeface="Verdana"/>
              </a:rPr>
              <a:t>Copyrights</a:t>
            </a:r>
            <a:r>
              <a:rPr dirty="0" sz="500" spc="55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are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reserved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by</a:t>
            </a:r>
            <a:r>
              <a:rPr dirty="0" sz="500" spc="50">
                <a:latin typeface="Verdana"/>
                <a:cs typeface="Verdana"/>
              </a:rPr>
              <a:t> </a:t>
            </a:r>
            <a:r>
              <a:rPr dirty="0" sz="500">
                <a:latin typeface="Verdana"/>
                <a:cs typeface="Verdana"/>
              </a:rPr>
              <a:t>corresponding</a:t>
            </a:r>
            <a:r>
              <a:rPr dirty="0" sz="500" spc="60">
                <a:latin typeface="Verdana"/>
                <a:cs typeface="Verdana"/>
              </a:rPr>
              <a:t> </a:t>
            </a:r>
            <a:r>
              <a:rPr dirty="0" sz="500" spc="-10">
                <a:latin typeface="Verdana"/>
                <a:cs typeface="Verdana"/>
              </a:rPr>
              <a:t>authors.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13" name="object 13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7595009" y="34066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716414" y="594823"/>
            <a:ext cx="12877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Pipelining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Concepts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616739" y="2952616"/>
            <a:ext cx="2899410" cy="181610"/>
          </a:xfrm>
          <a:prstGeom prst="rect">
            <a:avLst/>
          </a:prstGeom>
          <a:solidFill>
            <a:srgbClr val="CCFF99"/>
          </a:solidFill>
        </p:spPr>
        <p:txBody>
          <a:bodyPr wrap="square" lIns="0" tIns="2159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70"/>
              </a:spcBef>
            </a:pPr>
            <a:r>
              <a:rPr dirty="0" sz="850">
                <a:latin typeface="Arial MT"/>
                <a:cs typeface="Arial MT"/>
              </a:rPr>
              <a:t>Pipelining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student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registration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process.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734818" y="1821746"/>
            <a:ext cx="2757170" cy="989330"/>
            <a:chOff x="6734818" y="1821746"/>
            <a:chExt cx="2757170" cy="989330"/>
          </a:xfrm>
        </p:grpSpPr>
        <p:sp>
          <p:nvSpPr>
            <p:cNvPr id="21" name="object 21" descr=""/>
            <p:cNvSpPr/>
            <p:nvPr/>
          </p:nvSpPr>
          <p:spPr>
            <a:xfrm>
              <a:off x="8608282" y="2033813"/>
              <a:ext cx="365125" cy="574675"/>
            </a:xfrm>
            <a:custGeom>
              <a:avLst/>
              <a:gdLst/>
              <a:ahLst/>
              <a:cxnLst/>
              <a:rect l="l" t="t" r="r" b="b"/>
              <a:pathLst>
                <a:path w="365125" h="574675">
                  <a:moveTo>
                    <a:pt x="182582" y="0"/>
                  </a:moveTo>
                  <a:lnTo>
                    <a:pt x="112834" y="22863"/>
                  </a:lnTo>
                  <a:lnTo>
                    <a:pt x="81875" y="49605"/>
                  </a:lnTo>
                  <a:lnTo>
                    <a:pt x="54651" y="84922"/>
                  </a:lnTo>
                  <a:lnTo>
                    <a:pt x="32007" y="127588"/>
                  </a:lnTo>
                  <a:lnTo>
                    <a:pt x="14788" y="176378"/>
                  </a:lnTo>
                  <a:lnTo>
                    <a:pt x="3837" y="230069"/>
                  </a:lnTo>
                  <a:lnTo>
                    <a:pt x="0" y="287435"/>
                  </a:lnTo>
                  <a:lnTo>
                    <a:pt x="3837" y="344730"/>
                  </a:lnTo>
                  <a:lnTo>
                    <a:pt x="14788" y="398367"/>
                  </a:lnTo>
                  <a:lnTo>
                    <a:pt x="32007" y="447119"/>
                  </a:lnTo>
                  <a:lnTo>
                    <a:pt x="54651" y="489759"/>
                  </a:lnTo>
                  <a:lnTo>
                    <a:pt x="81875" y="525060"/>
                  </a:lnTo>
                  <a:lnTo>
                    <a:pt x="112834" y="551794"/>
                  </a:lnTo>
                  <a:lnTo>
                    <a:pt x="182582" y="574654"/>
                  </a:lnTo>
                  <a:lnTo>
                    <a:pt x="218477" y="568735"/>
                  </a:lnTo>
                  <a:lnTo>
                    <a:pt x="283264" y="525060"/>
                  </a:lnTo>
                  <a:lnTo>
                    <a:pt x="310471" y="489759"/>
                  </a:lnTo>
                  <a:lnTo>
                    <a:pt x="333099" y="447119"/>
                  </a:lnTo>
                  <a:lnTo>
                    <a:pt x="350305" y="398367"/>
                  </a:lnTo>
                  <a:lnTo>
                    <a:pt x="361246" y="344730"/>
                  </a:lnTo>
                  <a:lnTo>
                    <a:pt x="365080" y="287435"/>
                  </a:lnTo>
                  <a:lnTo>
                    <a:pt x="361246" y="230069"/>
                  </a:lnTo>
                  <a:lnTo>
                    <a:pt x="350305" y="176378"/>
                  </a:lnTo>
                  <a:lnTo>
                    <a:pt x="333099" y="127588"/>
                  </a:lnTo>
                  <a:lnTo>
                    <a:pt x="310471" y="84922"/>
                  </a:lnTo>
                  <a:lnTo>
                    <a:pt x="283264" y="49605"/>
                  </a:lnTo>
                  <a:lnTo>
                    <a:pt x="252318" y="22863"/>
                  </a:lnTo>
                  <a:lnTo>
                    <a:pt x="182582" y="0"/>
                  </a:lnTo>
                  <a:close/>
                </a:path>
              </a:pathLst>
            </a:custGeom>
            <a:solidFill>
              <a:srgbClr val="00CC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025379" y="1929499"/>
              <a:ext cx="462915" cy="835660"/>
            </a:xfrm>
            <a:custGeom>
              <a:avLst/>
              <a:gdLst/>
              <a:ahLst/>
              <a:cxnLst/>
              <a:rect l="l" t="t" r="r" b="b"/>
              <a:pathLst>
                <a:path w="462915" h="835660">
                  <a:moveTo>
                    <a:pt x="0" y="835539"/>
                  </a:moveTo>
                  <a:lnTo>
                    <a:pt x="462726" y="835539"/>
                  </a:lnTo>
                  <a:lnTo>
                    <a:pt x="462726" y="0"/>
                  </a:lnTo>
                  <a:lnTo>
                    <a:pt x="0" y="0"/>
                  </a:lnTo>
                  <a:lnTo>
                    <a:pt x="0" y="835539"/>
                  </a:lnTo>
                  <a:close/>
                </a:path>
              </a:pathLst>
            </a:custGeom>
            <a:ln w="64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34818" y="1821746"/>
              <a:ext cx="475654" cy="989077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9132883" y="2036945"/>
              <a:ext cx="260985" cy="261620"/>
            </a:xfrm>
            <a:custGeom>
              <a:avLst/>
              <a:gdLst/>
              <a:ahLst/>
              <a:cxnLst/>
              <a:rect l="l" t="t" r="r" b="b"/>
              <a:pathLst>
                <a:path w="260984" h="261619">
                  <a:moveTo>
                    <a:pt x="0" y="130647"/>
                  </a:moveTo>
                  <a:lnTo>
                    <a:pt x="12917" y="78390"/>
                  </a:lnTo>
                  <a:lnTo>
                    <a:pt x="39186" y="39295"/>
                  </a:lnTo>
                  <a:lnTo>
                    <a:pt x="78200" y="13136"/>
                  </a:lnTo>
                  <a:lnTo>
                    <a:pt x="130218" y="0"/>
                  </a:lnTo>
                  <a:lnTo>
                    <a:pt x="182583" y="13136"/>
                  </a:lnTo>
                  <a:lnTo>
                    <a:pt x="221510" y="39295"/>
                  </a:lnTo>
                  <a:lnTo>
                    <a:pt x="247779" y="78390"/>
                  </a:lnTo>
                  <a:lnTo>
                    <a:pt x="260697" y="130647"/>
                  </a:lnTo>
                  <a:lnTo>
                    <a:pt x="260697" y="261302"/>
                  </a:lnTo>
                  <a:lnTo>
                    <a:pt x="0" y="261302"/>
                  </a:lnTo>
                  <a:lnTo>
                    <a:pt x="0" y="130647"/>
                  </a:lnTo>
                  <a:close/>
                </a:path>
              </a:pathLst>
            </a:custGeom>
            <a:ln w="64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308404" y="1821746"/>
              <a:ext cx="469204" cy="984971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7878467" y="1824985"/>
            <a:ext cx="469265" cy="104775"/>
          </a:xfrm>
          <a:prstGeom prst="rect">
            <a:avLst/>
          </a:prstGeom>
          <a:ln w="6477">
            <a:solidFill>
              <a:srgbClr val="000000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78105">
              <a:lnSpc>
                <a:spcPts val="705"/>
              </a:lnSpc>
              <a:spcBef>
                <a:spcPts val="114"/>
              </a:spcBef>
            </a:pPr>
            <a:r>
              <a:rPr dirty="0" sz="600" spc="-10">
                <a:latin typeface="Arial MT"/>
                <a:cs typeface="Arial MT"/>
              </a:rPr>
              <a:t>Registrar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452053" y="1824985"/>
            <a:ext cx="469265" cy="104775"/>
          </a:xfrm>
          <a:prstGeom prst="rect">
            <a:avLst/>
          </a:prstGeom>
          <a:ln w="6477">
            <a:solidFill>
              <a:srgbClr val="000000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90805">
              <a:lnSpc>
                <a:spcPts val="705"/>
              </a:lnSpc>
              <a:spcBef>
                <a:spcPts val="114"/>
              </a:spcBef>
            </a:pPr>
            <a:r>
              <a:rPr dirty="0" sz="600">
                <a:latin typeface="Arial MT"/>
                <a:cs typeface="Arial MT"/>
              </a:rPr>
              <a:t>ID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photo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025379" y="1824985"/>
            <a:ext cx="462915" cy="104775"/>
          </a:xfrm>
          <a:prstGeom prst="rect">
            <a:avLst/>
          </a:prstGeom>
          <a:ln w="6477">
            <a:solidFill>
              <a:srgbClr val="000000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123825">
              <a:lnSpc>
                <a:spcPts val="705"/>
              </a:lnSpc>
              <a:spcBef>
                <a:spcPts val="114"/>
              </a:spcBef>
            </a:pPr>
            <a:r>
              <a:rPr dirty="0" sz="600" spc="-10">
                <a:latin typeface="Arial MT"/>
                <a:cs typeface="Arial MT"/>
              </a:rPr>
              <a:t>Pickup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6369549" y="2030320"/>
            <a:ext cx="320040" cy="216535"/>
            <a:chOff x="6369549" y="2030320"/>
            <a:chExt cx="320040" cy="216535"/>
          </a:xfrm>
        </p:grpSpPr>
        <p:sp>
          <p:nvSpPr>
            <p:cNvPr id="30" name="object 30" descr=""/>
            <p:cNvSpPr/>
            <p:nvPr/>
          </p:nvSpPr>
          <p:spPr>
            <a:xfrm>
              <a:off x="6373042" y="2033813"/>
              <a:ext cx="313055" cy="209550"/>
            </a:xfrm>
            <a:custGeom>
              <a:avLst/>
              <a:gdLst/>
              <a:ahLst/>
              <a:cxnLst/>
              <a:rect l="l" t="t" r="r" b="b"/>
              <a:pathLst>
                <a:path w="313054" h="209550">
                  <a:moveTo>
                    <a:pt x="312932" y="0"/>
                  </a:moveTo>
                  <a:lnTo>
                    <a:pt x="0" y="0"/>
                  </a:lnTo>
                  <a:lnTo>
                    <a:pt x="0" y="209045"/>
                  </a:lnTo>
                  <a:lnTo>
                    <a:pt x="312932" y="209045"/>
                  </a:lnTo>
                  <a:lnTo>
                    <a:pt x="312932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373042" y="2033813"/>
              <a:ext cx="313055" cy="209550"/>
            </a:xfrm>
            <a:custGeom>
              <a:avLst/>
              <a:gdLst/>
              <a:ahLst/>
              <a:cxnLst/>
              <a:rect l="l" t="t" r="r" b="b"/>
              <a:pathLst>
                <a:path w="313054" h="209550">
                  <a:moveTo>
                    <a:pt x="0" y="209045"/>
                  </a:moveTo>
                  <a:lnTo>
                    <a:pt x="312932" y="209045"/>
                  </a:lnTo>
                  <a:lnTo>
                    <a:pt x="312932" y="0"/>
                  </a:lnTo>
                  <a:lnTo>
                    <a:pt x="0" y="0"/>
                  </a:lnTo>
                  <a:lnTo>
                    <a:pt x="0" y="209045"/>
                  </a:lnTo>
                  <a:close/>
                </a:path>
              </a:pathLst>
            </a:custGeom>
            <a:ln w="64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373042" y="2033813"/>
            <a:ext cx="313055" cy="118745"/>
          </a:xfrm>
          <a:prstGeom prst="rect">
            <a:avLst/>
          </a:prstGeom>
          <a:solidFill>
            <a:srgbClr val="CCFFCC"/>
          </a:solidFill>
        </p:spPr>
        <p:txBody>
          <a:bodyPr wrap="square" lIns="0" tIns="21590" rIns="0" bIns="0" rtlCol="0" vert="horz">
            <a:spAutoFit/>
          </a:bodyPr>
          <a:lstStyle/>
          <a:p>
            <a:pPr marL="78105">
              <a:lnSpc>
                <a:spcPct val="100000"/>
              </a:lnSpc>
              <a:spcBef>
                <a:spcPts val="170"/>
              </a:spcBef>
            </a:pPr>
            <a:r>
              <a:rPr dirty="0" sz="600" spc="-10">
                <a:latin typeface="Arial MT"/>
                <a:cs typeface="Arial MT"/>
              </a:rPr>
              <a:t>Start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373042" y="2152240"/>
            <a:ext cx="313055" cy="90805"/>
          </a:xfrm>
          <a:prstGeom prst="rect">
            <a:avLst/>
          </a:prstGeom>
          <a:solidFill>
            <a:srgbClr val="CCFFCC"/>
          </a:solidFill>
        </p:spPr>
        <p:txBody>
          <a:bodyPr wrap="square" lIns="0" tIns="0" rIns="0" bIns="0" rtlCol="0" vert="horz">
            <a:spAutoFit/>
          </a:bodyPr>
          <a:lstStyle/>
          <a:p>
            <a:pPr marL="84455">
              <a:lnSpc>
                <a:spcPts val="680"/>
              </a:lnSpc>
            </a:pPr>
            <a:r>
              <a:rPr dirty="0" sz="600" spc="-20">
                <a:latin typeface="Arial MT"/>
                <a:cs typeface="Arial MT"/>
              </a:rPr>
              <a:t>here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9592550" y="2033813"/>
            <a:ext cx="260985" cy="209550"/>
          </a:xfrm>
          <a:custGeom>
            <a:avLst/>
            <a:gdLst/>
            <a:ahLst/>
            <a:cxnLst/>
            <a:rect l="l" t="t" r="r" b="b"/>
            <a:pathLst>
              <a:path w="260984" h="209550">
                <a:moveTo>
                  <a:pt x="260627" y="0"/>
                </a:moveTo>
                <a:lnTo>
                  <a:pt x="0" y="0"/>
                </a:lnTo>
                <a:lnTo>
                  <a:pt x="0" y="209045"/>
                </a:lnTo>
                <a:lnTo>
                  <a:pt x="260627" y="209045"/>
                </a:lnTo>
                <a:lnTo>
                  <a:pt x="260627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9592550" y="2033813"/>
            <a:ext cx="260985" cy="209550"/>
          </a:xfrm>
          <a:prstGeom prst="rect">
            <a:avLst/>
          </a:prstGeom>
          <a:ln w="6470">
            <a:solidFill>
              <a:srgbClr val="000000"/>
            </a:solidFill>
          </a:ln>
        </p:spPr>
        <p:txBody>
          <a:bodyPr wrap="square" lIns="0" tIns="21590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70"/>
              </a:spcBef>
            </a:pPr>
            <a:r>
              <a:rPr dirty="0" sz="600" spc="-20">
                <a:latin typeface="Arial MT"/>
                <a:cs typeface="Arial MT"/>
              </a:rPr>
              <a:t>Exit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7874975" y="1926006"/>
            <a:ext cx="1926589" cy="996315"/>
            <a:chOff x="7874975" y="1926006"/>
            <a:chExt cx="1926589" cy="996315"/>
          </a:xfrm>
        </p:grpSpPr>
        <p:sp>
          <p:nvSpPr>
            <p:cNvPr id="37" name="object 37" descr=""/>
            <p:cNvSpPr/>
            <p:nvPr/>
          </p:nvSpPr>
          <p:spPr>
            <a:xfrm>
              <a:off x="9647689" y="2193725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 h="0">
                  <a:moveTo>
                    <a:pt x="104382" y="0"/>
                  </a:moveTo>
                  <a:lnTo>
                    <a:pt x="0" y="0"/>
                  </a:lnTo>
                </a:path>
              </a:pathLst>
            </a:custGeom>
            <a:ln w="64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735860" y="2170941"/>
              <a:ext cx="65405" cy="46355"/>
            </a:xfrm>
            <a:custGeom>
              <a:avLst/>
              <a:gdLst/>
              <a:ahLst/>
              <a:cxnLst/>
              <a:rect l="l" t="t" r="r" b="b"/>
              <a:pathLst>
                <a:path w="65404" h="46355">
                  <a:moveTo>
                    <a:pt x="0" y="0"/>
                  </a:moveTo>
                  <a:lnTo>
                    <a:pt x="0" y="45784"/>
                  </a:lnTo>
                  <a:lnTo>
                    <a:pt x="65196" y="19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878467" y="1929499"/>
              <a:ext cx="469265" cy="835660"/>
            </a:xfrm>
            <a:custGeom>
              <a:avLst/>
              <a:gdLst/>
              <a:ahLst/>
              <a:cxnLst/>
              <a:rect l="l" t="t" r="r" b="b"/>
              <a:pathLst>
                <a:path w="469265" h="835660">
                  <a:moveTo>
                    <a:pt x="0" y="835539"/>
                  </a:moveTo>
                  <a:lnTo>
                    <a:pt x="469177" y="835539"/>
                  </a:lnTo>
                  <a:lnTo>
                    <a:pt x="469177" y="0"/>
                  </a:lnTo>
                  <a:lnTo>
                    <a:pt x="0" y="0"/>
                  </a:lnTo>
                  <a:lnTo>
                    <a:pt x="0" y="835539"/>
                  </a:lnTo>
                  <a:close/>
                </a:path>
                <a:path w="469265" h="835660">
                  <a:moveTo>
                    <a:pt x="107504" y="238093"/>
                  </a:moveTo>
                  <a:lnTo>
                    <a:pt x="120421" y="185835"/>
                  </a:lnTo>
                  <a:lnTo>
                    <a:pt x="146517" y="146740"/>
                  </a:lnTo>
                  <a:lnTo>
                    <a:pt x="185704" y="120581"/>
                  </a:lnTo>
                  <a:lnTo>
                    <a:pt x="237722" y="107445"/>
                  </a:lnTo>
                  <a:lnTo>
                    <a:pt x="289827" y="120581"/>
                  </a:lnTo>
                  <a:lnTo>
                    <a:pt x="329014" y="146740"/>
                  </a:lnTo>
                  <a:lnTo>
                    <a:pt x="355023" y="185835"/>
                  </a:lnTo>
                  <a:lnTo>
                    <a:pt x="368201" y="238093"/>
                  </a:lnTo>
                  <a:lnTo>
                    <a:pt x="368201" y="368748"/>
                  </a:lnTo>
                  <a:lnTo>
                    <a:pt x="107504" y="368748"/>
                  </a:lnTo>
                  <a:lnTo>
                    <a:pt x="107504" y="238093"/>
                  </a:lnTo>
                  <a:close/>
                </a:path>
              </a:pathLst>
            </a:custGeom>
            <a:ln w="64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699573" y="2242859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156461" y="0"/>
                  </a:moveTo>
                  <a:lnTo>
                    <a:pt x="0" y="0"/>
                  </a:lnTo>
                  <a:lnTo>
                    <a:pt x="0" y="208828"/>
                  </a:lnTo>
                  <a:lnTo>
                    <a:pt x="156461" y="208828"/>
                  </a:lnTo>
                  <a:lnTo>
                    <a:pt x="1564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699573" y="2242859"/>
              <a:ext cx="156845" cy="208915"/>
            </a:xfrm>
            <a:custGeom>
              <a:avLst/>
              <a:gdLst/>
              <a:ahLst/>
              <a:cxnLst/>
              <a:rect l="l" t="t" r="r" b="b"/>
              <a:pathLst>
                <a:path w="156845" h="208914">
                  <a:moveTo>
                    <a:pt x="0" y="208828"/>
                  </a:moveTo>
                  <a:lnTo>
                    <a:pt x="156461" y="208828"/>
                  </a:lnTo>
                  <a:lnTo>
                    <a:pt x="156461" y="0"/>
                  </a:lnTo>
                  <a:lnTo>
                    <a:pt x="0" y="0"/>
                  </a:lnTo>
                  <a:lnTo>
                    <a:pt x="0" y="208828"/>
                  </a:lnTo>
                  <a:close/>
                </a:path>
              </a:pathLst>
            </a:custGeom>
            <a:ln w="64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611402" y="2454819"/>
              <a:ext cx="260985" cy="52705"/>
            </a:xfrm>
            <a:custGeom>
              <a:avLst/>
              <a:gdLst/>
              <a:ahLst/>
              <a:cxnLst/>
              <a:rect l="l" t="t" r="r" b="b"/>
              <a:pathLst>
                <a:path w="260984" h="52705">
                  <a:moveTo>
                    <a:pt x="260870" y="0"/>
                  </a:moveTo>
                  <a:lnTo>
                    <a:pt x="91291" y="0"/>
                  </a:lnTo>
                  <a:lnTo>
                    <a:pt x="0" y="52257"/>
                  </a:lnTo>
                  <a:lnTo>
                    <a:pt x="162990" y="52257"/>
                  </a:lnTo>
                  <a:lnTo>
                    <a:pt x="260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611402" y="2454819"/>
              <a:ext cx="260985" cy="52705"/>
            </a:xfrm>
            <a:custGeom>
              <a:avLst/>
              <a:gdLst/>
              <a:ahLst/>
              <a:cxnLst/>
              <a:rect l="l" t="t" r="r" b="b"/>
              <a:pathLst>
                <a:path w="260984" h="52705">
                  <a:moveTo>
                    <a:pt x="91291" y="0"/>
                  </a:moveTo>
                  <a:lnTo>
                    <a:pt x="0" y="52257"/>
                  </a:lnTo>
                  <a:lnTo>
                    <a:pt x="162990" y="52257"/>
                  </a:lnTo>
                  <a:lnTo>
                    <a:pt x="260870" y="0"/>
                  </a:lnTo>
                  <a:lnTo>
                    <a:pt x="91291" y="0"/>
                  </a:lnTo>
                  <a:close/>
                </a:path>
              </a:pathLst>
            </a:custGeom>
            <a:ln w="64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601863" y="2451691"/>
              <a:ext cx="274320" cy="209550"/>
            </a:xfrm>
            <a:custGeom>
              <a:avLst/>
              <a:gdLst/>
              <a:ahLst/>
              <a:cxnLst/>
              <a:rect l="l" t="t" r="r" b="b"/>
              <a:pathLst>
                <a:path w="274320" h="209550">
                  <a:moveTo>
                    <a:pt x="13131" y="52260"/>
                  </a:moveTo>
                  <a:lnTo>
                    <a:pt x="0" y="52260"/>
                  </a:lnTo>
                  <a:lnTo>
                    <a:pt x="0" y="209042"/>
                  </a:lnTo>
                  <a:lnTo>
                    <a:pt x="13131" y="209042"/>
                  </a:lnTo>
                  <a:lnTo>
                    <a:pt x="13131" y="52260"/>
                  </a:lnTo>
                  <a:close/>
                </a:path>
                <a:path w="274320" h="209550">
                  <a:moveTo>
                    <a:pt x="169405" y="52260"/>
                  </a:moveTo>
                  <a:lnTo>
                    <a:pt x="156489" y="52260"/>
                  </a:lnTo>
                  <a:lnTo>
                    <a:pt x="156489" y="209042"/>
                  </a:lnTo>
                  <a:lnTo>
                    <a:pt x="169405" y="209042"/>
                  </a:lnTo>
                  <a:lnTo>
                    <a:pt x="169405" y="52260"/>
                  </a:lnTo>
                  <a:close/>
                </a:path>
                <a:path w="274320" h="209550">
                  <a:moveTo>
                    <a:pt x="273735" y="0"/>
                  </a:moveTo>
                  <a:lnTo>
                    <a:pt x="260604" y="0"/>
                  </a:lnTo>
                  <a:lnTo>
                    <a:pt x="260604" y="156781"/>
                  </a:lnTo>
                  <a:lnTo>
                    <a:pt x="273735" y="156781"/>
                  </a:lnTo>
                  <a:lnTo>
                    <a:pt x="2737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402896" y="2402553"/>
              <a:ext cx="208915" cy="516255"/>
            </a:xfrm>
            <a:custGeom>
              <a:avLst/>
              <a:gdLst/>
              <a:ahLst/>
              <a:cxnLst/>
              <a:rect l="l" t="t" r="r" b="b"/>
              <a:pathLst>
                <a:path w="208915" h="516255">
                  <a:moveTo>
                    <a:pt x="104382" y="0"/>
                  </a:moveTo>
                  <a:lnTo>
                    <a:pt x="0" y="463662"/>
                  </a:lnTo>
                </a:path>
                <a:path w="208915" h="516255">
                  <a:moveTo>
                    <a:pt x="104382" y="0"/>
                  </a:moveTo>
                  <a:lnTo>
                    <a:pt x="156487" y="515923"/>
                  </a:lnTo>
                </a:path>
                <a:path w="208915" h="516255">
                  <a:moveTo>
                    <a:pt x="104382" y="0"/>
                  </a:moveTo>
                  <a:lnTo>
                    <a:pt x="208505" y="411401"/>
                  </a:lnTo>
                </a:path>
              </a:pathLst>
            </a:custGeom>
            <a:ln w="64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58441" y="2392845"/>
              <a:ext cx="97676" cy="71690"/>
            </a:xfrm>
            <a:prstGeom prst="rect">
              <a:avLst/>
            </a:prstGeom>
          </p:spPr>
        </p:pic>
      </p:grpSp>
      <p:sp>
        <p:nvSpPr>
          <p:cNvPr id="47" name="object 47" descr=""/>
          <p:cNvSpPr txBox="1"/>
          <p:nvPr/>
        </p:nvSpPr>
        <p:spPr>
          <a:xfrm>
            <a:off x="6810155" y="1795036"/>
            <a:ext cx="362585" cy="27432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r" marR="37465">
              <a:lnSpc>
                <a:spcPct val="100000"/>
              </a:lnSpc>
              <a:spcBef>
                <a:spcPts val="355"/>
              </a:spcBef>
            </a:pPr>
            <a:r>
              <a:rPr dirty="0" sz="600" spc="-10">
                <a:latin typeface="Arial MT"/>
                <a:cs typeface="Arial MT"/>
              </a:rPr>
              <a:t>Approval</a:t>
            </a:r>
            <a:endParaRPr sz="6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254"/>
              </a:spcBef>
            </a:pPr>
            <a:r>
              <a:rPr dirty="0" sz="600" spc="-5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403066" y="1795036"/>
            <a:ext cx="336550" cy="27432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algn="r" marR="35560">
              <a:lnSpc>
                <a:spcPct val="100000"/>
              </a:lnSpc>
              <a:spcBef>
                <a:spcPts val="355"/>
              </a:spcBef>
            </a:pPr>
            <a:r>
              <a:rPr dirty="0" sz="600" spc="-10">
                <a:latin typeface="Arial MT"/>
                <a:cs typeface="Arial MT"/>
              </a:rPr>
              <a:t>Cashier</a:t>
            </a:r>
            <a:endParaRPr sz="600">
              <a:latin typeface="Arial MT"/>
              <a:cs typeface="Arial MT"/>
            </a:endParaRPr>
          </a:p>
          <a:p>
            <a:pPr algn="r" marR="5080">
              <a:lnSpc>
                <a:spcPct val="100000"/>
              </a:lnSpc>
              <a:spcBef>
                <a:spcPts val="254"/>
              </a:spcBef>
            </a:pPr>
            <a:r>
              <a:rPr dirty="0" sz="600" spc="-50"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8256465" y="1949419"/>
            <a:ext cx="5651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600" spc="-50"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8817264" y="1949419"/>
            <a:ext cx="6921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00" spc="-50"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9403551" y="1949419"/>
            <a:ext cx="56515" cy="12001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600" spc="-50"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6473045" y="919016"/>
            <a:ext cx="3207385" cy="81153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dirty="0" sz="850">
                <a:latin typeface="Arial MT"/>
                <a:cs typeface="Arial MT"/>
              </a:rPr>
              <a:t>Strategies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improving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performance</a:t>
            </a:r>
            <a:endParaRPr sz="850">
              <a:latin typeface="Arial MT"/>
              <a:cs typeface="Arial MT"/>
            </a:endParaRPr>
          </a:p>
          <a:p>
            <a:pPr marL="93980" marR="89535" indent="-81915">
              <a:lnSpc>
                <a:spcPct val="101200"/>
              </a:lnSpc>
              <a:spcBef>
                <a:spcPts val="495"/>
              </a:spcBef>
              <a:buAutoNum type="arabicPlain"/>
              <a:tabLst>
                <a:tab pos="175260" algn="l"/>
              </a:tabLst>
            </a:pPr>
            <a:r>
              <a:rPr dirty="0" sz="750">
                <a:latin typeface="Arial MT"/>
                <a:cs typeface="Arial MT"/>
              </a:rPr>
              <a:t>–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Use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multiple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independent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data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paths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accepting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several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instructions </a:t>
            </a:r>
            <a:r>
              <a:rPr dirty="0" sz="750" spc="-10">
                <a:latin typeface="Arial MT"/>
                <a:cs typeface="Arial MT"/>
              </a:rPr>
              <a:t>	</a:t>
            </a:r>
            <a:r>
              <a:rPr dirty="0" sz="750">
                <a:latin typeface="Arial MT"/>
                <a:cs typeface="Arial MT"/>
              </a:rPr>
              <a:t>that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are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read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out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at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once: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 i="1">
                <a:latin typeface="Arial"/>
                <a:cs typeface="Arial"/>
              </a:rPr>
              <a:t>multiple-instruction-issue</a:t>
            </a:r>
            <a:r>
              <a:rPr dirty="0" sz="750" spc="80" i="1">
                <a:latin typeface="Arial"/>
                <a:cs typeface="Arial"/>
              </a:rPr>
              <a:t> </a:t>
            </a:r>
            <a:r>
              <a:rPr dirty="0" sz="750">
                <a:latin typeface="Arial MT"/>
                <a:cs typeface="Arial MT"/>
              </a:rPr>
              <a:t>or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 spc="-10" i="1">
                <a:latin typeface="Arial"/>
                <a:cs typeface="Arial"/>
              </a:rPr>
              <a:t>superscalar</a:t>
            </a:r>
            <a:endParaRPr sz="750">
              <a:latin typeface="Arial"/>
              <a:cs typeface="Arial"/>
            </a:endParaRPr>
          </a:p>
          <a:p>
            <a:pPr marL="93980" marR="5080" indent="-81915">
              <a:lnSpc>
                <a:spcPct val="102400"/>
              </a:lnSpc>
              <a:spcBef>
                <a:spcPts val="450"/>
              </a:spcBef>
              <a:buAutoNum type="arabicPlain"/>
              <a:tabLst>
                <a:tab pos="175260" algn="l"/>
              </a:tabLst>
            </a:pPr>
            <a:r>
              <a:rPr dirty="0" sz="750">
                <a:latin typeface="Arial MT"/>
                <a:cs typeface="Arial MT"/>
              </a:rPr>
              <a:t>–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Overlap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execution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of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several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instructions,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starting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next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instruction </a:t>
            </a:r>
            <a:r>
              <a:rPr dirty="0" sz="750" spc="-10">
                <a:latin typeface="Arial MT"/>
                <a:cs typeface="Arial MT"/>
              </a:rPr>
              <a:t>	</a:t>
            </a:r>
            <a:r>
              <a:rPr dirty="0" sz="750">
                <a:latin typeface="Arial MT"/>
                <a:cs typeface="Arial MT"/>
              </a:rPr>
              <a:t>before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the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previous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one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has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run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to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completion: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 spc="-10" i="1">
                <a:latin typeface="Arial"/>
                <a:cs typeface="Arial"/>
              </a:rPr>
              <a:t>(super)pipelined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54" name="object 54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57" name="object 5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611714" y="4146223"/>
            <a:ext cx="4002404" cy="11817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Malgun Gothic"/>
                <a:cs typeface="Malgun Gothic"/>
              </a:rPr>
              <a:t>파이프라인</a:t>
            </a:r>
            <a:endParaRPr sz="1150">
              <a:latin typeface="Malgun Gothic"/>
              <a:cs typeface="Malgun Gothic"/>
            </a:endParaRPr>
          </a:p>
          <a:p>
            <a:pPr marL="147955" marR="31115" indent="-148590">
              <a:lnSpc>
                <a:spcPct val="101099"/>
              </a:lnSpc>
              <a:spcBef>
                <a:spcPts val="9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명령어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처리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과정을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여러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단계로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세분화해서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서로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다른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0">
                <a:solidFill>
                  <a:srgbClr val="003366"/>
                </a:solidFill>
                <a:latin typeface="Malgun Gothic"/>
                <a:cs typeface="Malgun Gothic"/>
              </a:rPr>
              <a:t>작업들이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수행되도록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하여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병렬성을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높이는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endParaRPr sz="950">
              <a:latin typeface="Malgun Gothic"/>
              <a:cs typeface="Malgun Gothic"/>
            </a:endParaRPr>
          </a:p>
          <a:p>
            <a:pPr marL="147955" marR="5080" indent="-148590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CPU</a:t>
            </a:r>
            <a:r>
              <a:rPr dirty="0" sz="950" spc="-1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프로그램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처리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속도를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높이기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위하여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CPU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내부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하드웨어를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Malgun Gothic"/>
                <a:cs typeface="Malgun Gothic"/>
              </a:rPr>
              <a:t>여러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단계로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나누어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처리하는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Malgun Gothic"/>
                <a:cs typeface="Malgun Gothic"/>
              </a:rPr>
              <a:t>기술</a:t>
            </a:r>
            <a:endParaRPr sz="950">
              <a:latin typeface="Malgun Gothic"/>
              <a:cs typeface="Malgun Gothic"/>
            </a:endParaRPr>
          </a:p>
          <a:p>
            <a:pPr marL="147955" indent="-14795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 spc="-20">
                <a:solidFill>
                  <a:srgbClr val="003366"/>
                </a:solidFill>
                <a:latin typeface="Malgun Gothic"/>
                <a:cs typeface="Malgun Gothic"/>
              </a:rPr>
              <a:t>수행과정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611715" y="6004614"/>
            <a:ext cx="1042669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47955" indent="-147955">
              <a:lnSpc>
                <a:spcPct val="100000"/>
              </a:lnSpc>
              <a:spcBef>
                <a:spcPts val="11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파이프라인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Malgun Gothic"/>
                <a:cs typeface="Malgun Gothic"/>
              </a:rPr>
              <a:t>유형</a:t>
            </a:r>
            <a:endParaRPr sz="950">
              <a:latin typeface="Malgun Gothic"/>
              <a:cs typeface="Malgun Gothic"/>
            </a:endParaRPr>
          </a:p>
        </p:txBody>
      </p:sp>
      <p:grpSp>
        <p:nvGrpSpPr>
          <p:cNvPr id="60" name="object 60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61" name="object 6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57230" y="5424306"/>
              <a:ext cx="3857355" cy="492238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0122" y="6165906"/>
              <a:ext cx="3633278" cy="757748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65" name="object 6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66" name="object 66" descr=""/>
          <p:cNvSpPr txBox="1"/>
          <p:nvPr/>
        </p:nvSpPr>
        <p:spPr>
          <a:xfrm>
            <a:off x="5729114" y="4146223"/>
            <a:ext cx="104965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30">
                <a:solidFill>
                  <a:srgbClr val="003366"/>
                </a:solidFill>
                <a:latin typeface="Malgun Gothic"/>
                <a:cs typeface="Malgun Gothic"/>
              </a:rPr>
              <a:t>단일</a:t>
            </a:r>
            <a:r>
              <a:rPr dirty="0" sz="11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Malgun Gothic"/>
                <a:cs typeface="Malgun Gothic"/>
              </a:rPr>
              <a:t>파이프라인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68" name="object 6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22228" y="4764354"/>
              <a:ext cx="4336654" cy="1116870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77608" y="34066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9014" y="594823"/>
            <a:ext cx="197929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Pipelined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Instruction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Execution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80615" y="2992448"/>
            <a:ext cx="3183255" cy="181610"/>
          </a:xfrm>
          <a:prstGeom prst="rect">
            <a:avLst/>
          </a:prstGeom>
          <a:solidFill>
            <a:srgbClr val="CCFF99"/>
          </a:solidFill>
        </p:spPr>
        <p:txBody>
          <a:bodyPr wrap="square" lIns="0" tIns="2095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65"/>
              </a:spcBef>
            </a:pPr>
            <a:r>
              <a:rPr dirty="0" sz="850">
                <a:latin typeface="Arial MT"/>
                <a:cs typeface="Arial MT"/>
              </a:rPr>
              <a:t>Pipelining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MicroMIPS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execution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process.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05368" y="1032646"/>
            <a:ext cx="2686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7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12996" y="1032646"/>
            <a:ext cx="2686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6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720460" y="1032646"/>
            <a:ext cx="2686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5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27924" y="1032646"/>
            <a:ext cx="2686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4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41684" y="1032646"/>
            <a:ext cx="2686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3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49131" y="1032646"/>
            <a:ext cx="2686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2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156792" y="1032646"/>
            <a:ext cx="268605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067830" y="1207931"/>
            <a:ext cx="1671320" cy="300990"/>
            <a:chOff x="1067830" y="1207931"/>
            <a:chExt cx="1671320" cy="300990"/>
          </a:xfrm>
        </p:grpSpPr>
        <p:sp>
          <p:nvSpPr>
            <p:cNvPr id="14" name="object 14" descr=""/>
            <p:cNvSpPr/>
            <p:nvPr/>
          </p:nvSpPr>
          <p:spPr>
            <a:xfrm>
              <a:off x="2196122" y="1361332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 h="0">
                  <a:moveTo>
                    <a:pt x="0" y="0"/>
                  </a:moveTo>
                  <a:lnTo>
                    <a:pt x="122805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303637" y="133992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3006" y="18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1005" y="1211106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40">
                  <a:moveTo>
                    <a:pt x="49118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9118" y="294526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071005" y="1211106"/>
              <a:ext cx="855980" cy="294640"/>
            </a:xfrm>
            <a:custGeom>
              <a:avLst/>
              <a:gdLst/>
              <a:ahLst/>
              <a:cxnLst/>
              <a:rect l="l" t="t" r="r" b="b"/>
              <a:pathLst>
                <a:path w="855980" h="294640">
                  <a:moveTo>
                    <a:pt x="0" y="294526"/>
                  </a:moveTo>
                  <a:lnTo>
                    <a:pt x="49118" y="294526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  <a:path w="855980" h="294640">
                  <a:moveTo>
                    <a:pt x="738876" y="248359"/>
                  </a:moveTo>
                  <a:lnTo>
                    <a:pt x="855386" y="248359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911266" y="143805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3061"/>
                  </a:lnTo>
                  <a:lnTo>
                    <a:pt x="42842" y="18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340594" y="1211106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40">
                  <a:moveTo>
                    <a:pt x="245185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245185" y="294526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340594" y="1211106"/>
              <a:ext cx="370840" cy="294640"/>
            </a:xfrm>
            <a:custGeom>
              <a:avLst/>
              <a:gdLst/>
              <a:ahLst/>
              <a:cxnLst/>
              <a:rect l="l" t="t" r="r" b="b"/>
              <a:pathLst>
                <a:path w="370839" h="294640">
                  <a:moveTo>
                    <a:pt x="0" y="294526"/>
                  </a:moveTo>
                  <a:lnTo>
                    <a:pt x="245185" y="294526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  <a:path w="370839" h="294640">
                  <a:moveTo>
                    <a:pt x="248145" y="150225"/>
                  </a:moveTo>
                  <a:lnTo>
                    <a:pt x="370705" y="150225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696173" y="133992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2843" y="18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69241" y="1211106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40">
                  <a:moveTo>
                    <a:pt x="245185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245185" y="294526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169241" y="1211106"/>
              <a:ext cx="371475" cy="294640"/>
            </a:xfrm>
            <a:custGeom>
              <a:avLst/>
              <a:gdLst/>
              <a:ahLst/>
              <a:cxnLst/>
              <a:rect l="l" t="t" r="r" b="b"/>
              <a:pathLst>
                <a:path w="371475" h="294640">
                  <a:moveTo>
                    <a:pt x="0" y="294526"/>
                  </a:moveTo>
                  <a:lnTo>
                    <a:pt x="245185" y="294526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  <a:path w="371475" h="294640">
                  <a:moveTo>
                    <a:pt x="248129" y="150225"/>
                  </a:moveTo>
                  <a:lnTo>
                    <a:pt x="370926" y="150225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24845" y="1339923"/>
              <a:ext cx="36830" cy="43180"/>
            </a:xfrm>
            <a:custGeom>
              <a:avLst/>
              <a:gdLst/>
              <a:ahLst/>
              <a:cxnLst/>
              <a:rect l="l" t="t" r="r" b="b"/>
              <a:pathLst>
                <a:path w="36830" h="43180">
                  <a:moveTo>
                    <a:pt x="0" y="0"/>
                  </a:moveTo>
                  <a:lnTo>
                    <a:pt x="0" y="42979"/>
                  </a:lnTo>
                  <a:lnTo>
                    <a:pt x="36734" y="18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61581" y="1211106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40">
                  <a:moveTo>
                    <a:pt x="245390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245390" y="294526"/>
                  </a:lnTo>
                  <a:lnTo>
                    <a:pt x="24539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61581" y="1211106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40">
                  <a:moveTo>
                    <a:pt x="0" y="294526"/>
                  </a:moveTo>
                  <a:lnTo>
                    <a:pt x="245390" y="294526"/>
                  </a:lnTo>
                  <a:lnTo>
                    <a:pt x="245390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622556" y="1272015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119895" y="1207931"/>
            <a:ext cx="1861820" cy="304165"/>
            <a:chOff x="1119895" y="1207931"/>
            <a:chExt cx="1861820" cy="304165"/>
          </a:xfrm>
        </p:grpSpPr>
        <p:sp>
          <p:nvSpPr>
            <p:cNvPr id="29" name="object 29" descr=""/>
            <p:cNvSpPr/>
            <p:nvPr/>
          </p:nvSpPr>
          <p:spPr>
            <a:xfrm>
              <a:off x="1809882" y="1263115"/>
              <a:ext cx="116839" cy="0"/>
            </a:xfrm>
            <a:custGeom>
              <a:avLst/>
              <a:gdLst/>
              <a:ahLst/>
              <a:cxnLst/>
              <a:rect l="l" t="t" r="r" b="b"/>
              <a:pathLst>
                <a:path w="116839" h="0">
                  <a:moveTo>
                    <a:pt x="0" y="0"/>
                  </a:moveTo>
                  <a:lnTo>
                    <a:pt x="116509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911266" y="124170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3061"/>
                  </a:lnTo>
                  <a:lnTo>
                    <a:pt x="42842" y="18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938574" y="1214007"/>
              <a:ext cx="257810" cy="294640"/>
            </a:xfrm>
            <a:custGeom>
              <a:avLst/>
              <a:gdLst/>
              <a:ahLst/>
              <a:cxnLst/>
              <a:rect l="l" t="t" r="r" b="b"/>
              <a:pathLst>
                <a:path w="257810" h="294640">
                  <a:moveTo>
                    <a:pt x="0" y="0"/>
                  </a:moveTo>
                  <a:lnTo>
                    <a:pt x="0" y="294567"/>
                  </a:lnTo>
                  <a:lnTo>
                    <a:pt x="257548" y="220945"/>
                  </a:lnTo>
                  <a:lnTo>
                    <a:pt x="257548" y="73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938574" y="1214007"/>
              <a:ext cx="257810" cy="294640"/>
            </a:xfrm>
            <a:custGeom>
              <a:avLst/>
              <a:gdLst/>
              <a:ahLst/>
              <a:cxnLst/>
              <a:rect l="l" t="t" r="r" b="b"/>
              <a:pathLst>
                <a:path w="257810" h="294640">
                  <a:moveTo>
                    <a:pt x="0" y="294567"/>
                  </a:moveTo>
                  <a:lnTo>
                    <a:pt x="257548" y="220945"/>
                  </a:lnTo>
                  <a:lnTo>
                    <a:pt x="257548" y="73703"/>
                  </a:lnTo>
                  <a:lnTo>
                    <a:pt x="0" y="0"/>
                  </a:lnTo>
                  <a:lnTo>
                    <a:pt x="0" y="294567"/>
                  </a:lnTo>
                  <a:close/>
                </a:path>
                <a:path w="257810" h="294640">
                  <a:moveTo>
                    <a:pt x="0" y="98216"/>
                  </a:moveTo>
                  <a:lnTo>
                    <a:pt x="73666" y="147324"/>
                  </a:lnTo>
                </a:path>
                <a:path w="257810" h="294640">
                  <a:moveTo>
                    <a:pt x="0" y="196350"/>
                  </a:moveTo>
                  <a:lnTo>
                    <a:pt x="73666" y="147324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904969" y="1284768"/>
              <a:ext cx="104775" cy="147320"/>
            </a:xfrm>
            <a:custGeom>
              <a:avLst/>
              <a:gdLst/>
              <a:ahLst/>
              <a:cxnLst/>
              <a:rect l="l" t="t" r="r" b="b"/>
              <a:pathLst>
                <a:path w="104775" h="147319">
                  <a:moveTo>
                    <a:pt x="0" y="0"/>
                  </a:moveTo>
                  <a:lnTo>
                    <a:pt x="0" y="147242"/>
                  </a:lnTo>
                  <a:lnTo>
                    <a:pt x="104327" y="73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23070" y="1361332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552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132505" y="1339923"/>
              <a:ext cx="36830" cy="43180"/>
            </a:xfrm>
            <a:custGeom>
              <a:avLst/>
              <a:gdLst/>
              <a:ahLst/>
              <a:cxnLst/>
              <a:rect l="l" t="t" r="r" b="b"/>
              <a:pathLst>
                <a:path w="36830" h="43180">
                  <a:moveTo>
                    <a:pt x="0" y="0"/>
                  </a:moveTo>
                  <a:lnTo>
                    <a:pt x="0" y="42979"/>
                  </a:lnTo>
                  <a:lnTo>
                    <a:pt x="36735" y="18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732885" y="1211106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40">
                  <a:moveTo>
                    <a:pt x="245390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245390" y="294526"/>
                  </a:lnTo>
                  <a:lnTo>
                    <a:pt x="24539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732885" y="1211106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40">
                  <a:moveTo>
                    <a:pt x="0" y="294526"/>
                  </a:moveTo>
                  <a:lnTo>
                    <a:pt x="245390" y="294526"/>
                  </a:lnTo>
                  <a:lnTo>
                    <a:pt x="245390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2793852" y="1272015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0480" marR="5080" indent="-18415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015049" y="1321123"/>
            <a:ext cx="16065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460374" y="1207931"/>
            <a:ext cx="1671320" cy="645160"/>
            <a:chOff x="1460374" y="1207931"/>
            <a:chExt cx="1671320" cy="645160"/>
          </a:xfrm>
        </p:grpSpPr>
        <p:sp>
          <p:nvSpPr>
            <p:cNvPr id="41" name="object 41" descr=""/>
            <p:cNvSpPr/>
            <p:nvPr/>
          </p:nvSpPr>
          <p:spPr>
            <a:xfrm>
              <a:off x="1463549" y="1211106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40">
                  <a:moveTo>
                    <a:pt x="49118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9118" y="294526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63549" y="1211106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40">
                  <a:moveTo>
                    <a:pt x="0" y="294526"/>
                  </a:moveTo>
                  <a:lnTo>
                    <a:pt x="49118" y="294526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856077" y="1211106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40">
                  <a:moveTo>
                    <a:pt x="48915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8915" y="294526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856077" y="1211106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40">
                  <a:moveTo>
                    <a:pt x="0" y="294526"/>
                  </a:moveTo>
                  <a:lnTo>
                    <a:pt x="48915" y="294526"/>
                  </a:lnTo>
                  <a:lnTo>
                    <a:pt x="48915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242317" y="1211106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40">
                  <a:moveTo>
                    <a:pt x="49118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9118" y="294526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242317" y="1211106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40">
                  <a:moveTo>
                    <a:pt x="0" y="294526"/>
                  </a:moveTo>
                  <a:lnTo>
                    <a:pt x="49118" y="294526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634853" y="1211106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40">
                  <a:moveTo>
                    <a:pt x="48915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8915" y="294526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588740" y="1211106"/>
              <a:ext cx="122555" cy="494030"/>
            </a:xfrm>
            <a:custGeom>
              <a:avLst/>
              <a:gdLst/>
              <a:ahLst/>
              <a:cxnLst/>
              <a:rect l="l" t="t" r="r" b="b"/>
              <a:pathLst>
                <a:path w="122555" h="494030">
                  <a:moveTo>
                    <a:pt x="46113" y="294526"/>
                  </a:moveTo>
                  <a:lnTo>
                    <a:pt x="95028" y="294526"/>
                  </a:lnTo>
                  <a:lnTo>
                    <a:pt x="95028" y="0"/>
                  </a:lnTo>
                  <a:lnTo>
                    <a:pt x="46113" y="0"/>
                  </a:lnTo>
                  <a:lnTo>
                    <a:pt x="46113" y="294526"/>
                  </a:lnTo>
                  <a:close/>
                </a:path>
                <a:path w="122555" h="494030">
                  <a:moveTo>
                    <a:pt x="0" y="493982"/>
                  </a:moveTo>
                  <a:lnTo>
                    <a:pt x="122560" y="493982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696173" y="1683761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2843" y="18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463549" y="1554945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39">
                  <a:moveTo>
                    <a:pt x="49118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9118" y="294526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463549" y="1554945"/>
              <a:ext cx="855980" cy="294640"/>
            </a:xfrm>
            <a:custGeom>
              <a:avLst/>
              <a:gdLst/>
              <a:ahLst/>
              <a:cxnLst/>
              <a:rect l="l" t="t" r="r" b="b"/>
              <a:pathLst>
                <a:path w="855980" h="294639">
                  <a:moveTo>
                    <a:pt x="0" y="294526"/>
                  </a:moveTo>
                  <a:lnTo>
                    <a:pt x="49118" y="294526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  <a:path w="855980" h="294639">
                  <a:moveTo>
                    <a:pt x="732573" y="248359"/>
                  </a:moveTo>
                  <a:lnTo>
                    <a:pt x="855378" y="248359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303637" y="178189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80"/>
                  </a:lnTo>
                  <a:lnTo>
                    <a:pt x="43006" y="18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732885" y="1554945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39">
                  <a:moveTo>
                    <a:pt x="245390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245390" y="294526"/>
                  </a:lnTo>
                  <a:lnTo>
                    <a:pt x="2453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732885" y="1554945"/>
              <a:ext cx="371475" cy="294640"/>
            </a:xfrm>
            <a:custGeom>
              <a:avLst/>
              <a:gdLst/>
              <a:ahLst/>
              <a:cxnLst/>
              <a:rect l="l" t="t" r="r" b="b"/>
              <a:pathLst>
                <a:path w="371475" h="294639">
                  <a:moveTo>
                    <a:pt x="0" y="294526"/>
                  </a:moveTo>
                  <a:lnTo>
                    <a:pt x="245390" y="294526"/>
                  </a:lnTo>
                  <a:lnTo>
                    <a:pt x="245390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  <a:path w="371475" h="294639">
                  <a:moveTo>
                    <a:pt x="248390" y="150143"/>
                  </a:moveTo>
                  <a:lnTo>
                    <a:pt x="370950" y="150143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3088709" y="1683761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2842" y="18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561581" y="1554945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39">
                  <a:moveTo>
                    <a:pt x="245390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245390" y="294526"/>
                  </a:lnTo>
                  <a:lnTo>
                    <a:pt x="2453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561581" y="1554945"/>
              <a:ext cx="365125" cy="294640"/>
            </a:xfrm>
            <a:custGeom>
              <a:avLst/>
              <a:gdLst/>
              <a:ahLst/>
              <a:cxnLst/>
              <a:rect l="l" t="t" r="r" b="b"/>
              <a:pathLst>
                <a:path w="365125" h="294639">
                  <a:moveTo>
                    <a:pt x="0" y="294526"/>
                  </a:moveTo>
                  <a:lnTo>
                    <a:pt x="245390" y="294526"/>
                  </a:lnTo>
                  <a:lnTo>
                    <a:pt x="245390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  <a:path w="365125" h="294639">
                  <a:moveTo>
                    <a:pt x="248300" y="150143"/>
                  </a:moveTo>
                  <a:lnTo>
                    <a:pt x="364810" y="150143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911266" y="1683761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2842" y="18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948058" y="1554945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39">
                  <a:moveTo>
                    <a:pt x="245185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245185" y="294526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948058" y="1554945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4" h="294639">
                  <a:moveTo>
                    <a:pt x="0" y="294526"/>
                  </a:moveTo>
                  <a:lnTo>
                    <a:pt x="245185" y="294526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2008780" y="1609562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1512431" y="1551770"/>
            <a:ext cx="1861820" cy="304165"/>
            <a:chOff x="1512431" y="1551770"/>
            <a:chExt cx="1861820" cy="304165"/>
          </a:xfrm>
        </p:grpSpPr>
        <p:sp>
          <p:nvSpPr>
            <p:cNvPr id="63" name="object 63" descr=""/>
            <p:cNvSpPr/>
            <p:nvPr/>
          </p:nvSpPr>
          <p:spPr>
            <a:xfrm>
              <a:off x="2196122" y="1606954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 h="0">
                  <a:moveTo>
                    <a:pt x="0" y="0"/>
                  </a:moveTo>
                  <a:lnTo>
                    <a:pt x="122805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303637" y="158554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3006" y="18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331110" y="1557846"/>
              <a:ext cx="257810" cy="294640"/>
            </a:xfrm>
            <a:custGeom>
              <a:avLst/>
              <a:gdLst/>
              <a:ahLst/>
              <a:cxnLst/>
              <a:rect l="l" t="t" r="r" b="b"/>
              <a:pathLst>
                <a:path w="257810" h="294639">
                  <a:moveTo>
                    <a:pt x="0" y="0"/>
                  </a:moveTo>
                  <a:lnTo>
                    <a:pt x="0" y="294567"/>
                  </a:lnTo>
                  <a:lnTo>
                    <a:pt x="257629" y="220945"/>
                  </a:lnTo>
                  <a:lnTo>
                    <a:pt x="257629" y="736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331110" y="1557846"/>
              <a:ext cx="257810" cy="294640"/>
            </a:xfrm>
            <a:custGeom>
              <a:avLst/>
              <a:gdLst/>
              <a:ahLst/>
              <a:cxnLst/>
              <a:rect l="l" t="t" r="r" b="b"/>
              <a:pathLst>
                <a:path w="257810" h="294639">
                  <a:moveTo>
                    <a:pt x="0" y="294567"/>
                  </a:moveTo>
                  <a:lnTo>
                    <a:pt x="257629" y="220945"/>
                  </a:lnTo>
                  <a:lnTo>
                    <a:pt x="257629" y="73621"/>
                  </a:lnTo>
                  <a:lnTo>
                    <a:pt x="0" y="0"/>
                  </a:lnTo>
                  <a:lnTo>
                    <a:pt x="0" y="294567"/>
                  </a:lnTo>
                  <a:close/>
                </a:path>
                <a:path w="257810" h="294639">
                  <a:moveTo>
                    <a:pt x="0" y="98216"/>
                  </a:moveTo>
                  <a:lnTo>
                    <a:pt x="73666" y="147242"/>
                  </a:lnTo>
                </a:path>
                <a:path w="257810" h="294639">
                  <a:moveTo>
                    <a:pt x="0" y="196350"/>
                  </a:moveTo>
                  <a:lnTo>
                    <a:pt x="73666" y="147242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291455" y="1628525"/>
              <a:ext cx="110489" cy="147320"/>
            </a:xfrm>
            <a:custGeom>
              <a:avLst/>
              <a:gdLst/>
              <a:ahLst/>
              <a:cxnLst/>
              <a:rect l="l" t="t" r="r" b="b"/>
              <a:pathLst>
                <a:path w="110489" h="147319">
                  <a:moveTo>
                    <a:pt x="0" y="0"/>
                  </a:moveTo>
                  <a:lnTo>
                    <a:pt x="0" y="147323"/>
                  </a:lnTo>
                  <a:lnTo>
                    <a:pt x="110376" y="736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515606" y="1705089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561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524845" y="1683761"/>
              <a:ext cx="36830" cy="43180"/>
            </a:xfrm>
            <a:custGeom>
              <a:avLst/>
              <a:gdLst/>
              <a:ahLst/>
              <a:cxnLst/>
              <a:rect l="l" t="t" r="r" b="b"/>
              <a:pathLst>
                <a:path w="36830" h="43180">
                  <a:moveTo>
                    <a:pt x="0" y="0"/>
                  </a:moveTo>
                  <a:lnTo>
                    <a:pt x="0" y="42979"/>
                  </a:lnTo>
                  <a:lnTo>
                    <a:pt x="36734" y="18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125421" y="1554945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5" h="294639">
                  <a:moveTo>
                    <a:pt x="245185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245185" y="294526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3125421" y="1554945"/>
              <a:ext cx="245745" cy="294640"/>
            </a:xfrm>
            <a:custGeom>
              <a:avLst/>
              <a:gdLst/>
              <a:ahLst/>
              <a:cxnLst/>
              <a:rect l="l" t="t" r="r" b="b"/>
              <a:pathLst>
                <a:path w="245745" h="294639">
                  <a:moveTo>
                    <a:pt x="0" y="294526"/>
                  </a:moveTo>
                  <a:lnTo>
                    <a:pt x="245185" y="294526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 txBox="1"/>
          <p:nvPr/>
        </p:nvSpPr>
        <p:spPr>
          <a:xfrm>
            <a:off x="3186224" y="1609562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2407585" y="1671008"/>
            <a:ext cx="16065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74" name="object 74" descr=""/>
          <p:cNvGrpSpPr/>
          <p:nvPr/>
        </p:nvGrpSpPr>
        <p:grpSpPr>
          <a:xfrm>
            <a:off x="1852902" y="1551770"/>
            <a:ext cx="1671320" cy="638810"/>
            <a:chOff x="1852902" y="1551770"/>
            <a:chExt cx="1671320" cy="638810"/>
          </a:xfrm>
        </p:grpSpPr>
        <p:sp>
          <p:nvSpPr>
            <p:cNvPr id="75" name="object 75" descr=""/>
            <p:cNvSpPr/>
            <p:nvPr/>
          </p:nvSpPr>
          <p:spPr>
            <a:xfrm>
              <a:off x="1856077" y="1554945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39">
                  <a:moveTo>
                    <a:pt x="48915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8915" y="294526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856077" y="1554945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39">
                  <a:moveTo>
                    <a:pt x="0" y="294526"/>
                  </a:moveTo>
                  <a:lnTo>
                    <a:pt x="48915" y="294526"/>
                  </a:lnTo>
                  <a:lnTo>
                    <a:pt x="48915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242317" y="1554945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39">
                  <a:moveTo>
                    <a:pt x="49118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9118" y="294526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2242317" y="1554945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39">
                  <a:moveTo>
                    <a:pt x="0" y="294526"/>
                  </a:moveTo>
                  <a:lnTo>
                    <a:pt x="49118" y="294526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2634853" y="1554945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39">
                  <a:moveTo>
                    <a:pt x="48915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8915" y="294526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634853" y="1554945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39">
                  <a:moveTo>
                    <a:pt x="0" y="294526"/>
                  </a:moveTo>
                  <a:lnTo>
                    <a:pt x="48915" y="294526"/>
                  </a:lnTo>
                  <a:lnTo>
                    <a:pt x="48915" y="0"/>
                  </a:lnTo>
                  <a:lnTo>
                    <a:pt x="0" y="0"/>
                  </a:lnTo>
                  <a:lnTo>
                    <a:pt x="0" y="294526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3027225" y="1554945"/>
              <a:ext cx="49530" cy="294640"/>
            </a:xfrm>
            <a:custGeom>
              <a:avLst/>
              <a:gdLst/>
              <a:ahLst/>
              <a:cxnLst/>
              <a:rect l="l" t="t" r="r" b="b"/>
              <a:pathLst>
                <a:path w="49530" h="294639">
                  <a:moveTo>
                    <a:pt x="49118" y="0"/>
                  </a:moveTo>
                  <a:lnTo>
                    <a:pt x="0" y="0"/>
                  </a:lnTo>
                  <a:lnTo>
                    <a:pt x="0" y="294526"/>
                  </a:lnTo>
                  <a:lnTo>
                    <a:pt x="49118" y="294526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981276" y="1554945"/>
              <a:ext cx="122555" cy="488315"/>
            </a:xfrm>
            <a:custGeom>
              <a:avLst/>
              <a:gdLst/>
              <a:ahLst/>
              <a:cxnLst/>
              <a:rect l="l" t="t" r="r" b="b"/>
              <a:pathLst>
                <a:path w="122555" h="488314">
                  <a:moveTo>
                    <a:pt x="45949" y="294526"/>
                  </a:moveTo>
                  <a:lnTo>
                    <a:pt x="95067" y="294526"/>
                  </a:lnTo>
                  <a:lnTo>
                    <a:pt x="95067" y="0"/>
                  </a:lnTo>
                  <a:lnTo>
                    <a:pt x="45949" y="0"/>
                  </a:lnTo>
                  <a:lnTo>
                    <a:pt x="45949" y="294526"/>
                  </a:lnTo>
                  <a:close/>
                </a:path>
                <a:path w="122555" h="488314">
                  <a:moveTo>
                    <a:pt x="0" y="487935"/>
                  </a:moveTo>
                  <a:lnTo>
                    <a:pt x="122560" y="487935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3088709" y="202147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2842" y="24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856077" y="1898743"/>
              <a:ext cx="49530" cy="288925"/>
            </a:xfrm>
            <a:custGeom>
              <a:avLst/>
              <a:gdLst/>
              <a:ahLst/>
              <a:cxnLst/>
              <a:rect l="l" t="t" r="r" b="b"/>
              <a:pathLst>
                <a:path w="49530" h="288925">
                  <a:moveTo>
                    <a:pt x="48915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48915" y="288438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856077" y="1898743"/>
              <a:ext cx="855344" cy="288925"/>
            </a:xfrm>
            <a:custGeom>
              <a:avLst/>
              <a:gdLst/>
              <a:ahLst/>
              <a:cxnLst/>
              <a:rect l="l" t="t" r="r" b="b"/>
              <a:pathLst>
                <a:path w="855344" h="288925">
                  <a:moveTo>
                    <a:pt x="0" y="288438"/>
                  </a:moveTo>
                  <a:lnTo>
                    <a:pt x="48915" y="288438"/>
                  </a:lnTo>
                  <a:lnTo>
                    <a:pt x="48915" y="0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  <a:path w="855344" h="288925">
                  <a:moveTo>
                    <a:pt x="732662" y="242288"/>
                  </a:moveTo>
                  <a:lnTo>
                    <a:pt x="855223" y="242288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2696173" y="211960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3028"/>
                  </a:lnTo>
                  <a:lnTo>
                    <a:pt x="42843" y="24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3125421" y="1898743"/>
              <a:ext cx="245745" cy="288925"/>
            </a:xfrm>
            <a:custGeom>
              <a:avLst/>
              <a:gdLst/>
              <a:ahLst/>
              <a:cxnLst/>
              <a:rect l="l" t="t" r="r" b="b"/>
              <a:pathLst>
                <a:path w="245745" h="288925">
                  <a:moveTo>
                    <a:pt x="245185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245185" y="288438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125421" y="1898743"/>
              <a:ext cx="371475" cy="288925"/>
            </a:xfrm>
            <a:custGeom>
              <a:avLst/>
              <a:gdLst/>
              <a:ahLst/>
              <a:cxnLst/>
              <a:rect l="l" t="t" r="r" b="b"/>
              <a:pathLst>
                <a:path w="371475" h="288925">
                  <a:moveTo>
                    <a:pt x="0" y="288438"/>
                  </a:moveTo>
                  <a:lnTo>
                    <a:pt x="245185" y="288438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  <a:path w="371475" h="288925">
                  <a:moveTo>
                    <a:pt x="248145" y="144137"/>
                  </a:moveTo>
                  <a:lnTo>
                    <a:pt x="370950" y="144137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481082" y="202147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0"/>
                  </a:moveTo>
                  <a:lnTo>
                    <a:pt x="0" y="42979"/>
                  </a:lnTo>
                  <a:lnTo>
                    <a:pt x="43006" y="24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948058" y="1898743"/>
              <a:ext cx="245745" cy="288925"/>
            </a:xfrm>
            <a:custGeom>
              <a:avLst/>
              <a:gdLst/>
              <a:ahLst/>
              <a:cxnLst/>
              <a:rect l="l" t="t" r="r" b="b"/>
              <a:pathLst>
                <a:path w="245744" h="288925">
                  <a:moveTo>
                    <a:pt x="245185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245185" y="288438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948058" y="1898743"/>
              <a:ext cx="371475" cy="288925"/>
            </a:xfrm>
            <a:custGeom>
              <a:avLst/>
              <a:gdLst/>
              <a:ahLst/>
              <a:cxnLst/>
              <a:rect l="l" t="t" r="r" b="b"/>
              <a:pathLst>
                <a:path w="371475" h="288925">
                  <a:moveTo>
                    <a:pt x="0" y="288438"/>
                  </a:moveTo>
                  <a:lnTo>
                    <a:pt x="245185" y="288438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  <a:path w="371475" h="288925">
                  <a:moveTo>
                    <a:pt x="248063" y="144137"/>
                  </a:moveTo>
                  <a:lnTo>
                    <a:pt x="370869" y="144137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2303637" y="202147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3006" y="24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2340594" y="1898743"/>
              <a:ext cx="245745" cy="288925"/>
            </a:xfrm>
            <a:custGeom>
              <a:avLst/>
              <a:gdLst/>
              <a:ahLst/>
              <a:cxnLst/>
              <a:rect l="l" t="t" r="r" b="b"/>
              <a:pathLst>
                <a:path w="245744" h="288925">
                  <a:moveTo>
                    <a:pt x="245185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245185" y="288438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2340594" y="1898743"/>
              <a:ext cx="245745" cy="288925"/>
            </a:xfrm>
            <a:custGeom>
              <a:avLst/>
              <a:gdLst/>
              <a:ahLst/>
              <a:cxnLst/>
              <a:rect l="l" t="t" r="r" b="b"/>
              <a:pathLst>
                <a:path w="245744" h="288925">
                  <a:moveTo>
                    <a:pt x="0" y="288438"/>
                  </a:moveTo>
                  <a:lnTo>
                    <a:pt x="245185" y="288438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 txBox="1"/>
          <p:nvPr/>
        </p:nvSpPr>
        <p:spPr>
          <a:xfrm>
            <a:off x="2401316" y="1953400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96" name="object 96" descr=""/>
          <p:cNvGrpSpPr/>
          <p:nvPr/>
        </p:nvGrpSpPr>
        <p:grpSpPr>
          <a:xfrm>
            <a:off x="1904738" y="1895568"/>
            <a:ext cx="1861820" cy="297815"/>
            <a:chOff x="1904738" y="1895568"/>
            <a:chExt cx="1861820" cy="297815"/>
          </a:xfrm>
        </p:grpSpPr>
        <p:sp>
          <p:nvSpPr>
            <p:cNvPr id="97" name="object 97" descr=""/>
            <p:cNvSpPr/>
            <p:nvPr/>
          </p:nvSpPr>
          <p:spPr>
            <a:xfrm>
              <a:off x="2588740" y="1950793"/>
              <a:ext cx="122555" cy="0"/>
            </a:xfrm>
            <a:custGeom>
              <a:avLst/>
              <a:gdLst/>
              <a:ahLst/>
              <a:cxnLst/>
              <a:rect l="l" t="t" r="r" b="b"/>
              <a:pathLst>
                <a:path w="122555" h="0">
                  <a:moveTo>
                    <a:pt x="0" y="0"/>
                  </a:moveTo>
                  <a:lnTo>
                    <a:pt x="122560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2696173" y="192938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2843" y="18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2723646" y="1901685"/>
              <a:ext cx="257810" cy="288925"/>
            </a:xfrm>
            <a:custGeom>
              <a:avLst/>
              <a:gdLst/>
              <a:ahLst/>
              <a:cxnLst/>
              <a:rect l="l" t="t" r="r" b="b"/>
              <a:pathLst>
                <a:path w="257810" h="288925">
                  <a:moveTo>
                    <a:pt x="0" y="0"/>
                  </a:moveTo>
                  <a:lnTo>
                    <a:pt x="0" y="288438"/>
                  </a:lnTo>
                  <a:lnTo>
                    <a:pt x="257629" y="214817"/>
                  </a:lnTo>
                  <a:lnTo>
                    <a:pt x="257629" y="736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2723646" y="1901685"/>
              <a:ext cx="257810" cy="288925"/>
            </a:xfrm>
            <a:custGeom>
              <a:avLst/>
              <a:gdLst/>
              <a:ahLst/>
              <a:cxnLst/>
              <a:rect l="l" t="t" r="r" b="b"/>
              <a:pathLst>
                <a:path w="257810" h="288925">
                  <a:moveTo>
                    <a:pt x="0" y="288438"/>
                  </a:moveTo>
                  <a:lnTo>
                    <a:pt x="257629" y="214817"/>
                  </a:lnTo>
                  <a:lnTo>
                    <a:pt x="257629" y="73621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  <a:path w="257810" h="288925">
                  <a:moveTo>
                    <a:pt x="0" y="92087"/>
                  </a:moveTo>
                  <a:lnTo>
                    <a:pt x="73503" y="141196"/>
                  </a:lnTo>
                </a:path>
                <a:path w="257810" h="288925">
                  <a:moveTo>
                    <a:pt x="0" y="190222"/>
                  </a:moveTo>
                  <a:lnTo>
                    <a:pt x="73503" y="141196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2683827" y="1966072"/>
              <a:ext cx="110489" cy="147955"/>
            </a:xfrm>
            <a:custGeom>
              <a:avLst/>
              <a:gdLst/>
              <a:ahLst/>
              <a:cxnLst/>
              <a:rect l="l" t="t" r="r" b="b"/>
              <a:pathLst>
                <a:path w="110489" h="147955">
                  <a:moveTo>
                    <a:pt x="0" y="0"/>
                  </a:moveTo>
                  <a:lnTo>
                    <a:pt x="0" y="147487"/>
                  </a:lnTo>
                  <a:lnTo>
                    <a:pt x="110378" y="73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907913" y="2042881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 h="0">
                  <a:moveTo>
                    <a:pt x="0" y="0"/>
                  </a:moveTo>
                  <a:lnTo>
                    <a:pt x="18478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911266" y="202147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979"/>
                  </a:lnTo>
                  <a:lnTo>
                    <a:pt x="42842" y="24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3517793" y="1898743"/>
              <a:ext cx="245745" cy="288925"/>
            </a:xfrm>
            <a:custGeom>
              <a:avLst/>
              <a:gdLst/>
              <a:ahLst/>
              <a:cxnLst/>
              <a:rect l="l" t="t" r="r" b="b"/>
              <a:pathLst>
                <a:path w="245745" h="288925">
                  <a:moveTo>
                    <a:pt x="245390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245390" y="288438"/>
                  </a:lnTo>
                  <a:lnTo>
                    <a:pt x="24539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3517793" y="1898743"/>
              <a:ext cx="245745" cy="288925"/>
            </a:xfrm>
            <a:custGeom>
              <a:avLst/>
              <a:gdLst/>
              <a:ahLst/>
              <a:cxnLst/>
              <a:rect l="l" t="t" r="r" b="b"/>
              <a:pathLst>
                <a:path w="245745" h="288925">
                  <a:moveTo>
                    <a:pt x="0" y="288438"/>
                  </a:moveTo>
                  <a:lnTo>
                    <a:pt x="245390" y="288438"/>
                  </a:lnTo>
                  <a:lnTo>
                    <a:pt x="245390" y="0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 descr=""/>
          <p:cNvSpPr txBox="1"/>
          <p:nvPr/>
        </p:nvSpPr>
        <p:spPr>
          <a:xfrm>
            <a:off x="3578760" y="1953400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2799957" y="2008719"/>
            <a:ext cx="16065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08" name="object 108" descr=""/>
          <p:cNvGrpSpPr/>
          <p:nvPr/>
        </p:nvGrpSpPr>
        <p:grpSpPr>
          <a:xfrm>
            <a:off x="2239142" y="1895568"/>
            <a:ext cx="1665605" cy="638810"/>
            <a:chOff x="2239142" y="1895568"/>
            <a:chExt cx="1665605" cy="638810"/>
          </a:xfrm>
        </p:grpSpPr>
        <p:sp>
          <p:nvSpPr>
            <p:cNvPr id="109" name="object 109" descr=""/>
            <p:cNvSpPr/>
            <p:nvPr/>
          </p:nvSpPr>
          <p:spPr>
            <a:xfrm>
              <a:off x="2242317" y="1898743"/>
              <a:ext cx="49530" cy="288925"/>
            </a:xfrm>
            <a:custGeom>
              <a:avLst/>
              <a:gdLst/>
              <a:ahLst/>
              <a:cxnLst/>
              <a:rect l="l" t="t" r="r" b="b"/>
              <a:pathLst>
                <a:path w="49530" h="288925">
                  <a:moveTo>
                    <a:pt x="49118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49118" y="288438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242317" y="1898743"/>
              <a:ext cx="49530" cy="288925"/>
            </a:xfrm>
            <a:custGeom>
              <a:avLst/>
              <a:gdLst/>
              <a:ahLst/>
              <a:cxnLst/>
              <a:rect l="l" t="t" r="r" b="b"/>
              <a:pathLst>
                <a:path w="49530" h="288925">
                  <a:moveTo>
                    <a:pt x="0" y="288438"/>
                  </a:moveTo>
                  <a:lnTo>
                    <a:pt x="49118" y="288438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2634853" y="1898743"/>
              <a:ext cx="49530" cy="288925"/>
            </a:xfrm>
            <a:custGeom>
              <a:avLst/>
              <a:gdLst/>
              <a:ahLst/>
              <a:cxnLst/>
              <a:rect l="l" t="t" r="r" b="b"/>
              <a:pathLst>
                <a:path w="49530" h="288925">
                  <a:moveTo>
                    <a:pt x="48915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48915" y="288438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2634853" y="1898743"/>
              <a:ext cx="49530" cy="288925"/>
            </a:xfrm>
            <a:custGeom>
              <a:avLst/>
              <a:gdLst/>
              <a:ahLst/>
              <a:cxnLst/>
              <a:rect l="l" t="t" r="r" b="b"/>
              <a:pathLst>
                <a:path w="49530" h="288925">
                  <a:moveTo>
                    <a:pt x="0" y="288438"/>
                  </a:moveTo>
                  <a:lnTo>
                    <a:pt x="48915" y="288438"/>
                  </a:lnTo>
                  <a:lnTo>
                    <a:pt x="48915" y="0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3027225" y="1898743"/>
              <a:ext cx="49530" cy="288925"/>
            </a:xfrm>
            <a:custGeom>
              <a:avLst/>
              <a:gdLst/>
              <a:ahLst/>
              <a:cxnLst/>
              <a:rect l="l" t="t" r="r" b="b"/>
              <a:pathLst>
                <a:path w="49530" h="288925">
                  <a:moveTo>
                    <a:pt x="49118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49118" y="288438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027225" y="1898743"/>
              <a:ext cx="49530" cy="288925"/>
            </a:xfrm>
            <a:custGeom>
              <a:avLst/>
              <a:gdLst/>
              <a:ahLst/>
              <a:cxnLst/>
              <a:rect l="l" t="t" r="r" b="b"/>
              <a:pathLst>
                <a:path w="49530" h="288925">
                  <a:moveTo>
                    <a:pt x="0" y="288438"/>
                  </a:moveTo>
                  <a:lnTo>
                    <a:pt x="49118" y="288438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88438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3419761" y="1898743"/>
              <a:ext cx="49530" cy="288925"/>
            </a:xfrm>
            <a:custGeom>
              <a:avLst/>
              <a:gdLst/>
              <a:ahLst/>
              <a:cxnLst/>
              <a:rect l="l" t="t" r="r" b="b"/>
              <a:pathLst>
                <a:path w="49529" h="288925">
                  <a:moveTo>
                    <a:pt x="49118" y="0"/>
                  </a:moveTo>
                  <a:lnTo>
                    <a:pt x="0" y="0"/>
                  </a:lnTo>
                  <a:lnTo>
                    <a:pt x="0" y="288438"/>
                  </a:lnTo>
                  <a:lnTo>
                    <a:pt x="49118" y="288438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3373566" y="1898743"/>
              <a:ext cx="123189" cy="488315"/>
            </a:xfrm>
            <a:custGeom>
              <a:avLst/>
              <a:gdLst/>
              <a:ahLst/>
              <a:cxnLst/>
              <a:rect l="l" t="t" r="r" b="b"/>
              <a:pathLst>
                <a:path w="123189" h="488314">
                  <a:moveTo>
                    <a:pt x="46195" y="288438"/>
                  </a:moveTo>
                  <a:lnTo>
                    <a:pt x="95313" y="288438"/>
                  </a:lnTo>
                  <a:lnTo>
                    <a:pt x="95313" y="0"/>
                  </a:lnTo>
                  <a:lnTo>
                    <a:pt x="46195" y="0"/>
                  </a:lnTo>
                  <a:lnTo>
                    <a:pt x="46195" y="288438"/>
                  </a:lnTo>
                  <a:close/>
                </a:path>
                <a:path w="123189" h="488314">
                  <a:moveTo>
                    <a:pt x="0" y="487935"/>
                  </a:moveTo>
                  <a:lnTo>
                    <a:pt x="122805" y="487935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481082" y="236527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0"/>
                  </a:moveTo>
                  <a:lnTo>
                    <a:pt x="0" y="43004"/>
                  </a:lnTo>
                  <a:lnTo>
                    <a:pt x="43006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2242317" y="2236266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30" h="295275">
                  <a:moveTo>
                    <a:pt x="49118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9118" y="294730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2242317" y="2236266"/>
              <a:ext cx="861694" cy="295275"/>
            </a:xfrm>
            <a:custGeom>
              <a:avLst/>
              <a:gdLst/>
              <a:ahLst/>
              <a:cxnLst/>
              <a:rect l="l" t="t" r="r" b="b"/>
              <a:pathLst>
                <a:path w="861694" h="295275">
                  <a:moveTo>
                    <a:pt x="0" y="294730"/>
                  </a:moveTo>
                  <a:lnTo>
                    <a:pt x="49118" y="294730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  <a:path w="861694" h="295275">
                  <a:moveTo>
                    <a:pt x="738958" y="248588"/>
                  </a:moveTo>
                  <a:lnTo>
                    <a:pt x="861518" y="248588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088709" y="2463454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3004"/>
                  </a:lnTo>
                  <a:lnTo>
                    <a:pt x="42842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517793" y="2236266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5" h="295275">
                  <a:moveTo>
                    <a:pt x="245390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245390" y="294730"/>
                  </a:lnTo>
                  <a:lnTo>
                    <a:pt x="2453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3517793" y="2236266"/>
              <a:ext cx="365125" cy="295275"/>
            </a:xfrm>
            <a:custGeom>
              <a:avLst/>
              <a:gdLst/>
              <a:ahLst/>
              <a:cxnLst/>
              <a:rect l="l" t="t" r="r" b="b"/>
              <a:pathLst>
                <a:path w="365125" h="295275">
                  <a:moveTo>
                    <a:pt x="0" y="294730"/>
                  </a:moveTo>
                  <a:lnTo>
                    <a:pt x="245390" y="294730"/>
                  </a:lnTo>
                  <a:lnTo>
                    <a:pt x="245390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  <a:path w="365125" h="295275">
                  <a:moveTo>
                    <a:pt x="248309" y="150413"/>
                  </a:moveTo>
                  <a:lnTo>
                    <a:pt x="364818" y="150413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3867485" y="2365278"/>
              <a:ext cx="36830" cy="43180"/>
            </a:xfrm>
            <a:custGeom>
              <a:avLst/>
              <a:gdLst/>
              <a:ahLst/>
              <a:cxnLst/>
              <a:rect l="l" t="t" r="r" b="b"/>
              <a:pathLst>
                <a:path w="36829" h="43180">
                  <a:moveTo>
                    <a:pt x="0" y="0"/>
                  </a:moveTo>
                  <a:lnTo>
                    <a:pt x="0" y="43004"/>
                  </a:lnTo>
                  <a:lnTo>
                    <a:pt x="36793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2340594" y="2236266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4" h="295275">
                  <a:moveTo>
                    <a:pt x="24518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245185" y="294730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340594" y="2236266"/>
              <a:ext cx="370840" cy="295275"/>
            </a:xfrm>
            <a:custGeom>
              <a:avLst/>
              <a:gdLst/>
              <a:ahLst/>
              <a:cxnLst/>
              <a:rect l="l" t="t" r="r" b="b"/>
              <a:pathLst>
                <a:path w="370839" h="295275">
                  <a:moveTo>
                    <a:pt x="0" y="294730"/>
                  </a:moveTo>
                  <a:lnTo>
                    <a:pt x="245185" y="294730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  <a:path w="370839" h="295275">
                  <a:moveTo>
                    <a:pt x="248145" y="150413"/>
                  </a:moveTo>
                  <a:lnTo>
                    <a:pt x="370705" y="150413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2696173" y="236527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3004"/>
                  </a:lnTo>
                  <a:lnTo>
                    <a:pt x="42843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2732885" y="2236266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4" h="295275">
                  <a:moveTo>
                    <a:pt x="245390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245390" y="294730"/>
                  </a:lnTo>
                  <a:lnTo>
                    <a:pt x="24539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732885" y="2236266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4" h="295275">
                  <a:moveTo>
                    <a:pt x="0" y="294730"/>
                  </a:moveTo>
                  <a:lnTo>
                    <a:pt x="245390" y="294730"/>
                  </a:lnTo>
                  <a:lnTo>
                    <a:pt x="245390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 descr=""/>
          <p:cNvSpPr txBox="1"/>
          <p:nvPr/>
        </p:nvSpPr>
        <p:spPr>
          <a:xfrm>
            <a:off x="2793852" y="2297198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0480" marR="5080" indent="-18415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30" name="object 130" descr=""/>
          <p:cNvGrpSpPr/>
          <p:nvPr/>
        </p:nvGrpSpPr>
        <p:grpSpPr>
          <a:xfrm>
            <a:off x="2291224" y="2233091"/>
            <a:ext cx="1861820" cy="304165"/>
            <a:chOff x="2291224" y="2233091"/>
            <a:chExt cx="1861820" cy="304165"/>
          </a:xfrm>
        </p:grpSpPr>
        <p:sp>
          <p:nvSpPr>
            <p:cNvPr id="131" name="object 131" descr=""/>
            <p:cNvSpPr/>
            <p:nvPr/>
          </p:nvSpPr>
          <p:spPr>
            <a:xfrm>
              <a:off x="2981276" y="2288299"/>
              <a:ext cx="122555" cy="0"/>
            </a:xfrm>
            <a:custGeom>
              <a:avLst/>
              <a:gdLst/>
              <a:ahLst/>
              <a:cxnLst/>
              <a:rect l="l" t="t" r="r" b="b"/>
              <a:pathLst>
                <a:path w="122555" h="0">
                  <a:moveTo>
                    <a:pt x="0" y="0"/>
                  </a:moveTo>
                  <a:lnTo>
                    <a:pt x="122560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3088709" y="226710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2800"/>
                  </a:lnTo>
                  <a:lnTo>
                    <a:pt x="42842" y="245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3116018" y="2239207"/>
              <a:ext cx="257810" cy="295275"/>
            </a:xfrm>
            <a:custGeom>
              <a:avLst/>
              <a:gdLst/>
              <a:ahLst/>
              <a:cxnLst/>
              <a:rect l="l" t="t" r="r" b="b"/>
              <a:pathLst>
                <a:path w="257810" h="295275">
                  <a:moveTo>
                    <a:pt x="0" y="0"/>
                  </a:moveTo>
                  <a:lnTo>
                    <a:pt x="0" y="294730"/>
                  </a:lnTo>
                  <a:lnTo>
                    <a:pt x="257548" y="221101"/>
                  </a:lnTo>
                  <a:lnTo>
                    <a:pt x="257548" y="736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3116018" y="2239207"/>
              <a:ext cx="257810" cy="295275"/>
            </a:xfrm>
            <a:custGeom>
              <a:avLst/>
              <a:gdLst/>
              <a:ahLst/>
              <a:cxnLst/>
              <a:rect l="l" t="t" r="r" b="b"/>
              <a:pathLst>
                <a:path w="257810" h="295275">
                  <a:moveTo>
                    <a:pt x="0" y="294730"/>
                  </a:moveTo>
                  <a:lnTo>
                    <a:pt x="257548" y="221101"/>
                  </a:lnTo>
                  <a:lnTo>
                    <a:pt x="257548" y="73637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  <a:path w="257810" h="295275">
                  <a:moveTo>
                    <a:pt x="0" y="98379"/>
                  </a:moveTo>
                  <a:lnTo>
                    <a:pt x="73666" y="147471"/>
                  </a:lnTo>
                </a:path>
                <a:path w="257810" h="295275">
                  <a:moveTo>
                    <a:pt x="0" y="196555"/>
                  </a:moveTo>
                  <a:lnTo>
                    <a:pt x="73666" y="147471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3076362" y="2309903"/>
              <a:ext cx="110489" cy="147955"/>
            </a:xfrm>
            <a:custGeom>
              <a:avLst/>
              <a:gdLst/>
              <a:ahLst/>
              <a:cxnLst/>
              <a:rect l="l" t="t" r="r" b="b"/>
              <a:pathLst>
                <a:path w="110489" h="147955">
                  <a:moveTo>
                    <a:pt x="0" y="0"/>
                  </a:moveTo>
                  <a:lnTo>
                    <a:pt x="0" y="147463"/>
                  </a:lnTo>
                  <a:lnTo>
                    <a:pt x="110378" y="738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2294399" y="2386679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528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2303637" y="236527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3004"/>
                  </a:lnTo>
                  <a:lnTo>
                    <a:pt x="43006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3904279" y="2236266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5" h="295275">
                  <a:moveTo>
                    <a:pt x="24518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245185" y="294730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3904279" y="2236266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5" h="295275">
                  <a:moveTo>
                    <a:pt x="0" y="294730"/>
                  </a:moveTo>
                  <a:lnTo>
                    <a:pt x="245185" y="294730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 descr=""/>
          <p:cNvSpPr txBox="1"/>
          <p:nvPr/>
        </p:nvSpPr>
        <p:spPr>
          <a:xfrm>
            <a:off x="3965001" y="2297198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1" name="object 141" descr=""/>
          <p:cNvSpPr txBox="1"/>
          <p:nvPr/>
        </p:nvSpPr>
        <p:spPr>
          <a:xfrm>
            <a:off x="3192493" y="2352574"/>
            <a:ext cx="16065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42" name="object 142" descr=""/>
          <p:cNvGrpSpPr/>
          <p:nvPr/>
        </p:nvGrpSpPr>
        <p:grpSpPr>
          <a:xfrm>
            <a:off x="2631678" y="2233091"/>
            <a:ext cx="1665605" cy="645160"/>
            <a:chOff x="2631678" y="2233091"/>
            <a:chExt cx="1665605" cy="645160"/>
          </a:xfrm>
        </p:grpSpPr>
        <p:sp>
          <p:nvSpPr>
            <p:cNvPr id="143" name="object 143" descr=""/>
            <p:cNvSpPr/>
            <p:nvPr/>
          </p:nvSpPr>
          <p:spPr>
            <a:xfrm>
              <a:off x="2634853" y="2236266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30" h="295275">
                  <a:moveTo>
                    <a:pt x="4891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8915" y="294730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2634853" y="2236266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30" h="295275">
                  <a:moveTo>
                    <a:pt x="0" y="294730"/>
                  </a:moveTo>
                  <a:lnTo>
                    <a:pt x="48915" y="294730"/>
                  </a:lnTo>
                  <a:lnTo>
                    <a:pt x="48915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3027225" y="2236266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30" h="295275">
                  <a:moveTo>
                    <a:pt x="49118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9118" y="294730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3027225" y="2236266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30" h="295275">
                  <a:moveTo>
                    <a:pt x="0" y="294730"/>
                  </a:moveTo>
                  <a:lnTo>
                    <a:pt x="49118" y="294730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3419761" y="2236266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49118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9118" y="294730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3419761" y="2236266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0" y="294730"/>
                  </a:moveTo>
                  <a:lnTo>
                    <a:pt x="49118" y="294730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3812297" y="2236266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4891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8915" y="294730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3766102" y="2236266"/>
              <a:ext cx="116839" cy="494665"/>
            </a:xfrm>
            <a:custGeom>
              <a:avLst/>
              <a:gdLst/>
              <a:ahLst/>
              <a:cxnLst/>
              <a:rect l="l" t="t" r="r" b="b"/>
              <a:pathLst>
                <a:path w="116839" h="494664">
                  <a:moveTo>
                    <a:pt x="46195" y="294730"/>
                  </a:moveTo>
                  <a:lnTo>
                    <a:pt x="95110" y="294730"/>
                  </a:lnTo>
                  <a:lnTo>
                    <a:pt x="95110" y="0"/>
                  </a:lnTo>
                  <a:lnTo>
                    <a:pt x="46195" y="0"/>
                  </a:lnTo>
                  <a:lnTo>
                    <a:pt x="46195" y="294730"/>
                  </a:lnTo>
                  <a:close/>
                </a:path>
                <a:path w="116839" h="494664">
                  <a:moveTo>
                    <a:pt x="0" y="494227"/>
                  </a:moveTo>
                  <a:lnTo>
                    <a:pt x="116509" y="494227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3867485" y="2709092"/>
              <a:ext cx="36830" cy="43180"/>
            </a:xfrm>
            <a:custGeom>
              <a:avLst/>
              <a:gdLst/>
              <a:ahLst/>
              <a:cxnLst/>
              <a:rect l="l" t="t" r="r" b="b"/>
              <a:pathLst>
                <a:path w="36829" h="43180">
                  <a:moveTo>
                    <a:pt x="0" y="0"/>
                  </a:moveTo>
                  <a:lnTo>
                    <a:pt x="0" y="43004"/>
                  </a:lnTo>
                  <a:lnTo>
                    <a:pt x="36793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2634853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30" h="295275">
                  <a:moveTo>
                    <a:pt x="4891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8915" y="294730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2634853" y="2580088"/>
              <a:ext cx="861694" cy="295275"/>
            </a:xfrm>
            <a:custGeom>
              <a:avLst/>
              <a:gdLst/>
              <a:ahLst/>
              <a:cxnLst/>
              <a:rect l="l" t="t" r="r" b="b"/>
              <a:pathLst>
                <a:path w="861695" h="295275">
                  <a:moveTo>
                    <a:pt x="0" y="294730"/>
                  </a:moveTo>
                  <a:lnTo>
                    <a:pt x="48915" y="294730"/>
                  </a:lnTo>
                  <a:lnTo>
                    <a:pt x="48915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  <a:path w="861695" h="295275">
                  <a:moveTo>
                    <a:pt x="738713" y="248580"/>
                  </a:moveTo>
                  <a:lnTo>
                    <a:pt x="861518" y="248580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3481082" y="2807268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0"/>
                  </a:moveTo>
                  <a:lnTo>
                    <a:pt x="0" y="43004"/>
                  </a:lnTo>
                  <a:lnTo>
                    <a:pt x="43006" y="245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3904279" y="2580088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5" h="295275">
                  <a:moveTo>
                    <a:pt x="24518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245185" y="294730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3904279" y="2580088"/>
              <a:ext cx="371475" cy="295275"/>
            </a:xfrm>
            <a:custGeom>
              <a:avLst/>
              <a:gdLst/>
              <a:ahLst/>
              <a:cxnLst/>
              <a:rect l="l" t="t" r="r" b="b"/>
              <a:pathLst>
                <a:path w="371475" h="295275">
                  <a:moveTo>
                    <a:pt x="0" y="294730"/>
                  </a:moveTo>
                  <a:lnTo>
                    <a:pt x="245185" y="294730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  <a:path w="371475" h="295275">
                  <a:moveTo>
                    <a:pt x="248063" y="150404"/>
                  </a:moveTo>
                  <a:lnTo>
                    <a:pt x="370869" y="150404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4259858" y="2709092"/>
              <a:ext cx="37465" cy="43180"/>
            </a:xfrm>
            <a:custGeom>
              <a:avLst/>
              <a:gdLst/>
              <a:ahLst/>
              <a:cxnLst/>
              <a:rect l="l" t="t" r="r" b="b"/>
              <a:pathLst>
                <a:path w="37464" h="43180">
                  <a:moveTo>
                    <a:pt x="0" y="0"/>
                  </a:moveTo>
                  <a:lnTo>
                    <a:pt x="0" y="43004"/>
                  </a:lnTo>
                  <a:lnTo>
                    <a:pt x="36955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2732885" y="2580088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4" h="295275">
                  <a:moveTo>
                    <a:pt x="245390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245390" y="294730"/>
                  </a:lnTo>
                  <a:lnTo>
                    <a:pt x="24539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2732885" y="2580088"/>
              <a:ext cx="371475" cy="295275"/>
            </a:xfrm>
            <a:custGeom>
              <a:avLst/>
              <a:gdLst/>
              <a:ahLst/>
              <a:cxnLst/>
              <a:rect l="l" t="t" r="r" b="b"/>
              <a:pathLst>
                <a:path w="371475" h="295275">
                  <a:moveTo>
                    <a:pt x="0" y="294730"/>
                  </a:moveTo>
                  <a:lnTo>
                    <a:pt x="245390" y="294730"/>
                  </a:lnTo>
                  <a:lnTo>
                    <a:pt x="245390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  <a:path w="371475" h="295275">
                  <a:moveTo>
                    <a:pt x="248390" y="150404"/>
                  </a:moveTo>
                  <a:lnTo>
                    <a:pt x="370950" y="150404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3088709" y="270909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3004"/>
                  </a:lnTo>
                  <a:lnTo>
                    <a:pt x="42842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3125421" y="2580088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5" h="295275">
                  <a:moveTo>
                    <a:pt x="24518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245185" y="294730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3125421" y="2580088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5" h="295275">
                  <a:moveTo>
                    <a:pt x="0" y="294730"/>
                  </a:moveTo>
                  <a:lnTo>
                    <a:pt x="245185" y="294730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3" name="object 163" descr=""/>
          <p:cNvSpPr txBox="1"/>
          <p:nvPr/>
        </p:nvSpPr>
        <p:spPr>
          <a:xfrm>
            <a:off x="3186224" y="2641021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64" name="object 164" descr=""/>
          <p:cNvGrpSpPr/>
          <p:nvPr/>
        </p:nvGrpSpPr>
        <p:grpSpPr>
          <a:xfrm>
            <a:off x="2683596" y="2576913"/>
            <a:ext cx="1861820" cy="304165"/>
            <a:chOff x="2683596" y="2576913"/>
            <a:chExt cx="1861820" cy="304165"/>
          </a:xfrm>
        </p:grpSpPr>
        <p:sp>
          <p:nvSpPr>
            <p:cNvPr id="165" name="object 165" descr=""/>
            <p:cNvSpPr/>
            <p:nvPr/>
          </p:nvSpPr>
          <p:spPr>
            <a:xfrm>
              <a:off x="3373566" y="2632113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 h="0">
                  <a:moveTo>
                    <a:pt x="0" y="0"/>
                  </a:moveTo>
                  <a:lnTo>
                    <a:pt x="122805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3481082" y="2610917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80">
                  <a:moveTo>
                    <a:pt x="0" y="0"/>
                  </a:moveTo>
                  <a:lnTo>
                    <a:pt x="0" y="42800"/>
                  </a:lnTo>
                  <a:lnTo>
                    <a:pt x="43006" y="245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3508554" y="2583030"/>
              <a:ext cx="257810" cy="295275"/>
            </a:xfrm>
            <a:custGeom>
              <a:avLst/>
              <a:gdLst/>
              <a:ahLst/>
              <a:cxnLst/>
              <a:rect l="l" t="t" r="r" b="b"/>
              <a:pathLst>
                <a:path w="257810" h="295275">
                  <a:moveTo>
                    <a:pt x="0" y="0"/>
                  </a:moveTo>
                  <a:lnTo>
                    <a:pt x="0" y="294729"/>
                  </a:lnTo>
                  <a:lnTo>
                    <a:pt x="257548" y="221101"/>
                  </a:lnTo>
                  <a:lnTo>
                    <a:pt x="257548" y="736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3508554" y="2583030"/>
              <a:ext cx="257810" cy="295275"/>
            </a:xfrm>
            <a:custGeom>
              <a:avLst/>
              <a:gdLst/>
              <a:ahLst/>
              <a:cxnLst/>
              <a:rect l="l" t="t" r="r" b="b"/>
              <a:pathLst>
                <a:path w="257810" h="295275">
                  <a:moveTo>
                    <a:pt x="0" y="294729"/>
                  </a:moveTo>
                  <a:lnTo>
                    <a:pt x="257548" y="221101"/>
                  </a:lnTo>
                  <a:lnTo>
                    <a:pt x="257548" y="73629"/>
                  </a:lnTo>
                  <a:lnTo>
                    <a:pt x="0" y="0"/>
                  </a:lnTo>
                  <a:lnTo>
                    <a:pt x="0" y="294729"/>
                  </a:lnTo>
                  <a:close/>
                </a:path>
                <a:path w="257810" h="295275">
                  <a:moveTo>
                    <a:pt x="0" y="98175"/>
                  </a:moveTo>
                  <a:lnTo>
                    <a:pt x="73666" y="147463"/>
                  </a:lnTo>
                </a:path>
                <a:path w="257810" h="295275">
                  <a:moveTo>
                    <a:pt x="0" y="196555"/>
                  </a:moveTo>
                  <a:lnTo>
                    <a:pt x="73666" y="147463"/>
                  </a:lnTo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468899" y="2653717"/>
              <a:ext cx="110489" cy="147955"/>
            </a:xfrm>
            <a:custGeom>
              <a:avLst/>
              <a:gdLst/>
              <a:ahLst/>
              <a:cxnLst/>
              <a:rect l="l" t="t" r="r" b="b"/>
              <a:pathLst>
                <a:path w="110489" h="147955">
                  <a:moveTo>
                    <a:pt x="0" y="0"/>
                  </a:moveTo>
                  <a:lnTo>
                    <a:pt x="0" y="147471"/>
                  </a:lnTo>
                  <a:lnTo>
                    <a:pt x="110378" y="738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2686771" y="2730493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528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2696173" y="2709092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0" y="0"/>
                  </a:moveTo>
                  <a:lnTo>
                    <a:pt x="0" y="43004"/>
                  </a:lnTo>
                  <a:lnTo>
                    <a:pt x="42843" y="2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4296815" y="2580088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5" h="295275">
                  <a:moveTo>
                    <a:pt x="24518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245185" y="294730"/>
                  </a:lnTo>
                  <a:lnTo>
                    <a:pt x="245185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4296815" y="2580088"/>
              <a:ext cx="245745" cy="295275"/>
            </a:xfrm>
            <a:custGeom>
              <a:avLst/>
              <a:gdLst/>
              <a:ahLst/>
              <a:cxnLst/>
              <a:rect l="l" t="t" r="r" b="b"/>
              <a:pathLst>
                <a:path w="245745" h="295275">
                  <a:moveTo>
                    <a:pt x="0" y="294730"/>
                  </a:moveTo>
                  <a:lnTo>
                    <a:pt x="245185" y="294730"/>
                  </a:lnTo>
                  <a:lnTo>
                    <a:pt x="245185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4" name="object 174" descr=""/>
          <p:cNvSpPr txBox="1"/>
          <p:nvPr/>
        </p:nvSpPr>
        <p:spPr>
          <a:xfrm>
            <a:off x="4357536" y="2641021"/>
            <a:ext cx="14287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580"/>
              </a:lnSpc>
              <a:spcBef>
                <a:spcPts val="16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75" name="object 175" descr=""/>
          <p:cNvSpPr txBox="1"/>
          <p:nvPr/>
        </p:nvSpPr>
        <p:spPr>
          <a:xfrm>
            <a:off x="3585030" y="2690309"/>
            <a:ext cx="160655" cy="1066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76" name="object 176" descr=""/>
          <p:cNvGrpSpPr/>
          <p:nvPr/>
        </p:nvGrpSpPr>
        <p:grpSpPr>
          <a:xfrm>
            <a:off x="3024050" y="2576913"/>
            <a:ext cx="1226820" cy="301625"/>
            <a:chOff x="3024050" y="2576913"/>
            <a:chExt cx="1226820" cy="301625"/>
          </a:xfrm>
        </p:grpSpPr>
        <p:sp>
          <p:nvSpPr>
            <p:cNvPr id="177" name="object 177" descr=""/>
            <p:cNvSpPr/>
            <p:nvPr/>
          </p:nvSpPr>
          <p:spPr>
            <a:xfrm>
              <a:off x="3027225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30" h="295275">
                  <a:moveTo>
                    <a:pt x="49118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9118" y="294730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3027225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30" h="295275">
                  <a:moveTo>
                    <a:pt x="0" y="294730"/>
                  </a:moveTo>
                  <a:lnTo>
                    <a:pt x="49118" y="294730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3419761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49118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9118" y="294730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3419761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0" y="294730"/>
                  </a:moveTo>
                  <a:lnTo>
                    <a:pt x="49118" y="294730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3812297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48915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8915" y="294730"/>
                  </a:lnTo>
                  <a:lnTo>
                    <a:pt x="4891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3812297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0" y="294730"/>
                  </a:moveTo>
                  <a:lnTo>
                    <a:pt x="48915" y="294730"/>
                  </a:lnTo>
                  <a:lnTo>
                    <a:pt x="48915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4198538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49118" y="0"/>
                  </a:moveTo>
                  <a:lnTo>
                    <a:pt x="0" y="0"/>
                  </a:lnTo>
                  <a:lnTo>
                    <a:pt x="0" y="294730"/>
                  </a:lnTo>
                  <a:lnTo>
                    <a:pt x="49118" y="294730"/>
                  </a:lnTo>
                  <a:lnTo>
                    <a:pt x="491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4198538" y="2580088"/>
              <a:ext cx="49530" cy="295275"/>
            </a:xfrm>
            <a:custGeom>
              <a:avLst/>
              <a:gdLst/>
              <a:ahLst/>
              <a:cxnLst/>
              <a:rect l="l" t="t" r="r" b="b"/>
              <a:pathLst>
                <a:path w="49529" h="295275">
                  <a:moveTo>
                    <a:pt x="0" y="294730"/>
                  </a:moveTo>
                  <a:lnTo>
                    <a:pt x="49118" y="294730"/>
                  </a:lnTo>
                  <a:lnTo>
                    <a:pt x="49118" y="0"/>
                  </a:lnTo>
                  <a:lnTo>
                    <a:pt x="0" y="0"/>
                  </a:lnTo>
                  <a:lnTo>
                    <a:pt x="0" y="294730"/>
                  </a:lnTo>
                  <a:close/>
                </a:path>
              </a:pathLst>
            </a:custGeom>
            <a:ln w="60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 descr=""/>
          <p:cNvSpPr txBox="1"/>
          <p:nvPr/>
        </p:nvSpPr>
        <p:spPr>
          <a:xfrm>
            <a:off x="3897904" y="1032646"/>
            <a:ext cx="65532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98780" algn="l"/>
              </a:tabLst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8</a:t>
            </a:r>
            <a:r>
              <a:rPr dirty="0" sz="550">
                <a:latin typeface="Arial MT"/>
                <a:cs typeface="Arial MT"/>
              </a:rPr>
              <a:t>	Cycle</a:t>
            </a:r>
            <a:r>
              <a:rPr dirty="0" sz="550" spc="4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9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86" name="object 186" descr=""/>
          <p:cNvSpPr txBox="1"/>
          <p:nvPr/>
        </p:nvSpPr>
        <p:spPr>
          <a:xfrm>
            <a:off x="1199367" y="1272015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4130">
              <a:lnSpc>
                <a:spcPts val="580"/>
              </a:lnSpc>
              <a:spcBef>
                <a:spcPts val="165"/>
              </a:spcBef>
            </a:pPr>
            <a:r>
              <a:rPr dirty="0" sz="500" spc="-1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7" name="object 187" descr=""/>
          <p:cNvSpPr txBox="1"/>
          <p:nvPr/>
        </p:nvSpPr>
        <p:spPr>
          <a:xfrm>
            <a:off x="1591912" y="1621900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4130">
              <a:lnSpc>
                <a:spcPts val="580"/>
              </a:lnSpc>
              <a:spcBef>
                <a:spcPts val="165"/>
              </a:spcBef>
            </a:pPr>
            <a:r>
              <a:rPr dirty="0" sz="500" spc="-1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8" name="object 188" descr=""/>
          <p:cNvSpPr txBox="1"/>
          <p:nvPr/>
        </p:nvSpPr>
        <p:spPr>
          <a:xfrm>
            <a:off x="1984415" y="1959692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4130">
              <a:lnSpc>
                <a:spcPts val="580"/>
              </a:lnSpc>
              <a:spcBef>
                <a:spcPts val="165"/>
              </a:spcBef>
            </a:pPr>
            <a:r>
              <a:rPr dirty="0" sz="500" spc="-1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89" name="object 189" descr=""/>
          <p:cNvSpPr txBox="1"/>
          <p:nvPr/>
        </p:nvSpPr>
        <p:spPr>
          <a:xfrm>
            <a:off x="2370737" y="2303490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4130">
              <a:lnSpc>
                <a:spcPts val="580"/>
              </a:lnSpc>
              <a:spcBef>
                <a:spcPts val="165"/>
              </a:spcBef>
            </a:pPr>
            <a:r>
              <a:rPr dirty="0" sz="500" spc="-1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0" name="object 190" descr=""/>
          <p:cNvSpPr txBox="1"/>
          <p:nvPr/>
        </p:nvSpPr>
        <p:spPr>
          <a:xfrm>
            <a:off x="2763273" y="2647305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4130">
              <a:lnSpc>
                <a:spcPts val="580"/>
              </a:lnSpc>
              <a:spcBef>
                <a:spcPts val="165"/>
              </a:spcBef>
            </a:pPr>
            <a:r>
              <a:rPr dirty="0" sz="500" spc="-1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1" name="object 191" descr=""/>
          <p:cNvSpPr txBox="1"/>
          <p:nvPr/>
        </p:nvSpPr>
        <p:spPr>
          <a:xfrm>
            <a:off x="2370737" y="1272015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7780">
              <a:lnSpc>
                <a:spcPts val="580"/>
              </a:lnSpc>
              <a:spcBef>
                <a:spcPts val="165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2" name="object 192" descr=""/>
          <p:cNvSpPr txBox="1"/>
          <p:nvPr/>
        </p:nvSpPr>
        <p:spPr>
          <a:xfrm>
            <a:off x="2763273" y="1621900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7780">
              <a:lnSpc>
                <a:spcPts val="580"/>
              </a:lnSpc>
              <a:spcBef>
                <a:spcPts val="165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3" name="object 193" descr=""/>
          <p:cNvSpPr txBox="1"/>
          <p:nvPr/>
        </p:nvSpPr>
        <p:spPr>
          <a:xfrm>
            <a:off x="3155564" y="1959692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8415">
              <a:lnSpc>
                <a:spcPts val="580"/>
              </a:lnSpc>
              <a:spcBef>
                <a:spcPts val="165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4" name="object 194" descr=""/>
          <p:cNvSpPr txBox="1"/>
          <p:nvPr/>
        </p:nvSpPr>
        <p:spPr>
          <a:xfrm>
            <a:off x="3548100" y="2303490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8415">
              <a:lnSpc>
                <a:spcPts val="580"/>
              </a:lnSpc>
              <a:spcBef>
                <a:spcPts val="165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5" name="object 195" descr=""/>
          <p:cNvSpPr txBox="1"/>
          <p:nvPr/>
        </p:nvSpPr>
        <p:spPr>
          <a:xfrm>
            <a:off x="3940636" y="2647305"/>
            <a:ext cx="210185" cy="18034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7780">
              <a:lnSpc>
                <a:spcPts val="580"/>
              </a:lnSpc>
              <a:spcBef>
                <a:spcPts val="165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cache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196" name="object 196" descr=""/>
          <p:cNvGrpSpPr/>
          <p:nvPr/>
        </p:nvGrpSpPr>
        <p:grpSpPr>
          <a:xfrm>
            <a:off x="1052739" y="1143572"/>
            <a:ext cx="3489325" cy="1786889"/>
            <a:chOff x="1052739" y="1143572"/>
            <a:chExt cx="3489325" cy="1786889"/>
          </a:xfrm>
        </p:grpSpPr>
        <p:sp>
          <p:nvSpPr>
            <p:cNvPr id="197" name="object 197" descr=""/>
            <p:cNvSpPr/>
            <p:nvPr/>
          </p:nvSpPr>
          <p:spPr>
            <a:xfrm>
              <a:off x="1073948" y="1164736"/>
              <a:ext cx="3446779" cy="0"/>
            </a:xfrm>
            <a:custGeom>
              <a:avLst/>
              <a:gdLst/>
              <a:ahLst/>
              <a:cxnLst/>
              <a:rect l="l" t="t" r="r" b="b"/>
              <a:pathLst>
                <a:path w="3446779" h="0">
                  <a:moveTo>
                    <a:pt x="0" y="0"/>
                  </a:moveTo>
                  <a:lnTo>
                    <a:pt x="3446402" y="0"/>
                  </a:lnTo>
                </a:path>
              </a:pathLst>
            </a:custGeom>
            <a:ln w="608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4505223" y="1143572"/>
              <a:ext cx="36830" cy="43180"/>
            </a:xfrm>
            <a:custGeom>
              <a:avLst/>
              <a:gdLst/>
              <a:ahLst/>
              <a:cxnLst/>
              <a:rect l="l" t="t" r="r" b="b"/>
              <a:pathLst>
                <a:path w="36829" h="43180">
                  <a:moveTo>
                    <a:pt x="0" y="0"/>
                  </a:moveTo>
                  <a:lnTo>
                    <a:pt x="0" y="42815"/>
                  </a:lnTo>
                  <a:lnTo>
                    <a:pt x="36710" y="18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073948" y="1164736"/>
              <a:ext cx="0" cy="1737995"/>
            </a:xfrm>
            <a:custGeom>
              <a:avLst/>
              <a:gdLst/>
              <a:ahLst/>
              <a:cxnLst/>
              <a:rect l="l" t="t" r="r" b="b"/>
              <a:pathLst>
                <a:path w="0" h="1737995">
                  <a:moveTo>
                    <a:pt x="0" y="0"/>
                  </a:moveTo>
                  <a:lnTo>
                    <a:pt x="0" y="1737568"/>
                  </a:lnTo>
                </a:path>
              </a:pathLst>
            </a:custGeom>
            <a:ln w="60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052739" y="2887191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80">
                  <a:moveTo>
                    <a:pt x="42826" y="0"/>
                  </a:moveTo>
                  <a:lnTo>
                    <a:pt x="0" y="0"/>
                  </a:lnTo>
                  <a:lnTo>
                    <a:pt x="18265" y="42800"/>
                  </a:lnTo>
                  <a:lnTo>
                    <a:pt x="4282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 descr=""/>
          <p:cNvSpPr txBox="1"/>
          <p:nvPr/>
        </p:nvSpPr>
        <p:spPr>
          <a:xfrm>
            <a:off x="3965001" y="1179970"/>
            <a:ext cx="54991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0">
                <a:latin typeface="Arial MT"/>
                <a:cs typeface="Arial MT"/>
              </a:rPr>
              <a:t>Time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dimension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02" name="object 202" descr=""/>
          <p:cNvSpPr txBox="1"/>
          <p:nvPr/>
        </p:nvSpPr>
        <p:spPr>
          <a:xfrm>
            <a:off x="1119806" y="2739395"/>
            <a:ext cx="366395" cy="200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85725">
              <a:lnSpc>
                <a:spcPct val="102600"/>
              </a:lnSpc>
              <a:spcBef>
                <a:spcPts val="110"/>
              </a:spcBef>
            </a:pPr>
            <a:r>
              <a:rPr dirty="0" sz="550" spc="-20">
                <a:latin typeface="Arial MT"/>
                <a:cs typeface="Arial MT"/>
              </a:rPr>
              <a:t>Task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dimension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03" name="object 203" descr=""/>
          <p:cNvSpPr txBox="1"/>
          <p:nvPr/>
        </p:nvSpPr>
        <p:spPr>
          <a:xfrm>
            <a:off x="967252" y="1237025"/>
            <a:ext cx="107950" cy="1607820"/>
          </a:xfrm>
          <a:prstGeom prst="rect">
            <a:avLst/>
          </a:prstGeom>
        </p:spPr>
        <p:txBody>
          <a:bodyPr wrap="square" lIns="0" tIns="952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  <a:tabLst>
                <a:tab pos="356235" algn="l"/>
                <a:tab pos="694055" algn="l"/>
                <a:tab pos="1037590" algn="l"/>
                <a:tab pos="1387475" algn="l"/>
              </a:tabLst>
            </a:pPr>
            <a:r>
              <a:rPr dirty="0" sz="550">
                <a:latin typeface="Arial MT"/>
                <a:cs typeface="Arial MT"/>
              </a:rPr>
              <a:t>Instr</a:t>
            </a:r>
            <a:r>
              <a:rPr dirty="0" sz="550" spc="6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5</a:t>
            </a:r>
            <a:r>
              <a:rPr dirty="0" sz="550">
                <a:latin typeface="Arial MT"/>
                <a:cs typeface="Arial MT"/>
              </a:rPr>
              <a:t>	Instr</a:t>
            </a:r>
            <a:r>
              <a:rPr dirty="0" sz="550" spc="6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4</a:t>
            </a:r>
            <a:r>
              <a:rPr dirty="0" sz="550">
                <a:latin typeface="Arial MT"/>
                <a:cs typeface="Arial MT"/>
              </a:rPr>
              <a:t>	Instr</a:t>
            </a:r>
            <a:r>
              <a:rPr dirty="0" sz="550" spc="6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3</a:t>
            </a:r>
            <a:r>
              <a:rPr dirty="0" sz="550">
                <a:latin typeface="Arial MT"/>
                <a:cs typeface="Arial MT"/>
              </a:rPr>
              <a:t>	Instr</a:t>
            </a:r>
            <a:r>
              <a:rPr dirty="0" sz="550" spc="6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2</a:t>
            </a:r>
            <a:r>
              <a:rPr dirty="0" sz="550">
                <a:latin typeface="Arial MT"/>
                <a:cs typeface="Arial MT"/>
              </a:rPr>
              <a:t>	Instr</a:t>
            </a:r>
            <a:r>
              <a:rPr dirty="0" sz="550" spc="6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1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04" name="object 204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205" name="object 205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7" name="object 207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09" name="object 20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210" name="object 210" descr=""/>
          <p:cNvSpPr txBox="1"/>
          <p:nvPr/>
        </p:nvSpPr>
        <p:spPr>
          <a:xfrm>
            <a:off x="5729114" y="594823"/>
            <a:ext cx="180149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40">
                <a:solidFill>
                  <a:srgbClr val="003366"/>
                </a:solidFill>
                <a:latin typeface="Malgun Gothic"/>
                <a:cs typeface="Malgun Gothic"/>
              </a:rPr>
              <a:t>파이프라인</a:t>
            </a:r>
            <a:r>
              <a:rPr dirty="0" sz="11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35">
                <a:solidFill>
                  <a:srgbClr val="003366"/>
                </a:solidFill>
                <a:latin typeface="Malgun Gothic"/>
                <a:cs typeface="Malgun Gothic"/>
              </a:rPr>
              <a:t>사용시</a:t>
            </a:r>
            <a:r>
              <a:rPr dirty="0" sz="1150" spc="-8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Malgun Gothic"/>
                <a:cs typeface="Malgun Gothic"/>
              </a:rPr>
              <a:t>성능향상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211" name="object 211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212" name="object 2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1907" y="1366455"/>
              <a:ext cx="4399146" cy="1453825"/>
            </a:xfrm>
            <a:prstGeom prst="rect">
              <a:avLst/>
            </a:prstGeom>
          </p:spPr>
        </p:pic>
        <p:sp>
          <p:nvSpPr>
            <p:cNvPr id="213" name="object 213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16" name="object 2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217" name="object 217" descr=""/>
          <p:cNvSpPr txBox="1"/>
          <p:nvPr/>
        </p:nvSpPr>
        <p:spPr>
          <a:xfrm>
            <a:off x="611714" y="4146223"/>
            <a:ext cx="4339590" cy="25641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40">
                <a:solidFill>
                  <a:srgbClr val="003366"/>
                </a:solidFill>
                <a:latin typeface="Malgun Gothic"/>
                <a:cs typeface="Malgun Gothic"/>
              </a:rPr>
              <a:t>파이프라인의</a:t>
            </a:r>
            <a:r>
              <a:rPr dirty="0" sz="11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Malgun Gothic"/>
                <a:cs typeface="Malgun Gothic"/>
              </a:rPr>
              <a:t>문제점</a:t>
            </a:r>
            <a:endParaRPr sz="1150">
              <a:latin typeface="Malgun Gothic"/>
              <a:cs typeface="Malgun Gothic"/>
            </a:endParaRPr>
          </a:p>
          <a:p>
            <a:pPr marL="147955" indent="-14795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파이프라인의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근본적</a:t>
            </a:r>
            <a:r>
              <a:rPr dirty="0" sz="95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Malgun Gothic"/>
                <a:cs typeface="Malgun Gothic"/>
              </a:rPr>
              <a:t>문제점</a:t>
            </a:r>
            <a:endParaRPr sz="950">
              <a:latin typeface="Malgun Gothic"/>
              <a:cs typeface="Malgun Gothic"/>
            </a:endParaRPr>
          </a:p>
          <a:p>
            <a:pPr lvl="1" marL="320675" indent="-123189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명령어들이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파이프라인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단계를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모두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거치지는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않는다</a:t>
            </a:r>
            <a:endParaRPr sz="900">
              <a:latin typeface="Malgun Gothic"/>
              <a:cs typeface="Malgun Gothic"/>
            </a:endParaRPr>
          </a:p>
          <a:p>
            <a:pPr lvl="1" marL="320675" indent="-12318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어떤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명령어는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오퍼랜드를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인출할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필요가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없으나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구조를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단순화하기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위하여</a:t>
            </a:r>
            <a:endParaRPr sz="900">
              <a:latin typeface="Malgun Gothic"/>
              <a:cs typeface="Malgun Gothic"/>
            </a:endParaRPr>
          </a:p>
          <a:p>
            <a:pPr marL="320675">
              <a:lnSpc>
                <a:spcPct val="100000"/>
              </a:lnSpc>
              <a:spcBef>
                <a:spcPts val="75"/>
              </a:spcBef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4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단계의</a:t>
            </a:r>
            <a:r>
              <a:rPr dirty="0" sz="900" spc="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파이프라인을</a:t>
            </a:r>
            <a:r>
              <a:rPr dirty="0" sz="900" spc="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통과</a:t>
            </a:r>
            <a:endParaRPr sz="900">
              <a:latin typeface="Malgun Gothic"/>
              <a:cs typeface="Malgun Gothic"/>
            </a:endParaRPr>
          </a:p>
          <a:p>
            <a:pPr lvl="1" marL="320675" indent="-123189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클럭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스피드는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가장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긴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파이프라인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단계를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기준으로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설정</a:t>
            </a:r>
            <a:endParaRPr sz="900">
              <a:latin typeface="Malgun Gothic"/>
              <a:cs typeface="Malgun Gothic"/>
            </a:endParaRPr>
          </a:p>
          <a:p>
            <a:pPr marL="147955" indent="-14795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구조적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Malgun Gothic"/>
                <a:cs typeface="Malgun Gothic"/>
              </a:rPr>
              <a:t>문제점</a:t>
            </a:r>
            <a:endParaRPr sz="950">
              <a:latin typeface="Malgun Gothic"/>
              <a:cs typeface="Malgun Gothic"/>
            </a:endParaRPr>
          </a:p>
          <a:p>
            <a:pPr lvl="1" marL="320675" marR="175895" indent="-123825">
              <a:lnSpc>
                <a:spcPct val="101600"/>
              </a:lnSpc>
              <a:spcBef>
                <a:spcPts val="265"/>
              </a:spcBef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FI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단계와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EI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단계가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동시에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기억장치를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사용할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경우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기억장치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충돌에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따른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지연시간</a:t>
            </a:r>
            <a:endParaRPr sz="900">
              <a:latin typeface="Malgun Gothic"/>
              <a:cs typeface="Malgun Gothic"/>
            </a:endParaRPr>
          </a:p>
          <a:p>
            <a:pPr marL="147955" indent="-14795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Malgun Gothic"/>
                <a:cs typeface="Malgun Gothic"/>
              </a:rPr>
              <a:t>문제점</a:t>
            </a:r>
            <a:endParaRPr sz="950">
              <a:latin typeface="Malgun Gothic"/>
              <a:cs typeface="Malgun Gothic"/>
            </a:endParaRPr>
          </a:p>
          <a:p>
            <a:pPr lvl="1" marL="320675" marR="5080" indent="-123825">
              <a:lnSpc>
                <a:spcPct val="106700"/>
              </a:lnSpc>
              <a:spcBef>
                <a:spcPts val="210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이전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명령어의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실행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결과를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다음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명령어가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사용할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때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생기는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Malgun Gothic"/>
                <a:cs typeface="Malgun Gothic"/>
              </a:rPr>
              <a:t>의존성에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따른</a:t>
            </a:r>
            <a:r>
              <a:rPr dirty="0" sz="900" spc="-1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문제</a:t>
            </a:r>
            <a:endParaRPr sz="900">
              <a:latin typeface="Malgun Gothic"/>
              <a:cs typeface="Malgun Gothic"/>
            </a:endParaRPr>
          </a:p>
          <a:p>
            <a:pPr marL="147955" indent="-14795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제어</a:t>
            </a:r>
            <a:r>
              <a:rPr dirty="0" sz="95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-25">
                <a:solidFill>
                  <a:srgbClr val="003366"/>
                </a:solidFill>
                <a:latin typeface="Malgun Gothic"/>
                <a:cs typeface="Malgun Gothic"/>
              </a:rPr>
              <a:t>문제점</a:t>
            </a:r>
            <a:endParaRPr sz="950">
              <a:latin typeface="Malgun Gothic"/>
              <a:cs typeface="Malgun Gothic"/>
            </a:endParaRPr>
          </a:p>
          <a:p>
            <a:pPr lvl="1" marL="320675" indent="-123189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분기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(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특히</a:t>
            </a:r>
            <a:r>
              <a:rPr dirty="0" sz="900" spc="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조건분기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)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경우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미리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인출한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명령어를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사용할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수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>
                <a:solidFill>
                  <a:srgbClr val="003366"/>
                </a:solidFill>
                <a:latin typeface="Malgun Gothic"/>
                <a:cs typeface="Malgun Gothic"/>
              </a:rPr>
              <a:t>없는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Malgun Gothic"/>
                <a:cs typeface="Malgun Gothic"/>
              </a:rPr>
              <a:t>문제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218" name="object 218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9" name="object 219" descr=""/>
          <p:cNvSpPr txBox="1"/>
          <p:nvPr/>
        </p:nvSpPr>
        <p:spPr>
          <a:xfrm>
            <a:off x="7595009" y="69580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20" name="object 2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21" name="object 221" descr=""/>
          <p:cNvSpPr txBox="1"/>
          <p:nvPr/>
        </p:nvSpPr>
        <p:spPr>
          <a:xfrm>
            <a:off x="5716414" y="4146223"/>
            <a:ext cx="164592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Pipeline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Stalls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or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Bubbles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22" name="object 222" descr=""/>
          <p:cNvSpPr txBox="1"/>
          <p:nvPr/>
        </p:nvSpPr>
        <p:spPr>
          <a:xfrm>
            <a:off x="6411546" y="6506764"/>
            <a:ext cx="3310890" cy="314325"/>
          </a:xfrm>
          <a:prstGeom prst="rect">
            <a:avLst/>
          </a:prstGeom>
          <a:solidFill>
            <a:srgbClr val="CCFF99"/>
          </a:solidFill>
        </p:spPr>
        <p:txBody>
          <a:bodyPr wrap="square" lIns="0" tIns="17780" rIns="0" bIns="0" rtlCol="0" vert="horz">
            <a:spAutoFit/>
          </a:bodyPr>
          <a:lstStyle/>
          <a:p>
            <a:pPr marL="46990" marR="301625">
              <a:lnSpc>
                <a:spcPct val="103299"/>
              </a:lnSpc>
              <a:spcBef>
                <a:spcPts val="140"/>
              </a:spcBef>
            </a:pPr>
            <a:r>
              <a:rPr dirty="0" sz="850">
                <a:latin typeface="Arial MT"/>
                <a:cs typeface="Arial MT"/>
              </a:rPr>
              <a:t>Read-</a:t>
            </a:r>
            <a:r>
              <a:rPr dirty="0" sz="850" spc="-10">
                <a:latin typeface="Arial MT"/>
                <a:cs typeface="Arial MT"/>
              </a:rPr>
              <a:t>after-</a:t>
            </a:r>
            <a:r>
              <a:rPr dirty="0" sz="850">
                <a:latin typeface="Arial MT"/>
                <a:cs typeface="Arial MT"/>
              </a:rPr>
              <a:t>write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dependency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its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possible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resolution </a:t>
            </a:r>
            <a:r>
              <a:rPr dirty="0" sz="850">
                <a:latin typeface="Arial MT"/>
                <a:cs typeface="Arial MT"/>
              </a:rPr>
              <a:t>through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 forwarding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50">
                <a:latin typeface="Arial MT"/>
                <a:cs typeface="Arial MT"/>
              </a:rPr>
              <a:t>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23" name="object 223" descr=""/>
          <p:cNvGrpSpPr/>
          <p:nvPr/>
        </p:nvGrpSpPr>
        <p:grpSpPr>
          <a:xfrm>
            <a:off x="6222136" y="5459413"/>
            <a:ext cx="255904" cy="868044"/>
            <a:chOff x="6222136" y="5459413"/>
            <a:chExt cx="255904" cy="868044"/>
          </a:xfrm>
        </p:grpSpPr>
        <p:sp>
          <p:nvSpPr>
            <p:cNvPr id="224" name="object 224" descr=""/>
            <p:cNvSpPr/>
            <p:nvPr/>
          </p:nvSpPr>
          <p:spPr>
            <a:xfrm>
              <a:off x="6260566" y="5555787"/>
              <a:ext cx="179070" cy="727075"/>
            </a:xfrm>
            <a:custGeom>
              <a:avLst/>
              <a:gdLst/>
              <a:ahLst/>
              <a:cxnLst/>
              <a:rect l="l" t="t" r="r" b="b"/>
              <a:pathLst>
                <a:path w="179070" h="727075">
                  <a:moveTo>
                    <a:pt x="127774" y="720001"/>
                  </a:moveTo>
                  <a:lnTo>
                    <a:pt x="25552" y="360083"/>
                  </a:lnTo>
                  <a:lnTo>
                    <a:pt x="0" y="366433"/>
                  </a:lnTo>
                  <a:lnTo>
                    <a:pt x="102222" y="726554"/>
                  </a:lnTo>
                  <a:lnTo>
                    <a:pt x="127774" y="720001"/>
                  </a:lnTo>
                  <a:close/>
                </a:path>
                <a:path w="179070" h="727075">
                  <a:moveTo>
                    <a:pt x="178879" y="353529"/>
                  </a:moveTo>
                  <a:lnTo>
                    <a:pt x="25552" y="0"/>
                  </a:lnTo>
                  <a:lnTo>
                    <a:pt x="0" y="12852"/>
                  </a:lnTo>
                  <a:lnTo>
                    <a:pt x="153327" y="366433"/>
                  </a:lnTo>
                  <a:lnTo>
                    <a:pt x="178879" y="353529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2136" y="5819286"/>
              <a:ext cx="102217" cy="147934"/>
            </a:xfrm>
            <a:prstGeom prst="rect">
              <a:avLst/>
            </a:prstGeom>
          </p:spPr>
        </p:pic>
        <p:pic>
          <p:nvPicPr>
            <p:cNvPr id="226" name="object 2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4353" y="6173063"/>
              <a:ext cx="102430" cy="154277"/>
            </a:xfrm>
            <a:prstGeom prst="rect">
              <a:avLst/>
            </a:prstGeom>
          </p:spPr>
        </p:pic>
        <p:pic>
          <p:nvPicPr>
            <p:cNvPr id="227" name="object 2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2136" y="5459413"/>
              <a:ext cx="102217" cy="154244"/>
            </a:xfrm>
            <a:prstGeom prst="rect">
              <a:avLst/>
            </a:prstGeom>
          </p:spPr>
        </p:pic>
        <p:pic>
          <p:nvPicPr>
            <p:cNvPr id="228" name="object 2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5467" y="5819286"/>
              <a:ext cx="102420" cy="147934"/>
            </a:xfrm>
            <a:prstGeom prst="rect">
              <a:avLst/>
            </a:prstGeom>
          </p:spPr>
        </p:pic>
      </p:grpSp>
      <p:sp>
        <p:nvSpPr>
          <p:cNvPr id="229" name="object 229" descr=""/>
          <p:cNvSpPr txBox="1"/>
          <p:nvPr/>
        </p:nvSpPr>
        <p:spPr>
          <a:xfrm>
            <a:off x="8759997" y="4861504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>
                <a:latin typeface="Arial MT"/>
                <a:cs typeface="Arial MT"/>
              </a:rPr>
              <a:t>Cycle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0" name="object 230" descr=""/>
          <p:cNvSpPr txBox="1"/>
          <p:nvPr/>
        </p:nvSpPr>
        <p:spPr>
          <a:xfrm>
            <a:off x="8350873" y="4861504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>
                <a:latin typeface="Arial MT"/>
                <a:cs typeface="Arial MT"/>
              </a:rPr>
              <a:t>Cycle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1" name="object 231" descr=""/>
          <p:cNvSpPr txBox="1"/>
          <p:nvPr/>
        </p:nvSpPr>
        <p:spPr>
          <a:xfrm>
            <a:off x="7941833" y="4861504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>
                <a:latin typeface="Arial MT"/>
                <a:cs typeface="Arial MT"/>
              </a:rPr>
              <a:t>Cycle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2" name="object 232" descr=""/>
          <p:cNvSpPr txBox="1"/>
          <p:nvPr/>
        </p:nvSpPr>
        <p:spPr>
          <a:xfrm>
            <a:off x="9169292" y="4861504"/>
            <a:ext cx="68199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5290" algn="l"/>
              </a:tabLst>
            </a:pPr>
            <a:r>
              <a:rPr dirty="0" sz="600">
                <a:latin typeface="Arial MT"/>
                <a:cs typeface="Arial MT"/>
              </a:rPr>
              <a:t>Cycle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7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33" name="object 233" descr=""/>
          <p:cNvGrpSpPr/>
          <p:nvPr/>
        </p:nvGrpSpPr>
        <p:grpSpPr>
          <a:xfrm>
            <a:off x="6628043" y="5044758"/>
            <a:ext cx="1742439" cy="314960"/>
            <a:chOff x="6628043" y="5044758"/>
            <a:chExt cx="1742439" cy="314960"/>
          </a:xfrm>
        </p:grpSpPr>
        <p:sp>
          <p:nvSpPr>
            <p:cNvPr id="234" name="object 234" descr=""/>
            <p:cNvSpPr/>
            <p:nvPr/>
          </p:nvSpPr>
          <p:spPr>
            <a:xfrm>
              <a:off x="7804101" y="520520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7916145" y="5182732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35"/>
                  </a:lnTo>
                  <a:lnTo>
                    <a:pt x="44749" y="19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6631218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51108" y="308554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6631218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554"/>
                  </a:moveTo>
                  <a:lnTo>
                    <a:pt x="51108" y="308554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7394977" y="530796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7507020" y="5285658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34"/>
                  </a:lnTo>
                  <a:lnTo>
                    <a:pt x="44749" y="19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7954598" y="50479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547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255547" y="308554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7954598" y="50479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554"/>
                  </a:moveTo>
                  <a:lnTo>
                    <a:pt x="255547" y="308554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8213141" y="520520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8325184" y="5182732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35"/>
                  </a:lnTo>
                  <a:lnTo>
                    <a:pt x="44834" y="19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6733435" y="50479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751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255751" y="308554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6733435" y="50479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554"/>
                  </a:moveTo>
                  <a:lnTo>
                    <a:pt x="255751" y="308554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6992250" y="520520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58" y="0"/>
                  </a:moveTo>
                  <a:lnTo>
                    <a:pt x="128020" y="0"/>
                  </a:lnTo>
                </a:path>
                <a:path w="128270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7104276" y="5182732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5035"/>
                  </a:lnTo>
                  <a:lnTo>
                    <a:pt x="38454" y="19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7142730" y="5047933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4" h="308610">
                  <a:moveTo>
                    <a:pt x="249209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249209" y="308554"/>
                  </a:lnTo>
                  <a:lnTo>
                    <a:pt x="249209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7142730" y="5047933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4" h="308610">
                  <a:moveTo>
                    <a:pt x="0" y="308554"/>
                  </a:moveTo>
                  <a:lnTo>
                    <a:pt x="249209" y="308554"/>
                  </a:lnTo>
                  <a:lnTo>
                    <a:pt x="249209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0" name="object 250" descr=""/>
          <p:cNvSpPr txBox="1"/>
          <p:nvPr/>
        </p:nvSpPr>
        <p:spPr>
          <a:xfrm>
            <a:off x="7206682" y="5112175"/>
            <a:ext cx="147955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70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51" name="object 251" descr=""/>
          <p:cNvGrpSpPr/>
          <p:nvPr/>
        </p:nvGrpSpPr>
        <p:grpSpPr>
          <a:xfrm>
            <a:off x="6682219" y="5044758"/>
            <a:ext cx="1940560" cy="318135"/>
            <a:chOff x="6682219" y="5044758"/>
            <a:chExt cx="1940560" cy="318135"/>
          </a:xfrm>
        </p:grpSpPr>
        <p:sp>
          <p:nvSpPr>
            <p:cNvPr id="252" name="object 252" descr=""/>
            <p:cNvSpPr/>
            <p:nvPr/>
          </p:nvSpPr>
          <p:spPr>
            <a:xfrm>
              <a:off x="7394977" y="510236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7507021" y="508006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4950"/>
                  </a:lnTo>
                  <a:lnTo>
                    <a:pt x="44749" y="19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7535690" y="5050947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4" h="308610">
                  <a:moveTo>
                    <a:pt x="0" y="0"/>
                  </a:moveTo>
                  <a:lnTo>
                    <a:pt x="0" y="308605"/>
                  </a:lnTo>
                  <a:lnTo>
                    <a:pt x="268410" y="231475"/>
                  </a:lnTo>
                  <a:lnTo>
                    <a:pt x="268410" y="77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7535690" y="5050947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4" h="308610">
                  <a:moveTo>
                    <a:pt x="0" y="308605"/>
                  </a:moveTo>
                  <a:lnTo>
                    <a:pt x="268410" y="231475"/>
                  </a:lnTo>
                  <a:lnTo>
                    <a:pt x="268410" y="77130"/>
                  </a:lnTo>
                  <a:lnTo>
                    <a:pt x="0" y="0"/>
                  </a:lnTo>
                  <a:lnTo>
                    <a:pt x="0" y="308605"/>
                  </a:lnTo>
                  <a:close/>
                </a:path>
                <a:path w="268604" h="308610">
                  <a:moveTo>
                    <a:pt x="0" y="102755"/>
                  </a:moveTo>
                  <a:lnTo>
                    <a:pt x="76652" y="154260"/>
                  </a:lnTo>
                </a:path>
                <a:path w="268604" h="308610">
                  <a:moveTo>
                    <a:pt x="0" y="205680"/>
                  </a:moveTo>
                  <a:lnTo>
                    <a:pt x="76652" y="15426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7494175" y="5125012"/>
              <a:ext cx="115570" cy="154940"/>
            </a:xfrm>
            <a:custGeom>
              <a:avLst/>
              <a:gdLst/>
              <a:ahLst/>
              <a:cxnLst/>
              <a:rect l="l" t="t" r="r" b="b"/>
              <a:pathLst>
                <a:path w="115570" h="154939">
                  <a:moveTo>
                    <a:pt x="0" y="0"/>
                  </a:moveTo>
                  <a:lnTo>
                    <a:pt x="0" y="154345"/>
                  </a:lnTo>
                  <a:lnTo>
                    <a:pt x="115105" y="77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6685394" y="5205207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4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6695211" y="5182732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5035"/>
                  </a:lnTo>
                  <a:lnTo>
                    <a:pt x="38224" y="19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8363638" y="50479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751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255751" y="308554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8363638" y="50479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554"/>
                  </a:moveTo>
                  <a:lnTo>
                    <a:pt x="255751" y="308554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 descr=""/>
          <p:cNvSpPr txBox="1"/>
          <p:nvPr/>
        </p:nvSpPr>
        <p:spPr>
          <a:xfrm>
            <a:off x="8427590" y="5112175"/>
            <a:ext cx="147955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70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2" name="object 262" descr=""/>
          <p:cNvSpPr txBox="1"/>
          <p:nvPr/>
        </p:nvSpPr>
        <p:spPr>
          <a:xfrm>
            <a:off x="7615824" y="5170065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63" name="object 263" descr=""/>
          <p:cNvGrpSpPr/>
          <p:nvPr/>
        </p:nvGrpSpPr>
        <p:grpSpPr>
          <a:xfrm>
            <a:off x="7037125" y="5044758"/>
            <a:ext cx="1742439" cy="675005"/>
            <a:chOff x="7037125" y="5044758"/>
            <a:chExt cx="1742439" cy="675005"/>
          </a:xfrm>
        </p:grpSpPr>
        <p:sp>
          <p:nvSpPr>
            <p:cNvPr id="264" name="object 264" descr=""/>
            <p:cNvSpPr/>
            <p:nvPr/>
          </p:nvSpPr>
          <p:spPr>
            <a:xfrm>
              <a:off x="7040300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51108" y="308554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7040300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554"/>
                  </a:moveTo>
                  <a:lnTo>
                    <a:pt x="51108" y="308554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7443044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51108" y="308554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7443044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554"/>
                  </a:moveTo>
                  <a:lnTo>
                    <a:pt x="51108" y="308554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7852168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319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51319" y="308554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7852168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554"/>
                  </a:moveTo>
                  <a:lnTo>
                    <a:pt x="51319" y="308554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8261463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554"/>
                  </a:lnTo>
                  <a:lnTo>
                    <a:pt x="51108" y="308554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8261463" y="50479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554"/>
                  </a:moveTo>
                  <a:lnTo>
                    <a:pt x="51108" y="308554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554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8213141" y="556514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8325184" y="554284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35"/>
                  </a:lnTo>
                  <a:lnTo>
                    <a:pt x="44834" y="19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7040300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108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108" y="308767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7040300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108" y="308767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7804101" y="566807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7916145" y="5645776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8"/>
                  </a:lnTo>
                  <a:lnTo>
                    <a:pt x="44749" y="19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8363638" y="5407806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255751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255751" y="308767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8363638" y="5407806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0" y="308767"/>
                  </a:moveTo>
                  <a:lnTo>
                    <a:pt x="255751" y="308767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8622435" y="556514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8734308" y="554284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35"/>
                  </a:lnTo>
                  <a:lnTo>
                    <a:pt x="44749" y="19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7142730" y="5407806"/>
              <a:ext cx="249554" cy="309245"/>
            </a:xfrm>
            <a:custGeom>
              <a:avLst/>
              <a:gdLst/>
              <a:ahLst/>
              <a:cxnLst/>
              <a:rect l="l" t="t" r="r" b="b"/>
              <a:pathLst>
                <a:path w="249554" h="309245">
                  <a:moveTo>
                    <a:pt x="249209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249209" y="308767"/>
                  </a:lnTo>
                  <a:lnTo>
                    <a:pt x="24920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7142730" y="5407806"/>
              <a:ext cx="249554" cy="309245"/>
            </a:xfrm>
            <a:custGeom>
              <a:avLst/>
              <a:gdLst/>
              <a:ahLst/>
              <a:cxnLst/>
              <a:rect l="l" t="t" r="r" b="b"/>
              <a:pathLst>
                <a:path w="249554" h="309245">
                  <a:moveTo>
                    <a:pt x="0" y="308767"/>
                  </a:moveTo>
                  <a:lnTo>
                    <a:pt x="249209" y="308767"/>
                  </a:lnTo>
                  <a:lnTo>
                    <a:pt x="249209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7394977" y="556514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7507020" y="554284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35"/>
                  </a:lnTo>
                  <a:lnTo>
                    <a:pt x="44749" y="19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7545474" y="5407806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255547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255547" y="308767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7545474" y="5407806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0" y="308767"/>
                  </a:moveTo>
                  <a:lnTo>
                    <a:pt x="255547" y="308767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8" name="object 288" descr=""/>
          <p:cNvSpPr txBox="1"/>
          <p:nvPr/>
        </p:nvSpPr>
        <p:spPr>
          <a:xfrm>
            <a:off x="7609427" y="5472286"/>
            <a:ext cx="147955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70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89" name="object 289" descr=""/>
          <p:cNvGrpSpPr/>
          <p:nvPr/>
        </p:nvGrpSpPr>
        <p:grpSpPr>
          <a:xfrm>
            <a:off x="7091318" y="5404631"/>
            <a:ext cx="1940560" cy="318770"/>
            <a:chOff x="7091318" y="5404631"/>
            <a:chExt cx="1940560" cy="318770"/>
          </a:xfrm>
        </p:grpSpPr>
        <p:sp>
          <p:nvSpPr>
            <p:cNvPr id="290" name="object 290" descr=""/>
            <p:cNvSpPr/>
            <p:nvPr/>
          </p:nvSpPr>
          <p:spPr>
            <a:xfrm>
              <a:off x="7804101" y="546247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7916145" y="5439919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34"/>
                  </a:lnTo>
                  <a:lnTo>
                    <a:pt x="44749" y="194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7944730" y="5410888"/>
              <a:ext cx="268605" cy="309245"/>
            </a:xfrm>
            <a:custGeom>
              <a:avLst/>
              <a:gdLst/>
              <a:ahLst/>
              <a:cxnLst/>
              <a:rect l="l" t="t" r="r" b="b"/>
              <a:pathLst>
                <a:path w="268604" h="309245">
                  <a:moveTo>
                    <a:pt x="0" y="0"/>
                  </a:moveTo>
                  <a:lnTo>
                    <a:pt x="0" y="308750"/>
                  </a:lnTo>
                  <a:lnTo>
                    <a:pt x="268410" y="231407"/>
                  </a:lnTo>
                  <a:lnTo>
                    <a:pt x="268410" y="77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7944730" y="5410888"/>
              <a:ext cx="268605" cy="309245"/>
            </a:xfrm>
            <a:custGeom>
              <a:avLst/>
              <a:gdLst/>
              <a:ahLst/>
              <a:cxnLst/>
              <a:rect l="l" t="t" r="r" b="b"/>
              <a:pathLst>
                <a:path w="268604" h="309245">
                  <a:moveTo>
                    <a:pt x="0" y="308750"/>
                  </a:moveTo>
                  <a:lnTo>
                    <a:pt x="268410" y="231407"/>
                  </a:lnTo>
                  <a:lnTo>
                    <a:pt x="268410" y="77130"/>
                  </a:lnTo>
                  <a:lnTo>
                    <a:pt x="0" y="0"/>
                  </a:lnTo>
                  <a:lnTo>
                    <a:pt x="0" y="308750"/>
                  </a:lnTo>
                  <a:close/>
                </a:path>
                <a:path w="268604" h="309245">
                  <a:moveTo>
                    <a:pt x="0" y="102925"/>
                  </a:moveTo>
                  <a:lnTo>
                    <a:pt x="76652" y="154260"/>
                  </a:lnTo>
                </a:path>
                <a:path w="268604" h="309245">
                  <a:moveTo>
                    <a:pt x="0" y="205833"/>
                  </a:moveTo>
                  <a:lnTo>
                    <a:pt x="76652" y="154260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7903469" y="5484953"/>
              <a:ext cx="114935" cy="154305"/>
            </a:xfrm>
            <a:custGeom>
              <a:avLst/>
              <a:gdLst/>
              <a:ahLst/>
              <a:cxnLst/>
              <a:rect l="l" t="t" r="r" b="b"/>
              <a:pathLst>
                <a:path w="114934" h="154304">
                  <a:moveTo>
                    <a:pt x="0" y="0"/>
                  </a:moveTo>
                  <a:lnTo>
                    <a:pt x="0" y="154278"/>
                  </a:lnTo>
                  <a:lnTo>
                    <a:pt x="114851" y="77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7094493" y="5565148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77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7104276" y="5542843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5035"/>
                  </a:lnTo>
                  <a:lnTo>
                    <a:pt x="38454" y="19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8772762" y="5407806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255751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255751" y="308767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8772762" y="5407806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0" y="308767"/>
                  </a:moveTo>
                  <a:lnTo>
                    <a:pt x="255751" y="308767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9" name="object 299" descr=""/>
          <p:cNvSpPr txBox="1"/>
          <p:nvPr/>
        </p:nvSpPr>
        <p:spPr>
          <a:xfrm>
            <a:off x="8836714" y="5472286"/>
            <a:ext cx="147955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70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00" name="object 300" descr=""/>
          <p:cNvSpPr txBox="1"/>
          <p:nvPr/>
        </p:nvSpPr>
        <p:spPr>
          <a:xfrm>
            <a:off x="8024863" y="5530159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01" name="object 301" descr=""/>
          <p:cNvGrpSpPr/>
          <p:nvPr/>
        </p:nvGrpSpPr>
        <p:grpSpPr>
          <a:xfrm>
            <a:off x="7439869" y="5404631"/>
            <a:ext cx="1748789" cy="669290"/>
            <a:chOff x="7439869" y="5404631"/>
            <a:chExt cx="1748789" cy="669290"/>
          </a:xfrm>
        </p:grpSpPr>
        <p:sp>
          <p:nvSpPr>
            <p:cNvPr id="302" name="object 302" descr=""/>
            <p:cNvSpPr/>
            <p:nvPr/>
          </p:nvSpPr>
          <p:spPr>
            <a:xfrm>
              <a:off x="7443044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108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108" y="308767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7443044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108" y="308767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7852168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319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319" y="308767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7852168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319" y="308767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8261463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108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108" y="308767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8261463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108" y="308767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8670502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108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108" y="308767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8670502" y="5407806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108" y="308767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8622435" y="591893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8734308" y="589642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7"/>
                  </a:lnTo>
                  <a:lnTo>
                    <a:pt x="44749" y="25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7443044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108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51108" y="30221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7443044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2212"/>
                  </a:moveTo>
                  <a:lnTo>
                    <a:pt x="51108" y="30221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8213140" y="602164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8325183" y="599935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0"/>
                  </a:lnTo>
                  <a:lnTo>
                    <a:pt x="44834" y="257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8772762" y="5767934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255751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255751" y="302212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8772762" y="5767934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0" y="302212"/>
                  </a:moveTo>
                  <a:lnTo>
                    <a:pt x="255751" y="302212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9031559" y="591893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9143603" y="589642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7"/>
                  </a:lnTo>
                  <a:lnTo>
                    <a:pt x="44748" y="25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7545474" y="5767934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255547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255547" y="302212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7545474" y="5767934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0" y="302212"/>
                  </a:moveTo>
                  <a:lnTo>
                    <a:pt x="255547" y="302212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7804101" y="591893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7916144" y="589642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7"/>
                  </a:lnTo>
                  <a:lnTo>
                    <a:pt x="44749" y="25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7954598" y="5767934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255547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255547" y="302212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7954598" y="5767934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0" y="302212"/>
                  </a:moveTo>
                  <a:lnTo>
                    <a:pt x="255547" y="302212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6" name="object 326" descr=""/>
          <p:cNvSpPr txBox="1"/>
          <p:nvPr/>
        </p:nvSpPr>
        <p:spPr>
          <a:xfrm>
            <a:off x="8018550" y="5832371"/>
            <a:ext cx="147955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70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27" name="object 327" descr=""/>
          <p:cNvGrpSpPr/>
          <p:nvPr/>
        </p:nvGrpSpPr>
        <p:grpSpPr>
          <a:xfrm>
            <a:off x="7494061" y="5764759"/>
            <a:ext cx="1940560" cy="311785"/>
            <a:chOff x="7494061" y="5764759"/>
            <a:chExt cx="1940560" cy="311785"/>
          </a:xfrm>
        </p:grpSpPr>
        <p:sp>
          <p:nvSpPr>
            <p:cNvPr id="328" name="object 328" descr=""/>
            <p:cNvSpPr/>
            <p:nvPr/>
          </p:nvSpPr>
          <p:spPr>
            <a:xfrm>
              <a:off x="8213141" y="5822351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8325184" y="580005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7"/>
                  </a:lnTo>
                  <a:lnTo>
                    <a:pt x="44834" y="19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8353854" y="5770999"/>
              <a:ext cx="268605" cy="302260"/>
            </a:xfrm>
            <a:custGeom>
              <a:avLst/>
              <a:gdLst/>
              <a:ahLst/>
              <a:cxnLst/>
              <a:rect l="l" t="t" r="r" b="b"/>
              <a:pathLst>
                <a:path w="268604" h="302260">
                  <a:moveTo>
                    <a:pt x="0" y="0"/>
                  </a:moveTo>
                  <a:lnTo>
                    <a:pt x="0" y="302212"/>
                  </a:lnTo>
                  <a:lnTo>
                    <a:pt x="268581" y="225073"/>
                  </a:lnTo>
                  <a:lnTo>
                    <a:pt x="268581" y="77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8353854" y="5770999"/>
              <a:ext cx="268605" cy="302260"/>
            </a:xfrm>
            <a:custGeom>
              <a:avLst/>
              <a:gdLst/>
              <a:ahLst/>
              <a:cxnLst/>
              <a:rect l="l" t="t" r="r" b="b"/>
              <a:pathLst>
                <a:path w="268604" h="302260">
                  <a:moveTo>
                    <a:pt x="0" y="302212"/>
                  </a:moveTo>
                  <a:lnTo>
                    <a:pt x="268581" y="225073"/>
                  </a:lnTo>
                  <a:lnTo>
                    <a:pt x="268581" y="77138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  <a:path w="268604" h="302260">
                  <a:moveTo>
                    <a:pt x="0" y="96370"/>
                  </a:moveTo>
                  <a:lnTo>
                    <a:pt x="76822" y="147935"/>
                  </a:lnTo>
                </a:path>
                <a:path w="268604" h="302260">
                  <a:moveTo>
                    <a:pt x="0" y="199287"/>
                  </a:moveTo>
                  <a:lnTo>
                    <a:pt x="76822" y="147935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8312508" y="5838730"/>
              <a:ext cx="115570" cy="154305"/>
            </a:xfrm>
            <a:custGeom>
              <a:avLst/>
              <a:gdLst/>
              <a:ahLst/>
              <a:cxnLst/>
              <a:rect l="l" t="t" r="r" b="b"/>
              <a:pathLst>
                <a:path w="115570" h="154304">
                  <a:moveTo>
                    <a:pt x="0" y="0"/>
                  </a:moveTo>
                  <a:lnTo>
                    <a:pt x="0" y="154277"/>
                  </a:lnTo>
                  <a:lnTo>
                    <a:pt x="115106" y="77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7497236" y="5918934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2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7507020" y="589642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7"/>
                  </a:lnTo>
                  <a:lnTo>
                    <a:pt x="44749" y="25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9181802" y="5767934"/>
              <a:ext cx="249554" cy="302260"/>
            </a:xfrm>
            <a:custGeom>
              <a:avLst/>
              <a:gdLst/>
              <a:ahLst/>
              <a:cxnLst/>
              <a:rect l="l" t="t" r="r" b="b"/>
              <a:pathLst>
                <a:path w="249554" h="302260">
                  <a:moveTo>
                    <a:pt x="249422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249422" y="302212"/>
                  </a:lnTo>
                  <a:lnTo>
                    <a:pt x="249422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9181802" y="5767934"/>
              <a:ext cx="249554" cy="302260"/>
            </a:xfrm>
            <a:custGeom>
              <a:avLst/>
              <a:gdLst/>
              <a:ahLst/>
              <a:cxnLst/>
              <a:rect l="l" t="t" r="r" b="b"/>
              <a:pathLst>
                <a:path w="249554" h="302260">
                  <a:moveTo>
                    <a:pt x="0" y="302212"/>
                  </a:moveTo>
                  <a:lnTo>
                    <a:pt x="249422" y="302212"/>
                  </a:lnTo>
                  <a:lnTo>
                    <a:pt x="249422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7" name="object 337" descr=""/>
          <p:cNvSpPr txBox="1"/>
          <p:nvPr/>
        </p:nvSpPr>
        <p:spPr>
          <a:xfrm>
            <a:off x="9245754" y="5832371"/>
            <a:ext cx="147955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70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38" name="object 338" descr=""/>
          <p:cNvSpPr txBox="1"/>
          <p:nvPr/>
        </p:nvSpPr>
        <p:spPr>
          <a:xfrm>
            <a:off x="8434158" y="5883723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39" name="object 339" descr=""/>
          <p:cNvGrpSpPr/>
          <p:nvPr/>
        </p:nvGrpSpPr>
        <p:grpSpPr>
          <a:xfrm>
            <a:off x="7848993" y="5764759"/>
            <a:ext cx="1736089" cy="669290"/>
            <a:chOff x="7848993" y="5764759"/>
            <a:chExt cx="1736089" cy="669290"/>
          </a:xfrm>
        </p:grpSpPr>
        <p:sp>
          <p:nvSpPr>
            <p:cNvPr id="340" name="object 340" descr=""/>
            <p:cNvSpPr/>
            <p:nvPr/>
          </p:nvSpPr>
          <p:spPr>
            <a:xfrm>
              <a:off x="7852168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319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51319" y="302212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7852168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2212"/>
                  </a:moveTo>
                  <a:lnTo>
                    <a:pt x="51319" y="302212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8261463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108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51108" y="30221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8261463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2212"/>
                  </a:moveTo>
                  <a:lnTo>
                    <a:pt x="51108" y="30221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8670502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108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51108" y="30221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8670502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2212"/>
                  </a:moveTo>
                  <a:lnTo>
                    <a:pt x="51108" y="30221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9079627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108" y="0"/>
                  </a:moveTo>
                  <a:lnTo>
                    <a:pt x="0" y="0"/>
                  </a:lnTo>
                  <a:lnTo>
                    <a:pt x="0" y="302212"/>
                  </a:lnTo>
                  <a:lnTo>
                    <a:pt x="51108" y="30221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9079627" y="5767934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2212"/>
                  </a:moveTo>
                  <a:lnTo>
                    <a:pt x="51108" y="30221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2212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9031560" y="6278841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9143603" y="625654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7"/>
                  </a:lnTo>
                  <a:lnTo>
                    <a:pt x="44748" y="25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7852168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319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319" y="308767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7852168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319" y="308767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8622435" y="638176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8734308" y="635947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1"/>
                  </a:lnTo>
                  <a:lnTo>
                    <a:pt x="44749" y="257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9181802" y="6121497"/>
              <a:ext cx="249554" cy="309245"/>
            </a:xfrm>
            <a:custGeom>
              <a:avLst/>
              <a:gdLst/>
              <a:ahLst/>
              <a:cxnLst/>
              <a:rect l="l" t="t" r="r" b="b"/>
              <a:pathLst>
                <a:path w="249554" h="309245">
                  <a:moveTo>
                    <a:pt x="249422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249422" y="308767"/>
                  </a:lnTo>
                  <a:lnTo>
                    <a:pt x="249422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9181802" y="6121497"/>
              <a:ext cx="249554" cy="309245"/>
            </a:xfrm>
            <a:custGeom>
              <a:avLst/>
              <a:gdLst/>
              <a:ahLst/>
              <a:cxnLst/>
              <a:rect l="l" t="t" r="r" b="b"/>
              <a:pathLst>
                <a:path w="249554" h="309245">
                  <a:moveTo>
                    <a:pt x="0" y="308767"/>
                  </a:moveTo>
                  <a:lnTo>
                    <a:pt x="249422" y="308767"/>
                  </a:lnTo>
                  <a:lnTo>
                    <a:pt x="249422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9434303" y="6278841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9546347" y="6256545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5017"/>
                  </a:lnTo>
                  <a:lnTo>
                    <a:pt x="38199" y="25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7954598" y="6121497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255547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255547" y="308767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7954598" y="6121497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0" y="308767"/>
                  </a:moveTo>
                  <a:lnTo>
                    <a:pt x="255547" y="308767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8213140" y="6278841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8325184" y="625654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7"/>
                  </a:lnTo>
                  <a:lnTo>
                    <a:pt x="44834" y="25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8363638" y="6121497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255751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255751" y="308767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8363638" y="6121497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0" y="308767"/>
                  </a:moveTo>
                  <a:lnTo>
                    <a:pt x="255751" y="308767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4" name="object 364" descr=""/>
          <p:cNvSpPr txBox="1"/>
          <p:nvPr/>
        </p:nvSpPr>
        <p:spPr>
          <a:xfrm>
            <a:off x="8427590" y="6185935"/>
            <a:ext cx="147955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70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65" name="object 365" descr=""/>
          <p:cNvGrpSpPr/>
          <p:nvPr/>
        </p:nvGrpSpPr>
        <p:grpSpPr>
          <a:xfrm>
            <a:off x="7903356" y="6118322"/>
            <a:ext cx="1940560" cy="318770"/>
            <a:chOff x="7903356" y="6118322"/>
            <a:chExt cx="1940560" cy="318770"/>
          </a:xfrm>
        </p:grpSpPr>
        <p:sp>
          <p:nvSpPr>
            <p:cNvPr id="366" name="object 366" descr=""/>
            <p:cNvSpPr/>
            <p:nvPr/>
          </p:nvSpPr>
          <p:spPr>
            <a:xfrm>
              <a:off x="8622435" y="617612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8734308" y="6153628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08"/>
                  </a:lnTo>
                  <a:lnTo>
                    <a:pt x="44749" y="257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8763149" y="6124563"/>
              <a:ext cx="268605" cy="309245"/>
            </a:xfrm>
            <a:custGeom>
              <a:avLst/>
              <a:gdLst/>
              <a:ahLst/>
              <a:cxnLst/>
              <a:rect l="l" t="t" r="r" b="b"/>
              <a:pathLst>
                <a:path w="268604" h="309245">
                  <a:moveTo>
                    <a:pt x="0" y="0"/>
                  </a:moveTo>
                  <a:lnTo>
                    <a:pt x="0" y="308765"/>
                  </a:lnTo>
                  <a:lnTo>
                    <a:pt x="268410" y="231416"/>
                  </a:lnTo>
                  <a:lnTo>
                    <a:pt x="268410" y="771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8763149" y="6124563"/>
              <a:ext cx="268605" cy="309245"/>
            </a:xfrm>
            <a:custGeom>
              <a:avLst/>
              <a:gdLst/>
              <a:ahLst/>
              <a:cxnLst/>
              <a:rect l="l" t="t" r="r" b="b"/>
              <a:pathLst>
                <a:path w="268604" h="309245">
                  <a:moveTo>
                    <a:pt x="0" y="308765"/>
                  </a:moveTo>
                  <a:lnTo>
                    <a:pt x="268410" y="231416"/>
                  </a:lnTo>
                  <a:lnTo>
                    <a:pt x="268410" y="77138"/>
                  </a:lnTo>
                  <a:lnTo>
                    <a:pt x="0" y="0"/>
                  </a:lnTo>
                  <a:lnTo>
                    <a:pt x="0" y="308765"/>
                  </a:lnTo>
                  <a:close/>
                </a:path>
                <a:path w="268604" h="309245">
                  <a:moveTo>
                    <a:pt x="0" y="102925"/>
                  </a:moveTo>
                  <a:lnTo>
                    <a:pt x="76652" y="154277"/>
                  </a:lnTo>
                </a:path>
                <a:path w="268604" h="309245">
                  <a:moveTo>
                    <a:pt x="0" y="205842"/>
                  </a:moveTo>
                  <a:lnTo>
                    <a:pt x="76652" y="154277"/>
                  </a:lnTo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8721632" y="6198637"/>
              <a:ext cx="115570" cy="154305"/>
            </a:xfrm>
            <a:custGeom>
              <a:avLst/>
              <a:gdLst/>
              <a:ahLst/>
              <a:cxnLst/>
              <a:rect l="l" t="t" r="r" b="b"/>
              <a:pathLst>
                <a:path w="115570" h="154304">
                  <a:moveTo>
                    <a:pt x="0" y="0"/>
                  </a:moveTo>
                  <a:lnTo>
                    <a:pt x="0" y="154278"/>
                  </a:lnTo>
                  <a:lnTo>
                    <a:pt x="115106" y="771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7906531" y="6278841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22" y="0"/>
                  </a:lnTo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7916144" y="625654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17"/>
                  </a:lnTo>
                  <a:lnTo>
                    <a:pt x="44749" y="25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9584545" y="6121497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255751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255751" y="308767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9584545" y="6121497"/>
              <a:ext cx="255904" cy="309245"/>
            </a:xfrm>
            <a:custGeom>
              <a:avLst/>
              <a:gdLst/>
              <a:ahLst/>
              <a:cxnLst/>
              <a:rect l="l" t="t" r="r" b="b"/>
              <a:pathLst>
                <a:path w="255904" h="309245">
                  <a:moveTo>
                    <a:pt x="0" y="308767"/>
                  </a:moveTo>
                  <a:lnTo>
                    <a:pt x="255751" y="308767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5" name="object 375" descr=""/>
          <p:cNvSpPr txBox="1"/>
          <p:nvPr/>
        </p:nvSpPr>
        <p:spPr>
          <a:xfrm>
            <a:off x="9648498" y="6185935"/>
            <a:ext cx="147955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70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76" name="object 376" descr=""/>
          <p:cNvSpPr txBox="1"/>
          <p:nvPr/>
        </p:nvSpPr>
        <p:spPr>
          <a:xfrm>
            <a:off x="8843282" y="6243843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77" name="object 377" descr=""/>
          <p:cNvGrpSpPr/>
          <p:nvPr/>
        </p:nvGrpSpPr>
        <p:grpSpPr>
          <a:xfrm>
            <a:off x="8258288" y="6118322"/>
            <a:ext cx="1278890" cy="315595"/>
            <a:chOff x="8258288" y="6118322"/>
            <a:chExt cx="1278890" cy="315595"/>
          </a:xfrm>
        </p:grpSpPr>
        <p:sp>
          <p:nvSpPr>
            <p:cNvPr id="378" name="object 378" descr=""/>
            <p:cNvSpPr/>
            <p:nvPr/>
          </p:nvSpPr>
          <p:spPr>
            <a:xfrm>
              <a:off x="8261463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108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108" y="308767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8261463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108" y="308767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8670502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108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108" y="308767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8670502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108" y="308767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9079627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108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108" y="308767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9079627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108" y="308767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9482371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51108" y="0"/>
                  </a:moveTo>
                  <a:lnTo>
                    <a:pt x="0" y="0"/>
                  </a:lnTo>
                  <a:lnTo>
                    <a:pt x="0" y="308767"/>
                  </a:lnTo>
                  <a:lnTo>
                    <a:pt x="51108" y="308767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9482371" y="6121497"/>
              <a:ext cx="51435" cy="309245"/>
            </a:xfrm>
            <a:custGeom>
              <a:avLst/>
              <a:gdLst/>
              <a:ahLst/>
              <a:cxnLst/>
              <a:rect l="l" t="t" r="r" b="b"/>
              <a:pathLst>
                <a:path w="51434" h="309245">
                  <a:moveTo>
                    <a:pt x="0" y="308767"/>
                  </a:moveTo>
                  <a:lnTo>
                    <a:pt x="51108" y="308767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767"/>
                  </a:lnTo>
                  <a:close/>
                </a:path>
              </a:pathLst>
            </a:custGeom>
            <a:ln w="63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6" name="object 386" descr=""/>
          <p:cNvSpPr txBox="1"/>
          <p:nvPr/>
        </p:nvSpPr>
        <p:spPr>
          <a:xfrm>
            <a:off x="6222319" y="5118693"/>
            <a:ext cx="409575" cy="12636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" spc="-75">
                <a:latin typeface="Arial MT"/>
                <a:cs typeface="Arial MT"/>
              </a:rPr>
              <a:t>$5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60">
                <a:latin typeface="Arial MT"/>
                <a:cs typeface="Arial MT"/>
              </a:rPr>
              <a:t>=</a:t>
            </a:r>
            <a:r>
              <a:rPr dirty="0" sz="650" spc="-40">
                <a:latin typeface="Arial MT"/>
                <a:cs typeface="Arial MT"/>
              </a:rPr>
              <a:t> </a:t>
            </a:r>
            <a:r>
              <a:rPr dirty="0" sz="650" spc="-75">
                <a:latin typeface="Arial MT"/>
                <a:cs typeface="Arial MT"/>
              </a:rPr>
              <a:t>$6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60">
                <a:latin typeface="Arial MT"/>
                <a:cs typeface="Arial MT"/>
              </a:rPr>
              <a:t>+</a:t>
            </a:r>
            <a:r>
              <a:rPr dirty="0" sz="650" spc="-3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$7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87" name="object 387" descr=""/>
          <p:cNvSpPr txBox="1"/>
          <p:nvPr/>
        </p:nvSpPr>
        <p:spPr>
          <a:xfrm>
            <a:off x="6222319" y="5478634"/>
            <a:ext cx="409575" cy="12636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" spc="-75">
                <a:latin typeface="Arial MT"/>
                <a:cs typeface="Arial MT"/>
              </a:rPr>
              <a:t>$8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60">
                <a:latin typeface="Arial MT"/>
                <a:cs typeface="Arial MT"/>
              </a:rPr>
              <a:t>=</a:t>
            </a:r>
            <a:r>
              <a:rPr dirty="0" sz="650" spc="-40">
                <a:latin typeface="Arial MT"/>
                <a:cs typeface="Arial MT"/>
              </a:rPr>
              <a:t> </a:t>
            </a:r>
            <a:r>
              <a:rPr dirty="0" sz="650" spc="-75">
                <a:latin typeface="Arial MT"/>
                <a:cs typeface="Arial MT"/>
              </a:rPr>
              <a:t>$8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60">
                <a:latin typeface="Arial MT"/>
                <a:cs typeface="Arial MT"/>
              </a:rPr>
              <a:t>+</a:t>
            </a:r>
            <a:r>
              <a:rPr dirty="0" sz="650" spc="-3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$6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88" name="object 388" descr=""/>
          <p:cNvSpPr txBox="1"/>
          <p:nvPr/>
        </p:nvSpPr>
        <p:spPr>
          <a:xfrm>
            <a:off x="6222319" y="5838711"/>
            <a:ext cx="409575" cy="12636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" spc="-75">
                <a:latin typeface="Arial MT"/>
                <a:cs typeface="Arial MT"/>
              </a:rPr>
              <a:t>$9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60">
                <a:latin typeface="Arial MT"/>
                <a:cs typeface="Arial MT"/>
              </a:rPr>
              <a:t>=</a:t>
            </a:r>
            <a:r>
              <a:rPr dirty="0" sz="650" spc="-40">
                <a:latin typeface="Arial MT"/>
                <a:cs typeface="Arial MT"/>
              </a:rPr>
              <a:t> </a:t>
            </a:r>
            <a:r>
              <a:rPr dirty="0" sz="650" spc="-75">
                <a:latin typeface="Arial MT"/>
                <a:cs typeface="Arial MT"/>
              </a:rPr>
              <a:t>$8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60">
                <a:latin typeface="Arial MT"/>
                <a:cs typeface="Arial MT"/>
              </a:rPr>
              <a:t>+</a:t>
            </a:r>
            <a:r>
              <a:rPr dirty="0" sz="650" spc="-3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$2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89" name="object 389" descr=""/>
          <p:cNvSpPr txBox="1"/>
          <p:nvPr/>
        </p:nvSpPr>
        <p:spPr>
          <a:xfrm>
            <a:off x="6222319" y="6192275"/>
            <a:ext cx="406400" cy="12636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" spc="-90">
                <a:latin typeface="Arial MT"/>
                <a:cs typeface="Arial MT"/>
              </a:rPr>
              <a:t>sw</a:t>
            </a:r>
            <a:r>
              <a:rPr dirty="0" sz="650" spc="-10">
                <a:latin typeface="Arial MT"/>
                <a:cs typeface="Arial MT"/>
              </a:rPr>
              <a:t> </a:t>
            </a:r>
            <a:r>
              <a:rPr dirty="0" sz="650" spc="-55">
                <a:latin typeface="Arial MT"/>
                <a:cs typeface="Arial MT"/>
              </a:rPr>
              <a:t>$9,</a:t>
            </a:r>
            <a:r>
              <a:rPr dirty="0" sz="650" spc="-15">
                <a:latin typeface="Arial MT"/>
                <a:cs typeface="Arial MT"/>
              </a:rPr>
              <a:t> </a:t>
            </a:r>
            <a:r>
              <a:rPr dirty="0" sz="650" spc="-35">
                <a:latin typeface="Arial MT"/>
                <a:cs typeface="Arial MT"/>
              </a:rPr>
              <a:t>0($3)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390" name="object 390" descr=""/>
          <p:cNvGrpSpPr/>
          <p:nvPr/>
        </p:nvGrpSpPr>
        <p:grpSpPr>
          <a:xfrm>
            <a:off x="8203782" y="5555783"/>
            <a:ext cx="984885" cy="727075"/>
            <a:chOff x="8203782" y="5555783"/>
            <a:chExt cx="984885" cy="727075"/>
          </a:xfrm>
        </p:grpSpPr>
        <p:pic>
          <p:nvPicPr>
            <p:cNvPr id="391" name="object 39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03782" y="5555783"/>
              <a:ext cx="166236" cy="263503"/>
            </a:xfrm>
            <a:prstGeom prst="rect">
              <a:avLst/>
            </a:prstGeom>
          </p:spPr>
        </p:pic>
        <p:sp>
          <p:nvSpPr>
            <p:cNvPr id="392" name="object 392" descr=""/>
            <p:cNvSpPr/>
            <p:nvPr/>
          </p:nvSpPr>
          <p:spPr>
            <a:xfrm>
              <a:off x="8612810" y="5909317"/>
              <a:ext cx="575945" cy="373380"/>
            </a:xfrm>
            <a:custGeom>
              <a:avLst/>
              <a:gdLst/>
              <a:ahLst/>
              <a:cxnLst/>
              <a:rect l="l" t="t" r="r" b="b"/>
              <a:pathLst>
                <a:path w="575945" h="373379">
                  <a:moveTo>
                    <a:pt x="575538" y="373024"/>
                  </a:moveTo>
                  <a:lnTo>
                    <a:pt x="505180" y="257200"/>
                  </a:lnTo>
                  <a:lnTo>
                    <a:pt x="476377" y="300685"/>
                  </a:lnTo>
                  <a:lnTo>
                    <a:pt x="12941" y="0"/>
                  </a:lnTo>
                  <a:lnTo>
                    <a:pt x="0" y="19443"/>
                  </a:lnTo>
                  <a:lnTo>
                    <a:pt x="463651" y="319900"/>
                  </a:lnTo>
                  <a:lnTo>
                    <a:pt x="441198" y="353783"/>
                  </a:lnTo>
                  <a:lnTo>
                    <a:pt x="575538" y="3730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3" name="object 393" descr=""/>
          <p:cNvSpPr txBox="1"/>
          <p:nvPr/>
        </p:nvSpPr>
        <p:spPr>
          <a:xfrm>
            <a:off x="9297054" y="5221363"/>
            <a:ext cx="345440" cy="22923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88900">
              <a:lnSpc>
                <a:spcPct val="103899"/>
              </a:lnSpc>
              <a:spcBef>
                <a:spcPts val="75"/>
              </a:spcBef>
            </a:pPr>
            <a:r>
              <a:rPr dirty="0" sz="650" spc="-20">
                <a:latin typeface="Arial MT"/>
                <a:cs typeface="Arial MT"/>
              </a:rPr>
              <a:t>Data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 spc="-65">
                <a:latin typeface="Arial MT"/>
                <a:cs typeface="Arial MT"/>
              </a:rPr>
              <a:t>forwarding</a:t>
            </a:r>
            <a:endParaRPr sz="650">
              <a:latin typeface="Arial MT"/>
              <a:cs typeface="Arial MT"/>
            </a:endParaRPr>
          </a:p>
        </p:txBody>
      </p:sp>
      <p:pic>
        <p:nvPicPr>
          <p:cNvPr id="394" name="object 394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29295" y="5195672"/>
            <a:ext cx="159941" cy="263740"/>
          </a:xfrm>
          <a:prstGeom prst="rect">
            <a:avLst/>
          </a:prstGeom>
        </p:spPr>
      </p:pic>
      <p:sp>
        <p:nvSpPr>
          <p:cNvPr id="395" name="object 395" descr=""/>
          <p:cNvSpPr txBox="1"/>
          <p:nvPr/>
        </p:nvSpPr>
        <p:spPr>
          <a:xfrm>
            <a:off x="6765510" y="5118644"/>
            <a:ext cx="218440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70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96" name="object 396" descr=""/>
          <p:cNvSpPr txBox="1"/>
          <p:nvPr/>
        </p:nvSpPr>
        <p:spPr>
          <a:xfrm>
            <a:off x="7174779" y="5478586"/>
            <a:ext cx="218440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70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97" name="object 397" descr=""/>
          <p:cNvSpPr txBox="1"/>
          <p:nvPr/>
        </p:nvSpPr>
        <p:spPr>
          <a:xfrm>
            <a:off x="7577353" y="5838714"/>
            <a:ext cx="218440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70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98" name="object 398" descr=""/>
          <p:cNvSpPr txBox="1"/>
          <p:nvPr/>
        </p:nvSpPr>
        <p:spPr>
          <a:xfrm>
            <a:off x="7986648" y="6192278"/>
            <a:ext cx="218440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70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99" name="object 399" descr=""/>
          <p:cNvSpPr txBox="1"/>
          <p:nvPr/>
        </p:nvSpPr>
        <p:spPr>
          <a:xfrm>
            <a:off x="7986648" y="5118644"/>
            <a:ext cx="218440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18415">
              <a:lnSpc>
                <a:spcPts val="61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00" name="object 400" descr=""/>
          <p:cNvSpPr txBox="1"/>
          <p:nvPr/>
        </p:nvSpPr>
        <p:spPr>
          <a:xfrm>
            <a:off x="8395687" y="5478586"/>
            <a:ext cx="218440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01" name="object 401" descr=""/>
          <p:cNvSpPr txBox="1"/>
          <p:nvPr/>
        </p:nvSpPr>
        <p:spPr>
          <a:xfrm>
            <a:off x="8804812" y="5838714"/>
            <a:ext cx="218440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02" name="object 402" descr=""/>
          <p:cNvSpPr txBox="1"/>
          <p:nvPr/>
        </p:nvSpPr>
        <p:spPr>
          <a:xfrm>
            <a:off x="9213851" y="6192278"/>
            <a:ext cx="218440" cy="18796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03" name="object 403" descr=""/>
          <p:cNvSpPr txBox="1"/>
          <p:nvPr/>
        </p:nvSpPr>
        <p:spPr>
          <a:xfrm>
            <a:off x="6190989" y="4571693"/>
            <a:ext cx="1760220" cy="408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latin typeface="Arial MT"/>
                <a:cs typeface="Arial MT"/>
              </a:rPr>
              <a:t>First</a:t>
            </a:r>
            <a:r>
              <a:rPr dirty="0" sz="1050" spc="-5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type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of</a:t>
            </a:r>
            <a:r>
              <a:rPr dirty="0" sz="1050" spc="-5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data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dependency</a:t>
            </a:r>
            <a:endParaRPr sz="1050">
              <a:latin typeface="Arial MT"/>
              <a:cs typeface="Arial MT"/>
            </a:endParaRPr>
          </a:p>
          <a:p>
            <a:pPr marL="542290">
              <a:lnSpc>
                <a:spcPct val="100000"/>
              </a:lnSpc>
              <a:spcBef>
                <a:spcPts val="1030"/>
              </a:spcBef>
              <a:tabLst>
                <a:tab pos="951230" algn="l"/>
                <a:tab pos="1353820" algn="l"/>
              </a:tabLst>
            </a:pPr>
            <a:r>
              <a:rPr dirty="0" sz="600">
                <a:latin typeface="Arial MT"/>
                <a:cs typeface="Arial MT"/>
              </a:rPr>
              <a:t>Cycle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1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2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4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04" name="object 404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14733" y="247649"/>
            <a:ext cx="4945380" cy="3513454"/>
          </a:xfrm>
          <a:prstGeom prst="rect">
            <a:avLst/>
          </a:prstGeom>
          <a:ln w="6350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50">
              <a:latin typeface="Times New Roman"/>
              <a:cs typeface="Times New Roman"/>
            </a:endParaRPr>
          </a:p>
          <a:p>
            <a:pPr marL="296545">
              <a:lnSpc>
                <a:spcPct val="100000"/>
              </a:lnSpc>
            </a:pPr>
            <a:r>
              <a:rPr dirty="0" sz="1150" spc="-35">
                <a:solidFill>
                  <a:srgbClr val="003366"/>
                </a:solidFill>
                <a:latin typeface="Malgun Gothic"/>
                <a:cs typeface="Malgun Gothic"/>
              </a:rPr>
              <a:t>파이프</a:t>
            </a:r>
            <a:r>
              <a:rPr dirty="0" sz="11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35">
                <a:solidFill>
                  <a:srgbClr val="003366"/>
                </a:solidFill>
                <a:latin typeface="Malgun Gothic"/>
                <a:cs typeface="Malgun Gothic"/>
              </a:rPr>
              <a:t>라인의</a:t>
            </a:r>
            <a:r>
              <a:rPr dirty="0" sz="1150" spc="-9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Malgun Gothic"/>
                <a:cs typeface="Malgun Gothic"/>
              </a:rPr>
              <a:t>문제점</a:t>
            </a: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014"/>
              </a:spcBef>
            </a:pPr>
            <a:endParaRPr sz="11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0544" y="885163"/>
            <a:ext cx="2640788" cy="2386665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5729114" y="594823"/>
            <a:ext cx="219202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Second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Type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Dependency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493897" y="2885312"/>
            <a:ext cx="3294379" cy="340995"/>
          </a:xfrm>
          <a:prstGeom prst="rect">
            <a:avLst/>
          </a:prstGeom>
          <a:solidFill>
            <a:srgbClr val="CCFF99"/>
          </a:solidFill>
        </p:spPr>
        <p:txBody>
          <a:bodyPr wrap="square" lIns="0" tIns="5080" rIns="0" bIns="0" rtlCol="0" vert="horz">
            <a:spAutoFit/>
          </a:bodyPr>
          <a:lstStyle/>
          <a:p>
            <a:pPr marL="46990" marR="312420">
              <a:lnSpc>
                <a:spcPts val="1230"/>
              </a:lnSpc>
              <a:spcBef>
                <a:spcPts val="40"/>
              </a:spcBef>
            </a:pPr>
            <a:r>
              <a:rPr dirty="0" sz="850">
                <a:latin typeface="Arial MT"/>
                <a:cs typeface="Arial MT"/>
              </a:rPr>
              <a:t>Read-</a:t>
            </a:r>
            <a:r>
              <a:rPr dirty="0" sz="850" spc="-10">
                <a:latin typeface="Arial MT"/>
                <a:cs typeface="Arial MT"/>
              </a:rPr>
              <a:t>after-</a:t>
            </a:r>
            <a:r>
              <a:rPr dirty="0" sz="850">
                <a:latin typeface="Arial MT"/>
                <a:cs typeface="Arial MT"/>
              </a:rPr>
              <a:t>load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dependency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its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possible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resolution </a:t>
            </a:r>
            <a:r>
              <a:rPr dirty="0" sz="850">
                <a:latin typeface="Arial MT"/>
                <a:cs typeface="Arial MT"/>
              </a:rPr>
              <a:t>through bubble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insertion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forwarding.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597229" y="1066687"/>
            <a:ext cx="309626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05130" algn="l"/>
                <a:tab pos="803910" algn="l"/>
                <a:tab pos="1209675" algn="l"/>
                <a:tab pos="1614805" algn="l"/>
                <a:tab pos="2020570" algn="l"/>
                <a:tab pos="2425700" algn="l"/>
                <a:tab pos="2825115" algn="l"/>
              </a:tabLst>
            </a:pPr>
            <a:r>
              <a:rPr dirty="0" sz="600">
                <a:latin typeface="Arial MT"/>
                <a:cs typeface="Arial MT"/>
              </a:rPr>
              <a:t>Cycle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1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2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3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4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5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6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7</a:t>
            </a:r>
            <a:r>
              <a:rPr dirty="0" sz="600">
                <a:latin typeface="Arial MT"/>
                <a:cs typeface="Arial MT"/>
              </a:rPr>
              <a:t>	Cycle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492595" y="1248319"/>
            <a:ext cx="1571625" cy="312420"/>
            <a:chOff x="6492595" y="1248319"/>
            <a:chExt cx="1571625" cy="312420"/>
          </a:xfrm>
        </p:grpSpPr>
        <p:sp>
          <p:nvSpPr>
            <p:cNvPr id="12" name="object 12" descr=""/>
            <p:cNvSpPr/>
            <p:nvPr/>
          </p:nvSpPr>
          <p:spPr>
            <a:xfrm>
              <a:off x="7658087" y="1407300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47634" y="0"/>
                  </a:lnTo>
                </a:path>
                <a:path w="127000" h="0">
                  <a:moveTo>
                    <a:pt x="98491" y="0"/>
                  </a:moveTo>
                  <a:lnTo>
                    <a:pt x="126799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769121" y="1385034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4">
                  <a:moveTo>
                    <a:pt x="0" y="0"/>
                  </a:moveTo>
                  <a:lnTo>
                    <a:pt x="0" y="44613"/>
                  </a:lnTo>
                  <a:lnTo>
                    <a:pt x="44345" y="19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95770" y="1251494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673"/>
                  </a:lnTo>
                  <a:lnTo>
                    <a:pt x="50648" y="305673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95770" y="1251494"/>
              <a:ext cx="883919" cy="306070"/>
            </a:xfrm>
            <a:custGeom>
              <a:avLst/>
              <a:gdLst/>
              <a:ahLst/>
              <a:cxnLst/>
              <a:rect l="l" t="t" r="r" b="b"/>
              <a:pathLst>
                <a:path w="883920" h="306069">
                  <a:moveTo>
                    <a:pt x="0" y="305673"/>
                  </a:moveTo>
                  <a:lnTo>
                    <a:pt x="50648" y="305673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673"/>
                  </a:lnTo>
                  <a:close/>
                </a:path>
                <a:path w="883920" h="306069">
                  <a:moveTo>
                    <a:pt x="756877" y="257601"/>
                  </a:moveTo>
                  <a:lnTo>
                    <a:pt x="883508" y="257601"/>
                  </a:lnTo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363681" y="1486998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4">
                  <a:moveTo>
                    <a:pt x="0" y="0"/>
                  </a:moveTo>
                  <a:lnTo>
                    <a:pt x="0" y="44615"/>
                  </a:lnTo>
                  <a:lnTo>
                    <a:pt x="44347" y="19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07228" y="1251494"/>
              <a:ext cx="253365" cy="306070"/>
            </a:xfrm>
            <a:custGeom>
              <a:avLst/>
              <a:gdLst/>
              <a:ahLst/>
              <a:cxnLst/>
              <a:rect l="l" t="t" r="r" b="b"/>
              <a:pathLst>
                <a:path w="253365" h="306069">
                  <a:moveTo>
                    <a:pt x="253245" y="0"/>
                  </a:moveTo>
                  <a:lnTo>
                    <a:pt x="0" y="0"/>
                  </a:lnTo>
                  <a:lnTo>
                    <a:pt x="0" y="305673"/>
                  </a:lnTo>
                  <a:lnTo>
                    <a:pt x="253245" y="305673"/>
                  </a:lnTo>
                  <a:lnTo>
                    <a:pt x="25324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807228" y="1251494"/>
              <a:ext cx="253365" cy="306070"/>
            </a:xfrm>
            <a:custGeom>
              <a:avLst/>
              <a:gdLst/>
              <a:ahLst/>
              <a:cxnLst/>
              <a:rect l="l" t="t" r="r" b="b"/>
              <a:pathLst>
                <a:path w="253365" h="306069">
                  <a:moveTo>
                    <a:pt x="0" y="305673"/>
                  </a:moveTo>
                  <a:lnTo>
                    <a:pt x="253245" y="305673"/>
                  </a:lnTo>
                  <a:lnTo>
                    <a:pt x="253245" y="0"/>
                  </a:lnTo>
                  <a:lnTo>
                    <a:pt x="0" y="0"/>
                  </a:lnTo>
                  <a:lnTo>
                    <a:pt x="0" y="305673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876867" y="1315017"/>
            <a:ext cx="1600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600"/>
              </a:lnSpc>
              <a:spcBef>
                <a:spcPts val="170"/>
              </a:spcBef>
            </a:pPr>
            <a:r>
              <a:rPr dirty="0" sz="550" spc="-25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45">
                <a:latin typeface="Arial MT"/>
                <a:cs typeface="Arial MT"/>
              </a:rPr>
              <a:t>mem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593892" y="1248319"/>
            <a:ext cx="1625600" cy="312420"/>
            <a:chOff x="6593892" y="1248319"/>
            <a:chExt cx="1625600" cy="312420"/>
          </a:xfrm>
        </p:grpSpPr>
        <p:sp>
          <p:nvSpPr>
            <p:cNvPr id="21" name="object 21" descr=""/>
            <p:cNvSpPr/>
            <p:nvPr/>
          </p:nvSpPr>
          <p:spPr>
            <a:xfrm>
              <a:off x="8063441" y="1407300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884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174474" y="1385034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4">
                  <a:moveTo>
                    <a:pt x="0" y="0"/>
                  </a:moveTo>
                  <a:lnTo>
                    <a:pt x="0" y="44613"/>
                  </a:lnTo>
                  <a:lnTo>
                    <a:pt x="44430" y="19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597067" y="1251494"/>
              <a:ext cx="254000" cy="306070"/>
            </a:xfrm>
            <a:custGeom>
              <a:avLst/>
              <a:gdLst/>
              <a:ahLst/>
              <a:cxnLst/>
              <a:rect l="l" t="t" r="r" b="b"/>
              <a:pathLst>
                <a:path w="254000" h="306069">
                  <a:moveTo>
                    <a:pt x="253447" y="0"/>
                  </a:moveTo>
                  <a:lnTo>
                    <a:pt x="0" y="0"/>
                  </a:lnTo>
                  <a:lnTo>
                    <a:pt x="0" y="305673"/>
                  </a:lnTo>
                  <a:lnTo>
                    <a:pt x="253447" y="305673"/>
                  </a:lnTo>
                  <a:lnTo>
                    <a:pt x="2534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597067" y="1251494"/>
              <a:ext cx="254000" cy="306070"/>
            </a:xfrm>
            <a:custGeom>
              <a:avLst/>
              <a:gdLst/>
              <a:ahLst/>
              <a:cxnLst/>
              <a:rect l="l" t="t" r="r" b="b"/>
              <a:pathLst>
                <a:path w="254000" h="306069">
                  <a:moveTo>
                    <a:pt x="0" y="305673"/>
                  </a:moveTo>
                  <a:lnTo>
                    <a:pt x="253447" y="305673"/>
                  </a:lnTo>
                  <a:lnTo>
                    <a:pt x="253447" y="0"/>
                  </a:lnTo>
                  <a:lnTo>
                    <a:pt x="0" y="0"/>
                  </a:lnTo>
                  <a:lnTo>
                    <a:pt x="0" y="305673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6666764" y="1315017"/>
            <a:ext cx="1600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6350">
              <a:lnSpc>
                <a:spcPts val="600"/>
              </a:lnSpc>
              <a:spcBef>
                <a:spcPts val="170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45">
                <a:latin typeface="Arial MT"/>
                <a:cs typeface="Arial MT"/>
              </a:rPr>
              <a:t>mem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6850374" y="1248319"/>
            <a:ext cx="402590" cy="312420"/>
            <a:chOff x="6850374" y="1248319"/>
            <a:chExt cx="402590" cy="312420"/>
          </a:xfrm>
        </p:grpSpPr>
        <p:sp>
          <p:nvSpPr>
            <p:cNvPr id="27" name="object 27" descr=""/>
            <p:cNvSpPr/>
            <p:nvPr/>
          </p:nvSpPr>
          <p:spPr>
            <a:xfrm>
              <a:off x="6853549" y="1407300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867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964565" y="1385034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4">
                  <a:moveTo>
                    <a:pt x="0" y="0"/>
                  </a:moveTo>
                  <a:lnTo>
                    <a:pt x="0" y="44613"/>
                  </a:lnTo>
                  <a:lnTo>
                    <a:pt x="38107" y="19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002674" y="1251494"/>
              <a:ext cx="247015" cy="306070"/>
            </a:xfrm>
            <a:custGeom>
              <a:avLst/>
              <a:gdLst/>
              <a:ahLst/>
              <a:cxnLst/>
              <a:rect l="l" t="t" r="r" b="b"/>
              <a:pathLst>
                <a:path w="247015" h="306069">
                  <a:moveTo>
                    <a:pt x="246964" y="0"/>
                  </a:moveTo>
                  <a:lnTo>
                    <a:pt x="0" y="0"/>
                  </a:lnTo>
                  <a:lnTo>
                    <a:pt x="0" y="305673"/>
                  </a:lnTo>
                  <a:lnTo>
                    <a:pt x="246964" y="305673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002674" y="1251494"/>
              <a:ext cx="247015" cy="306070"/>
            </a:xfrm>
            <a:custGeom>
              <a:avLst/>
              <a:gdLst/>
              <a:ahLst/>
              <a:cxnLst/>
              <a:rect l="l" t="t" r="r" b="b"/>
              <a:pathLst>
                <a:path w="247015" h="306069">
                  <a:moveTo>
                    <a:pt x="0" y="305673"/>
                  </a:moveTo>
                  <a:lnTo>
                    <a:pt x="246964" y="305673"/>
                  </a:lnTo>
                  <a:lnTo>
                    <a:pt x="246964" y="0"/>
                  </a:lnTo>
                  <a:lnTo>
                    <a:pt x="0" y="0"/>
                  </a:lnTo>
                  <a:lnTo>
                    <a:pt x="0" y="305673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7084959" y="1315017"/>
            <a:ext cx="1346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15" marR="5080" indent="-19050">
              <a:lnSpc>
                <a:spcPts val="600"/>
              </a:lnSpc>
              <a:spcBef>
                <a:spcPts val="170"/>
              </a:spcBef>
            </a:pPr>
            <a:r>
              <a:rPr dirty="0" sz="550" spc="-2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6546282" y="1251305"/>
            <a:ext cx="1115060" cy="312420"/>
            <a:chOff x="6546282" y="1251305"/>
            <a:chExt cx="1115060" cy="312420"/>
          </a:xfrm>
        </p:grpSpPr>
        <p:sp>
          <p:nvSpPr>
            <p:cNvPr id="33" name="object 33" descr=""/>
            <p:cNvSpPr/>
            <p:nvPr/>
          </p:nvSpPr>
          <p:spPr>
            <a:xfrm>
              <a:off x="7252647" y="1305420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631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363680" y="1283323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4">
                  <a:moveTo>
                    <a:pt x="0" y="0"/>
                  </a:moveTo>
                  <a:lnTo>
                    <a:pt x="0" y="44530"/>
                  </a:lnTo>
                  <a:lnTo>
                    <a:pt x="44347" y="1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392093" y="1254480"/>
              <a:ext cx="266065" cy="306070"/>
            </a:xfrm>
            <a:custGeom>
              <a:avLst/>
              <a:gdLst/>
              <a:ahLst/>
              <a:cxnLst/>
              <a:rect l="l" t="t" r="r" b="b"/>
              <a:pathLst>
                <a:path w="266065" h="306069">
                  <a:moveTo>
                    <a:pt x="0" y="0"/>
                  </a:moveTo>
                  <a:lnTo>
                    <a:pt x="0" y="305724"/>
                  </a:lnTo>
                  <a:lnTo>
                    <a:pt x="265992" y="229314"/>
                  </a:lnTo>
                  <a:lnTo>
                    <a:pt x="265992" y="764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392093" y="1254480"/>
              <a:ext cx="266065" cy="306070"/>
            </a:xfrm>
            <a:custGeom>
              <a:avLst/>
              <a:gdLst/>
              <a:ahLst/>
              <a:cxnLst/>
              <a:rect l="l" t="t" r="r" b="b"/>
              <a:pathLst>
                <a:path w="266065" h="306069">
                  <a:moveTo>
                    <a:pt x="0" y="305724"/>
                  </a:moveTo>
                  <a:lnTo>
                    <a:pt x="265992" y="229314"/>
                  </a:lnTo>
                  <a:lnTo>
                    <a:pt x="265992" y="76409"/>
                  </a:lnTo>
                  <a:lnTo>
                    <a:pt x="0" y="0"/>
                  </a:lnTo>
                  <a:lnTo>
                    <a:pt x="0" y="305724"/>
                  </a:lnTo>
                  <a:close/>
                </a:path>
                <a:path w="266065" h="306069">
                  <a:moveTo>
                    <a:pt x="0" y="101795"/>
                  </a:moveTo>
                  <a:lnTo>
                    <a:pt x="75961" y="152819"/>
                  </a:lnTo>
                </a:path>
                <a:path w="266065" h="306069">
                  <a:moveTo>
                    <a:pt x="0" y="203759"/>
                  </a:moveTo>
                  <a:lnTo>
                    <a:pt x="75961" y="152819"/>
                  </a:lnTo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350951" y="1327853"/>
              <a:ext cx="114300" cy="153035"/>
            </a:xfrm>
            <a:custGeom>
              <a:avLst/>
              <a:gdLst/>
              <a:ahLst/>
              <a:cxnLst/>
              <a:rect l="l" t="t" r="r" b="b"/>
              <a:pathLst>
                <a:path w="114300" h="153034">
                  <a:moveTo>
                    <a:pt x="0" y="0"/>
                  </a:moveTo>
                  <a:lnTo>
                    <a:pt x="0" y="152904"/>
                  </a:lnTo>
                  <a:lnTo>
                    <a:pt x="114068" y="764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549457" y="1407300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317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559186" y="1385035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4">
                  <a:moveTo>
                    <a:pt x="0" y="0"/>
                  </a:moveTo>
                  <a:lnTo>
                    <a:pt x="0" y="44613"/>
                  </a:lnTo>
                  <a:lnTo>
                    <a:pt x="37880" y="19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8212582" y="1251494"/>
            <a:ext cx="254000" cy="306070"/>
          </a:xfrm>
          <a:prstGeom prst="rect">
            <a:avLst/>
          </a:prstGeom>
          <a:solidFill>
            <a:srgbClr val="FFCC99"/>
          </a:solidFill>
          <a:ln w="6279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550">
              <a:latin typeface="Times New Roman"/>
              <a:cs typeface="Times New Roman"/>
            </a:endParaRPr>
          </a:p>
          <a:p>
            <a:pPr marL="100965" marR="41910" indent="-19050">
              <a:lnSpc>
                <a:spcPts val="600"/>
              </a:lnSpc>
            </a:pPr>
            <a:r>
              <a:rPr dirty="0" sz="550" spc="-2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484091" y="1372366"/>
            <a:ext cx="15240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6897992" y="1248319"/>
            <a:ext cx="1571625" cy="669290"/>
            <a:chOff x="6897992" y="1248319"/>
            <a:chExt cx="1571625" cy="669290"/>
          </a:xfrm>
        </p:grpSpPr>
        <p:sp>
          <p:nvSpPr>
            <p:cNvPr id="43" name="object 43" descr=""/>
            <p:cNvSpPr/>
            <p:nvPr/>
          </p:nvSpPr>
          <p:spPr>
            <a:xfrm>
              <a:off x="6901167" y="1251494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673"/>
                  </a:lnTo>
                  <a:lnTo>
                    <a:pt x="50648" y="305673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901167" y="1251494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673"/>
                  </a:moveTo>
                  <a:lnTo>
                    <a:pt x="50648" y="305673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673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300282" y="1251494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673"/>
                  </a:lnTo>
                  <a:lnTo>
                    <a:pt x="50648" y="305673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300282" y="1251494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673"/>
                  </a:moveTo>
                  <a:lnTo>
                    <a:pt x="50648" y="305673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673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705721" y="1251494"/>
              <a:ext cx="51435" cy="306070"/>
            </a:xfrm>
            <a:custGeom>
              <a:avLst/>
              <a:gdLst/>
              <a:ahLst/>
              <a:cxnLst/>
              <a:rect l="l" t="t" r="r" b="b"/>
              <a:pathLst>
                <a:path w="51434" h="306069">
                  <a:moveTo>
                    <a:pt x="50857" y="0"/>
                  </a:moveTo>
                  <a:lnTo>
                    <a:pt x="0" y="0"/>
                  </a:lnTo>
                  <a:lnTo>
                    <a:pt x="0" y="305673"/>
                  </a:lnTo>
                  <a:lnTo>
                    <a:pt x="50857" y="305673"/>
                  </a:lnTo>
                  <a:lnTo>
                    <a:pt x="50857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705721" y="1251494"/>
              <a:ext cx="51435" cy="306070"/>
            </a:xfrm>
            <a:custGeom>
              <a:avLst/>
              <a:gdLst/>
              <a:ahLst/>
              <a:cxnLst/>
              <a:rect l="l" t="t" r="r" b="b"/>
              <a:pathLst>
                <a:path w="51434" h="306069">
                  <a:moveTo>
                    <a:pt x="0" y="305673"/>
                  </a:moveTo>
                  <a:lnTo>
                    <a:pt x="50857" y="305673"/>
                  </a:lnTo>
                  <a:lnTo>
                    <a:pt x="50857" y="0"/>
                  </a:lnTo>
                  <a:lnTo>
                    <a:pt x="0" y="0"/>
                  </a:lnTo>
                  <a:lnTo>
                    <a:pt x="0" y="305673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111328" y="1251494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673"/>
                  </a:lnTo>
                  <a:lnTo>
                    <a:pt x="50648" y="305673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063441" y="1251494"/>
              <a:ext cx="127000" cy="512445"/>
            </a:xfrm>
            <a:custGeom>
              <a:avLst/>
              <a:gdLst/>
              <a:ahLst/>
              <a:cxnLst/>
              <a:rect l="l" t="t" r="r" b="b"/>
              <a:pathLst>
                <a:path w="127000" h="512444">
                  <a:moveTo>
                    <a:pt x="47887" y="305673"/>
                  </a:moveTo>
                  <a:lnTo>
                    <a:pt x="98535" y="305673"/>
                  </a:lnTo>
                  <a:lnTo>
                    <a:pt x="98535" y="0"/>
                  </a:lnTo>
                  <a:lnTo>
                    <a:pt x="47887" y="0"/>
                  </a:lnTo>
                  <a:lnTo>
                    <a:pt x="47887" y="305673"/>
                  </a:lnTo>
                  <a:close/>
                </a:path>
                <a:path w="127000" h="512444">
                  <a:moveTo>
                    <a:pt x="0" y="512385"/>
                  </a:moveTo>
                  <a:lnTo>
                    <a:pt x="126884" y="512385"/>
                  </a:lnTo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174474" y="1741783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615"/>
                  </a:lnTo>
                  <a:lnTo>
                    <a:pt x="44430" y="1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901167" y="1608006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648" y="30588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901167" y="1608006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884"/>
                  </a:moveTo>
                  <a:lnTo>
                    <a:pt x="50648" y="305884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7658087" y="1865844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98491" y="0"/>
                  </a:moveTo>
                  <a:lnTo>
                    <a:pt x="126799" y="0"/>
                  </a:lnTo>
                </a:path>
                <a:path w="127000" h="0">
                  <a:moveTo>
                    <a:pt x="0" y="0"/>
                  </a:moveTo>
                  <a:lnTo>
                    <a:pt x="47634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769121" y="1843756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597"/>
                  </a:lnTo>
                  <a:lnTo>
                    <a:pt x="44345" y="190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212583" y="1608006"/>
              <a:ext cx="254000" cy="306070"/>
            </a:xfrm>
            <a:custGeom>
              <a:avLst/>
              <a:gdLst/>
              <a:ahLst/>
              <a:cxnLst/>
              <a:rect l="l" t="t" r="r" b="b"/>
              <a:pathLst>
                <a:path w="254000" h="306069">
                  <a:moveTo>
                    <a:pt x="253447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253447" y="305884"/>
                  </a:lnTo>
                  <a:lnTo>
                    <a:pt x="2534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8212583" y="1608006"/>
              <a:ext cx="254000" cy="306070"/>
            </a:xfrm>
            <a:custGeom>
              <a:avLst/>
              <a:gdLst/>
              <a:ahLst/>
              <a:cxnLst/>
              <a:rect l="l" t="t" r="r" b="b"/>
              <a:pathLst>
                <a:path w="254000" h="306069">
                  <a:moveTo>
                    <a:pt x="0" y="305884"/>
                  </a:moveTo>
                  <a:lnTo>
                    <a:pt x="253447" y="305884"/>
                  </a:lnTo>
                  <a:lnTo>
                    <a:pt x="253447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8282306" y="1671765"/>
            <a:ext cx="1600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600"/>
              </a:lnSpc>
              <a:spcBef>
                <a:spcPts val="170"/>
              </a:spcBef>
            </a:pPr>
            <a:r>
              <a:rPr dirty="0" sz="550" spc="-25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45">
                <a:latin typeface="Arial MT"/>
                <a:cs typeface="Arial MT"/>
              </a:rPr>
              <a:t>mem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6999499" y="1604831"/>
            <a:ext cx="1624965" cy="312420"/>
            <a:chOff x="6999499" y="1604831"/>
            <a:chExt cx="1624965" cy="312420"/>
          </a:xfrm>
        </p:grpSpPr>
        <p:sp>
          <p:nvSpPr>
            <p:cNvPr id="60" name="object 60" descr=""/>
            <p:cNvSpPr/>
            <p:nvPr/>
          </p:nvSpPr>
          <p:spPr>
            <a:xfrm>
              <a:off x="8469048" y="1763879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631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579912" y="1741783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615"/>
                  </a:lnTo>
                  <a:lnTo>
                    <a:pt x="44347" y="1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002674" y="1608006"/>
              <a:ext cx="247015" cy="306070"/>
            </a:xfrm>
            <a:custGeom>
              <a:avLst/>
              <a:gdLst/>
              <a:ahLst/>
              <a:cxnLst/>
              <a:rect l="l" t="t" r="r" b="b"/>
              <a:pathLst>
                <a:path w="247015" h="306069">
                  <a:moveTo>
                    <a:pt x="246964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246964" y="305884"/>
                  </a:lnTo>
                  <a:lnTo>
                    <a:pt x="246964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7002674" y="1608006"/>
              <a:ext cx="247015" cy="306070"/>
            </a:xfrm>
            <a:custGeom>
              <a:avLst/>
              <a:gdLst/>
              <a:ahLst/>
              <a:cxnLst/>
              <a:rect l="l" t="t" r="r" b="b"/>
              <a:pathLst>
                <a:path w="247015" h="306069">
                  <a:moveTo>
                    <a:pt x="0" y="305884"/>
                  </a:moveTo>
                  <a:lnTo>
                    <a:pt x="246964" y="305884"/>
                  </a:lnTo>
                  <a:lnTo>
                    <a:pt x="246964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7072396" y="1671765"/>
            <a:ext cx="1600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60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45">
                <a:latin typeface="Arial MT"/>
                <a:cs typeface="Arial MT"/>
              </a:rPr>
              <a:t>mem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7249473" y="1604831"/>
            <a:ext cx="408940" cy="312420"/>
            <a:chOff x="7249473" y="1604831"/>
            <a:chExt cx="408940" cy="312420"/>
          </a:xfrm>
        </p:grpSpPr>
        <p:sp>
          <p:nvSpPr>
            <p:cNvPr id="66" name="object 66" descr=""/>
            <p:cNvSpPr/>
            <p:nvPr/>
          </p:nvSpPr>
          <p:spPr>
            <a:xfrm>
              <a:off x="7252648" y="1763879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631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363680" y="1741783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615"/>
                  </a:lnTo>
                  <a:lnTo>
                    <a:pt x="44347" y="1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401789" y="1608006"/>
              <a:ext cx="253365" cy="306070"/>
            </a:xfrm>
            <a:custGeom>
              <a:avLst/>
              <a:gdLst/>
              <a:ahLst/>
              <a:cxnLst/>
              <a:rect l="l" t="t" r="r" b="b"/>
              <a:pathLst>
                <a:path w="253365" h="306069">
                  <a:moveTo>
                    <a:pt x="253245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253245" y="305884"/>
                  </a:lnTo>
                  <a:lnTo>
                    <a:pt x="253245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7401789" y="1608006"/>
              <a:ext cx="253365" cy="306070"/>
            </a:xfrm>
            <a:custGeom>
              <a:avLst/>
              <a:gdLst/>
              <a:ahLst/>
              <a:cxnLst/>
              <a:rect l="l" t="t" r="r" b="b"/>
              <a:pathLst>
                <a:path w="253365" h="306069">
                  <a:moveTo>
                    <a:pt x="0" y="305884"/>
                  </a:moveTo>
                  <a:lnTo>
                    <a:pt x="253245" y="305884"/>
                  </a:lnTo>
                  <a:lnTo>
                    <a:pt x="253245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7484074" y="1671765"/>
            <a:ext cx="1346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9050" marR="5080" indent="-19050">
              <a:lnSpc>
                <a:spcPts val="600"/>
              </a:lnSpc>
              <a:spcBef>
                <a:spcPts val="17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71" name="object 71" descr=""/>
          <p:cNvGrpSpPr/>
          <p:nvPr/>
        </p:nvGrpSpPr>
        <p:grpSpPr>
          <a:xfrm>
            <a:off x="6951696" y="1607884"/>
            <a:ext cx="1115060" cy="312420"/>
            <a:chOff x="6951696" y="1607884"/>
            <a:chExt cx="1115060" cy="312420"/>
          </a:xfrm>
        </p:grpSpPr>
        <p:sp>
          <p:nvSpPr>
            <p:cNvPr id="72" name="object 72" descr=""/>
            <p:cNvSpPr/>
            <p:nvPr/>
          </p:nvSpPr>
          <p:spPr>
            <a:xfrm>
              <a:off x="7658087" y="1662168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98491" y="0"/>
                  </a:moveTo>
                  <a:lnTo>
                    <a:pt x="126799" y="0"/>
                  </a:lnTo>
                </a:path>
                <a:path w="127000" h="0">
                  <a:moveTo>
                    <a:pt x="0" y="0"/>
                  </a:moveTo>
                  <a:lnTo>
                    <a:pt x="47634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769121" y="1639818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615"/>
                  </a:lnTo>
                  <a:lnTo>
                    <a:pt x="44345" y="19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7797448" y="1611059"/>
              <a:ext cx="266065" cy="306070"/>
            </a:xfrm>
            <a:custGeom>
              <a:avLst/>
              <a:gdLst/>
              <a:ahLst/>
              <a:cxnLst/>
              <a:rect l="l" t="t" r="r" b="b"/>
              <a:pathLst>
                <a:path w="266065" h="306069">
                  <a:moveTo>
                    <a:pt x="0" y="0"/>
                  </a:moveTo>
                  <a:lnTo>
                    <a:pt x="0" y="305867"/>
                  </a:lnTo>
                  <a:lnTo>
                    <a:pt x="265992" y="229246"/>
                  </a:lnTo>
                  <a:lnTo>
                    <a:pt x="265992" y="764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7797448" y="1611059"/>
              <a:ext cx="266065" cy="306070"/>
            </a:xfrm>
            <a:custGeom>
              <a:avLst/>
              <a:gdLst/>
              <a:ahLst/>
              <a:cxnLst/>
              <a:rect l="l" t="t" r="r" b="b"/>
              <a:pathLst>
                <a:path w="266065" h="306069">
                  <a:moveTo>
                    <a:pt x="0" y="305867"/>
                  </a:moveTo>
                  <a:lnTo>
                    <a:pt x="265992" y="229246"/>
                  </a:lnTo>
                  <a:lnTo>
                    <a:pt x="265992" y="76409"/>
                  </a:lnTo>
                  <a:lnTo>
                    <a:pt x="0" y="0"/>
                  </a:lnTo>
                  <a:lnTo>
                    <a:pt x="0" y="305867"/>
                  </a:lnTo>
                  <a:close/>
                </a:path>
                <a:path w="266065" h="306069">
                  <a:moveTo>
                    <a:pt x="0" y="101964"/>
                  </a:moveTo>
                  <a:lnTo>
                    <a:pt x="75961" y="152819"/>
                  </a:lnTo>
                </a:path>
                <a:path w="266065" h="306069">
                  <a:moveTo>
                    <a:pt x="0" y="203911"/>
                  </a:moveTo>
                  <a:lnTo>
                    <a:pt x="75961" y="152819"/>
                  </a:lnTo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756558" y="1684433"/>
              <a:ext cx="114300" cy="153035"/>
            </a:xfrm>
            <a:custGeom>
              <a:avLst/>
              <a:gdLst/>
              <a:ahLst/>
              <a:cxnLst/>
              <a:rect l="l" t="t" r="r" b="b"/>
              <a:pathLst>
                <a:path w="114300" h="153035">
                  <a:moveTo>
                    <a:pt x="0" y="0"/>
                  </a:moveTo>
                  <a:lnTo>
                    <a:pt x="0" y="152836"/>
                  </a:lnTo>
                  <a:lnTo>
                    <a:pt x="113816" y="764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954871" y="1763879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45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964565" y="1741783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4615"/>
                  </a:lnTo>
                  <a:lnTo>
                    <a:pt x="38107" y="190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8618021" y="1608006"/>
            <a:ext cx="254000" cy="306070"/>
          </a:xfrm>
          <a:prstGeom prst="rect">
            <a:avLst/>
          </a:prstGeom>
          <a:solidFill>
            <a:srgbClr val="FFCC99"/>
          </a:solidFill>
          <a:ln w="6279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550">
              <a:latin typeface="Times New Roman"/>
              <a:cs typeface="Times New Roman"/>
            </a:endParaRPr>
          </a:p>
          <a:p>
            <a:pPr marL="100965" marR="41910" indent="-19050">
              <a:lnSpc>
                <a:spcPts val="600"/>
              </a:lnSpc>
            </a:pPr>
            <a:r>
              <a:rPr dirty="0" sz="550" spc="-2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7889445" y="1729098"/>
            <a:ext cx="15240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7297107" y="1604831"/>
            <a:ext cx="1976755" cy="1019810"/>
            <a:chOff x="7297107" y="1604831"/>
            <a:chExt cx="1976755" cy="1019810"/>
          </a:xfrm>
        </p:grpSpPr>
        <p:sp>
          <p:nvSpPr>
            <p:cNvPr id="82" name="object 82" descr=""/>
            <p:cNvSpPr/>
            <p:nvPr/>
          </p:nvSpPr>
          <p:spPr>
            <a:xfrm>
              <a:off x="7300282" y="1608006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648" y="30588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300282" y="1608006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884"/>
                  </a:moveTo>
                  <a:lnTo>
                    <a:pt x="50648" y="305884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705720" y="1608006"/>
              <a:ext cx="51435" cy="306070"/>
            </a:xfrm>
            <a:custGeom>
              <a:avLst/>
              <a:gdLst/>
              <a:ahLst/>
              <a:cxnLst/>
              <a:rect l="l" t="t" r="r" b="b"/>
              <a:pathLst>
                <a:path w="51434" h="306069">
                  <a:moveTo>
                    <a:pt x="50857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857" y="305884"/>
                  </a:lnTo>
                  <a:lnTo>
                    <a:pt x="50857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705720" y="1608006"/>
              <a:ext cx="51435" cy="306070"/>
            </a:xfrm>
            <a:custGeom>
              <a:avLst/>
              <a:gdLst/>
              <a:ahLst/>
              <a:cxnLst/>
              <a:rect l="l" t="t" r="r" b="b"/>
              <a:pathLst>
                <a:path w="51434" h="306069">
                  <a:moveTo>
                    <a:pt x="0" y="305884"/>
                  </a:moveTo>
                  <a:lnTo>
                    <a:pt x="50857" y="305884"/>
                  </a:lnTo>
                  <a:lnTo>
                    <a:pt x="50857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8111328" y="1608006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648" y="30588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8111328" y="1608006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884"/>
                  </a:moveTo>
                  <a:lnTo>
                    <a:pt x="50648" y="305884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8516682" y="1608006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648" y="30588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8516682" y="1608006"/>
              <a:ext cx="484505" cy="862965"/>
            </a:xfrm>
            <a:custGeom>
              <a:avLst/>
              <a:gdLst/>
              <a:ahLst/>
              <a:cxnLst/>
              <a:rect l="l" t="t" r="r" b="b"/>
              <a:pathLst>
                <a:path w="484504" h="862964">
                  <a:moveTo>
                    <a:pt x="0" y="305884"/>
                  </a:moveTo>
                  <a:lnTo>
                    <a:pt x="50648" y="305884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  <a:path w="484504" h="862964">
                  <a:moveTo>
                    <a:pt x="357804" y="862901"/>
                  </a:moveTo>
                  <a:lnTo>
                    <a:pt x="484435" y="862901"/>
                  </a:lnTo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8985520" y="2448820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597"/>
                  </a:lnTo>
                  <a:lnTo>
                    <a:pt x="44347" y="25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705720" y="2315033"/>
              <a:ext cx="51435" cy="306070"/>
            </a:xfrm>
            <a:custGeom>
              <a:avLst/>
              <a:gdLst/>
              <a:ahLst/>
              <a:cxnLst/>
              <a:rect l="l" t="t" r="r" b="b"/>
              <a:pathLst>
                <a:path w="51434" h="306069">
                  <a:moveTo>
                    <a:pt x="50857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857" y="305884"/>
                  </a:lnTo>
                  <a:lnTo>
                    <a:pt x="50857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705720" y="2315033"/>
              <a:ext cx="890269" cy="306070"/>
            </a:xfrm>
            <a:custGeom>
              <a:avLst/>
              <a:gdLst/>
              <a:ahLst/>
              <a:cxnLst/>
              <a:rect l="l" t="t" r="r" b="b"/>
              <a:pathLst>
                <a:path w="890270" h="306069">
                  <a:moveTo>
                    <a:pt x="0" y="305884"/>
                  </a:moveTo>
                  <a:lnTo>
                    <a:pt x="50857" y="305884"/>
                  </a:lnTo>
                  <a:lnTo>
                    <a:pt x="50857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  <a:path w="890270" h="306069">
                  <a:moveTo>
                    <a:pt x="763327" y="257834"/>
                  </a:moveTo>
                  <a:lnTo>
                    <a:pt x="889958" y="257834"/>
                  </a:lnTo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8579912" y="2550784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590"/>
                  </a:lnTo>
                  <a:lnTo>
                    <a:pt x="44347" y="255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9023375" y="2315033"/>
              <a:ext cx="247650" cy="306070"/>
            </a:xfrm>
            <a:custGeom>
              <a:avLst/>
              <a:gdLst/>
              <a:ahLst/>
              <a:cxnLst/>
              <a:rect l="l" t="t" r="r" b="b"/>
              <a:pathLst>
                <a:path w="247650" h="306069">
                  <a:moveTo>
                    <a:pt x="247175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247175" y="305884"/>
                  </a:lnTo>
                  <a:lnTo>
                    <a:pt x="24717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9023375" y="2315033"/>
              <a:ext cx="247650" cy="306070"/>
            </a:xfrm>
            <a:custGeom>
              <a:avLst/>
              <a:gdLst/>
              <a:ahLst/>
              <a:cxnLst/>
              <a:rect l="l" t="t" r="r" b="b"/>
              <a:pathLst>
                <a:path w="247650" h="306069">
                  <a:moveTo>
                    <a:pt x="0" y="305884"/>
                  </a:moveTo>
                  <a:lnTo>
                    <a:pt x="247175" y="305884"/>
                  </a:lnTo>
                  <a:lnTo>
                    <a:pt x="247175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 descr=""/>
          <p:cNvSpPr txBox="1"/>
          <p:nvPr/>
        </p:nvSpPr>
        <p:spPr>
          <a:xfrm>
            <a:off x="9093099" y="2378751"/>
            <a:ext cx="1600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600"/>
              </a:lnSpc>
              <a:spcBef>
                <a:spcPts val="170"/>
              </a:spcBef>
            </a:pPr>
            <a:r>
              <a:rPr dirty="0" sz="550" spc="-25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45">
                <a:latin typeface="Arial MT"/>
                <a:cs typeface="Arial MT"/>
              </a:rPr>
              <a:t>mem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97" name="object 97" descr=""/>
          <p:cNvGrpSpPr/>
          <p:nvPr/>
        </p:nvGrpSpPr>
        <p:grpSpPr>
          <a:xfrm>
            <a:off x="7804053" y="2311858"/>
            <a:ext cx="1618615" cy="312420"/>
            <a:chOff x="7804053" y="2311858"/>
            <a:chExt cx="1618615" cy="312420"/>
          </a:xfrm>
        </p:grpSpPr>
        <p:sp>
          <p:nvSpPr>
            <p:cNvPr id="98" name="object 98" descr=""/>
            <p:cNvSpPr/>
            <p:nvPr/>
          </p:nvSpPr>
          <p:spPr>
            <a:xfrm>
              <a:off x="9273602" y="2470907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631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9384636" y="2448819"/>
              <a:ext cx="38100" cy="45085"/>
            </a:xfrm>
            <a:custGeom>
              <a:avLst/>
              <a:gdLst/>
              <a:ahLst/>
              <a:cxnLst/>
              <a:rect l="l" t="t" r="r" b="b"/>
              <a:pathLst>
                <a:path w="38100" h="45085">
                  <a:moveTo>
                    <a:pt x="0" y="0"/>
                  </a:moveTo>
                  <a:lnTo>
                    <a:pt x="0" y="44597"/>
                  </a:lnTo>
                  <a:lnTo>
                    <a:pt x="37853" y="25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7807228" y="2315033"/>
              <a:ext cx="253365" cy="306070"/>
            </a:xfrm>
            <a:custGeom>
              <a:avLst/>
              <a:gdLst/>
              <a:ahLst/>
              <a:cxnLst/>
              <a:rect l="l" t="t" r="r" b="b"/>
              <a:pathLst>
                <a:path w="253365" h="306069">
                  <a:moveTo>
                    <a:pt x="253245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253245" y="305884"/>
                  </a:lnTo>
                  <a:lnTo>
                    <a:pt x="253245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7807228" y="2315033"/>
              <a:ext cx="253365" cy="306070"/>
            </a:xfrm>
            <a:custGeom>
              <a:avLst/>
              <a:gdLst/>
              <a:ahLst/>
              <a:cxnLst/>
              <a:rect l="l" t="t" r="r" b="b"/>
              <a:pathLst>
                <a:path w="253365" h="306069">
                  <a:moveTo>
                    <a:pt x="0" y="305884"/>
                  </a:moveTo>
                  <a:lnTo>
                    <a:pt x="253245" y="305884"/>
                  </a:lnTo>
                  <a:lnTo>
                    <a:pt x="253245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 descr=""/>
          <p:cNvSpPr txBox="1"/>
          <p:nvPr/>
        </p:nvSpPr>
        <p:spPr>
          <a:xfrm>
            <a:off x="7876867" y="2378751"/>
            <a:ext cx="1600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60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45">
                <a:latin typeface="Arial MT"/>
                <a:cs typeface="Arial MT"/>
              </a:rPr>
              <a:t>mem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8060266" y="2311858"/>
            <a:ext cx="408940" cy="312420"/>
            <a:chOff x="8060266" y="2311858"/>
            <a:chExt cx="408940" cy="312420"/>
          </a:xfrm>
        </p:grpSpPr>
        <p:sp>
          <p:nvSpPr>
            <p:cNvPr id="104" name="object 104" descr=""/>
            <p:cNvSpPr/>
            <p:nvPr/>
          </p:nvSpPr>
          <p:spPr>
            <a:xfrm>
              <a:off x="8063441" y="2470907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884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8174474" y="2448819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597"/>
                  </a:lnTo>
                  <a:lnTo>
                    <a:pt x="44430" y="25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8212582" y="2315033"/>
              <a:ext cx="254000" cy="306070"/>
            </a:xfrm>
            <a:custGeom>
              <a:avLst/>
              <a:gdLst/>
              <a:ahLst/>
              <a:cxnLst/>
              <a:rect l="l" t="t" r="r" b="b"/>
              <a:pathLst>
                <a:path w="254000" h="306069">
                  <a:moveTo>
                    <a:pt x="253447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253447" y="305884"/>
                  </a:lnTo>
                  <a:lnTo>
                    <a:pt x="2534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8212582" y="2315033"/>
              <a:ext cx="254000" cy="306070"/>
            </a:xfrm>
            <a:custGeom>
              <a:avLst/>
              <a:gdLst/>
              <a:ahLst/>
              <a:cxnLst/>
              <a:rect l="l" t="t" r="r" b="b"/>
              <a:pathLst>
                <a:path w="254000" h="306069">
                  <a:moveTo>
                    <a:pt x="0" y="305884"/>
                  </a:moveTo>
                  <a:lnTo>
                    <a:pt x="253447" y="305884"/>
                  </a:lnTo>
                  <a:lnTo>
                    <a:pt x="253447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 descr=""/>
          <p:cNvSpPr txBox="1"/>
          <p:nvPr/>
        </p:nvSpPr>
        <p:spPr>
          <a:xfrm>
            <a:off x="8294867" y="2378751"/>
            <a:ext cx="1346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9050" marR="5080" indent="-19050">
              <a:lnSpc>
                <a:spcPts val="600"/>
              </a:lnSpc>
              <a:spcBef>
                <a:spcPts val="17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09" name="object 109" descr=""/>
          <p:cNvGrpSpPr/>
          <p:nvPr/>
        </p:nvGrpSpPr>
        <p:grpSpPr>
          <a:xfrm>
            <a:off x="7756419" y="2314896"/>
            <a:ext cx="1121410" cy="312420"/>
            <a:chOff x="7756419" y="2314896"/>
            <a:chExt cx="1121410" cy="312420"/>
          </a:xfrm>
        </p:grpSpPr>
        <p:sp>
          <p:nvSpPr>
            <p:cNvPr id="110" name="object 110" descr=""/>
            <p:cNvSpPr/>
            <p:nvPr/>
          </p:nvSpPr>
          <p:spPr>
            <a:xfrm>
              <a:off x="8469049" y="2369154"/>
              <a:ext cx="127000" cy="0"/>
            </a:xfrm>
            <a:custGeom>
              <a:avLst/>
              <a:gdLst/>
              <a:ahLst/>
              <a:cxnLst/>
              <a:rect l="l" t="t" r="r" b="b"/>
              <a:pathLst>
                <a:path w="127000" h="0">
                  <a:moveTo>
                    <a:pt x="0" y="0"/>
                  </a:moveTo>
                  <a:lnTo>
                    <a:pt x="126631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8579913" y="2346864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588"/>
                  </a:lnTo>
                  <a:lnTo>
                    <a:pt x="44347" y="25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8608494" y="2318071"/>
              <a:ext cx="266065" cy="306070"/>
            </a:xfrm>
            <a:custGeom>
              <a:avLst/>
              <a:gdLst/>
              <a:ahLst/>
              <a:cxnLst/>
              <a:rect l="l" t="t" r="r" b="b"/>
              <a:pathLst>
                <a:path w="266065" h="306069">
                  <a:moveTo>
                    <a:pt x="0" y="0"/>
                  </a:moveTo>
                  <a:lnTo>
                    <a:pt x="0" y="305881"/>
                  </a:lnTo>
                  <a:lnTo>
                    <a:pt x="265992" y="229255"/>
                  </a:lnTo>
                  <a:lnTo>
                    <a:pt x="265992" y="76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8608494" y="2318071"/>
              <a:ext cx="266065" cy="306070"/>
            </a:xfrm>
            <a:custGeom>
              <a:avLst/>
              <a:gdLst/>
              <a:ahLst/>
              <a:cxnLst/>
              <a:rect l="l" t="t" r="r" b="b"/>
              <a:pathLst>
                <a:path w="266065" h="306069">
                  <a:moveTo>
                    <a:pt x="0" y="305881"/>
                  </a:moveTo>
                  <a:lnTo>
                    <a:pt x="265992" y="229255"/>
                  </a:lnTo>
                  <a:lnTo>
                    <a:pt x="265992" y="76418"/>
                  </a:lnTo>
                  <a:lnTo>
                    <a:pt x="0" y="0"/>
                  </a:lnTo>
                  <a:lnTo>
                    <a:pt x="0" y="305881"/>
                  </a:lnTo>
                  <a:close/>
                </a:path>
                <a:path w="266065" h="306069">
                  <a:moveTo>
                    <a:pt x="0" y="101964"/>
                  </a:moveTo>
                  <a:lnTo>
                    <a:pt x="75961" y="152836"/>
                  </a:lnTo>
                </a:path>
                <a:path w="266065" h="306069">
                  <a:moveTo>
                    <a:pt x="0" y="203920"/>
                  </a:moveTo>
                  <a:lnTo>
                    <a:pt x="75961" y="152836"/>
                  </a:lnTo>
                </a:path>
              </a:pathLst>
            </a:custGeom>
            <a:ln w="62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8567351" y="2391452"/>
              <a:ext cx="114300" cy="153035"/>
            </a:xfrm>
            <a:custGeom>
              <a:avLst/>
              <a:gdLst/>
              <a:ahLst/>
              <a:cxnLst/>
              <a:rect l="l" t="t" r="r" b="b"/>
              <a:pathLst>
                <a:path w="114300" h="153035">
                  <a:moveTo>
                    <a:pt x="0" y="0"/>
                  </a:moveTo>
                  <a:lnTo>
                    <a:pt x="0" y="152836"/>
                  </a:lnTo>
                  <a:lnTo>
                    <a:pt x="114070" y="76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7759594" y="2470907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292" y="0"/>
                  </a:lnTo>
                </a:path>
              </a:pathLst>
            </a:custGeom>
            <a:ln w="62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769121" y="2448819"/>
              <a:ext cx="44450" cy="45085"/>
            </a:xfrm>
            <a:custGeom>
              <a:avLst/>
              <a:gdLst/>
              <a:ahLst/>
              <a:cxnLst/>
              <a:rect l="l" t="t" r="r" b="b"/>
              <a:pathLst>
                <a:path w="44450" h="45085">
                  <a:moveTo>
                    <a:pt x="0" y="0"/>
                  </a:moveTo>
                  <a:lnTo>
                    <a:pt x="0" y="44597"/>
                  </a:lnTo>
                  <a:lnTo>
                    <a:pt x="44345" y="25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/>
          <p:nvPr/>
        </p:nvSpPr>
        <p:spPr>
          <a:xfrm>
            <a:off x="9422491" y="2315033"/>
            <a:ext cx="254000" cy="306070"/>
          </a:xfrm>
          <a:prstGeom prst="rect">
            <a:avLst/>
          </a:prstGeom>
          <a:solidFill>
            <a:srgbClr val="FFCC99"/>
          </a:solidFill>
          <a:ln w="6279">
            <a:solidFill>
              <a:srgbClr val="000000"/>
            </a:solidFill>
          </a:ln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550">
              <a:latin typeface="Times New Roman"/>
              <a:cs typeface="Times New Roman"/>
            </a:endParaRPr>
          </a:p>
          <a:p>
            <a:pPr marL="100965" marR="41910" indent="-19050">
              <a:lnSpc>
                <a:spcPts val="600"/>
              </a:lnSpc>
            </a:pPr>
            <a:r>
              <a:rPr dirty="0" sz="550" spc="-2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8700492" y="2436118"/>
            <a:ext cx="15240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19" name="object 119" descr=""/>
          <p:cNvGrpSpPr/>
          <p:nvPr/>
        </p:nvGrpSpPr>
        <p:grpSpPr>
          <a:xfrm>
            <a:off x="8108153" y="2311858"/>
            <a:ext cx="1267460" cy="312420"/>
            <a:chOff x="8108153" y="2311858"/>
            <a:chExt cx="1267460" cy="312420"/>
          </a:xfrm>
        </p:grpSpPr>
        <p:sp>
          <p:nvSpPr>
            <p:cNvPr id="120" name="object 120" descr=""/>
            <p:cNvSpPr/>
            <p:nvPr/>
          </p:nvSpPr>
          <p:spPr>
            <a:xfrm>
              <a:off x="8111328" y="2315033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648" y="30588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8111328" y="2315033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884"/>
                  </a:moveTo>
                  <a:lnTo>
                    <a:pt x="50648" y="305884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8516682" y="2315033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648" y="30588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8516682" y="2315033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884"/>
                  </a:moveTo>
                  <a:lnTo>
                    <a:pt x="50648" y="305884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8922121" y="2315033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648" y="30588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8922121" y="2315033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884"/>
                  </a:moveTo>
                  <a:lnTo>
                    <a:pt x="50648" y="305884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9321236" y="2315033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50648" y="0"/>
                  </a:moveTo>
                  <a:lnTo>
                    <a:pt x="0" y="0"/>
                  </a:lnTo>
                  <a:lnTo>
                    <a:pt x="0" y="305884"/>
                  </a:lnTo>
                  <a:lnTo>
                    <a:pt x="50648" y="30588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9321236" y="2315033"/>
              <a:ext cx="50800" cy="306070"/>
            </a:xfrm>
            <a:custGeom>
              <a:avLst/>
              <a:gdLst/>
              <a:ahLst/>
              <a:cxnLst/>
              <a:rect l="l" t="t" r="r" b="b"/>
              <a:pathLst>
                <a:path w="50800" h="306069">
                  <a:moveTo>
                    <a:pt x="0" y="305884"/>
                  </a:moveTo>
                  <a:lnTo>
                    <a:pt x="50648" y="305884"/>
                  </a:lnTo>
                  <a:lnTo>
                    <a:pt x="50648" y="0"/>
                  </a:lnTo>
                  <a:lnTo>
                    <a:pt x="0" y="0"/>
                  </a:lnTo>
                  <a:lnTo>
                    <a:pt x="0" y="305884"/>
                  </a:lnTo>
                  <a:close/>
                </a:path>
              </a:pathLst>
            </a:custGeom>
            <a:ln w="62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 descr=""/>
          <p:cNvSpPr txBox="1"/>
          <p:nvPr/>
        </p:nvSpPr>
        <p:spPr>
          <a:xfrm>
            <a:off x="6103140" y="1321475"/>
            <a:ext cx="32956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 spc="-90">
                <a:latin typeface="Arial MT"/>
                <a:cs typeface="Arial MT"/>
              </a:rPr>
              <a:t>sw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55">
                <a:latin typeface="Arial MT"/>
                <a:cs typeface="Arial MT"/>
              </a:rPr>
              <a:t>$6,</a:t>
            </a:r>
            <a:r>
              <a:rPr dirty="0" sz="650" spc="-3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.</a:t>
            </a:r>
            <a:r>
              <a:rPr dirty="0" sz="650" spc="10"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. </a:t>
            </a:r>
            <a:r>
              <a:rPr dirty="0" sz="650" spc="-50">
                <a:latin typeface="Arial MT"/>
                <a:cs typeface="Arial MT"/>
              </a:rPr>
              <a:t>.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6103140" y="1678054"/>
            <a:ext cx="31051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 spc="-80">
                <a:latin typeface="Arial MT"/>
                <a:cs typeface="Arial MT"/>
              </a:rPr>
              <a:t>lw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$8,</a:t>
            </a:r>
            <a:r>
              <a:rPr dirty="0" sz="650" spc="25">
                <a:latin typeface="Arial MT"/>
                <a:cs typeface="Arial MT"/>
              </a:rPr>
              <a:t> </a:t>
            </a:r>
            <a:r>
              <a:rPr dirty="0" sz="650" spc="-30">
                <a:latin typeface="Arial MT"/>
                <a:cs typeface="Arial MT"/>
              </a:rPr>
              <a:t>. .</a:t>
            </a:r>
            <a:r>
              <a:rPr dirty="0" sz="650" spc="-25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.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0" name="object 130" descr=""/>
          <p:cNvSpPr txBox="1"/>
          <p:nvPr/>
        </p:nvSpPr>
        <p:spPr>
          <a:xfrm>
            <a:off x="6103140" y="2034765"/>
            <a:ext cx="54673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5">
                <a:latin typeface="Arial MT"/>
                <a:cs typeface="Arial MT"/>
              </a:rPr>
              <a:t>Insert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65">
                <a:latin typeface="Arial MT"/>
                <a:cs typeface="Arial MT"/>
              </a:rPr>
              <a:t>bubble?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6103140" y="2385032"/>
            <a:ext cx="39941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650" spc="-75">
                <a:latin typeface="Arial MT"/>
                <a:cs typeface="Arial MT"/>
              </a:rPr>
              <a:t>$9</a:t>
            </a:r>
            <a:r>
              <a:rPr dirty="0" sz="650" spc="-20">
                <a:latin typeface="Arial MT"/>
                <a:cs typeface="Arial MT"/>
              </a:rPr>
              <a:t> </a:t>
            </a:r>
            <a:r>
              <a:rPr dirty="0" sz="650" spc="-70">
                <a:latin typeface="Arial MT"/>
                <a:cs typeface="Arial MT"/>
              </a:rPr>
              <a:t>=</a:t>
            </a:r>
            <a:r>
              <a:rPr dirty="0" sz="650" spc="-35">
                <a:latin typeface="Arial MT"/>
                <a:cs typeface="Arial MT"/>
              </a:rPr>
              <a:t> </a:t>
            </a:r>
            <a:r>
              <a:rPr dirty="0" sz="650" spc="-75">
                <a:latin typeface="Arial MT"/>
                <a:cs typeface="Arial MT"/>
              </a:rPr>
              <a:t>$8</a:t>
            </a:r>
            <a:r>
              <a:rPr dirty="0" sz="650" spc="40">
                <a:latin typeface="Arial MT"/>
                <a:cs typeface="Arial MT"/>
              </a:rPr>
              <a:t> </a:t>
            </a:r>
            <a:r>
              <a:rPr dirty="0" sz="650" spc="-70">
                <a:latin typeface="Arial MT"/>
                <a:cs typeface="Arial MT"/>
              </a:rPr>
              <a:t>+</a:t>
            </a:r>
            <a:r>
              <a:rPr dirty="0" sz="650" spc="-35">
                <a:latin typeface="Arial MT"/>
                <a:cs typeface="Arial MT"/>
              </a:rPr>
              <a:t> </a:t>
            </a:r>
            <a:r>
              <a:rPr dirty="0" sz="650" spc="-25">
                <a:latin typeface="Arial MT"/>
                <a:cs typeface="Arial MT"/>
              </a:rPr>
              <a:t>$2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132" name="object 132" descr=""/>
          <p:cNvGrpSpPr/>
          <p:nvPr/>
        </p:nvGrpSpPr>
        <p:grpSpPr>
          <a:xfrm>
            <a:off x="7300034" y="1954997"/>
            <a:ext cx="1577975" cy="315595"/>
            <a:chOff x="7300034" y="1954997"/>
            <a:chExt cx="1577975" cy="315595"/>
          </a:xfrm>
        </p:grpSpPr>
        <p:sp>
          <p:nvSpPr>
            <p:cNvPr id="133" name="object 133" descr=""/>
            <p:cNvSpPr/>
            <p:nvPr/>
          </p:nvSpPr>
          <p:spPr>
            <a:xfrm>
              <a:off x="8466011" y="2092065"/>
              <a:ext cx="158750" cy="45085"/>
            </a:xfrm>
            <a:custGeom>
              <a:avLst/>
              <a:gdLst/>
              <a:ahLst/>
              <a:cxnLst/>
              <a:rect l="l" t="t" r="r" b="b"/>
              <a:pathLst>
                <a:path w="158750" h="45085">
                  <a:moveTo>
                    <a:pt x="25374" y="19265"/>
                  </a:moveTo>
                  <a:lnTo>
                    <a:pt x="0" y="19265"/>
                  </a:lnTo>
                  <a:lnTo>
                    <a:pt x="0" y="25552"/>
                  </a:lnTo>
                  <a:lnTo>
                    <a:pt x="25374" y="25552"/>
                  </a:lnTo>
                  <a:lnTo>
                    <a:pt x="25374" y="19265"/>
                  </a:lnTo>
                  <a:close/>
                </a:path>
                <a:path w="158750" h="45085">
                  <a:moveTo>
                    <a:pt x="50660" y="19265"/>
                  </a:moveTo>
                  <a:lnTo>
                    <a:pt x="37934" y="19265"/>
                  </a:lnTo>
                  <a:lnTo>
                    <a:pt x="37934" y="25552"/>
                  </a:lnTo>
                  <a:lnTo>
                    <a:pt x="50660" y="25552"/>
                  </a:lnTo>
                  <a:lnTo>
                    <a:pt x="50660" y="19265"/>
                  </a:lnTo>
                  <a:close/>
                </a:path>
                <a:path w="158750" h="45085">
                  <a:moveTo>
                    <a:pt x="158242" y="25552"/>
                  </a:moveTo>
                  <a:lnTo>
                    <a:pt x="113893" y="0"/>
                  </a:lnTo>
                  <a:lnTo>
                    <a:pt x="113893" y="19265"/>
                  </a:lnTo>
                  <a:lnTo>
                    <a:pt x="101307" y="19265"/>
                  </a:lnTo>
                  <a:lnTo>
                    <a:pt x="101307" y="25552"/>
                  </a:lnTo>
                  <a:lnTo>
                    <a:pt x="113893" y="25552"/>
                  </a:lnTo>
                  <a:lnTo>
                    <a:pt x="113893" y="44602"/>
                  </a:lnTo>
                  <a:lnTo>
                    <a:pt x="158242" y="25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7303526" y="1958490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69">
                  <a:moveTo>
                    <a:pt x="0" y="0"/>
                  </a:moveTo>
                  <a:lnTo>
                    <a:pt x="0" y="292903"/>
                  </a:lnTo>
                </a:path>
              </a:pathLst>
            </a:custGeom>
            <a:ln w="648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7313003" y="2225859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323" y="31813"/>
                  </a:moveTo>
                  <a:lnTo>
                    <a:pt x="0" y="31813"/>
                  </a:lnTo>
                  <a:lnTo>
                    <a:pt x="0" y="38303"/>
                  </a:lnTo>
                  <a:lnTo>
                    <a:pt x="25323" y="38303"/>
                  </a:lnTo>
                  <a:lnTo>
                    <a:pt x="25323" y="31813"/>
                  </a:lnTo>
                  <a:close/>
                </a:path>
                <a:path w="44450" h="38735">
                  <a:moveTo>
                    <a:pt x="44424" y="0"/>
                  </a:moveTo>
                  <a:lnTo>
                    <a:pt x="37947" y="0"/>
                  </a:lnTo>
                  <a:lnTo>
                    <a:pt x="37947" y="25539"/>
                  </a:lnTo>
                  <a:lnTo>
                    <a:pt x="44424" y="25539"/>
                  </a:lnTo>
                  <a:lnTo>
                    <a:pt x="444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7354195" y="1958490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05"/>
                  </a:lnTo>
                </a:path>
              </a:pathLst>
            </a:custGeom>
            <a:ln w="648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7306767" y="1958499"/>
              <a:ext cx="912494" cy="280670"/>
            </a:xfrm>
            <a:custGeom>
              <a:avLst/>
              <a:gdLst/>
              <a:ahLst/>
              <a:cxnLst/>
              <a:rect l="l" t="t" r="r" b="b"/>
              <a:pathLst>
                <a:path w="912495" h="280669">
                  <a:moveTo>
                    <a:pt x="25323" y="0"/>
                  </a:moveTo>
                  <a:lnTo>
                    <a:pt x="0" y="0"/>
                  </a:lnTo>
                  <a:lnTo>
                    <a:pt x="0" y="6273"/>
                  </a:lnTo>
                  <a:lnTo>
                    <a:pt x="25323" y="6273"/>
                  </a:lnTo>
                  <a:lnTo>
                    <a:pt x="25323" y="0"/>
                  </a:lnTo>
                  <a:close/>
                </a:path>
                <a:path w="912495" h="280669">
                  <a:moveTo>
                    <a:pt x="779183" y="254584"/>
                  </a:moveTo>
                  <a:lnTo>
                    <a:pt x="753630" y="254584"/>
                  </a:lnTo>
                  <a:lnTo>
                    <a:pt x="753630" y="261073"/>
                  </a:lnTo>
                  <a:lnTo>
                    <a:pt x="779183" y="261073"/>
                  </a:lnTo>
                  <a:lnTo>
                    <a:pt x="779183" y="254584"/>
                  </a:lnTo>
                  <a:close/>
                </a:path>
                <a:path w="912495" h="280669">
                  <a:moveTo>
                    <a:pt x="804557" y="254584"/>
                  </a:moveTo>
                  <a:lnTo>
                    <a:pt x="791743" y="254584"/>
                  </a:lnTo>
                  <a:lnTo>
                    <a:pt x="791743" y="261073"/>
                  </a:lnTo>
                  <a:lnTo>
                    <a:pt x="804557" y="261073"/>
                  </a:lnTo>
                  <a:lnTo>
                    <a:pt x="804557" y="254584"/>
                  </a:lnTo>
                  <a:close/>
                </a:path>
                <a:path w="912495" h="280669">
                  <a:moveTo>
                    <a:pt x="912126" y="261073"/>
                  </a:moveTo>
                  <a:lnTo>
                    <a:pt x="867702" y="235534"/>
                  </a:lnTo>
                  <a:lnTo>
                    <a:pt x="867702" y="254584"/>
                  </a:lnTo>
                  <a:lnTo>
                    <a:pt x="855205" y="254584"/>
                  </a:lnTo>
                  <a:lnTo>
                    <a:pt x="855205" y="261073"/>
                  </a:lnTo>
                  <a:lnTo>
                    <a:pt x="867702" y="261073"/>
                  </a:lnTo>
                  <a:lnTo>
                    <a:pt x="867702" y="280123"/>
                  </a:lnTo>
                  <a:lnTo>
                    <a:pt x="912126" y="2610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8621160" y="1964766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69">
                  <a:moveTo>
                    <a:pt x="0" y="0"/>
                  </a:moveTo>
                  <a:lnTo>
                    <a:pt x="0" y="292901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8630751" y="2267305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 h="0">
                  <a:moveTo>
                    <a:pt x="0" y="0"/>
                  </a:moveTo>
                  <a:lnTo>
                    <a:pt x="202625" y="0"/>
                  </a:lnTo>
                </a:path>
              </a:pathLst>
            </a:custGeom>
            <a:ln w="628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852398" y="2257668"/>
              <a:ext cx="25400" cy="13335"/>
            </a:xfrm>
            <a:custGeom>
              <a:avLst/>
              <a:gdLst/>
              <a:ahLst/>
              <a:cxnLst/>
              <a:rect l="l" t="t" r="r" b="b"/>
              <a:pathLst>
                <a:path w="25400" h="13335">
                  <a:moveTo>
                    <a:pt x="25293" y="0"/>
                  </a:moveTo>
                  <a:lnTo>
                    <a:pt x="19053" y="0"/>
                  </a:lnTo>
                  <a:lnTo>
                    <a:pt x="19053" y="6494"/>
                  </a:lnTo>
                  <a:lnTo>
                    <a:pt x="0" y="6494"/>
                  </a:lnTo>
                  <a:lnTo>
                    <a:pt x="0" y="12777"/>
                  </a:lnTo>
                  <a:lnTo>
                    <a:pt x="19053" y="12777"/>
                  </a:lnTo>
                  <a:lnTo>
                    <a:pt x="25293" y="6494"/>
                  </a:lnTo>
                  <a:lnTo>
                    <a:pt x="252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8874591" y="1990311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04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8852398" y="1964772"/>
              <a:ext cx="25400" cy="6350"/>
            </a:xfrm>
            <a:custGeom>
              <a:avLst/>
              <a:gdLst/>
              <a:ahLst/>
              <a:cxnLst/>
              <a:rect l="l" t="t" r="r" b="b"/>
              <a:pathLst>
                <a:path w="25400" h="6350">
                  <a:moveTo>
                    <a:pt x="19053" y="0"/>
                  </a:moveTo>
                  <a:lnTo>
                    <a:pt x="0" y="0"/>
                  </a:lnTo>
                  <a:lnTo>
                    <a:pt x="0" y="6283"/>
                  </a:lnTo>
                  <a:lnTo>
                    <a:pt x="19053" y="6283"/>
                  </a:lnTo>
                  <a:lnTo>
                    <a:pt x="19053" y="0"/>
                  </a:lnTo>
                  <a:close/>
                </a:path>
                <a:path w="25400" h="6350">
                  <a:moveTo>
                    <a:pt x="25293" y="0"/>
                  </a:moveTo>
                  <a:lnTo>
                    <a:pt x="19053" y="0"/>
                  </a:lnTo>
                  <a:lnTo>
                    <a:pt x="19053" y="6283"/>
                  </a:lnTo>
                  <a:lnTo>
                    <a:pt x="25293" y="6283"/>
                  </a:lnTo>
                  <a:lnTo>
                    <a:pt x="252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8630751" y="1967915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 h="0">
                  <a:moveTo>
                    <a:pt x="0" y="0"/>
                  </a:moveTo>
                  <a:lnTo>
                    <a:pt x="202625" y="0"/>
                  </a:lnTo>
                </a:path>
              </a:pathLst>
            </a:custGeom>
            <a:ln w="628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 descr=""/>
          <p:cNvSpPr txBox="1"/>
          <p:nvPr/>
        </p:nvSpPr>
        <p:spPr>
          <a:xfrm>
            <a:off x="8687660" y="2028488"/>
            <a:ext cx="1600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600"/>
              </a:lnSpc>
              <a:spcBef>
                <a:spcPts val="170"/>
              </a:spcBef>
            </a:pPr>
            <a:r>
              <a:rPr dirty="0" sz="550" spc="-25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45">
                <a:latin typeface="Arial MT"/>
                <a:cs typeface="Arial MT"/>
              </a:rPr>
              <a:t>mem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45" name="object 145" descr=""/>
          <p:cNvGrpSpPr/>
          <p:nvPr/>
        </p:nvGrpSpPr>
        <p:grpSpPr>
          <a:xfrm>
            <a:off x="7401752" y="1961591"/>
            <a:ext cx="1628139" cy="309245"/>
            <a:chOff x="7401752" y="1961591"/>
            <a:chExt cx="1628139" cy="309245"/>
          </a:xfrm>
        </p:grpSpPr>
        <p:sp>
          <p:nvSpPr>
            <p:cNvPr id="146" name="object 146" descr=""/>
            <p:cNvSpPr/>
            <p:nvPr/>
          </p:nvSpPr>
          <p:spPr>
            <a:xfrm>
              <a:off x="8871445" y="2092065"/>
              <a:ext cx="158750" cy="45085"/>
            </a:xfrm>
            <a:custGeom>
              <a:avLst/>
              <a:gdLst/>
              <a:ahLst/>
              <a:cxnLst/>
              <a:rect l="l" t="t" r="r" b="b"/>
              <a:pathLst>
                <a:path w="158750" h="45085">
                  <a:moveTo>
                    <a:pt x="25298" y="19265"/>
                  </a:moveTo>
                  <a:lnTo>
                    <a:pt x="0" y="19265"/>
                  </a:lnTo>
                  <a:lnTo>
                    <a:pt x="0" y="25552"/>
                  </a:lnTo>
                  <a:lnTo>
                    <a:pt x="25298" y="25552"/>
                  </a:lnTo>
                  <a:lnTo>
                    <a:pt x="25298" y="19265"/>
                  </a:lnTo>
                  <a:close/>
                </a:path>
                <a:path w="158750" h="45085">
                  <a:moveTo>
                    <a:pt x="50673" y="19265"/>
                  </a:moveTo>
                  <a:lnTo>
                    <a:pt x="37858" y="19265"/>
                  </a:lnTo>
                  <a:lnTo>
                    <a:pt x="37858" y="25552"/>
                  </a:lnTo>
                  <a:lnTo>
                    <a:pt x="50673" y="25552"/>
                  </a:lnTo>
                  <a:lnTo>
                    <a:pt x="50673" y="19265"/>
                  </a:lnTo>
                  <a:close/>
                </a:path>
                <a:path w="158750" h="45085">
                  <a:moveTo>
                    <a:pt x="158419" y="25552"/>
                  </a:moveTo>
                  <a:lnTo>
                    <a:pt x="114071" y="0"/>
                  </a:lnTo>
                  <a:lnTo>
                    <a:pt x="114071" y="19265"/>
                  </a:lnTo>
                  <a:lnTo>
                    <a:pt x="101320" y="19265"/>
                  </a:lnTo>
                  <a:lnTo>
                    <a:pt x="101320" y="25552"/>
                  </a:lnTo>
                  <a:lnTo>
                    <a:pt x="114071" y="25552"/>
                  </a:lnTo>
                  <a:lnTo>
                    <a:pt x="114071" y="44602"/>
                  </a:lnTo>
                  <a:lnTo>
                    <a:pt x="158419" y="25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404927" y="1964766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69">
                  <a:moveTo>
                    <a:pt x="0" y="0"/>
                  </a:moveTo>
                  <a:lnTo>
                    <a:pt x="0" y="292901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7414351" y="2267305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 h="0">
                  <a:moveTo>
                    <a:pt x="0" y="0"/>
                  </a:moveTo>
                  <a:lnTo>
                    <a:pt x="202793" y="0"/>
                  </a:lnTo>
                </a:path>
              </a:pathLst>
            </a:custGeom>
            <a:ln w="628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7635998" y="2257668"/>
              <a:ext cx="26034" cy="13335"/>
            </a:xfrm>
            <a:custGeom>
              <a:avLst/>
              <a:gdLst/>
              <a:ahLst/>
              <a:cxnLst/>
              <a:rect l="l" t="t" r="r" b="b"/>
              <a:pathLst>
                <a:path w="26034" h="13335">
                  <a:moveTo>
                    <a:pt x="25544" y="0"/>
                  </a:moveTo>
                  <a:lnTo>
                    <a:pt x="19052" y="0"/>
                  </a:lnTo>
                  <a:lnTo>
                    <a:pt x="19052" y="6494"/>
                  </a:lnTo>
                  <a:lnTo>
                    <a:pt x="0" y="6494"/>
                  </a:lnTo>
                  <a:lnTo>
                    <a:pt x="0" y="12777"/>
                  </a:lnTo>
                  <a:lnTo>
                    <a:pt x="19052" y="12777"/>
                  </a:lnTo>
                  <a:lnTo>
                    <a:pt x="25544" y="6494"/>
                  </a:lnTo>
                  <a:lnTo>
                    <a:pt x="255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7658294" y="1990311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04"/>
                  </a:lnTo>
                </a:path>
              </a:pathLst>
            </a:custGeom>
            <a:ln w="648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7635998" y="1964772"/>
              <a:ext cx="26034" cy="6350"/>
            </a:xfrm>
            <a:custGeom>
              <a:avLst/>
              <a:gdLst/>
              <a:ahLst/>
              <a:cxnLst/>
              <a:rect l="l" t="t" r="r" b="b"/>
              <a:pathLst>
                <a:path w="26034" h="6350">
                  <a:moveTo>
                    <a:pt x="19052" y="0"/>
                  </a:moveTo>
                  <a:lnTo>
                    <a:pt x="0" y="0"/>
                  </a:lnTo>
                  <a:lnTo>
                    <a:pt x="0" y="6283"/>
                  </a:lnTo>
                  <a:lnTo>
                    <a:pt x="19052" y="6283"/>
                  </a:lnTo>
                  <a:lnTo>
                    <a:pt x="19052" y="0"/>
                  </a:lnTo>
                  <a:close/>
                </a:path>
                <a:path w="26034" h="6350">
                  <a:moveTo>
                    <a:pt x="25544" y="0"/>
                  </a:moveTo>
                  <a:lnTo>
                    <a:pt x="19052" y="0"/>
                  </a:lnTo>
                  <a:lnTo>
                    <a:pt x="19052" y="6283"/>
                  </a:lnTo>
                  <a:lnTo>
                    <a:pt x="25544" y="6283"/>
                  </a:lnTo>
                  <a:lnTo>
                    <a:pt x="255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7414351" y="1967915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 h="0">
                  <a:moveTo>
                    <a:pt x="0" y="0"/>
                  </a:moveTo>
                  <a:lnTo>
                    <a:pt x="202793" y="0"/>
                  </a:lnTo>
                </a:path>
              </a:pathLst>
            </a:custGeom>
            <a:ln w="628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 txBox="1"/>
          <p:nvPr/>
        </p:nvSpPr>
        <p:spPr>
          <a:xfrm>
            <a:off x="7408067" y="2028488"/>
            <a:ext cx="21082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62865" indent="5715">
              <a:lnSpc>
                <a:spcPts val="60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45">
                <a:latin typeface="Arial MT"/>
                <a:cs typeface="Arial MT"/>
              </a:rPr>
              <a:t>mem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54" name="object 154" descr=""/>
          <p:cNvGrpSpPr/>
          <p:nvPr/>
        </p:nvGrpSpPr>
        <p:grpSpPr>
          <a:xfrm>
            <a:off x="7655050" y="1961591"/>
            <a:ext cx="412115" cy="309245"/>
            <a:chOff x="7655050" y="1961591"/>
            <a:chExt cx="412115" cy="309245"/>
          </a:xfrm>
        </p:grpSpPr>
        <p:sp>
          <p:nvSpPr>
            <p:cNvPr id="155" name="object 155" descr=""/>
            <p:cNvSpPr/>
            <p:nvPr/>
          </p:nvSpPr>
          <p:spPr>
            <a:xfrm>
              <a:off x="7655039" y="2092065"/>
              <a:ext cx="158750" cy="45085"/>
            </a:xfrm>
            <a:custGeom>
              <a:avLst/>
              <a:gdLst/>
              <a:ahLst/>
              <a:cxnLst/>
              <a:rect l="l" t="t" r="r" b="b"/>
              <a:pathLst>
                <a:path w="158750" h="45085">
                  <a:moveTo>
                    <a:pt x="25298" y="19265"/>
                  </a:moveTo>
                  <a:lnTo>
                    <a:pt x="0" y="19265"/>
                  </a:lnTo>
                  <a:lnTo>
                    <a:pt x="0" y="25552"/>
                  </a:lnTo>
                  <a:lnTo>
                    <a:pt x="25298" y="25552"/>
                  </a:lnTo>
                  <a:lnTo>
                    <a:pt x="25298" y="19265"/>
                  </a:lnTo>
                  <a:close/>
                </a:path>
                <a:path w="158750" h="45085">
                  <a:moveTo>
                    <a:pt x="50673" y="19265"/>
                  </a:moveTo>
                  <a:lnTo>
                    <a:pt x="38112" y="19265"/>
                  </a:lnTo>
                  <a:lnTo>
                    <a:pt x="38112" y="25552"/>
                  </a:lnTo>
                  <a:lnTo>
                    <a:pt x="50673" y="25552"/>
                  </a:lnTo>
                  <a:lnTo>
                    <a:pt x="50673" y="19265"/>
                  </a:lnTo>
                  <a:close/>
                </a:path>
                <a:path w="158750" h="45085">
                  <a:moveTo>
                    <a:pt x="158419" y="25552"/>
                  </a:moveTo>
                  <a:lnTo>
                    <a:pt x="114071" y="0"/>
                  </a:lnTo>
                  <a:lnTo>
                    <a:pt x="114071" y="19265"/>
                  </a:lnTo>
                  <a:lnTo>
                    <a:pt x="101536" y="19265"/>
                  </a:lnTo>
                  <a:lnTo>
                    <a:pt x="101536" y="25552"/>
                  </a:lnTo>
                  <a:lnTo>
                    <a:pt x="114071" y="25552"/>
                  </a:lnTo>
                  <a:lnTo>
                    <a:pt x="114071" y="44602"/>
                  </a:lnTo>
                  <a:lnTo>
                    <a:pt x="158419" y="255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7810366" y="1964766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69">
                  <a:moveTo>
                    <a:pt x="0" y="0"/>
                  </a:moveTo>
                  <a:lnTo>
                    <a:pt x="0" y="292901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7819704" y="2267305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 h="0">
                  <a:moveTo>
                    <a:pt x="0" y="0"/>
                  </a:moveTo>
                  <a:lnTo>
                    <a:pt x="202878" y="0"/>
                  </a:lnTo>
                </a:path>
              </a:pathLst>
            </a:custGeom>
            <a:ln w="628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8041604" y="2257668"/>
              <a:ext cx="25400" cy="13335"/>
            </a:xfrm>
            <a:custGeom>
              <a:avLst/>
              <a:gdLst/>
              <a:ahLst/>
              <a:cxnLst/>
              <a:rect l="l" t="t" r="r" b="b"/>
              <a:pathLst>
                <a:path w="25400" h="13335">
                  <a:moveTo>
                    <a:pt x="25293" y="0"/>
                  </a:moveTo>
                  <a:lnTo>
                    <a:pt x="18801" y="0"/>
                  </a:lnTo>
                  <a:lnTo>
                    <a:pt x="18801" y="6494"/>
                  </a:lnTo>
                  <a:lnTo>
                    <a:pt x="0" y="6494"/>
                  </a:lnTo>
                  <a:lnTo>
                    <a:pt x="0" y="12777"/>
                  </a:lnTo>
                  <a:lnTo>
                    <a:pt x="18801" y="12777"/>
                  </a:lnTo>
                  <a:lnTo>
                    <a:pt x="25293" y="6494"/>
                  </a:lnTo>
                  <a:lnTo>
                    <a:pt x="252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8063649" y="1990311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04"/>
                  </a:lnTo>
                </a:path>
              </a:pathLst>
            </a:custGeom>
            <a:ln w="648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8041604" y="1964772"/>
              <a:ext cx="25400" cy="6350"/>
            </a:xfrm>
            <a:custGeom>
              <a:avLst/>
              <a:gdLst/>
              <a:ahLst/>
              <a:cxnLst/>
              <a:rect l="l" t="t" r="r" b="b"/>
              <a:pathLst>
                <a:path w="25400" h="6350">
                  <a:moveTo>
                    <a:pt x="18801" y="0"/>
                  </a:moveTo>
                  <a:lnTo>
                    <a:pt x="0" y="0"/>
                  </a:lnTo>
                  <a:lnTo>
                    <a:pt x="0" y="6283"/>
                  </a:lnTo>
                  <a:lnTo>
                    <a:pt x="18801" y="6283"/>
                  </a:lnTo>
                  <a:lnTo>
                    <a:pt x="18801" y="0"/>
                  </a:lnTo>
                  <a:close/>
                </a:path>
                <a:path w="25400" h="6350">
                  <a:moveTo>
                    <a:pt x="25293" y="0"/>
                  </a:moveTo>
                  <a:lnTo>
                    <a:pt x="18801" y="0"/>
                  </a:lnTo>
                  <a:lnTo>
                    <a:pt x="18801" y="6283"/>
                  </a:lnTo>
                  <a:lnTo>
                    <a:pt x="25293" y="6283"/>
                  </a:lnTo>
                  <a:lnTo>
                    <a:pt x="252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819704" y="1967915"/>
              <a:ext cx="203200" cy="0"/>
            </a:xfrm>
            <a:custGeom>
              <a:avLst/>
              <a:gdLst/>
              <a:ahLst/>
              <a:cxnLst/>
              <a:rect l="l" t="t" r="r" b="b"/>
              <a:pathLst>
                <a:path w="203200" h="0">
                  <a:moveTo>
                    <a:pt x="0" y="0"/>
                  </a:moveTo>
                  <a:lnTo>
                    <a:pt x="202878" y="0"/>
                  </a:lnTo>
                </a:path>
              </a:pathLst>
            </a:custGeom>
            <a:ln w="628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2" name="object 162" descr=""/>
          <p:cNvSpPr txBox="1"/>
          <p:nvPr/>
        </p:nvSpPr>
        <p:spPr>
          <a:xfrm>
            <a:off x="7813506" y="2028488"/>
            <a:ext cx="20955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94615" marR="3810" indent="-19050">
              <a:lnSpc>
                <a:spcPts val="600"/>
              </a:lnSpc>
              <a:spcBef>
                <a:spcPts val="170"/>
              </a:spcBef>
            </a:pPr>
            <a:r>
              <a:rPr dirty="0" sz="550" spc="-2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63" name="object 163" descr=""/>
          <p:cNvSpPr/>
          <p:nvPr/>
        </p:nvSpPr>
        <p:spPr>
          <a:xfrm>
            <a:off x="7350950" y="1964773"/>
            <a:ext cx="1925955" cy="306070"/>
          </a:xfrm>
          <a:custGeom>
            <a:avLst/>
            <a:gdLst/>
            <a:ahLst/>
            <a:cxnLst/>
            <a:rect l="l" t="t" r="r" b="b"/>
            <a:pathLst>
              <a:path w="1925954" h="306069">
                <a:moveTo>
                  <a:pt x="57073" y="152844"/>
                </a:moveTo>
                <a:lnTo>
                  <a:pt x="12725" y="127292"/>
                </a:lnTo>
                <a:lnTo>
                  <a:pt x="12725" y="146558"/>
                </a:lnTo>
                <a:lnTo>
                  <a:pt x="0" y="146558"/>
                </a:lnTo>
                <a:lnTo>
                  <a:pt x="0" y="152844"/>
                </a:lnTo>
                <a:lnTo>
                  <a:pt x="12725" y="152844"/>
                </a:lnTo>
                <a:lnTo>
                  <a:pt x="12725" y="171894"/>
                </a:lnTo>
                <a:lnTo>
                  <a:pt x="57073" y="152844"/>
                </a:lnTo>
                <a:close/>
              </a:path>
              <a:path w="1925954" h="306069">
                <a:moveTo>
                  <a:pt x="734999" y="50876"/>
                </a:moveTo>
                <a:lnTo>
                  <a:pt x="709447" y="50876"/>
                </a:lnTo>
                <a:lnTo>
                  <a:pt x="709447" y="57365"/>
                </a:lnTo>
                <a:lnTo>
                  <a:pt x="734999" y="57365"/>
                </a:lnTo>
                <a:lnTo>
                  <a:pt x="734999" y="50876"/>
                </a:lnTo>
                <a:close/>
              </a:path>
              <a:path w="1925954" h="306069">
                <a:moveTo>
                  <a:pt x="760374" y="50876"/>
                </a:moveTo>
                <a:lnTo>
                  <a:pt x="747560" y="50876"/>
                </a:lnTo>
                <a:lnTo>
                  <a:pt x="747560" y="57365"/>
                </a:lnTo>
                <a:lnTo>
                  <a:pt x="760374" y="57365"/>
                </a:lnTo>
                <a:lnTo>
                  <a:pt x="760374" y="50876"/>
                </a:lnTo>
                <a:close/>
              </a:path>
              <a:path w="1925954" h="306069">
                <a:moveTo>
                  <a:pt x="855383" y="280339"/>
                </a:moveTo>
                <a:lnTo>
                  <a:pt x="848893" y="273850"/>
                </a:lnTo>
                <a:lnTo>
                  <a:pt x="848893" y="299389"/>
                </a:lnTo>
                <a:lnTo>
                  <a:pt x="855383" y="296113"/>
                </a:lnTo>
                <a:lnTo>
                  <a:pt x="855383" y="280339"/>
                </a:lnTo>
                <a:close/>
              </a:path>
              <a:path w="1925954" h="306069">
                <a:moveTo>
                  <a:pt x="855383" y="235750"/>
                </a:moveTo>
                <a:lnTo>
                  <a:pt x="848893" y="229260"/>
                </a:lnTo>
                <a:lnTo>
                  <a:pt x="848893" y="261086"/>
                </a:lnTo>
                <a:lnTo>
                  <a:pt x="855383" y="261086"/>
                </a:lnTo>
                <a:lnTo>
                  <a:pt x="855383" y="235750"/>
                </a:lnTo>
                <a:close/>
              </a:path>
              <a:path w="1925954" h="306069">
                <a:moveTo>
                  <a:pt x="855383" y="12776"/>
                </a:moveTo>
                <a:lnTo>
                  <a:pt x="848893" y="6286"/>
                </a:lnTo>
                <a:lnTo>
                  <a:pt x="848893" y="38112"/>
                </a:lnTo>
                <a:lnTo>
                  <a:pt x="855383" y="38112"/>
                </a:lnTo>
                <a:lnTo>
                  <a:pt x="855383" y="12776"/>
                </a:lnTo>
                <a:close/>
              </a:path>
              <a:path w="1925954" h="306069">
                <a:moveTo>
                  <a:pt x="861326" y="299389"/>
                </a:moveTo>
                <a:lnTo>
                  <a:pt x="855383" y="299389"/>
                </a:lnTo>
                <a:lnTo>
                  <a:pt x="848893" y="299389"/>
                </a:lnTo>
                <a:lnTo>
                  <a:pt x="848893" y="305676"/>
                </a:lnTo>
                <a:lnTo>
                  <a:pt x="861326" y="299389"/>
                </a:lnTo>
                <a:close/>
              </a:path>
              <a:path w="1925954" h="306069">
                <a:moveTo>
                  <a:pt x="867943" y="50876"/>
                </a:moveTo>
                <a:lnTo>
                  <a:pt x="823518" y="31826"/>
                </a:lnTo>
                <a:lnTo>
                  <a:pt x="823518" y="50876"/>
                </a:lnTo>
                <a:lnTo>
                  <a:pt x="811022" y="50876"/>
                </a:lnTo>
                <a:lnTo>
                  <a:pt x="811022" y="57365"/>
                </a:lnTo>
                <a:lnTo>
                  <a:pt x="823518" y="57365"/>
                </a:lnTo>
                <a:lnTo>
                  <a:pt x="823518" y="76428"/>
                </a:lnTo>
                <a:lnTo>
                  <a:pt x="848893" y="61836"/>
                </a:lnTo>
                <a:lnTo>
                  <a:pt x="848893" y="82702"/>
                </a:lnTo>
                <a:lnTo>
                  <a:pt x="855383" y="82702"/>
                </a:lnTo>
                <a:lnTo>
                  <a:pt x="855383" y="58102"/>
                </a:lnTo>
                <a:lnTo>
                  <a:pt x="867943" y="50876"/>
                </a:lnTo>
                <a:close/>
              </a:path>
              <a:path w="1925954" h="306069">
                <a:moveTo>
                  <a:pt x="874191" y="286626"/>
                </a:moveTo>
                <a:lnTo>
                  <a:pt x="855383" y="296113"/>
                </a:lnTo>
                <a:lnTo>
                  <a:pt x="867816" y="296113"/>
                </a:lnTo>
                <a:lnTo>
                  <a:pt x="874191" y="292900"/>
                </a:lnTo>
                <a:lnTo>
                  <a:pt x="874191" y="286626"/>
                </a:lnTo>
                <a:close/>
              </a:path>
              <a:path w="1925954" h="306069">
                <a:moveTo>
                  <a:pt x="874191" y="184658"/>
                </a:moveTo>
                <a:lnTo>
                  <a:pt x="867943" y="178384"/>
                </a:lnTo>
                <a:lnTo>
                  <a:pt x="848893" y="197434"/>
                </a:lnTo>
                <a:lnTo>
                  <a:pt x="848893" y="203708"/>
                </a:lnTo>
                <a:lnTo>
                  <a:pt x="848893" y="216484"/>
                </a:lnTo>
                <a:lnTo>
                  <a:pt x="855383" y="216484"/>
                </a:lnTo>
                <a:lnTo>
                  <a:pt x="855383" y="197434"/>
                </a:lnTo>
                <a:lnTo>
                  <a:pt x="855167" y="197434"/>
                </a:lnTo>
                <a:lnTo>
                  <a:pt x="867943" y="184658"/>
                </a:lnTo>
                <a:lnTo>
                  <a:pt x="874191" y="184658"/>
                </a:lnTo>
                <a:close/>
              </a:path>
              <a:path w="1925954" h="306069">
                <a:moveTo>
                  <a:pt x="874191" y="108242"/>
                </a:moveTo>
                <a:lnTo>
                  <a:pt x="867943" y="108242"/>
                </a:lnTo>
                <a:lnTo>
                  <a:pt x="848893" y="95478"/>
                </a:lnTo>
                <a:lnTo>
                  <a:pt x="848893" y="101955"/>
                </a:lnTo>
                <a:lnTo>
                  <a:pt x="867943" y="114731"/>
                </a:lnTo>
                <a:lnTo>
                  <a:pt x="874191" y="108242"/>
                </a:lnTo>
                <a:close/>
              </a:path>
              <a:path w="1925954" h="306069">
                <a:moveTo>
                  <a:pt x="886917" y="6286"/>
                </a:moveTo>
                <a:lnTo>
                  <a:pt x="880681" y="6286"/>
                </a:lnTo>
                <a:lnTo>
                  <a:pt x="855383" y="0"/>
                </a:lnTo>
                <a:lnTo>
                  <a:pt x="855383" y="6286"/>
                </a:lnTo>
                <a:lnTo>
                  <a:pt x="880681" y="12776"/>
                </a:lnTo>
                <a:lnTo>
                  <a:pt x="886917" y="6286"/>
                </a:lnTo>
                <a:close/>
              </a:path>
              <a:path w="1925954" h="306069">
                <a:moveTo>
                  <a:pt x="912291" y="159321"/>
                </a:moveTo>
                <a:lnTo>
                  <a:pt x="905967" y="152844"/>
                </a:lnTo>
                <a:lnTo>
                  <a:pt x="886917" y="171894"/>
                </a:lnTo>
                <a:lnTo>
                  <a:pt x="880681" y="171894"/>
                </a:lnTo>
                <a:lnTo>
                  <a:pt x="886917" y="178384"/>
                </a:lnTo>
                <a:lnTo>
                  <a:pt x="905967" y="159321"/>
                </a:lnTo>
                <a:lnTo>
                  <a:pt x="912291" y="159321"/>
                </a:lnTo>
                <a:close/>
              </a:path>
              <a:path w="1925954" h="306069">
                <a:moveTo>
                  <a:pt x="912291" y="133794"/>
                </a:moveTo>
                <a:lnTo>
                  <a:pt x="905967" y="133794"/>
                </a:lnTo>
                <a:lnTo>
                  <a:pt x="886917" y="114731"/>
                </a:lnTo>
                <a:lnTo>
                  <a:pt x="880681" y="121005"/>
                </a:lnTo>
                <a:lnTo>
                  <a:pt x="886917" y="121005"/>
                </a:lnTo>
                <a:lnTo>
                  <a:pt x="905967" y="140068"/>
                </a:lnTo>
                <a:lnTo>
                  <a:pt x="912291" y="133794"/>
                </a:lnTo>
                <a:close/>
              </a:path>
              <a:path w="1925954" h="306069">
                <a:moveTo>
                  <a:pt x="918540" y="273850"/>
                </a:moveTo>
                <a:lnTo>
                  <a:pt x="893241" y="286626"/>
                </a:lnTo>
                <a:lnTo>
                  <a:pt x="886917" y="286626"/>
                </a:lnTo>
                <a:lnTo>
                  <a:pt x="893241" y="292900"/>
                </a:lnTo>
                <a:lnTo>
                  <a:pt x="918540" y="280339"/>
                </a:lnTo>
                <a:lnTo>
                  <a:pt x="918540" y="273850"/>
                </a:lnTo>
                <a:close/>
              </a:path>
              <a:path w="1925954" h="306069">
                <a:moveTo>
                  <a:pt x="925029" y="140068"/>
                </a:moveTo>
                <a:lnTo>
                  <a:pt x="918540" y="146558"/>
                </a:lnTo>
                <a:lnTo>
                  <a:pt x="925029" y="152844"/>
                </a:lnTo>
                <a:lnTo>
                  <a:pt x="925029" y="146558"/>
                </a:lnTo>
                <a:lnTo>
                  <a:pt x="925029" y="140068"/>
                </a:lnTo>
                <a:close/>
              </a:path>
              <a:path w="1925954" h="306069">
                <a:moveTo>
                  <a:pt x="925029" y="19050"/>
                </a:moveTo>
                <a:lnTo>
                  <a:pt x="899731" y="12776"/>
                </a:lnTo>
                <a:lnTo>
                  <a:pt x="899731" y="19050"/>
                </a:lnTo>
                <a:lnTo>
                  <a:pt x="925029" y="25539"/>
                </a:lnTo>
                <a:lnTo>
                  <a:pt x="925029" y="19050"/>
                </a:lnTo>
                <a:close/>
              </a:path>
              <a:path w="1925954" h="306069">
                <a:moveTo>
                  <a:pt x="962964" y="267576"/>
                </a:moveTo>
                <a:lnTo>
                  <a:pt x="956640" y="267576"/>
                </a:lnTo>
                <a:lnTo>
                  <a:pt x="931354" y="273850"/>
                </a:lnTo>
                <a:lnTo>
                  <a:pt x="931354" y="280339"/>
                </a:lnTo>
                <a:lnTo>
                  <a:pt x="956640" y="273850"/>
                </a:lnTo>
                <a:lnTo>
                  <a:pt x="962964" y="267576"/>
                </a:lnTo>
                <a:close/>
              </a:path>
              <a:path w="1925954" h="306069">
                <a:moveTo>
                  <a:pt x="969200" y="31826"/>
                </a:moveTo>
                <a:lnTo>
                  <a:pt x="943914" y="25539"/>
                </a:lnTo>
                <a:lnTo>
                  <a:pt x="937590" y="25539"/>
                </a:lnTo>
                <a:lnTo>
                  <a:pt x="943914" y="31826"/>
                </a:lnTo>
                <a:lnTo>
                  <a:pt x="969200" y="38112"/>
                </a:lnTo>
                <a:lnTo>
                  <a:pt x="969200" y="31826"/>
                </a:lnTo>
                <a:close/>
              </a:path>
              <a:path w="1925954" h="306069">
                <a:moveTo>
                  <a:pt x="1007313" y="254800"/>
                </a:moveTo>
                <a:lnTo>
                  <a:pt x="1000988" y="254800"/>
                </a:lnTo>
                <a:lnTo>
                  <a:pt x="975690" y="261086"/>
                </a:lnTo>
                <a:lnTo>
                  <a:pt x="975690" y="267576"/>
                </a:lnTo>
                <a:lnTo>
                  <a:pt x="1000988" y="261086"/>
                </a:lnTo>
                <a:lnTo>
                  <a:pt x="1007313" y="254800"/>
                </a:lnTo>
                <a:close/>
              </a:path>
              <a:path w="1925954" h="306069">
                <a:moveTo>
                  <a:pt x="1013548" y="44589"/>
                </a:moveTo>
                <a:lnTo>
                  <a:pt x="1007313" y="44589"/>
                </a:lnTo>
                <a:lnTo>
                  <a:pt x="988263" y="38112"/>
                </a:lnTo>
                <a:lnTo>
                  <a:pt x="981938" y="38112"/>
                </a:lnTo>
                <a:lnTo>
                  <a:pt x="988263" y="44589"/>
                </a:lnTo>
                <a:lnTo>
                  <a:pt x="1007313" y="50876"/>
                </a:lnTo>
                <a:lnTo>
                  <a:pt x="1013548" y="44589"/>
                </a:lnTo>
                <a:close/>
              </a:path>
              <a:path w="1925954" h="306069">
                <a:moveTo>
                  <a:pt x="1045413" y="242023"/>
                </a:moveTo>
                <a:lnTo>
                  <a:pt x="1020038" y="248310"/>
                </a:lnTo>
                <a:lnTo>
                  <a:pt x="1013548" y="248310"/>
                </a:lnTo>
                <a:lnTo>
                  <a:pt x="1020038" y="254800"/>
                </a:lnTo>
                <a:lnTo>
                  <a:pt x="1045413" y="248310"/>
                </a:lnTo>
                <a:lnTo>
                  <a:pt x="1045413" y="242023"/>
                </a:lnTo>
                <a:close/>
              </a:path>
              <a:path w="1925954" h="306069">
                <a:moveTo>
                  <a:pt x="1057973" y="57365"/>
                </a:moveTo>
                <a:lnTo>
                  <a:pt x="1051661" y="57365"/>
                </a:lnTo>
                <a:lnTo>
                  <a:pt x="1026363" y="50876"/>
                </a:lnTo>
                <a:lnTo>
                  <a:pt x="1026363" y="57365"/>
                </a:lnTo>
                <a:lnTo>
                  <a:pt x="1051661" y="63639"/>
                </a:lnTo>
                <a:lnTo>
                  <a:pt x="1057973" y="57365"/>
                </a:lnTo>
                <a:close/>
              </a:path>
              <a:path w="1925954" h="306069">
                <a:moveTo>
                  <a:pt x="1089761" y="229260"/>
                </a:moveTo>
                <a:lnTo>
                  <a:pt x="1083271" y="229260"/>
                </a:lnTo>
                <a:lnTo>
                  <a:pt x="1064221" y="235750"/>
                </a:lnTo>
                <a:lnTo>
                  <a:pt x="1057973" y="235750"/>
                </a:lnTo>
                <a:lnTo>
                  <a:pt x="1064221" y="242023"/>
                </a:lnTo>
                <a:lnTo>
                  <a:pt x="1083271" y="235750"/>
                </a:lnTo>
                <a:lnTo>
                  <a:pt x="1089761" y="229260"/>
                </a:lnTo>
                <a:close/>
              </a:path>
              <a:path w="1925954" h="306069">
                <a:moveTo>
                  <a:pt x="1095997" y="70142"/>
                </a:moveTo>
                <a:lnTo>
                  <a:pt x="1070711" y="57365"/>
                </a:lnTo>
                <a:lnTo>
                  <a:pt x="1064221" y="63639"/>
                </a:lnTo>
                <a:lnTo>
                  <a:pt x="1070711" y="63639"/>
                </a:lnTo>
                <a:lnTo>
                  <a:pt x="1095997" y="76428"/>
                </a:lnTo>
                <a:lnTo>
                  <a:pt x="1095997" y="70142"/>
                </a:lnTo>
                <a:close/>
              </a:path>
              <a:path w="1925954" h="306069">
                <a:moveTo>
                  <a:pt x="1115060" y="70142"/>
                </a:moveTo>
                <a:lnTo>
                  <a:pt x="1108570" y="76428"/>
                </a:lnTo>
                <a:lnTo>
                  <a:pt x="1115060" y="76428"/>
                </a:lnTo>
                <a:lnTo>
                  <a:pt x="1115060" y="70142"/>
                </a:lnTo>
                <a:close/>
              </a:path>
              <a:path w="1925954" h="306069">
                <a:moveTo>
                  <a:pt x="1121384" y="210210"/>
                </a:moveTo>
                <a:lnTo>
                  <a:pt x="1115060" y="203708"/>
                </a:lnTo>
                <a:lnTo>
                  <a:pt x="1115060" y="222973"/>
                </a:lnTo>
                <a:lnTo>
                  <a:pt x="1102321" y="222973"/>
                </a:lnTo>
                <a:lnTo>
                  <a:pt x="1102321" y="229260"/>
                </a:lnTo>
                <a:lnTo>
                  <a:pt x="1115060" y="229260"/>
                </a:lnTo>
                <a:lnTo>
                  <a:pt x="1121384" y="222973"/>
                </a:lnTo>
                <a:lnTo>
                  <a:pt x="1121384" y="210210"/>
                </a:lnTo>
                <a:close/>
              </a:path>
              <a:path w="1925954" h="306069">
                <a:moveTo>
                  <a:pt x="1121384" y="165608"/>
                </a:moveTo>
                <a:lnTo>
                  <a:pt x="1115060" y="159321"/>
                </a:lnTo>
                <a:lnTo>
                  <a:pt x="1115060" y="191160"/>
                </a:lnTo>
                <a:lnTo>
                  <a:pt x="1121384" y="191160"/>
                </a:lnTo>
                <a:lnTo>
                  <a:pt x="1121384" y="165608"/>
                </a:lnTo>
                <a:close/>
              </a:path>
              <a:path w="1925954" h="306069">
                <a:moveTo>
                  <a:pt x="1121384" y="121005"/>
                </a:moveTo>
                <a:lnTo>
                  <a:pt x="1115060" y="114731"/>
                </a:lnTo>
                <a:lnTo>
                  <a:pt x="1115060" y="146558"/>
                </a:lnTo>
                <a:lnTo>
                  <a:pt x="1121384" y="146558"/>
                </a:lnTo>
                <a:lnTo>
                  <a:pt x="1121384" y="121005"/>
                </a:lnTo>
                <a:close/>
              </a:path>
              <a:path w="1925954" h="306069">
                <a:moveTo>
                  <a:pt x="1121384" y="76428"/>
                </a:moveTo>
                <a:lnTo>
                  <a:pt x="1115060" y="76428"/>
                </a:lnTo>
                <a:lnTo>
                  <a:pt x="1115060" y="101955"/>
                </a:lnTo>
                <a:lnTo>
                  <a:pt x="1121384" y="101955"/>
                </a:lnTo>
                <a:lnTo>
                  <a:pt x="1121384" y="76428"/>
                </a:lnTo>
                <a:close/>
              </a:path>
              <a:path w="1925954" h="306069">
                <a:moveTo>
                  <a:pt x="1925853" y="286626"/>
                </a:moveTo>
                <a:lnTo>
                  <a:pt x="1919605" y="286626"/>
                </a:lnTo>
                <a:lnTo>
                  <a:pt x="1919605" y="299389"/>
                </a:lnTo>
                <a:lnTo>
                  <a:pt x="1906790" y="299389"/>
                </a:lnTo>
                <a:lnTo>
                  <a:pt x="1906790" y="305676"/>
                </a:lnTo>
                <a:lnTo>
                  <a:pt x="1919605" y="305676"/>
                </a:lnTo>
                <a:lnTo>
                  <a:pt x="1925853" y="299389"/>
                </a:lnTo>
                <a:lnTo>
                  <a:pt x="1925853" y="2866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 descr=""/>
          <p:cNvSpPr txBox="1"/>
          <p:nvPr/>
        </p:nvSpPr>
        <p:spPr>
          <a:xfrm>
            <a:off x="9026619" y="1967915"/>
            <a:ext cx="247650" cy="299720"/>
          </a:xfrm>
          <a:prstGeom prst="rect">
            <a:avLst/>
          </a:prstGeom>
          <a:ln w="6278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550">
              <a:latin typeface="Times New Roman"/>
              <a:cs typeface="Times New Roman"/>
            </a:endParaRPr>
          </a:p>
          <a:p>
            <a:pPr marL="97790" marR="38735" indent="-19050">
              <a:lnSpc>
                <a:spcPts val="600"/>
              </a:lnSpc>
            </a:pPr>
            <a:r>
              <a:rPr dirty="0" sz="550" spc="-2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65" name="object 165" descr=""/>
          <p:cNvSpPr txBox="1"/>
          <p:nvPr/>
        </p:nvSpPr>
        <p:spPr>
          <a:xfrm>
            <a:off x="8295053" y="2079361"/>
            <a:ext cx="152400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66" name="object 166" descr=""/>
          <p:cNvGrpSpPr/>
          <p:nvPr/>
        </p:nvGrpSpPr>
        <p:grpSpPr>
          <a:xfrm>
            <a:off x="7705471" y="1404264"/>
            <a:ext cx="1419225" cy="968375"/>
            <a:chOff x="7705471" y="1404264"/>
            <a:chExt cx="1419225" cy="968375"/>
          </a:xfrm>
        </p:grpSpPr>
        <p:sp>
          <p:nvSpPr>
            <p:cNvPr id="167" name="object 167" descr=""/>
            <p:cNvSpPr/>
            <p:nvPr/>
          </p:nvSpPr>
          <p:spPr>
            <a:xfrm>
              <a:off x="7708964" y="1958490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69">
                  <a:moveTo>
                    <a:pt x="0" y="0"/>
                  </a:moveTo>
                  <a:lnTo>
                    <a:pt x="0" y="292903"/>
                  </a:lnTo>
                </a:path>
              </a:pathLst>
            </a:custGeom>
            <a:ln w="6487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7718450" y="2225859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323" y="31813"/>
                  </a:moveTo>
                  <a:lnTo>
                    <a:pt x="0" y="31813"/>
                  </a:lnTo>
                  <a:lnTo>
                    <a:pt x="0" y="38303"/>
                  </a:lnTo>
                  <a:lnTo>
                    <a:pt x="25323" y="38303"/>
                  </a:lnTo>
                  <a:lnTo>
                    <a:pt x="25323" y="31813"/>
                  </a:lnTo>
                  <a:close/>
                </a:path>
                <a:path w="44450" h="38735">
                  <a:moveTo>
                    <a:pt x="44373" y="0"/>
                  </a:moveTo>
                  <a:lnTo>
                    <a:pt x="38100" y="0"/>
                  </a:lnTo>
                  <a:lnTo>
                    <a:pt x="38100" y="25539"/>
                  </a:lnTo>
                  <a:lnTo>
                    <a:pt x="44373" y="25539"/>
                  </a:lnTo>
                  <a:lnTo>
                    <a:pt x="443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7759697" y="1958490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05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7712126" y="1958499"/>
              <a:ext cx="810895" cy="32384"/>
            </a:xfrm>
            <a:custGeom>
              <a:avLst/>
              <a:gdLst/>
              <a:ahLst/>
              <a:cxnLst/>
              <a:rect l="l" t="t" r="r" b="b"/>
              <a:pathLst>
                <a:path w="810895" h="32385">
                  <a:moveTo>
                    <a:pt x="25323" y="0"/>
                  </a:moveTo>
                  <a:lnTo>
                    <a:pt x="0" y="0"/>
                  </a:lnTo>
                  <a:lnTo>
                    <a:pt x="0" y="6273"/>
                  </a:lnTo>
                  <a:lnTo>
                    <a:pt x="25323" y="6273"/>
                  </a:lnTo>
                  <a:lnTo>
                    <a:pt x="25323" y="0"/>
                  </a:lnTo>
                  <a:close/>
                </a:path>
                <a:path w="810895" h="32385">
                  <a:moveTo>
                    <a:pt x="810831" y="6273"/>
                  </a:moveTo>
                  <a:lnTo>
                    <a:pt x="804545" y="6273"/>
                  </a:lnTo>
                  <a:lnTo>
                    <a:pt x="804545" y="31813"/>
                  </a:lnTo>
                  <a:lnTo>
                    <a:pt x="810831" y="31813"/>
                  </a:lnTo>
                  <a:lnTo>
                    <a:pt x="810831" y="62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8519821" y="2009364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04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8529244" y="2232336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323" y="31838"/>
                  </a:moveTo>
                  <a:lnTo>
                    <a:pt x="0" y="31838"/>
                  </a:lnTo>
                  <a:lnTo>
                    <a:pt x="0" y="38112"/>
                  </a:lnTo>
                  <a:lnTo>
                    <a:pt x="25323" y="38112"/>
                  </a:lnTo>
                  <a:lnTo>
                    <a:pt x="25323" y="31838"/>
                  </a:lnTo>
                  <a:close/>
                </a:path>
                <a:path w="44450" h="38735">
                  <a:moveTo>
                    <a:pt x="44373" y="0"/>
                  </a:moveTo>
                  <a:lnTo>
                    <a:pt x="38100" y="0"/>
                  </a:lnTo>
                  <a:lnTo>
                    <a:pt x="38100" y="25336"/>
                  </a:lnTo>
                  <a:lnTo>
                    <a:pt x="44373" y="25336"/>
                  </a:lnTo>
                  <a:lnTo>
                    <a:pt x="443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8570490" y="1964766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13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8522995" y="1964773"/>
              <a:ext cx="405765" cy="26034"/>
            </a:xfrm>
            <a:custGeom>
              <a:avLst/>
              <a:gdLst/>
              <a:ahLst/>
              <a:cxnLst/>
              <a:rect l="l" t="t" r="r" b="b"/>
              <a:pathLst>
                <a:path w="405765" h="26035">
                  <a:moveTo>
                    <a:pt x="25323" y="12"/>
                  </a:moveTo>
                  <a:lnTo>
                    <a:pt x="0" y="12"/>
                  </a:lnTo>
                  <a:lnTo>
                    <a:pt x="0" y="6286"/>
                  </a:lnTo>
                  <a:lnTo>
                    <a:pt x="25323" y="6286"/>
                  </a:lnTo>
                  <a:lnTo>
                    <a:pt x="25323" y="12"/>
                  </a:lnTo>
                  <a:close/>
                </a:path>
                <a:path w="405765" h="26035">
                  <a:moveTo>
                    <a:pt x="405396" y="0"/>
                  </a:moveTo>
                  <a:lnTo>
                    <a:pt x="399122" y="0"/>
                  </a:lnTo>
                  <a:lnTo>
                    <a:pt x="399122" y="25539"/>
                  </a:lnTo>
                  <a:lnTo>
                    <a:pt x="405396" y="25539"/>
                  </a:lnTo>
                  <a:lnTo>
                    <a:pt x="4053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8925260" y="2009364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04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8934590" y="2232336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539" y="31838"/>
                  </a:moveTo>
                  <a:lnTo>
                    <a:pt x="0" y="31838"/>
                  </a:lnTo>
                  <a:lnTo>
                    <a:pt x="0" y="38112"/>
                  </a:lnTo>
                  <a:lnTo>
                    <a:pt x="25539" y="38112"/>
                  </a:lnTo>
                  <a:lnTo>
                    <a:pt x="25539" y="31838"/>
                  </a:lnTo>
                  <a:close/>
                </a:path>
                <a:path w="44450" h="38735">
                  <a:moveTo>
                    <a:pt x="44386" y="0"/>
                  </a:moveTo>
                  <a:lnTo>
                    <a:pt x="38112" y="0"/>
                  </a:lnTo>
                  <a:lnTo>
                    <a:pt x="38112" y="25336"/>
                  </a:lnTo>
                  <a:lnTo>
                    <a:pt x="44386" y="25336"/>
                  </a:lnTo>
                  <a:lnTo>
                    <a:pt x="44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8975845" y="1964766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13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8928360" y="1964775"/>
              <a:ext cx="25400" cy="6350"/>
            </a:xfrm>
            <a:custGeom>
              <a:avLst/>
              <a:gdLst/>
              <a:ahLst/>
              <a:cxnLst/>
              <a:rect l="l" t="t" r="r" b="b"/>
              <a:pathLst>
                <a:path w="25400" h="6350">
                  <a:moveTo>
                    <a:pt x="25324" y="0"/>
                  </a:moveTo>
                  <a:lnTo>
                    <a:pt x="0" y="0"/>
                  </a:lnTo>
                  <a:lnTo>
                    <a:pt x="0" y="6280"/>
                  </a:lnTo>
                  <a:lnTo>
                    <a:pt x="25324" y="6280"/>
                  </a:lnTo>
                  <a:lnTo>
                    <a:pt x="25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8161912" y="2060234"/>
              <a:ext cx="50800" cy="102235"/>
            </a:xfrm>
            <a:custGeom>
              <a:avLst/>
              <a:gdLst/>
              <a:ahLst/>
              <a:cxnLst/>
              <a:rect l="l" t="t" r="r" b="b"/>
              <a:pathLst>
                <a:path w="50800" h="102235">
                  <a:moveTo>
                    <a:pt x="50648" y="0"/>
                  </a:moveTo>
                  <a:lnTo>
                    <a:pt x="0" y="0"/>
                  </a:lnTo>
                  <a:lnTo>
                    <a:pt x="0" y="101964"/>
                  </a:lnTo>
                  <a:lnTo>
                    <a:pt x="50648" y="101964"/>
                  </a:lnTo>
                  <a:lnTo>
                    <a:pt x="506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8114466" y="1964766"/>
              <a:ext cx="0" cy="293370"/>
            </a:xfrm>
            <a:custGeom>
              <a:avLst/>
              <a:gdLst/>
              <a:ahLst/>
              <a:cxnLst/>
              <a:rect l="l" t="t" r="r" b="b"/>
              <a:pathLst>
                <a:path w="0" h="293369">
                  <a:moveTo>
                    <a:pt x="0" y="0"/>
                  </a:moveTo>
                  <a:lnTo>
                    <a:pt x="0" y="292901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8123796" y="2232336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323" y="31838"/>
                  </a:moveTo>
                  <a:lnTo>
                    <a:pt x="0" y="31838"/>
                  </a:lnTo>
                  <a:lnTo>
                    <a:pt x="0" y="38112"/>
                  </a:lnTo>
                  <a:lnTo>
                    <a:pt x="25323" y="38112"/>
                  </a:lnTo>
                  <a:lnTo>
                    <a:pt x="25323" y="31838"/>
                  </a:lnTo>
                  <a:close/>
                </a:path>
                <a:path w="44450" h="38735">
                  <a:moveTo>
                    <a:pt x="44386" y="0"/>
                  </a:moveTo>
                  <a:lnTo>
                    <a:pt x="38112" y="0"/>
                  </a:lnTo>
                  <a:lnTo>
                    <a:pt x="38112" y="25336"/>
                  </a:lnTo>
                  <a:lnTo>
                    <a:pt x="44386" y="25336"/>
                  </a:lnTo>
                  <a:lnTo>
                    <a:pt x="44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8165052" y="1964766"/>
              <a:ext cx="0" cy="248920"/>
            </a:xfrm>
            <a:custGeom>
              <a:avLst/>
              <a:gdLst/>
              <a:ahLst/>
              <a:cxnLst/>
              <a:rect l="l" t="t" r="r" b="b"/>
              <a:pathLst>
                <a:path w="0" h="248919">
                  <a:moveTo>
                    <a:pt x="0" y="0"/>
                  </a:moveTo>
                  <a:lnTo>
                    <a:pt x="0" y="248313"/>
                  </a:lnTo>
                </a:path>
              </a:pathLst>
            </a:custGeom>
            <a:ln w="6278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8117567" y="1964775"/>
              <a:ext cx="25400" cy="6350"/>
            </a:xfrm>
            <a:custGeom>
              <a:avLst/>
              <a:gdLst/>
              <a:ahLst/>
              <a:cxnLst/>
              <a:rect l="l" t="t" r="r" b="b"/>
              <a:pathLst>
                <a:path w="25400" h="6350">
                  <a:moveTo>
                    <a:pt x="25324" y="0"/>
                  </a:moveTo>
                  <a:lnTo>
                    <a:pt x="0" y="0"/>
                  </a:lnTo>
                  <a:lnTo>
                    <a:pt x="0" y="6280"/>
                  </a:lnTo>
                  <a:lnTo>
                    <a:pt x="25324" y="6280"/>
                  </a:lnTo>
                  <a:lnTo>
                    <a:pt x="253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8453272" y="1760849"/>
              <a:ext cx="196850" cy="612140"/>
            </a:xfrm>
            <a:custGeom>
              <a:avLst/>
              <a:gdLst/>
              <a:ahLst/>
              <a:cxnLst/>
              <a:rect l="l" t="t" r="r" b="b"/>
              <a:pathLst>
                <a:path w="196850" h="612139">
                  <a:moveTo>
                    <a:pt x="196278" y="484263"/>
                  </a:moveTo>
                  <a:lnTo>
                    <a:pt x="147053" y="495223"/>
                  </a:lnTo>
                  <a:lnTo>
                    <a:pt x="25298" y="0"/>
                  </a:lnTo>
                  <a:lnTo>
                    <a:pt x="0" y="6489"/>
                  </a:lnTo>
                  <a:lnTo>
                    <a:pt x="121361" y="500951"/>
                  </a:lnTo>
                  <a:lnTo>
                    <a:pt x="82461" y="509600"/>
                  </a:lnTo>
                  <a:lnTo>
                    <a:pt x="170980" y="611555"/>
                  </a:lnTo>
                  <a:lnTo>
                    <a:pt x="196278" y="48426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29867" y="1404264"/>
              <a:ext cx="94698" cy="356579"/>
            </a:xfrm>
            <a:prstGeom prst="rect">
              <a:avLst/>
            </a:prstGeom>
          </p:spPr>
        </p:pic>
      </p:grpSp>
      <p:sp>
        <p:nvSpPr>
          <p:cNvPr id="186" name="object 186" descr=""/>
          <p:cNvSpPr txBox="1"/>
          <p:nvPr/>
        </p:nvSpPr>
        <p:spPr>
          <a:xfrm>
            <a:off x="9181791" y="1525154"/>
            <a:ext cx="36893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70">
                <a:latin typeface="Arial MT"/>
                <a:cs typeface="Arial MT"/>
              </a:rPr>
              <a:t>Reorder?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87" name="object 187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88" name="object 188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0" name="object 190" descr=""/>
          <p:cNvSpPr/>
          <p:nvPr/>
        </p:nvSpPr>
        <p:spPr>
          <a:xfrm>
            <a:off x="412979" y="4370354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92" name="object 19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93" name="object 193" descr=""/>
          <p:cNvSpPr txBox="1"/>
          <p:nvPr/>
        </p:nvSpPr>
        <p:spPr>
          <a:xfrm>
            <a:off x="611714" y="4146223"/>
            <a:ext cx="213106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Control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Dependency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Pipeline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94" name="object 194" descr=""/>
          <p:cNvSpPr txBox="1"/>
          <p:nvPr/>
        </p:nvSpPr>
        <p:spPr>
          <a:xfrm>
            <a:off x="1368262" y="6444954"/>
            <a:ext cx="2899410" cy="208279"/>
          </a:xfrm>
          <a:prstGeom prst="rect">
            <a:avLst/>
          </a:prstGeom>
          <a:solidFill>
            <a:srgbClr val="CCFF99"/>
          </a:solidFill>
        </p:spPr>
        <p:txBody>
          <a:bodyPr wrap="square" lIns="0" tIns="4445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350"/>
              </a:spcBef>
            </a:pPr>
            <a:r>
              <a:rPr dirty="0" sz="850">
                <a:latin typeface="Arial MT"/>
                <a:cs typeface="Arial MT"/>
              </a:rPr>
              <a:t>Control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dependency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due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conditional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branch.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95" name="object 195" descr=""/>
          <p:cNvSpPr txBox="1"/>
          <p:nvPr/>
        </p:nvSpPr>
        <p:spPr>
          <a:xfrm>
            <a:off x="1498716" y="4584130"/>
            <a:ext cx="3011170" cy="1143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393700" algn="l"/>
                <a:tab pos="782320" algn="l"/>
                <a:tab pos="1176655" algn="l"/>
                <a:tab pos="1570355" algn="l"/>
                <a:tab pos="1964689" algn="l"/>
                <a:tab pos="2359025" algn="l"/>
                <a:tab pos="2747645" algn="l"/>
              </a:tabLst>
            </a:pPr>
            <a:r>
              <a:rPr dirty="0" sz="550">
                <a:latin typeface="Arial MT"/>
                <a:cs typeface="Arial MT"/>
              </a:rPr>
              <a:t>Cycle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1</a:t>
            </a:r>
            <a:r>
              <a:rPr dirty="0" sz="550">
                <a:latin typeface="Arial MT"/>
                <a:cs typeface="Arial MT"/>
              </a:rPr>
              <a:t>	Cycle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2</a:t>
            </a:r>
            <a:r>
              <a:rPr dirty="0" sz="550">
                <a:latin typeface="Arial MT"/>
                <a:cs typeface="Arial MT"/>
              </a:rPr>
              <a:t>	Cycle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3</a:t>
            </a:r>
            <a:r>
              <a:rPr dirty="0" sz="550">
                <a:latin typeface="Arial MT"/>
                <a:cs typeface="Arial MT"/>
              </a:rPr>
              <a:t>	Cycle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4</a:t>
            </a:r>
            <a:r>
              <a:rPr dirty="0" sz="550">
                <a:latin typeface="Arial MT"/>
                <a:cs typeface="Arial MT"/>
              </a:rPr>
              <a:t>	Cycle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5</a:t>
            </a:r>
            <a:r>
              <a:rPr dirty="0" sz="550">
                <a:latin typeface="Arial MT"/>
                <a:cs typeface="Arial MT"/>
              </a:rPr>
              <a:t>	Cycle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6</a:t>
            </a:r>
            <a:r>
              <a:rPr dirty="0" sz="550">
                <a:latin typeface="Arial MT"/>
                <a:cs typeface="Arial MT"/>
              </a:rPr>
              <a:t>	Cycle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7</a:t>
            </a:r>
            <a:r>
              <a:rPr dirty="0" sz="550">
                <a:latin typeface="Arial MT"/>
                <a:cs typeface="Arial MT"/>
              </a:rPr>
              <a:t>	Cycle</a:t>
            </a:r>
            <a:r>
              <a:rPr dirty="0" sz="550" spc="100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8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6" name="object 196" descr=""/>
          <p:cNvGrpSpPr/>
          <p:nvPr/>
        </p:nvGrpSpPr>
        <p:grpSpPr>
          <a:xfrm>
            <a:off x="1397103" y="4760227"/>
            <a:ext cx="1528445" cy="302895"/>
            <a:chOff x="1397103" y="4760227"/>
            <a:chExt cx="1528445" cy="302895"/>
          </a:xfrm>
        </p:grpSpPr>
        <p:sp>
          <p:nvSpPr>
            <p:cNvPr id="197" name="object 197" descr=""/>
            <p:cNvSpPr/>
            <p:nvPr/>
          </p:nvSpPr>
          <p:spPr>
            <a:xfrm>
              <a:off x="2530609" y="4914197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 h="0">
                  <a:moveTo>
                    <a:pt x="0" y="0"/>
                  </a:moveTo>
                  <a:lnTo>
                    <a:pt x="123057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2638508" y="4892759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0" y="0"/>
                  </a:moveTo>
                  <a:lnTo>
                    <a:pt x="0" y="43285"/>
                  </a:lnTo>
                  <a:lnTo>
                    <a:pt x="43094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1400278" y="4763402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218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218" y="295953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400278" y="4763402"/>
              <a:ext cx="859790" cy="296545"/>
            </a:xfrm>
            <a:custGeom>
              <a:avLst/>
              <a:gdLst/>
              <a:ahLst/>
              <a:cxnLst/>
              <a:rect l="l" t="t" r="r" b="b"/>
              <a:pathLst>
                <a:path w="859789" h="296545">
                  <a:moveTo>
                    <a:pt x="0" y="295953"/>
                  </a:moveTo>
                  <a:lnTo>
                    <a:pt x="49218" y="295953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  <a:path w="859789" h="296545">
                  <a:moveTo>
                    <a:pt x="735925" y="249476"/>
                  </a:moveTo>
                  <a:lnTo>
                    <a:pt x="859228" y="249476"/>
                  </a:lnTo>
                </a:path>
              </a:pathLst>
            </a:custGeom>
            <a:ln w="6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2244104" y="4991522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0" y="0"/>
                  </a:moveTo>
                  <a:lnTo>
                    <a:pt x="0" y="43202"/>
                  </a:lnTo>
                  <a:lnTo>
                    <a:pt x="43094" y="184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2675295" y="4763402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246499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246499" y="295953"/>
                  </a:lnTo>
                  <a:lnTo>
                    <a:pt x="24649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2675295" y="4763402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0" y="295953"/>
                  </a:moveTo>
                  <a:lnTo>
                    <a:pt x="246499" y="295953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4" name="object 204" descr=""/>
          <p:cNvSpPr txBox="1"/>
          <p:nvPr/>
        </p:nvSpPr>
        <p:spPr>
          <a:xfrm>
            <a:off x="2743214" y="4824652"/>
            <a:ext cx="155575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580"/>
              </a:lnSpc>
              <a:spcBef>
                <a:spcPts val="170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mem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05" name="object 205" descr=""/>
          <p:cNvGrpSpPr/>
          <p:nvPr/>
        </p:nvGrpSpPr>
        <p:grpSpPr>
          <a:xfrm>
            <a:off x="1495540" y="4760227"/>
            <a:ext cx="1580515" cy="302895"/>
            <a:chOff x="1495540" y="4760227"/>
            <a:chExt cx="1580515" cy="302895"/>
          </a:xfrm>
        </p:grpSpPr>
        <p:sp>
          <p:nvSpPr>
            <p:cNvPr id="206" name="object 206" descr=""/>
            <p:cNvSpPr/>
            <p:nvPr/>
          </p:nvSpPr>
          <p:spPr>
            <a:xfrm>
              <a:off x="2924768" y="4914197"/>
              <a:ext cx="123825" cy="0"/>
            </a:xfrm>
            <a:custGeom>
              <a:avLst/>
              <a:gdLst/>
              <a:ahLst/>
              <a:cxnLst/>
              <a:rect l="l" t="t" r="r" b="b"/>
              <a:pathLst>
                <a:path w="123825" h="0">
                  <a:moveTo>
                    <a:pt x="0" y="0"/>
                  </a:moveTo>
                  <a:lnTo>
                    <a:pt x="123220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3032668" y="4892759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0" y="0"/>
                  </a:moveTo>
                  <a:lnTo>
                    <a:pt x="0" y="43285"/>
                  </a:lnTo>
                  <a:lnTo>
                    <a:pt x="43094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498715" y="4763402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246499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246499" y="295953"/>
                  </a:lnTo>
                  <a:lnTo>
                    <a:pt x="24649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498715" y="4763402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0" y="295953"/>
                  </a:moveTo>
                  <a:lnTo>
                    <a:pt x="246499" y="295953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 descr=""/>
          <p:cNvSpPr txBox="1"/>
          <p:nvPr/>
        </p:nvSpPr>
        <p:spPr>
          <a:xfrm>
            <a:off x="1566438" y="4824652"/>
            <a:ext cx="155575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580"/>
              </a:lnSpc>
              <a:spcBef>
                <a:spcPts val="170"/>
              </a:spcBef>
            </a:pPr>
            <a:r>
              <a:rPr dirty="0" sz="500" spc="-2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mem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11" name="object 211" descr=""/>
          <p:cNvGrpSpPr/>
          <p:nvPr/>
        </p:nvGrpSpPr>
        <p:grpSpPr>
          <a:xfrm>
            <a:off x="1744989" y="4760227"/>
            <a:ext cx="391795" cy="302895"/>
            <a:chOff x="1744989" y="4760227"/>
            <a:chExt cx="391795" cy="302895"/>
          </a:xfrm>
        </p:grpSpPr>
        <p:sp>
          <p:nvSpPr>
            <p:cNvPr id="212" name="object 212" descr=""/>
            <p:cNvSpPr/>
            <p:nvPr/>
          </p:nvSpPr>
          <p:spPr>
            <a:xfrm>
              <a:off x="1748164" y="4914197"/>
              <a:ext cx="123825" cy="0"/>
            </a:xfrm>
            <a:custGeom>
              <a:avLst/>
              <a:gdLst/>
              <a:ahLst/>
              <a:cxnLst/>
              <a:rect l="l" t="t" r="r" b="b"/>
              <a:pathLst>
                <a:path w="123825" h="0">
                  <a:moveTo>
                    <a:pt x="0" y="0"/>
                  </a:moveTo>
                  <a:lnTo>
                    <a:pt x="123245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856089" y="4892759"/>
              <a:ext cx="37465" cy="43815"/>
            </a:xfrm>
            <a:custGeom>
              <a:avLst/>
              <a:gdLst/>
              <a:ahLst/>
              <a:cxnLst/>
              <a:rect l="l" t="t" r="r" b="b"/>
              <a:pathLst>
                <a:path w="37464" h="43814">
                  <a:moveTo>
                    <a:pt x="0" y="0"/>
                  </a:moveTo>
                  <a:lnTo>
                    <a:pt x="0" y="43285"/>
                  </a:lnTo>
                  <a:lnTo>
                    <a:pt x="36949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1893039" y="4763402"/>
              <a:ext cx="240665" cy="296545"/>
            </a:xfrm>
            <a:custGeom>
              <a:avLst/>
              <a:gdLst/>
              <a:ahLst/>
              <a:cxnLst/>
              <a:rect l="l" t="t" r="r" b="b"/>
              <a:pathLst>
                <a:path w="240664" h="296545">
                  <a:moveTo>
                    <a:pt x="240198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240198" y="295953"/>
                  </a:lnTo>
                  <a:lnTo>
                    <a:pt x="24019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893039" y="4763402"/>
              <a:ext cx="240665" cy="296545"/>
            </a:xfrm>
            <a:custGeom>
              <a:avLst/>
              <a:gdLst/>
              <a:ahLst/>
              <a:cxnLst/>
              <a:rect l="l" t="t" r="r" b="b"/>
              <a:pathLst>
                <a:path w="240664" h="296545">
                  <a:moveTo>
                    <a:pt x="0" y="295953"/>
                  </a:moveTo>
                  <a:lnTo>
                    <a:pt x="240198" y="295953"/>
                  </a:lnTo>
                  <a:lnTo>
                    <a:pt x="240198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6" name="object 216" descr=""/>
          <p:cNvSpPr txBox="1"/>
          <p:nvPr/>
        </p:nvSpPr>
        <p:spPr>
          <a:xfrm>
            <a:off x="1973001" y="4824652"/>
            <a:ext cx="130810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15" marR="5080" indent="-19050">
              <a:lnSpc>
                <a:spcPts val="580"/>
              </a:lnSpc>
              <a:spcBef>
                <a:spcPts val="170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17" name="object 217" descr=""/>
          <p:cNvGrpSpPr/>
          <p:nvPr/>
        </p:nvGrpSpPr>
        <p:grpSpPr>
          <a:xfrm>
            <a:off x="1449267" y="4763165"/>
            <a:ext cx="1084580" cy="302895"/>
            <a:chOff x="1449267" y="4763165"/>
            <a:chExt cx="1084580" cy="302895"/>
          </a:xfrm>
        </p:grpSpPr>
        <p:sp>
          <p:nvSpPr>
            <p:cNvPr id="218" name="object 218" descr=""/>
            <p:cNvSpPr/>
            <p:nvPr/>
          </p:nvSpPr>
          <p:spPr>
            <a:xfrm>
              <a:off x="2136203" y="4815680"/>
              <a:ext cx="123825" cy="0"/>
            </a:xfrm>
            <a:custGeom>
              <a:avLst/>
              <a:gdLst/>
              <a:ahLst/>
              <a:cxnLst/>
              <a:rect l="l" t="t" r="r" b="b"/>
              <a:pathLst>
                <a:path w="123825" h="0">
                  <a:moveTo>
                    <a:pt x="0" y="0"/>
                  </a:moveTo>
                  <a:lnTo>
                    <a:pt x="123302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2244103" y="4794078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0" y="0"/>
                  </a:moveTo>
                  <a:lnTo>
                    <a:pt x="0" y="43204"/>
                  </a:lnTo>
                  <a:lnTo>
                    <a:pt x="43094" y="18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2271714" y="4766340"/>
              <a:ext cx="259079" cy="296545"/>
            </a:xfrm>
            <a:custGeom>
              <a:avLst/>
              <a:gdLst/>
              <a:ahLst/>
              <a:cxnLst/>
              <a:rect l="l" t="t" r="r" b="b"/>
              <a:pathLst>
                <a:path w="259080" h="296545">
                  <a:moveTo>
                    <a:pt x="0" y="0"/>
                  </a:moveTo>
                  <a:lnTo>
                    <a:pt x="0" y="295961"/>
                  </a:lnTo>
                  <a:lnTo>
                    <a:pt x="258895" y="221991"/>
                  </a:lnTo>
                  <a:lnTo>
                    <a:pt x="258895" y="73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2271714" y="4766340"/>
              <a:ext cx="259079" cy="296545"/>
            </a:xfrm>
            <a:custGeom>
              <a:avLst/>
              <a:gdLst/>
              <a:ahLst/>
              <a:cxnLst/>
              <a:rect l="l" t="t" r="r" b="b"/>
              <a:pathLst>
                <a:path w="259080" h="296545">
                  <a:moveTo>
                    <a:pt x="0" y="295961"/>
                  </a:moveTo>
                  <a:lnTo>
                    <a:pt x="258895" y="221991"/>
                  </a:lnTo>
                  <a:lnTo>
                    <a:pt x="258895" y="73888"/>
                  </a:lnTo>
                  <a:lnTo>
                    <a:pt x="0" y="0"/>
                  </a:lnTo>
                  <a:lnTo>
                    <a:pt x="0" y="295961"/>
                  </a:lnTo>
                  <a:close/>
                </a:path>
                <a:path w="259080" h="296545">
                  <a:moveTo>
                    <a:pt x="0" y="98517"/>
                  </a:moveTo>
                  <a:lnTo>
                    <a:pt x="73981" y="147857"/>
                  </a:lnTo>
                </a:path>
                <a:path w="259080" h="296545">
                  <a:moveTo>
                    <a:pt x="0" y="197198"/>
                  </a:moveTo>
                  <a:lnTo>
                    <a:pt x="73981" y="147857"/>
                  </a:lnTo>
                </a:path>
              </a:pathLst>
            </a:custGeom>
            <a:ln w="6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2231896" y="4837282"/>
              <a:ext cx="111125" cy="148590"/>
            </a:xfrm>
            <a:custGeom>
              <a:avLst/>
              <a:gdLst/>
              <a:ahLst/>
              <a:cxnLst/>
              <a:rect l="l" t="t" r="r" b="b"/>
              <a:pathLst>
                <a:path w="111125" h="148589">
                  <a:moveTo>
                    <a:pt x="0" y="0"/>
                  </a:moveTo>
                  <a:lnTo>
                    <a:pt x="0" y="148103"/>
                  </a:lnTo>
                  <a:lnTo>
                    <a:pt x="110849" y="73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452442" y="4914197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5" h="0">
                  <a:moveTo>
                    <a:pt x="0" y="0"/>
                  </a:moveTo>
                  <a:lnTo>
                    <a:pt x="24611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461700" y="4892759"/>
              <a:ext cx="37465" cy="43815"/>
            </a:xfrm>
            <a:custGeom>
              <a:avLst/>
              <a:gdLst/>
              <a:ahLst/>
              <a:cxnLst/>
              <a:rect l="l" t="t" r="r" b="b"/>
              <a:pathLst>
                <a:path w="37465" h="43814">
                  <a:moveTo>
                    <a:pt x="0" y="0"/>
                  </a:moveTo>
                  <a:lnTo>
                    <a:pt x="0" y="43285"/>
                  </a:lnTo>
                  <a:lnTo>
                    <a:pt x="37015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5" name="object 225" descr=""/>
          <p:cNvSpPr txBox="1"/>
          <p:nvPr/>
        </p:nvSpPr>
        <p:spPr>
          <a:xfrm>
            <a:off x="3069618" y="4763402"/>
            <a:ext cx="247015" cy="296545"/>
          </a:xfrm>
          <a:prstGeom prst="rect">
            <a:avLst/>
          </a:prstGeom>
          <a:solidFill>
            <a:srgbClr val="FFCC99"/>
          </a:solidFill>
          <a:ln w="6098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endParaRPr sz="500">
              <a:latin typeface="Times New Roman"/>
              <a:cs typeface="Times New Roman"/>
            </a:endParaRPr>
          </a:p>
          <a:p>
            <a:pPr marL="98425" marR="40640" indent="-19050">
              <a:lnSpc>
                <a:spcPts val="580"/>
              </a:lnSpc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6" name="object 226" descr=""/>
          <p:cNvSpPr txBox="1"/>
          <p:nvPr/>
        </p:nvSpPr>
        <p:spPr>
          <a:xfrm>
            <a:off x="2361223" y="4873993"/>
            <a:ext cx="14795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27" name="object 227" descr=""/>
          <p:cNvGrpSpPr/>
          <p:nvPr/>
        </p:nvGrpSpPr>
        <p:grpSpPr>
          <a:xfrm>
            <a:off x="1791262" y="4760227"/>
            <a:ext cx="1528445" cy="647700"/>
            <a:chOff x="1791262" y="4760227"/>
            <a:chExt cx="1528445" cy="647700"/>
          </a:xfrm>
        </p:grpSpPr>
        <p:sp>
          <p:nvSpPr>
            <p:cNvPr id="228" name="object 228" descr=""/>
            <p:cNvSpPr/>
            <p:nvPr/>
          </p:nvSpPr>
          <p:spPr>
            <a:xfrm>
              <a:off x="1794437" y="4763402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218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218" y="295953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794437" y="4763402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0" y="295953"/>
                  </a:moveTo>
                  <a:lnTo>
                    <a:pt x="49218" y="295953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2182493" y="4763402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421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421" y="295953"/>
                  </a:lnTo>
                  <a:lnTo>
                    <a:pt x="4942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2182493" y="4763402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0" y="295953"/>
                  </a:moveTo>
                  <a:lnTo>
                    <a:pt x="49421" y="295953"/>
                  </a:lnTo>
                  <a:lnTo>
                    <a:pt x="49421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2576817" y="4763402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218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218" y="295953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2576817" y="4763402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0" y="295953"/>
                  </a:moveTo>
                  <a:lnTo>
                    <a:pt x="49218" y="295953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2970976" y="4763402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421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421" y="295953"/>
                  </a:lnTo>
                  <a:lnTo>
                    <a:pt x="4942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2924768" y="4763402"/>
              <a:ext cx="123825" cy="496570"/>
            </a:xfrm>
            <a:custGeom>
              <a:avLst/>
              <a:gdLst/>
              <a:ahLst/>
              <a:cxnLst/>
              <a:rect l="l" t="t" r="r" b="b"/>
              <a:pathLst>
                <a:path w="123825" h="496570">
                  <a:moveTo>
                    <a:pt x="46207" y="295953"/>
                  </a:moveTo>
                  <a:lnTo>
                    <a:pt x="95629" y="295953"/>
                  </a:lnTo>
                  <a:lnTo>
                    <a:pt x="95629" y="0"/>
                  </a:lnTo>
                  <a:lnTo>
                    <a:pt x="46207" y="0"/>
                  </a:lnTo>
                  <a:lnTo>
                    <a:pt x="46207" y="295953"/>
                  </a:lnTo>
                  <a:close/>
                </a:path>
                <a:path w="123825" h="496570">
                  <a:moveTo>
                    <a:pt x="0" y="496342"/>
                  </a:moveTo>
                  <a:lnTo>
                    <a:pt x="123220" y="496342"/>
                  </a:lnTo>
                </a:path>
              </a:pathLst>
            </a:custGeom>
            <a:ln w="6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3032668" y="523830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0" y="0"/>
                  </a:moveTo>
                  <a:lnTo>
                    <a:pt x="0" y="43040"/>
                  </a:lnTo>
                  <a:lnTo>
                    <a:pt x="43094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794437" y="5108703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218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218" y="295953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794437" y="5108703"/>
              <a:ext cx="859790" cy="296545"/>
            </a:xfrm>
            <a:custGeom>
              <a:avLst/>
              <a:gdLst/>
              <a:ahLst/>
              <a:cxnLst/>
              <a:rect l="l" t="t" r="r" b="b"/>
              <a:pathLst>
                <a:path w="859789" h="296545">
                  <a:moveTo>
                    <a:pt x="0" y="295953"/>
                  </a:moveTo>
                  <a:lnTo>
                    <a:pt x="49218" y="295953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  <a:path w="859789" h="296545">
                  <a:moveTo>
                    <a:pt x="736171" y="249721"/>
                  </a:moveTo>
                  <a:lnTo>
                    <a:pt x="859228" y="249721"/>
                  </a:lnTo>
                </a:path>
              </a:pathLst>
            </a:custGeom>
            <a:ln w="6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2638508" y="5336823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0" y="0"/>
                  </a:moveTo>
                  <a:lnTo>
                    <a:pt x="0" y="43285"/>
                  </a:lnTo>
                  <a:lnTo>
                    <a:pt x="43094" y="186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3069618" y="5108703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246499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246499" y="295953"/>
                  </a:lnTo>
                  <a:lnTo>
                    <a:pt x="24649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3069618" y="5108703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0" y="295953"/>
                  </a:moveTo>
                  <a:lnTo>
                    <a:pt x="246499" y="295953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2" name="object 242" descr=""/>
          <p:cNvSpPr txBox="1"/>
          <p:nvPr/>
        </p:nvSpPr>
        <p:spPr>
          <a:xfrm>
            <a:off x="3137374" y="5163817"/>
            <a:ext cx="155575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580"/>
              </a:lnSpc>
              <a:spcBef>
                <a:spcPts val="170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mem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43" name="object 243" descr=""/>
          <p:cNvGrpSpPr/>
          <p:nvPr/>
        </p:nvGrpSpPr>
        <p:grpSpPr>
          <a:xfrm>
            <a:off x="1889864" y="5105529"/>
            <a:ext cx="1580515" cy="302895"/>
            <a:chOff x="1889864" y="5105529"/>
            <a:chExt cx="1580515" cy="302895"/>
          </a:xfrm>
        </p:grpSpPr>
        <p:sp>
          <p:nvSpPr>
            <p:cNvPr id="244" name="object 244" descr=""/>
            <p:cNvSpPr/>
            <p:nvPr/>
          </p:nvSpPr>
          <p:spPr>
            <a:xfrm>
              <a:off x="3319092" y="5259744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 h="0">
                  <a:moveTo>
                    <a:pt x="0" y="0"/>
                  </a:moveTo>
                  <a:lnTo>
                    <a:pt x="123057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3426992" y="523830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0" y="0"/>
                  </a:moveTo>
                  <a:lnTo>
                    <a:pt x="0" y="43040"/>
                  </a:lnTo>
                  <a:lnTo>
                    <a:pt x="43094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893039" y="5108704"/>
              <a:ext cx="240665" cy="296545"/>
            </a:xfrm>
            <a:custGeom>
              <a:avLst/>
              <a:gdLst/>
              <a:ahLst/>
              <a:cxnLst/>
              <a:rect l="l" t="t" r="r" b="b"/>
              <a:pathLst>
                <a:path w="240664" h="296545">
                  <a:moveTo>
                    <a:pt x="240198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240198" y="295953"/>
                  </a:lnTo>
                  <a:lnTo>
                    <a:pt x="24019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893039" y="5108704"/>
              <a:ext cx="240665" cy="296545"/>
            </a:xfrm>
            <a:custGeom>
              <a:avLst/>
              <a:gdLst/>
              <a:ahLst/>
              <a:cxnLst/>
              <a:rect l="l" t="t" r="r" b="b"/>
              <a:pathLst>
                <a:path w="240664" h="296545">
                  <a:moveTo>
                    <a:pt x="0" y="295953"/>
                  </a:moveTo>
                  <a:lnTo>
                    <a:pt x="240198" y="295953"/>
                  </a:lnTo>
                  <a:lnTo>
                    <a:pt x="240198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8" name="object 248" descr=""/>
          <p:cNvSpPr txBox="1"/>
          <p:nvPr/>
        </p:nvSpPr>
        <p:spPr>
          <a:xfrm>
            <a:off x="1960794" y="5163817"/>
            <a:ext cx="155575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580"/>
              </a:lnSpc>
              <a:spcBef>
                <a:spcPts val="170"/>
              </a:spcBef>
            </a:pPr>
            <a:r>
              <a:rPr dirty="0" sz="500" spc="-2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mem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49" name="object 249" descr=""/>
          <p:cNvGrpSpPr/>
          <p:nvPr/>
        </p:nvGrpSpPr>
        <p:grpSpPr>
          <a:xfrm>
            <a:off x="2133028" y="5105529"/>
            <a:ext cx="398145" cy="302895"/>
            <a:chOff x="2133028" y="5105529"/>
            <a:chExt cx="398145" cy="302895"/>
          </a:xfrm>
        </p:grpSpPr>
        <p:sp>
          <p:nvSpPr>
            <p:cNvPr id="250" name="object 250" descr=""/>
            <p:cNvSpPr/>
            <p:nvPr/>
          </p:nvSpPr>
          <p:spPr>
            <a:xfrm>
              <a:off x="2136203" y="5259744"/>
              <a:ext cx="123825" cy="0"/>
            </a:xfrm>
            <a:custGeom>
              <a:avLst/>
              <a:gdLst/>
              <a:ahLst/>
              <a:cxnLst/>
              <a:rect l="l" t="t" r="r" b="b"/>
              <a:pathLst>
                <a:path w="123825" h="0">
                  <a:moveTo>
                    <a:pt x="0" y="0"/>
                  </a:moveTo>
                  <a:lnTo>
                    <a:pt x="123302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2244103" y="5238306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0" y="0"/>
                  </a:moveTo>
                  <a:lnTo>
                    <a:pt x="0" y="43040"/>
                  </a:lnTo>
                  <a:lnTo>
                    <a:pt x="43094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2281135" y="5108704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246499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246499" y="295953"/>
                  </a:lnTo>
                  <a:lnTo>
                    <a:pt x="246499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2281135" y="5108704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0" y="295953"/>
                  </a:moveTo>
                  <a:lnTo>
                    <a:pt x="246499" y="295953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4" name="object 254" descr=""/>
          <p:cNvSpPr txBox="1"/>
          <p:nvPr/>
        </p:nvSpPr>
        <p:spPr>
          <a:xfrm>
            <a:off x="2361262" y="5163817"/>
            <a:ext cx="130810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15" marR="5080" indent="-19050">
              <a:lnSpc>
                <a:spcPts val="580"/>
              </a:lnSpc>
              <a:spcBef>
                <a:spcPts val="170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55" name="object 255" descr=""/>
          <p:cNvGrpSpPr/>
          <p:nvPr/>
        </p:nvGrpSpPr>
        <p:grpSpPr>
          <a:xfrm>
            <a:off x="1843410" y="5108466"/>
            <a:ext cx="1084580" cy="302895"/>
            <a:chOff x="1843410" y="5108466"/>
            <a:chExt cx="1084580" cy="302895"/>
          </a:xfrm>
        </p:grpSpPr>
        <p:sp>
          <p:nvSpPr>
            <p:cNvPr id="256" name="object 256" descr=""/>
            <p:cNvSpPr/>
            <p:nvPr/>
          </p:nvSpPr>
          <p:spPr>
            <a:xfrm>
              <a:off x="2530609" y="5160981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 h="0">
                  <a:moveTo>
                    <a:pt x="0" y="0"/>
                  </a:moveTo>
                  <a:lnTo>
                    <a:pt x="123057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2638508" y="513954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80" h="43179">
                  <a:moveTo>
                    <a:pt x="0" y="0"/>
                  </a:moveTo>
                  <a:lnTo>
                    <a:pt x="0" y="43121"/>
                  </a:lnTo>
                  <a:lnTo>
                    <a:pt x="43094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2666037" y="5111641"/>
              <a:ext cx="259079" cy="296545"/>
            </a:xfrm>
            <a:custGeom>
              <a:avLst/>
              <a:gdLst/>
              <a:ahLst/>
              <a:cxnLst/>
              <a:rect l="l" t="t" r="r" b="b"/>
              <a:pathLst>
                <a:path w="259080" h="296545">
                  <a:moveTo>
                    <a:pt x="0" y="0"/>
                  </a:moveTo>
                  <a:lnTo>
                    <a:pt x="0" y="295961"/>
                  </a:lnTo>
                  <a:lnTo>
                    <a:pt x="258731" y="221991"/>
                  </a:lnTo>
                  <a:lnTo>
                    <a:pt x="258731" y="739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2666037" y="5111641"/>
              <a:ext cx="259079" cy="296545"/>
            </a:xfrm>
            <a:custGeom>
              <a:avLst/>
              <a:gdLst/>
              <a:ahLst/>
              <a:cxnLst/>
              <a:rect l="l" t="t" r="r" b="b"/>
              <a:pathLst>
                <a:path w="259080" h="296545">
                  <a:moveTo>
                    <a:pt x="0" y="295961"/>
                  </a:moveTo>
                  <a:lnTo>
                    <a:pt x="258731" y="221991"/>
                  </a:lnTo>
                  <a:lnTo>
                    <a:pt x="258731" y="73969"/>
                  </a:lnTo>
                  <a:lnTo>
                    <a:pt x="0" y="0"/>
                  </a:lnTo>
                  <a:lnTo>
                    <a:pt x="0" y="295961"/>
                  </a:lnTo>
                  <a:close/>
                </a:path>
                <a:path w="259080" h="296545">
                  <a:moveTo>
                    <a:pt x="0" y="98681"/>
                  </a:moveTo>
                  <a:lnTo>
                    <a:pt x="73817" y="148103"/>
                  </a:lnTo>
                </a:path>
                <a:path w="259080" h="296545">
                  <a:moveTo>
                    <a:pt x="0" y="197443"/>
                  </a:moveTo>
                  <a:lnTo>
                    <a:pt x="73817" y="148103"/>
                  </a:lnTo>
                </a:path>
              </a:pathLst>
            </a:custGeom>
            <a:ln w="6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2626056" y="5182665"/>
              <a:ext cx="111125" cy="148590"/>
            </a:xfrm>
            <a:custGeom>
              <a:avLst/>
              <a:gdLst/>
              <a:ahLst/>
              <a:cxnLst/>
              <a:rect l="l" t="t" r="r" b="b"/>
              <a:pathLst>
                <a:path w="111125" h="148589">
                  <a:moveTo>
                    <a:pt x="0" y="0"/>
                  </a:moveTo>
                  <a:lnTo>
                    <a:pt x="0" y="148022"/>
                  </a:lnTo>
                  <a:lnTo>
                    <a:pt x="110849" y="741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846585" y="5259744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4824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856089" y="5238306"/>
              <a:ext cx="37465" cy="43180"/>
            </a:xfrm>
            <a:custGeom>
              <a:avLst/>
              <a:gdLst/>
              <a:ahLst/>
              <a:cxnLst/>
              <a:rect l="l" t="t" r="r" b="b"/>
              <a:pathLst>
                <a:path w="37464" h="43179">
                  <a:moveTo>
                    <a:pt x="0" y="0"/>
                  </a:moveTo>
                  <a:lnTo>
                    <a:pt x="0" y="43040"/>
                  </a:lnTo>
                  <a:lnTo>
                    <a:pt x="36949" y="184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3" name="object 263" descr=""/>
          <p:cNvSpPr txBox="1"/>
          <p:nvPr/>
        </p:nvSpPr>
        <p:spPr>
          <a:xfrm>
            <a:off x="3464024" y="5108704"/>
            <a:ext cx="246379" cy="296545"/>
          </a:xfrm>
          <a:prstGeom prst="rect">
            <a:avLst/>
          </a:prstGeom>
          <a:solidFill>
            <a:srgbClr val="FFCC99"/>
          </a:solidFill>
          <a:ln w="6098">
            <a:solidFill>
              <a:srgbClr val="000000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500">
              <a:latin typeface="Times New Roman"/>
              <a:cs typeface="Times New Roman"/>
            </a:endParaRPr>
          </a:p>
          <a:p>
            <a:pPr marL="97790" marR="40640" indent="-19050">
              <a:lnSpc>
                <a:spcPts val="580"/>
              </a:lnSpc>
              <a:spcBef>
                <a:spcPts val="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64" name="object 264" descr=""/>
          <p:cNvSpPr txBox="1"/>
          <p:nvPr/>
        </p:nvSpPr>
        <p:spPr>
          <a:xfrm>
            <a:off x="2755382" y="5225595"/>
            <a:ext cx="14795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65" name="object 265" descr=""/>
          <p:cNvGrpSpPr/>
          <p:nvPr/>
        </p:nvGrpSpPr>
        <p:grpSpPr>
          <a:xfrm>
            <a:off x="2179318" y="5105529"/>
            <a:ext cx="1922780" cy="987425"/>
            <a:chOff x="2179318" y="5105529"/>
            <a:chExt cx="1922780" cy="987425"/>
          </a:xfrm>
        </p:grpSpPr>
        <p:sp>
          <p:nvSpPr>
            <p:cNvPr id="266" name="object 266" descr=""/>
            <p:cNvSpPr/>
            <p:nvPr/>
          </p:nvSpPr>
          <p:spPr>
            <a:xfrm>
              <a:off x="2182493" y="5108704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421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421" y="295953"/>
                  </a:lnTo>
                  <a:lnTo>
                    <a:pt x="4942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2182493" y="5108704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0" y="295953"/>
                  </a:moveTo>
                  <a:lnTo>
                    <a:pt x="49421" y="295953"/>
                  </a:lnTo>
                  <a:lnTo>
                    <a:pt x="49421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2576817" y="5108704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218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218" y="295953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2576817" y="5108704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0" y="295953"/>
                  </a:moveTo>
                  <a:lnTo>
                    <a:pt x="49218" y="295953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2970976" y="5108704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421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421" y="295953"/>
                  </a:lnTo>
                  <a:lnTo>
                    <a:pt x="4942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2970976" y="5108704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0" y="295953"/>
                  </a:moveTo>
                  <a:lnTo>
                    <a:pt x="49421" y="295953"/>
                  </a:lnTo>
                  <a:lnTo>
                    <a:pt x="49421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3365381" y="5108704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29" h="296545">
                  <a:moveTo>
                    <a:pt x="49218" y="0"/>
                  </a:moveTo>
                  <a:lnTo>
                    <a:pt x="0" y="0"/>
                  </a:lnTo>
                  <a:lnTo>
                    <a:pt x="0" y="295953"/>
                  </a:lnTo>
                  <a:lnTo>
                    <a:pt x="49218" y="295953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3365381" y="5108704"/>
              <a:ext cx="471170" cy="835660"/>
            </a:xfrm>
            <a:custGeom>
              <a:avLst/>
              <a:gdLst/>
              <a:ahLst/>
              <a:cxnLst/>
              <a:rect l="l" t="t" r="r" b="b"/>
              <a:pathLst>
                <a:path w="471170" h="835660">
                  <a:moveTo>
                    <a:pt x="0" y="295953"/>
                  </a:moveTo>
                  <a:lnTo>
                    <a:pt x="49218" y="295953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5953"/>
                  </a:lnTo>
                  <a:close/>
                </a:path>
                <a:path w="471170" h="835660">
                  <a:moveTo>
                    <a:pt x="347869" y="835548"/>
                  </a:moveTo>
                  <a:lnTo>
                    <a:pt x="471090" y="835548"/>
                  </a:lnTo>
                </a:path>
              </a:pathLst>
            </a:custGeom>
            <a:ln w="6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3821151" y="5922822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4">
                  <a:moveTo>
                    <a:pt x="0" y="0"/>
                  </a:moveTo>
                  <a:lnTo>
                    <a:pt x="0" y="43268"/>
                  </a:lnTo>
                  <a:lnTo>
                    <a:pt x="43094" y="24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2576817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218" y="0"/>
                  </a:moveTo>
                  <a:lnTo>
                    <a:pt x="0" y="0"/>
                  </a:lnTo>
                  <a:lnTo>
                    <a:pt x="0" y="296157"/>
                  </a:lnTo>
                  <a:lnTo>
                    <a:pt x="49218" y="296157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2576817" y="5793227"/>
              <a:ext cx="865505" cy="296545"/>
            </a:xfrm>
            <a:custGeom>
              <a:avLst/>
              <a:gdLst/>
              <a:ahLst/>
              <a:cxnLst/>
              <a:rect l="l" t="t" r="r" b="b"/>
              <a:pathLst>
                <a:path w="865504" h="296545">
                  <a:moveTo>
                    <a:pt x="0" y="296157"/>
                  </a:moveTo>
                  <a:lnTo>
                    <a:pt x="49218" y="296157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  <a:path w="865504" h="296545">
                  <a:moveTo>
                    <a:pt x="742274" y="249746"/>
                  </a:moveTo>
                  <a:lnTo>
                    <a:pt x="865332" y="249746"/>
                  </a:lnTo>
                </a:path>
              </a:pathLst>
            </a:custGeom>
            <a:ln w="6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3426992" y="6021543"/>
              <a:ext cx="43180" cy="43180"/>
            </a:xfrm>
            <a:custGeom>
              <a:avLst/>
              <a:gdLst/>
              <a:ahLst/>
              <a:cxnLst/>
              <a:rect l="l" t="t" r="r" b="b"/>
              <a:pathLst>
                <a:path w="43179" h="43179">
                  <a:moveTo>
                    <a:pt x="0" y="0"/>
                  </a:moveTo>
                  <a:lnTo>
                    <a:pt x="0" y="43064"/>
                  </a:lnTo>
                  <a:lnTo>
                    <a:pt x="43094" y="24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3858183" y="5793227"/>
              <a:ext cx="240665" cy="296545"/>
            </a:xfrm>
            <a:custGeom>
              <a:avLst/>
              <a:gdLst/>
              <a:ahLst/>
              <a:cxnLst/>
              <a:rect l="l" t="t" r="r" b="b"/>
              <a:pathLst>
                <a:path w="240664" h="296545">
                  <a:moveTo>
                    <a:pt x="240198" y="0"/>
                  </a:moveTo>
                  <a:lnTo>
                    <a:pt x="0" y="0"/>
                  </a:lnTo>
                  <a:lnTo>
                    <a:pt x="0" y="296157"/>
                  </a:lnTo>
                  <a:lnTo>
                    <a:pt x="240198" y="296157"/>
                  </a:lnTo>
                  <a:lnTo>
                    <a:pt x="240198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3858183" y="5793227"/>
              <a:ext cx="240665" cy="296545"/>
            </a:xfrm>
            <a:custGeom>
              <a:avLst/>
              <a:gdLst/>
              <a:ahLst/>
              <a:cxnLst/>
              <a:rect l="l" t="t" r="r" b="b"/>
              <a:pathLst>
                <a:path w="240664" h="296545">
                  <a:moveTo>
                    <a:pt x="0" y="296157"/>
                  </a:moveTo>
                  <a:lnTo>
                    <a:pt x="240198" y="296157"/>
                  </a:lnTo>
                  <a:lnTo>
                    <a:pt x="240198" y="0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0" name="object 280" descr=""/>
          <p:cNvSpPr txBox="1"/>
          <p:nvPr/>
        </p:nvSpPr>
        <p:spPr>
          <a:xfrm>
            <a:off x="3925938" y="5854666"/>
            <a:ext cx="155575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580"/>
              </a:lnSpc>
              <a:spcBef>
                <a:spcPts val="170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mem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81" name="object 281" descr=""/>
          <p:cNvGrpSpPr/>
          <p:nvPr/>
        </p:nvGrpSpPr>
        <p:grpSpPr>
          <a:xfrm>
            <a:off x="2672120" y="5790052"/>
            <a:ext cx="1574165" cy="302895"/>
            <a:chOff x="2672120" y="5790052"/>
            <a:chExt cx="1574165" cy="302895"/>
          </a:xfrm>
        </p:grpSpPr>
        <p:sp>
          <p:nvSpPr>
            <p:cNvPr id="282" name="object 282" descr=""/>
            <p:cNvSpPr/>
            <p:nvPr/>
          </p:nvSpPr>
          <p:spPr>
            <a:xfrm>
              <a:off x="4101348" y="5944252"/>
              <a:ext cx="123825" cy="0"/>
            </a:xfrm>
            <a:custGeom>
              <a:avLst/>
              <a:gdLst/>
              <a:ahLst/>
              <a:cxnLst/>
              <a:rect l="l" t="t" r="r" b="b"/>
              <a:pathLst>
                <a:path w="123825" h="0">
                  <a:moveTo>
                    <a:pt x="0" y="0"/>
                  </a:moveTo>
                  <a:lnTo>
                    <a:pt x="123220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4209412" y="5922822"/>
              <a:ext cx="36830" cy="43815"/>
            </a:xfrm>
            <a:custGeom>
              <a:avLst/>
              <a:gdLst/>
              <a:ahLst/>
              <a:cxnLst/>
              <a:rect l="l" t="t" r="r" b="b"/>
              <a:pathLst>
                <a:path w="36829" h="43814">
                  <a:moveTo>
                    <a:pt x="0" y="0"/>
                  </a:moveTo>
                  <a:lnTo>
                    <a:pt x="0" y="43268"/>
                  </a:lnTo>
                  <a:lnTo>
                    <a:pt x="36785" y="24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2675295" y="5793227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246499" y="0"/>
                  </a:moveTo>
                  <a:lnTo>
                    <a:pt x="0" y="0"/>
                  </a:lnTo>
                  <a:lnTo>
                    <a:pt x="0" y="296157"/>
                  </a:lnTo>
                  <a:lnTo>
                    <a:pt x="246499" y="296157"/>
                  </a:lnTo>
                  <a:lnTo>
                    <a:pt x="24649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2675295" y="5793227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0" y="296157"/>
                  </a:moveTo>
                  <a:lnTo>
                    <a:pt x="246499" y="296157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6" name="object 286" descr=""/>
          <p:cNvSpPr txBox="1"/>
          <p:nvPr/>
        </p:nvSpPr>
        <p:spPr>
          <a:xfrm>
            <a:off x="2743214" y="5854666"/>
            <a:ext cx="155575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580"/>
              </a:lnSpc>
              <a:spcBef>
                <a:spcPts val="170"/>
              </a:spcBef>
            </a:pPr>
            <a:r>
              <a:rPr dirty="0" sz="500" spc="-2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mem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87" name="object 287" descr=""/>
          <p:cNvGrpSpPr/>
          <p:nvPr/>
        </p:nvGrpSpPr>
        <p:grpSpPr>
          <a:xfrm>
            <a:off x="2921593" y="5790052"/>
            <a:ext cx="398145" cy="302895"/>
            <a:chOff x="2921593" y="5790052"/>
            <a:chExt cx="398145" cy="302895"/>
          </a:xfrm>
        </p:grpSpPr>
        <p:sp>
          <p:nvSpPr>
            <p:cNvPr id="288" name="object 288" descr=""/>
            <p:cNvSpPr/>
            <p:nvPr/>
          </p:nvSpPr>
          <p:spPr>
            <a:xfrm>
              <a:off x="2924768" y="5944252"/>
              <a:ext cx="123825" cy="0"/>
            </a:xfrm>
            <a:custGeom>
              <a:avLst/>
              <a:gdLst/>
              <a:ahLst/>
              <a:cxnLst/>
              <a:rect l="l" t="t" r="r" b="b"/>
              <a:pathLst>
                <a:path w="123825" h="0">
                  <a:moveTo>
                    <a:pt x="0" y="0"/>
                  </a:moveTo>
                  <a:lnTo>
                    <a:pt x="123220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3032668" y="5922822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0" y="0"/>
                  </a:moveTo>
                  <a:lnTo>
                    <a:pt x="0" y="43268"/>
                  </a:lnTo>
                  <a:lnTo>
                    <a:pt x="43094" y="24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3069618" y="5793227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246499" y="0"/>
                  </a:moveTo>
                  <a:lnTo>
                    <a:pt x="0" y="0"/>
                  </a:lnTo>
                  <a:lnTo>
                    <a:pt x="0" y="296157"/>
                  </a:lnTo>
                  <a:lnTo>
                    <a:pt x="246499" y="296157"/>
                  </a:lnTo>
                  <a:lnTo>
                    <a:pt x="246499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3069618" y="5793227"/>
              <a:ext cx="247015" cy="296545"/>
            </a:xfrm>
            <a:custGeom>
              <a:avLst/>
              <a:gdLst/>
              <a:ahLst/>
              <a:cxnLst/>
              <a:rect l="l" t="t" r="r" b="b"/>
              <a:pathLst>
                <a:path w="247014" h="296545">
                  <a:moveTo>
                    <a:pt x="0" y="296157"/>
                  </a:moveTo>
                  <a:lnTo>
                    <a:pt x="246499" y="296157"/>
                  </a:lnTo>
                  <a:lnTo>
                    <a:pt x="246499" y="0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</a:pathLst>
            </a:custGeom>
            <a:ln w="609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2" name="object 292" descr=""/>
          <p:cNvSpPr txBox="1"/>
          <p:nvPr/>
        </p:nvSpPr>
        <p:spPr>
          <a:xfrm>
            <a:off x="3149745" y="5854666"/>
            <a:ext cx="130810" cy="1809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15" marR="5080" indent="-19050">
              <a:lnSpc>
                <a:spcPts val="580"/>
              </a:lnSpc>
              <a:spcBef>
                <a:spcPts val="170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293" name="object 293" descr=""/>
          <p:cNvGrpSpPr/>
          <p:nvPr/>
        </p:nvGrpSpPr>
        <p:grpSpPr>
          <a:xfrm>
            <a:off x="2625830" y="5792998"/>
            <a:ext cx="1090930" cy="302895"/>
            <a:chOff x="2625830" y="5792998"/>
            <a:chExt cx="1090930" cy="302895"/>
          </a:xfrm>
        </p:grpSpPr>
        <p:sp>
          <p:nvSpPr>
            <p:cNvPr id="294" name="object 294" descr=""/>
            <p:cNvSpPr/>
            <p:nvPr/>
          </p:nvSpPr>
          <p:spPr>
            <a:xfrm>
              <a:off x="3319092" y="5845530"/>
              <a:ext cx="123189" cy="0"/>
            </a:xfrm>
            <a:custGeom>
              <a:avLst/>
              <a:gdLst/>
              <a:ahLst/>
              <a:cxnLst/>
              <a:rect l="l" t="t" r="r" b="b"/>
              <a:pathLst>
                <a:path w="123189" h="0">
                  <a:moveTo>
                    <a:pt x="0" y="0"/>
                  </a:moveTo>
                  <a:lnTo>
                    <a:pt x="123057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426992" y="5824100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79" h="43814">
                  <a:moveTo>
                    <a:pt x="0" y="0"/>
                  </a:moveTo>
                  <a:lnTo>
                    <a:pt x="0" y="43268"/>
                  </a:lnTo>
                  <a:lnTo>
                    <a:pt x="43094" y="247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454520" y="5796173"/>
              <a:ext cx="259079" cy="296545"/>
            </a:xfrm>
            <a:custGeom>
              <a:avLst/>
              <a:gdLst/>
              <a:ahLst/>
              <a:cxnLst/>
              <a:rect l="l" t="t" r="r" b="b"/>
              <a:pathLst>
                <a:path w="259079" h="296545">
                  <a:moveTo>
                    <a:pt x="0" y="0"/>
                  </a:moveTo>
                  <a:lnTo>
                    <a:pt x="0" y="296157"/>
                  </a:lnTo>
                  <a:lnTo>
                    <a:pt x="258731" y="222015"/>
                  </a:lnTo>
                  <a:lnTo>
                    <a:pt x="258731" y="741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454520" y="5796173"/>
              <a:ext cx="259079" cy="296545"/>
            </a:xfrm>
            <a:custGeom>
              <a:avLst/>
              <a:gdLst/>
              <a:ahLst/>
              <a:cxnLst/>
              <a:rect l="l" t="t" r="r" b="b"/>
              <a:pathLst>
                <a:path w="259079" h="296545">
                  <a:moveTo>
                    <a:pt x="0" y="296157"/>
                  </a:moveTo>
                  <a:lnTo>
                    <a:pt x="258731" y="222015"/>
                  </a:lnTo>
                  <a:lnTo>
                    <a:pt x="258731" y="74141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  <a:path w="259079" h="296545">
                  <a:moveTo>
                    <a:pt x="0" y="98721"/>
                  </a:moveTo>
                  <a:lnTo>
                    <a:pt x="73899" y="148078"/>
                  </a:lnTo>
                </a:path>
                <a:path w="259079" h="296545">
                  <a:moveTo>
                    <a:pt x="0" y="197435"/>
                  </a:moveTo>
                  <a:lnTo>
                    <a:pt x="73899" y="148078"/>
                  </a:lnTo>
                </a:path>
              </a:pathLst>
            </a:custGeom>
            <a:ln w="60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414621" y="5867369"/>
              <a:ext cx="111125" cy="147955"/>
            </a:xfrm>
            <a:custGeom>
              <a:avLst/>
              <a:gdLst/>
              <a:ahLst/>
              <a:cxnLst/>
              <a:rect l="l" t="t" r="r" b="b"/>
              <a:pathLst>
                <a:path w="111125" h="147954">
                  <a:moveTo>
                    <a:pt x="0" y="0"/>
                  </a:moveTo>
                  <a:lnTo>
                    <a:pt x="0" y="147874"/>
                  </a:lnTo>
                  <a:lnTo>
                    <a:pt x="110849" y="739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2629005" y="5944252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24660" y="0"/>
                  </a:lnTo>
                </a:path>
              </a:pathLst>
            </a:custGeom>
            <a:ln w="6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2638508" y="5922822"/>
              <a:ext cx="43180" cy="43815"/>
            </a:xfrm>
            <a:custGeom>
              <a:avLst/>
              <a:gdLst/>
              <a:ahLst/>
              <a:cxnLst/>
              <a:rect l="l" t="t" r="r" b="b"/>
              <a:pathLst>
                <a:path w="43180" h="43814">
                  <a:moveTo>
                    <a:pt x="0" y="0"/>
                  </a:moveTo>
                  <a:lnTo>
                    <a:pt x="0" y="43268"/>
                  </a:lnTo>
                  <a:lnTo>
                    <a:pt x="43094" y="24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1" name="object 301" descr=""/>
          <p:cNvSpPr txBox="1"/>
          <p:nvPr/>
        </p:nvSpPr>
        <p:spPr>
          <a:xfrm>
            <a:off x="4246198" y="5793227"/>
            <a:ext cx="247015" cy="296545"/>
          </a:xfrm>
          <a:prstGeom prst="rect">
            <a:avLst/>
          </a:prstGeom>
          <a:solidFill>
            <a:srgbClr val="FFCC99"/>
          </a:solidFill>
          <a:ln w="6098">
            <a:solidFill>
              <a:srgbClr val="000000"/>
            </a:solidFill>
          </a:ln>
        </p:spPr>
        <p:txBody>
          <a:bodyPr wrap="square" lIns="0" tIns="95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5"/>
              </a:spcBef>
            </a:pPr>
            <a:endParaRPr sz="500">
              <a:latin typeface="Times New Roman"/>
              <a:cs typeface="Times New Roman"/>
            </a:endParaRPr>
          </a:p>
          <a:p>
            <a:pPr marL="98425" marR="40640" indent="-19050">
              <a:lnSpc>
                <a:spcPts val="580"/>
              </a:lnSpc>
              <a:spcBef>
                <a:spcPts val="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02" name="object 302" descr=""/>
          <p:cNvSpPr txBox="1"/>
          <p:nvPr/>
        </p:nvSpPr>
        <p:spPr>
          <a:xfrm>
            <a:off x="3543947" y="5910119"/>
            <a:ext cx="14795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303" name="object 303" descr=""/>
          <p:cNvGrpSpPr/>
          <p:nvPr/>
        </p:nvGrpSpPr>
        <p:grpSpPr>
          <a:xfrm>
            <a:off x="2967801" y="5790052"/>
            <a:ext cx="1232535" cy="302895"/>
            <a:chOff x="2967801" y="5790052"/>
            <a:chExt cx="1232535" cy="302895"/>
          </a:xfrm>
        </p:grpSpPr>
        <p:sp>
          <p:nvSpPr>
            <p:cNvPr id="304" name="object 304" descr=""/>
            <p:cNvSpPr/>
            <p:nvPr/>
          </p:nvSpPr>
          <p:spPr>
            <a:xfrm>
              <a:off x="2970976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49421" y="0"/>
                  </a:moveTo>
                  <a:lnTo>
                    <a:pt x="0" y="0"/>
                  </a:lnTo>
                  <a:lnTo>
                    <a:pt x="0" y="296157"/>
                  </a:lnTo>
                  <a:lnTo>
                    <a:pt x="49421" y="296157"/>
                  </a:lnTo>
                  <a:lnTo>
                    <a:pt x="4942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2970976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30" h="296545">
                  <a:moveTo>
                    <a:pt x="0" y="296157"/>
                  </a:moveTo>
                  <a:lnTo>
                    <a:pt x="49421" y="296157"/>
                  </a:lnTo>
                  <a:lnTo>
                    <a:pt x="49421" y="0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365381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29" h="296545">
                  <a:moveTo>
                    <a:pt x="49218" y="0"/>
                  </a:moveTo>
                  <a:lnTo>
                    <a:pt x="0" y="0"/>
                  </a:lnTo>
                  <a:lnTo>
                    <a:pt x="0" y="296157"/>
                  </a:lnTo>
                  <a:lnTo>
                    <a:pt x="49218" y="296157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3365381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29" h="296545">
                  <a:moveTo>
                    <a:pt x="0" y="296157"/>
                  </a:moveTo>
                  <a:lnTo>
                    <a:pt x="49218" y="296157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3759541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29" h="296545">
                  <a:moveTo>
                    <a:pt x="49421" y="0"/>
                  </a:moveTo>
                  <a:lnTo>
                    <a:pt x="0" y="0"/>
                  </a:lnTo>
                  <a:lnTo>
                    <a:pt x="0" y="296157"/>
                  </a:lnTo>
                  <a:lnTo>
                    <a:pt x="49421" y="296157"/>
                  </a:lnTo>
                  <a:lnTo>
                    <a:pt x="49421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3759541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29" h="296545">
                  <a:moveTo>
                    <a:pt x="0" y="296157"/>
                  </a:moveTo>
                  <a:lnTo>
                    <a:pt x="49421" y="296157"/>
                  </a:lnTo>
                  <a:lnTo>
                    <a:pt x="49421" y="0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4147801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29" h="296545">
                  <a:moveTo>
                    <a:pt x="49218" y="0"/>
                  </a:moveTo>
                  <a:lnTo>
                    <a:pt x="0" y="0"/>
                  </a:lnTo>
                  <a:lnTo>
                    <a:pt x="0" y="296157"/>
                  </a:lnTo>
                  <a:lnTo>
                    <a:pt x="49218" y="296157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4147801" y="5793227"/>
              <a:ext cx="49530" cy="296545"/>
            </a:xfrm>
            <a:custGeom>
              <a:avLst/>
              <a:gdLst/>
              <a:ahLst/>
              <a:cxnLst/>
              <a:rect l="l" t="t" r="r" b="b"/>
              <a:pathLst>
                <a:path w="49529" h="296545">
                  <a:moveTo>
                    <a:pt x="0" y="296157"/>
                  </a:moveTo>
                  <a:lnTo>
                    <a:pt x="49218" y="296157"/>
                  </a:lnTo>
                  <a:lnTo>
                    <a:pt x="49218" y="0"/>
                  </a:lnTo>
                  <a:lnTo>
                    <a:pt x="0" y="0"/>
                  </a:lnTo>
                  <a:lnTo>
                    <a:pt x="0" y="296157"/>
                  </a:lnTo>
                  <a:close/>
                </a:path>
              </a:pathLst>
            </a:custGeom>
            <a:ln w="61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2" name="object 312" descr=""/>
          <p:cNvSpPr txBox="1"/>
          <p:nvPr/>
        </p:nvSpPr>
        <p:spPr>
          <a:xfrm>
            <a:off x="1018320" y="4824617"/>
            <a:ext cx="38862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600" spc="-60">
                <a:latin typeface="Arial MT"/>
                <a:cs typeface="Arial MT"/>
              </a:rPr>
              <a:t>$6</a:t>
            </a:r>
            <a:r>
              <a:rPr dirty="0" sz="600" spc="-2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=</a:t>
            </a:r>
            <a:r>
              <a:rPr dirty="0" sz="600" spc="-35">
                <a:latin typeface="Arial MT"/>
                <a:cs typeface="Arial MT"/>
              </a:rPr>
              <a:t> </a:t>
            </a:r>
            <a:r>
              <a:rPr dirty="0" sz="600" spc="-45">
                <a:latin typeface="Arial MT"/>
                <a:cs typeface="Arial MT"/>
              </a:rPr>
              <a:t>$3</a:t>
            </a:r>
            <a:r>
              <a:rPr dirty="0" sz="600" spc="3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+</a:t>
            </a:r>
            <a:r>
              <a:rPr dirty="0" sz="600" spc="-35">
                <a:latin typeface="Arial MT"/>
                <a:cs typeface="Arial MT"/>
              </a:rPr>
              <a:t> </a:t>
            </a:r>
            <a:r>
              <a:rPr dirty="0" sz="600" spc="-25">
                <a:latin typeface="Arial MT"/>
                <a:cs typeface="Arial MT"/>
              </a:rPr>
              <a:t>$5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3" name="object 313" descr=""/>
          <p:cNvSpPr txBox="1"/>
          <p:nvPr/>
        </p:nvSpPr>
        <p:spPr>
          <a:xfrm>
            <a:off x="1018320" y="5176056"/>
            <a:ext cx="46863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600" spc="-60">
                <a:latin typeface="Arial MT"/>
                <a:cs typeface="Arial MT"/>
              </a:rPr>
              <a:t>beq</a:t>
            </a:r>
            <a:r>
              <a:rPr dirty="0" sz="600" spc="-2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$1,</a:t>
            </a:r>
            <a:r>
              <a:rPr dirty="0" sz="600" spc="-20">
                <a:latin typeface="Arial MT"/>
                <a:cs typeface="Arial MT"/>
              </a:rPr>
              <a:t> </a:t>
            </a:r>
            <a:r>
              <a:rPr dirty="0" sz="600" spc="-35">
                <a:latin typeface="Arial MT"/>
                <a:cs typeface="Arial MT"/>
              </a:rPr>
              <a:t>$2,</a:t>
            </a:r>
            <a:r>
              <a:rPr dirty="0" sz="600" spc="25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.</a:t>
            </a:r>
            <a:r>
              <a:rPr dirty="0" sz="600" spc="-20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.</a:t>
            </a:r>
            <a:r>
              <a:rPr dirty="0" sz="600" spc="2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.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4" name="object 314" descr=""/>
          <p:cNvSpPr txBox="1"/>
          <p:nvPr/>
        </p:nvSpPr>
        <p:spPr>
          <a:xfrm>
            <a:off x="1018320" y="5515447"/>
            <a:ext cx="531495" cy="144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750" spc="-60">
                <a:latin typeface="Arial MT"/>
                <a:cs typeface="Arial MT"/>
              </a:rPr>
              <a:t>Insert</a:t>
            </a:r>
            <a:r>
              <a:rPr dirty="0" sz="750" spc="-5">
                <a:latin typeface="Arial MT"/>
                <a:cs typeface="Arial MT"/>
              </a:rPr>
              <a:t> </a:t>
            </a:r>
            <a:r>
              <a:rPr dirty="0" sz="750" spc="-40">
                <a:latin typeface="Arial MT"/>
                <a:cs typeface="Arial MT"/>
              </a:rPr>
              <a:t>bubble?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15" name="object 315" descr=""/>
          <p:cNvSpPr txBox="1"/>
          <p:nvPr/>
        </p:nvSpPr>
        <p:spPr>
          <a:xfrm>
            <a:off x="1018320" y="5860759"/>
            <a:ext cx="388620" cy="1219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600" spc="-60">
                <a:latin typeface="Arial MT"/>
                <a:cs typeface="Arial MT"/>
              </a:rPr>
              <a:t>$9</a:t>
            </a:r>
            <a:r>
              <a:rPr dirty="0" sz="600" spc="-2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=</a:t>
            </a:r>
            <a:r>
              <a:rPr dirty="0" sz="600" spc="-35">
                <a:latin typeface="Arial MT"/>
                <a:cs typeface="Arial MT"/>
              </a:rPr>
              <a:t> </a:t>
            </a:r>
            <a:r>
              <a:rPr dirty="0" sz="600" spc="-45">
                <a:latin typeface="Arial MT"/>
                <a:cs typeface="Arial MT"/>
              </a:rPr>
              <a:t>$8</a:t>
            </a:r>
            <a:r>
              <a:rPr dirty="0" sz="600" spc="30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+</a:t>
            </a:r>
            <a:r>
              <a:rPr dirty="0" sz="600" spc="-35">
                <a:latin typeface="Arial MT"/>
                <a:cs typeface="Arial MT"/>
              </a:rPr>
              <a:t> </a:t>
            </a:r>
            <a:r>
              <a:rPr dirty="0" sz="600" spc="-25">
                <a:latin typeface="Arial MT"/>
                <a:cs typeface="Arial MT"/>
              </a:rPr>
              <a:t>$2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16" name="object 316" descr=""/>
          <p:cNvGrpSpPr/>
          <p:nvPr/>
        </p:nvGrpSpPr>
        <p:grpSpPr>
          <a:xfrm>
            <a:off x="2182471" y="5444735"/>
            <a:ext cx="1534160" cy="306070"/>
            <a:chOff x="2182471" y="5444735"/>
            <a:chExt cx="1534160" cy="306070"/>
          </a:xfrm>
        </p:grpSpPr>
        <p:sp>
          <p:nvSpPr>
            <p:cNvPr id="317" name="object 317" descr=""/>
            <p:cNvSpPr/>
            <p:nvPr/>
          </p:nvSpPr>
          <p:spPr>
            <a:xfrm>
              <a:off x="3316135" y="5577479"/>
              <a:ext cx="154305" cy="43180"/>
            </a:xfrm>
            <a:custGeom>
              <a:avLst/>
              <a:gdLst/>
              <a:ahLst/>
              <a:cxnLst/>
              <a:rect l="l" t="t" r="r" b="b"/>
              <a:pathLst>
                <a:path w="154304" h="43179">
                  <a:moveTo>
                    <a:pt x="24663" y="18491"/>
                  </a:moveTo>
                  <a:lnTo>
                    <a:pt x="0" y="18491"/>
                  </a:lnTo>
                  <a:lnTo>
                    <a:pt x="0" y="24625"/>
                  </a:lnTo>
                  <a:lnTo>
                    <a:pt x="24663" y="24625"/>
                  </a:lnTo>
                  <a:lnTo>
                    <a:pt x="24663" y="18491"/>
                  </a:lnTo>
                  <a:close/>
                </a:path>
                <a:path w="154304" h="43179">
                  <a:moveTo>
                    <a:pt x="49237" y="18491"/>
                  </a:moveTo>
                  <a:lnTo>
                    <a:pt x="36791" y="18491"/>
                  </a:lnTo>
                  <a:lnTo>
                    <a:pt x="36791" y="24625"/>
                  </a:lnTo>
                  <a:lnTo>
                    <a:pt x="49237" y="24625"/>
                  </a:lnTo>
                  <a:lnTo>
                    <a:pt x="49237" y="18491"/>
                  </a:lnTo>
                  <a:close/>
                </a:path>
                <a:path w="154304" h="43179">
                  <a:moveTo>
                    <a:pt x="153949" y="24625"/>
                  </a:moveTo>
                  <a:lnTo>
                    <a:pt x="110845" y="0"/>
                  </a:lnTo>
                  <a:lnTo>
                    <a:pt x="110845" y="18491"/>
                  </a:lnTo>
                  <a:lnTo>
                    <a:pt x="98463" y="18491"/>
                  </a:lnTo>
                  <a:lnTo>
                    <a:pt x="98463" y="24625"/>
                  </a:lnTo>
                  <a:lnTo>
                    <a:pt x="110845" y="24625"/>
                  </a:lnTo>
                  <a:lnTo>
                    <a:pt x="110845" y="43091"/>
                  </a:lnTo>
                  <a:lnTo>
                    <a:pt x="153949" y="246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2185646" y="5447910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67"/>
                  </a:lnTo>
                </a:path>
              </a:pathLst>
            </a:custGeom>
            <a:ln w="630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2194864" y="5706904"/>
              <a:ext cx="43180" cy="37465"/>
            </a:xfrm>
            <a:custGeom>
              <a:avLst/>
              <a:gdLst/>
              <a:ahLst/>
              <a:cxnLst/>
              <a:rect l="l" t="t" r="r" b="b"/>
              <a:pathLst>
                <a:path w="43180" h="37464">
                  <a:moveTo>
                    <a:pt x="24599" y="30873"/>
                  </a:moveTo>
                  <a:lnTo>
                    <a:pt x="0" y="30873"/>
                  </a:lnTo>
                  <a:lnTo>
                    <a:pt x="0" y="36969"/>
                  </a:lnTo>
                  <a:lnTo>
                    <a:pt x="24599" y="36969"/>
                  </a:lnTo>
                  <a:lnTo>
                    <a:pt x="24599" y="30873"/>
                  </a:lnTo>
                  <a:close/>
                </a:path>
                <a:path w="43180" h="37464">
                  <a:moveTo>
                    <a:pt x="43129" y="0"/>
                  </a:moveTo>
                  <a:lnTo>
                    <a:pt x="37020" y="0"/>
                  </a:lnTo>
                  <a:lnTo>
                    <a:pt x="37020" y="24777"/>
                  </a:lnTo>
                  <a:lnTo>
                    <a:pt x="43129" y="24777"/>
                  </a:lnTo>
                  <a:lnTo>
                    <a:pt x="43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2234947" y="5447910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w="0" h="240664">
                  <a:moveTo>
                    <a:pt x="0" y="0"/>
                  </a:moveTo>
                  <a:lnTo>
                    <a:pt x="0" y="240506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2188794" y="5447913"/>
              <a:ext cx="887094" cy="271780"/>
            </a:xfrm>
            <a:custGeom>
              <a:avLst/>
              <a:gdLst/>
              <a:ahLst/>
              <a:cxnLst/>
              <a:rect l="l" t="t" r="r" b="b"/>
              <a:pathLst>
                <a:path w="887094" h="271779">
                  <a:moveTo>
                    <a:pt x="24612" y="0"/>
                  </a:moveTo>
                  <a:lnTo>
                    <a:pt x="0" y="0"/>
                  </a:lnTo>
                  <a:lnTo>
                    <a:pt x="0" y="6083"/>
                  </a:lnTo>
                  <a:lnTo>
                    <a:pt x="24612" y="6083"/>
                  </a:lnTo>
                  <a:lnTo>
                    <a:pt x="24612" y="0"/>
                  </a:lnTo>
                  <a:close/>
                </a:path>
                <a:path w="887094" h="271779">
                  <a:moveTo>
                    <a:pt x="757593" y="246799"/>
                  </a:moveTo>
                  <a:lnTo>
                    <a:pt x="733018" y="246799"/>
                  </a:lnTo>
                  <a:lnTo>
                    <a:pt x="733018" y="252895"/>
                  </a:lnTo>
                  <a:lnTo>
                    <a:pt x="757593" y="252895"/>
                  </a:lnTo>
                  <a:lnTo>
                    <a:pt x="757593" y="246799"/>
                  </a:lnTo>
                  <a:close/>
                </a:path>
                <a:path w="887094" h="271779">
                  <a:moveTo>
                    <a:pt x="782180" y="246799"/>
                  </a:moveTo>
                  <a:lnTo>
                    <a:pt x="769975" y="246799"/>
                  </a:lnTo>
                  <a:lnTo>
                    <a:pt x="769975" y="252895"/>
                  </a:lnTo>
                  <a:lnTo>
                    <a:pt x="782180" y="252895"/>
                  </a:lnTo>
                  <a:lnTo>
                    <a:pt x="782180" y="246799"/>
                  </a:lnTo>
                  <a:close/>
                </a:path>
                <a:path w="887094" h="271779">
                  <a:moveTo>
                    <a:pt x="886968" y="252895"/>
                  </a:moveTo>
                  <a:lnTo>
                    <a:pt x="843864" y="228117"/>
                  </a:lnTo>
                  <a:lnTo>
                    <a:pt x="843864" y="246799"/>
                  </a:lnTo>
                  <a:lnTo>
                    <a:pt x="831596" y="246799"/>
                  </a:lnTo>
                  <a:lnTo>
                    <a:pt x="831596" y="252895"/>
                  </a:lnTo>
                  <a:lnTo>
                    <a:pt x="843864" y="252895"/>
                  </a:lnTo>
                  <a:lnTo>
                    <a:pt x="843864" y="271386"/>
                  </a:lnTo>
                  <a:lnTo>
                    <a:pt x="886968" y="2528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3467074" y="5454009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65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3476231" y="5747015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7070" y="0"/>
                  </a:lnTo>
                </a:path>
              </a:pathLst>
            </a:custGeom>
            <a:ln w="629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3691785" y="5737774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4" h="12700">
                  <a:moveTo>
                    <a:pt x="24660" y="0"/>
                  </a:moveTo>
                  <a:lnTo>
                    <a:pt x="18516" y="0"/>
                  </a:lnTo>
                  <a:lnTo>
                    <a:pt x="18516" y="6096"/>
                  </a:lnTo>
                  <a:lnTo>
                    <a:pt x="0" y="6096"/>
                  </a:lnTo>
                  <a:lnTo>
                    <a:pt x="0" y="12388"/>
                  </a:lnTo>
                  <a:lnTo>
                    <a:pt x="18516" y="12388"/>
                  </a:lnTo>
                  <a:lnTo>
                    <a:pt x="24660" y="6096"/>
                  </a:lnTo>
                  <a:lnTo>
                    <a:pt x="24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3713353" y="5478759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w="0" h="240664">
                  <a:moveTo>
                    <a:pt x="0" y="0"/>
                  </a:moveTo>
                  <a:lnTo>
                    <a:pt x="0" y="240531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3691785" y="5453997"/>
              <a:ext cx="24765" cy="6350"/>
            </a:xfrm>
            <a:custGeom>
              <a:avLst/>
              <a:gdLst/>
              <a:ahLst/>
              <a:cxnLst/>
              <a:rect l="l" t="t" r="r" b="b"/>
              <a:pathLst>
                <a:path w="24764" h="6350">
                  <a:moveTo>
                    <a:pt x="18516" y="0"/>
                  </a:moveTo>
                  <a:lnTo>
                    <a:pt x="0" y="0"/>
                  </a:lnTo>
                  <a:lnTo>
                    <a:pt x="0" y="6300"/>
                  </a:lnTo>
                  <a:lnTo>
                    <a:pt x="18516" y="6300"/>
                  </a:lnTo>
                  <a:lnTo>
                    <a:pt x="18516" y="0"/>
                  </a:lnTo>
                  <a:close/>
                </a:path>
                <a:path w="24764" h="6350">
                  <a:moveTo>
                    <a:pt x="24660" y="0"/>
                  </a:moveTo>
                  <a:lnTo>
                    <a:pt x="18516" y="0"/>
                  </a:lnTo>
                  <a:lnTo>
                    <a:pt x="18516" y="6300"/>
                  </a:lnTo>
                  <a:lnTo>
                    <a:pt x="24660" y="6300"/>
                  </a:lnTo>
                  <a:lnTo>
                    <a:pt x="246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3476231" y="5457149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7070" y="0"/>
                  </a:lnTo>
                </a:path>
              </a:pathLst>
            </a:custGeom>
            <a:ln w="629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8" name="object 328" descr=""/>
          <p:cNvSpPr txBox="1"/>
          <p:nvPr/>
        </p:nvSpPr>
        <p:spPr>
          <a:xfrm>
            <a:off x="3470125" y="5509119"/>
            <a:ext cx="205104" cy="18161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61594" indent="5715">
              <a:lnSpc>
                <a:spcPts val="580"/>
              </a:lnSpc>
              <a:spcBef>
                <a:spcPts val="170"/>
              </a:spcBef>
            </a:pPr>
            <a:r>
              <a:rPr dirty="0" sz="500" spc="-20">
                <a:latin typeface="Arial MT"/>
                <a:cs typeface="Arial MT"/>
              </a:rPr>
              <a:t>Data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mem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329" name="object 329" descr=""/>
          <p:cNvGrpSpPr/>
          <p:nvPr/>
        </p:nvGrpSpPr>
        <p:grpSpPr>
          <a:xfrm>
            <a:off x="2281011" y="5450834"/>
            <a:ext cx="1583690" cy="299720"/>
            <a:chOff x="2281011" y="5450834"/>
            <a:chExt cx="1583690" cy="299720"/>
          </a:xfrm>
        </p:grpSpPr>
        <p:sp>
          <p:nvSpPr>
            <p:cNvPr id="330" name="object 330" descr=""/>
            <p:cNvSpPr/>
            <p:nvPr/>
          </p:nvSpPr>
          <p:spPr>
            <a:xfrm>
              <a:off x="3710292" y="5577479"/>
              <a:ext cx="154305" cy="43180"/>
            </a:xfrm>
            <a:custGeom>
              <a:avLst/>
              <a:gdLst/>
              <a:ahLst/>
              <a:cxnLst/>
              <a:rect l="l" t="t" r="r" b="b"/>
              <a:pathLst>
                <a:path w="154304" h="43179">
                  <a:moveTo>
                    <a:pt x="24587" y="18491"/>
                  </a:moveTo>
                  <a:lnTo>
                    <a:pt x="0" y="18491"/>
                  </a:lnTo>
                  <a:lnTo>
                    <a:pt x="0" y="24625"/>
                  </a:lnTo>
                  <a:lnTo>
                    <a:pt x="24587" y="24625"/>
                  </a:lnTo>
                  <a:lnTo>
                    <a:pt x="24587" y="18491"/>
                  </a:lnTo>
                  <a:close/>
                </a:path>
                <a:path w="154304" h="43179">
                  <a:moveTo>
                    <a:pt x="49237" y="18491"/>
                  </a:moveTo>
                  <a:lnTo>
                    <a:pt x="37033" y="18491"/>
                  </a:lnTo>
                  <a:lnTo>
                    <a:pt x="37033" y="24625"/>
                  </a:lnTo>
                  <a:lnTo>
                    <a:pt x="49237" y="24625"/>
                  </a:lnTo>
                  <a:lnTo>
                    <a:pt x="49237" y="18491"/>
                  </a:lnTo>
                  <a:close/>
                </a:path>
                <a:path w="154304" h="43179">
                  <a:moveTo>
                    <a:pt x="153949" y="24625"/>
                  </a:moveTo>
                  <a:lnTo>
                    <a:pt x="110858" y="0"/>
                  </a:lnTo>
                  <a:lnTo>
                    <a:pt x="110858" y="18491"/>
                  </a:lnTo>
                  <a:lnTo>
                    <a:pt x="98666" y="18491"/>
                  </a:lnTo>
                  <a:lnTo>
                    <a:pt x="98666" y="24625"/>
                  </a:lnTo>
                  <a:lnTo>
                    <a:pt x="110858" y="24625"/>
                  </a:lnTo>
                  <a:lnTo>
                    <a:pt x="110858" y="43091"/>
                  </a:lnTo>
                  <a:lnTo>
                    <a:pt x="153949" y="246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2284186" y="5454009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65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2293507" y="5747015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7069" y="0"/>
                  </a:lnTo>
                </a:path>
              </a:pathLst>
            </a:custGeom>
            <a:ln w="629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2509144" y="5737774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4" h="12700">
                  <a:moveTo>
                    <a:pt x="24578" y="0"/>
                  </a:moveTo>
                  <a:lnTo>
                    <a:pt x="18515" y="0"/>
                  </a:lnTo>
                  <a:lnTo>
                    <a:pt x="18515" y="6096"/>
                  </a:lnTo>
                  <a:lnTo>
                    <a:pt x="0" y="6096"/>
                  </a:lnTo>
                  <a:lnTo>
                    <a:pt x="0" y="12388"/>
                  </a:lnTo>
                  <a:lnTo>
                    <a:pt x="18515" y="12388"/>
                  </a:lnTo>
                  <a:lnTo>
                    <a:pt x="24578" y="6096"/>
                  </a:lnTo>
                  <a:lnTo>
                    <a:pt x="245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2530710" y="5478759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w="0" h="240664">
                  <a:moveTo>
                    <a:pt x="0" y="0"/>
                  </a:moveTo>
                  <a:lnTo>
                    <a:pt x="0" y="240531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2509144" y="5453997"/>
              <a:ext cx="24765" cy="6350"/>
            </a:xfrm>
            <a:custGeom>
              <a:avLst/>
              <a:gdLst/>
              <a:ahLst/>
              <a:cxnLst/>
              <a:rect l="l" t="t" r="r" b="b"/>
              <a:pathLst>
                <a:path w="24764" h="6350">
                  <a:moveTo>
                    <a:pt x="18515" y="0"/>
                  </a:moveTo>
                  <a:lnTo>
                    <a:pt x="0" y="0"/>
                  </a:lnTo>
                  <a:lnTo>
                    <a:pt x="0" y="6300"/>
                  </a:lnTo>
                  <a:lnTo>
                    <a:pt x="18515" y="6300"/>
                  </a:lnTo>
                  <a:lnTo>
                    <a:pt x="18515" y="0"/>
                  </a:lnTo>
                  <a:close/>
                </a:path>
                <a:path w="24764" h="6350">
                  <a:moveTo>
                    <a:pt x="24578" y="0"/>
                  </a:moveTo>
                  <a:lnTo>
                    <a:pt x="18515" y="0"/>
                  </a:lnTo>
                  <a:lnTo>
                    <a:pt x="18515" y="6300"/>
                  </a:lnTo>
                  <a:lnTo>
                    <a:pt x="24578" y="6300"/>
                  </a:lnTo>
                  <a:lnTo>
                    <a:pt x="245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2293507" y="5457149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7069" y="0"/>
                  </a:lnTo>
                </a:path>
              </a:pathLst>
            </a:custGeom>
            <a:ln w="629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7" name="object 337" descr=""/>
          <p:cNvSpPr txBox="1"/>
          <p:nvPr/>
        </p:nvSpPr>
        <p:spPr>
          <a:xfrm>
            <a:off x="2348891" y="5509119"/>
            <a:ext cx="155575" cy="18161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5715">
              <a:lnSpc>
                <a:spcPts val="580"/>
              </a:lnSpc>
              <a:spcBef>
                <a:spcPts val="170"/>
              </a:spcBef>
            </a:pPr>
            <a:r>
              <a:rPr dirty="0" sz="500" spc="-20">
                <a:latin typeface="Arial MT"/>
                <a:cs typeface="Arial MT"/>
              </a:rPr>
              <a:t>Instr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5">
                <a:latin typeface="Arial MT"/>
                <a:cs typeface="Arial MT"/>
              </a:rPr>
              <a:t>mem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338" name="object 338" descr=""/>
          <p:cNvGrpSpPr/>
          <p:nvPr/>
        </p:nvGrpSpPr>
        <p:grpSpPr>
          <a:xfrm>
            <a:off x="2527659" y="5450834"/>
            <a:ext cx="400685" cy="299720"/>
            <a:chOff x="2527659" y="5450834"/>
            <a:chExt cx="400685" cy="299720"/>
          </a:xfrm>
        </p:grpSpPr>
        <p:sp>
          <p:nvSpPr>
            <p:cNvPr id="339" name="object 339" descr=""/>
            <p:cNvSpPr/>
            <p:nvPr/>
          </p:nvSpPr>
          <p:spPr>
            <a:xfrm>
              <a:off x="2527655" y="5577479"/>
              <a:ext cx="154305" cy="43180"/>
            </a:xfrm>
            <a:custGeom>
              <a:avLst/>
              <a:gdLst/>
              <a:ahLst/>
              <a:cxnLst/>
              <a:rect l="l" t="t" r="r" b="b"/>
              <a:pathLst>
                <a:path w="154305" h="43179">
                  <a:moveTo>
                    <a:pt x="24574" y="18491"/>
                  </a:moveTo>
                  <a:lnTo>
                    <a:pt x="0" y="18491"/>
                  </a:lnTo>
                  <a:lnTo>
                    <a:pt x="0" y="24625"/>
                  </a:lnTo>
                  <a:lnTo>
                    <a:pt x="24574" y="24625"/>
                  </a:lnTo>
                  <a:lnTo>
                    <a:pt x="24574" y="18491"/>
                  </a:lnTo>
                  <a:close/>
                </a:path>
                <a:path w="154305" h="43179">
                  <a:moveTo>
                    <a:pt x="49161" y="18491"/>
                  </a:moveTo>
                  <a:lnTo>
                    <a:pt x="36779" y="18491"/>
                  </a:lnTo>
                  <a:lnTo>
                    <a:pt x="36779" y="24625"/>
                  </a:lnTo>
                  <a:lnTo>
                    <a:pt x="49161" y="24625"/>
                  </a:lnTo>
                  <a:lnTo>
                    <a:pt x="49161" y="18491"/>
                  </a:lnTo>
                  <a:close/>
                </a:path>
                <a:path w="154305" h="43179">
                  <a:moveTo>
                    <a:pt x="153936" y="24625"/>
                  </a:moveTo>
                  <a:lnTo>
                    <a:pt x="110845" y="0"/>
                  </a:lnTo>
                  <a:lnTo>
                    <a:pt x="110845" y="18491"/>
                  </a:lnTo>
                  <a:lnTo>
                    <a:pt x="98374" y="18491"/>
                  </a:lnTo>
                  <a:lnTo>
                    <a:pt x="98374" y="24625"/>
                  </a:lnTo>
                  <a:lnTo>
                    <a:pt x="110845" y="24625"/>
                  </a:lnTo>
                  <a:lnTo>
                    <a:pt x="110845" y="43091"/>
                  </a:lnTo>
                  <a:lnTo>
                    <a:pt x="153936" y="246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2678448" y="5454009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65"/>
                  </a:lnTo>
                </a:path>
              </a:pathLst>
            </a:custGeom>
            <a:ln w="630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2687666" y="5747015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7069" y="0"/>
                  </a:lnTo>
                </a:path>
              </a:pathLst>
            </a:custGeom>
            <a:ln w="629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2903303" y="5737774"/>
              <a:ext cx="24765" cy="12700"/>
            </a:xfrm>
            <a:custGeom>
              <a:avLst/>
              <a:gdLst/>
              <a:ahLst/>
              <a:cxnLst/>
              <a:rect l="l" t="t" r="r" b="b"/>
              <a:pathLst>
                <a:path w="24764" h="12700">
                  <a:moveTo>
                    <a:pt x="24578" y="0"/>
                  </a:moveTo>
                  <a:lnTo>
                    <a:pt x="18515" y="0"/>
                  </a:lnTo>
                  <a:lnTo>
                    <a:pt x="18515" y="6096"/>
                  </a:lnTo>
                  <a:lnTo>
                    <a:pt x="0" y="6096"/>
                  </a:lnTo>
                  <a:lnTo>
                    <a:pt x="0" y="12388"/>
                  </a:lnTo>
                  <a:lnTo>
                    <a:pt x="18515" y="12388"/>
                  </a:lnTo>
                  <a:lnTo>
                    <a:pt x="24578" y="6096"/>
                  </a:lnTo>
                  <a:lnTo>
                    <a:pt x="245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2924869" y="5478759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w="0" h="240664">
                  <a:moveTo>
                    <a:pt x="0" y="0"/>
                  </a:moveTo>
                  <a:lnTo>
                    <a:pt x="0" y="240531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2903303" y="5453997"/>
              <a:ext cx="24765" cy="6350"/>
            </a:xfrm>
            <a:custGeom>
              <a:avLst/>
              <a:gdLst/>
              <a:ahLst/>
              <a:cxnLst/>
              <a:rect l="l" t="t" r="r" b="b"/>
              <a:pathLst>
                <a:path w="24764" h="6350">
                  <a:moveTo>
                    <a:pt x="18515" y="0"/>
                  </a:moveTo>
                  <a:lnTo>
                    <a:pt x="0" y="0"/>
                  </a:lnTo>
                  <a:lnTo>
                    <a:pt x="0" y="6300"/>
                  </a:lnTo>
                  <a:lnTo>
                    <a:pt x="18515" y="6300"/>
                  </a:lnTo>
                  <a:lnTo>
                    <a:pt x="18515" y="0"/>
                  </a:lnTo>
                  <a:close/>
                </a:path>
                <a:path w="24764" h="6350">
                  <a:moveTo>
                    <a:pt x="24578" y="0"/>
                  </a:moveTo>
                  <a:lnTo>
                    <a:pt x="18515" y="0"/>
                  </a:lnTo>
                  <a:lnTo>
                    <a:pt x="18515" y="6300"/>
                  </a:lnTo>
                  <a:lnTo>
                    <a:pt x="24578" y="6300"/>
                  </a:lnTo>
                  <a:lnTo>
                    <a:pt x="245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2687666" y="5457149"/>
              <a:ext cx="197485" cy="0"/>
            </a:xfrm>
            <a:custGeom>
              <a:avLst/>
              <a:gdLst/>
              <a:ahLst/>
              <a:cxnLst/>
              <a:rect l="l" t="t" r="r" b="b"/>
              <a:pathLst>
                <a:path w="197485" h="0">
                  <a:moveTo>
                    <a:pt x="0" y="0"/>
                  </a:moveTo>
                  <a:lnTo>
                    <a:pt x="197069" y="0"/>
                  </a:lnTo>
                </a:path>
              </a:pathLst>
            </a:custGeom>
            <a:ln w="6296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6" name="object 346" descr=""/>
          <p:cNvSpPr txBox="1"/>
          <p:nvPr/>
        </p:nvSpPr>
        <p:spPr>
          <a:xfrm>
            <a:off x="2681600" y="5509119"/>
            <a:ext cx="203200" cy="18161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92075" marR="3175" indent="-19050">
              <a:lnSpc>
                <a:spcPts val="580"/>
              </a:lnSpc>
              <a:spcBef>
                <a:spcPts val="170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47" name="object 347" descr=""/>
          <p:cNvSpPr/>
          <p:nvPr/>
        </p:nvSpPr>
        <p:spPr>
          <a:xfrm>
            <a:off x="2231885" y="5453996"/>
            <a:ext cx="1873250" cy="296545"/>
          </a:xfrm>
          <a:custGeom>
            <a:avLst/>
            <a:gdLst/>
            <a:ahLst/>
            <a:cxnLst/>
            <a:rect l="l" t="t" r="r" b="b"/>
            <a:pathLst>
              <a:path w="1873250" h="296545">
                <a:moveTo>
                  <a:pt x="55308" y="148107"/>
                </a:moveTo>
                <a:lnTo>
                  <a:pt x="12217" y="123482"/>
                </a:lnTo>
                <a:lnTo>
                  <a:pt x="12217" y="141973"/>
                </a:lnTo>
                <a:lnTo>
                  <a:pt x="0" y="141973"/>
                </a:lnTo>
                <a:lnTo>
                  <a:pt x="0" y="148107"/>
                </a:lnTo>
                <a:lnTo>
                  <a:pt x="12217" y="148107"/>
                </a:lnTo>
                <a:lnTo>
                  <a:pt x="12217" y="166573"/>
                </a:lnTo>
                <a:lnTo>
                  <a:pt x="55308" y="148107"/>
                </a:lnTo>
                <a:close/>
              </a:path>
              <a:path w="1873250" h="296545">
                <a:moveTo>
                  <a:pt x="714502" y="49352"/>
                </a:moveTo>
                <a:lnTo>
                  <a:pt x="689927" y="49352"/>
                </a:lnTo>
                <a:lnTo>
                  <a:pt x="689927" y="55651"/>
                </a:lnTo>
                <a:lnTo>
                  <a:pt x="714502" y="55651"/>
                </a:lnTo>
                <a:lnTo>
                  <a:pt x="714502" y="49352"/>
                </a:lnTo>
                <a:close/>
              </a:path>
              <a:path w="1873250" h="296545">
                <a:moveTo>
                  <a:pt x="739089" y="49352"/>
                </a:moveTo>
                <a:lnTo>
                  <a:pt x="726884" y="49352"/>
                </a:lnTo>
                <a:lnTo>
                  <a:pt x="726884" y="55651"/>
                </a:lnTo>
                <a:lnTo>
                  <a:pt x="739089" y="55651"/>
                </a:lnTo>
                <a:lnTo>
                  <a:pt x="739089" y="49352"/>
                </a:lnTo>
                <a:close/>
              </a:path>
              <a:path w="1873250" h="296545">
                <a:moveTo>
                  <a:pt x="831659" y="271399"/>
                </a:moveTo>
                <a:lnTo>
                  <a:pt x="825360" y="265303"/>
                </a:lnTo>
                <a:lnTo>
                  <a:pt x="825360" y="289877"/>
                </a:lnTo>
                <a:lnTo>
                  <a:pt x="831659" y="286778"/>
                </a:lnTo>
                <a:lnTo>
                  <a:pt x="831659" y="271399"/>
                </a:lnTo>
                <a:close/>
              </a:path>
              <a:path w="1873250" h="296545">
                <a:moveTo>
                  <a:pt x="831659" y="228333"/>
                </a:moveTo>
                <a:lnTo>
                  <a:pt x="825360" y="222034"/>
                </a:lnTo>
                <a:lnTo>
                  <a:pt x="825360" y="252907"/>
                </a:lnTo>
                <a:lnTo>
                  <a:pt x="831659" y="252907"/>
                </a:lnTo>
                <a:lnTo>
                  <a:pt x="831659" y="228333"/>
                </a:lnTo>
                <a:close/>
              </a:path>
              <a:path w="1873250" h="296545">
                <a:moveTo>
                  <a:pt x="831659" y="12446"/>
                </a:moveTo>
                <a:lnTo>
                  <a:pt x="825360" y="6311"/>
                </a:lnTo>
                <a:lnTo>
                  <a:pt x="825360" y="37160"/>
                </a:lnTo>
                <a:lnTo>
                  <a:pt x="831659" y="37160"/>
                </a:lnTo>
                <a:lnTo>
                  <a:pt x="831659" y="12446"/>
                </a:lnTo>
                <a:close/>
              </a:path>
              <a:path w="1873250" h="296545">
                <a:moveTo>
                  <a:pt x="837958" y="289877"/>
                </a:moveTo>
                <a:lnTo>
                  <a:pt x="831659" y="289877"/>
                </a:lnTo>
                <a:lnTo>
                  <a:pt x="825360" y="289877"/>
                </a:lnTo>
                <a:lnTo>
                  <a:pt x="825360" y="296176"/>
                </a:lnTo>
                <a:lnTo>
                  <a:pt x="837958" y="289877"/>
                </a:lnTo>
                <a:close/>
              </a:path>
              <a:path w="1873250" h="296545">
                <a:moveTo>
                  <a:pt x="843876" y="49352"/>
                </a:moveTo>
                <a:lnTo>
                  <a:pt x="800773" y="30848"/>
                </a:lnTo>
                <a:lnTo>
                  <a:pt x="800773" y="49352"/>
                </a:lnTo>
                <a:lnTo>
                  <a:pt x="788504" y="49352"/>
                </a:lnTo>
                <a:lnTo>
                  <a:pt x="788504" y="55651"/>
                </a:lnTo>
                <a:lnTo>
                  <a:pt x="800773" y="55651"/>
                </a:lnTo>
                <a:lnTo>
                  <a:pt x="800773" y="74142"/>
                </a:lnTo>
                <a:lnTo>
                  <a:pt x="825360" y="60007"/>
                </a:lnTo>
                <a:lnTo>
                  <a:pt x="825360" y="80276"/>
                </a:lnTo>
                <a:lnTo>
                  <a:pt x="831659" y="80276"/>
                </a:lnTo>
                <a:lnTo>
                  <a:pt x="831659" y="56388"/>
                </a:lnTo>
                <a:lnTo>
                  <a:pt x="843876" y="49352"/>
                </a:lnTo>
                <a:close/>
              </a:path>
              <a:path w="1873250" h="296545">
                <a:moveTo>
                  <a:pt x="850176" y="277685"/>
                </a:moveTo>
                <a:lnTo>
                  <a:pt x="831659" y="286778"/>
                </a:lnTo>
                <a:lnTo>
                  <a:pt x="844169" y="286778"/>
                </a:lnTo>
                <a:lnTo>
                  <a:pt x="850176" y="283781"/>
                </a:lnTo>
                <a:lnTo>
                  <a:pt x="850176" y="277685"/>
                </a:lnTo>
                <a:close/>
              </a:path>
              <a:path w="1873250" h="296545">
                <a:moveTo>
                  <a:pt x="850176" y="178968"/>
                </a:moveTo>
                <a:lnTo>
                  <a:pt x="843876" y="172872"/>
                </a:lnTo>
                <a:lnTo>
                  <a:pt x="825360" y="191363"/>
                </a:lnTo>
                <a:lnTo>
                  <a:pt x="825360" y="197459"/>
                </a:lnTo>
                <a:lnTo>
                  <a:pt x="825360" y="209842"/>
                </a:lnTo>
                <a:lnTo>
                  <a:pt x="831659" y="209842"/>
                </a:lnTo>
                <a:lnTo>
                  <a:pt x="831659" y="191363"/>
                </a:lnTo>
                <a:lnTo>
                  <a:pt x="831456" y="191363"/>
                </a:lnTo>
                <a:lnTo>
                  <a:pt x="843876" y="178968"/>
                </a:lnTo>
                <a:lnTo>
                  <a:pt x="850176" y="178968"/>
                </a:lnTo>
                <a:close/>
              </a:path>
              <a:path w="1873250" h="296545">
                <a:moveTo>
                  <a:pt x="850176" y="105067"/>
                </a:moveTo>
                <a:lnTo>
                  <a:pt x="843876" y="105067"/>
                </a:lnTo>
                <a:lnTo>
                  <a:pt x="825360" y="92633"/>
                </a:lnTo>
                <a:lnTo>
                  <a:pt x="825360" y="98767"/>
                </a:lnTo>
                <a:lnTo>
                  <a:pt x="843876" y="111125"/>
                </a:lnTo>
                <a:lnTo>
                  <a:pt x="850176" y="105067"/>
                </a:lnTo>
                <a:close/>
              </a:path>
              <a:path w="1873250" h="296545">
                <a:moveTo>
                  <a:pt x="862393" y="6311"/>
                </a:moveTo>
                <a:lnTo>
                  <a:pt x="856246" y="6311"/>
                </a:lnTo>
                <a:lnTo>
                  <a:pt x="831659" y="0"/>
                </a:lnTo>
                <a:lnTo>
                  <a:pt x="831659" y="6311"/>
                </a:lnTo>
                <a:lnTo>
                  <a:pt x="856246" y="12446"/>
                </a:lnTo>
                <a:lnTo>
                  <a:pt x="862393" y="6311"/>
                </a:lnTo>
                <a:close/>
              </a:path>
              <a:path w="1873250" h="296545">
                <a:moveTo>
                  <a:pt x="886968" y="154165"/>
                </a:moveTo>
                <a:lnTo>
                  <a:pt x="880910" y="148107"/>
                </a:lnTo>
                <a:lnTo>
                  <a:pt x="862393" y="166573"/>
                </a:lnTo>
                <a:lnTo>
                  <a:pt x="856246" y="166573"/>
                </a:lnTo>
                <a:lnTo>
                  <a:pt x="862393" y="172872"/>
                </a:lnTo>
                <a:lnTo>
                  <a:pt x="880910" y="154165"/>
                </a:lnTo>
                <a:lnTo>
                  <a:pt x="886968" y="154165"/>
                </a:lnTo>
                <a:close/>
              </a:path>
              <a:path w="1873250" h="296545">
                <a:moveTo>
                  <a:pt x="886968" y="129616"/>
                </a:moveTo>
                <a:lnTo>
                  <a:pt x="880910" y="129616"/>
                </a:lnTo>
                <a:lnTo>
                  <a:pt x="862393" y="111125"/>
                </a:lnTo>
                <a:lnTo>
                  <a:pt x="856246" y="117182"/>
                </a:lnTo>
                <a:lnTo>
                  <a:pt x="862393" y="117182"/>
                </a:lnTo>
                <a:lnTo>
                  <a:pt x="880910" y="135674"/>
                </a:lnTo>
                <a:lnTo>
                  <a:pt x="886968" y="129616"/>
                </a:lnTo>
                <a:close/>
              </a:path>
              <a:path w="1873250" h="296545">
                <a:moveTo>
                  <a:pt x="893279" y="265303"/>
                </a:moveTo>
                <a:lnTo>
                  <a:pt x="868451" y="277685"/>
                </a:lnTo>
                <a:lnTo>
                  <a:pt x="862393" y="277685"/>
                </a:lnTo>
                <a:lnTo>
                  <a:pt x="868451" y="283781"/>
                </a:lnTo>
                <a:lnTo>
                  <a:pt x="893279" y="271399"/>
                </a:lnTo>
                <a:lnTo>
                  <a:pt x="893279" y="265303"/>
                </a:lnTo>
                <a:close/>
              </a:path>
              <a:path w="1873250" h="296545">
                <a:moveTo>
                  <a:pt x="899414" y="135674"/>
                </a:moveTo>
                <a:lnTo>
                  <a:pt x="893279" y="141973"/>
                </a:lnTo>
                <a:lnTo>
                  <a:pt x="899414" y="148107"/>
                </a:lnTo>
                <a:lnTo>
                  <a:pt x="899414" y="141973"/>
                </a:lnTo>
                <a:lnTo>
                  <a:pt x="899414" y="135674"/>
                </a:lnTo>
                <a:close/>
              </a:path>
              <a:path w="1873250" h="296545">
                <a:moveTo>
                  <a:pt x="899414" y="18503"/>
                </a:moveTo>
                <a:lnTo>
                  <a:pt x="874763" y="12446"/>
                </a:lnTo>
                <a:lnTo>
                  <a:pt x="874763" y="18503"/>
                </a:lnTo>
                <a:lnTo>
                  <a:pt x="899414" y="24803"/>
                </a:lnTo>
                <a:lnTo>
                  <a:pt x="899414" y="18503"/>
                </a:lnTo>
                <a:close/>
              </a:path>
              <a:path w="1873250" h="296545">
                <a:moveTo>
                  <a:pt x="936371" y="259207"/>
                </a:moveTo>
                <a:lnTo>
                  <a:pt x="930059" y="259207"/>
                </a:lnTo>
                <a:lnTo>
                  <a:pt x="905484" y="265303"/>
                </a:lnTo>
                <a:lnTo>
                  <a:pt x="905484" y="271399"/>
                </a:lnTo>
                <a:lnTo>
                  <a:pt x="930059" y="265303"/>
                </a:lnTo>
                <a:lnTo>
                  <a:pt x="936371" y="259207"/>
                </a:lnTo>
                <a:close/>
              </a:path>
              <a:path w="1873250" h="296545">
                <a:moveTo>
                  <a:pt x="942517" y="30848"/>
                </a:moveTo>
                <a:lnTo>
                  <a:pt x="917854" y="24803"/>
                </a:lnTo>
                <a:lnTo>
                  <a:pt x="911796" y="24803"/>
                </a:lnTo>
                <a:lnTo>
                  <a:pt x="917854" y="30848"/>
                </a:lnTo>
                <a:lnTo>
                  <a:pt x="942517" y="37160"/>
                </a:lnTo>
                <a:lnTo>
                  <a:pt x="942517" y="30848"/>
                </a:lnTo>
                <a:close/>
              </a:path>
              <a:path w="1873250" h="296545">
                <a:moveTo>
                  <a:pt x="979551" y="246811"/>
                </a:moveTo>
                <a:lnTo>
                  <a:pt x="973239" y="246811"/>
                </a:lnTo>
                <a:lnTo>
                  <a:pt x="948575" y="252907"/>
                </a:lnTo>
                <a:lnTo>
                  <a:pt x="948575" y="259207"/>
                </a:lnTo>
                <a:lnTo>
                  <a:pt x="973239" y="252907"/>
                </a:lnTo>
                <a:lnTo>
                  <a:pt x="979551" y="246811"/>
                </a:lnTo>
                <a:close/>
              </a:path>
              <a:path w="1873250" h="296545">
                <a:moveTo>
                  <a:pt x="985608" y="43294"/>
                </a:moveTo>
                <a:lnTo>
                  <a:pt x="979551" y="43294"/>
                </a:lnTo>
                <a:lnTo>
                  <a:pt x="961034" y="37160"/>
                </a:lnTo>
                <a:lnTo>
                  <a:pt x="954887" y="37160"/>
                </a:lnTo>
                <a:lnTo>
                  <a:pt x="961034" y="43294"/>
                </a:lnTo>
                <a:lnTo>
                  <a:pt x="979551" y="49352"/>
                </a:lnTo>
                <a:lnTo>
                  <a:pt x="985608" y="43294"/>
                </a:lnTo>
                <a:close/>
              </a:path>
              <a:path w="1873250" h="296545">
                <a:moveTo>
                  <a:pt x="1016330" y="234429"/>
                </a:moveTo>
                <a:lnTo>
                  <a:pt x="991755" y="240715"/>
                </a:lnTo>
                <a:lnTo>
                  <a:pt x="985608" y="240715"/>
                </a:lnTo>
                <a:lnTo>
                  <a:pt x="991755" y="246811"/>
                </a:lnTo>
                <a:lnTo>
                  <a:pt x="1016330" y="240715"/>
                </a:lnTo>
                <a:lnTo>
                  <a:pt x="1016330" y="234429"/>
                </a:lnTo>
                <a:close/>
              </a:path>
              <a:path w="1873250" h="296545">
                <a:moveTo>
                  <a:pt x="1028700" y="55651"/>
                </a:moveTo>
                <a:lnTo>
                  <a:pt x="1022642" y="55651"/>
                </a:lnTo>
                <a:lnTo>
                  <a:pt x="998067" y="49352"/>
                </a:lnTo>
                <a:lnTo>
                  <a:pt x="998067" y="55651"/>
                </a:lnTo>
                <a:lnTo>
                  <a:pt x="1022642" y="61785"/>
                </a:lnTo>
                <a:lnTo>
                  <a:pt x="1028700" y="55651"/>
                </a:lnTo>
                <a:close/>
              </a:path>
              <a:path w="1873250" h="296545">
                <a:moveTo>
                  <a:pt x="1059421" y="222034"/>
                </a:moveTo>
                <a:lnTo>
                  <a:pt x="1053363" y="222034"/>
                </a:lnTo>
                <a:lnTo>
                  <a:pt x="1034846" y="228333"/>
                </a:lnTo>
                <a:lnTo>
                  <a:pt x="1028700" y="228333"/>
                </a:lnTo>
                <a:lnTo>
                  <a:pt x="1034846" y="234429"/>
                </a:lnTo>
                <a:lnTo>
                  <a:pt x="1053363" y="228333"/>
                </a:lnTo>
                <a:lnTo>
                  <a:pt x="1059421" y="222034"/>
                </a:lnTo>
                <a:close/>
              </a:path>
              <a:path w="1873250" h="296545">
                <a:moveTo>
                  <a:pt x="1065733" y="67843"/>
                </a:moveTo>
                <a:lnTo>
                  <a:pt x="1041158" y="55651"/>
                </a:lnTo>
                <a:lnTo>
                  <a:pt x="1034846" y="61785"/>
                </a:lnTo>
                <a:lnTo>
                  <a:pt x="1041158" y="61785"/>
                </a:lnTo>
                <a:lnTo>
                  <a:pt x="1065733" y="74142"/>
                </a:lnTo>
                <a:lnTo>
                  <a:pt x="1065733" y="67843"/>
                </a:lnTo>
                <a:close/>
              </a:path>
              <a:path w="1873250" h="296545">
                <a:moveTo>
                  <a:pt x="1084249" y="67843"/>
                </a:moveTo>
                <a:lnTo>
                  <a:pt x="1077937" y="74142"/>
                </a:lnTo>
                <a:lnTo>
                  <a:pt x="1084249" y="74142"/>
                </a:lnTo>
                <a:lnTo>
                  <a:pt x="1084249" y="67843"/>
                </a:lnTo>
                <a:close/>
              </a:path>
              <a:path w="1873250" h="296545">
                <a:moveTo>
                  <a:pt x="1090396" y="203542"/>
                </a:moveTo>
                <a:lnTo>
                  <a:pt x="1084249" y="197459"/>
                </a:lnTo>
                <a:lnTo>
                  <a:pt x="1084249" y="215938"/>
                </a:lnTo>
                <a:lnTo>
                  <a:pt x="1071880" y="215938"/>
                </a:lnTo>
                <a:lnTo>
                  <a:pt x="1071880" y="222034"/>
                </a:lnTo>
                <a:lnTo>
                  <a:pt x="1084249" y="222034"/>
                </a:lnTo>
                <a:lnTo>
                  <a:pt x="1090396" y="215938"/>
                </a:lnTo>
                <a:lnTo>
                  <a:pt x="1090396" y="203542"/>
                </a:lnTo>
                <a:close/>
              </a:path>
              <a:path w="1873250" h="296545">
                <a:moveTo>
                  <a:pt x="1090396" y="160464"/>
                </a:moveTo>
                <a:lnTo>
                  <a:pt x="1084249" y="154165"/>
                </a:lnTo>
                <a:lnTo>
                  <a:pt x="1084249" y="185064"/>
                </a:lnTo>
                <a:lnTo>
                  <a:pt x="1090396" y="185064"/>
                </a:lnTo>
                <a:lnTo>
                  <a:pt x="1090396" y="160464"/>
                </a:lnTo>
                <a:close/>
              </a:path>
              <a:path w="1873250" h="296545">
                <a:moveTo>
                  <a:pt x="1090396" y="117182"/>
                </a:moveTo>
                <a:lnTo>
                  <a:pt x="1084249" y="111125"/>
                </a:lnTo>
                <a:lnTo>
                  <a:pt x="1084249" y="141973"/>
                </a:lnTo>
                <a:lnTo>
                  <a:pt x="1090396" y="141973"/>
                </a:lnTo>
                <a:lnTo>
                  <a:pt x="1090396" y="117182"/>
                </a:lnTo>
                <a:close/>
              </a:path>
              <a:path w="1873250" h="296545">
                <a:moveTo>
                  <a:pt x="1090396" y="74142"/>
                </a:moveTo>
                <a:lnTo>
                  <a:pt x="1084249" y="74142"/>
                </a:lnTo>
                <a:lnTo>
                  <a:pt x="1084249" y="98767"/>
                </a:lnTo>
                <a:lnTo>
                  <a:pt x="1090396" y="98767"/>
                </a:lnTo>
                <a:lnTo>
                  <a:pt x="1090396" y="74142"/>
                </a:lnTo>
                <a:close/>
              </a:path>
              <a:path w="1873250" h="296545">
                <a:moveTo>
                  <a:pt x="1872818" y="277685"/>
                </a:moveTo>
                <a:lnTo>
                  <a:pt x="1866506" y="277685"/>
                </a:lnTo>
                <a:lnTo>
                  <a:pt x="1866506" y="289877"/>
                </a:lnTo>
                <a:lnTo>
                  <a:pt x="1854301" y="289877"/>
                </a:lnTo>
                <a:lnTo>
                  <a:pt x="1854301" y="296176"/>
                </a:lnTo>
                <a:lnTo>
                  <a:pt x="1866506" y="296176"/>
                </a:lnTo>
                <a:lnTo>
                  <a:pt x="1872818" y="289877"/>
                </a:lnTo>
                <a:lnTo>
                  <a:pt x="1872818" y="2776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 descr=""/>
          <p:cNvSpPr txBox="1"/>
          <p:nvPr/>
        </p:nvSpPr>
        <p:spPr>
          <a:xfrm>
            <a:off x="3861234" y="5457149"/>
            <a:ext cx="240665" cy="290195"/>
          </a:xfrm>
          <a:prstGeom prst="rect">
            <a:avLst/>
          </a:prstGeom>
          <a:ln w="6304">
            <a:solidFill>
              <a:srgbClr val="0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 marL="95250" marR="37465" indent="-19050">
              <a:lnSpc>
                <a:spcPts val="580"/>
              </a:lnSpc>
              <a:spcBef>
                <a:spcPts val="5"/>
              </a:spcBef>
            </a:pPr>
            <a:r>
              <a:rPr dirty="0" sz="500" spc="-25">
                <a:latin typeface="Arial MT"/>
                <a:cs typeface="Arial MT"/>
              </a:rPr>
              <a:t>Reg</a:t>
            </a:r>
            <a:r>
              <a:rPr dirty="0" sz="500" spc="500">
                <a:latin typeface="Arial MT"/>
                <a:cs typeface="Arial MT"/>
              </a:rPr>
              <a:t> </a:t>
            </a:r>
            <a:r>
              <a:rPr dirty="0" sz="500" spc="-20">
                <a:latin typeface="Arial MT"/>
                <a:cs typeface="Arial MT"/>
              </a:rPr>
              <a:t>file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49" name="object 349" descr=""/>
          <p:cNvSpPr txBox="1"/>
          <p:nvPr/>
        </p:nvSpPr>
        <p:spPr>
          <a:xfrm>
            <a:off x="3149788" y="5564809"/>
            <a:ext cx="147955" cy="10731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500" spc="-25">
                <a:latin typeface="Arial MT"/>
                <a:cs typeface="Arial MT"/>
              </a:rPr>
              <a:t>ALU</a:t>
            </a:r>
            <a:endParaRPr sz="500">
              <a:latin typeface="Arial MT"/>
              <a:cs typeface="Arial MT"/>
            </a:endParaRPr>
          </a:p>
        </p:txBody>
      </p:sp>
      <p:grpSp>
        <p:nvGrpSpPr>
          <p:cNvPr id="350" name="object 350" descr=""/>
          <p:cNvGrpSpPr/>
          <p:nvPr/>
        </p:nvGrpSpPr>
        <p:grpSpPr>
          <a:xfrm>
            <a:off x="2576693" y="4911252"/>
            <a:ext cx="1379855" cy="839469"/>
            <a:chOff x="2576693" y="4911252"/>
            <a:chExt cx="1379855" cy="839469"/>
          </a:xfrm>
        </p:grpSpPr>
        <p:sp>
          <p:nvSpPr>
            <p:cNvPr id="351" name="object 351" descr=""/>
            <p:cNvSpPr/>
            <p:nvPr/>
          </p:nvSpPr>
          <p:spPr>
            <a:xfrm>
              <a:off x="2579868" y="5447910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67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2589022" y="5706904"/>
              <a:ext cx="43180" cy="37465"/>
            </a:xfrm>
            <a:custGeom>
              <a:avLst/>
              <a:gdLst/>
              <a:ahLst/>
              <a:cxnLst/>
              <a:rect l="l" t="t" r="r" b="b"/>
              <a:pathLst>
                <a:path w="43180" h="37464">
                  <a:moveTo>
                    <a:pt x="24803" y="30873"/>
                  </a:moveTo>
                  <a:lnTo>
                    <a:pt x="0" y="30873"/>
                  </a:lnTo>
                  <a:lnTo>
                    <a:pt x="0" y="36969"/>
                  </a:lnTo>
                  <a:lnTo>
                    <a:pt x="24803" y="36969"/>
                  </a:lnTo>
                  <a:lnTo>
                    <a:pt x="24803" y="30873"/>
                  </a:lnTo>
                  <a:close/>
                </a:path>
                <a:path w="43180" h="37464">
                  <a:moveTo>
                    <a:pt x="43129" y="0"/>
                  </a:moveTo>
                  <a:lnTo>
                    <a:pt x="37033" y="0"/>
                  </a:lnTo>
                  <a:lnTo>
                    <a:pt x="37033" y="24777"/>
                  </a:lnTo>
                  <a:lnTo>
                    <a:pt x="43129" y="24777"/>
                  </a:lnTo>
                  <a:lnTo>
                    <a:pt x="43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2629107" y="5447910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w="0" h="240664">
                  <a:moveTo>
                    <a:pt x="0" y="0"/>
                  </a:moveTo>
                  <a:lnTo>
                    <a:pt x="0" y="240506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2582951" y="5447913"/>
              <a:ext cx="788670" cy="31115"/>
            </a:xfrm>
            <a:custGeom>
              <a:avLst/>
              <a:gdLst/>
              <a:ahLst/>
              <a:cxnLst/>
              <a:rect l="l" t="t" r="r" b="b"/>
              <a:pathLst>
                <a:path w="788670" h="31114">
                  <a:moveTo>
                    <a:pt x="24612" y="0"/>
                  </a:moveTo>
                  <a:lnTo>
                    <a:pt x="0" y="0"/>
                  </a:lnTo>
                  <a:lnTo>
                    <a:pt x="0" y="6083"/>
                  </a:lnTo>
                  <a:lnTo>
                    <a:pt x="24612" y="6083"/>
                  </a:lnTo>
                  <a:lnTo>
                    <a:pt x="24612" y="0"/>
                  </a:lnTo>
                  <a:close/>
                </a:path>
                <a:path w="788670" h="31114">
                  <a:moveTo>
                    <a:pt x="788530" y="6096"/>
                  </a:moveTo>
                  <a:lnTo>
                    <a:pt x="782421" y="6096"/>
                  </a:lnTo>
                  <a:lnTo>
                    <a:pt x="782421" y="30886"/>
                  </a:lnTo>
                  <a:lnTo>
                    <a:pt x="788530" y="30886"/>
                  </a:lnTo>
                  <a:lnTo>
                    <a:pt x="788530" y="60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3368432" y="5497251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w="0" h="240664">
                  <a:moveTo>
                    <a:pt x="0" y="0"/>
                  </a:moveTo>
                  <a:lnTo>
                    <a:pt x="0" y="240523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3377743" y="5713203"/>
              <a:ext cx="43180" cy="37465"/>
            </a:xfrm>
            <a:custGeom>
              <a:avLst/>
              <a:gdLst/>
              <a:ahLst/>
              <a:cxnLst/>
              <a:rect l="l" t="t" r="r" b="b"/>
              <a:pathLst>
                <a:path w="43179" h="37464">
                  <a:moveTo>
                    <a:pt x="24612" y="30670"/>
                  </a:moveTo>
                  <a:lnTo>
                    <a:pt x="0" y="30670"/>
                  </a:lnTo>
                  <a:lnTo>
                    <a:pt x="0" y="36969"/>
                  </a:lnTo>
                  <a:lnTo>
                    <a:pt x="24612" y="36969"/>
                  </a:lnTo>
                  <a:lnTo>
                    <a:pt x="24612" y="30670"/>
                  </a:lnTo>
                  <a:close/>
                </a:path>
                <a:path w="43179" h="37464">
                  <a:moveTo>
                    <a:pt x="43180" y="0"/>
                  </a:moveTo>
                  <a:lnTo>
                    <a:pt x="36868" y="0"/>
                  </a:lnTo>
                  <a:lnTo>
                    <a:pt x="36868" y="24574"/>
                  </a:lnTo>
                  <a:lnTo>
                    <a:pt x="43180" y="24574"/>
                  </a:lnTo>
                  <a:lnTo>
                    <a:pt x="431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3417773" y="5454009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w="0" h="241300">
                  <a:moveTo>
                    <a:pt x="0" y="0"/>
                  </a:moveTo>
                  <a:lnTo>
                    <a:pt x="0" y="240700"/>
                  </a:lnTo>
                </a:path>
              </a:pathLst>
            </a:custGeom>
            <a:ln w="630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3371443" y="5454009"/>
              <a:ext cx="394970" cy="25400"/>
            </a:xfrm>
            <a:custGeom>
              <a:avLst/>
              <a:gdLst/>
              <a:ahLst/>
              <a:cxnLst/>
              <a:rect l="l" t="t" r="r" b="b"/>
              <a:pathLst>
                <a:path w="394970" h="25400">
                  <a:moveTo>
                    <a:pt x="24599" y="0"/>
                  </a:moveTo>
                  <a:lnTo>
                    <a:pt x="0" y="0"/>
                  </a:lnTo>
                  <a:lnTo>
                    <a:pt x="0" y="6299"/>
                  </a:lnTo>
                  <a:lnTo>
                    <a:pt x="24599" y="6299"/>
                  </a:lnTo>
                  <a:lnTo>
                    <a:pt x="24599" y="0"/>
                  </a:lnTo>
                  <a:close/>
                </a:path>
                <a:path w="394970" h="25400">
                  <a:moveTo>
                    <a:pt x="394398" y="0"/>
                  </a:moveTo>
                  <a:lnTo>
                    <a:pt x="388086" y="0"/>
                  </a:lnTo>
                  <a:lnTo>
                    <a:pt x="388086" y="24790"/>
                  </a:lnTo>
                  <a:lnTo>
                    <a:pt x="394398" y="24790"/>
                  </a:lnTo>
                  <a:lnTo>
                    <a:pt x="3943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3762694" y="5497251"/>
              <a:ext cx="0" cy="240665"/>
            </a:xfrm>
            <a:custGeom>
              <a:avLst/>
              <a:gdLst/>
              <a:ahLst/>
              <a:cxnLst/>
              <a:rect l="l" t="t" r="r" b="b"/>
              <a:pathLst>
                <a:path w="0" h="240664">
                  <a:moveTo>
                    <a:pt x="0" y="0"/>
                  </a:moveTo>
                  <a:lnTo>
                    <a:pt x="0" y="240523"/>
                  </a:lnTo>
                </a:path>
              </a:pathLst>
            </a:custGeom>
            <a:ln w="630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3771912" y="5713203"/>
              <a:ext cx="43180" cy="37465"/>
            </a:xfrm>
            <a:custGeom>
              <a:avLst/>
              <a:gdLst/>
              <a:ahLst/>
              <a:cxnLst/>
              <a:rect l="l" t="t" r="r" b="b"/>
              <a:pathLst>
                <a:path w="43179" h="37464">
                  <a:moveTo>
                    <a:pt x="24599" y="30670"/>
                  </a:moveTo>
                  <a:lnTo>
                    <a:pt x="0" y="30670"/>
                  </a:lnTo>
                  <a:lnTo>
                    <a:pt x="0" y="36969"/>
                  </a:lnTo>
                  <a:lnTo>
                    <a:pt x="24599" y="36969"/>
                  </a:lnTo>
                  <a:lnTo>
                    <a:pt x="24599" y="30670"/>
                  </a:lnTo>
                  <a:close/>
                </a:path>
                <a:path w="43179" h="37464">
                  <a:moveTo>
                    <a:pt x="43129" y="0"/>
                  </a:moveTo>
                  <a:lnTo>
                    <a:pt x="37020" y="0"/>
                  </a:lnTo>
                  <a:lnTo>
                    <a:pt x="37020" y="24574"/>
                  </a:lnTo>
                  <a:lnTo>
                    <a:pt x="43129" y="24574"/>
                  </a:lnTo>
                  <a:lnTo>
                    <a:pt x="43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3811995" y="5454009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w="0" h="241300">
                  <a:moveTo>
                    <a:pt x="0" y="0"/>
                  </a:moveTo>
                  <a:lnTo>
                    <a:pt x="0" y="240700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3765849" y="5454000"/>
              <a:ext cx="24765" cy="6350"/>
            </a:xfrm>
            <a:custGeom>
              <a:avLst/>
              <a:gdLst/>
              <a:ahLst/>
              <a:cxnLst/>
              <a:rect l="l" t="t" r="r" b="b"/>
              <a:pathLst>
                <a:path w="24764" h="6350">
                  <a:moveTo>
                    <a:pt x="24609" y="0"/>
                  </a:moveTo>
                  <a:lnTo>
                    <a:pt x="0" y="0"/>
                  </a:lnTo>
                  <a:lnTo>
                    <a:pt x="0" y="6296"/>
                  </a:lnTo>
                  <a:lnTo>
                    <a:pt x="24609" y="6296"/>
                  </a:lnTo>
                  <a:lnTo>
                    <a:pt x="24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3020461" y="5546630"/>
              <a:ext cx="49530" cy="99060"/>
            </a:xfrm>
            <a:custGeom>
              <a:avLst/>
              <a:gdLst/>
              <a:ahLst/>
              <a:cxnLst/>
              <a:rect l="l" t="t" r="r" b="b"/>
              <a:pathLst>
                <a:path w="49530" h="99060">
                  <a:moveTo>
                    <a:pt x="49218" y="0"/>
                  </a:moveTo>
                  <a:lnTo>
                    <a:pt x="0" y="0"/>
                  </a:lnTo>
                  <a:lnTo>
                    <a:pt x="0" y="98721"/>
                  </a:lnTo>
                  <a:lnTo>
                    <a:pt x="49218" y="98721"/>
                  </a:lnTo>
                  <a:lnTo>
                    <a:pt x="492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2974128" y="5454009"/>
              <a:ext cx="0" cy="283845"/>
            </a:xfrm>
            <a:custGeom>
              <a:avLst/>
              <a:gdLst/>
              <a:ahLst/>
              <a:cxnLst/>
              <a:rect l="l" t="t" r="r" b="b"/>
              <a:pathLst>
                <a:path w="0" h="283845">
                  <a:moveTo>
                    <a:pt x="0" y="0"/>
                  </a:moveTo>
                  <a:lnTo>
                    <a:pt x="0" y="283765"/>
                  </a:lnTo>
                </a:path>
              </a:pathLst>
            </a:custGeom>
            <a:ln w="630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2983420" y="5713203"/>
              <a:ext cx="43180" cy="37465"/>
            </a:xfrm>
            <a:custGeom>
              <a:avLst/>
              <a:gdLst/>
              <a:ahLst/>
              <a:cxnLst/>
              <a:rect l="l" t="t" r="r" b="b"/>
              <a:pathLst>
                <a:path w="43180" h="37464">
                  <a:moveTo>
                    <a:pt x="24612" y="30670"/>
                  </a:moveTo>
                  <a:lnTo>
                    <a:pt x="0" y="30670"/>
                  </a:lnTo>
                  <a:lnTo>
                    <a:pt x="0" y="36969"/>
                  </a:lnTo>
                  <a:lnTo>
                    <a:pt x="24612" y="36969"/>
                  </a:lnTo>
                  <a:lnTo>
                    <a:pt x="24612" y="30670"/>
                  </a:lnTo>
                  <a:close/>
                </a:path>
                <a:path w="43180" h="37464">
                  <a:moveTo>
                    <a:pt x="43141" y="0"/>
                  </a:moveTo>
                  <a:lnTo>
                    <a:pt x="37033" y="0"/>
                  </a:lnTo>
                  <a:lnTo>
                    <a:pt x="37033" y="24574"/>
                  </a:lnTo>
                  <a:lnTo>
                    <a:pt x="43141" y="24574"/>
                  </a:lnTo>
                  <a:lnTo>
                    <a:pt x="431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3023512" y="5454009"/>
              <a:ext cx="0" cy="241300"/>
            </a:xfrm>
            <a:custGeom>
              <a:avLst/>
              <a:gdLst/>
              <a:ahLst/>
              <a:cxnLst/>
              <a:rect l="l" t="t" r="r" b="b"/>
              <a:pathLst>
                <a:path w="0" h="241300">
                  <a:moveTo>
                    <a:pt x="0" y="0"/>
                  </a:moveTo>
                  <a:lnTo>
                    <a:pt x="0" y="240700"/>
                  </a:lnTo>
                </a:path>
              </a:pathLst>
            </a:custGeom>
            <a:ln w="610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2977285" y="5454000"/>
              <a:ext cx="24765" cy="6350"/>
            </a:xfrm>
            <a:custGeom>
              <a:avLst/>
              <a:gdLst/>
              <a:ahLst/>
              <a:cxnLst/>
              <a:rect l="l" t="t" r="r" b="b"/>
              <a:pathLst>
                <a:path w="24764" h="6350">
                  <a:moveTo>
                    <a:pt x="24609" y="0"/>
                  </a:moveTo>
                  <a:lnTo>
                    <a:pt x="0" y="0"/>
                  </a:lnTo>
                  <a:lnTo>
                    <a:pt x="0" y="6296"/>
                  </a:lnTo>
                  <a:lnTo>
                    <a:pt x="24609" y="6296"/>
                  </a:lnTo>
                  <a:lnTo>
                    <a:pt x="246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8" name="object 36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64246" y="4911252"/>
              <a:ext cx="92270" cy="345546"/>
            </a:xfrm>
            <a:prstGeom prst="rect">
              <a:avLst/>
            </a:prstGeom>
          </p:spPr>
        </p:pic>
      </p:grpSp>
      <p:sp>
        <p:nvSpPr>
          <p:cNvPr id="369" name="object 369" descr=""/>
          <p:cNvSpPr txBox="1"/>
          <p:nvPr/>
        </p:nvSpPr>
        <p:spPr>
          <a:xfrm>
            <a:off x="4012127" y="4923304"/>
            <a:ext cx="359410" cy="378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>
              <a:lnSpc>
                <a:spcPct val="102499"/>
              </a:lnSpc>
              <a:spcBef>
                <a:spcPts val="105"/>
              </a:spcBef>
            </a:pPr>
            <a:r>
              <a:rPr dirty="0" sz="750" spc="-60">
                <a:latin typeface="Arial MT"/>
                <a:cs typeface="Arial MT"/>
              </a:rPr>
              <a:t>Reorder?</a:t>
            </a:r>
            <a:r>
              <a:rPr dirty="0" sz="750" spc="500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(delayed</a:t>
            </a:r>
            <a:r>
              <a:rPr dirty="0" sz="750" spc="-10">
                <a:latin typeface="Arial MT"/>
                <a:cs typeface="Arial MT"/>
              </a:rPr>
              <a:t> branch)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370" name="object 370" descr=""/>
          <p:cNvSpPr txBox="1"/>
          <p:nvPr/>
        </p:nvSpPr>
        <p:spPr>
          <a:xfrm>
            <a:off x="2145707" y="6206077"/>
            <a:ext cx="574675" cy="21462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30"/>
              </a:spcBef>
            </a:pPr>
            <a:r>
              <a:rPr dirty="0" sz="600">
                <a:latin typeface="Arial MT"/>
                <a:cs typeface="Arial MT"/>
              </a:rPr>
              <a:t>Assume</a:t>
            </a:r>
            <a:r>
              <a:rPr dirty="0" sz="600" spc="150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branch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resolved</a:t>
            </a:r>
            <a:r>
              <a:rPr dirty="0" sz="600" spc="130">
                <a:latin typeface="Arial MT"/>
                <a:cs typeface="Arial MT"/>
              </a:rPr>
              <a:t> </a:t>
            </a:r>
            <a:r>
              <a:rPr dirty="0" sz="600" spc="-20">
                <a:latin typeface="Arial MT"/>
                <a:cs typeface="Arial MT"/>
              </a:rPr>
              <a:t>here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71" name="object 371" descr=""/>
          <p:cNvGrpSpPr/>
          <p:nvPr/>
        </p:nvGrpSpPr>
        <p:grpSpPr>
          <a:xfrm>
            <a:off x="2521351" y="5306139"/>
            <a:ext cx="567055" cy="937894"/>
            <a:chOff x="2521351" y="5306139"/>
            <a:chExt cx="567055" cy="937894"/>
          </a:xfrm>
        </p:grpSpPr>
        <p:sp>
          <p:nvSpPr>
            <p:cNvPr id="372" name="object 372" descr=""/>
            <p:cNvSpPr/>
            <p:nvPr/>
          </p:nvSpPr>
          <p:spPr>
            <a:xfrm>
              <a:off x="2555187" y="5358425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w="0" h="882014">
                  <a:moveTo>
                    <a:pt x="0" y="881983"/>
                  </a:moveTo>
                  <a:lnTo>
                    <a:pt x="0" y="0"/>
                  </a:lnTo>
                </a:path>
              </a:pathLst>
            </a:custGeom>
            <a:ln w="6101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2521351" y="5306139"/>
              <a:ext cx="67945" cy="67945"/>
            </a:xfrm>
            <a:custGeom>
              <a:avLst/>
              <a:gdLst/>
              <a:ahLst/>
              <a:cxnLst/>
              <a:rect l="l" t="t" r="r" b="b"/>
              <a:pathLst>
                <a:path w="67944" h="67945">
                  <a:moveTo>
                    <a:pt x="37031" y="0"/>
                  </a:moveTo>
                  <a:lnTo>
                    <a:pt x="0" y="67833"/>
                  </a:lnTo>
                  <a:lnTo>
                    <a:pt x="67673" y="67833"/>
                  </a:lnTo>
                  <a:lnTo>
                    <a:pt x="37031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2955655" y="5358425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w="0" h="882014">
                  <a:moveTo>
                    <a:pt x="0" y="881983"/>
                  </a:moveTo>
                  <a:lnTo>
                    <a:pt x="0" y="0"/>
                  </a:lnTo>
                </a:path>
              </a:pathLst>
            </a:custGeom>
            <a:ln w="6101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2921819" y="5306139"/>
              <a:ext cx="67945" cy="67945"/>
            </a:xfrm>
            <a:custGeom>
              <a:avLst/>
              <a:gdLst/>
              <a:ahLst/>
              <a:cxnLst/>
              <a:rect l="l" t="t" r="r" b="b"/>
              <a:pathLst>
                <a:path w="67944" h="67945">
                  <a:moveTo>
                    <a:pt x="30887" y="0"/>
                  </a:moveTo>
                  <a:lnTo>
                    <a:pt x="0" y="67833"/>
                  </a:lnTo>
                  <a:lnTo>
                    <a:pt x="67673" y="67833"/>
                  </a:lnTo>
                  <a:lnTo>
                    <a:pt x="30887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3054052" y="5358425"/>
              <a:ext cx="0" cy="882015"/>
            </a:xfrm>
            <a:custGeom>
              <a:avLst/>
              <a:gdLst/>
              <a:ahLst/>
              <a:cxnLst/>
              <a:rect l="l" t="t" r="r" b="b"/>
              <a:pathLst>
                <a:path w="0" h="882014">
                  <a:moveTo>
                    <a:pt x="0" y="881983"/>
                  </a:moveTo>
                  <a:lnTo>
                    <a:pt x="0" y="0"/>
                  </a:lnTo>
                </a:path>
              </a:pathLst>
            </a:custGeom>
            <a:ln w="6101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3020461" y="5306139"/>
              <a:ext cx="67945" cy="67945"/>
            </a:xfrm>
            <a:custGeom>
              <a:avLst/>
              <a:gdLst/>
              <a:ahLst/>
              <a:cxnLst/>
              <a:rect l="l" t="t" r="r" b="b"/>
              <a:pathLst>
                <a:path w="67944" h="67945">
                  <a:moveTo>
                    <a:pt x="30723" y="0"/>
                  </a:moveTo>
                  <a:lnTo>
                    <a:pt x="0" y="67833"/>
                  </a:lnTo>
                  <a:lnTo>
                    <a:pt x="67673" y="67833"/>
                  </a:lnTo>
                  <a:lnTo>
                    <a:pt x="30723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8" name="object 378" descr=""/>
          <p:cNvSpPr txBox="1"/>
          <p:nvPr/>
        </p:nvSpPr>
        <p:spPr>
          <a:xfrm>
            <a:off x="2884787" y="6206077"/>
            <a:ext cx="648335" cy="21462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R="5080">
              <a:lnSpc>
                <a:spcPct val="100000"/>
              </a:lnSpc>
              <a:spcBef>
                <a:spcPts val="130"/>
              </a:spcBef>
            </a:pPr>
            <a:r>
              <a:rPr dirty="0" sz="600">
                <a:latin typeface="Arial MT"/>
                <a:cs typeface="Arial MT"/>
              </a:rPr>
              <a:t>Here</a:t>
            </a:r>
            <a:r>
              <a:rPr dirty="0" sz="600" spc="65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would</a:t>
            </a:r>
            <a:r>
              <a:rPr dirty="0" sz="600" spc="65">
                <a:latin typeface="Arial MT"/>
                <a:cs typeface="Arial MT"/>
              </a:rPr>
              <a:t> </a:t>
            </a:r>
            <a:r>
              <a:rPr dirty="0" sz="600" spc="-20">
                <a:latin typeface="Arial MT"/>
                <a:cs typeface="Arial MT"/>
              </a:rPr>
              <a:t>need</a:t>
            </a:r>
            <a:r>
              <a:rPr dirty="0" sz="600" spc="500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1-</a:t>
            </a:r>
            <a:r>
              <a:rPr dirty="0" sz="600">
                <a:latin typeface="Arial MT"/>
                <a:cs typeface="Arial MT"/>
              </a:rPr>
              <a:t>2</a:t>
            </a:r>
            <a:r>
              <a:rPr dirty="0" sz="600" spc="130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more</a:t>
            </a:r>
            <a:r>
              <a:rPr dirty="0" sz="600" spc="65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bubbl</a:t>
            </a:r>
            <a:r>
              <a:rPr dirty="0" sz="600" spc="-100">
                <a:latin typeface="Arial MT"/>
                <a:cs typeface="Arial MT"/>
              </a:rPr>
              <a:t> </a:t>
            </a:r>
            <a:r>
              <a:rPr dirty="0" sz="600" spc="-25">
                <a:latin typeface="Arial MT"/>
                <a:cs typeface="Arial MT"/>
              </a:rPr>
              <a:t>es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79" name="object 379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0" name="object 380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81" name="object 38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382" name="object 382" descr=""/>
          <p:cNvSpPr txBox="1"/>
          <p:nvPr/>
        </p:nvSpPr>
        <p:spPr>
          <a:xfrm>
            <a:off x="5729114" y="4146223"/>
            <a:ext cx="21132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Dependencies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Hazards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83" name="object 383" descr=""/>
          <p:cNvSpPr txBox="1"/>
          <p:nvPr/>
        </p:nvSpPr>
        <p:spPr>
          <a:xfrm>
            <a:off x="6749188" y="6510883"/>
            <a:ext cx="2207260" cy="181610"/>
          </a:xfrm>
          <a:prstGeom prst="rect">
            <a:avLst/>
          </a:prstGeom>
          <a:solidFill>
            <a:srgbClr val="CCFF99"/>
          </a:solidFill>
        </p:spPr>
        <p:txBody>
          <a:bodyPr wrap="square" lIns="0" tIns="2222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75"/>
              </a:spcBef>
            </a:pPr>
            <a:r>
              <a:rPr dirty="0" sz="850">
                <a:latin typeface="Arial MT"/>
                <a:cs typeface="Arial MT"/>
              </a:rPr>
              <a:t>Data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dependency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pipeline.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84" name="object 384" descr=""/>
          <p:cNvGrpSpPr/>
          <p:nvPr/>
        </p:nvGrpSpPr>
        <p:grpSpPr>
          <a:xfrm>
            <a:off x="6087198" y="4698490"/>
            <a:ext cx="1717039" cy="309245"/>
            <a:chOff x="6087198" y="4698490"/>
            <a:chExt cx="1717039" cy="309245"/>
          </a:xfrm>
        </p:grpSpPr>
        <p:sp>
          <p:nvSpPr>
            <p:cNvPr id="385" name="object 385" descr=""/>
            <p:cNvSpPr/>
            <p:nvPr/>
          </p:nvSpPr>
          <p:spPr>
            <a:xfrm>
              <a:off x="7246372" y="4856023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5" h="0">
                  <a:moveTo>
                    <a:pt x="0" y="0"/>
                  </a:moveTo>
                  <a:lnTo>
                    <a:pt x="125901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7356767" y="4834056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84"/>
                  </a:lnTo>
                  <a:lnTo>
                    <a:pt x="44090" y="18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6090373" y="4701665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6090373" y="4701665"/>
              <a:ext cx="885190" cy="302895"/>
            </a:xfrm>
            <a:custGeom>
              <a:avLst/>
              <a:gdLst/>
              <a:ahLst/>
              <a:cxnLst/>
              <a:rect l="l" t="t" r="r" b="b"/>
              <a:pathLst>
                <a:path w="88519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885190" h="302895">
                  <a:moveTo>
                    <a:pt x="758989" y="255138"/>
                  </a:moveTo>
                  <a:lnTo>
                    <a:pt x="885083" y="255138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6959782" y="4934836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0" y="0"/>
                  </a:moveTo>
                  <a:lnTo>
                    <a:pt x="0" y="44102"/>
                  </a:lnTo>
                  <a:lnTo>
                    <a:pt x="37804" y="18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7394487" y="4701665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51987" y="30242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7394487" y="4701665"/>
              <a:ext cx="381635" cy="302895"/>
            </a:xfrm>
            <a:custGeom>
              <a:avLst/>
              <a:gdLst/>
              <a:ahLst/>
              <a:cxnLst/>
              <a:rect l="l" t="t" r="r" b="b"/>
              <a:pathLst>
                <a:path w="381634" h="302895">
                  <a:moveTo>
                    <a:pt x="0" y="302426"/>
                  </a:moveTo>
                  <a:lnTo>
                    <a:pt x="251987" y="30242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381634" h="302895">
                  <a:moveTo>
                    <a:pt x="254988" y="154357"/>
                  </a:moveTo>
                  <a:lnTo>
                    <a:pt x="381058" y="154357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7759870" y="4834056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84"/>
                  </a:lnTo>
                  <a:lnTo>
                    <a:pt x="44090" y="18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6191086" y="4701665"/>
              <a:ext cx="252729" cy="302895"/>
            </a:xfrm>
            <a:custGeom>
              <a:avLst/>
              <a:gdLst/>
              <a:ahLst/>
              <a:cxnLst/>
              <a:rect l="l" t="t" r="r" b="b"/>
              <a:pathLst>
                <a:path w="252729" h="302895">
                  <a:moveTo>
                    <a:pt x="252197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52197" y="302426"/>
                  </a:lnTo>
                  <a:lnTo>
                    <a:pt x="25219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6191086" y="4701665"/>
              <a:ext cx="381635" cy="302895"/>
            </a:xfrm>
            <a:custGeom>
              <a:avLst/>
              <a:gdLst/>
              <a:ahLst/>
              <a:cxnLst/>
              <a:rect l="l" t="t" r="r" b="b"/>
              <a:pathLst>
                <a:path w="381634" h="302895">
                  <a:moveTo>
                    <a:pt x="0" y="302426"/>
                  </a:moveTo>
                  <a:lnTo>
                    <a:pt x="252197" y="302426"/>
                  </a:lnTo>
                  <a:lnTo>
                    <a:pt x="252197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381634" h="302895">
                  <a:moveTo>
                    <a:pt x="255214" y="154357"/>
                  </a:moveTo>
                  <a:lnTo>
                    <a:pt x="381108" y="154357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6556696" y="4834056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0" y="0"/>
                  </a:moveTo>
                  <a:lnTo>
                    <a:pt x="0" y="44184"/>
                  </a:lnTo>
                  <a:lnTo>
                    <a:pt x="37660" y="18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6594358" y="4701665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51987" y="30242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6594358" y="4701665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0" y="302426"/>
                  </a:moveTo>
                  <a:lnTo>
                    <a:pt x="251987" y="30242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8" name="object 398" descr=""/>
          <p:cNvSpPr txBox="1"/>
          <p:nvPr/>
        </p:nvSpPr>
        <p:spPr>
          <a:xfrm>
            <a:off x="6670099" y="4758333"/>
            <a:ext cx="133350" cy="1841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15" marR="5080" indent="-19050">
              <a:lnSpc>
                <a:spcPts val="590"/>
              </a:lnSpc>
              <a:spcBef>
                <a:spcPts val="17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99" name="object 399" descr=""/>
          <p:cNvGrpSpPr/>
          <p:nvPr/>
        </p:nvGrpSpPr>
        <p:grpSpPr>
          <a:xfrm>
            <a:off x="6140572" y="4701509"/>
            <a:ext cx="1109345" cy="309245"/>
            <a:chOff x="6140572" y="4701509"/>
            <a:chExt cx="1109345" cy="309245"/>
          </a:xfrm>
        </p:grpSpPr>
        <p:sp>
          <p:nvSpPr>
            <p:cNvPr id="400" name="object 400" descr=""/>
            <p:cNvSpPr/>
            <p:nvPr/>
          </p:nvSpPr>
          <p:spPr>
            <a:xfrm>
              <a:off x="6849363" y="4755074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5" h="0">
                  <a:moveTo>
                    <a:pt x="0" y="0"/>
                  </a:moveTo>
                  <a:lnTo>
                    <a:pt x="126094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6959782" y="4733106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0" y="0"/>
                  </a:moveTo>
                  <a:lnTo>
                    <a:pt x="0" y="44187"/>
                  </a:lnTo>
                  <a:lnTo>
                    <a:pt x="37804" y="189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6987947" y="4704684"/>
              <a:ext cx="258445" cy="302895"/>
            </a:xfrm>
            <a:custGeom>
              <a:avLst/>
              <a:gdLst/>
              <a:ahLst/>
              <a:cxnLst/>
              <a:rect l="l" t="t" r="r" b="b"/>
              <a:pathLst>
                <a:path w="258445" h="302895">
                  <a:moveTo>
                    <a:pt x="0" y="0"/>
                  </a:moveTo>
                  <a:lnTo>
                    <a:pt x="0" y="302426"/>
                  </a:lnTo>
                  <a:lnTo>
                    <a:pt x="258425" y="226882"/>
                  </a:lnTo>
                  <a:lnTo>
                    <a:pt x="258425" y="756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6987947" y="4704684"/>
              <a:ext cx="258445" cy="302895"/>
            </a:xfrm>
            <a:custGeom>
              <a:avLst/>
              <a:gdLst/>
              <a:ahLst/>
              <a:cxnLst/>
              <a:rect l="l" t="t" r="r" b="b"/>
              <a:pathLst>
                <a:path w="258445" h="302895">
                  <a:moveTo>
                    <a:pt x="0" y="302426"/>
                  </a:moveTo>
                  <a:lnTo>
                    <a:pt x="258425" y="226882"/>
                  </a:lnTo>
                  <a:lnTo>
                    <a:pt x="258425" y="75627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258445" h="302895">
                  <a:moveTo>
                    <a:pt x="0" y="100780"/>
                  </a:moveTo>
                  <a:lnTo>
                    <a:pt x="75775" y="151338"/>
                  </a:lnTo>
                </a:path>
                <a:path w="258445" h="302895">
                  <a:moveTo>
                    <a:pt x="0" y="201729"/>
                  </a:moveTo>
                  <a:lnTo>
                    <a:pt x="75775" y="151338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6947292" y="4777293"/>
              <a:ext cx="113664" cy="151765"/>
            </a:xfrm>
            <a:custGeom>
              <a:avLst/>
              <a:gdLst/>
              <a:ahLst/>
              <a:cxnLst/>
              <a:rect l="l" t="t" r="r" b="b"/>
              <a:pathLst>
                <a:path w="113665" h="151764">
                  <a:moveTo>
                    <a:pt x="0" y="0"/>
                  </a:moveTo>
                  <a:lnTo>
                    <a:pt x="0" y="151254"/>
                  </a:lnTo>
                  <a:lnTo>
                    <a:pt x="113412" y="75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6143747" y="4856023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77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6153422" y="4834056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0" y="0"/>
                  </a:moveTo>
                  <a:lnTo>
                    <a:pt x="0" y="44184"/>
                  </a:lnTo>
                  <a:lnTo>
                    <a:pt x="37663" y="18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7" name="object 407" descr=""/>
          <p:cNvSpPr txBox="1"/>
          <p:nvPr/>
        </p:nvSpPr>
        <p:spPr>
          <a:xfrm>
            <a:off x="7797674" y="4701665"/>
            <a:ext cx="252095" cy="302895"/>
          </a:xfrm>
          <a:prstGeom prst="rect">
            <a:avLst/>
          </a:prstGeom>
          <a:solidFill>
            <a:srgbClr val="FF0000"/>
          </a:solidFill>
          <a:ln w="6243">
            <a:solidFill>
              <a:srgbClr val="000000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93980" marR="47625" indent="-19050">
              <a:lnSpc>
                <a:spcPts val="590"/>
              </a:lnSpc>
              <a:spcBef>
                <a:spcPts val="62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08" name="object 408" descr=""/>
          <p:cNvSpPr txBox="1"/>
          <p:nvPr/>
        </p:nvSpPr>
        <p:spPr>
          <a:xfrm>
            <a:off x="7079622" y="4821384"/>
            <a:ext cx="151130" cy="108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09" name="object 409" descr=""/>
          <p:cNvGrpSpPr/>
          <p:nvPr/>
        </p:nvGrpSpPr>
        <p:grpSpPr>
          <a:xfrm>
            <a:off x="6490470" y="4698490"/>
            <a:ext cx="1717039" cy="662305"/>
            <a:chOff x="6490470" y="4698490"/>
            <a:chExt cx="1717039" cy="662305"/>
          </a:xfrm>
        </p:grpSpPr>
        <p:sp>
          <p:nvSpPr>
            <p:cNvPr id="410" name="object 410" descr=""/>
            <p:cNvSpPr/>
            <p:nvPr/>
          </p:nvSpPr>
          <p:spPr>
            <a:xfrm>
              <a:off x="6493645" y="4701665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6493645" y="4701665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6896706" y="4701665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564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564" y="302426"/>
                  </a:lnTo>
                  <a:lnTo>
                    <a:pt x="505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6896706" y="4701665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564" y="302426"/>
                  </a:lnTo>
                  <a:lnTo>
                    <a:pt x="50564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7293732" y="4701665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7293732" y="4701665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7697003" y="4701665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7649476" y="4701665"/>
              <a:ext cx="126364" cy="507365"/>
            </a:xfrm>
            <a:custGeom>
              <a:avLst/>
              <a:gdLst/>
              <a:ahLst/>
              <a:cxnLst/>
              <a:rect l="l" t="t" r="r" b="b"/>
              <a:pathLst>
                <a:path w="126365" h="507364">
                  <a:moveTo>
                    <a:pt x="47527" y="302426"/>
                  </a:moveTo>
                  <a:lnTo>
                    <a:pt x="97883" y="302426"/>
                  </a:lnTo>
                  <a:lnTo>
                    <a:pt x="97883" y="0"/>
                  </a:lnTo>
                  <a:lnTo>
                    <a:pt x="47527" y="0"/>
                  </a:lnTo>
                  <a:lnTo>
                    <a:pt x="47527" y="302426"/>
                  </a:lnTo>
                  <a:close/>
                </a:path>
                <a:path w="126365" h="507364">
                  <a:moveTo>
                    <a:pt x="0" y="507174"/>
                  </a:moveTo>
                  <a:lnTo>
                    <a:pt x="126069" y="507174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7759870" y="5187124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3850"/>
                  </a:lnTo>
                  <a:lnTo>
                    <a:pt x="44090" y="18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6493645" y="5054734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6493645" y="5054734"/>
              <a:ext cx="878840" cy="302895"/>
            </a:xfrm>
            <a:custGeom>
              <a:avLst/>
              <a:gdLst/>
              <a:ahLst/>
              <a:cxnLst/>
              <a:rect l="l" t="t" r="r" b="b"/>
              <a:pathLst>
                <a:path w="87884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878840" h="302895">
                  <a:moveTo>
                    <a:pt x="752727" y="255054"/>
                  </a:moveTo>
                  <a:lnTo>
                    <a:pt x="878629" y="255054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7356767" y="5287821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02"/>
                  </a:lnTo>
                  <a:lnTo>
                    <a:pt x="44090" y="18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7797674" y="5054734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51987" y="30242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7797674" y="5054734"/>
              <a:ext cx="381635" cy="302895"/>
            </a:xfrm>
            <a:custGeom>
              <a:avLst/>
              <a:gdLst/>
              <a:ahLst/>
              <a:cxnLst/>
              <a:rect l="l" t="t" r="r" b="b"/>
              <a:pathLst>
                <a:path w="381634" h="302895">
                  <a:moveTo>
                    <a:pt x="0" y="302426"/>
                  </a:moveTo>
                  <a:lnTo>
                    <a:pt x="251987" y="30242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381634" h="302895">
                  <a:moveTo>
                    <a:pt x="255072" y="154105"/>
                  </a:moveTo>
                  <a:lnTo>
                    <a:pt x="381141" y="154105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8163142" y="5187124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3850"/>
                  </a:lnTo>
                  <a:lnTo>
                    <a:pt x="44089" y="18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6594358" y="5054734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51987" y="30242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6594358" y="5054734"/>
              <a:ext cx="381635" cy="302895"/>
            </a:xfrm>
            <a:custGeom>
              <a:avLst/>
              <a:gdLst/>
              <a:ahLst/>
              <a:cxnLst/>
              <a:rect l="l" t="t" r="r" b="b"/>
              <a:pathLst>
                <a:path w="381634" h="302895">
                  <a:moveTo>
                    <a:pt x="0" y="302426"/>
                  </a:moveTo>
                  <a:lnTo>
                    <a:pt x="251987" y="30242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381634" h="302895">
                  <a:moveTo>
                    <a:pt x="255005" y="154105"/>
                  </a:moveTo>
                  <a:lnTo>
                    <a:pt x="381099" y="154105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6959783" y="5187124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0" y="0"/>
                  </a:moveTo>
                  <a:lnTo>
                    <a:pt x="0" y="43850"/>
                  </a:lnTo>
                  <a:lnTo>
                    <a:pt x="37804" y="18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6997587" y="5054734"/>
              <a:ext cx="246379" cy="302895"/>
            </a:xfrm>
            <a:custGeom>
              <a:avLst/>
              <a:gdLst/>
              <a:ahLst/>
              <a:cxnLst/>
              <a:rect l="l" t="t" r="r" b="b"/>
              <a:pathLst>
                <a:path w="246379" h="302895">
                  <a:moveTo>
                    <a:pt x="245751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45751" y="302426"/>
                  </a:lnTo>
                  <a:lnTo>
                    <a:pt x="24575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6997587" y="5054734"/>
              <a:ext cx="246379" cy="302895"/>
            </a:xfrm>
            <a:custGeom>
              <a:avLst/>
              <a:gdLst/>
              <a:ahLst/>
              <a:cxnLst/>
              <a:rect l="l" t="t" r="r" b="b"/>
              <a:pathLst>
                <a:path w="246379" h="302895">
                  <a:moveTo>
                    <a:pt x="0" y="302426"/>
                  </a:moveTo>
                  <a:lnTo>
                    <a:pt x="245751" y="302426"/>
                  </a:lnTo>
                  <a:lnTo>
                    <a:pt x="245751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0" name="object 430" descr=""/>
          <p:cNvSpPr txBox="1"/>
          <p:nvPr/>
        </p:nvSpPr>
        <p:spPr>
          <a:xfrm>
            <a:off x="7073195" y="5111317"/>
            <a:ext cx="133350" cy="1841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15" marR="5080" indent="-19050">
              <a:lnSpc>
                <a:spcPts val="590"/>
              </a:lnSpc>
              <a:spcBef>
                <a:spcPts val="17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31" name="object 431" descr=""/>
          <p:cNvGrpSpPr/>
          <p:nvPr/>
        </p:nvGrpSpPr>
        <p:grpSpPr>
          <a:xfrm>
            <a:off x="6543840" y="5054577"/>
            <a:ext cx="1109345" cy="309245"/>
            <a:chOff x="6543840" y="5054577"/>
            <a:chExt cx="1109345" cy="309245"/>
          </a:xfrm>
        </p:grpSpPr>
        <p:sp>
          <p:nvSpPr>
            <p:cNvPr id="432" name="object 432" descr=""/>
            <p:cNvSpPr/>
            <p:nvPr/>
          </p:nvSpPr>
          <p:spPr>
            <a:xfrm>
              <a:off x="7246373" y="5108059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5" h="0">
                  <a:moveTo>
                    <a:pt x="0" y="0"/>
                  </a:moveTo>
                  <a:lnTo>
                    <a:pt x="125901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7356767" y="5086175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02"/>
                  </a:lnTo>
                  <a:lnTo>
                    <a:pt x="44090" y="18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7385015" y="5057752"/>
              <a:ext cx="264795" cy="302895"/>
            </a:xfrm>
            <a:custGeom>
              <a:avLst/>
              <a:gdLst/>
              <a:ahLst/>
              <a:cxnLst/>
              <a:rect l="l" t="t" r="r" b="b"/>
              <a:pathLst>
                <a:path w="264795" h="302895">
                  <a:moveTo>
                    <a:pt x="0" y="0"/>
                  </a:moveTo>
                  <a:lnTo>
                    <a:pt x="0" y="302426"/>
                  </a:lnTo>
                  <a:lnTo>
                    <a:pt x="264460" y="226882"/>
                  </a:lnTo>
                  <a:lnTo>
                    <a:pt x="264460" y="75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7385015" y="5057752"/>
              <a:ext cx="264795" cy="302895"/>
            </a:xfrm>
            <a:custGeom>
              <a:avLst/>
              <a:gdLst/>
              <a:ahLst/>
              <a:cxnLst/>
              <a:rect l="l" t="t" r="r" b="b"/>
              <a:pathLst>
                <a:path w="264795" h="302895">
                  <a:moveTo>
                    <a:pt x="0" y="302426"/>
                  </a:moveTo>
                  <a:lnTo>
                    <a:pt x="264460" y="226882"/>
                  </a:lnTo>
                  <a:lnTo>
                    <a:pt x="264460" y="75543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264795" h="302895">
                  <a:moveTo>
                    <a:pt x="0" y="100697"/>
                  </a:moveTo>
                  <a:lnTo>
                    <a:pt x="75524" y="151087"/>
                  </a:lnTo>
                </a:path>
                <a:path w="264795" h="302895">
                  <a:moveTo>
                    <a:pt x="0" y="201645"/>
                  </a:moveTo>
                  <a:lnTo>
                    <a:pt x="75524" y="151087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7344110" y="5130277"/>
              <a:ext cx="113664" cy="151765"/>
            </a:xfrm>
            <a:custGeom>
              <a:avLst/>
              <a:gdLst/>
              <a:ahLst/>
              <a:cxnLst/>
              <a:rect l="l" t="t" r="r" b="b"/>
              <a:pathLst>
                <a:path w="113665" h="151764">
                  <a:moveTo>
                    <a:pt x="0" y="0"/>
                  </a:moveTo>
                  <a:lnTo>
                    <a:pt x="0" y="151339"/>
                  </a:lnTo>
                  <a:lnTo>
                    <a:pt x="113411" y="75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6547015" y="5208839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80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6556696" y="5187124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0" y="0"/>
                  </a:moveTo>
                  <a:lnTo>
                    <a:pt x="0" y="43850"/>
                  </a:lnTo>
                  <a:lnTo>
                    <a:pt x="37660" y="186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9" name="object 439" descr=""/>
          <p:cNvSpPr txBox="1"/>
          <p:nvPr/>
        </p:nvSpPr>
        <p:spPr>
          <a:xfrm>
            <a:off x="8200945" y="5054734"/>
            <a:ext cx="252095" cy="302895"/>
          </a:xfrm>
          <a:prstGeom prst="rect">
            <a:avLst/>
          </a:prstGeom>
          <a:solidFill>
            <a:srgbClr val="FFCC99"/>
          </a:solidFill>
          <a:ln w="6243">
            <a:solidFill>
              <a:srgbClr val="000000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93980" marR="47625" indent="-19050">
              <a:lnSpc>
                <a:spcPts val="590"/>
              </a:lnSpc>
              <a:spcBef>
                <a:spcPts val="62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40" name="object 440" descr=""/>
          <p:cNvSpPr txBox="1"/>
          <p:nvPr/>
        </p:nvSpPr>
        <p:spPr>
          <a:xfrm>
            <a:off x="7476438" y="5174369"/>
            <a:ext cx="151130" cy="108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41" name="object 441" descr=""/>
          <p:cNvGrpSpPr/>
          <p:nvPr/>
        </p:nvGrpSpPr>
        <p:grpSpPr>
          <a:xfrm>
            <a:off x="6893531" y="5051559"/>
            <a:ext cx="1717039" cy="655320"/>
            <a:chOff x="6893531" y="5051559"/>
            <a:chExt cx="1717039" cy="655320"/>
          </a:xfrm>
        </p:grpSpPr>
        <p:sp>
          <p:nvSpPr>
            <p:cNvPr id="442" name="object 442" descr=""/>
            <p:cNvSpPr/>
            <p:nvPr/>
          </p:nvSpPr>
          <p:spPr>
            <a:xfrm>
              <a:off x="6896706" y="5054734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564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564" y="302426"/>
                  </a:lnTo>
                  <a:lnTo>
                    <a:pt x="505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6896706" y="5054734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564" y="302426"/>
                  </a:lnTo>
                  <a:lnTo>
                    <a:pt x="50564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7293732" y="5054734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7293732" y="5054734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7697003" y="5054734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7697003" y="5054734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8100023" y="5054734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564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564" y="302426"/>
                  </a:lnTo>
                  <a:lnTo>
                    <a:pt x="505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8052747" y="5054734"/>
              <a:ext cx="126364" cy="501015"/>
            </a:xfrm>
            <a:custGeom>
              <a:avLst/>
              <a:gdLst/>
              <a:ahLst/>
              <a:cxnLst/>
              <a:rect l="l" t="t" r="r" b="b"/>
              <a:pathLst>
                <a:path w="126365" h="501014">
                  <a:moveTo>
                    <a:pt x="47276" y="302426"/>
                  </a:moveTo>
                  <a:lnTo>
                    <a:pt x="97840" y="302426"/>
                  </a:lnTo>
                  <a:lnTo>
                    <a:pt x="97840" y="0"/>
                  </a:lnTo>
                  <a:lnTo>
                    <a:pt x="47276" y="0"/>
                  </a:lnTo>
                  <a:lnTo>
                    <a:pt x="47276" y="302426"/>
                  </a:lnTo>
                  <a:close/>
                </a:path>
                <a:path w="126365" h="501014">
                  <a:moveTo>
                    <a:pt x="0" y="500885"/>
                  </a:moveTo>
                  <a:lnTo>
                    <a:pt x="126069" y="500885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8163141" y="553365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02"/>
                  </a:lnTo>
                  <a:lnTo>
                    <a:pt x="44089" y="2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1" name="object 451" descr=""/>
            <p:cNvSpPr/>
            <p:nvPr/>
          </p:nvSpPr>
          <p:spPr>
            <a:xfrm>
              <a:off x="6896706" y="5407500"/>
              <a:ext cx="50800" cy="296545"/>
            </a:xfrm>
            <a:custGeom>
              <a:avLst/>
              <a:gdLst/>
              <a:ahLst/>
              <a:cxnLst/>
              <a:rect l="l" t="t" r="r" b="b"/>
              <a:pathLst>
                <a:path w="50800" h="296545">
                  <a:moveTo>
                    <a:pt x="50564" y="0"/>
                  </a:moveTo>
                  <a:lnTo>
                    <a:pt x="0" y="0"/>
                  </a:lnTo>
                  <a:lnTo>
                    <a:pt x="0" y="296180"/>
                  </a:lnTo>
                  <a:lnTo>
                    <a:pt x="50564" y="296180"/>
                  </a:lnTo>
                  <a:lnTo>
                    <a:pt x="505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6896706" y="5407500"/>
              <a:ext cx="878840" cy="296545"/>
            </a:xfrm>
            <a:custGeom>
              <a:avLst/>
              <a:gdLst/>
              <a:ahLst/>
              <a:cxnLst/>
              <a:rect l="l" t="t" r="r" b="b"/>
              <a:pathLst>
                <a:path w="878840" h="296545">
                  <a:moveTo>
                    <a:pt x="0" y="296180"/>
                  </a:moveTo>
                  <a:lnTo>
                    <a:pt x="50564" y="296180"/>
                  </a:lnTo>
                  <a:lnTo>
                    <a:pt x="50564" y="0"/>
                  </a:lnTo>
                  <a:lnTo>
                    <a:pt x="0" y="0"/>
                  </a:lnTo>
                  <a:lnTo>
                    <a:pt x="0" y="296180"/>
                  </a:lnTo>
                  <a:close/>
                </a:path>
                <a:path w="878840" h="296545">
                  <a:moveTo>
                    <a:pt x="752769" y="248833"/>
                  </a:moveTo>
                  <a:lnTo>
                    <a:pt x="878839" y="248833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7759869" y="5634349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52"/>
                  </a:lnTo>
                  <a:lnTo>
                    <a:pt x="44090" y="254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8200945" y="5407500"/>
              <a:ext cx="252095" cy="296545"/>
            </a:xfrm>
            <a:custGeom>
              <a:avLst/>
              <a:gdLst/>
              <a:ahLst/>
              <a:cxnLst/>
              <a:rect l="l" t="t" r="r" b="b"/>
              <a:pathLst>
                <a:path w="252095" h="296545">
                  <a:moveTo>
                    <a:pt x="251987" y="0"/>
                  </a:moveTo>
                  <a:lnTo>
                    <a:pt x="0" y="0"/>
                  </a:lnTo>
                  <a:lnTo>
                    <a:pt x="0" y="296180"/>
                  </a:lnTo>
                  <a:lnTo>
                    <a:pt x="251987" y="296180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8200945" y="5407500"/>
              <a:ext cx="381635" cy="296545"/>
            </a:xfrm>
            <a:custGeom>
              <a:avLst/>
              <a:gdLst/>
              <a:ahLst/>
              <a:cxnLst/>
              <a:rect l="l" t="t" r="r" b="b"/>
              <a:pathLst>
                <a:path w="381634" h="296545">
                  <a:moveTo>
                    <a:pt x="0" y="296180"/>
                  </a:moveTo>
                  <a:lnTo>
                    <a:pt x="251987" y="296180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296180"/>
                  </a:lnTo>
                  <a:close/>
                </a:path>
                <a:path w="381634" h="296545">
                  <a:moveTo>
                    <a:pt x="255072" y="148119"/>
                  </a:moveTo>
                  <a:lnTo>
                    <a:pt x="381141" y="148119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8566412" y="553365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02"/>
                  </a:lnTo>
                  <a:lnTo>
                    <a:pt x="44090" y="2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6997586" y="5407500"/>
              <a:ext cx="246379" cy="296545"/>
            </a:xfrm>
            <a:custGeom>
              <a:avLst/>
              <a:gdLst/>
              <a:ahLst/>
              <a:cxnLst/>
              <a:rect l="l" t="t" r="r" b="b"/>
              <a:pathLst>
                <a:path w="246379" h="296545">
                  <a:moveTo>
                    <a:pt x="245751" y="0"/>
                  </a:moveTo>
                  <a:lnTo>
                    <a:pt x="0" y="0"/>
                  </a:lnTo>
                  <a:lnTo>
                    <a:pt x="0" y="296180"/>
                  </a:lnTo>
                  <a:lnTo>
                    <a:pt x="245751" y="296180"/>
                  </a:lnTo>
                  <a:lnTo>
                    <a:pt x="24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6997586" y="5407500"/>
              <a:ext cx="375285" cy="296545"/>
            </a:xfrm>
            <a:custGeom>
              <a:avLst/>
              <a:gdLst/>
              <a:ahLst/>
              <a:cxnLst/>
              <a:rect l="l" t="t" r="r" b="b"/>
              <a:pathLst>
                <a:path w="375284" h="296545">
                  <a:moveTo>
                    <a:pt x="0" y="296180"/>
                  </a:moveTo>
                  <a:lnTo>
                    <a:pt x="245751" y="296180"/>
                  </a:lnTo>
                  <a:lnTo>
                    <a:pt x="245751" y="0"/>
                  </a:lnTo>
                  <a:lnTo>
                    <a:pt x="0" y="0"/>
                  </a:lnTo>
                  <a:lnTo>
                    <a:pt x="0" y="296180"/>
                  </a:lnTo>
                  <a:close/>
                </a:path>
                <a:path w="375284" h="296545">
                  <a:moveTo>
                    <a:pt x="248785" y="148119"/>
                  </a:moveTo>
                  <a:lnTo>
                    <a:pt x="374687" y="148119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7356766" y="5533652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02"/>
                  </a:lnTo>
                  <a:lnTo>
                    <a:pt x="44090" y="2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7394487" y="5407500"/>
              <a:ext cx="252095" cy="296545"/>
            </a:xfrm>
            <a:custGeom>
              <a:avLst/>
              <a:gdLst/>
              <a:ahLst/>
              <a:cxnLst/>
              <a:rect l="l" t="t" r="r" b="b"/>
              <a:pathLst>
                <a:path w="252095" h="296545">
                  <a:moveTo>
                    <a:pt x="251987" y="0"/>
                  </a:moveTo>
                  <a:lnTo>
                    <a:pt x="0" y="0"/>
                  </a:lnTo>
                  <a:lnTo>
                    <a:pt x="0" y="296180"/>
                  </a:lnTo>
                  <a:lnTo>
                    <a:pt x="251987" y="296180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7394487" y="5407500"/>
              <a:ext cx="252095" cy="296545"/>
            </a:xfrm>
            <a:custGeom>
              <a:avLst/>
              <a:gdLst/>
              <a:ahLst/>
              <a:cxnLst/>
              <a:rect l="l" t="t" r="r" b="b"/>
              <a:pathLst>
                <a:path w="252095" h="296545">
                  <a:moveTo>
                    <a:pt x="0" y="296180"/>
                  </a:moveTo>
                  <a:lnTo>
                    <a:pt x="251987" y="296180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296180"/>
                  </a:lnTo>
                  <a:close/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2" name="object 462" descr=""/>
          <p:cNvSpPr txBox="1"/>
          <p:nvPr/>
        </p:nvSpPr>
        <p:spPr>
          <a:xfrm>
            <a:off x="7470179" y="5457846"/>
            <a:ext cx="133350" cy="18478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8415" marR="5080" indent="-19050">
              <a:lnSpc>
                <a:spcPts val="600"/>
              </a:lnSpc>
              <a:spcBef>
                <a:spcPts val="165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63" name="object 463" descr=""/>
          <p:cNvGrpSpPr/>
          <p:nvPr/>
        </p:nvGrpSpPr>
        <p:grpSpPr>
          <a:xfrm>
            <a:off x="6947136" y="5407310"/>
            <a:ext cx="1109345" cy="302895"/>
            <a:chOff x="6947136" y="5407310"/>
            <a:chExt cx="1109345" cy="302895"/>
          </a:xfrm>
        </p:grpSpPr>
        <p:sp>
          <p:nvSpPr>
            <p:cNvPr id="464" name="object 464" descr=""/>
            <p:cNvSpPr/>
            <p:nvPr/>
          </p:nvSpPr>
          <p:spPr>
            <a:xfrm>
              <a:off x="7649476" y="5461127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5" h="0">
                  <a:moveTo>
                    <a:pt x="0" y="0"/>
                  </a:moveTo>
                  <a:lnTo>
                    <a:pt x="126069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7759870" y="5439160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02"/>
                  </a:lnTo>
                  <a:lnTo>
                    <a:pt x="44090" y="189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7788287" y="5410485"/>
              <a:ext cx="264795" cy="296545"/>
            </a:xfrm>
            <a:custGeom>
              <a:avLst/>
              <a:gdLst/>
              <a:ahLst/>
              <a:cxnLst/>
              <a:rect l="l" t="t" r="r" b="b"/>
              <a:pathLst>
                <a:path w="264795" h="296545">
                  <a:moveTo>
                    <a:pt x="0" y="0"/>
                  </a:moveTo>
                  <a:lnTo>
                    <a:pt x="0" y="296213"/>
                  </a:lnTo>
                  <a:lnTo>
                    <a:pt x="264460" y="220678"/>
                  </a:lnTo>
                  <a:lnTo>
                    <a:pt x="264460" y="757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7788287" y="5410485"/>
              <a:ext cx="264795" cy="296545"/>
            </a:xfrm>
            <a:custGeom>
              <a:avLst/>
              <a:gdLst/>
              <a:ahLst/>
              <a:cxnLst/>
              <a:rect l="l" t="t" r="r" b="b"/>
              <a:pathLst>
                <a:path w="264795" h="296545">
                  <a:moveTo>
                    <a:pt x="0" y="296213"/>
                  </a:moveTo>
                  <a:lnTo>
                    <a:pt x="264460" y="220678"/>
                  </a:lnTo>
                  <a:lnTo>
                    <a:pt x="264460" y="75795"/>
                  </a:lnTo>
                  <a:lnTo>
                    <a:pt x="0" y="0"/>
                  </a:lnTo>
                  <a:lnTo>
                    <a:pt x="0" y="296213"/>
                  </a:lnTo>
                  <a:close/>
                </a:path>
                <a:path w="264795" h="296545">
                  <a:moveTo>
                    <a:pt x="0" y="94744"/>
                  </a:moveTo>
                  <a:lnTo>
                    <a:pt x="75524" y="145134"/>
                  </a:lnTo>
                </a:path>
                <a:path w="264795" h="296545">
                  <a:moveTo>
                    <a:pt x="0" y="195441"/>
                  </a:moveTo>
                  <a:lnTo>
                    <a:pt x="75524" y="145134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7747381" y="5476806"/>
              <a:ext cx="113664" cy="151765"/>
            </a:xfrm>
            <a:custGeom>
              <a:avLst/>
              <a:gdLst/>
              <a:ahLst/>
              <a:cxnLst/>
              <a:rect l="l" t="t" r="r" b="b"/>
              <a:pathLst>
                <a:path w="113665" h="151764">
                  <a:moveTo>
                    <a:pt x="0" y="0"/>
                  </a:moveTo>
                  <a:lnTo>
                    <a:pt x="0" y="151338"/>
                  </a:lnTo>
                  <a:lnTo>
                    <a:pt x="113412" y="75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6950311" y="5555620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46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6959783" y="5533652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0" y="0"/>
                  </a:moveTo>
                  <a:lnTo>
                    <a:pt x="0" y="44102"/>
                  </a:lnTo>
                  <a:lnTo>
                    <a:pt x="37804" y="25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1" name="object 471" descr=""/>
          <p:cNvSpPr txBox="1"/>
          <p:nvPr/>
        </p:nvSpPr>
        <p:spPr>
          <a:xfrm>
            <a:off x="8604216" y="5407500"/>
            <a:ext cx="252095" cy="296545"/>
          </a:xfrm>
          <a:prstGeom prst="rect">
            <a:avLst/>
          </a:prstGeom>
          <a:solidFill>
            <a:srgbClr val="FFCC99"/>
          </a:solidFill>
          <a:ln w="6243">
            <a:solidFill>
              <a:srgbClr val="000000"/>
            </a:solidFill>
          </a:ln>
        </p:spPr>
        <p:txBody>
          <a:bodyPr wrap="square" lIns="0" tIns="71120" rIns="0" bIns="0" rtlCol="0" vert="horz">
            <a:spAutoFit/>
          </a:bodyPr>
          <a:lstStyle/>
          <a:p>
            <a:pPr marL="93980" marR="47625" indent="-19050">
              <a:lnSpc>
                <a:spcPts val="600"/>
              </a:lnSpc>
              <a:spcBef>
                <a:spcPts val="56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72" name="object 472" descr=""/>
          <p:cNvSpPr txBox="1"/>
          <p:nvPr/>
        </p:nvSpPr>
        <p:spPr>
          <a:xfrm>
            <a:off x="7879710" y="5527185"/>
            <a:ext cx="151130" cy="108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73" name="object 473" descr=""/>
          <p:cNvGrpSpPr/>
          <p:nvPr/>
        </p:nvGrpSpPr>
        <p:grpSpPr>
          <a:xfrm>
            <a:off x="7290557" y="5404325"/>
            <a:ext cx="1723389" cy="655955"/>
            <a:chOff x="7290557" y="5404325"/>
            <a:chExt cx="1723389" cy="655955"/>
          </a:xfrm>
        </p:grpSpPr>
        <p:sp>
          <p:nvSpPr>
            <p:cNvPr id="474" name="object 474" descr=""/>
            <p:cNvSpPr/>
            <p:nvPr/>
          </p:nvSpPr>
          <p:spPr>
            <a:xfrm>
              <a:off x="7293732" y="5407500"/>
              <a:ext cx="50800" cy="296545"/>
            </a:xfrm>
            <a:custGeom>
              <a:avLst/>
              <a:gdLst/>
              <a:ahLst/>
              <a:cxnLst/>
              <a:rect l="l" t="t" r="r" b="b"/>
              <a:pathLst>
                <a:path w="50800" h="296545">
                  <a:moveTo>
                    <a:pt x="50356" y="0"/>
                  </a:moveTo>
                  <a:lnTo>
                    <a:pt x="0" y="0"/>
                  </a:lnTo>
                  <a:lnTo>
                    <a:pt x="0" y="296180"/>
                  </a:lnTo>
                  <a:lnTo>
                    <a:pt x="50356" y="296180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7293732" y="5407500"/>
              <a:ext cx="50800" cy="296545"/>
            </a:xfrm>
            <a:custGeom>
              <a:avLst/>
              <a:gdLst/>
              <a:ahLst/>
              <a:cxnLst/>
              <a:rect l="l" t="t" r="r" b="b"/>
              <a:pathLst>
                <a:path w="50800" h="296545">
                  <a:moveTo>
                    <a:pt x="0" y="296180"/>
                  </a:moveTo>
                  <a:lnTo>
                    <a:pt x="50356" y="296180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296180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7697003" y="5407500"/>
              <a:ext cx="50800" cy="296545"/>
            </a:xfrm>
            <a:custGeom>
              <a:avLst/>
              <a:gdLst/>
              <a:ahLst/>
              <a:cxnLst/>
              <a:rect l="l" t="t" r="r" b="b"/>
              <a:pathLst>
                <a:path w="50800" h="296545">
                  <a:moveTo>
                    <a:pt x="50356" y="0"/>
                  </a:moveTo>
                  <a:lnTo>
                    <a:pt x="0" y="0"/>
                  </a:lnTo>
                  <a:lnTo>
                    <a:pt x="0" y="296180"/>
                  </a:lnTo>
                  <a:lnTo>
                    <a:pt x="50356" y="296180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7697003" y="5407500"/>
              <a:ext cx="50800" cy="296545"/>
            </a:xfrm>
            <a:custGeom>
              <a:avLst/>
              <a:gdLst/>
              <a:ahLst/>
              <a:cxnLst/>
              <a:rect l="l" t="t" r="r" b="b"/>
              <a:pathLst>
                <a:path w="50800" h="296545">
                  <a:moveTo>
                    <a:pt x="0" y="296180"/>
                  </a:moveTo>
                  <a:lnTo>
                    <a:pt x="50356" y="296180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296180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8100022" y="5407500"/>
              <a:ext cx="50800" cy="296545"/>
            </a:xfrm>
            <a:custGeom>
              <a:avLst/>
              <a:gdLst/>
              <a:ahLst/>
              <a:cxnLst/>
              <a:rect l="l" t="t" r="r" b="b"/>
              <a:pathLst>
                <a:path w="50800" h="296545">
                  <a:moveTo>
                    <a:pt x="50564" y="0"/>
                  </a:moveTo>
                  <a:lnTo>
                    <a:pt x="0" y="0"/>
                  </a:lnTo>
                  <a:lnTo>
                    <a:pt x="0" y="296180"/>
                  </a:lnTo>
                  <a:lnTo>
                    <a:pt x="50564" y="296180"/>
                  </a:lnTo>
                  <a:lnTo>
                    <a:pt x="505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8100022" y="5407500"/>
              <a:ext cx="50800" cy="296545"/>
            </a:xfrm>
            <a:custGeom>
              <a:avLst/>
              <a:gdLst/>
              <a:ahLst/>
              <a:cxnLst/>
              <a:rect l="l" t="t" r="r" b="b"/>
              <a:pathLst>
                <a:path w="50800" h="296545">
                  <a:moveTo>
                    <a:pt x="0" y="296180"/>
                  </a:moveTo>
                  <a:lnTo>
                    <a:pt x="50564" y="296180"/>
                  </a:lnTo>
                  <a:lnTo>
                    <a:pt x="50564" y="0"/>
                  </a:lnTo>
                  <a:lnTo>
                    <a:pt x="0" y="0"/>
                  </a:lnTo>
                  <a:lnTo>
                    <a:pt x="0" y="296180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8503293" y="5407500"/>
              <a:ext cx="50800" cy="296545"/>
            </a:xfrm>
            <a:custGeom>
              <a:avLst/>
              <a:gdLst/>
              <a:ahLst/>
              <a:cxnLst/>
              <a:rect l="l" t="t" r="r" b="b"/>
              <a:pathLst>
                <a:path w="50800" h="296545">
                  <a:moveTo>
                    <a:pt x="50356" y="0"/>
                  </a:moveTo>
                  <a:lnTo>
                    <a:pt x="0" y="0"/>
                  </a:lnTo>
                  <a:lnTo>
                    <a:pt x="0" y="296180"/>
                  </a:lnTo>
                  <a:lnTo>
                    <a:pt x="50356" y="296180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8456017" y="5407500"/>
              <a:ext cx="126364" cy="501015"/>
            </a:xfrm>
            <a:custGeom>
              <a:avLst/>
              <a:gdLst/>
              <a:ahLst/>
              <a:cxnLst/>
              <a:rect l="l" t="t" r="r" b="b"/>
              <a:pathLst>
                <a:path w="126365" h="501014">
                  <a:moveTo>
                    <a:pt x="47276" y="296180"/>
                  </a:moveTo>
                  <a:lnTo>
                    <a:pt x="97632" y="296180"/>
                  </a:lnTo>
                  <a:lnTo>
                    <a:pt x="97632" y="0"/>
                  </a:lnTo>
                  <a:lnTo>
                    <a:pt x="47276" y="0"/>
                  </a:lnTo>
                  <a:lnTo>
                    <a:pt x="47276" y="296180"/>
                  </a:lnTo>
                  <a:close/>
                </a:path>
                <a:path w="126365" h="501014">
                  <a:moveTo>
                    <a:pt x="0" y="500885"/>
                  </a:moveTo>
                  <a:lnTo>
                    <a:pt x="126069" y="500885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8566412" y="588663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27"/>
                  </a:lnTo>
                  <a:lnTo>
                    <a:pt x="44090" y="2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7293732" y="5754263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7293732" y="5754263"/>
              <a:ext cx="885190" cy="302895"/>
            </a:xfrm>
            <a:custGeom>
              <a:avLst/>
              <a:gdLst/>
              <a:ahLst/>
              <a:cxnLst/>
              <a:rect l="l" t="t" r="r" b="b"/>
              <a:pathLst>
                <a:path w="88519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885190" h="302895">
                  <a:moveTo>
                    <a:pt x="759014" y="255071"/>
                  </a:moveTo>
                  <a:lnTo>
                    <a:pt x="885083" y="255071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8163141" y="5987376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27"/>
                  </a:lnTo>
                  <a:lnTo>
                    <a:pt x="44089" y="2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8604216" y="5754263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51987" y="30242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8604216" y="5754263"/>
              <a:ext cx="381000" cy="302895"/>
            </a:xfrm>
            <a:custGeom>
              <a:avLst/>
              <a:gdLst/>
              <a:ahLst/>
              <a:cxnLst/>
              <a:rect l="l" t="t" r="r" b="b"/>
              <a:pathLst>
                <a:path w="381000" h="302895">
                  <a:moveTo>
                    <a:pt x="0" y="302426"/>
                  </a:moveTo>
                  <a:lnTo>
                    <a:pt x="251987" y="30242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381000" h="302895">
                  <a:moveTo>
                    <a:pt x="255072" y="154122"/>
                  </a:moveTo>
                  <a:lnTo>
                    <a:pt x="380974" y="154122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8969683" y="588663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27"/>
                  </a:lnTo>
                  <a:lnTo>
                    <a:pt x="44091" y="2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7394487" y="5754263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51987" y="30242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7394487" y="5754263"/>
              <a:ext cx="381635" cy="302895"/>
            </a:xfrm>
            <a:custGeom>
              <a:avLst/>
              <a:gdLst/>
              <a:ahLst/>
              <a:cxnLst/>
              <a:rect l="l" t="t" r="r" b="b"/>
              <a:pathLst>
                <a:path w="381634" h="302895">
                  <a:moveTo>
                    <a:pt x="0" y="302426"/>
                  </a:moveTo>
                  <a:lnTo>
                    <a:pt x="251987" y="30242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381634" h="302895">
                  <a:moveTo>
                    <a:pt x="254988" y="154122"/>
                  </a:moveTo>
                  <a:lnTo>
                    <a:pt x="381058" y="154122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7759869" y="588663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27"/>
                  </a:lnTo>
                  <a:lnTo>
                    <a:pt x="44090" y="2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7797674" y="5754263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251987" y="30242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7797674" y="5754263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0" y="302426"/>
                  </a:moveTo>
                  <a:lnTo>
                    <a:pt x="251987" y="30242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4" name="object 494" descr=""/>
          <p:cNvSpPr txBox="1"/>
          <p:nvPr/>
        </p:nvSpPr>
        <p:spPr>
          <a:xfrm>
            <a:off x="7873282" y="5810872"/>
            <a:ext cx="133350" cy="1841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15" marR="5080" indent="-19050">
              <a:lnSpc>
                <a:spcPts val="590"/>
              </a:lnSpc>
              <a:spcBef>
                <a:spcPts val="17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95" name="object 495" descr=""/>
          <p:cNvGrpSpPr/>
          <p:nvPr/>
        </p:nvGrpSpPr>
        <p:grpSpPr>
          <a:xfrm>
            <a:off x="7343952" y="5754107"/>
            <a:ext cx="1115695" cy="309245"/>
            <a:chOff x="7343952" y="5754107"/>
            <a:chExt cx="1115695" cy="309245"/>
          </a:xfrm>
        </p:grpSpPr>
        <p:sp>
          <p:nvSpPr>
            <p:cNvPr id="496" name="object 496" descr=""/>
            <p:cNvSpPr/>
            <p:nvPr/>
          </p:nvSpPr>
          <p:spPr>
            <a:xfrm>
              <a:off x="8052747" y="5807647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5" h="0">
                  <a:moveTo>
                    <a:pt x="0" y="0"/>
                  </a:moveTo>
                  <a:lnTo>
                    <a:pt x="126069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8163141" y="5785689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26"/>
                  </a:lnTo>
                  <a:lnTo>
                    <a:pt x="44089" y="2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8191306" y="5757282"/>
              <a:ext cx="264795" cy="302895"/>
            </a:xfrm>
            <a:custGeom>
              <a:avLst/>
              <a:gdLst/>
              <a:ahLst/>
              <a:cxnLst/>
              <a:rect l="l" t="t" r="r" b="b"/>
              <a:pathLst>
                <a:path w="264795" h="302895">
                  <a:moveTo>
                    <a:pt x="0" y="0"/>
                  </a:moveTo>
                  <a:lnTo>
                    <a:pt x="0" y="302426"/>
                  </a:lnTo>
                  <a:lnTo>
                    <a:pt x="264712" y="226865"/>
                  </a:lnTo>
                  <a:lnTo>
                    <a:pt x="264712" y="75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8191306" y="5757282"/>
              <a:ext cx="264795" cy="302895"/>
            </a:xfrm>
            <a:custGeom>
              <a:avLst/>
              <a:gdLst/>
              <a:ahLst/>
              <a:cxnLst/>
              <a:rect l="l" t="t" r="r" b="b"/>
              <a:pathLst>
                <a:path w="264795" h="302895">
                  <a:moveTo>
                    <a:pt x="0" y="302426"/>
                  </a:moveTo>
                  <a:lnTo>
                    <a:pt x="264712" y="226865"/>
                  </a:lnTo>
                  <a:lnTo>
                    <a:pt x="264712" y="75552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  <a:path w="264795" h="302895">
                  <a:moveTo>
                    <a:pt x="0" y="100738"/>
                  </a:moveTo>
                  <a:lnTo>
                    <a:pt x="75775" y="151104"/>
                  </a:lnTo>
                </a:path>
                <a:path w="264795" h="302895">
                  <a:moveTo>
                    <a:pt x="0" y="201687"/>
                  </a:moveTo>
                  <a:lnTo>
                    <a:pt x="75775" y="151104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8150651" y="5829815"/>
              <a:ext cx="113664" cy="151765"/>
            </a:xfrm>
            <a:custGeom>
              <a:avLst/>
              <a:gdLst/>
              <a:ahLst/>
              <a:cxnLst/>
              <a:rect l="l" t="t" r="r" b="b"/>
              <a:pathLst>
                <a:path w="113665" h="151764">
                  <a:moveTo>
                    <a:pt x="0" y="0"/>
                  </a:moveTo>
                  <a:lnTo>
                    <a:pt x="0" y="151314"/>
                  </a:lnTo>
                  <a:lnTo>
                    <a:pt x="113412" y="755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7347127" y="5908386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46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7356766" y="588663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27"/>
                  </a:lnTo>
                  <a:lnTo>
                    <a:pt x="44090" y="25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3" name="object 503" descr=""/>
          <p:cNvSpPr txBox="1"/>
          <p:nvPr/>
        </p:nvSpPr>
        <p:spPr>
          <a:xfrm>
            <a:off x="9007319" y="5754263"/>
            <a:ext cx="246379" cy="302895"/>
          </a:xfrm>
          <a:prstGeom prst="rect">
            <a:avLst/>
          </a:prstGeom>
          <a:solidFill>
            <a:srgbClr val="FFCC99"/>
          </a:solidFill>
          <a:ln w="6243">
            <a:solidFill>
              <a:srgbClr val="000000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94615" marR="41275" indent="-19050">
              <a:lnSpc>
                <a:spcPts val="590"/>
              </a:lnSpc>
              <a:spcBef>
                <a:spcPts val="62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04" name="object 504" descr=""/>
          <p:cNvSpPr txBox="1"/>
          <p:nvPr/>
        </p:nvSpPr>
        <p:spPr>
          <a:xfrm>
            <a:off x="8282981" y="5880178"/>
            <a:ext cx="151130" cy="108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505" name="object 505" descr=""/>
          <p:cNvGrpSpPr/>
          <p:nvPr/>
        </p:nvGrpSpPr>
        <p:grpSpPr>
          <a:xfrm>
            <a:off x="7693828" y="5751088"/>
            <a:ext cx="1710689" cy="662305"/>
            <a:chOff x="7693828" y="5751088"/>
            <a:chExt cx="1710689" cy="662305"/>
          </a:xfrm>
        </p:grpSpPr>
        <p:sp>
          <p:nvSpPr>
            <p:cNvPr id="506" name="object 506" descr=""/>
            <p:cNvSpPr/>
            <p:nvPr/>
          </p:nvSpPr>
          <p:spPr>
            <a:xfrm>
              <a:off x="7697003" y="5754263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7697003" y="5754263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8100023" y="5754263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564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564" y="302426"/>
                  </a:lnTo>
                  <a:lnTo>
                    <a:pt x="505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8100023" y="5754263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564" y="302426"/>
                  </a:lnTo>
                  <a:lnTo>
                    <a:pt x="50564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8503294" y="5754263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8503294" y="5754263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426"/>
                  </a:moveTo>
                  <a:lnTo>
                    <a:pt x="50356" y="30242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42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8906565" y="5754263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426"/>
                  </a:lnTo>
                  <a:lnTo>
                    <a:pt x="50356" y="30242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8456018" y="5754263"/>
              <a:ext cx="501015" cy="406400"/>
            </a:xfrm>
            <a:custGeom>
              <a:avLst/>
              <a:gdLst/>
              <a:ahLst/>
              <a:cxnLst/>
              <a:rect l="l" t="t" r="r" b="b"/>
              <a:pathLst>
                <a:path w="501015" h="406400">
                  <a:moveTo>
                    <a:pt x="450547" y="302426"/>
                  </a:moveTo>
                  <a:lnTo>
                    <a:pt x="500903" y="302426"/>
                  </a:lnTo>
                  <a:lnTo>
                    <a:pt x="500903" y="0"/>
                  </a:lnTo>
                  <a:lnTo>
                    <a:pt x="450547" y="0"/>
                  </a:lnTo>
                  <a:lnTo>
                    <a:pt x="450547" y="302426"/>
                  </a:lnTo>
                  <a:close/>
                </a:path>
                <a:path w="501015" h="406400">
                  <a:moveTo>
                    <a:pt x="0" y="406393"/>
                  </a:moveTo>
                  <a:lnTo>
                    <a:pt x="126069" y="406393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8566412" y="6138698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18"/>
                  </a:lnTo>
                  <a:lnTo>
                    <a:pt x="44090" y="25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8859289" y="6261396"/>
              <a:ext cx="126364" cy="0"/>
            </a:xfrm>
            <a:custGeom>
              <a:avLst/>
              <a:gdLst/>
              <a:ahLst/>
              <a:cxnLst/>
              <a:rect l="l" t="t" r="r" b="b"/>
              <a:pathLst>
                <a:path w="126365" h="0">
                  <a:moveTo>
                    <a:pt x="0" y="0"/>
                  </a:moveTo>
                  <a:lnTo>
                    <a:pt x="125901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8969683" y="623943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18"/>
                  </a:lnTo>
                  <a:lnTo>
                    <a:pt x="44091" y="25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7697003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636"/>
                  </a:lnTo>
                  <a:lnTo>
                    <a:pt x="50356" y="30263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7697003" y="6107056"/>
              <a:ext cx="885190" cy="302895"/>
            </a:xfrm>
            <a:custGeom>
              <a:avLst/>
              <a:gdLst/>
              <a:ahLst/>
              <a:cxnLst/>
              <a:rect l="l" t="t" r="r" b="b"/>
              <a:pathLst>
                <a:path w="885190" h="302895">
                  <a:moveTo>
                    <a:pt x="0" y="302636"/>
                  </a:moveTo>
                  <a:lnTo>
                    <a:pt x="50356" y="30263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  <a:path w="885190" h="302895">
                  <a:moveTo>
                    <a:pt x="759014" y="255279"/>
                  </a:moveTo>
                  <a:lnTo>
                    <a:pt x="885083" y="255279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8566412" y="6340386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18"/>
                  </a:lnTo>
                  <a:lnTo>
                    <a:pt x="44090" y="25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9007320" y="6107056"/>
              <a:ext cx="246379" cy="302895"/>
            </a:xfrm>
            <a:custGeom>
              <a:avLst/>
              <a:gdLst/>
              <a:ahLst/>
              <a:cxnLst/>
              <a:rect l="l" t="t" r="r" b="b"/>
              <a:pathLst>
                <a:path w="246379" h="302895">
                  <a:moveTo>
                    <a:pt x="245751" y="0"/>
                  </a:moveTo>
                  <a:lnTo>
                    <a:pt x="0" y="0"/>
                  </a:lnTo>
                  <a:lnTo>
                    <a:pt x="0" y="302636"/>
                  </a:lnTo>
                  <a:lnTo>
                    <a:pt x="245751" y="302636"/>
                  </a:lnTo>
                  <a:lnTo>
                    <a:pt x="24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9007320" y="6107056"/>
              <a:ext cx="375285" cy="302895"/>
            </a:xfrm>
            <a:custGeom>
              <a:avLst/>
              <a:gdLst/>
              <a:ahLst/>
              <a:cxnLst/>
              <a:rect l="l" t="t" r="r" b="b"/>
              <a:pathLst>
                <a:path w="375284" h="302895">
                  <a:moveTo>
                    <a:pt x="0" y="302636"/>
                  </a:moveTo>
                  <a:lnTo>
                    <a:pt x="245751" y="302636"/>
                  </a:lnTo>
                  <a:lnTo>
                    <a:pt x="245751" y="0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  <a:path w="375284" h="302895">
                  <a:moveTo>
                    <a:pt x="248785" y="154339"/>
                  </a:moveTo>
                  <a:lnTo>
                    <a:pt x="374855" y="154339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9366500" y="6239437"/>
              <a:ext cx="38100" cy="44450"/>
            </a:xfrm>
            <a:custGeom>
              <a:avLst/>
              <a:gdLst/>
              <a:ahLst/>
              <a:cxnLst/>
              <a:rect l="l" t="t" r="r" b="b"/>
              <a:pathLst>
                <a:path w="38100" h="44450">
                  <a:moveTo>
                    <a:pt x="0" y="0"/>
                  </a:moveTo>
                  <a:lnTo>
                    <a:pt x="0" y="44118"/>
                  </a:lnTo>
                  <a:lnTo>
                    <a:pt x="37804" y="25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7797674" y="6107056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636"/>
                  </a:lnTo>
                  <a:lnTo>
                    <a:pt x="251987" y="30263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7797674" y="6107056"/>
              <a:ext cx="381635" cy="302895"/>
            </a:xfrm>
            <a:custGeom>
              <a:avLst/>
              <a:gdLst/>
              <a:ahLst/>
              <a:cxnLst/>
              <a:rect l="l" t="t" r="r" b="b"/>
              <a:pathLst>
                <a:path w="381634" h="302895">
                  <a:moveTo>
                    <a:pt x="0" y="302636"/>
                  </a:moveTo>
                  <a:lnTo>
                    <a:pt x="251987" y="30263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  <a:path w="381634" h="302895">
                  <a:moveTo>
                    <a:pt x="255072" y="154339"/>
                  </a:moveTo>
                  <a:lnTo>
                    <a:pt x="381141" y="154339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8163142" y="623943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18"/>
                  </a:lnTo>
                  <a:lnTo>
                    <a:pt x="44089" y="25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8200945" y="6107056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251987" y="0"/>
                  </a:moveTo>
                  <a:lnTo>
                    <a:pt x="0" y="0"/>
                  </a:lnTo>
                  <a:lnTo>
                    <a:pt x="0" y="302636"/>
                  </a:lnTo>
                  <a:lnTo>
                    <a:pt x="251987" y="302636"/>
                  </a:lnTo>
                  <a:lnTo>
                    <a:pt x="25198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8200945" y="6107056"/>
              <a:ext cx="252095" cy="302895"/>
            </a:xfrm>
            <a:custGeom>
              <a:avLst/>
              <a:gdLst/>
              <a:ahLst/>
              <a:cxnLst/>
              <a:rect l="l" t="t" r="r" b="b"/>
              <a:pathLst>
                <a:path w="252095" h="302895">
                  <a:moveTo>
                    <a:pt x="0" y="302636"/>
                  </a:moveTo>
                  <a:lnTo>
                    <a:pt x="251987" y="302636"/>
                  </a:lnTo>
                  <a:lnTo>
                    <a:pt x="251987" y="0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8" name="object 528" descr=""/>
          <p:cNvSpPr txBox="1"/>
          <p:nvPr/>
        </p:nvSpPr>
        <p:spPr>
          <a:xfrm>
            <a:off x="8276553" y="6163874"/>
            <a:ext cx="133350" cy="1841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8415" marR="5080" indent="-19050">
              <a:lnSpc>
                <a:spcPts val="590"/>
              </a:lnSpc>
              <a:spcBef>
                <a:spcPts val="17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529" name="object 529" descr=""/>
          <p:cNvGrpSpPr/>
          <p:nvPr/>
        </p:nvGrpSpPr>
        <p:grpSpPr>
          <a:xfrm>
            <a:off x="7747224" y="6106898"/>
            <a:ext cx="1115695" cy="309245"/>
            <a:chOff x="7747224" y="6106898"/>
            <a:chExt cx="1115695" cy="309245"/>
          </a:xfrm>
        </p:grpSpPr>
        <p:sp>
          <p:nvSpPr>
            <p:cNvPr id="530" name="object 530" descr=""/>
            <p:cNvSpPr/>
            <p:nvPr/>
          </p:nvSpPr>
          <p:spPr>
            <a:xfrm>
              <a:off x="8594577" y="6110073"/>
              <a:ext cx="264795" cy="302895"/>
            </a:xfrm>
            <a:custGeom>
              <a:avLst/>
              <a:gdLst/>
              <a:ahLst/>
              <a:cxnLst/>
              <a:rect l="l" t="t" r="r" b="b"/>
              <a:pathLst>
                <a:path w="264795" h="302895">
                  <a:moveTo>
                    <a:pt x="0" y="0"/>
                  </a:moveTo>
                  <a:lnTo>
                    <a:pt x="0" y="302636"/>
                  </a:lnTo>
                  <a:lnTo>
                    <a:pt x="264712" y="226874"/>
                  </a:lnTo>
                  <a:lnTo>
                    <a:pt x="264712" y="757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8594577" y="6110073"/>
              <a:ext cx="264795" cy="302895"/>
            </a:xfrm>
            <a:custGeom>
              <a:avLst/>
              <a:gdLst/>
              <a:ahLst/>
              <a:cxnLst/>
              <a:rect l="l" t="t" r="r" b="b"/>
              <a:pathLst>
                <a:path w="264795" h="302895">
                  <a:moveTo>
                    <a:pt x="0" y="302636"/>
                  </a:moveTo>
                  <a:lnTo>
                    <a:pt x="264712" y="226874"/>
                  </a:lnTo>
                  <a:lnTo>
                    <a:pt x="264712" y="75761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  <a:path w="264795" h="302895">
                  <a:moveTo>
                    <a:pt x="0" y="100948"/>
                  </a:moveTo>
                  <a:lnTo>
                    <a:pt x="75524" y="151322"/>
                  </a:lnTo>
                </a:path>
                <a:path w="264795" h="302895">
                  <a:moveTo>
                    <a:pt x="0" y="201687"/>
                  </a:moveTo>
                  <a:lnTo>
                    <a:pt x="75524" y="151322"/>
                  </a:lnTo>
                </a:path>
              </a:pathLst>
            </a:custGeom>
            <a:ln w="62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8553672" y="6182816"/>
              <a:ext cx="113664" cy="151130"/>
            </a:xfrm>
            <a:custGeom>
              <a:avLst/>
              <a:gdLst/>
              <a:ahLst/>
              <a:cxnLst/>
              <a:rect l="l" t="t" r="r" b="b"/>
              <a:pathLst>
                <a:path w="113665" h="151129">
                  <a:moveTo>
                    <a:pt x="0" y="0"/>
                  </a:moveTo>
                  <a:lnTo>
                    <a:pt x="0" y="151112"/>
                  </a:lnTo>
                  <a:lnTo>
                    <a:pt x="113410" y="755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7750399" y="6261396"/>
              <a:ext cx="25400" cy="0"/>
            </a:xfrm>
            <a:custGeom>
              <a:avLst/>
              <a:gdLst/>
              <a:ahLst/>
              <a:cxnLst/>
              <a:rect l="l" t="t" r="r" b="b"/>
              <a:pathLst>
                <a:path w="25400" h="0">
                  <a:moveTo>
                    <a:pt x="0" y="0"/>
                  </a:moveTo>
                  <a:lnTo>
                    <a:pt x="25146" y="0"/>
                  </a:lnTo>
                </a:path>
              </a:pathLst>
            </a:custGeom>
            <a:ln w="6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7759870" y="6239437"/>
              <a:ext cx="44450" cy="44450"/>
            </a:xfrm>
            <a:custGeom>
              <a:avLst/>
              <a:gdLst/>
              <a:ahLst/>
              <a:cxnLst/>
              <a:rect l="l" t="t" r="r" b="b"/>
              <a:pathLst>
                <a:path w="44450" h="44450">
                  <a:moveTo>
                    <a:pt x="0" y="0"/>
                  </a:moveTo>
                  <a:lnTo>
                    <a:pt x="0" y="44118"/>
                  </a:lnTo>
                  <a:lnTo>
                    <a:pt x="44090" y="25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5" name="object 535" descr=""/>
          <p:cNvSpPr txBox="1"/>
          <p:nvPr/>
        </p:nvSpPr>
        <p:spPr>
          <a:xfrm>
            <a:off x="9404304" y="6107056"/>
            <a:ext cx="252095" cy="302895"/>
          </a:xfrm>
          <a:prstGeom prst="rect">
            <a:avLst/>
          </a:prstGeom>
          <a:solidFill>
            <a:srgbClr val="FFCC99"/>
          </a:solidFill>
          <a:ln w="6243">
            <a:solidFill>
              <a:srgbClr val="000000"/>
            </a:solidFill>
          </a:ln>
        </p:spPr>
        <p:txBody>
          <a:bodyPr wrap="square" lIns="0" tIns="78740" rIns="0" bIns="0" rtlCol="0" vert="horz">
            <a:spAutoFit/>
          </a:bodyPr>
          <a:lstStyle/>
          <a:p>
            <a:pPr marL="93980" marR="47625" indent="-19050">
              <a:lnSpc>
                <a:spcPts val="590"/>
              </a:lnSpc>
              <a:spcBef>
                <a:spcPts val="620"/>
              </a:spcBef>
            </a:pPr>
            <a:r>
              <a:rPr dirty="0" sz="550" spc="-35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36" name="object 536" descr=""/>
          <p:cNvSpPr txBox="1"/>
          <p:nvPr/>
        </p:nvSpPr>
        <p:spPr>
          <a:xfrm>
            <a:off x="8686000" y="6233188"/>
            <a:ext cx="151130" cy="108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537" name="object 537" descr=""/>
          <p:cNvGrpSpPr/>
          <p:nvPr/>
        </p:nvGrpSpPr>
        <p:grpSpPr>
          <a:xfrm>
            <a:off x="8096848" y="6103881"/>
            <a:ext cx="1260475" cy="309245"/>
            <a:chOff x="8096848" y="6103881"/>
            <a:chExt cx="1260475" cy="309245"/>
          </a:xfrm>
        </p:grpSpPr>
        <p:sp>
          <p:nvSpPr>
            <p:cNvPr id="538" name="object 538" descr=""/>
            <p:cNvSpPr/>
            <p:nvPr/>
          </p:nvSpPr>
          <p:spPr>
            <a:xfrm>
              <a:off x="8100023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564" y="0"/>
                  </a:moveTo>
                  <a:lnTo>
                    <a:pt x="0" y="0"/>
                  </a:lnTo>
                  <a:lnTo>
                    <a:pt x="0" y="302636"/>
                  </a:lnTo>
                  <a:lnTo>
                    <a:pt x="50564" y="302636"/>
                  </a:lnTo>
                  <a:lnTo>
                    <a:pt x="505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8100023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636"/>
                  </a:moveTo>
                  <a:lnTo>
                    <a:pt x="50564" y="302636"/>
                  </a:lnTo>
                  <a:lnTo>
                    <a:pt x="50564" y="0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8503294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636"/>
                  </a:lnTo>
                  <a:lnTo>
                    <a:pt x="50356" y="30263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8503294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636"/>
                  </a:moveTo>
                  <a:lnTo>
                    <a:pt x="50356" y="30263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8906565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356" y="0"/>
                  </a:moveTo>
                  <a:lnTo>
                    <a:pt x="0" y="0"/>
                  </a:lnTo>
                  <a:lnTo>
                    <a:pt x="0" y="302636"/>
                  </a:lnTo>
                  <a:lnTo>
                    <a:pt x="50356" y="302636"/>
                  </a:lnTo>
                  <a:lnTo>
                    <a:pt x="50356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8906565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636"/>
                  </a:moveTo>
                  <a:lnTo>
                    <a:pt x="50356" y="302636"/>
                  </a:lnTo>
                  <a:lnTo>
                    <a:pt x="50356" y="0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9303382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50564" y="0"/>
                  </a:moveTo>
                  <a:lnTo>
                    <a:pt x="0" y="0"/>
                  </a:lnTo>
                  <a:lnTo>
                    <a:pt x="0" y="302636"/>
                  </a:lnTo>
                  <a:lnTo>
                    <a:pt x="50564" y="302636"/>
                  </a:lnTo>
                  <a:lnTo>
                    <a:pt x="5056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9303382" y="6107056"/>
              <a:ext cx="50800" cy="302895"/>
            </a:xfrm>
            <a:custGeom>
              <a:avLst/>
              <a:gdLst/>
              <a:ahLst/>
              <a:cxnLst/>
              <a:rect l="l" t="t" r="r" b="b"/>
              <a:pathLst>
                <a:path w="50800" h="302895">
                  <a:moveTo>
                    <a:pt x="0" y="302636"/>
                  </a:moveTo>
                  <a:lnTo>
                    <a:pt x="50564" y="302636"/>
                  </a:lnTo>
                  <a:lnTo>
                    <a:pt x="50564" y="0"/>
                  </a:lnTo>
                  <a:lnTo>
                    <a:pt x="0" y="0"/>
                  </a:lnTo>
                  <a:lnTo>
                    <a:pt x="0" y="302636"/>
                  </a:lnTo>
                  <a:close/>
                </a:path>
              </a:pathLst>
            </a:custGeom>
            <a:ln w="62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6" name="object 546" descr=""/>
          <p:cNvSpPr txBox="1"/>
          <p:nvPr/>
        </p:nvSpPr>
        <p:spPr>
          <a:xfrm>
            <a:off x="6191342" y="4518918"/>
            <a:ext cx="3475990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02590" algn="l"/>
                <a:tab pos="805815" algn="l"/>
                <a:tab pos="1202690" algn="l"/>
                <a:tab pos="1605915" algn="l"/>
                <a:tab pos="2009139" algn="l"/>
                <a:tab pos="2412365" algn="l"/>
                <a:tab pos="2815590" algn="l"/>
                <a:tab pos="3212465" algn="l"/>
              </a:tabLst>
            </a:pP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1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2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3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4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5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6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7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8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 </a:t>
            </a:r>
            <a:r>
              <a:rPr dirty="0" sz="600" spc="-50"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47" name="object 547" descr=""/>
          <p:cNvSpPr txBox="1"/>
          <p:nvPr/>
        </p:nvSpPr>
        <p:spPr>
          <a:xfrm>
            <a:off x="8264064" y="4758298"/>
            <a:ext cx="617855" cy="123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650">
                <a:latin typeface="Courier New"/>
                <a:cs typeface="Courier New"/>
              </a:rPr>
              <a:t>$2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=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$1</a:t>
            </a:r>
            <a:r>
              <a:rPr dirty="0" sz="650" spc="1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-</a:t>
            </a:r>
            <a:r>
              <a:rPr dirty="0" sz="650" spc="10">
                <a:latin typeface="Courier New"/>
                <a:cs typeface="Courier New"/>
              </a:rPr>
              <a:t> </a:t>
            </a:r>
            <a:r>
              <a:rPr dirty="0" sz="650" spc="-25">
                <a:latin typeface="Courier New"/>
                <a:cs typeface="Courier New"/>
              </a:rPr>
              <a:t>$3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548" name="object 548" descr=""/>
          <p:cNvSpPr/>
          <p:nvPr/>
        </p:nvSpPr>
        <p:spPr>
          <a:xfrm>
            <a:off x="8506311" y="5007110"/>
            <a:ext cx="1159510" cy="1065530"/>
          </a:xfrm>
          <a:custGeom>
            <a:avLst/>
            <a:gdLst/>
            <a:ahLst/>
            <a:cxnLst/>
            <a:rect l="l" t="t" r="r" b="b"/>
            <a:pathLst>
              <a:path w="1159509" h="1065529">
                <a:moveTo>
                  <a:pt x="0" y="12744"/>
                </a:moveTo>
                <a:lnTo>
                  <a:pt x="25230" y="0"/>
                </a:lnTo>
                <a:lnTo>
                  <a:pt x="63118" y="0"/>
                </a:lnTo>
                <a:lnTo>
                  <a:pt x="107209" y="18948"/>
                </a:lnTo>
                <a:lnTo>
                  <a:pt x="145097" y="44185"/>
                </a:lnTo>
                <a:lnTo>
                  <a:pt x="529172" y="397170"/>
                </a:lnTo>
                <a:lnTo>
                  <a:pt x="567060" y="428612"/>
                </a:lnTo>
                <a:lnTo>
                  <a:pt x="611151" y="441272"/>
                </a:lnTo>
                <a:lnTo>
                  <a:pt x="649039" y="441272"/>
                </a:lnTo>
                <a:lnTo>
                  <a:pt x="674269" y="428612"/>
                </a:lnTo>
                <a:lnTo>
                  <a:pt x="661528" y="460221"/>
                </a:lnTo>
                <a:lnTo>
                  <a:pt x="667983" y="491663"/>
                </a:lnTo>
                <a:lnTo>
                  <a:pt x="686759" y="535765"/>
                </a:lnTo>
                <a:lnTo>
                  <a:pt x="718360" y="573662"/>
                </a:lnTo>
                <a:lnTo>
                  <a:pt x="1102687" y="920216"/>
                </a:lnTo>
                <a:lnTo>
                  <a:pt x="1134121" y="958097"/>
                </a:lnTo>
                <a:lnTo>
                  <a:pt x="1153065" y="1002224"/>
                </a:lnTo>
                <a:lnTo>
                  <a:pt x="1159268" y="1033657"/>
                </a:lnTo>
                <a:lnTo>
                  <a:pt x="1146778" y="1065292"/>
                </a:lnTo>
              </a:path>
            </a:pathLst>
          </a:custGeom>
          <a:ln w="624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9" name="object 549" descr=""/>
          <p:cNvSpPr txBox="1"/>
          <p:nvPr/>
        </p:nvSpPr>
        <p:spPr>
          <a:xfrm>
            <a:off x="9215368" y="5117570"/>
            <a:ext cx="431800" cy="31305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R="5080">
              <a:lnSpc>
                <a:spcPts val="740"/>
              </a:lnSpc>
              <a:spcBef>
                <a:spcPts val="150"/>
              </a:spcBef>
            </a:pPr>
            <a:r>
              <a:rPr dirty="0" sz="650" spc="-10">
                <a:latin typeface="Arial MT"/>
                <a:cs typeface="Arial MT"/>
              </a:rPr>
              <a:t>Instructions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that</a:t>
            </a:r>
            <a:r>
              <a:rPr dirty="0" sz="650" spc="15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read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register</a:t>
            </a:r>
            <a:r>
              <a:rPr dirty="0" sz="650" spc="-45">
                <a:latin typeface="Arial MT"/>
                <a:cs typeface="Arial MT"/>
              </a:rPr>
              <a:t> </a:t>
            </a:r>
            <a:r>
              <a:rPr dirty="0" sz="650" spc="-25">
                <a:latin typeface="Courier New"/>
                <a:cs typeface="Courier New"/>
              </a:rPr>
              <a:t>$2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550" name="object 550" descr=""/>
          <p:cNvSpPr txBox="1"/>
          <p:nvPr/>
        </p:nvSpPr>
        <p:spPr>
          <a:xfrm>
            <a:off x="6235202" y="4764537"/>
            <a:ext cx="203200" cy="18478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R="5080" indent="24765">
              <a:lnSpc>
                <a:spcPts val="60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1" name="object 551" descr=""/>
          <p:cNvSpPr txBox="1"/>
          <p:nvPr/>
        </p:nvSpPr>
        <p:spPr>
          <a:xfrm>
            <a:off x="7841849" y="6176367"/>
            <a:ext cx="203200" cy="1841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24765">
              <a:lnSpc>
                <a:spcPts val="59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2" name="object 552" descr=""/>
          <p:cNvSpPr txBox="1"/>
          <p:nvPr/>
        </p:nvSpPr>
        <p:spPr>
          <a:xfrm>
            <a:off x="7438578" y="5823357"/>
            <a:ext cx="203200" cy="18478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R="5080" indent="24765">
              <a:lnSpc>
                <a:spcPts val="60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3" name="object 553" descr=""/>
          <p:cNvSpPr txBox="1"/>
          <p:nvPr/>
        </p:nvSpPr>
        <p:spPr>
          <a:xfrm>
            <a:off x="7041761" y="5470590"/>
            <a:ext cx="203200" cy="1841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24765">
              <a:lnSpc>
                <a:spcPts val="59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4" name="object 554" descr=""/>
          <p:cNvSpPr txBox="1"/>
          <p:nvPr/>
        </p:nvSpPr>
        <p:spPr>
          <a:xfrm>
            <a:off x="6638473" y="5117522"/>
            <a:ext cx="203200" cy="18478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R="5080" indent="24765">
              <a:lnSpc>
                <a:spcPts val="60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5" name="object 555" descr=""/>
          <p:cNvSpPr txBox="1"/>
          <p:nvPr/>
        </p:nvSpPr>
        <p:spPr>
          <a:xfrm>
            <a:off x="7438578" y="4764537"/>
            <a:ext cx="203200" cy="18478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R="5080" indent="18415">
              <a:lnSpc>
                <a:spcPts val="60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6" name="object 556" descr=""/>
          <p:cNvSpPr txBox="1"/>
          <p:nvPr/>
        </p:nvSpPr>
        <p:spPr>
          <a:xfrm>
            <a:off x="9051411" y="6176367"/>
            <a:ext cx="203200" cy="1841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18415">
              <a:lnSpc>
                <a:spcPts val="59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7" name="object 557" descr=""/>
          <p:cNvSpPr txBox="1"/>
          <p:nvPr/>
        </p:nvSpPr>
        <p:spPr>
          <a:xfrm>
            <a:off x="8648391" y="5823357"/>
            <a:ext cx="203200" cy="18478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R="5080" indent="18415">
              <a:lnSpc>
                <a:spcPts val="60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8" name="object 558" descr=""/>
          <p:cNvSpPr txBox="1"/>
          <p:nvPr/>
        </p:nvSpPr>
        <p:spPr>
          <a:xfrm>
            <a:off x="8245119" y="5470590"/>
            <a:ext cx="203200" cy="18415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R="5080" indent="18415">
              <a:lnSpc>
                <a:spcPts val="59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59" name="object 559" descr=""/>
          <p:cNvSpPr txBox="1"/>
          <p:nvPr/>
        </p:nvSpPr>
        <p:spPr>
          <a:xfrm>
            <a:off x="7841849" y="5117522"/>
            <a:ext cx="203200" cy="18478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R="5080" indent="18415">
              <a:lnSpc>
                <a:spcPts val="60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560" name="object 560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77608" y="34066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409438" y="2757574"/>
            <a:ext cx="3096895" cy="447675"/>
          </a:xfrm>
          <a:prstGeom prst="rect">
            <a:avLst/>
          </a:prstGeom>
          <a:solidFill>
            <a:srgbClr val="CCFF99"/>
          </a:solidFill>
        </p:spPr>
        <p:txBody>
          <a:bodyPr wrap="square" lIns="0" tIns="17780" rIns="0" bIns="0" rtlCol="0" vert="horz">
            <a:spAutoFit/>
          </a:bodyPr>
          <a:lstStyle/>
          <a:p>
            <a:pPr marL="46990" marR="62230">
              <a:lnSpc>
                <a:spcPct val="103299"/>
              </a:lnSpc>
              <a:spcBef>
                <a:spcPts val="140"/>
              </a:spcBef>
            </a:pPr>
            <a:r>
              <a:rPr dirty="0" sz="850">
                <a:latin typeface="Arial MT"/>
                <a:cs typeface="Arial MT"/>
              </a:rPr>
              <a:t>When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previous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writes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back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value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computed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by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-5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ALU into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 register,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 dependency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can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always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be </a:t>
            </a:r>
            <a:r>
              <a:rPr dirty="0" sz="850">
                <a:latin typeface="Arial MT"/>
                <a:cs typeface="Arial MT"/>
              </a:rPr>
              <a:t>resolved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through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forwarding.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9014" y="594823"/>
            <a:ext cx="292036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Resolving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Dependencies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via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Forwarding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510883" y="1034011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7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101758" y="1034011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92719" y="1034011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283594" y="1034011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880850" y="1034011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471785" y="1034011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62702" y="1034011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69798" y="1217018"/>
            <a:ext cx="1742439" cy="314960"/>
            <a:chOff x="969798" y="1217018"/>
            <a:chExt cx="1742439" cy="314960"/>
          </a:xfrm>
        </p:grpSpPr>
        <p:sp>
          <p:nvSpPr>
            <p:cNvPr id="14" name="object 14" descr=""/>
            <p:cNvSpPr/>
            <p:nvPr/>
          </p:nvSpPr>
          <p:spPr>
            <a:xfrm>
              <a:off x="2145814" y="137732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  <a:path w="128269" h="0">
                  <a:moveTo>
                    <a:pt x="99175" y="0"/>
                  </a:moveTo>
                  <a:lnTo>
                    <a:pt x="12778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257856" y="135500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>
                  <a:moveTo>
                    <a:pt x="0" y="0"/>
                  </a:moveTo>
                  <a:lnTo>
                    <a:pt x="0" y="44996"/>
                  </a:lnTo>
                  <a:lnTo>
                    <a:pt x="44749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72973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72973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743087" y="1480103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158" y="0"/>
                  </a:moveTo>
                  <a:lnTo>
                    <a:pt x="128020" y="0"/>
                  </a:lnTo>
                </a:path>
                <a:path w="128269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855113" y="1457775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5" h="45084">
                  <a:moveTo>
                    <a:pt x="0" y="0"/>
                  </a:moveTo>
                  <a:lnTo>
                    <a:pt x="0" y="45081"/>
                  </a:lnTo>
                  <a:lnTo>
                    <a:pt x="38453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296311" y="122019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09">
                  <a:moveTo>
                    <a:pt x="255547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547" y="308229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296311" y="122019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09">
                  <a:moveTo>
                    <a:pt x="0" y="308229"/>
                  </a:moveTo>
                  <a:lnTo>
                    <a:pt x="255547" y="308229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554938" y="137732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386" y="0"/>
                  </a:moveTo>
                  <a:lnTo>
                    <a:pt x="127952" y="0"/>
                  </a:lnTo>
                </a:path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666982" y="135500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4">
                  <a:moveTo>
                    <a:pt x="0" y="0"/>
                  </a:moveTo>
                  <a:lnTo>
                    <a:pt x="0" y="44996"/>
                  </a:lnTo>
                  <a:lnTo>
                    <a:pt x="44748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075190" y="122019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09">
                  <a:moveTo>
                    <a:pt x="255751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751" y="308229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75190" y="122019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09">
                  <a:moveTo>
                    <a:pt x="0" y="308229"/>
                  </a:moveTo>
                  <a:lnTo>
                    <a:pt x="255751" y="308229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34005" y="137732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158" y="0"/>
                  </a:moveTo>
                  <a:lnTo>
                    <a:pt x="127773" y="0"/>
                  </a:lnTo>
                </a:path>
                <a:path w="128269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46048" y="1355000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4">
                  <a:moveTo>
                    <a:pt x="0" y="0"/>
                  </a:moveTo>
                  <a:lnTo>
                    <a:pt x="0" y="44996"/>
                  </a:lnTo>
                  <a:lnTo>
                    <a:pt x="38223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84272" y="122019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09">
                  <a:moveTo>
                    <a:pt x="255751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751" y="308229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484272" y="122019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09">
                  <a:moveTo>
                    <a:pt x="0" y="308229"/>
                  </a:moveTo>
                  <a:lnTo>
                    <a:pt x="255751" y="308229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1548446" y="1278204"/>
            <a:ext cx="147955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023969" y="1217018"/>
            <a:ext cx="1940560" cy="318135"/>
            <a:chOff x="1023969" y="1217018"/>
            <a:chExt cx="1940560" cy="318135"/>
          </a:xfrm>
        </p:grpSpPr>
        <p:sp>
          <p:nvSpPr>
            <p:cNvPr id="32" name="object 32" descr=""/>
            <p:cNvSpPr/>
            <p:nvPr/>
          </p:nvSpPr>
          <p:spPr>
            <a:xfrm>
              <a:off x="1743087" y="127472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158" y="0"/>
                  </a:moveTo>
                  <a:lnTo>
                    <a:pt x="128020" y="0"/>
                  </a:lnTo>
                </a:path>
                <a:path w="128269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855113" y="1252397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5" h="45084">
                  <a:moveTo>
                    <a:pt x="0" y="0"/>
                  </a:moveTo>
                  <a:lnTo>
                    <a:pt x="0" y="44824"/>
                  </a:lnTo>
                  <a:lnTo>
                    <a:pt x="38453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883783" y="1223252"/>
              <a:ext cx="262255" cy="308610"/>
            </a:xfrm>
            <a:custGeom>
              <a:avLst/>
              <a:gdLst/>
              <a:ahLst/>
              <a:cxnLst/>
              <a:rect l="l" t="t" r="r" b="b"/>
              <a:pathLst>
                <a:path w="262255" h="308609">
                  <a:moveTo>
                    <a:pt x="0" y="0"/>
                  </a:moveTo>
                  <a:lnTo>
                    <a:pt x="0" y="308237"/>
                  </a:lnTo>
                  <a:lnTo>
                    <a:pt x="262030" y="231284"/>
                  </a:lnTo>
                  <a:lnTo>
                    <a:pt x="262030" y="77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883783" y="1223252"/>
              <a:ext cx="262255" cy="308610"/>
            </a:xfrm>
            <a:custGeom>
              <a:avLst/>
              <a:gdLst/>
              <a:ahLst/>
              <a:cxnLst/>
              <a:rect l="l" t="t" r="r" b="b"/>
              <a:pathLst>
                <a:path w="262255" h="308609">
                  <a:moveTo>
                    <a:pt x="0" y="308237"/>
                  </a:moveTo>
                  <a:lnTo>
                    <a:pt x="262030" y="231284"/>
                  </a:lnTo>
                  <a:lnTo>
                    <a:pt x="262030" y="77038"/>
                  </a:lnTo>
                  <a:lnTo>
                    <a:pt x="0" y="0"/>
                  </a:lnTo>
                  <a:lnTo>
                    <a:pt x="0" y="308237"/>
                  </a:lnTo>
                  <a:close/>
                </a:path>
                <a:path w="262255" h="308609">
                  <a:moveTo>
                    <a:pt x="0" y="102859"/>
                  </a:moveTo>
                  <a:lnTo>
                    <a:pt x="76652" y="154076"/>
                  </a:lnTo>
                </a:path>
                <a:path w="262255" h="308609">
                  <a:moveTo>
                    <a:pt x="0" y="205463"/>
                  </a:moveTo>
                  <a:lnTo>
                    <a:pt x="76652" y="154076"/>
                  </a:lnTo>
                </a:path>
              </a:pathLst>
            </a:custGeom>
            <a:ln w="6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842267" y="1297222"/>
              <a:ext cx="115570" cy="154305"/>
            </a:xfrm>
            <a:custGeom>
              <a:avLst/>
              <a:gdLst/>
              <a:ahLst/>
              <a:cxnLst/>
              <a:rect l="l" t="t" r="r" b="b"/>
              <a:pathLst>
                <a:path w="115569" h="154305">
                  <a:moveTo>
                    <a:pt x="0" y="0"/>
                  </a:moveTo>
                  <a:lnTo>
                    <a:pt x="0" y="154246"/>
                  </a:lnTo>
                  <a:lnTo>
                    <a:pt x="115106" y="77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027144" y="1377328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53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036964" y="1355000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4">
                  <a:moveTo>
                    <a:pt x="0" y="0"/>
                  </a:moveTo>
                  <a:lnTo>
                    <a:pt x="0" y="44996"/>
                  </a:lnTo>
                  <a:lnTo>
                    <a:pt x="38225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705435" y="122019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09">
                  <a:moveTo>
                    <a:pt x="255547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547" y="308229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705435" y="122019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09">
                  <a:moveTo>
                    <a:pt x="0" y="308229"/>
                  </a:moveTo>
                  <a:lnTo>
                    <a:pt x="255547" y="308229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2769388" y="1278204"/>
            <a:ext cx="147955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963859" y="1342289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1378880" y="1217018"/>
            <a:ext cx="1742439" cy="675005"/>
            <a:chOff x="1378880" y="1217018"/>
            <a:chExt cx="1742439" cy="675005"/>
          </a:xfrm>
        </p:grpSpPr>
        <p:sp>
          <p:nvSpPr>
            <p:cNvPr id="44" name="object 44" descr=""/>
            <p:cNvSpPr/>
            <p:nvPr/>
          </p:nvSpPr>
          <p:spPr>
            <a:xfrm>
              <a:off x="1382055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382055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791137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09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791137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09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193881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09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193881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09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603005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09">
                  <a:moveTo>
                    <a:pt x="51319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319" y="308229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603005" y="122019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09">
                  <a:moveTo>
                    <a:pt x="0" y="308229"/>
                  </a:moveTo>
                  <a:lnTo>
                    <a:pt x="51319" y="308229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554938" y="173712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  <a:path w="128269" h="0">
                  <a:moveTo>
                    <a:pt x="99386" y="0"/>
                  </a:moveTo>
                  <a:lnTo>
                    <a:pt x="12795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666982" y="1714796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4909"/>
                  </a:lnTo>
                  <a:lnTo>
                    <a:pt x="44748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382055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108" y="30844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382055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442"/>
                  </a:moveTo>
                  <a:lnTo>
                    <a:pt x="51108" y="30844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145813" y="183995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  <a:path w="128269" h="0">
                  <a:moveTo>
                    <a:pt x="99175" y="0"/>
                  </a:moveTo>
                  <a:lnTo>
                    <a:pt x="12778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257856" y="181765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4834"/>
                  </a:lnTo>
                  <a:lnTo>
                    <a:pt x="44749" y="19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2705435" y="1579852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10">
                  <a:moveTo>
                    <a:pt x="255547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255547" y="308442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705435" y="1579852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10">
                  <a:moveTo>
                    <a:pt x="0" y="308442"/>
                  </a:moveTo>
                  <a:lnTo>
                    <a:pt x="255547" y="308442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963977" y="173712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431" y="0"/>
                  </a:moveTo>
                  <a:lnTo>
                    <a:pt x="128037" y="0"/>
                  </a:lnTo>
                </a:path>
                <a:path w="128269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076021" y="1714796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4909"/>
                  </a:lnTo>
                  <a:lnTo>
                    <a:pt x="44834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484272" y="1579852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10">
                  <a:moveTo>
                    <a:pt x="255751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255751" y="308442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484272" y="1579852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10">
                  <a:moveTo>
                    <a:pt x="0" y="308442"/>
                  </a:moveTo>
                  <a:lnTo>
                    <a:pt x="255751" y="308442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743087" y="173712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158" y="0"/>
                  </a:moveTo>
                  <a:lnTo>
                    <a:pt x="128020" y="0"/>
                  </a:lnTo>
                </a:path>
                <a:path w="128269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855113" y="1714796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5" h="45085">
                  <a:moveTo>
                    <a:pt x="0" y="0"/>
                  </a:moveTo>
                  <a:lnTo>
                    <a:pt x="0" y="44909"/>
                  </a:lnTo>
                  <a:lnTo>
                    <a:pt x="38453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893567" y="1579852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5" h="308610">
                  <a:moveTo>
                    <a:pt x="249209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249209" y="308442"/>
                  </a:lnTo>
                  <a:lnTo>
                    <a:pt x="249209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893567" y="1579852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5" h="308610">
                  <a:moveTo>
                    <a:pt x="0" y="308442"/>
                  </a:moveTo>
                  <a:lnTo>
                    <a:pt x="249209" y="308442"/>
                  </a:lnTo>
                  <a:lnTo>
                    <a:pt x="249209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1957519" y="1637829"/>
            <a:ext cx="147955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1433056" y="1576677"/>
            <a:ext cx="1940560" cy="318135"/>
            <a:chOff x="1433056" y="1576677"/>
            <a:chExt cx="1940560" cy="318135"/>
          </a:xfrm>
        </p:grpSpPr>
        <p:sp>
          <p:nvSpPr>
            <p:cNvPr id="70" name="object 70" descr=""/>
            <p:cNvSpPr/>
            <p:nvPr/>
          </p:nvSpPr>
          <p:spPr>
            <a:xfrm>
              <a:off x="2145814" y="1634349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  <a:path w="128269" h="0">
                  <a:moveTo>
                    <a:pt x="99175" y="0"/>
                  </a:moveTo>
                  <a:lnTo>
                    <a:pt x="12778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2257856" y="1612022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5079"/>
                  </a:lnTo>
                  <a:lnTo>
                    <a:pt x="44749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2286527" y="1582962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5" h="308610">
                  <a:moveTo>
                    <a:pt x="0" y="0"/>
                  </a:moveTo>
                  <a:lnTo>
                    <a:pt x="0" y="308399"/>
                  </a:lnTo>
                  <a:lnTo>
                    <a:pt x="268410" y="231199"/>
                  </a:lnTo>
                  <a:lnTo>
                    <a:pt x="268410" y="77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2286527" y="1582962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5" h="308610">
                  <a:moveTo>
                    <a:pt x="0" y="308399"/>
                  </a:moveTo>
                  <a:lnTo>
                    <a:pt x="268410" y="231199"/>
                  </a:lnTo>
                  <a:lnTo>
                    <a:pt x="268410" y="77208"/>
                  </a:lnTo>
                  <a:lnTo>
                    <a:pt x="0" y="0"/>
                  </a:lnTo>
                  <a:lnTo>
                    <a:pt x="0" y="308399"/>
                  </a:lnTo>
                  <a:close/>
                </a:path>
                <a:path w="268605" h="308610">
                  <a:moveTo>
                    <a:pt x="0" y="102774"/>
                  </a:moveTo>
                  <a:lnTo>
                    <a:pt x="76652" y="154161"/>
                  </a:lnTo>
                </a:path>
                <a:path w="268605" h="308610">
                  <a:moveTo>
                    <a:pt x="0" y="205548"/>
                  </a:moveTo>
                  <a:lnTo>
                    <a:pt x="76652" y="154161"/>
                  </a:lnTo>
                </a:path>
              </a:pathLst>
            </a:custGeom>
            <a:ln w="6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245010" y="1657102"/>
              <a:ext cx="115570" cy="154305"/>
            </a:xfrm>
            <a:custGeom>
              <a:avLst/>
              <a:gdLst/>
              <a:ahLst/>
              <a:cxnLst/>
              <a:rect l="l" t="t" r="r" b="b"/>
              <a:pathLst>
                <a:path w="115569" h="154305">
                  <a:moveTo>
                    <a:pt x="0" y="0"/>
                  </a:moveTo>
                  <a:lnTo>
                    <a:pt x="0" y="153991"/>
                  </a:lnTo>
                  <a:lnTo>
                    <a:pt x="115106" y="769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436231" y="1737124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4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446048" y="1714796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4909"/>
                  </a:lnTo>
                  <a:lnTo>
                    <a:pt x="38223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3114475" y="1579852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751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255751" y="308442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3114475" y="1579852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442"/>
                  </a:moveTo>
                  <a:lnTo>
                    <a:pt x="255751" y="308442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3178427" y="1637829"/>
            <a:ext cx="147955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2366603" y="1702084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1787962" y="1576677"/>
            <a:ext cx="1742439" cy="668655"/>
            <a:chOff x="1787962" y="1576677"/>
            <a:chExt cx="1742439" cy="668655"/>
          </a:xfrm>
        </p:grpSpPr>
        <p:sp>
          <p:nvSpPr>
            <p:cNvPr id="82" name="object 82" descr=""/>
            <p:cNvSpPr/>
            <p:nvPr/>
          </p:nvSpPr>
          <p:spPr>
            <a:xfrm>
              <a:off x="1791137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108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108" y="30844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791137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442"/>
                  </a:moveTo>
                  <a:lnTo>
                    <a:pt x="51108" y="30844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193881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108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108" y="30844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2193881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442"/>
                  </a:moveTo>
                  <a:lnTo>
                    <a:pt x="51108" y="30844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2603005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319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319" y="308442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2603005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442"/>
                  </a:moveTo>
                  <a:lnTo>
                    <a:pt x="51319" y="308442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3012300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108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108" y="30844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3012300" y="1579852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442"/>
                  </a:moveTo>
                  <a:lnTo>
                    <a:pt x="51108" y="30844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2963977" y="209043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0" y="0"/>
                  </a:moveTo>
                  <a:lnTo>
                    <a:pt x="48322" y="0"/>
                  </a:lnTo>
                </a:path>
                <a:path w="128269" h="0">
                  <a:moveTo>
                    <a:pt x="99431" y="0"/>
                  </a:moveTo>
                  <a:lnTo>
                    <a:pt x="12803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3076021" y="2068114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4851"/>
                  </a:lnTo>
                  <a:lnTo>
                    <a:pt x="44834" y="2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791137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51108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108" y="301888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791137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0" y="301888"/>
                  </a:moveTo>
                  <a:lnTo>
                    <a:pt x="51108" y="301888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2554938" y="2193251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386" y="0"/>
                  </a:moveTo>
                  <a:lnTo>
                    <a:pt x="127952" y="0"/>
                  </a:lnTo>
                </a:path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2666982" y="217093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4851"/>
                  </a:lnTo>
                  <a:lnTo>
                    <a:pt x="44748" y="2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3114475" y="1939698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255751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255751" y="301888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3114475" y="1939698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0" y="301888"/>
                  </a:moveTo>
                  <a:lnTo>
                    <a:pt x="255751" y="301888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3373272" y="209043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3485145" y="2068114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4851"/>
                  </a:lnTo>
                  <a:lnTo>
                    <a:pt x="44749" y="2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893567" y="1939698"/>
              <a:ext cx="249554" cy="302260"/>
            </a:xfrm>
            <a:custGeom>
              <a:avLst/>
              <a:gdLst/>
              <a:ahLst/>
              <a:cxnLst/>
              <a:rect l="l" t="t" r="r" b="b"/>
              <a:pathLst>
                <a:path w="249555" h="302260">
                  <a:moveTo>
                    <a:pt x="249209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249209" y="301888"/>
                  </a:lnTo>
                  <a:lnTo>
                    <a:pt x="24920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893567" y="1939698"/>
              <a:ext cx="249554" cy="302260"/>
            </a:xfrm>
            <a:custGeom>
              <a:avLst/>
              <a:gdLst/>
              <a:ahLst/>
              <a:cxnLst/>
              <a:rect l="l" t="t" r="r" b="b"/>
              <a:pathLst>
                <a:path w="249555" h="302260">
                  <a:moveTo>
                    <a:pt x="0" y="301888"/>
                  </a:moveTo>
                  <a:lnTo>
                    <a:pt x="249209" y="301888"/>
                  </a:lnTo>
                  <a:lnTo>
                    <a:pt x="249209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2145814" y="209043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175" y="0"/>
                  </a:moveTo>
                  <a:lnTo>
                    <a:pt x="127782" y="0"/>
                  </a:lnTo>
                </a:path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2257856" y="2068114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4851"/>
                  </a:lnTo>
                  <a:lnTo>
                    <a:pt x="44749" y="2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2296311" y="1939698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5" h="302260">
                  <a:moveTo>
                    <a:pt x="255547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255547" y="301888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296311" y="1939698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5" h="302260">
                  <a:moveTo>
                    <a:pt x="0" y="301888"/>
                  </a:moveTo>
                  <a:lnTo>
                    <a:pt x="255547" y="301888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 descr=""/>
          <p:cNvSpPr txBox="1"/>
          <p:nvPr/>
        </p:nvSpPr>
        <p:spPr>
          <a:xfrm>
            <a:off x="2360263" y="1991105"/>
            <a:ext cx="147955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07" name="object 107" descr=""/>
          <p:cNvGrpSpPr/>
          <p:nvPr/>
        </p:nvGrpSpPr>
        <p:grpSpPr>
          <a:xfrm>
            <a:off x="1842154" y="1936523"/>
            <a:ext cx="1940560" cy="311785"/>
            <a:chOff x="1842154" y="1936523"/>
            <a:chExt cx="1940560" cy="311785"/>
          </a:xfrm>
        </p:grpSpPr>
        <p:sp>
          <p:nvSpPr>
            <p:cNvPr id="108" name="object 108" descr=""/>
            <p:cNvSpPr/>
            <p:nvPr/>
          </p:nvSpPr>
          <p:spPr>
            <a:xfrm>
              <a:off x="2554938" y="1994179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386" y="0"/>
                  </a:moveTo>
                  <a:lnTo>
                    <a:pt x="127952" y="0"/>
                  </a:lnTo>
                </a:path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2666982" y="1971646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5064"/>
                  </a:lnTo>
                  <a:lnTo>
                    <a:pt x="44748" y="19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695567" y="1942774"/>
              <a:ext cx="268605" cy="302260"/>
            </a:xfrm>
            <a:custGeom>
              <a:avLst/>
              <a:gdLst/>
              <a:ahLst/>
              <a:cxnLst/>
              <a:rect l="l" t="t" r="r" b="b"/>
              <a:pathLst>
                <a:path w="268605" h="302260">
                  <a:moveTo>
                    <a:pt x="0" y="0"/>
                  </a:moveTo>
                  <a:lnTo>
                    <a:pt x="0" y="301880"/>
                  </a:lnTo>
                  <a:lnTo>
                    <a:pt x="268410" y="224663"/>
                  </a:lnTo>
                  <a:lnTo>
                    <a:pt x="268410" y="77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2695567" y="1942774"/>
              <a:ext cx="268605" cy="302260"/>
            </a:xfrm>
            <a:custGeom>
              <a:avLst/>
              <a:gdLst/>
              <a:ahLst/>
              <a:cxnLst/>
              <a:rect l="l" t="t" r="r" b="b"/>
              <a:pathLst>
                <a:path w="268605" h="302260">
                  <a:moveTo>
                    <a:pt x="0" y="301880"/>
                  </a:moveTo>
                  <a:lnTo>
                    <a:pt x="268410" y="224663"/>
                  </a:lnTo>
                  <a:lnTo>
                    <a:pt x="268410" y="77004"/>
                  </a:lnTo>
                  <a:lnTo>
                    <a:pt x="0" y="0"/>
                  </a:lnTo>
                  <a:lnTo>
                    <a:pt x="0" y="301880"/>
                  </a:lnTo>
                  <a:close/>
                </a:path>
                <a:path w="268605" h="302260">
                  <a:moveTo>
                    <a:pt x="0" y="96255"/>
                  </a:moveTo>
                  <a:lnTo>
                    <a:pt x="76652" y="147659"/>
                  </a:lnTo>
                </a:path>
                <a:path w="268605" h="302260">
                  <a:moveTo>
                    <a:pt x="0" y="199071"/>
                  </a:moveTo>
                  <a:lnTo>
                    <a:pt x="76652" y="147659"/>
                  </a:lnTo>
                </a:path>
              </a:pathLst>
            </a:custGeom>
            <a:ln w="6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2654305" y="2010361"/>
              <a:ext cx="114935" cy="154305"/>
            </a:xfrm>
            <a:custGeom>
              <a:avLst/>
              <a:gdLst/>
              <a:ahLst/>
              <a:cxnLst/>
              <a:rect l="l" t="t" r="r" b="b"/>
              <a:pathLst>
                <a:path w="114935" h="154305">
                  <a:moveTo>
                    <a:pt x="0" y="0"/>
                  </a:moveTo>
                  <a:lnTo>
                    <a:pt x="0" y="154007"/>
                  </a:lnTo>
                  <a:lnTo>
                    <a:pt x="114851" y="77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845329" y="2090434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77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855113" y="2068114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5" h="45085">
                  <a:moveTo>
                    <a:pt x="0" y="0"/>
                  </a:moveTo>
                  <a:lnTo>
                    <a:pt x="0" y="44851"/>
                  </a:lnTo>
                  <a:lnTo>
                    <a:pt x="38453" y="2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3523599" y="1939698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255751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255751" y="301888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3523599" y="1939698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0" y="301888"/>
                  </a:moveTo>
                  <a:lnTo>
                    <a:pt x="255751" y="301888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/>
          <p:nvPr/>
        </p:nvSpPr>
        <p:spPr>
          <a:xfrm>
            <a:off x="3587552" y="1991105"/>
            <a:ext cx="147955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2775643" y="2061760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19" name="object 119" descr=""/>
          <p:cNvGrpSpPr/>
          <p:nvPr/>
        </p:nvGrpSpPr>
        <p:grpSpPr>
          <a:xfrm>
            <a:off x="2190706" y="1936523"/>
            <a:ext cx="1748789" cy="668020"/>
            <a:chOff x="2190706" y="1936523"/>
            <a:chExt cx="1748789" cy="668020"/>
          </a:xfrm>
        </p:grpSpPr>
        <p:sp>
          <p:nvSpPr>
            <p:cNvPr id="120" name="object 120" descr=""/>
            <p:cNvSpPr/>
            <p:nvPr/>
          </p:nvSpPr>
          <p:spPr>
            <a:xfrm>
              <a:off x="2193881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51108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108" y="301888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2193881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0" y="301888"/>
                  </a:moveTo>
                  <a:lnTo>
                    <a:pt x="51108" y="301888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2603005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51319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319" y="301888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2603005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0" y="301888"/>
                  </a:moveTo>
                  <a:lnTo>
                    <a:pt x="51319" y="301888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3012300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51108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108" y="301888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3012300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0" y="301888"/>
                  </a:moveTo>
                  <a:lnTo>
                    <a:pt x="51108" y="301888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421339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51108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108" y="301888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421339" y="1939698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5" h="302260">
                  <a:moveTo>
                    <a:pt x="0" y="301888"/>
                  </a:moveTo>
                  <a:lnTo>
                    <a:pt x="51108" y="301888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3373272" y="2450075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3485145" y="2427756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5055"/>
                  </a:lnTo>
                  <a:lnTo>
                    <a:pt x="44749" y="25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2193881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2193881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2963977" y="255289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431" y="0"/>
                  </a:moveTo>
                  <a:lnTo>
                    <a:pt x="128037" y="0"/>
                  </a:lnTo>
                </a:path>
                <a:path w="128269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3076021" y="2530573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5055"/>
                  </a:lnTo>
                  <a:lnTo>
                    <a:pt x="44834" y="258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3523599" y="2292999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751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751" y="308229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3523599" y="2292999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229"/>
                  </a:moveTo>
                  <a:lnTo>
                    <a:pt x="255751" y="308229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782397" y="2450075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3894439" y="2427756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5055"/>
                  </a:lnTo>
                  <a:lnTo>
                    <a:pt x="44749" y="25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2296311" y="2292999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10">
                  <a:moveTo>
                    <a:pt x="255547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547" y="308229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2296311" y="2292999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10">
                  <a:moveTo>
                    <a:pt x="0" y="308229"/>
                  </a:moveTo>
                  <a:lnTo>
                    <a:pt x="255547" y="308229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2554938" y="2450075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0" y="0"/>
                  </a:moveTo>
                  <a:lnTo>
                    <a:pt x="48067" y="0"/>
                  </a:lnTo>
                </a:path>
                <a:path w="128269" h="0">
                  <a:moveTo>
                    <a:pt x="99386" y="0"/>
                  </a:moveTo>
                  <a:lnTo>
                    <a:pt x="12795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2666982" y="2427756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5055"/>
                  </a:lnTo>
                  <a:lnTo>
                    <a:pt x="44748" y="25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2705435" y="2292999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10">
                  <a:moveTo>
                    <a:pt x="255547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547" y="308229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2705435" y="2292999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5" h="308610">
                  <a:moveTo>
                    <a:pt x="0" y="308229"/>
                  </a:moveTo>
                  <a:lnTo>
                    <a:pt x="255547" y="308229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 descr=""/>
          <p:cNvSpPr txBox="1"/>
          <p:nvPr/>
        </p:nvSpPr>
        <p:spPr>
          <a:xfrm>
            <a:off x="2769388" y="2350951"/>
            <a:ext cx="147955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45" name="object 145" descr=""/>
          <p:cNvGrpSpPr/>
          <p:nvPr/>
        </p:nvGrpSpPr>
        <p:grpSpPr>
          <a:xfrm>
            <a:off x="2244898" y="2289824"/>
            <a:ext cx="1940560" cy="318135"/>
            <a:chOff x="2244898" y="2289824"/>
            <a:chExt cx="1940560" cy="318135"/>
          </a:xfrm>
        </p:grpSpPr>
        <p:sp>
          <p:nvSpPr>
            <p:cNvPr id="146" name="object 146" descr=""/>
            <p:cNvSpPr/>
            <p:nvPr/>
          </p:nvSpPr>
          <p:spPr>
            <a:xfrm>
              <a:off x="2963977" y="234747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69" h="0">
                  <a:moveTo>
                    <a:pt x="99431" y="0"/>
                  </a:moveTo>
                  <a:lnTo>
                    <a:pt x="128037" y="0"/>
                  </a:lnTo>
                </a:path>
                <a:path w="128269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3076021" y="232494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5063"/>
                  </a:lnTo>
                  <a:lnTo>
                    <a:pt x="44834" y="25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3104691" y="2296067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4" h="308610">
                  <a:moveTo>
                    <a:pt x="0" y="0"/>
                  </a:moveTo>
                  <a:lnTo>
                    <a:pt x="0" y="308228"/>
                  </a:lnTo>
                  <a:lnTo>
                    <a:pt x="268581" y="231225"/>
                  </a:lnTo>
                  <a:lnTo>
                    <a:pt x="268581" y="77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3104691" y="2296067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4" h="308610">
                  <a:moveTo>
                    <a:pt x="0" y="308228"/>
                  </a:moveTo>
                  <a:lnTo>
                    <a:pt x="268581" y="231225"/>
                  </a:lnTo>
                  <a:lnTo>
                    <a:pt x="268581" y="77004"/>
                  </a:lnTo>
                  <a:lnTo>
                    <a:pt x="0" y="0"/>
                  </a:lnTo>
                  <a:lnTo>
                    <a:pt x="0" y="308228"/>
                  </a:lnTo>
                  <a:close/>
                </a:path>
                <a:path w="268604" h="308610">
                  <a:moveTo>
                    <a:pt x="0" y="102808"/>
                  </a:moveTo>
                  <a:lnTo>
                    <a:pt x="76822" y="154008"/>
                  </a:lnTo>
                </a:path>
                <a:path w="268604" h="308610">
                  <a:moveTo>
                    <a:pt x="0" y="205412"/>
                  </a:moveTo>
                  <a:lnTo>
                    <a:pt x="76822" y="154008"/>
                  </a:lnTo>
                </a:path>
              </a:pathLst>
            </a:custGeom>
            <a:ln w="6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3063344" y="2370003"/>
              <a:ext cx="115570" cy="154305"/>
            </a:xfrm>
            <a:custGeom>
              <a:avLst/>
              <a:gdLst/>
              <a:ahLst/>
              <a:cxnLst/>
              <a:rect l="l" t="t" r="r" b="b"/>
              <a:pathLst>
                <a:path w="115569" h="154305">
                  <a:moveTo>
                    <a:pt x="0" y="0"/>
                  </a:moveTo>
                  <a:lnTo>
                    <a:pt x="0" y="154221"/>
                  </a:lnTo>
                  <a:lnTo>
                    <a:pt x="115106" y="77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2248073" y="2450075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52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2257856" y="2427757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5" h="45085">
                  <a:moveTo>
                    <a:pt x="0" y="0"/>
                  </a:moveTo>
                  <a:lnTo>
                    <a:pt x="0" y="45055"/>
                  </a:lnTo>
                  <a:lnTo>
                    <a:pt x="44749" y="25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3932639" y="2292999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4" h="308610">
                  <a:moveTo>
                    <a:pt x="249422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49422" y="308229"/>
                  </a:lnTo>
                  <a:lnTo>
                    <a:pt x="249422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3932639" y="2292999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4" h="308610">
                  <a:moveTo>
                    <a:pt x="0" y="308229"/>
                  </a:moveTo>
                  <a:lnTo>
                    <a:pt x="249422" y="308229"/>
                  </a:lnTo>
                  <a:lnTo>
                    <a:pt x="249422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5" name="object 155" descr=""/>
          <p:cNvSpPr txBox="1"/>
          <p:nvPr/>
        </p:nvSpPr>
        <p:spPr>
          <a:xfrm>
            <a:off x="3996591" y="2350951"/>
            <a:ext cx="147955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56" name="object 156" descr=""/>
          <p:cNvSpPr txBox="1"/>
          <p:nvPr/>
        </p:nvSpPr>
        <p:spPr>
          <a:xfrm>
            <a:off x="3184938" y="2421615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57" name="object 157" descr=""/>
          <p:cNvGrpSpPr/>
          <p:nvPr/>
        </p:nvGrpSpPr>
        <p:grpSpPr>
          <a:xfrm>
            <a:off x="2599830" y="2289824"/>
            <a:ext cx="1285240" cy="314960"/>
            <a:chOff x="2599830" y="2289824"/>
            <a:chExt cx="1285240" cy="314960"/>
          </a:xfrm>
        </p:grpSpPr>
        <p:sp>
          <p:nvSpPr>
            <p:cNvPr id="158" name="object 158" descr=""/>
            <p:cNvSpPr/>
            <p:nvPr/>
          </p:nvSpPr>
          <p:spPr>
            <a:xfrm>
              <a:off x="2603005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319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319" y="308229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2603005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229"/>
                  </a:moveTo>
                  <a:lnTo>
                    <a:pt x="51319" y="308229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3012300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3012300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3421339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3421339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3830464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3830464" y="2292999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10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 descr=""/>
          <p:cNvSpPr txBox="1"/>
          <p:nvPr/>
        </p:nvSpPr>
        <p:spPr>
          <a:xfrm>
            <a:off x="3920177" y="1034011"/>
            <a:ext cx="68199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5290" algn="l"/>
              </a:tabLst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8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7" name="object 167" descr=""/>
          <p:cNvSpPr txBox="1"/>
          <p:nvPr/>
        </p:nvSpPr>
        <p:spPr>
          <a:xfrm>
            <a:off x="3165751" y="1277997"/>
            <a:ext cx="639445" cy="125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">
                <a:latin typeface="Courier New"/>
                <a:cs typeface="Courier New"/>
              </a:rPr>
              <a:t>$2</a:t>
            </a:r>
            <a:r>
              <a:rPr dirty="0" sz="650" spc="2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=</a:t>
            </a:r>
            <a:r>
              <a:rPr dirty="0" sz="650" spc="30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$1</a:t>
            </a:r>
            <a:r>
              <a:rPr dirty="0" sz="650" spc="25">
                <a:latin typeface="Courier New"/>
                <a:cs typeface="Courier New"/>
              </a:rPr>
              <a:t> </a:t>
            </a:r>
            <a:r>
              <a:rPr dirty="0" sz="650">
                <a:latin typeface="Courier New"/>
                <a:cs typeface="Courier New"/>
              </a:rPr>
              <a:t>-</a:t>
            </a:r>
            <a:r>
              <a:rPr dirty="0" sz="650" spc="30">
                <a:latin typeface="Courier New"/>
                <a:cs typeface="Courier New"/>
              </a:rPr>
              <a:t> </a:t>
            </a:r>
            <a:r>
              <a:rPr dirty="0" sz="650" spc="-25">
                <a:latin typeface="Courier New"/>
                <a:cs typeface="Courier New"/>
              </a:rPr>
              <a:t>$3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68" name="object 168" descr=""/>
          <p:cNvSpPr/>
          <p:nvPr/>
        </p:nvSpPr>
        <p:spPr>
          <a:xfrm>
            <a:off x="3430697" y="1518622"/>
            <a:ext cx="843915" cy="784225"/>
          </a:xfrm>
          <a:custGeom>
            <a:avLst/>
            <a:gdLst/>
            <a:ahLst/>
            <a:cxnLst/>
            <a:rect l="l" t="t" r="r" b="b"/>
            <a:pathLst>
              <a:path w="843914" h="784225">
                <a:moveTo>
                  <a:pt x="0" y="19429"/>
                </a:moveTo>
                <a:lnTo>
                  <a:pt x="25607" y="6561"/>
                </a:lnTo>
                <a:lnTo>
                  <a:pt x="51129" y="0"/>
                </a:lnTo>
                <a:lnTo>
                  <a:pt x="83288" y="12868"/>
                </a:lnTo>
                <a:lnTo>
                  <a:pt x="115106" y="32127"/>
                </a:lnTo>
                <a:lnTo>
                  <a:pt x="389897" y="282842"/>
                </a:lnTo>
                <a:lnTo>
                  <a:pt x="421970" y="308433"/>
                </a:lnTo>
                <a:lnTo>
                  <a:pt x="453873" y="314774"/>
                </a:lnTo>
                <a:lnTo>
                  <a:pt x="485776" y="314774"/>
                </a:lnTo>
                <a:lnTo>
                  <a:pt x="511554" y="295540"/>
                </a:lnTo>
                <a:lnTo>
                  <a:pt x="498708" y="321335"/>
                </a:lnTo>
                <a:lnTo>
                  <a:pt x="498708" y="353489"/>
                </a:lnTo>
                <a:lnTo>
                  <a:pt x="505003" y="385437"/>
                </a:lnTo>
                <a:lnTo>
                  <a:pt x="530526" y="411242"/>
                </a:lnTo>
                <a:lnTo>
                  <a:pt x="805572" y="668067"/>
                </a:lnTo>
                <a:lnTo>
                  <a:pt x="831095" y="693879"/>
                </a:lnTo>
                <a:lnTo>
                  <a:pt x="843771" y="726033"/>
                </a:lnTo>
                <a:lnTo>
                  <a:pt x="843771" y="758194"/>
                </a:lnTo>
                <a:lnTo>
                  <a:pt x="824714" y="783786"/>
                </a:lnTo>
              </a:path>
            </a:pathLst>
          </a:custGeom>
          <a:ln w="6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 descr=""/>
          <p:cNvSpPr txBox="1"/>
          <p:nvPr/>
        </p:nvSpPr>
        <p:spPr>
          <a:xfrm>
            <a:off x="3983915" y="1547886"/>
            <a:ext cx="450850" cy="31877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60"/>
              </a:lnSpc>
              <a:spcBef>
                <a:spcPts val="150"/>
              </a:spcBef>
            </a:pPr>
            <a:r>
              <a:rPr dirty="0" sz="650" spc="-10">
                <a:latin typeface="Arial MT"/>
                <a:cs typeface="Arial MT"/>
              </a:rPr>
              <a:t>Instructions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that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read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register</a:t>
            </a:r>
            <a:r>
              <a:rPr dirty="0" sz="650" spc="-10">
                <a:latin typeface="Arial MT"/>
                <a:cs typeface="Arial MT"/>
              </a:rPr>
              <a:t> </a:t>
            </a:r>
            <a:r>
              <a:rPr dirty="0" sz="650" spc="-25">
                <a:latin typeface="Courier New"/>
                <a:cs typeface="Courier New"/>
              </a:rPr>
              <a:t>$2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170" name="object 170" descr=""/>
          <p:cNvSpPr txBox="1"/>
          <p:nvPr/>
        </p:nvSpPr>
        <p:spPr>
          <a:xfrm>
            <a:off x="1107265" y="1284511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65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1" name="object 171" descr=""/>
          <p:cNvSpPr txBox="1"/>
          <p:nvPr/>
        </p:nvSpPr>
        <p:spPr>
          <a:xfrm>
            <a:off x="2328190" y="2363649"/>
            <a:ext cx="218440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65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2" name="object 172" descr=""/>
          <p:cNvSpPr txBox="1"/>
          <p:nvPr/>
        </p:nvSpPr>
        <p:spPr>
          <a:xfrm>
            <a:off x="1925616" y="2004007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65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3" name="object 173" descr=""/>
          <p:cNvSpPr txBox="1"/>
          <p:nvPr/>
        </p:nvSpPr>
        <p:spPr>
          <a:xfrm>
            <a:off x="1516347" y="1644391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65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4" name="object 174" descr=""/>
          <p:cNvSpPr txBox="1"/>
          <p:nvPr/>
        </p:nvSpPr>
        <p:spPr>
          <a:xfrm>
            <a:off x="2328190" y="1284511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5" name="object 175" descr=""/>
          <p:cNvSpPr txBox="1"/>
          <p:nvPr/>
        </p:nvSpPr>
        <p:spPr>
          <a:xfrm>
            <a:off x="3555649" y="2363649"/>
            <a:ext cx="218440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6" name="object 176" descr=""/>
          <p:cNvSpPr txBox="1"/>
          <p:nvPr/>
        </p:nvSpPr>
        <p:spPr>
          <a:xfrm>
            <a:off x="3146524" y="2004007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77" name="object 177" descr=""/>
          <p:cNvSpPr txBox="1"/>
          <p:nvPr/>
        </p:nvSpPr>
        <p:spPr>
          <a:xfrm>
            <a:off x="2737485" y="1644391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8415">
              <a:lnSpc>
                <a:spcPts val="61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78" name="object 178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179" name="object 179" descr=""/>
            <p:cNvSpPr/>
            <p:nvPr/>
          </p:nvSpPr>
          <p:spPr>
            <a:xfrm>
              <a:off x="2193874" y="1361535"/>
              <a:ext cx="716280" cy="1092200"/>
            </a:xfrm>
            <a:custGeom>
              <a:avLst/>
              <a:gdLst/>
              <a:ahLst/>
              <a:cxnLst/>
              <a:rect l="l" t="t" r="r" b="b"/>
              <a:pathLst>
                <a:path w="716280" h="1092200">
                  <a:moveTo>
                    <a:pt x="715987" y="969975"/>
                  </a:moveTo>
                  <a:lnTo>
                    <a:pt x="670382" y="972489"/>
                  </a:lnTo>
                  <a:lnTo>
                    <a:pt x="626579" y="12725"/>
                  </a:lnTo>
                  <a:lnTo>
                    <a:pt x="613727" y="12725"/>
                  </a:lnTo>
                  <a:lnTo>
                    <a:pt x="613727" y="0"/>
                  </a:lnTo>
                  <a:lnTo>
                    <a:pt x="0" y="0"/>
                  </a:lnTo>
                  <a:lnTo>
                    <a:pt x="0" y="25603"/>
                  </a:lnTo>
                  <a:lnTo>
                    <a:pt x="13766" y="25603"/>
                  </a:lnTo>
                  <a:lnTo>
                    <a:pt x="48564" y="265010"/>
                  </a:lnTo>
                  <a:lnTo>
                    <a:pt x="6553" y="269748"/>
                  </a:lnTo>
                  <a:lnTo>
                    <a:pt x="83197" y="372529"/>
                  </a:lnTo>
                  <a:lnTo>
                    <a:pt x="121399" y="256794"/>
                  </a:lnTo>
                  <a:lnTo>
                    <a:pt x="74625" y="262077"/>
                  </a:lnTo>
                  <a:lnTo>
                    <a:pt x="40322" y="25603"/>
                  </a:lnTo>
                  <a:lnTo>
                    <a:pt x="422897" y="25603"/>
                  </a:lnTo>
                  <a:lnTo>
                    <a:pt x="465607" y="614197"/>
                  </a:lnTo>
                  <a:lnTo>
                    <a:pt x="421970" y="616673"/>
                  </a:lnTo>
                  <a:lnTo>
                    <a:pt x="492328" y="732180"/>
                  </a:lnTo>
                  <a:lnTo>
                    <a:pt x="537083" y="610120"/>
                  </a:lnTo>
                  <a:lnTo>
                    <a:pt x="491096" y="612749"/>
                  </a:lnTo>
                  <a:lnTo>
                    <a:pt x="448424" y="25603"/>
                  </a:lnTo>
                  <a:lnTo>
                    <a:pt x="601472" y="25603"/>
                  </a:lnTo>
                  <a:lnTo>
                    <a:pt x="644918" y="973899"/>
                  </a:lnTo>
                  <a:lnTo>
                    <a:pt x="600887" y="976312"/>
                  </a:lnTo>
                  <a:lnTo>
                    <a:pt x="671156" y="1092034"/>
                  </a:lnTo>
                  <a:lnTo>
                    <a:pt x="715987" y="9699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2" name="object 182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 txBox="1"/>
          <p:nvPr/>
        </p:nvSpPr>
        <p:spPr>
          <a:xfrm>
            <a:off x="7595009" y="34066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84" name="object 18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85" name="object 185" descr=""/>
          <p:cNvSpPr txBox="1"/>
          <p:nvPr/>
        </p:nvSpPr>
        <p:spPr>
          <a:xfrm>
            <a:off x="6386839" y="2662799"/>
            <a:ext cx="3426460" cy="581025"/>
          </a:xfrm>
          <a:prstGeom prst="rect">
            <a:avLst/>
          </a:prstGeom>
          <a:solidFill>
            <a:srgbClr val="CCFF99"/>
          </a:solidFill>
        </p:spPr>
        <p:txBody>
          <a:bodyPr wrap="square" lIns="0" tIns="17780" rIns="0" bIns="0" rtlCol="0" vert="horz">
            <a:spAutoFit/>
          </a:bodyPr>
          <a:lstStyle/>
          <a:p>
            <a:pPr marL="46990" marR="66040">
              <a:lnSpc>
                <a:spcPct val="102899"/>
              </a:lnSpc>
              <a:spcBef>
                <a:spcPts val="140"/>
              </a:spcBef>
            </a:pPr>
            <a:r>
              <a:rPr dirty="0" sz="850">
                <a:latin typeface="Arial MT"/>
                <a:cs typeface="Arial MT"/>
              </a:rPr>
              <a:t>When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immediately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preceding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writes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value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read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out </a:t>
            </a:r>
            <a:r>
              <a:rPr dirty="0" sz="850">
                <a:latin typeface="Arial MT"/>
                <a:cs typeface="Arial MT"/>
              </a:rPr>
              <a:t>from</a:t>
            </a:r>
            <a:r>
              <a:rPr dirty="0" sz="850" spc="-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 data memory into a register, the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 dependency </a:t>
            </a:r>
            <a:r>
              <a:rPr dirty="0" sz="850" spc="-10">
                <a:latin typeface="Arial MT"/>
                <a:cs typeface="Arial MT"/>
              </a:rPr>
              <a:t>cannot</a:t>
            </a:r>
            <a:r>
              <a:rPr dirty="0" sz="850" spc="50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resolved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through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forwarding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(i.e.,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cannot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go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back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time)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and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bubble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must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inserted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pipeline.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186" name="object 186" descr=""/>
          <p:cNvSpPr txBox="1"/>
          <p:nvPr/>
        </p:nvSpPr>
        <p:spPr>
          <a:xfrm>
            <a:off x="5716414" y="594823"/>
            <a:ext cx="284670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Certain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Dependencies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Lead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Bubbles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87" name="object 187" descr=""/>
          <p:cNvSpPr txBox="1"/>
          <p:nvPr/>
        </p:nvSpPr>
        <p:spPr>
          <a:xfrm>
            <a:off x="8219159" y="1001046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8" name="object 188" descr=""/>
          <p:cNvSpPr txBox="1"/>
          <p:nvPr/>
        </p:nvSpPr>
        <p:spPr>
          <a:xfrm>
            <a:off x="7810119" y="1001046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9" name="object 189" descr=""/>
          <p:cNvSpPr txBox="1"/>
          <p:nvPr/>
        </p:nvSpPr>
        <p:spPr>
          <a:xfrm>
            <a:off x="7400995" y="1001046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4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0" name="object 190" descr=""/>
          <p:cNvSpPr txBox="1"/>
          <p:nvPr/>
        </p:nvSpPr>
        <p:spPr>
          <a:xfrm>
            <a:off x="6998251" y="1001046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1" name="object 191" descr=""/>
          <p:cNvSpPr txBox="1"/>
          <p:nvPr/>
        </p:nvSpPr>
        <p:spPr>
          <a:xfrm>
            <a:off x="6589186" y="1001046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2" name="object 192" descr=""/>
          <p:cNvSpPr txBox="1"/>
          <p:nvPr/>
        </p:nvSpPr>
        <p:spPr>
          <a:xfrm>
            <a:off x="6180102" y="1001046"/>
            <a:ext cx="27940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93" name="object 193" descr=""/>
          <p:cNvGrpSpPr/>
          <p:nvPr/>
        </p:nvGrpSpPr>
        <p:grpSpPr>
          <a:xfrm>
            <a:off x="6087198" y="1184052"/>
            <a:ext cx="1742439" cy="314960"/>
            <a:chOff x="6087198" y="1184052"/>
            <a:chExt cx="1742439" cy="314960"/>
          </a:xfrm>
        </p:grpSpPr>
        <p:sp>
          <p:nvSpPr>
            <p:cNvPr id="194" name="object 194" descr=""/>
            <p:cNvSpPr/>
            <p:nvPr/>
          </p:nvSpPr>
          <p:spPr>
            <a:xfrm>
              <a:off x="7263214" y="1344363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375257" y="132203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4">
                  <a:moveTo>
                    <a:pt x="0" y="0"/>
                  </a:moveTo>
                  <a:lnTo>
                    <a:pt x="0" y="44996"/>
                  </a:lnTo>
                  <a:lnTo>
                    <a:pt x="44749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6090373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09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6090373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5" h="308609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6860487" y="144713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58" y="0"/>
                  </a:moveTo>
                  <a:lnTo>
                    <a:pt x="128020" y="0"/>
                  </a:lnTo>
                </a:path>
                <a:path w="128270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6972513" y="1424810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4">
                  <a:moveTo>
                    <a:pt x="0" y="0"/>
                  </a:moveTo>
                  <a:lnTo>
                    <a:pt x="0" y="45081"/>
                  </a:lnTo>
                  <a:lnTo>
                    <a:pt x="38453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7413711" y="1187227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09">
                  <a:moveTo>
                    <a:pt x="255547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547" y="308229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7413711" y="1187227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09">
                  <a:moveTo>
                    <a:pt x="0" y="308229"/>
                  </a:moveTo>
                  <a:lnTo>
                    <a:pt x="255547" y="308229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672339" y="1344363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7784382" y="132203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4">
                  <a:moveTo>
                    <a:pt x="0" y="0"/>
                  </a:moveTo>
                  <a:lnTo>
                    <a:pt x="0" y="44996"/>
                  </a:lnTo>
                  <a:lnTo>
                    <a:pt x="44748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6192591" y="1187227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09">
                  <a:moveTo>
                    <a:pt x="255751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751" y="308229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6192591" y="1187227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09">
                  <a:moveTo>
                    <a:pt x="0" y="308229"/>
                  </a:moveTo>
                  <a:lnTo>
                    <a:pt x="255751" y="308229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6451405" y="1344363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58" y="0"/>
                  </a:moveTo>
                  <a:lnTo>
                    <a:pt x="127773" y="0"/>
                  </a:lnTo>
                </a:path>
                <a:path w="128270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6563447" y="1322035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4">
                  <a:moveTo>
                    <a:pt x="0" y="0"/>
                  </a:moveTo>
                  <a:lnTo>
                    <a:pt x="0" y="44996"/>
                  </a:lnTo>
                  <a:lnTo>
                    <a:pt x="38224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6601673" y="1187227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09">
                  <a:moveTo>
                    <a:pt x="255751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751" y="308229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6601673" y="1187227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09">
                  <a:moveTo>
                    <a:pt x="0" y="308229"/>
                  </a:moveTo>
                  <a:lnTo>
                    <a:pt x="255751" y="308229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0" name="object 210" descr=""/>
          <p:cNvSpPr txBox="1"/>
          <p:nvPr/>
        </p:nvSpPr>
        <p:spPr>
          <a:xfrm>
            <a:off x="6665846" y="1245239"/>
            <a:ext cx="147955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115" marR="5080" indent="-19050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11" name="object 211" descr=""/>
          <p:cNvGrpSpPr/>
          <p:nvPr/>
        </p:nvGrpSpPr>
        <p:grpSpPr>
          <a:xfrm>
            <a:off x="6141370" y="1184052"/>
            <a:ext cx="1940560" cy="318135"/>
            <a:chOff x="6141370" y="1184052"/>
            <a:chExt cx="1940560" cy="318135"/>
          </a:xfrm>
        </p:grpSpPr>
        <p:sp>
          <p:nvSpPr>
            <p:cNvPr id="212" name="object 212" descr=""/>
            <p:cNvSpPr/>
            <p:nvPr/>
          </p:nvSpPr>
          <p:spPr>
            <a:xfrm>
              <a:off x="6860487" y="1241759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58" y="0"/>
                  </a:moveTo>
                  <a:lnTo>
                    <a:pt x="128020" y="0"/>
                  </a:lnTo>
                </a:path>
                <a:path w="128270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6972513" y="1219432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4">
                  <a:moveTo>
                    <a:pt x="0" y="0"/>
                  </a:moveTo>
                  <a:lnTo>
                    <a:pt x="0" y="44825"/>
                  </a:lnTo>
                  <a:lnTo>
                    <a:pt x="38453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7001184" y="1190287"/>
              <a:ext cx="262255" cy="308610"/>
            </a:xfrm>
            <a:custGeom>
              <a:avLst/>
              <a:gdLst/>
              <a:ahLst/>
              <a:cxnLst/>
              <a:rect l="l" t="t" r="r" b="b"/>
              <a:pathLst>
                <a:path w="262254" h="308609">
                  <a:moveTo>
                    <a:pt x="0" y="0"/>
                  </a:moveTo>
                  <a:lnTo>
                    <a:pt x="0" y="308237"/>
                  </a:lnTo>
                  <a:lnTo>
                    <a:pt x="262030" y="231284"/>
                  </a:lnTo>
                  <a:lnTo>
                    <a:pt x="262030" y="77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7001184" y="1190287"/>
              <a:ext cx="262255" cy="308610"/>
            </a:xfrm>
            <a:custGeom>
              <a:avLst/>
              <a:gdLst/>
              <a:ahLst/>
              <a:cxnLst/>
              <a:rect l="l" t="t" r="r" b="b"/>
              <a:pathLst>
                <a:path w="262254" h="308609">
                  <a:moveTo>
                    <a:pt x="0" y="308237"/>
                  </a:moveTo>
                  <a:lnTo>
                    <a:pt x="262030" y="231284"/>
                  </a:lnTo>
                  <a:lnTo>
                    <a:pt x="262030" y="77038"/>
                  </a:lnTo>
                  <a:lnTo>
                    <a:pt x="0" y="0"/>
                  </a:lnTo>
                  <a:lnTo>
                    <a:pt x="0" y="308237"/>
                  </a:lnTo>
                  <a:close/>
                </a:path>
                <a:path w="262254" h="308609">
                  <a:moveTo>
                    <a:pt x="0" y="102859"/>
                  </a:moveTo>
                  <a:lnTo>
                    <a:pt x="76652" y="154076"/>
                  </a:lnTo>
                </a:path>
                <a:path w="262254" h="308609">
                  <a:moveTo>
                    <a:pt x="0" y="205463"/>
                  </a:moveTo>
                  <a:lnTo>
                    <a:pt x="76652" y="154076"/>
                  </a:lnTo>
                </a:path>
              </a:pathLst>
            </a:custGeom>
            <a:ln w="6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6959667" y="1264258"/>
              <a:ext cx="115570" cy="154305"/>
            </a:xfrm>
            <a:custGeom>
              <a:avLst/>
              <a:gdLst/>
              <a:ahLst/>
              <a:cxnLst/>
              <a:rect l="l" t="t" r="r" b="b"/>
              <a:pathLst>
                <a:path w="115570" h="154305">
                  <a:moveTo>
                    <a:pt x="0" y="0"/>
                  </a:moveTo>
                  <a:lnTo>
                    <a:pt x="0" y="154246"/>
                  </a:lnTo>
                  <a:lnTo>
                    <a:pt x="115106" y="770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6144545" y="1344363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5" h="0">
                  <a:moveTo>
                    <a:pt x="0" y="0"/>
                  </a:moveTo>
                  <a:lnTo>
                    <a:pt x="25553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6154363" y="1322035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5" h="45084">
                  <a:moveTo>
                    <a:pt x="0" y="0"/>
                  </a:moveTo>
                  <a:lnTo>
                    <a:pt x="0" y="44996"/>
                  </a:lnTo>
                  <a:lnTo>
                    <a:pt x="38225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7822836" y="1187227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09">
                  <a:moveTo>
                    <a:pt x="255547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547" y="308229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7822836" y="1187227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09">
                  <a:moveTo>
                    <a:pt x="0" y="308229"/>
                  </a:moveTo>
                  <a:lnTo>
                    <a:pt x="255547" y="308229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1" name="object 221" descr=""/>
          <p:cNvSpPr txBox="1"/>
          <p:nvPr/>
        </p:nvSpPr>
        <p:spPr>
          <a:xfrm>
            <a:off x="7886788" y="1245239"/>
            <a:ext cx="147955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22" name="object 222" descr=""/>
          <p:cNvSpPr txBox="1"/>
          <p:nvPr/>
        </p:nvSpPr>
        <p:spPr>
          <a:xfrm>
            <a:off x="7081260" y="1309323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23" name="object 223" descr=""/>
          <p:cNvGrpSpPr/>
          <p:nvPr/>
        </p:nvGrpSpPr>
        <p:grpSpPr>
          <a:xfrm>
            <a:off x="6496280" y="1184052"/>
            <a:ext cx="1742439" cy="675005"/>
            <a:chOff x="6496280" y="1184052"/>
            <a:chExt cx="1742439" cy="675005"/>
          </a:xfrm>
        </p:grpSpPr>
        <p:sp>
          <p:nvSpPr>
            <p:cNvPr id="224" name="object 224" descr=""/>
            <p:cNvSpPr/>
            <p:nvPr/>
          </p:nvSpPr>
          <p:spPr>
            <a:xfrm>
              <a:off x="6499455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6499455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6908537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6908537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7311281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7311281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7720406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51319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319" y="308229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7720406" y="1187227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09">
                  <a:moveTo>
                    <a:pt x="0" y="308229"/>
                  </a:moveTo>
                  <a:lnTo>
                    <a:pt x="51319" y="308229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7672339" y="170415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7784382" y="168183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4909"/>
                  </a:lnTo>
                  <a:lnTo>
                    <a:pt x="44748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6499455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108" y="30844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6499455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442"/>
                  </a:moveTo>
                  <a:lnTo>
                    <a:pt x="51108" y="30844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7263214" y="1806992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7375257" y="178469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4833"/>
                  </a:lnTo>
                  <a:lnTo>
                    <a:pt x="44749" y="19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7822836" y="1546886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547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255547" y="308442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7822836" y="1546886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442"/>
                  </a:moveTo>
                  <a:lnTo>
                    <a:pt x="255547" y="308442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8081378" y="170415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8193421" y="168183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4909"/>
                  </a:lnTo>
                  <a:lnTo>
                    <a:pt x="44834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6601673" y="1546886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751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255751" y="308442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6601673" y="1546886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442"/>
                  </a:moveTo>
                  <a:lnTo>
                    <a:pt x="255751" y="308442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6860487" y="170415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58" y="0"/>
                  </a:moveTo>
                  <a:lnTo>
                    <a:pt x="128020" y="0"/>
                  </a:lnTo>
                </a:path>
                <a:path w="128270" h="0">
                  <a:moveTo>
                    <a:pt x="0" y="0"/>
                  </a:moveTo>
                  <a:lnTo>
                    <a:pt x="48050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6972513" y="1681831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4909"/>
                  </a:lnTo>
                  <a:lnTo>
                    <a:pt x="38453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7010967" y="1546886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4" h="308610">
                  <a:moveTo>
                    <a:pt x="249209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249209" y="308442"/>
                  </a:lnTo>
                  <a:lnTo>
                    <a:pt x="249209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7010967" y="1546886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4" h="308610">
                  <a:moveTo>
                    <a:pt x="0" y="308442"/>
                  </a:moveTo>
                  <a:lnTo>
                    <a:pt x="249209" y="308442"/>
                  </a:lnTo>
                  <a:lnTo>
                    <a:pt x="249209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8" name="object 248" descr=""/>
          <p:cNvSpPr txBox="1"/>
          <p:nvPr/>
        </p:nvSpPr>
        <p:spPr>
          <a:xfrm>
            <a:off x="7074920" y="1604863"/>
            <a:ext cx="147955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49" name="object 249" descr=""/>
          <p:cNvGrpSpPr/>
          <p:nvPr/>
        </p:nvGrpSpPr>
        <p:grpSpPr>
          <a:xfrm>
            <a:off x="6550456" y="1543711"/>
            <a:ext cx="1940560" cy="318135"/>
            <a:chOff x="6550456" y="1543711"/>
            <a:chExt cx="1940560" cy="318135"/>
          </a:xfrm>
        </p:grpSpPr>
        <p:sp>
          <p:nvSpPr>
            <p:cNvPr id="250" name="object 250" descr=""/>
            <p:cNvSpPr/>
            <p:nvPr/>
          </p:nvSpPr>
          <p:spPr>
            <a:xfrm>
              <a:off x="7263214" y="1601384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7375257" y="1579056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4">
                  <a:moveTo>
                    <a:pt x="0" y="0"/>
                  </a:moveTo>
                  <a:lnTo>
                    <a:pt x="0" y="45081"/>
                  </a:lnTo>
                  <a:lnTo>
                    <a:pt x="44749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7403928" y="1549997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4" h="308610">
                  <a:moveTo>
                    <a:pt x="0" y="0"/>
                  </a:moveTo>
                  <a:lnTo>
                    <a:pt x="0" y="308399"/>
                  </a:lnTo>
                  <a:lnTo>
                    <a:pt x="268410" y="231199"/>
                  </a:lnTo>
                  <a:lnTo>
                    <a:pt x="268410" y="77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7403928" y="1549997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4" h="308610">
                  <a:moveTo>
                    <a:pt x="0" y="308399"/>
                  </a:moveTo>
                  <a:lnTo>
                    <a:pt x="268410" y="231199"/>
                  </a:lnTo>
                  <a:lnTo>
                    <a:pt x="268410" y="77208"/>
                  </a:lnTo>
                  <a:lnTo>
                    <a:pt x="0" y="0"/>
                  </a:lnTo>
                  <a:lnTo>
                    <a:pt x="0" y="308399"/>
                  </a:lnTo>
                  <a:close/>
                </a:path>
                <a:path w="268604" h="308610">
                  <a:moveTo>
                    <a:pt x="0" y="102774"/>
                  </a:moveTo>
                  <a:lnTo>
                    <a:pt x="76652" y="154161"/>
                  </a:lnTo>
                </a:path>
                <a:path w="268604" h="308610">
                  <a:moveTo>
                    <a:pt x="0" y="205548"/>
                  </a:moveTo>
                  <a:lnTo>
                    <a:pt x="76652" y="154161"/>
                  </a:lnTo>
                </a:path>
              </a:pathLst>
            </a:custGeom>
            <a:ln w="6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7362411" y="1624137"/>
              <a:ext cx="115570" cy="154305"/>
            </a:xfrm>
            <a:custGeom>
              <a:avLst/>
              <a:gdLst/>
              <a:ahLst/>
              <a:cxnLst/>
              <a:rect l="l" t="t" r="r" b="b"/>
              <a:pathLst>
                <a:path w="115570" h="154305">
                  <a:moveTo>
                    <a:pt x="0" y="0"/>
                  </a:moveTo>
                  <a:lnTo>
                    <a:pt x="0" y="153991"/>
                  </a:lnTo>
                  <a:lnTo>
                    <a:pt x="115106" y="76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6553631" y="1704158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4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6563447" y="1681831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4909"/>
                  </a:lnTo>
                  <a:lnTo>
                    <a:pt x="38224" y="19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8231876" y="1546886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751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255751" y="308442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8231876" y="1546886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442"/>
                  </a:moveTo>
                  <a:lnTo>
                    <a:pt x="255751" y="308442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9" name="object 259" descr=""/>
          <p:cNvSpPr txBox="1"/>
          <p:nvPr/>
        </p:nvSpPr>
        <p:spPr>
          <a:xfrm>
            <a:off x="8295827" y="1604863"/>
            <a:ext cx="147955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60" name="object 260" descr=""/>
          <p:cNvSpPr txBox="1"/>
          <p:nvPr/>
        </p:nvSpPr>
        <p:spPr>
          <a:xfrm>
            <a:off x="7484004" y="1669119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61" name="object 261" descr=""/>
          <p:cNvGrpSpPr/>
          <p:nvPr/>
        </p:nvGrpSpPr>
        <p:grpSpPr>
          <a:xfrm>
            <a:off x="6905363" y="1543711"/>
            <a:ext cx="1742439" cy="668655"/>
            <a:chOff x="6905363" y="1543711"/>
            <a:chExt cx="1742439" cy="668655"/>
          </a:xfrm>
        </p:grpSpPr>
        <p:sp>
          <p:nvSpPr>
            <p:cNvPr id="262" name="object 262" descr=""/>
            <p:cNvSpPr/>
            <p:nvPr/>
          </p:nvSpPr>
          <p:spPr>
            <a:xfrm>
              <a:off x="6908538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108" y="30844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6908538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442"/>
                  </a:moveTo>
                  <a:lnTo>
                    <a:pt x="51108" y="30844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7311281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108" y="30844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7311281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442"/>
                  </a:moveTo>
                  <a:lnTo>
                    <a:pt x="51108" y="30844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7720406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319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319" y="308442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7720406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442"/>
                  </a:moveTo>
                  <a:lnTo>
                    <a:pt x="51319" y="308442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8129701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442"/>
                  </a:lnTo>
                  <a:lnTo>
                    <a:pt x="51108" y="308442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8129701" y="1546886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442"/>
                  </a:moveTo>
                  <a:lnTo>
                    <a:pt x="51108" y="308442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442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8081378" y="205746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8193421" y="203515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4850"/>
                  </a:lnTo>
                  <a:lnTo>
                    <a:pt x="44834" y="25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6908538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108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108" y="301888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6908538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1888"/>
                  </a:moveTo>
                  <a:lnTo>
                    <a:pt x="51108" y="301888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7672339" y="2160285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7784382" y="2137967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4850"/>
                  </a:lnTo>
                  <a:lnTo>
                    <a:pt x="44748" y="25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8231875" y="1906733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255751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255751" y="301888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8231875" y="1906733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0" y="301888"/>
                  </a:moveTo>
                  <a:lnTo>
                    <a:pt x="255751" y="301888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8490673" y="205746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8602545" y="203515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4850"/>
                  </a:lnTo>
                  <a:lnTo>
                    <a:pt x="44748" y="25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7010968" y="1906733"/>
              <a:ext cx="249554" cy="302260"/>
            </a:xfrm>
            <a:custGeom>
              <a:avLst/>
              <a:gdLst/>
              <a:ahLst/>
              <a:cxnLst/>
              <a:rect l="l" t="t" r="r" b="b"/>
              <a:pathLst>
                <a:path w="249554" h="302260">
                  <a:moveTo>
                    <a:pt x="249209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249209" y="301888"/>
                  </a:lnTo>
                  <a:lnTo>
                    <a:pt x="249209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7010968" y="1906733"/>
              <a:ext cx="249554" cy="302260"/>
            </a:xfrm>
            <a:custGeom>
              <a:avLst/>
              <a:gdLst/>
              <a:ahLst/>
              <a:cxnLst/>
              <a:rect l="l" t="t" r="r" b="b"/>
              <a:pathLst>
                <a:path w="249554" h="302260">
                  <a:moveTo>
                    <a:pt x="0" y="301888"/>
                  </a:moveTo>
                  <a:lnTo>
                    <a:pt x="249209" y="301888"/>
                  </a:lnTo>
                  <a:lnTo>
                    <a:pt x="249209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7263214" y="2057468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7375257" y="2035150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4850"/>
                  </a:lnTo>
                  <a:lnTo>
                    <a:pt x="44749" y="25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7413711" y="1906733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255547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255547" y="301888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7413711" y="1906733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0" y="301888"/>
                  </a:moveTo>
                  <a:lnTo>
                    <a:pt x="255547" y="301888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6" name="object 286" descr=""/>
          <p:cNvSpPr txBox="1"/>
          <p:nvPr/>
        </p:nvSpPr>
        <p:spPr>
          <a:xfrm>
            <a:off x="7477664" y="1958139"/>
            <a:ext cx="147955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87" name="object 287" descr=""/>
          <p:cNvGrpSpPr/>
          <p:nvPr/>
        </p:nvGrpSpPr>
        <p:grpSpPr>
          <a:xfrm>
            <a:off x="6959555" y="1903558"/>
            <a:ext cx="1940560" cy="311785"/>
            <a:chOff x="6959555" y="1903558"/>
            <a:chExt cx="1940560" cy="311785"/>
          </a:xfrm>
        </p:grpSpPr>
        <p:sp>
          <p:nvSpPr>
            <p:cNvPr id="288" name="object 288" descr=""/>
            <p:cNvSpPr/>
            <p:nvPr/>
          </p:nvSpPr>
          <p:spPr>
            <a:xfrm>
              <a:off x="7672339" y="1961213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7784382" y="1938682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63"/>
                  </a:lnTo>
                  <a:lnTo>
                    <a:pt x="44748" y="19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7812967" y="1909809"/>
              <a:ext cx="268605" cy="302260"/>
            </a:xfrm>
            <a:custGeom>
              <a:avLst/>
              <a:gdLst/>
              <a:ahLst/>
              <a:cxnLst/>
              <a:rect l="l" t="t" r="r" b="b"/>
              <a:pathLst>
                <a:path w="268604" h="302260">
                  <a:moveTo>
                    <a:pt x="0" y="0"/>
                  </a:moveTo>
                  <a:lnTo>
                    <a:pt x="0" y="301880"/>
                  </a:lnTo>
                  <a:lnTo>
                    <a:pt x="268410" y="224663"/>
                  </a:lnTo>
                  <a:lnTo>
                    <a:pt x="268410" y="77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7812967" y="1909809"/>
              <a:ext cx="268605" cy="302260"/>
            </a:xfrm>
            <a:custGeom>
              <a:avLst/>
              <a:gdLst/>
              <a:ahLst/>
              <a:cxnLst/>
              <a:rect l="l" t="t" r="r" b="b"/>
              <a:pathLst>
                <a:path w="268604" h="302260">
                  <a:moveTo>
                    <a:pt x="0" y="301880"/>
                  </a:moveTo>
                  <a:lnTo>
                    <a:pt x="268410" y="224663"/>
                  </a:lnTo>
                  <a:lnTo>
                    <a:pt x="268410" y="77004"/>
                  </a:lnTo>
                  <a:lnTo>
                    <a:pt x="0" y="0"/>
                  </a:lnTo>
                  <a:lnTo>
                    <a:pt x="0" y="301880"/>
                  </a:lnTo>
                  <a:close/>
                </a:path>
                <a:path w="268604" h="302260">
                  <a:moveTo>
                    <a:pt x="0" y="96255"/>
                  </a:moveTo>
                  <a:lnTo>
                    <a:pt x="76652" y="147659"/>
                  </a:lnTo>
                </a:path>
                <a:path w="268604" h="302260">
                  <a:moveTo>
                    <a:pt x="0" y="199071"/>
                  </a:moveTo>
                  <a:lnTo>
                    <a:pt x="76652" y="147659"/>
                  </a:lnTo>
                </a:path>
              </a:pathLst>
            </a:custGeom>
            <a:ln w="6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7771705" y="1977397"/>
              <a:ext cx="114935" cy="154305"/>
            </a:xfrm>
            <a:custGeom>
              <a:avLst/>
              <a:gdLst/>
              <a:ahLst/>
              <a:cxnLst/>
              <a:rect l="l" t="t" r="r" b="b"/>
              <a:pathLst>
                <a:path w="114934" h="154305">
                  <a:moveTo>
                    <a:pt x="0" y="0"/>
                  </a:moveTo>
                  <a:lnTo>
                    <a:pt x="0" y="154007"/>
                  </a:lnTo>
                  <a:lnTo>
                    <a:pt x="114851" y="77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6962730" y="2057468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77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6972513" y="2035150"/>
              <a:ext cx="38735" cy="45085"/>
            </a:xfrm>
            <a:custGeom>
              <a:avLst/>
              <a:gdLst/>
              <a:ahLst/>
              <a:cxnLst/>
              <a:rect l="l" t="t" r="r" b="b"/>
              <a:pathLst>
                <a:path w="38734" h="45085">
                  <a:moveTo>
                    <a:pt x="0" y="0"/>
                  </a:moveTo>
                  <a:lnTo>
                    <a:pt x="0" y="44850"/>
                  </a:lnTo>
                  <a:lnTo>
                    <a:pt x="38453" y="25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8641000" y="1906733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255751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255751" y="301888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8641000" y="1906733"/>
              <a:ext cx="255904" cy="302260"/>
            </a:xfrm>
            <a:custGeom>
              <a:avLst/>
              <a:gdLst/>
              <a:ahLst/>
              <a:cxnLst/>
              <a:rect l="l" t="t" r="r" b="b"/>
              <a:pathLst>
                <a:path w="255904" h="302260">
                  <a:moveTo>
                    <a:pt x="0" y="301888"/>
                  </a:moveTo>
                  <a:lnTo>
                    <a:pt x="255751" y="301888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7" name="object 297" descr=""/>
          <p:cNvSpPr txBox="1"/>
          <p:nvPr/>
        </p:nvSpPr>
        <p:spPr>
          <a:xfrm>
            <a:off x="8704952" y="1958139"/>
            <a:ext cx="147955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298" name="object 298" descr=""/>
          <p:cNvSpPr txBox="1"/>
          <p:nvPr/>
        </p:nvSpPr>
        <p:spPr>
          <a:xfrm>
            <a:off x="7893043" y="2028795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99" name="object 299" descr=""/>
          <p:cNvGrpSpPr/>
          <p:nvPr/>
        </p:nvGrpSpPr>
        <p:grpSpPr>
          <a:xfrm>
            <a:off x="7308106" y="1903558"/>
            <a:ext cx="1748789" cy="668020"/>
            <a:chOff x="7308106" y="1903558"/>
            <a:chExt cx="1748789" cy="668020"/>
          </a:xfrm>
        </p:grpSpPr>
        <p:sp>
          <p:nvSpPr>
            <p:cNvPr id="300" name="object 300" descr=""/>
            <p:cNvSpPr/>
            <p:nvPr/>
          </p:nvSpPr>
          <p:spPr>
            <a:xfrm>
              <a:off x="7311281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108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108" y="301888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7311281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1888"/>
                  </a:moveTo>
                  <a:lnTo>
                    <a:pt x="51108" y="301888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7720406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319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319" y="301888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7720406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1888"/>
                  </a:moveTo>
                  <a:lnTo>
                    <a:pt x="51319" y="301888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8129700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108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108" y="301888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8129700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1888"/>
                  </a:moveTo>
                  <a:lnTo>
                    <a:pt x="51108" y="301888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8538740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51108" y="0"/>
                  </a:moveTo>
                  <a:lnTo>
                    <a:pt x="0" y="0"/>
                  </a:lnTo>
                  <a:lnTo>
                    <a:pt x="0" y="301888"/>
                  </a:lnTo>
                  <a:lnTo>
                    <a:pt x="51108" y="301888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8538740" y="1906733"/>
              <a:ext cx="51435" cy="302260"/>
            </a:xfrm>
            <a:custGeom>
              <a:avLst/>
              <a:gdLst/>
              <a:ahLst/>
              <a:cxnLst/>
              <a:rect l="l" t="t" r="r" b="b"/>
              <a:pathLst>
                <a:path w="51434" h="302260">
                  <a:moveTo>
                    <a:pt x="0" y="301888"/>
                  </a:moveTo>
                  <a:lnTo>
                    <a:pt x="51108" y="301888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1888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8490673" y="2417110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8602545" y="239479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55"/>
                  </a:lnTo>
                  <a:lnTo>
                    <a:pt x="44748" y="258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7311281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7311281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8081378" y="2519927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8193421" y="2497609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54"/>
                  </a:lnTo>
                  <a:lnTo>
                    <a:pt x="44834" y="25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8641000" y="22600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751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751" y="308229"/>
                  </a:lnTo>
                  <a:lnTo>
                    <a:pt x="25575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8641000" y="22600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229"/>
                  </a:moveTo>
                  <a:lnTo>
                    <a:pt x="255751" y="308229"/>
                  </a:lnTo>
                  <a:lnTo>
                    <a:pt x="255751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8899797" y="2417110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175" y="0"/>
                  </a:moveTo>
                  <a:lnTo>
                    <a:pt x="127782" y="0"/>
                  </a:lnTo>
                </a:path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9011839" y="239479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55"/>
                  </a:lnTo>
                  <a:lnTo>
                    <a:pt x="44749" y="258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7413711" y="22600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547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547" y="308229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7413711" y="22600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229"/>
                  </a:moveTo>
                  <a:lnTo>
                    <a:pt x="255547" y="308229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7672338" y="2417110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0" y="0"/>
                  </a:moveTo>
                  <a:lnTo>
                    <a:pt x="48067" y="0"/>
                  </a:lnTo>
                </a:path>
                <a:path w="128270" h="0">
                  <a:moveTo>
                    <a:pt x="99386" y="0"/>
                  </a:moveTo>
                  <a:lnTo>
                    <a:pt x="12795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7784382" y="239479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55"/>
                  </a:lnTo>
                  <a:lnTo>
                    <a:pt x="44748" y="258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7822836" y="22600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255547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55547" y="308229"/>
                  </a:lnTo>
                  <a:lnTo>
                    <a:pt x="255547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7822836" y="2260033"/>
              <a:ext cx="255904" cy="308610"/>
            </a:xfrm>
            <a:custGeom>
              <a:avLst/>
              <a:gdLst/>
              <a:ahLst/>
              <a:cxnLst/>
              <a:rect l="l" t="t" r="r" b="b"/>
              <a:pathLst>
                <a:path w="255904" h="308610">
                  <a:moveTo>
                    <a:pt x="0" y="308229"/>
                  </a:moveTo>
                  <a:lnTo>
                    <a:pt x="255547" y="308229"/>
                  </a:lnTo>
                  <a:lnTo>
                    <a:pt x="255547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4" name="object 324" descr=""/>
          <p:cNvSpPr txBox="1"/>
          <p:nvPr/>
        </p:nvSpPr>
        <p:spPr>
          <a:xfrm>
            <a:off x="7886788" y="2317986"/>
            <a:ext cx="147955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25" name="object 325" descr=""/>
          <p:cNvGrpSpPr/>
          <p:nvPr/>
        </p:nvGrpSpPr>
        <p:grpSpPr>
          <a:xfrm>
            <a:off x="7362299" y="2256858"/>
            <a:ext cx="1940560" cy="318135"/>
            <a:chOff x="7362299" y="2256858"/>
            <a:chExt cx="1940560" cy="318135"/>
          </a:xfrm>
        </p:grpSpPr>
        <p:sp>
          <p:nvSpPr>
            <p:cNvPr id="326" name="object 326" descr=""/>
            <p:cNvSpPr/>
            <p:nvPr/>
          </p:nvSpPr>
          <p:spPr>
            <a:xfrm>
              <a:off x="8081378" y="2314506"/>
              <a:ext cx="128270" cy="0"/>
            </a:xfrm>
            <a:custGeom>
              <a:avLst/>
              <a:gdLst/>
              <a:ahLst/>
              <a:cxnLst/>
              <a:rect l="l" t="t" r="r" b="b"/>
              <a:pathLst>
                <a:path w="128270" h="0">
                  <a:moveTo>
                    <a:pt x="99431" y="0"/>
                  </a:moveTo>
                  <a:lnTo>
                    <a:pt x="128037" y="0"/>
                  </a:lnTo>
                </a:path>
                <a:path w="128270" h="0">
                  <a:moveTo>
                    <a:pt x="0" y="0"/>
                  </a:moveTo>
                  <a:lnTo>
                    <a:pt x="4832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8193421" y="2291975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63"/>
                  </a:lnTo>
                  <a:lnTo>
                    <a:pt x="44834" y="25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8222092" y="2263102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4" h="308610">
                  <a:moveTo>
                    <a:pt x="0" y="0"/>
                  </a:moveTo>
                  <a:lnTo>
                    <a:pt x="0" y="308228"/>
                  </a:lnTo>
                  <a:lnTo>
                    <a:pt x="268581" y="231225"/>
                  </a:lnTo>
                  <a:lnTo>
                    <a:pt x="268581" y="770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8222092" y="2263102"/>
              <a:ext cx="268605" cy="308610"/>
            </a:xfrm>
            <a:custGeom>
              <a:avLst/>
              <a:gdLst/>
              <a:ahLst/>
              <a:cxnLst/>
              <a:rect l="l" t="t" r="r" b="b"/>
              <a:pathLst>
                <a:path w="268604" h="308610">
                  <a:moveTo>
                    <a:pt x="0" y="308228"/>
                  </a:moveTo>
                  <a:lnTo>
                    <a:pt x="268581" y="231225"/>
                  </a:lnTo>
                  <a:lnTo>
                    <a:pt x="268581" y="77004"/>
                  </a:lnTo>
                  <a:lnTo>
                    <a:pt x="0" y="0"/>
                  </a:lnTo>
                  <a:lnTo>
                    <a:pt x="0" y="308228"/>
                  </a:lnTo>
                  <a:close/>
                </a:path>
                <a:path w="268604" h="308610">
                  <a:moveTo>
                    <a:pt x="0" y="102808"/>
                  </a:moveTo>
                  <a:lnTo>
                    <a:pt x="76822" y="154008"/>
                  </a:lnTo>
                </a:path>
                <a:path w="268604" h="308610">
                  <a:moveTo>
                    <a:pt x="0" y="205412"/>
                  </a:moveTo>
                  <a:lnTo>
                    <a:pt x="76822" y="154008"/>
                  </a:lnTo>
                </a:path>
              </a:pathLst>
            </a:custGeom>
            <a:ln w="63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8180744" y="2337038"/>
              <a:ext cx="115570" cy="154305"/>
            </a:xfrm>
            <a:custGeom>
              <a:avLst/>
              <a:gdLst/>
              <a:ahLst/>
              <a:cxnLst/>
              <a:rect l="l" t="t" r="r" b="b"/>
              <a:pathLst>
                <a:path w="115570" h="154305">
                  <a:moveTo>
                    <a:pt x="0" y="0"/>
                  </a:moveTo>
                  <a:lnTo>
                    <a:pt x="0" y="154222"/>
                  </a:lnTo>
                  <a:lnTo>
                    <a:pt x="115106" y="770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7365474" y="2417110"/>
              <a:ext cx="26034" cy="0"/>
            </a:xfrm>
            <a:custGeom>
              <a:avLst/>
              <a:gdLst/>
              <a:ahLst/>
              <a:cxnLst/>
              <a:rect l="l" t="t" r="r" b="b"/>
              <a:pathLst>
                <a:path w="26034" h="0">
                  <a:moveTo>
                    <a:pt x="0" y="0"/>
                  </a:moveTo>
                  <a:lnTo>
                    <a:pt x="25522" y="0"/>
                  </a:lnTo>
                </a:path>
              </a:pathLst>
            </a:custGeom>
            <a:ln w="63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7375257" y="2394791"/>
              <a:ext cx="45085" cy="45085"/>
            </a:xfrm>
            <a:custGeom>
              <a:avLst/>
              <a:gdLst/>
              <a:ahLst/>
              <a:cxnLst/>
              <a:rect l="l" t="t" r="r" b="b"/>
              <a:pathLst>
                <a:path w="45084" h="45085">
                  <a:moveTo>
                    <a:pt x="0" y="0"/>
                  </a:moveTo>
                  <a:lnTo>
                    <a:pt x="0" y="45055"/>
                  </a:lnTo>
                  <a:lnTo>
                    <a:pt x="44749" y="258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9050039" y="2260033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4" h="308610">
                  <a:moveTo>
                    <a:pt x="249422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249422" y="308229"/>
                  </a:lnTo>
                  <a:lnTo>
                    <a:pt x="249422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9050039" y="2260033"/>
              <a:ext cx="249554" cy="308610"/>
            </a:xfrm>
            <a:custGeom>
              <a:avLst/>
              <a:gdLst/>
              <a:ahLst/>
              <a:cxnLst/>
              <a:rect l="l" t="t" r="r" b="b"/>
              <a:pathLst>
                <a:path w="249554" h="308610">
                  <a:moveTo>
                    <a:pt x="0" y="308229"/>
                  </a:moveTo>
                  <a:lnTo>
                    <a:pt x="249422" y="308229"/>
                  </a:lnTo>
                  <a:lnTo>
                    <a:pt x="249422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5" name="object 335" descr=""/>
          <p:cNvSpPr txBox="1"/>
          <p:nvPr/>
        </p:nvSpPr>
        <p:spPr>
          <a:xfrm>
            <a:off x="9113991" y="2317986"/>
            <a:ext cx="147955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31750" marR="5080" indent="-19685">
              <a:lnSpc>
                <a:spcPts val="610"/>
              </a:lnSpc>
              <a:spcBef>
                <a:spcPts val="165"/>
              </a:spcBef>
            </a:pPr>
            <a:r>
              <a:rPr dirty="0" sz="550" spc="-30">
                <a:latin typeface="Arial MT"/>
                <a:cs typeface="Arial MT"/>
              </a:rPr>
              <a:t>Reg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file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36" name="object 336" descr=""/>
          <p:cNvSpPr txBox="1"/>
          <p:nvPr/>
        </p:nvSpPr>
        <p:spPr>
          <a:xfrm>
            <a:off x="8302338" y="2388650"/>
            <a:ext cx="166370" cy="11048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550" spc="-25">
                <a:latin typeface="Arial MT"/>
                <a:cs typeface="Arial MT"/>
              </a:rPr>
              <a:t>ALU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37" name="object 337" descr=""/>
          <p:cNvGrpSpPr/>
          <p:nvPr/>
        </p:nvGrpSpPr>
        <p:grpSpPr>
          <a:xfrm>
            <a:off x="7717231" y="2256858"/>
            <a:ext cx="1285240" cy="314960"/>
            <a:chOff x="7717231" y="2256858"/>
            <a:chExt cx="1285240" cy="314960"/>
          </a:xfrm>
        </p:grpSpPr>
        <p:sp>
          <p:nvSpPr>
            <p:cNvPr id="338" name="object 338" descr=""/>
            <p:cNvSpPr/>
            <p:nvPr/>
          </p:nvSpPr>
          <p:spPr>
            <a:xfrm>
              <a:off x="7720406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319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319" y="308229"/>
                  </a:lnTo>
                  <a:lnTo>
                    <a:pt x="5131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7720406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229"/>
                  </a:moveTo>
                  <a:lnTo>
                    <a:pt x="51319" y="308229"/>
                  </a:lnTo>
                  <a:lnTo>
                    <a:pt x="51319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8129700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8129700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8538740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3" name="object 343" descr=""/>
            <p:cNvSpPr/>
            <p:nvPr/>
          </p:nvSpPr>
          <p:spPr>
            <a:xfrm>
              <a:off x="8538740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8947864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51108" y="0"/>
                  </a:moveTo>
                  <a:lnTo>
                    <a:pt x="0" y="0"/>
                  </a:lnTo>
                  <a:lnTo>
                    <a:pt x="0" y="308229"/>
                  </a:lnTo>
                  <a:lnTo>
                    <a:pt x="51108" y="308229"/>
                  </a:lnTo>
                  <a:lnTo>
                    <a:pt x="51108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8947864" y="2260033"/>
              <a:ext cx="51435" cy="308610"/>
            </a:xfrm>
            <a:custGeom>
              <a:avLst/>
              <a:gdLst/>
              <a:ahLst/>
              <a:cxnLst/>
              <a:rect l="l" t="t" r="r" b="b"/>
              <a:pathLst>
                <a:path w="51434" h="308610">
                  <a:moveTo>
                    <a:pt x="0" y="308229"/>
                  </a:moveTo>
                  <a:lnTo>
                    <a:pt x="51108" y="308229"/>
                  </a:lnTo>
                  <a:lnTo>
                    <a:pt x="51108" y="0"/>
                  </a:lnTo>
                  <a:lnTo>
                    <a:pt x="0" y="0"/>
                  </a:lnTo>
                  <a:lnTo>
                    <a:pt x="0" y="308229"/>
                  </a:lnTo>
                  <a:close/>
                </a:path>
              </a:pathLst>
            </a:custGeom>
            <a:ln w="63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6" name="object 346" descr=""/>
          <p:cNvSpPr txBox="1"/>
          <p:nvPr/>
        </p:nvSpPr>
        <p:spPr>
          <a:xfrm>
            <a:off x="8628283" y="1001046"/>
            <a:ext cx="1090930" cy="118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21640" algn="l"/>
                <a:tab pos="824230" algn="l"/>
              </a:tabLst>
            </a:pP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7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8</a:t>
            </a:r>
            <a:r>
              <a:rPr dirty="0" sz="600">
                <a:latin typeface="Arial MT"/>
                <a:cs typeface="Arial MT"/>
              </a:rPr>
              <a:t>	</a:t>
            </a:r>
            <a:r>
              <a:rPr dirty="0" sz="600" spc="-10">
                <a:latin typeface="Arial MT"/>
                <a:cs typeface="Arial MT"/>
              </a:rPr>
              <a:t>Cycle</a:t>
            </a:r>
            <a:r>
              <a:rPr dirty="0" sz="600" spc="-5">
                <a:latin typeface="Arial MT"/>
                <a:cs typeface="Arial MT"/>
              </a:rPr>
              <a:t> </a:t>
            </a:r>
            <a:r>
              <a:rPr dirty="0" sz="600" spc="-50"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47" name="object 347" descr=""/>
          <p:cNvSpPr txBox="1"/>
          <p:nvPr/>
        </p:nvSpPr>
        <p:spPr>
          <a:xfrm>
            <a:off x="8283151" y="1245032"/>
            <a:ext cx="690245" cy="1257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">
                <a:latin typeface="Courier New"/>
                <a:cs typeface="Courier New"/>
              </a:rPr>
              <a:t>lw</a:t>
            </a:r>
            <a:r>
              <a:rPr dirty="0" sz="650" spc="425">
                <a:latin typeface="Courier New"/>
                <a:cs typeface="Courier New"/>
              </a:rPr>
              <a:t> </a:t>
            </a:r>
            <a:r>
              <a:rPr dirty="0" sz="650" spc="-10">
                <a:latin typeface="Courier New"/>
                <a:cs typeface="Courier New"/>
              </a:rPr>
              <a:t>$2,4($12)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48" name="object 348" descr=""/>
          <p:cNvSpPr/>
          <p:nvPr/>
        </p:nvSpPr>
        <p:spPr>
          <a:xfrm>
            <a:off x="8548098" y="1485656"/>
            <a:ext cx="843915" cy="784225"/>
          </a:xfrm>
          <a:custGeom>
            <a:avLst/>
            <a:gdLst/>
            <a:ahLst/>
            <a:cxnLst/>
            <a:rect l="l" t="t" r="r" b="b"/>
            <a:pathLst>
              <a:path w="843915" h="784225">
                <a:moveTo>
                  <a:pt x="0" y="19429"/>
                </a:moveTo>
                <a:lnTo>
                  <a:pt x="25607" y="6561"/>
                </a:lnTo>
                <a:lnTo>
                  <a:pt x="51129" y="0"/>
                </a:lnTo>
                <a:lnTo>
                  <a:pt x="83288" y="12868"/>
                </a:lnTo>
                <a:lnTo>
                  <a:pt x="115106" y="32127"/>
                </a:lnTo>
                <a:lnTo>
                  <a:pt x="389897" y="282842"/>
                </a:lnTo>
                <a:lnTo>
                  <a:pt x="421970" y="308433"/>
                </a:lnTo>
                <a:lnTo>
                  <a:pt x="453873" y="314774"/>
                </a:lnTo>
                <a:lnTo>
                  <a:pt x="485776" y="314774"/>
                </a:lnTo>
                <a:lnTo>
                  <a:pt x="511554" y="295540"/>
                </a:lnTo>
                <a:lnTo>
                  <a:pt x="498708" y="321335"/>
                </a:lnTo>
                <a:lnTo>
                  <a:pt x="498708" y="353489"/>
                </a:lnTo>
                <a:lnTo>
                  <a:pt x="505003" y="385437"/>
                </a:lnTo>
                <a:lnTo>
                  <a:pt x="530526" y="411242"/>
                </a:lnTo>
                <a:lnTo>
                  <a:pt x="805572" y="668067"/>
                </a:lnTo>
                <a:lnTo>
                  <a:pt x="831095" y="693879"/>
                </a:lnTo>
                <a:lnTo>
                  <a:pt x="843771" y="726033"/>
                </a:lnTo>
                <a:lnTo>
                  <a:pt x="843771" y="758194"/>
                </a:lnTo>
                <a:lnTo>
                  <a:pt x="824714" y="783786"/>
                </a:lnTo>
              </a:path>
            </a:pathLst>
          </a:custGeom>
          <a:ln w="6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9" name="object 349" descr=""/>
          <p:cNvSpPr txBox="1"/>
          <p:nvPr/>
        </p:nvSpPr>
        <p:spPr>
          <a:xfrm>
            <a:off x="9101315" y="1514921"/>
            <a:ext cx="450850" cy="31877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>
              <a:lnSpc>
                <a:spcPts val="760"/>
              </a:lnSpc>
              <a:spcBef>
                <a:spcPts val="150"/>
              </a:spcBef>
            </a:pPr>
            <a:r>
              <a:rPr dirty="0" sz="650" spc="-10">
                <a:latin typeface="Arial MT"/>
                <a:cs typeface="Arial MT"/>
              </a:rPr>
              <a:t>Instructions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that</a:t>
            </a:r>
            <a:r>
              <a:rPr dirty="0" sz="650" spc="30">
                <a:latin typeface="Arial MT"/>
                <a:cs typeface="Arial MT"/>
              </a:rPr>
              <a:t> </a:t>
            </a:r>
            <a:r>
              <a:rPr dirty="0" sz="650" spc="-20">
                <a:latin typeface="Arial MT"/>
                <a:cs typeface="Arial MT"/>
              </a:rPr>
              <a:t>read</a:t>
            </a:r>
            <a:r>
              <a:rPr dirty="0" sz="650" spc="500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register</a:t>
            </a:r>
            <a:r>
              <a:rPr dirty="0" sz="650" spc="-10">
                <a:latin typeface="Arial MT"/>
                <a:cs typeface="Arial MT"/>
              </a:rPr>
              <a:t> </a:t>
            </a:r>
            <a:r>
              <a:rPr dirty="0" sz="650" spc="-25">
                <a:latin typeface="Courier New"/>
                <a:cs typeface="Courier New"/>
              </a:rPr>
              <a:t>$2</a:t>
            </a:r>
            <a:endParaRPr sz="650">
              <a:latin typeface="Courier New"/>
              <a:cs typeface="Courier New"/>
            </a:endParaRPr>
          </a:p>
        </p:txBody>
      </p:sp>
      <p:sp>
        <p:nvSpPr>
          <p:cNvPr id="350" name="object 350" descr=""/>
          <p:cNvSpPr txBox="1"/>
          <p:nvPr/>
        </p:nvSpPr>
        <p:spPr>
          <a:xfrm>
            <a:off x="6224666" y="1251545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65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51" name="object 351" descr=""/>
          <p:cNvSpPr txBox="1"/>
          <p:nvPr/>
        </p:nvSpPr>
        <p:spPr>
          <a:xfrm>
            <a:off x="7445591" y="2330684"/>
            <a:ext cx="218440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65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52" name="object 352" descr=""/>
          <p:cNvSpPr txBox="1"/>
          <p:nvPr/>
        </p:nvSpPr>
        <p:spPr>
          <a:xfrm>
            <a:off x="7043017" y="1971042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65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53" name="object 353" descr=""/>
          <p:cNvSpPr txBox="1"/>
          <p:nvPr/>
        </p:nvSpPr>
        <p:spPr>
          <a:xfrm>
            <a:off x="6633747" y="1611425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25400">
              <a:lnSpc>
                <a:spcPts val="610"/>
              </a:lnSpc>
              <a:spcBef>
                <a:spcPts val="165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54" name="object 354" descr=""/>
          <p:cNvSpPr txBox="1"/>
          <p:nvPr/>
        </p:nvSpPr>
        <p:spPr>
          <a:xfrm>
            <a:off x="7445591" y="1251545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55" name="object 355" descr=""/>
          <p:cNvSpPr txBox="1"/>
          <p:nvPr/>
        </p:nvSpPr>
        <p:spPr>
          <a:xfrm>
            <a:off x="8673049" y="2330684"/>
            <a:ext cx="218440" cy="1879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56" name="object 356" descr=""/>
          <p:cNvSpPr txBox="1"/>
          <p:nvPr/>
        </p:nvSpPr>
        <p:spPr>
          <a:xfrm>
            <a:off x="8263925" y="1971042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9050">
              <a:lnSpc>
                <a:spcPts val="61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357" name="object 357" descr=""/>
          <p:cNvSpPr txBox="1"/>
          <p:nvPr/>
        </p:nvSpPr>
        <p:spPr>
          <a:xfrm>
            <a:off x="7854885" y="1611425"/>
            <a:ext cx="218440" cy="18732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8415">
              <a:lnSpc>
                <a:spcPts val="610"/>
              </a:lnSpc>
              <a:spcBef>
                <a:spcPts val="165"/>
              </a:spcBef>
            </a:pPr>
            <a:r>
              <a:rPr dirty="0" sz="550" spc="-20">
                <a:latin typeface="Arial MT"/>
                <a:cs typeface="Arial MT"/>
              </a:rPr>
              <a:t>Data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cache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358" name="object 358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359" name="object 35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4483" y="1334904"/>
              <a:ext cx="338768" cy="366186"/>
            </a:xfrm>
            <a:prstGeom prst="rect">
              <a:avLst/>
            </a:prstGeom>
          </p:spPr>
        </p:pic>
        <p:sp>
          <p:nvSpPr>
            <p:cNvPr id="360" name="object 360" descr=""/>
            <p:cNvSpPr/>
            <p:nvPr/>
          </p:nvSpPr>
          <p:spPr>
            <a:xfrm>
              <a:off x="7720393" y="1328566"/>
              <a:ext cx="307340" cy="1092200"/>
            </a:xfrm>
            <a:custGeom>
              <a:avLst/>
              <a:gdLst/>
              <a:ahLst/>
              <a:cxnLst/>
              <a:rect l="l" t="t" r="r" b="b"/>
              <a:pathLst>
                <a:path w="307340" h="1092200">
                  <a:moveTo>
                    <a:pt x="306870" y="969975"/>
                  </a:moveTo>
                  <a:lnTo>
                    <a:pt x="261264" y="972489"/>
                  </a:lnTo>
                  <a:lnTo>
                    <a:pt x="217462" y="12738"/>
                  </a:lnTo>
                  <a:lnTo>
                    <a:pt x="204647" y="12738"/>
                  </a:lnTo>
                  <a:lnTo>
                    <a:pt x="204647" y="0"/>
                  </a:lnTo>
                  <a:lnTo>
                    <a:pt x="0" y="0"/>
                  </a:lnTo>
                  <a:lnTo>
                    <a:pt x="0" y="25603"/>
                  </a:lnTo>
                  <a:lnTo>
                    <a:pt x="13779" y="25603"/>
                  </a:lnTo>
                  <a:lnTo>
                    <a:pt x="56489" y="614197"/>
                  </a:lnTo>
                  <a:lnTo>
                    <a:pt x="12852" y="616686"/>
                  </a:lnTo>
                  <a:lnTo>
                    <a:pt x="83210" y="732193"/>
                  </a:lnTo>
                  <a:lnTo>
                    <a:pt x="127952" y="610120"/>
                  </a:lnTo>
                  <a:lnTo>
                    <a:pt x="81978" y="612749"/>
                  </a:lnTo>
                  <a:lnTo>
                    <a:pt x="39306" y="25603"/>
                  </a:lnTo>
                  <a:lnTo>
                    <a:pt x="192354" y="25603"/>
                  </a:lnTo>
                  <a:lnTo>
                    <a:pt x="235800" y="973899"/>
                  </a:lnTo>
                  <a:lnTo>
                    <a:pt x="191770" y="976312"/>
                  </a:lnTo>
                  <a:lnTo>
                    <a:pt x="262039" y="1092034"/>
                  </a:lnTo>
                  <a:lnTo>
                    <a:pt x="306870" y="9699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3" name="object 363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64" name="object 36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365" name="object 365" descr=""/>
          <p:cNvSpPr txBox="1"/>
          <p:nvPr/>
        </p:nvSpPr>
        <p:spPr>
          <a:xfrm>
            <a:off x="611714" y="4146223"/>
            <a:ext cx="158496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Pipeline</a:t>
            </a:r>
            <a:r>
              <a:rPr dirty="0" sz="11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Hazards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66" name="object 366" descr=""/>
          <p:cNvSpPr txBox="1"/>
          <p:nvPr/>
        </p:nvSpPr>
        <p:spPr>
          <a:xfrm>
            <a:off x="962761" y="4660425"/>
            <a:ext cx="3266440" cy="1896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>
              <a:lnSpc>
                <a:spcPct val="100000"/>
              </a:lnSpc>
              <a:spcBef>
                <a:spcPts val="120"/>
              </a:spcBef>
            </a:pPr>
            <a:r>
              <a:rPr dirty="0" sz="850" b="1">
                <a:solidFill>
                  <a:srgbClr val="336699"/>
                </a:solidFill>
                <a:latin typeface="Arial"/>
                <a:cs typeface="Arial"/>
              </a:rPr>
              <a:t>Software-based</a:t>
            </a:r>
            <a:r>
              <a:rPr dirty="0" sz="850" spc="-5" b="1">
                <a:solidFill>
                  <a:srgbClr val="33669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336699"/>
                </a:solidFill>
                <a:latin typeface="Arial"/>
                <a:cs typeface="Arial"/>
              </a:rPr>
              <a:t>solutions</a:t>
            </a:r>
            <a:endParaRPr sz="850">
              <a:latin typeface="Arial"/>
              <a:cs typeface="Arial"/>
            </a:endParaRPr>
          </a:p>
          <a:p>
            <a:pPr algn="just" marR="5080">
              <a:lnSpc>
                <a:spcPct val="179300"/>
              </a:lnSpc>
              <a:spcBef>
                <a:spcPts val="45"/>
              </a:spcBef>
            </a:pPr>
            <a:r>
              <a:rPr dirty="0" sz="850">
                <a:latin typeface="Arial MT"/>
                <a:cs typeface="Arial MT"/>
              </a:rPr>
              <a:t>Compiler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inserts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“no-</a:t>
            </a:r>
            <a:r>
              <a:rPr dirty="0" sz="850">
                <a:latin typeface="Arial MT"/>
                <a:cs typeface="Arial MT"/>
              </a:rPr>
              <a:t>op”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after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every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(simple,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but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wasteful)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redefined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take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effect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after the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follows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it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delay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slot(s)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are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filled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with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useful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via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reordering </a:t>
            </a:r>
            <a:r>
              <a:rPr dirty="0" sz="850" b="1">
                <a:solidFill>
                  <a:srgbClr val="FF0000"/>
                </a:solidFill>
                <a:latin typeface="Arial"/>
                <a:cs typeface="Arial"/>
              </a:rPr>
              <a:t>Hardware-based</a:t>
            </a:r>
            <a:r>
              <a:rPr dirty="0" sz="850" spc="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F0000"/>
                </a:solidFill>
                <a:latin typeface="Arial"/>
                <a:cs typeface="Arial"/>
              </a:rPr>
              <a:t>solutions</a:t>
            </a:r>
            <a:endParaRPr sz="850">
              <a:latin typeface="Arial"/>
              <a:cs typeface="Arial"/>
            </a:endParaRPr>
          </a:p>
          <a:p>
            <a:pPr algn="just" marR="213360">
              <a:lnSpc>
                <a:spcPct val="171000"/>
              </a:lnSpc>
              <a:spcBef>
                <a:spcPts val="90"/>
              </a:spcBef>
            </a:pPr>
            <a:r>
              <a:rPr dirty="0" sz="850">
                <a:latin typeface="Arial MT"/>
                <a:cs typeface="Arial MT"/>
              </a:rPr>
              <a:t>Mechanism similar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hazard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detector to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flush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pipeline </a:t>
            </a:r>
            <a:r>
              <a:rPr dirty="0" sz="850">
                <a:latin typeface="Arial MT"/>
                <a:cs typeface="Arial MT"/>
              </a:rPr>
              <a:t>Constitutes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rudimentary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form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prediction:</a:t>
            </a:r>
            <a:endParaRPr sz="850">
              <a:latin typeface="Arial MT"/>
              <a:cs typeface="Arial MT"/>
            </a:endParaRPr>
          </a:p>
          <a:p>
            <a:pPr algn="just" marL="197485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Arial MT"/>
                <a:cs typeface="Arial MT"/>
              </a:rPr>
              <a:t>Always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predict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not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taken,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flush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if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mistaken</a:t>
            </a:r>
            <a:endParaRPr sz="850">
              <a:latin typeface="Arial MT"/>
              <a:cs typeface="Arial MT"/>
            </a:endParaRPr>
          </a:p>
          <a:p>
            <a:pPr algn="just">
              <a:lnSpc>
                <a:spcPct val="100000"/>
              </a:lnSpc>
              <a:spcBef>
                <a:spcPts val="670"/>
              </a:spcBef>
            </a:pPr>
            <a:r>
              <a:rPr dirty="0" sz="850">
                <a:latin typeface="Arial MT"/>
                <a:cs typeface="Arial MT"/>
              </a:rPr>
              <a:t>More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elaborate branch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prediction strategies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possible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67" name="object 367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8" name="object 368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69" name="object 36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370" name="object 370" descr=""/>
          <p:cNvSpPr txBox="1"/>
          <p:nvPr/>
        </p:nvSpPr>
        <p:spPr>
          <a:xfrm>
            <a:off x="5729114" y="4146223"/>
            <a:ext cx="11417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1150" spc="-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Prediction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371" name="object 371" descr=""/>
          <p:cNvSpPr txBox="1"/>
          <p:nvPr/>
        </p:nvSpPr>
        <p:spPr>
          <a:xfrm>
            <a:off x="6080161" y="4525827"/>
            <a:ext cx="3175000" cy="2124075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5"/>
              </a:spcBef>
            </a:pPr>
            <a:r>
              <a:rPr dirty="0" sz="1050" spc="-10" b="1">
                <a:solidFill>
                  <a:srgbClr val="336699"/>
                </a:solidFill>
                <a:latin typeface="Arial"/>
                <a:cs typeface="Arial"/>
              </a:rPr>
              <a:t>Predicting</a:t>
            </a:r>
            <a:r>
              <a:rPr dirty="0" sz="1050" spc="-35" b="1">
                <a:solidFill>
                  <a:srgbClr val="33669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336699"/>
                </a:solidFill>
                <a:latin typeface="Arial"/>
                <a:cs typeface="Arial"/>
              </a:rPr>
              <a:t>whether</a:t>
            </a:r>
            <a:r>
              <a:rPr dirty="0" sz="1050" spc="-35" b="1">
                <a:solidFill>
                  <a:srgbClr val="3366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336699"/>
                </a:solidFill>
                <a:latin typeface="Arial"/>
                <a:cs typeface="Arial"/>
              </a:rPr>
              <a:t>a</a:t>
            </a:r>
            <a:r>
              <a:rPr dirty="0" sz="1050" spc="-30" b="1">
                <a:solidFill>
                  <a:srgbClr val="3366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336699"/>
                </a:solidFill>
                <a:latin typeface="Arial"/>
                <a:cs typeface="Arial"/>
              </a:rPr>
              <a:t>branch</a:t>
            </a:r>
            <a:r>
              <a:rPr dirty="0" sz="1050" spc="-35" b="1">
                <a:solidFill>
                  <a:srgbClr val="3366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336699"/>
                </a:solidFill>
                <a:latin typeface="Arial"/>
                <a:cs typeface="Arial"/>
              </a:rPr>
              <a:t>will</a:t>
            </a:r>
            <a:r>
              <a:rPr dirty="0" sz="1050" spc="-35" b="1">
                <a:solidFill>
                  <a:srgbClr val="336699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336699"/>
                </a:solidFill>
                <a:latin typeface="Arial"/>
                <a:cs typeface="Arial"/>
              </a:rPr>
              <a:t>be</a:t>
            </a:r>
            <a:r>
              <a:rPr dirty="0" sz="1050" spc="-30" b="1">
                <a:solidFill>
                  <a:srgbClr val="336699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336699"/>
                </a:solidFill>
                <a:latin typeface="Arial"/>
                <a:cs typeface="Arial"/>
              </a:rPr>
              <a:t>taken</a:t>
            </a:r>
            <a:endParaRPr sz="1050">
              <a:latin typeface="Arial"/>
              <a:cs typeface="Arial"/>
            </a:endParaRPr>
          </a:p>
          <a:p>
            <a:pPr marL="198120" indent="-89535">
              <a:lnSpc>
                <a:spcPct val="100000"/>
              </a:lnSpc>
              <a:spcBef>
                <a:spcPts val="615"/>
              </a:spcBef>
              <a:buFont typeface="Symbol"/>
              <a:buChar char=""/>
              <a:tabLst>
                <a:tab pos="198120" algn="l"/>
              </a:tabLst>
            </a:pPr>
            <a:r>
              <a:rPr dirty="0" sz="1050" spc="-10">
                <a:latin typeface="Arial MT"/>
                <a:cs typeface="Arial MT"/>
              </a:rPr>
              <a:t>Always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predict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that</a:t>
            </a:r>
            <a:r>
              <a:rPr dirty="0" sz="1050" spc="-4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the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branch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will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not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be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20">
                <a:latin typeface="Arial MT"/>
                <a:cs typeface="Arial MT"/>
              </a:rPr>
              <a:t>taken</a:t>
            </a:r>
            <a:endParaRPr sz="1050">
              <a:latin typeface="Arial MT"/>
              <a:cs typeface="Arial MT"/>
            </a:endParaRPr>
          </a:p>
          <a:p>
            <a:pPr marL="204470" marR="84455" indent="-96520">
              <a:lnSpc>
                <a:spcPct val="101000"/>
              </a:lnSpc>
              <a:spcBef>
                <a:spcPts val="975"/>
              </a:spcBef>
              <a:buFont typeface="Symbol"/>
              <a:buChar char=""/>
              <a:tabLst>
                <a:tab pos="217170" algn="l"/>
              </a:tabLst>
            </a:pPr>
            <a:r>
              <a:rPr dirty="0" sz="1050">
                <a:latin typeface="Arial MT"/>
                <a:cs typeface="Arial MT"/>
              </a:rPr>
              <a:t>Use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program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context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to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decide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(backward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branch </a:t>
            </a:r>
            <a:r>
              <a:rPr dirty="0" sz="1050" spc="-10">
                <a:latin typeface="Arial MT"/>
                <a:cs typeface="Arial MT"/>
              </a:rPr>
              <a:t>	</a:t>
            </a:r>
            <a:r>
              <a:rPr dirty="0" sz="1050">
                <a:latin typeface="Arial MT"/>
                <a:cs typeface="Arial MT"/>
              </a:rPr>
              <a:t>is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likely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taken,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forward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branch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is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likely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not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taken)</a:t>
            </a:r>
            <a:endParaRPr sz="1050">
              <a:latin typeface="Arial MT"/>
              <a:cs typeface="Arial MT"/>
            </a:endParaRPr>
          </a:p>
          <a:p>
            <a:pPr marL="198120" indent="-89535">
              <a:lnSpc>
                <a:spcPct val="100000"/>
              </a:lnSpc>
              <a:spcBef>
                <a:spcPts val="990"/>
              </a:spcBef>
              <a:buFont typeface="Symbol"/>
              <a:buChar char=""/>
              <a:tabLst>
                <a:tab pos="198120" algn="l"/>
              </a:tabLst>
            </a:pPr>
            <a:r>
              <a:rPr dirty="0" sz="1050">
                <a:latin typeface="Arial MT"/>
                <a:cs typeface="Arial MT"/>
              </a:rPr>
              <a:t>Allow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programmer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or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compiler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to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supply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20">
                <a:latin typeface="Arial MT"/>
                <a:cs typeface="Arial MT"/>
              </a:rPr>
              <a:t>clues</a:t>
            </a:r>
            <a:endParaRPr sz="1050">
              <a:latin typeface="Arial MT"/>
              <a:cs typeface="Arial MT"/>
            </a:endParaRPr>
          </a:p>
          <a:p>
            <a:pPr marL="204470" marR="230504" indent="-96520">
              <a:lnSpc>
                <a:spcPts val="1240"/>
              </a:lnSpc>
              <a:spcBef>
                <a:spcPts val="1040"/>
              </a:spcBef>
              <a:buFont typeface="Symbol"/>
              <a:buChar char=""/>
              <a:tabLst>
                <a:tab pos="217170" algn="l"/>
              </a:tabLst>
            </a:pPr>
            <a:r>
              <a:rPr dirty="0" sz="1050" spc="-10">
                <a:latin typeface="Arial MT"/>
                <a:cs typeface="Arial MT"/>
              </a:rPr>
              <a:t>Decide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based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on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past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history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(maintain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20">
                <a:latin typeface="Arial MT"/>
                <a:cs typeface="Arial MT"/>
              </a:rPr>
              <a:t>small </a:t>
            </a:r>
            <a:r>
              <a:rPr dirty="0" sz="1050" spc="-20">
                <a:latin typeface="Arial MT"/>
                <a:cs typeface="Arial MT"/>
              </a:rPr>
              <a:t>	</a:t>
            </a:r>
            <a:r>
              <a:rPr dirty="0" sz="1050" spc="-10">
                <a:latin typeface="Arial MT"/>
                <a:cs typeface="Arial MT"/>
              </a:rPr>
              <a:t>history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table);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to</a:t>
            </a:r>
            <a:r>
              <a:rPr dirty="0" sz="1050" spc="-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be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discussed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 spc="-20">
                <a:latin typeface="Arial MT"/>
                <a:cs typeface="Arial MT"/>
              </a:rPr>
              <a:t>later</a:t>
            </a:r>
            <a:endParaRPr sz="1050">
              <a:latin typeface="Arial MT"/>
              <a:cs typeface="Arial MT"/>
            </a:endParaRPr>
          </a:p>
          <a:p>
            <a:pPr marL="197485" marR="5080" indent="-89535">
              <a:lnSpc>
                <a:spcPts val="1240"/>
              </a:lnSpc>
              <a:spcBef>
                <a:spcPts val="1040"/>
              </a:spcBef>
              <a:buFont typeface="Symbol"/>
              <a:buChar char=""/>
              <a:tabLst>
                <a:tab pos="217170" algn="l"/>
              </a:tabLst>
            </a:pPr>
            <a:r>
              <a:rPr dirty="0" sz="1050">
                <a:latin typeface="Arial MT"/>
                <a:cs typeface="Arial MT"/>
              </a:rPr>
              <a:t>Apply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combination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of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factors: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modern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processors </a:t>
            </a:r>
            <a:r>
              <a:rPr dirty="0" sz="1050" spc="-10">
                <a:latin typeface="Arial MT"/>
                <a:cs typeface="Arial MT"/>
              </a:rPr>
              <a:t>	</a:t>
            </a:r>
            <a:r>
              <a:rPr dirty="0" sz="1050">
                <a:latin typeface="Arial MT"/>
                <a:cs typeface="Arial MT"/>
              </a:rPr>
              <a:t>use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elaborate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techniques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due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to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deep</a:t>
            </a:r>
            <a:r>
              <a:rPr dirty="0" sz="1050" spc="-4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pipelines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72" name="object 372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77608" y="34066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99014" y="594823"/>
            <a:ext cx="240855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1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Simple</a:t>
            </a:r>
            <a:r>
              <a:rPr dirty="0" sz="11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11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Prediction</a:t>
            </a:r>
            <a:r>
              <a:rPr dirty="0" sz="11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Algorithm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67084" y="1871639"/>
            <a:ext cx="2602865" cy="181610"/>
          </a:xfrm>
          <a:prstGeom prst="rect">
            <a:avLst/>
          </a:prstGeom>
          <a:solidFill>
            <a:srgbClr val="CCFF99"/>
          </a:solidFill>
        </p:spPr>
        <p:txBody>
          <a:bodyPr wrap="square" lIns="0" tIns="2159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70"/>
              </a:spcBef>
              <a:tabLst>
                <a:tab pos="626745" algn="l"/>
              </a:tabLst>
            </a:pPr>
            <a:r>
              <a:rPr dirty="0" sz="850">
                <a:latin typeface="Arial MT"/>
                <a:cs typeface="Arial MT"/>
              </a:rPr>
              <a:t>Fig.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16.6</a:t>
            </a:r>
            <a:r>
              <a:rPr dirty="0" sz="850">
                <a:latin typeface="Arial MT"/>
                <a:cs typeface="Arial MT"/>
              </a:rPr>
              <a:t>	</a:t>
            </a:r>
            <a:r>
              <a:rPr dirty="0" sz="850" spc="-10">
                <a:latin typeface="Arial MT"/>
                <a:cs typeface="Arial MT"/>
              </a:rPr>
              <a:t>Four-</a:t>
            </a:r>
            <a:r>
              <a:rPr dirty="0" sz="850">
                <a:latin typeface="Arial MT"/>
                <a:cs typeface="Arial MT"/>
              </a:rPr>
              <a:t>state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prediction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scheme.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1089279" y="1080729"/>
            <a:ext cx="2398395" cy="197485"/>
            <a:chOff x="1089279" y="1080729"/>
            <a:chExt cx="2398395" cy="197485"/>
          </a:xfrm>
        </p:grpSpPr>
        <p:sp>
          <p:nvSpPr>
            <p:cNvPr id="7" name="object 7" descr=""/>
            <p:cNvSpPr/>
            <p:nvPr/>
          </p:nvSpPr>
          <p:spPr>
            <a:xfrm>
              <a:off x="1093406" y="1084856"/>
              <a:ext cx="397510" cy="181610"/>
            </a:xfrm>
            <a:custGeom>
              <a:avLst/>
              <a:gdLst/>
              <a:ahLst/>
              <a:cxnLst/>
              <a:rect l="l" t="t" r="r" b="b"/>
              <a:pathLst>
                <a:path w="397509" h="181609">
                  <a:moveTo>
                    <a:pt x="62349" y="181193"/>
                  </a:moveTo>
                  <a:lnTo>
                    <a:pt x="46896" y="173198"/>
                  </a:lnTo>
                  <a:lnTo>
                    <a:pt x="31174" y="157479"/>
                  </a:lnTo>
                  <a:lnTo>
                    <a:pt x="7731" y="134025"/>
                  </a:lnTo>
                  <a:lnTo>
                    <a:pt x="0" y="118047"/>
                  </a:lnTo>
                  <a:lnTo>
                    <a:pt x="7731" y="102318"/>
                  </a:lnTo>
                  <a:lnTo>
                    <a:pt x="15722" y="78864"/>
                  </a:lnTo>
                  <a:lnTo>
                    <a:pt x="54617" y="47167"/>
                  </a:lnTo>
                  <a:lnTo>
                    <a:pt x="85792" y="31448"/>
                  </a:lnTo>
                  <a:lnTo>
                    <a:pt x="124688" y="15718"/>
                  </a:lnTo>
                  <a:lnTo>
                    <a:pt x="202490" y="0"/>
                  </a:lnTo>
                  <a:lnTo>
                    <a:pt x="280292" y="7734"/>
                  </a:lnTo>
                  <a:lnTo>
                    <a:pt x="311466" y="23713"/>
                  </a:lnTo>
                  <a:lnTo>
                    <a:pt x="342641" y="39432"/>
                  </a:lnTo>
                  <a:lnTo>
                    <a:pt x="381547" y="62886"/>
                  </a:lnTo>
                  <a:lnTo>
                    <a:pt x="397000" y="78864"/>
                  </a:lnTo>
                  <a:lnTo>
                    <a:pt x="397000" y="102318"/>
                  </a:lnTo>
                  <a:lnTo>
                    <a:pt x="389268" y="118047"/>
                  </a:lnTo>
                  <a:lnTo>
                    <a:pt x="365825" y="141760"/>
                  </a:lnTo>
                </a:path>
              </a:pathLst>
            </a:custGeom>
            <a:ln w="77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24321" y="1215145"/>
              <a:ext cx="55244" cy="63500"/>
            </a:xfrm>
            <a:custGeom>
              <a:avLst/>
              <a:gdLst/>
              <a:ahLst/>
              <a:cxnLst/>
              <a:rect l="l" t="t" r="r" b="b"/>
              <a:pathLst>
                <a:path w="55244" h="63500">
                  <a:moveTo>
                    <a:pt x="15722" y="0"/>
                  </a:moveTo>
                  <a:lnTo>
                    <a:pt x="0" y="62885"/>
                  </a:lnTo>
                  <a:lnTo>
                    <a:pt x="54617" y="39173"/>
                  </a:lnTo>
                  <a:lnTo>
                    <a:pt x="157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86086" y="1092591"/>
              <a:ext cx="397510" cy="181610"/>
            </a:xfrm>
            <a:custGeom>
              <a:avLst/>
              <a:gdLst/>
              <a:ahLst/>
              <a:cxnLst/>
              <a:rect l="l" t="t" r="r" b="b"/>
              <a:pathLst>
                <a:path w="397510" h="181609">
                  <a:moveTo>
                    <a:pt x="62370" y="181442"/>
                  </a:moveTo>
                  <a:lnTo>
                    <a:pt x="54690" y="165463"/>
                  </a:lnTo>
                  <a:lnTo>
                    <a:pt x="31236" y="149744"/>
                  </a:lnTo>
                  <a:lnTo>
                    <a:pt x="15774" y="134025"/>
                  </a:lnTo>
                  <a:lnTo>
                    <a:pt x="0" y="118296"/>
                  </a:lnTo>
                  <a:lnTo>
                    <a:pt x="7990" y="102577"/>
                  </a:lnTo>
                  <a:lnTo>
                    <a:pt x="15774" y="78864"/>
                  </a:lnTo>
                  <a:lnTo>
                    <a:pt x="54690" y="39432"/>
                  </a:lnTo>
                  <a:lnTo>
                    <a:pt x="85823" y="23713"/>
                  </a:lnTo>
                  <a:lnTo>
                    <a:pt x="124740" y="15978"/>
                  </a:lnTo>
                  <a:lnTo>
                    <a:pt x="163656" y="7984"/>
                  </a:lnTo>
                  <a:lnTo>
                    <a:pt x="202469" y="0"/>
                  </a:lnTo>
                  <a:lnTo>
                    <a:pt x="280302" y="7984"/>
                  </a:lnTo>
                  <a:lnTo>
                    <a:pt x="311539" y="23713"/>
                  </a:lnTo>
                  <a:lnTo>
                    <a:pt x="342672" y="31697"/>
                  </a:lnTo>
                  <a:lnTo>
                    <a:pt x="381589" y="63145"/>
                  </a:lnTo>
                  <a:lnTo>
                    <a:pt x="397051" y="78864"/>
                  </a:lnTo>
                  <a:lnTo>
                    <a:pt x="397051" y="102577"/>
                  </a:lnTo>
                  <a:lnTo>
                    <a:pt x="389268" y="118296"/>
                  </a:lnTo>
                  <a:lnTo>
                    <a:pt x="366126" y="142010"/>
                  </a:lnTo>
                </a:path>
              </a:pathLst>
            </a:custGeom>
            <a:ln w="77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17239" y="1222880"/>
              <a:ext cx="46990" cy="55244"/>
            </a:xfrm>
            <a:custGeom>
              <a:avLst/>
              <a:gdLst/>
              <a:ahLst/>
              <a:cxnLst/>
              <a:rect l="l" t="t" r="r" b="b"/>
              <a:pathLst>
                <a:path w="46989" h="55244">
                  <a:moveTo>
                    <a:pt x="7782" y="0"/>
                  </a:moveTo>
                  <a:lnTo>
                    <a:pt x="0" y="55151"/>
                  </a:lnTo>
                  <a:lnTo>
                    <a:pt x="46699" y="31438"/>
                  </a:lnTo>
                  <a:lnTo>
                    <a:pt x="77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598659" y="1186726"/>
            <a:ext cx="37782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latin typeface="Arial MT"/>
                <a:cs typeface="Arial MT"/>
              </a:rPr>
              <a:t>Not</a:t>
            </a:r>
            <a:r>
              <a:rPr dirty="0" sz="650" spc="-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taken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031190" y="1226736"/>
            <a:ext cx="1495425" cy="512445"/>
            <a:chOff x="1031190" y="1226736"/>
            <a:chExt cx="1495425" cy="512445"/>
          </a:xfrm>
        </p:grpSpPr>
        <p:sp>
          <p:nvSpPr>
            <p:cNvPr id="13" name="object 13" descr=""/>
            <p:cNvSpPr/>
            <p:nvPr/>
          </p:nvSpPr>
          <p:spPr>
            <a:xfrm>
              <a:off x="1035317" y="1230864"/>
              <a:ext cx="498475" cy="504190"/>
            </a:xfrm>
            <a:custGeom>
              <a:avLst/>
              <a:gdLst/>
              <a:ahLst/>
              <a:cxnLst/>
              <a:rect l="l" t="t" r="r" b="b"/>
              <a:pathLst>
                <a:path w="498475" h="504189">
                  <a:moveTo>
                    <a:pt x="249122" y="0"/>
                  </a:moveTo>
                  <a:lnTo>
                    <a:pt x="203667" y="3977"/>
                  </a:lnTo>
                  <a:lnTo>
                    <a:pt x="161161" y="15477"/>
                  </a:lnTo>
                  <a:lnTo>
                    <a:pt x="122245" y="33849"/>
                  </a:lnTo>
                  <a:lnTo>
                    <a:pt x="87560" y="58445"/>
                  </a:lnTo>
                  <a:lnTo>
                    <a:pt x="57746" y="88616"/>
                  </a:lnTo>
                  <a:lnTo>
                    <a:pt x="33442" y="123713"/>
                  </a:lnTo>
                  <a:lnTo>
                    <a:pt x="15290" y="163085"/>
                  </a:lnTo>
                  <a:lnTo>
                    <a:pt x="3929" y="206085"/>
                  </a:lnTo>
                  <a:lnTo>
                    <a:pt x="0" y="252063"/>
                  </a:lnTo>
                  <a:lnTo>
                    <a:pt x="3929" y="298043"/>
                  </a:lnTo>
                  <a:lnTo>
                    <a:pt x="15290" y="341045"/>
                  </a:lnTo>
                  <a:lnTo>
                    <a:pt x="33442" y="380419"/>
                  </a:lnTo>
                  <a:lnTo>
                    <a:pt x="57746" y="415517"/>
                  </a:lnTo>
                  <a:lnTo>
                    <a:pt x="87560" y="445688"/>
                  </a:lnTo>
                  <a:lnTo>
                    <a:pt x="122245" y="470285"/>
                  </a:lnTo>
                  <a:lnTo>
                    <a:pt x="161161" y="488657"/>
                  </a:lnTo>
                  <a:lnTo>
                    <a:pt x="203667" y="500157"/>
                  </a:lnTo>
                  <a:lnTo>
                    <a:pt x="249122" y="504134"/>
                  </a:lnTo>
                  <a:lnTo>
                    <a:pt x="294506" y="500157"/>
                  </a:lnTo>
                  <a:lnTo>
                    <a:pt x="336974" y="488657"/>
                  </a:lnTo>
                  <a:lnTo>
                    <a:pt x="375878" y="470285"/>
                  </a:lnTo>
                  <a:lnTo>
                    <a:pt x="410571" y="445688"/>
                  </a:lnTo>
                  <a:lnTo>
                    <a:pt x="440407" y="415517"/>
                  </a:lnTo>
                  <a:lnTo>
                    <a:pt x="464738" y="380419"/>
                  </a:lnTo>
                  <a:lnTo>
                    <a:pt x="482919" y="341045"/>
                  </a:lnTo>
                  <a:lnTo>
                    <a:pt x="494301" y="298043"/>
                  </a:lnTo>
                  <a:lnTo>
                    <a:pt x="498239" y="252063"/>
                  </a:lnTo>
                  <a:lnTo>
                    <a:pt x="494301" y="206085"/>
                  </a:lnTo>
                  <a:lnTo>
                    <a:pt x="482919" y="163085"/>
                  </a:lnTo>
                  <a:lnTo>
                    <a:pt x="464738" y="123713"/>
                  </a:lnTo>
                  <a:lnTo>
                    <a:pt x="440407" y="88616"/>
                  </a:lnTo>
                  <a:lnTo>
                    <a:pt x="410571" y="58445"/>
                  </a:lnTo>
                  <a:lnTo>
                    <a:pt x="375878" y="33849"/>
                  </a:lnTo>
                  <a:lnTo>
                    <a:pt x="336974" y="15477"/>
                  </a:lnTo>
                  <a:lnTo>
                    <a:pt x="294506" y="3977"/>
                  </a:lnTo>
                  <a:lnTo>
                    <a:pt x="24912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35317" y="1230864"/>
              <a:ext cx="1487170" cy="504190"/>
            </a:xfrm>
            <a:custGeom>
              <a:avLst/>
              <a:gdLst/>
              <a:ahLst/>
              <a:cxnLst/>
              <a:rect l="l" t="t" r="r" b="b"/>
              <a:pathLst>
                <a:path w="1487170" h="504189">
                  <a:moveTo>
                    <a:pt x="0" y="252063"/>
                  </a:moveTo>
                  <a:lnTo>
                    <a:pt x="3929" y="298043"/>
                  </a:lnTo>
                  <a:lnTo>
                    <a:pt x="15290" y="341045"/>
                  </a:lnTo>
                  <a:lnTo>
                    <a:pt x="33442" y="380419"/>
                  </a:lnTo>
                  <a:lnTo>
                    <a:pt x="57746" y="415517"/>
                  </a:lnTo>
                  <a:lnTo>
                    <a:pt x="87560" y="445688"/>
                  </a:lnTo>
                  <a:lnTo>
                    <a:pt x="122245" y="470285"/>
                  </a:lnTo>
                  <a:lnTo>
                    <a:pt x="161161" y="488657"/>
                  </a:lnTo>
                  <a:lnTo>
                    <a:pt x="203667" y="500157"/>
                  </a:lnTo>
                  <a:lnTo>
                    <a:pt x="249122" y="504134"/>
                  </a:lnTo>
                  <a:lnTo>
                    <a:pt x="294506" y="500157"/>
                  </a:lnTo>
                  <a:lnTo>
                    <a:pt x="336974" y="488657"/>
                  </a:lnTo>
                  <a:lnTo>
                    <a:pt x="375878" y="470285"/>
                  </a:lnTo>
                  <a:lnTo>
                    <a:pt x="410571" y="445688"/>
                  </a:lnTo>
                  <a:lnTo>
                    <a:pt x="440407" y="415517"/>
                  </a:lnTo>
                  <a:lnTo>
                    <a:pt x="464738" y="380419"/>
                  </a:lnTo>
                  <a:lnTo>
                    <a:pt x="482919" y="341045"/>
                  </a:lnTo>
                  <a:lnTo>
                    <a:pt x="494301" y="298043"/>
                  </a:lnTo>
                  <a:lnTo>
                    <a:pt x="498239" y="252063"/>
                  </a:lnTo>
                  <a:lnTo>
                    <a:pt x="494301" y="206085"/>
                  </a:lnTo>
                  <a:lnTo>
                    <a:pt x="482919" y="163085"/>
                  </a:lnTo>
                  <a:lnTo>
                    <a:pt x="464738" y="123713"/>
                  </a:lnTo>
                  <a:lnTo>
                    <a:pt x="440407" y="88616"/>
                  </a:lnTo>
                  <a:lnTo>
                    <a:pt x="410571" y="58445"/>
                  </a:lnTo>
                  <a:lnTo>
                    <a:pt x="375878" y="33849"/>
                  </a:lnTo>
                  <a:lnTo>
                    <a:pt x="336974" y="15477"/>
                  </a:lnTo>
                  <a:lnTo>
                    <a:pt x="294506" y="3977"/>
                  </a:lnTo>
                  <a:lnTo>
                    <a:pt x="249122" y="0"/>
                  </a:lnTo>
                  <a:lnTo>
                    <a:pt x="203667" y="3977"/>
                  </a:lnTo>
                  <a:lnTo>
                    <a:pt x="161161" y="15477"/>
                  </a:lnTo>
                  <a:lnTo>
                    <a:pt x="122245" y="33849"/>
                  </a:lnTo>
                  <a:lnTo>
                    <a:pt x="87560" y="58445"/>
                  </a:lnTo>
                  <a:lnTo>
                    <a:pt x="57746" y="88616"/>
                  </a:lnTo>
                  <a:lnTo>
                    <a:pt x="33442" y="123713"/>
                  </a:lnTo>
                  <a:lnTo>
                    <a:pt x="15290" y="163085"/>
                  </a:lnTo>
                  <a:lnTo>
                    <a:pt x="3929" y="206085"/>
                  </a:lnTo>
                  <a:lnTo>
                    <a:pt x="0" y="252063"/>
                  </a:lnTo>
                  <a:close/>
                </a:path>
                <a:path w="1487170" h="504189">
                  <a:moveTo>
                    <a:pt x="996184" y="252063"/>
                  </a:moveTo>
                  <a:lnTo>
                    <a:pt x="1001124" y="303595"/>
                  </a:lnTo>
                  <a:lnTo>
                    <a:pt x="1015279" y="351254"/>
                  </a:lnTo>
                  <a:lnTo>
                    <a:pt x="1037644" y="394117"/>
                  </a:lnTo>
                  <a:lnTo>
                    <a:pt x="1067219" y="431259"/>
                  </a:lnTo>
                  <a:lnTo>
                    <a:pt x="1103001" y="461755"/>
                  </a:lnTo>
                  <a:lnTo>
                    <a:pt x="1143988" y="484683"/>
                  </a:lnTo>
                  <a:lnTo>
                    <a:pt x="1189179" y="499117"/>
                  </a:lnTo>
                  <a:lnTo>
                    <a:pt x="1237570" y="504134"/>
                  </a:lnTo>
                  <a:lnTo>
                    <a:pt x="1283040" y="500157"/>
                  </a:lnTo>
                  <a:lnTo>
                    <a:pt x="1325558" y="488657"/>
                  </a:lnTo>
                  <a:lnTo>
                    <a:pt x="1364482" y="470285"/>
                  </a:lnTo>
                  <a:lnTo>
                    <a:pt x="1399172" y="445688"/>
                  </a:lnTo>
                  <a:lnTo>
                    <a:pt x="1428990" y="415517"/>
                  </a:lnTo>
                  <a:lnTo>
                    <a:pt x="1453296" y="380419"/>
                  </a:lnTo>
                  <a:lnTo>
                    <a:pt x="1471449" y="341045"/>
                  </a:lnTo>
                  <a:lnTo>
                    <a:pt x="1482810" y="298043"/>
                  </a:lnTo>
                  <a:lnTo>
                    <a:pt x="1486739" y="252063"/>
                  </a:lnTo>
                  <a:lnTo>
                    <a:pt x="1482810" y="206085"/>
                  </a:lnTo>
                  <a:lnTo>
                    <a:pt x="1471449" y="163085"/>
                  </a:lnTo>
                  <a:lnTo>
                    <a:pt x="1453296" y="123713"/>
                  </a:lnTo>
                  <a:lnTo>
                    <a:pt x="1428990" y="88616"/>
                  </a:lnTo>
                  <a:lnTo>
                    <a:pt x="1399172" y="58445"/>
                  </a:lnTo>
                  <a:lnTo>
                    <a:pt x="1364482" y="33849"/>
                  </a:lnTo>
                  <a:lnTo>
                    <a:pt x="1325558" y="15477"/>
                  </a:lnTo>
                  <a:lnTo>
                    <a:pt x="1283040" y="3977"/>
                  </a:lnTo>
                  <a:lnTo>
                    <a:pt x="1237570" y="0"/>
                  </a:lnTo>
                  <a:lnTo>
                    <a:pt x="1189179" y="5016"/>
                  </a:lnTo>
                  <a:lnTo>
                    <a:pt x="1143988" y="19451"/>
                  </a:lnTo>
                  <a:lnTo>
                    <a:pt x="1103001" y="42378"/>
                  </a:lnTo>
                  <a:lnTo>
                    <a:pt x="1067219" y="72875"/>
                  </a:lnTo>
                  <a:lnTo>
                    <a:pt x="1037644" y="110016"/>
                  </a:lnTo>
                  <a:lnTo>
                    <a:pt x="1015279" y="152877"/>
                  </a:lnTo>
                  <a:lnTo>
                    <a:pt x="1001124" y="200534"/>
                  </a:lnTo>
                  <a:lnTo>
                    <a:pt x="996184" y="252063"/>
                  </a:lnTo>
                  <a:close/>
                </a:path>
              </a:pathLst>
            </a:custGeom>
            <a:ln w="7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131588" y="1383372"/>
            <a:ext cx="324485" cy="249554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43815" marR="5080" indent="-31750">
              <a:lnSpc>
                <a:spcPts val="869"/>
              </a:lnSpc>
              <a:spcBef>
                <a:spcPts val="145"/>
              </a:spcBef>
            </a:pPr>
            <a:r>
              <a:rPr dirty="0" sz="750" spc="-10">
                <a:latin typeface="Arial MT"/>
                <a:cs typeface="Arial MT"/>
              </a:rPr>
              <a:t>Predict taken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2127767" y="1320486"/>
            <a:ext cx="324485" cy="36004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43815" marR="5080" indent="-31750">
              <a:lnSpc>
                <a:spcPts val="869"/>
              </a:lnSpc>
              <a:spcBef>
                <a:spcPts val="145"/>
              </a:spcBef>
            </a:pPr>
            <a:r>
              <a:rPr dirty="0" sz="750" spc="-10">
                <a:latin typeface="Arial MT"/>
                <a:cs typeface="Arial MT"/>
              </a:rPr>
              <a:t>Predict taken again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3016164" y="1226736"/>
            <a:ext cx="1503045" cy="512445"/>
            <a:chOff x="3016164" y="1226736"/>
            <a:chExt cx="1503045" cy="512445"/>
          </a:xfrm>
        </p:grpSpPr>
        <p:sp>
          <p:nvSpPr>
            <p:cNvPr id="18" name="object 18" descr=""/>
            <p:cNvSpPr/>
            <p:nvPr/>
          </p:nvSpPr>
          <p:spPr>
            <a:xfrm>
              <a:off x="3020291" y="1230864"/>
              <a:ext cx="498475" cy="504190"/>
            </a:xfrm>
            <a:custGeom>
              <a:avLst/>
              <a:gdLst/>
              <a:ahLst/>
              <a:cxnLst/>
              <a:rect l="l" t="t" r="r" b="b"/>
              <a:pathLst>
                <a:path w="498475" h="504189">
                  <a:moveTo>
                    <a:pt x="249169" y="0"/>
                  </a:moveTo>
                  <a:lnTo>
                    <a:pt x="203698" y="3977"/>
                  </a:lnTo>
                  <a:lnTo>
                    <a:pt x="161181" y="15477"/>
                  </a:lnTo>
                  <a:lnTo>
                    <a:pt x="122257" y="33849"/>
                  </a:lnTo>
                  <a:lnTo>
                    <a:pt x="87566" y="58445"/>
                  </a:lnTo>
                  <a:lnTo>
                    <a:pt x="57748" y="88616"/>
                  </a:lnTo>
                  <a:lnTo>
                    <a:pt x="33443" y="123713"/>
                  </a:lnTo>
                  <a:lnTo>
                    <a:pt x="15290" y="163085"/>
                  </a:lnTo>
                  <a:lnTo>
                    <a:pt x="3929" y="206085"/>
                  </a:lnTo>
                  <a:lnTo>
                    <a:pt x="0" y="252063"/>
                  </a:lnTo>
                  <a:lnTo>
                    <a:pt x="3929" y="298043"/>
                  </a:lnTo>
                  <a:lnTo>
                    <a:pt x="15290" y="341045"/>
                  </a:lnTo>
                  <a:lnTo>
                    <a:pt x="33443" y="380419"/>
                  </a:lnTo>
                  <a:lnTo>
                    <a:pt x="57748" y="415517"/>
                  </a:lnTo>
                  <a:lnTo>
                    <a:pt x="87566" y="445688"/>
                  </a:lnTo>
                  <a:lnTo>
                    <a:pt x="122257" y="470285"/>
                  </a:lnTo>
                  <a:lnTo>
                    <a:pt x="161181" y="488657"/>
                  </a:lnTo>
                  <a:lnTo>
                    <a:pt x="203698" y="500157"/>
                  </a:lnTo>
                  <a:lnTo>
                    <a:pt x="249169" y="504134"/>
                  </a:lnTo>
                  <a:lnTo>
                    <a:pt x="294547" y="500157"/>
                  </a:lnTo>
                  <a:lnTo>
                    <a:pt x="336992" y="488657"/>
                  </a:lnTo>
                  <a:lnTo>
                    <a:pt x="375862" y="470285"/>
                  </a:lnTo>
                  <a:lnTo>
                    <a:pt x="410514" y="445688"/>
                  </a:lnTo>
                  <a:lnTo>
                    <a:pt x="440305" y="415517"/>
                  </a:lnTo>
                  <a:lnTo>
                    <a:pt x="464595" y="380419"/>
                  </a:lnTo>
                  <a:lnTo>
                    <a:pt x="482740" y="341045"/>
                  </a:lnTo>
                  <a:lnTo>
                    <a:pt x="494098" y="298043"/>
                  </a:lnTo>
                  <a:lnTo>
                    <a:pt x="498027" y="252063"/>
                  </a:lnTo>
                  <a:lnTo>
                    <a:pt x="494098" y="206085"/>
                  </a:lnTo>
                  <a:lnTo>
                    <a:pt x="482740" y="163085"/>
                  </a:lnTo>
                  <a:lnTo>
                    <a:pt x="464595" y="123713"/>
                  </a:lnTo>
                  <a:lnTo>
                    <a:pt x="440305" y="88616"/>
                  </a:lnTo>
                  <a:lnTo>
                    <a:pt x="410514" y="58445"/>
                  </a:lnTo>
                  <a:lnTo>
                    <a:pt x="375862" y="33849"/>
                  </a:lnTo>
                  <a:lnTo>
                    <a:pt x="336992" y="15477"/>
                  </a:lnTo>
                  <a:lnTo>
                    <a:pt x="294547" y="3977"/>
                  </a:lnTo>
                  <a:lnTo>
                    <a:pt x="2491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3020291" y="1230864"/>
              <a:ext cx="1494790" cy="504190"/>
            </a:xfrm>
            <a:custGeom>
              <a:avLst/>
              <a:gdLst/>
              <a:ahLst/>
              <a:cxnLst/>
              <a:rect l="l" t="t" r="r" b="b"/>
              <a:pathLst>
                <a:path w="1494789" h="504189">
                  <a:moveTo>
                    <a:pt x="0" y="252063"/>
                  </a:moveTo>
                  <a:lnTo>
                    <a:pt x="3929" y="298043"/>
                  </a:lnTo>
                  <a:lnTo>
                    <a:pt x="15290" y="341045"/>
                  </a:lnTo>
                  <a:lnTo>
                    <a:pt x="33443" y="380419"/>
                  </a:lnTo>
                  <a:lnTo>
                    <a:pt x="57748" y="415517"/>
                  </a:lnTo>
                  <a:lnTo>
                    <a:pt x="87566" y="445688"/>
                  </a:lnTo>
                  <a:lnTo>
                    <a:pt x="122257" y="470285"/>
                  </a:lnTo>
                  <a:lnTo>
                    <a:pt x="161181" y="488657"/>
                  </a:lnTo>
                  <a:lnTo>
                    <a:pt x="203698" y="500157"/>
                  </a:lnTo>
                  <a:lnTo>
                    <a:pt x="249169" y="504134"/>
                  </a:lnTo>
                  <a:lnTo>
                    <a:pt x="294547" y="500157"/>
                  </a:lnTo>
                  <a:lnTo>
                    <a:pt x="336992" y="488657"/>
                  </a:lnTo>
                  <a:lnTo>
                    <a:pt x="375862" y="470285"/>
                  </a:lnTo>
                  <a:lnTo>
                    <a:pt x="410514" y="445688"/>
                  </a:lnTo>
                  <a:lnTo>
                    <a:pt x="440305" y="415517"/>
                  </a:lnTo>
                  <a:lnTo>
                    <a:pt x="464595" y="380419"/>
                  </a:lnTo>
                  <a:lnTo>
                    <a:pt x="482740" y="341045"/>
                  </a:lnTo>
                  <a:lnTo>
                    <a:pt x="494098" y="298043"/>
                  </a:lnTo>
                  <a:lnTo>
                    <a:pt x="498027" y="252063"/>
                  </a:lnTo>
                  <a:lnTo>
                    <a:pt x="494098" y="206085"/>
                  </a:lnTo>
                  <a:lnTo>
                    <a:pt x="482740" y="163085"/>
                  </a:lnTo>
                  <a:lnTo>
                    <a:pt x="464595" y="123713"/>
                  </a:lnTo>
                  <a:lnTo>
                    <a:pt x="440305" y="88616"/>
                  </a:lnTo>
                  <a:lnTo>
                    <a:pt x="410514" y="58445"/>
                  </a:lnTo>
                  <a:lnTo>
                    <a:pt x="375862" y="33849"/>
                  </a:lnTo>
                  <a:lnTo>
                    <a:pt x="336992" y="15477"/>
                  </a:lnTo>
                  <a:lnTo>
                    <a:pt x="294547" y="3977"/>
                  </a:lnTo>
                  <a:lnTo>
                    <a:pt x="249169" y="0"/>
                  </a:lnTo>
                  <a:lnTo>
                    <a:pt x="203698" y="3977"/>
                  </a:lnTo>
                  <a:lnTo>
                    <a:pt x="161181" y="15477"/>
                  </a:lnTo>
                  <a:lnTo>
                    <a:pt x="122257" y="33849"/>
                  </a:lnTo>
                  <a:lnTo>
                    <a:pt x="87566" y="58445"/>
                  </a:lnTo>
                  <a:lnTo>
                    <a:pt x="57748" y="88616"/>
                  </a:lnTo>
                  <a:lnTo>
                    <a:pt x="33443" y="123713"/>
                  </a:lnTo>
                  <a:lnTo>
                    <a:pt x="15290" y="163085"/>
                  </a:lnTo>
                  <a:lnTo>
                    <a:pt x="3929" y="206085"/>
                  </a:lnTo>
                  <a:lnTo>
                    <a:pt x="0" y="252063"/>
                  </a:lnTo>
                  <a:close/>
                </a:path>
                <a:path w="1494789" h="504189">
                  <a:moveTo>
                    <a:pt x="996261" y="252063"/>
                  </a:moveTo>
                  <a:lnTo>
                    <a:pt x="1000190" y="298043"/>
                  </a:lnTo>
                  <a:lnTo>
                    <a:pt x="1011550" y="341045"/>
                  </a:lnTo>
                  <a:lnTo>
                    <a:pt x="1029701" y="380419"/>
                  </a:lnTo>
                  <a:lnTo>
                    <a:pt x="1054001" y="415517"/>
                  </a:lnTo>
                  <a:lnTo>
                    <a:pt x="1083810" y="445688"/>
                  </a:lnTo>
                  <a:lnTo>
                    <a:pt x="1118488" y="470285"/>
                  </a:lnTo>
                  <a:lnTo>
                    <a:pt x="1157394" y="488657"/>
                  </a:lnTo>
                  <a:lnTo>
                    <a:pt x="1199887" y="500157"/>
                  </a:lnTo>
                  <a:lnTo>
                    <a:pt x="1245327" y="504134"/>
                  </a:lnTo>
                  <a:lnTo>
                    <a:pt x="1290798" y="500157"/>
                  </a:lnTo>
                  <a:lnTo>
                    <a:pt x="1333315" y="488657"/>
                  </a:lnTo>
                  <a:lnTo>
                    <a:pt x="1372239" y="470285"/>
                  </a:lnTo>
                  <a:lnTo>
                    <a:pt x="1406930" y="445688"/>
                  </a:lnTo>
                  <a:lnTo>
                    <a:pt x="1436748" y="415517"/>
                  </a:lnTo>
                  <a:lnTo>
                    <a:pt x="1461053" y="380419"/>
                  </a:lnTo>
                  <a:lnTo>
                    <a:pt x="1479206" y="341045"/>
                  </a:lnTo>
                  <a:lnTo>
                    <a:pt x="1490567" y="298043"/>
                  </a:lnTo>
                  <a:lnTo>
                    <a:pt x="1494496" y="252063"/>
                  </a:lnTo>
                  <a:lnTo>
                    <a:pt x="1490567" y="206085"/>
                  </a:lnTo>
                  <a:lnTo>
                    <a:pt x="1479206" y="163085"/>
                  </a:lnTo>
                  <a:lnTo>
                    <a:pt x="1461053" y="123713"/>
                  </a:lnTo>
                  <a:lnTo>
                    <a:pt x="1436748" y="88616"/>
                  </a:lnTo>
                  <a:lnTo>
                    <a:pt x="1406930" y="58445"/>
                  </a:lnTo>
                  <a:lnTo>
                    <a:pt x="1372239" y="33849"/>
                  </a:lnTo>
                  <a:lnTo>
                    <a:pt x="1333315" y="15477"/>
                  </a:lnTo>
                  <a:lnTo>
                    <a:pt x="1290798" y="3977"/>
                  </a:lnTo>
                  <a:lnTo>
                    <a:pt x="1245327" y="0"/>
                  </a:lnTo>
                  <a:lnTo>
                    <a:pt x="1199887" y="3977"/>
                  </a:lnTo>
                  <a:lnTo>
                    <a:pt x="1157394" y="15477"/>
                  </a:lnTo>
                  <a:lnTo>
                    <a:pt x="1118488" y="33849"/>
                  </a:lnTo>
                  <a:lnTo>
                    <a:pt x="1083810" y="58445"/>
                  </a:lnTo>
                  <a:lnTo>
                    <a:pt x="1054001" y="88616"/>
                  </a:lnTo>
                  <a:lnTo>
                    <a:pt x="1029701" y="123713"/>
                  </a:lnTo>
                  <a:lnTo>
                    <a:pt x="1011550" y="163085"/>
                  </a:lnTo>
                  <a:lnTo>
                    <a:pt x="1000190" y="206085"/>
                  </a:lnTo>
                  <a:lnTo>
                    <a:pt x="996261" y="252063"/>
                  </a:lnTo>
                  <a:close/>
                </a:path>
              </a:pathLst>
            </a:custGeom>
            <a:ln w="7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3069650" y="1383372"/>
            <a:ext cx="415290" cy="249554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 indent="46355">
              <a:lnSpc>
                <a:spcPts val="869"/>
              </a:lnSpc>
              <a:spcBef>
                <a:spcPts val="145"/>
              </a:spcBef>
            </a:pPr>
            <a:r>
              <a:rPr dirty="0" sz="750" spc="-10">
                <a:latin typeface="Arial MT"/>
                <a:cs typeface="Arial MT"/>
              </a:rPr>
              <a:t>Predict </a:t>
            </a:r>
            <a:r>
              <a:rPr dirty="0" sz="750">
                <a:latin typeface="Arial MT"/>
                <a:cs typeface="Arial MT"/>
              </a:rPr>
              <a:t>not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taken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4112819" y="1320486"/>
            <a:ext cx="324485" cy="139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10">
                <a:latin typeface="Arial MT"/>
                <a:cs typeface="Arial MT"/>
              </a:rPr>
              <a:t>Predict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066120" y="1430799"/>
            <a:ext cx="415290" cy="249554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90170" marR="5080" indent="-78105">
              <a:lnSpc>
                <a:spcPts val="869"/>
              </a:lnSpc>
              <a:spcBef>
                <a:spcPts val="145"/>
              </a:spcBef>
            </a:pPr>
            <a:r>
              <a:rPr dirty="0" sz="750">
                <a:latin typeface="Arial MT"/>
                <a:cs typeface="Arial MT"/>
              </a:rPr>
              <a:t>not</a:t>
            </a:r>
            <a:r>
              <a:rPr dirty="0" sz="750" spc="-3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taken again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470826" y="1293749"/>
            <a:ext cx="2616200" cy="220979"/>
            <a:chOff x="1470826" y="1293749"/>
            <a:chExt cx="2616200" cy="220979"/>
          </a:xfrm>
        </p:grpSpPr>
        <p:sp>
          <p:nvSpPr>
            <p:cNvPr id="24" name="object 24" descr=""/>
            <p:cNvSpPr/>
            <p:nvPr/>
          </p:nvSpPr>
          <p:spPr>
            <a:xfrm>
              <a:off x="1474954" y="1321201"/>
              <a:ext cx="591820" cy="0"/>
            </a:xfrm>
            <a:custGeom>
              <a:avLst/>
              <a:gdLst/>
              <a:ahLst/>
              <a:cxnLst/>
              <a:rect l="l" t="t" r="r" b="b"/>
              <a:pathLst>
                <a:path w="591819" h="0">
                  <a:moveTo>
                    <a:pt x="0" y="0"/>
                  </a:moveTo>
                  <a:lnTo>
                    <a:pt x="591520" y="0"/>
                  </a:lnTo>
                </a:path>
              </a:pathLst>
            </a:custGeom>
            <a:ln w="7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047275" y="1293749"/>
              <a:ext cx="46990" cy="55244"/>
            </a:xfrm>
            <a:custGeom>
              <a:avLst/>
              <a:gdLst/>
              <a:ahLst/>
              <a:cxnLst/>
              <a:rect l="l" t="t" r="r" b="b"/>
              <a:pathLst>
                <a:path w="46989" h="55244">
                  <a:moveTo>
                    <a:pt x="0" y="0"/>
                  </a:moveTo>
                  <a:lnTo>
                    <a:pt x="0" y="55162"/>
                  </a:lnTo>
                  <a:lnTo>
                    <a:pt x="46596" y="31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463422" y="1321201"/>
              <a:ext cx="591820" cy="0"/>
            </a:xfrm>
            <a:custGeom>
              <a:avLst/>
              <a:gdLst/>
              <a:ahLst/>
              <a:cxnLst/>
              <a:rect l="l" t="t" r="r" b="b"/>
              <a:pathLst>
                <a:path w="591819" h="0">
                  <a:moveTo>
                    <a:pt x="0" y="0"/>
                  </a:moveTo>
                  <a:lnTo>
                    <a:pt x="591738" y="0"/>
                  </a:lnTo>
                </a:path>
              </a:pathLst>
            </a:custGeom>
            <a:ln w="7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035754" y="1293749"/>
              <a:ext cx="54610" cy="55244"/>
            </a:xfrm>
            <a:custGeom>
              <a:avLst/>
              <a:gdLst/>
              <a:ahLst/>
              <a:cxnLst/>
              <a:rect l="l" t="t" r="r" b="b"/>
              <a:pathLst>
                <a:path w="54610" h="55244">
                  <a:moveTo>
                    <a:pt x="0" y="0"/>
                  </a:moveTo>
                  <a:lnTo>
                    <a:pt x="0" y="55162"/>
                  </a:lnTo>
                  <a:lnTo>
                    <a:pt x="54585" y="31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459892" y="1321201"/>
              <a:ext cx="591820" cy="0"/>
            </a:xfrm>
            <a:custGeom>
              <a:avLst/>
              <a:gdLst/>
              <a:ahLst/>
              <a:cxnLst/>
              <a:rect l="l" t="t" r="r" b="b"/>
              <a:pathLst>
                <a:path w="591820" h="0">
                  <a:moveTo>
                    <a:pt x="0" y="0"/>
                  </a:moveTo>
                  <a:lnTo>
                    <a:pt x="591530" y="0"/>
                  </a:lnTo>
                </a:path>
              </a:pathLst>
            </a:custGeom>
            <a:ln w="7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032223" y="1293749"/>
              <a:ext cx="54610" cy="55244"/>
            </a:xfrm>
            <a:custGeom>
              <a:avLst/>
              <a:gdLst/>
              <a:ahLst/>
              <a:cxnLst/>
              <a:rect l="l" t="t" r="r" b="b"/>
              <a:pathLst>
                <a:path w="54610" h="55244">
                  <a:moveTo>
                    <a:pt x="0" y="0"/>
                  </a:moveTo>
                  <a:lnTo>
                    <a:pt x="0" y="55162"/>
                  </a:lnTo>
                  <a:lnTo>
                    <a:pt x="54378" y="317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568208" y="1486665"/>
              <a:ext cx="467359" cy="0"/>
            </a:xfrm>
            <a:custGeom>
              <a:avLst/>
              <a:gdLst/>
              <a:ahLst/>
              <a:cxnLst/>
              <a:rect l="l" t="t" r="r" b="b"/>
              <a:pathLst>
                <a:path w="467360" h="0">
                  <a:moveTo>
                    <a:pt x="467028" y="0"/>
                  </a:moveTo>
                  <a:lnTo>
                    <a:pt x="0" y="0"/>
                  </a:lnTo>
                </a:path>
              </a:pathLst>
            </a:custGeom>
            <a:ln w="7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533557" y="1459224"/>
              <a:ext cx="54610" cy="55244"/>
            </a:xfrm>
            <a:custGeom>
              <a:avLst/>
              <a:gdLst/>
              <a:ahLst/>
              <a:cxnLst/>
              <a:rect l="l" t="t" r="r" b="b"/>
              <a:pathLst>
                <a:path w="54609" h="55244">
                  <a:moveTo>
                    <a:pt x="54357" y="0"/>
                  </a:moveTo>
                  <a:lnTo>
                    <a:pt x="0" y="23703"/>
                  </a:lnTo>
                  <a:lnTo>
                    <a:pt x="54357" y="55151"/>
                  </a:lnTo>
                  <a:lnTo>
                    <a:pt x="543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553188" y="1486665"/>
              <a:ext cx="467359" cy="0"/>
            </a:xfrm>
            <a:custGeom>
              <a:avLst/>
              <a:gdLst/>
              <a:ahLst/>
              <a:cxnLst/>
              <a:rect l="l" t="t" r="r" b="b"/>
              <a:pathLst>
                <a:path w="467360" h="0">
                  <a:moveTo>
                    <a:pt x="467101" y="0"/>
                  </a:moveTo>
                  <a:lnTo>
                    <a:pt x="0" y="0"/>
                  </a:lnTo>
                </a:path>
              </a:pathLst>
            </a:custGeom>
            <a:ln w="77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526308" y="1459224"/>
              <a:ext cx="46990" cy="55244"/>
            </a:xfrm>
            <a:custGeom>
              <a:avLst/>
              <a:gdLst/>
              <a:ahLst/>
              <a:cxnLst/>
              <a:rect l="l" t="t" r="r" b="b"/>
              <a:pathLst>
                <a:path w="46989" h="55244">
                  <a:moveTo>
                    <a:pt x="46596" y="0"/>
                  </a:moveTo>
                  <a:lnTo>
                    <a:pt x="0" y="23703"/>
                  </a:lnTo>
                  <a:lnTo>
                    <a:pt x="46596" y="55151"/>
                  </a:lnTo>
                  <a:lnTo>
                    <a:pt x="465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2587189" y="1186726"/>
            <a:ext cx="37782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latin typeface="Arial MT"/>
                <a:cs typeface="Arial MT"/>
              </a:rPr>
              <a:t>Not</a:t>
            </a:r>
            <a:r>
              <a:rPr dirty="0" sz="650" spc="-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taken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645718" y="1186726"/>
            <a:ext cx="252729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10">
                <a:latin typeface="Arial MT"/>
                <a:cs typeface="Arial MT"/>
              </a:rPr>
              <a:t>Taken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583659" y="1501675"/>
            <a:ext cx="37782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latin typeface="Arial MT"/>
                <a:cs typeface="Arial MT"/>
              </a:rPr>
              <a:t>Not</a:t>
            </a:r>
            <a:r>
              <a:rPr dirty="0" sz="650" spc="-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taken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660749" y="1501675"/>
            <a:ext cx="252729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10">
                <a:latin typeface="Arial MT"/>
                <a:cs typeface="Arial MT"/>
              </a:rPr>
              <a:t>Taken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162763" y="942387"/>
            <a:ext cx="252729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10">
                <a:latin typeface="Arial MT"/>
                <a:cs typeface="Arial MT"/>
              </a:rPr>
              <a:t>Taken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085424" y="942387"/>
            <a:ext cx="377825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>
                <a:latin typeface="Arial MT"/>
                <a:cs typeface="Arial MT"/>
              </a:rPr>
              <a:t>Not</a:t>
            </a:r>
            <a:r>
              <a:rPr dirty="0" sz="650" spc="-40">
                <a:latin typeface="Arial MT"/>
                <a:cs typeface="Arial MT"/>
              </a:rPr>
              <a:t> </a:t>
            </a:r>
            <a:r>
              <a:rPr dirty="0" sz="650" spc="-10">
                <a:latin typeface="Arial MT"/>
                <a:cs typeface="Arial MT"/>
              </a:rPr>
              <a:t>taken</a:t>
            </a:r>
            <a:endParaRPr sz="650">
              <a:latin typeface="Arial MT"/>
              <a:cs typeface="Arial MT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486670" y="1640017"/>
            <a:ext cx="2585085" cy="177165"/>
            <a:chOff x="1486670" y="1640017"/>
            <a:chExt cx="2585085" cy="177165"/>
          </a:xfrm>
        </p:grpSpPr>
        <p:sp>
          <p:nvSpPr>
            <p:cNvPr id="41" name="object 41" descr=""/>
            <p:cNvSpPr/>
            <p:nvPr/>
          </p:nvSpPr>
          <p:spPr>
            <a:xfrm>
              <a:off x="1529302" y="1644144"/>
              <a:ext cx="2538095" cy="168910"/>
            </a:xfrm>
            <a:custGeom>
              <a:avLst/>
              <a:gdLst/>
              <a:ahLst/>
              <a:cxnLst/>
              <a:rect l="l" t="t" r="r" b="b"/>
              <a:pathLst>
                <a:path w="2538095" h="168910">
                  <a:moveTo>
                    <a:pt x="2537790" y="0"/>
                  </a:moveTo>
                  <a:lnTo>
                    <a:pt x="2514440" y="7994"/>
                  </a:lnTo>
                  <a:lnTo>
                    <a:pt x="2475524" y="15718"/>
                  </a:lnTo>
                  <a:lnTo>
                    <a:pt x="2382020" y="47426"/>
                  </a:lnTo>
                  <a:lnTo>
                    <a:pt x="2280734" y="70879"/>
                  </a:lnTo>
                  <a:lnTo>
                    <a:pt x="2179758" y="94591"/>
                  </a:lnTo>
                  <a:lnTo>
                    <a:pt x="2000743" y="126035"/>
                  </a:lnTo>
                  <a:lnTo>
                    <a:pt x="1899456" y="141757"/>
                  </a:lnTo>
                  <a:lnTo>
                    <a:pt x="1790490" y="149746"/>
                  </a:lnTo>
                  <a:lnTo>
                    <a:pt x="1665749" y="157737"/>
                  </a:lnTo>
                  <a:lnTo>
                    <a:pt x="1525858" y="165469"/>
                  </a:lnTo>
                  <a:lnTo>
                    <a:pt x="1473886" y="168433"/>
                  </a:lnTo>
                </a:path>
                <a:path w="2538095" h="168910">
                  <a:moveTo>
                    <a:pt x="1074131" y="168433"/>
                  </a:moveTo>
                  <a:lnTo>
                    <a:pt x="973036" y="165469"/>
                  </a:lnTo>
                  <a:lnTo>
                    <a:pt x="848607" y="157737"/>
                  </a:lnTo>
                  <a:lnTo>
                    <a:pt x="723971" y="149746"/>
                  </a:lnTo>
                  <a:lnTo>
                    <a:pt x="607221" y="141757"/>
                  </a:lnTo>
                  <a:lnTo>
                    <a:pt x="498255" y="126035"/>
                  </a:lnTo>
                  <a:lnTo>
                    <a:pt x="303745" y="94591"/>
                  </a:lnTo>
                  <a:lnTo>
                    <a:pt x="140151" y="55161"/>
                  </a:lnTo>
                  <a:lnTo>
                    <a:pt x="62349" y="39432"/>
                  </a:lnTo>
                  <a:lnTo>
                    <a:pt x="0" y="23713"/>
                  </a:lnTo>
                </a:path>
              </a:pathLst>
            </a:custGeom>
            <a:ln w="7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86670" y="1640406"/>
              <a:ext cx="55244" cy="55244"/>
            </a:xfrm>
            <a:custGeom>
              <a:avLst/>
              <a:gdLst/>
              <a:ahLst/>
              <a:cxnLst/>
              <a:rect l="l" t="t" r="r" b="b"/>
              <a:pathLst>
                <a:path w="55244" h="55244">
                  <a:moveTo>
                    <a:pt x="54617" y="0"/>
                  </a:moveTo>
                  <a:lnTo>
                    <a:pt x="0" y="15730"/>
                  </a:lnTo>
                  <a:lnTo>
                    <a:pt x="46887" y="55162"/>
                  </a:lnTo>
                  <a:lnTo>
                    <a:pt x="546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2649456" y="1698845"/>
            <a:ext cx="252729" cy="12953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50" spc="-10">
                <a:latin typeface="Arial MT"/>
                <a:cs typeface="Arial MT"/>
              </a:rPr>
              <a:t>Taken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071795" y="2168324"/>
            <a:ext cx="3393440" cy="18161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215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850">
                <a:latin typeface="Arial MT"/>
                <a:cs typeface="Arial MT"/>
              </a:rPr>
              <a:t>Example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16.1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073589" y="2334325"/>
            <a:ext cx="499745" cy="1441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>
                <a:latin typeface="Courier New"/>
                <a:cs typeface="Courier New"/>
              </a:rPr>
              <a:t>L1:</a:t>
            </a:r>
            <a:r>
              <a:rPr dirty="0" sz="750" spc="95">
                <a:latin typeface="Courier New"/>
                <a:cs typeface="Courier New"/>
              </a:rPr>
              <a:t> </a:t>
            </a:r>
            <a:r>
              <a:rPr dirty="0" sz="750">
                <a:latin typeface="Courier New"/>
                <a:cs typeface="Courier New"/>
              </a:rPr>
              <a:t>---</a:t>
            </a:r>
            <a:r>
              <a:rPr dirty="0" sz="750" spc="-50">
                <a:latin typeface="Courier New"/>
                <a:cs typeface="Courier New"/>
              </a:rPr>
              <a:t>-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1323463" y="2539143"/>
            <a:ext cx="237490" cy="0"/>
          </a:xfrm>
          <a:custGeom>
            <a:avLst/>
            <a:gdLst/>
            <a:ahLst/>
            <a:cxnLst/>
            <a:rect l="l" t="t" r="r" b="b"/>
            <a:pathLst>
              <a:path w="237490" h="0">
                <a:moveTo>
                  <a:pt x="0" y="0"/>
                </a:moveTo>
                <a:lnTo>
                  <a:pt x="237159" y="0"/>
                </a:lnTo>
              </a:path>
            </a:pathLst>
          </a:custGeom>
          <a:ln w="5823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1073589" y="2571208"/>
            <a:ext cx="499745" cy="2667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25"/>
              </a:spcBef>
            </a:pPr>
            <a:r>
              <a:rPr dirty="0" sz="750">
                <a:latin typeface="Courier New"/>
                <a:cs typeface="Courier New"/>
              </a:rPr>
              <a:t>L2:</a:t>
            </a:r>
            <a:r>
              <a:rPr dirty="0" sz="750" spc="95">
                <a:latin typeface="Courier New"/>
                <a:cs typeface="Courier New"/>
              </a:rPr>
              <a:t> </a:t>
            </a:r>
            <a:r>
              <a:rPr dirty="0" sz="750">
                <a:latin typeface="Courier New"/>
                <a:cs typeface="Courier New"/>
              </a:rPr>
              <a:t>---</a:t>
            </a:r>
            <a:r>
              <a:rPr dirty="0" sz="750" spc="-50">
                <a:latin typeface="Courier New"/>
                <a:cs typeface="Courier New"/>
              </a:rPr>
              <a:t>-</a:t>
            </a:r>
            <a:endParaRPr sz="75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65"/>
              </a:spcBef>
            </a:pPr>
            <a:r>
              <a:rPr dirty="0" sz="750">
                <a:latin typeface="Courier New"/>
                <a:cs typeface="Courier New"/>
              </a:rPr>
              <a:t>---</a:t>
            </a:r>
            <a:r>
              <a:rPr dirty="0" sz="750" spc="-50">
                <a:latin typeface="Courier New"/>
                <a:cs typeface="Courier New"/>
              </a:rPr>
              <a:t>-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310763" y="2809485"/>
            <a:ext cx="618490" cy="3822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750">
                <a:latin typeface="Courier New"/>
                <a:cs typeface="Courier New"/>
              </a:rPr>
              <a:t>br</a:t>
            </a:r>
            <a:r>
              <a:rPr dirty="0" sz="750" spc="55">
                <a:latin typeface="Courier New"/>
                <a:cs typeface="Courier New"/>
              </a:rPr>
              <a:t> </a:t>
            </a:r>
            <a:r>
              <a:rPr dirty="0" sz="750">
                <a:latin typeface="Courier New"/>
                <a:cs typeface="Courier New"/>
              </a:rPr>
              <a:t>&lt;c2&gt;</a:t>
            </a:r>
            <a:r>
              <a:rPr dirty="0" sz="750" spc="55">
                <a:latin typeface="Courier New"/>
                <a:cs typeface="Courier New"/>
              </a:rPr>
              <a:t> </a:t>
            </a:r>
            <a:r>
              <a:rPr dirty="0" sz="750" spc="-25">
                <a:latin typeface="Courier New"/>
                <a:cs typeface="Courier New"/>
              </a:rPr>
              <a:t>L2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750">
                <a:latin typeface="Courier New"/>
                <a:cs typeface="Courier New"/>
              </a:rPr>
              <a:t>---</a:t>
            </a:r>
            <a:r>
              <a:rPr dirty="0" sz="750" spc="-50">
                <a:latin typeface="Courier New"/>
                <a:cs typeface="Courier New"/>
              </a:rPr>
              <a:t>-</a:t>
            </a:r>
            <a:endParaRPr sz="7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750">
                <a:latin typeface="Courier New"/>
                <a:cs typeface="Courier New"/>
              </a:rPr>
              <a:t>br</a:t>
            </a:r>
            <a:r>
              <a:rPr dirty="0" sz="750" spc="55">
                <a:latin typeface="Courier New"/>
                <a:cs typeface="Courier New"/>
              </a:rPr>
              <a:t> </a:t>
            </a:r>
            <a:r>
              <a:rPr dirty="0" sz="750">
                <a:latin typeface="Courier New"/>
                <a:cs typeface="Courier New"/>
              </a:rPr>
              <a:t>&lt;c1&gt;</a:t>
            </a:r>
            <a:r>
              <a:rPr dirty="0" sz="750" spc="55">
                <a:latin typeface="Courier New"/>
                <a:cs typeface="Courier New"/>
              </a:rPr>
              <a:t> </a:t>
            </a:r>
            <a:r>
              <a:rPr dirty="0" sz="750" spc="-25">
                <a:latin typeface="Courier New"/>
                <a:cs typeface="Courier New"/>
              </a:rPr>
              <a:t>L1</a:t>
            </a:r>
            <a:endParaRPr sz="750">
              <a:latin typeface="Courier New"/>
              <a:cs typeface="Courier New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1642757" y="2394160"/>
            <a:ext cx="478155" cy="732790"/>
          </a:xfrm>
          <a:custGeom>
            <a:avLst/>
            <a:gdLst/>
            <a:ahLst/>
            <a:cxnLst/>
            <a:rect l="l" t="t" r="r" b="b"/>
            <a:pathLst>
              <a:path w="478155" h="732789">
                <a:moveTo>
                  <a:pt x="405866" y="397738"/>
                </a:moveTo>
                <a:lnTo>
                  <a:pt x="405155" y="386664"/>
                </a:lnTo>
                <a:lnTo>
                  <a:pt x="405142" y="386346"/>
                </a:lnTo>
                <a:lnTo>
                  <a:pt x="403898" y="375602"/>
                </a:lnTo>
                <a:lnTo>
                  <a:pt x="394982" y="336880"/>
                </a:lnTo>
                <a:lnTo>
                  <a:pt x="374040" y="304685"/>
                </a:lnTo>
                <a:lnTo>
                  <a:pt x="344131" y="278295"/>
                </a:lnTo>
                <a:lnTo>
                  <a:pt x="303936" y="261023"/>
                </a:lnTo>
                <a:lnTo>
                  <a:pt x="248031" y="249809"/>
                </a:lnTo>
                <a:lnTo>
                  <a:pt x="248221" y="249809"/>
                </a:lnTo>
                <a:lnTo>
                  <a:pt x="200901" y="245922"/>
                </a:lnTo>
                <a:lnTo>
                  <a:pt x="148297" y="244195"/>
                </a:lnTo>
                <a:lnTo>
                  <a:pt x="66979" y="244195"/>
                </a:lnTo>
                <a:lnTo>
                  <a:pt x="66890" y="226707"/>
                </a:lnTo>
                <a:lnTo>
                  <a:pt x="27457" y="246672"/>
                </a:lnTo>
                <a:lnTo>
                  <a:pt x="67056" y="266268"/>
                </a:lnTo>
                <a:lnTo>
                  <a:pt x="66992" y="249135"/>
                </a:lnTo>
                <a:lnTo>
                  <a:pt x="148183" y="249135"/>
                </a:lnTo>
                <a:lnTo>
                  <a:pt x="200583" y="250850"/>
                </a:lnTo>
                <a:lnTo>
                  <a:pt x="246710" y="254609"/>
                </a:lnTo>
                <a:lnTo>
                  <a:pt x="285457" y="261251"/>
                </a:lnTo>
                <a:lnTo>
                  <a:pt x="324281" y="273710"/>
                </a:lnTo>
                <a:lnTo>
                  <a:pt x="360578" y="297827"/>
                </a:lnTo>
                <a:lnTo>
                  <a:pt x="387121" y="331419"/>
                </a:lnTo>
                <a:lnTo>
                  <a:pt x="398830" y="375031"/>
                </a:lnTo>
                <a:lnTo>
                  <a:pt x="400164" y="386346"/>
                </a:lnTo>
                <a:lnTo>
                  <a:pt x="400202" y="386664"/>
                </a:lnTo>
                <a:lnTo>
                  <a:pt x="400926" y="397738"/>
                </a:lnTo>
                <a:lnTo>
                  <a:pt x="400913" y="408825"/>
                </a:lnTo>
                <a:lnTo>
                  <a:pt x="400151" y="418350"/>
                </a:lnTo>
                <a:lnTo>
                  <a:pt x="380873" y="458152"/>
                </a:lnTo>
                <a:lnTo>
                  <a:pt x="348894" y="484276"/>
                </a:lnTo>
                <a:lnTo>
                  <a:pt x="311810" y="490397"/>
                </a:lnTo>
                <a:lnTo>
                  <a:pt x="305854" y="490842"/>
                </a:lnTo>
                <a:lnTo>
                  <a:pt x="301612" y="491451"/>
                </a:lnTo>
                <a:lnTo>
                  <a:pt x="302006" y="494220"/>
                </a:lnTo>
                <a:lnTo>
                  <a:pt x="302107" y="494880"/>
                </a:lnTo>
                <a:lnTo>
                  <a:pt x="302221" y="495744"/>
                </a:lnTo>
                <a:lnTo>
                  <a:pt x="302310" y="496354"/>
                </a:lnTo>
                <a:lnTo>
                  <a:pt x="306565" y="495744"/>
                </a:lnTo>
                <a:lnTo>
                  <a:pt x="319074" y="494880"/>
                </a:lnTo>
                <a:lnTo>
                  <a:pt x="358013" y="485101"/>
                </a:lnTo>
                <a:lnTo>
                  <a:pt x="390461" y="453948"/>
                </a:lnTo>
                <a:lnTo>
                  <a:pt x="405866" y="408825"/>
                </a:lnTo>
                <a:lnTo>
                  <a:pt x="405866" y="397738"/>
                </a:lnTo>
                <a:close/>
              </a:path>
              <a:path w="478155" h="732789">
                <a:moveTo>
                  <a:pt x="478142" y="436422"/>
                </a:moveTo>
                <a:lnTo>
                  <a:pt x="475780" y="389318"/>
                </a:lnTo>
                <a:lnTo>
                  <a:pt x="471525" y="344474"/>
                </a:lnTo>
                <a:lnTo>
                  <a:pt x="466661" y="304393"/>
                </a:lnTo>
                <a:lnTo>
                  <a:pt x="463689" y="285610"/>
                </a:lnTo>
                <a:lnTo>
                  <a:pt x="463575" y="284835"/>
                </a:lnTo>
                <a:lnTo>
                  <a:pt x="451853" y="232029"/>
                </a:lnTo>
                <a:lnTo>
                  <a:pt x="436029" y="185343"/>
                </a:lnTo>
                <a:lnTo>
                  <a:pt x="419341" y="145999"/>
                </a:lnTo>
                <a:lnTo>
                  <a:pt x="397548" y="112077"/>
                </a:lnTo>
                <a:lnTo>
                  <a:pt x="360514" y="80276"/>
                </a:lnTo>
                <a:lnTo>
                  <a:pt x="326771" y="58483"/>
                </a:lnTo>
                <a:lnTo>
                  <a:pt x="287350" y="38252"/>
                </a:lnTo>
                <a:lnTo>
                  <a:pt x="243433" y="22377"/>
                </a:lnTo>
                <a:lnTo>
                  <a:pt x="194386" y="13627"/>
                </a:lnTo>
                <a:lnTo>
                  <a:pt x="169430" y="12395"/>
                </a:lnTo>
                <a:lnTo>
                  <a:pt x="134797" y="12395"/>
                </a:lnTo>
                <a:lnTo>
                  <a:pt x="100914" y="13627"/>
                </a:lnTo>
                <a:lnTo>
                  <a:pt x="101701" y="13627"/>
                </a:lnTo>
                <a:lnTo>
                  <a:pt x="44780" y="16979"/>
                </a:lnTo>
                <a:lnTo>
                  <a:pt x="39382" y="17246"/>
                </a:lnTo>
                <a:lnTo>
                  <a:pt x="38684" y="0"/>
                </a:lnTo>
                <a:lnTo>
                  <a:pt x="37541" y="635"/>
                </a:lnTo>
                <a:lnTo>
                  <a:pt x="37541" y="17335"/>
                </a:lnTo>
                <a:lnTo>
                  <a:pt x="30822" y="17665"/>
                </a:lnTo>
                <a:lnTo>
                  <a:pt x="37452" y="17335"/>
                </a:lnTo>
                <a:lnTo>
                  <a:pt x="37541" y="635"/>
                </a:lnTo>
                <a:lnTo>
                  <a:pt x="0" y="21412"/>
                </a:lnTo>
                <a:lnTo>
                  <a:pt x="40322" y="39535"/>
                </a:lnTo>
                <a:lnTo>
                  <a:pt x="39903" y="29591"/>
                </a:lnTo>
                <a:lnTo>
                  <a:pt x="39801" y="27076"/>
                </a:lnTo>
                <a:lnTo>
                  <a:pt x="39687" y="24193"/>
                </a:lnTo>
                <a:lnTo>
                  <a:pt x="39611" y="22504"/>
                </a:lnTo>
                <a:lnTo>
                  <a:pt x="39598" y="22186"/>
                </a:lnTo>
                <a:lnTo>
                  <a:pt x="45085" y="21907"/>
                </a:lnTo>
                <a:lnTo>
                  <a:pt x="102298" y="18542"/>
                </a:lnTo>
                <a:lnTo>
                  <a:pt x="101688" y="18542"/>
                </a:lnTo>
                <a:lnTo>
                  <a:pt x="134810" y="17335"/>
                </a:lnTo>
                <a:lnTo>
                  <a:pt x="169379" y="17335"/>
                </a:lnTo>
                <a:lnTo>
                  <a:pt x="179946" y="17665"/>
                </a:lnTo>
                <a:lnTo>
                  <a:pt x="219100" y="21767"/>
                </a:lnTo>
                <a:lnTo>
                  <a:pt x="264033" y="34188"/>
                </a:lnTo>
                <a:lnTo>
                  <a:pt x="305320" y="52336"/>
                </a:lnTo>
                <a:lnTo>
                  <a:pt x="341655" y="73444"/>
                </a:lnTo>
                <a:lnTo>
                  <a:pt x="378079" y="99834"/>
                </a:lnTo>
                <a:lnTo>
                  <a:pt x="408813" y="136563"/>
                </a:lnTo>
                <a:lnTo>
                  <a:pt x="425780" y="173240"/>
                </a:lnTo>
                <a:lnTo>
                  <a:pt x="442290" y="217182"/>
                </a:lnTo>
                <a:lnTo>
                  <a:pt x="455269" y="267487"/>
                </a:lnTo>
                <a:lnTo>
                  <a:pt x="461568" y="303758"/>
                </a:lnTo>
                <a:lnTo>
                  <a:pt x="461670" y="304393"/>
                </a:lnTo>
                <a:lnTo>
                  <a:pt x="466496" y="343966"/>
                </a:lnTo>
                <a:lnTo>
                  <a:pt x="470789" y="389001"/>
                </a:lnTo>
                <a:lnTo>
                  <a:pt x="473202" y="436422"/>
                </a:lnTo>
                <a:lnTo>
                  <a:pt x="473163" y="460070"/>
                </a:lnTo>
                <a:lnTo>
                  <a:pt x="469722" y="504494"/>
                </a:lnTo>
                <a:lnTo>
                  <a:pt x="461670" y="547928"/>
                </a:lnTo>
                <a:lnTo>
                  <a:pt x="449846" y="590931"/>
                </a:lnTo>
                <a:lnTo>
                  <a:pt x="434340" y="630301"/>
                </a:lnTo>
                <a:lnTo>
                  <a:pt x="409803" y="669302"/>
                </a:lnTo>
                <a:lnTo>
                  <a:pt x="372389" y="696569"/>
                </a:lnTo>
                <a:lnTo>
                  <a:pt x="316382" y="720940"/>
                </a:lnTo>
                <a:lnTo>
                  <a:pt x="310273" y="723455"/>
                </a:lnTo>
                <a:lnTo>
                  <a:pt x="304990" y="725817"/>
                </a:lnTo>
                <a:lnTo>
                  <a:pt x="300837" y="727976"/>
                </a:lnTo>
                <a:lnTo>
                  <a:pt x="303098" y="732358"/>
                </a:lnTo>
                <a:lnTo>
                  <a:pt x="307251" y="730211"/>
                </a:lnTo>
                <a:lnTo>
                  <a:pt x="312280" y="727976"/>
                </a:lnTo>
                <a:lnTo>
                  <a:pt x="318262" y="725512"/>
                </a:lnTo>
                <a:lnTo>
                  <a:pt x="340385" y="716724"/>
                </a:lnTo>
                <a:lnTo>
                  <a:pt x="357238" y="709510"/>
                </a:lnTo>
                <a:lnTo>
                  <a:pt x="391337" y="691045"/>
                </a:lnTo>
                <a:lnTo>
                  <a:pt x="424446" y="658253"/>
                </a:lnTo>
                <a:lnTo>
                  <a:pt x="447090" y="613219"/>
                </a:lnTo>
                <a:lnTo>
                  <a:pt x="460946" y="571106"/>
                </a:lnTo>
                <a:lnTo>
                  <a:pt x="471004" y="527050"/>
                </a:lnTo>
                <a:lnTo>
                  <a:pt x="476999" y="483171"/>
                </a:lnTo>
                <a:lnTo>
                  <a:pt x="478104" y="460070"/>
                </a:lnTo>
                <a:lnTo>
                  <a:pt x="478142" y="4364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1765345" y="2543364"/>
            <a:ext cx="25463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latin typeface="Arial MT"/>
                <a:cs typeface="Arial MT"/>
              </a:rPr>
              <a:t>20</a:t>
            </a:r>
            <a:r>
              <a:rPr dirty="0" sz="500" spc="15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iter’s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995932" y="2378940"/>
            <a:ext cx="25463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>
                <a:latin typeface="Arial MT"/>
                <a:cs typeface="Arial MT"/>
              </a:rPr>
              <a:t>10</a:t>
            </a:r>
            <a:r>
              <a:rPr dirty="0" sz="500" spc="15">
                <a:latin typeface="Arial MT"/>
                <a:cs typeface="Arial MT"/>
              </a:rPr>
              <a:t> </a:t>
            </a:r>
            <a:r>
              <a:rPr dirty="0" sz="500" spc="-10">
                <a:latin typeface="Arial MT"/>
                <a:cs typeface="Arial MT"/>
              </a:rPr>
              <a:t>iter’s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2325340" y="2360887"/>
            <a:ext cx="2169160" cy="7753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750">
                <a:latin typeface="Arial MT"/>
                <a:cs typeface="Arial MT"/>
              </a:rPr>
              <a:t>Impact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of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different</a:t>
            </a:r>
            <a:r>
              <a:rPr dirty="0" sz="750" spc="7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branch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prediction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schemes</a:t>
            </a:r>
            <a:endParaRPr sz="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750" spc="-10" b="1">
                <a:solidFill>
                  <a:srgbClr val="FF3300"/>
                </a:solidFill>
                <a:latin typeface="Arial"/>
                <a:cs typeface="Arial"/>
              </a:rPr>
              <a:t>Solution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750">
                <a:latin typeface="Arial MT"/>
                <a:cs typeface="Arial MT"/>
              </a:rPr>
              <a:t>Always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taken: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11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mispredictions,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94.8%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accurate</a:t>
            </a:r>
            <a:endParaRPr sz="750">
              <a:latin typeface="Arial MT"/>
              <a:cs typeface="Arial MT"/>
            </a:endParaRPr>
          </a:p>
          <a:p>
            <a:pPr marL="100330" indent="-87630">
              <a:lnSpc>
                <a:spcPct val="100000"/>
              </a:lnSpc>
              <a:spcBef>
                <a:spcPts val="20"/>
              </a:spcBef>
              <a:buSzPct val="86666"/>
              <a:buAutoNum type="arabicPlain"/>
              <a:tabLst>
                <a:tab pos="100330" algn="l"/>
              </a:tabLst>
            </a:pPr>
            <a:r>
              <a:rPr dirty="0" sz="750">
                <a:latin typeface="Arial MT"/>
                <a:cs typeface="Arial MT"/>
              </a:rPr>
              <a:t>bit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history:</a:t>
            </a:r>
            <a:r>
              <a:rPr dirty="0" sz="750" spc="8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20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mispredictions,</a:t>
            </a:r>
            <a:r>
              <a:rPr dirty="0" sz="750" spc="7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90.5%</a:t>
            </a:r>
            <a:r>
              <a:rPr dirty="0" sz="750" spc="85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accurate</a:t>
            </a:r>
            <a:endParaRPr sz="750">
              <a:latin typeface="Arial MT"/>
              <a:cs typeface="Arial MT"/>
            </a:endParaRPr>
          </a:p>
          <a:p>
            <a:pPr marL="100330" indent="-87630">
              <a:lnSpc>
                <a:spcPct val="100000"/>
              </a:lnSpc>
              <a:spcBef>
                <a:spcPts val="55"/>
              </a:spcBef>
              <a:buSzPct val="86666"/>
              <a:buAutoNum type="arabicPlain"/>
              <a:tabLst>
                <a:tab pos="100330" algn="l"/>
              </a:tabLst>
            </a:pPr>
            <a:r>
              <a:rPr dirty="0" sz="750">
                <a:latin typeface="Arial MT"/>
                <a:cs typeface="Arial MT"/>
              </a:rPr>
              <a:t>bit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history: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Same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as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>
                <a:latin typeface="Arial MT"/>
                <a:cs typeface="Arial MT"/>
              </a:rPr>
              <a:t>always</a:t>
            </a:r>
            <a:r>
              <a:rPr dirty="0" sz="750" spc="65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taken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53" name="object 53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54" name="object 54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7595009" y="34066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58" name="object 5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59" name="object 59" descr=""/>
          <p:cNvSpPr txBox="1"/>
          <p:nvPr/>
        </p:nvSpPr>
        <p:spPr>
          <a:xfrm>
            <a:off x="5716414" y="594823"/>
            <a:ext cx="29832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Hardware 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Implementation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 Branch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Prediction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6255077" y="2432045"/>
            <a:ext cx="3228340" cy="181610"/>
          </a:xfrm>
          <a:prstGeom prst="rect">
            <a:avLst/>
          </a:prstGeom>
          <a:solidFill>
            <a:srgbClr val="CCFF99"/>
          </a:solidFill>
        </p:spPr>
        <p:txBody>
          <a:bodyPr wrap="square" lIns="0" tIns="2095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165"/>
              </a:spcBef>
              <a:tabLst>
                <a:tab pos="626745" algn="l"/>
              </a:tabLst>
            </a:pPr>
            <a:r>
              <a:rPr dirty="0" sz="850">
                <a:latin typeface="Arial MT"/>
                <a:cs typeface="Arial MT"/>
              </a:rPr>
              <a:t>Fig.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16.7</a:t>
            </a:r>
            <a:r>
              <a:rPr dirty="0" sz="850">
                <a:latin typeface="Arial MT"/>
                <a:cs typeface="Arial MT"/>
              </a:rPr>
              <a:t>	Hardware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elements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prediction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scheme.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6223930" y="2750585"/>
            <a:ext cx="3259454" cy="326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mapping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scheme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used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go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from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PC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contents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table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entry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same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used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direct-mapped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caches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(Chapter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18)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62" name="object 62" descr=""/>
          <p:cNvGrpSpPr/>
          <p:nvPr/>
        </p:nvGrpSpPr>
        <p:grpSpPr>
          <a:xfrm>
            <a:off x="7048432" y="1982173"/>
            <a:ext cx="513715" cy="360045"/>
            <a:chOff x="7048432" y="1982173"/>
            <a:chExt cx="513715" cy="360045"/>
          </a:xfrm>
        </p:grpSpPr>
        <p:sp>
          <p:nvSpPr>
            <p:cNvPr id="63" name="object 63" descr=""/>
            <p:cNvSpPr/>
            <p:nvPr/>
          </p:nvSpPr>
          <p:spPr>
            <a:xfrm>
              <a:off x="7052560" y="1986300"/>
              <a:ext cx="505459" cy="351790"/>
            </a:xfrm>
            <a:custGeom>
              <a:avLst/>
              <a:gdLst/>
              <a:ahLst/>
              <a:cxnLst/>
              <a:rect l="l" t="t" r="r" b="b"/>
              <a:pathLst>
                <a:path w="505459" h="351789">
                  <a:moveTo>
                    <a:pt x="0" y="254390"/>
                  </a:moveTo>
                  <a:lnTo>
                    <a:pt x="34130" y="304629"/>
                  </a:lnTo>
                  <a:lnTo>
                    <a:pt x="73136" y="324025"/>
                  </a:lnTo>
                  <a:lnTo>
                    <a:pt x="123518" y="338709"/>
                  </a:lnTo>
                  <a:lnTo>
                    <a:pt x="182838" y="348012"/>
                  </a:lnTo>
                  <a:lnTo>
                    <a:pt x="248659" y="351262"/>
                  </a:lnTo>
                  <a:lnTo>
                    <a:pt x="317717" y="348012"/>
                  </a:lnTo>
                  <a:lnTo>
                    <a:pt x="379218" y="338709"/>
                  </a:lnTo>
                  <a:lnTo>
                    <a:pt x="430933" y="324025"/>
                  </a:lnTo>
                  <a:lnTo>
                    <a:pt x="470632" y="304629"/>
                  </a:lnTo>
                  <a:lnTo>
                    <a:pt x="505065" y="254390"/>
                  </a:lnTo>
                  <a:lnTo>
                    <a:pt x="496085" y="227584"/>
                  </a:lnTo>
                  <a:lnTo>
                    <a:pt x="430933" y="184752"/>
                  </a:lnTo>
                  <a:lnTo>
                    <a:pt x="379218" y="170068"/>
                  </a:lnTo>
                  <a:lnTo>
                    <a:pt x="317717" y="160765"/>
                  </a:lnTo>
                  <a:lnTo>
                    <a:pt x="248659" y="157516"/>
                  </a:lnTo>
                  <a:lnTo>
                    <a:pt x="182838" y="160765"/>
                  </a:lnTo>
                  <a:lnTo>
                    <a:pt x="123518" y="170068"/>
                  </a:lnTo>
                  <a:lnTo>
                    <a:pt x="73136" y="184752"/>
                  </a:lnTo>
                  <a:lnTo>
                    <a:pt x="34130" y="204148"/>
                  </a:lnTo>
                  <a:lnTo>
                    <a:pt x="0" y="254390"/>
                  </a:lnTo>
                  <a:close/>
                </a:path>
                <a:path w="505459" h="351789">
                  <a:moveTo>
                    <a:pt x="260488" y="0"/>
                  </a:moveTo>
                  <a:lnTo>
                    <a:pt x="260488" y="129248"/>
                  </a:lnTo>
                </a:path>
              </a:pathLst>
            </a:custGeom>
            <a:ln w="7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7285126" y="2095513"/>
              <a:ext cx="56515" cy="48895"/>
            </a:xfrm>
            <a:custGeom>
              <a:avLst/>
              <a:gdLst/>
              <a:ahLst/>
              <a:cxnLst/>
              <a:rect l="l" t="t" r="r" b="b"/>
              <a:pathLst>
                <a:path w="56515" h="48894">
                  <a:moveTo>
                    <a:pt x="56055" y="0"/>
                  </a:moveTo>
                  <a:lnTo>
                    <a:pt x="0" y="0"/>
                  </a:lnTo>
                  <a:lnTo>
                    <a:pt x="24084" y="48303"/>
                  </a:lnTo>
                  <a:lnTo>
                    <a:pt x="560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6887475" y="1042141"/>
            <a:ext cx="796290" cy="22923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36195" marR="5080" indent="-24130">
              <a:lnSpc>
                <a:spcPts val="760"/>
              </a:lnSpc>
              <a:spcBef>
                <a:spcPts val="190"/>
              </a:spcBef>
            </a:pPr>
            <a:r>
              <a:rPr dirty="0" sz="700" spc="-10">
                <a:latin typeface="Arial MT"/>
                <a:cs typeface="Arial MT"/>
              </a:rPr>
              <a:t>Addresses</a:t>
            </a:r>
            <a:r>
              <a:rPr dirty="0" sz="700" spc="35">
                <a:latin typeface="Arial MT"/>
                <a:cs typeface="Arial MT"/>
              </a:rPr>
              <a:t> </a:t>
            </a:r>
            <a:r>
              <a:rPr dirty="0" sz="700" spc="-50">
                <a:latin typeface="Arial MT"/>
                <a:cs typeface="Arial MT"/>
              </a:rPr>
              <a:t>of</a:t>
            </a:r>
            <a:r>
              <a:rPr dirty="0" sz="700" spc="-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recent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>
                <a:latin typeface="Arial MT"/>
                <a:cs typeface="Arial MT"/>
              </a:rPr>
              <a:t>branch</a:t>
            </a:r>
            <a:r>
              <a:rPr dirty="0" sz="700" spc="-3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instructions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6920122" y="1268616"/>
            <a:ext cx="1668145" cy="524510"/>
            <a:chOff x="6920122" y="1268616"/>
            <a:chExt cx="1668145" cy="524510"/>
          </a:xfrm>
        </p:grpSpPr>
        <p:sp>
          <p:nvSpPr>
            <p:cNvPr id="67" name="object 67" descr=""/>
            <p:cNvSpPr/>
            <p:nvPr/>
          </p:nvSpPr>
          <p:spPr>
            <a:xfrm>
              <a:off x="6924250" y="1272743"/>
              <a:ext cx="762000" cy="64769"/>
            </a:xfrm>
            <a:custGeom>
              <a:avLst/>
              <a:gdLst/>
              <a:ahLst/>
              <a:cxnLst/>
              <a:rect l="l" t="t" r="r" b="b"/>
              <a:pathLst>
                <a:path w="762000" h="64769">
                  <a:moveTo>
                    <a:pt x="0" y="64493"/>
                  </a:moveTo>
                  <a:lnTo>
                    <a:pt x="761653" y="64493"/>
                  </a:lnTo>
                  <a:lnTo>
                    <a:pt x="761653" y="0"/>
                  </a:lnTo>
                  <a:lnTo>
                    <a:pt x="0" y="0"/>
                  </a:lnTo>
                  <a:lnTo>
                    <a:pt x="0" y="64493"/>
                  </a:lnTo>
                  <a:close/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924250" y="1337243"/>
              <a:ext cx="762000" cy="64769"/>
            </a:xfrm>
            <a:custGeom>
              <a:avLst/>
              <a:gdLst/>
              <a:ahLst/>
              <a:cxnLst/>
              <a:rect l="l" t="t" r="r" b="b"/>
              <a:pathLst>
                <a:path w="762000" h="64769">
                  <a:moveTo>
                    <a:pt x="761653" y="0"/>
                  </a:moveTo>
                  <a:lnTo>
                    <a:pt x="0" y="0"/>
                  </a:lnTo>
                  <a:lnTo>
                    <a:pt x="0" y="64494"/>
                  </a:lnTo>
                  <a:lnTo>
                    <a:pt x="761653" y="64494"/>
                  </a:lnTo>
                  <a:lnTo>
                    <a:pt x="761653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924250" y="1272743"/>
              <a:ext cx="1531620" cy="516255"/>
            </a:xfrm>
            <a:custGeom>
              <a:avLst/>
              <a:gdLst/>
              <a:ahLst/>
              <a:cxnLst/>
              <a:rect l="l" t="t" r="r" b="b"/>
              <a:pathLst>
                <a:path w="1531620" h="516255">
                  <a:moveTo>
                    <a:pt x="0" y="128994"/>
                  </a:moveTo>
                  <a:lnTo>
                    <a:pt x="761653" y="128994"/>
                  </a:lnTo>
                  <a:lnTo>
                    <a:pt x="761653" y="64500"/>
                  </a:lnTo>
                  <a:lnTo>
                    <a:pt x="0" y="64500"/>
                  </a:lnTo>
                  <a:lnTo>
                    <a:pt x="0" y="128994"/>
                  </a:lnTo>
                  <a:close/>
                </a:path>
                <a:path w="1531620" h="516255">
                  <a:moveTo>
                    <a:pt x="0" y="193485"/>
                  </a:moveTo>
                  <a:lnTo>
                    <a:pt x="761653" y="193485"/>
                  </a:lnTo>
                  <a:lnTo>
                    <a:pt x="761653" y="128991"/>
                  </a:lnTo>
                  <a:lnTo>
                    <a:pt x="0" y="128991"/>
                  </a:lnTo>
                  <a:lnTo>
                    <a:pt x="0" y="193485"/>
                  </a:lnTo>
                  <a:close/>
                </a:path>
                <a:path w="1531620" h="516255">
                  <a:moveTo>
                    <a:pt x="0" y="257975"/>
                  </a:moveTo>
                  <a:lnTo>
                    <a:pt x="761653" y="257975"/>
                  </a:lnTo>
                  <a:lnTo>
                    <a:pt x="761653" y="193481"/>
                  </a:lnTo>
                  <a:lnTo>
                    <a:pt x="0" y="193481"/>
                  </a:lnTo>
                  <a:lnTo>
                    <a:pt x="0" y="257975"/>
                  </a:lnTo>
                  <a:close/>
                </a:path>
                <a:path w="1531620" h="516255">
                  <a:moveTo>
                    <a:pt x="0" y="322476"/>
                  </a:moveTo>
                  <a:lnTo>
                    <a:pt x="761653" y="322476"/>
                  </a:lnTo>
                  <a:lnTo>
                    <a:pt x="761653" y="257982"/>
                  </a:lnTo>
                  <a:lnTo>
                    <a:pt x="0" y="257982"/>
                  </a:lnTo>
                  <a:lnTo>
                    <a:pt x="0" y="322476"/>
                  </a:lnTo>
                  <a:close/>
                </a:path>
                <a:path w="1531620" h="516255">
                  <a:moveTo>
                    <a:pt x="0" y="387234"/>
                  </a:moveTo>
                  <a:lnTo>
                    <a:pt x="761653" y="387234"/>
                  </a:lnTo>
                  <a:lnTo>
                    <a:pt x="761653" y="322474"/>
                  </a:lnTo>
                  <a:lnTo>
                    <a:pt x="0" y="322474"/>
                  </a:lnTo>
                  <a:lnTo>
                    <a:pt x="0" y="387234"/>
                  </a:lnTo>
                  <a:close/>
                </a:path>
                <a:path w="1531620" h="516255">
                  <a:moveTo>
                    <a:pt x="0" y="451724"/>
                  </a:moveTo>
                  <a:lnTo>
                    <a:pt x="761653" y="451724"/>
                  </a:lnTo>
                  <a:lnTo>
                    <a:pt x="761653" y="387231"/>
                  </a:lnTo>
                  <a:lnTo>
                    <a:pt x="0" y="387231"/>
                  </a:lnTo>
                  <a:lnTo>
                    <a:pt x="0" y="451724"/>
                  </a:lnTo>
                  <a:close/>
                </a:path>
                <a:path w="1531620" h="516255">
                  <a:moveTo>
                    <a:pt x="0" y="516226"/>
                  </a:moveTo>
                  <a:lnTo>
                    <a:pt x="761653" y="516226"/>
                  </a:lnTo>
                  <a:lnTo>
                    <a:pt x="761653" y="451731"/>
                  </a:lnTo>
                  <a:lnTo>
                    <a:pt x="0" y="451731"/>
                  </a:lnTo>
                  <a:lnTo>
                    <a:pt x="0" y="516226"/>
                  </a:lnTo>
                  <a:close/>
                </a:path>
                <a:path w="1531620" h="516255">
                  <a:moveTo>
                    <a:pt x="761685" y="64493"/>
                  </a:moveTo>
                  <a:lnTo>
                    <a:pt x="1531534" y="64493"/>
                  </a:lnTo>
                  <a:lnTo>
                    <a:pt x="1531534" y="0"/>
                  </a:lnTo>
                  <a:lnTo>
                    <a:pt x="761685" y="0"/>
                  </a:lnTo>
                  <a:lnTo>
                    <a:pt x="761685" y="64493"/>
                  </a:lnTo>
                  <a:close/>
                </a:path>
              </a:pathLst>
            </a:custGeom>
            <a:ln w="7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685935" y="1337243"/>
              <a:ext cx="770255" cy="64769"/>
            </a:xfrm>
            <a:custGeom>
              <a:avLst/>
              <a:gdLst/>
              <a:ahLst/>
              <a:cxnLst/>
              <a:rect l="l" t="t" r="r" b="b"/>
              <a:pathLst>
                <a:path w="770254" h="64769">
                  <a:moveTo>
                    <a:pt x="769849" y="0"/>
                  </a:moveTo>
                  <a:lnTo>
                    <a:pt x="0" y="0"/>
                  </a:lnTo>
                  <a:lnTo>
                    <a:pt x="0" y="64494"/>
                  </a:lnTo>
                  <a:lnTo>
                    <a:pt x="769849" y="64494"/>
                  </a:lnTo>
                  <a:lnTo>
                    <a:pt x="769849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685935" y="1272743"/>
              <a:ext cx="898525" cy="516255"/>
            </a:xfrm>
            <a:custGeom>
              <a:avLst/>
              <a:gdLst/>
              <a:ahLst/>
              <a:cxnLst/>
              <a:rect l="l" t="t" r="r" b="b"/>
              <a:pathLst>
                <a:path w="898525" h="516255">
                  <a:moveTo>
                    <a:pt x="0" y="128994"/>
                  </a:moveTo>
                  <a:lnTo>
                    <a:pt x="769849" y="128994"/>
                  </a:lnTo>
                  <a:lnTo>
                    <a:pt x="769849" y="64500"/>
                  </a:lnTo>
                  <a:lnTo>
                    <a:pt x="0" y="64500"/>
                  </a:lnTo>
                  <a:lnTo>
                    <a:pt x="0" y="128994"/>
                  </a:lnTo>
                  <a:close/>
                </a:path>
                <a:path w="898525" h="516255">
                  <a:moveTo>
                    <a:pt x="0" y="193485"/>
                  </a:moveTo>
                  <a:lnTo>
                    <a:pt x="769849" y="193485"/>
                  </a:lnTo>
                  <a:lnTo>
                    <a:pt x="769849" y="128991"/>
                  </a:lnTo>
                  <a:lnTo>
                    <a:pt x="0" y="128991"/>
                  </a:lnTo>
                  <a:lnTo>
                    <a:pt x="0" y="193485"/>
                  </a:lnTo>
                  <a:close/>
                </a:path>
                <a:path w="898525" h="516255">
                  <a:moveTo>
                    <a:pt x="0" y="257975"/>
                  </a:moveTo>
                  <a:lnTo>
                    <a:pt x="769849" y="257975"/>
                  </a:lnTo>
                  <a:lnTo>
                    <a:pt x="769849" y="193481"/>
                  </a:lnTo>
                  <a:lnTo>
                    <a:pt x="0" y="193481"/>
                  </a:lnTo>
                  <a:lnTo>
                    <a:pt x="0" y="257975"/>
                  </a:lnTo>
                  <a:close/>
                </a:path>
                <a:path w="898525" h="516255">
                  <a:moveTo>
                    <a:pt x="0" y="322476"/>
                  </a:moveTo>
                  <a:lnTo>
                    <a:pt x="769849" y="322476"/>
                  </a:lnTo>
                  <a:lnTo>
                    <a:pt x="769849" y="257982"/>
                  </a:lnTo>
                  <a:lnTo>
                    <a:pt x="0" y="257982"/>
                  </a:lnTo>
                  <a:lnTo>
                    <a:pt x="0" y="322476"/>
                  </a:lnTo>
                  <a:close/>
                </a:path>
                <a:path w="898525" h="516255">
                  <a:moveTo>
                    <a:pt x="0" y="387234"/>
                  </a:moveTo>
                  <a:lnTo>
                    <a:pt x="769849" y="387234"/>
                  </a:lnTo>
                  <a:lnTo>
                    <a:pt x="769849" y="322474"/>
                  </a:lnTo>
                  <a:lnTo>
                    <a:pt x="0" y="322474"/>
                  </a:lnTo>
                  <a:lnTo>
                    <a:pt x="0" y="387234"/>
                  </a:lnTo>
                  <a:close/>
                </a:path>
                <a:path w="898525" h="516255">
                  <a:moveTo>
                    <a:pt x="0" y="451724"/>
                  </a:moveTo>
                  <a:lnTo>
                    <a:pt x="769849" y="451724"/>
                  </a:lnTo>
                  <a:lnTo>
                    <a:pt x="769849" y="387231"/>
                  </a:lnTo>
                  <a:lnTo>
                    <a:pt x="0" y="387231"/>
                  </a:lnTo>
                  <a:lnTo>
                    <a:pt x="0" y="451724"/>
                  </a:lnTo>
                  <a:close/>
                </a:path>
                <a:path w="898525" h="516255">
                  <a:moveTo>
                    <a:pt x="0" y="516226"/>
                  </a:moveTo>
                  <a:lnTo>
                    <a:pt x="769849" y="516226"/>
                  </a:lnTo>
                  <a:lnTo>
                    <a:pt x="769849" y="451731"/>
                  </a:lnTo>
                  <a:lnTo>
                    <a:pt x="0" y="451731"/>
                  </a:lnTo>
                  <a:lnTo>
                    <a:pt x="0" y="516226"/>
                  </a:lnTo>
                  <a:close/>
                </a:path>
                <a:path w="898525" h="516255">
                  <a:moveTo>
                    <a:pt x="769859" y="64493"/>
                  </a:moveTo>
                  <a:lnTo>
                    <a:pt x="898169" y="64493"/>
                  </a:lnTo>
                  <a:lnTo>
                    <a:pt x="898169" y="0"/>
                  </a:lnTo>
                  <a:lnTo>
                    <a:pt x="769859" y="0"/>
                  </a:lnTo>
                  <a:lnTo>
                    <a:pt x="769859" y="64493"/>
                  </a:lnTo>
                  <a:close/>
                </a:path>
              </a:pathLst>
            </a:custGeom>
            <a:ln w="7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8455795" y="1337243"/>
              <a:ext cx="128905" cy="64769"/>
            </a:xfrm>
            <a:custGeom>
              <a:avLst/>
              <a:gdLst/>
              <a:ahLst/>
              <a:cxnLst/>
              <a:rect l="l" t="t" r="r" b="b"/>
              <a:pathLst>
                <a:path w="128904" h="64769">
                  <a:moveTo>
                    <a:pt x="128309" y="0"/>
                  </a:moveTo>
                  <a:lnTo>
                    <a:pt x="0" y="0"/>
                  </a:lnTo>
                  <a:lnTo>
                    <a:pt x="0" y="64494"/>
                  </a:lnTo>
                  <a:lnTo>
                    <a:pt x="128309" y="64494"/>
                  </a:lnTo>
                  <a:lnTo>
                    <a:pt x="128309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8455795" y="1337243"/>
              <a:ext cx="128905" cy="452120"/>
            </a:xfrm>
            <a:custGeom>
              <a:avLst/>
              <a:gdLst/>
              <a:ahLst/>
              <a:cxnLst/>
              <a:rect l="l" t="t" r="r" b="b"/>
              <a:pathLst>
                <a:path w="128904" h="452119">
                  <a:moveTo>
                    <a:pt x="0" y="64494"/>
                  </a:moveTo>
                  <a:lnTo>
                    <a:pt x="128309" y="64494"/>
                  </a:lnTo>
                  <a:lnTo>
                    <a:pt x="128309" y="0"/>
                  </a:lnTo>
                  <a:lnTo>
                    <a:pt x="0" y="0"/>
                  </a:lnTo>
                  <a:lnTo>
                    <a:pt x="0" y="64494"/>
                  </a:lnTo>
                  <a:close/>
                </a:path>
                <a:path w="128904" h="452119">
                  <a:moveTo>
                    <a:pt x="0" y="128985"/>
                  </a:moveTo>
                  <a:lnTo>
                    <a:pt x="128309" y="128985"/>
                  </a:lnTo>
                  <a:lnTo>
                    <a:pt x="128309" y="64491"/>
                  </a:lnTo>
                  <a:lnTo>
                    <a:pt x="0" y="64491"/>
                  </a:lnTo>
                  <a:lnTo>
                    <a:pt x="0" y="128985"/>
                  </a:lnTo>
                  <a:close/>
                </a:path>
                <a:path w="128904" h="452119">
                  <a:moveTo>
                    <a:pt x="0" y="193475"/>
                  </a:moveTo>
                  <a:lnTo>
                    <a:pt x="128309" y="193475"/>
                  </a:lnTo>
                  <a:lnTo>
                    <a:pt x="128309" y="128981"/>
                  </a:lnTo>
                  <a:lnTo>
                    <a:pt x="0" y="128981"/>
                  </a:lnTo>
                  <a:lnTo>
                    <a:pt x="0" y="193475"/>
                  </a:lnTo>
                  <a:close/>
                </a:path>
                <a:path w="128904" h="452119">
                  <a:moveTo>
                    <a:pt x="0" y="257976"/>
                  </a:moveTo>
                  <a:lnTo>
                    <a:pt x="128309" y="257976"/>
                  </a:lnTo>
                  <a:lnTo>
                    <a:pt x="128309" y="193481"/>
                  </a:lnTo>
                  <a:lnTo>
                    <a:pt x="0" y="193481"/>
                  </a:lnTo>
                  <a:lnTo>
                    <a:pt x="0" y="257976"/>
                  </a:lnTo>
                  <a:close/>
                </a:path>
                <a:path w="128904" h="452119">
                  <a:moveTo>
                    <a:pt x="0" y="322734"/>
                  </a:moveTo>
                  <a:lnTo>
                    <a:pt x="128309" y="322734"/>
                  </a:lnTo>
                  <a:lnTo>
                    <a:pt x="128309" y="257974"/>
                  </a:lnTo>
                  <a:lnTo>
                    <a:pt x="0" y="257974"/>
                  </a:lnTo>
                  <a:lnTo>
                    <a:pt x="0" y="322734"/>
                  </a:lnTo>
                  <a:close/>
                </a:path>
                <a:path w="128904" h="452119">
                  <a:moveTo>
                    <a:pt x="0" y="387224"/>
                  </a:moveTo>
                  <a:lnTo>
                    <a:pt x="128309" y="387224"/>
                  </a:lnTo>
                  <a:lnTo>
                    <a:pt x="128309" y="322731"/>
                  </a:lnTo>
                  <a:lnTo>
                    <a:pt x="0" y="322731"/>
                  </a:lnTo>
                  <a:lnTo>
                    <a:pt x="0" y="387224"/>
                  </a:lnTo>
                  <a:close/>
                </a:path>
                <a:path w="128904" h="452119">
                  <a:moveTo>
                    <a:pt x="0" y="451725"/>
                  </a:moveTo>
                  <a:lnTo>
                    <a:pt x="128309" y="451725"/>
                  </a:lnTo>
                  <a:lnTo>
                    <a:pt x="128309" y="387231"/>
                  </a:lnTo>
                  <a:lnTo>
                    <a:pt x="0" y="387231"/>
                  </a:lnTo>
                  <a:lnTo>
                    <a:pt x="0" y="451725"/>
                  </a:lnTo>
                  <a:close/>
                </a:path>
              </a:pathLst>
            </a:custGeom>
            <a:ln w="7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7841722" y="1042141"/>
            <a:ext cx="422909" cy="22923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71755">
              <a:lnSpc>
                <a:spcPts val="760"/>
              </a:lnSpc>
              <a:spcBef>
                <a:spcPts val="190"/>
              </a:spcBef>
            </a:pPr>
            <a:r>
              <a:rPr dirty="0" sz="700" spc="-10">
                <a:latin typeface="Arial MT"/>
                <a:cs typeface="Arial MT"/>
              </a:rPr>
              <a:t>Target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25">
                <a:latin typeface="Arial MT"/>
                <a:cs typeface="Arial MT"/>
              </a:rPr>
              <a:t>addresses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6346702" y="1506567"/>
            <a:ext cx="2241550" cy="767080"/>
            <a:chOff x="6346702" y="1506567"/>
            <a:chExt cx="2241550" cy="767080"/>
          </a:xfrm>
        </p:grpSpPr>
        <p:sp>
          <p:nvSpPr>
            <p:cNvPr id="76" name="object 76" descr=""/>
            <p:cNvSpPr/>
            <p:nvPr/>
          </p:nvSpPr>
          <p:spPr>
            <a:xfrm>
              <a:off x="6924250" y="1917958"/>
              <a:ext cx="762000" cy="64769"/>
            </a:xfrm>
            <a:custGeom>
              <a:avLst/>
              <a:gdLst/>
              <a:ahLst/>
              <a:cxnLst/>
              <a:rect l="l" t="t" r="r" b="b"/>
              <a:pathLst>
                <a:path w="762000" h="64769">
                  <a:moveTo>
                    <a:pt x="761653" y="0"/>
                  </a:moveTo>
                  <a:lnTo>
                    <a:pt x="0" y="0"/>
                  </a:lnTo>
                  <a:lnTo>
                    <a:pt x="0" y="64493"/>
                  </a:lnTo>
                  <a:lnTo>
                    <a:pt x="761653" y="64493"/>
                  </a:lnTo>
                  <a:lnTo>
                    <a:pt x="761653" y="0"/>
                  </a:lnTo>
                  <a:close/>
                </a:path>
              </a:pathLst>
            </a:custGeom>
            <a:solidFill>
              <a:srgbClr val="00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924250" y="1917958"/>
              <a:ext cx="762000" cy="64769"/>
            </a:xfrm>
            <a:custGeom>
              <a:avLst/>
              <a:gdLst/>
              <a:ahLst/>
              <a:cxnLst/>
              <a:rect l="l" t="t" r="r" b="b"/>
              <a:pathLst>
                <a:path w="762000" h="64769">
                  <a:moveTo>
                    <a:pt x="0" y="64493"/>
                  </a:moveTo>
                  <a:lnTo>
                    <a:pt x="761653" y="64493"/>
                  </a:lnTo>
                  <a:lnTo>
                    <a:pt x="761653" y="0"/>
                  </a:lnTo>
                  <a:lnTo>
                    <a:pt x="0" y="0"/>
                  </a:lnTo>
                  <a:lnTo>
                    <a:pt x="0" y="64493"/>
                  </a:lnTo>
                  <a:close/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7685935" y="1917958"/>
              <a:ext cx="770255" cy="64769"/>
            </a:xfrm>
            <a:custGeom>
              <a:avLst/>
              <a:gdLst/>
              <a:ahLst/>
              <a:cxnLst/>
              <a:rect l="l" t="t" r="r" b="b"/>
              <a:pathLst>
                <a:path w="770254" h="64769">
                  <a:moveTo>
                    <a:pt x="769849" y="0"/>
                  </a:moveTo>
                  <a:lnTo>
                    <a:pt x="0" y="0"/>
                  </a:lnTo>
                  <a:lnTo>
                    <a:pt x="0" y="64493"/>
                  </a:lnTo>
                  <a:lnTo>
                    <a:pt x="769849" y="64493"/>
                  </a:lnTo>
                  <a:lnTo>
                    <a:pt x="769849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685935" y="1917958"/>
              <a:ext cx="770255" cy="64769"/>
            </a:xfrm>
            <a:custGeom>
              <a:avLst/>
              <a:gdLst/>
              <a:ahLst/>
              <a:cxnLst/>
              <a:rect l="l" t="t" r="r" b="b"/>
              <a:pathLst>
                <a:path w="770254" h="64769">
                  <a:moveTo>
                    <a:pt x="0" y="64493"/>
                  </a:moveTo>
                  <a:lnTo>
                    <a:pt x="769849" y="64493"/>
                  </a:lnTo>
                  <a:lnTo>
                    <a:pt x="769849" y="0"/>
                  </a:lnTo>
                  <a:lnTo>
                    <a:pt x="0" y="0"/>
                  </a:lnTo>
                  <a:lnTo>
                    <a:pt x="0" y="64493"/>
                  </a:lnTo>
                  <a:close/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455795" y="1917958"/>
              <a:ext cx="128905" cy="64769"/>
            </a:xfrm>
            <a:custGeom>
              <a:avLst/>
              <a:gdLst/>
              <a:ahLst/>
              <a:cxnLst/>
              <a:rect l="l" t="t" r="r" b="b"/>
              <a:pathLst>
                <a:path w="128904" h="64769">
                  <a:moveTo>
                    <a:pt x="128309" y="0"/>
                  </a:moveTo>
                  <a:lnTo>
                    <a:pt x="0" y="0"/>
                  </a:lnTo>
                  <a:lnTo>
                    <a:pt x="0" y="64493"/>
                  </a:lnTo>
                  <a:lnTo>
                    <a:pt x="128309" y="64493"/>
                  </a:lnTo>
                  <a:lnTo>
                    <a:pt x="128309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350830" y="1917958"/>
              <a:ext cx="2233295" cy="327025"/>
            </a:xfrm>
            <a:custGeom>
              <a:avLst/>
              <a:gdLst/>
              <a:ahLst/>
              <a:cxnLst/>
              <a:rect l="l" t="t" r="r" b="b"/>
              <a:pathLst>
                <a:path w="2233295" h="327025">
                  <a:moveTo>
                    <a:pt x="2104965" y="64493"/>
                  </a:moveTo>
                  <a:lnTo>
                    <a:pt x="2233275" y="64493"/>
                  </a:lnTo>
                  <a:lnTo>
                    <a:pt x="2233275" y="0"/>
                  </a:lnTo>
                  <a:lnTo>
                    <a:pt x="2104965" y="0"/>
                  </a:lnTo>
                  <a:lnTo>
                    <a:pt x="2104965" y="64493"/>
                  </a:lnTo>
                  <a:close/>
                </a:path>
                <a:path w="2233295" h="327025">
                  <a:moveTo>
                    <a:pt x="0" y="326582"/>
                  </a:moveTo>
                  <a:lnTo>
                    <a:pt x="673552" y="326582"/>
                  </a:lnTo>
                </a:path>
              </a:pathLst>
            </a:custGeom>
            <a:ln w="7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004410" y="2216539"/>
              <a:ext cx="48260" cy="57150"/>
            </a:xfrm>
            <a:custGeom>
              <a:avLst/>
              <a:gdLst/>
              <a:ahLst/>
              <a:cxnLst/>
              <a:rect l="l" t="t" r="r" b="b"/>
              <a:pathLst>
                <a:path w="48259" h="57150">
                  <a:moveTo>
                    <a:pt x="0" y="0"/>
                  </a:moveTo>
                  <a:lnTo>
                    <a:pt x="0" y="56528"/>
                  </a:lnTo>
                  <a:lnTo>
                    <a:pt x="48148" y="2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6607439" y="1534568"/>
              <a:ext cx="0" cy="710565"/>
            </a:xfrm>
            <a:custGeom>
              <a:avLst/>
              <a:gdLst/>
              <a:ahLst/>
              <a:cxnLst/>
              <a:rect l="l" t="t" r="r" b="b"/>
              <a:pathLst>
                <a:path w="0" h="710564">
                  <a:moveTo>
                    <a:pt x="0" y="709972"/>
                  </a:moveTo>
                  <a:lnTo>
                    <a:pt x="0" y="0"/>
                  </a:lnTo>
                </a:path>
              </a:pathLst>
            </a:custGeom>
            <a:ln w="7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587467" y="2224493"/>
              <a:ext cx="48260" cy="48895"/>
            </a:xfrm>
            <a:custGeom>
              <a:avLst/>
              <a:gdLst/>
              <a:ahLst/>
              <a:cxnLst/>
              <a:rect l="l" t="t" r="r" b="b"/>
              <a:pathLst>
                <a:path w="48259" h="48894">
                  <a:moveTo>
                    <a:pt x="24075" y="0"/>
                  </a:moveTo>
                  <a:lnTo>
                    <a:pt x="13506" y="1535"/>
                  </a:lnTo>
                  <a:lnTo>
                    <a:pt x="5986" y="6107"/>
                  </a:lnTo>
                  <a:lnTo>
                    <a:pt x="1492" y="13665"/>
                  </a:lnTo>
                  <a:lnTo>
                    <a:pt x="0" y="24157"/>
                  </a:lnTo>
                  <a:lnTo>
                    <a:pt x="1492" y="34803"/>
                  </a:lnTo>
                  <a:lnTo>
                    <a:pt x="5986" y="42437"/>
                  </a:lnTo>
                  <a:lnTo>
                    <a:pt x="13506" y="47036"/>
                  </a:lnTo>
                  <a:lnTo>
                    <a:pt x="24075" y="48574"/>
                  </a:lnTo>
                  <a:lnTo>
                    <a:pt x="34647" y="47036"/>
                  </a:lnTo>
                  <a:lnTo>
                    <a:pt x="42165" y="42437"/>
                  </a:lnTo>
                  <a:lnTo>
                    <a:pt x="46657" y="34803"/>
                  </a:lnTo>
                  <a:lnTo>
                    <a:pt x="48148" y="24157"/>
                  </a:lnTo>
                  <a:lnTo>
                    <a:pt x="46657" y="13665"/>
                  </a:lnTo>
                  <a:lnTo>
                    <a:pt x="42165" y="6107"/>
                  </a:lnTo>
                  <a:lnTo>
                    <a:pt x="34647" y="1535"/>
                  </a:lnTo>
                  <a:lnTo>
                    <a:pt x="24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607439" y="1534568"/>
              <a:ext cx="288925" cy="0"/>
            </a:xfrm>
            <a:custGeom>
              <a:avLst/>
              <a:gdLst/>
              <a:ahLst/>
              <a:cxnLst/>
              <a:rect l="l" t="t" r="r" b="b"/>
              <a:pathLst>
                <a:path w="288925" h="0">
                  <a:moveTo>
                    <a:pt x="0" y="0"/>
                  </a:moveTo>
                  <a:lnTo>
                    <a:pt x="288633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876101" y="1506567"/>
              <a:ext cx="48260" cy="57150"/>
            </a:xfrm>
            <a:custGeom>
              <a:avLst/>
              <a:gdLst/>
              <a:ahLst/>
              <a:cxnLst/>
              <a:rect l="l" t="t" r="r" b="b"/>
              <a:pathLst>
                <a:path w="48259" h="57150">
                  <a:moveTo>
                    <a:pt x="0" y="0"/>
                  </a:moveTo>
                  <a:lnTo>
                    <a:pt x="0" y="56536"/>
                  </a:lnTo>
                  <a:lnTo>
                    <a:pt x="48146" y="2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 txBox="1"/>
          <p:nvPr/>
        </p:nvSpPr>
        <p:spPr>
          <a:xfrm>
            <a:off x="6125822" y="1171085"/>
            <a:ext cx="468630" cy="142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50">
                <a:latin typeface="Arial MT"/>
                <a:cs typeface="Arial MT"/>
              </a:rPr>
              <a:t>Low-</a:t>
            </a:r>
            <a:r>
              <a:rPr dirty="0" sz="750" spc="-10">
                <a:latin typeface="Arial MT"/>
                <a:cs typeface="Arial MT"/>
              </a:rPr>
              <a:t>order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6149897" y="1284199"/>
            <a:ext cx="415925" cy="25463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27940" marR="5080" indent="-15875">
              <a:lnSpc>
                <a:spcPts val="890"/>
              </a:lnSpc>
              <a:spcBef>
                <a:spcPts val="150"/>
              </a:spcBef>
            </a:pPr>
            <a:r>
              <a:rPr dirty="0" sz="750">
                <a:latin typeface="Arial MT"/>
                <a:cs typeface="Arial MT"/>
              </a:rPr>
              <a:t>bits</a:t>
            </a:r>
            <a:r>
              <a:rPr dirty="0" sz="750" spc="55">
                <a:latin typeface="Arial MT"/>
                <a:cs typeface="Arial MT"/>
              </a:rPr>
              <a:t> </a:t>
            </a:r>
            <a:r>
              <a:rPr dirty="0" sz="750" spc="-20">
                <a:latin typeface="Arial MT"/>
                <a:cs typeface="Arial MT"/>
              </a:rPr>
              <a:t>used</a:t>
            </a:r>
            <a:r>
              <a:rPr dirty="0" sz="750">
                <a:latin typeface="Arial MT"/>
                <a:cs typeface="Arial MT"/>
              </a:rPr>
              <a:t> as</a:t>
            </a:r>
            <a:r>
              <a:rPr dirty="0" sz="750" spc="60">
                <a:latin typeface="Arial MT"/>
                <a:cs typeface="Arial MT"/>
              </a:rPr>
              <a:t> </a:t>
            </a:r>
            <a:r>
              <a:rPr dirty="0" sz="750" spc="-10">
                <a:latin typeface="Arial MT"/>
                <a:cs typeface="Arial MT"/>
              </a:rPr>
              <a:t>index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7557334" y="1594941"/>
            <a:ext cx="1864995" cy="706755"/>
            <a:chOff x="7557334" y="1594941"/>
            <a:chExt cx="1864995" cy="706755"/>
          </a:xfrm>
        </p:grpSpPr>
        <p:sp>
          <p:nvSpPr>
            <p:cNvPr id="90" name="object 90" descr=""/>
            <p:cNvSpPr/>
            <p:nvPr/>
          </p:nvSpPr>
          <p:spPr>
            <a:xfrm>
              <a:off x="7561462" y="2244540"/>
              <a:ext cx="1315085" cy="0"/>
            </a:xfrm>
            <a:custGeom>
              <a:avLst/>
              <a:gdLst/>
              <a:ahLst/>
              <a:cxnLst/>
              <a:rect l="l" t="t" r="r" b="b"/>
              <a:pathLst>
                <a:path w="1315084" h="0">
                  <a:moveTo>
                    <a:pt x="0" y="0"/>
                  </a:moveTo>
                  <a:lnTo>
                    <a:pt x="1315070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8856496" y="2216539"/>
              <a:ext cx="56515" cy="57150"/>
            </a:xfrm>
            <a:custGeom>
              <a:avLst/>
              <a:gdLst/>
              <a:ahLst/>
              <a:cxnLst/>
              <a:rect l="l" t="t" r="r" b="b"/>
              <a:pathLst>
                <a:path w="56515" h="57150">
                  <a:moveTo>
                    <a:pt x="0" y="0"/>
                  </a:moveTo>
                  <a:lnTo>
                    <a:pt x="0" y="56528"/>
                  </a:lnTo>
                  <a:lnTo>
                    <a:pt x="56163" y="2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8904667" y="1599069"/>
              <a:ext cx="513715" cy="698500"/>
            </a:xfrm>
            <a:custGeom>
              <a:avLst/>
              <a:gdLst/>
              <a:ahLst/>
              <a:cxnLst/>
              <a:rect l="l" t="t" r="r" b="b"/>
              <a:pathLst>
                <a:path w="513715" h="698500">
                  <a:moveTo>
                    <a:pt x="196514" y="0"/>
                  </a:moveTo>
                  <a:lnTo>
                    <a:pt x="324504" y="80677"/>
                  </a:lnTo>
                  <a:lnTo>
                    <a:pt x="324504" y="242052"/>
                  </a:lnTo>
                  <a:lnTo>
                    <a:pt x="196514" y="322730"/>
                  </a:lnTo>
                  <a:lnTo>
                    <a:pt x="196514" y="0"/>
                  </a:lnTo>
                  <a:close/>
                </a:path>
                <a:path w="513715" h="698500">
                  <a:moveTo>
                    <a:pt x="0" y="601272"/>
                  </a:moveTo>
                  <a:lnTo>
                    <a:pt x="34441" y="651517"/>
                  </a:lnTo>
                  <a:lnTo>
                    <a:pt x="74159" y="670913"/>
                  </a:lnTo>
                  <a:lnTo>
                    <a:pt x="125910" y="685598"/>
                  </a:lnTo>
                  <a:lnTo>
                    <a:pt x="187471" y="694901"/>
                  </a:lnTo>
                  <a:lnTo>
                    <a:pt x="256619" y="698151"/>
                  </a:lnTo>
                  <a:lnTo>
                    <a:pt x="325805" y="694901"/>
                  </a:lnTo>
                  <a:lnTo>
                    <a:pt x="387377" y="685598"/>
                  </a:lnTo>
                  <a:lnTo>
                    <a:pt x="439120" y="670913"/>
                  </a:lnTo>
                  <a:lnTo>
                    <a:pt x="478821" y="651517"/>
                  </a:lnTo>
                  <a:lnTo>
                    <a:pt x="513239" y="601272"/>
                  </a:lnTo>
                  <a:lnTo>
                    <a:pt x="504266" y="577934"/>
                  </a:lnTo>
                  <a:lnTo>
                    <a:pt x="439120" y="538837"/>
                  </a:lnTo>
                  <a:lnTo>
                    <a:pt x="387377" y="524877"/>
                  </a:lnTo>
                  <a:lnTo>
                    <a:pt x="325805" y="515842"/>
                  </a:lnTo>
                  <a:lnTo>
                    <a:pt x="256619" y="512630"/>
                  </a:lnTo>
                  <a:lnTo>
                    <a:pt x="187471" y="515842"/>
                  </a:lnTo>
                  <a:lnTo>
                    <a:pt x="125910" y="524877"/>
                  </a:lnTo>
                  <a:lnTo>
                    <a:pt x="74159" y="538837"/>
                  </a:lnTo>
                  <a:lnTo>
                    <a:pt x="34441" y="556823"/>
                  </a:lnTo>
                  <a:lnTo>
                    <a:pt x="0" y="601272"/>
                  </a:lnTo>
                  <a:close/>
                </a:path>
              </a:pathLst>
            </a:custGeom>
            <a:ln w="7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 descr=""/>
          <p:cNvSpPr txBox="1"/>
          <p:nvPr/>
        </p:nvSpPr>
        <p:spPr>
          <a:xfrm>
            <a:off x="9028269" y="2131114"/>
            <a:ext cx="270510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 MT"/>
                <a:cs typeface="Arial MT"/>
              </a:rPr>
              <a:t>Logic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94" name="object 94" descr=""/>
          <p:cNvGrpSpPr/>
          <p:nvPr/>
        </p:nvGrpSpPr>
        <p:grpSpPr>
          <a:xfrm>
            <a:off x="8070574" y="1530440"/>
            <a:ext cx="1123315" cy="678180"/>
            <a:chOff x="8070574" y="1530440"/>
            <a:chExt cx="1123315" cy="678180"/>
          </a:xfrm>
        </p:grpSpPr>
        <p:sp>
          <p:nvSpPr>
            <p:cNvPr id="95" name="object 95" descr=""/>
            <p:cNvSpPr/>
            <p:nvPr/>
          </p:nvSpPr>
          <p:spPr>
            <a:xfrm>
              <a:off x="8523574" y="2180039"/>
              <a:ext cx="353060" cy="0"/>
            </a:xfrm>
            <a:custGeom>
              <a:avLst/>
              <a:gdLst/>
              <a:ahLst/>
              <a:cxnLst/>
              <a:rect l="l" t="t" r="r" b="b"/>
              <a:pathLst>
                <a:path w="353059" h="0">
                  <a:moveTo>
                    <a:pt x="0" y="0"/>
                  </a:moveTo>
                  <a:lnTo>
                    <a:pt x="352958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8856496" y="2152038"/>
              <a:ext cx="56515" cy="56515"/>
            </a:xfrm>
            <a:custGeom>
              <a:avLst/>
              <a:gdLst/>
              <a:ahLst/>
              <a:cxnLst/>
              <a:rect l="l" t="t" r="r" b="b"/>
              <a:pathLst>
                <a:path w="56515" h="56514">
                  <a:moveTo>
                    <a:pt x="0" y="0"/>
                  </a:moveTo>
                  <a:lnTo>
                    <a:pt x="0" y="56268"/>
                  </a:lnTo>
                  <a:lnTo>
                    <a:pt x="56163" y="2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8523574" y="1986300"/>
              <a:ext cx="0" cy="194310"/>
            </a:xfrm>
            <a:custGeom>
              <a:avLst/>
              <a:gdLst/>
              <a:ahLst/>
              <a:cxnLst/>
              <a:rect l="l" t="t" r="r" b="b"/>
              <a:pathLst>
                <a:path w="0" h="194310">
                  <a:moveTo>
                    <a:pt x="0" y="0"/>
                  </a:moveTo>
                  <a:lnTo>
                    <a:pt x="0" y="193738"/>
                  </a:lnTo>
                </a:path>
              </a:pathLst>
            </a:custGeom>
            <a:ln w="7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137193" y="1869650"/>
              <a:ext cx="56515" cy="234315"/>
            </a:xfrm>
            <a:custGeom>
              <a:avLst/>
              <a:gdLst/>
              <a:ahLst/>
              <a:cxnLst/>
              <a:rect l="l" t="t" r="r" b="b"/>
              <a:pathLst>
                <a:path w="56515" h="234314">
                  <a:moveTo>
                    <a:pt x="32080" y="201714"/>
                  </a:moveTo>
                  <a:lnTo>
                    <a:pt x="24091" y="201714"/>
                  </a:lnTo>
                  <a:lnTo>
                    <a:pt x="24091" y="233832"/>
                  </a:lnTo>
                  <a:lnTo>
                    <a:pt x="32080" y="233832"/>
                  </a:lnTo>
                  <a:lnTo>
                    <a:pt x="32080" y="201714"/>
                  </a:lnTo>
                  <a:close/>
                </a:path>
                <a:path w="56515" h="234314">
                  <a:moveTo>
                    <a:pt x="32080" y="145186"/>
                  </a:moveTo>
                  <a:lnTo>
                    <a:pt x="24091" y="145186"/>
                  </a:lnTo>
                  <a:lnTo>
                    <a:pt x="24091" y="177558"/>
                  </a:lnTo>
                  <a:lnTo>
                    <a:pt x="32080" y="177558"/>
                  </a:lnTo>
                  <a:lnTo>
                    <a:pt x="32080" y="145186"/>
                  </a:lnTo>
                  <a:close/>
                </a:path>
                <a:path w="56515" h="234314">
                  <a:moveTo>
                    <a:pt x="32080" y="88658"/>
                  </a:moveTo>
                  <a:lnTo>
                    <a:pt x="24091" y="88658"/>
                  </a:lnTo>
                  <a:lnTo>
                    <a:pt x="24091" y="121031"/>
                  </a:lnTo>
                  <a:lnTo>
                    <a:pt x="32080" y="121031"/>
                  </a:lnTo>
                  <a:lnTo>
                    <a:pt x="32080" y="88658"/>
                  </a:lnTo>
                  <a:close/>
                </a:path>
                <a:path w="56515" h="234314">
                  <a:moveTo>
                    <a:pt x="56159" y="48310"/>
                  </a:moveTo>
                  <a:lnTo>
                    <a:pt x="32080" y="0"/>
                  </a:lnTo>
                  <a:lnTo>
                    <a:pt x="0" y="48310"/>
                  </a:lnTo>
                  <a:lnTo>
                    <a:pt x="24091" y="48310"/>
                  </a:lnTo>
                  <a:lnTo>
                    <a:pt x="24091" y="64490"/>
                  </a:lnTo>
                  <a:lnTo>
                    <a:pt x="32080" y="64490"/>
                  </a:lnTo>
                  <a:lnTo>
                    <a:pt x="32080" y="48310"/>
                  </a:lnTo>
                  <a:lnTo>
                    <a:pt x="56159" y="48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8074702" y="1857309"/>
              <a:ext cx="994410" cy="64769"/>
            </a:xfrm>
            <a:custGeom>
              <a:avLst/>
              <a:gdLst/>
              <a:ahLst/>
              <a:cxnLst/>
              <a:rect l="l" t="t" r="r" b="b"/>
              <a:pathLst>
                <a:path w="994409" h="64769">
                  <a:moveTo>
                    <a:pt x="0" y="64490"/>
                  </a:moveTo>
                  <a:lnTo>
                    <a:pt x="0" y="0"/>
                  </a:lnTo>
                </a:path>
                <a:path w="994409" h="64769">
                  <a:moveTo>
                    <a:pt x="0" y="0"/>
                  </a:moveTo>
                  <a:lnTo>
                    <a:pt x="994188" y="0"/>
                  </a:lnTo>
                </a:path>
              </a:pathLst>
            </a:custGeom>
            <a:ln w="79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9049174" y="1829308"/>
              <a:ext cx="56515" cy="57150"/>
            </a:xfrm>
            <a:custGeom>
              <a:avLst/>
              <a:gdLst/>
              <a:ahLst/>
              <a:cxnLst/>
              <a:rect l="l" t="t" r="r" b="b"/>
              <a:pathLst>
                <a:path w="56515" h="57150">
                  <a:moveTo>
                    <a:pt x="0" y="0"/>
                  </a:moveTo>
                  <a:lnTo>
                    <a:pt x="0" y="56525"/>
                  </a:lnTo>
                  <a:lnTo>
                    <a:pt x="56055" y="2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8972871" y="1663827"/>
              <a:ext cx="96520" cy="0"/>
            </a:xfrm>
            <a:custGeom>
              <a:avLst/>
              <a:gdLst/>
              <a:ahLst/>
              <a:cxnLst/>
              <a:rect l="l" t="t" r="r" b="b"/>
              <a:pathLst>
                <a:path w="96520" h="0">
                  <a:moveTo>
                    <a:pt x="0" y="0"/>
                  </a:moveTo>
                  <a:lnTo>
                    <a:pt x="96019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9049174" y="1635559"/>
              <a:ext cx="56515" cy="57150"/>
            </a:xfrm>
            <a:custGeom>
              <a:avLst/>
              <a:gdLst/>
              <a:ahLst/>
              <a:cxnLst/>
              <a:rect l="l" t="t" r="r" b="b"/>
              <a:pathLst>
                <a:path w="56515" h="57150">
                  <a:moveTo>
                    <a:pt x="0" y="0"/>
                  </a:moveTo>
                  <a:lnTo>
                    <a:pt x="0" y="56536"/>
                  </a:lnTo>
                  <a:lnTo>
                    <a:pt x="56055" y="244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972871" y="1534568"/>
              <a:ext cx="0" cy="129539"/>
            </a:xfrm>
            <a:custGeom>
              <a:avLst/>
              <a:gdLst/>
              <a:ahLst/>
              <a:cxnLst/>
              <a:rect l="l" t="t" r="r" b="b"/>
              <a:pathLst>
                <a:path w="0" h="129539">
                  <a:moveTo>
                    <a:pt x="0" y="129258"/>
                  </a:moveTo>
                  <a:lnTo>
                    <a:pt x="0" y="0"/>
                  </a:lnTo>
                </a:path>
              </a:pathLst>
            </a:custGeom>
            <a:ln w="79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6093811" y="2066619"/>
            <a:ext cx="264795" cy="2724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60325" marR="5080" indent="-4826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 MT"/>
                <a:cs typeface="Arial MT"/>
              </a:rPr>
              <a:t>From </a:t>
            </a:r>
            <a:r>
              <a:rPr dirty="0" sz="800" spc="-25">
                <a:latin typeface="Arial MT"/>
                <a:cs typeface="Arial MT"/>
              </a:rPr>
              <a:t>PC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5" name="object 105" descr=""/>
          <p:cNvSpPr txBox="1"/>
          <p:nvPr/>
        </p:nvSpPr>
        <p:spPr>
          <a:xfrm>
            <a:off x="8386933" y="1042141"/>
            <a:ext cx="892810" cy="33718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44450" marR="603250" indent="-32384">
              <a:lnSpc>
                <a:spcPts val="760"/>
              </a:lnSpc>
              <a:spcBef>
                <a:spcPts val="190"/>
              </a:spcBef>
            </a:pPr>
            <a:r>
              <a:rPr dirty="0" sz="700" spc="-20">
                <a:latin typeface="Arial MT"/>
                <a:cs typeface="Arial MT"/>
              </a:rPr>
              <a:t>History</a:t>
            </a:r>
            <a:r>
              <a:rPr dirty="0" sz="700" spc="50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bit(s)</a:t>
            </a:r>
            <a:endParaRPr sz="700">
              <a:latin typeface="Arial MT"/>
              <a:cs typeface="Arial MT"/>
            </a:endParaRPr>
          </a:p>
          <a:p>
            <a:pPr marL="292735">
              <a:lnSpc>
                <a:spcPts val="835"/>
              </a:lnSpc>
            </a:pPr>
            <a:r>
              <a:rPr dirty="0" sz="800" spc="-10">
                <a:latin typeface="Arial MT"/>
                <a:cs typeface="Arial MT"/>
              </a:rPr>
              <a:t>Incremented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6" name="object 106" descr=""/>
          <p:cNvSpPr txBox="1"/>
          <p:nvPr/>
        </p:nvSpPr>
        <p:spPr>
          <a:xfrm>
            <a:off x="8891967" y="1348692"/>
            <a:ext cx="17589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 MT"/>
                <a:cs typeface="Arial MT"/>
              </a:rPr>
              <a:t>PC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07" name="object 107" descr=""/>
          <p:cNvGrpSpPr/>
          <p:nvPr/>
        </p:nvGrpSpPr>
        <p:grpSpPr>
          <a:xfrm>
            <a:off x="9225044" y="1748620"/>
            <a:ext cx="201295" cy="57150"/>
            <a:chOff x="9225044" y="1748620"/>
            <a:chExt cx="201295" cy="57150"/>
          </a:xfrm>
        </p:grpSpPr>
        <p:sp>
          <p:nvSpPr>
            <p:cNvPr id="108" name="object 108" descr=""/>
            <p:cNvSpPr/>
            <p:nvPr/>
          </p:nvSpPr>
          <p:spPr>
            <a:xfrm>
              <a:off x="9229172" y="1776621"/>
              <a:ext cx="160655" cy="0"/>
            </a:xfrm>
            <a:custGeom>
              <a:avLst/>
              <a:gdLst/>
              <a:ahLst/>
              <a:cxnLst/>
              <a:rect l="l" t="t" r="r" b="b"/>
              <a:pathLst>
                <a:path w="160654" h="0">
                  <a:moveTo>
                    <a:pt x="0" y="0"/>
                  </a:moveTo>
                  <a:lnTo>
                    <a:pt x="160600" y="0"/>
                  </a:lnTo>
                </a:path>
              </a:pathLst>
            </a:custGeom>
            <a:ln w="79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9369736" y="1748620"/>
              <a:ext cx="56515" cy="57150"/>
            </a:xfrm>
            <a:custGeom>
              <a:avLst/>
              <a:gdLst/>
              <a:ahLst/>
              <a:cxnLst/>
              <a:rect l="l" t="t" r="r" b="b"/>
              <a:pathLst>
                <a:path w="56515" h="57150">
                  <a:moveTo>
                    <a:pt x="0" y="0"/>
                  </a:moveTo>
                  <a:lnTo>
                    <a:pt x="0" y="56535"/>
                  </a:lnTo>
                  <a:lnTo>
                    <a:pt x="56161" y="2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 txBox="1"/>
          <p:nvPr/>
        </p:nvSpPr>
        <p:spPr>
          <a:xfrm>
            <a:off x="9405207" y="1558361"/>
            <a:ext cx="239395" cy="2724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44450" marR="5080" indent="-32384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 MT"/>
                <a:cs typeface="Arial MT"/>
              </a:rPr>
              <a:t>Next </a:t>
            </a:r>
            <a:r>
              <a:rPr dirty="0" sz="800" spc="-25">
                <a:latin typeface="Arial MT"/>
                <a:cs typeface="Arial MT"/>
              </a:rPr>
              <a:t>PC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9108410" y="1559911"/>
            <a:ext cx="74930" cy="34861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700" spc="-50">
                <a:latin typeface="Arial MT"/>
                <a:cs typeface="Arial MT"/>
              </a:rPr>
              <a:t>0</a:t>
            </a:r>
            <a:endParaRPr sz="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700" spc="-5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7062608" y="2163494"/>
            <a:ext cx="638175" cy="1517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 MT"/>
                <a:cs typeface="Arial MT"/>
              </a:rPr>
              <a:t>Compare</a:t>
            </a:r>
            <a:r>
              <a:rPr dirty="0" sz="800" spc="409">
                <a:latin typeface="Arial MT"/>
                <a:cs typeface="Arial MT"/>
              </a:rPr>
              <a:t> </a:t>
            </a:r>
            <a:r>
              <a:rPr dirty="0" baseline="40740" sz="1125" spc="-75">
                <a:latin typeface="Arial MT"/>
                <a:cs typeface="Arial MT"/>
              </a:rPr>
              <a:t>=</a:t>
            </a:r>
            <a:endParaRPr baseline="40740" sz="1125">
              <a:latin typeface="Arial MT"/>
              <a:cs typeface="Arial MT"/>
            </a:endParaRPr>
          </a:p>
        </p:txBody>
      </p:sp>
      <p:sp>
        <p:nvSpPr>
          <p:cNvPr id="113" name="object 113" descr=""/>
          <p:cNvSpPr txBox="1"/>
          <p:nvPr/>
        </p:nvSpPr>
        <p:spPr>
          <a:xfrm>
            <a:off x="6927684" y="1784487"/>
            <a:ext cx="80772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25">
                <a:latin typeface="Arial MT"/>
                <a:cs typeface="Arial MT"/>
              </a:rPr>
              <a:t>Read-</a:t>
            </a:r>
            <a:r>
              <a:rPr dirty="0" sz="700">
                <a:latin typeface="Arial MT"/>
                <a:cs typeface="Arial MT"/>
              </a:rPr>
              <a:t>out</a:t>
            </a:r>
            <a:r>
              <a:rPr dirty="0" sz="700" spc="-20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table</a:t>
            </a:r>
            <a:r>
              <a:rPr dirty="0" sz="700" spc="-25">
                <a:latin typeface="Arial MT"/>
                <a:cs typeface="Arial MT"/>
              </a:rPr>
              <a:t> </a:t>
            </a:r>
            <a:r>
              <a:rPr dirty="0" sz="700" spc="-10">
                <a:latin typeface="Arial MT"/>
                <a:cs typeface="Arial MT"/>
              </a:rPr>
              <a:t>entry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14" name="object 114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15" name="object 115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 descr=""/>
          <p:cNvSpPr txBox="1"/>
          <p:nvPr/>
        </p:nvSpPr>
        <p:spPr>
          <a:xfrm>
            <a:off x="2477608" y="69580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18" name="object 1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19" name="object 119" descr=""/>
          <p:cNvSpPr txBox="1"/>
          <p:nvPr/>
        </p:nvSpPr>
        <p:spPr>
          <a:xfrm>
            <a:off x="599014" y="4146223"/>
            <a:ext cx="132080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Advanced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Pipelining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20" name="object 120" descr=""/>
          <p:cNvGrpSpPr/>
          <p:nvPr/>
        </p:nvGrpSpPr>
        <p:grpSpPr>
          <a:xfrm>
            <a:off x="972942" y="5111529"/>
            <a:ext cx="2589530" cy="1224915"/>
            <a:chOff x="972942" y="5111529"/>
            <a:chExt cx="2589530" cy="1224915"/>
          </a:xfrm>
        </p:grpSpPr>
        <p:sp>
          <p:nvSpPr>
            <p:cNvPr id="121" name="object 121" descr=""/>
            <p:cNvSpPr/>
            <p:nvPr/>
          </p:nvSpPr>
          <p:spPr>
            <a:xfrm>
              <a:off x="976117" y="5267624"/>
              <a:ext cx="0" cy="912494"/>
            </a:xfrm>
            <a:custGeom>
              <a:avLst/>
              <a:gdLst/>
              <a:ahLst/>
              <a:cxnLst/>
              <a:rect l="l" t="t" r="r" b="b"/>
              <a:pathLst>
                <a:path w="0" h="912495">
                  <a:moveTo>
                    <a:pt x="0" y="0"/>
                  </a:moveTo>
                  <a:lnTo>
                    <a:pt x="0" y="912394"/>
                  </a:lnTo>
                </a:path>
              </a:pathLst>
            </a:custGeom>
            <a:ln w="628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331462" y="5267624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4">
                  <a:moveTo>
                    <a:pt x="0" y="0"/>
                  </a:moveTo>
                  <a:lnTo>
                    <a:pt x="0" y="293458"/>
                  </a:lnTo>
                </a:path>
              </a:pathLst>
            </a:custGeom>
            <a:ln w="628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331462" y="5886560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4">
                  <a:moveTo>
                    <a:pt x="0" y="0"/>
                  </a:moveTo>
                  <a:lnTo>
                    <a:pt x="0" y="293458"/>
                  </a:lnTo>
                </a:path>
              </a:pathLst>
            </a:custGeom>
            <a:ln w="628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686911" y="5267624"/>
              <a:ext cx="349250" cy="912494"/>
            </a:xfrm>
            <a:custGeom>
              <a:avLst/>
              <a:gdLst/>
              <a:ahLst/>
              <a:cxnLst/>
              <a:rect l="l" t="t" r="r" b="b"/>
              <a:pathLst>
                <a:path w="349250" h="912495">
                  <a:moveTo>
                    <a:pt x="0" y="0"/>
                  </a:moveTo>
                  <a:lnTo>
                    <a:pt x="0" y="912394"/>
                  </a:lnTo>
                </a:path>
                <a:path w="349250" h="912495">
                  <a:moveTo>
                    <a:pt x="349073" y="0"/>
                  </a:moveTo>
                  <a:lnTo>
                    <a:pt x="349073" y="912394"/>
                  </a:lnTo>
                </a:path>
              </a:pathLst>
            </a:custGeom>
            <a:ln w="650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746756" y="5114704"/>
              <a:ext cx="0" cy="1218565"/>
            </a:xfrm>
            <a:custGeom>
              <a:avLst/>
              <a:gdLst/>
              <a:ahLst/>
              <a:cxnLst/>
              <a:rect l="l" t="t" r="r" b="b"/>
              <a:pathLst>
                <a:path w="0" h="1218564">
                  <a:moveTo>
                    <a:pt x="0" y="0"/>
                  </a:moveTo>
                  <a:lnTo>
                    <a:pt x="0" y="1218251"/>
                  </a:lnTo>
                </a:path>
              </a:pathLst>
            </a:custGeom>
            <a:ln w="624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559120" y="5114704"/>
              <a:ext cx="0" cy="1218565"/>
            </a:xfrm>
            <a:custGeom>
              <a:avLst/>
              <a:gdLst/>
              <a:ahLst/>
              <a:cxnLst/>
              <a:rect l="l" t="t" r="r" b="b"/>
              <a:pathLst>
                <a:path w="0" h="1218564">
                  <a:moveTo>
                    <a:pt x="0" y="0"/>
                  </a:moveTo>
                  <a:lnTo>
                    <a:pt x="0" y="1218251"/>
                  </a:lnTo>
                </a:path>
              </a:pathLst>
            </a:custGeom>
            <a:ln w="6333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7" name="object 127" descr=""/>
          <p:cNvGraphicFramePr>
            <a:graphicFrameLocks noGrp="1"/>
          </p:cNvGraphicFramePr>
          <p:nvPr/>
        </p:nvGraphicFramePr>
        <p:xfrm>
          <a:off x="3603550" y="5267624"/>
          <a:ext cx="1040765" cy="911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7975"/>
                <a:gridCol w="349250"/>
                <a:gridCol w="301625"/>
              </a:tblGrid>
              <a:tr h="3060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ysDash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ash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607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9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ash"/>
                    </a:lnL>
                    <a:lnR w="6350">
                      <a:solidFill>
                        <a:srgbClr val="000000"/>
                      </a:solidFill>
                      <a:prstDash val="sysDash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ysDash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28" name="object 128" descr=""/>
          <p:cNvSpPr txBox="1"/>
          <p:nvPr/>
        </p:nvSpPr>
        <p:spPr>
          <a:xfrm>
            <a:off x="1023706" y="5573931"/>
            <a:ext cx="609600" cy="306705"/>
          </a:xfrm>
          <a:prstGeom prst="rect">
            <a:avLst/>
          </a:prstGeom>
          <a:solidFill>
            <a:srgbClr val="FFFF99"/>
          </a:solidFill>
          <a:ln w="6313">
            <a:solidFill>
              <a:srgbClr val="000000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6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dirty="0" sz="600">
                <a:latin typeface="Arial MT"/>
                <a:cs typeface="Arial MT"/>
              </a:rPr>
              <a:t>Instr</a:t>
            </a:r>
            <a:r>
              <a:rPr dirty="0" sz="600" spc="-10">
                <a:latin typeface="Arial MT"/>
                <a:cs typeface="Arial MT"/>
              </a:rPr>
              <a:t> cache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9" name="object 129" descr=""/>
          <p:cNvSpPr txBox="1"/>
          <p:nvPr/>
        </p:nvSpPr>
        <p:spPr>
          <a:xfrm>
            <a:off x="1055448" y="6250315"/>
            <a:ext cx="5695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Arial MT"/>
                <a:cs typeface="Arial MT"/>
              </a:rPr>
              <a:t>Instruction</a:t>
            </a:r>
            <a:r>
              <a:rPr dirty="0" sz="600" spc="5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fetch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0" name="object 130" descr=""/>
          <p:cNvSpPr txBox="1"/>
          <p:nvPr/>
        </p:nvSpPr>
        <p:spPr>
          <a:xfrm>
            <a:off x="2794386" y="5216648"/>
            <a:ext cx="711200" cy="306705"/>
          </a:xfrm>
          <a:prstGeom prst="rect">
            <a:avLst/>
          </a:prstGeom>
          <a:solidFill>
            <a:srgbClr val="99CCFF"/>
          </a:solidFill>
          <a:ln w="6315">
            <a:solidFill>
              <a:srgbClr val="000000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65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5"/>
              </a:spcBef>
            </a:pPr>
            <a:r>
              <a:rPr dirty="0" sz="650">
                <a:latin typeface="Arial MT"/>
                <a:cs typeface="Arial MT"/>
              </a:rPr>
              <a:t>Function</a:t>
            </a:r>
            <a:r>
              <a:rPr dirty="0" sz="650" spc="-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unit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1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1" name="object 131" descr=""/>
          <p:cNvSpPr txBox="1"/>
          <p:nvPr/>
        </p:nvSpPr>
        <p:spPr>
          <a:xfrm>
            <a:off x="2794386" y="5573931"/>
            <a:ext cx="711200" cy="306705"/>
          </a:xfrm>
          <a:prstGeom prst="rect">
            <a:avLst/>
          </a:prstGeom>
          <a:solidFill>
            <a:srgbClr val="99CCFF"/>
          </a:solidFill>
          <a:ln w="6315">
            <a:solidFill>
              <a:srgbClr val="000000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65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5"/>
              </a:spcBef>
            </a:pPr>
            <a:r>
              <a:rPr dirty="0" sz="650">
                <a:latin typeface="Arial MT"/>
                <a:cs typeface="Arial MT"/>
              </a:rPr>
              <a:t>Function</a:t>
            </a:r>
            <a:r>
              <a:rPr dirty="0" sz="650" spc="-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unit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2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2" name="object 132" descr=""/>
          <p:cNvSpPr txBox="1"/>
          <p:nvPr/>
        </p:nvSpPr>
        <p:spPr>
          <a:xfrm>
            <a:off x="2794386" y="5931222"/>
            <a:ext cx="711200" cy="300355"/>
          </a:xfrm>
          <a:prstGeom prst="rect">
            <a:avLst/>
          </a:prstGeom>
          <a:solidFill>
            <a:srgbClr val="99CCFF"/>
          </a:solidFill>
          <a:ln w="6315">
            <a:solidFill>
              <a:srgbClr val="000000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65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dirty="0" sz="650">
                <a:latin typeface="Arial MT"/>
                <a:cs typeface="Arial MT"/>
              </a:rPr>
              <a:t>Function</a:t>
            </a:r>
            <a:r>
              <a:rPr dirty="0" sz="650" spc="-25">
                <a:latin typeface="Arial MT"/>
                <a:cs typeface="Arial MT"/>
              </a:rPr>
              <a:t> </a:t>
            </a:r>
            <a:r>
              <a:rPr dirty="0" sz="650">
                <a:latin typeface="Arial MT"/>
                <a:cs typeface="Arial MT"/>
              </a:rPr>
              <a:t>unit</a:t>
            </a:r>
            <a:r>
              <a:rPr dirty="0" sz="650" spc="5">
                <a:latin typeface="Arial MT"/>
                <a:cs typeface="Arial MT"/>
              </a:rPr>
              <a:t> </a:t>
            </a:r>
            <a:r>
              <a:rPr dirty="0" sz="650" spc="-50">
                <a:latin typeface="Arial MT"/>
                <a:cs typeface="Arial MT"/>
              </a:rPr>
              <a:t>3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33" name="object 133" descr=""/>
          <p:cNvSpPr/>
          <p:nvPr/>
        </p:nvSpPr>
        <p:spPr>
          <a:xfrm>
            <a:off x="1026746" y="5573931"/>
            <a:ext cx="955675" cy="660400"/>
          </a:xfrm>
          <a:custGeom>
            <a:avLst/>
            <a:gdLst/>
            <a:ahLst/>
            <a:cxnLst/>
            <a:rect l="l" t="t" r="r" b="b"/>
            <a:pathLst>
              <a:path w="955675" h="660400">
                <a:moveTo>
                  <a:pt x="609216" y="557945"/>
                </a:moveTo>
                <a:lnTo>
                  <a:pt x="602933" y="577116"/>
                </a:lnTo>
                <a:lnTo>
                  <a:pt x="596642" y="596286"/>
                </a:lnTo>
                <a:lnTo>
                  <a:pt x="577564" y="602608"/>
                </a:lnTo>
                <a:lnTo>
                  <a:pt x="558487" y="609134"/>
                </a:lnTo>
                <a:lnTo>
                  <a:pt x="355343" y="609134"/>
                </a:lnTo>
                <a:lnTo>
                  <a:pt x="336477" y="615456"/>
                </a:lnTo>
                <a:lnTo>
                  <a:pt x="317400" y="628100"/>
                </a:lnTo>
                <a:lnTo>
                  <a:pt x="310897" y="640948"/>
                </a:lnTo>
                <a:lnTo>
                  <a:pt x="304606" y="660118"/>
                </a:lnTo>
                <a:lnTo>
                  <a:pt x="298323" y="640948"/>
                </a:lnTo>
                <a:lnTo>
                  <a:pt x="292031" y="628100"/>
                </a:lnTo>
                <a:lnTo>
                  <a:pt x="272954" y="615456"/>
                </a:lnTo>
                <a:lnTo>
                  <a:pt x="253877" y="609134"/>
                </a:lnTo>
                <a:lnTo>
                  <a:pt x="50733" y="609134"/>
                </a:lnTo>
                <a:lnTo>
                  <a:pt x="31867" y="602608"/>
                </a:lnTo>
                <a:lnTo>
                  <a:pt x="19077" y="596286"/>
                </a:lnTo>
                <a:lnTo>
                  <a:pt x="6288" y="577116"/>
                </a:lnTo>
                <a:lnTo>
                  <a:pt x="0" y="557945"/>
                </a:lnTo>
              </a:path>
              <a:path w="955675" h="660400">
                <a:moveTo>
                  <a:pt x="707854" y="153157"/>
                </a:moveTo>
                <a:lnTo>
                  <a:pt x="714293" y="200854"/>
                </a:lnTo>
                <a:lnTo>
                  <a:pt x="731992" y="242757"/>
                </a:lnTo>
                <a:lnTo>
                  <a:pt x="758526" y="276104"/>
                </a:lnTo>
                <a:lnTo>
                  <a:pt x="791467" y="298137"/>
                </a:lnTo>
                <a:lnTo>
                  <a:pt x="828389" y="306094"/>
                </a:lnTo>
                <a:lnTo>
                  <a:pt x="868399" y="298137"/>
                </a:lnTo>
                <a:lnTo>
                  <a:pt x="903209" y="276104"/>
                </a:lnTo>
                <a:lnTo>
                  <a:pt x="930697" y="242757"/>
                </a:lnTo>
                <a:lnTo>
                  <a:pt x="948745" y="200854"/>
                </a:lnTo>
                <a:lnTo>
                  <a:pt x="955232" y="153157"/>
                </a:lnTo>
                <a:lnTo>
                  <a:pt x="948745" y="105356"/>
                </a:lnTo>
                <a:lnTo>
                  <a:pt x="930697" y="63388"/>
                </a:lnTo>
                <a:lnTo>
                  <a:pt x="903209" y="30006"/>
                </a:lnTo>
                <a:lnTo>
                  <a:pt x="868399" y="7960"/>
                </a:lnTo>
                <a:lnTo>
                  <a:pt x="828389" y="0"/>
                </a:lnTo>
                <a:lnTo>
                  <a:pt x="791467" y="7960"/>
                </a:lnTo>
                <a:lnTo>
                  <a:pt x="758526" y="30006"/>
                </a:lnTo>
                <a:lnTo>
                  <a:pt x="731992" y="63388"/>
                </a:lnTo>
                <a:lnTo>
                  <a:pt x="714293" y="105356"/>
                </a:lnTo>
                <a:lnTo>
                  <a:pt x="707854" y="153157"/>
                </a:lnTo>
                <a:close/>
              </a:path>
            </a:pathLst>
          </a:custGeom>
          <a:ln w="630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 txBox="1"/>
          <p:nvPr/>
        </p:nvSpPr>
        <p:spPr>
          <a:xfrm>
            <a:off x="2083657" y="5471766"/>
            <a:ext cx="254000" cy="504190"/>
          </a:xfrm>
          <a:prstGeom prst="rect">
            <a:avLst/>
          </a:prstGeom>
          <a:solidFill>
            <a:srgbClr val="FFCC99"/>
          </a:solidFill>
          <a:ln w="6295">
            <a:solidFill>
              <a:srgbClr val="000000"/>
            </a:solidFill>
          </a:ln>
        </p:spPr>
        <p:txBody>
          <a:bodyPr wrap="square" lIns="0" tIns="565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550">
              <a:latin typeface="Times New Roman"/>
              <a:cs typeface="Times New Roman"/>
            </a:endParaRPr>
          </a:p>
          <a:p>
            <a:pPr algn="just" marL="69215" marR="35560" indent="-13335">
              <a:lnSpc>
                <a:spcPts val="600"/>
              </a:lnSpc>
            </a:pPr>
            <a:r>
              <a:rPr dirty="0" sz="550" spc="-20">
                <a:latin typeface="Arial MT"/>
                <a:cs typeface="Arial MT"/>
              </a:rPr>
              <a:t>Ope-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rand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20">
                <a:latin typeface="Arial MT"/>
                <a:cs typeface="Arial MT"/>
              </a:rPr>
              <a:t>prep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5" name="object 135" descr=""/>
          <p:cNvSpPr txBox="1"/>
          <p:nvPr/>
        </p:nvSpPr>
        <p:spPr>
          <a:xfrm>
            <a:off x="1747269" y="5625067"/>
            <a:ext cx="254635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44450">
              <a:lnSpc>
                <a:spcPts val="600"/>
              </a:lnSpc>
              <a:spcBef>
                <a:spcPts val="170"/>
              </a:spcBef>
            </a:pPr>
            <a:r>
              <a:rPr dirty="0" sz="550" spc="-2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decode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36" name="object 136" descr=""/>
          <p:cNvSpPr/>
          <p:nvPr/>
        </p:nvSpPr>
        <p:spPr>
          <a:xfrm>
            <a:off x="3609749" y="6131876"/>
            <a:ext cx="958850" cy="102235"/>
          </a:xfrm>
          <a:custGeom>
            <a:avLst/>
            <a:gdLst/>
            <a:ahLst/>
            <a:cxnLst/>
            <a:rect l="l" t="t" r="r" b="b"/>
            <a:pathLst>
              <a:path w="958850" h="102235">
                <a:moveTo>
                  <a:pt x="958251" y="0"/>
                </a:moveTo>
                <a:lnTo>
                  <a:pt x="952002" y="19170"/>
                </a:lnTo>
                <a:lnTo>
                  <a:pt x="939166" y="38340"/>
                </a:lnTo>
                <a:lnTo>
                  <a:pt x="913831" y="44662"/>
                </a:lnTo>
                <a:lnTo>
                  <a:pt x="882162" y="51188"/>
                </a:lnTo>
                <a:lnTo>
                  <a:pt x="558466" y="51188"/>
                </a:lnTo>
                <a:lnTo>
                  <a:pt x="526628" y="57510"/>
                </a:lnTo>
                <a:lnTo>
                  <a:pt x="501294" y="70154"/>
                </a:lnTo>
                <a:lnTo>
                  <a:pt x="482208" y="83002"/>
                </a:lnTo>
                <a:lnTo>
                  <a:pt x="475874" y="102172"/>
                </a:lnTo>
                <a:lnTo>
                  <a:pt x="469625" y="83002"/>
                </a:lnTo>
                <a:lnTo>
                  <a:pt x="456788" y="70154"/>
                </a:lnTo>
                <a:lnTo>
                  <a:pt x="431454" y="57510"/>
                </a:lnTo>
                <a:lnTo>
                  <a:pt x="399785" y="51188"/>
                </a:lnTo>
                <a:lnTo>
                  <a:pt x="76089" y="51188"/>
                </a:lnTo>
                <a:lnTo>
                  <a:pt x="44420" y="44662"/>
                </a:lnTo>
                <a:lnTo>
                  <a:pt x="19085" y="38340"/>
                </a:lnTo>
                <a:lnTo>
                  <a:pt x="6249" y="19170"/>
                </a:lnTo>
                <a:lnTo>
                  <a:pt x="0" y="0"/>
                </a:lnTo>
              </a:path>
            </a:pathLst>
          </a:custGeom>
          <a:ln w="631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 descr=""/>
          <p:cNvSpPr txBox="1"/>
          <p:nvPr/>
        </p:nvSpPr>
        <p:spPr>
          <a:xfrm>
            <a:off x="3574924" y="6250315"/>
            <a:ext cx="98996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Arial MT"/>
                <a:cs typeface="Arial MT"/>
              </a:rPr>
              <a:t>Retirement</a:t>
            </a:r>
            <a:r>
              <a:rPr dirty="0" sz="600" spc="-30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&amp;</a:t>
            </a:r>
            <a:r>
              <a:rPr dirty="0" sz="600" spc="-10">
                <a:latin typeface="Arial MT"/>
                <a:cs typeface="Arial MT"/>
              </a:rPr>
              <a:t> </a:t>
            </a:r>
            <a:r>
              <a:rPr dirty="0" sz="600">
                <a:latin typeface="Arial MT"/>
                <a:cs typeface="Arial MT"/>
              </a:rPr>
              <a:t>commit</a:t>
            </a:r>
            <a:r>
              <a:rPr dirty="0" sz="600" spc="-30">
                <a:latin typeface="Arial MT"/>
                <a:cs typeface="Arial MT"/>
              </a:rPr>
              <a:t> </a:t>
            </a:r>
            <a:r>
              <a:rPr dirty="0" sz="600" spc="-10">
                <a:latin typeface="Arial MT"/>
                <a:cs typeface="Arial MT"/>
              </a:rPr>
              <a:t>stages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38" name="object 138" descr=""/>
          <p:cNvGrpSpPr/>
          <p:nvPr/>
        </p:nvGrpSpPr>
        <p:grpSpPr>
          <a:xfrm>
            <a:off x="2388216" y="5216502"/>
            <a:ext cx="311150" cy="1021080"/>
            <a:chOff x="2388216" y="5216502"/>
            <a:chExt cx="311150" cy="1021080"/>
          </a:xfrm>
        </p:grpSpPr>
        <p:sp>
          <p:nvSpPr>
            <p:cNvPr id="139" name="object 139" descr=""/>
            <p:cNvSpPr/>
            <p:nvPr/>
          </p:nvSpPr>
          <p:spPr>
            <a:xfrm>
              <a:off x="2442062" y="5219677"/>
              <a:ext cx="254000" cy="1014730"/>
            </a:xfrm>
            <a:custGeom>
              <a:avLst/>
              <a:gdLst/>
              <a:ahLst/>
              <a:cxnLst/>
              <a:rect l="l" t="t" r="r" b="b"/>
              <a:pathLst>
                <a:path w="254000" h="1014729">
                  <a:moveTo>
                    <a:pt x="253856" y="1014372"/>
                  </a:moveTo>
                  <a:lnTo>
                    <a:pt x="0" y="759262"/>
                  </a:lnTo>
                  <a:lnTo>
                    <a:pt x="0" y="255177"/>
                  </a:lnTo>
                  <a:lnTo>
                    <a:pt x="253856" y="0"/>
                  </a:lnTo>
                  <a:lnTo>
                    <a:pt x="253856" y="1014372"/>
                  </a:lnTo>
                  <a:close/>
                </a:path>
              </a:pathLst>
            </a:custGeom>
            <a:ln w="62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2391391" y="5267624"/>
              <a:ext cx="0" cy="912494"/>
            </a:xfrm>
            <a:custGeom>
              <a:avLst/>
              <a:gdLst/>
              <a:ahLst/>
              <a:cxnLst/>
              <a:rect l="l" t="t" r="r" b="b"/>
              <a:pathLst>
                <a:path w="0" h="912495">
                  <a:moveTo>
                    <a:pt x="0" y="0"/>
                  </a:moveTo>
                  <a:lnTo>
                    <a:pt x="0" y="912394"/>
                  </a:lnTo>
                </a:path>
              </a:pathLst>
            </a:custGeom>
            <a:ln w="624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 descr=""/>
          <p:cNvSpPr txBox="1"/>
          <p:nvPr/>
        </p:nvSpPr>
        <p:spPr>
          <a:xfrm>
            <a:off x="2483325" y="5644237"/>
            <a:ext cx="191770" cy="18605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 marR="5080" indent="12700">
              <a:lnSpc>
                <a:spcPts val="600"/>
              </a:lnSpc>
              <a:spcBef>
                <a:spcPts val="170"/>
              </a:spcBef>
            </a:pPr>
            <a:r>
              <a:rPr dirty="0" sz="550" spc="-10">
                <a:latin typeface="Arial MT"/>
                <a:cs typeface="Arial MT"/>
              </a:rPr>
              <a:t>Instr</a:t>
            </a:r>
            <a:r>
              <a:rPr dirty="0" sz="550" spc="500">
                <a:latin typeface="Arial MT"/>
                <a:cs typeface="Arial MT"/>
              </a:rPr>
              <a:t> </a:t>
            </a:r>
            <a:r>
              <a:rPr dirty="0" sz="550" spc="-10">
                <a:latin typeface="Arial MT"/>
                <a:cs typeface="Arial MT"/>
              </a:rPr>
              <a:t>issue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42" name="object 142" descr=""/>
          <p:cNvSpPr txBox="1"/>
          <p:nvPr/>
        </p:nvSpPr>
        <p:spPr>
          <a:xfrm>
            <a:off x="1030084" y="4604687"/>
            <a:ext cx="3522979" cy="4857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Arial MT"/>
                <a:cs typeface="Arial MT"/>
              </a:rPr>
              <a:t>Deep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pipeline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=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 i="1">
                <a:latin typeface="Arial"/>
                <a:cs typeface="Arial"/>
              </a:rPr>
              <a:t>superpipeline</a:t>
            </a:r>
            <a:r>
              <a:rPr dirty="0" sz="850">
                <a:latin typeface="Arial MT"/>
                <a:cs typeface="Arial MT"/>
              </a:rPr>
              <a:t>;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also,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i="1">
                <a:latin typeface="Arial"/>
                <a:cs typeface="Arial"/>
              </a:rPr>
              <a:t>superpipelined</a:t>
            </a:r>
            <a:r>
              <a:rPr dirty="0" sz="850">
                <a:latin typeface="Arial MT"/>
                <a:cs typeface="Arial MT"/>
              </a:rPr>
              <a:t>,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 spc="-10" i="1">
                <a:latin typeface="Arial"/>
                <a:cs typeface="Arial"/>
              </a:rPr>
              <a:t>superpipelining</a:t>
            </a:r>
            <a:endParaRPr sz="850">
              <a:latin typeface="Arial"/>
              <a:cs typeface="Arial"/>
            </a:endParaRPr>
          </a:p>
          <a:p>
            <a:pPr marL="121920">
              <a:lnSpc>
                <a:spcPct val="100000"/>
              </a:lnSpc>
              <a:spcBef>
                <a:spcPts val="30"/>
              </a:spcBef>
            </a:pPr>
            <a:r>
              <a:rPr dirty="0" sz="850">
                <a:latin typeface="Arial MT"/>
                <a:cs typeface="Arial MT"/>
              </a:rPr>
              <a:t>Parallel</a:t>
            </a:r>
            <a:r>
              <a:rPr dirty="0" sz="850" spc="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issue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=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 i="1">
                <a:latin typeface="Arial"/>
                <a:cs typeface="Arial"/>
              </a:rPr>
              <a:t>superscalar</a:t>
            </a:r>
            <a:r>
              <a:rPr dirty="0" sz="850">
                <a:latin typeface="Arial MT"/>
                <a:cs typeface="Arial MT"/>
              </a:rPr>
              <a:t>,</a:t>
            </a:r>
            <a:r>
              <a:rPr dirty="0" sz="850" spc="25">
                <a:latin typeface="Arial MT"/>
                <a:cs typeface="Arial MT"/>
              </a:rPr>
              <a:t> </a:t>
            </a:r>
            <a:r>
              <a:rPr dirty="0" sz="850" spc="-10" i="1">
                <a:latin typeface="Arial"/>
                <a:cs typeface="Arial"/>
              </a:rPr>
              <a:t>j-</a:t>
            </a:r>
            <a:r>
              <a:rPr dirty="0" sz="850" i="1">
                <a:latin typeface="Arial"/>
                <a:cs typeface="Arial"/>
              </a:rPr>
              <a:t>way</a:t>
            </a:r>
            <a:r>
              <a:rPr dirty="0" sz="850" spc="20" i="1">
                <a:latin typeface="Arial"/>
                <a:cs typeface="Arial"/>
              </a:rPr>
              <a:t> </a:t>
            </a:r>
            <a:r>
              <a:rPr dirty="0" sz="850" i="1">
                <a:latin typeface="Arial"/>
                <a:cs typeface="Arial"/>
              </a:rPr>
              <a:t>issue</a:t>
            </a:r>
            <a:r>
              <a:rPr dirty="0" sz="850" spc="15" i="1">
                <a:latin typeface="Arial"/>
                <a:cs typeface="Arial"/>
              </a:rPr>
              <a:t> </a:t>
            </a:r>
            <a:r>
              <a:rPr dirty="0" sz="850" spc="-10">
                <a:latin typeface="Arial MT"/>
                <a:cs typeface="Arial MT"/>
              </a:rPr>
              <a:t>(2-</a:t>
            </a:r>
            <a:r>
              <a:rPr dirty="0" sz="850">
                <a:latin typeface="Arial MT"/>
                <a:cs typeface="Arial MT"/>
              </a:rPr>
              <a:t>4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typical)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69"/>
              </a:spcBef>
              <a:tabLst>
                <a:tab pos="1827530" algn="l"/>
              </a:tabLst>
            </a:pPr>
            <a:r>
              <a:rPr dirty="0" sz="550">
                <a:latin typeface="Arial MT"/>
                <a:cs typeface="Arial MT"/>
              </a:rPr>
              <a:t>Stage</a:t>
            </a:r>
            <a:r>
              <a:rPr dirty="0" sz="550" spc="-1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1</a:t>
            </a:r>
            <a:r>
              <a:rPr dirty="0" sz="550" spc="300">
                <a:latin typeface="Arial MT"/>
                <a:cs typeface="Arial MT"/>
              </a:rPr>
              <a:t>  </a:t>
            </a:r>
            <a:r>
              <a:rPr dirty="0" sz="550">
                <a:latin typeface="Arial MT"/>
                <a:cs typeface="Arial MT"/>
              </a:rPr>
              <a:t>Stage</a:t>
            </a:r>
            <a:r>
              <a:rPr dirty="0" sz="550" spc="-1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2</a:t>
            </a:r>
            <a:r>
              <a:rPr dirty="0" sz="550" spc="300">
                <a:latin typeface="Arial MT"/>
                <a:cs typeface="Arial MT"/>
              </a:rPr>
              <a:t>  </a:t>
            </a:r>
            <a:r>
              <a:rPr dirty="0" sz="550">
                <a:latin typeface="Arial MT"/>
                <a:cs typeface="Arial MT"/>
              </a:rPr>
              <a:t>Stage</a:t>
            </a:r>
            <a:r>
              <a:rPr dirty="0" sz="550" spc="-1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3</a:t>
            </a:r>
            <a:r>
              <a:rPr dirty="0" sz="550" spc="275">
                <a:latin typeface="Arial MT"/>
                <a:cs typeface="Arial MT"/>
              </a:rPr>
              <a:t>  </a:t>
            </a:r>
            <a:r>
              <a:rPr dirty="0" sz="550">
                <a:latin typeface="Arial MT"/>
                <a:cs typeface="Arial MT"/>
              </a:rPr>
              <a:t>Stage</a:t>
            </a:r>
            <a:r>
              <a:rPr dirty="0" sz="550" spc="-1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4</a:t>
            </a:r>
            <a:r>
              <a:rPr dirty="0" sz="550" spc="204">
                <a:latin typeface="Arial MT"/>
                <a:cs typeface="Arial MT"/>
              </a:rPr>
              <a:t>  </a:t>
            </a:r>
            <a:r>
              <a:rPr dirty="0" sz="550">
                <a:latin typeface="Arial MT"/>
                <a:cs typeface="Arial MT"/>
              </a:rPr>
              <a:t>Stage</a:t>
            </a:r>
            <a:r>
              <a:rPr dirty="0" sz="550" spc="-15">
                <a:latin typeface="Arial MT"/>
                <a:cs typeface="Arial MT"/>
              </a:rPr>
              <a:t> </a:t>
            </a:r>
            <a:r>
              <a:rPr dirty="0" sz="550" spc="-50">
                <a:latin typeface="Arial MT"/>
                <a:cs typeface="Arial MT"/>
              </a:rPr>
              <a:t>5</a:t>
            </a:r>
            <a:r>
              <a:rPr dirty="0" sz="550">
                <a:latin typeface="Arial MT"/>
                <a:cs typeface="Arial MT"/>
              </a:rPr>
              <a:t>	Variable</a:t>
            </a:r>
            <a:r>
              <a:rPr dirty="0" sz="550" spc="-2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#</a:t>
            </a:r>
            <a:r>
              <a:rPr dirty="0" sz="550" spc="-20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of</a:t>
            </a:r>
            <a:r>
              <a:rPr dirty="0" sz="550" spc="2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stages</a:t>
            </a:r>
            <a:r>
              <a:rPr dirty="0" sz="550" spc="200">
                <a:latin typeface="Arial MT"/>
                <a:cs typeface="Arial MT"/>
              </a:rPr>
              <a:t>  </a:t>
            </a:r>
            <a:r>
              <a:rPr dirty="0" sz="550">
                <a:latin typeface="Arial MT"/>
                <a:cs typeface="Arial MT"/>
              </a:rPr>
              <a:t>Stage</a:t>
            </a:r>
            <a:r>
              <a:rPr dirty="0" sz="550" spc="-25">
                <a:latin typeface="Arial MT"/>
                <a:cs typeface="Arial MT"/>
              </a:rPr>
              <a:t> </a:t>
            </a:r>
            <a:r>
              <a:rPr dirty="0" sz="550" i="1">
                <a:latin typeface="Arial"/>
                <a:cs typeface="Arial"/>
              </a:rPr>
              <a:t>q</a:t>
            </a:r>
            <a:r>
              <a:rPr dirty="0" sz="550">
                <a:latin typeface="Symbol"/>
                <a:cs typeface="Symbol"/>
              </a:rPr>
              <a:t></a:t>
            </a:r>
            <a:r>
              <a:rPr dirty="0" sz="550">
                <a:latin typeface="Arial MT"/>
                <a:cs typeface="Arial MT"/>
              </a:rPr>
              <a:t>2</a:t>
            </a:r>
            <a:r>
              <a:rPr dirty="0" sz="550" spc="335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Stage</a:t>
            </a:r>
            <a:r>
              <a:rPr dirty="0" sz="550" spc="-25">
                <a:latin typeface="Arial MT"/>
                <a:cs typeface="Arial MT"/>
              </a:rPr>
              <a:t> </a:t>
            </a:r>
            <a:r>
              <a:rPr dirty="0" sz="550" i="1">
                <a:latin typeface="Arial"/>
                <a:cs typeface="Arial"/>
              </a:rPr>
              <a:t>q</a:t>
            </a:r>
            <a:r>
              <a:rPr dirty="0" sz="550">
                <a:latin typeface="Symbol"/>
                <a:cs typeface="Symbol"/>
              </a:rPr>
              <a:t></a:t>
            </a:r>
            <a:r>
              <a:rPr dirty="0" sz="550">
                <a:latin typeface="Arial MT"/>
                <a:cs typeface="Arial MT"/>
              </a:rPr>
              <a:t>1</a:t>
            </a:r>
            <a:r>
              <a:rPr dirty="0" sz="550" spc="204">
                <a:latin typeface="Arial MT"/>
                <a:cs typeface="Arial MT"/>
              </a:rPr>
              <a:t> </a:t>
            </a:r>
            <a:r>
              <a:rPr dirty="0" sz="550">
                <a:latin typeface="Arial MT"/>
                <a:cs typeface="Arial MT"/>
              </a:rPr>
              <a:t>Stage</a:t>
            </a:r>
            <a:r>
              <a:rPr dirty="0" sz="550" spc="-25">
                <a:latin typeface="Arial MT"/>
                <a:cs typeface="Arial MT"/>
              </a:rPr>
              <a:t> </a:t>
            </a:r>
            <a:r>
              <a:rPr dirty="0" sz="550" spc="-50" i="1">
                <a:latin typeface="Arial"/>
                <a:cs typeface="Arial"/>
              </a:rPr>
              <a:t>q</a:t>
            </a:r>
            <a:endParaRPr sz="550">
              <a:latin typeface="Arial"/>
              <a:cs typeface="Arial"/>
            </a:endParaRPr>
          </a:p>
        </p:txBody>
      </p:sp>
      <p:sp>
        <p:nvSpPr>
          <p:cNvPr id="143" name="object 143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45" name="object 14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146" name="object 146" descr=""/>
          <p:cNvSpPr txBox="1"/>
          <p:nvPr/>
        </p:nvSpPr>
        <p:spPr>
          <a:xfrm>
            <a:off x="5729114" y="4146223"/>
            <a:ext cx="104965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30">
                <a:solidFill>
                  <a:srgbClr val="003366"/>
                </a:solidFill>
                <a:latin typeface="Malgun Gothic"/>
                <a:cs typeface="Malgun Gothic"/>
              </a:rPr>
              <a:t>슈퍼</a:t>
            </a:r>
            <a:r>
              <a:rPr dirty="0" sz="1150" spc="-1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Malgun Gothic"/>
                <a:cs typeface="Malgun Gothic"/>
              </a:rPr>
              <a:t>파이프라인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147" name="object 147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148" name="object 14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1907" y="4671079"/>
              <a:ext cx="4412147" cy="1933746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0308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714" y="594823"/>
            <a:ext cx="72517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5">
                <a:solidFill>
                  <a:srgbClr val="003366"/>
                </a:solidFill>
                <a:latin typeface="Malgun Gothic"/>
                <a:cs typeface="Malgun Gothic"/>
              </a:rPr>
              <a:t>슈퍼스칼라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128" y="885162"/>
              <a:ext cx="4360984" cy="2342542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729114" y="594823"/>
            <a:ext cx="177038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40">
                <a:solidFill>
                  <a:srgbClr val="003366"/>
                </a:solidFill>
                <a:latin typeface="Malgun Gothic"/>
                <a:cs typeface="Malgun Gothic"/>
              </a:rPr>
              <a:t>슈퍼파이프라인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-</a:t>
            </a:r>
            <a:r>
              <a:rPr dirty="0" sz="1150" spc="-10">
                <a:solidFill>
                  <a:srgbClr val="003366"/>
                </a:solidFill>
                <a:latin typeface="Malgun Gothic"/>
                <a:cs typeface="Malgun Gothic"/>
              </a:rPr>
              <a:t>슈퍼스칼라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1907" y="1178911"/>
              <a:ext cx="4408147" cy="179916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611714" y="4146223"/>
            <a:ext cx="218630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VLIW(Very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Long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Instruction Word)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507" y="4649525"/>
              <a:ext cx="4364620" cy="194479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5729114" y="4146223"/>
            <a:ext cx="290639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Performance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Improvement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for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Deep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Pipelines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070546" y="4516998"/>
            <a:ext cx="3245485" cy="1607185"/>
          </a:xfrm>
          <a:prstGeom prst="rect">
            <a:avLst/>
          </a:prstGeom>
        </p:spPr>
        <p:txBody>
          <a:bodyPr wrap="square" lIns="0" tIns="927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r>
              <a:rPr dirty="0" sz="850" b="1">
                <a:solidFill>
                  <a:srgbClr val="336699"/>
                </a:solidFill>
                <a:latin typeface="Arial"/>
                <a:cs typeface="Arial"/>
              </a:rPr>
              <a:t>Hardware-based</a:t>
            </a:r>
            <a:r>
              <a:rPr dirty="0" sz="850" spc="10" b="1">
                <a:solidFill>
                  <a:srgbClr val="336699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336699"/>
                </a:solidFill>
                <a:latin typeface="Arial"/>
                <a:cs typeface="Arial"/>
              </a:rPr>
              <a:t>methods</a:t>
            </a:r>
            <a:endParaRPr sz="850">
              <a:latin typeface="Arial"/>
              <a:cs typeface="Arial"/>
            </a:endParaRPr>
          </a:p>
          <a:p>
            <a:pPr marL="474345" marR="5080" indent="-276860">
              <a:lnSpc>
                <a:spcPct val="111900"/>
              </a:lnSpc>
              <a:spcBef>
                <a:spcPts val="515"/>
              </a:spcBef>
            </a:pPr>
            <a:r>
              <a:rPr dirty="0" sz="850">
                <a:latin typeface="Arial MT"/>
                <a:cs typeface="Arial MT"/>
              </a:rPr>
              <a:t>Lookahead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past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will/may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stall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pipeline (out-of-</a:t>
            </a:r>
            <a:r>
              <a:rPr dirty="0" sz="850">
                <a:latin typeface="Arial MT"/>
                <a:cs typeface="Arial MT"/>
              </a:rPr>
              <a:t>order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execution;</a:t>
            </a:r>
            <a:r>
              <a:rPr dirty="0" sz="850" spc="2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requires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in-</a:t>
            </a:r>
            <a:r>
              <a:rPr dirty="0" sz="850">
                <a:latin typeface="Arial MT"/>
                <a:cs typeface="Arial MT"/>
              </a:rPr>
              <a:t>order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retirement)</a:t>
            </a:r>
            <a:endParaRPr sz="850">
              <a:latin typeface="Arial MT"/>
              <a:cs typeface="Arial MT"/>
            </a:endParaRPr>
          </a:p>
          <a:p>
            <a:pPr marL="197485" marR="8890">
              <a:lnSpc>
                <a:spcPct val="111900"/>
              </a:lnSpc>
            </a:pPr>
            <a:r>
              <a:rPr dirty="0" sz="850">
                <a:latin typeface="Arial MT"/>
                <a:cs typeface="Arial MT"/>
              </a:rPr>
              <a:t>Issue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multiple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(requires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more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ports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register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file) </a:t>
            </a:r>
            <a:r>
              <a:rPr dirty="0" sz="850">
                <a:latin typeface="Arial MT"/>
                <a:cs typeface="Arial MT"/>
              </a:rPr>
              <a:t>Eliminate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false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data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dependencies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via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register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renaming</a:t>
            </a:r>
            <a:endParaRPr sz="850">
              <a:latin typeface="Arial MT"/>
              <a:cs typeface="Arial MT"/>
            </a:endParaRPr>
          </a:p>
          <a:p>
            <a:pPr marL="197485">
              <a:lnSpc>
                <a:spcPct val="100000"/>
              </a:lnSpc>
              <a:spcBef>
                <a:spcPts val="135"/>
              </a:spcBef>
            </a:pPr>
            <a:r>
              <a:rPr dirty="0" sz="850">
                <a:latin typeface="Arial MT"/>
                <a:cs typeface="Arial MT"/>
              </a:rPr>
              <a:t>Predict branch outcomes more accurately, or</a:t>
            </a:r>
            <a:r>
              <a:rPr dirty="0" sz="850" spc="-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speculate</a:t>
            </a:r>
            <a:endParaRPr sz="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dirty="0" sz="850" b="1">
                <a:solidFill>
                  <a:srgbClr val="FF0000"/>
                </a:solidFill>
                <a:latin typeface="Arial"/>
                <a:cs typeface="Arial"/>
              </a:rPr>
              <a:t>Software-based</a:t>
            </a:r>
            <a:r>
              <a:rPr dirty="0" sz="850" spc="-5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850" spc="-10" b="1">
                <a:solidFill>
                  <a:srgbClr val="FF0000"/>
                </a:solidFill>
                <a:latin typeface="Arial"/>
                <a:cs typeface="Arial"/>
              </a:rPr>
              <a:t>method</a:t>
            </a:r>
            <a:endParaRPr sz="85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  <a:spcBef>
                <a:spcPts val="580"/>
              </a:spcBef>
            </a:pPr>
            <a:r>
              <a:rPr dirty="0" sz="850">
                <a:latin typeface="Arial MT"/>
                <a:cs typeface="Arial MT"/>
              </a:rPr>
              <a:t>Pipeline-aware</a:t>
            </a:r>
            <a:r>
              <a:rPr dirty="0" sz="850" spc="2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compilation</a:t>
            </a:r>
            <a:endParaRPr sz="850">
              <a:latin typeface="Arial MT"/>
              <a:cs typeface="Arial MT"/>
            </a:endParaRPr>
          </a:p>
          <a:p>
            <a:pPr marL="197485">
              <a:lnSpc>
                <a:spcPct val="100000"/>
              </a:lnSpc>
              <a:spcBef>
                <a:spcPts val="125"/>
              </a:spcBef>
            </a:pPr>
            <a:r>
              <a:rPr dirty="0" sz="850">
                <a:latin typeface="Arial MT"/>
                <a:cs typeface="Arial MT"/>
              </a:rPr>
              <a:t>Loop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unrolling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reduce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number of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branches</a:t>
            </a:r>
            <a:endParaRPr sz="850">
              <a:latin typeface="Arial MT"/>
              <a:cs typeface="Arial MT"/>
            </a:endParaRPr>
          </a:p>
        </p:txBody>
      </p:sp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6532907" y="6191413"/>
          <a:ext cx="2981960" cy="450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4625"/>
                <a:gridCol w="386714"/>
                <a:gridCol w="1074420"/>
              </a:tblGrid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ts val="750"/>
                        </a:lnSpc>
                        <a:tabLst>
                          <a:tab pos="485775" algn="l"/>
                        </a:tabLst>
                      </a:pPr>
                      <a:r>
                        <a:rPr dirty="0" sz="650" spc="-10">
                          <a:latin typeface="Arial MT"/>
                          <a:cs typeface="Arial MT"/>
                        </a:rPr>
                        <a:t>Loop: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	Compute</a:t>
                      </a:r>
                      <a:r>
                        <a:rPr dirty="0" sz="65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65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index</a:t>
                      </a:r>
                      <a:r>
                        <a:rPr dirty="0" sz="6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-50" i="1">
                          <a:latin typeface="Arial"/>
                          <a:cs typeface="Arial"/>
                        </a:rPr>
                        <a:t>i</a:t>
                      </a:r>
                      <a:endParaRPr sz="650">
                        <a:latin typeface="Arial"/>
                        <a:cs typeface="Arial"/>
                      </a:endParaRPr>
                    </a:p>
                    <a:p>
                      <a:pPr marL="48577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>
                          <a:latin typeface="Arial MT"/>
                          <a:cs typeface="Arial MT"/>
                        </a:rPr>
                        <a:t>Increment</a:t>
                      </a:r>
                      <a:r>
                        <a:rPr dirty="0" sz="6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i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650" spc="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6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-50">
                          <a:latin typeface="Arial MT"/>
                          <a:cs typeface="Arial MT"/>
                        </a:rPr>
                        <a:t>1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750"/>
                        </a:lnSpc>
                      </a:pPr>
                      <a:r>
                        <a:rPr dirty="0" sz="650" spc="-10">
                          <a:latin typeface="Arial MT"/>
                          <a:cs typeface="Arial MT"/>
                        </a:rPr>
                        <a:t>Loop: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750"/>
                        </a:lnSpc>
                      </a:pPr>
                      <a:r>
                        <a:rPr dirty="0" sz="650">
                          <a:latin typeface="Arial MT"/>
                          <a:cs typeface="Arial MT"/>
                        </a:rPr>
                        <a:t>Compute</a:t>
                      </a:r>
                      <a:r>
                        <a:rPr dirty="0" sz="650" spc="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650" spc="10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index</a:t>
                      </a:r>
                      <a:r>
                        <a:rPr dirty="0" sz="650" spc="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-50" i="1">
                          <a:latin typeface="Arial"/>
                          <a:cs typeface="Arial"/>
                        </a:rPr>
                        <a:t>i</a:t>
                      </a:r>
                      <a:endParaRPr sz="65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650">
                          <a:latin typeface="Arial MT"/>
                          <a:cs typeface="Arial MT"/>
                        </a:rPr>
                        <a:t>Compute</a:t>
                      </a:r>
                      <a:r>
                        <a:rPr dirty="0" sz="650" spc="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6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index</a:t>
                      </a:r>
                      <a:r>
                        <a:rPr dirty="0" sz="6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i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650" spc="7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6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-50">
                          <a:latin typeface="Arial MT"/>
                          <a:cs typeface="Arial MT"/>
                        </a:rPr>
                        <a:t>1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/>
                </a:tc>
              </a:tr>
              <a:tr h="225425">
                <a:tc>
                  <a:txBody>
                    <a:bodyPr/>
                    <a:lstStyle/>
                    <a:p>
                      <a:pPr marL="48577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650">
                          <a:latin typeface="Arial MT"/>
                          <a:cs typeface="Arial MT"/>
                        </a:rPr>
                        <a:t>Go</a:t>
                      </a:r>
                      <a:r>
                        <a:rPr dirty="0" sz="65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Loop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-20">
                          <a:latin typeface="Arial MT"/>
                          <a:cs typeface="Arial MT"/>
                        </a:rPr>
                        <a:t>done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88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650">
                          <a:latin typeface="Arial MT"/>
                          <a:cs typeface="Arial MT"/>
                        </a:rPr>
                        <a:t>Increment</a:t>
                      </a:r>
                      <a:r>
                        <a:rPr dirty="0" sz="650" spc="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i="1">
                          <a:latin typeface="Arial"/>
                          <a:cs typeface="Arial"/>
                        </a:rPr>
                        <a:t>i</a:t>
                      </a:r>
                      <a:r>
                        <a:rPr dirty="0" sz="650" spc="85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650" spc="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-50">
                          <a:latin typeface="Arial MT"/>
                          <a:cs typeface="Arial MT"/>
                        </a:rPr>
                        <a:t>2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78105">
                        <a:lnSpc>
                          <a:spcPts val="695"/>
                        </a:lnSpc>
                        <a:spcBef>
                          <a:spcPts val="130"/>
                        </a:spcBef>
                      </a:pPr>
                      <a:r>
                        <a:rPr dirty="0" sz="650">
                          <a:latin typeface="Arial MT"/>
                          <a:cs typeface="Arial MT"/>
                        </a:rPr>
                        <a:t>Go</a:t>
                      </a:r>
                      <a:r>
                        <a:rPr dirty="0" sz="65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Loop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if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650" spc="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-20">
                          <a:latin typeface="Arial MT"/>
                          <a:cs typeface="Arial MT"/>
                        </a:rPr>
                        <a:t>done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8890"/>
                </a:tc>
              </a:tr>
            </a:tbl>
          </a:graphicData>
        </a:graphic>
      </p:graphicFrame>
      <p:sp>
        <p:nvSpPr>
          <p:cNvPr id="28" name="object 28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0308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714" y="594823"/>
            <a:ext cx="77597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Superscalar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077646" y="876794"/>
            <a:ext cx="1666875" cy="758190"/>
            <a:chOff x="1077646" y="876794"/>
            <a:chExt cx="1666875" cy="75819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646" y="876794"/>
              <a:ext cx="1666544" cy="75802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006" y="1124824"/>
              <a:ext cx="1492365" cy="29819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8495" y="886436"/>
              <a:ext cx="1624935" cy="715358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91908" y="1133185"/>
              <a:ext cx="1450562" cy="256391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265043" y="1153379"/>
            <a:ext cx="1303020" cy="1651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Term</a:t>
            </a:r>
            <a:r>
              <a:rPr dirty="0" sz="900" spc="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first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coined</a:t>
            </a:r>
            <a:r>
              <a:rPr dirty="0" sz="900" spc="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900" spc="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Arial MT"/>
                <a:cs typeface="Arial MT"/>
              </a:rPr>
              <a:t>1987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792961" y="876794"/>
            <a:ext cx="1769745" cy="758190"/>
            <a:chOff x="2792961" y="876794"/>
            <a:chExt cx="1769745" cy="758190"/>
          </a:xfrm>
        </p:grpSpPr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20829" y="876794"/>
              <a:ext cx="1667937" cy="75802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92961" y="939497"/>
              <a:ext cx="1769658" cy="670240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2570" y="886436"/>
              <a:ext cx="1624935" cy="71535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76567" y="949252"/>
              <a:ext cx="1602446" cy="25639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9026" y="1070481"/>
              <a:ext cx="1457529" cy="25778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3862" y="1193103"/>
              <a:ext cx="1727855" cy="256391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40992" y="1321298"/>
              <a:ext cx="1240154" cy="256391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2887106" y="968051"/>
            <a:ext cx="1549400" cy="53721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algn="ctr" marR="5080" indent="-2540">
              <a:lnSpc>
                <a:spcPct val="90400"/>
              </a:lnSpc>
              <a:spcBef>
                <a:spcPts val="215"/>
              </a:spcBef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Refers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machine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that</a:t>
            </a:r>
            <a:r>
              <a:rPr dirty="0" sz="9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is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designed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improve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the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performance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execution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scalar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69286" y="1711459"/>
            <a:ext cx="1729739" cy="758190"/>
            <a:chOff x="1069286" y="1711459"/>
            <a:chExt cx="1729739" cy="758190"/>
          </a:xfrm>
        </p:grpSpPr>
        <p:pic>
          <p:nvPicPr>
            <p:cNvPr id="21" name="object 2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77646" y="1711459"/>
              <a:ext cx="1666544" cy="75802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9286" y="1836869"/>
              <a:ext cx="1729248" cy="54204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8495" y="1721022"/>
              <a:ext cx="1624935" cy="715358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0187" y="1845229"/>
              <a:ext cx="1687446" cy="25778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211416" y="1967850"/>
              <a:ext cx="1443595" cy="25639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09283" y="2089079"/>
              <a:ext cx="1015811" cy="257784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1162828" y="1865422"/>
            <a:ext cx="1507490" cy="4089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ctr" marR="5080">
              <a:lnSpc>
                <a:spcPct val="88900"/>
              </a:lnSpc>
              <a:spcBef>
                <a:spcPts val="234"/>
              </a:spcBef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most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applications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Arial MT"/>
                <a:cs typeface="Arial MT"/>
              </a:rPr>
              <a:t>bulk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operations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are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on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scalar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quantities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820829" y="1711459"/>
            <a:ext cx="1694814" cy="758190"/>
            <a:chOff x="2820829" y="1711459"/>
            <a:chExt cx="1694814" cy="758190"/>
          </a:xfrm>
        </p:grpSpPr>
        <p:pic>
          <p:nvPicPr>
            <p:cNvPr id="29" name="object 2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20829" y="1711459"/>
              <a:ext cx="1667937" cy="758026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38945" y="1775558"/>
              <a:ext cx="1676298" cy="670240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2569" y="1721022"/>
              <a:ext cx="1624935" cy="715358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59845" y="1783918"/>
              <a:ext cx="1634495" cy="25778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31238" y="1906540"/>
              <a:ext cx="1220646" cy="256391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93033" y="1906540"/>
              <a:ext cx="197867" cy="256391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015910" y="2027769"/>
              <a:ext cx="1251301" cy="25778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09754" y="2027769"/>
              <a:ext cx="197867" cy="25778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061893" y="2155964"/>
              <a:ext cx="1199744" cy="256391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2933256" y="1804111"/>
            <a:ext cx="1454785" cy="53594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algn="ctr" marR="5080">
              <a:lnSpc>
                <a:spcPct val="90100"/>
              </a:lnSpc>
              <a:spcBef>
                <a:spcPts val="220"/>
              </a:spcBef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Represents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next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step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in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evolution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003366"/>
                </a:solidFill>
                <a:latin typeface="Arial MT"/>
                <a:cs typeface="Arial MT"/>
              </a:rPr>
              <a:t>high-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performance</a:t>
            </a:r>
            <a:r>
              <a:rPr dirty="0" sz="900" spc="1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general-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purpose</a:t>
            </a:r>
            <a:r>
              <a:rPr dirty="0" sz="90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processors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1077646" y="2546125"/>
            <a:ext cx="1703070" cy="795655"/>
            <a:chOff x="1077646" y="2546125"/>
            <a:chExt cx="1703070" cy="795655"/>
          </a:xfrm>
        </p:grpSpPr>
        <p:pic>
          <p:nvPicPr>
            <p:cNvPr id="40" name="object 4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77646" y="2546125"/>
              <a:ext cx="1666544" cy="758026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86007" y="2548912"/>
              <a:ext cx="1694413" cy="792862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8495" y="2555607"/>
              <a:ext cx="1624935" cy="715358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22236" y="2557272"/>
              <a:ext cx="1621955" cy="25778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97809" y="2679895"/>
              <a:ext cx="1272203" cy="25639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52892" y="2801124"/>
              <a:ext cx="1562036" cy="257784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06908" y="2929319"/>
              <a:ext cx="1652610" cy="25778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604364" y="3051941"/>
              <a:ext cx="625650" cy="256391"/>
            </a:xfrm>
            <a:prstGeom prst="rect">
              <a:avLst/>
            </a:prstGeom>
          </p:spPr>
        </p:pic>
      </p:grpSp>
      <p:sp>
        <p:nvSpPr>
          <p:cNvPr id="48" name="object 48" descr=""/>
          <p:cNvSpPr txBox="1"/>
          <p:nvPr/>
        </p:nvSpPr>
        <p:spPr>
          <a:xfrm>
            <a:off x="1098495" y="2555607"/>
            <a:ext cx="1624965" cy="7156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ctr" marL="81280" marR="73025" indent="-2540">
              <a:lnSpc>
                <a:spcPct val="89900"/>
              </a:lnSpc>
              <a:spcBef>
                <a:spcPts val="395"/>
              </a:spcBef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Essence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approach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is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ability</a:t>
            </a:r>
            <a:r>
              <a:rPr dirty="0" sz="9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execute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900" spc="1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independently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concurrently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different pipelines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2792961" y="2546125"/>
            <a:ext cx="1769745" cy="795655"/>
            <a:chOff x="2792961" y="2546125"/>
            <a:chExt cx="1769745" cy="795655"/>
          </a:xfrm>
        </p:grpSpPr>
        <p:pic>
          <p:nvPicPr>
            <p:cNvPr id="50" name="object 50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820829" y="2546125"/>
              <a:ext cx="1667937" cy="758026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792961" y="2548912"/>
              <a:ext cx="1769658" cy="792862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42570" y="2555607"/>
              <a:ext cx="1624935" cy="715358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978288" y="2557272"/>
              <a:ext cx="1397612" cy="257784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035418" y="2679895"/>
              <a:ext cx="1284744" cy="256391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813862" y="2801124"/>
              <a:ext cx="1727855" cy="257784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897469" y="2929319"/>
              <a:ext cx="1560643" cy="257784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206810" y="3051941"/>
              <a:ext cx="908517" cy="256391"/>
            </a:xfrm>
            <a:prstGeom prst="rect">
              <a:avLst/>
            </a:prstGeom>
          </p:spPr>
        </p:pic>
      </p:grpSp>
      <p:sp>
        <p:nvSpPr>
          <p:cNvPr id="58" name="object 58" descr=""/>
          <p:cNvSpPr txBox="1"/>
          <p:nvPr/>
        </p:nvSpPr>
        <p:spPr>
          <a:xfrm>
            <a:off x="2842570" y="2555607"/>
            <a:ext cx="1624965" cy="71564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algn="ctr" marL="44450" marR="36830" indent="-1270">
              <a:lnSpc>
                <a:spcPct val="89900"/>
              </a:lnSpc>
              <a:spcBef>
                <a:spcPts val="395"/>
              </a:spcBef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Concept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can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be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further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exploited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by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allowing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be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executed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in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order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different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from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the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program</a:t>
            </a:r>
            <a:r>
              <a:rPr dirty="0" sz="90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order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60" name="object 60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64" name="object 6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65" name="object 65" descr=""/>
          <p:cNvSpPr txBox="1"/>
          <p:nvPr/>
        </p:nvSpPr>
        <p:spPr>
          <a:xfrm>
            <a:off x="5729114" y="594823"/>
            <a:ext cx="20307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Superscalar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vs.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Ordinary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Scalar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66" name="object 66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67" name="object 67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514142" y="885437"/>
              <a:ext cx="2772517" cy="2386528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 descr=""/>
          <p:cNvSpPr txBox="1"/>
          <p:nvPr/>
        </p:nvSpPr>
        <p:spPr>
          <a:xfrm>
            <a:off x="2477608" y="69580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71" name="object 7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72" name="object 72" descr=""/>
          <p:cNvSpPr txBox="1"/>
          <p:nvPr/>
        </p:nvSpPr>
        <p:spPr>
          <a:xfrm>
            <a:off x="599014" y="4146223"/>
            <a:ext cx="7480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Constraints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599015" y="4405933"/>
            <a:ext cx="4331970" cy="190881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60655" indent="-147955">
              <a:lnSpc>
                <a:spcPct val="100000"/>
              </a:lnSpc>
              <a:spcBef>
                <a:spcPts val="385"/>
              </a:spcBef>
              <a:buFont typeface="Wingdings"/>
              <a:buChar char=""/>
              <a:tabLst>
                <a:tab pos="1606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level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parallelism</a:t>
            </a:r>
            <a:endParaRPr sz="950">
              <a:latin typeface="Arial MT"/>
              <a:cs typeface="Arial MT"/>
            </a:endParaRPr>
          </a:p>
          <a:p>
            <a:pPr lvl="1" marL="333375" marR="5080" indent="-123825">
              <a:lnSpc>
                <a:spcPct val="106700"/>
              </a:lnSpc>
              <a:spcBef>
                <a:spcPts val="210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Refers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degree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which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program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can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be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executed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900" spc="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parallel</a:t>
            </a:r>
            <a:endParaRPr sz="900">
              <a:latin typeface="Arial MT"/>
              <a:cs typeface="Arial MT"/>
            </a:endParaRPr>
          </a:p>
          <a:p>
            <a:pPr lvl="1" marL="333375" marR="16510" indent="-123825">
              <a:lnSpc>
                <a:spcPct val="105700"/>
              </a:lnSpc>
              <a:spcBef>
                <a:spcPts val="185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combination</a:t>
            </a:r>
            <a:r>
              <a:rPr dirty="0" sz="90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compiler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based</a:t>
            </a:r>
            <a:r>
              <a:rPr dirty="0" sz="90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optimization</a:t>
            </a:r>
            <a:r>
              <a:rPr dirty="0" sz="90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hardware</a:t>
            </a:r>
            <a:r>
              <a:rPr dirty="0" sz="90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techniques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003366"/>
                </a:solidFill>
                <a:latin typeface="Arial MT"/>
                <a:cs typeface="Arial MT"/>
              </a:rPr>
              <a:t>can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be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used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maximize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level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parallelism</a:t>
            </a:r>
            <a:endParaRPr sz="90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520"/>
              </a:spcBef>
              <a:buFont typeface="Wingdings"/>
              <a:buChar char=""/>
              <a:tabLst>
                <a:tab pos="160655" algn="l"/>
              </a:tabLst>
            </a:pP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Limitations:</a:t>
            </a:r>
            <a:endParaRPr sz="95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80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True</a:t>
            </a:r>
            <a:r>
              <a:rPr dirty="0" sz="900" spc="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dependency</a:t>
            </a:r>
            <a:endParaRPr sz="90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45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Procedural</a:t>
            </a:r>
            <a:r>
              <a:rPr dirty="0" sz="900" spc="1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dependency</a:t>
            </a:r>
            <a:endParaRPr sz="90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95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Resource</a:t>
            </a:r>
            <a:r>
              <a:rPr dirty="0" sz="90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conflicts</a:t>
            </a:r>
            <a:endParaRPr sz="90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45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Output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dependency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(WAW: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Write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after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Write)</a:t>
            </a:r>
            <a:endParaRPr sz="90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90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Antidependency(WAR:</a:t>
            </a:r>
            <a:r>
              <a:rPr dirty="0" sz="900" spc="1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Write</a:t>
            </a:r>
            <a:r>
              <a:rPr dirty="0" sz="900" spc="1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after</a:t>
            </a:r>
            <a:r>
              <a:rPr dirty="0" sz="900" spc="1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Read)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730806" y="6365962"/>
            <a:ext cx="1052195" cy="527685"/>
          </a:xfrm>
          <a:prstGeom prst="rect">
            <a:avLst/>
          </a:prstGeom>
          <a:ln w="4944">
            <a:solidFill>
              <a:srgbClr val="0000FF"/>
            </a:solidFill>
          </a:ln>
        </p:spPr>
        <p:txBody>
          <a:bodyPr wrap="square" lIns="0" tIns="7620" rIns="0" bIns="0" rtlCol="0" vert="horz">
            <a:spAutoFit/>
          </a:bodyPr>
          <a:lstStyle/>
          <a:p>
            <a:pPr marL="46990">
              <a:lnSpc>
                <a:spcPts val="1250"/>
              </a:lnSpc>
              <a:spcBef>
                <a:spcPts val="60"/>
              </a:spcBef>
            </a:pPr>
            <a:r>
              <a:rPr dirty="0" sz="1050">
                <a:latin typeface="Courier New"/>
                <a:cs typeface="Courier New"/>
              </a:rPr>
              <a:t>B</a:t>
            </a:r>
            <a:r>
              <a:rPr dirty="0" sz="1050" spc="-20">
                <a:latin typeface="Courier New"/>
                <a:cs typeface="Courier New"/>
              </a:rPr>
              <a:t> </a:t>
            </a:r>
            <a:r>
              <a:rPr dirty="0" sz="1050">
                <a:latin typeface="Courier New"/>
                <a:cs typeface="Courier New"/>
              </a:rPr>
              <a:t>=</a:t>
            </a:r>
            <a:r>
              <a:rPr dirty="0" sz="1050" spc="-20">
                <a:latin typeface="Courier New"/>
                <a:cs typeface="Courier New"/>
              </a:rPr>
              <a:t> </a:t>
            </a:r>
            <a:r>
              <a:rPr dirty="0" sz="1050" spc="-50">
                <a:latin typeface="Courier New"/>
                <a:cs typeface="Courier New"/>
              </a:rPr>
              <a:t>3</a:t>
            </a:r>
            <a:endParaRPr sz="1050">
              <a:latin typeface="Courier New"/>
              <a:cs typeface="Courier New"/>
            </a:endParaRPr>
          </a:p>
          <a:p>
            <a:pPr marL="46990">
              <a:lnSpc>
                <a:spcPts val="1250"/>
              </a:lnSpc>
            </a:pPr>
            <a:r>
              <a:rPr dirty="0" sz="1050">
                <a:latin typeface="Courier New"/>
                <a:cs typeface="Courier New"/>
              </a:rPr>
              <a:t>A</a:t>
            </a:r>
            <a:r>
              <a:rPr dirty="0" sz="1050" spc="-20">
                <a:latin typeface="Courier New"/>
                <a:cs typeface="Courier New"/>
              </a:rPr>
              <a:t> </a:t>
            </a:r>
            <a:r>
              <a:rPr dirty="0" sz="1050">
                <a:latin typeface="Courier New"/>
                <a:cs typeface="Courier New"/>
              </a:rPr>
              <a:t>=</a:t>
            </a:r>
            <a:r>
              <a:rPr dirty="0" sz="1050" spc="-20">
                <a:latin typeface="Courier New"/>
                <a:cs typeface="Courier New"/>
              </a:rPr>
              <a:t> </a:t>
            </a:r>
            <a:r>
              <a:rPr dirty="0" sz="1050">
                <a:latin typeface="Courier New"/>
                <a:cs typeface="Courier New"/>
              </a:rPr>
              <a:t>B</a:t>
            </a:r>
            <a:r>
              <a:rPr dirty="0" sz="1050" spc="-20">
                <a:latin typeface="Courier New"/>
                <a:cs typeface="Courier New"/>
              </a:rPr>
              <a:t> </a:t>
            </a:r>
            <a:r>
              <a:rPr dirty="0" sz="1050">
                <a:latin typeface="Courier New"/>
                <a:cs typeface="Courier New"/>
              </a:rPr>
              <a:t>+</a:t>
            </a:r>
            <a:r>
              <a:rPr dirty="0" sz="1050" spc="-20">
                <a:latin typeface="Courier New"/>
                <a:cs typeface="Courier New"/>
              </a:rPr>
              <a:t> </a:t>
            </a:r>
            <a:r>
              <a:rPr dirty="0" sz="1050" spc="-50">
                <a:latin typeface="Courier New"/>
                <a:cs typeface="Courier New"/>
              </a:rPr>
              <a:t>1</a:t>
            </a:r>
            <a:endParaRPr sz="1050">
              <a:latin typeface="Courier New"/>
              <a:cs typeface="Courier New"/>
            </a:endParaRPr>
          </a:p>
          <a:p>
            <a:pPr marL="46990">
              <a:lnSpc>
                <a:spcPct val="100000"/>
              </a:lnSpc>
              <a:spcBef>
                <a:spcPts val="15"/>
              </a:spcBef>
            </a:pPr>
            <a:r>
              <a:rPr dirty="0" sz="1050">
                <a:latin typeface="Courier New"/>
                <a:cs typeface="Courier New"/>
              </a:rPr>
              <a:t>B</a:t>
            </a:r>
            <a:r>
              <a:rPr dirty="0" sz="1050" spc="-20">
                <a:latin typeface="Courier New"/>
                <a:cs typeface="Courier New"/>
              </a:rPr>
              <a:t> </a:t>
            </a:r>
            <a:r>
              <a:rPr dirty="0" sz="1050">
                <a:latin typeface="Courier New"/>
                <a:cs typeface="Courier New"/>
              </a:rPr>
              <a:t>=</a:t>
            </a:r>
            <a:r>
              <a:rPr dirty="0" sz="1050" spc="-20">
                <a:latin typeface="Courier New"/>
                <a:cs typeface="Courier New"/>
              </a:rPr>
              <a:t> </a:t>
            </a:r>
            <a:r>
              <a:rPr dirty="0" sz="1050" spc="-50">
                <a:latin typeface="Courier New"/>
                <a:cs typeface="Courier New"/>
              </a:rPr>
              <a:t>7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77" name="object 7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78" name="object 78" descr=""/>
          <p:cNvSpPr txBox="1"/>
          <p:nvPr/>
        </p:nvSpPr>
        <p:spPr>
          <a:xfrm>
            <a:off x="5729114" y="4146223"/>
            <a:ext cx="148780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Effect</a:t>
            </a:r>
            <a:r>
              <a:rPr dirty="0" sz="11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150" spc="-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Dependencies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80" name="object 8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761577" y="4436837"/>
              <a:ext cx="2277647" cy="2386528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77608" y="34066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21667" y="566058"/>
            <a:ext cx="4613275" cy="2908300"/>
            <a:chOff x="521667" y="566058"/>
            <a:chExt cx="4613275" cy="29083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7608" y="3278165"/>
              <a:ext cx="1237066" cy="1959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1667" y="566058"/>
              <a:ext cx="1320973" cy="326063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99014" y="594823"/>
            <a:ext cx="115443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1150" spc="-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Prediction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9015" y="889783"/>
            <a:ext cx="4293235" cy="2245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655" marR="79375" indent="-148590">
              <a:lnSpc>
                <a:spcPct val="101099"/>
              </a:lnSpc>
              <a:spcBef>
                <a:spcPts val="95"/>
              </a:spcBef>
              <a:buFont typeface="Wingdings"/>
              <a:buChar char=""/>
              <a:tabLst>
                <a:tab pos="1606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Any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high-performance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pipelined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machine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must address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of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dealing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with</a:t>
            </a:r>
            <a:r>
              <a:rPr dirty="0" sz="9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branches</a:t>
            </a:r>
            <a:endParaRPr sz="950">
              <a:latin typeface="Arial MT"/>
              <a:cs typeface="Arial MT"/>
            </a:endParaRPr>
          </a:p>
          <a:p>
            <a:pPr marL="160655" marR="306705" indent="-148590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1606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Intel 80486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addressed 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problem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by fetching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both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 next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sequential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after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speculatively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fetching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target instruction</a:t>
            </a:r>
            <a:endParaRPr sz="95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509"/>
              </a:spcBef>
              <a:buFont typeface="Wingdings"/>
              <a:buChar char=""/>
              <a:tabLst>
                <a:tab pos="1606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RISC</a:t>
            </a:r>
            <a:r>
              <a:rPr dirty="0" sz="9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machines:</a:t>
            </a:r>
            <a:endParaRPr sz="95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90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Delayed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strategy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was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explored</a:t>
            </a:r>
            <a:endParaRPr sz="900">
              <a:latin typeface="Arial MT"/>
              <a:cs typeface="Arial MT"/>
            </a:endParaRPr>
          </a:p>
          <a:p>
            <a:pPr lvl="1" marL="333375" marR="109855" indent="-123825">
              <a:lnSpc>
                <a:spcPct val="105700"/>
              </a:lnSpc>
              <a:spcBef>
                <a:spcPts val="190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Processor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always</a:t>
            </a:r>
            <a:r>
              <a:rPr dirty="0" sz="90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executes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single</a:t>
            </a:r>
            <a:r>
              <a:rPr dirty="0" sz="90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0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that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immediately</a:t>
            </a:r>
            <a:r>
              <a:rPr dirty="0" sz="90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follows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endParaRPr sz="90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90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Keeps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pipeline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full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while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processor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fetches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new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stream</a:t>
            </a:r>
            <a:endParaRPr sz="900">
              <a:latin typeface="Arial MT"/>
              <a:cs typeface="Arial MT"/>
            </a:endParaRPr>
          </a:p>
          <a:p>
            <a:pPr marL="160655" indent="-147955">
              <a:lnSpc>
                <a:spcPct val="100000"/>
              </a:lnSpc>
              <a:spcBef>
                <a:spcPts val="515"/>
              </a:spcBef>
              <a:buFont typeface="Wingdings"/>
              <a:buChar char=""/>
              <a:tabLst>
                <a:tab pos="1606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Superscalar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machines:</a:t>
            </a:r>
            <a:endParaRPr sz="95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80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Delayed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strategy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has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less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appeal</a:t>
            </a:r>
            <a:endParaRPr sz="900">
              <a:latin typeface="Arial MT"/>
              <a:cs typeface="Arial MT"/>
            </a:endParaRPr>
          </a:p>
          <a:p>
            <a:pPr lvl="1" marL="333375" indent="-123189">
              <a:lnSpc>
                <a:spcPct val="100000"/>
              </a:lnSpc>
              <a:spcBef>
                <a:spcPts val="250"/>
              </a:spcBef>
              <a:buChar char="•"/>
              <a:tabLst>
                <a:tab pos="3333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Have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returned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pre-RISC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techniques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branch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prediction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sp>
          <p:nvSpPr>
            <p:cNvPr id="9" name="object 9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5729114" y="594823"/>
            <a:ext cx="3206115" cy="1536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Design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Issues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–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vs.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Machine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level</a:t>
            </a:r>
            <a:endParaRPr sz="1150">
              <a:latin typeface="Arial MT"/>
              <a:cs typeface="Arial MT"/>
            </a:endParaRPr>
          </a:p>
          <a:p>
            <a:pPr marL="147955" indent="-147955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level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parallelism</a:t>
            </a:r>
            <a:endParaRPr sz="95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84"/>
              </a:spcBef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sequence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are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independent</a:t>
            </a:r>
            <a:endParaRPr sz="90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45"/>
              </a:spcBef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Execution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can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be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overlapped</a:t>
            </a:r>
            <a:endParaRPr sz="90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90"/>
              </a:spcBef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Governed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by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90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procedural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dependency</a:t>
            </a:r>
            <a:endParaRPr sz="900">
              <a:latin typeface="Arial MT"/>
              <a:cs typeface="Arial MT"/>
            </a:endParaRPr>
          </a:p>
          <a:p>
            <a:pPr marL="147955" indent="-147955">
              <a:lnSpc>
                <a:spcPct val="100000"/>
              </a:lnSpc>
              <a:spcBef>
                <a:spcPts val="530"/>
              </a:spcBef>
              <a:buFont typeface="Wingdings"/>
              <a:buChar char=""/>
              <a:tabLst>
                <a:tab pos="14795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Machine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Parallelism</a:t>
            </a:r>
            <a:endParaRPr sz="95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80"/>
              </a:spcBef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Ability</a:t>
            </a:r>
            <a:r>
              <a:rPr dirty="0" sz="900" spc="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take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advantage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level</a:t>
            </a:r>
            <a:r>
              <a:rPr dirty="0" sz="900" spc="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parallelism</a:t>
            </a:r>
            <a:endParaRPr sz="900">
              <a:latin typeface="Arial MT"/>
              <a:cs typeface="Arial MT"/>
            </a:endParaRPr>
          </a:p>
          <a:p>
            <a:pPr lvl="1" marL="320675" indent="-123189">
              <a:lnSpc>
                <a:spcPct val="100000"/>
              </a:lnSpc>
              <a:spcBef>
                <a:spcPts val="250"/>
              </a:spcBef>
              <a:buChar char="•"/>
              <a:tabLst>
                <a:tab pos="320675" algn="l"/>
              </a:tabLst>
            </a:pP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Governed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by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number</a:t>
            </a:r>
            <a:r>
              <a:rPr dirty="0" sz="900" spc="7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003366"/>
                </a:solidFill>
                <a:latin typeface="Arial MT"/>
                <a:cs typeface="Arial MT"/>
              </a:rPr>
              <a:t>parallel</a:t>
            </a:r>
            <a:r>
              <a:rPr dirty="0" sz="900" spc="7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003366"/>
                </a:solidFill>
                <a:latin typeface="Arial MT"/>
                <a:cs typeface="Arial MT"/>
              </a:rPr>
              <a:t>pipelines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sp>
          <p:nvSpPr>
            <p:cNvPr id="16" name="object 16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2477608" y="69580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99014" y="4146223"/>
            <a:ext cx="148590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Instruction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Policy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99015" y="4410576"/>
            <a:ext cx="4184650" cy="2037714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360"/>
              </a:spcBef>
              <a:buFont typeface="Wingdings"/>
              <a:buChar char=""/>
              <a:tabLst>
                <a:tab pos="1600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endParaRPr sz="850">
              <a:latin typeface="Arial MT"/>
              <a:cs typeface="Arial MT"/>
            </a:endParaRPr>
          </a:p>
          <a:p>
            <a:pPr lvl="1" marL="330835" indent="-120650">
              <a:lnSpc>
                <a:spcPct val="100000"/>
              </a:lnSpc>
              <a:spcBef>
                <a:spcPts val="235"/>
              </a:spcBef>
              <a:buChar char="•"/>
              <a:tabLst>
                <a:tab pos="3308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Refers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1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process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650" spc="1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initiating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650" spc="1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execution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650" spc="1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processor’s</a:t>
            </a:r>
            <a:r>
              <a:rPr dirty="0" sz="650" spc="1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functional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units</a:t>
            </a:r>
            <a:endParaRPr sz="650">
              <a:latin typeface="Arial MT"/>
              <a:cs typeface="Arial MT"/>
            </a:endParaRPr>
          </a:p>
          <a:p>
            <a:pPr marL="160020" indent="-147320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1600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5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85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policy</a:t>
            </a:r>
            <a:endParaRPr sz="850">
              <a:latin typeface="Arial MT"/>
              <a:cs typeface="Arial MT"/>
            </a:endParaRPr>
          </a:p>
          <a:p>
            <a:pPr lvl="1" marL="330835" indent="-120650">
              <a:lnSpc>
                <a:spcPct val="100000"/>
              </a:lnSpc>
              <a:spcBef>
                <a:spcPts val="234"/>
              </a:spcBef>
              <a:buChar char="•"/>
              <a:tabLst>
                <a:tab pos="3308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Refers</a:t>
            </a:r>
            <a:r>
              <a:rPr dirty="0" sz="65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65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r>
              <a:rPr dirty="0" sz="65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used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650" spc="8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endParaRPr sz="650">
              <a:latin typeface="Arial MT"/>
              <a:cs typeface="Arial MT"/>
            </a:endParaRPr>
          </a:p>
          <a:p>
            <a:pPr lvl="1" marL="330200" marR="106045" indent="-120650">
              <a:lnSpc>
                <a:spcPct val="105500"/>
              </a:lnSpc>
              <a:spcBef>
                <a:spcPts val="175"/>
              </a:spcBef>
              <a:buChar char="•"/>
              <a:tabLst>
                <a:tab pos="33337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65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occurs</a:t>
            </a:r>
            <a:r>
              <a:rPr dirty="0" sz="65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when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moves</a:t>
            </a:r>
            <a:r>
              <a:rPr dirty="0" sz="65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from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decode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stage</a:t>
            </a:r>
            <a:r>
              <a:rPr dirty="0" sz="65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pipeline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first</a:t>
            </a:r>
            <a:r>
              <a:rPr dirty="0" sz="650" spc="5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500">
                <a:solidFill>
                  <a:srgbClr val="003366"/>
                </a:solidFill>
                <a:latin typeface="Arial MT"/>
                <a:cs typeface="Arial MT"/>
              </a:rPr>
              <a:t>	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execute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stage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pipeline</a:t>
            </a:r>
            <a:endParaRPr sz="650">
              <a:latin typeface="Arial MT"/>
              <a:cs typeface="Arial MT"/>
            </a:endParaRPr>
          </a:p>
          <a:p>
            <a:pPr marL="160020" indent="-14732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1600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Three types of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orderings are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important:</a:t>
            </a:r>
            <a:endParaRPr sz="850">
              <a:latin typeface="Arial MT"/>
              <a:cs typeface="Arial MT"/>
            </a:endParaRPr>
          </a:p>
          <a:p>
            <a:pPr lvl="1" marL="330835" indent="-120650">
              <a:lnSpc>
                <a:spcPct val="100000"/>
              </a:lnSpc>
              <a:spcBef>
                <a:spcPts val="190"/>
              </a:spcBef>
              <a:buChar char="•"/>
              <a:tabLst>
                <a:tab pos="3308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order</a:t>
            </a:r>
            <a:r>
              <a:rPr dirty="0" sz="65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which</a:t>
            </a:r>
            <a:r>
              <a:rPr dirty="0" sz="65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65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are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fetched</a:t>
            </a:r>
            <a:endParaRPr sz="650">
              <a:latin typeface="Arial MT"/>
              <a:cs typeface="Arial MT"/>
            </a:endParaRPr>
          </a:p>
          <a:p>
            <a:pPr lvl="1" marL="330835" indent="-120650">
              <a:lnSpc>
                <a:spcPct val="100000"/>
              </a:lnSpc>
              <a:spcBef>
                <a:spcPts val="229"/>
              </a:spcBef>
              <a:buChar char="•"/>
              <a:tabLst>
                <a:tab pos="3308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order</a:t>
            </a:r>
            <a:r>
              <a:rPr dirty="0" sz="65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which</a:t>
            </a:r>
            <a:r>
              <a:rPr dirty="0" sz="65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650" spc="9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are</a:t>
            </a:r>
            <a:r>
              <a:rPr dirty="0" sz="650" spc="8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executed</a:t>
            </a:r>
            <a:endParaRPr sz="650">
              <a:latin typeface="Arial MT"/>
              <a:cs typeface="Arial MT"/>
            </a:endParaRPr>
          </a:p>
          <a:p>
            <a:pPr lvl="1" marL="330835" indent="-120650">
              <a:lnSpc>
                <a:spcPct val="100000"/>
              </a:lnSpc>
              <a:spcBef>
                <a:spcPts val="220"/>
              </a:spcBef>
              <a:buChar char="•"/>
              <a:tabLst>
                <a:tab pos="3308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order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which</a:t>
            </a:r>
            <a:r>
              <a:rPr dirty="0" sz="65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instructions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update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65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contents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register</a:t>
            </a:r>
            <a:r>
              <a:rPr dirty="0" sz="650" spc="10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650" spc="9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memory</a:t>
            </a:r>
            <a:r>
              <a:rPr dirty="0" sz="650" spc="10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locations</a:t>
            </a:r>
            <a:endParaRPr sz="650">
              <a:latin typeface="Arial MT"/>
              <a:cs typeface="Arial MT"/>
            </a:endParaRPr>
          </a:p>
          <a:p>
            <a:pPr marL="160020" indent="-147320">
              <a:lnSpc>
                <a:spcPct val="100000"/>
              </a:lnSpc>
              <a:spcBef>
                <a:spcPts val="535"/>
              </a:spcBef>
              <a:buFont typeface="Wingdings"/>
              <a:buChar char=""/>
              <a:tabLst>
                <a:tab pos="160020" algn="l"/>
              </a:tabLst>
            </a:pP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Superscalar</a:t>
            </a:r>
            <a:r>
              <a:rPr dirty="0" sz="8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instruction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policies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can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be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grouped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into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850" spc="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>
                <a:solidFill>
                  <a:srgbClr val="003366"/>
                </a:solidFill>
                <a:latin typeface="Arial MT"/>
                <a:cs typeface="Arial MT"/>
              </a:rPr>
              <a:t>following</a:t>
            </a:r>
            <a:r>
              <a:rPr dirty="0" sz="85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850" spc="-10">
                <a:solidFill>
                  <a:srgbClr val="003366"/>
                </a:solidFill>
                <a:latin typeface="Arial MT"/>
                <a:cs typeface="Arial MT"/>
              </a:rPr>
              <a:t>categories:</a:t>
            </a:r>
            <a:endParaRPr sz="850">
              <a:latin typeface="Arial MT"/>
              <a:cs typeface="Arial MT"/>
            </a:endParaRPr>
          </a:p>
          <a:p>
            <a:pPr lvl="1" marL="330835" indent="-120650">
              <a:lnSpc>
                <a:spcPct val="100000"/>
              </a:lnSpc>
              <a:spcBef>
                <a:spcPts val="229"/>
              </a:spcBef>
              <a:buChar char="•"/>
              <a:tabLst>
                <a:tab pos="3308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In-order</a:t>
            </a:r>
            <a:r>
              <a:rPr dirty="0" sz="650" spc="1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650" spc="1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with</a:t>
            </a:r>
            <a:r>
              <a:rPr dirty="0" sz="650" spc="114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in-order</a:t>
            </a:r>
            <a:r>
              <a:rPr dirty="0" sz="650" spc="1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completion</a:t>
            </a:r>
            <a:endParaRPr sz="650">
              <a:latin typeface="Arial MT"/>
              <a:cs typeface="Arial MT"/>
            </a:endParaRPr>
          </a:p>
          <a:p>
            <a:pPr lvl="1" marL="330835" indent="-120650">
              <a:lnSpc>
                <a:spcPct val="100000"/>
              </a:lnSpc>
              <a:spcBef>
                <a:spcPts val="229"/>
              </a:spcBef>
              <a:buChar char="•"/>
              <a:tabLst>
                <a:tab pos="3308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In-order</a:t>
            </a:r>
            <a:r>
              <a:rPr dirty="0" sz="650" spc="1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650" spc="1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with</a:t>
            </a:r>
            <a:r>
              <a:rPr dirty="0" sz="650" spc="1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out-of-order</a:t>
            </a:r>
            <a:r>
              <a:rPr dirty="0" sz="650" spc="1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completion</a:t>
            </a:r>
            <a:endParaRPr sz="650">
              <a:latin typeface="Arial MT"/>
              <a:cs typeface="Arial MT"/>
            </a:endParaRPr>
          </a:p>
          <a:p>
            <a:pPr lvl="1" marL="330835" indent="-120650">
              <a:lnSpc>
                <a:spcPct val="100000"/>
              </a:lnSpc>
              <a:spcBef>
                <a:spcPts val="220"/>
              </a:spcBef>
              <a:buChar char="•"/>
              <a:tabLst>
                <a:tab pos="330835" algn="l"/>
              </a:tabLst>
            </a:pP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Out-of-order</a:t>
            </a:r>
            <a:r>
              <a:rPr dirty="0" sz="650" spc="1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650" spc="1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with</a:t>
            </a:r>
            <a:r>
              <a:rPr dirty="0" sz="650" spc="1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>
                <a:solidFill>
                  <a:srgbClr val="003366"/>
                </a:solidFill>
                <a:latin typeface="Arial MT"/>
                <a:cs typeface="Arial MT"/>
              </a:rPr>
              <a:t>out-of-order</a:t>
            </a:r>
            <a:r>
              <a:rPr dirty="0" sz="650" spc="15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650" spc="-10">
                <a:solidFill>
                  <a:srgbClr val="003366"/>
                </a:solidFill>
                <a:latin typeface="Arial MT"/>
                <a:cs typeface="Arial MT"/>
              </a:rPr>
              <a:t>completion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14733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607709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5729114" y="4146223"/>
            <a:ext cx="3424554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Superscalar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Instruction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Completion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Policies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428957" y="3795874"/>
            <a:ext cx="4951730" cy="3519804"/>
            <a:chOff x="5428957" y="3795874"/>
            <a:chExt cx="4951730" cy="3519804"/>
          </a:xfrm>
        </p:grpSpPr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9020" y="4436837"/>
              <a:ext cx="2042761" cy="2386528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5432132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490308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8165"/>
            <a:ext cx="1237066" cy="1959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611714" y="594823"/>
            <a:ext cx="225806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Organization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for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Out-of-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Order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Issue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11558" y="244474"/>
            <a:ext cx="4951730" cy="4159250"/>
            <a:chOff x="311558" y="244474"/>
            <a:chExt cx="4951730" cy="415925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1365" y="1135777"/>
              <a:ext cx="3643956" cy="182505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4733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29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5530380" y="818955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607709" y="34066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8165"/>
            <a:ext cx="1237066" cy="1959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729114" y="594823"/>
            <a:ext cx="307594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Conceptual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Depiction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 Superscalar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Processing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428957" y="244474"/>
            <a:ext cx="4951730" cy="4159250"/>
            <a:chOff x="5428957" y="244474"/>
            <a:chExt cx="4951730" cy="4159250"/>
          </a:xfrm>
        </p:grpSpPr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2926" y="1231610"/>
              <a:ext cx="3234949" cy="1694183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432132" y="2476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530379" y="4370354"/>
              <a:ext cx="4427855" cy="33020"/>
            </a:xfrm>
            <a:custGeom>
              <a:avLst/>
              <a:gdLst/>
              <a:ahLst/>
              <a:cxnLst/>
              <a:rect l="l" t="t" r="r" b="b"/>
              <a:pathLst>
                <a:path w="4427855" h="33020">
                  <a:moveTo>
                    <a:pt x="4427242" y="0"/>
                  </a:moveTo>
                  <a:lnTo>
                    <a:pt x="0" y="0"/>
                  </a:lnTo>
                  <a:lnTo>
                    <a:pt x="0" y="32965"/>
                  </a:lnTo>
                  <a:lnTo>
                    <a:pt x="4427242" y="32965"/>
                  </a:lnTo>
                  <a:lnTo>
                    <a:pt x="4427242" y="0"/>
                  </a:lnTo>
                  <a:close/>
                </a:path>
              </a:pathLst>
            </a:custGeom>
            <a:solidFill>
              <a:srgbClr val="336699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490308" y="6958009"/>
            <a:ext cx="6007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9564"/>
            <a:ext cx="1237066" cy="195974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611714" y="4146223"/>
            <a:ext cx="162496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Pentium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4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Block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Diagram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311558" y="3795874"/>
            <a:ext cx="4951730" cy="3519804"/>
            <a:chOff x="311558" y="3795874"/>
            <a:chExt cx="4951730" cy="3519804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542" y="4441902"/>
              <a:ext cx="3696917" cy="2376398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314733" y="3799049"/>
              <a:ext cx="4945380" cy="3513454"/>
            </a:xfrm>
            <a:custGeom>
              <a:avLst/>
              <a:gdLst/>
              <a:ahLst/>
              <a:cxnLst/>
              <a:rect l="l" t="t" r="r" b="b"/>
              <a:pathLst>
                <a:path w="4945380" h="3513454">
                  <a:moveTo>
                    <a:pt x="0" y="3513300"/>
                  </a:moveTo>
                  <a:lnTo>
                    <a:pt x="4945133" y="3513300"/>
                  </a:lnTo>
                  <a:lnTo>
                    <a:pt x="4945133" y="0"/>
                  </a:lnTo>
                  <a:lnTo>
                    <a:pt x="0" y="0"/>
                  </a:lnTo>
                  <a:lnTo>
                    <a:pt x="0" y="351330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7595009" y="6958009"/>
            <a:ext cx="61341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2021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Computer</a:t>
            </a: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System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9564"/>
            <a:ext cx="1237066" cy="195974"/>
          </a:xfrm>
          <a:prstGeom prst="rect">
            <a:avLst/>
          </a:prstGeom>
        </p:spPr>
      </p:pic>
      <p:sp>
        <p:nvSpPr>
          <p:cNvPr id="25" name="object 25" descr=""/>
          <p:cNvSpPr txBox="1"/>
          <p:nvPr/>
        </p:nvSpPr>
        <p:spPr>
          <a:xfrm>
            <a:off x="6189195" y="4532985"/>
            <a:ext cx="3393440" cy="447675"/>
          </a:xfrm>
          <a:prstGeom prst="rect">
            <a:avLst/>
          </a:prstGeom>
          <a:solidFill>
            <a:srgbClr val="FFFFCC"/>
          </a:solidFill>
        </p:spPr>
        <p:txBody>
          <a:bodyPr wrap="square" lIns="0" tIns="15240" rIns="0" bIns="0" rtlCol="0" vert="horz">
            <a:spAutoFit/>
          </a:bodyPr>
          <a:lstStyle/>
          <a:p>
            <a:pPr marL="46990" marR="55880">
              <a:lnSpc>
                <a:spcPct val="103299"/>
              </a:lnSpc>
              <a:spcBef>
                <a:spcPts val="120"/>
              </a:spcBef>
            </a:pPr>
            <a:r>
              <a:rPr dirty="0" sz="850">
                <a:latin typeface="Arial MT"/>
                <a:cs typeface="Arial MT"/>
              </a:rPr>
              <a:t>Assume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one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bubble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must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inserted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due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read-after-</a:t>
            </a:r>
            <a:r>
              <a:rPr dirty="0" sz="850" spc="-20">
                <a:latin typeface="Arial MT"/>
                <a:cs typeface="Arial MT"/>
              </a:rPr>
              <a:t>load </a:t>
            </a:r>
            <a:r>
              <a:rPr dirty="0" sz="850">
                <a:latin typeface="Arial MT"/>
                <a:cs typeface="Arial MT"/>
              </a:rPr>
              <a:t>dependency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after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when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its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delay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slot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cannot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filled. </a:t>
            </a:r>
            <a:r>
              <a:rPr dirty="0" sz="850">
                <a:latin typeface="Arial MT"/>
                <a:cs typeface="Arial MT"/>
              </a:rPr>
              <a:t>Let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Symbol"/>
                <a:cs typeface="Symbol"/>
              </a:rPr>
              <a:t></a:t>
            </a:r>
            <a:r>
              <a:rPr dirty="0" sz="850" spc="25">
                <a:latin typeface="Times New Roman"/>
                <a:cs typeface="Times New Roman"/>
              </a:rPr>
              <a:t> </a:t>
            </a:r>
            <a:r>
              <a:rPr dirty="0" sz="850">
                <a:latin typeface="Arial MT"/>
                <a:cs typeface="Arial MT"/>
              </a:rPr>
              <a:t>be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fraction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all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are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followed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by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bubble.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5716414" y="4146223"/>
            <a:ext cx="254698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Pipeline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Throughput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>
                <a:solidFill>
                  <a:srgbClr val="003366"/>
                </a:solidFill>
                <a:latin typeface="Arial MT"/>
                <a:cs typeface="Arial MT"/>
              </a:rPr>
              <a:t>with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Dependencies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393246" y="5032918"/>
            <a:ext cx="953135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 spc="-50" i="1">
                <a:latin typeface="Arial"/>
                <a:cs typeface="Arial"/>
              </a:rPr>
              <a:t>q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1050">
                <a:latin typeface="Arial MT"/>
                <a:cs typeface="Arial MT"/>
              </a:rPr>
              <a:t>(1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+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i="1">
                <a:latin typeface="Arial"/>
                <a:cs typeface="Arial"/>
              </a:rPr>
              <a:t>q</a:t>
            </a:r>
            <a:r>
              <a:rPr dirty="0" sz="1050">
                <a:latin typeface="Symbol"/>
                <a:cs typeface="Symbol"/>
              </a:rPr>
              <a:t></a:t>
            </a:r>
            <a:r>
              <a:rPr dirty="0" sz="1050">
                <a:latin typeface="Arial MT"/>
                <a:cs typeface="Arial MT"/>
              </a:rPr>
              <a:t>/</a:t>
            </a:r>
            <a:r>
              <a:rPr dirty="0" sz="1050" spc="-175">
                <a:latin typeface="Arial MT"/>
                <a:cs typeface="Arial MT"/>
              </a:rPr>
              <a:t> </a:t>
            </a:r>
            <a:r>
              <a:rPr dirty="0" sz="1050" i="1">
                <a:latin typeface="Arial"/>
                <a:cs typeface="Arial"/>
              </a:rPr>
              <a:t>t</a:t>
            </a:r>
            <a:r>
              <a:rPr dirty="0" sz="1050">
                <a:latin typeface="Arial MT"/>
                <a:cs typeface="Arial MT"/>
              </a:rPr>
              <a:t>)(1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+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 spc="-35">
                <a:latin typeface="Symbol"/>
                <a:cs typeface="Symbol"/>
              </a:rPr>
              <a:t></a:t>
            </a:r>
            <a:r>
              <a:rPr dirty="0" sz="1050" spc="-35">
                <a:latin typeface="Arial MT"/>
                <a:cs typeface="Arial MT"/>
              </a:rPr>
              <a:t>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7408005" y="5225250"/>
            <a:ext cx="922655" cy="0"/>
          </a:xfrm>
          <a:custGeom>
            <a:avLst/>
            <a:gdLst/>
            <a:ahLst/>
            <a:cxnLst/>
            <a:rect l="l" t="t" r="r" b="b"/>
            <a:pathLst>
              <a:path w="922654" h="0">
                <a:moveTo>
                  <a:pt x="0" y="0"/>
                </a:moveTo>
                <a:lnTo>
                  <a:pt x="922342" y="0"/>
                </a:lnTo>
              </a:path>
            </a:pathLst>
          </a:custGeom>
          <a:ln w="65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223930" y="5131852"/>
            <a:ext cx="115189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Arial MT"/>
                <a:cs typeface="Arial MT"/>
              </a:rPr>
              <a:t>Pipeline</a:t>
            </a:r>
            <a:r>
              <a:rPr dirty="0" sz="1050" spc="-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speedup</a:t>
            </a:r>
            <a:r>
              <a:rPr dirty="0" sz="1050" spc="-30">
                <a:latin typeface="Arial MT"/>
                <a:cs typeface="Arial MT"/>
              </a:rPr>
              <a:t> </a:t>
            </a:r>
            <a:r>
              <a:rPr dirty="0" sz="1050" spc="-50">
                <a:latin typeface="Arial MT"/>
                <a:cs typeface="Arial MT"/>
              </a:rPr>
              <a:t>=</a:t>
            </a:r>
            <a:endParaRPr sz="1050">
              <a:latin typeface="Arial MT"/>
              <a:cs typeface="Arial MT"/>
            </a:endParaRPr>
          </a:p>
        </p:txBody>
      </p:sp>
      <p:graphicFrame>
        <p:nvGraphicFramePr>
          <p:cNvPr id="30" name="object 30" descr=""/>
          <p:cNvGraphicFramePr>
            <a:graphicFrameLocks noGrp="1"/>
          </p:cNvGraphicFramePr>
          <p:nvPr/>
        </p:nvGraphicFramePr>
        <p:xfrm>
          <a:off x="8692694" y="5027460"/>
          <a:ext cx="834390" cy="578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675"/>
                <a:gridCol w="309245"/>
              </a:tblGrid>
              <a:tr h="136525">
                <a:tc>
                  <a:txBody>
                    <a:bodyPr/>
                    <a:lstStyle/>
                    <a:p>
                      <a:pPr algn="ctr" marL="3810">
                        <a:lnSpc>
                          <a:spcPts val="750"/>
                        </a:lnSpc>
                        <a:spcBef>
                          <a:spcPts val="225"/>
                        </a:spcBef>
                      </a:pPr>
                      <a:r>
                        <a:rPr dirty="0" sz="650">
                          <a:latin typeface="Arial MT"/>
                          <a:cs typeface="Arial MT"/>
                        </a:rPr>
                        <a:t>R-</a:t>
                      </a:r>
                      <a:r>
                        <a:rPr dirty="0" sz="650" spc="-20">
                          <a:latin typeface="Arial MT"/>
                          <a:cs typeface="Arial MT"/>
                        </a:rPr>
                        <a:t>type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750"/>
                        </a:lnSpc>
                        <a:spcBef>
                          <a:spcPts val="225"/>
                        </a:spcBef>
                      </a:pPr>
                      <a:r>
                        <a:rPr dirty="0" sz="650" spc="-25">
                          <a:latin typeface="Arial MT"/>
                          <a:cs typeface="Arial MT"/>
                        </a:rPr>
                        <a:t>44%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28575">
                    <a:solidFill>
                      <a:srgbClr val="FFCCCC"/>
                    </a:solidFill>
                  </a:tcPr>
                </a:tc>
              </a:tr>
              <a:tr h="104139">
                <a:tc>
                  <a:txBody>
                    <a:bodyPr/>
                    <a:lstStyle/>
                    <a:p>
                      <a:pPr algn="ctr" marR="52069">
                        <a:lnSpc>
                          <a:spcPts val="725"/>
                        </a:lnSpc>
                      </a:pPr>
                      <a:r>
                        <a:rPr dirty="0" sz="650" spc="-20">
                          <a:latin typeface="Arial MT"/>
                          <a:cs typeface="Arial MT"/>
                        </a:rPr>
                        <a:t>Load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725"/>
                        </a:lnSpc>
                      </a:pPr>
                      <a:r>
                        <a:rPr dirty="0" sz="650" spc="-25">
                          <a:latin typeface="Arial MT"/>
                          <a:cs typeface="Arial MT"/>
                        </a:rPr>
                        <a:t>24%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FFCCCC"/>
                    </a:solidFill>
                  </a:tcPr>
                </a:tc>
              </a:tr>
              <a:tr h="104139">
                <a:tc>
                  <a:txBody>
                    <a:bodyPr/>
                    <a:lstStyle/>
                    <a:p>
                      <a:pPr algn="ctr" marR="36830">
                        <a:lnSpc>
                          <a:spcPts val="725"/>
                        </a:lnSpc>
                      </a:pPr>
                      <a:r>
                        <a:rPr dirty="0" sz="650" spc="-20">
                          <a:latin typeface="Arial MT"/>
                          <a:cs typeface="Arial MT"/>
                        </a:rPr>
                        <a:t>Store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725"/>
                        </a:lnSpc>
                      </a:pPr>
                      <a:r>
                        <a:rPr dirty="0" sz="650" spc="-25">
                          <a:latin typeface="Arial MT"/>
                          <a:cs typeface="Arial MT"/>
                        </a:rPr>
                        <a:t>12%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FFCCCC"/>
                    </a:solidFill>
                  </a:tcPr>
                </a:tc>
              </a:tr>
              <a:tr h="109855">
                <a:tc>
                  <a:txBody>
                    <a:bodyPr/>
                    <a:lstStyle/>
                    <a:p>
                      <a:pPr algn="ctr" marL="22860">
                        <a:lnSpc>
                          <a:spcPts val="750"/>
                        </a:lnSpc>
                      </a:pPr>
                      <a:r>
                        <a:rPr dirty="0" sz="650" spc="-10">
                          <a:latin typeface="Arial MT"/>
                          <a:cs typeface="Arial MT"/>
                        </a:rPr>
                        <a:t>Branch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ts val="750"/>
                        </a:lnSpc>
                      </a:pPr>
                      <a:r>
                        <a:rPr dirty="0" sz="650" spc="-25">
                          <a:latin typeface="Arial MT"/>
                          <a:cs typeface="Arial MT"/>
                        </a:rPr>
                        <a:t>18%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FFCCCC"/>
                    </a:solidFill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algn="ctr" marR="32384">
                        <a:lnSpc>
                          <a:spcPts val="750"/>
                        </a:lnSpc>
                      </a:pPr>
                      <a:r>
                        <a:rPr dirty="0" sz="650" spc="-20">
                          <a:latin typeface="Arial MT"/>
                          <a:cs typeface="Arial MT"/>
                        </a:rPr>
                        <a:t>Jump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750"/>
                        </a:lnSpc>
                      </a:pPr>
                      <a:r>
                        <a:rPr dirty="0" sz="650" spc="-25">
                          <a:latin typeface="Arial MT"/>
                          <a:cs typeface="Arial MT"/>
                        </a:rPr>
                        <a:t>2%</a:t>
                      </a:r>
                      <a:endParaRPr sz="65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solidFill>
                      <a:srgbClr val="FFCCCC"/>
                    </a:solidFill>
                  </a:tcPr>
                </a:tc>
              </a:tr>
            </a:tbl>
          </a:graphicData>
        </a:graphic>
      </p:graphicFrame>
      <p:sp>
        <p:nvSpPr>
          <p:cNvPr id="31" name="object 31" descr=""/>
          <p:cNvSpPr txBox="1"/>
          <p:nvPr/>
        </p:nvSpPr>
        <p:spPr>
          <a:xfrm>
            <a:off x="6123313" y="5653795"/>
            <a:ext cx="3524885" cy="18161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209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dirty="0" sz="850">
                <a:latin typeface="Arial MT"/>
                <a:cs typeface="Arial MT"/>
              </a:rPr>
              <a:t>Example</a:t>
            </a:r>
            <a:r>
              <a:rPr dirty="0" sz="850" spc="20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15.3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223930" y="5837971"/>
            <a:ext cx="3256279" cy="8464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95"/>
              </a:spcBef>
            </a:pPr>
            <a:r>
              <a:rPr dirty="0" sz="850">
                <a:latin typeface="Arial MT"/>
                <a:cs typeface="Arial MT"/>
              </a:rPr>
              <a:t>Calculate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effective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CPI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for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MicroMIPS, assuming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that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quarter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branch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and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load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instructions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are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followed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by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10">
                <a:latin typeface="Arial MT"/>
                <a:cs typeface="Arial MT"/>
              </a:rPr>
              <a:t>bubbles.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9"/>
              </a:spcBef>
            </a:pPr>
            <a:r>
              <a:rPr dirty="0" sz="850" spc="-10" b="1">
                <a:solidFill>
                  <a:srgbClr val="FF0000"/>
                </a:solidFill>
                <a:latin typeface="Arial"/>
                <a:cs typeface="Arial"/>
              </a:rPr>
              <a:t>Solution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850">
                <a:latin typeface="Arial MT"/>
                <a:cs typeface="Arial MT"/>
              </a:rPr>
              <a:t>Fraction of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bubbles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Symbol"/>
                <a:cs typeface="Symbol"/>
              </a:rPr>
              <a:t></a:t>
            </a:r>
            <a:r>
              <a:rPr dirty="0" sz="850" spc="20">
                <a:latin typeface="Times New Roman"/>
                <a:cs typeface="Times New Roman"/>
              </a:rPr>
              <a:t> </a:t>
            </a:r>
            <a:r>
              <a:rPr dirty="0" sz="850">
                <a:latin typeface="Arial MT"/>
                <a:cs typeface="Arial MT"/>
              </a:rPr>
              <a:t>=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0.25(0.24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+ 0.18) =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 spc="-20">
                <a:latin typeface="Arial MT"/>
                <a:cs typeface="Arial MT"/>
              </a:rPr>
              <a:t>0.105</a:t>
            </a:r>
            <a:endParaRPr sz="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Arial MT"/>
                <a:cs typeface="Arial MT"/>
              </a:rPr>
              <a:t>CPI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=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1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+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Symbol"/>
                <a:cs typeface="Symbol"/>
              </a:rPr>
              <a:t></a:t>
            </a:r>
            <a:r>
              <a:rPr dirty="0" sz="850" spc="25">
                <a:latin typeface="Times New Roman"/>
                <a:cs typeface="Times New Roman"/>
              </a:rPr>
              <a:t> </a:t>
            </a:r>
            <a:r>
              <a:rPr dirty="0" sz="850">
                <a:latin typeface="Arial MT"/>
                <a:cs typeface="Arial MT"/>
              </a:rPr>
              <a:t>=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1.105</a:t>
            </a:r>
            <a:r>
              <a:rPr dirty="0" sz="850" spc="130">
                <a:latin typeface="Arial MT"/>
                <a:cs typeface="Arial MT"/>
              </a:rPr>
              <a:t>  </a:t>
            </a:r>
            <a:r>
              <a:rPr dirty="0" sz="850">
                <a:latin typeface="Arial MT"/>
                <a:cs typeface="Arial MT"/>
              </a:rPr>
              <a:t>(which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is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very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close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to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the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ideal</a:t>
            </a:r>
            <a:r>
              <a:rPr dirty="0" sz="850" spc="1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value</a:t>
            </a:r>
            <a:r>
              <a:rPr dirty="0" sz="850" spc="5">
                <a:latin typeface="Arial MT"/>
                <a:cs typeface="Arial MT"/>
              </a:rPr>
              <a:t> </a:t>
            </a:r>
            <a:r>
              <a:rPr dirty="0" sz="850">
                <a:latin typeface="Arial MT"/>
                <a:cs typeface="Arial MT"/>
              </a:rPr>
              <a:t>of</a:t>
            </a:r>
            <a:r>
              <a:rPr dirty="0" sz="850" spc="10">
                <a:latin typeface="Arial MT"/>
                <a:cs typeface="Arial MT"/>
              </a:rPr>
              <a:t> </a:t>
            </a:r>
            <a:r>
              <a:rPr dirty="0" sz="850" spc="-25">
                <a:latin typeface="Arial MT"/>
                <a:cs typeface="Arial MT"/>
              </a:rPr>
              <a:t>1)</a:t>
            </a:r>
            <a:endParaRPr sz="850">
              <a:latin typeface="Arial MT"/>
              <a:cs typeface="Arial MT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5432132" y="3799049"/>
            <a:ext cx="4945380" cy="3513454"/>
          </a:xfrm>
          <a:custGeom>
            <a:avLst/>
            <a:gdLst/>
            <a:ahLst/>
            <a:cxnLst/>
            <a:rect l="l" t="t" r="r" b="b"/>
            <a:pathLst>
              <a:path w="4945380" h="3513454">
                <a:moveTo>
                  <a:pt x="0" y="3513300"/>
                </a:moveTo>
                <a:lnTo>
                  <a:pt x="4945133" y="3513300"/>
                </a:lnTo>
                <a:lnTo>
                  <a:pt x="4945133" y="0"/>
                </a:lnTo>
                <a:lnTo>
                  <a:pt x="0" y="0"/>
                </a:lnTo>
                <a:lnTo>
                  <a:pt x="0" y="3513300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Jaehyun Park</dc:creator>
  <dc:title>CS_03_Parallelism</dc:title>
  <dcterms:created xsi:type="dcterms:W3CDTF">2025-04-06T14:43:47Z</dcterms:created>
  <dcterms:modified xsi:type="dcterms:W3CDTF">2025-04-06T14:43:47Z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2021-03-22T00:00:00Z</vt:filetime>
  </property>
  <property fmtid="{D5CDD505-2E9C-101B-9397-08002B2CF9AE}" pid="3" name="Creator">
    <vt:lpwstr>pdftopdf filter</vt:lpwstr>
  </property>
  <property fmtid="{D5CDD505-2E9C-101B-9397-08002B2CF9AE}" pid="4" name="LastSaved">
    <vt:filetime>2025-04-06T00:00:00Z</vt:filetime>
  </property>
  <property fmtid="{D5CDD505-2E9C-101B-9397-08002B2CF9AE}" pid="5" name="Producer">
    <vt:lpwstr>macOS Version 11.2.2 (Build 20D80) Quartz PDFContext</vt:lpwstr>
  </property>
</Properties>
</file>