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88963" y="364489"/>
            <a:ext cx="5125720" cy="3204210"/>
          </a:xfrm>
          <a:custGeom>
            <a:avLst/>
            <a:gdLst/>
            <a:ahLst/>
            <a:cxnLst/>
            <a:rect l="l" t="t" r="r" b="b"/>
            <a:pathLst>
              <a:path w="5125720" h="3204210">
                <a:moveTo>
                  <a:pt x="5125212" y="0"/>
                </a:moveTo>
                <a:lnTo>
                  <a:pt x="5117604" y="0"/>
                </a:lnTo>
                <a:lnTo>
                  <a:pt x="5117604" y="7620"/>
                </a:lnTo>
                <a:lnTo>
                  <a:pt x="5117604" y="3196590"/>
                </a:lnTo>
                <a:lnTo>
                  <a:pt x="7632" y="3196590"/>
                </a:lnTo>
                <a:lnTo>
                  <a:pt x="7632" y="3197098"/>
                </a:lnTo>
                <a:lnTo>
                  <a:pt x="4584" y="3197098"/>
                </a:lnTo>
                <a:lnTo>
                  <a:pt x="4584" y="3196590"/>
                </a:lnTo>
                <a:lnTo>
                  <a:pt x="7632" y="3196590"/>
                </a:lnTo>
                <a:lnTo>
                  <a:pt x="7632" y="7620"/>
                </a:lnTo>
                <a:lnTo>
                  <a:pt x="5117604" y="7620"/>
                </a:lnTo>
                <a:lnTo>
                  <a:pt x="5117604" y="0"/>
                </a:lnTo>
                <a:lnTo>
                  <a:pt x="0" y="0"/>
                </a:lnTo>
                <a:lnTo>
                  <a:pt x="0" y="7620"/>
                </a:lnTo>
                <a:lnTo>
                  <a:pt x="0" y="3196590"/>
                </a:lnTo>
                <a:lnTo>
                  <a:pt x="0" y="3201670"/>
                </a:lnTo>
                <a:lnTo>
                  <a:pt x="0" y="3204210"/>
                </a:lnTo>
                <a:lnTo>
                  <a:pt x="5125212" y="3204210"/>
                </a:lnTo>
                <a:lnTo>
                  <a:pt x="5125212" y="3201670"/>
                </a:lnTo>
                <a:lnTo>
                  <a:pt x="5125212" y="3196590"/>
                </a:lnTo>
                <a:lnTo>
                  <a:pt x="5125212" y="7620"/>
                </a:lnTo>
                <a:lnTo>
                  <a:pt x="51252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jpg"/><Relationship Id="rId17" Type="http://schemas.openxmlformats.org/officeDocument/2006/relationships/image" Target="../media/image16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1.jpg"/><Relationship Id="rId4" Type="http://schemas.openxmlformats.org/officeDocument/2006/relationships/image" Target="../media/image17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18.jpg"/><Relationship Id="rId4" Type="http://schemas.openxmlformats.org/officeDocument/2006/relationships/image" Target="../media/image19.png"/><Relationship Id="rId5" Type="http://schemas.openxmlformats.org/officeDocument/2006/relationships/image" Target="../media/image20.jpg"/><Relationship Id="rId6" Type="http://schemas.openxmlformats.org/officeDocument/2006/relationships/image" Target="../media/image1.jpg"/><Relationship Id="rId7" Type="http://schemas.openxmlformats.org/officeDocument/2006/relationships/image" Target="../media/image21.jpg"/><Relationship Id="rId8" Type="http://schemas.openxmlformats.org/officeDocument/2006/relationships/image" Target="../media/image22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1.jpg"/><Relationship Id="rId6" Type="http://schemas.openxmlformats.org/officeDocument/2006/relationships/image" Target="../media/image25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jp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jpg"/><Relationship Id="rId14" Type="http://schemas.openxmlformats.org/officeDocument/2006/relationships/image" Target="../media/image37.png"/><Relationship Id="rId15" Type="http://schemas.openxmlformats.org/officeDocument/2006/relationships/image" Target="../media/image38.png"/><Relationship Id="rId16" Type="http://schemas.openxmlformats.org/officeDocument/2006/relationships/image" Target="../media/image39.png"/><Relationship Id="rId17" Type="http://schemas.openxmlformats.org/officeDocument/2006/relationships/image" Target="../media/image40.png"/><Relationship Id="rId18" Type="http://schemas.openxmlformats.org/officeDocument/2006/relationships/image" Target="../media/image41.png"/><Relationship Id="rId19" Type="http://schemas.openxmlformats.org/officeDocument/2006/relationships/image" Target="../media/image42.png"/><Relationship Id="rId20" Type="http://schemas.openxmlformats.org/officeDocument/2006/relationships/image" Target="../media/image43.png"/><Relationship Id="rId21" Type="http://schemas.openxmlformats.org/officeDocument/2006/relationships/image" Target="../media/image44.jpg"/><Relationship Id="rId22" Type="http://schemas.openxmlformats.org/officeDocument/2006/relationships/image" Target="../media/image45.png"/><Relationship Id="rId23" Type="http://schemas.openxmlformats.org/officeDocument/2006/relationships/image" Target="../media/image46.png"/><Relationship Id="rId24" Type="http://schemas.openxmlformats.org/officeDocument/2006/relationships/image" Target="../media/image47.png"/><Relationship Id="rId25" Type="http://schemas.openxmlformats.org/officeDocument/2006/relationships/image" Target="../media/image48.png"/><Relationship Id="rId26" Type="http://schemas.openxmlformats.org/officeDocument/2006/relationships/image" Target="../media/image49.png"/><Relationship Id="rId27" Type="http://schemas.openxmlformats.org/officeDocument/2006/relationships/image" Target="../media/image50.png"/><Relationship Id="rId28" Type="http://schemas.openxmlformats.org/officeDocument/2006/relationships/image" Target="../media/image51.png"/><Relationship Id="rId29" Type="http://schemas.openxmlformats.org/officeDocument/2006/relationships/image" Target="../media/image52.png"/><Relationship Id="rId30" Type="http://schemas.openxmlformats.org/officeDocument/2006/relationships/image" Target="../media/image53.jpg"/><Relationship Id="rId31" Type="http://schemas.openxmlformats.org/officeDocument/2006/relationships/image" Target="../media/image1.jpg"/><Relationship Id="rId32" Type="http://schemas.openxmlformats.org/officeDocument/2006/relationships/image" Target="../media/image54.jpg"/><Relationship Id="rId33" Type="http://schemas.openxmlformats.org/officeDocument/2006/relationships/image" Target="../media/image55.png"/><Relationship Id="rId34" Type="http://schemas.openxmlformats.org/officeDocument/2006/relationships/image" Target="../media/image56.png"/><Relationship Id="rId35" Type="http://schemas.openxmlformats.org/officeDocument/2006/relationships/image" Target="../media/image5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58.jp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1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61.jpg"/><Relationship Id="rId4" Type="http://schemas.openxmlformats.org/officeDocument/2006/relationships/image" Target="../media/image1.jpg"/><Relationship Id="rId5" Type="http://schemas.openxmlformats.org/officeDocument/2006/relationships/image" Target="../media/image62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jpg"/><Relationship Id="rId8" Type="http://schemas.openxmlformats.org/officeDocument/2006/relationships/image" Target="../media/image3.jpg"/><Relationship Id="rId9" Type="http://schemas.openxmlformats.org/officeDocument/2006/relationships/image" Target="../media/image69.jpg"/><Relationship Id="rId10" Type="http://schemas.openxmlformats.org/officeDocument/2006/relationships/image" Target="../media/image1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78.jpg"/><Relationship Id="rId12" Type="http://schemas.openxmlformats.org/officeDocument/2006/relationships/image" Target="../media/image79.png"/><Relationship Id="rId13" Type="http://schemas.openxmlformats.org/officeDocument/2006/relationships/image" Target="../media/image80.png"/><Relationship Id="rId14" Type="http://schemas.openxmlformats.org/officeDocument/2006/relationships/image" Target="../media/image81.png"/><Relationship Id="rId15" Type="http://schemas.openxmlformats.org/officeDocument/2006/relationships/image" Target="../media/image82.jpg"/><Relationship Id="rId16" Type="http://schemas.openxmlformats.org/officeDocument/2006/relationships/image" Target="../media/image83.png"/><Relationship Id="rId17" Type="http://schemas.openxmlformats.org/officeDocument/2006/relationships/image" Target="../media/image1.jpg"/><Relationship Id="rId18" Type="http://schemas.openxmlformats.org/officeDocument/2006/relationships/image" Target="../media/image84.png"/><Relationship Id="rId19" Type="http://schemas.openxmlformats.org/officeDocument/2006/relationships/image" Target="../media/image85.png"/><Relationship Id="rId20" Type="http://schemas.openxmlformats.org/officeDocument/2006/relationships/image" Target="../media/image86.png"/><Relationship Id="rId21" Type="http://schemas.openxmlformats.org/officeDocument/2006/relationships/image" Target="../media/image87.png"/><Relationship Id="rId22" Type="http://schemas.openxmlformats.org/officeDocument/2006/relationships/image" Target="../media/image88.png"/><Relationship Id="rId23" Type="http://schemas.openxmlformats.org/officeDocument/2006/relationships/image" Target="../media/image89.png"/><Relationship Id="rId24" Type="http://schemas.openxmlformats.org/officeDocument/2006/relationships/image" Target="../media/image90.png"/><Relationship Id="rId25" Type="http://schemas.openxmlformats.org/officeDocument/2006/relationships/image" Target="../media/image91.png"/><Relationship Id="rId26" Type="http://schemas.openxmlformats.org/officeDocument/2006/relationships/image" Target="../media/image92.png"/><Relationship Id="rId27" Type="http://schemas.openxmlformats.org/officeDocument/2006/relationships/image" Target="../media/image93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94.jp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Relationship Id="rId7" Type="http://schemas.openxmlformats.org/officeDocument/2006/relationships/image" Target="../media/image98.png"/><Relationship Id="rId8" Type="http://schemas.openxmlformats.org/officeDocument/2006/relationships/image" Target="../media/image1.jpg"/><Relationship Id="rId9" Type="http://schemas.openxmlformats.org/officeDocument/2006/relationships/image" Target="../media/image99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100.jpg"/><Relationship Id="rId4" Type="http://schemas.openxmlformats.org/officeDocument/2006/relationships/image" Target="../media/image101.jpg"/><Relationship Id="rId5" Type="http://schemas.openxmlformats.org/officeDocument/2006/relationships/image" Target="../media/image102.jpg"/><Relationship Id="rId6" Type="http://schemas.openxmlformats.org/officeDocument/2006/relationships/image" Target="../media/image103.jpg"/><Relationship Id="rId7" Type="http://schemas.openxmlformats.org/officeDocument/2006/relationships/image" Target="../media/image1.jpg"/><Relationship Id="rId8" Type="http://schemas.openxmlformats.org/officeDocument/2006/relationships/image" Target="../media/image104.jpg"/><Relationship Id="rId9" Type="http://schemas.openxmlformats.org/officeDocument/2006/relationships/image" Target="../media/image105.jpg"/><Relationship Id="rId10" Type="http://schemas.openxmlformats.org/officeDocument/2006/relationships/hyperlink" Target="http://www.promotionalpro.com/blog/" TargetMode="Externa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106.jpg"/><Relationship Id="rId6" Type="http://schemas.openxmlformats.org/officeDocument/2006/relationships/image" Target="../media/image107.png"/><Relationship Id="rId7" Type="http://schemas.openxmlformats.org/officeDocument/2006/relationships/image" Target="../media/image108.png"/><Relationship Id="rId8" Type="http://schemas.openxmlformats.org/officeDocument/2006/relationships/image" Target="../media/image109.png"/><Relationship Id="rId9" Type="http://schemas.openxmlformats.org/officeDocument/2006/relationships/image" Target="../media/image110.png"/><Relationship Id="rId10" Type="http://schemas.openxmlformats.org/officeDocument/2006/relationships/image" Target="../media/image111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1.jpg"/><Relationship Id="rId4" Type="http://schemas.openxmlformats.org/officeDocument/2006/relationships/image" Target="../media/image112.png"/><Relationship Id="rId5" Type="http://schemas.openxmlformats.org/officeDocument/2006/relationships/image" Target="../media/image113.jpg"/><Relationship Id="rId6" Type="http://schemas.openxmlformats.org/officeDocument/2006/relationships/image" Target="../media/image114.png"/><Relationship Id="rId7" Type="http://schemas.openxmlformats.org/officeDocument/2006/relationships/image" Target="../media/image115.png"/><Relationship Id="rId8" Type="http://schemas.openxmlformats.org/officeDocument/2006/relationships/image" Target="../media/image116.png"/><Relationship Id="rId9" Type="http://schemas.openxmlformats.org/officeDocument/2006/relationships/image" Target="../media/image117.png"/><Relationship Id="rId10" Type="http://schemas.openxmlformats.org/officeDocument/2006/relationships/image" Target="../media/image118.png"/><Relationship Id="rId11" Type="http://schemas.openxmlformats.org/officeDocument/2006/relationships/image" Target="../media/image119.png"/><Relationship Id="rId12" Type="http://schemas.openxmlformats.org/officeDocument/2006/relationships/image" Target="../media/image120.png"/><Relationship Id="rId13" Type="http://schemas.openxmlformats.org/officeDocument/2006/relationships/image" Target="../media/image121.png"/><Relationship Id="rId14" Type="http://schemas.openxmlformats.org/officeDocument/2006/relationships/image" Target="../media/image122.png"/><Relationship Id="rId15" Type="http://schemas.openxmlformats.org/officeDocument/2006/relationships/image" Target="../media/image123.png"/><Relationship Id="rId16" Type="http://schemas.openxmlformats.org/officeDocument/2006/relationships/image" Target="../media/image124.png"/><Relationship Id="rId17" Type="http://schemas.openxmlformats.org/officeDocument/2006/relationships/image" Target="../media/image125.png"/><Relationship Id="rId18" Type="http://schemas.openxmlformats.org/officeDocument/2006/relationships/image" Target="../media/image126.png"/><Relationship Id="rId19" Type="http://schemas.openxmlformats.org/officeDocument/2006/relationships/image" Target="../media/image127.png"/><Relationship Id="rId20" Type="http://schemas.openxmlformats.org/officeDocument/2006/relationships/image" Target="../media/image128.png"/><Relationship Id="rId21" Type="http://schemas.openxmlformats.org/officeDocument/2006/relationships/image" Target="../media/image129.png"/><Relationship Id="rId22" Type="http://schemas.openxmlformats.org/officeDocument/2006/relationships/image" Target="../media/image130.png"/><Relationship Id="rId23" Type="http://schemas.openxmlformats.org/officeDocument/2006/relationships/image" Target="../media/image131.png"/><Relationship Id="rId24" Type="http://schemas.openxmlformats.org/officeDocument/2006/relationships/image" Target="../media/image132.png"/><Relationship Id="rId25" Type="http://schemas.openxmlformats.org/officeDocument/2006/relationships/image" Target="../media/image133.png"/><Relationship Id="rId26" Type="http://schemas.openxmlformats.org/officeDocument/2006/relationships/image" Target="../media/image134.png"/><Relationship Id="rId27" Type="http://schemas.openxmlformats.org/officeDocument/2006/relationships/image" Target="../media/image135.png"/><Relationship Id="rId28" Type="http://schemas.openxmlformats.org/officeDocument/2006/relationships/image" Target="../media/image136.png"/><Relationship Id="rId29" Type="http://schemas.openxmlformats.org/officeDocument/2006/relationships/image" Target="../media/image137.png"/><Relationship Id="rId30" Type="http://schemas.openxmlformats.org/officeDocument/2006/relationships/image" Target="../media/image138.png"/><Relationship Id="rId31" Type="http://schemas.openxmlformats.org/officeDocument/2006/relationships/image" Target="../media/image139.png"/><Relationship Id="rId32" Type="http://schemas.openxmlformats.org/officeDocument/2006/relationships/image" Target="../media/image140.png"/><Relationship Id="rId33" Type="http://schemas.openxmlformats.org/officeDocument/2006/relationships/image" Target="../media/image141.png"/><Relationship Id="rId34" Type="http://schemas.openxmlformats.org/officeDocument/2006/relationships/image" Target="../media/image142.png"/><Relationship Id="rId35" Type="http://schemas.openxmlformats.org/officeDocument/2006/relationships/image" Target="../media/image143.png"/><Relationship Id="rId36" Type="http://schemas.openxmlformats.org/officeDocument/2006/relationships/image" Target="../media/image144.png"/><Relationship Id="rId37" Type="http://schemas.openxmlformats.org/officeDocument/2006/relationships/image" Target="../media/image145.png"/><Relationship Id="rId38" Type="http://schemas.openxmlformats.org/officeDocument/2006/relationships/image" Target="../media/image146.png"/><Relationship Id="rId39" Type="http://schemas.openxmlformats.org/officeDocument/2006/relationships/image" Target="../media/image147.png"/><Relationship Id="rId40" Type="http://schemas.openxmlformats.org/officeDocument/2006/relationships/image" Target="../media/image148.png"/><Relationship Id="rId41" Type="http://schemas.openxmlformats.org/officeDocument/2006/relationships/image" Target="../media/image149.png"/><Relationship Id="rId42" Type="http://schemas.openxmlformats.org/officeDocument/2006/relationships/image" Target="../media/image150.png"/><Relationship Id="rId43" Type="http://schemas.openxmlformats.org/officeDocument/2006/relationships/image" Target="../media/image151.png"/><Relationship Id="rId44" Type="http://schemas.openxmlformats.org/officeDocument/2006/relationships/image" Target="../media/image152.png"/><Relationship Id="rId45" Type="http://schemas.openxmlformats.org/officeDocument/2006/relationships/image" Target="../media/image153.png"/><Relationship Id="rId46" Type="http://schemas.openxmlformats.org/officeDocument/2006/relationships/image" Target="../media/image154.png"/><Relationship Id="rId47" Type="http://schemas.openxmlformats.org/officeDocument/2006/relationships/image" Target="../media/image155.png"/><Relationship Id="rId48" Type="http://schemas.openxmlformats.org/officeDocument/2006/relationships/image" Target="../media/image156.png"/><Relationship Id="rId49" Type="http://schemas.openxmlformats.org/officeDocument/2006/relationships/image" Target="../media/image157.png"/><Relationship Id="rId50" Type="http://schemas.openxmlformats.org/officeDocument/2006/relationships/image" Target="../media/image158.png"/><Relationship Id="rId51" Type="http://schemas.openxmlformats.org/officeDocument/2006/relationships/image" Target="../media/image159.png"/><Relationship Id="rId52" Type="http://schemas.openxmlformats.org/officeDocument/2006/relationships/image" Target="../media/image160.png"/><Relationship Id="rId53" Type="http://schemas.openxmlformats.org/officeDocument/2006/relationships/image" Target="../media/image161.png"/><Relationship Id="rId54" Type="http://schemas.openxmlformats.org/officeDocument/2006/relationships/image" Target="../media/image162.png"/><Relationship Id="rId55" Type="http://schemas.openxmlformats.org/officeDocument/2006/relationships/image" Target="../media/image163.png"/><Relationship Id="rId56" Type="http://schemas.openxmlformats.org/officeDocument/2006/relationships/image" Target="../media/image164.png"/><Relationship Id="rId57" Type="http://schemas.openxmlformats.org/officeDocument/2006/relationships/image" Target="../media/image165.png"/><Relationship Id="rId58" Type="http://schemas.openxmlformats.org/officeDocument/2006/relationships/image" Target="../media/image166.png"/><Relationship Id="rId59" Type="http://schemas.openxmlformats.org/officeDocument/2006/relationships/image" Target="../media/image167.png"/><Relationship Id="rId60" Type="http://schemas.openxmlformats.org/officeDocument/2006/relationships/image" Target="../media/image168.png"/><Relationship Id="rId61" Type="http://schemas.openxmlformats.org/officeDocument/2006/relationships/image" Target="../media/image169.png"/><Relationship Id="rId62" Type="http://schemas.openxmlformats.org/officeDocument/2006/relationships/image" Target="../media/image170.png"/><Relationship Id="rId63" Type="http://schemas.openxmlformats.org/officeDocument/2006/relationships/image" Target="../media/image171.png"/><Relationship Id="rId64" Type="http://schemas.openxmlformats.org/officeDocument/2006/relationships/image" Target="../media/image172.png"/><Relationship Id="rId65" Type="http://schemas.openxmlformats.org/officeDocument/2006/relationships/image" Target="../media/image173.png"/><Relationship Id="rId66" Type="http://schemas.openxmlformats.org/officeDocument/2006/relationships/image" Target="../media/image174.png"/><Relationship Id="rId67" Type="http://schemas.openxmlformats.org/officeDocument/2006/relationships/image" Target="../media/image175.png"/><Relationship Id="rId68" Type="http://schemas.openxmlformats.org/officeDocument/2006/relationships/image" Target="../media/image176.png"/><Relationship Id="rId69" Type="http://schemas.openxmlformats.org/officeDocument/2006/relationships/image" Target="../media/image177.png"/><Relationship Id="rId70" Type="http://schemas.openxmlformats.org/officeDocument/2006/relationships/image" Target="../media/image178.png"/><Relationship Id="rId71" Type="http://schemas.openxmlformats.org/officeDocument/2006/relationships/image" Target="../media/image179.jpg"/><Relationship Id="rId72" Type="http://schemas.openxmlformats.org/officeDocument/2006/relationships/image" Target="../media/image180.png"/><Relationship Id="rId73" Type="http://schemas.openxmlformats.org/officeDocument/2006/relationships/image" Target="../media/image181.png"/><Relationship Id="rId74" Type="http://schemas.openxmlformats.org/officeDocument/2006/relationships/image" Target="../media/image182.png"/><Relationship Id="rId75" Type="http://schemas.openxmlformats.org/officeDocument/2006/relationships/image" Target="../media/image183.png"/><Relationship Id="rId76" Type="http://schemas.openxmlformats.org/officeDocument/2006/relationships/image" Target="../media/image184.png"/><Relationship Id="rId77" Type="http://schemas.openxmlformats.org/officeDocument/2006/relationships/image" Target="../media/image185.png"/><Relationship Id="rId78" Type="http://schemas.openxmlformats.org/officeDocument/2006/relationships/image" Target="../media/image186.png"/><Relationship Id="rId79" Type="http://schemas.openxmlformats.org/officeDocument/2006/relationships/image" Target="../media/image187.png"/><Relationship Id="rId80" Type="http://schemas.openxmlformats.org/officeDocument/2006/relationships/image" Target="../media/image188.png"/><Relationship Id="rId81" Type="http://schemas.openxmlformats.org/officeDocument/2006/relationships/image" Target="../media/image189.png"/><Relationship Id="rId82" Type="http://schemas.openxmlformats.org/officeDocument/2006/relationships/image" Target="../media/image190.png"/><Relationship Id="rId83" Type="http://schemas.openxmlformats.org/officeDocument/2006/relationships/image" Target="../media/image191.png"/><Relationship Id="rId84" Type="http://schemas.openxmlformats.org/officeDocument/2006/relationships/image" Target="../media/image192.png"/><Relationship Id="rId85" Type="http://schemas.openxmlformats.org/officeDocument/2006/relationships/image" Target="../media/image193.png"/><Relationship Id="rId86" Type="http://schemas.openxmlformats.org/officeDocument/2006/relationships/image" Target="../media/image194.png"/><Relationship Id="rId87" Type="http://schemas.openxmlformats.org/officeDocument/2006/relationships/image" Target="../media/image195.png"/><Relationship Id="rId88" Type="http://schemas.openxmlformats.org/officeDocument/2006/relationships/image" Target="../media/image196.png"/><Relationship Id="rId89" Type="http://schemas.openxmlformats.org/officeDocument/2006/relationships/image" Target="../media/image197.png"/><Relationship Id="rId90" Type="http://schemas.openxmlformats.org/officeDocument/2006/relationships/image" Target="../media/image198.png"/><Relationship Id="rId91" Type="http://schemas.openxmlformats.org/officeDocument/2006/relationships/image" Target="../media/image199.png"/><Relationship Id="rId92" Type="http://schemas.openxmlformats.org/officeDocument/2006/relationships/image" Target="../media/image200.png"/><Relationship Id="rId93" Type="http://schemas.openxmlformats.org/officeDocument/2006/relationships/image" Target="../media/image201.png"/><Relationship Id="rId94" Type="http://schemas.openxmlformats.org/officeDocument/2006/relationships/image" Target="../media/image202.png"/><Relationship Id="rId95" Type="http://schemas.openxmlformats.org/officeDocument/2006/relationships/image" Target="../media/image203.png"/><Relationship Id="rId96" Type="http://schemas.openxmlformats.org/officeDocument/2006/relationships/image" Target="../media/image204.png"/><Relationship Id="rId97" Type="http://schemas.openxmlformats.org/officeDocument/2006/relationships/image" Target="../media/image205.png"/><Relationship Id="rId98" Type="http://schemas.openxmlformats.org/officeDocument/2006/relationships/image" Target="../media/image206.png"/><Relationship Id="rId99" Type="http://schemas.openxmlformats.org/officeDocument/2006/relationships/image" Target="../media/image207.png"/><Relationship Id="rId100" Type="http://schemas.openxmlformats.org/officeDocument/2006/relationships/image" Target="../media/image208.png"/><Relationship Id="rId101" Type="http://schemas.openxmlformats.org/officeDocument/2006/relationships/image" Target="../media/image209.png"/><Relationship Id="rId102" Type="http://schemas.openxmlformats.org/officeDocument/2006/relationships/image" Target="../media/image210.png"/><Relationship Id="rId103" Type="http://schemas.openxmlformats.org/officeDocument/2006/relationships/image" Target="../media/image211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2.png"/><Relationship Id="rId3" Type="http://schemas.openxmlformats.org/officeDocument/2006/relationships/image" Target="../media/image213.png"/><Relationship Id="rId4" Type="http://schemas.openxmlformats.org/officeDocument/2006/relationships/image" Target="../media/image214.png"/><Relationship Id="rId5" Type="http://schemas.openxmlformats.org/officeDocument/2006/relationships/image" Target="../media/image215.png"/><Relationship Id="rId6" Type="http://schemas.openxmlformats.org/officeDocument/2006/relationships/image" Target="../media/image216.png"/><Relationship Id="rId7" Type="http://schemas.openxmlformats.org/officeDocument/2006/relationships/image" Target="../media/image217.png"/><Relationship Id="rId8" Type="http://schemas.openxmlformats.org/officeDocument/2006/relationships/image" Target="../media/image218.png"/><Relationship Id="rId9" Type="http://schemas.openxmlformats.org/officeDocument/2006/relationships/image" Target="../media/image3.jpg"/><Relationship Id="rId10" Type="http://schemas.openxmlformats.org/officeDocument/2006/relationships/image" Target="../media/image219.jpg"/><Relationship Id="rId11" Type="http://schemas.openxmlformats.org/officeDocument/2006/relationships/image" Target="../media/image1.jpg"/><Relationship Id="rId12" Type="http://schemas.openxmlformats.org/officeDocument/2006/relationships/image" Target="../media/image220.png"/><Relationship Id="rId13" Type="http://schemas.openxmlformats.org/officeDocument/2006/relationships/image" Target="../media/image221.png"/><Relationship Id="rId14" Type="http://schemas.openxmlformats.org/officeDocument/2006/relationships/image" Target="../media/image222.png"/><Relationship Id="rId15" Type="http://schemas.openxmlformats.org/officeDocument/2006/relationships/image" Target="../media/image223.png"/><Relationship Id="rId16" Type="http://schemas.openxmlformats.org/officeDocument/2006/relationships/image" Target="../media/image224.png"/><Relationship Id="rId17" Type="http://schemas.openxmlformats.org/officeDocument/2006/relationships/image" Target="../media/image225.png"/><Relationship Id="rId18" Type="http://schemas.openxmlformats.org/officeDocument/2006/relationships/image" Target="../media/image226.png"/><Relationship Id="rId19" Type="http://schemas.openxmlformats.org/officeDocument/2006/relationships/image" Target="../media/image227.png"/><Relationship Id="rId20" Type="http://schemas.openxmlformats.org/officeDocument/2006/relationships/image" Target="../media/image228.png"/><Relationship Id="rId21" Type="http://schemas.openxmlformats.org/officeDocument/2006/relationships/image" Target="../media/image229.png"/><Relationship Id="rId22" Type="http://schemas.openxmlformats.org/officeDocument/2006/relationships/image" Target="../media/image230.png"/><Relationship Id="rId23" Type="http://schemas.openxmlformats.org/officeDocument/2006/relationships/image" Target="../media/image231.png"/><Relationship Id="rId24" Type="http://schemas.openxmlformats.org/officeDocument/2006/relationships/image" Target="../media/image232.png"/><Relationship Id="rId25" Type="http://schemas.openxmlformats.org/officeDocument/2006/relationships/image" Target="../media/image233.png"/><Relationship Id="rId26" Type="http://schemas.openxmlformats.org/officeDocument/2006/relationships/image" Target="../media/image234.png"/><Relationship Id="rId27" Type="http://schemas.openxmlformats.org/officeDocument/2006/relationships/image" Target="../media/image235.png"/><Relationship Id="rId28" Type="http://schemas.openxmlformats.org/officeDocument/2006/relationships/image" Target="../media/image236.png"/><Relationship Id="rId29" Type="http://schemas.openxmlformats.org/officeDocument/2006/relationships/image" Target="../media/image237.png"/><Relationship Id="rId30" Type="http://schemas.openxmlformats.org/officeDocument/2006/relationships/image" Target="../media/image238.png"/><Relationship Id="rId31" Type="http://schemas.openxmlformats.org/officeDocument/2006/relationships/image" Target="../media/image239.png"/><Relationship Id="rId32" Type="http://schemas.openxmlformats.org/officeDocument/2006/relationships/image" Target="../media/image240.png"/><Relationship Id="rId33" Type="http://schemas.openxmlformats.org/officeDocument/2006/relationships/image" Target="../media/image241.png"/><Relationship Id="rId34" Type="http://schemas.openxmlformats.org/officeDocument/2006/relationships/image" Target="../media/image242.png"/><Relationship Id="rId35" Type="http://schemas.openxmlformats.org/officeDocument/2006/relationships/image" Target="../media/image243.png"/><Relationship Id="rId36" Type="http://schemas.openxmlformats.org/officeDocument/2006/relationships/image" Target="../media/image244.png"/><Relationship Id="rId37" Type="http://schemas.openxmlformats.org/officeDocument/2006/relationships/image" Target="../media/image245.png"/><Relationship Id="rId38" Type="http://schemas.openxmlformats.org/officeDocument/2006/relationships/image" Target="../media/image246.png"/><Relationship Id="rId39" Type="http://schemas.openxmlformats.org/officeDocument/2006/relationships/image" Target="../media/image247.png"/><Relationship Id="rId40" Type="http://schemas.openxmlformats.org/officeDocument/2006/relationships/image" Target="../media/image248.png"/><Relationship Id="rId41" Type="http://schemas.openxmlformats.org/officeDocument/2006/relationships/image" Target="../media/image249.png"/><Relationship Id="rId42" Type="http://schemas.openxmlformats.org/officeDocument/2006/relationships/image" Target="../media/image250.png"/><Relationship Id="rId43" Type="http://schemas.openxmlformats.org/officeDocument/2006/relationships/image" Target="../media/image251.png"/><Relationship Id="rId44" Type="http://schemas.openxmlformats.org/officeDocument/2006/relationships/image" Target="../media/image252.png"/><Relationship Id="rId45" Type="http://schemas.openxmlformats.org/officeDocument/2006/relationships/image" Target="../media/image253.png"/><Relationship Id="rId46" Type="http://schemas.openxmlformats.org/officeDocument/2006/relationships/image" Target="../media/image254.png"/><Relationship Id="rId47" Type="http://schemas.openxmlformats.org/officeDocument/2006/relationships/image" Target="../media/image255.png"/><Relationship Id="rId48" Type="http://schemas.openxmlformats.org/officeDocument/2006/relationships/image" Target="../media/image256.png"/><Relationship Id="rId49" Type="http://schemas.openxmlformats.org/officeDocument/2006/relationships/image" Target="../media/image257.png"/><Relationship Id="rId50" Type="http://schemas.openxmlformats.org/officeDocument/2006/relationships/image" Target="../media/image258.png"/><Relationship Id="rId51" Type="http://schemas.openxmlformats.org/officeDocument/2006/relationships/image" Target="../media/image259.png"/><Relationship Id="rId52" Type="http://schemas.openxmlformats.org/officeDocument/2006/relationships/image" Target="../media/image260.png"/><Relationship Id="rId53" Type="http://schemas.openxmlformats.org/officeDocument/2006/relationships/image" Target="../media/image261.png"/><Relationship Id="rId54" Type="http://schemas.openxmlformats.org/officeDocument/2006/relationships/image" Target="../media/image262.png"/><Relationship Id="rId55" Type="http://schemas.openxmlformats.org/officeDocument/2006/relationships/image" Target="../media/image263.png"/><Relationship Id="rId56" Type="http://schemas.openxmlformats.org/officeDocument/2006/relationships/image" Target="../media/image264.png"/><Relationship Id="rId57" Type="http://schemas.openxmlformats.org/officeDocument/2006/relationships/image" Target="../media/image265.png"/><Relationship Id="rId58" Type="http://schemas.openxmlformats.org/officeDocument/2006/relationships/image" Target="../media/image266.png"/><Relationship Id="rId59" Type="http://schemas.openxmlformats.org/officeDocument/2006/relationships/image" Target="../media/image267.png"/><Relationship Id="rId60" Type="http://schemas.openxmlformats.org/officeDocument/2006/relationships/image" Target="../media/image268.png"/><Relationship Id="rId61" Type="http://schemas.openxmlformats.org/officeDocument/2006/relationships/image" Target="../media/image269.png"/><Relationship Id="rId62" Type="http://schemas.openxmlformats.org/officeDocument/2006/relationships/image" Target="../media/image270.png"/><Relationship Id="rId63" Type="http://schemas.openxmlformats.org/officeDocument/2006/relationships/image" Target="../media/image271.png"/><Relationship Id="rId64" Type="http://schemas.openxmlformats.org/officeDocument/2006/relationships/image" Target="../media/image272.png"/><Relationship Id="rId65" Type="http://schemas.openxmlformats.org/officeDocument/2006/relationships/image" Target="../media/image273.png"/><Relationship Id="rId66" Type="http://schemas.openxmlformats.org/officeDocument/2006/relationships/image" Target="../media/image274.png"/><Relationship Id="rId67" Type="http://schemas.openxmlformats.org/officeDocument/2006/relationships/image" Target="../media/image275.png"/><Relationship Id="rId68" Type="http://schemas.openxmlformats.org/officeDocument/2006/relationships/image" Target="../media/image276.png"/><Relationship Id="rId69" Type="http://schemas.openxmlformats.org/officeDocument/2006/relationships/image" Target="../media/image277.png"/><Relationship Id="rId70" Type="http://schemas.openxmlformats.org/officeDocument/2006/relationships/image" Target="../media/image278.png"/><Relationship Id="rId71" Type="http://schemas.openxmlformats.org/officeDocument/2006/relationships/image" Target="../media/image279.png"/><Relationship Id="rId72" Type="http://schemas.openxmlformats.org/officeDocument/2006/relationships/image" Target="../media/image280.png"/><Relationship Id="rId73" Type="http://schemas.openxmlformats.org/officeDocument/2006/relationships/image" Target="../media/image281.png"/><Relationship Id="rId74" Type="http://schemas.openxmlformats.org/officeDocument/2006/relationships/image" Target="../media/image282.png"/><Relationship Id="rId75" Type="http://schemas.openxmlformats.org/officeDocument/2006/relationships/image" Target="../media/image283.png"/><Relationship Id="rId76" Type="http://schemas.openxmlformats.org/officeDocument/2006/relationships/image" Target="../media/image284.png"/><Relationship Id="rId77" Type="http://schemas.openxmlformats.org/officeDocument/2006/relationships/image" Target="../media/image285.png"/><Relationship Id="rId78" Type="http://schemas.openxmlformats.org/officeDocument/2006/relationships/image" Target="../media/image286.png"/><Relationship Id="rId79" Type="http://schemas.openxmlformats.org/officeDocument/2006/relationships/image" Target="../media/image287.png"/><Relationship Id="rId80" Type="http://schemas.openxmlformats.org/officeDocument/2006/relationships/image" Target="../media/image288.png"/><Relationship Id="rId81" Type="http://schemas.openxmlformats.org/officeDocument/2006/relationships/image" Target="../media/image289.png"/><Relationship Id="rId82" Type="http://schemas.openxmlformats.org/officeDocument/2006/relationships/image" Target="../media/image290.png"/><Relationship Id="rId83" Type="http://schemas.openxmlformats.org/officeDocument/2006/relationships/image" Target="../media/image291.png"/><Relationship Id="rId84" Type="http://schemas.openxmlformats.org/officeDocument/2006/relationships/image" Target="../media/image292.png"/><Relationship Id="rId85" Type="http://schemas.openxmlformats.org/officeDocument/2006/relationships/image" Target="../media/image293.png"/><Relationship Id="rId86" Type="http://schemas.openxmlformats.org/officeDocument/2006/relationships/image" Target="../media/image294.png"/><Relationship Id="rId87" Type="http://schemas.openxmlformats.org/officeDocument/2006/relationships/image" Target="../media/image295.png"/><Relationship Id="rId88" Type="http://schemas.openxmlformats.org/officeDocument/2006/relationships/image" Target="../media/image296.png"/><Relationship Id="rId89" Type="http://schemas.openxmlformats.org/officeDocument/2006/relationships/image" Target="../media/image297.png"/><Relationship Id="rId90" Type="http://schemas.openxmlformats.org/officeDocument/2006/relationships/image" Target="../media/image298.png"/><Relationship Id="rId91" Type="http://schemas.openxmlformats.org/officeDocument/2006/relationships/image" Target="../media/image299.png"/><Relationship Id="rId92" Type="http://schemas.openxmlformats.org/officeDocument/2006/relationships/image" Target="../media/image300.png"/><Relationship Id="rId93" Type="http://schemas.openxmlformats.org/officeDocument/2006/relationships/image" Target="../media/image301.png"/><Relationship Id="rId94" Type="http://schemas.openxmlformats.org/officeDocument/2006/relationships/image" Target="../media/image302.png"/><Relationship Id="rId95" Type="http://schemas.openxmlformats.org/officeDocument/2006/relationships/image" Target="../media/image303.png"/><Relationship Id="rId96" Type="http://schemas.openxmlformats.org/officeDocument/2006/relationships/image" Target="../media/image304.png"/><Relationship Id="rId97" Type="http://schemas.openxmlformats.org/officeDocument/2006/relationships/image" Target="../media/image305.png"/><Relationship Id="rId98" Type="http://schemas.openxmlformats.org/officeDocument/2006/relationships/image" Target="../media/image306.png"/><Relationship Id="rId99" Type="http://schemas.openxmlformats.org/officeDocument/2006/relationships/image" Target="../media/image307.png"/><Relationship Id="rId100" Type="http://schemas.openxmlformats.org/officeDocument/2006/relationships/image" Target="../media/image308.png"/><Relationship Id="rId101" Type="http://schemas.openxmlformats.org/officeDocument/2006/relationships/image" Target="../media/image309.png"/><Relationship Id="rId102" Type="http://schemas.openxmlformats.org/officeDocument/2006/relationships/image" Target="../media/image310.png"/><Relationship Id="rId103" Type="http://schemas.openxmlformats.org/officeDocument/2006/relationships/image" Target="../media/image311.png"/><Relationship Id="rId104" Type="http://schemas.openxmlformats.org/officeDocument/2006/relationships/image" Target="../media/image312.png"/><Relationship Id="rId105" Type="http://schemas.openxmlformats.org/officeDocument/2006/relationships/image" Target="../media/image313.png"/><Relationship Id="rId106" Type="http://schemas.openxmlformats.org/officeDocument/2006/relationships/image" Target="../media/image314.png"/><Relationship Id="rId107" Type="http://schemas.openxmlformats.org/officeDocument/2006/relationships/image" Target="../media/image315.png"/><Relationship Id="rId108" Type="http://schemas.openxmlformats.org/officeDocument/2006/relationships/image" Target="../media/image316.png"/><Relationship Id="rId109" Type="http://schemas.openxmlformats.org/officeDocument/2006/relationships/image" Target="../media/image317.png"/><Relationship Id="rId110" Type="http://schemas.openxmlformats.org/officeDocument/2006/relationships/image" Target="../media/image318.png"/><Relationship Id="rId111" Type="http://schemas.openxmlformats.org/officeDocument/2006/relationships/image" Target="../media/image319.png"/><Relationship Id="rId112" Type="http://schemas.openxmlformats.org/officeDocument/2006/relationships/image" Target="../media/image320.png"/><Relationship Id="rId113" Type="http://schemas.openxmlformats.org/officeDocument/2006/relationships/image" Target="../media/image321.png"/><Relationship Id="rId114" Type="http://schemas.openxmlformats.org/officeDocument/2006/relationships/image" Target="../media/image322.png"/><Relationship Id="rId115" Type="http://schemas.openxmlformats.org/officeDocument/2006/relationships/image" Target="../media/image323.png"/><Relationship Id="rId116" Type="http://schemas.openxmlformats.org/officeDocument/2006/relationships/image" Target="../media/image324.png"/><Relationship Id="rId117" Type="http://schemas.openxmlformats.org/officeDocument/2006/relationships/image" Target="../media/image325.png"/><Relationship Id="rId118" Type="http://schemas.openxmlformats.org/officeDocument/2006/relationships/image" Target="../media/image326.png"/><Relationship Id="rId119" Type="http://schemas.openxmlformats.org/officeDocument/2006/relationships/image" Target="../media/image327.png"/><Relationship Id="rId120" Type="http://schemas.openxmlformats.org/officeDocument/2006/relationships/image" Target="../media/image328.png"/><Relationship Id="rId121" Type="http://schemas.openxmlformats.org/officeDocument/2006/relationships/image" Target="../media/image329.png"/><Relationship Id="rId122" Type="http://schemas.openxmlformats.org/officeDocument/2006/relationships/image" Target="../media/image330.png"/><Relationship Id="rId123" Type="http://schemas.openxmlformats.org/officeDocument/2006/relationships/image" Target="../media/image331.png"/><Relationship Id="rId124" Type="http://schemas.openxmlformats.org/officeDocument/2006/relationships/image" Target="../media/image332.png"/><Relationship Id="rId125" Type="http://schemas.openxmlformats.org/officeDocument/2006/relationships/image" Target="../media/image333.png"/><Relationship Id="rId126" Type="http://schemas.openxmlformats.org/officeDocument/2006/relationships/image" Target="../media/image334.png"/><Relationship Id="rId127" Type="http://schemas.openxmlformats.org/officeDocument/2006/relationships/image" Target="../media/image335.png"/><Relationship Id="rId128" Type="http://schemas.openxmlformats.org/officeDocument/2006/relationships/image" Target="../media/image336.png"/><Relationship Id="rId129" Type="http://schemas.openxmlformats.org/officeDocument/2006/relationships/image" Target="../media/image337.png"/><Relationship Id="rId130" Type="http://schemas.openxmlformats.org/officeDocument/2006/relationships/image" Target="../media/image338.png"/><Relationship Id="rId131" Type="http://schemas.openxmlformats.org/officeDocument/2006/relationships/image" Target="../media/image339.png"/><Relationship Id="rId132" Type="http://schemas.openxmlformats.org/officeDocument/2006/relationships/image" Target="../media/image340.png"/><Relationship Id="rId133" Type="http://schemas.openxmlformats.org/officeDocument/2006/relationships/image" Target="../media/image341.png"/><Relationship Id="rId134" Type="http://schemas.openxmlformats.org/officeDocument/2006/relationships/image" Target="../media/image342.png"/><Relationship Id="rId135" Type="http://schemas.openxmlformats.org/officeDocument/2006/relationships/image" Target="../media/image343.png"/><Relationship Id="rId136" Type="http://schemas.openxmlformats.org/officeDocument/2006/relationships/image" Target="../media/image344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345.jpg"/><Relationship Id="rId4" Type="http://schemas.openxmlformats.org/officeDocument/2006/relationships/image" Target="../media/image346.jpg"/><Relationship Id="rId5" Type="http://schemas.openxmlformats.org/officeDocument/2006/relationships/image" Target="../media/image1.jpg"/><Relationship Id="rId6" Type="http://schemas.openxmlformats.org/officeDocument/2006/relationships/image" Target="../media/image347.jpg"/><Relationship Id="rId7" Type="http://schemas.openxmlformats.org/officeDocument/2006/relationships/image" Target="../media/image348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349.jpg"/><Relationship Id="rId4" Type="http://schemas.openxmlformats.org/officeDocument/2006/relationships/image" Target="../media/image350.jpg"/><Relationship Id="rId5" Type="http://schemas.openxmlformats.org/officeDocument/2006/relationships/image" Target="../media/image1.jpg"/><Relationship Id="rId6" Type="http://schemas.openxmlformats.org/officeDocument/2006/relationships/image" Target="../media/image351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352.jpg"/><Relationship Id="rId4" Type="http://schemas.openxmlformats.org/officeDocument/2006/relationships/image" Target="../media/image1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88963" y="364489"/>
            <a:ext cx="5125720" cy="3204210"/>
          </a:xfrm>
          <a:custGeom>
            <a:avLst/>
            <a:gdLst/>
            <a:ahLst/>
            <a:cxnLst/>
            <a:rect l="l" t="t" r="r" b="b"/>
            <a:pathLst>
              <a:path w="5125720" h="3204210">
                <a:moveTo>
                  <a:pt x="5125212" y="0"/>
                </a:moveTo>
                <a:lnTo>
                  <a:pt x="5117604" y="0"/>
                </a:lnTo>
                <a:lnTo>
                  <a:pt x="5117604" y="7620"/>
                </a:lnTo>
                <a:lnTo>
                  <a:pt x="5117604" y="3196590"/>
                </a:lnTo>
                <a:lnTo>
                  <a:pt x="7632" y="3196590"/>
                </a:lnTo>
                <a:lnTo>
                  <a:pt x="7632" y="3197098"/>
                </a:lnTo>
                <a:lnTo>
                  <a:pt x="4584" y="3197098"/>
                </a:lnTo>
                <a:lnTo>
                  <a:pt x="4584" y="3196590"/>
                </a:lnTo>
                <a:lnTo>
                  <a:pt x="3060" y="3196590"/>
                </a:lnTo>
                <a:lnTo>
                  <a:pt x="3060" y="7620"/>
                </a:lnTo>
                <a:lnTo>
                  <a:pt x="5117604" y="7620"/>
                </a:lnTo>
                <a:lnTo>
                  <a:pt x="5117604" y="0"/>
                </a:lnTo>
                <a:lnTo>
                  <a:pt x="0" y="0"/>
                </a:lnTo>
                <a:lnTo>
                  <a:pt x="0" y="7620"/>
                </a:lnTo>
                <a:lnTo>
                  <a:pt x="0" y="3196590"/>
                </a:lnTo>
                <a:lnTo>
                  <a:pt x="0" y="3201670"/>
                </a:lnTo>
                <a:lnTo>
                  <a:pt x="0" y="3204210"/>
                </a:lnTo>
                <a:lnTo>
                  <a:pt x="5125212" y="3204210"/>
                </a:lnTo>
                <a:lnTo>
                  <a:pt x="5125212" y="3201670"/>
                </a:lnTo>
                <a:lnTo>
                  <a:pt x="5125212" y="3196590"/>
                </a:lnTo>
                <a:lnTo>
                  <a:pt x="5125212" y="7620"/>
                </a:lnTo>
                <a:lnTo>
                  <a:pt x="51252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92023" y="367284"/>
            <a:ext cx="599440" cy="3194685"/>
          </a:xfrm>
          <a:custGeom>
            <a:avLst/>
            <a:gdLst/>
            <a:ahLst/>
            <a:cxnLst/>
            <a:rect l="l" t="t" r="r" b="b"/>
            <a:pathLst>
              <a:path w="599440" h="3194685">
                <a:moveTo>
                  <a:pt x="598932" y="3194304"/>
                </a:moveTo>
                <a:lnTo>
                  <a:pt x="0" y="3194304"/>
                </a:lnTo>
                <a:lnTo>
                  <a:pt x="0" y="0"/>
                </a:lnTo>
                <a:lnTo>
                  <a:pt x="598932" y="0"/>
                </a:lnTo>
                <a:lnTo>
                  <a:pt x="598932" y="3194304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092708" y="1845563"/>
            <a:ext cx="3919854" cy="12700"/>
          </a:xfrm>
          <a:custGeom>
            <a:avLst/>
            <a:gdLst/>
            <a:ahLst/>
            <a:cxnLst/>
            <a:rect l="l" t="t" r="r" b="b"/>
            <a:pathLst>
              <a:path w="3919854" h="12700">
                <a:moveTo>
                  <a:pt x="3919727" y="12191"/>
                </a:moveTo>
                <a:lnTo>
                  <a:pt x="0" y="12191"/>
                </a:lnTo>
                <a:lnTo>
                  <a:pt x="0" y="0"/>
                </a:lnTo>
                <a:lnTo>
                  <a:pt x="3919727" y="0"/>
                </a:lnTo>
                <a:lnTo>
                  <a:pt x="3919727" y="12191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1732" y="3364991"/>
            <a:ext cx="1336548" cy="18745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21001" y="1308620"/>
            <a:ext cx="1680807" cy="163600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200164" y="1261371"/>
            <a:ext cx="2202815" cy="5264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b="1">
                <a:solidFill>
                  <a:srgbClr val="1A1A1A"/>
                </a:solidFill>
                <a:latin typeface="Arial"/>
                <a:cs typeface="Arial"/>
              </a:rPr>
              <a:t>Computer</a:t>
            </a:r>
            <a:r>
              <a:rPr dirty="0" sz="1200" spc="10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A1A1A"/>
                </a:solidFill>
                <a:latin typeface="Arial"/>
                <a:cs typeface="Arial"/>
              </a:rPr>
              <a:t>Architecture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347470">
              <a:lnSpc>
                <a:spcPct val="100000"/>
              </a:lnSpc>
            </a:pPr>
            <a:r>
              <a:rPr dirty="0" sz="900" b="1">
                <a:solidFill>
                  <a:srgbClr val="1A1A1A"/>
                </a:solidFill>
                <a:latin typeface="Arial"/>
                <a:cs typeface="Arial"/>
              </a:rPr>
              <a:t>Cache</a:t>
            </a:r>
            <a:r>
              <a:rPr dirty="0" sz="900" spc="70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1A1A1A"/>
                </a:solidFill>
                <a:latin typeface="Arial"/>
                <a:cs typeface="Arial"/>
              </a:rPr>
              <a:t>Memory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5378196" y="364489"/>
            <a:ext cx="5125720" cy="3204210"/>
            <a:chOff x="5378196" y="364489"/>
            <a:chExt cx="5125720" cy="3204210"/>
          </a:xfrm>
        </p:grpSpPr>
        <p:sp>
          <p:nvSpPr>
            <p:cNvPr id="9" name="object 9" descr=""/>
            <p:cNvSpPr/>
            <p:nvPr/>
          </p:nvSpPr>
          <p:spPr>
            <a:xfrm>
              <a:off x="5378183" y="364489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10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381244" y="688847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6"/>
                  </a:moveTo>
                  <a:lnTo>
                    <a:pt x="0" y="36576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6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6913880" y="339191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5972555" y="1094231"/>
            <a:ext cx="4503420" cy="2459990"/>
            <a:chOff x="5972555" y="1094231"/>
            <a:chExt cx="4503420" cy="2459990"/>
          </a:xfrm>
        </p:grpSpPr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0951" y="3339083"/>
              <a:ext cx="1335023" cy="214883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72555" y="1094231"/>
              <a:ext cx="3934968" cy="1833102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5583392" y="452149"/>
            <a:ext cx="3472179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Key Characteristics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Computer</a:t>
            </a:r>
            <a:r>
              <a:rPr dirty="0" sz="12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r>
              <a:rPr dirty="0" sz="12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Systems</a:t>
            </a:r>
            <a:endParaRPr sz="1200">
              <a:latin typeface="Arial MT"/>
              <a:cs typeface="Arial MT"/>
            </a:endParaRPr>
          </a:p>
        </p:txBody>
      </p:sp>
      <p:graphicFrame>
        <p:nvGraphicFramePr>
          <p:cNvPr id="16" name="object 16" descr=""/>
          <p:cNvGraphicFramePr>
            <a:graphicFrameLocks noGrp="1"/>
          </p:cNvGraphicFramePr>
          <p:nvPr/>
        </p:nvGraphicFramePr>
        <p:xfrm>
          <a:off x="188976" y="3991610"/>
          <a:ext cx="5201920" cy="3195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77105"/>
                <a:gridCol w="340995"/>
              </a:tblGrid>
              <a:tr h="338455">
                <a:tc>
                  <a:txBody>
                    <a:bodyPr/>
                    <a:lstStyle/>
                    <a:p>
                      <a:pPr marL="21399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12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Characteristics</a:t>
                      </a:r>
                      <a:r>
                        <a:rPr dirty="0" sz="12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200" spc="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Memory</a:t>
                      </a:r>
                      <a:r>
                        <a:rPr dirty="0" sz="12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Systems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9779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90909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857500">
                <a:tc gridSpan="2">
                  <a:txBody>
                    <a:bodyPr/>
                    <a:lstStyle/>
                    <a:p>
                      <a:pPr marL="37528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Location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559435" indent="-132080">
                        <a:lnSpc>
                          <a:spcPct val="100000"/>
                        </a:lnSpc>
                        <a:spcBef>
                          <a:spcPts val="254"/>
                        </a:spcBef>
                        <a:buChar char="•"/>
                        <a:tabLst>
                          <a:tab pos="559435" algn="l"/>
                        </a:tabLst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Refers</a:t>
                      </a:r>
                      <a:r>
                        <a:rPr dirty="0" sz="1000" spc="-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000" spc="-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whether</a:t>
                      </a:r>
                      <a:r>
                        <a:rPr dirty="0" sz="1000" spc="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memory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internal</a:t>
                      </a:r>
                      <a:r>
                        <a:rPr dirty="0" sz="1000" spc="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external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000" spc="-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computer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559435" indent="-132080">
                        <a:lnSpc>
                          <a:spcPct val="100000"/>
                        </a:lnSpc>
                        <a:spcBef>
                          <a:spcPts val="240"/>
                        </a:spcBef>
                        <a:buChar char="•"/>
                        <a:tabLst>
                          <a:tab pos="559435" algn="l"/>
                        </a:tabLst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Internal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memory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often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equated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1000" spc="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main</a:t>
                      </a:r>
                      <a:r>
                        <a:rPr dirty="0" sz="1000" spc="-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memory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559435" indent="-132080">
                        <a:lnSpc>
                          <a:spcPct val="100000"/>
                        </a:lnSpc>
                        <a:spcBef>
                          <a:spcPts val="250"/>
                        </a:spcBef>
                        <a:buChar char="•"/>
                        <a:tabLst>
                          <a:tab pos="559435" algn="l"/>
                        </a:tabLst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Processor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requires</a:t>
                      </a:r>
                      <a:r>
                        <a:rPr dirty="0" sz="1000" spc="-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its own local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memory,</a:t>
                      </a:r>
                      <a:r>
                        <a:rPr dirty="0" sz="1000" spc="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000" spc="-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form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registers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559435" indent="-132080">
                        <a:lnSpc>
                          <a:spcPct val="100000"/>
                        </a:lnSpc>
                        <a:spcBef>
                          <a:spcPts val="250"/>
                        </a:spcBef>
                        <a:buChar char="•"/>
                        <a:tabLst>
                          <a:tab pos="559435" algn="l"/>
                        </a:tabLst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Cache is another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form of</a:t>
                      </a:r>
                      <a:r>
                        <a:rPr dirty="0" sz="1000" spc="-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internal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memory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558800" marR="308610" indent="-132080">
                        <a:lnSpc>
                          <a:spcPct val="101000"/>
                        </a:lnSpc>
                        <a:spcBef>
                          <a:spcPts val="240"/>
                        </a:spcBef>
                        <a:buChar char="•"/>
                        <a:tabLst>
                          <a:tab pos="561340" algn="l"/>
                        </a:tabLst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External memory</a:t>
                      </a:r>
                      <a:r>
                        <a:rPr dirty="0" sz="1000" spc="-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consists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peripheral</a:t>
                      </a:r>
                      <a:r>
                        <a:rPr dirty="0" sz="1000" spc="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storage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devices that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are</a:t>
                      </a:r>
                      <a:r>
                        <a:rPr dirty="0" sz="10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accessible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000" spc="-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the processor</a:t>
                      </a:r>
                      <a:r>
                        <a:rPr dirty="0" sz="1000" spc="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via</a:t>
                      </a:r>
                      <a:r>
                        <a:rPr dirty="0" sz="1000" spc="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I/O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controllers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37528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Capacity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559435" indent="-132080">
                        <a:lnSpc>
                          <a:spcPct val="100000"/>
                        </a:lnSpc>
                        <a:spcBef>
                          <a:spcPts val="250"/>
                        </a:spcBef>
                        <a:buChar char="•"/>
                        <a:tabLst>
                          <a:tab pos="559435" algn="l"/>
                        </a:tabLst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Memory</a:t>
                      </a:r>
                      <a:r>
                        <a:rPr dirty="0" sz="1000" spc="-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000" spc="-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typically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expressed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000" spc="-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terms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bytes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37528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Unit</a:t>
                      </a:r>
                      <a:r>
                        <a:rPr dirty="0" sz="1000" spc="4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000" spc="3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transfer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558800" marR="357505" indent="-132080">
                        <a:lnSpc>
                          <a:spcPct val="100000"/>
                        </a:lnSpc>
                        <a:spcBef>
                          <a:spcPts val="250"/>
                        </a:spcBef>
                        <a:buChar char="•"/>
                        <a:tabLst>
                          <a:tab pos="561340" algn="l"/>
                        </a:tabLst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000" spc="-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internal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memory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unit of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transfer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equal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000" spc="-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number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of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electrical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lines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into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out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memory</a:t>
                      </a:r>
                      <a:r>
                        <a:rPr dirty="0" sz="1000" spc="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module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reproduced</a:t>
                      </a:r>
                      <a:r>
                        <a:rPr dirty="0" sz="350" spc="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based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on</a:t>
                      </a:r>
                      <a:r>
                        <a:rPr dirty="0" sz="350" spc="6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Computer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Organization</a:t>
                      </a:r>
                      <a:r>
                        <a:rPr dirty="0" sz="350" spc="26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350" spc="6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Architecture,</a:t>
                      </a:r>
                      <a:r>
                        <a:rPr dirty="0" sz="350" spc="8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9ed(by</a:t>
                      </a:r>
                      <a:r>
                        <a:rPr dirty="0" sz="350" spc="6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W.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Stallings)</a:t>
                      </a:r>
                      <a:endParaRPr sz="3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6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2013</a:t>
                      </a:r>
                      <a:r>
                        <a:rPr dirty="0" sz="350" spc="6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Computer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Organization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Architecture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800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17" name="object 1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1732" y="6966204"/>
            <a:ext cx="1336548" cy="213360"/>
          </a:xfrm>
          <a:prstGeom prst="rect">
            <a:avLst/>
          </a:prstGeom>
        </p:spPr>
      </p:pic>
      <p:sp>
        <p:nvSpPr>
          <p:cNvPr id="18" name="object 18" descr=""/>
          <p:cNvSpPr/>
          <p:nvPr/>
        </p:nvSpPr>
        <p:spPr>
          <a:xfrm>
            <a:off x="417576" y="4472940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39623" y="39624"/>
                </a:moveTo>
                <a:lnTo>
                  <a:pt x="0" y="39624"/>
                </a:lnTo>
                <a:lnTo>
                  <a:pt x="0" y="0"/>
                </a:lnTo>
                <a:lnTo>
                  <a:pt x="39623" y="0"/>
                </a:lnTo>
                <a:lnTo>
                  <a:pt x="39623" y="3962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417576" y="5774435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39623" y="39624"/>
                </a:moveTo>
                <a:lnTo>
                  <a:pt x="0" y="39624"/>
                </a:lnTo>
                <a:lnTo>
                  <a:pt x="0" y="0"/>
                </a:lnTo>
                <a:lnTo>
                  <a:pt x="39623" y="0"/>
                </a:lnTo>
                <a:lnTo>
                  <a:pt x="39623" y="3962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417576" y="6185915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39623" y="39623"/>
                </a:moveTo>
                <a:lnTo>
                  <a:pt x="0" y="39623"/>
                </a:lnTo>
                <a:lnTo>
                  <a:pt x="0" y="0"/>
                </a:lnTo>
                <a:lnTo>
                  <a:pt x="39623" y="0"/>
                </a:lnTo>
                <a:lnTo>
                  <a:pt x="39623" y="3962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" name="object 21" descr=""/>
          <p:cNvGrpSpPr/>
          <p:nvPr/>
        </p:nvGrpSpPr>
        <p:grpSpPr>
          <a:xfrm>
            <a:off x="5378196" y="3991610"/>
            <a:ext cx="5125720" cy="3204210"/>
            <a:chOff x="5378196" y="3991610"/>
            <a:chExt cx="5125720" cy="3204210"/>
          </a:xfrm>
        </p:grpSpPr>
        <p:sp>
          <p:nvSpPr>
            <p:cNvPr id="22" name="object 22" descr=""/>
            <p:cNvSpPr/>
            <p:nvPr/>
          </p:nvSpPr>
          <p:spPr>
            <a:xfrm>
              <a:off x="537818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381244" y="4315968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691388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5907023" y="4451604"/>
            <a:ext cx="4569460" cy="2727960"/>
            <a:chOff x="5907023" y="4451604"/>
            <a:chExt cx="4569460" cy="2727960"/>
          </a:xfrm>
        </p:grpSpPr>
        <p:pic>
          <p:nvPicPr>
            <p:cNvPr id="26" name="object 2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0951" y="6966204"/>
              <a:ext cx="1335023" cy="213360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07023" y="4451604"/>
              <a:ext cx="966216" cy="501395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26835" y="4456176"/>
              <a:ext cx="885443" cy="466343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49695" y="4466844"/>
              <a:ext cx="838200" cy="419100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/>
          <p:nvPr/>
        </p:nvSpPr>
        <p:spPr>
          <a:xfrm>
            <a:off x="5583392" y="4079179"/>
            <a:ext cx="238633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Method of</a:t>
            </a:r>
            <a:r>
              <a:rPr dirty="0" sz="12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Accessing</a:t>
            </a:r>
            <a:r>
              <a:rPr dirty="0" sz="12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Units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2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6004096" y="4483133"/>
            <a:ext cx="729615" cy="35877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31445" marR="5080" indent="-119380">
              <a:lnSpc>
                <a:spcPts val="1210"/>
              </a:lnSpc>
              <a:spcBef>
                <a:spcPts val="305"/>
              </a:spcBef>
            </a:pPr>
            <a:r>
              <a:rPr dirty="0" sz="1150" spc="-10">
                <a:solidFill>
                  <a:srgbClr val="1A1A1A"/>
                </a:solidFill>
                <a:latin typeface="Arial MT"/>
                <a:cs typeface="Arial MT"/>
              </a:rPr>
              <a:t>Sequential access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6031992" y="4885944"/>
            <a:ext cx="759460" cy="525780"/>
            <a:chOff x="6031992" y="4885944"/>
            <a:chExt cx="759460" cy="525780"/>
          </a:xfrm>
        </p:grpSpPr>
        <p:sp>
          <p:nvSpPr>
            <p:cNvPr id="33" name="object 33" descr=""/>
            <p:cNvSpPr/>
            <p:nvPr/>
          </p:nvSpPr>
          <p:spPr>
            <a:xfrm>
              <a:off x="6031992" y="4885944"/>
              <a:ext cx="85725" cy="317500"/>
            </a:xfrm>
            <a:custGeom>
              <a:avLst/>
              <a:gdLst/>
              <a:ahLst/>
              <a:cxnLst/>
              <a:rect l="l" t="t" r="r" b="b"/>
              <a:pathLst>
                <a:path w="85725" h="317500">
                  <a:moveTo>
                    <a:pt x="85344" y="316991"/>
                  </a:moveTo>
                  <a:lnTo>
                    <a:pt x="1524" y="316991"/>
                  </a:lnTo>
                  <a:lnTo>
                    <a:pt x="0" y="315467"/>
                  </a:lnTo>
                  <a:lnTo>
                    <a:pt x="0" y="0"/>
                  </a:lnTo>
                  <a:lnTo>
                    <a:pt x="4572" y="0"/>
                  </a:lnTo>
                  <a:lnTo>
                    <a:pt x="4572" y="310895"/>
                  </a:lnTo>
                  <a:lnTo>
                    <a:pt x="85344" y="310895"/>
                  </a:lnTo>
                  <a:lnTo>
                    <a:pt x="85344" y="316991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117335" y="4991100"/>
              <a:ext cx="670560" cy="419100"/>
            </a:xfrm>
            <a:custGeom>
              <a:avLst/>
              <a:gdLst/>
              <a:ahLst/>
              <a:cxnLst/>
              <a:rect l="l" t="t" r="r" b="b"/>
              <a:pathLst>
                <a:path w="670559" h="419100">
                  <a:moveTo>
                    <a:pt x="627887" y="419100"/>
                  </a:moveTo>
                  <a:lnTo>
                    <a:pt x="42671" y="419100"/>
                  </a:lnTo>
                  <a:lnTo>
                    <a:pt x="25717" y="415647"/>
                  </a:lnTo>
                  <a:lnTo>
                    <a:pt x="12191" y="406336"/>
                  </a:lnTo>
                  <a:lnTo>
                    <a:pt x="3238" y="392739"/>
                  </a:lnTo>
                  <a:lnTo>
                    <a:pt x="0" y="376428"/>
                  </a:lnTo>
                  <a:lnTo>
                    <a:pt x="0" y="41148"/>
                  </a:lnTo>
                  <a:lnTo>
                    <a:pt x="3238" y="25074"/>
                  </a:lnTo>
                  <a:lnTo>
                    <a:pt x="12191" y="12001"/>
                  </a:lnTo>
                  <a:lnTo>
                    <a:pt x="25717" y="3214"/>
                  </a:lnTo>
                  <a:lnTo>
                    <a:pt x="42671" y="0"/>
                  </a:lnTo>
                  <a:lnTo>
                    <a:pt x="627887" y="0"/>
                  </a:lnTo>
                  <a:lnTo>
                    <a:pt x="644842" y="3214"/>
                  </a:lnTo>
                  <a:lnTo>
                    <a:pt x="658367" y="12001"/>
                  </a:lnTo>
                  <a:lnTo>
                    <a:pt x="667321" y="25074"/>
                  </a:lnTo>
                  <a:lnTo>
                    <a:pt x="670559" y="41148"/>
                  </a:lnTo>
                  <a:lnTo>
                    <a:pt x="670559" y="376428"/>
                  </a:lnTo>
                  <a:lnTo>
                    <a:pt x="667321" y="392739"/>
                  </a:lnTo>
                  <a:lnTo>
                    <a:pt x="658367" y="406336"/>
                  </a:lnTo>
                  <a:lnTo>
                    <a:pt x="644842" y="415647"/>
                  </a:lnTo>
                  <a:lnTo>
                    <a:pt x="627887" y="41910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6117336" y="5196839"/>
              <a:ext cx="1905" cy="6350"/>
            </a:xfrm>
            <a:custGeom>
              <a:avLst/>
              <a:gdLst/>
              <a:ahLst/>
              <a:cxnLst/>
              <a:rect l="l" t="t" r="r" b="b"/>
              <a:pathLst>
                <a:path w="1904" h="6350">
                  <a:moveTo>
                    <a:pt x="1524" y="6096"/>
                  </a:moveTo>
                  <a:lnTo>
                    <a:pt x="0" y="6096"/>
                  </a:lnTo>
                  <a:lnTo>
                    <a:pt x="0" y="0"/>
                  </a:lnTo>
                  <a:lnTo>
                    <a:pt x="1524" y="0"/>
                  </a:lnTo>
                  <a:lnTo>
                    <a:pt x="1524" y="6096"/>
                  </a:lnTo>
                  <a:close/>
                </a:path>
              </a:pathLst>
            </a:custGeom>
            <a:solidFill>
              <a:srgbClr val="A1A1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114288" y="4988052"/>
              <a:ext cx="676910" cy="424180"/>
            </a:xfrm>
            <a:custGeom>
              <a:avLst/>
              <a:gdLst/>
              <a:ahLst/>
              <a:cxnLst/>
              <a:rect l="l" t="t" r="r" b="b"/>
              <a:pathLst>
                <a:path w="676909" h="424179">
                  <a:moveTo>
                    <a:pt x="630935" y="423672"/>
                  </a:moveTo>
                  <a:lnTo>
                    <a:pt x="45720" y="423672"/>
                  </a:lnTo>
                  <a:lnTo>
                    <a:pt x="27646" y="420195"/>
                  </a:lnTo>
                  <a:lnTo>
                    <a:pt x="13144" y="410718"/>
                  </a:lnTo>
                  <a:lnTo>
                    <a:pt x="3500" y="396668"/>
                  </a:lnTo>
                  <a:lnTo>
                    <a:pt x="0" y="379476"/>
                  </a:lnTo>
                  <a:lnTo>
                    <a:pt x="0" y="44196"/>
                  </a:lnTo>
                  <a:lnTo>
                    <a:pt x="3500" y="27003"/>
                  </a:lnTo>
                  <a:lnTo>
                    <a:pt x="13144" y="12954"/>
                  </a:lnTo>
                  <a:lnTo>
                    <a:pt x="27646" y="3476"/>
                  </a:lnTo>
                  <a:lnTo>
                    <a:pt x="45720" y="0"/>
                  </a:lnTo>
                  <a:lnTo>
                    <a:pt x="630935" y="0"/>
                  </a:lnTo>
                  <a:lnTo>
                    <a:pt x="649009" y="3476"/>
                  </a:lnTo>
                  <a:lnTo>
                    <a:pt x="653017" y="6096"/>
                  </a:lnTo>
                  <a:lnTo>
                    <a:pt x="45720" y="6096"/>
                  </a:lnTo>
                  <a:lnTo>
                    <a:pt x="29884" y="9048"/>
                  </a:lnTo>
                  <a:lnTo>
                    <a:pt x="17335" y="17145"/>
                  </a:lnTo>
                  <a:lnTo>
                    <a:pt x="9072" y="29241"/>
                  </a:lnTo>
                  <a:lnTo>
                    <a:pt x="6096" y="44196"/>
                  </a:lnTo>
                  <a:lnTo>
                    <a:pt x="6096" y="379476"/>
                  </a:lnTo>
                  <a:lnTo>
                    <a:pt x="9072" y="394668"/>
                  </a:lnTo>
                  <a:lnTo>
                    <a:pt x="17335" y="407289"/>
                  </a:lnTo>
                  <a:lnTo>
                    <a:pt x="29884" y="415909"/>
                  </a:lnTo>
                  <a:lnTo>
                    <a:pt x="45720" y="419100"/>
                  </a:lnTo>
                  <a:lnTo>
                    <a:pt x="650685" y="419100"/>
                  </a:lnTo>
                  <a:lnTo>
                    <a:pt x="649009" y="420195"/>
                  </a:lnTo>
                  <a:lnTo>
                    <a:pt x="630935" y="423672"/>
                  </a:lnTo>
                  <a:close/>
                </a:path>
                <a:path w="676909" h="424179">
                  <a:moveTo>
                    <a:pt x="650685" y="419100"/>
                  </a:moveTo>
                  <a:lnTo>
                    <a:pt x="630935" y="419100"/>
                  </a:lnTo>
                  <a:lnTo>
                    <a:pt x="646771" y="415909"/>
                  </a:lnTo>
                  <a:lnTo>
                    <a:pt x="659320" y="407289"/>
                  </a:lnTo>
                  <a:lnTo>
                    <a:pt x="667583" y="394668"/>
                  </a:lnTo>
                  <a:lnTo>
                    <a:pt x="670560" y="379476"/>
                  </a:lnTo>
                  <a:lnTo>
                    <a:pt x="670560" y="44196"/>
                  </a:lnTo>
                  <a:lnTo>
                    <a:pt x="667583" y="29241"/>
                  </a:lnTo>
                  <a:lnTo>
                    <a:pt x="659320" y="17145"/>
                  </a:lnTo>
                  <a:lnTo>
                    <a:pt x="646771" y="9048"/>
                  </a:lnTo>
                  <a:lnTo>
                    <a:pt x="630935" y="6096"/>
                  </a:lnTo>
                  <a:lnTo>
                    <a:pt x="653017" y="6096"/>
                  </a:lnTo>
                  <a:lnTo>
                    <a:pt x="663511" y="12954"/>
                  </a:lnTo>
                  <a:lnTo>
                    <a:pt x="673155" y="27003"/>
                  </a:lnTo>
                  <a:lnTo>
                    <a:pt x="676656" y="44196"/>
                  </a:lnTo>
                  <a:lnTo>
                    <a:pt x="676656" y="379476"/>
                  </a:lnTo>
                  <a:lnTo>
                    <a:pt x="673155" y="396668"/>
                  </a:lnTo>
                  <a:lnTo>
                    <a:pt x="663511" y="410718"/>
                  </a:lnTo>
                  <a:lnTo>
                    <a:pt x="650685" y="41910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6148832" y="5089651"/>
            <a:ext cx="607060" cy="21209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algn="ctr" marL="12700" marR="5080">
              <a:lnSpc>
                <a:spcPts val="470"/>
              </a:lnSpc>
              <a:spcBef>
                <a:spcPts val="165"/>
              </a:spcBef>
            </a:pP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 is</a:t>
            </a:r>
            <a:r>
              <a:rPr dirty="0" sz="45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organized</a:t>
            </a:r>
            <a:r>
              <a:rPr dirty="0" sz="4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into</a:t>
            </a:r>
            <a:r>
              <a:rPr dirty="0" sz="4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units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of data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called</a:t>
            </a:r>
            <a:r>
              <a:rPr dirty="0" sz="4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records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6031992" y="4885944"/>
            <a:ext cx="759460" cy="1050290"/>
            <a:chOff x="6031992" y="4885944"/>
            <a:chExt cx="759460" cy="1050290"/>
          </a:xfrm>
        </p:grpSpPr>
        <p:sp>
          <p:nvSpPr>
            <p:cNvPr id="39" name="object 39" descr=""/>
            <p:cNvSpPr/>
            <p:nvPr/>
          </p:nvSpPr>
          <p:spPr>
            <a:xfrm>
              <a:off x="6031992" y="4885956"/>
              <a:ext cx="85725" cy="839469"/>
            </a:xfrm>
            <a:custGeom>
              <a:avLst/>
              <a:gdLst/>
              <a:ahLst/>
              <a:cxnLst/>
              <a:rect l="l" t="t" r="r" b="b"/>
              <a:pathLst>
                <a:path w="85725" h="839470">
                  <a:moveTo>
                    <a:pt x="85344" y="835660"/>
                  </a:moveTo>
                  <a:lnTo>
                    <a:pt x="4572" y="835660"/>
                  </a:lnTo>
                  <a:lnTo>
                    <a:pt x="4572" y="0"/>
                  </a:lnTo>
                  <a:lnTo>
                    <a:pt x="0" y="0"/>
                  </a:lnTo>
                  <a:lnTo>
                    <a:pt x="0" y="835660"/>
                  </a:lnTo>
                  <a:lnTo>
                    <a:pt x="0" y="839470"/>
                  </a:lnTo>
                  <a:lnTo>
                    <a:pt x="85344" y="839470"/>
                  </a:lnTo>
                  <a:lnTo>
                    <a:pt x="85344" y="835660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117335" y="5513832"/>
              <a:ext cx="670560" cy="419100"/>
            </a:xfrm>
            <a:custGeom>
              <a:avLst/>
              <a:gdLst/>
              <a:ahLst/>
              <a:cxnLst/>
              <a:rect l="l" t="t" r="r" b="b"/>
              <a:pathLst>
                <a:path w="670559" h="419100">
                  <a:moveTo>
                    <a:pt x="627887" y="419100"/>
                  </a:moveTo>
                  <a:lnTo>
                    <a:pt x="42671" y="419100"/>
                  </a:lnTo>
                  <a:lnTo>
                    <a:pt x="25717" y="415885"/>
                  </a:lnTo>
                  <a:lnTo>
                    <a:pt x="12191" y="407098"/>
                  </a:lnTo>
                  <a:lnTo>
                    <a:pt x="3238" y="394025"/>
                  </a:lnTo>
                  <a:lnTo>
                    <a:pt x="0" y="377952"/>
                  </a:lnTo>
                  <a:lnTo>
                    <a:pt x="0" y="42671"/>
                  </a:lnTo>
                  <a:lnTo>
                    <a:pt x="3238" y="26360"/>
                  </a:lnTo>
                  <a:lnTo>
                    <a:pt x="12191" y="12763"/>
                  </a:lnTo>
                  <a:lnTo>
                    <a:pt x="25717" y="3452"/>
                  </a:lnTo>
                  <a:lnTo>
                    <a:pt x="42671" y="0"/>
                  </a:lnTo>
                  <a:lnTo>
                    <a:pt x="627887" y="0"/>
                  </a:lnTo>
                  <a:lnTo>
                    <a:pt x="644842" y="3452"/>
                  </a:lnTo>
                  <a:lnTo>
                    <a:pt x="658367" y="12763"/>
                  </a:lnTo>
                  <a:lnTo>
                    <a:pt x="667321" y="26360"/>
                  </a:lnTo>
                  <a:lnTo>
                    <a:pt x="670559" y="42671"/>
                  </a:lnTo>
                  <a:lnTo>
                    <a:pt x="670559" y="377952"/>
                  </a:lnTo>
                  <a:lnTo>
                    <a:pt x="667321" y="394025"/>
                  </a:lnTo>
                  <a:lnTo>
                    <a:pt x="658367" y="407098"/>
                  </a:lnTo>
                  <a:lnTo>
                    <a:pt x="644842" y="415885"/>
                  </a:lnTo>
                  <a:lnTo>
                    <a:pt x="627887" y="41910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117336" y="5719572"/>
              <a:ext cx="1905" cy="7620"/>
            </a:xfrm>
            <a:custGeom>
              <a:avLst/>
              <a:gdLst/>
              <a:ahLst/>
              <a:cxnLst/>
              <a:rect l="l" t="t" r="r" b="b"/>
              <a:pathLst>
                <a:path w="1904" h="7620">
                  <a:moveTo>
                    <a:pt x="1524" y="7620"/>
                  </a:moveTo>
                  <a:lnTo>
                    <a:pt x="0" y="7620"/>
                  </a:lnTo>
                  <a:lnTo>
                    <a:pt x="0" y="0"/>
                  </a:lnTo>
                  <a:lnTo>
                    <a:pt x="1524" y="0"/>
                  </a:lnTo>
                  <a:lnTo>
                    <a:pt x="1524" y="7620"/>
                  </a:lnTo>
                  <a:close/>
                </a:path>
              </a:pathLst>
            </a:custGeom>
            <a:solidFill>
              <a:srgbClr val="A1A1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114288" y="5512308"/>
              <a:ext cx="676910" cy="424180"/>
            </a:xfrm>
            <a:custGeom>
              <a:avLst/>
              <a:gdLst/>
              <a:ahLst/>
              <a:cxnLst/>
              <a:rect l="l" t="t" r="r" b="b"/>
              <a:pathLst>
                <a:path w="676909" h="424179">
                  <a:moveTo>
                    <a:pt x="630935" y="423672"/>
                  </a:moveTo>
                  <a:lnTo>
                    <a:pt x="45720" y="423672"/>
                  </a:lnTo>
                  <a:lnTo>
                    <a:pt x="27646" y="420195"/>
                  </a:lnTo>
                  <a:lnTo>
                    <a:pt x="13144" y="410718"/>
                  </a:lnTo>
                  <a:lnTo>
                    <a:pt x="3500" y="396668"/>
                  </a:lnTo>
                  <a:lnTo>
                    <a:pt x="0" y="379476"/>
                  </a:lnTo>
                  <a:lnTo>
                    <a:pt x="0" y="44196"/>
                  </a:lnTo>
                  <a:lnTo>
                    <a:pt x="3500" y="27003"/>
                  </a:lnTo>
                  <a:lnTo>
                    <a:pt x="13144" y="12954"/>
                  </a:lnTo>
                  <a:lnTo>
                    <a:pt x="27646" y="3476"/>
                  </a:lnTo>
                  <a:lnTo>
                    <a:pt x="45720" y="0"/>
                  </a:lnTo>
                  <a:lnTo>
                    <a:pt x="630935" y="0"/>
                  </a:lnTo>
                  <a:lnTo>
                    <a:pt x="649009" y="3476"/>
                  </a:lnTo>
                  <a:lnTo>
                    <a:pt x="650685" y="4572"/>
                  </a:lnTo>
                  <a:lnTo>
                    <a:pt x="45720" y="4572"/>
                  </a:lnTo>
                  <a:lnTo>
                    <a:pt x="29884" y="7762"/>
                  </a:lnTo>
                  <a:lnTo>
                    <a:pt x="17335" y="16383"/>
                  </a:lnTo>
                  <a:lnTo>
                    <a:pt x="9072" y="29003"/>
                  </a:lnTo>
                  <a:lnTo>
                    <a:pt x="6096" y="44196"/>
                  </a:lnTo>
                  <a:lnTo>
                    <a:pt x="6096" y="379476"/>
                  </a:lnTo>
                  <a:lnTo>
                    <a:pt x="9072" y="394430"/>
                  </a:lnTo>
                  <a:lnTo>
                    <a:pt x="17335" y="406527"/>
                  </a:lnTo>
                  <a:lnTo>
                    <a:pt x="29884" y="414623"/>
                  </a:lnTo>
                  <a:lnTo>
                    <a:pt x="45720" y="417576"/>
                  </a:lnTo>
                  <a:lnTo>
                    <a:pt x="653017" y="417576"/>
                  </a:lnTo>
                  <a:lnTo>
                    <a:pt x="649009" y="420195"/>
                  </a:lnTo>
                  <a:lnTo>
                    <a:pt x="630935" y="423672"/>
                  </a:lnTo>
                  <a:close/>
                </a:path>
                <a:path w="676909" h="424179">
                  <a:moveTo>
                    <a:pt x="653017" y="417576"/>
                  </a:moveTo>
                  <a:lnTo>
                    <a:pt x="630935" y="417576"/>
                  </a:lnTo>
                  <a:lnTo>
                    <a:pt x="646771" y="414623"/>
                  </a:lnTo>
                  <a:lnTo>
                    <a:pt x="659320" y="406527"/>
                  </a:lnTo>
                  <a:lnTo>
                    <a:pt x="667583" y="394430"/>
                  </a:lnTo>
                  <a:lnTo>
                    <a:pt x="670560" y="379476"/>
                  </a:lnTo>
                  <a:lnTo>
                    <a:pt x="670560" y="44196"/>
                  </a:lnTo>
                  <a:lnTo>
                    <a:pt x="667583" y="29003"/>
                  </a:lnTo>
                  <a:lnTo>
                    <a:pt x="659320" y="16383"/>
                  </a:lnTo>
                  <a:lnTo>
                    <a:pt x="646771" y="7762"/>
                  </a:lnTo>
                  <a:lnTo>
                    <a:pt x="630935" y="4572"/>
                  </a:lnTo>
                  <a:lnTo>
                    <a:pt x="650685" y="4572"/>
                  </a:lnTo>
                  <a:lnTo>
                    <a:pt x="663511" y="12954"/>
                  </a:lnTo>
                  <a:lnTo>
                    <a:pt x="673155" y="27003"/>
                  </a:lnTo>
                  <a:lnTo>
                    <a:pt x="676656" y="44196"/>
                  </a:lnTo>
                  <a:lnTo>
                    <a:pt x="676656" y="379476"/>
                  </a:lnTo>
                  <a:lnTo>
                    <a:pt x="673155" y="396668"/>
                  </a:lnTo>
                  <a:lnTo>
                    <a:pt x="663511" y="410718"/>
                  </a:lnTo>
                  <a:lnTo>
                    <a:pt x="653017" y="417576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6130544" y="5613908"/>
            <a:ext cx="643890" cy="21082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algn="ctr" marL="12700" marR="5080">
              <a:lnSpc>
                <a:spcPct val="85600"/>
              </a:lnSpc>
              <a:spcBef>
                <a:spcPts val="170"/>
              </a:spcBef>
            </a:pP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Access</a:t>
            </a:r>
            <a:r>
              <a:rPr dirty="0" sz="450" spc="-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must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be</a:t>
            </a:r>
            <a:r>
              <a:rPr dirty="0" sz="45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made</a:t>
            </a:r>
            <a:r>
              <a:rPr dirty="0" sz="4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dirty="0" sz="4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dirty="0" sz="450" spc="-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specific</a:t>
            </a:r>
            <a:r>
              <a:rPr dirty="0" sz="4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linear</a:t>
            </a:r>
            <a:r>
              <a:rPr dirty="0" sz="4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sequence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6031992" y="4885944"/>
            <a:ext cx="759460" cy="1574800"/>
            <a:chOff x="6031992" y="4885944"/>
            <a:chExt cx="759460" cy="1574800"/>
          </a:xfrm>
        </p:grpSpPr>
        <p:sp>
          <p:nvSpPr>
            <p:cNvPr id="45" name="object 45" descr=""/>
            <p:cNvSpPr/>
            <p:nvPr/>
          </p:nvSpPr>
          <p:spPr>
            <a:xfrm>
              <a:off x="6031992" y="4885944"/>
              <a:ext cx="85725" cy="1363980"/>
            </a:xfrm>
            <a:custGeom>
              <a:avLst/>
              <a:gdLst/>
              <a:ahLst/>
              <a:cxnLst/>
              <a:rect l="l" t="t" r="r" b="b"/>
              <a:pathLst>
                <a:path w="85725" h="1363979">
                  <a:moveTo>
                    <a:pt x="85344" y="1363979"/>
                  </a:moveTo>
                  <a:lnTo>
                    <a:pt x="1524" y="1363979"/>
                  </a:lnTo>
                  <a:lnTo>
                    <a:pt x="0" y="1362455"/>
                  </a:lnTo>
                  <a:lnTo>
                    <a:pt x="0" y="0"/>
                  </a:lnTo>
                  <a:lnTo>
                    <a:pt x="4572" y="0"/>
                  </a:lnTo>
                  <a:lnTo>
                    <a:pt x="4572" y="1357883"/>
                  </a:lnTo>
                  <a:lnTo>
                    <a:pt x="85344" y="1357883"/>
                  </a:lnTo>
                  <a:lnTo>
                    <a:pt x="85344" y="1363979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6117335" y="6038088"/>
              <a:ext cx="670560" cy="419100"/>
            </a:xfrm>
            <a:custGeom>
              <a:avLst/>
              <a:gdLst/>
              <a:ahLst/>
              <a:cxnLst/>
              <a:rect l="l" t="t" r="r" b="b"/>
              <a:pathLst>
                <a:path w="670559" h="419100">
                  <a:moveTo>
                    <a:pt x="627887" y="419100"/>
                  </a:moveTo>
                  <a:lnTo>
                    <a:pt x="42671" y="419100"/>
                  </a:lnTo>
                  <a:lnTo>
                    <a:pt x="25717" y="415647"/>
                  </a:lnTo>
                  <a:lnTo>
                    <a:pt x="12191" y="406336"/>
                  </a:lnTo>
                  <a:lnTo>
                    <a:pt x="3238" y="392739"/>
                  </a:lnTo>
                  <a:lnTo>
                    <a:pt x="0" y="376428"/>
                  </a:lnTo>
                  <a:lnTo>
                    <a:pt x="0" y="42671"/>
                  </a:lnTo>
                  <a:lnTo>
                    <a:pt x="3238" y="25717"/>
                  </a:lnTo>
                  <a:lnTo>
                    <a:pt x="12191" y="12191"/>
                  </a:lnTo>
                  <a:lnTo>
                    <a:pt x="25717" y="3238"/>
                  </a:lnTo>
                  <a:lnTo>
                    <a:pt x="42671" y="0"/>
                  </a:lnTo>
                  <a:lnTo>
                    <a:pt x="627887" y="0"/>
                  </a:lnTo>
                  <a:lnTo>
                    <a:pt x="644842" y="3238"/>
                  </a:lnTo>
                  <a:lnTo>
                    <a:pt x="658367" y="12191"/>
                  </a:lnTo>
                  <a:lnTo>
                    <a:pt x="667321" y="25717"/>
                  </a:lnTo>
                  <a:lnTo>
                    <a:pt x="670559" y="42671"/>
                  </a:lnTo>
                  <a:lnTo>
                    <a:pt x="670559" y="376428"/>
                  </a:lnTo>
                  <a:lnTo>
                    <a:pt x="667321" y="392739"/>
                  </a:lnTo>
                  <a:lnTo>
                    <a:pt x="658367" y="406336"/>
                  </a:lnTo>
                  <a:lnTo>
                    <a:pt x="644842" y="415647"/>
                  </a:lnTo>
                  <a:lnTo>
                    <a:pt x="627887" y="41910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6117336" y="6243828"/>
              <a:ext cx="1905" cy="6350"/>
            </a:xfrm>
            <a:custGeom>
              <a:avLst/>
              <a:gdLst/>
              <a:ahLst/>
              <a:cxnLst/>
              <a:rect l="l" t="t" r="r" b="b"/>
              <a:pathLst>
                <a:path w="1904" h="6350">
                  <a:moveTo>
                    <a:pt x="1524" y="6095"/>
                  </a:moveTo>
                  <a:lnTo>
                    <a:pt x="0" y="6095"/>
                  </a:lnTo>
                  <a:lnTo>
                    <a:pt x="0" y="0"/>
                  </a:lnTo>
                  <a:lnTo>
                    <a:pt x="1524" y="0"/>
                  </a:lnTo>
                  <a:lnTo>
                    <a:pt x="1524" y="6095"/>
                  </a:lnTo>
                  <a:close/>
                </a:path>
              </a:pathLst>
            </a:custGeom>
            <a:solidFill>
              <a:srgbClr val="A1A1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6114288" y="6035040"/>
              <a:ext cx="676910" cy="425450"/>
            </a:xfrm>
            <a:custGeom>
              <a:avLst/>
              <a:gdLst/>
              <a:ahLst/>
              <a:cxnLst/>
              <a:rect l="l" t="t" r="r" b="b"/>
              <a:pathLst>
                <a:path w="676909" h="425450">
                  <a:moveTo>
                    <a:pt x="630935" y="425196"/>
                  </a:moveTo>
                  <a:lnTo>
                    <a:pt x="45720" y="425196"/>
                  </a:lnTo>
                  <a:lnTo>
                    <a:pt x="27646" y="421481"/>
                  </a:lnTo>
                  <a:lnTo>
                    <a:pt x="13144" y="411480"/>
                  </a:lnTo>
                  <a:lnTo>
                    <a:pt x="3500" y="396906"/>
                  </a:lnTo>
                  <a:lnTo>
                    <a:pt x="0" y="379476"/>
                  </a:lnTo>
                  <a:lnTo>
                    <a:pt x="0" y="45720"/>
                  </a:lnTo>
                  <a:lnTo>
                    <a:pt x="3500" y="27646"/>
                  </a:lnTo>
                  <a:lnTo>
                    <a:pt x="13144" y="13144"/>
                  </a:lnTo>
                  <a:lnTo>
                    <a:pt x="27646" y="3500"/>
                  </a:lnTo>
                  <a:lnTo>
                    <a:pt x="45720" y="0"/>
                  </a:lnTo>
                  <a:lnTo>
                    <a:pt x="630935" y="0"/>
                  </a:lnTo>
                  <a:lnTo>
                    <a:pt x="649009" y="3500"/>
                  </a:lnTo>
                  <a:lnTo>
                    <a:pt x="652912" y="6096"/>
                  </a:lnTo>
                  <a:lnTo>
                    <a:pt x="45720" y="6096"/>
                  </a:lnTo>
                  <a:lnTo>
                    <a:pt x="29884" y="9072"/>
                  </a:lnTo>
                  <a:lnTo>
                    <a:pt x="17335" y="17335"/>
                  </a:lnTo>
                  <a:lnTo>
                    <a:pt x="9072" y="29884"/>
                  </a:lnTo>
                  <a:lnTo>
                    <a:pt x="6096" y="45720"/>
                  </a:lnTo>
                  <a:lnTo>
                    <a:pt x="6096" y="379476"/>
                  </a:lnTo>
                  <a:lnTo>
                    <a:pt x="9072" y="395311"/>
                  </a:lnTo>
                  <a:lnTo>
                    <a:pt x="17335" y="407860"/>
                  </a:lnTo>
                  <a:lnTo>
                    <a:pt x="29884" y="416123"/>
                  </a:lnTo>
                  <a:lnTo>
                    <a:pt x="45720" y="419100"/>
                  </a:lnTo>
                  <a:lnTo>
                    <a:pt x="652462" y="419100"/>
                  </a:lnTo>
                  <a:lnTo>
                    <a:pt x="649009" y="421481"/>
                  </a:lnTo>
                  <a:lnTo>
                    <a:pt x="630935" y="425196"/>
                  </a:lnTo>
                  <a:close/>
                </a:path>
                <a:path w="676909" h="425450">
                  <a:moveTo>
                    <a:pt x="652462" y="419100"/>
                  </a:moveTo>
                  <a:lnTo>
                    <a:pt x="630935" y="419100"/>
                  </a:lnTo>
                  <a:lnTo>
                    <a:pt x="646771" y="416123"/>
                  </a:lnTo>
                  <a:lnTo>
                    <a:pt x="659320" y="407860"/>
                  </a:lnTo>
                  <a:lnTo>
                    <a:pt x="667583" y="395311"/>
                  </a:lnTo>
                  <a:lnTo>
                    <a:pt x="670560" y="379476"/>
                  </a:lnTo>
                  <a:lnTo>
                    <a:pt x="670560" y="45720"/>
                  </a:lnTo>
                  <a:lnTo>
                    <a:pt x="667583" y="29884"/>
                  </a:lnTo>
                  <a:lnTo>
                    <a:pt x="659320" y="17335"/>
                  </a:lnTo>
                  <a:lnTo>
                    <a:pt x="646771" y="9072"/>
                  </a:lnTo>
                  <a:lnTo>
                    <a:pt x="630935" y="6096"/>
                  </a:lnTo>
                  <a:lnTo>
                    <a:pt x="652912" y="6096"/>
                  </a:lnTo>
                  <a:lnTo>
                    <a:pt x="663511" y="13144"/>
                  </a:lnTo>
                  <a:lnTo>
                    <a:pt x="673155" y="27646"/>
                  </a:lnTo>
                  <a:lnTo>
                    <a:pt x="676656" y="45720"/>
                  </a:lnTo>
                  <a:lnTo>
                    <a:pt x="676656" y="379476"/>
                  </a:lnTo>
                  <a:lnTo>
                    <a:pt x="673155" y="396906"/>
                  </a:lnTo>
                  <a:lnTo>
                    <a:pt x="663511" y="411480"/>
                  </a:lnTo>
                  <a:lnTo>
                    <a:pt x="652462" y="41910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6150355" y="6196076"/>
            <a:ext cx="603885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Access</a:t>
            </a:r>
            <a:r>
              <a:rPr dirty="0" sz="4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time</a:t>
            </a:r>
            <a:r>
              <a:rPr dirty="0" sz="45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45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variable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6972300" y="4451604"/>
            <a:ext cx="887094" cy="501650"/>
            <a:chOff x="6972300" y="4451604"/>
            <a:chExt cx="887094" cy="501650"/>
          </a:xfrm>
        </p:grpSpPr>
        <p:pic>
          <p:nvPicPr>
            <p:cNvPr id="51" name="object 5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72300" y="4451604"/>
              <a:ext cx="886967" cy="501395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72883" y="4456176"/>
              <a:ext cx="690371" cy="466343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96683" y="4466844"/>
              <a:ext cx="838200" cy="419100"/>
            </a:xfrm>
            <a:prstGeom prst="rect">
              <a:avLst/>
            </a:prstGeom>
          </p:spPr>
        </p:pic>
      </p:grpSp>
      <p:sp>
        <p:nvSpPr>
          <p:cNvPr id="54" name="object 54" descr=""/>
          <p:cNvSpPr txBox="1"/>
          <p:nvPr/>
        </p:nvSpPr>
        <p:spPr>
          <a:xfrm>
            <a:off x="7169962" y="4483133"/>
            <a:ext cx="490220" cy="35877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 marR="5080" indent="38100">
              <a:lnSpc>
                <a:spcPts val="1210"/>
              </a:lnSpc>
              <a:spcBef>
                <a:spcPts val="305"/>
              </a:spcBef>
            </a:pPr>
            <a:r>
              <a:rPr dirty="0" sz="1150" spc="-10">
                <a:solidFill>
                  <a:srgbClr val="1A1A1A"/>
                </a:solidFill>
                <a:latin typeface="Arial MT"/>
                <a:cs typeface="Arial MT"/>
              </a:rPr>
              <a:t>Direct access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7078980" y="4885944"/>
            <a:ext cx="759460" cy="525780"/>
            <a:chOff x="7078980" y="4885944"/>
            <a:chExt cx="759460" cy="525780"/>
          </a:xfrm>
        </p:grpSpPr>
        <p:sp>
          <p:nvSpPr>
            <p:cNvPr id="56" name="object 56" descr=""/>
            <p:cNvSpPr/>
            <p:nvPr/>
          </p:nvSpPr>
          <p:spPr>
            <a:xfrm>
              <a:off x="7078980" y="4885944"/>
              <a:ext cx="85725" cy="317500"/>
            </a:xfrm>
            <a:custGeom>
              <a:avLst/>
              <a:gdLst/>
              <a:ahLst/>
              <a:cxnLst/>
              <a:rect l="l" t="t" r="r" b="b"/>
              <a:pathLst>
                <a:path w="85725" h="317500">
                  <a:moveTo>
                    <a:pt x="85344" y="316991"/>
                  </a:moveTo>
                  <a:lnTo>
                    <a:pt x="1524" y="316991"/>
                  </a:lnTo>
                  <a:lnTo>
                    <a:pt x="0" y="315467"/>
                  </a:lnTo>
                  <a:lnTo>
                    <a:pt x="0" y="0"/>
                  </a:lnTo>
                  <a:lnTo>
                    <a:pt x="4572" y="0"/>
                  </a:lnTo>
                  <a:lnTo>
                    <a:pt x="4572" y="310895"/>
                  </a:lnTo>
                  <a:lnTo>
                    <a:pt x="85344" y="310895"/>
                  </a:lnTo>
                  <a:lnTo>
                    <a:pt x="85344" y="316991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7164324" y="4991100"/>
              <a:ext cx="670560" cy="419100"/>
            </a:xfrm>
            <a:custGeom>
              <a:avLst/>
              <a:gdLst/>
              <a:ahLst/>
              <a:cxnLst/>
              <a:rect l="l" t="t" r="r" b="b"/>
              <a:pathLst>
                <a:path w="670559" h="419100">
                  <a:moveTo>
                    <a:pt x="629412" y="419100"/>
                  </a:moveTo>
                  <a:lnTo>
                    <a:pt x="42672" y="419100"/>
                  </a:lnTo>
                  <a:lnTo>
                    <a:pt x="26360" y="415647"/>
                  </a:lnTo>
                  <a:lnTo>
                    <a:pt x="12763" y="406336"/>
                  </a:lnTo>
                  <a:lnTo>
                    <a:pt x="3452" y="392739"/>
                  </a:lnTo>
                  <a:lnTo>
                    <a:pt x="0" y="376428"/>
                  </a:lnTo>
                  <a:lnTo>
                    <a:pt x="0" y="41148"/>
                  </a:lnTo>
                  <a:lnTo>
                    <a:pt x="3452" y="25074"/>
                  </a:lnTo>
                  <a:lnTo>
                    <a:pt x="12763" y="12001"/>
                  </a:lnTo>
                  <a:lnTo>
                    <a:pt x="26360" y="3214"/>
                  </a:lnTo>
                  <a:lnTo>
                    <a:pt x="42672" y="0"/>
                  </a:lnTo>
                  <a:lnTo>
                    <a:pt x="629412" y="0"/>
                  </a:lnTo>
                  <a:lnTo>
                    <a:pt x="645485" y="3214"/>
                  </a:lnTo>
                  <a:lnTo>
                    <a:pt x="658558" y="12001"/>
                  </a:lnTo>
                  <a:lnTo>
                    <a:pt x="667345" y="25074"/>
                  </a:lnTo>
                  <a:lnTo>
                    <a:pt x="670560" y="41148"/>
                  </a:lnTo>
                  <a:lnTo>
                    <a:pt x="670560" y="376428"/>
                  </a:lnTo>
                  <a:lnTo>
                    <a:pt x="667345" y="392739"/>
                  </a:lnTo>
                  <a:lnTo>
                    <a:pt x="658558" y="406336"/>
                  </a:lnTo>
                  <a:lnTo>
                    <a:pt x="645485" y="415647"/>
                  </a:lnTo>
                  <a:lnTo>
                    <a:pt x="629412" y="41910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7164324" y="5196839"/>
              <a:ext cx="1905" cy="6350"/>
            </a:xfrm>
            <a:custGeom>
              <a:avLst/>
              <a:gdLst/>
              <a:ahLst/>
              <a:cxnLst/>
              <a:rect l="l" t="t" r="r" b="b"/>
              <a:pathLst>
                <a:path w="1904" h="6350">
                  <a:moveTo>
                    <a:pt x="1524" y="6096"/>
                  </a:moveTo>
                  <a:lnTo>
                    <a:pt x="0" y="6096"/>
                  </a:lnTo>
                  <a:lnTo>
                    <a:pt x="0" y="0"/>
                  </a:lnTo>
                  <a:lnTo>
                    <a:pt x="1524" y="0"/>
                  </a:lnTo>
                  <a:lnTo>
                    <a:pt x="1524" y="6096"/>
                  </a:lnTo>
                  <a:close/>
                </a:path>
              </a:pathLst>
            </a:custGeom>
            <a:solidFill>
              <a:srgbClr val="A1A1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7162800" y="4988052"/>
              <a:ext cx="675640" cy="424180"/>
            </a:xfrm>
            <a:custGeom>
              <a:avLst/>
              <a:gdLst/>
              <a:ahLst/>
              <a:cxnLst/>
              <a:rect l="l" t="t" r="r" b="b"/>
              <a:pathLst>
                <a:path w="675640" h="424179">
                  <a:moveTo>
                    <a:pt x="630936" y="423672"/>
                  </a:moveTo>
                  <a:lnTo>
                    <a:pt x="44196" y="423672"/>
                  </a:lnTo>
                  <a:lnTo>
                    <a:pt x="27003" y="420195"/>
                  </a:lnTo>
                  <a:lnTo>
                    <a:pt x="12954" y="410718"/>
                  </a:lnTo>
                  <a:lnTo>
                    <a:pt x="3476" y="396668"/>
                  </a:lnTo>
                  <a:lnTo>
                    <a:pt x="0" y="379476"/>
                  </a:lnTo>
                  <a:lnTo>
                    <a:pt x="0" y="44196"/>
                  </a:lnTo>
                  <a:lnTo>
                    <a:pt x="3476" y="27003"/>
                  </a:lnTo>
                  <a:lnTo>
                    <a:pt x="12954" y="12954"/>
                  </a:lnTo>
                  <a:lnTo>
                    <a:pt x="27003" y="3476"/>
                  </a:lnTo>
                  <a:lnTo>
                    <a:pt x="44196" y="0"/>
                  </a:lnTo>
                  <a:lnTo>
                    <a:pt x="630936" y="0"/>
                  </a:lnTo>
                  <a:lnTo>
                    <a:pt x="648128" y="3476"/>
                  </a:lnTo>
                  <a:lnTo>
                    <a:pt x="652011" y="6096"/>
                  </a:lnTo>
                  <a:lnTo>
                    <a:pt x="44196" y="6096"/>
                  </a:lnTo>
                  <a:lnTo>
                    <a:pt x="29003" y="9048"/>
                  </a:lnTo>
                  <a:lnTo>
                    <a:pt x="16383" y="17145"/>
                  </a:lnTo>
                  <a:lnTo>
                    <a:pt x="7762" y="29241"/>
                  </a:lnTo>
                  <a:lnTo>
                    <a:pt x="4572" y="44196"/>
                  </a:lnTo>
                  <a:lnTo>
                    <a:pt x="4572" y="379476"/>
                  </a:lnTo>
                  <a:lnTo>
                    <a:pt x="7762" y="394668"/>
                  </a:lnTo>
                  <a:lnTo>
                    <a:pt x="16383" y="407289"/>
                  </a:lnTo>
                  <a:lnTo>
                    <a:pt x="29003" y="415909"/>
                  </a:lnTo>
                  <a:lnTo>
                    <a:pt x="44196" y="419100"/>
                  </a:lnTo>
                  <a:lnTo>
                    <a:pt x="649752" y="419100"/>
                  </a:lnTo>
                  <a:lnTo>
                    <a:pt x="648128" y="420195"/>
                  </a:lnTo>
                  <a:lnTo>
                    <a:pt x="630936" y="423672"/>
                  </a:lnTo>
                  <a:close/>
                </a:path>
                <a:path w="675640" h="424179">
                  <a:moveTo>
                    <a:pt x="649752" y="419100"/>
                  </a:moveTo>
                  <a:lnTo>
                    <a:pt x="630936" y="419100"/>
                  </a:lnTo>
                  <a:lnTo>
                    <a:pt x="645890" y="415909"/>
                  </a:lnTo>
                  <a:lnTo>
                    <a:pt x="657987" y="407289"/>
                  </a:lnTo>
                  <a:lnTo>
                    <a:pt x="666083" y="394668"/>
                  </a:lnTo>
                  <a:lnTo>
                    <a:pt x="669036" y="379476"/>
                  </a:lnTo>
                  <a:lnTo>
                    <a:pt x="669036" y="44196"/>
                  </a:lnTo>
                  <a:lnTo>
                    <a:pt x="666083" y="29241"/>
                  </a:lnTo>
                  <a:lnTo>
                    <a:pt x="657987" y="17145"/>
                  </a:lnTo>
                  <a:lnTo>
                    <a:pt x="645890" y="9048"/>
                  </a:lnTo>
                  <a:lnTo>
                    <a:pt x="630936" y="6096"/>
                  </a:lnTo>
                  <a:lnTo>
                    <a:pt x="652011" y="6096"/>
                  </a:lnTo>
                  <a:lnTo>
                    <a:pt x="662178" y="12954"/>
                  </a:lnTo>
                  <a:lnTo>
                    <a:pt x="671655" y="27003"/>
                  </a:lnTo>
                  <a:lnTo>
                    <a:pt x="675132" y="44196"/>
                  </a:lnTo>
                  <a:lnTo>
                    <a:pt x="675132" y="379476"/>
                  </a:lnTo>
                  <a:lnTo>
                    <a:pt x="671655" y="396668"/>
                  </a:lnTo>
                  <a:lnTo>
                    <a:pt x="662178" y="410718"/>
                  </a:lnTo>
                  <a:lnTo>
                    <a:pt x="649752" y="41910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 txBox="1"/>
          <p:nvPr/>
        </p:nvSpPr>
        <p:spPr>
          <a:xfrm>
            <a:off x="7189723" y="5120132"/>
            <a:ext cx="619125" cy="15113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94615" marR="5080" indent="-82550">
              <a:lnSpc>
                <a:spcPts val="459"/>
              </a:lnSpc>
              <a:spcBef>
                <a:spcPts val="175"/>
              </a:spcBef>
            </a:pP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Involves</a:t>
            </a:r>
            <a:r>
              <a:rPr dirty="0" sz="4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dirty="0" sz="45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shared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read-</a:t>
            </a:r>
            <a:r>
              <a:rPr dirty="0" sz="4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write</a:t>
            </a:r>
            <a:r>
              <a:rPr dirty="0" sz="450" spc="-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mechanism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7078980" y="4885944"/>
            <a:ext cx="759460" cy="1050290"/>
            <a:chOff x="7078980" y="4885944"/>
            <a:chExt cx="759460" cy="1050290"/>
          </a:xfrm>
        </p:grpSpPr>
        <p:sp>
          <p:nvSpPr>
            <p:cNvPr id="62" name="object 62" descr=""/>
            <p:cNvSpPr/>
            <p:nvPr/>
          </p:nvSpPr>
          <p:spPr>
            <a:xfrm>
              <a:off x="7078968" y="4885956"/>
              <a:ext cx="85725" cy="839469"/>
            </a:xfrm>
            <a:custGeom>
              <a:avLst/>
              <a:gdLst/>
              <a:ahLst/>
              <a:cxnLst/>
              <a:rect l="l" t="t" r="r" b="b"/>
              <a:pathLst>
                <a:path w="85725" h="839470">
                  <a:moveTo>
                    <a:pt x="85344" y="835660"/>
                  </a:moveTo>
                  <a:lnTo>
                    <a:pt x="4572" y="835660"/>
                  </a:lnTo>
                  <a:lnTo>
                    <a:pt x="4572" y="0"/>
                  </a:lnTo>
                  <a:lnTo>
                    <a:pt x="0" y="0"/>
                  </a:lnTo>
                  <a:lnTo>
                    <a:pt x="0" y="835660"/>
                  </a:lnTo>
                  <a:lnTo>
                    <a:pt x="0" y="839470"/>
                  </a:lnTo>
                  <a:lnTo>
                    <a:pt x="85344" y="839470"/>
                  </a:lnTo>
                  <a:lnTo>
                    <a:pt x="85344" y="835660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7164324" y="5513832"/>
              <a:ext cx="670560" cy="419100"/>
            </a:xfrm>
            <a:custGeom>
              <a:avLst/>
              <a:gdLst/>
              <a:ahLst/>
              <a:cxnLst/>
              <a:rect l="l" t="t" r="r" b="b"/>
              <a:pathLst>
                <a:path w="670559" h="419100">
                  <a:moveTo>
                    <a:pt x="629412" y="419100"/>
                  </a:moveTo>
                  <a:lnTo>
                    <a:pt x="42672" y="419100"/>
                  </a:lnTo>
                  <a:lnTo>
                    <a:pt x="26360" y="415885"/>
                  </a:lnTo>
                  <a:lnTo>
                    <a:pt x="12763" y="407098"/>
                  </a:lnTo>
                  <a:lnTo>
                    <a:pt x="3452" y="394025"/>
                  </a:lnTo>
                  <a:lnTo>
                    <a:pt x="0" y="377952"/>
                  </a:lnTo>
                  <a:lnTo>
                    <a:pt x="0" y="42671"/>
                  </a:lnTo>
                  <a:lnTo>
                    <a:pt x="3452" y="26360"/>
                  </a:lnTo>
                  <a:lnTo>
                    <a:pt x="12763" y="12763"/>
                  </a:lnTo>
                  <a:lnTo>
                    <a:pt x="26360" y="3452"/>
                  </a:lnTo>
                  <a:lnTo>
                    <a:pt x="42672" y="0"/>
                  </a:lnTo>
                  <a:lnTo>
                    <a:pt x="629412" y="0"/>
                  </a:lnTo>
                  <a:lnTo>
                    <a:pt x="645485" y="3452"/>
                  </a:lnTo>
                  <a:lnTo>
                    <a:pt x="658558" y="12763"/>
                  </a:lnTo>
                  <a:lnTo>
                    <a:pt x="667345" y="26360"/>
                  </a:lnTo>
                  <a:lnTo>
                    <a:pt x="670560" y="42671"/>
                  </a:lnTo>
                  <a:lnTo>
                    <a:pt x="670560" y="377952"/>
                  </a:lnTo>
                  <a:lnTo>
                    <a:pt x="667345" y="394025"/>
                  </a:lnTo>
                  <a:lnTo>
                    <a:pt x="658558" y="407098"/>
                  </a:lnTo>
                  <a:lnTo>
                    <a:pt x="645485" y="415885"/>
                  </a:lnTo>
                  <a:lnTo>
                    <a:pt x="629412" y="41910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7164324" y="5719572"/>
              <a:ext cx="1905" cy="7620"/>
            </a:xfrm>
            <a:custGeom>
              <a:avLst/>
              <a:gdLst/>
              <a:ahLst/>
              <a:cxnLst/>
              <a:rect l="l" t="t" r="r" b="b"/>
              <a:pathLst>
                <a:path w="1904" h="7620">
                  <a:moveTo>
                    <a:pt x="1524" y="7620"/>
                  </a:moveTo>
                  <a:lnTo>
                    <a:pt x="0" y="7620"/>
                  </a:lnTo>
                  <a:lnTo>
                    <a:pt x="0" y="0"/>
                  </a:lnTo>
                  <a:lnTo>
                    <a:pt x="1524" y="0"/>
                  </a:lnTo>
                  <a:lnTo>
                    <a:pt x="1524" y="7620"/>
                  </a:lnTo>
                  <a:close/>
                </a:path>
              </a:pathLst>
            </a:custGeom>
            <a:solidFill>
              <a:srgbClr val="A1A1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7162800" y="5512308"/>
              <a:ext cx="675640" cy="424180"/>
            </a:xfrm>
            <a:custGeom>
              <a:avLst/>
              <a:gdLst/>
              <a:ahLst/>
              <a:cxnLst/>
              <a:rect l="l" t="t" r="r" b="b"/>
              <a:pathLst>
                <a:path w="675640" h="424179">
                  <a:moveTo>
                    <a:pt x="630936" y="423672"/>
                  </a:moveTo>
                  <a:lnTo>
                    <a:pt x="44196" y="423672"/>
                  </a:lnTo>
                  <a:lnTo>
                    <a:pt x="27003" y="420195"/>
                  </a:lnTo>
                  <a:lnTo>
                    <a:pt x="12954" y="410718"/>
                  </a:lnTo>
                  <a:lnTo>
                    <a:pt x="3476" y="396668"/>
                  </a:lnTo>
                  <a:lnTo>
                    <a:pt x="0" y="379476"/>
                  </a:lnTo>
                  <a:lnTo>
                    <a:pt x="0" y="44196"/>
                  </a:lnTo>
                  <a:lnTo>
                    <a:pt x="3476" y="27003"/>
                  </a:lnTo>
                  <a:lnTo>
                    <a:pt x="12954" y="12954"/>
                  </a:lnTo>
                  <a:lnTo>
                    <a:pt x="27003" y="3476"/>
                  </a:lnTo>
                  <a:lnTo>
                    <a:pt x="44196" y="0"/>
                  </a:lnTo>
                  <a:lnTo>
                    <a:pt x="630936" y="0"/>
                  </a:lnTo>
                  <a:lnTo>
                    <a:pt x="648128" y="3476"/>
                  </a:lnTo>
                  <a:lnTo>
                    <a:pt x="649752" y="4572"/>
                  </a:lnTo>
                  <a:lnTo>
                    <a:pt x="44196" y="4572"/>
                  </a:lnTo>
                  <a:lnTo>
                    <a:pt x="29003" y="7762"/>
                  </a:lnTo>
                  <a:lnTo>
                    <a:pt x="16383" y="16383"/>
                  </a:lnTo>
                  <a:lnTo>
                    <a:pt x="7762" y="29003"/>
                  </a:lnTo>
                  <a:lnTo>
                    <a:pt x="4572" y="44196"/>
                  </a:lnTo>
                  <a:lnTo>
                    <a:pt x="4572" y="379476"/>
                  </a:lnTo>
                  <a:lnTo>
                    <a:pt x="7762" y="394430"/>
                  </a:lnTo>
                  <a:lnTo>
                    <a:pt x="16383" y="406527"/>
                  </a:lnTo>
                  <a:lnTo>
                    <a:pt x="29003" y="414623"/>
                  </a:lnTo>
                  <a:lnTo>
                    <a:pt x="44196" y="417576"/>
                  </a:lnTo>
                  <a:lnTo>
                    <a:pt x="652011" y="417576"/>
                  </a:lnTo>
                  <a:lnTo>
                    <a:pt x="648128" y="420195"/>
                  </a:lnTo>
                  <a:lnTo>
                    <a:pt x="630936" y="423672"/>
                  </a:lnTo>
                  <a:close/>
                </a:path>
                <a:path w="675640" h="424179">
                  <a:moveTo>
                    <a:pt x="652011" y="417576"/>
                  </a:moveTo>
                  <a:lnTo>
                    <a:pt x="630936" y="417576"/>
                  </a:lnTo>
                  <a:lnTo>
                    <a:pt x="645890" y="414623"/>
                  </a:lnTo>
                  <a:lnTo>
                    <a:pt x="657987" y="406527"/>
                  </a:lnTo>
                  <a:lnTo>
                    <a:pt x="666083" y="394430"/>
                  </a:lnTo>
                  <a:lnTo>
                    <a:pt x="669036" y="379476"/>
                  </a:lnTo>
                  <a:lnTo>
                    <a:pt x="669036" y="44196"/>
                  </a:lnTo>
                  <a:lnTo>
                    <a:pt x="666083" y="29003"/>
                  </a:lnTo>
                  <a:lnTo>
                    <a:pt x="657987" y="16383"/>
                  </a:lnTo>
                  <a:lnTo>
                    <a:pt x="645890" y="7762"/>
                  </a:lnTo>
                  <a:lnTo>
                    <a:pt x="630936" y="4572"/>
                  </a:lnTo>
                  <a:lnTo>
                    <a:pt x="649752" y="4572"/>
                  </a:lnTo>
                  <a:lnTo>
                    <a:pt x="662178" y="12954"/>
                  </a:lnTo>
                  <a:lnTo>
                    <a:pt x="671655" y="27003"/>
                  </a:lnTo>
                  <a:lnTo>
                    <a:pt x="675132" y="44196"/>
                  </a:lnTo>
                  <a:lnTo>
                    <a:pt x="675132" y="379476"/>
                  </a:lnTo>
                  <a:lnTo>
                    <a:pt x="671655" y="396668"/>
                  </a:lnTo>
                  <a:lnTo>
                    <a:pt x="662178" y="410718"/>
                  </a:lnTo>
                  <a:lnTo>
                    <a:pt x="652011" y="417576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 txBox="1"/>
          <p:nvPr/>
        </p:nvSpPr>
        <p:spPr>
          <a:xfrm>
            <a:off x="7204964" y="5583428"/>
            <a:ext cx="589280" cy="26987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algn="ctr" marL="12700" marR="5080" indent="-1270">
              <a:lnSpc>
                <a:spcPct val="85900"/>
              </a:lnSpc>
              <a:spcBef>
                <a:spcPts val="170"/>
              </a:spcBef>
            </a:pP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Individual</a:t>
            </a:r>
            <a:r>
              <a:rPr dirty="0" sz="45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blocks</a:t>
            </a:r>
            <a:r>
              <a:rPr dirty="0" sz="45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1A1A1A"/>
                </a:solidFill>
                <a:latin typeface="Arial MT"/>
                <a:cs typeface="Arial MT"/>
              </a:rPr>
              <a:t>or</a:t>
            </a:r>
            <a:r>
              <a:rPr dirty="0" sz="4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records</a:t>
            </a:r>
            <a:r>
              <a:rPr dirty="0" sz="450" spc="-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have</a:t>
            </a:r>
            <a:r>
              <a:rPr dirty="0" sz="4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dirty="0" sz="4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unique</a:t>
            </a:r>
            <a:r>
              <a:rPr dirty="0" sz="4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address</a:t>
            </a:r>
            <a:r>
              <a:rPr dirty="0" sz="4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based</a:t>
            </a:r>
            <a:r>
              <a:rPr dirty="0" sz="45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1A1A1A"/>
                </a:solidFill>
                <a:latin typeface="Arial MT"/>
                <a:cs typeface="Arial MT"/>
              </a:rPr>
              <a:t>on</a:t>
            </a:r>
            <a:r>
              <a:rPr dirty="0" sz="4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physical</a:t>
            </a:r>
            <a:r>
              <a:rPr dirty="0" sz="45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location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67" name="object 67" descr=""/>
          <p:cNvGrpSpPr/>
          <p:nvPr/>
        </p:nvGrpSpPr>
        <p:grpSpPr>
          <a:xfrm>
            <a:off x="7078980" y="4885944"/>
            <a:ext cx="759460" cy="1574800"/>
            <a:chOff x="7078980" y="4885944"/>
            <a:chExt cx="759460" cy="1574800"/>
          </a:xfrm>
        </p:grpSpPr>
        <p:sp>
          <p:nvSpPr>
            <p:cNvPr id="68" name="object 68" descr=""/>
            <p:cNvSpPr/>
            <p:nvPr/>
          </p:nvSpPr>
          <p:spPr>
            <a:xfrm>
              <a:off x="7078980" y="4885944"/>
              <a:ext cx="85725" cy="1363980"/>
            </a:xfrm>
            <a:custGeom>
              <a:avLst/>
              <a:gdLst/>
              <a:ahLst/>
              <a:cxnLst/>
              <a:rect l="l" t="t" r="r" b="b"/>
              <a:pathLst>
                <a:path w="85725" h="1363979">
                  <a:moveTo>
                    <a:pt x="85344" y="1363979"/>
                  </a:moveTo>
                  <a:lnTo>
                    <a:pt x="1524" y="1363979"/>
                  </a:lnTo>
                  <a:lnTo>
                    <a:pt x="0" y="1362455"/>
                  </a:lnTo>
                  <a:lnTo>
                    <a:pt x="0" y="0"/>
                  </a:lnTo>
                  <a:lnTo>
                    <a:pt x="4572" y="0"/>
                  </a:lnTo>
                  <a:lnTo>
                    <a:pt x="4572" y="1357883"/>
                  </a:lnTo>
                  <a:lnTo>
                    <a:pt x="85344" y="1357883"/>
                  </a:lnTo>
                  <a:lnTo>
                    <a:pt x="85344" y="1363979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7164324" y="6038088"/>
              <a:ext cx="670560" cy="419100"/>
            </a:xfrm>
            <a:custGeom>
              <a:avLst/>
              <a:gdLst/>
              <a:ahLst/>
              <a:cxnLst/>
              <a:rect l="l" t="t" r="r" b="b"/>
              <a:pathLst>
                <a:path w="670559" h="419100">
                  <a:moveTo>
                    <a:pt x="629412" y="419100"/>
                  </a:moveTo>
                  <a:lnTo>
                    <a:pt x="42672" y="419100"/>
                  </a:lnTo>
                  <a:lnTo>
                    <a:pt x="26360" y="415647"/>
                  </a:lnTo>
                  <a:lnTo>
                    <a:pt x="12763" y="406336"/>
                  </a:lnTo>
                  <a:lnTo>
                    <a:pt x="3452" y="392739"/>
                  </a:lnTo>
                  <a:lnTo>
                    <a:pt x="0" y="376428"/>
                  </a:lnTo>
                  <a:lnTo>
                    <a:pt x="0" y="42671"/>
                  </a:lnTo>
                  <a:lnTo>
                    <a:pt x="3452" y="25717"/>
                  </a:lnTo>
                  <a:lnTo>
                    <a:pt x="12763" y="12191"/>
                  </a:lnTo>
                  <a:lnTo>
                    <a:pt x="26360" y="3238"/>
                  </a:lnTo>
                  <a:lnTo>
                    <a:pt x="42672" y="0"/>
                  </a:lnTo>
                  <a:lnTo>
                    <a:pt x="629412" y="0"/>
                  </a:lnTo>
                  <a:lnTo>
                    <a:pt x="645485" y="3238"/>
                  </a:lnTo>
                  <a:lnTo>
                    <a:pt x="658558" y="12191"/>
                  </a:lnTo>
                  <a:lnTo>
                    <a:pt x="667345" y="25717"/>
                  </a:lnTo>
                  <a:lnTo>
                    <a:pt x="670560" y="42671"/>
                  </a:lnTo>
                  <a:lnTo>
                    <a:pt x="670560" y="376428"/>
                  </a:lnTo>
                  <a:lnTo>
                    <a:pt x="667345" y="392739"/>
                  </a:lnTo>
                  <a:lnTo>
                    <a:pt x="658558" y="406336"/>
                  </a:lnTo>
                  <a:lnTo>
                    <a:pt x="645485" y="415647"/>
                  </a:lnTo>
                  <a:lnTo>
                    <a:pt x="629412" y="41910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7164324" y="6243828"/>
              <a:ext cx="1905" cy="6350"/>
            </a:xfrm>
            <a:custGeom>
              <a:avLst/>
              <a:gdLst/>
              <a:ahLst/>
              <a:cxnLst/>
              <a:rect l="l" t="t" r="r" b="b"/>
              <a:pathLst>
                <a:path w="1904" h="6350">
                  <a:moveTo>
                    <a:pt x="1524" y="6095"/>
                  </a:moveTo>
                  <a:lnTo>
                    <a:pt x="0" y="6095"/>
                  </a:lnTo>
                  <a:lnTo>
                    <a:pt x="0" y="0"/>
                  </a:lnTo>
                  <a:lnTo>
                    <a:pt x="1524" y="0"/>
                  </a:lnTo>
                  <a:lnTo>
                    <a:pt x="1524" y="6095"/>
                  </a:lnTo>
                  <a:close/>
                </a:path>
              </a:pathLst>
            </a:custGeom>
            <a:solidFill>
              <a:srgbClr val="A1A1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7162800" y="6035040"/>
              <a:ext cx="675640" cy="425450"/>
            </a:xfrm>
            <a:custGeom>
              <a:avLst/>
              <a:gdLst/>
              <a:ahLst/>
              <a:cxnLst/>
              <a:rect l="l" t="t" r="r" b="b"/>
              <a:pathLst>
                <a:path w="675640" h="425450">
                  <a:moveTo>
                    <a:pt x="630936" y="425196"/>
                  </a:moveTo>
                  <a:lnTo>
                    <a:pt x="44196" y="425196"/>
                  </a:lnTo>
                  <a:lnTo>
                    <a:pt x="27003" y="421481"/>
                  </a:lnTo>
                  <a:lnTo>
                    <a:pt x="12954" y="411480"/>
                  </a:lnTo>
                  <a:lnTo>
                    <a:pt x="3476" y="396906"/>
                  </a:lnTo>
                  <a:lnTo>
                    <a:pt x="0" y="379476"/>
                  </a:lnTo>
                  <a:lnTo>
                    <a:pt x="0" y="45720"/>
                  </a:lnTo>
                  <a:lnTo>
                    <a:pt x="3476" y="27646"/>
                  </a:lnTo>
                  <a:lnTo>
                    <a:pt x="12954" y="13144"/>
                  </a:lnTo>
                  <a:lnTo>
                    <a:pt x="27003" y="3500"/>
                  </a:lnTo>
                  <a:lnTo>
                    <a:pt x="44196" y="0"/>
                  </a:lnTo>
                  <a:lnTo>
                    <a:pt x="630936" y="0"/>
                  </a:lnTo>
                  <a:lnTo>
                    <a:pt x="648128" y="3500"/>
                  </a:lnTo>
                  <a:lnTo>
                    <a:pt x="651909" y="6096"/>
                  </a:lnTo>
                  <a:lnTo>
                    <a:pt x="44196" y="6096"/>
                  </a:lnTo>
                  <a:lnTo>
                    <a:pt x="29003" y="9072"/>
                  </a:lnTo>
                  <a:lnTo>
                    <a:pt x="16383" y="17335"/>
                  </a:lnTo>
                  <a:lnTo>
                    <a:pt x="7762" y="29884"/>
                  </a:lnTo>
                  <a:lnTo>
                    <a:pt x="4572" y="45720"/>
                  </a:lnTo>
                  <a:lnTo>
                    <a:pt x="4572" y="379476"/>
                  </a:lnTo>
                  <a:lnTo>
                    <a:pt x="7762" y="395311"/>
                  </a:lnTo>
                  <a:lnTo>
                    <a:pt x="16383" y="407860"/>
                  </a:lnTo>
                  <a:lnTo>
                    <a:pt x="29003" y="416123"/>
                  </a:lnTo>
                  <a:lnTo>
                    <a:pt x="44196" y="419100"/>
                  </a:lnTo>
                  <a:lnTo>
                    <a:pt x="651473" y="419100"/>
                  </a:lnTo>
                  <a:lnTo>
                    <a:pt x="648128" y="421481"/>
                  </a:lnTo>
                  <a:lnTo>
                    <a:pt x="630936" y="425196"/>
                  </a:lnTo>
                  <a:close/>
                </a:path>
                <a:path w="675640" h="425450">
                  <a:moveTo>
                    <a:pt x="651473" y="419100"/>
                  </a:moveTo>
                  <a:lnTo>
                    <a:pt x="630936" y="419100"/>
                  </a:lnTo>
                  <a:lnTo>
                    <a:pt x="645890" y="416123"/>
                  </a:lnTo>
                  <a:lnTo>
                    <a:pt x="657987" y="407860"/>
                  </a:lnTo>
                  <a:lnTo>
                    <a:pt x="666083" y="395311"/>
                  </a:lnTo>
                  <a:lnTo>
                    <a:pt x="669036" y="379476"/>
                  </a:lnTo>
                  <a:lnTo>
                    <a:pt x="669036" y="45720"/>
                  </a:lnTo>
                  <a:lnTo>
                    <a:pt x="666083" y="29884"/>
                  </a:lnTo>
                  <a:lnTo>
                    <a:pt x="657987" y="17335"/>
                  </a:lnTo>
                  <a:lnTo>
                    <a:pt x="645890" y="9072"/>
                  </a:lnTo>
                  <a:lnTo>
                    <a:pt x="630936" y="6096"/>
                  </a:lnTo>
                  <a:lnTo>
                    <a:pt x="651909" y="6096"/>
                  </a:lnTo>
                  <a:lnTo>
                    <a:pt x="662178" y="13144"/>
                  </a:lnTo>
                  <a:lnTo>
                    <a:pt x="671655" y="27646"/>
                  </a:lnTo>
                  <a:lnTo>
                    <a:pt x="675132" y="45720"/>
                  </a:lnTo>
                  <a:lnTo>
                    <a:pt x="675132" y="379476"/>
                  </a:lnTo>
                  <a:lnTo>
                    <a:pt x="671655" y="396906"/>
                  </a:lnTo>
                  <a:lnTo>
                    <a:pt x="662178" y="411480"/>
                  </a:lnTo>
                  <a:lnTo>
                    <a:pt x="651473" y="41910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 descr=""/>
          <p:cNvSpPr txBox="1"/>
          <p:nvPr/>
        </p:nvSpPr>
        <p:spPr>
          <a:xfrm>
            <a:off x="7197344" y="6196076"/>
            <a:ext cx="603885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Access</a:t>
            </a:r>
            <a:r>
              <a:rPr dirty="0" sz="4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time</a:t>
            </a:r>
            <a:r>
              <a:rPr dirty="0" sz="45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45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variable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73" name="object 73" descr=""/>
          <p:cNvGrpSpPr/>
          <p:nvPr/>
        </p:nvGrpSpPr>
        <p:grpSpPr>
          <a:xfrm>
            <a:off x="8020811" y="4451604"/>
            <a:ext cx="883919" cy="501650"/>
            <a:chOff x="8020811" y="4451604"/>
            <a:chExt cx="883919" cy="501650"/>
          </a:xfrm>
        </p:grpSpPr>
        <p:pic>
          <p:nvPicPr>
            <p:cNvPr id="74" name="object 7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20811" y="4451604"/>
              <a:ext cx="883919" cy="501395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071103" y="4456176"/>
              <a:ext cx="824483" cy="466343"/>
            </a:xfrm>
            <a:prstGeom prst="rect">
              <a:avLst/>
            </a:prstGeom>
          </p:spPr>
        </p:pic>
        <p:pic>
          <p:nvPicPr>
            <p:cNvPr id="76" name="object 7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043671" y="4466844"/>
              <a:ext cx="838200" cy="419100"/>
            </a:xfrm>
            <a:prstGeom prst="rect">
              <a:avLst/>
            </a:prstGeom>
          </p:spPr>
        </p:pic>
      </p:grpSp>
      <p:sp>
        <p:nvSpPr>
          <p:cNvPr id="77" name="object 77" descr=""/>
          <p:cNvSpPr txBox="1"/>
          <p:nvPr/>
        </p:nvSpPr>
        <p:spPr>
          <a:xfrm>
            <a:off x="8168189" y="4483133"/>
            <a:ext cx="589280" cy="35877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60960" marR="5080" indent="-48895">
              <a:lnSpc>
                <a:spcPts val="1210"/>
              </a:lnSpc>
              <a:spcBef>
                <a:spcPts val="305"/>
              </a:spcBef>
            </a:pPr>
            <a:r>
              <a:rPr dirty="0" sz="1150" spc="-10">
                <a:solidFill>
                  <a:srgbClr val="1A1A1A"/>
                </a:solidFill>
                <a:latin typeface="Arial MT"/>
                <a:cs typeface="Arial MT"/>
              </a:rPr>
              <a:t>Random access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78" name="object 78" descr=""/>
          <p:cNvGrpSpPr/>
          <p:nvPr/>
        </p:nvGrpSpPr>
        <p:grpSpPr>
          <a:xfrm>
            <a:off x="8124443" y="4885944"/>
            <a:ext cx="759460" cy="525780"/>
            <a:chOff x="8124443" y="4885944"/>
            <a:chExt cx="759460" cy="525780"/>
          </a:xfrm>
        </p:grpSpPr>
        <p:sp>
          <p:nvSpPr>
            <p:cNvPr id="79" name="object 79" descr=""/>
            <p:cNvSpPr/>
            <p:nvPr/>
          </p:nvSpPr>
          <p:spPr>
            <a:xfrm>
              <a:off x="8124443" y="4885944"/>
              <a:ext cx="86995" cy="317500"/>
            </a:xfrm>
            <a:custGeom>
              <a:avLst/>
              <a:gdLst/>
              <a:ahLst/>
              <a:cxnLst/>
              <a:rect l="l" t="t" r="r" b="b"/>
              <a:pathLst>
                <a:path w="86995" h="317500">
                  <a:moveTo>
                    <a:pt x="86868" y="316991"/>
                  </a:moveTo>
                  <a:lnTo>
                    <a:pt x="3048" y="316991"/>
                  </a:lnTo>
                  <a:lnTo>
                    <a:pt x="0" y="313943"/>
                  </a:lnTo>
                  <a:lnTo>
                    <a:pt x="0" y="0"/>
                  </a:lnTo>
                  <a:lnTo>
                    <a:pt x="6096" y="0"/>
                  </a:lnTo>
                  <a:lnTo>
                    <a:pt x="6096" y="310895"/>
                  </a:lnTo>
                  <a:lnTo>
                    <a:pt x="86868" y="310895"/>
                  </a:lnTo>
                  <a:lnTo>
                    <a:pt x="86868" y="316991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8211311" y="4991100"/>
              <a:ext cx="670560" cy="419100"/>
            </a:xfrm>
            <a:custGeom>
              <a:avLst/>
              <a:gdLst/>
              <a:ahLst/>
              <a:cxnLst/>
              <a:rect l="l" t="t" r="r" b="b"/>
              <a:pathLst>
                <a:path w="670559" h="419100">
                  <a:moveTo>
                    <a:pt x="627887" y="419100"/>
                  </a:moveTo>
                  <a:lnTo>
                    <a:pt x="41148" y="419100"/>
                  </a:lnTo>
                  <a:lnTo>
                    <a:pt x="25074" y="415647"/>
                  </a:lnTo>
                  <a:lnTo>
                    <a:pt x="12001" y="406336"/>
                  </a:lnTo>
                  <a:lnTo>
                    <a:pt x="3214" y="392739"/>
                  </a:lnTo>
                  <a:lnTo>
                    <a:pt x="0" y="376428"/>
                  </a:lnTo>
                  <a:lnTo>
                    <a:pt x="0" y="41148"/>
                  </a:lnTo>
                  <a:lnTo>
                    <a:pt x="3214" y="25074"/>
                  </a:lnTo>
                  <a:lnTo>
                    <a:pt x="12001" y="12001"/>
                  </a:lnTo>
                  <a:lnTo>
                    <a:pt x="25074" y="3214"/>
                  </a:lnTo>
                  <a:lnTo>
                    <a:pt x="41148" y="0"/>
                  </a:lnTo>
                  <a:lnTo>
                    <a:pt x="627887" y="0"/>
                  </a:lnTo>
                  <a:lnTo>
                    <a:pt x="644199" y="3214"/>
                  </a:lnTo>
                  <a:lnTo>
                    <a:pt x="657796" y="12001"/>
                  </a:lnTo>
                  <a:lnTo>
                    <a:pt x="667107" y="25074"/>
                  </a:lnTo>
                  <a:lnTo>
                    <a:pt x="670559" y="41148"/>
                  </a:lnTo>
                  <a:lnTo>
                    <a:pt x="670559" y="376428"/>
                  </a:lnTo>
                  <a:lnTo>
                    <a:pt x="667107" y="392739"/>
                  </a:lnTo>
                  <a:lnTo>
                    <a:pt x="657796" y="406336"/>
                  </a:lnTo>
                  <a:lnTo>
                    <a:pt x="644199" y="415647"/>
                  </a:lnTo>
                  <a:lnTo>
                    <a:pt x="627887" y="41910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8209787" y="5196839"/>
              <a:ext cx="1905" cy="6350"/>
            </a:xfrm>
            <a:custGeom>
              <a:avLst/>
              <a:gdLst/>
              <a:ahLst/>
              <a:cxnLst/>
              <a:rect l="l" t="t" r="r" b="b"/>
              <a:pathLst>
                <a:path w="1904" h="6350">
                  <a:moveTo>
                    <a:pt x="1524" y="6096"/>
                  </a:moveTo>
                  <a:lnTo>
                    <a:pt x="0" y="6096"/>
                  </a:lnTo>
                  <a:lnTo>
                    <a:pt x="0" y="0"/>
                  </a:lnTo>
                  <a:lnTo>
                    <a:pt x="1524" y="0"/>
                  </a:lnTo>
                  <a:lnTo>
                    <a:pt x="1524" y="6096"/>
                  </a:lnTo>
                  <a:close/>
                </a:path>
              </a:pathLst>
            </a:custGeom>
            <a:solidFill>
              <a:srgbClr val="A1A1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8208264" y="4988052"/>
              <a:ext cx="675640" cy="424180"/>
            </a:xfrm>
            <a:custGeom>
              <a:avLst/>
              <a:gdLst/>
              <a:ahLst/>
              <a:cxnLst/>
              <a:rect l="l" t="t" r="r" b="b"/>
              <a:pathLst>
                <a:path w="675640" h="424179">
                  <a:moveTo>
                    <a:pt x="630935" y="423672"/>
                  </a:moveTo>
                  <a:lnTo>
                    <a:pt x="44196" y="423672"/>
                  </a:lnTo>
                  <a:lnTo>
                    <a:pt x="27003" y="420195"/>
                  </a:lnTo>
                  <a:lnTo>
                    <a:pt x="12954" y="410718"/>
                  </a:lnTo>
                  <a:lnTo>
                    <a:pt x="3476" y="396668"/>
                  </a:lnTo>
                  <a:lnTo>
                    <a:pt x="0" y="379476"/>
                  </a:lnTo>
                  <a:lnTo>
                    <a:pt x="0" y="44196"/>
                  </a:lnTo>
                  <a:lnTo>
                    <a:pt x="3476" y="27003"/>
                  </a:lnTo>
                  <a:lnTo>
                    <a:pt x="12954" y="12954"/>
                  </a:lnTo>
                  <a:lnTo>
                    <a:pt x="27003" y="3476"/>
                  </a:lnTo>
                  <a:lnTo>
                    <a:pt x="44196" y="0"/>
                  </a:lnTo>
                  <a:lnTo>
                    <a:pt x="630935" y="0"/>
                  </a:lnTo>
                  <a:lnTo>
                    <a:pt x="648128" y="3476"/>
                  </a:lnTo>
                  <a:lnTo>
                    <a:pt x="652011" y="6096"/>
                  </a:lnTo>
                  <a:lnTo>
                    <a:pt x="44196" y="6096"/>
                  </a:lnTo>
                  <a:lnTo>
                    <a:pt x="29241" y="9048"/>
                  </a:lnTo>
                  <a:lnTo>
                    <a:pt x="17145" y="17145"/>
                  </a:lnTo>
                  <a:lnTo>
                    <a:pt x="9048" y="29241"/>
                  </a:lnTo>
                  <a:lnTo>
                    <a:pt x="6096" y="44196"/>
                  </a:lnTo>
                  <a:lnTo>
                    <a:pt x="6096" y="379476"/>
                  </a:lnTo>
                  <a:lnTo>
                    <a:pt x="9048" y="394668"/>
                  </a:lnTo>
                  <a:lnTo>
                    <a:pt x="17145" y="407289"/>
                  </a:lnTo>
                  <a:lnTo>
                    <a:pt x="29241" y="415909"/>
                  </a:lnTo>
                  <a:lnTo>
                    <a:pt x="44196" y="419100"/>
                  </a:lnTo>
                  <a:lnTo>
                    <a:pt x="649752" y="419100"/>
                  </a:lnTo>
                  <a:lnTo>
                    <a:pt x="648128" y="420195"/>
                  </a:lnTo>
                  <a:lnTo>
                    <a:pt x="630935" y="423672"/>
                  </a:lnTo>
                  <a:close/>
                </a:path>
                <a:path w="675640" h="424179">
                  <a:moveTo>
                    <a:pt x="649752" y="419100"/>
                  </a:moveTo>
                  <a:lnTo>
                    <a:pt x="630935" y="419100"/>
                  </a:lnTo>
                  <a:lnTo>
                    <a:pt x="646128" y="415909"/>
                  </a:lnTo>
                  <a:lnTo>
                    <a:pt x="658749" y="407289"/>
                  </a:lnTo>
                  <a:lnTo>
                    <a:pt x="667369" y="394668"/>
                  </a:lnTo>
                  <a:lnTo>
                    <a:pt x="670560" y="379476"/>
                  </a:lnTo>
                  <a:lnTo>
                    <a:pt x="670560" y="44196"/>
                  </a:lnTo>
                  <a:lnTo>
                    <a:pt x="667369" y="29241"/>
                  </a:lnTo>
                  <a:lnTo>
                    <a:pt x="658749" y="17145"/>
                  </a:lnTo>
                  <a:lnTo>
                    <a:pt x="646128" y="9048"/>
                  </a:lnTo>
                  <a:lnTo>
                    <a:pt x="630935" y="6096"/>
                  </a:lnTo>
                  <a:lnTo>
                    <a:pt x="652011" y="6096"/>
                  </a:lnTo>
                  <a:lnTo>
                    <a:pt x="662178" y="12954"/>
                  </a:lnTo>
                  <a:lnTo>
                    <a:pt x="671655" y="27003"/>
                  </a:lnTo>
                  <a:lnTo>
                    <a:pt x="675132" y="44196"/>
                  </a:lnTo>
                  <a:lnTo>
                    <a:pt x="675132" y="379476"/>
                  </a:lnTo>
                  <a:lnTo>
                    <a:pt x="671655" y="396668"/>
                  </a:lnTo>
                  <a:lnTo>
                    <a:pt x="662178" y="410718"/>
                  </a:lnTo>
                  <a:lnTo>
                    <a:pt x="649752" y="41910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3" name="object 83" descr=""/>
          <p:cNvSpPr txBox="1"/>
          <p:nvPr/>
        </p:nvSpPr>
        <p:spPr>
          <a:xfrm>
            <a:off x="8241283" y="5031740"/>
            <a:ext cx="610235" cy="32829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algn="ctr" marL="12065" marR="5080" indent="-1905">
              <a:lnSpc>
                <a:spcPct val="85600"/>
              </a:lnSpc>
              <a:spcBef>
                <a:spcPts val="170"/>
              </a:spcBef>
            </a:pP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Each</a:t>
            </a:r>
            <a:r>
              <a:rPr dirty="0" sz="450" spc="-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addressable</a:t>
            </a:r>
            <a:r>
              <a:rPr dirty="0" sz="4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location</a:t>
            </a:r>
            <a:r>
              <a:rPr dirty="0" sz="450" spc="-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r>
              <a:rPr dirty="0" sz="450" spc="-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1A1A1A"/>
                </a:solidFill>
                <a:latin typeface="Arial MT"/>
                <a:cs typeface="Arial MT"/>
              </a:rPr>
              <a:t>has</a:t>
            </a:r>
            <a:r>
              <a:rPr dirty="0" sz="4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dirty="0" sz="4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unique,</a:t>
            </a:r>
            <a:r>
              <a:rPr dirty="0" sz="4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physically</a:t>
            </a:r>
            <a:r>
              <a:rPr dirty="0" sz="4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wired-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dirty="0" sz="45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addressing</a:t>
            </a:r>
            <a:r>
              <a:rPr dirty="0" sz="4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mechanism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84" name="object 84" descr=""/>
          <p:cNvGrpSpPr/>
          <p:nvPr/>
        </p:nvGrpSpPr>
        <p:grpSpPr>
          <a:xfrm>
            <a:off x="8124443" y="4885944"/>
            <a:ext cx="759460" cy="1050290"/>
            <a:chOff x="8124443" y="4885944"/>
            <a:chExt cx="759460" cy="1050290"/>
          </a:xfrm>
        </p:grpSpPr>
        <p:sp>
          <p:nvSpPr>
            <p:cNvPr id="85" name="object 85" descr=""/>
            <p:cNvSpPr/>
            <p:nvPr/>
          </p:nvSpPr>
          <p:spPr>
            <a:xfrm>
              <a:off x="8124443" y="4885944"/>
              <a:ext cx="86995" cy="840105"/>
            </a:xfrm>
            <a:custGeom>
              <a:avLst/>
              <a:gdLst/>
              <a:ahLst/>
              <a:cxnLst/>
              <a:rect l="l" t="t" r="r" b="b"/>
              <a:pathLst>
                <a:path w="86995" h="840104">
                  <a:moveTo>
                    <a:pt x="86868" y="839724"/>
                  </a:moveTo>
                  <a:lnTo>
                    <a:pt x="1524" y="839724"/>
                  </a:lnTo>
                  <a:lnTo>
                    <a:pt x="0" y="838200"/>
                  </a:lnTo>
                  <a:lnTo>
                    <a:pt x="0" y="0"/>
                  </a:lnTo>
                  <a:lnTo>
                    <a:pt x="6096" y="0"/>
                  </a:lnTo>
                  <a:lnTo>
                    <a:pt x="6096" y="835152"/>
                  </a:lnTo>
                  <a:lnTo>
                    <a:pt x="86868" y="835152"/>
                  </a:lnTo>
                  <a:lnTo>
                    <a:pt x="86868" y="839724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8211311" y="5513832"/>
              <a:ext cx="670560" cy="419100"/>
            </a:xfrm>
            <a:custGeom>
              <a:avLst/>
              <a:gdLst/>
              <a:ahLst/>
              <a:cxnLst/>
              <a:rect l="l" t="t" r="r" b="b"/>
              <a:pathLst>
                <a:path w="670559" h="419100">
                  <a:moveTo>
                    <a:pt x="627887" y="419100"/>
                  </a:moveTo>
                  <a:lnTo>
                    <a:pt x="41148" y="419100"/>
                  </a:lnTo>
                  <a:lnTo>
                    <a:pt x="25074" y="415885"/>
                  </a:lnTo>
                  <a:lnTo>
                    <a:pt x="12001" y="407098"/>
                  </a:lnTo>
                  <a:lnTo>
                    <a:pt x="3214" y="394025"/>
                  </a:lnTo>
                  <a:lnTo>
                    <a:pt x="0" y="377952"/>
                  </a:lnTo>
                  <a:lnTo>
                    <a:pt x="0" y="42671"/>
                  </a:lnTo>
                  <a:lnTo>
                    <a:pt x="3214" y="26360"/>
                  </a:lnTo>
                  <a:lnTo>
                    <a:pt x="12001" y="12763"/>
                  </a:lnTo>
                  <a:lnTo>
                    <a:pt x="25074" y="3452"/>
                  </a:lnTo>
                  <a:lnTo>
                    <a:pt x="41148" y="0"/>
                  </a:lnTo>
                  <a:lnTo>
                    <a:pt x="627887" y="0"/>
                  </a:lnTo>
                  <a:lnTo>
                    <a:pt x="644199" y="3452"/>
                  </a:lnTo>
                  <a:lnTo>
                    <a:pt x="657796" y="12763"/>
                  </a:lnTo>
                  <a:lnTo>
                    <a:pt x="667107" y="26360"/>
                  </a:lnTo>
                  <a:lnTo>
                    <a:pt x="670559" y="42671"/>
                  </a:lnTo>
                  <a:lnTo>
                    <a:pt x="670559" y="377952"/>
                  </a:lnTo>
                  <a:lnTo>
                    <a:pt x="667107" y="394025"/>
                  </a:lnTo>
                  <a:lnTo>
                    <a:pt x="657796" y="407098"/>
                  </a:lnTo>
                  <a:lnTo>
                    <a:pt x="644199" y="415885"/>
                  </a:lnTo>
                  <a:lnTo>
                    <a:pt x="627887" y="41910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8209787" y="5719572"/>
              <a:ext cx="1905" cy="7620"/>
            </a:xfrm>
            <a:custGeom>
              <a:avLst/>
              <a:gdLst/>
              <a:ahLst/>
              <a:cxnLst/>
              <a:rect l="l" t="t" r="r" b="b"/>
              <a:pathLst>
                <a:path w="1904" h="7620">
                  <a:moveTo>
                    <a:pt x="1524" y="7620"/>
                  </a:moveTo>
                  <a:lnTo>
                    <a:pt x="0" y="7620"/>
                  </a:lnTo>
                  <a:lnTo>
                    <a:pt x="0" y="0"/>
                  </a:lnTo>
                  <a:lnTo>
                    <a:pt x="1524" y="0"/>
                  </a:lnTo>
                  <a:lnTo>
                    <a:pt x="1524" y="7620"/>
                  </a:lnTo>
                  <a:close/>
                </a:path>
              </a:pathLst>
            </a:custGeom>
            <a:solidFill>
              <a:srgbClr val="A1A1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8208264" y="5512308"/>
              <a:ext cx="675640" cy="424180"/>
            </a:xfrm>
            <a:custGeom>
              <a:avLst/>
              <a:gdLst/>
              <a:ahLst/>
              <a:cxnLst/>
              <a:rect l="l" t="t" r="r" b="b"/>
              <a:pathLst>
                <a:path w="675640" h="424179">
                  <a:moveTo>
                    <a:pt x="630935" y="423672"/>
                  </a:moveTo>
                  <a:lnTo>
                    <a:pt x="44196" y="423672"/>
                  </a:lnTo>
                  <a:lnTo>
                    <a:pt x="27003" y="420195"/>
                  </a:lnTo>
                  <a:lnTo>
                    <a:pt x="12954" y="410718"/>
                  </a:lnTo>
                  <a:lnTo>
                    <a:pt x="3476" y="396668"/>
                  </a:lnTo>
                  <a:lnTo>
                    <a:pt x="0" y="379476"/>
                  </a:lnTo>
                  <a:lnTo>
                    <a:pt x="0" y="44196"/>
                  </a:lnTo>
                  <a:lnTo>
                    <a:pt x="3476" y="27003"/>
                  </a:lnTo>
                  <a:lnTo>
                    <a:pt x="12954" y="12954"/>
                  </a:lnTo>
                  <a:lnTo>
                    <a:pt x="27003" y="3476"/>
                  </a:lnTo>
                  <a:lnTo>
                    <a:pt x="44196" y="0"/>
                  </a:lnTo>
                  <a:lnTo>
                    <a:pt x="630935" y="0"/>
                  </a:lnTo>
                  <a:lnTo>
                    <a:pt x="648128" y="3476"/>
                  </a:lnTo>
                  <a:lnTo>
                    <a:pt x="649752" y="4572"/>
                  </a:lnTo>
                  <a:lnTo>
                    <a:pt x="44196" y="4572"/>
                  </a:lnTo>
                  <a:lnTo>
                    <a:pt x="29241" y="7762"/>
                  </a:lnTo>
                  <a:lnTo>
                    <a:pt x="17145" y="16383"/>
                  </a:lnTo>
                  <a:lnTo>
                    <a:pt x="9048" y="29003"/>
                  </a:lnTo>
                  <a:lnTo>
                    <a:pt x="6096" y="44196"/>
                  </a:lnTo>
                  <a:lnTo>
                    <a:pt x="6096" y="379476"/>
                  </a:lnTo>
                  <a:lnTo>
                    <a:pt x="9048" y="394430"/>
                  </a:lnTo>
                  <a:lnTo>
                    <a:pt x="17145" y="406527"/>
                  </a:lnTo>
                  <a:lnTo>
                    <a:pt x="29241" y="414623"/>
                  </a:lnTo>
                  <a:lnTo>
                    <a:pt x="44196" y="417576"/>
                  </a:lnTo>
                  <a:lnTo>
                    <a:pt x="652011" y="417576"/>
                  </a:lnTo>
                  <a:lnTo>
                    <a:pt x="648128" y="420195"/>
                  </a:lnTo>
                  <a:lnTo>
                    <a:pt x="630935" y="423672"/>
                  </a:lnTo>
                  <a:close/>
                </a:path>
                <a:path w="675640" h="424179">
                  <a:moveTo>
                    <a:pt x="652011" y="417576"/>
                  </a:moveTo>
                  <a:lnTo>
                    <a:pt x="630935" y="417576"/>
                  </a:lnTo>
                  <a:lnTo>
                    <a:pt x="646128" y="414623"/>
                  </a:lnTo>
                  <a:lnTo>
                    <a:pt x="658749" y="406527"/>
                  </a:lnTo>
                  <a:lnTo>
                    <a:pt x="667369" y="394430"/>
                  </a:lnTo>
                  <a:lnTo>
                    <a:pt x="670560" y="379476"/>
                  </a:lnTo>
                  <a:lnTo>
                    <a:pt x="670560" y="44196"/>
                  </a:lnTo>
                  <a:lnTo>
                    <a:pt x="667369" y="29003"/>
                  </a:lnTo>
                  <a:lnTo>
                    <a:pt x="658749" y="16383"/>
                  </a:lnTo>
                  <a:lnTo>
                    <a:pt x="646128" y="7762"/>
                  </a:lnTo>
                  <a:lnTo>
                    <a:pt x="630935" y="4572"/>
                  </a:lnTo>
                  <a:lnTo>
                    <a:pt x="649752" y="4572"/>
                  </a:lnTo>
                  <a:lnTo>
                    <a:pt x="662178" y="12954"/>
                  </a:lnTo>
                  <a:lnTo>
                    <a:pt x="671655" y="27003"/>
                  </a:lnTo>
                  <a:lnTo>
                    <a:pt x="675132" y="44196"/>
                  </a:lnTo>
                  <a:lnTo>
                    <a:pt x="675132" y="379476"/>
                  </a:lnTo>
                  <a:lnTo>
                    <a:pt x="671655" y="396668"/>
                  </a:lnTo>
                  <a:lnTo>
                    <a:pt x="662178" y="410718"/>
                  </a:lnTo>
                  <a:lnTo>
                    <a:pt x="652011" y="417576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" name="object 89" descr=""/>
          <p:cNvSpPr txBox="1"/>
          <p:nvPr/>
        </p:nvSpPr>
        <p:spPr>
          <a:xfrm>
            <a:off x="8271764" y="5525515"/>
            <a:ext cx="549275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4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time to</a:t>
            </a:r>
            <a:r>
              <a:rPr dirty="0" sz="4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access </a:t>
            </a:r>
            <a:r>
              <a:rPr dirty="0" sz="450" spc="-5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8297671" y="5583428"/>
            <a:ext cx="497840" cy="15303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33020">
              <a:lnSpc>
                <a:spcPts val="470"/>
              </a:lnSpc>
              <a:spcBef>
                <a:spcPts val="165"/>
              </a:spcBef>
            </a:pP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given</a:t>
            </a:r>
            <a:r>
              <a:rPr dirty="0" sz="45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location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4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independent</a:t>
            </a:r>
            <a:r>
              <a:rPr dirty="0" sz="45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45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8314435" y="5702300"/>
            <a:ext cx="464820" cy="21082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algn="ctr" marL="12700" marR="5080">
              <a:lnSpc>
                <a:spcPct val="85600"/>
              </a:lnSpc>
              <a:spcBef>
                <a:spcPts val="170"/>
              </a:spcBef>
            </a:pP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sequence</a:t>
            </a:r>
            <a:r>
              <a:rPr dirty="0" sz="45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450" spc="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prior</a:t>
            </a:r>
            <a:r>
              <a:rPr dirty="0" sz="4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accesses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 and</a:t>
            </a:r>
            <a:r>
              <a:rPr dirty="0" sz="45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4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constant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92" name="object 92" descr=""/>
          <p:cNvGrpSpPr/>
          <p:nvPr/>
        </p:nvGrpSpPr>
        <p:grpSpPr>
          <a:xfrm>
            <a:off x="8124443" y="4885944"/>
            <a:ext cx="759460" cy="1574800"/>
            <a:chOff x="8124443" y="4885944"/>
            <a:chExt cx="759460" cy="1574800"/>
          </a:xfrm>
        </p:grpSpPr>
        <p:sp>
          <p:nvSpPr>
            <p:cNvPr id="93" name="object 93" descr=""/>
            <p:cNvSpPr/>
            <p:nvPr/>
          </p:nvSpPr>
          <p:spPr>
            <a:xfrm>
              <a:off x="8124443" y="4885944"/>
              <a:ext cx="86995" cy="1363980"/>
            </a:xfrm>
            <a:custGeom>
              <a:avLst/>
              <a:gdLst/>
              <a:ahLst/>
              <a:cxnLst/>
              <a:rect l="l" t="t" r="r" b="b"/>
              <a:pathLst>
                <a:path w="86995" h="1363979">
                  <a:moveTo>
                    <a:pt x="86868" y="1363979"/>
                  </a:moveTo>
                  <a:lnTo>
                    <a:pt x="3048" y="1363979"/>
                  </a:lnTo>
                  <a:lnTo>
                    <a:pt x="0" y="1360932"/>
                  </a:lnTo>
                  <a:lnTo>
                    <a:pt x="0" y="0"/>
                  </a:lnTo>
                  <a:lnTo>
                    <a:pt x="6096" y="0"/>
                  </a:lnTo>
                  <a:lnTo>
                    <a:pt x="6096" y="1357883"/>
                  </a:lnTo>
                  <a:lnTo>
                    <a:pt x="86868" y="1357883"/>
                  </a:lnTo>
                  <a:lnTo>
                    <a:pt x="86868" y="1363979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8211311" y="6038088"/>
              <a:ext cx="670560" cy="419100"/>
            </a:xfrm>
            <a:custGeom>
              <a:avLst/>
              <a:gdLst/>
              <a:ahLst/>
              <a:cxnLst/>
              <a:rect l="l" t="t" r="r" b="b"/>
              <a:pathLst>
                <a:path w="670559" h="419100">
                  <a:moveTo>
                    <a:pt x="627887" y="419100"/>
                  </a:moveTo>
                  <a:lnTo>
                    <a:pt x="41148" y="419100"/>
                  </a:lnTo>
                  <a:lnTo>
                    <a:pt x="25074" y="415647"/>
                  </a:lnTo>
                  <a:lnTo>
                    <a:pt x="12001" y="406336"/>
                  </a:lnTo>
                  <a:lnTo>
                    <a:pt x="3214" y="392739"/>
                  </a:lnTo>
                  <a:lnTo>
                    <a:pt x="0" y="376428"/>
                  </a:lnTo>
                  <a:lnTo>
                    <a:pt x="0" y="42671"/>
                  </a:lnTo>
                  <a:lnTo>
                    <a:pt x="3214" y="25717"/>
                  </a:lnTo>
                  <a:lnTo>
                    <a:pt x="12001" y="12191"/>
                  </a:lnTo>
                  <a:lnTo>
                    <a:pt x="25074" y="3238"/>
                  </a:lnTo>
                  <a:lnTo>
                    <a:pt x="41148" y="0"/>
                  </a:lnTo>
                  <a:lnTo>
                    <a:pt x="627887" y="0"/>
                  </a:lnTo>
                  <a:lnTo>
                    <a:pt x="644199" y="3238"/>
                  </a:lnTo>
                  <a:lnTo>
                    <a:pt x="657796" y="12191"/>
                  </a:lnTo>
                  <a:lnTo>
                    <a:pt x="667107" y="25717"/>
                  </a:lnTo>
                  <a:lnTo>
                    <a:pt x="670559" y="42671"/>
                  </a:lnTo>
                  <a:lnTo>
                    <a:pt x="670559" y="376428"/>
                  </a:lnTo>
                  <a:lnTo>
                    <a:pt x="667107" y="392739"/>
                  </a:lnTo>
                  <a:lnTo>
                    <a:pt x="657796" y="406336"/>
                  </a:lnTo>
                  <a:lnTo>
                    <a:pt x="644199" y="415647"/>
                  </a:lnTo>
                  <a:lnTo>
                    <a:pt x="627887" y="41910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8209787" y="6243828"/>
              <a:ext cx="1905" cy="6350"/>
            </a:xfrm>
            <a:custGeom>
              <a:avLst/>
              <a:gdLst/>
              <a:ahLst/>
              <a:cxnLst/>
              <a:rect l="l" t="t" r="r" b="b"/>
              <a:pathLst>
                <a:path w="1904" h="6350">
                  <a:moveTo>
                    <a:pt x="1524" y="6095"/>
                  </a:moveTo>
                  <a:lnTo>
                    <a:pt x="0" y="6095"/>
                  </a:lnTo>
                  <a:lnTo>
                    <a:pt x="0" y="0"/>
                  </a:lnTo>
                  <a:lnTo>
                    <a:pt x="1524" y="0"/>
                  </a:lnTo>
                  <a:lnTo>
                    <a:pt x="1524" y="6095"/>
                  </a:lnTo>
                  <a:close/>
                </a:path>
              </a:pathLst>
            </a:custGeom>
            <a:solidFill>
              <a:srgbClr val="A1A1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8208264" y="6035040"/>
              <a:ext cx="675640" cy="425450"/>
            </a:xfrm>
            <a:custGeom>
              <a:avLst/>
              <a:gdLst/>
              <a:ahLst/>
              <a:cxnLst/>
              <a:rect l="l" t="t" r="r" b="b"/>
              <a:pathLst>
                <a:path w="675640" h="425450">
                  <a:moveTo>
                    <a:pt x="630935" y="425196"/>
                  </a:moveTo>
                  <a:lnTo>
                    <a:pt x="44196" y="425196"/>
                  </a:lnTo>
                  <a:lnTo>
                    <a:pt x="27003" y="421481"/>
                  </a:lnTo>
                  <a:lnTo>
                    <a:pt x="12954" y="411480"/>
                  </a:lnTo>
                  <a:lnTo>
                    <a:pt x="3476" y="396906"/>
                  </a:lnTo>
                  <a:lnTo>
                    <a:pt x="0" y="379476"/>
                  </a:lnTo>
                  <a:lnTo>
                    <a:pt x="0" y="45720"/>
                  </a:lnTo>
                  <a:lnTo>
                    <a:pt x="3476" y="27646"/>
                  </a:lnTo>
                  <a:lnTo>
                    <a:pt x="12954" y="13144"/>
                  </a:lnTo>
                  <a:lnTo>
                    <a:pt x="27003" y="3500"/>
                  </a:lnTo>
                  <a:lnTo>
                    <a:pt x="44196" y="0"/>
                  </a:lnTo>
                  <a:lnTo>
                    <a:pt x="630935" y="0"/>
                  </a:lnTo>
                  <a:lnTo>
                    <a:pt x="648128" y="3500"/>
                  </a:lnTo>
                  <a:lnTo>
                    <a:pt x="651909" y="6096"/>
                  </a:lnTo>
                  <a:lnTo>
                    <a:pt x="44196" y="6096"/>
                  </a:lnTo>
                  <a:lnTo>
                    <a:pt x="29241" y="9072"/>
                  </a:lnTo>
                  <a:lnTo>
                    <a:pt x="17145" y="17335"/>
                  </a:lnTo>
                  <a:lnTo>
                    <a:pt x="9048" y="29884"/>
                  </a:lnTo>
                  <a:lnTo>
                    <a:pt x="6096" y="45720"/>
                  </a:lnTo>
                  <a:lnTo>
                    <a:pt x="6096" y="379476"/>
                  </a:lnTo>
                  <a:lnTo>
                    <a:pt x="9048" y="395311"/>
                  </a:lnTo>
                  <a:lnTo>
                    <a:pt x="17145" y="407860"/>
                  </a:lnTo>
                  <a:lnTo>
                    <a:pt x="29241" y="416123"/>
                  </a:lnTo>
                  <a:lnTo>
                    <a:pt x="44196" y="419100"/>
                  </a:lnTo>
                  <a:lnTo>
                    <a:pt x="651473" y="419100"/>
                  </a:lnTo>
                  <a:lnTo>
                    <a:pt x="648128" y="421481"/>
                  </a:lnTo>
                  <a:lnTo>
                    <a:pt x="630935" y="425196"/>
                  </a:lnTo>
                  <a:close/>
                </a:path>
                <a:path w="675640" h="425450">
                  <a:moveTo>
                    <a:pt x="651473" y="419100"/>
                  </a:moveTo>
                  <a:lnTo>
                    <a:pt x="630935" y="419100"/>
                  </a:lnTo>
                  <a:lnTo>
                    <a:pt x="646128" y="416123"/>
                  </a:lnTo>
                  <a:lnTo>
                    <a:pt x="658749" y="407860"/>
                  </a:lnTo>
                  <a:lnTo>
                    <a:pt x="667369" y="395311"/>
                  </a:lnTo>
                  <a:lnTo>
                    <a:pt x="670560" y="379476"/>
                  </a:lnTo>
                  <a:lnTo>
                    <a:pt x="670560" y="45720"/>
                  </a:lnTo>
                  <a:lnTo>
                    <a:pt x="667369" y="29884"/>
                  </a:lnTo>
                  <a:lnTo>
                    <a:pt x="658749" y="17335"/>
                  </a:lnTo>
                  <a:lnTo>
                    <a:pt x="646128" y="9072"/>
                  </a:lnTo>
                  <a:lnTo>
                    <a:pt x="630935" y="6096"/>
                  </a:lnTo>
                  <a:lnTo>
                    <a:pt x="651909" y="6096"/>
                  </a:lnTo>
                  <a:lnTo>
                    <a:pt x="662178" y="13144"/>
                  </a:lnTo>
                  <a:lnTo>
                    <a:pt x="671655" y="27646"/>
                  </a:lnTo>
                  <a:lnTo>
                    <a:pt x="675132" y="45720"/>
                  </a:lnTo>
                  <a:lnTo>
                    <a:pt x="675132" y="379476"/>
                  </a:lnTo>
                  <a:lnTo>
                    <a:pt x="671655" y="396906"/>
                  </a:lnTo>
                  <a:lnTo>
                    <a:pt x="662178" y="411480"/>
                  </a:lnTo>
                  <a:lnTo>
                    <a:pt x="651473" y="41910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7" name="object 97" descr=""/>
          <p:cNvSpPr txBox="1"/>
          <p:nvPr/>
        </p:nvSpPr>
        <p:spPr>
          <a:xfrm>
            <a:off x="8236711" y="6107683"/>
            <a:ext cx="619760" cy="26987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algn="ctr" marL="12700" marR="5080">
              <a:lnSpc>
                <a:spcPct val="85900"/>
              </a:lnSpc>
              <a:spcBef>
                <a:spcPts val="170"/>
              </a:spcBef>
            </a:pP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Any</a:t>
            </a:r>
            <a:r>
              <a:rPr dirty="0" sz="450" spc="-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location</a:t>
            </a:r>
            <a:r>
              <a:rPr dirty="0" sz="4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can</a:t>
            </a:r>
            <a:r>
              <a:rPr dirty="0" sz="450" spc="-25">
                <a:solidFill>
                  <a:srgbClr val="1A1A1A"/>
                </a:solidFill>
                <a:latin typeface="Arial MT"/>
                <a:cs typeface="Arial MT"/>
              </a:rPr>
              <a:t> be</a:t>
            </a:r>
            <a:r>
              <a:rPr dirty="0" sz="4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selected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at</a:t>
            </a:r>
            <a:r>
              <a:rPr dirty="0" sz="45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random</a:t>
            </a:r>
            <a:r>
              <a:rPr dirty="0" sz="45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dirty="0" sz="4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directly</a:t>
            </a:r>
            <a:r>
              <a:rPr dirty="0" sz="45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addressed</a:t>
            </a:r>
            <a:r>
              <a:rPr dirty="0" sz="45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dirty="0" sz="4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accessed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98" name="object 98" descr=""/>
          <p:cNvGrpSpPr/>
          <p:nvPr/>
        </p:nvGrpSpPr>
        <p:grpSpPr>
          <a:xfrm>
            <a:off x="8124443" y="4885944"/>
            <a:ext cx="759460" cy="2097405"/>
            <a:chOff x="8124443" y="4885944"/>
            <a:chExt cx="759460" cy="2097405"/>
          </a:xfrm>
        </p:grpSpPr>
        <p:sp>
          <p:nvSpPr>
            <p:cNvPr id="99" name="object 99" descr=""/>
            <p:cNvSpPr/>
            <p:nvPr/>
          </p:nvSpPr>
          <p:spPr>
            <a:xfrm>
              <a:off x="8124443" y="4885944"/>
              <a:ext cx="86995" cy="1887220"/>
            </a:xfrm>
            <a:custGeom>
              <a:avLst/>
              <a:gdLst/>
              <a:ahLst/>
              <a:cxnLst/>
              <a:rect l="l" t="t" r="r" b="b"/>
              <a:pathLst>
                <a:path w="86995" h="1887220">
                  <a:moveTo>
                    <a:pt x="86868" y="1886712"/>
                  </a:moveTo>
                  <a:lnTo>
                    <a:pt x="1524" y="1886712"/>
                  </a:lnTo>
                  <a:lnTo>
                    <a:pt x="0" y="1885187"/>
                  </a:lnTo>
                  <a:lnTo>
                    <a:pt x="0" y="0"/>
                  </a:lnTo>
                  <a:lnTo>
                    <a:pt x="6096" y="0"/>
                  </a:lnTo>
                  <a:lnTo>
                    <a:pt x="6096" y="1882140"/>
                  </a:lnTo>
                  <a:lnTo>
                    <a:pt x="86868" y="1882140"/>
                  </a:lnTo>
                  <a:lnTo>
                    <a:pt x="86868" y="1886712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8211311" y="6562344"/>
              <a:ext cx="670560" cy="417830"/>
            </a:xfrm>
            <a:custGeom>
              <a:avLst/>
              <a:gdLst/>
              <a:ahLst/>
              <a:cxnLst/>
              <a:rect l="l" t="t" r="r" b="b"/>
              <a:pathLst>
                <a:path w="670559" h="417829">
                  <a:moveTo>
                    <a:pt x="627887" y="417575"/>
                  </a:moveTo>
                  <a:lnTo>
                    <a:pt x="41148" y="417575"/>
                  </a:lnTo>
                  <a:lnTo>
                    <a:pt x="25074" y="414361"/>
                  </a:lnTo>
                  <a:lnTo>
                    <a:pt x="12001" y="405574"/>
                  </a:lnTo>
                  <a:lnTo>
                    <a:pt x="3214" y="392501"/>
                  </a:lnTo>
                  <a:lnTo>
                    <a:pt x="0" y="376427"/>
                  </a:lnTo>
                  <a:lnTo>
                    <a:pt x="0" y="41147"/>
                  </a:lnTo>
                  <a:lnTo>
                    <a:pt x="3214" y="25074"/>
                  </a:lnTo>
                  <a:lnTo>
                    <a:pt x="12001" y="12001"/>
                  </a:lnTo>
                  <a:lnTo>
                    <a:pt x="25074" y="3214"/>
                  </a:lnTo>
                  <a:lnTo>
                    <a:pt x="41148" y="0"/>
                  </a:lnTo>
                  <a:lnTo>
                    <a:pt x="627887" y="0"/>
                  </a:lnTo>
                  <a:lnTo>
                    <a:pt x="644199" y="3214"/>
                  </a:lnTo>
                  <a:lnTo>
                    <a:pt x="657796" y="12001"/>
                  </a:lnTo>
                  <a:lnTo>
                    <a:pt x="667107" y="25074"/>
                  </a:lnTo>
                  <a:lnTo>
                    <a:pt x="670559" y="41147"/>
                  </a:lnTo>
                  <a:lnTo>
                    <a:pt x="670559" y="376427"/>
                  </a:lnTo>
                  <a:lnTo>
                    <a:pt x="667107" y="392501"/>
                  </a:lnTo>
                  <a:lnTo>
                    <a:pt x="657796" y="405574"/>
                  </a:lnTo>
                  <a:lnTo>
                    <a:pt x="644199" y="414361"/>
                  </a:lnTo>
                  <a:lnTo>
                    <a:pt x="627887" y="417575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8209787" y="6766560"/>
              <a:ext cx="1905" cy="7620"/>
            </a:xfrm>
            <a:custGeom>
              <a:avLst/>
              <a:gdLst/>
              <a:ahLst/>
              <a:cxnLst/>
              <a:rect l="l" t="t" r="r" b="b"/>
              <a:pathLst>
                <a:path w="1904" h="7620">
                  <a:moveTo>
                    <a:pt x="1524" y="7619"/>
                  </a:moveTo>
                  <a:lnTo>
                    <a:pt x="0" y="7619"/>
                  </a:lnTo>
                  <a:lnTo>
                    <a:pt x="0" y="0"/>
                  </a:lnTo>
                  <a:lnTo>
                    <a:pt x="1524" y="0"/>
                  </a:lnTo>
                  <a:lnTo>
                    <a:pt x="1524" y="7619"/>
                  </a:lnTo>
                  <a:close/>
                </a:path>
              </a:pathLst>
            </a:custGeom>
            <a:solidFill>
              <a:srgbClr val="A1A1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8208264" y="6559296"/>
              <a:ext cx="675640" cy="424180"/>
            </a:xfrm>
            <a:custGeom>
              <a:avLst/>
              <a:gdLst/>
              <a:ahLst/>
              <a:cxnLst/>
              <a:rect l="l" t="t" r="r" b="b"/>
              <a:pathLst>
                <a:path w="675640" h="424179">
                  <a:moveTo>
                    <a:pt x="630935" y="423672"/>
                  </a:moveTo>
                  <a:lnTo>
                    <a:pt x="44196" y="423672"/>
                  </a:lnTo>
                  <a:lnTo>
                    <a:pt x="27003" y="420195"/>
                  </a:lnTo>
                  <a:lnTo>
                    <a:pt x="12954" y="410718"/>
                  </a:lnTo>
                  <a:lnTo>
                    <a:pt x="3476" y="396668"/>
                  </a:lnTo>
                  <a:lnTo>
                    <a:pt x="0" y="379476"/>
                  </a:lnTo>
                  <a:lnTo>
                    <a:pt x="0" y="44196"/>
                  </a:lnTo>
                  <a:lnTo>
                    <a:pt x="3476" y="27003"/>
                  </a:lnTo>
                  <a:lnTo>
                    <a:pt x="12954" y="12954"/>
                  </a:lnTo>
                  <a:lnTo>
                    <a:pt x="27003" y="3476"/>
                  </a:lnTo>
                  <a:lnTo>
                    <a:pt x="44196" y="0"/>
                  </a:lnTo>
                  <a:lnTo>
                    <a:pt x="630935" y="0"/>
                  </a:lnTo>
                  <a:lnTo>
                    <a:pt x="648128" y="3476"/>
                  </a:lnTo>
                  <a:lnTo>
                    <a:pt x="649752" y="4572"/>
                  </a:lnTo>
                  <a:lnTo>
                    <a:pt x="44196" y="4572"/>
                  </a:lnTo>
                  <a:lnTo>
                    <a:pt x="29241" y="7762"/>
                  </a:lnTo>
                  <a:lnTo>
                    <a:pt x="17145" y="16383"/>
                  </a:lnTo>
                  <a:lnTo>
                    <a:pt x="9048" y="29003"/>
                  </a:lnTo>
                  <a:lnTo>
                    <a:pt x="6096" y="44196"/>
                  </a:lnTo>
                  <a:lnTo>
                    <a:pt x="6096" y="379476"/>
                  </a:lnTo>
                  <a:lnTo>
                    <a:pt x="9048" y="394668"/>
                  </a:lnTo>
                  <a:lnTo>
                    <a:pt x="17145" y="407289"/>
                  </a:lnTo>
                  <a:lnTo>
                    <a:pt x="29241" y="415909"/>
                  </a:lnTo>
                  <a:lnTo>
                    <a:pt x="44196" y="419100"/>
                  </a:lnTo>
                  <a:lnTo>
                    <a:pt x="649752" y="419100"/>
                  </a:lnTo>
                  <a:lnTo>
                    <a:pt x="648128" y="420195"/>
                  </a:lnTo>
                  <a:lnTo>
                    <a:pt x="630935" y="423672"/>
                  </a:lnTo>
                  <a:close/>
                </a:path>
                <a:path w="675640" h="424179">
                  <a:moveTo>
                    <a:pt x="649752" y="419100"/>
                  </a:moveTo>
                  <a:lnTo>
                    <a:pt x="630935" y="419100"/>
                  </a:lnTo>
                  <a:lnTo>
                    <a:pt x="646128" y="415909"/>
                  </a:lnTo>
                  <a:lnTo>
                    <a:pt x="658749" y="407289"/>
                  </a:lnTo>
                  <a:lnTo>
                    <a:pt x="667369" y="394668"/>
                  </a:lnTo>
                  <a:lnTo>
                    <a:pt x="670560" y="379476"/>
                  </a:lnTo>
                  <a:lnTo>
                    <a:pt x="670560" y="44196"/>
                  </a:lnTo>
                  <a:lnTo>
                    <a:pt x="667369" y="29003"/>
                  </a:lnTo>
                  <a:lnTo>
                    <a:pt x="658749" y="16383"/>
                  </a:lnTo>
                  <a:lnTo>
                    <a:pt x="646128" y="7762"/>
                  </a:lnTo>
                  <a:lnTo>
                    <a:pt x="630935" y="4572"/>
                  </a:lnTo>
                  <a:lnTo>
                    <a:pt x="649752" y="4572"/>
                  </a:lnTo>
                  <a:lnTo>
                    <a:pt x="662178" y="12954"/>
                  </a:lnTo>
                  <a:lnTo>
                    <a:pt x="671655" y="27003"/>
                  </a:lnTo>
                  <a:lnTo>
                    <a:pt x="675132" y="44196"/>
                  </a:lnTo>
                  <a:lnTo>
                    <a:pt x="675132" y="379476"/>
                  </a:lnTo>
                  <a:lnTo>
                    <a:pt x="671655" y="396668"/>
                  </a:lnTo>
                  <a:lnTo>
                    <a:pt x="662178" y="410718"/>
                  </a:lnTo>
                  <a:lnTo>
                    <a:pt x="649752" y="41910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3" name="object 103" descr=""/>
          <p:cNvSpPr txBox="1"/>
          <p:nvPr/>
        </p:nvSpPr>
        <p:spPr>
          <a:xfrm>
            <a:off x="8227567" y="6660895"/>
            <a:ext cx="636270" cy="21082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algn="ctr" marL="12700" marR="5080">
              <a:lnSpc>
                <a:spcPct val="85600"/>
              </a:lnSpc>
              <a:spcBef>
                <a:spcPts val="170"/>
              </a:spcBef>
            </a:pP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Main</a:t>
            </a:r>
            <a:r>
              <a:rPr dirty="0" sz="45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r>
              <a:rPr dirty="0" sz="4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dirty="0" sz="45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20">
                <a:solidFill>
                  <a:srgbClr val="1A1A1A"/>
                </a:solidFill>
                <a:latin typeface="Arial MT"/>
                <a:cs typeface="Arial MT"/>
              </a:rPr>
              <a:t>some</a:t>
            </a:r>
            <a:r>
              <a:rPr dirty="0" sz="4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cache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systems</a:t>
            </a:r>
            <a:r>
              <a:rPr dirty="0" sz="4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1A1A1A"/>
                </a:solidFill>
                <a:latin typeface="Arial MT"/>
                <a:cs typeface="Arial MT"/>
              </a:rPr>
              <a:t>are</a:t>
            </a:r>
            <a:r>
              <a:rPr dirty="0" sz="4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random</a:t>
            </a:r>
            <a:r>
              <a:rPr dirty="0" sz="450" spc="-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access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104" name="object 104" descr=""/>
          <p:cNvGrpSpPr/>
          <p:nvPr/>
        </p:nvGrpSpPr>
        <p:grpSpPr>
          <a:xfrm>
            <a:off x="9022080" y="4456176"/>
            <a:ext cx="975360" cy="466725"/>
            <a:chOff x="9022080" y="4456176"/>
            <a:chExt cx="975360" cy="466725"/>
          </a:xfrm>
        </p:grpSpPr>
        <p:pic>
          <p:nvPicPr>
            <p:cNvPr id="105" name="object 10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022080" y="4456176"/>
              <a:ext cx="975359" cy="466343"/>
            </a:xfrm>
            <a:prstGeom prst="rect">
              <a:avLst/>
            </a:prstGeom>
          </p:spPr>
        </p:pic>
        <p:pic>
          <p:nvPicPr>
            <p:cNvPr id="106" name="object 10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066276" y="4527804"/>
              <a:ext cx="888491" cy="350519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090660" y="4466844"/>
              <a:ext cx="838200" cy="419100"/>
            </a:xfrm>
            <a:prstGeom prst="rect">
              <a:avLst/>
            </a:prstGeom>
          </p:spPr>
        </p:pic>
      </p:grpSp>
      <p:sp>
        <p:nvSpPr>
          <p:cNvPr id="108" name="object 108" descr=""/>
          <p:cNvSpPr txBox="1"/>
          <p:nvPr/>
        </p:nvSpPr>
        <p:spPr>
          <a:xfrm>
            <a:off x="9119241" y="4560890"/>
            <a:ext cx="782320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-10">
                <a:solidFill>
                  <a:srgbClr val="1A1A1A"/>
                </a:solidFill>
                <a:latin typeface="Arial MT"/>
                <a:cs typeface="Arial MT"/>
              </a:rPr>
              <a:t>Associative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09" name="object 109" descr=""/>
          <p:cNvGrpSpPr/>
          <p:nvPr/>
        </p:nvGrpSpPr>
        <p:grpSpPr>
          <a:xfrm>
            <a:off x="9171432" y="4885944"/>
            <a:ext cx="760730" cy="525780"/>
            <a:chOff x="9171432" y="4885944"/>
            <a:chExt cx="760730" cy="525780"/>
          </a:xfrm>
        </p:grpSpPr>
        <p:sp>
          <p:nvSpPr>
            <p:cNvPr id="110" name="object 110" descr=""/>
            <p:cNvSpPr/>
            <p:nvPr/>
          </p:nvSpPr>
          <p:spPr>
            <a:xfrm>
              <a:off x="9171432" y="4885944"/>
              <a:ext cx="86995" cy="317500"/>
            </a:xfrm>
            <a:custGeom>
              <a:avLst/>
              <a:gdLst/>
              <a:ahLst/>
              <a:cxnLst/>
              <a:rect l="l" t="t" r="r" b="b"/>
              <a:pathLst>
                <a:path w="86995" h="317500">
                  <a:moveTo>
                    <a:pt x="86868" y="316991"/>
                  </a:moveTo>
                  <a:lnTo>
                    <a:pt x="3048" y="316991"/>
                  </a:lnTo>
                  <a:lnTo>
                    <a:pt x="0" y="313943"/>
                  </a:lnTo>
                  <a:lnTo>
                    <a:pt x="0" y="0"/>
                  </a:lnTo>
                  <a:lnTo>
                    <a:pt x="6096" y="0"/>
                  </a:lnTo>
                  <a:lnTo>
                    <a:pt x="6096" y="310895"/>
                  </a:lnTo>
                  <a:lnTo>
                    <a:pt x="86868" y="310895"/>
                  </a:lnTo>
                  <a:lnTo>
                    <a:pt x="86868" y="316991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9258300" y="4991100"/>
              <a:ext cx="670560" cy="419100"/>
            </a:xfrm>
            <a:custGeom>
              <a:avLst/>
              <a:gdLst/>
              <a:ahLst/>
              <a:cxnLst/>
              <a:rect l="l" t="t" r="r" b="b"/>
              <a:pathLst>
                <a:path w="670559" h="419100">
                  <a:moveTo>
                    <a:pt x="627887" y="419100"/>
                  </a:moveTo>
                  <a:lnTo>
                    <a:pt x="42671" y="419100"/>
                  </a:lnTo>
                  <a:lnTo>
                    <a:pt x="25717" y="415647"/>
                  </a:lnTo>
                  <a:lnTo>
                    <a:pt x="12191" y="406336"/>
                  </a:lnTo>
                  <a:lnTo>
                    <a:pt x="3238" y="392739"/>
                  </a:lnTo>
                  <a:lnTo>
                    <a:pt x="0" y="376428"/>
                  </a:lnTo>
                  <a:lnTo>
                    <a:pt x="0" y="41148"/>
                  </a:lnTo>
                  <a:lnTo>
                    <a:pt x="3238" y="25074"/>
                  </a:lnTo>
                  <a:lnTo>
                    <a:pt x="12191" y="12001"/>
                  </a:lnTo>
                  <a:lnTo>
                    <a:pt x="25717" y="3214"/>
                  </a:lnTo>
                  <a:lnTo>
                    <a:pt x="42671" y="0"/>
                  </a:lnTo>
                  <a:lnTo>
                    <a:pt x="627887" y="0"/>
                  </a:lnTo>
                  <a:lnTo>
                    <a:pt x="644842" y="3214"/>
                  </a:lnTo>
                  <a:lnTo>
                    <a:pt x="658367" y="12001"/>
                  </a:lnTo>
                  <a:lnTo>
                    <a:pt x="667321" y="25074"/>
                  </a:lnTo>
                  <a:lnTo>
                    <a:pt x="670559" y="41148"/>
                  </a:lnTo>
                  <a:lnTo>
                    <a:pt x="670559" y="376428"/>
                  </a:lnTo>
                  <a:lnTo>
                    <a:pt x="667321" y="392739"/>
                  </a:lnTo>
                  <a:lnTo>
                    <a:pt x="658367" y="406336"/>
                  </a:lnTo>
                  <a:lnTo>
                    <a:pt x="644842" y="415647"/>
                  </a:lnTo>
                  <a:lnTo>
                    <a:pt x="627887" y="41910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9258300" y="5196839"/>
              <a:ext cx="1905" cy="6350"/>
            </a:xfrm>
            <a:custGeom>
              <a:avLst/>
              <a:gdLst/>
              <a:ahLst/>
              <a:cxnLst/>
              <a:rect l="l" t="t" r="r" b="b"/>
              <a:pathLst>
                <a:path w="1904" h="6350">
                  <a:moveTo>
                    <a:pt x="1523" y="6096"/>
                  </a:moveTo>
                  <a:lnTo>
                    <a:pt x="0" y="6096"/>
                  </a:lnTo>
                  <a:lnTo>
                    <a:pt x="0" y="0"/>
                  </a:lnTo>
                  <a:lnTo>
                    <a:pt x="1523" y="0"/>
                  </a:lnTo>
                  <a:lnTo>
                    <a:pt x="1523" y="6096"/>
                  </a:lnTo>
                  <a:close/>
                </a:path>
              </a:pathLst>
            </a:custGeom>
            <a:solidFill>
              <a:srgbClr val="A1A1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9255252" y="4988052"/>
              <a:ext cx="676910" cy="424180"/>
            </a:xfrm>
            <a:custGeom>
              <a:avLst/>
              <a:gdLst/>
              <a:ahLst/>
              <a:cxnLst/>
              <a:rect l="l" t="t" r="r" b="b"/>
              <a:pathLst>
                <a:path w="676909" h="424179">
                  <a:moveTo>
                    <a:pt x="630935" y="423672"/>
                  </a:moveTo>
                  <a:lnTo>
                    <a:pt x="45720" y="423672"/>
                  </a:lnTo>
                  <a:lnTo>
                    <a:pt x="27646" y="420195"/>
                  </a:lnTo>
                  <a:lnTo>
                    <a:pt x="13144" y="410718"/>
                  </a:lnTo>
                  <a:lnTo>
                    <a:pt x="3500" y="396668"/>
                  </a:lnTo>
                  <a:lnTo>
                    <a:pt x="0" y="379476"/>
                  </a:lnTo>
                  <a:lnTo>
                    <a:pt x="0" y="44196"/>
                  </a:lnTo>
                  <a:lnTo>
                    <a:pt x="3500" y="27003"/>
                  </a:lnTo>
                  <a:lnTo>
                    <a:pt x="13144" y="12954"/>
                  </a:lnTo>
                  <a:lnTo>
                    <a:pt x="27646" y="3476"/>
                  </a:lnTo>
                  <a:lnTo>
                    <a:pt x="45720" y="0"/>
                  </a:lnTo>
                  <a:lnTo>
                    <a:pt x="630935" y="0"/>
                  </a:lnTo>
                  <a:lnTo>
                    <a:pt x="649009" y="3476"/>
                  </a:lnTo>
                  <a:lnTo>
                    <a:pt x="653017" y="6096"/>
                  </a:lnTo>
                  <a:lnTo>
                    <a:pt x="45720" y="6096"/>
                  </a:lnTo>
                  <a:lnTo>
                    <a:pt x="29884" y="9048"/>
                  </a:lnTo>
                  <a:lnTo>
                    <a:pt x="17335" y="17145"/>
                  </a:lnTo>
                  <a:lnTo>
                    <a:pt x="9072" y="29241"/>
                  </a:lnTo>
                  <a:lnTo>
                    <a:pt x="6096" y="44196"/>
                  </a:lnTo>
                  <a:lnTo>
                    <a:pt x="6096" y="379476"/>
                  </a:lnTo>
                  <a:lnTo>
                    <a:pt x="9072" y="394668"/>
                  </a:lnTo>
                  <a:lnTo>
                    <a:pt x="17335" y="407289"/>
                  </a:lnTo>
                  <a:lnTo>
                    <a:pt x="29884" y="415909"/>
                  </a:lnTo>
                  <a:lnTo>
                    <a:pt x="45720" y="419100"/>
                  </a:lnTo>
                  <a:lnTo>
                    <a:pt x="650685" y="419100"/>
                  </a:lnTo>
                  <a:lnTo>
                    <a:pt x="649009" y="420195"/>
                  </a:lnTo>
                  <a:lnTo>
                    <a:pt x="630935" y="423672"/>
                  </a:lnTo>
                  <a:close/>
                </a:path>
                <a:path w="676909" h="424179">
                  <a:moveTo>
                    <a:pt x="650685" y="419100"/>
                  </a:moveTo>
                  <a:lnTo>
                    <a:pt x="630935" y="419100"/>
                  </a:lnTo>
                  <a:lnTo>
                    <a:pt x="646771" y="415909"/>
                  </a:lnTo>
                  <a:lnTo>
                    <a:pt x="659320" y="407289"/>
                  </a:lnTo>
                  <a:lnTo>
                    <a:pt x="667583" y="394668"/>
                  </a:lnTo>
                  <a:lnTo>
                    <a:pt x="670560" y="379476"/>
                  </a:lnTo>
                  <a:lnTo>
                    <a:pt x="670560" y="44196"/>
                  </a:lnTo>
                  <a:lnTo>
                    <a:pt x="667583" y="29241"/>
                  </a:lnTo>
                  <a:lnTo>
                    <a:pt x="659320" y="17145"/>
                  </a:lnTo>
                  <a:lnTo>
                    <a:pt x="646771" y="9048"/>
                  </a:lnTo>
                  <a:lnTo>
                    <a:pt x="630935" y="6096"/>
                  </a:lnTo>
                  <a:lnTo>
                    <a:pt x="653017" y="6096"/>
                  </a:lnTo>
                  <a:lnTo>
                    <a:pt x="663511" y="12954"/>
                  </a:lnTo>
                  <a:lnTo>
                    <a:pt x="673155" y="27003"/>
                  </a:lnTo>
                  <a:lnTo>
                    <a:pt x="676656" y="44196"/>
                  </a:lnTo>
                  <a:lnTo>
                    <a:pt x="676656" y="379476"/>
                  </a:lnTo>
                  <a:lnTo>
                    <a:pt x="673155" y="396668"/>
                  </a:lnTo>
                  <a:lnTo>
                    <a:pt x="663511" y="410718"/>
                  </a:lnTo>
                  <a:lnTo>
                    <a:pt x="650685" y="41910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4" name="object 114" descr=""/>
          <p:cNvSpPr txBox="1"/>
          <p:nvPr/>
        </p:nvSpPr>
        <p:spPr>
          <a:xfrm>
            <a:off x="9276080" y="5060696"/>
            <a:ext cx="633095" cy="26987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algn="ctr" marL="12700" marR="5080">
              <a:lnSpc>
                <a:spcPct val="85900"/>
              </a:lnSpc>
              <a:spcBef>
                <a:spcPts val="170"/>
              </a:spcBef>
            </a:pP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dirty="0" sz="4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word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4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retrieved</a:t>
            </a:r>
            <a:r>
              <a:rPr dirty="0" sz="4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based on</a:t>
            </a:r>
            <a:r>
              <a:rPr dirty="0" sz="45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dirty="0" sz="4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portion</a:t>
            </a:r>
            <a:r>
              <a:rPr dirty="0" sz="4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of </a:t>
            </a:r>
            <a:r>
              <a:rPr dirty="0" sz="450" spc="-25">
                <a:solidFill>
                  <a:srgbClr val="1A1A1A"/>
                </a:solidFill>
                <a:latin typeface="Arial MT"/>
                <a:cs typeface="Arial MT"/>
              </a:rPr>
              <a:t>its</a:t>
            </a:r>
            <a:r>
              <a:rPr dirty="0" sz="4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contents</a:t>
            </a:r>
            <a:r>
              <a:rPr dirty="0" sz="45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rather</a:t>
            </a:r>
            <a:r>
              <a:rPr dirty="0" sz="45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than</a:t>
            </a:r>
            <a:r>
              <a:rPr dirty="0" sz="45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1A1A1A"/>
                </a:solidFill>
                <a:latin typeface="Arial MT"/>
                <a:cs typeface="Arial MT"/>
              </a:rPr>
              <a:t>its</a:t>
            </a:r>
            <a:r>
              <a:rPr dirty="0" sz="4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address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115" name="object 115" descr=""/>
          <p:cNvGrpSpPr/>
          <p:nvPr/>
        </p:nvGrpSpPr>
        <p:grpSpPr>
          <a:xfrm>
            <a:off x="9171432" y="4885944"/>
            <a:ext cx="760730" cy="1050290"/>
            <a:chOff x="9171432" y="4885944"/>
            <a:chExt cx="760730" cy="1050290"/>
          </a:xfrm>
        </p:grpSpPr>
        <p:sp>
          <p:nvSpPr>
            <p:cNvPr id="116" name="object 116" descr=""/>
            <p:cNvSpPr/>
            <p:nvPr/>
          </p:nvSpPr>
          <p:spPr>
            <a:xfrm>
              <a:off x="9171432" y="4885944"/>
              <a:ext cx="86995" cy="840105"/>
            </a:xfrm>
            <a:custGeom>
              <a:avLst/>
              <a:gdLst/>
              <a:ahLst/>
              <a:cxnLst/>
              <a:rect l="l" t="t" r="r" b="b"/>
              <a:pathLst>
                <a:path w="86995" h="840104">
                  <a:moveTo>
                    <a:pt x="86868" y="839724"/>
                  </a:moveTo>
                  <a:lnTo>
                    <a:pt x="1524" y="839724"/>
                  </a:lnTo>
                  <a:lnTo>
                    <a:pt x="0" y="838200"/>
                  </a:lnTo>
                  <a:lnTo>
                    <a:pt x="0" y="0"/>
                  </a:lnTo>
                  <a:lnTo>
                    <a:pt x="6096" y="0"/>
                  </a:lnTo>
                  <a:lnTo>
                    <a:pt x="6096" y="835152"/>
                  </a:lnTo>
                  <a:lnTo>
                    <a:pt x="86868" y="835152"/>
                  </a:lnTo>
                  <a:lnTo>
                    <a:pt x="86868" y="839724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9258300" y="5513832"/>
              <a:ext cx="670560" cy="419100"/>
            </a:xfrm>
            <a:custGeom>
              <a:avLst/>
              <a:gdLst/>
              <a:ahLst/>
              <a:cxnLst/>
              <a:rect l="l" t="t" r="r" b="b"/>
              <a:pathLst>
                <a:path w="670559" h="419100">
                  <a:moveTo>
                    <a:pt x="627887" y="419100"/>
                  </a:moveTo>
                  <a:lnTo>
                    <a:pt x="42671" y="419100"/>
                  </a:lnTo>
                  <a:lnTo>
                    <a:pt x="25717" y="415885"/>
                  </a:lnTo>
                  <a:lnTo>
                    <a:pt x="12191" y="407098"/>
                  </a:lnTo>
                  <a:lnTo>
                    <a:pt x="3238" y="394025"/>
                  </a:lnTo>
                  <a:lnTo>
                    <a:pt x="0" y="377952"/>
                  </a:lnTo>
                  <a:lnTo>
                    <a:pt x="0" y="42671"/>
                  </a:lnTo>
                  <a:lnTo>
                    <a:pt x="3238" y="26360"/>
                  </a:lnTo>
                  <a:lnTo>
                    <a:pt x="12191" y="12763"/>
                  </a:lnTo>
                  <a:lnTo>
                    <a:pt x="25717" y="3452"/>
                  </a:lnTo>
                  <a:lnTo>
                    <a:pt x="42671" y="0"/>
                  </a:lnTo>
                  <a:lnTo>
                    <a:pt x="627887" y="0"/>
                  </a:lnTo>
                  <a:lnTo>
                    <a:pt x="644842" y="3452"/>
                  </a:lnTo>
                  <a:lnTo>
                    <a:pt x="658367" y="12763"/>
                  </a:lnTo>
                  <a:lnTo>
                    <a:pt x="667321" y="26360"/>
                  </a:lnTo>
                  <a:lnTo>
                    <a:pt x="670559" y="42671"/>
                  </a:lnTo>
                  <a:lnTo>
                    <a:pt x="670559" y="377952"/>
                  </a:lnTo>
                  <a:lnTo>
                    <a:pt x="667321" y="394025"/>
                  </a:lnTo>
                  <a:lnTo>
                    <a:pt x="658367" y="407098"/>
                  </a:lnTo>
                  <a:lnTo>
                    <a:pt x="644842" y="415885"/>
                  </a:lnTo>
                  <a:lnTo>
                    <a:pt x="627887" y="41910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9258300" y="5719572"/>
              <a:ext cx="1905" cy="7620"/>
            </a:xfrm>
            <a:custGeom>
              <a:avLst/>
              <a:gdLst/>
              <a:ahLst/>
              <a:cxnLst/>
              <a:rect l="l" t="t" r="r" b="b"/>
              <a:pathLst>
                <a:path w="1904" h="7620">
                  <a:moveTo>
                    <a:pt x="1523" y="7620"/>
                  </a:moveTo>
                  <a:lnTo>
                    <a:pt x="0" y="7620"/>
                  </a:lnTo>
                  <a:lnTo>
                    <a:pt x="0" y="0"/>
                  </a:lnTo>
                  <a:lnTo>
                    <a:pt x="1523" y="0"/>
                  </a:lnTo>
                  <a:lnTo>
                    <a:pt x="1523" y="7620"/>
                  </a:lnTo>
                  <a:close/>
                </a:path>
              </a:pathLst>
            </a:custGeom>
            <a:solidFill>
              <a:srgbClr val="A1A1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9255252" y="5512308"/>
              <a:ext cx="676910" cy="424180"/>
            </a:xfrm>
            <a:custGeom>
              <a:avLst/>
              <a:gdLst/>
              <a:ahLst/>
              <a:cxnLst/>
              <a:rect l="l" t="t" r="r" b="b"/>
              <a:pathLst>
                <a:path w="676909" h="424179">
                  <a:moveTo>
                    <a:pt x="630935" y="423672"/>
                  </a:moveTo>
                  <a:lnTo>
                    <a:pt x="45720" y="423672"/>
                  </a:lnTo>
                  <a:lnTo>
                    <a:pt x="27646" y="420195"/>
                  </a:lnTo>
                  <a:lnTo>
                    <a:pt x="13144" y="410718"/>
                  </a:lnTo>
                  <a:lnTo>
                    <a:pt x="3500" y="396668"/>
                  </a:lnTo>
                  <a:lnTo>
                    <a:pt x="0" y="379476"/>
                  </a:lnTo>
                  <a:lnTo>
                    <a:pt x="0" y="44196"/>
                  </a:lnTo>
                  <a:lnTo>
                    <a:pt x="3500" y="27003"/>
                  </a:lnTo>
                  <a:lnTo>
                    <a:pt x="13144" y="12954"/>
                  </a:lnTo>
                  <a:lnTo>
                    <a:pt x="27646" y="3476"/>
                  </a:lnTo>
                  <a:lnTo>
                    <a:pt x="45720" y="0"/>
                  </a:lnTo>
                  <a:lnTo>
                    <a:pt x="630935" y="0"/>
                  </a:lnTo>
                  <a:lnTo>
                    <a:pt x="649009" y="3476"/>
                  </a:lnTo>
                  <a:lnTo>
                    <a:pt x="650685" y="4572"/>
                  </a:lnTo>
                  <a:lnTo>
                    <a:pt x="45720" y="4572"/>
                  </a:lnTo>
                  <a:lnTo>
                    <a:pt x="29884" y="7762"/>
                  </a:lnTo>
                  <a:lnTo>
                    <a:pt x="17335" y="16383"/>
                  </a:lnTo>
                  <a:lnTo>
                    <a:pt x="9072" y="29003"/>
                  </a:lnTo>
                  <a:lnTo>
                    <a:pt x="6096" y="44196"/>
                  </a:lnTo>
                  <a:lnTo>
                    <a:pt x="6096" y="379476"/>
                  </a:lnTo>
                  <a:lnTo>
                    <a:pt x="9072" y="394430"/>
                  </a:lnTo>
                  <a:lnTo>
                    <a:pt x="17335" y="406527"/>
                  </a:lnTo>
                  <a:lnTo>
                    <a:pt x="29884" y="414623"/>
                  </a:lnTo>
                  <a:lnTo>
                    <a:pt x="45720" y="417576"/>
                  </a:lnTo>
                  <a:lnTo>
                    <a:pt x="653017" y="417576"/>
                  </a:lnTo>
                  <a:lnTo>
                    <a:pt x="649009" y="420195"/>
                  </a:lnTo>
                  <a:lnTo>
                    <a:pt x="630935" y="423672"/>
                  </a:lnTo>
                  <a:close/>
                </a:path>
                <a:path w="676909" h="424179">
                  <a:moveTo>
                    <a:pt x="653017" y="417576"/>
                  </a:moveTo>
                  <a:lnTo>
                    <a:pt x="630935" y="417576"/>
                  </a:lnTo>
                  <a:lnTo>
                    <a:pt x="646771" y="414623"/>
                  </a:lnTo>
                  <a:lnTo>
                    <a:pt x="659320" y="406527"/>
                  </a:lnTo>
                  <a:lnTo>
                    <a:pt x="667583" y="394430"/>
                  </a:lnTo>
                  <a:lnTo>
                    <a:pt x="670560" y="379476"/>
                  </a:lnTo>
                  <a:lnTo>
                    <a:pt x="670560" y="44196"/>
                  </a:lnTo>
                  <a:lnTo>
                    <a:pt x="667583" y="29003"/>
                  </a:lnTo>
                  <a:lnTo>
                    <a:pt x="659320" y="16383"/>
                  </a:lnTo>
                  <a:lnTo>
                    <a:pt x="646771" y="7762"/>
                  </a:lnTo>
                  <a:lnTo>
                    <a:pt x="630935" y="4572"/>
                  </a:lnTo>
                  <a:lnTo>
                    <a:pt x="650685" y="4572"/>
                  </a:lnTo>
                  <a:lnTo>
                    <a:pt x="663511" y="12954"/>
                  </a:lnTo>
                  <a:lnTo>
                    <a:pt x="673155" y="27003"/>
                  </a:lnTo>
                  <a:lnTo>
                    <a:pt x="676656" y="44196"/>
                  </a:lnTo>
                  <a:lnTo>
                    <a:pt x="676656" y="379476"/>
                  </a:lnTo>
                  <a:lnTo>
                    <a:pt x="673155" y="396668"/>
                  </a:lnTo>
                  <a:lnTo>
                    <a:pt x="663511" y="410718"/>
                  </a:lnTo>
                  <a:lnTo>
                    <a:pt x="653017" y="417576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0" name="object 120" descr=""/>
          <p:cNvSpPr txBox="1"/>
          <p:nvPr/>
        </p:nvSpPr>
        <p:spPr>
          <a:xfrm>
            <a:off x="9318752" y="5525515"/>
            <a:ext cx="54737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Each</a:t>
            </a:r>
            <a:r>
              <a:rPr dirty="0" sz="4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location</a:t>
            </a:r>
            <a:r>
              <a:rPr dirty="0" sz="4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has</a:t>
            </a:r>
            <a:r>
              <a:rPr dirty="0" sz="45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1A1A1A"/>
                </a:solidFill>
                <a:latin typeface="Arial MT"/>
                <a:cs typeface="Arial MT"/>
              </a:rPr>
              <a:t>its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121" name="object 121" descr=""/>
          <p:cNvSpPr txBox="1"/>
          <p:nvPr/>
        </p:nvSpPr>
        <p:spPr>
          <a:xfrm>
            <a:off x="9271507" y="5583428"/>
            <a:ext cx="644525" cy="15303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109220">
              <a:lnSpc>
                <a:spcPts val="470"/>
              </a:lnSpc>
              <a:spcBef>
                <a:spcPts val="165"/>
              </a:spcBef>
            </a:pP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own</a:t>
            </a:r>
            <a:r>
              <a:rPr dirty="0" sz="4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addressing</a:t>
            </a:r>
            <a:r>
              <a:rPr dirty="0" sz="4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mechanism</a:t>
            </a:r>
            <a:r>
              <a:rPr dirty="0" sz="4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dirty="0" sz="45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retrieval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122" name="object 122" descr=""/>
          <p:cNvSpPr txBox="1"/>
          <p:nvPr/>
        </p:nvSpPr>
        <p:spPr>
          <a:xfrm>
            <a:off x="9282176" y="5702300"/>
            <a:ext cx="620395" cy="21082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 indent="100330">
              <a:lnSpc>
                <a:spcPct val="85600"/>
              </a:lnSpc>
              <a:spcBef>
                <a:spcPts val="170"/>
              </a:spcBef>
            </a:pP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time</a:t>
            </a:r>
            <a:r>
              <a:rPr dirty="0" sz="450" spc="-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 constant</a:t>
            </a:r>
            <a:r>
              <a:rPr dirty="0" sz="4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independent</a:t>
            </a:r>
            <a:r>
              <a:rPr dirty="0" sz="45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45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location</a:t>
            </a:r>
            <a:r>
              <a:rPr dirty="0" sz="4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or prior</a:t>
            </a:r>
            <a:r>
              <a:rPr dirty="0" sz="45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access patterns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123" name="object 123" descr=""/>
          <p:cNvGrpSpPr/>
          <p:nvPr/>
        </p:nvGrpSpPr>
        <p:grpSpPr>
          <a:xfrm>
            <a:off x="9171432" y="4885944"/>
            <a:ext cx="760730" cy="1574800"/>
            <a:chOff x="9171432" y="4885944"/>
            <a:chExt cx="760730" cy="1574800"/>
          </a:xfrm>
        </p:grpSpPr>
        <p:sp>
          <p:nvSpPr>
            <p:cNvPr id="124" name="object 124" descr=""/>
            <p:cNvSpPr/>
            <p:nvPr/>
          </p:nvSpPr>
          <p:spPr>
            <a:xfrm>
              <a:off x="9171432" y="4885944"/>
              <a:ext cx="86995" cy="1363980"/>
            </a:xfrm>
            <a:custGeom>
              <a:avLst/>
              <a:gdLst/>
              <a:ahLst/>
              <a:cxnLst/>
              <a:rect l="l" t="t" r="r" b="b"/>
              <a:pathLst>
                <a:path w="86995" h="1363979">
                  <a:moveTo>
                    <a:pt x="86868" y="1363980"/>
                  </a:moveTo>
                  <a:lnTo>
                    <a:pt x="3048" y="1363980"/>
                  </a:lnTo>
                  <a:lnTo>
                    <a:pt x="0" y="1360932"/>
                  </a:lnTo>
                  <a:lnTo>
                    <a:pt x="0" y="0"/>
                  </a:lnTo>
                  <a:lnTo>
                    <a:pt x="6096" y="0"/>
                  </a:lnTo>
                  <a:lnTo>
                    <a:pt x="6096" y="1357884"/>
                  </a:lnTo>
                  <a:lnTo>
                    <a:pt x="86868" y="1357884"/>
                  </a:lnTo>
                  <a:lnTo>
                    <a:pt x="86868" y="1363980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9258300" y="6038088"/>
              <a:ext cx="670560" cy="419100"/>
            </a:xfrm>
            <a:custGeom>
              <a:avLst/>
              <a:gdLst/>
              <a:ahLst/>
              <a:cxnLst/>
              <a:rect l="l" t="t" r="r" b="b"/>
              <a:pathLst>
                <a:path w="670559" h="419100">
                  <a:moveTo>
                    <a:pt x="627887" y="419100"/>
                  </a:moveTo>
                  <a:lnTo>
                    <a:pt x="42671" y="419100"/>
                  </a:lnTo>
                  <a:lnTo>
                    <a:pt x="25717" y="415647"/>
                  </a:lnTo>
                  <a:lnTo>
                    <a:pt x="12191" y="406336"/>
                  </a:lnTo>
                  <a:lnTo>
                    <a:pt x="3238" y="392739"/>
                  </a:lnTo>
                  <a:lnTo>
                    <a:pt x="0" y="376428"/>
                  </a:lnTo>
                  <a:lnTo>
                    <a:pt x="0" y="42671"/>
                  </a:lnTo>
                  <a:lnTo>
                    <a:pt x="3238" y="25717"/>
                  </a:lnTo>
                  <a:lnTo>
                    <a:pt x="12191" y="12191"/>
                  </a:lnTo>
                  <a:lnTo>
                    <a:pt x="25717" y="3238"/>
                  </a:lnTo>
                  <a:lnTo>
                    <a:pt x="42671" y="0"/>
                  </a:lnTo>
                  <a:lnTo>
                    <a:pt x="627887" y="0"/>
                  </a:lnTo>
                  <a:lnTo>
                    <a:pt x="644842" y="3238"/>
                  </a:lnTo>
                  <a:lnTo>
                    <a:pt x="658367" y="12191"/>
                  </a:lnTo>
                  <a:lnTo>
                    <a:pt x="667321" y="25717"/>
                  </a:lnTo>
                  <a:lnTo>
                    <a:pt x="670559" y="42671"/>
                  </a:lnTo>
                  <a:lnTo>
                    <a:pt x="670559" y="376428"/>
                  </a:lnTo>
                  <a:lnTo>
                    <a:pt x="667321" y="392739"/>
                  </a:lnTo>
                  <a:lnTo>
                    <a:pt x="658367" y="406336"/>
                  </a:lnTo>
                  <a:lnTo>
                    <a:pt x="644842" y="415647"/>
                  </a:lnTo>
                  <a:lnTo>
                    <a:pt x="627887" y="41910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9258300" y="6243828"/>
              <a:ext cx="1905" cy="6350"/>
            </a:xfrm>
            <a:custGeom>
              <a:avLst/>
              <a:gdLst/>
              <a:ahLst/>
              <a:cxnLst/>
              <a:rect l="l" t="t" r="r" b="b"/>
              <a:pathLst>
                <a:path w="1904" h="6350">
                  <a:moveTo>
                    <a:pt x="1523" y="6095"/>
                  </a:moveTo>
                  <a:lnTo>
                    <a:pt x="0" y="6095"/>
                  </a:lnTo>
                  <a:lnTo>
                    <a:pt x="0" y="0"/>
                  </a:lnTo>
                  <a:lnTo>
                    <a:pt x="1523" y="0"/>
                  </a:lnTo>
                  <a:lnTo>
                    <a:pt x="1523" y="6095"/>
                  </a:lnTo>
                  <a:close/>
                </a:path>
              </a:pathLst>
            </a:custGeom>
            <a:solidFill>
              <a:srgbClr val="A1A1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9255252" y="6035040"/>
              <a:ext cx="676910" cy="425450"/>
            </a:xfrm>
            <a:custGeom>
              <a:avLst/>
              <a:gdLst/>
              <a:ahLst/>
              <a:cxnLst/>
              <a:rect l="l" t="t" r="r" b="b"/>
              <a:pathLst>
                <a:path w="676909" h="425450">
                  <a:moveTo>
                    <a:pt x="630935" y="425196"/>
                  </a:moveTo>
                  <a:lnTo>
                    <a:pt x="45720" y="425196"/>
                  </a:lnTo>
                  <a:lnTo>
                    <a:pt x="27646" y="421481"/>
                  </a:lnTo>
                  <a:lnTo>
                    <a:pt x="13144" y="411480"/>
                  </a:lnTo>
                  <a:lnTo>
                    <a:pt x="3500" y="396906"/>
                  </a:lnTo>
                  <a:lnTo>
                    <a:pt x="0" y="379476"/>
                  </a:lnTo>
                  <a:lnTo>
                    <a:pt x="0" y="45720"/>
                  </a:lnTo>
                  <a:lnTo>
                    <a:pt x="3500" y="27646"/>
                  </a:lnTo>
                  <a:lnTo>
                    <a:pt x="13144" y="13144"/>
                  </a:lnTo>
                  <a:lnTo>
                    <a:pt x="27646" y="3500"/>
                  </a:lnTo>
                  <a:lnTo>
                    <a:pt x="45720" y="0"/>
                  </a:lnTo>
                  <a:lnTo>
                    <a:pt x="630935" y="0"/>
                  </a:lnTo>
                  <a:lnTo>
                    <a:pt x="649009" y="3500"/>
                  </a:lnTo>
                  <a:lnTo>
                    <a:pt x="652912" y="6096"/>
                  </a:lnTo>
                  <a:lnTo>
                    <a:pt x="45720" y="6096"/>
                  </a:lnTo>
                  <a:lnTo>
                    <a:pt x="29884" y="9072"/>
                  </a:lnTo>
                  <a:lnTo>
                    <a:pt x="17335" y="17335"/>
                  </a:lnTo>
                  <a:lnTo>
                    <a:pt x="9072" y="29884"/>
                  </a:lnTo>
                  <a:lnTo>
                    <a:pt x="6096" y="45720"/>
                  </a:lnTo>
                  <a:lnTo>
                    <a:pt x="6096" y="379476"/>
                  </a:lnTo>
                  <a:lnTo>
                    <a:pt x="9072" y="395311"/>
                  </a:lnTo>
                  <a:lnTo>
                    <a:pt x="17335" y="407860"/>
                  </a:lnTo>
                  <a:lnTo>
                    <a:pt x="29884" y="416123"/>
                  </a:lnTo>
                  <a:lnTo>
                    <a:pt x="45720" y="419100"/>
                  </a:lnTo>
                  <a:lnTo>
                    <a:pt x="652462" y="419100"/>
                  </a:lnTo>
                  <a:lnTo>
                    <a:pt x="649009" y="421481"/>
                  </a:lnTo>
                  <a:lnTo>
                    <a:pt x="630935" y="425196"/>
                  </a:lnTo>
                  <a:close/>
                </a:path>
                <a:path w="676909" h="425450">
                  <a:moveTo>
                    <a:pt x="652462" y="419100"/>
                  </a:moveTo>
                  <a:lnTo>
                    <a:pt x="630935" y="419100"/>
                  </a:lnTo>
                  <a:lnTo>
                    <a:pt x="646771" y="416123"/>
                  </a:lnTo>
                  <a:lnTo>
                    <a:pt x="659320" y="407860"/>
                  </a:lnTo>
                  <a:lnTo>
                    <a:pt x="667583" y="395311"/>
                  </a:lnTo>
                  <a:lnTo>
                    <a:pt x="670560" y="379476"/>
                  </a:lnTo>
                  <a:lnTo>
                    <a:pt x="670560" y="45720"/>
                  </a:lnTo>
                  <a:lnTo>
                    <a:pt x="667583" y="29884"/>
                  </a:lnTo>
                  <a:lnTo>
                    <a:pt x="659320" y="17335"/>
                  </a:lnTo>
                  <a:lnTo>
                    <a:pt x="646771" y="9072"/>
                  </a:lnTo>
                  <a:lnTo>
                    <a:pt x="630935" y="6096"/>
                  </a:lnTo>
                  <a:lnTo>
                    <a:pt x="652912" y="6096"/>
                  </a:lnTo>
                  <a:lnTo>
                    <a:pt x="663511" y="13144"/>
                  </a:lnTo>
                  <a:lnTo>
                    <a:pt x="673155" y="27646"/>
                  </a:lnTo>
                  <a:lnTo>
                    <a:pt x="676656" y="45720"/>
                  </a:lnTo>
                  <a:lnTo>
                    <a:pt x="676656" y="379476"/>
                  </a:lnTo>
                  <a:lnTo>
                    <a:pt x="673155" y="396906"/>
                  </a:lnTo>
                  <a:lnTo>
                    <a:pt x="663511" y="411480"/>
                  </a:lnTo>
                  <a:lnTo>
                    <a:pt x="652462" y="41910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8" name="object 128" descr=""/>
          <p:cNvSpPr txBox="1"/>
          <p:nvPr/>
        </p:nvSpPr>
        <p:spPr>
          <a:xfrm>
            <a:off x="9303511" y="6136640"/>
            <a:ext cx="579120" cy="21082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algn="ctr" marL="12700" marR="5080">
              <a:lnSpc>
                <a:spcPct val="85600"/>
              </a:lnSpc>
              <a:spcBef>
                <a:spcPts val="170"/>
              </a:spcBef>
            </a:pPr>
            <a:r>
              <a:rPr dirty="0" sz="45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45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memories</a:t>
            </a:r>
            <a:r>
              <a:rPr dirty="0" sz="4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25">
                <a:solidFill>
                  <a:srgbClr val="1A1A1A"/>
                </a:solidFill>
                <a:latin typeface="Arial MT"/>
                <a:cs typeface="Arial MT"/>
              </a:rPr>
              <a:t>may</a:t>
            </a:r>
            <a:r>
              <a:rPr dirty="0" sz="4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employ</a:t>
            </a:r>
            <a:r>
              <a:rPr dirty="0" sz="45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associative</a:t>
            </a:r>
            <a:r>
              <a:rPr dirty="0" sz="4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50" spc="-10">
                <a:solidFill>
                  <a:srgbClr val="1A1A1A"/>
                </a:solidFill>
                <a:latin typeface="Arial MT"/>
                <a:cs typeface="Arial MT"/>
              </a:rPr>
              <a:t>access</a:t>
            </a:r>
            <a:endParaRPr sz="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92023" y="688848"/>
            <a:ext cx="4777740" cy="36830"/>
          </a:xfrm>
          <a:custGeom>
            <a:avLst/>
            <a:gdLst/>
            <a:ahLst/>
            <a:cxnLst/>
            <a:rect l="l" t="t" r="r" b="b"/>
            <a:pathLst>
              <a:path w="4777740" h="36829">
                <a:moveTo>
                  <a:pt x="4777740" y="36576"/>
                </a:moveTo>
                <a:lnTo>
                  <a:pt x="0" y="36576"/>
                </a:lnTo>
                <a:lnTo>
                  <a:pt x="0" y="0"/>
                </a:lnTo>
                <a:lnTo>
                  <a:pt x="4777740" y="0"/>
                </a:lnTo>
                <a:lnTo>
                  <a:pt x="4777740" y="36576"/>
                </a:lnTo>
                <a:close/>
              </a:path>
            </a:pathLst>
          </a:custGeom>
          <a:solidFill>
            <a:srgbClr val="9090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724660" y="339191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717804" y="832103"/>
            <a:ext cx="4570730" cy="2722245"/>
            <a:chOff x="717804" y="832103"/>
            <a:chExt cx="4570730" cy="272224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51732" y="3339083"/>
              <a:ext cx="1336548" cy="214883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725424" y="838199"/>
              <a:ext cx="4051300" cy="2491740"/>
            </a:xfrm>
            <a:custGeom>
              <a:avLst/>
              <a:gdLst/>
              <a:ahLst/>
              <a:cxnLst/>
              <a:rect l="l" t="t" r="r" b="b"/>
              <a:pathLst>
                <a:path w="4051300" h="2491740">
                  <a:moveTo>
                    <a:pt x="3838956" y="2491740"/>
                  </a:moveTo>
                  <a:lnTo>
                    <a:pt x="211836" y="2491740"/>
                  </a:lnTo>
                  <a:lnTo>
                    <a:pt x="163152" y="2486163"/>
                  </a:lnTo>
                  <a:lnTo>
                    <a:pt x="118520" y="2470270"/>
                  </a:lnTo>
                  <a:lnTo>
                    <a:pt x="79194" y="2445313"/>
                  </a:lnTo>
                  <a:lnTo>
                    <a:pt x="46426" y="2412545"/>
                  </a:lnTo>
                  <a:lnTo>
                    <a:pt x="21469" y="2373219"/>
                  </a:lnTo>
                  <a:lnTo>
                    <a:pt x="5576" y="2328587"/>
                  </a:lnTo>
                  <a:lnTo>
                    <a:pt x="0" y="2279903"/>
                  </a:lnTo>
                  <a:lnTo>
                    <a:pt x="0" y="211835"/>
                  </a:lnTo>
                  <a:lnTo>
                    <a:pt x="5576" y="163632"/>
                  </a:lnTo>
                  <a:lnTo>
                    <a:pt x="21469" y="119187"/>
                  </a:lnTo>
                  <a:lnTo>
                    <a:pt x="46426" y="79834"/>
                  </a:lnTo>
                  <a:lnTo>
                    <a:pt x="79194" y="46906"/>
                  </a:lnTo>
                  <a:lnTo>
                    <a:pt x="118520" y="21735"/>
                  </a:lnTo>
                  <a:lnTo>
                    <a:pt x="163152" y="5656"/>
                  </a:lnTo>
                  <a:lnTo>
                    <a:pt x="211836" y="0"/>
                  </a:lnTo>
                  <a:lnTo>
                    <a:pt x="3838956" y="0"/>
                  </a:lnTo>
                  <a:lnTo>
                    <a:pt x="3887159" y="5656"/>
                  </a:lnTo>
                  <a:lnTo>
                    <a:pt x="3931604" y="21735"/>
                  </a:lnTo>
                  <a:lnTo>
                    <a:pt x="3970957" y="46906"/>
                  </a:lnTo>
                  <a:lnTo>
                    <a:pt x="4003885" y="79834"/>
                  </a:lnTo>
                  <a:lnTo>
                    <a:pt x="4029056" y="119187"/>
                  </a:lnTo>
                  <a:lnTo>
                    <a:pt x="4045135" y="163632"/>
                  </a:lnTo>
                  <a:lnTo>
                    <a:pt x="4050791" y="211835"/>
                  </a:lnTo>
                  <a:lnTo>
                    <a:pt x="4050791" y="2279903"/>
                  </a:lnTo>
                  <a:lnTo>
                    <a:pt x="4045135" y="2328587"/>
                  </a:lnTo>
                  <a:lnTo>
                    <a:pt x="4029056" y="2373219"/>
                  </a:lnTo>
                  <a:lnTo>
                    <a:pt x="4003885" y="2412545"/>
                  </a:lnTo>
                  <a:lnTo>
                    <a:pt x="3970957" y="2445313"/>
                  </a:lnTo>
                  <a:lnTo>
                    <a:pt x="3931604" y="2470270"/>
                  </a:lnTo>
                  <a:lnTo>
                    <a:pt x="3887159" y="2486163"/>
                  </a:lnTo>
                  <a:lnTo>
                    <a:pt x="3838956" y="249174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17804" y="832103"/>
              <a:ext cx="4064635" cy="2505710"/>
            </a:xfrm>
            <a:custGeom>
              <a:avLst/>
              <a:gdLst/>
              <a:ahLst/>
              <a:cxnLst/>
              <a:rect l="l" t="t" r="r" b="b"/>
              <a:pathLst>
                <a:path w="4064635" h="2505710">
                  <a:moveTo>
                    <a:pt x="3846576" y="2505456"/>
                  </a:moveTo>
                  <a:lnTo>
                    <a:pt x="219456" y="2505456"/>
                  </a:lnTo>
                  <a:lnTo>
                    <a:pt x="175021" y="2500964"/>
                  </a:lnTo>
                  <a:lnTo>
                    <a:pt x="133731" y="2488096"/>
                  </a:lnTo>
                  <a:lnTo>
                    <a:pt x="96440" y="2467763"/>
                  </a:lnTo>
                  <a:lnTo>
                    <a:pt x="64008" y="2440876"/>
                  </a:lnTo>
                  <a:lnTo>
                    <a:pt x="37290" y="2408345"/>
                  </a:lnTo>
                  <a:lnTo>
                    <a:pt x="17145" y="2371082"/>
                  </a:lnTo>
                  <a:lnTo>
                    <a:pt x="4429" y="2329996"/>
                  </a:lnTo>
                  <a:lnTo>
                    <a:pt x="0" y="2286000"/>
                  </a:lnTo>
                  <a:lnTo>
                    <a:pt x="0" y="217931"/>
                  </a:lnTo>
                  <a:lnTo>
                    <a:pt x="5758" y="167951"/>
                  </a:lnTo>
                  <a:lnTo>
                    <a:pt x="22180" y="122075"/>
                  </a:lnTo>
                  <a:lnTo>
                    <a:pt x="47986" y="81611"/>
                  </a:lnTo>
                  <a:lnTo>
                    <a:pt x="81896" y="47866"/>
                  </a:lnTo>
                  <a:lnTo>
                    <a:pt x="122630" y="22144"/>
                  </a:lnTo>
                  <a:lnTo>
                    <a:pt x="168910" y="5753"/>
                  </a:lnTo>
                  <a:lnTo>
                    <a:pt x="219456" y="0"/>
                  </a:lnTo>
                  <a:lnTo>
                    <a:pt x="3846576" y="0"/>
                  </a:lnTo>
                  <a:lnTo>
                    <a:pt x="3896557" y="5753"/>
                  </a:lnTo>
                  <a:lnTo>
                    <a:pt x="3918841" y="13715"/>
                  </a:lnTo>
                  <a:lnTo>
                    <a:pt x="219456" y="13715"/>
                  </a:lnTo>
                  <a:lnTo>
                    <a:pt x="178188" y="17859"/>
                  </a:lnTo>
                  <a:lnTo>
                    <a:pt x="139636" y="29717"/>
                  </a:lnTo>
                  <a:lnTo>
                    <a:pt x="104798" y="48434"/>
                  </a:lnTo>
                  <a:lnTo>
                    <a:pt x="74676" y="73151"/>
                  </a:lnTo>
                  <a:lnTo>
                    <a:pt x="49077" y="103917"/>
                  </a:lnTo>
                  <a:lnTo>
                    <a:pt x="29908" y="138683"/>
                  </a:lnTo>
                  <a:lnTo>
                    <a:pt x="17883" y="176879"/>
                  </a:lnTo>
                  <a:lnTo>
                    <a:pt x="13716" y="217931"/>
                  </a:lnTo>
                  <a:lnTo>
                    <a:pt x="13716" y="2286000"/>
                  </a:lnTo>
                  <a:lnTo>
                    <a:pt x="17883" y="2327267"/>
                  </a:lnTo>
                  <a:lnTo>
                    <a:pt x="29908" y="2365819"/>
                  </a:lnTo>
                  <a:lnTo>
                    <a:pt x="49077" y="2400657"/>
                  </a:lnTo>
                  <a:lnTo>
                    <a:pt x="74676" y="2430780"/>
                  </a:lnTo>
                  <a:lnTo>
                    <a:pt x="104798" y="2455497"/>
                  </a:lnTo>
                  <a:lnTo>
                    <a:pt x="139636" y="2474214"/>
                  </a:lnTo>
                  <a:lnTo>
                    <a:pt x="178188" y="2486072"/>
                  </a:lnTo>
                  <a:lnTo>
                    <a:pt x="219456" y="2490216"/>
                  </a:lnTo>
                  <a:lnTo>
                    <a:pt x="3922526" y="2490216"/>
                  </a:lnTo>
                  <a:lnTo>
                    <a:pt x="3896557" y="2499617"/>
                  </a:lnTo>
                  <a:lnTo>
                    <a:pt x="3846576" y="2505456"/>
                  </a:lnTo>
                  <a:close/>
                </a:path>
                <a:path w="4064635" h="2505710">
                  <a:moveTo>
                    <a:pt x="3922526" y="2490216"/>
                  </a:moveTo>
                  <a:lnTo>
                    <a:pt x="3846576" y="2490216"/>
                  </a:lnTo>
                  <a:lnTo>
                    <a:pt x="3887628" y="2486072"/>
                  </a:lnTo>
                  <a:lnTo>
                    <a:pt x="3925824" y="2474214"/>
                  </a:lnTo>
                  <a:lnTo>
                    <a:pt x="3960590" y="2455497"/>
                  </a:lnTo>
                  <a:lnTo>
                    <a:pt x="3991356" y="2430780"/>
                  </a:lnTo>
                  <a:lnTo>
                    <a:pt x="4016073" y="2400657"/>
                  </a:lnTo>
                  <a:lnTo>
                    <a:pt x="4034790" y="2365819"/>
                  </a:lnTo>
                  <a:lnTo>
                    <a:pt x="4046648" y="2327267"/>
                  </a:lnTo>
                  <a:lnTo>
                    <a:pt x="4050792" y="2286000"/>
                  </a:lnTo>
                  <a:lnTo>
                    <a:pt x="4050792" y="217931"/>
                  </a:lnTo>
                  <a:lnTo>
                    <a:pt x="4046648" y="176879"/>
                  </a:lnTo>
                  <a:lnTo>
                    <a:pt x="4034790" y="138683"/>
                  </a:lnTo>
                  <a:lnTo>
                    <a:pt x="4016073" y="103917"/>
                  </a:lnTo>
                  <a:lnTo>
                    <a:pt x="3991356" y="73151"/>
                  </a:lnTo>
                  <a:lnTo>
                    <a:pt x="3960590" y="48434"/>
                  </a:lnTo>
                  <a:lnTo>
                    <a:pt x="3925824" y="29717"/>
                  </a:lnTo>
                  <a:lnTo>
                    <a:pt x="3887628" y="17859"/>
                  </a:lnTo>
                  <a:lnTo>
                    <a:pt x="3846576" y="13715"/>
                  </a:lnTo>
                  <a:lnTo>
                    <a:pt x="3918841" y="13715"/>
                  </a:lnTo>
                  <a:lnTo>
                    <a:pt x="3982896" y="47866"/>
                  </a:lnTo>
                  <a:lnTo>
                    <a:pt x="4016642" y="81611"/>
                  </a:lnTo>
                  <a:lnTo>
                    <a:pt x="4042363" y="122075"/>
                  </a:lnTo>
                  <a:lnTo>
                    <a:pt x="4058754" y="167951"/>
                  </a:lnTo>
                  <a:lnTo>
                    <a:pt x="4064508" y="217931"/>
                  </a:lnTo>
                  <a:lnTo>
                    <a:pt x="4064508" y="2286000"/>
                  </a:lnTo>
                  <a:lnTo>
                    <a:pt x="4058754" y="2336065"/>
                  </a:lnTo>
                  <a:lnTo>
                    <a:pt x="4042363" y="2382158"/>
                  </a:lnTo>
                  <a:lnTo>
                    <a:pt x="4016642" y="2422920"/>
                  </a:lnTo>
                  <a:lnTo>
                    <a:pt x="3982896" y="2456990"/>
                  </a:lnTo>
                  <a:lnTo>
                    <a:pt x="3942432" y="2483009"/>
                  </a:lnTo>
                  <a:lnTo>
                    <a:pt x="3922526" y="2490216"/>
                  </a:lnTo>
                  <a:close/>
                </a:path>
              </a:pathLst>
            </a:custGeom>
            <a:solidFill>
              <a:srgbClr val="1616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394203" y="452149"/>
            <a:ext cx="189103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Capacity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dirty="0" sz="12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Performance: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25495" y="909340"/>
            <a:ext cx="3799840" cy="23050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13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1A1A1A"/>
                </a:solidFill>
                <a:latin typeface="Arial MT"/>
                <a:cs typeface="Arial MT"/>
              </a:rPr>
              <a:t>two</a:t>
            </a:r>
            <a:r>
              <a:rPr dirty="0" sz="13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1A1A1A"/>
                </a:solidFill>
                <a:latin typeface="Arial MT"/>
                <a:cs typeface="Arial MT"/>
              </a:rPr>
              <a:t>most</a:t>
            </a:r>
            <a:r>
              <a:rPr dirty="0" sz="1350" spc="-10">
                <a:solidFill>
                  <a:srgbClr val="1A1A1A"/>
                </a:solidFill>
                <a:latin typeface="Arial MT"/>
                <a:cs typeface="Arial MT"/>
              </a:rPr>
              <a:t> important</a:t>
            </a:r>
            <a:r>
              <a:rPr dirty="0" sz="13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Arial MT"/>
                <a:cs typeface="Arial MT"/>
              </a:rPr>
              <a:t>characteristics</a:t>
            </a:r>
            <a:r>
              <a:rPr dirty="0" sz="13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350" spc="-10">
                <a:solidFill>
                  <a:srgbClr val="1A1A1A"/>
                </a:solidFill>
                <a:latin typeface="Arial MT"/>
                <a:cs typeface="Arial MT"/>
              </a:rPr>
              <a:t> memory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819911" y="1251204"/>
            <a:ext cx="3862070" cy="1828800"/>
            <a:chOff x="819911" y="1251204"/>
            <a:chExt cx="3862070" cy="1828800"/>
          </a:xfrm>
        </p:grpSpPr>
        <p:sp>
          <p:nvSpPr>
            <p:cNvPr id="11" name="object 11" descr=""/>
            <p:cNvSpPr/>
            <p:nvPr/>
          </p:nvSpPr>
          <p:spPr>
            <a:xfrm>
              <a:off x="826007" y="1258824"/>
              <a:ext cx="3850004" cy="1813560"/>
            </a:xfrm>
            <a:custGeom>
              <a:avLst/>
              <a:gdLst/>
              <a:ahLst/>
              <a:cxnLst/>
              <a:rect l="l" t="t" r="r" b="b"/>
              <a:pathLst>
                <a:path w="3850004" h="1813560">
                  <a:moveTo>
                    <a:pt x="3659124" y="1813559"/>
                  </a:moveTo>
                  <a:lnTo>
                    <a:pt x="190500" y="1813559"/>
                  </a:lnTo>
                  <a:lnTo>
                    <a:pt x="146837" y="1808525"/>
                  </a:lnTo>
                  <a:lnTo>
                    <a:pt x="106746" y="1794187"/>
                  </a:lnTo>
                  <a:lnTo>
                    <a:pt x="71374" y="1771692"/>
                  </a:lnTo>
                  <a:lnTo>
                    <a:pt x="41867" y="1742185"/>
                  </a:lnTo>
                  <a:lnTo>
                    <a:pt x="19372" y="1706813"/>
                  </a:lnTo>
                  <a:lnTo>
                    <a:pt x="5034" y="1666722"/>
                  </a:lnTo>
                  <a:lnTo>
                    <a:pt x="0" y="1623059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3659124" y="0"/>
                  </a:lnTo>
                  <a:lnTo>
                    <a:pt x="3702786" y="5034"/>
                  </a:lnTo>
                  <a:lnTo>
                    <a:pt x="3742877" y="19372"/>
                  </a:lnTo>
                  <a:lnTo>
                    <a:pt x="3778249" y="41867"/>
                  </a:lnTo>
                  <a:lnTo>
                    <a:pt x="3807756" y="71374"/>
                  </a:lnTo>
                  <a:lnTo>
                    <a:pt x="3830251" y="106746"/>
                  </a:lnTo>
                  <a:lnTo>
                    <a:pt x="3844589" y="146837"/>
                  </a:lnTo>
                  <a:lnTo>
                    <a:pt x="3849624" y="190500"/>
                  </a:lnTo>
                  <a:lnTo>
                    <a:pt x="3849624" y="1623059"/>
                  </a:lnTo>
                  <a:lnTo>
                    <a:pt x="3844589" y="1666722"/>
                  </a:lnTo>
                  <a:lnTo>
                    <a:pt x="3830251" y="1706813"/>
                  </a:lnTo>
                  <a:lnTo>
                    <a:pt x="3807756" y="1742185"/>
                  </a:lnTo>
                  <a:lnTo>
                    <a:pt x="3778249" y="1771692"/>
                  </a:lnTo>
                  <a:lnTo>
                    <a:pt x="3742877" y="1794187"/>
                  </a:lnTo>
                  <a:lnTo>
                    <a:pt x="3702786" y="1808525"/>
                  </a:lnTo>
                  <a:lnTo>
                    <a:pt x="3659124" y="1813559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19911" y="1251204"/>
              <a:ext cx="3862070" cy="1828800"/>
            </a:xfrm>
            <a:custGeom>
              <a:avLst/>
              <a:gdLst/>
              <a:ahLst/>
              <a:cxnLst/>
              <a:rect l="l" t="t" r="r" b="b"/>
              <a:pathLst>
                <a:path w="3862070" h="1828800">
                  <a:moveTo>
                    <a:pt x="3665220" y="1828800"/>
                  </a:moveTo>
                  <a:lnTo>
                    <a:pt x="196596" y="1828800"/>
                  </a:lnTo>
                  <a:lnTo>
                    <a:pt x="151635" y="1823583"/>
                  </a:lnTo>
                  <a:lnTo>
                    <a:pt x="110301" y="1808716"/>
                  </a:lnTo>
                  <a:lnTo>
                    <a:pt x="73791" y="1785372"/>
                  </a:lnTo>
                  <a:lnTo>
                    <a:pt x="43307" y="1754723"/>
                  </a:lnTo>
                  <a:lnTo>
                    <a:pt x="20047" y="1717943"/>
                  </a:lnTo>
                  <a:lnTo>
                    <a:pt x="5211" y="1676204"/>
                  </a:lnTo>
                  <a:lnTo>
                    <a:pt x="0" y="1630679"/>
                  </a:lnTo>
                  <a:lnTo>
                    <a:pt x="0" y="198119"/>
                  </a:lnTo>
                  <a:lnTo>
                    <a:pt x="5211" y="152595"/>
                  </a:lnTo>
                  <a:lnTo>
                    <a:pt x="20047" y="110856"/>
                  </a:lnTo>
                  <a:lnTo>
                    <a:pt x="43307" y="74076"/>
                  </a:lnTo>
                  <a:lnTo>
                    <a:pt x="73791" y="43427"/>
                  </a:lnTo>
                  <a:lnTo>
                    <a:pt x="110301" y="20083"/>
                  </a:lnTo>
                  <a:lnTo>
                    <a:pt x="151635" y="5216"/>
                  </a:lnTo>
                  <a:lnTo>
                    <a:pt x="196596" y="0"/>
                  </a:lnTo>
                  <a:lnTo>
                    <a:pt x="3665220" y="0"/>
                  </a:lnTo>
                  <a:lnTo>
                    <a:pt x="3710180" y="5216"/>
                  </a:lnTo>
                  <a:lnTo>
                    <a:pt x="3733812" y="13715"/>
                  </a:lnTo>
                  <a:lnTo>
                    <a:pt x="196596" y="13715"/>
                  </a:lnTo>
                  <a:lnTo>
                    <a:pt x="159853" y="17573"/>
                  </a:lnTo>
                  <a:lnTo>
                    <a:pt x="94368" y="45862"/>
                  </a:lnTo>
                  <a:lnTo>
                    <a:pt x="44577" y="95249"/>
                  </a:lnTo>
                  <a:lnTo>
                    <a:pt x="17335" y="161162"/>
                  </a:lnTo>
                  <a:lnTo>
                    <a:pt x="13716" y="198119"/>
                  </a:lnTo>
                  <a:lnTo>
                    <a:pt x="13716" y="1630679"/>
                  </a:lnTo>
                  <a:lnTo>
                    <a:pt x="27813" y="1701736"/>
                  </a:lnTo>
                  <a:lnTo>
                    <a:pt x="67056" y="1760220"/>
                  </a:lnTo>
                  <a:lnTo>
                    <a:pt x="125539" y="1799463"/>
                  </a:lnTo>
                  <a:lnTo>
                    <a:pt x="196596" y="1813560"/>
                  </a:lnTo>
                  <a:lnTo>
                    <a:pt x="3738049" y="1813560"/>
                  </a:lnTo>
                  <a:lnTo>
                    <a:pt x="3710180" y="1823583"/>
                  </a:lnTo>
                  <a:lnTo>
                    <a:pt x="3665220" y="1828800"/>
                  </a:lnTo>
                  <a:close/>
                </a:path>
                <a:path w="3862070" h="1828800">
                  <a:moveTo>
                    <a:pt x="3738049" y="1813560"/>
                  </a:moveTo>
                  <a:lnTo>
                    <a:pt x="3665220" y="1813560"/>
                  </a:lnTo>
                  <a:lnTo>
                    <a:pt x="3701962" y="1809940"/>
                  </a:lnTo>
                  <a:lnTo>
                    <a:pt x="3736276" y="1799463"/>
                  </a:lnTo>
                  <a:lnTo>
                    <a:pt x="3794760" y="1760220"/>
                  </a:lnTo>
                  <a:lnTo>
                    <a:pt x="3833431" y="1701736"/>
                  </a:lnTo>
                  <a:lnTo>
                    <a:pt x="3848099" y="1630679"/>
                  </a:lnTo>
                  <a:lnTo>
                    <a:pt x="3848099" y="198119"/>
                  </a:lnTo>
                  <a:lnTo>
                    <a:pt x="3833431" y="126491"/>
                  </a:lnTo>
                  <a:lnTo>
                    <a:pt x="3794760" y="68579"/>
                  </a:lnTo>
                  <a:lnTo>
                    <a:pt x="3736276" y="28574"/>
                  </a:lnTo>
                  <a:lnTo>
                    <a:pt x="3665220" y="13715"/>
                  </a:lnTo>
                  <a:lnTo>
                    <a:pt x="3733812" y="13715"/>
                  </a:lnTo>
                  <a:lnTo>
                    <a:pt x="3788024" y="43427"/>
                  </a:lnTo>
                  <a:lnTo>
                    <a:pt x="3818508" y="74076"/>
                  </a:lnTo>
                  <a:lnTo>
                    <a:pt x="3841768" y="110856"/>
                  </a:lnTo>
                  <a:lnTo>
                    <a:pt x="3856604" y="152595"/>
                  </a:lnTo>
                  <a:lnTo>
                    <a:pt x="3861816" y="198119"/>
                  </a:lnTo>
                  <a:lnTo>
                    <a:pt x="3861816" y="1630679"/>
                  </a:lnTo>
                  <a:lnTo>
                    <a:pt x="3856604" y="1676204"/>
                  </a:lnTo>
                  <a:lnTo>
                    <a:pt x="3841768" y="1717943"/>
                  </a:lnTo>
                  <a:lnTo>
                    <a:pt x="3818508" y="1754723"/>
                  </a:lnTo>
                  <a:lnTo>
                    <a:pt x="3788024" y="1785372"/>
                  </a:lnTo>
                  <a:lnTo>
                    <a:pt x="3751514" y="1808716"/>
                  </a:lnTo>
                  <a:lnTo>
                    <a:pt x="3738049" y="1813560"/>
                  </a:lnTo>
                  <a:close/>
                </a:path>
              </a:pathLst>
            </a:custGeom>
            <a:solidFill>
              <a:srgbClr val="1616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907771" y="1488495"/>
            <a:ext cx="3664585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>
                <a:solidFill>
                  <a:srgbClr val="1A1A1A"/>
                </a:solidFill>
                <a:latin typeface="Arial MT"/>
                <a:cs typeface="Arial MT"/>
              </a:rPr>
              <a:t>Three</a:t>
            </a:r>
            <a:r>
              <a:rPr dirty="0" sz="155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A1A1A"/>
                </a:solidFill>
                <a:latin typeface="Arial MT"/>
                <a:cs typeface="Arial MT"/>
              </a:rPr>
              <a:t>performance</a:t>
            </a:r>
            <a:r>
              <a:rPr dirty="0" sz="155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A1A1A"/>
                </a:solidFill>
                <a:latin typeface="Arial MT"/>
                <a:cs typeface="Arial MT"/>
              </a:rPr>
              <a:t>parameters</a:t>
            </a:r>
            <a:r>
              <a:rPr dirty="0" sz="155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A1A1A"/>
                </a:solidFill>
                <a:latin typeface="Arial MT"/>
                <a:cs typeface="Arial MT"/>
              </a:rPr>
              <a:t>are</a:t>
            </a:r>
            <a:r>
              <a:rPr dirty="0" sz="155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1A1A1A"/>
                </a:solidFill>
                <a:latin typeface="Arial MT"/>
                <a:cs typeface="Arial MT"/>
              </a:rPr>
              <a:t>used: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886967" y="1888235"/>
            <a:ext cx="1219200" cy="1013460"/>
            <a:chOff x="886967" y="1888235"/>
            <a:chExt cx="1219200" cy="1013460"/>
          </a:xfrm>
        </p:grpSpPr>
        <p:sp>
          <p:nvSpPr>
            <p:cNvPr id="15" name="object 15" descr=""/>
            <p:cNvSpPr/>
            <p:nvPr/>
          </p:nvSpPr>
          <p:spPr>
            <a:xfrm>
              <a:off x="894588" y="1894331"/>
              <a:ext cx="1205865" cy="1000125"/>
            </a:xfrm>
            <a:custGeom>
              <a:avLst/>
              <a:gdLst/>
              <a:ahLst/>
              <a:cxnLst/>
              <a:rect l="l" t="t" r="r" b="b"/>
              <a:pathLst>
                <a:path w="1205864" h="1000125">
                  <a:moveTo>
                    <a:pt x="1100327" y="999743"/>
                  </a:moveTo>
                  <a:lnTo>
                    <a:pt x="105155" y="999743"/>
                  </a:lnTo>
                  <a:lnTo>
                    <a:pt x="64293" y="991457"/>
                  </a:lnTo>
                  <a:lnTo>
                    <a:pt x="30860" y="968882"/>
                  </a:lnTo>
                  <a:lnTo>
                    <a:pt x="8286" y="935450"/>
                  </a:lnTo>
                  <a:lnTo>
                    <a:pt x="0" y="894587"/>
                  </a:lnTo>
                  <a:lnTo>
                    <a:pt x="0" y="105156"/>
                  </a:lnTo>
                  <a:lnTo>
                    <a:pt x="8286" y="64293"/>
                  </a:lnTo>
                  <a:lnTo>
                    <a:pt x="30860" y="30860"/>
                  </a:lnTo>
                  <a:lnTo>
                    <a:pt x="64293" y="8286"/>
                  </a:lnTo>
                  <a:lnTo>
                    <a:pt x="105155" y="0"/>
                  </a:lnTo>
                  <a:lnTo>
                    <a:pt x="1100327" y="0"/>
                  </a:lnTo>
                  <a:lnTo>
                    <a:pt x="1141190" y="8286"/>
                  </a:lnTo>
                  <a:lnTo>
                    <a:pt x="1174622" y="30860"/>
                  </a:lnTo>
                  <a:lnTo>
                    <a:pt x="1197197" y="64293"/>
                  </a:lnTo>
                  <a:lnTo>
                    <a:pt x="1205483" y="105156"/>
                  </a:lnTo>
                  <a:lnTo>
                    <a:pt x="1205483" y="894587"/>
                  </a:lnTo>
                  <a:lnTo>
                    <a:pt x="1197197" y="935450"/>
                  </a:lnTo>
                  <a:lnTo>
                    <a:pt x="1174622" y="968882"/>
                  </a:lnTo>
                  <a:lnTo>
                    <a:pt x="1141190" y="991457"/>
                  </a:lnTo>
                  <a:lnTo>
                    <a:pt x="1100327" y="999743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86967" y="1888235"/>
              <a:ext cx="1219200" cy="1013460"/>
            </a:xfrm>
            <a:custGeom>
              <a:avLst/>
              <a:gdLst/>
              <a:ahLst/>
              <a:cxnLst/>
              <a:rect l="l" t="t" r="r" b="b"/>
              <a:pathLst>
                <a:path w="1219200" h="1013460">
                  <a:moveTo>
                    <a:pt x="1107948" y="1013460"/>
                  </a:moveTo>
                  <a:lnTo>
                    <a:pt x="112776" y="1013460"/>
                  </a:lnTo>
                  <a:lnTo>
                    <a:pt x="68794" y="1004625"/>
                  </a:lnTo>
                  <a:lnTo>
                    <a:pt x="32956" y="980503"/>
                  </a:lnTo>
                  <a:lnTo>
                    <a:pt x="8834" y="944665"/>
                  </a:lnTo>
                  <a:lnTo>
                    <a:pt x="0" y="900683"/>
                  </a:lnTo>
                  <a:lnTo>
                    <a:pt x="0" y="111252"/>
                  </a:lnTo>
                  <a:lnTo>
                    <a:pt x="8834" y="67508"/>
                  </a:lnTo>
                  <a:lnTo>
                    <a:pt x="32956" y="32194"/>
                  </a:lnTo>
                  <a:lnTo>
                    <a:pt x="68794" y="8596"/>
                  </a:lnTo>
                  <a:lnTo>
                    <a:pt x="112776" y="0"/>
                  </a:lnTo>
                  <a:lnTo>
                    <a:pt x="1107948" y="0"/>
                  </a:lnTo>
                  <a:lnTo>
                    <a:pt x="1151048" y="8596"/>
                  </a:lnTo>
                  <a:lnTo>
                    <a:pt x="1158725" y="13716"/>
                  </a:lnTo>
                  <a:lnTo>
                    <a:pt x="112776" y="13716"/>
                  </a:lnTo>
                  <a:lnTo>
                    <a:pt x="74390" y="21455"/>
                  </a:lnTo>
                  <a:lnTo>
                    <a:pt x="43434" y="42481"/>
                  </a:lnTo>
                  <a:lnTo>
                    <a:pt x="22764" y="73509"/>
                  </a:lnTo>
                  <a:lnTo>
                    <a:pt x="15240" y="111252"/>
                  </a:lnTo>
                  <a:lnTo>
                    <a:pt x="15240" y="900683"/>
                  </a:lnTo>
                  <a:lnTo>
                    <a:pt x="22764" y="939069"/>
                  </a:lnTo>
                  <a:lnTo>
                    <a:pt x="43434" y="970026"/>
                  </a:lnTo>
                  <a:lnTo>
                    <a:pt x="74390" y="990695"/>
                  </a:lnTo>
                  <a:lnTo>
                    <a:pt x="112776" y="998220"/>
                  </a:lnTo>
                  <a:lnTo>
                    <a:pt x="1160445" y="998220"/>
                  </a:lnTo>
                  <a:lnTo>
                    <a:pt x="1151048" y="1004625"/>
                  </a:lnTo>
                  <a:lnTo>
                    <a:pt x="1107948" y="1013460"/>
                  </a:lnTo>
                  <a:close/>
                </a:path>
                <a:path w="1219200" h="1013460">
                  <a:moveTo>
                    <a:pt x="1160445" y="998220"/>
                  </a:moveTo>
                  <a:lnTo>
                    <a:pt x="1107948" y="998220"/>
                  </a:lnTo>
                  <a:lnTo>
                    <a:pt x="1145690" y="990695"/>
                  </a:lnTo>
                  <a:lnTo>
                    <a:pt x="1176718" y="970026"/>
                  </a:lnTo>
                  <a:lnTo>
                    <a:pt x="1197744" y="939069"/>
                  </a:lnTo>
                  <a:lnTo>
                    <a:pt x="1205484" y="900683"/>
                  </a:lnTo>
                  <a:lnTo>
                    <a:pt x="1205484" y="111252"/>
                  </a:lnTo>
                  <a:lnTo>
                    <a:pt x="1197744" y="73509"/>
                  </a:lnTo>
                  <a:lnTo>
                    <a:pt x="1176718" y="42481"/>
                  </a:lnTo>
                  <a:lnTo>
                    <a:pt x="1145690" y="21455"/>
                  </a:lnTo>
                  <a:lnTo>
                    <a:pt x="1107948" y="13716"/>
                  </a:lnTo>
                  <a:lnTo>
                    <a:pt x="1158725" y="13716"/>
                  </a:lnTo>
                  <a:lnTo>
                    <a:pt x="1186434" y="32194"/>
                  </a:lnTo>
                  <a:lnTo>
                    <a:pt x="1210389" y="67508"/>
                  </a:lnTo>
                  <a:lnTo>
                    <a:pt x="1219200" y="111252"/>
                  </a:lnTo>
                  <a:lnTo>
                    <a:pt x="1219200" y="900683"/>
                  </a:lnTo>
                  <a:lnTo>
                    <a:pt x="1210389" y="944665"/>
                  </a:lnTo>
                  <a:lnTo>
                    <a:pt x="1186434" y="980503"/>
                  </a:lnTo>
                  <a:lnTo>
                    <a:pt x="1160445" y="99822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938275" y="1890744"/>
            <a:ext cx="1098550" cy="66929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650">
                <a:solidFill>
                  <a:srgbClr val="1A1A1A"/>
                </a:solidFill>
                <a:latin typeface="Arial MT"/>
                <a:cs typeface="Arial MT"/>
              </a:rPr>
              <a:t>Access</a:t>
            </a:r>
            <a:r>
              <a:rPr dirty="0" sz="65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1A1A1A"/>
                </a:solidFill>
                <a:latin typeface="Arial MT"/>
                <a:cs typeface="Arial MT"/>
              </a:rPr>
              <a:t>time</a:t>
            </a:r>
            <a:r>
              <a:rPr dirty="0" sz="65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1A1A1A"/>
                </a:solidFill>
                <a:latin typeface="Arial MT"/>
                <a:cs typeface="Arial MT"/>
              </a:rPr>
              <a:t>(latency)</a:t>
            </a:r>
            <a:endParaRPr sz="650">
              <a:latin typeface="Arial MT"/>
              <a:cs typeface="Arial MT"/>
            </a:endParaRPr>
          </a:p>
          <a:p>
            <a:pPr marL="43180" marR="24130" indent="-31115">
              <a:lnSpc>
                <a:spcPct val="87000"/>
              </a:lnSpc>
              <a:spcBef>
                <a:spcPts val="275"/>
              </a:spcBef>
              <a:buSzPct val="80000"/>
              <a:buChar char="•"/>
              <a:tabLst>
                <a:tab pos="44450" algn="l"/>
              </a:tabLst>
            </a:pP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For random-access memory</a:t>
            </a:r>
            <a:r>
              <a:rPr dirty="0" sz="5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it</a:t>
            </a:r>
            <a:r>
              <a:rPr dirty="0" sz="5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5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 spc="-25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50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 spc="500">
                <a:solidFill>
                  <a:srgbClr val="1A1A1A"/>
                </a:solidFill>
                <a:latin typeface="Arial MT"/>
                <a:cs typeface="Arial MT"/>
              </a:rPr>
              <a:t>	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time</a:t>
            </a:r>
            <a:r>
              <a:rPr dirty="0" sz="5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it</a:t>
            </a:r>
            <a:r>
              <a:rPr dirty="0" sz="5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takes</a:t>
            </a:r>
            <a:r>
              <a:rPr dirty="0" sz="5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5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perform</a:t>
            </a:r>
            <a:r>
              <a:rPr dirty="0" sz="5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a read </a:t>
            </a:r>
            <a:r>
              <a:rPr dirty="0" sz="500" spc="-25">
                <a:solidFill>
                  <a:srgbClr val="1A1A1A"/>
                </a:solidFill>
                <a:latin typeface="Arial MT"/>
                <a:cs typeface="Arial MT"/>
              </a:rPr>
              <a:t>or</a:t>
            </a:r>
            <a:r>
              <a:rPr dirty="0" sz="50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 spc="500">
                <a:solidFill>
                  <a:srgbClr val="1A1A1A"/>
                </a:solidFill>
                <a:latin typeface="Arial MT"/>
                <a:cs typeface="Arial MT"/>
              </a:rPr>
              <a:t>	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write</a:t>
            </a:r>
            <a:r>
              <a:rPr dirty="0" sz="5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1A1A1A"/>
                </a:solidFill>
                <a:latin typeface="Arial MT"/>
                <a:cs typeface="Arial MT"/>
              </a:rPr>
              <a:t>operation</a:t>
            </a:r>
            <a:endParaRPr sz="500">
              <a:latin typeface="Arial MT"/>
              <a:cs typeface="Arial MT"/>
            </a:endParaRPr>
          </a:p>
          <a:p>
            <a:pPr marL="43180" marR="5080" indent="-31115">
              <a:lnSpc>
                <a:spcPct val="87300"/>
              </a:lnSpc>
              <a:spcBef>
                <a:spcPts val="75"/>
              </a:spcBef>
              <a:buSzPct val="80000"/>
              <a:buChar char="•"/>
              <a:tabLst>
                <a:tab pos="44450" algn="l"/>
              </a:tabLst>
            </a:pP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For</a:t>
            </a:r>
            <a:r>
              <a:rPr dirty="0" sz="5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non-random-access memory it</a:t>
            </a:r>
            <a:r>
              <a:rPr dirty="0" sz="5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 spc="-25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50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 spc="500">
                <a:solidFill>
                  <a:srgbClr val="1A1A1A"/>
                </a:solidFill>
                <a:latin typeface="Arial MT"/>
                <a:cs typeface="Arial MT"/>
              </a:rPr>
              <a:t>	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5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time it takes</a:t>
            </a:r>
            <a:r>
              <a:rPr dirty="0" sz="5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5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position</a:t>
            </a:r>
            <a:r>
              <a:rPr dirty="0" sz="5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the </a:t>
            </a:r>
            <a:r>
              <a:rPr dirty="0" sz="500" spc="-20">
                <a:solidFill>
                  <a:srgbClr val="1A1A1A"/>
                </a:solidFill>
                <a:latin typeface="Arial MT"/>
                <a:cs typeface="Arial MT"/>
              </a:rPr>
              <a:t>read-</a:t>
            </a:r>
            <a:r>
              <a:rPr dirty="0" sz="50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 spc="500">
                <a:solidFill>
                  <a:srgbClr val="1A1A1A"/>
                </a:solidFill>
                <a:latin typeface="Arial MT"/>
                <a:cs typeface="Arial MT"/>
              </a:rPr>
              <a:t>	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write mechanism</a:t>
            </a:r>
            <a:r>
              <a:rPr dirty="0" sz="5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at</a:t>
            </a:r>
            <a:r>
              <a:rPr dirty="0" sz="5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5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1A1A1A"/>
                </a:solidFill>
                <a:latin typeface="Arial MT"/>
                <a:cs typeface="Arial MT"/>
              </a:rPr>
              <a:t>desired</a:t>
            </a:r>
            <a:r>
              <a:rPr dirty="0" sz="50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 spc="500">
                <a:solidFill>
                  <a:srgbClr val="1A1A1A"/>
                </a:solidFill>
                <a:latin typeface="Arial MT"/>
                <a:cs typeface="Arial MT"/>
              </a:rPr>
              <a:t>	</a:t>
            </a:r>
            <a:r>
              <a:rPr dirty="0" sz="500" spc="-10">
                <a:solidFill>
                  <a:srgbClr val="1A1A1A"/>
                </a:solidFill>
                <a:latin typeface="Arial MT"/>
                <a:cs typeface="Arial MT"/>
              </a:rPr>
              <a:t>location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2141220" y="1859279"/>
            <a:ext cx="1219200" cy="1049020"/>
            <a:chOff x="2141220" y="1859279"/>
            <a:chExt cx="1219200" cy="1049020"/>
          </a:xfrm>
        </p:grpSpPr>
        <p:sp>
          <p:nvSpPr>
            <p:cNvPr id="19" name="object 19" descr=""/>
            <p:cNvSpPr/>
            <p:nvPr/>
          </p:nvSpPr>
          <p:spPr>
            <a:xfrm>
              <a:off x="2148840" y="1866900"/>
              <a:ext cx="1203960" cy="1035050"/>
            </a:xfrm>
            <a:custGeom>
              <a:avLst/>
              <a:gdLst/>
              <a:ahLst/>
              <a:cxnLst/>
              <a:rect l="l" t="t" r="r" b="b"/>
              <a:pathLst>
                <a:path w="1203960" h="1035050">
                  <a:moveTo>
                    <a:pt x="1095756" y="1034795"/>
                  </a:moveTo>
                  <a:lnTo>
                    <a:pt x="108204" y="1034795"/>
                  </a:lnTo>
                  <a:lnTo>
                    <a:pt x="66222" y="1026223"/>
                  </a:lnTo>
                  <a:lnTo>
                    <a:pt x="31813" y="1002791"/>
                  </a:lnTo>
                  <a:lnTo>
                    <a:pt x="8548" y="967930"/>
                  </a:lnTo>
                  <a:lnTo>
                    <a:pt x="0" y="925067"/>
                  </a:lnTo>
                  <a:lnTo>
                    <a:pt x="0" y="108203"/>
                  </a:lnTo>
                  <a:lnTo>
                    <a:pt x="8548" y="66222"/>
                  </a:lnTo>
                  <a:lnTo>
                    <a:pt x="31813" y="31813"/>
                  </a:lnTo>
                  <a:lnTo>
                    <a:pt x="66222" y="8548"/>
                  </a:lnTo>
                  <a:lnTo>
                    <a:pt x="108204" y="0"/>
                  </a:lnTo>
                  <a:lnTo>
                    <a:pt x="1095756" y="0"/>
                  </a:lnTo>
                  <a:lnTo>
                    <a:pt x="1137737" y="8548"/>
                  </a:lnTo>
                  <a:lnTo>
                    <a:pt x="1172146" y="31813"/>
                  </a:lnTo>
                  <a:lnTo>
                    <a:pt x="1195411" y="66222"/>
                  </a:lnTo>
                  <a:lnTo>
                    <a:pt x="1203960" y="108203"/>
                  </a:lnTo>
                  <a:lnTo>
                    <a:pt x="1203960" y="925067"/>
                  </a:lnTo>
                  <a:lnTo>
                    <a:pt x="1195411" y="967930"/>
                  </a:lnTo>
                  <a:lnTo>
                    <a:pt x="1172146" y="1002791"/>
                  </a:lnTo>
                  <a:lnTo>
                    <a:pt x="1137737" y="1026223"/>
                  </a:lnTo>
                  <a:lnTo>
                    <a:pt x="1095756" y="1034795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141220" y="1859279"/>
              <a:ext cx="1219200" cy="1049020"/>
            </a:xfrm>
            <a:custGeom>
              <a:avLst/>
              <a:gdLst/>
              <a:ahLst/>
              <a:cxnLst/>
              <a:rect l="l" t="t" r="r" b="b"/>
              <a:pathLst>
                <a:path w="1219200" h="1049020">
                  <a:moveTo>
                    <a:pt x="1103376" y="1048512"/>
                  </a:moveTo>
                  <a:lnTo>
                    <a:pt x="115824" y="1048512"/>
                  </a:lnTo>
                  <a:lnTo>
                    <a:pt x="70723" y="1039415"/>
                  </a:lnTo>
                  <a:lnTo>
                    <a:pt x="33909" y="1014603"/>
                  </a:lnTo>
                  <a:lnTo>
                    <a:pt x="9096" y="977788"/>
                  </a:lnTo>
                  <a:lnTo>
                    <a:pt x="0" y="932688"/>
                  </a:lnTo>
                  <a:lnTo>
                    <a:pt x="0" y="115824"/>
                  </a:lnTo>
                  <a:lnTo>
                    <a:pt x="9096" y="70723"/>
                  </a:lnTo>
                  <a:lnTo>
                    <a:pt x="33909" y="33909"/>
                  </a:lnTo>
                  <a:lnTo>
                    <a:pt x="70723" y="9096"/>
                  </a:lnTo>
                  <a:lnTo>
                    <a:pt x="115824" y="0"/>
                  </a:lnTo>
                  <a:lnTo>
                    <a:pt x="1103376" y="0"/>
                  </a:lnTo>
                  <a:lnTo>
                    <a:pt x="1148476" y="9096"/>
                  </a:lnTo>
                  <a:lnTo>
                    <a:pt x="1155330" y="13716"/>
                  </a:lnTo>
                  <a:lnTo>
                    <a:pt x="115824" y="13716"/>
                  </a:lnTo>
                  <a:lnTo>
                    <a:pt x="76080" y="21740"/>
                  </a:lnTo>
                  <a:lnTo>
                    <a:pt x="43624" y="43624"/>
                  </a:lnTo>
                  <a:lnTo>
                    <a:pt x="21740" y="76080"/>
                  </a:lnTo>
                  <a:lnTo>
                    <a:pt x="13716" y="115824"/>
                  </a:lnTo>
                  <a:lnTo>
                    <a:pt x="13716" y="932688"/>
                  </a:lnTo>
                  <a:lnTo>
                    <a:pt x="21740" y="972431"/>
                  </a:lnTo>
                  <a:lnTo>
                    <a:pt x="43624" y="1004887"/>
                  </a:lnTo>
                  <a:lnTo>
                    <a:pt x="76080" y="1026771"/>
                  </a:lnTo>
                  <a:lnTo>
                    <a:pt x="115824" y="1034796"/>
                  </a:lnTo>
                  <a:lnTo>
                    <a:pt x="1155330" y="1034796"/>
                  </a:lnTo>
                  <a:lnTo>
                    <a:pt x="1148476" y="1039415"/>
                  </a:lnTo>
                  <a:lnTo>
                    <a:pt x="1103376" y="1048512"/>
                  </a:lnTo>
                  <a:close/>
                </a:path>
                <a:path w="1219200" h="1049020">
                  <a:moveTo>
                    <a:pt x="1155330" y="1034796"/>
                  </a:moveTo>
                  <a:lnTo>
                    <a:pt x="1103376" y="1034796"/>
                  </a:lnTo>
                  <a:lnTo>
                    <a:pt x="1143119" y="1026771"/>
                  </a:lnTo>
                  <a:lnTo>
                    <a:pt x="1175575" y="1004887"/>
                  </a:lnTo>
                  <a:lnTo>
                    <a:pt x="1197459" y="972431"/>
                  </a:lnTo>
                  <a:lnTo>
                    <a:pt x="1205484" y="932688"/>
                  </a:lnTo>
                  <a:lnTo>
                    <a:pt x="1205484" y="115824"/>
                  </a:lnTo>
                  <a:lnTo>
                    <a:pt x="1197459" y="76080"/>
                  </a:lnTo>
                  <a:lnTo>
                    <a:pt x="1175575" y="43624"/>
                  </a:lnTo>
                  <a:lnTo>
                    <a:pt x="1143119" y="21740"/>
                  </a:lnTo>
                  <a:lnTo>
                    <a:pt x="1103376" y="13716"/>
                  </a:lnTo>
                  <a:lnTo>
                    <a:pt x="1155330" y="13716"/>
                  </a:lnTo>
                  <a:lnTo>
                    <a:pt x="1185291" y="33909"/>
                  </a:lnTo>
                  <a:lnTo>
                    <a:pt x="1210103" y="70723"/>
                  </a:lnTo>
                  <a:lnTo>
                    <a:pt x="1219200" y="115824"/>
                  </a:lnTo>
                  <a:lnTo>
                    <a:pt x="1219200" y="932688"/>
                  </a:lnTo>
                  <a:lnTo>
                    <a:pt x="1210103" y="977788"/>
                  </a:lnTo>
                  <a:lnTo>
                    <a:pt x="1185291" y="1014603"/>
                  </a:lnTo>
                  <a:lnTo>
                    <a:pt x="1155330" y="1034796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2192527" y="1869570"/>
            <a:ext cx="1108075" cy="98679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65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r>
              <a:rPr dirty="0" sz="65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1A1A1A"/>
                </a:solidFill>
                <a:latin typeface="Arial MT"/>
                <a:cs typeface="Arial MT"/>
              </a:rPr>
              <a:t>cycle</a:t>
            </a:r>
            <a:r>
              <a:rPr dirty="0" sz="65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1A1A1A"/>
                </a:solidFill>
                <a:latin typeface="Arial MT"/>
                <a:cs typeface="Arial MT"/>
              </a:rPr>
              <a:t>time</a:t>
            </a:r>
            <a:endParaRPr sz="650">
              <a:latin typeface="Arial MT"/>
              <a:cs typeface="Arial MT"/>
            </a:endParaRPr>
          </a:p>
          <a:p>
            <a:pPr marL="44450" marR="10795" indent="-34290">
              <a:lnSpc>
                <a:spcPts val="610"/>
              </a:lnSpc>
              <a:spcBef>
                <a:spcPts val="280"/>
              </a:spcBef>
              <a:buSzPct val="81818"/>
              <a:buChar char="•"/>
              <a:tabLst>
                <a:tab pos="44450" algn="l"/>
              </a:tabLst>
            </a:pP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Access</a:t>
            </a:r>
            <a:r>
              <a:rPr dirty="0" sz="55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time</a:t>
            </a:r>
            <a:r>
              <a:rPr dirty="0" sz="550" spc="9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plus</a:t>
            </a:r>
            <a:r>
              <a:rPr dirty="0" sz="550" spc="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any</a:t>
            </a:r>
            <a:r>
              <a:rPr dirty="0" sz="550" spc="9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1A1A1A"/>
                </a:solidFill>
                <a:latin typeface="Arial MT"/>
                <a:cs typeface="Arial MT"/>
              </a:rPr>
              <a:t>additional</a:t>
            </a:r>
            <a:r>
              <a:rPr dirty="0" sz="5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 spc="10">
                <a:solidFill>
                  <a:srgbClr val="1A1A1A"/>
                </a:solidFill>
                <a:latin typeface="Arial MT"/>
                <a:cs typeface="Arial MT"/>
              </a:rPr>
              <a:t>time</a:t>
            </a:r>
            <a:r>
              <a:rPr dirty="0" sz="55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 spc="10">
                <a:solidFill>
                  <a:srgbClr val="1A1A1A"/>
                </a:solidFill>
                <a:latin typeface="Arial MT"/>
                <a:cs typeface="Arial MT"/>
              </a:rPr>
              <a:t>required</a:t>
            </a:r>
            <a:r>
              <a:rPr dirty="0" sz="55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 spc="10">
                <a:solidFill>
                  <a:srgbClr val="1A1A1A"/>
                </a:solidFill>
                <a:latin typeface="Arial MT"/>
                <a:cs typeface="Arial MT"/>
              </a:rPr>
              <a:t>before</a:t>
            </a:r>
            <a:r>
              <a:rPr dirty="0" sz="55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1A1A1A"/>
                </a:solidFill>
                <a:latin typeface="Arial MT"/>
                <a:cs typeface="Arial MT"/>
              </a:rPr>
              <a:t>second</a:t>
            </a:r>
            <a:r>
              <a:rPr dirty="0" sz="5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access</a:t>
            </a:r>
            <a:r>
              <a:rPr dirty="0" sz="550" spc="9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can</a:t>
            </a:r>
            <a:r>
              <a:rPr dirty="0" sz="550" spc="114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1A1A1A"/>
                </a:solidFill>
                <a:latin typeface="Arial MT"/>
                <a:cs typeface="Arial MT"/>
              </a:rPr>
              <a:t>commence</a:t>
            </a:r>
            <a:endParaRPr sz="550">
              <a:latin typeface="Arial MT"/>
              <a:cs typeface="Arial MT"/>
            </a:endParaRPr>
          </a:p>
          <a:p>
            <a:pPr marL="44450" marR="5080" indent="-34290">
              <a:lnSpc>
                <a:spcPct val="91800"/>
              </a:lnSpc>
              <a:spcBef>
                <a:spcPts val="95"/>
              </a:spcBef>
              <a:buSzPct val="81818"/>
              <a:buChar char="•"/>
              <a:tabLst>
                <a:tab pos="44450" algn="l"/>
              </a:tabLst>
            </a:pPr>
            <a:r>
              <a:rPr dirty="0" sz="550" spc="10">
                <a:solidFill>
                  <a:srgbClr val="1A1A1A"/>
                </a:solidFill>
                <a:latin typeface="Arial MT"/>
                <a:cs typeface="Arial MT"/>
              </a:rPr>
              <a:t>Additional</a:t>
            </a:r>
            <a:r>
              <a:rPr dirty="0" sz="55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 spc="10">
                <a:solidFill>
                  <a:srgbClr val="1A1A1A"/>
                </a:solidFill>
                <a:latin typeface="Arial MT"/>
                <a:cs typeface="Arial MT"/>
              </a:rPr>
              <a:t>time</a:t>
            </a:r>
            <a:r>
              <a:rPr dirty="0" sz="550" spc="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 spc="10">
                <a:solidFill>
                  <a:srgbClr val="1A1A1A"/>
                </a:solidFill>
                <a:latin typeface="Arial MT"/>
                <a:cs typeface="Arial MT"/>
              </a:rPr>
              <a:t>may</a:t>
            </a:r>
            <a:r>
              <a:rPr dirty="0" sz="55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 spc="10">
                <a:solidFill>
                  <a:srgbClr val="1A1A1A"/>
                </a:solidFill>
                <a:latin typeface="Arial MT"/>
                <a:cs typeface="Arial MT"/>
              </a:rPr>
              <a:t>be</a:t>
            </a:r>
            <a:r>
              <a:rPr dirty="0" sz="55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1A1A1A"/>
                </a:solidFill>
                <a:latin typeface="Arial MT"/>
                <a:cs typeface="Arial MT"/>
              </a:rPr>
              <a:t>required</a:t>
            </a:r>
            <a:r>
              <a:rPr dirty="0" sz="5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for</a:t>
            </a:r>
            <a:r>
              <a:rPr dirty="0" sz="55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transients</a:t>
            </a:r>
            <a:r>
              <a:rPr dirty="0" sz="550" spc="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550" spc="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die</a:t>
            </a:r>
            <a:r>
              <a:rPr dirty="0" sz="55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out</a:t>
            </a:r>
            <a:r>
              <a:rPr dirty="0" sz="55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 spc="-25">
                <a:solidFill>
                  <a:srgbClr val="1A1A1A"/>
                </a:solidFill>
                <a:latin typeface="Arial MT"/>
                <a:cs typeface="Arial MT"/>
              </a:rPr>
              <a:t>on</a:t>
            </a:r>
            <a:r>
              <a:rPr dirty="0" sz="5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signal</a:t>
            </a:r>
            <a:r>
              <a:rPr dirty="0" sz="55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lines</a:t>
            </a:r>
            <a:r>
              <a:rPr dirty="0" sz="55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or</a:t>
            </a:r>
            <a:r>
              <a:rPr dirty="0" sz="55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550" spc="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1A1A1A"/>
                </a:solidFill>
                <a:latin typeface="Arial MT"/>
                <a:cs typeface="Arial MT"/>
              </a:rPr>
              <a:t>regenerate</a:t>
            </a:r>
            <a:r>
              <a:rPr dirty="0" sz="5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dirty="0" sz="55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if</a:t>
            </a:r>
            <a:r>
              <a:rPr dirty="0" sz="55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they</a:t>
            </a:r>
            <a:r>
              <a:rPr dirty="0" sz="55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are</a:t>
            </a:r>
            <a:r>
              <a:rPr dirty="0" sz="55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1A1A1A"/>
                </a:solidFill>
                <a:latin typeface="Arial MT"/>
                <a:cs typeface="Arial MT"/>
              </a:rPr>
              <a:t>read</a:t>
            </a:r>
            <a:r>
              <a:rPr dirty="0" sz="5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1A1A1A"/>
                </a:solidFill>
                <a:latin typeface="Arial MT"/>
                <a:cs typeface="Arial MT"/>
              </a:rPr>
              <a:t>destructively</a:t>
            </a:r>
            <a:endParaRPr sz="550">
              <a:latin typeface="Arial MT"/>
              <a:cs typeface="Arial MT"/>
            </a:endParaRPr>
          </a:p>
          <a:p>
            <a:pPr marL="44450" marR="154305" indent="-34290">
              <a:lnSpc>
                <a:spcPts val="600"/>
              </a:lnSpc>
              <a:spcBef>
                <a:spcPts val="130"/>
              </a:spcBef>
              <a:buSzPct val="81818"/>
              <a:buChar char="•"/>
              <a:tabLst>
                <a:tab pos="44450" algn="l"/>
              </a:tabLst>
            </a:pPr>
            <a:r>
              <a:rPr dirty="0" sz="550" spc="10">
                <a:solidFill>
                  <a:srgbClr val="1A1A1A"/>
                </a:solidFill>
                <a:latin typeface="Arial MT"/>
                <a:cs typeface="Arial MT"/>
              </a:rPr>
              <a:t>Concerned</a:t>
            </a:r>
            <a:r>
              <a:rPr dirty="0" sz="55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 spc="10">
                <a:solidFill>
                  <a:srgbClr val="1A1A1A"/>
                </a:solidFill>
                <a:latin typeface="Arial MT"/>
                <a:cs typeface="Arial MT"/>
              </a:rPr>
              <a:t>with</a:t>
            </a:r>
            <a:r>
              <a:rPr dirty="0" sz="55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 spc="1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55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1A1A1A"/>
                </a:solidFill>
                <a:latin typeface="Arial MT"/>
                <a:cs typeface="Arial MT"/>
              </a:rPr>
              <a:t>system</a:t>
            </a:r>
            <a:r>
              <a:rPr dirty="0" sz="55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bus,</a:t>
            </a:r>
            <a:r>
              <a:rPr dirty="0" sz="55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not</a:t>
            </a:r>
            <a:r>
              <a:rPr dirty="0" sz="55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55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1A1A1A"/>
                </a:solidFill>
                <a:latin typeface="Arial MT"/>
                <a:cs typeface="Arial MT"/>
              </a:rPr>
              <a:t>processor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3384803" y="1859279"/>
            <a:ext cx="1219200" cy="1035050"/>
            <a:chOff x="3384803" y="1859279"/>
            <a:chExt cx="1219200" cy="1035050"/>
          </a:xfrm>
        </p:grpSpPr>
        <p:sp>
          <p:nvSpPr>
            <p:cNvPr id="23" name="object 23" descr=""/>
            <p:cNvSpPr/>
            <p:nvPr/>
          </p:nvSpPr>
          <p:spPr>
            <a:xfrm>
              <a:off x="3392423" y="1865376"/>
              <a:ext cx="1205865" cy="1022985"/>
            </a:xfrm>
            <a:custGeom>
              <a:avLst/>
              <a:gdLst/>
              <a:ahLst/>
              <a:cxnLst/>
              <a:rect l="l" t="t" r="r" b="b"/>
              <a:pathLst>
                <a:path w="1205864" h="1022985">
                  <a:moveTo>
                    <a:pt x="1097279" y="1022604"/>
                  </a:moveTo>
                  <a:lnTo>
                    <a:pt x="106679" y="1022604"/>
                  </a:lnTo>
                  <a:lnTo>
                    <a:pt x="65579" y="1014055"/>
                  </a:lnTo>
                  <a:lnTo>
                    <a:pt x="31622" y="990790"/>
                  </a:lnTo>
                  <a:lnTo>
                    <a:pt x="8524" y="956381"/>
                  </a:lnTo>
                  <a:lnTo>
                    <a:pt x="0" y="914400"/>
                  </a:lnTo>
                  <a:lnTo>
                    <a:pt x="0" y="108204"/>
                  </a:lnTo>
                  <a:lnTo>
                    <a:pt x="8524" y="66222"/>
                  </a:lnTo>
                  <a:lnTo>
                    <a:pt x="31622" y="31813"/>
                  </a:lnTo>
                  <a:lnTo>
                    <a:pt x="65579" y="8548"/>
                  </a:lnTo>
                  <a:lnTo>
                    <a:pt x="106679" y="0"/>
                  </a:lnTo>
                  <a:lnTo>
                    <a:pt x="1097279" y="0"/>
                  </a:lnTo>
                  <a:lnTo>
                    <a:pt x="1139261" y="8548"/>
                  </a:lnTo>
                  <a:lnTo>
                    <a:pt x="1173670" y="31813"/>
                  </a:lnTo>
                  <a:lnTo>
                    <a:pt x="1196935" y="66222"/>
                  </a:lnTo>
                  <a:lnTo>
                    <a:pt x="1205483" y="108204"/>
                  </a:lnTo>
                  <a:lnTo>
                    <a:pt x="1205483" y="914400"/>
                  </a:lnTo>
                  <a:lnTo>
                    <a:pt x="1196935" y="956381"/>
                  </a:lnTo>
                  <a:lnTo>
                    <a:pt x="1173670" y="990790"/>
                  </a:lnTo>
                  <a:lnTo>
                    <a:pt x="1139261" y="1014055"/>
                  </a:lnTo>
                  <a:lnTo>
                    <a:pt x="1097279" y="1022604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384803" y="1859279"/>
              <a:ext cx="1219200" cy="1035050"/>
            </a:xfrm>
            <a:custGeom>
              <a:avLst/>
              <a:gdLst/>
              <a:ahLst/>
              <a:cxnLst/>
              <a:rect l="l" t="t" r="r" b="b"/>
              <a:pathLst>
                <a:path w="1219200" h="1035050">
                  <a:moveTo>
                    <a:pt x="1104900" y="1034796"/>
                  </a:moveTo>
                  <a:lnTo>
                    <a:pt x="114300" y="1034796"/>
                  </a:lnTo>
                  <a:lnTo>
                    <a:pt x="70080" y="1025937"/>
                  </a:lnTo>
                  <a:lnTo>
                    <a:pt x="33718" y="1001649"/>
                  </a:lnTo>
                  <a:lnTo>
                    <a:pt x="9072" y="965358"/>
                  </a:lnTo>
                  <a:lnTo>
                    <a:pt x="0" y="920496"/>
                  </a:lnTo>
                  <a:lnTo>
                    <a:pt x="0" y="114300"/>
                  </a:lnTo>
                  <a:lnTo>
                    <a:pt x="9072" y="69437"/>
                  </a:lnTo>
                  <a:lnTo>
                    <a:pt x="33718" y="33147"/>
                  </a:lnTo>
                  <a:lnTo>
                    <a:pt x="70080" y="8858"/>
                  </a:lnTo>
                  <a:lnTo>
                    <a:pt x="114300" y="0"/>
                  </a:lnTo>
                  <a:lnTo>
                    <a:pt x="1104900" y="0"/>
                  </a:lnTo>
                  <a:lnTo>
                    <a:pt x="1149762" y="8858"/>
                  </a:lnTo>
                  <a:lnTo>
                    <a:pt x="1157020" y="13716"/>
                  </a:lnTo>
                  <a:lnTo>
                    <a:pt x="114300" y="13716"/>
                  </a:lnTo>
                  <a:lnTo>
                    <a:pt x="75676" y="21502"/>
                  </a:lnTo>
                  <a:lnTo>
                    <a:pt x="44196" y="42862"/>
                  </a:lnTo>
                  <a:lnTo>
                    <a:pt x="23002" y="74795"/>
                  </a:lnTo>
                  <a:lnTo>
                    <a:pt x="15240" y="114300"/>
                  </a:lnTo>
                  <a:lnTo>
                    <a:pt x="15240" y="920496"/>
                  </a:lnTo>
                  <a:lnTo>
                    <a:pt x="23002" y="959358"/>
                  </a:lnTo>
                  <a:lnTo>
                    <a:pt x="44196" y="991362"/>
                  </a:lnTo>
                  <a:lnTo>
                    <a:pt x="75676" y="1013079"/>
                  </a:lnTo>
                  <a:lnTo>
                    <a:pt x="114300" y="1021080"/>
                  </a:lnTo>
                  <a:lnTo>
                    <a:pt x="1157020" y="1021080"/>
                  </a:lnTo>
                  <a:lnTo>
                    <a:pt x="1149762" y="1025937"/>
                  </a:lnTo>
                  <a:lnTo>
                    <a:pt x="1104900" y="1034796"/>
                  </a:lnTo>
                  <a:close/>
                </a:path>
                <a:path w="1219200" h="1035050">
                  <a:moveTo>
                    <a:pt x="1157020" y="1021080"/>
                  </a:moveTo>
                  <a:lnTo>
                    <a:pt x="1104900" y="1021080"/>
                  </a:lnTo>
                  <a:lnTo>
                    <a:pt x="1144404" y="1013079"/>
                  </a:lnTo>
                  <a:lnTo>
                    <a:pt x="1176337" y="991362"/>
                  </a:lnTo>
                  <a:lnTo>
                    <a:pt x="1197697" y="959358"/>
                  </a:lnTo>
                  <a:lnTo>
                    <a:pt x="1205484" y="920496"/>
                  </a:lnTo>
                  <a:lnTo>
                    <a:pt x="1205484" y="114300"/>
                  </a:lnTo>
                  <a:lnTo>
                    <a:pt x="1197697" y="74795"/>
                  </a:lnTo>
                  <a:lnTo>
                    <a:pt x="1176337" y="42862"/>
                  </a:lnTo>
                  <a:lnTo>
                    <a:pt x="1144404" y="21502"/>
                  </a:lnTo>
                  <a:lnTo>
                    <a:pt x="1104900" y="13716"/>
                  </a:lnTo>
                  <a:lnTo>
                    <a:pt x="1157020" y="13716"/>
                  </a:lnTo>
                  <a:lnTo>
                    <a:pt x="1186053" y="33147"/>
                  </a:lnTo>
                  <a:lnTo>
                    <a:pt x="1210341" y="69437"/>
                  </a:lnTo>
                  <a:lnTo>
                    <a:pt x="1219200" y="114300"/>
                  </a:lnTo>
                  <a:lnTo>
                    <a:pt x="1219200" y="920496"/>
                  </a:lnTo>
                  <a:lnTo>
                    <a:pt x="1210341" y="965358"/>
                  </a:lnTo>
                  <a:lnTo>
                    <a:pt x="1186053" y="1001649"/>
                  </a:lnTo>
                  <a:lnTo>
                    <a:pt x="1157020" y="102108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3436111" y="1859741"/>
            <a:ext cx="1045210" cy="53911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650">
                <a:solidFill>
                  <a:srgbClr val="1A1A1A"/>
                </a:solidFill>
                <a:latin typeface="Arial MT"/>
                <a:cs typeface="Arial MT"/>
              </a:rPr>
              <a:t>Transfer</a:t>
            </a:r>
            <a:r>
              <a:rPr dirty="0" sz="65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1A1A1A"/>
                </a:solidFill>
                <a:latin typeface="Arial MT"/>
                <a:cs typeface="Arial MT"/>
              </a:rPr>
              <a:t>rate</a:t>
            </a:r>
            <a:endParaRPr sz="650">
              <a:latin typeface="Arial MT"/>
              <a:cs typeface="Arial MT"/>
            </a:endParaRPr>
          </a:p>
          <a:p>
            <a:pPr marL="44450" marR="5080" indent="-32384">
              <a:lnSpc>
                <a:spcPts val="520"/>
              </a:lnSpc>
              <a:spcBef>
                <a:spcPts val="295"/>
              </a:spcBef>
              <a:buSzPct val="80000"/>
              <a:buChar char="•"/>
              <a:tabLst>
                <a:tab pos="45720" algn="l"/>
              </a:tabLst>
            </a:pP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5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rate</a:t>
            </a:r>
            <a:r>
              <a:rPr dirty="0" sz="5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at</a:t>
            </a:r>
            <a:r>
              <a:rPr dirty="0" sz="5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which</a:t>
            </a:r>
            <a:r>
              <a:rPr dirty="0" sz="5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data can</a:t>
            </a:r>
            <a:r>
              <a:rPr dirty="0" sz="5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 spc="-25">
                <a:solidFill>
                  <a:srgbClr val="1A1A1A"/>
                </a:solidFill>
                <a:latin typeface="Arial MT"/>
                <a:cs typeface="Arial MT"/>
              </a:rPr>
              <a:t>be</a:t>
            </a:r>
            <a:r>
              <a:rPr dirty="0" sz="50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 spc="500">
                <a:solidFill>
                  <a:srgbClr val="1A1A1A"/>
                </a:solidFill>
                <a:latin typeface="Arial MT"/>
                <a:cs typeface="Arial MT"/>
              </a:rPr>
              <a:t>	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transferred</a:t>
            </a:r>
            <a:r>
              <a:rPr dirty="0" sz="5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into or</a:t>
            </a:r>
            <a:r>
              <a:rPr dirty="0" sz="5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out</a:t>
            </a:r>
            <a:r>
              <a:rPr dirty="0" sz="5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of a</a:t>
            </a:r>
            <a:r>
              <a:rPr dirty="0" sz="5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 spc="-1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r>
              <a:rPr dirty="0" sz="50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 spc="500">
                <a:solidFill>
                  <a:srgbClr val="1A1A1A"/>
                </a:solidFill>
                <a:latin typeface="Arial MT"/>
                <a:cs typeface="Arial MT"/>
              </a:rPr>
              <a:t>	</a:t>
            </a:r>
            <a:r>
              <a:rPr dirty="0" sz="500" spc="-20">
                <a:solidFill>
                  <a:srgbClr val="1A1A1A"/>
                </a:solidFill>
                <a:latin typeface="Arial MT"/>
                <a:cs typeface="Arial MT"/>
              </a:rPr>
              <a:t>unit</a:t>
            </a:r>
            <a:endParaRPr sz="500">
              <a:latin typeface="Arial MT"/>
              <a:cs typeface="Arial MT"/>
            </a:endParaRPr>
          </a:p>
          <a:p>
            <a:pPr marL="44450" marR="77470" indent="-32384">
              <a:lnSpc>
                <a:spcPts val="520"/>
              </a:lnSpc>
              <a:spcBef>
                <a:spcPts val="80"/>
              </a:spcBef>
              <a:buSzPct val="80000"/>
              <a:buChar char="•"/>
              <a:tabLst>
                <a:tab pos="45720" algn="l"/>
              </a:tabLst>
            </a:pP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For random-access</a:t>
            </a:r>
            <a:r>
              <a:rPr dirty="0" sz="5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r>
              <a:rPr dirty="0" sz="5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it</a:t>
            </a:r>
            <a:r>
              <a:rPr dirty="0" sz="5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 spc="-25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50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 spc="500">
                <a:solidFill>
                  <a:srgbClr val="1A1A1A"/>
                </a:solidFill>
                <a:latin typeface="Arial MT"/>
                <a:cs typeface="Arial MT"/>
              </a:rPr>
              <a:t>	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equal</a:t>
            </a:r>
            <a:r>
              <a:rPr dirty="0" sz="5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5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1A1A1A"/>
                </a:solidFill>
                <a:latin typeface="Arial MT"/>
                <a:cs typeface="Arial MT"/>
              </a:rPr>
              <a:t>1/(cycle</a:t>
            </a:r>
            <a:r>
              <a:rPr dirty="0" sz="500" spc="-10">
                <a:solidFill>
                  <a:srgbClr val="1A1A1A"/>
                </a:solidFill>
                <a:latin typeface="Arial MT"/>
                <a:cs typeface="Arial MT"/>
              </a:rPr>
              <a:t> time)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5378196" y="364489"/>
            <a:ext cx="5125720" cy="3204210"/>
            <a:chOff x="5378196" y="364489"/>
            <a:chExt cx="5125720" cy="3204210"/>
          </a:xfrm>
        </p:grpSpPr>
        <p:sp>
          <p:nvSpPr>
            <p:cNvPr id="27" name="object 27" descr=""/>
            <p:cNvSpPr/>
            <p:nvPr/>
          </p:nvSpPr>
          <p:spPr>
            <a:xfrm>
              <a:off x="5378183" y="364489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10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381244" y="688847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6"/>
                  </a:moveTo>
                  <a:lnTo>
                    <a:pt x="0" y="36576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6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6913880" y="339191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5605271" y="835152"/>
            <a:ext cx="4871085" cy="2719070"/>
            <a:chOff x="5605271" y="835152"/>
            <a:chExt cx="4871085" cy="2719070"/>
          </a:xfrm>
        </p:grpSpPr>
        <p:pic>
          <p:nvPicPr>
            <p:cNvPr id="31" name="object 3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0952" y="3339084"/>
              <a:ext cx="1335023" cy="214883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5605259" y="835151"/>
              <a:ext cx="32384" cy="2223770"/>
            </a:xfrm>
            <a:custGeom>
              <a:avLst/>
              <a:gdLst/>
              <a:ahLst/>
              <a:cxnLst/>
              <a:rect l="l" t="t" r="r" b="b"/>
              <a:pathLst>
                <a:path w="32385" h="2223770">
                  <a:moveTo>
                    <a:pt x="32016" y="2189988"/>
                  </a:moveTo>
                  <a:lnTo>
                    <a:pt x="0" y="2189988"/>
                  </a:lnTo>
                  <a:lnTo>
                    <a:pt x="0" y="2223516"/>
                  </a:lnTo>
                  <a:lnTo>
                    <a:pt x="32016" y="2223516"/>
                  </a:lnTo>
                  <a:lnTo>
                    <a:pt x="32016" y="2189988"/>
                  </a:lnTo>
                  <a:close/>
                </a:path>
                <a:path w="32385" h="2223770">
                  <a:moveTo>
                    <a:pt x="32016" y="676656"/>
                  </a:moveTo>
                  <a:lnTo>
                    <a:pt x="0" y="676656"/>
                  </a:lnTo>
                  <a:lnTo>
                    <a:pt x="0" y="710184"/>
                  </a:lnTo>
                  <a:lnTo>
                    <a:pt x="32016" y="710184"/>
                  </a:lnTo>
                  <a:lnTo>
                    <a:pt x="32016" y="676656"/>
                  </a:lnTo>
                  <a:close/>
                </a:path>
                <a:path w="32385" h="2223770">
                  <a:moveTo>
                    <a:pt x="32016" y="0"/>
                  </a:moveTo>
                  <a:lnTo>
                    <a:pt x="0" y="0"/>
                  </a:lnTo>
                  <a:lnTo>
                    <a:pt x="0" y="33528"/>
                  </a:lnTo>
                  <a:lnTo>
                    <a:pt x="32016" y="33528"/>
                  </a:lnTo>
                  <a:lnTo>
                    <a:pt x="32016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5583392" y="452149"/>
            <a:ext cx="58293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5745005" y="772144"/>
            <a:ext cx="1419860" cy="1536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850" spc="-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most</a:t>
            </a:r>
            <a:r>
              <a:rPr dirty="0" sz="850" spc="-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A1A1A"/>
                </a:solidFill>
                <a:latin typeface="Arial MT"/>
                <a:cs typeface="Arial MT"/>
              </a:rPr>
              <a:t>common</a:t>
            </a:r>
            <a:r>
              <a:rPr dirty="0" sz="850" spc="-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A1A1A"/>
                </a:solidFill>
                <a:latin typeface="Arial MT"/>
                <a:cs typeface="Arial MT"/>
              </a:rPr>
              <a:t>forms</a:t>
            </a:r>
            <a:r>
              <a:rPr dirty="0" sz="850" spc="-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1A1A1A"/>
                </a:solidFill>
                <a:latin typeface="Arial MT"/>
                <a:cs typeface="Arial MT"/>
              </a:rPr>
              <a:t>are: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5796751" y="898359"/>
            <a:ext cx="1116965" cy="50419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42875" indent="-130175">
              <a:lnSpc>
                <a:spcPct val="100000"/>
              </a:lnSpc>
              <a:spcBef>
                <a:spcPts val="265"/>
              </a:spcBef>
              <a:buChar char="•"/>
              <a:tabLst>
                <a:tab pos="142875" algn="l"/>
              </a:tabLst>
            </a:pPr>
            <a:r>
              <a:rPr dirty="0" sz="650">
                <a:solidFill>
                  <a:srgbClr val="1A1A1A"/>
                </a:solidFill>
                <a:latin typeface="Arial MT"/>
                <a:cs typeface="Arial MT"/>
              </a:rPr>
              <a:t>Semiconductor</a:t>
            </a:r>
            <a:r>
              <a:rPr dirty="0" sz="650" spc="-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endParaRPr sz="650">
              <a:latin typeface="Arial MT"/>
              <a:cs typeface="Arial MT"/>
            </a:endParaRPr>
          </a:p>
          <a:p>
            <a:pPr marL="142875" indent="-130175">
              <a:lnSpc>
                <a:spcPct val="100000"/>
              </a:lnSpc>
              <a:spcBef>
                <a:spcPts val="170"/>
              </a:spcBef>
              <a:buChar char="•"/>
              <a:tabLst>
                <a:tab pos="142875" algn="l"/>
              </a:tabLst>
            </a:pPr>
            <a:r>
              <a:rPr dirty="0" sz="650">
                <a:solidFill>
                  <a:srgbClr val="1A1A1A"/>
                </a:solidFill>
                <a:latin typeface="Arial MT"/>
                <a:cs typeface="Arial MT"/>
              </a:rPr>
              <a:t>Magnetic surface</a:t>
            </a:r>
            <a:r>
              <a:rPr dirty="0" sz="650" spc="-10">
                <a:solidFill>
                  <a:srgbClr val="1A1A1A"/>
                </a:solidFill>
                <a:latin typeface="Arial MT"/>
                <a:cs typeface="Arial MT"/>
              </a:rPr>
              <a:t> memory</a:t>
            </a:r>
            <a:endParaRPr sz="650">
              <a:latin typeface="Arial MT"/>
              <a:cs typeface="Arial MT"/>
            </a:endParaRPr>
          </a:p>
          <a:p>
            <a:pPr marL="142875" indent="-130175">
              <a:lnSpc>
                <a:spcPct val="100000"/>
              </a:lnSpc>
              <a:spcBef>
                <a:spcPts val="155"/>
              </a:spcBef>
              <a:buChar char="•"/>
              <a:tabLst>
                <a:tab pos="142875" algn="l"/>
              </a:tabLst>
            </a:pPr>
            <a:r>
              <a:rPr dirty="0" sz="650" spc="-10">
                <a:solidFill>
                  <a:srgbClr val="1A1A1A"/>
                </a:solidFill>
                <a:latin typeface="Arial MT"/>
                <a:cs typeface="Arial MT"/>
              </a:rPr>
              <a:t>Optical</a:t>
            </a:r>
            <a:endParaRPr sz="650">
              <a:latin typeface="Arial MT"/>
              <a:cs typeface="Arial MT"/>
            </a:endParaRPr>
          </a:p>
          <a:p>
            <a:pPr marL="142875" indent="-130175">
              <a:lnSpc>
                <a:spcPct val="100000"/>
              </a:lnSpc>
              <a:spcBef>
                <a:spcPts val="155"/>
              </a:spcBef>
              <a:buChar char="•"/>
              <a:tabLst>
                <a:tab pos="142875" algn="l"/>
              </a:tabLst>
            </a:pPr>
            <a:r>
              <a:rPr dirty="0" sz="650" spc="-10">
                <a:solidFill>
                  <a:srgbClr val="1A1A1A"/>
                </a:solidFill>
                <a:latin typeface="Arial MT"/>
                <a:cs typeface="Arial MT"/>
              </a:rPr>
              <a:t>Magneto-optical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5745005" y="1447287"/>
            <a:ext cx="2946400" cy="1536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50" spc="-10">
                <a:solidFill>
                  <a:srgbClr val="1A1A1A"/>
                </a:solidFill>
                <a:latin typeface="Arial MT"/>
                <a:cs typeface="Arial MT"/>
              </a:rPr>
              <a:t>Several physical</a:t>
            </a:r>
            <a:r>
              <a:rPr dirty="0" sz="8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A1A1A"/>
                </a:solidFill>
                <a:latin typeface="Arial MT"/>
                <a:cs typeface="Arial MT"/>
              </a:rPr>
              <a:t>characteristics</a:t>
            </a:r>
            <a:r>
              <a:rPr dirty="0" sz="850" spc="-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8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dirty="0" sz="850" spc="-10">
                <a:solidFill>
                  <a:srgbClr val="1A1A1A"/>
                </a:solidFill>
                <a:latin typeface="Arial MT"/>
                <a:cs typeface="Arial MT"/>
              </a:rPr>
              <a:t> storage</a:t>
            </a:r>
            <a:r>
              <a:rPr dirty="0" sz="8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are</a:t>
            </a:r>
            <a:r>
              <a:rPr dirty="0" sz="8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A1A1A"/>
                </a:solidFill>
                <a:latin typeface="Arial MT"/>
                <a:cs typeface="Arial MT"/>
              </a:rPr>
              <a:t>important: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5796751" y="1574811"/>
            <a:ext cx="2949575" cy="1341755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42875" indent="-130175">
              <a:lnSpc>
                <a:spcPct val="100000"/>
              </a:lnSpc>
              <a:spcBef>
                <a:spcPts val="270"/>
              </a:spcBef>
              <a:buChar char="•"/>
              <a:tabLst>
                <a:tab pos="142875" algn="l"/>
              </a:tabLst>
            </a:pPr>
            <a:r>
              <a:rPr dirty="0" sz="650">
                <a:solidFill>
                  <a:srgbClr val="1A1A1A"/>
                </a:solidFill>
                <a:latin typeface="Arial MT"/>
                <a:cs typeface="Arial MT"/>
              </a:rPr>
              <a:t>Volatile</a:t>
            </a:r>
            <a:r>
              <a:rPr dirty="0" sz="650" spc="-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endParaRPr sz="650">
              <a:latin typeface="Arial MT"/>
              <a:cs typeface="Arial MT"/>
            </a:endParaRPr>
          </a:p>
          <a:p>
            <a:pPr lvl="1" marL="330835" indent="-104775">
              <a:lnSpc>
                <a:spcPct val="100000"/>
              </a:lnSpc>
              <a:spcBef>
                <a:spcPts val="145"/>
              </a:spcBef>
              <a:buChar char="–"/>
              <a:tabLst>
                <a:tab pos="330835" algn="l"/>
              </a:tabLst>
            </a:pP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Information</a:t>
            </a:r>
            <a:r>
              <a:rPr dirty="0" sz="5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decays</a:t>
            </a:r>
            <a:r>
              <a:rPr dirty="0" sz="55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naturally</a:t>
            </a:r>
            <a:r>
              <a:rPr dirty="0" sz="55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or</a:t>
            </a:r>
            <a:r>
              <a:rPr dirty="0" sz="55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55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lost</a:t>
            </a:r>
            <a:r>
              <a:rPr dirty="0" sz="55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when</a:t>
            </a:r>
            <a:r>
              <a:rPr dirty="0" sz="55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electrical</a:t>
            </a:r>
            <a:r>
              <a:rPr dirty="0" sz="550" spc="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power</a:t>
            </a:r>
            <a:r>
              <a:rPr dirty="0" sz="55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55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switched</a:t>
            </a:r>
            <a:r>
              <a:rPr dirty="0" sz="55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 spc="-25">
                <a:solidFill>
                  <a:srgbClr val="1A1A1A"/>
                </a:solidFill>
                <a:latin typeface="Arial MT"/>
                <a:cs typeface="Arial MT"/>
              </a:rPr>
              <a:t>off</a:t>
            </a:r>
            <a:endParaRPr sz="550">
              <a:latin typeface="Arial MT"/>
              <a:cs typeface="Arial MT"/>
            </a:endParaRPr>
          </a:p>
          <a:p>
            <a:pPr marL="142875" indent="-130175">
              <a:lnSpc>
                <a:spcPct val="100000"/>
              </a:lnSpc>
              <a:spcBef>
                <a:spcPts val="165"/>
              </a:spcBef>
              <a:buChar char="•"/>
              <a:tabLst>
                <a:tab pos="142875" algn="l"/>
              </a:tabLst>
            </a:pPr>
            <a:r>
              <a:rPr dirty="0" sz="650">
                <a:solidFill>
                  <a:srgbClr val="1A1A1A"/>
                </a:solidFill>
                <a:latin typeface="Arial MT"/>
                <a:cs typeface="Arial MT"/>
              </a:rPr>
              <a:t>Nonvolatile</a:t>
            </a:r>
            <a:r>
              <a:rPr dirty="0" sz="650" spc="-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endParaRPr sz="650">
              <a:latin typeface="Arial MT"/>
              <a:cs typeface="Arial MT"/>
            </a:endParaRPr>
          </a:p>
          <a:p>
            <a:pPr lvl="1" marL="330835" indent="-104775">
              <a:lnSpc>
                <a:spcPct val="100000"/>
              </a:lnSpc>
              <a:spcBef>
                <a:spcPts val="150"/>
              </a:spcBef>
              <a:buChar char="–"/>
              <a:tabLst>
                <a:tab pos="330835" algn="l"/>
              </a:tabLst>
            </a:pP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Once</a:t>
            </a:r>
            <a:r>
              <a:rPr dirty="0" sz="55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recorded,</a:t>
            </a:r>
            <a:r>
              <a:rPr dirty="0" sz="55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information</a:t>
            </a:r>
            <a:r>
              <a:rPr dirty="0" sz="55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remains</a:t>
            </a:r>
            <a:r>
              <a:rPr dirty="0" sz="55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without</a:t>
            </a:r>
            <a:r>
              <a:rPr dirty="0" sz="55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deterioration</a:t>
            </a:r>
            <a:r>
              <a:rPr dirty="0" sz="55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until</a:t>
            </a:r>
            <a:r>
              <a:rPr dirty="0" sz="550" spc="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deliberately</a:t>
            </a:r>
            <a:r>
              <a:rPr dirty="0" sz="55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1A1A1A"/>
                </a:solidFill>
                <a:latin typeface="Arial MT"/>
                <a:cs typeface="Arial MT"/>
              </a:rPr>
              <a:t>changed</a:t>
            </a:r>
            <a:endParaRPr sz="550">
              <a:latin typeface="Arial MT"/>
              <a:cs typeface="Arial MT"/>
            </a:endParaRPr>
          </a:p>
          <a:p>
            <a:pPr lvl="1" marL="330835" indent="-104775">
              <a:lnSpc>
                <a:spcPct val="100000"/>
              </a:lnSpc>
              <a:spcBef>
                <a:spcPts val="140"/>
              </a:spcBef>
              <a:buChar char="–"/>
              <a:tabLst>
                <a:tab pos="330835" algn="l"/>
              </a:tabLst>
            </a:pP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No</a:t>
            </a:r>
            <a:r>
              <a:rPr dirty="0" sz="55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electrical</a:t>
            </a:r>
            <a:r>
              <a:rPr dirty="0" sz="55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power</a:t>
            </a:r>
            <a:r>
              <a:rPr dirty="0" sz="550" spc="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55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needed</a:t>
            </a:r>
            <a:r>
              <a:rPr dirty="0" sz="55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retain </a:t>
            </a:r>
            <a:r>
              <a:rPr dirty="0" sz="550" spc="-10">
                <a:solidFill>
                  <a:srgbClr val="1A1A1A"/>
                </a:solidFill>
                <a:latin typeface="Arial MT"/>
                <a:cs typeface="Arial MT"/>
              </a:rPr>
              <a:t>information</a:t>
            </a:r>
            <a:endParaRPr sz="550">
              <a:latin typeface="Arial MT"/>
              <a:cs typeface="Arial MT"/>
            </a:endParaRPr>
          </a:p>
          <a:p>
            <a:pPr marL="142875" indent="-130175">
              <a:lnSpc>
                <a:spcPct val="100000"/>
              </a:lnSpc>
              <a:spcBef>
                <a:spcPts val="155"/>
              </a:spcBef>
              <a:buChar char="•"/>
              <a:tabLst>
                <a:tab pos="142875" algn="l"/>
              </a:tabLst>
            </a:pPr>
            <a:r>
              <a:rPr dirty="0" sz="650" spc="-10">
                <a:solidFill>
                  <a:srgbClr val="1A1A1A"/>
                </a:solidFill>
                <a:latin typeface="Arial MT"/>
                <a:cs typeface="Arial MT"/>
              </a:rPr>
              <a:t>Magnetic-</a:t>
            </a:r>
            <a:r>
              <a:rPr dirty="0" sz="650">
                <a:solidFill>
                  <a:srgbClr val="1A1A1A"/>
                </a:solidFill>
                <a:latin typeface="Arial MT"/>
                <a:cs typeface="Arial MT"/>
              </a:rPr>
              <a:t>surface</a:t>
            </a:r>
            <a:r>
              <a:rPr dirty="0" sz="65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1A1A1A"/>
                </a:solidFill>
                <a:latin typeface="Arial MT"/>
                <a:cs typeface="Arial MT"/>
              </a:rPr>
              <a:t>memories</a:t>
            </a:r>
            <a:endParaRPr sz="650">
              <a:latin typeface="Arial MT"/>
              <a:cs typeface="Arial MT"/>
            </a:endParaRPr>
          </a:p>
          <a:p>
            <a:pPr lvl="1" marL="330835" indent="-104775">
              <a:lnSpc>
                <a:spcPct val="100000"/>
              </a:lnSpc>
              <a:spcBef>
                <a:spcPts val="160"/>
              </a:spcBef>
              <a:buChar char="–"/>
              <a:tabLst>
                <a:tab pos="330835" algn="l"/>
              </a:tabLst>
            </a:pP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Are</a:t>
            </a:r>
            <a:r>
              <a:rPr dirty="0" sz="55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1A1A1A"/>
                </a:solidFill>
                <a:latin typeface="Arial MT"/>
                <a:cs typeface="Arial MT"/>
              </a:rPr>
              <a:t>nonvolatile</a:t>
            </a:r>
            <a:endParaRPr sz="550">
              <a:latin typeface="Arial MT"/>
              <a:cs typeface="Arial MT"/>
            </a:endParaRPr>
          </a:p>
          <a:p>
            <a:pPr marL="142875" indent="-130175">
              <a:lnSpc>
                <a:spcPct val="100000"/>
              </a:lnSpc>
              <a:spcBef>
                <a:spcPts val="150"/>
              </a:spcBef>
              <a:buChar char="•"/>
              <a:tabLst>
                <a:tab pos="142875" algn="l"/>
              </a:tabLst>
            </a:pPr>
            <a:r>
              <a:rPr dirty="0" sz="650">
                <a:solidFill>
                  <a:srgbClr val="1A1A1A"/>
                </a:solidFill>
                <a:latin typeface="Arial MT"/>
                <a:cs typeface="Arial MT"/>
              </a:rPr>
              <a:t>Semiconductor</a:t>
            </a:r>
            <a:r>
              <a:rPr dirty="0" sz="650" spc="-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endParaRPr sz="650">
              <a:latin typeface="Arial MT"/>
              <a:cs typeface="Arial MT"/>
            </a:endParaRPr>
          </a:p>
          <a:p>
            <a:pPr lvl="1" marL="330835" indent="-104775">
              <a:lnSpc>
                <a:spcPct val="100000"/>
              </a:lnSpc>
              <a:spcBef>
                <a:spcPts val="150"/>
              </a:spcBef>
              <a:buChar char="–"/>
              <a:tabLst>
                <a:tab pos="330835" algn="l"/>
              </a:tabLst>
            </a:pP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May</a:t>
            </a:r>
            <a:r>
              <a:rPr dirty="0" sz="55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be</a:t>
            </a:r>
            <a:r>
              <a:rPr dirty="0" sz="55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either</a:t>
            </a:r>
            <a:r>
              <a:rPr dirty="0" sz="55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volatile</a:t>
            </a:r>
            <a:r>
              <a:rPr dirty="0" sz="55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or </a:t>
            </a:r>
            <a:r>
              <a:rPr dirty="0" sz="550" spc="-10">
                <a:solidFill>
                  <a:srgbClr val="1A1A1A"/>
                </a:solidFill>
                <a:latin typeface="Arial MT"/>
                <a:cs typeface="Arial MT"/>
              </a:rPr>
              <a:t>nonvolatile</a:t>
            </a:r>
            <a:endParaRPr sz="550">
              <a:latin typeface="Arial MT"/>
              <a:cs typeface="Arial MT"/>
            </a:endParaRPr>
          </a:p>
          <a:p>
            <a:pPr marL="142875" indent="-130175">
              <a:lnSpc>
                <a:spcPct val="100000"/>
              </a:lnSpc>
              <a:spcBef>
                <a:spcPts val="165"/>
              </a:spcBef>
              <a:buChar char="•"/>
              <a:tabLst>
                <a:tab pos="142875" algn="l"/>
              </a:tabLst>
            </a:pPr>
            <a:r>
              <a:rPr dirty="0" sz="650">
                <a:solidFill>
                  <a:srgbClr val="1A1A1A"/>
                </a:solidFill>
                <a:latin typeface="Arial MT"/>
                <a:cs typeface="Arial MT"/>
              </a:rPr>
              <a:t>Nonerasable</a:t>
            </a:r>
            <a:r>
              <a:rPr dirty="0" sz="650" spc="-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endParaRPr sz="650">
              <a:latin typeface="Arial MT"/>
              <a:cs typeface="Arial MT"/>
            </a:endParaRPr>
          </a:p>
          <a:p>
            <a:pPr lvl="1" marL="330835" indent="-104775">
              <a:lnSpc>
                <a:spcPct val="100000"/>
              </a:lnSpc>
              <a:spcBef>
                <a:spcPts val="145"/>
              </a:spcBef>
              <a:buChar char="–"/>
              <a:tabLst>
                <a:tab pos="330835" algn="l"/>
              </a:tabLst>
            </a:pP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Cannot</a:t>
            </a:r>
            <a:r>
              <a:rPr dirty="0" sz="55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be</a:t>
            </a:r>
            <a:r>
              <a:rPr dirty="0" sz="55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altered,</a:t>
            </a:r>
            <a:r>
              <a:rPr dirty="0" sz="55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except</a:t>
            </a:r>
            <a:r>
              <a:rPr dirty="0" sz="550" spc="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by</a:t>
            </a:r>
            <a:r>
              <a:rPr dirty="0" sz="55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destroying</a:t>
            </a:r>
            <a:r>
              <a:rPr dirty="0" sz="55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55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storage</a:t>
            </a:r>
            <a:r>
              <a:rPr dirty="0" sz="55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1A1A1A"/>
                </a:solidFill>
                <a:latin typeface="Arial MT"/>
                <a:cs typeface="Arial MT"/>
              </a:rPr>
              <a:t>unit</a:t>
            </a:r>
            <a:endParaRPr sz="550">
              <a:latin typeface="Arial MT"/>
              <a:cs typeface="Arial MT"/>
            </a:endParaRPr>
          </a:p>
          <a:p>
            <a:pPr lvl="1" marL="330835" indent="-104775">
              <a:lnSpc>
                <a:spcPct val="100000"/>
              </a:lnSpc>
              <a:spcBef>
                <a:spcPts val="145"/>
              </a:spcBef>
              <a:buChar char="–"/>
              <a:tabLst>
                <a:tab pos="330835" algn="l"/>
              </a:tabLst>
            </a:pP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Semiconductor</a:t>
            </a:r>
            <a:r>
              <a:rPr dirty="0" sz="55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r>
              <a:rPr dirty="0" sz="5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55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this</a:t>
            </a:r>
            <a:r>
              <a:rPr dirty="0" sz="55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type</a:t>
            </a:r>
            <a:r>
              <a:rPr dirty="0" sz="55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550" spc="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known</a:t>
            </a:r>
            <a:r>
              <a:rPr dirty="0" sz="55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as</a:t>
            </a:r>
            <a:r>
              <a:rPr dirty="0" sz="550" spc="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read-only</a:t>
            </a:r>
            <a:r>
              <a:rPr dirty="0" sz="55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memory </a:t>
            </a:r>
            <a:r>
              <a:rPr dirty="0" sz="550" spc="-20">
                <a:solidFill>
                  <a:srgbClr val="1A1A1A"/>
                </a:solidFill>
                <a:latin typeface="Arial MT"/>
                <a:cs typeface="Arial MT"/>
              </a:rPr>
              <a:t>(ROM)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5745005" y="2933101"/>
            <a:ext cx="3164840" cy="30162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For</a:t>
            </a:r>
            <a:r>
              <a:rPr dirty="0" sz="850" spc="-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1A1A1A"/>
                </a:solidFill>
                <a:latin typeface="Arial MT"/>
                <a:cs typeface="Arial MT"/>
              </a:rPr>
              <a:t>random-</a:t>
            </a:r>
            <a:r>
              <a:rPr dirty="0" sz="850" spc="-10">
                <a:solidFill>
                  <a:srgbClr val="1A1A1A"/>
                </a:solidFill>
                <a:latin typeface="Arial MT"/>
                <a:cs typeface="Arial MT"/>
              </a:rPr>
              <a:t>access</a:t>
            </a:r>
            <a:r>
              <a:rPr dirty="0" sz="850" spc="-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r>
              <a:rPr dirty="0" sz="8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8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A1A1A"/>
                </a:solidFill>
                <a:latin typeface="Arial MT"/>
                <a:cs typeface="Arial MT"/>
              </a:rPr>
              <a:t>organization</a:t>
            </a:r>
            <a:r>
              <a:rPr dirty="0" sz="850" spc="-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8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dirty="0" sz="850" spc="-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key</a:t>
            </a:r>
            <a:r>
              <a:rPr dirty="0" sz="8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design</a:t>
            </a:r>
            <a:r>
              <a:rPr dirty="0" sz="850" spc="-20">
                <a:solidFill>
                  <a:srgbClr val="1A1A1A"/>
                </a:solidFill>
                <a:latin typeface="Arial MT"/>
                <a:cs typeface="Arial MT"/>
              </a:rPr>
              <a:t> issue</a:t>
            </a:r>
            <a:endParaRPr sz="850">
              <a:latin typeface="Arial MT"/>
              <a:cs typeface="Arial MT"/>
            </a:endParaRPr>
          </a:p>
          <a:p>
            <a:pPr marL="194310" indent="-130175">
              <a:lnSpc>
                <a:spcPct val="100000"/>
              </a:lnSpc>
              <a:spcBef>
                <a:spcPts val="165"/>
              </a:spcBef>
              <a:buChar char="•"/>
              <a:tabLst>
                <a:tab pos="194310" algn="l"/>
              </a:tabLst>
            </a:pPr>
            <a:r>
              <a:rPr dirty="0" sz="650">
                <a:solidFill>
                  <a:srgbClr val="1A1A1A"/>
                </a:solidFill>
                <a:latin typeface="Arial MT"/>
                <a:cs typeface="Arial MT"/>
              </a:rPr>
              <a:t>Organization</a:t>
            </a:r>
            <a:r>
              <a:rPr dirty="0" sz="65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1A1A1A"/>
                </a:solidFill>
                <a:latin typeface="Arial MT"/>
                <a:cs typeface="Arial MT"/>
              </a:rPr>
              <a:t>refers</a:t>
            </a:r>
            <a:r>
              <a:rPr dirty="0" sz="6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6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65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1A1A1A"/>
                </a:solidFill>
                <a:latin typeface="Arial MT"/>
                <a:cs typeface="Arial MT"/>
              </a:rPr>
              <a:t>physical arrangement</a:t>
            </a:r>
            <a:r>
              <a:rPr dirty="0" sz="6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6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1A1A1A"/>
                </a:solidFill>
                <a:latin typeface="Arial MT"/>
                <a:cs typeface="Arial MT"/>
              </a:rPr>
              <a:t>bits to</a:t>
            </a:r>
            <a:r>
              <a:rPr dirty="0" sz="6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1A1A1A"/>
                </a:solidFill>
                <a:latin typeface="Arial MT"/>
                <a:cs typeface="Arial MT"/>
              </a:rPr>
              <a:t>form</a:t>
            </a:r>
            <a:r>
              <a:rPr dirty="0" sz="6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1A1A1A"/>
                </a:solidFill>
                <a:latin typeface="Arial MT"/>
                <a:cs typeface="Arial MT"/>
              </a:rPr>
              <a:t>words</a:t>
            </a:r>
            <a:endParaRPr sz="650">
              <a:latin typeface="Arial MT"/>
              <a:cs typeface="Arial MT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188976" y="3991610"/>
            <a:ext cx="5125720" cy="3204210"/>
            <a:chOff x="188976" y="3991610"/>
            <a:chExt cx="5125720" cy="3204210"/>
          </a:xfrm>
        </p:grpSpPr>
        <p:sp>
          <p:nvSpPr>
            <p:cNvPr id="40" name="object 40" descr=""/>
            <p:cNvSpPr/>
            <p:nvPr/>
          </p:nvSpPr>
          <p:spPr>
            <a:xfrm>
              <a:off x="18896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604" y="0"/>
                  </a:lnTo>
                  <a:lnTo>
                    <a:pt x="5117604" y="7620"/>
                  </a:lnTo>
                  <a:lnTo>
                    <a:pt x="5117604" y="3196590"/>
                  </a:lnTo>
                  <a:lnTo>
                    <a:pt x="7632" y="3196590"/>
                  </a:lnTo>
                  <a:lnTo>
                    <a:pt x="7632" y="3197098"/>
                  </a:lnTo>
                  <a:lnTo>
                    <a:pt x="4584" y="3197098"/>
                  </a:lnTo>
                  <a:lnTo>
                    <a:pt x="4584" y="3196590"/>
                  </a:lnTo>
                  <a:lnTo>
                    <a:pt x="7632" y="3196590"/>
                  </a:lnTo>
                  <a:lnTo>
                    <a:pt x="7632" y="7620"/>
                  </a:lnTo>
                  <a:lnTo>
                    <a:pt x="5117604" y="7620"/>
                  </a:lnTo>
                  <a:lnTo>
                    <a:pt x="5117604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92024" y="4315968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172466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417576" y="4472940"/>
            <a:ext cx="4871085" cy="2707005"/>
            <a:chOff x="417576" y="4472940"/>
            <a:chExt cx="4871085" cy="2707005"/>
          </a:xfrm>
        </p:grpSpPr>
        <p:pic>
          <p:nvPicPr>
            <p:cNvPr id="44" name="object 4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51731" y="6966204"/>
              <a:ext cx="1336548" cy="213360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417576" y="4472940"/>
              <a:ext cx="40005" cy="1387475"/>
            </a:xfrm>
            <a:custGeom>
              <a:avLst/>
              <a:gdLst/>
              <a:ahLst/>
              <a:cxnLst/>
              <a:rect l="l" t="t" r="r" b="b"/>
              <a:pathLst>
                <a:path w="40004" h="1387475">
                  <a:moveTo>
                    <a:pt x="39624" y="1347216"/>
                  </a:moveTo>
                  <a:lnTo>
                    <a:pt x="0" y="1347216"/>
                  </a:lnTo>
                  <a:lnTo>
                    <a:pt x="0" y="1386852"/>
                  </a:lnTo>
                  <a:lnTo>
                    <a:pt x="39624" y="1386852"/>
                  </a:lnTo>
                  <a:lnTo>
                    <a:pt x="39624" y="1347216"/>
                  </a:lnTo>
                  <a:close/>
                </a:path>
                <a:path w="40004" h="1387475">
                  <a:moveTo>
                    <a:pt x="39624" y="566928"/>
                  </a:moveTo>
                  <a:lnTo>
                    <a:pt x="0" y="566928"/>
                  </a:lnTo>
                  <a:lnTo>
                    <a:pt x="0" y="606564"/>
                  </a:lnTo>
                  <a:lnTo>
                    <a:pt x="39624" y="606564"/>
                  </a:lnTo>
                  <a:lnTo>
                    <a:pt x="39624" y="566928"/>
                  </a:lnTo>
                  <a:close/>
                </a:path>
                <a:path w="40004" h="1387475">
                  <a:moveTo>
                    <a:pt x="39624" y="0"/>
                  </a:moveTo>
                  <a:lnTo>
                    <a:pt x="0" y="0"/>
                  </a:lnTo>
                  <a:lnTo>
                    <a:pt x="0" y="39636"/>
                  </a:lnTo>
                  <a:lnTo>
                    <a:pt x="39624" y="39636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394203" y="4079179"/>
            <a:ext cx="128460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 Hierarchy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555774" y="4397778"/>
            <a:ext cx="4229735" cy="16859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105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Design</a:t>
            </a:r>
            <a:r>
              <a:rPr dirty="0" sz="10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constraints</a:t>
            </a:r>
            <a:r>
              <a:rPr dirty="0" sz="10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on</a:t>
            </a:r>
            <a:r>
              <a:rPr dirty="0" sz="100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dirty="0" sz="10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computer’s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can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be</a:t>
            </a:r>
            <a:r>
              <a:rPr dirty="0" sz="10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summed</a:t>
            </a:r>
            <a:r>
              <a:rPr dirty="0" sz="10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up</a:t>
            </a:r>
            <a:r>
              <a:rPr dirty="0" sz="100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by</a:t>
            </a:r>
            <a:r>
              <a:rPr dirty="0" sz="10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three questions:</a:t>
            </a:r>
            <a:endParaRPr sz="1000">
              <a:latin typeface="Arial MT"/>
              <a:cs typeface="Arial MT"/>
            </a:endParaRPr>
          </a:p>
          <a:p>
            <a:pPr marL="196215" indent="-132080">
              <a:lnSpc>
                <a:spcPct val="100000"/>
              </a:lnSpc>
              <a:spcBef>
                <a:spcPts val="254"/>
              </a:spcBef>
              <a:buChar char="•"/>
              <a:tabLst>
                <a:tab pos="196215" algn="l"/>
              </a:tabLst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How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much, how fast, how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expensive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There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dirty="0" sz="1000" spc="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trade-off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among</a:t>
            </a:r>
            <a:r>
              <a:rPr dirty="0" sz="10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capacity,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access</a:t>
            </a:r>
            <a:r>
              <a:rPr dirty="0" sz="10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time,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dirty="0" sz="1000" spc="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cost</a:t>
            </a:r>
            <a:endParaRPr sz="1000">
              <a:latin typeface="Arial MT"/>
              <a:cs typeface="Arial MT"/>
            </a:endParaRPr>
          </a:p>
          <a:p>
            <a:pPr marL="196215" indent="-132080">
              <a:lnSpc>
                <a:spcPct val="100000"/>
              </a:lnSpc>
              <a:spcBef>
                <a:spcPts val="254"/>
              </a:spcBef>
              <a:buChar char="•"/>
              <a:tabLst>
                <a:tab pos="196215" algn="l"/>
              </a:tabLst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Faster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access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time, greater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cost per</a:t>
            </a:r>
            <a:r>
              <a:rPr dirty="0" sz="10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1A1A1A"/>
                </a:solidFill>
                <a:latin typeface="Arial MT"/>
                <a:cs typeface="Arial MT"/>
              </a:rPr>
              <a:t>bit</a:t>
            </a:r>
            <a:endParaRPr sz="1000">
              <a:latin typeface="Arial MT"/>
              <a:cs typeface="Arial MT"/>
            </a:endParaRPr>
          </a:p>
          <a:p>
            <a:pPr marL="196215" indent="-132080">
              <a:lnSpc>
                <a:spcPct val="100000"/>
              </a:lnSpc>
              <a:spcBef>
                <a:spcPts val="250"/>
              </a:spcBef>
              <a:buChar char="•"/>
              <a:tabLst>
                <a:tab pos="196215" algn="l"/>
              </a:tabLst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Greater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capacity, smaller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cost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per</a:t>
            </a:r>
            <a:r>
              <a:rPr dirty="0" sz="1000" spc="-25">
                <a:solidFill>
                  <a:srgbClr val="1A1A1A"/>
                </a:solidFill>
                <a:latin typeface="Arial MT"/>
                <a:cs typeface="Arial MT"/>
              </a:rPr>
              <a:t> bit</a:t>
            </a:r>
            <a:endParaRPr sz="1000">
              <a:latin typeface="Arial MT"/>
              <a:cs typeface="Arial MT"/>
            </a:endParaRPr>
          </a:p>
          <a:p>
            <a:pPr marL="196215" indent="-132080">
              <a:lnSpc>
                <a:spcPct val="100000"/>
              </a:lnSpc>
              <a:spcBef>
                <a:spcPts val="254"/>
              </a:spcBef>
              <a:buChar char="•"/>
              <a:tabLst>
                <a:tab pos="196215" algn="l"/>
              </a:tabLst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Greater</a:t>
            </a:r>
            <a:r>
              <a:rPr dirty="0" sz="10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capacity,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slower</a:t>
            </a:r>
            <a:r>
              <a:rPr dirty="0" sz="10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access</a:t>
            </a:r>
            <a:r>
              <a:rPr dirty="0" sz="10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time</a:t>
            </a:r>
            <a:endParaRPr sz="1000">
              <a:latin typeface="Arial MT"/>
              <a:cs typeface="Arial MT"/>
            </a:endParaRPr>
          </a:p>
          <a:p>
            <a:pPr marL="12700" marR="175895">
              <a:lnSpc>
                <a:spcPct val="102000"/>
              </a:lnSpc>
              <a:spcBef>
                <a:spcPts val="560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100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way</a:t>
            </a:r>
            <a:r>
              <a:rPr dirty="0" sz="10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out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dilemma</a:t>
            </a:r>
            <a:r>
              <a:rPr dirty="0" sz="10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not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10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rely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on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single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memory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component</a:t>
            </a:r>
            <a:r>
              <a:rPr dirty="0" sz="1000" spc="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or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technology,</a:t>
            </a:r>
            <a:r>
              <a:rPr dirty="0" sz="1000" spc="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but</a:t>
            </a:r>
            <a:r>
              <a:rPr dirty="0" sz="1000" spc="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employ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hierarchy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5378196" y="3991610"/>
            <a:ext cx="5125720" cy="3204210"/>
            <a:chOff x="5378196" y="3991610"/>
            <a:chExt cx="5125720" cy="3204210"/>
          </a:xfrm>
        </p:grpSpPr>
        <p:sp>
          <p:nvSpPr>
            <p:cNvPr id="49" name="object 49" descr=""/>
            <p:cNvSpPr/>
            <p:nvPr/>
          </p:nvSpPr>
          <p:spPr>
            <a:xfrm>
              <a:off x="537818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5381244" y="4315968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691388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6814942" y="4610502"/>
            <a:ext cx="3661410" cy="2569210"/>
            <a:chOff x="6814942" y="4610502"/>
            <a:chExt cx="3661410" cy="2569210"/>
          </a:xfrm>
        </p:grpSpPr>
        <p:pic>
          <p:nvPicPr>
            <p:cNvPr id="53" name="object 5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0951" y="6966204"/>
              <a:ext cx="1335023" cy="213360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14942" y="4610502"/>
              <a:ext cx="2310318" cy="2198861"/>
            </a:xfrm>
            <a:prstGeom prst="rect">
              <a:avLst/>
            </a:prstGeom>
          </p:spPr>
        </p:pic>
      </p:grpSp>
      <p:sp>
        <p:nvSpPr>
          <p:cNvPr id="55" name="object 55" descr=""/>
          <p:cNvSpPr txBox="1"/>
          <p:nvPr/>
        </p:nvSpPr>
        <p:spPr>
          <a:xfrm>
            <a:off x="5583392" y="4079179"/>
            <a:ext cx="200406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r>
              <a:rPr dirty="0" sz="12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Hierarchy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-</a:t>
            </a:r>
            <a:r>
              <a:rPr dirty="0" sz="12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Diagram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92023" y="688848"/>
            <a:ext cx="4777740" cy="36830"/>
          </a:xfrm>
          <a:custGeom>
            <a:avLst/>
            <a:gdLst/>
            <a:ahLst/>
            <a:cxnLst/>
            <a:rect l="l" t="t" r="r" b="b"/>
            <a:pathLst>
              <a:path w="4777740" h="36829">
                <a:moveTo>
                  <a:pt x="4777740" y="36576"/>
                </a:moveTo>
                <a:lnTo>
                  <a:pt x="0" y="36576"/>
                </a:lnTo>
                <a:lnTo>
                  <a:pt x="0" y="0"/>
                </a:lnTo>
                <a:lnTo>
                  <a:pt x="4777740" y="0"/>
                </a:lnTo>
                <a:lnTo>
                  <a:pt x="4777740" y="36576"/>
                </a:lnTo>
                <a:close/>
              </a:path>
            </a:pathLst>
          </a:custGeom>
          <a:solidFill>
            <a:srgbClr val="9090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724660" y="339191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1732" y="3339084"/>
            <a:ext cx="1336548" cy="214883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94203" y="452149"/>
            <a:ext cx="141351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Locality</a:t>
            </a:r>
            <a:r>
              <a:rPr dirty="0" sz="12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of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reference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5940" y="762257"/>
            <a:ext cx="2145965" cy="259206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3355847" y="2742691"/>
            <a:ext cx="1396365" cy="259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 marR="30480">
              <a:lnSpc>
                <a:spcPct val="102000"/>
              </a:lnSpc>
              <a:spcBef>
                <a:spcPts val="105"/>
              </a:spcBef>
            </a:pPr>
            <a:r>
              <a:rPr dirty="0" sz="500">
                <a:latin typeface="Verdana"/>
                <a:cs typeface="Verdana"/>
              </a:rPr>
              <a:t>Abraham</a:t>
            </a:r>
            <a:r>
              <a:rPr dirty="0" sz="500" spc="20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Silberschatz,</a:t>
            </a:r>
            <a:r>
              <a:rPr dirty="0" sz="500" spc="35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Greg</a:t>
            </a:r>
            <a:r>
              <a:rPr dirty="0" sz="500" spc="35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Gagne,</a:t>
            </a:r>
            <a:r>
              <a:rPr dirty="0" sz="500" spc="35">
                <a:latin typeface="Verdana"/>
                <a:cs typeface="Verdana"/>
              </a:rPr>
              <a:t> </a:t>
            </a:r>
            <a:r>
              <a:rPr dirty="0" sz="500" spc="-25">
                <a:latin typeface="Verdana"/>
                <a:cs typeface="Verdana"/>
              </a:rPr>
              <a:t>and</a:t>
            </a:r>
            <a:r>
              <a:rPr dirty="0" sz="500" spc="500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Peter</a:t>
            </a:r>
            <a:r>
              <a:rPr dirty="0" sz="500" spc="20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Baer</a:t>
            </a:r>
            <a:r>
              <a:rPr dirty="0" sz="500" spc="25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Galvin,</a:t>
            </a:r>
            <a:r>
              <a:rPr dirty="0" sz="500" spc="15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"Operating</a:t>
            </a:r>
            <a:r>
              <a:rPr dirty="0" sz="500" spc="45">
                <a:latin typeface="Verdana"/>
                <a:cs typeface="Verdana"/>
              </a:rPr>
              <a:t> </a:t>
            </a:r>
            <a:r>
              <a:rPr dirty="0" sz="500" spc="-10">
                <a:latin typeface="Verdana"/>
                <a:cs typeface="Verdana"/>
              </a:rPr>
              <a:t>System</a:t>
            </a:r>
            <a:r>
              <a:rPr dirty="0" sz="500" spc="500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Concepts”,</a:t>
            </a:r>
            <a:r>
              <a:rPr dirty="0" sz="500" spc="25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9</a:t>
            </a:r>
            <a:r>
              <a:rPr dirty="0" baseline="23809" sz="525">
                <a:latin typeface="Verdana"/>
                <a:cs typeface="Verdana"/>
              </a:rPr>
              <a:t>th</a:t>
            </a:r>
            <a:r>
              <a:rPr dirty="0" baseline="23809" sz="525" spc="112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ed,</a:t>
            </a:r>
            <a:r>
              <a:rPr dirty="0" sz="500" spc="20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Chapter</a:t>
            </a:r>
            <a:r>
              <a:rPr dirty="0" sz="500" spc="30">
                <a:latin typeface="Verdana"/>
                <a:cs typeface="Verdana"/>
              </a:rPr>
              <a:t> </a:t>
            </a:r>
            <a:r>
              <a:rPr dirty="0" sz="500" spc="-50">
                <a:latin typeface="Verdana"/>
                <a:cs typeface="Verdana"/>
              </a:rPr>
              <a:t>9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5378196" y="364489"/>
            <a:ext cx="5125720" cy="3204210"/>
            <a:chOff x="5378196" y="364489"/>
            <a:chExt cx="5125720" cy="3204210"/>
          </a:xfrm>
        </p:grpSpPr>
        <p:sp>
          <p:nvSpPr>
            <p:cNvPr id="9" name="object 9" descr=""/>
            <p:cNvSpPr/>
            <p:nvPr/>
          </p:nvSpPr>
          <p:spPr>
            <a:xfrm>
              <a:off x="5378183" y="364489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10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382768" y="690371"/>
              <a:ext cx="4775200" cy="35560"/>
            </a:xfrm>
            <a:custGeom>
              <a:avLst/>
              <a:gdLst/>
              <a:ahLst/>
              <a:cxnLst/>
              <a:rect l="l" t="t" r="r" b="b"/>
              <a:pathLst>
                <a:path w="4775200" h="35559">
                  <a:moveTo>
                    <a:pt x="1188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118872" y="35052"/>
                  </a:lnTo>
                  <a:lnTo>
                    <a:pt x="118872" y="0"/>
                  </a:lnTo>
                  <a:close/>
                </a:path>
                <a:path w="4775200" h="35559">
                  <a:moveTo>
                    <a:pt x="4774692" y="0"/>
                  </a:moveTo>
                  <a:lnTo>
                    <a:pt x="2040636" y="0"/>
                  </a:lnTo>
                  <a:lnTo>
                    <a:pt x="2040636" y="35052"/>
                  </a:lnTo>
                  <a:lnTo>
                    <a:pt x="4774692" y="35052"/>
                  </a:lnTo>
                  <a:lnTo>
                    <a:pt x="4774692" y="0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6913880" y="339191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5500115" y="419100"/>
            <a:ext cx="4975860" cy="3134995"/>
            <a:chOff x="5500115" y="419100"/>
            <a:chExt cx="4975860" cy="3134995"/>
          </a:xfrm>
        </p:grpSpPr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0951" y="3339083"/>
              <a:ext cx="1335023" cy="214883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0115" y="419100"/>
              <a:ext cx="1924812" cy="344424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5583392" y="452149"/>
            <a:ext cx="174371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12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dirty="0" sz="12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Main</a:t>
            </a:r>
            <a:r>
              <a:rPr dirty="0" sz="12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10005" y="983310"/>
            <a:ext cx="2571795" cy="2219841"/>
          </a:xfrm>
          <a:prstGeom prst="rect">
            <a:avLst/>
          </a:prstGeom>
        </p:spPr>
      </p:pic>
      <p:grpSp>
        <p:nvGrpSpPr>
          <p:cNvPr id="17" name="object 17" descr=""/>
          <p:cNvGrpSpPr/>
          <p:nvPr/>
        </p:nvGrpSpPr>
        <p:grpSpPr>
          <a:xfrm>
            <a:off x="188976" y="3991610"/>
            <a:ext cx="5125720" cy="3204210"/>
            <a:chOff x="188976" y="3991610"/>
            <a:chExt cx="5125720" cy="3204210"/>
          </a:xfrm>
        </p:grpSpPr>
        <p:sp>
          <p:nvSpPr>
            <p:cNvPr id="18" name="object 18" descr=""/>
            <p:cNvSpPr/>
            <p:nvPr/>
          </p:nvSpPr>
          <p:spPr>
            <a:xfrm>
              <a:off x="18896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604" y="0"/>
                  </a:lnTo>
                  <a:lnTo>
                    <a:pt x="5117604" y="7620"/>
                  </a:lnTo>
                  <a:lnTo>
                    <a:pt x="5117604" y="3196590"/>
                  </a:lnTo>
                  <a:lnTo>
                    <a:pt x="7632" y="3196590"/>
                  </a:lnTo>
                  <a:lnTo>
                    <a:pt x="7632" y="3197098"/>
                  </a:lnTo>
                  <a:lnTo>
                    <a:pt x="4584" y="3197098"/>
                  </a:lnTo>
                  <a:lnTo>
                    <a:pt x="4584" y="3196590"/>
                  </a:lnTo>
                  <a:lnTo>
                    <a:pt x="7632" y="3196590"/>
                  </a:lnTo>
                  <a:lnTo>
                    <a:pt x="7632" y="7620"/>
                  </a:lnTo>
                  <a:lnTo>
                    <a:pt x="5117604" y="7620"/>
                  </a:lnTo>
                  <a:lnTo>
                    <a:pt x="5117604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92024" y="4315968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72466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950724" y="4483608"/>
            <a:ext cx="4337685" cy="2696210"/>
            <a:chOff x="950724" y="4483608"/>
            <a:chExt cx="4337685" cy="2696210"/>
          </a:xfrm>
        </p:grpSpPr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51731" y="6966204"/>
              <a:ext cx="1336548" cy="21336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0724" y="4483608"/>
              <a:ext cx="3426307" cy="2463245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394203" y="4079179"/>
            <a:ext cx="211201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Cache/Main Memory</a:t>
            </a:r>
            <a:r>
              <a:rPr dirty="0" sz="12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Structure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5378196" y="3991610"/>
            <a:ext cx="5125720" cy="3204210"/>
            <a:chOff x="5378196" y="3991610"/>
            <a:chExt cx="5125720" cy="3204210"/>
          </a:xfrm>
        </p:grpSpPr>
        <p:sp>
          <p:nvSpPr>
            <p:cNvPr id="26" name="object 26" descr=""/>
            <p:cNvSpPr/>
            <p:nvPr/>
          </p:nvSpPr>
          <p:spPr>
            <a:xfrm>
              <a:off x="537818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381244" y="4315968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691388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6810462" y="4489910"/>
            <a:ext cx="3665854" cy="2689860"/>
            <a:chOff x="6810462" y="4489910"/>
            <a:chExt cx="3665854" cy="2689860"/>
          </a:xfrm>
        </p:grpSpPr>
        <p:pic>
          <p:nvPicPr>
            <p:cNvPr id="30" name="object 3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40952" y="6966204"/>
              <a:ext cx="1335023" cy="213360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10462" y="4489910"/>
              <a:ext cx="2346413" cy="2385018"/>
            </a:xfrm>
            <a:prstGeom prst="rect">
              <a:avLst/>
            </a:prstGeom>
          </p:spPr>
        </p:pic>
      </p:grpSp>
      <p:sp>
        <p:nvSpPr>
          <p:cNvPr id="32" name="object 32" descr=""/>
          <p:cNvSpPr txBox="1"/>
          <p:nvPr/>
        </p:nvSpPr>
        <p:spPr>
          <a:xfrm>
            <a:off x="5583392" y="4079179"/>
            <a:ext cx="159956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12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Read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Operation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92023" y="688848"/>
            <a:ext cx="4777740" cy="36830"/>
          </a:xfrm>
          <a:custGeom>
            <a:avLst/>
            <a:gdLst/>
            <a:ahLst/>
            <a:cxnLst/>
            <a:rect l="l" t="t" r="r" b="b"/>
            <a:pathLst>
              <a:path w="4777740" h="36829">
                <a:moveTo>
                  <a:pt x="4777740" y="36576"/>
                </a:moveTo>
                <a:lnTo>
                  <a:pt x="0" y="36576"/>
                </a:lnTo>
                <a:lnTo>
                  <a:pt x="0" y="0"/>
                </a:lnTo>
                <a:lnTo>
                  <a:pt x="4777740" y="0"/>
                </a:lnTo>
                <a:lnTo>
                  <a:pt x="4777740" y="36576"/>
                </a:lnTo>
                <a:close/>
              </a:path>
            </a:pathLst>
          </a:custGeom>
          <a:solidFill>
            <a:srgbClr val="9090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724660" y="339191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1732" y="3339084"/>
            <a:ext cx="1336548" cy="214883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94203" y="452149"/>
            <a:ext cx="191833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Typical</a:t>
            </a:r>
            <a:r>
              <a:rPr dirty="0" sz="12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12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Organization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3474" y="1156648"/>
            <a:ext cx="2651511" cy="1796507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5378196" y="364489"/>
            <a:ext cx="5125720" cy="3204210"/>
            <a:chOff x="5378196" y="364489"/>
            <a:chExt cx="5125720" cy="3204210"/>
          </a:xfrm>
        </p:grpSpPr>
        <p:sp>
          <p:nvSpPr>
            <p:cNvPr id="8" name="object 8" descr=""/>
            <p:cNvSpPr/>
            <p:nvPr/>
          </p:nvSpPr>
          <p:spPr>
            <a:xfrm>
              <a:off x="5378183" y="364489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10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381244" y="688847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6"/>
                  </a:moveTo>
                  <a:lnTo>
                    <a:pt x="0" y="36576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6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6913880" y="339191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6121150" y="1104900"/>
            <a:ext cx="4354830" cy="2449195"/>
            <a:chOff x="6121150" y="1104900"/>
            <a:chExt cx="4354830" cy="2449195"/>
          </a:xfrm>
        </p:grpSpPr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0951" y="3339083"/>
              <a:ext cx="1335023" cy="214883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21150" y="1104900"/>
              <a:ext cx="3698074" cy="1840496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5583392" y="452149"/>
            <a:ext cx="184912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Elements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2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12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Design</a:t>
            </a:r>
            <a:endParaRPr sz="1200">
              <a:latin typeface="Arial MT"/>
              <a:cs typeface="Arial MT"/>
            </a:endParaRPr>
          </a:p>
        </p:txBody>
      </p:sp>
      <p:graphicFrame>
        <p:nvGraphicFramePr>
          <p:cNvPr id="15" name="object 15" descr=""/>
          <p:cNvGraphicFramePr>
            <a:graphicFrameLocks noGrp="1"/>
          </p:cNvGraphicFramePr>
          <p:nvPr/>
        </p:nvGraphicFramePr>
        <p:xfrm>
          <a:off x="188976" y="3991610"/>
          <a:ext cx="5201920" cy="3195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77105"/>
                <a:gridCol w="340995"/>
              </a:tblGrid>
              <a:tr h="338455">
                <a:tc>
                  <a:txBody>
                    <a:bodyPr/>
                    <a:lstStyle/>
                    <a:p>
                      <a:pPr marL="21399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12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Cache</a:t>
                      </a:r>
                      <a:r>
                        <a:rPr dirty="0" sz="1200" spc="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Addresses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9779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90909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857500">
                <a:tc gridSpan="2">
                  <a:txBody>
                    <a:bodyPr/>
                    <a:lstStyle/>
                    <a:p>
                      <a:pPr marL="37528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Virtual</a:t>
                      </a:r>
                      <a:r>
                        <a:rPr dirty="0" sz="1000" spc="7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memory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558800" marR="231775" indent="-132080">
                        <a:lnSpc>
                          <a:spcPct val="100000"/>
                        </a:lnSpc>
                        <a:spcBef>
                          <a:spcPts val="254"/>
                        </a:spcBef>
                        <a:buChar char="•"/>
                        <a:tabLst>
                          <a:tab pos="561340" algn="l"/>
                        </a:tabLst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Facility</a:t>
                      </a:r>
                      <a:r>
                        <a:rPr dirty="0" sz="10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that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allows</a:t>
                      </a:r>
                      <a:r>
                        <a:rPr dirty="0" sz="1000" spc="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programs to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address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memory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from</a:t>
                      </a:r>
                      <a:r>
                        <a:rPr dirty="0" sz="1000" spc="-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000" spc="-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logical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point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view,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without</a:t>
                      </a:r>
                      <a:r>
                        <a:rPr dirty="0" sz="1000" spc="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regard to</a:t>
                      </a:r>
                      <a:r>
                        <a:rPr dirty="0" sz="1000" spc="-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000" spc="-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amount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main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memory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physically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available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558800" marR="662305" indent="-132080">
                        <a:lnSpc>
                          <a:spcPct val="101000"/>
                        </a:lnSpc>
                        <a:spcBef>
                          <a:spcPts val="240"/>
                        </a:spcBef>
                        <a:buChar char="•"/>
                        <a:tabLst>
                          <a:tab pos="561340" algn="l"/>
                        </a:tabLst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When</a:t>
                      </a:r>
                      <a:r>
                        <a:rPr dirty="0" sz="1000" spc="-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used,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000" spc="-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address</a:t>
                      </a:r>
                      <a:r>
                        <a:rPr dirty="0" sz="1000" spc="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fields</a:t>
                      </a:r>
                      <a:r>
                        <a:rPr dirty="0" sz="1000" spc="-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machine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instructions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contain</a:t>
                      </a:r>
                      <a:r>
                        <a:rPr dirty="0" sz="1000" spc="-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virtual 	addresses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558800" marR="523875" indent="-132080">
                        <a:lnSpc>
                          <a:spcPct val="100499"/>
                        </a:lnSpc>
                        <a:spcBef>
                          <a:spcPts val="245"/>
                        </a:spcBef>
                        <a:buChar char="•"/>
                        <a:tabLst>
                          <a:tab pos="561340" algn="l"/>
                        </a:tabLst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000" spc="-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reads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0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writes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from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main</a:t>
                      </a:r>
                      <a:r>
                        <a:rPr dirty="0" sz="1000" spc="-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memory,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000" spc="-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hardware</a:t>
                      </a:r>
                      <a:r>
                        <a:rPr dirty="0" sz="1000" spc="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memory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management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unit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(MMU)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translates each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virtual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address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into</a:t>
                      </a:r>
                      <a:r>
                        <a:rPr dirty="0" sz="1000" spc="-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physical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address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main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memory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reproduced</a:t>
                      </a:r>
                      <a:r>
                        <a:rPr dirty="0" sz="350" spc="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based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on</a:t>
                      </a:r>
                      <a:r>
                        <a:rPr dirty="0" sz="350" spc="6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Computer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Organization</a:t>
                      </a:r>
                      <a:r>
                        <a:rPr dirty="0" sz="350" spc="26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350" spc="6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Architecture,</a:t>
                      </a:r>
                      <a:r>
                        <a:rPr dirty="0" sz="350" spc="8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9ed(by</a:t>
                      </a:r>
                      <a:r>
                        <a:rPr dirty="0" sz="350" spc="6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W.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Stallings)</a:t>
                      </a:r>
                      <a:endParaRPr sz="3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6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2013</a:t>
                      </a:r>
                      <a:r>
                        <a:rPr dirty="0" sz="350" spc="6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Computer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Organization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Architecture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800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16" name="object 1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51732" y="6966204"/>
            <a:ext cx="1336548" cy="213360"/>
          </a:xfrm>
          <a:prstGeom prst="rect">
            <a:avLst/>
          </a:prstGeom>
        </p:spPr>
      </p:pic>
      <p:sp>
        <p:nvSpPr>
          <p:cNvPr id="17" name="object 17" descr=""/>
          <p:cNvSpPr/>
          <p:nvPr/>
        </p:nvSpPr>
        <p:spPr>
          <a:xfrm>
            <a:off x="417576" y="4472940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39623" y="39624"/>
                </a:moveTo>
                <a:lnTo>
                  <a:pt x="0" y="39624"/>
                </a:lnTo>
                <a:lnTo>
                  <a:pt x="0" y="0"/>
                </a:lnTo>
                <a:lnTo>
                  <a:pt x="39623" y="0"/>
                </a:lnTo>
                <a:lnTo>
                  <a:pt x="39623" y="3962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 descr=""/>
          <p:cNvGrpSpPr/>
          <p:nvPr/>
        </p:nvGrpSpPr>
        <p:grpSpPr>
          <a:xfrm>
            <a:off x="5378196" y="3991610"/>
            <a:ext cx="5125720" cy="3204210"/>
            <a:chOff x="5378196" y="3991610"/>
            <a:chExt cx="5125720" cy="3204210"/>
          </a:xfrm>
        </p:grpSpPr>
        <p:sp>
          <p:nvSpPr>
            <p:cNvPr id="19" name="object 19" descr=""/>
            <p:cNvSpPr/>
            <p:nvPr/>
          </p:nvSpPr>
          <p:spPr>
            <a:xfrm>
              <a:off x="537818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381244" y="4315968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691388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6828432" y="4624203"/>
            <a:ext cx="3648075" cy="2555875"/>
            <a:chOff x="6828432" y="4624203"/>
            <a:chExt cx="3648075" cy="2555875"/>
          </a:xfrm>
        </p:grpSpPr>
        <p:pic>
          <p:nvPicPr>
            <p:cNvPr id="23" name="object 2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40952" y="6966204"/>
              <a:ext cx="1335023" cy="213360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28432" y="4624203"/>
              <a:ext cx="2242932" cy="2210376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5583392" y="4079179"/>
            <a:ext cx="199580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Logical</a:t>
            </a:r>
            <a:r>
              <a:rPr dirty="0" sz="12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dirty="0" sz="12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Physical</a:t>
            </a:r>
            <a:r>
              <a:rPr dirty="0" sz="12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Caches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92023" y="688848"/>
            <a:ext cx="4777740" cy="36830"/>
          </a:xfrm>
          <a:custGeom>
            <a:avLst/>
            <a:gdLst/>
            <a:ahLst/>
            <a:cxnLst/>
            <a:rect l="l" t="t" r="r" b="b"/>
            <a:pathLst>
              <a:path w="4777740" h="36829">
                <a:moveTo>
                  <a:pt x="4777740" y="36576"/>
                </a:moveTo>
                <a:lnTo>
                  <a:pt x="0" y="36576"/>
                </a:lnTo>
                <a:lnTo>
                  <a:pt x="0" y="0"/>
                </a:lnTo>
                <a:lnTo>
                  <a:pt x="4777740" y="0"/>
                </a:lnTo>
                <a:lnTo>
                  <a:pt x="4777740" y="36576"/>
                </a:lnTo>
                <a:close/>
              </a:path>
            </a:pathLst>
          </a:custGeom>
          <a:solidFill>
            <a:srgbClr val="9090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724660" y="339191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1732" y="3339084"/>
            <a:ext cx="1336548" cy="214883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94203" y="452149"/>
            <a:ext cx="125031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Mapping</a:t>
            </a:r>
            <a:r>
              <a:rPr dirty="0" sz="12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Function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810768" y="850391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5" h="40005">
                <a:moveTo>
                  <a:pt x="39623" y="39624"/>
                </a:moveTo>
                <a:lnTo>
                  <a:pt x="0" y="39624"/>
                </a:lnTo>
                <a:lnTo>
                  <a:pt x="0" y="0"/>
                </a:lnTo>
                <a:lnTo>
                  <a:pt x="39623" y="0"/>
                </a:lnTo>
                <a:lnTo>
                  <a:pt x="39623" y="3962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10768" y="1350263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5" h="40005">
                <a:moveTo>
                  <a:pt x="39623" y="39624"/>
                </a:moveTo>
                <a:lnTo>
                  <a:pt x="0" y="39624"/>
                </a:lnTo>
                <a:lnTo>
                  <a:pt x="0" y="0"/>
                </a:lnTo>
                <a:lnTo>
                  <a:pt x="39623" y="0"/>
                </a:lnTo>
                <a:lnTo>
                  <a:pt x="39623" y="3962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948965" y="773680"/>
            <a:ext cx="3257550" cy="682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100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Because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there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are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fewer</a:t>
            </a:r>
            <a:r>
              <a:rPr dirty="0" sz="1000" spc="9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lines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than</a:t>
            </a:r>
            <a:r>
              <a:rPr dirty="0" sz="100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main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memory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blocks,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an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algorithm</a:t>
            </a:r>
            <a:r>
              <a:rPr dirty="0" sz="1000" spc="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10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needed</a:t>
            </a:r>
            <a:r>
              <a:rPr dirty="0" sz="1000" spc="9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for</a:t>
            </a:r>
            <a:r>
              <a:rPr dirty="0" sz="10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mapping</a:t>
            </a:r>
            <a:r>
              <a:rPr dirty="0" sz="1000" spc="9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main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blocks</a:t>
            </a:r>
            <a:r>
              <a:rPr dirty="0" sz="10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into</a:t>
            </a:r>
            <a:r>
              <a:rPr dirty="0" sz="100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lines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Three</a:t>
            </a:r>
            <a:r>
              <a:rPr dirty="0" sz="10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techniques</a:t>
            </a:r>
            <a:r>
              <a:rPr dirty="0" sz="1000" spc="9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can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be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used: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795527" y="1584959"/>
            <a:ext cx="1256030" cy="1661160"/>
            <a:chOff x="795527" y="1584959"/>
            <a:chExt cx="1256030" cy="1661160"/>
          </a:xfrm>
        </p:grpSpPr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5527" y="1584959"/>
              <a:ext cx="1255776" cy="499872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008" y="1601724"/>
              <a:ext cx="1194816" cy="341375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819912" y="1597405"/>
              <a:ext cx="1207135" cy="450850"/>
            </a:xfrm>
            <a:custGeom>
              <a:avLst/>
              <a:gdLst/>
              <a:ahLst/>
              <a:cxnLst/>
              <a:rect l="l" t="t" r="r" b="b"/>
              <a:pathLst>
                <a:path w="1207135" h="450850">
                  <a:moveTo>
                    <a:pt x="1207008" y="1270"/>
                  </a:moveTo>
                  <a:lnTo>
                    <a:pt x="1206373" y="1270"/>
                  </a:lnTo>
                  <a:lnTo>
                    <a:pt x="1206373" y="0"/>
                  </a:lnTo>
                  <a:lnTo>
                    <a:pt x="1200912" y="0"/>
                  </a:lnTo>
                  <a:lnTo>
                    <a:pt x="1200912" y="3810"/>
                  </a:lnTo>
                  <a:lnTo>
                    <a:pt x="1200912" y="445770"/>
                  </a:lnTo>
                  <a:lnTo>
                    <a:pt x="6096" y="445770"/>
                  </a:lnTo>
                  <a:lnTo>
                    <a:pt x="6096" y="3810"/>
                  </a:lnTo>
                  <a:lnTo>
                    <a:pt x="1200912" y="3810"/>
                  </a:lnTo>
                  <a:lnTo>
                    <a:pt x="1200912" y="0"/>
                  </a:lnTo>
                  <a:lnTo>
                    <a:pt x="3048" y="0"/>
                  </a:lnTo>
                  <a:lnTo>
                    <a:pt x="635" y="0"/>
                  </a:lnTo>
                  <a:lnTo>
                    <a:pt x="635" y="1270"/>
                  </a:lnTo>
                  <a:lnTo>
                    <a:pt x="0" y="1270"/>
                  </a:lnTo>
                  <a:lnTo>
                    <a:pt x="0" y="3810"/>
                  </a:lnTo>
                  <a:lnTo>
                    <a:pt x="0" y="445770"/>
                  </a:lnTo>
                  <a:lnTo>
                    <a:pt x="0" y="449580"/>
                  </a:lnTo>
                  <a:lnTo>
                    <a:pt x="876" y="449580"/>
                  </a:lnTo>
                  <a:lnTo>
                    <a:pt x="876" y="450850"/>
                  </a:lnTo>
                  <a:lnTo>
                    <a:pt x="1206119" y="450850"/>
                  </a:lnTo>
                  <a:lnTo>
                    <a:pt x="1206119" y="449580"/>
                  </a:lnTo>
                  <a:lnTo>
                    <a:pt x="1207008" y="449580"/>
                  </a:lnTo>
                  <a:lnTo>
                    <a:pt x="1207008" y="445770"/>
                  </a:lnTo>
                  <a:lnTo>
                    <a:pt x="1207008" y="3810"/>
                  </a:lnTo>
                  <a:lnTo>
                    <a:pt x="1207008" y="127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0620" y="1687068"/>
              <a:ext cx="557783" cy="257556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824484" y="2084832"/>
              <a:ext cx="1198245" cy="1156970"/>
            </a:xfrm>
            <a:custGeom>
              <a:avLst/>
              <a:gdLst/>
              <a:ahLst/>
              <a:cxnLst/>
              <a:rect l="l" t="t" r="r" b="b"/>
              <a:pathLst>
                <a:path w="1198245" h="1156970">
                  <a:moveTo>
                    <a:pt x="1197864" y="1156716"/>
                  </a:moveTo>
                  <a:lnTo>
                    <a:pt x="0" y="1156716"/>
                  </a:lnTo>
                  <a:lnTo>
                    <a:pt x="0" y="0"/>
                  </a:lnTo>
                  <a:lnTo>
                    <a:pt x="1197864" y="0"/>
                  </a:lnTo>
                  <a:lnTo>
                    <a:pt x="1197864" y="1156716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4484" y="1947672"/>
              <a:ext cx="1199387" cy="140207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826008" y="2043430"/>
              <a:ext cx="1195070" cy="5080"/>
            </a:xfrm>
            <a:custGeom>
              <a:avLst/>
              <a:gdLst/>
              <a:ahLst/>
              <a:cxnLst/>
              <a:rect l="l" t="t" r="r" b="b"/>
              <a:pathLst>
                <a:path w="1195070" h="5080">
                  <a:moveTo>
                    <a:pt x="0" y="0"/>
                  </a:moveTo>
                  <a:lnTo>
                    <a:pt x="1194816" y="0"/>
                  </a:lnTo>
                  <a:lnTo>
                    <a:pt x="1194816" y="5080"/>
                  </a:lnTo>
                  <a:lnTo>
                    <a:pt x="0" y="50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3A3A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6008" y="1943100"/>
              <a:ext cx="1194816" cy="100329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819911" y="2084831"/>
              <a:ext cx="1207135" cy="1161415"/>
            </a:xfrm>
            <a:custGeom>
              <a:avLst/>
              <a:gdLst/>
              <a:ahLst/>
              <a:cxnLst/>
              <a:rect l="l" t="t" r="r" b="b"/>
              <a:pathLst>
                <a:path w="1207135" h="1161414">
                  <a:moveTo>
                    <a:pt x="1205484" y="1161287"/>
                  </a:moveTo>
                  <a:lnTo>
                    <a:pt x="1203960" y="1161287"/>
                  </a:lnTo>
                  <a:lnTo>
                    <a:pt x="1524" y="1161287"/>
                  </a:lnTo>
                  <a:lnTo>
                    <a:pt x="0" y="1159763"/>
                  </a:lnTo>
                  <a:lnTo>
                    <a:pt x="0" y="0"/>
                  </a:lnTo>
                  <a:lnTo>
                    <a:pt x="6096" y="0"/>
                  </a:lnTo>
                  <a:lnTo>
                    <a:pt x="6096" y="1156715"/>
                  </a:lnTo>
                  <a:lnTo>
                    <a:pt x="1200912" y="1156715"/>
                  </a:lnTo>
                  <a:lnTo>
                    <a:pt x="1200912" y="0"/>
                  </a:lnTo>
                  <a:lnTo>
                    <a:pt x="1207008" y="0"/>
                  </a:lnTo>
                  <a:lnTo>
                    <a:pt x="1207008" y="1159763"/>
                  </a:lnTo>
                  <a:lnTo>
                    <a:pt x="1205484" y="1161287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9912" y="2048255"/>
              <a:ext cx="6095" cy="36576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20824" y="2048255"/>
              <a:ext cx="6095" cy="36576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819899" y="1942845"/>
              <a:ext cx="1207135" cy="105410"/>
            </a:xfrm>
            <a:custGeom>
              <a:avLst/>
              <a:gdLst/>
              <a:ahLst/>
              <a:cxnLst/>
              <a:rect l="l" t="t" r="r" b="b"/>
              <a:pathLst>
                <a:path w="1207135" h="105410">
                  <a:moveTo>
                    <a:pt x="6096" y="0"/>
                  </a:moveTo>
                  <a:lnTo>
                    <a:pt x="698" y="0"/>
                  </a:lnTo>
                  <a:lnTo>
                    <a:pt x="698" y="3810"/>
                  </a:lnTo>
                  <a:lnTo>
                    <a:pt x="0" y="3810"/>
                  </a:lnTo>
                  <a:lnTo>
                    <a:pt x="0" y="104140"/>
                  </a:lnTo>
                  <a:lnTo>
                    <a:pt x="889" y="104140"/>
                  </a:lnTo>
                  <a:lnTo>
                    <a:pt x="889" y="105410"/>
                  </a:lnTo>
                  <a:lnTo>
                    <a:pt x="6096" y="105410"/>
                  </a:lnTo>
                  <a:lnTo>
                    <a:pt x="6096" y="104140"/>
                  </a:lnTo>
                  <a:lnTo>
                    <a:pt x="6096" y="3810"/>
                  </a:lnTo>
                  <a:lnTo>
                    <a:pt x="6096" y="0"/>
                  </a:lnTo>
                  <a:close/>
                </a:path>
                <a:path w="1207135" h="105410">
                  <a:moveTo>
                    <a:pt x="1207008" y="3810"/>
                  </a:moveTo>
                  <a:lnTo>
                    <a:pt x="1206309" y="3810"/>
                  </a:lnTo>
                  <a:lnTo>
                    <a:pt x="1206309" y="0"/>
                  </a:lnTo>
                  <a:lnTo>
                    <a:pt x="1200912" y="0"/>
                  </a:lnTo>
                  <a:lnTo>
                    <a:pt x="1200912" y="3810"/>
                  </a:lnTo>
                  <a:lnTo>
                    <a:pt x="1200912" y="104140"/>
                  </a:lnTo>
                  <a:lnTo>
                    <a:pt x="1200912" y="105410"/>
                  </a:lnTo>
                  <a:lnTo>
                    <a:pt x="1206119" y="105410"/>
                  </a:lnTo>
                  <a:lnTo>
                    <a:pt x="1206119" y="104140"/>
                  </a:lnTo>
                  <a:lnTo>
                    <a:pt x="1207008" y="104140"/>
                  </a:lnTo>
                  <a:lnTo>
                    <a:pt x="1207008" y="3810"/>
                  </a:lnTo>
                  <a:close/>
                </a:path>
              </a:pathLst>
            </a:custGeom>
            <a:solidFill>
              <a:srgbClr val="A3A3A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50620" y="1943100"/>
              <a:ext cx="557783" cy="6095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826008" y="1710915"/>
            <a:ext cx="1195070" cy="3702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dirty="0" sz="1100" spc="-10">
                <a:solidFill>
                  <a:srgbClr val="E9E9E9"/>
                </a:solidFill>
                <a:latin typeface="Arial MT"/>
                <a:cs typeface="Arial MT"/>
              </a:rPr>
              <a:t>Direct</a:t>
            </a:r>
            <a:endParaRPr sz="1100">
              <a:latin typeface="Arial MT"/>
              <a:cs typeface="Arial MT"/>
            </a:endParaRPr>
          </a:p>
          <a:p>
            <a:pPr marL="94615" indent="-62865">
              <a:lnSpc>
                <a:spcPct val="100000"/>
              </a:lnSpc>
              <a:spcBef>
                <a:spcPts val="595"/>
              </a:spcBef>
              <a:buChar char="•"/>
              <a:tabLst>
                <a:tab pos="94615" algn="l"/>
              </a:tabLst>
            </a:pPr>
            <a:r>
              <a:rPr dirty="0" sz="650">
                <a:latin typeface="Arial MT"/>
                <a:cs typeface="Arial MT"/>
              </a:rPr>
              <a:t>The</a:t>
            </a:r>
            <a:r>
              <a:rPr dirty="0" sz="650" spc="3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simplest</a:t>
            </a:r>
            <a:r>
              <a:rPr dirty="0" sz="650" spc="55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technique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45331" y="2105667"/>
            <a:ext cx="1033144" cy="30480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74930" marR="5080" indent="-62865">
              <a:lnSpc>
                <a:spcPts val="700"/>
              </a:lnSpc>
              <a:spcBef>
                <a:spcPts val="210"/>
              </a:spcBef>
              <a:buChar char="•"/>
              <a:tabLst>
                <a:tab pos="76200" algn="l"/>
              </a:tabLst>
            </a:pPr>
            <a:r>
              <a:rPr dirty="0" sz="650">
                <a:latin typeface="Arial MT"/>
                <a:cs typeface="Arial MT"/>
              </a:rPr>
              <a:t>Maps</a:t>
            </a:r>
            <a:r>
              <a:rPr dirty="0" sz="650" spc="2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each</a:t>
            </a:r>
            <a:r>
              <a:rPr dirty="0" sz="650" spc="3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block</a:t>
            </a:r>
            <a:r>
              <a:rPr dirty="0" sz="650" spc="4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of</a:t>
            </a:r>
            <a:r>
              <a:rPr dirty="0" sz="650" spc="35"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main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 spc="500">
                <a:latin typeface="Arial MT"/>
                <a:cs typeface="Arial MT"/>
              </a:rPr>
              <a:t>	</a:t>
            </a:r>
            <a:r>
              <a:rPr dirty="0" sz="650">
                <a:latin typeface="Arial MT"/>
                <a:cs typeface="Arial MT"/>
              </a:rPr>
              <a:t>memory</a:t>
            </a:r>
            <a:r>
              <a:rPr dirty="0" sz="650" spc="3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into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only</a:t>
            </a:r>
            <a:r>
              <a:rPr dirty="0" sz="650" spc="45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one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 spc="500">
                <a:latin typeface="Arial MT"/>
                <a:cs typeface="Arial MT"/>
              </a:rPr>
              <a:t>	</a:t>
            </a:r>
            <a:r>
              <a:rPr dirty="0" sz="650">
                <a:latin typeface="Arial MT"/>
                <a:cs typeface="Arial MT"/>
              </a:rPr>
              <a:t>possible</a:t>
            </a:r>
            <a:r>
              <a:rPr dirty="0" sz="650" spc="5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cache</a:t>
            </a:r>
            <a:r>
              <a:rPr dirty="0" sz="650" spc="55"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line</a:t>
            </a:r>
            <a:endParaRPr sz="650">
              <a:latin typeface="Arial MT"/>
              <a:cs typeface="Arial MT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2165604" y="1574291"/>
            <a:ext cx="1256030" cy="1684020"/>
            <a:chOff x="2165604" y="1574291"/>
            <a:chExt cx="1256030" cy="1684020"/>
          </a:xfrm>
        </p:grpSpPr>
        <p:pic>
          <p:nvPicPr>
            <p:cNvPr id="26" name="object 2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65604" y="1574291"/>
              <a:ext cx="1255775" cy="547116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94559" y="1589532"/>
              <a:ext cx="1197863" cy="365759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2189988" y="1585213"/>
              <a:ext cx="1207135" cy="499109"/>
            </a:xfrm>
            <a:custGeom>
              <a:avLst/>
              <a:gdLst/>
              <a:ahLst/>
              <a:cxnLst/>
              <a:rect l="l" t="t" r="r" b="b"/>
              <a:pathLst>
                <a:path w="1207135" h="499110">
                  <a:moveTo>
                    <a:pt x="1207008" y="0"/>
                  </a:moveTo>
                  <a:lnTo>
                    <a:pt x="1202436" y="0"/>
                  </a:lnTo>
                  <a:lnTo>
                    <a:pt x="1202436" y="3810"/>
                  </a:lnTo>
                  <a:lnTo>
                    <a:pt x="1202436" y="494030"/>
                  </a:lnTo>
                  <a:lnTo>
                    <a:pt x="4572" y="494030"/>
                  </a:lnTo>
                  <a:lnTo>
                    <a:pt x="4572" y="3810"/>
                  </a:lnTo>
                  <a:lnTo>
                    <a:pt x="1202436" y="3810"/>
                  </a:lnTo>
                  <a:lnTo>
                    <a:pt x="1202436" y="0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0" y="494030"/>
                  </a:lnTo>
                  <a:lnTo>
                    <a:pt x="0" y="497840"/>
                  </a:lnTo>
                  <a:lnTo>
                    <a:pt x="381" y="497840"/>
                  </a:lnTo>
                  <a:lnTo>
                    <a:pt x="381" y="499110"/>
                  </a:lnTo>
                  <a:lnTo>
                    <a:pt x="1206246" y="499110"/>
                  </a:lnTo>
                  <a:lnTo>
                    <a:pt x="1206246" y="497840"/>
                  </a:lnTo>
                  <a:lnTo>
                    <a:pt x="1207008" y="497840"/>
                  </a:lnTo>
                  <a:lnTo>
                    <a:pt x="1207008" y="494030"/>
                  </a:lnTo>
                  <a:lnTo>
                    <a:pt x="1207008" y="3810"/>
                  </a:lnTo>
                  <a:lnTo>
                    <a:pt x="1207008" y="1270"/>
                  </a:lnTo>
                  <a:lnTo>
                    <a:pt x="1207008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46959" y="1699260"/>
              <a:ext cx="905256" cy="257556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2194559" y="2119883"/>
              <a:ext cx="1198245" cy="1134110"/>
            </a:xfrm>
            <a:custGeom>
              <a:avLst/>
              <a:gdLst/>
              <a:ahLst/>
              <a:cxnLst/>
              <a:rect l="l" t="t" r="r" b="b"/>
              <a:pathLst>
                <a:path w="1198245" h="1134110">
                  <a:moveTo>
                    <a:pt x="1197864" y="1133856"/>
                  </a:moveTo>
                  <a:lnTo>
                    <a:pt x="0" y="1133856"/>
                  </a:lnTo>
                  <a:lnTo>
                    <a:pt x="0" y="0"/>
                  </a:lnTo>
                  <a:lnTo>
                    <a:pt x="1197864" y="0"/>
                  </a:lnTo>
                  <a:lnTo>
                    <a:pt x="1197864" y="1133856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94559" y="1959863"/>
              <a:ext cx="1199388" cy="161544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2194547" y="2078989"/>
              <a:ext cx="1198245" cy="6350"/>
            </a:xfrm>
            <a:custGeom>
              <a:avLst/>
              <a:gdLst/>
              <a:ahLst/>
              <a:cxnLst/>
              <a:rect l="l" t="t" r="r" b="b"/>
              <a:pathLst>
                <a:path w="1198245" h="6350">
                  <a:moveTo>
                    <a:pt x="1197876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1197876" y="6350"/>
                  </a:lnTo>
                  <a:lnTo>
                    <a:pt x="1197876" y="0"/>
                  </a:lnTo>
                  <a:close/>
                </a:path>
              </a:pathLst>
            </a:custGeom>
            <a:solidFill>
              <a:srgbClr val="A3A3A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194559" y="1955291"/>
              <a:ext cx="1197863" cy="50291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2189988" y="2121661"/>
              <a:ext cx="1207135" cy="1136650"/>
            </a:xfrm>
            <a:custGeom>
              <a:avLst/>
              <a:gdLst/>
              <a:ahLst/>
              <a:cxnLst/>
              <a:rect l="l" t="t" r="r" b="b"/>
              <a:pathLst>
                <a:path w="1207135" h="1136650">
                  <a:moveTo>
                    <a:pt x="1207008" y="0"/>
                  </a:moveTo>
                  <a:lnTo>
                    <a:pt x="1202436" y="0"/>
                  </a:lnTo>
                  <a:lnTo>
                    <a:pt x="1202436" y="1131570"/>
                  </a:lnTo>
                  <a:lnTo>
                    <a:pt x="4572" y="1131570"/>
                  </a:lnTo>
                  <a:lnTo>
                    <a:pt x="4572" y="0"/>
                  </a:lnTo>
                  <a:lnTo>
                    <a:pt x="0" y="0"/>
                  </a:lnTo>
                  <a:lnTo>
                    <a:pt x="0" y="1131570"/>
                  </a:lnTo>
                  <a:lnTo>
                    <a:pt x="0" y="1136650"/>
                  </a:lnTo>
                  <a:lnTo>
                    <a:pt x="1207008" y="1136650"/>
                  </a:lnTo>
                  <a:lnTo>
                    <a:pt x="1207008" y="1131570"/>
                  </a:lnTo>
                  <a:lnTo>
                    <a:pt x="1207008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189988" y="2084832"/>
              <a:ext cx="4571" cy="36575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392424" y="2084832"/>
              <a:ext cx="4572" cy="36575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2189988" y="1955291"/>
              <a:ext cx="1207135" cy="129539"/>
            </a:xfrm>
            <a:custGeom>
              <a:avLst/>
              <a:gdLst/>
              <a:ahLst/>
              <a:cxnLst/>
              <a:rect l="l" t="t" r="r" b="b"/>
              <a:pathLst>
                <a:path w="1207135" h="129539">
                  <a:moveTo>
                    <a:pt x="4572" y="0"/>
                  </a:moveTo>
                  <a:lnTo>
                    <a:pt x="0" y="0"/>
                  </a:lnTo>
                  <a:lnTo>
                    <a:pt x="0" y="128270"/>
                  </a:lnTo>
                  <a:lnTo>
                    <a:pt x="889" y="128270"/>
                  </a:lnTo>
                  <a:lnTo>
                    <a:pt x="889" y="129540"/>
                  </a:lnTo>
                  <a:lnTo>
                    <a:pt x="4572" y="129540"/>
                  </a:lnTo>
                  <a:lnTo>
                    <a:pt x="4572" y="128270"/>
                  </a:lnTo>
                  <a:lnTo>
                    <a:pt x="4572" y="0"/>
                  </a:lnTo>
                  <a:close/>
                </a:path>
                <a:path w="1207135" h="129539">
                  <a:moveTo>
                    <a:pt x="1207008" y="0"/>
                  </a:moveTo>
                  <a:lnTo>
                    <a:pt x="1202436" y="0"/>
                  </a:lnTo>
                  <a:lnTo>
                    <a:pt x="1202436" y="128270"/>
                  </a:lnTo>
                  <a:lnTo>
                    <a:pt x="1202436" y="129540"/>
                  </a:lnTo>
                  <a:lnTo>
                    <a:pt x="1205230" y="129540"/>
                  </a:lnTo>
                  <a:lnTo>
                    <a:pt x="1205230" y="128270"/>
                  </a:lnTo>
                  <a:lnTo>
                    <a:pt x="1207008" y="128270"/>
                  </a:lnTo>
                  <a:lnTo>
                    <a:pt x="1207008" y="0"/>
                  </a:lnTo>
                  <a:close/>
                </a:path>
              </a:pathLst>
            </a:custGeom>
            <a:solidFill>
              <a:srgbClr val="A3A3A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346959" y="1955291"/>
              <a:ext cx="905256" cy="6095"/>
            </a:xfrm>
            <a:prstGeom prst="rect">
              <a:avLst/>
            </a:prstGeom>
          </p:spPr>
        </p:pic>
      </p:grpSp>
      <p:sp>
        <p:nvSpPr>
          <p:cNvPr id="39" name="object 39" descr=""/>
          <p:cNvSpPr txBox="1"/>
          <p:nvPr/>
        </p:nvSpPr>
        <p:spPr>
          <a:xfrm>
            <a:off x="2194560" y="1723095"/>
            <a:ext cx="1198245" cy="3702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38760">
              <a:lnSpc>
                <a:spcPct val="100000"/>
              </a:lnSpc>
              <a:spcBef>
                <a:spcPts val="114"/>
              </a:spcBef>
            </a:pPr>
            <a:r>
              <a:rPr dirty="0" sz="1100" spc="-10">
                <a:solidFill>
                  <a:srgbClr val="E9E9E9"/>
                </a:solidFill>
                <a:latin typeface="Arial MT"/>
                <a:cs typeface="Arial MT"/>
              </a:rPr>
              <a:t>Associative</a:t>
            </a:r>
            <a:endParaRPr sz="1100">
              <a:latin typeface="Arial MT"/>
              <a:cs typeface="Arial MT"/>
            </a:endParaRPr>
          </a:p>
          <a:p>
            <a:pPr marL="95885" indent="-62865">
              <a:lnSpc>
                <a:spcPct val="100000"/>
              </a:lnSpc>
              <a:spcBef>
                <a:spcPts val="595"/>
              </a:spcBef>
              <a:buChar char="•"/>
              <a:tabLst>
                <a:tab pos="95885" algn="l"/>
              </a:tabLst>
            </a:pPr>
            <a:r>
              <a:rPr dirty="0" sz="650">
                <a:latin typeface="Arial MT"/>
                <a:cs typeface="Arial MT"/>
              </a:rPr>
              <a:t>Permits</a:t>
            </a:r>
            <a:r>
              <a:rPr dirty="0" sz="650" spc="4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each</a:t>
            </a:r>
            <a:r>
              <a:rPr dirty="0" sz="650" spc="4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main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memory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2279399" y="2053868"/>
            <a:ext cx="1040765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>
                <a:latin typeface="Arial MT"/>
                <a:cs typeface="Arial MT"/>
              </a:rPr>
              <a:t>block</a:t>
            </a:r>
            <a:r>
              <a:rPr dirty="0" sz="650" spc="3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to</a:t>
            </a:r>
            <a:r>
              <a:rPr dirty="0" sz="650" spc="2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be</a:t>
            </a:r>
            <a:r>
              <a:rPr dirty="0" sz="650" spc="4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loaded</a:t>
            </a:r>
            <a:r>
              <a:rPr dirty="0" sz="650" spc="2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into</a:t>
            </a:r>
            <a:r>
              <a:rPr dirty="0" sz="650" spc="45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any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2215390" y="2090690"/>
            <a:ext cx="1126490" cy="1101725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515"/>
              </a:spcBef>
            </a:pPr>
            <a:r>
              <a:rPr dirty="0" sz="650">
                <a:latin typeface="Arial MT"/>
                <a:cs typeface="Arial MT"/>
              </a:rPr>
              <a:t>line</a:t>
            </a:r>
            <a:r>
              <a:rPr dirty="0" sz="650" spc="1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of</a:t>
            </a:r>
            <a:r>
              <a:rPr dirty="0" sz="650" spc="3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the</a:t>
            </a:r>
            <a:r>
              <a:rPr dirty="0" sz="650" spc="2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cache</a:t>
            </a:r>
            <a:endParaRPr sz="650">
              <a:latin typeface="Arial MT"/>
              <a:cs typeface="Arial MT"/>
            </a:endParaRPr>
          </a:p>
          <a:p>
            <a:pPr marL="74930" marR="127000" indent="-62865">
              <a:lnSpc>
                <a:spcPct val="89700"/>
              </a:lnSpc>
              <a:spcBef>
                <a:spcPts val="500"/>
              </a:spcBef>
              <a:buChar char="•"/>
              <a:tabLst>
                <a:tab pos="76200" algn="l"/>
              </a:tabLst>
            </a:pPr>
            <a:r>
              <a:rPr dirty="0" sz="650">
                <a:latin typeface="Arial MT"/>
                <a:cs typeface="Arial MT"/>
              </a:rPr>
              <a:t>The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cache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control</a:t>
            </a:r>
            <a:r>
              <a:rPr dirty="0" sz="650" spc="55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logic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 spc="500">
                <a:latin typeface="Arial MT"/>
                <a:cs typeface="Arial MT"/>
              </a:rPr>
              <a:t>	</a:t>
            </a:r>
            <a:r>
              <a:rPr dirty="0" sz="650">
                <a:latin typeface="Arial MT"/>
                <a:cs typeface="Arial MT"/>
              </a:rPr>
              <a:t>interprets</a:t>
            </a:r>
            <a:r>
              <a:rPr dirty="0" sz="650" spc="4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a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memory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 spc="500">
                <a:latin typeface="Arial MT"/>
                <a:cs typeface="Arial MT"/>
              </a:rPr>
              <a:t>	</a:t>
            </a:r>
            <a:r>
              <a:rPr dirty="0" sz="650">
                <a:latin typeface="Arial MT"/>
                <a:cs typeface="Arial MT"/>
              </a:rPr>
              <a:t>address</a:t>
            </a:r>
            <a:r>
              <a:rPr dirty="0" sz="650" spc="3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simply</a:t>
            </a:r>
            <a:r>
              <a:rPr dirty="0" sz="650" spc="3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as</a:t>
            </a:r>
            <a:r>
              <a:rPr dirty="0" sz="650" spc="3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a</a:t>
            </a:r>
            <a:r>
              <a:rPr dirty="0" sz="650" spc="25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Tag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 spc="500">
                <a:latin typeface="Arial MT"/>
                <a:cs typeface="Arial MT"/>
              </a:rPr>
              <a:t>	</a:t>
            </a:r>
            <a:r>
              <a:rPr dirty="0" sz="650">
                <a:latin typeface="Arial MT"/>
                <a:cs typeface="Arial MT"/>
              </a:rPr>
              <a:t>and</a:t>
            </a:r>
            <a:r>
              <a:rPr dirty="0" sz="650" spc="2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a</a:t>
            </a:r>
            <a:r>
              <a:rPr dirty="0" sz="650" spc="4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Word</a:t>
            </a:r>
            <a:r>
              <a:rPr dirty="0" sz="650" spc="1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field</a:t>
            </a:r>
            <a:endParaRPr sz="650">
              <a:latin typeface="Arial MT"/>
              <a:cs typeface="Arial MT"/>
            </a:endParaRPr>
          </a:p>
          <a:p>
            <a:pPr marL="74930" marR="5080" indent="-62865">
              <a:lnSpc>
                <a:spcPts val="700"/>
              </a:lnSpc>
              <a:spcBef>
                <a:spcPts val="500"/>
              </a:spcBef>
              <a:buChar char="•"/>
              <a:tabLst>
                <a:tab pos="76200" algn="l"/>
              </a:tabLst>
            </a:pPr>
            <a:r>
              <a:rPr dirty="0" sz="650" spc="-30">
                <a:latin typeface="Arial MT"/>
                <a:cs typeface="Arial MT"/>
              </a:rPr>
              <a:t>To</a:t>
            </a:r>
            <a:r>
              <a:rPr dirty="0" sz="650" spc="3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determine</a:t>
            </a:r>
            <a:r>
              <a:rPr dirty="0" sz="650" spc="5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whether</a:t>
            </a:r>
            <a:r>
              <a:rPr dirty="0" sz="650" spc="45">
                <a:latin typeface="Arial MT"/>
                <a:cs typeface="Arial MT"/>
              </a:rPr>
              <a:t> </a:t>
            </a:r>
            <a:r>
              <a:rPr dirty="0" sz="650" spc="-50">
                <a:latin typeface="Arial MT"/>
                <a:cs typeface="Arial MT"/>
              </a:rPr>
              <a:t>a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 spc="500">
                <a:latin typeface="Arial MT"/>
                <a:cs typeface="Arial MT"/>
              </a:rPr>
              <a:t>	</a:t>
            </a:r>
            <a:r>
              <a:rPr dirty="0" sz="650">
                <a:latin typeface="Arial MT"/>
                <a:cs typeface="Arial MT"/>
              </a:rPr>
              <a:t>block</a:t>
            </a:r>
            <a:r>
              <a:rPr dirty="0" sz="650" spc="2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is</a:t>
            </a:r>
            <a:r>
              <a:rPr dirty="0" sz="650" spc="3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in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the</a:t>
            </a:r>
            <a:r>
              <a:rPr dirty="0" sz="650" spc="3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cache,</a:t>
            </a:r>
            <a:r>
              <a:rPr dirty="0" sz="650" spc="10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the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 spc="500">
                <a:latin typeface="Arial MT"/>
                <a:cs typeface="Arial MT"/>
              </a:rPr>
              <a:t>	</a:t>
            </a:r>
            <a:r>
              <a:rPr dirty="0" sz="650">
                <a:latin typeface="Arial MT"/>
                <a:cs typeface="Arial MT"/>
              </a:rPr>
              <a:t>cache</a:t>
            </a:r>
            <a:r>
              <a:rPr dirty="0" sz="650" spc="3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control</a:t>
            </a:r>
            <a:r>
              <a:rPr dirty="0" sz="650" spc="4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logic</a:t>
            </a:r>
            <a:r>
              <a:rPr dirty="0" sz="650" spc="45"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must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 spc="500">
                <a:latin typeface="Arial MT"/>
                <a:cs typeface="Arial MT"/>
              </a:rPr>
              <a:t>	</a:t>
            </a:r>
            <a:r>
              <a:rPr dirty="0" sz="650">
                <a:latin typeface="Arial MT"/>
                <a:cs typeface="Arial MT"/>
              </a:rPr>
              <a:t>simultaneously</a:t>
            </a:r>
            <a:r>
              <a:rPr dirty="0" sz="650" spc="10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examine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 spc="500">
                <a:latin typeface="Arial MT"/>
                <a:cs typeface="Arial MT"/>
              </a:rPr>
              <a:t>	</a:t>
            </a:r>
            <a:r>
              <a:rPr dirty="0" sz="650">
                <a:latin typeface="Arial MT"/>
                <a:cs typeface="Arial MT"/>
              </a:rPr>
              <a:t>every line’s Tag</a:t>
            </a:r>
            <a:r>
              <a:rPr dirty="0" sz="650" spc="1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for</a:t>
            </a:r>
            <a:r>
              <a:rPr dirty="0" sz="650" spc="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a</a:t>
            </a:r>
            <a:r>
              <a:rPr dirty="0" sz="650" spc="25"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match</a:t>
            </a:r>
            <a:endParaRPr sz="650">
              <a:latin typeface="Arial MT"/>
              <a:cs typeface="Arial MT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3537203" y="1546859"/>
            <a:ext cx="1256030" cy="548640"/>
            <a:chOff x="3537203" y="1546859"/>
            <a:chExt cx="1256030" cy="548640"/>
          </a:xfrm>
        </p:grpSpPr>
        <p:pic>
          <p:nvPicPr>
            <p:cNvPr id="43" name="object 4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537203" y="1546859"/>
              <a:ext cx="1255776" cy="547116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566159" y="1563624"/>
              <a:ext cx="1196340" cy="391667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3560051" y="1558035"/>
              <a:ext cx="1209040" cy="499109"/>
            </a:xfrm>
            <a:custGeom>
              <a:avLst/>
              <a:gdLst/>
              <a:ahLst/>
              <a:cxnLst/>
              <a:rect l="l" t="t" r="r" b="b"/>
              <a:pathLst>
                <a:path w="1209039" h="499110">
                  <a:moveTo>
                    <a:pt x="1208532" y="2540"/>
                  </a:moveTo>
                  <a:lnTo>
                    <a:pt x="1207262" y="2540"/>
                  </a:lnTo>
                  <a:lnTo>
                    <a:pt x="1207262" y="0"/>
                  </a:lnTo>
                  <a:lnTo>
                    <a:pt x="1202436" y="0"/>
                  </a:lnTo>
                  <a:lnTo>
                    <a:pt x="1202436" y="5080"/>
                  </a:lnTo>
                  <a:lnTo>
                    <a:pt x="1202436" y="492760"/>
                  </a:lnTo>
                  <a:lnTo>
                    <a:pt x="6096" y="492760"/>
                  </a:lnTo>
                  <a:lnTo>
                    <a:pt x="6096" y="5080"/>
                  </a:lnTo>
                  <a:lnTo>
                    <a:pt x="1202436" y="5080"/>
                  </a:lnTo>
                  <a:lnTo>
                    <a:pt x="1202436" y="0"/>
                  </a:lnTo>
                  <a:lnTo>
                    <a:pt x="3048" y="0"/>
                  </a:lnTo>
                  <a:lnTo>
                    <a:pt x="1270" y="0"/>
                  </a:lnTo>
                  <a:lnTo>
                    <a:pt x="1270" y="2540"/>
                  </a:lnTo>
                  <a:lnTo>
                    <a:pt x="0" y="2540"/>
                  </a:lnTo>
                  <a:lnTo>
                    <a:pt x="0" y="5080"/>
                  </a:lnTo>
                  <a:lnTo>
                    <a:pt x="0" y="492760"/>
                  </a:lnTo>
                  <a:lnTo>
                    <a:pt x="0" y="496570"/>
                  </a:lnTo>
                  <a:lnTo>
                    <a:pt x="1524" y="496570"/>
                  </a:lnTo>
                  <a:lnTo>
                    <a:pt x="1524" y="499110"/>
                  </a:lnTo>
                  <a:lnTo>
                    <a:pt x="1207008" y="499110"/>
                  </a:lnTo>
                  <a:lnTo>
                    <a:pt x="1207008" y="496570"/>
                  </a:lnTo>
                  <a:lnTo>
                    <a:pt x="1208532" y="496570"/>
                  </a:lnTo>
                  <a:lnTo>
                    <a:pt x="1208532" y="492760"/>
                  </a:lnTo>
                  <a:lnTo>
                    <a:pt x="1208532" y="5080"/>
                  </a:lnTo>
                  <a:lnTo>
                    <a:pt x="1208532" y="254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595116" y="1673351"/>
              <a:ext cx="1149095" cy="283463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564635" y="1959863"/>
              <a:ext cx="1197864" cy="135636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564635" y="1955291"/>
              <a:ext cx="1202436" cy="138683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560064" y="2055875"/>
              <a:ext cx="4571" cy="38100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3560064" y="1955291"/>
              <a:ext cx="1207135" cy="102235"/>
            </a:xfrm>
            <a:custGeom>
              <a:avLst/>
              <a:gdLst/>
              <a:ahLst/>
              <a:cxnLst/>
              <a:rect l="l" t="t" r="r" b="b"/>
              <a:pathLst>
                <a:path w="1207135" h="102235">
                  <a:moveTo>
                    <a:pt x="1207008" y="102108"/>
                  </a:moveTo>
                  <a:lnTo>
                    <a:pt x="1200912" y="102108"/>
                  </a:lnTo>
                  <a:lnTo>
                    <a:pt x="1200912" y="96012"/>
                  </a:lnTo>
                  <a:lnTo>
                    <a:pt x="1202436" y="96012"/>
                  </a:lnTo>
                  <a:lnTo>
                    <a:pt x="1202436" y="0"/>
                  </a:lnTo>
                  <a:lnTo>
                    <a:pt x="1205484" y="0"/>
                  </a:lnTo>
                  <a:lnTo>
                    <a:pt x="1207008" y="1524"/>
                  </a:lnTo>
                  <a:lnTo>
                    <a:pt x="1207008" y="102108"/>
                  </a:lnTo>
                  <a:close/>
                </a:path>
                <a:path w="1207135" h="102235">
                  <a:moveTo>
                    <a:pt x="4571" y="102108"/>
                  </a:moveTo>
                  <a:lnTo>
                    <a:pt x="3048" y="102108"/>
                  </a:lnTo>
                  <a:lnTo>
                    <a:pt x="0" y="99060"/>
                  </a:lnTo>
                  <a:lnTo>
                    <a:pt x="0" y="0"/>
                  </a:lnTo>
                  <a:lnTo>
                    <a:pt x="6096" y="0"/>
                  </a:lnTo>
                  <a:lnTo>
                    <a:pt x="6096" y="4572"/>
                  </a:lnTo>
                  <a:lnTo>
                    <a:pt x="4571" y="4572"/>
                  </a:lnTo>
                  <a:lnTo>
                    <a:pt x="4571" y="102108"/>
                  </a:lnTo>
                  <a:close/>
                </a:path>
              </a:pathLst>
            </a:custGeom>
            <a:solidFill>
              <a:srgbClr val="A3A3A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595116" y="1955291"/>
              <a:ext cx="1149095" cy="6095"/>
            </a:xfrm>
            <a:prstGeom prst="rect">
              <a:avLst/>
            </a:prstGeom>
          </p:spPr>
        </p:pic>
      </p:grpSp>
      <p:sp>
        <p:nvSpPr>
          <p:cNvPr id="52" name="object 52" descr=""/>
          <p:cNvSpPr txBox="1"/>
          <p:nvPr/>
        </p:nvSpPr>
        <p:spPr>
          <a:xfrm>
            <a:off x="3585490" y="1697213"/>
            <a:ext cx="1109345" cy="3962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solidFill>
                  <a:srgbClr val="E9E9E9"/>
                </a:solidFill>
                <a:latin typeface="Arial MT"/>
                <a:cs typeface="Arial MT"/>
              </a:rPr>
              <a:t>Set</a:t>
            </a:r>
            <a:r>
              <a:rPr dirty="0" sz="1100" spc="-45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E9E9E9"/>
                </a:solidFill>
                <a:latin typeface="Arial MT"/>
                <a:cs typeface="Arial MT"/>
              </a:rPr>
              <a:t>Associative</a:t>
            </a:r>
            <a:endParaRPr sz="1100">
              <a:latin typeface="Arial MT"/>
              <a:cs typeface="Arial MT"/>
            </a:endParaRPr>
          </a:p>
          <a:p>
            <a:pPr marL="75565" indent="-62865">
              <a:lnSpc>
                <a:spcPct val="100000"/>
              </a:lnSpc>
              <a:spcBef>
                <a:spcPts val="800"/>
              </a:spcBef>
              <a:buChar char="•"/>
              <a:tabLst>
                <a:tab pos="75565" algn="l"/>
              </a:tabLst>
            </a:pPr>
            <a:r>
              <a:rPr dirty="0" sz="650">
                <a:latin typeface="Arial MT"/>
                <a:cs typeface="Arial MT"/>
              </a:rPr>
              <a:t>A</a:t>
            </a:r>
            <a:r>
              <a:rPr dirty="0" sz="650" spc="1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compromise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that</a:t>
            </a:r>
            <a:r>
              <a:rPr dirty="0" sz="650" spc="6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exhibits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3560064" y="2092451"/>
            <a:ext cx="1207135" cy="1165860"/>
          </a:xfrm>
          <a:prstGeom prst="rect">
            <a:avLst/>
          </a:prstGeom>
          <a:solidFill>
            <a:srgbClr val="BDBDBD"/>
          </a:solidFill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550"/>
              </a:lnSpc>
            </a:pPr>
            <a:r>
              <a:rPr dirty="0" sz="650">
                <a:latin typeface="Arial MT"/>
                <a:cs typeface="Arial MT"/>
              </a:rPr>
              <a:t>the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strengths</a:t>
            </a:r>
            <a:r>
              <a:rPr dirty="0" sz="650" spc="3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of</a:t>
            </a:r>
            <a:r>
              <a:rPr dirty="0" sz="650" spc="5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both</a:t>
            </a:r>
            <a:r>
              <a:rPr dirty="0" sz="650" spc="45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the</a:t>
            </a:r>
            <a:endParaRPr sz="650">
              <a:latin typeface="Arial MT"/>
              <a:cs typeface="Arial MT"/>
            </a:endParaRPr>
          </a:p>
          <a:p>
            <a:pPr marL="101600" marR="81915">
              <a:lnSpc>
                <a:spcPct val="90000"/>
              </a:lnSpc>
              <a:spcBef>
                <a:spcPts val="30"/>
              </a:spcBef>
            </a:pPr>
            <a:r>
              <a:rPr dirty="0" sz="650">
                <a:latin typeface="Arial MT"/>
                <a:cs typeface="Arial MT"/>
              </a:rPr>
              <a:t>direct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and</a:t>
            </a:r>
            <a:r>
              <a:rPr dirty="0" sz="650" spc="35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associative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approaches</a:t>
            </a:r>
            <a:r>
              <a:rPr dirty="0" sz="650" spc="3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while</a:t>
            </a:r>
            <a:r>
              <a:rPr dirty="0" sz="650" spc="7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reducing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their</a:t>
            </a:r>
            <a:r>
              <a:rPr dirty="0" sz="650" spc="3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disadvantages</a:t>
            </a:r>
            <a:endParaRPr sz="650">
              <a:latin typeface="Arial MT"/>
              <a:cs typeface="Arial MT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5378196" y="364489"/>
            <a:ext cx="5125720" cy="3204210"/>
            <a:chOff x="5378196" y="364489"/>
            <a:chExt cx="5125720" cy="3204210"/>
          </a:xfrm>
        </p:grpSpPr>
        <p:sp>
          <p:nvSpPr>
            <p:cNvPr id="55" name="object 55" descr=""/>
            <p:cNvSpPr/>
            <p:nvPr/>
          </p:nvSpPr>
          <p:spPr>
            <a:xfrm>
              <a:off x="5378183" y="364489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10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5382768" y="689863"/>
              <a:ext cx="4775200" cy="35560"/>
            </a:xfrm>
            <a:custGeom>
              <a:avLst/>
              <a:gdLst/>
              <a:ahLst/>
              <a:cxnLst/>
              <a:rect l="l" t="t" r="r" b="b"/>
              <a:pathLst>
                <a:path w="4775200" h="35559">
                  <a:moveTo>
                    <a:pt x="4774692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0" y="35560"/>
                  </a:lnTo>
                  <a:lnTo>
                    <a:pt x="1287780" y="35560"/>
                  </a:lnTo>
                  <a:lnTo>
                    <a:pt x="1287780" y="26670"/>
                  </a:lnTo>
                  <a:lnTo>
                    <a:pt x="3826764" y="26670"/>
                  </a:lnTo>
                  <a:lnTo>
                    <a:pt x="3826764" y="35560"/>
                  </a:lnTo>
                  <a:lnTo>
                    <a:pt x="4774692" y="35560"/>
                  </a:lnTo>
                  <a:lnTo>
                    <a:pt x="4774692" y="26670"/>
                  </a:lnTo>
                  <a:lnTo>
                    <a:pt x="4774692" y="0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6913880" y="339191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6669023" y="716279"/>
            <a:ext cx="3807460" cy="2836545"/>
            <a:chOff x="6669023" y="716279"/>
            <a:chExt cx="3807460" cy="2836545"/>
          </a:xfrm>
        </p:grpSpPr>
        <p:pic>
          <p:nvPicPr>
            <p:cNvPr id="59" name="object 59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140952" y="3340607"/>
              <a:ext cx="1335023" cy="211835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669023" y="716279"/>
              <a:ext cx="2542032" cy="2747771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847076" y="3416807"/>
              <a:ext cx="149351" cy="35051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7932420" y="3416807"/>
              <a:ext cx="5080" cy="35560"/>
            </a:xfrm>
            <a:custGeom>
              <a:avLst/>
              <a:gdLst/>
              <a:ahLst/>
              <a:cxnLst/>
              <a:rect l="l" t="t" r="r" b="b"/>
              <a:pathLst>
                <a:path w="5079" h="35560">
                  <a:moveTo>
                    <a:pt x="4572" y="0"/>
                  </a:moveTo>
                  <a:lnTo>
                    <a:pt x="0" y="0"/>
                  </a:lnTo>
                  <a:lnTo>
                    <a:pt x="0" y="4572"/>
                  </a:lnTo>
                  <a:lnTo>
                    <a:pt x="4572" y="4572"/>
                  </a:lnTo>
                  <a:lnTo>
                    <a:pt x="4572" y="0"/>
                  </a:lnTo>
                  <a:close/>
                </a:path>
                <a:path w="5079" h="35560">
                  <a:moveTo>
                    <a:pt x="4572" y="9143"/>
                  </a:moveTo>
                  <a:lnTo>
                    <a:pt x="0" y="9143"/>
                  </a:lnTo>
                  <a:lnTo>
                    <a:pt x="0" y="35051"/>
                  </a:lnTo>
                  <a:lnTo>
                    <a:pt x="4572" y="35051"/>
                  </a:lnTo>
                  <a:lnTo>
                    <a:pt x="4572" y="9143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036052" y="3415284"/>
              <a:ext cx="909828" cy="45719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8703564" y="3445764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w="0" h="9525">
                  <a:moveTo>
                    <a:pt x="0" y="9143"/>
                  </a:moveTo>
                  <a:lnTo>
                    <a:pt x="0" y="0"/>
                  </a:lnTo>
                </a:path>
              </a:pathLst>
            </a:custGeom>
            <a:ln w="9143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8814054" y="3415284"/>
              <a:ext cx="0" cy="40005"/>
            </a:xfrm>
            <a:custGeom>
              <a:avLst/>
              <a:gdLst/>
              <a:ahLst/>
              <a:cxnLst/>
              <a:rect l="l" t="t" r="r" b="b"/>
              <a:pathLst>
                <a:path w="0" h="40004">
                  <a:moveTo>
                    <a:pt x="0" y="39624"/>
                  </a:moveTo>
                  <a:lnTo>
                    <a:pt x="0" y="0"/>
                  </a:lnTo>
                </a:path>
              </a:pathLst>
            </a:custGeom>
            <a:ln w="7619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8836152" y="3416807"/>
              <a:ext cx="5080" cy="35560"/>
            </a:xfrm>
            <a:custGeom>
              <a:avLst/>
              <a:gdLst/>
              <a:ahLst/>
              <a:cxnLst/>
              <a:rect l="l" t="t" r="r" b="b"/>
              <a:pathLst>
                <a:path w="5079" h="35560">
                  <a:moveTo>
                    <a:pt x="4571" y="0"/>
                  </a:moveTo>
                  <a:lnTo>
                    <a:pt x="0" y="0"/>
                  </a:lnTo>
                  <a:lnTo>
                    <a:pt x="0" y="4572"/>
                  </a:lnTo>
                  <a:lnTo>
                    <a:pt x="4571" y="4572"/>
                  </a:lnTo>
                  <a:lnTo>
                    <a:pt x="4571" y="0"/>
                  </a:lnTo>
                  <a:close/>
                </a:path>
                <a:path w="5079" h="35560">
                  <a:moveTo>
                    <a:pt x="4571" y="9143"/>
                  </a:moveTo>
                  <a:lnTo>
                    <a:pt x="0" y="9143"/>
                  </a:lnTo>
                  <a:lnTo>
                    <a:pt x="0" y="35051"/>
                  </a:lnTo>
                  <a:lnTo>
                    <a:pt x="4571" y="35051"/>
                  </a:lnTo>
                  <a:lnTo>
                    <a:pt x="4571" y="9143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140952" y="3339084"/>
              <a:ext cx="68580" cy="124967"/>
            </a:xfrm>
            <a:prstGeom prst="rect">
              <a:avLst/>
            </a:prstGeom>
          </p:spPr>
        </p:pic>
      </p:grpSp>
      <p:sp>
        <p:nvSpPr>
          <p:cNvPr id="68" name="object 68" descr=""/>
          <p:cNvSpPr txBox="1"/>
          <p:nvPr/>
        </p:nvSpPr>
        <p:spPr>
          <a:xfrm>
            <a:off x="5583392" y="452149"/>
            <a:ext cx="106426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Direct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Mapping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9" name="object 69" descr=""/>
          <p:cNvGrpSpPr/>
          <p:nvPr/>
        </p:nvGrpSpPr>
        <p:grpSpPr>
          <a:xfrm>
            <a:off x="188976" y="3991610"/>
            <a:ext cx="5125720" cy="3204210"/>
            <a:chOff x="188976" y="3991610"/>
            <a:chExt cx="5125720" cy="3204210"/>
          </a:xfrm>
        </p:grpSpPr>
        <p:sp>
          <p:nvSpPr>
            <p:cNvPr id="70" name="object 70" descr=""/>
            <p:cNvSpPr/>
            <p:nvPr/>
          </p:nvSpPr>
          <p:spPr>
            <a:xfrm>
              <a:off x="18896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604" y="0"/>
                  </a:lnTo>
                  <a:lnTo>
                    <a:pt x="5117604" y="7620"/>
                  </a:lnTo>
                  <a:lnTo>
                    <a:pt x="5117604" y="3196590"/>
                  </a:lnTo>
                  <a:lnTo>
                    <a:pt x="7632" y="3196590"/>
                  </a:lnTo>
                  <a:lnTo>
                    <a:pt x="7632" y="3197098"/>
                  </a:lnTo>
                  <a:lnTo>
                    <a:pt x="4584" y="3197098"/>
                  </a:lnTo>
                  <a:lnTo>
                    <a:pt x="4584" y="3196590"/>
                  </a:lnTo>
                  <a:lnTo>
                    <a:pt x="7632" y="3196590"/>
                  </a:lnTo>
                  <a:lnTo>
                    <a:pt x="7632" y="7620"/>
                  </a:lnTo>
                  <a:lnTo>
                    <a:pt x="5117604" y="7620"/>
                  </a:lnTo>
                  <a:lnTo>
                    <a:pt x="5117604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92024" y="4315968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 descr=""/>
          <p:cNvSpPr txBox="1"/>
          <p:nvPr/>
        </p:nvSpPr>
        <p:spPr>
          <a:xfrm>
            <a:off x="172466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73" name="object 73" descr=""/>
          <p:cNvGrpSpPr/>
          <p:nvPr/>
        </p:nvGrpSpPr>
        <p:grpSpPr>
          <a:xfrm>
            <a:off x="955349" y="4493024"/>
            <a:ext cx="4333240" cy="2686685"/>
            <a:chOff x="955349" y="4493024"/>
            <a:chExt cx="4333240" cy="2686685"/>
          </a:xfrm>
        </p:grpSpPr>
        <p:pic>
          <p:nvPicPr>
            <p:cNvPr id="74" name="object 74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951731" y="6966204"/>
              <a:ext cx="1336548" cy="213360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55349" y="4493024"/>
              <a:ext cx="3620609" cy="2352783"/>
            </a:xfrm>
            <a:prstGeom prst="rect">
              <a:avLst/>
            </a:prstGeom>
          </p:spPr>
        </p:pic>
      </p:grpSp>
      <p:sp>
        <p:nvSpPr>
          <p:cNvPr id="76" name="object 76" descr=""/>
          <p:cNvSpPr txBox="1"/>
          <p:nvPr/>
        </p:nvSpPr>
        <p:spPr>
          <a:xfrm>
            <a:off x="394203" y="4079179"/>
            <a:ext cx="246507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Direct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Mapping</a:t>
            </a:r>
            <a:r>
              <a:rPr dirty="0" sz="12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12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Organization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77" name="object 77" descr=""/>
          <p:cNvGrpSpPr/>
          <p:nvPr/>
        </p:nvGrpSpPr>
        <p:grpSpPr>
          <a:xfrm>
            <a:off x="5378196" y="3991610"/>
            <a:ext cx="5125720" cy="3204210"/>
            <a:chOff x="5378196" y="3991610"/>
            <a:chExt cx="5125720" cy="3204210"/>
          </a:xfrm>
        </p:grpSpPr>
        <p:sp>
          <p:nvSpPr>
            <p:cNvPr id="78" name="object 78" descr=""/>
            <p:cNvSpPr/>
            <p:nvPr/>
          </p:nvSpPr>
          <p:spPr>
            <a:xfrm>
              <a:off x="537818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5382768" y="4317492"/>
              <a:ext cx="4775200" cy="35560"/>
            </a:xfrm>
            <a:custGeom>
              <a:avLst/>
              <a:gdLst/>
              <a:ahLst/>
              <a:cxnLst/>
              <a:rect l="l" t="t" r="r" b="b"/>
              <a:pathLst>
                <a:path w="4775200" h="35560">
                  <a:moveTo>
                    <a:pt x="1232916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1232916" y="35052"/>
                  </a:lnTo>
                  <a:lnTo>
                    <a:pt x="1232916" y="0"/>
                  </a:lnTo>
                  <a:close/>
                </a:path>
                <a:path w="4775200" h="35560">
                  <a:moveTo>
                    <a:pt x="4774692" y="0"/>
                  </a:moveTo>
                  <a:lnTo>
                    <a:pt x="3750564" y="0"/>
                  </a:lnTo>
                  <a:lnTo>
                    <a:pt x="3750564" y="35052"/>
                  </a:lnTo>
                  <a:lnTo>
                    <a:pt x="4774692" y="35052"/>
                  </a:lnTo>
                  <a:lnTo>
                    <a:pt x="4774692" y="0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 descr=""/>
          <p:cNvSpPr txBox="1"/>
          <p:nvPr/>
        </p:nvSpPr>
        <p:spPr>
          <a:xfrm>
            <a:off x="691388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81" name="object 81" descr=""/>
          <p:cNvGrpSpPr/>
          <p:nvPr/>
        </p:nvGrpSpPr>
        <p:grpSpPr>
          <a:xfrm>
            <a:off x="6614159" y="4303776"/>
            <a:ext cx="3862070" cy="2875915"/>
            <a:chOff x="6614159" y="4303776"/>
            <a:chExt cx="3862070" cy="2875915"/>
          </a:xfrm>
        </p:grpSpPr>
        <p:pic>
          <p:nvPicPr>
            <p:cNvPr id="82" name="object 82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140951" y="6966204"/>
              <a:ext cx="1335023" cy="213360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614159" y="4303776"/>
              <a:ext cx="2519171" cy="2781300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847075" y="7043928"/>
              <a:ext cx="149351" cy="35051"/>
            </a:xfrm>
            <a:prstGeom prst="rect">
              <a:avLst/>
            </a:prstGeom>
          </p:spPr>
        </p:pic>
        <p:sp>
          <p:nvSpPr>
            <p:cNvPr id="85" name="object 85" descr=""/>
            <p:cNvSpPr/>
            <p:nvPr/>
          </p:nvSpPr>
          <p:spPr>
            <a:xfrm>
              <a:off x="7932419" y="7043928"/>
              <a:ext cx="5080" cy="35560"/>
            </a:xfrm>
            <a:custGeom>
              <a:avLst/>
              <a:gdLst/>
              <a:ahLst/>
              <a:cxnLst/>
              <a:rect l="l" t="t" r="r" b="b"/>
              <a:pathLst>
                <a:path w="5079" h="35559">
                  <a:moveTo>
                    <a:pt x="4572" y="0"/>
                  </a:moveTo>
                  <a:lnTo>
                    <a:pt x="0" y="0"/>
                  </a:lnTo>
                  <a:lnTo>
                    <a:pt x="0" y="4571"/>
                  </a:lnTo>
                  <a:lnTo>
                    <a:pt x="4572" y="4571"/>
                  </a:lnTo>
                  <a:lnTo>
                    <a:pt x="4572" y="0"/>
                  </a:lnTo>
                  <a:close/>
                </a:path>
                <a:path w="5079" h="35559">
                  <a:moveTo>
                    <a:pt x="4572" y="9143"/>
                  </a:moveTo>
                  <a:lnTo>
                    <a:pt x="0" y="9143"/>
                  </a:lnTo>
                  <a:lnTo>
                    <a:pt x="0" y="35051"/>
                  </a:lnTo>
                  <a:lnTo>
                    <a:pt x="4572" y="35051"/>
                  </a:lnTo>
                  <a:lnTo>
                    <a:pt x="4572" y="9143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036051" y="7042403"/>
              <a:ext cx="909828" cy="42672"/>
            </a:xfrm>
            <a:prstGeom prst="rect">
              <a:avLst/>
            </a:prstGeom>
          </p:spPr>
        </p:pic>
        <p:sp>
          <p:nvSpPr>
            <p:cNvPr id="87" name="object 87" descr=""/>
            <p:cNvSpPr/>
            <p:nvPr/>
          </p:nvSpPr>
          <p:spPr>
            <a:xfrm>
              <a:off x="8703563" y="7072884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w="0" h="9525">
                  <a:moveTo>
                    <a:pt x="0" y="9144"/>
                  </a:moveTo>
                  <a:lnTo>
                    <a:pt x="0" y="0"/>
                  </a:lnTo>
                </a:path>
              </a:pathLst>
            </a:custGeom>
            <a:ln w="9143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8814053" y="7042403"/>
              <a:ext cx="0" cy="40005"/>
            </a:xfrm>
            <a:custGeom>
              <a:avLst/>
              <a:gdLst/>
              <a:ahLst/>
              <a:cxnLst/>
              <a:rect l="l" t="t" r="r" b="b"/>
              <a:pathLst>
                <a:path w="0" h="40004">
                  <a:moveTo>
                    <a:pt x="0" y="39623"/>
                  </a:moveTo>
                  <a:lnTo>
                    <a:pt x="0" y="0"/>
                  </a:lnTo>
                </a:path>
              </a:pathLst>
            </a:custGeom>
            <a:ln w="7619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8836151" y="7043928"/>
              <a:ext cx="5080" cy="35560"/>
            </a:xfrm>
            <a:custGeom>
              <a:avLst/>
              <a:gdLst/>
              <a:ahLst/>
              <a:cxnLst/>
              <a:rect l="l" t="t" r="r" b="b"/>
              <a:pathLst>
                <a:path w="5079" h="35559">
                  <a:moveTo>
                    <a:pt x="4571" y="0"/>
                  </a:moveTo>
                  <a:lnTo>
                    <a:pt x="0" y="0"/>
                  </a:lnTo>
                  <a:lnTo>
                    <a:pt x="0" y="4571"/>
                  </a:lnTo>
                  <a:lnTo>
                    <a:pt x="4571" y="4571"/>
                  </a:lnTo>
                  <a:lnTo>
                    <a:pt x="4571" y="0"/>
                  </a:lnTo>
                  <a:close/>
                </a:path>
                <a:path w="5079" h="35559">
                  <a:moveTo>
                    <a:pt x="4571" y="9143"/>
                  </a:moveTo>
                  <a:lnTo>
                    <a:pt x="0" y="9143"/>
                  </a:lnTo>
                  <a:lnTo>
                    <a:pt x="0" y="35051"/>
                  </a:lnTo>
                  <a:lnTo>
                    <a:pt x="4571" y="35051"/>
                  </a:lnTo>
                  <a:lnTo>
                    <a:pt x="4571" y="9143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0" name="object 90" descr=""/>
          <p:cNvSpPr txBox="1"/>
          <p:nvPr/>
        </p:nvSpPr>
        <p:spPr>
          <a:xfrm>
            <a:off x="5583392" y="4079179"/>
            <a:ext cx="1704339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Direct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Mapping</a:t>
            </a:r>
            <a:r>
              <a:rPr dirty="0" sz="12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Example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92023" y="688848"/>
            <a:ext cx="4777740" cy="36830"/>
          </a:xfrm>
          <a:custGeom>
            <a:avLst/>
            <a:gdLst/>
            <a:ahLst/>
            <a:cxnLst/>
            <a:rect l="l" t="t" r="r" b="b"/>
            <a:pathLst>
              <a:path w="4777740" h="36829">
                <a:moveTo>
                  <a:pt x="4777740" y="36576"/>
                </a:moveTo>
                <a:lnTo>
                  <a:pt x="0" y="36576"/>
                </a:lnTo>
                <a:lnTo>
                  <a:pt x="0" y="0"/>
                </a:lnTo>
                <a:lnTo>
                  <a:pt x="4777740" y="0"/>
                </a:lnTo>
                <a:lnTo>
                  <a:pt x="4777740" y="36576"/>
                </a:lnTo>
                <a:close/>
              </a:path>
            </a:pathLst>
          </a:custGeom>
          <a:solidFill>
            <a:srgbClr val="9090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724660" y="339191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1732" y="3339084"/>
            <a:ext cx="1336548" cy="214883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94203" y="452149"/>
            <a:ext cx="176212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Direct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Mapping</a:t>
            </a:r>
            <a:r>
              <a:rPr dirty="0" sz="12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Summary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417576" y="845820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5">
                <a:moveTo>
                  <a:pt x="39623" y="39623"/>
                </a:moveTo>
                <a:lnTo>
                  <a:pt x="0" y="39623"/>
                </a:lnTo>
                <a:lnTo>
                  <a:pt x="0" y="0"/>
                </a:lnTo>
                <a:lnTo>
                  <a:pt x="39623" y="0"/>
                </a:lnTo>
                <a:lnTo>
                  <a:pt x="39623" y="3962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17576" y="1072896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5">
                <a:moveTo>
                  <a:pt x="39623" y="39624"/>
                </a:moveTo>
                <a:lnTo>
                  <a:pt x="0" y="39624"/>
                </a:lnTo>
                <a:lnTo>
                  <a:pt x="0" y="0"/>
                </a:lnTo>
                <a:lnTo>
                  <a:pt x="39623" y="0"/>
                </a:lnTo>
                <a:lnTo>
                  <a:pt x="39623" y="3962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17576" y="1299972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5">
                <a:moveTo>
                  <a:pt x="39623" y="39624"/>
                </a:moveTo>
                <a:lnTo>
                  <a:pt x="0" y="39624"/>
                </a:lnTo>
                <a:lnTo>
                  <a:pt x="0" y="0"/>
                </a:lnTo>
                <a:lnTo>
                  <a:pt x="39623" y="0"/>
                </a:lnTo>
                <a:lnTo>
                  <a:pt x="39623" y="3962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17576" y="1527048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5">
                <a:moveTo>
                  <a:pt x="39623" y="39623"/>
                </a:moveTo>
                <a:lnTo>
                  <a:pt x="0" y="39623"/>
                </a:lnTo>
                <a:lnTo>
                  <a:pt x="0" y="0"/>
                </a:lnTo>
                <a:lnTo>
                  <a:pt x="39623" y="0"/>
                </a:lnTo>
                <a:lnTo>
                  <a:pt x="39623" y="3962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17576" y="1755648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5">
                <a:moveTo>
                  <a:pt x="39623" y="39623"/>
                </a:moveTo>
                <a:lnTo>
                  <a:pt x="0" y="39623"/>
                </a:lnTo>
                <a:lnTo>
                  <a:pt x="0" y="0"/>
                </a:lnTo>
                <a:lnTo>
                  <a:pt x="39623" y="0"/>
                </a:lnTo>
                <a:lnTo>
                  <a:pt x="39623" y="3962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417576" y="1982724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5">
                <a:moveTo>
                  <a:pt x="39623" y="39624"/>
                </a:moveTo>
                <a:lnTo>
                  <a:pt x="0" y="39624"/>
                </a:lnTo>
                <a:lnTo>
                  <a:pt x="0" y="0"/>
                </a:lnTo>
                <a:lnTo>
                  <a:pt x="39623" y="0"/>
                </a:lnTo>
                <a:lnTo>
                  <a:pt x="39623" y="3962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530374" y="700763"/>
            <a:ext cx="3001010" cy="139001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80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Address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length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(s</a:t>
            </a:r>
            <a:r>
              <a:rPr dirty="0" sz="100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+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w)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bits</a:t>
            </a:r>
            <a:endParaRPr sz="1000">
              <a:latin typeface="Arial MT"/>
              <a:cs typeface="Arial MT"/>
            </a:endParaRPr>
          </a:p>
          <a:p>
            <a:pPr marL="38100" marR="30480">
              <a:lnSpc>
                <a:spcPct val="149000"/>
              </a:lnSpc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Number</a:t>
            </a:r>
            <a:r>
              <a:rPr dirty="0" sz="10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addressable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units</a:t>
            </a:r>
            <a:r>
              <a:rPr dirty="0" sz="100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2</a:t>
            </a:r>
            <a:r>
              <a:rPr dirty="0" baseline="25641" sz="975">
                <a:solidFill>
                  <a:srgbClr val="1A1A1A"/>
                </a:solidFill>
                <a:latin typeface="Arial MT"/>
                <a:cs typeface="Arial MT"/>
              </a:rPr>
              <a:t>s+w</a:t>
            </a:r>
            <a:r>
              <a:rPr dirty="0" baseline="25641" sz="975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words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or</a:t>
            </a:r>
            <a:r>
              <a:rPr dirty="0" sz="10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bytes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Block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size</a:t>
            </a:r>
            <a:r>
              <a:rPr dirty="0" sz="1000" spc="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line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size</a:t>
            </a:r>
            <a:r>
              <a:rPr dirty="0" sz="10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2</a:t>
            </a:r>
            <a:r>
              <a:rPr dirty="0" baseline="25641" sz="975">
                <a:solidFill>
                  <a:srgbClr val="1A1A1A"/>
                </a:solidFill>
                <a:latin typeface="Arial MT"/>
                <a:cs typeface="Arial MT"/>
              </a:rPr>
              <a:t>w</a:t>
            </a:r>
            <a:r>
              <a:rPr dirty="0" baseline="25641" sz="975" spc="202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words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or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bytes</a:t>
            </a:r>
            <a:endParaRPr sz="1000">
              <a:latin typeface="Arial MT"/>
              <a:cs typeface="Arial MT"/>
            </a:endParaRPr>
          </a:p>
          <a:p>
            <a:pPr marL="38100" marR="133350">
              <a:lnSpc>
                <a:spcPct val="149000"/>
              </a:lnSpc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Number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blocks</a:t>
            </a:r>
            <a:r>
              <a:rPr dirty="0" sz="100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main</a:t>
            </a:r>
            <a:r>
              <a:rPr dirty="0" sz="10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2</a:t>
            </a:r>
            <a:r>
              <a:rPr dirty="0" baseline="25641" sz="975">
                <a:solidFill>
                  <a:srgbClr val="1A1A1A"/>
                </a:solidFill>
                <a:latin typeface="Arial MT"/>
                <a:cs typeface="Arial MT"/>
              </a:rPr>
              <a:t>s+</a:t>
            </a:r>
            <a:r>
              <a:rPr dirty="0" baseline="25641" sz="975" spc="44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baseline="25641" sz="975">
                <a:solidFill>
                  <a:srgbClr val="1A1A1A"/>
                </a:solidFill>
                <a:latin typeface="Arial MT"/>
                <a:cs typeface="Arial MT"/>
              </a:rPr>
              <a:t>w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/2</a:t>
            </a:r>
            <a:r>
              <a:rPr dirty="0" baseline="25641" sz="975">
                <a:solidFill>
                  <a:srgbClr val="1A1A1A"/>
                </a:solidFill>
                <a:latin typeface="Arial MT"/>
                <a:cs typeface="Arial MT"/>
              </a:rPr>
              <a:t>w</a:t>
            </a:r>
            <a:r>
              <a:rPr dirty="0" baseline="25641" sz="975" spc="247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1A1A1A"/>
                </a:solidFill>
                <a:latin typeface="Arial MT"/>
                <a:cs typeface="Arial MT"/>
              </a:rPr>
              <a:t>2</a:t>
            </a:r>
            <a:r>
              <a:rPr dirty="0" baseline="25641" sz="975" spc="-37">
                <a:solidFill>
                  <a:srgbClr val="1A1A1A"/>
                </a:solidFill>
                <a:latin typeface="Arial MT"/>
                <a:cs typeface="Arial MT"/>
              </a:rPr>
              <a:t>s</a:t>
            </a:r>
            <a:r>
              <a:rPr dirty="0" baseline="25641" sz="975" spc="7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Number</a:t>
            </a:r>
            <a:r>
              <a:rPr dirty="0" sz="100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lines</a:t>
            </a:r>
            <a:r>
              <a:rPr dirty="0" sz="10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100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</a:t>
            </a:r>
            <a:r>
              <a:rPr dirty="0" sz="1000" spc="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1A1A1A"/>
                </a:solidFill>
                <a:latin typeface="Arial MT"/>
                <a:cs typeface="Arial MT"/>
              </a:rPr>
              <a:t>2</a:t>
            </a:r>
            <a:r>
              <a:rPr dirty="0" baseline="25641" sz="975" spc="-37">
                <a:solidFill>
                  <a:srgbClr val="1A1A1A"/>
                </a:solidFill>
                <a:latin typeface="Arial MT"/>
                <a:cs typeface="Arial MT"/>
              </a:rPr>
              <a:t>r</a:t>
            </a:r>
            <a:endParaRPr baseline="25641" sz="975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Size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00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tag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(s</a:t>
            </a:r>
            <a:r>
              <a:rPr dirty="0" sz="10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–</a:t>
            </a:r>
            <a:r>
              <a:rPr dirty="0" sz="100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r)</a:t>
            </a:r>
            <a:r>
              <a:rPr dirty="0" sz="10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bits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5378196" y="364489"/>
            <a:ext cx="5125720" cy="3204210"/>
            <a:chOff x="5378196" y="364489"/>
            <a:chExt cx="5125720" cy="3204210"/>
          </a:xfrm>
        </p:grpSpPr>
        <p:sp>
          <p:nvSpPr>
            <p:cNvPr id="14" name="object 14" descr=""/>
            <p:cNvSpPr/>
            <p:nvPr/>
          </p:nvSpPr>
          <p:spPr>
            <a:xfrm>
              <a:off x="5378183" y="364489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10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381244" y="688847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6"/>
                  </a:moveTo>
                  <a:lnTo>
                    <a:pt x="0" y="36576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6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913880" y="339191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6193268" y="993116"/>
            <a:ext cx="4283075" cy="2560955"/>
            <a:chOff x="6193268" y="993116"/>
            <a:chExt cx="4283075" cy="2560955"/>
          </a:xfrm>
        </p:grpSpPr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0951" y="3339083"/>
              <a:ext cx="1335023" cy="214883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3268" y="993116"/>
              <a:ext cx="3509208" cy="2088858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5583392" y="452149"/>
            <a:ext cx="257873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Fully</a:t>
            </a:r>
            <a:r>
              <a:rPr dirty="0" sz="12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Associative</a:t>
            </a:r>
            <a:r>
              <a:rPr dirty="0" sz="12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12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Organization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88976" y="3991610"/>
            <a:ext cx="5125720" cy="3204210"/>
            <a:chOff x="188976" y="3991610"/>
            <a:chExt cx="5125720" cy="3204210"/>
          </a:xfrm>
        </p:grpSpPr>
        <p:sp>
          <p:nvSpPr>
            <p:cNvPr id="22" name="object 22" descr=""/>
            <p:cNvSpPr/>
            <p:nvPr/>
          </p:nvSpPr>
          <p:spPr>
            <a:xfrm>
              <a:off x="18896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604" y="0"/>
                  </a:lnTo>
                  <a:lnTo>
                    <a:pt x="5117604" y="7620"/>
                  </a:lnTo>
                  <a:lnTo>
                    <a:pt x="5117604" y="3196590"/>
                  </a:lnTo>
                  <a:lnTo>
                    <a:pt x="7632" y="3196590"/>
                  </a:lnTo>
                  <a:lnTo>
                    <a:pt x="7632" y="3197098"/>
                  </a:lnTo>
                  <a:lnTo>
                    <a:pt x="4584" y="3197098"/>
                  </a:lnTo>
                  <a:lnTo>
                    <a:pt x="4584" y="3196590"/>
                  </a:lnTo>
                  <a:lnTo>
                    <a:pt x="7632" y="3196590"/>
                  </a:lnTo>
                  <a:lnTo>
                    <a:pt x="7632" y="7620"/>
                  </a:lnTo>
                  <a:lnTo>
                    <a:pt x="5117604" y="7620"/>
                  </a:lnTo>
                  <a:lnTo>
                    <a:pt x="5117604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92024" y="4315968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172466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1514855" y="4431791"/>
            <a:ext cx="3771900" cy="2748280"/>
            <a:chOff x="1514855" y="4431791"/>
            <a:chExt cx="3771900" cy="2748280"/>
          </a:xfrm>
        </p:grpSpPr>
        <p:pic>
          <p:nvPicPr>
            <p:cNvPr id="26" name="object 2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51731" y="6967728"/>
              <a:ext cx="1335023" cy="211835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14855" y="4431791"/>
              <a:ext cx="2470404" cy="2558795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/>
          <p:nvPr/>
        </p:nvSpPr>
        <p:spPr>
          <a:xfrm>
            <a:off x="394203" y="4079179"/>
            <a:ext cx="208026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Associative</a:t>
            </a:r>
            <a:r>
              <a:rPr dirty="0" sz="12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Mapping</a:t>
            </a:r>
            <a:r>
              <a:rPr dirty="0" sz="12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Example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5378196" y="3991610"/>
            <a:ext cx="5125720" cy="3204210"/>
            <a:chOff x="5378196" y="3991610"/>
            <a:chExt cx="5125720" cy="3204210"/>
          </a:xfrm>
        </p:grpSpPr>
        <p:sp>
          <p:nvSpPr>
            <p:cNvPr id="30" name="object 30" descr=""/>
            <p:cNvSpPr/>
            <p:nvPr/>
          </p:nvSpPr>
          <p:spPr>
            <a:xfrm>
              <a:off x="537818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381244" y="4315968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691388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5606796" y="4472940"/>
            <a:ext cx="4869180" cy="2707005"/>
            <a:chOff x="5606796" y="4472940"/>
            <a:chExt cx="4869180" cy="2707005"/>
          </a:xfrm>
        </p:grpSpPr>
        <p:pic>
          <p:nvPicPr>
            <p:cNvPr id="34" name="object 3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40951" y="6966204"/>
              <a:ext cx="1335023" cy="213360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5606796" y="4472940"/>
              <a:ext cx="40005" cy="1176655"/>
            </a:xfrm>
            <a:custGeom>
              <a:avLst/>
              <a:gdLst/>
              <a:ahLst/>
              <a:cxnLst/>
              <a:rect l="l" t="t" r="r" b="b"/>
              <a:pathLst>
                <a:path w="40004" h="1176654">
                  <a:moveTo>
                    <a:pt x="39611" y="1136916"/>
                  </a:moveTo>
                  <a:lnTo>
                    <a:pt x="0" y="1136916"/>
                  </a:lnTo>
                  <a:lnTo>
                    <a:pt x="0" y="1176528"/>
                  </a:lnTo>
                  <a:lnTo>
                    <a:pt x="39611" y="1176528"/>
                  </a:lnTo>
                  <a:lnTo>
                    <a:pt x="39611" y="1136916"/>
                  </a:lnTo>
                  <a:close/>
                </a:path>
                <a:path w="40004" h="1176654">
                  <a:moveTo>
                    <a:pt x="39611" y="909828"/>
                  </a:moveTo>
                  <a:lnTo>
                    <a:pt x="0" y="909828"/>
                  </a:lnTo>
                  <a:lnTo>
                    <a:pt x="0" y="949464"/>
                  </a:lnTo>
                  <a:lnTo>
                    <a:pt x="39611" y="949464"/>
                  </a:lnTo>
                  <a:lnTo>
                    <a:pt x="39611" y="909828"/>
                  </a:lnTo>
                  <a:close/>
                </a:path>
                <a:path w="40004" h="1176654">
                  <a:moveTo>
                    <a:pt x="39611" y="681228"/>
                  </a:moveTo>
                  <a:lnTo>
                    <a:pt x="0" y="681228"/>
                  </a:lnTo>
                  <a:lnTo>
                    <a:pt x="0" y="720864"/>
                  </a:lnTo>
                  <a:lnTo>
                    <a:pt x="39611" y="720864"/>
                  </a:lnTo>
                  <a:lnTo>
                    <a:pt x="39611" y="681228"/>
                  </a:lnTo>
                  <a:close/>
                </a:path>
                <a:path w="40004" h="1176654">
                  <a:moveTo>
                    <a:pt x="39611" y="454164"/>
                  </a:moveTo>
                  <a:lnTo>
                    <a:pt x="0" y="454164"/>
                  </a:lnTo>
                  <a:lnTo>
                    <a:pt x="0" y="493776"/>
                  </a:lnTo>
                  <a:lnTo>
                    <a:pt x="39611" y="493776"/>
                  </a:lnTo>
                  <a:lnTo>
                    <a:pt x="39611" y="454164"/>
                  </a:lnTo>
                  <a:close/>
                </a:path>
                <a:path w="40004" h="1176654">
                  <a:moveTo>
                    <a:pt x="39611" y="227076"/>
                  </a:moveTo>
                  <a:lnTo>
                    <a:pt x="0" y="227076"/>
                  </a:lnTo>
                  <a:lnTo>
                    <a:pt x="0" y="266700"/>
                  </a:lnTo>
                  <a:lnTo>
                    <a:pt x="39611" y="266700"/>
                  </a:lnTo>
                  <a:lnTo>
                    <a:pt x="39611" y="227076"/>
                  </a:lnTo>
                  <a:close/>
                </a:path>
                <a:path w="40004" h="1176654">
                  <a:moveTo>
                    <a:pt x="39611" y="0"/>
                  </a:moveTo>
                  <a:lnTo>
                    <a:pt x="0" y="0"/>
                  </a:lnTo>
                  <a:lnTo>
                    <a:pt x="0" y="39636"/>
                  </a:lnTo>
                  <a:lnTo>
                    <a:pt x="39611" y="39636"/>
                  </a:lnTo>
                  <a:lnTo>
                    <a:pt x="39611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5583392" y="4079179"/>
            <a:ext cx="214058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Associative</a:t>
            </a:r>
            <a:r>
              <a:rPr dirty="0" sz="12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Mapping</a:t>
            </a:r>
            <a:r>
              <a:rPr dirty="0" sz="12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Summary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5719522" y="4328029"/>
            <a:ext cx="3001010" cy="138938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80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Address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length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(s</a:t>
            </a:r>
            <a:r>
              <a:rPr dirty="0" sz="100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+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w)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bits</a:t>
            </a:r>
            <a:endParaRPr sz="1000">
              <a:latin typeface="Arial MT"/>
              <a:cs typeface="Arial MT"/>
            </a:endParaRPr>
          </a:p>
          <a:p>
            <a:pPr marL="38100" marR="30480">
              <a:lnSpc>
                <a:spcPct val="149000"/>
              </a:lnSpc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Number</a:t>
            </a:r>
            <a:r>
              <a:rPr dirty="0" sz="10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addressable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units</a:t>
            </a:r>
            <a:r>
              <a:rPr dirty="0" sz="1000" spc="9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2</a:t>
            </a:r>
            <a:r>
              <a:rPr dirty="0" baseline="25641" sz="975">
                <a:solidFill>
                  <a:srgbClr val="1A1A1A"/>
                </a:solidFill>
                <a:latin typeface="Arial MT"/>
                <a:cs typeface="Arial MT"/>
              </a:rPr>
              <a:t>s+w</a:t>
            </a:r>
            <a:r>
              <a:rPr dirty="0" baseline="25641" sz="975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words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or</a:t>
            </a:r>
            <a:r>
              <a:rPr dirty="0" sz="10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bytes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Block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size</a:t>
            </a:r>
            <a:r>
              <a:rPr dirty="0" sz="1000" spc="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line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size</a:t>
            </a:r>
            <a:r>
              <a:rPr dirty="0" sz="10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2</a:t>
            </a:r>
            <a:r>
              <a:rPr dirty="0" baseline="25641" sz="975">
                <a:solidFill>
                  <a:srgbClr val="1A1A1A"/>
                </a:solidFill>
                <a:latin typeface="Arial MT"/>
                <a:cs typeface="Arial MT"/>
              </a:rPr>
              <a:t>w</a:t>
            </a:r>
            <a:r>
              <a:rPr dirty="0" baseline="25641" sz="975" spc="202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words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or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bytes</a:t>
            </a:r>
            <a:endParaRPr sz="1000">
              <a:latin typeface="Arial MT"/>
              <a:cs typeface="Arial MT"/>
            </a:endParaRPr>
          </a:p>
          <a:p>
            <a:pPr marL="38100" marR="133350">
              <a:lnSpc>
                <a:spcPct val="149000"/>
              </a:lnSpc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Number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blocks</a:t>
            </a:r>
            <a:r>
              <a:rPr dirty="0" sz="100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dirty="0" sz="10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main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2</a:t>
            </a:r>
            <a:r>
              <a:rPr dirty="0" baseline="25641" sz="975">
                <a:solidFill>
                  <a:srgbClr val="1A1A1A"/>
                </a:solidFill>
                <a:latin typeface="Arial MT"/>
                <a:cs typeface="Arial MT"/>
              </a:rPr>
              <a:t>s+</a:t>
            </a:r>
            <a:r>
              <a:rPr dirty="0" baseline="25641" sz="975" spc="52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baseline="25641" sz="975">
                <a:solidFill>
                  <a:srgbClr val="1A1A1A"/>
                </a:solidFill>
                <a:latin typeface="Arial MT"/>
                <a:cs typeface="Arial MT"/>
              </a:rPr>
              <a:t>w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/2</a:t>
            </a:r>
            <a:r>
              <a:rPr dirty="0" baseline="25641" sz="975">
                <a:solidFill>
                  <a:srgbClr val="1A1A1A"/>
                </a:solidFill>
                <a:latin typeface="Arial MT"/>
                <a:cs typeface="Arial MT"/>
              </a:rPr>
              <a:t>w</a:t>
            </a:r>
            <a:r>
              <a:rPr dirty="0" baseline="25641" sz="975" spc="2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1A1A1A"/>
                </a:solidFill>
                <a:latin typeface="Arial MT"/>
                <a:cs typeface="Arial MT"/>
              </a:rPr>
              <a:t>2</a:t>
            </a:r>
            <a:r>
              <a:rPr dirty="0" baseline="25641" sz="975" spc="-37">
                <a:solidFill>
                  <a:srgbClr val="1A1A1A"/>
                </a:solidFill>
                <a:latin typeface="Arial MT"/>
                <a:cs typeface="Arial MT"/>
              </a:rPr>
              <a:t>s</a:t>
            </a:r>
            <a:r>
              <a:rPr dirty="0" baseline="25641" sz="975" spc="7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Number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lines</a:t>
            </a:r>
            <a:r>
              <a:rPr dirty="0" sz="10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dirty="0" sz="10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undetermined</a:t>
            </a:r>
            <a:endParaRPr sz="10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Size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00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tag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</a:t>
            </a:r>
            <a:r>
              <a:rPr dirty="0" sz="1000" spc="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bits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92023" y="688848"/>
            <a:ext cx="4777740" cy="36830"/>
          </a:xfrm>
          <a:custGeom>
            <a:avLst/>
            <a:gdLst/>
            <a:ahLst/>
            <a:cxnLst/>
            <a:rect l="l" t="t" r="r" b="b"/>
            <a:pathLst>
              <a:path w="4777740" h="36829">
                <a:moveTo>
                  <a:pt x="4777740" y="36576"/>
                </a:moveTo>
                <a:lnTo>
                  <a:pt x="0" y="36576"/>
                </a:lnTo>
                <a:lnTo>
                  <a:pt x="0" y="0"/>
                </a:lnTo>
                <a:lnTo>
                  <a:pt x="4777740" y="0"/>
                </a:lnTo>
                <a:lnTo>
                  <a:pt x="4777740" y="36576"/>
                </a:lnTo>
                <a:close/>
              </a:path>
            </a:pathLst>
          </a:custGeom>
          <a:solidFill>
            <a:srgbClr val="9090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724660" y="339191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1732" y="3339084"/>
            <a:ext cx="1336548" cy="214883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94203" y="452149"/>
            <a:ext cx="1713864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Set</a:t>
            </a:r>
            <a:r>
              <a:rPr dirty="0" sz="12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Associative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Mapping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417576" y="845820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5">
                <a:moveTo>
                  <a:pt x="39623" y="39623"/>
                </a:moveTo>
                <a:lnTo>
                  <a:pt x="0" y="39623"/>
                </a:lnTo>
                <a:lnTo>
                  <a:pt x="0" y="0"/>
                </a:lnTo>
                <a:lnTo>
                  <a:pt x="39623" y="0"/>
                </a:lnTo>
                <a:lnTo>
                  <a:pt x="39623" y="3962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17576" y="1228344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5">
                <a:moveTo>
                  <a:pt x="39623" y="39623"/>
                </a:moveTo>
                <a:lnTo>
                  <a:pt x="0" y="39623"/>
                </a:lnTo>
                <a:lnTo>
                  <a:pt x="0" y="0"/>
                </a:lnTo>
                <a:lnTo>
                  <a:pt x="39623" y="0"/>
                </a:lnTo>
                <a:lnTo>
                  <a:pt x="39623" y="3962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17576" y="1456944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5">
                <a:moveTo>
                  <a:pt x="39623" y="39623"/>
                </a:moveTo>
                <a:lnTo>
                  <a:pt x="0" y="39623"/>
                </a:lnTo>
                <a:lnTo>
                  <a:pt x="0" y="0"/>
                </a:lnTo>
                <a:lnTo>
                  <a:pt x="39623" y="0"/>
                </a:lnTo>
                <a:lnTo>
                  <a:pt x="39623" y="3962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17576" y="1684020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5">
                <a:moveTo>
                  <a:pt x="39623" y="39624"/>
                </a:moveTo>
                <a:lnTo>
                  <a:pt x="0" y="39624"/>
                </a:lnTo>
                <a:lnTo>
                  <a:pt x="0" y="0"/>
                </a:lnTo>
                <a:lnTo>
                  <a:pt x="39623" y="0"/>
                </a:lnTo>
                <a:lnTo>
                  <a:pt x="39623" y="3962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17576" y="1911095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5">
                <a:moveTo>
                  <a:pt x="39623" y="39624"/>
                </a:moveTo>
                <a:lnTo>
                  <a:pt x="0" y="39624"/>
                </a:lnTo>
                <a:lnTo>
                  <a:pt x="0" y="0"/>
                </a:lnTo>
                <a:lnTo>
                  <a:pt x="39623" y="0"/>
                </a:lnTo>
                <a:lnTo>
                  <a:pt x="39623" y="3962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555774" y="770608"/>
            <a:ext cx="4243070" cy="161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105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Compromise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that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exhibits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100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strengths</a:t>
            </a:r>
            <a:r>
              <a:rPr dirty="0" sz="10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both</a:t>
            </a:r>
            <a:r>
              <a:rPr dirty="0" sz="100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10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direct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dirty="0" sz="10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associative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approaches</a:t>
            </a:r>
            <a:r>
              <a:rPr dirty="0" sz="1000" spc="1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while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reducing</a:t>
            </a:r>
            <a:r>
              <a:rPr dirty="0" sz="1000" spc="10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their</a:t>
            </a:r>
            <a:r>
              <a:rPr dirty="0" sz="1000" spc="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disadvantages</a:t>
            </a:r>
            <a:endParaRPr sz="1000">
              <a:latin typeface="Arial MT"/>
              <a:cs typeface="Arial MT"/>
            </a:endParaRPr>
          </a:p>
          <a:p>
            <a:pPr marL="12700" marR="2151380">
              <a:lnSpc>
                <a:spcPct val="149000"/>
              </a:lnSpc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consists</a:t>
            </a:r>
            <a:r>
              <a:rPr dirty="0" sz="100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number</a:t>
            </a:r>
            <a:r>
              <a:rPr dirty="0" sz="1000" spc="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0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sets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Each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set</a:t>
            </a:r>
            <a:r>
              <a:rPr dirty="0" sz="10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contains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number</a:t>
            </a:r>
            <a:r>
              <a:rPr dirty="0" sz="100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0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lines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given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block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maps</a:t>
            </a:r>
            <a:r>
              <a:rPr dirty="0" sz="10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any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line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dirty="0" sz="100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dirty="0" sz="10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given</a:t>
            </a:r>
            <a:r>
              <a:rPr dirty="0" sz="10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1A1A1A"/>
                </a:solidFill>
                <a:latin typeface="Arial MT"/>
                <a:cs typeface="Arial MT"/>
              </a:rPr>
              <a:t>set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e.g.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2</a:t>
            </a:r>
            <a:r>
              <a:rPr dirty="0" sz="10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lines</a:t>
            </a:r>
            <a:r>
              <a:rPr dirty="0" sz="100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per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1A1A1A"/>
                </a:solidFill>
                <a:latin typeface="Arial MT"/>
                <a:cs typeface="Arial MT"/>
              </a:rPr>
              <a:t>set</a:t>
            </a:r>
            <a:endParaRPr sz="1000">
              <a:latin typeface="Arial MT"/>
              <a:cs typeface="Arial MT"/>
            </a:endParaRPr>
          </a:p>
          <a:p>
            <a:pPr marL="196215" indent="-132080">
              <a:lnSpc>
                <a:spcPct val="100000"/>
              </a:lnSpc>
              <a:spcBef>
                <a:spcPts val="250"/>
              </a:spcBef>
              <a:buChar char="•"/>
              <a:tabLst>
                <a:tab pos="196215" algn="l"/>
              </a:tabLst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2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way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associative</a:t>
            </a:r>
            <a:r>
              <a:rPr dirty="0" sz="10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mapping</a:t>
            </a:r>
            <a:endParaRPr sz="1000">
              <a:latin typeface="Arial MT"/>
              <a:cs typeface="Arial MT"/>
            </a:endParaRPr>
          </a:p>
          <a:p>
            <a:pPr marL="196215" indent="-132080">
              <a:lnSpc>
                <a:spcPct val="100000"/>
              </a:lnSpc>
              <a:spcBef>
                <a:spcPts val="254"/>
              </a:spcBef>
              <a:buChar char="•"/>
              <a:tabLst>
                <a:tab pos="196215" algn="l"/>
              </a:tabLst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dirty="0" sz="10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given block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can</a:t>
            </a:r>
            <a:r>
              <a:rPr dirty="0" sz="10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be in one</a:t>
            </a:r>
            <a:r>
              <a:rPr dirty="0" sz="10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of 2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lines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only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one </a:t>
            </a:r>
            <a:r>
              <a:rPr dirty="0" sz="1000" spc="-25">
                <a:solidFill>
                  <a:srgbClr val="1A1A1A"/>
                </a:solidFill>
                <a:latin typeface="Arial MT"/>
                <a:cs typeface="Arial MT"/>
              </a:rPr>
              <a:t>set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5378196" y="364489"/>
            <a:ext cx="5125720" cy="3204210"/>
            <a:chOff x="5378196" y="364489"/>
            <a:chExt cx="5125720" cy="3204210"/>
          </a:xfrm>
        </p:grpSpPr>
        <p:sp>
          <p:nvSpPr>
            <p:cNvPr id="13" name="object 13" descr=""/>
            <p:cNvSpPr/>
            <p:nvPr/>
          </p:nvSpPr>
          <p:spPr>
            <a:xfrm>
              <a:off x="5378183" y="364489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10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381244" y="688847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6"/>
                  </a:moveTo>
                  <a:lnTo>
                    <a:pt x="0" y="36576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6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6913880" y="339191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755255" y="930191"/>
            <a:ext cx="3721100" cy="2623820"/>
            <a:chOff x="6755255" y="930191"/>
            <a:chExt cx="3721100" cy="2623820"/>
          </a:xfrm>
        </p:grpSpPr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0951" y="3339083"/>
              <a:ext cx="1335023" cy="214883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55255" y="930191"/>
              <a:ext cx="2260989" cy="2388717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5583392" y="452149"/>
            <a:ext cx="269303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Mapping</a:t>
            </a:r>
            <a:r>
              <a:rPr dirty="0" sz="12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From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Main Memory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12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Cache: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901191" y="950466"/>
            <a:ext cx="675640" cy="309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100"/>
              </a:spcBef>
            </a:pPr>
            <a:r>
              <a:rPr dirty="0" sz="900" i="1">
                <a:latin typeface="Verdana"/>
                <a:cs typeface="Verdana"/>
              </a:rPr>
              <a:t>k</a:t>
            </a:r>
            <a:r>
              <a:rPr dirty="0" sz="900">
                <a:latin typeface="Verdana"/>
                <a:cs typeface="Verdana"/>
              </a:rPr>
              <a:t>-way</a:t>
            </a:r>
            <a:r>
              <a:rPr dirty="0" sz="900" spc="50">
                <a:latin typeface="Verdana"/>
                <a:cs typeface="Verdana"/>
              </a:rPr>
              <a:t> </a:t>
            </a:r>
            <a:r>
              <a:rPr dirty="0" sz="900" spc="-25">
                <a:latin typeface="Verdana"/>
                <a:cs typeface="Verdana"/>
              </a:rPr>
              <a:t>set </a:t>
            </a:r>
            <a:r>
              <a:rPr dirty="0" sz="900" spc="-10">
                <a:latin typeface="Verdana"/>
                <a:cs typeface="Verdana"/>
              </a:rPr>
              <a:t>associative</a:t>
            </a:r>
            <a:endParaRPr sz="900">
              <a:latin typeface="Verdana"/>
              <a:cs typeface="Verdana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88976" y="3991610"/>
            <a:ext cx="5125720" cy="3204210"/>
            <a:chOff x="188976" y="3991610"/>
            <a:chExt cx="5125720" cy="3204210"/>
          </a:xfrm>
        </p:grpSpPr>
        <p:sp>
          <p:nvSpPr>
            <p:cNvPr id="22" name="object 22" descr=""/>
            <p:cNvSpPr/>
            <p:nvPr/>
          </p:nvSpPr>
          <p:spPr>
            <a:xfrm>
              <a:off x="18896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604" y="0"/>
                  </a:lnTo>
                  <a:lnTo>
                    <a:pt x="5117604" y="7620"/>
                  </a:lnTo>
                  <a:lnTo>
                    <a:pt x="5117604" y="3196590"/>
                  </a:lnTo>
                  <a:lnTo>
                    <a:pt x="7632" y="3196590"/>
                  </a:lnTo>
                  <a:lnTo>
                    <a:pt x="7632" y="3197098"/>
                  </a:lnTo>
                  <a:lnTo>
                    <a:pt x="4584" y="3197098"/>
                  </a:lnTo>
                  <a:lnTo>
                    <a:pt x="4584" y="3196590"/>
                  </a:lnTo>
                  <a:lnTo>
                    <a:pt x="7632" y="3196590"/>
                  </a:lnTo>
                  <a:lnTo>
                    <a:pt x="7632" y="7620"/>
                  </a:lnTo>
                  <a:lnTo>
                    <a:pt x="5117604" y="7620"/>
                  </a:lnTo>
                  <a:lnTo>
                    <a:pt x="5117604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92024" y="4315968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172466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1083377" y="4506467"/>
            <a:ext cx="4204970" cy="2673350"/>
            <a:chOff x="1083377" y="4506467"/>
            <a:chExt cx="4204970" cy="2673350"/>
          </a:xfrm>
        </p:grpSpPr>
        <p:pic>
          <p:nvPicPr>
            <p:cNvPr id="26" name="object 2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51732" y="6966204"/>
              <a:ext cx="1336548" cy="213360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3377" y="4506467"/>
              <a:ext cx="3345339" cy="2338917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/>
          <p:nvPr/>
        </p:nvSpPr>
        <p:spPr>
          <a:xfrm>
            <a:off x="394203" y="4079179"/>
            <a:ext cx="296418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i="1">
                <a:solidFill>
                  <a:srgbClr val="1A1A1A"/>
                </a:solidFill>
                <a:latin typeface="Arial"/>
                <a:cs typeface="Arial"/>
              </a:rPr>
              <a:t>k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-Way</a:t>
            </a:r>
            <a:r>
              <a:rPr dirty="0" sz="12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Set</a:t>
            </a:r>
            <a:r>
              <a:rPr dirty="0" sz="120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Associative</a:t>
            </a:r>
            <a:r>
              <a:rPr dirty="0" sz="12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12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Organization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5378196" y="3991610"/>
            <a:ext cx="5125720" cy="3204210"/>
            <a:chOff x="5378196" y="3991610"/>
            <a:chExt cx="5125720" cy="3204210"/>
          </a:xfrm>
        </p:grpSpPr>
        <p:sp>
          <p:nvSpPr>
            <p:cNvPr id="30" name="object 30" descr=""/>
            <p:cNvSpPr/>
            <p:nvPr/>
          </p:nvSpPr>
          <p:spPr>
            <a:xfrm>
              <a:off x="537818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381244" y="4315968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691388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5606796" y="4472940"/>
            <a:ext cx="4869180" cy="2707005"/>
            <a:chOff x="5606796" y="4472940"/>
            <a:chExt cx="4869180" cy="2707005"/>
          </a:xfrm>
        </p:grpSpPr>
        <p:pic>
          <p:nvPicPr>
            <p:cNvPr id="34" name="object 3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0951" y="6966204"/>
              <a:ext cx="1335023" cy="213360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5606796" y="4472940"/>
              <a:ext cx="40005" cy="1859280"/>
            </a:xfrm>
            <a:custGeom>
              <a:avLst/>
              <a:gdLst/>
              <a:ahLst/>
              <a:cxnLst/>
              <a:rect l="l" t="t" r="r" b="b"/>
              <a:pathLst>
                <a:path w="40004" h="1859279">
                  <a:moveTo>
                    <a:pt x="39611" y="1819668"/>
                  </a:moveTo>
                  <a:lnTo>
                    <a:pt x="0" y="1819668"/>
                  </a:lnTo>
                  <a:lnTo>
                    <a:pt x="0" y="1859280"/>
                  </a:lnTo>
                  <a:lnTo>
                    <a:pt x="39611" y="1859280"/>
                  </a:lnTo>
                  <a:lnTo>
                    <a:pt x="39611" y="1819668"/>
                  </a:lnTo>
                  <a:close/>
                </a:path>
                <a:path w="40004" h="1859279">
                  <a:moveTo>
                    <a:pt x="39611" y="1591068"/>
                  </a:moveTo>
                  <a:lnTo>
                    <a:pt x="0" y="1591068"/>
                  </a:lnTo>
                  <a:lnTo>
                    <a:pt x="0" y="1630680"/>
                  </a:lnTo>
                  <a:lnTo>
                    <a:pt x="39611" y="1630680"/>
                  </a:lnTo>
                  <a:lnTo>
                    <a:pt x="39611" y="1591068"/>
                  </a:lnTo>
                  <a:close/>
                </a:path>
                <a:path w="40004" h="1859279">
                  <a:moveTo>
                    <a:pt x="39611" y="1363980"/>
                  </a:moveTo>
                  <a:lnTo>
                    <a:pt x="0" y="1363980"/>
                  </a:lnTo>
                  <a:lnTo>
                    <a:pt x="0" y="1403616"/>
                  </a:lnTo>
                  <a:lnTo>
                    <a:pt x="39611" y="1403616"/>
                  </a:lnTo>
                  <a:lnTo>
                    <a:pt x="39611" y="1363980"/>
                  </a:lnTo>
                  <a:close/>
                </a:path>
                <a:path w="40004" h="1859279">
                  <a:moveTo>
                    <a:pt x="39611" y="1136916"/>
                  </a:moveTo>
                  <a:lnTo>
                    <a:pt x="0" y="1136916"/>
                  </a:lnTo>
                  <a:lnTo>
                    <a:pt x="0" y="1176528"/>
                  </a:lnTo>
                  <a:lnTo>
                    <a:pt x="39611" y="1176528"/>
                  </a:lnTo>
                  <a:lnTo>
                    <a:pt x="39611" y="1136916"/>
                  </a:lnTo>
                  <a:close/>
                </a:path>
                <a:path w="40004" h="1859279">
                  <a:moveTo>
                    <a:pt x="39611" y="909828"/>
                  </a:moveTo>
                  <a:lnTo>
                    <a:pt x="0" y="909828"/>
                  </a:lnTo>
                  <a:lnTo>
                    <a:pt x="0" y="949464"/>
                  </a:lnTo>
                  <a:lnTo>
                    <a:pt x="39611" y="949464"/>
                  </a:lnTo>
                  <a:lnTo>
                    <a:pt x="39611" y="909828"/>
                  </a:lnTo>
                  <a:close/>
                </a:path>
                <a:path w="40004" h="1859279">
                  <a:moveTo>
                    <a:pt x="39611" y="681228"/>
                  </a:moveTo>
                  <a:lnTo>
                    <a:pt x="0" y="681228"/>
                  </a:lnTo>
                  <a:lnTo>
                    <a:pt x="0" y="720864"/>
                  </a:lnTo>
                  <a:lnTo>
                    <a:pt x="39611" y="720864"/>
                  </a:lnTo>
                  <a:lnTo>
                    <a:pt x="39611" y="681228"/>
                  </a:lnTo>
                  <a:close/>
                </a:path>
                <a:path w="40004" h="1859279">
                  <a:moveTo>
                    <a:pt x="39611" y="454164"/>
                  </a:moveTo>
                  <a:lnTo>
                    <a:pt x="0" y="454164"/>
                  </a:lnTo>
                  <a:lnTo>
                    <a:pt x="0" y="493776"/>
                  </a:lnTo>
                  <a:lnTo>
                    <a:pt x="39611" y="493776"/>
                  </a:lnTo>
                  <a:lnTo>
                    <a:pt x="39611" y="454164"/>
                  </a:lnTo>
                  <a:close/>
                </a:path>
                <a:path w="40004" h="1859279">
                  <a:moveTo>
                    <a:pt x="39611" y="227076"/>
                  </a:moveTo>
                  <a:lnTo>
                    <a:pt x="0" y="227076"/>
                  </a:lnTo>
                  <a:lnTo>
                    <a:pt x="0" y="266700"/>
                  </a:lnTo>
                  <a:lnTo>
                    <a:pt x="39611" y="266700"/>
                  </a:lnTo>
                  <a:lnTo>
                    <a:pt x="39611" y="227076"/>
                  </a:lnTo>
                  <a:close/>
                </a:path>
                <a:path w="40004" h="1859279">
                  <a:moveTo>
                    <a:pt x="39611" y="0"/>
                  </a:moveTo>
                  <a:lnTo>
                    <a:pt x="0" y="0"/>
                  </a:lnTo>
                  <a:lnTo>
                    <a:pt x="0" y="39636"/>
                  </a:lnTo>
                  <a:lnTo>
                    <a:pt x="39611" y="39636"/>
                  </a:lnTo>
                  <a:lnTo>
                    <a:pt x="39611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5583392" y="4079179"/>
            <a:ext cx="241300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Set</a:t>
            </a:r>
            <a:r>
              <a:rPr dirty="0" sz="1200" spc="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Associative</a:t>
            </a:r>
            <a:r>
              <a:rPr dirty="0" sz="12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Mapping</a:t>
            </a:r>
            <a:r>
              <a:rPr dirty="0" sz="12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Summary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5719522" y="4328029"/>
            <a:ext cx="3001010" cy="207073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80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Address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length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(s</a:t>
            </a:r>
            <a:r>
              <a:rPr dirty="0" sz="100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+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w)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bits</a:t>
            </a:r>
            <a:endParaRPr sz="1000">
              <a:latin typeface="Arial MT"/>
              <a:cs typeface="Arial MT"/>
            </a:endParaRPr>
          </a:p>
          <a:p>
            <a:pPr marL="38100" marR="30480">
              <a:lnSpc>
                <a:spcPct val="149000"/>
              </a:lnSpc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Number</a:t>
            </a:r>
            <a:r>
              <a:rPr dirty="0" sz="10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addressable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units</a:t>
            </a:r>
            <a:r>
              <a:rPr dirty="0" sz="1000" spc="9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2</a:t>
            </a:r>
            <a:r>
              <a:rPr dirty="0" baseline="25641" sz="975">
                <a:solidFill>
                  <a:srgbClr val="1A1A1A"/>
                </a:solidFill>
                <a:latin typeface="Arial MT"/>
                <a:cs typeface="Arial MT"/>
              </a:rPr>
              <a:t>s+w</a:t>
            </a:r>
            <a:r>
              <a:rPr dirty="0" baseline="25641" sz="975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words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or</a:t>
            </a:r>
            <a:r>
              <a:rPr dirty="0" sz="10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bytes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Block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size</a:t>
            </a:r>
            <a:r>
              <a:rPr dirty="0" sz="1000" spc="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line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size</a:t>
            </a:r>
            <a:r>
              <a:rPr dirty="0" sz="10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2</a:t>
            </a:r>
            <a:r>
              <a:rPr dirty="0" baseline="25641" sz="975">
                <a:solidFill>
                  <a:srgbClr val="1A1A1A"/>
                </a:solidFill>
                <a:latin typeface="Arial MT"/>
                <a:cs typeface="Arial MT"/>
              </a:rPr>
              <a:t>w</a:t>
            </a:r>
            <a:r>
              <a:rPr dirty="0" baseline="25641" sz="975" spc="202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words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or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bytes</a:t>
            </a:r>
            <a:endParaRPr sz="1000">
              <a:latin typeface="Arial MT"/>
              <a:cs typeface="Arial MT"/>
            </a:endParaRPr>
          </a:p>
          <a:p>
            <a:pPr marL="38100" marR="271780">
              <a:lnSpc>
                <a:spcPct val="149000"/>
              </a:lnSpc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Number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blocks</a:t>
            </a:r>
            <a:r>
              <a:rPr dirty="0" sz="100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main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2</a:t>
            </a:r>
            <a:r>
              <a:rPr dirty="0" baseline="25641" sz="975" spc="-15">
                <a:solidFill>
                  <a:srgbClr val="1A1A1A"/>
                </a:solidFill>
                <a:latin typeface="Arial MT"/>
                <a:cs typeface="Arial MT"/>
              </a:rPr>
              <a:t>s+w/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2</a:t>
            </a:r>
            <a:r>
              <a:rPr dirty="0" baseline="25641" sz="975" spc="-15">
                <a:solidFill>
                  <a:srgbClr val="1A1A1A"/>
                </a:solidFill>
                <a:latin typeface="Arial MT"/>
                <a:cs typeface="Arial MT"/>
              </a:rPr>
              <a:t>w=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2</a:t>
            </a:r>
            <a:r>
              <a:rPr dirty="0" baseline="25641" sz="975" spc="-15">
                <a:solidFill>
                  <a:srgbClr val="1A1A1A"/>
                </a:solidFill>
                <a:latin typeface="Arial MT"/>
                <a:cs typeface="Arial MT"/>
              </a:rPr>
              <a:t>s</a:t>
            </a:r>
            <a:r>
              <a:rPr dirty="0" baseline="25641" sz="975" spc="7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Number</a:t>
            </a:r>
            <a:r>
              <a:rPr dirty="0" sz="100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lines</a:t>
            </a:r>
            <a:r>
              <a:rPr dirty="0" sz="10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set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50">
                <a:solidFill>
                  <a:srgbClr val="1A1A1A"/>
                </a:solidFill>
                <a:latin typeface="Arial MT"/>
                <a:cs typeface="Arial MT"/>
              </a:rPr>
              <a:t>k</a:t>
            </a:r>
            <a:endParaRPr sz="10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Number</a:t>
            </a:r>
            <a:r>
              <a:rPr dirty="0" sz="100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sets</a:t>
            </a:r>
            <a:r>
              <a:rPr dirty="0" sz="100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v</a:t>
            </a:r>
            <a:r>
              <a:rPr dirty="0" sz="1000" spc="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1A1A1A"/>
                </a:solidFill>
                <a:latin typeface="Arial MT"/>
                <a:cs typeface="Arial MT"/>
              </a:rPr>
              <a:t>2</a:t>
            </a:r>
            <a:r>
              <a:rPr dirty="0" baseline="25641" sz="975" spc="-37">
                <a:solidFill>
                  <a:srgbClr val="1A1A1A"/>
                </a:solidFill>
                <a:latin typeface="Arial MT"/>
                <a:cs typeface="Arial MT"/>
              </a:rPr>
              <a:t>d</a:t>
            </a:r>
            <a:endParaRPr baseline="25641" sz="975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575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Number</a:t>
            </a:r>
            <a:r>
              <a:rPr dirty="0" sz="100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lines</a:t>
            </a:r>
            <a:r>
              <a:rPr dirty="0" sz="10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100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m=kv</a:t>
            </a:r>
            <a:r>
              <a:rPr dirty="0" sz="100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k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*</a:t>
            </a:r>
            <a:r>
              <a:rPr dirty="0" sz="100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1A1A1A"/>
                </a:solidFill>
                <a:latin typeface="Arial MT"/>
                <a:cs typeface="Arial MT"/>
              </a:rPr>
              <a:t>2</a:t>
            </a:r>
            <a:r>
              <a:rPr dirty="0" baseline="25641" sz="975" spc="-37">
                <a:solidFill>
                  <a:srgbClr val="1A1A1A"/>
                </a:solidFill>
                <a:latin typeface="Arial MT"/>
                <a:cs typeface="Arial MT"/>
              </a:rPr>
              <a:t>d</a:t>
            </a:r>
            <a:endParaRPr baseline="25641" sz="975">
              <a:latin typeface="Arial MT"/>
              <a:cs typeface="Arial MT"/>
            </a:endParaRPr>
          </a:p>
          <a:p>
            <a:pPr marL="38100" marR="723265">
              <a:lnSpc>
                <a:spcPct val="149000"/>
              </a:lnSpc>
              <a:spcBef>
                <a:spcPts val="10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Size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100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i="1">
                <a:solidFill>
                  <a:srgbClr val="1A1A1A"/>
                </a:solidFill>
                <a:latin typeface="Arial"/>
                <a:cs typeface="Arial"/>
              </a:rPr>
              <a:t>k</a:t>
            </a:r>
            <a:r>
              <a:rPr dirty="0" sz="1000" spc="45" i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1A1A1A"/>
                </a:solidFill>
                <a:latin typeface="Arial"/>
                <a:cs typeface="Arial"/>
              </a:rPr>
              <a:t>*</a:t>
            </a:r>
            <a:r>
              <a:rPr dirty="0" sz="1000" spc="35" i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1A1A1A"/>
                </a:solidFill>
                <a:latin typeface="Arial"/>
                <a:cs typeface="Arial"/>
              </a:rPr>
              <a:t>2</a:t>
            </a:r>
            <a:r>
              <a:rPr dirty="0" baseline="27777" sz="900">
                <a:solidFill>
                  <a:srgbClr val="1A1A1A"/>
                </a:solidFill>
                <a:latin typeface="Arial MT"/>
                <a:cs typeface="Arial MT"/>
              </a:rPr>
              <a:t>d+w</a:t>
            </a:r>
            <a:r>
              <a:rPr dirty="0" baseline="27777" sz="900" spc="232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words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or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bytes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Size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00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tag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=</a:t>
            </a:r>
            <a:r>
              <a:rPr dirty="0" sz="100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(s</a:t>
            </a:r>
            <a:r>
              <a:rPr dirty="0" sz="10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–</a:t>
            </a:r>
            <a:r>
              <a:rPr dirty="0" sz="100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d)</a:t>
            </a:r>
            <a:r>
              <a:rPr dirty="0" sz="10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bits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92023" y="688848"/>
            <a:ext cx="4777740" cy="36830"/>
          </a:xfrm>
          <a:custGeom>
            <a:avLst/>
            <a:gdLst/>
            <a:ahLst/>
            <a:cxnLst/>
            <a:rect l="l" t="t" r="r" b="b"/>
            <a:pathLst>
              <a:path w="4777740" h="36829">
                <a:moveTo>
                  <a:pt x="4777740" y="36576"/>
                </a:moveTo>
                <a:lnTo>
                  <a:pt x="0" y="36576"/>
                </a:lnTo>
                <a:lnTo>
                  <a:pt x="0" y="0"/>
                </a:lnTo>
                <a:lnTo>
                  <a:pt x="4777740" y="0"/>
                </a:lnTo>
                <a:lnTo>
                  <a:pt x="4777740" y="36576"/>
                </a:lnTo>
                <a:close/>
              </a:path>
            </a:pathLst>
          </a:custGeom>
          <a:solidFill>
            <a:srgbClr val="9090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724660" y="339191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950975" y="769620"/>
            <a:ext cx="4335780" cy="2783205"/>
            <a:chOff x="950975" y="769620"/>
            <a:chExt cx="4335780" cy="278320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51732" y="3340608"/>
              <a:ext cx="1335023" cy="21183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0975" y="769620"/>
              <a:ext cx="3598164" cy="2691383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7856" y="3416808"/>
              <a:ext cx="149351" cy="35051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2743200" y="3416808"/>
              <a:ext cx="5080" cy="35560"/>
            </a:xfrm>
            <a:custGeom>
              <a:avLst/>
              <a:gdLst/>
              <a:ahLst/>
              <a:cxnLst/>
              <a:rect l="l" t="t" r="r" b="b"/>
              <a:pathLst>
                <a:path w="5080" h="35560">
                  <a:moveTo>
                    <a:pt x="4572" y="0"/>
                  </a:moveTo>
                  <a:lnTo>
                    <a:pt x="0" y="0"/>
                  </a:lnTo>
                  <a:lnTo>
                    <a:pt x="0" y="4572"/>
                  </a:lnTo>
                  <a:lnTo>
                    <a:pt x="4572" y="4572"/>
                  </a:lnTo>
                  <a:lnTo>
                    <a:pt x="4572" y="0"/>
                  </a:lnTo>
                  <a:close/>
                </a:path>
                <a:path w="5080" h="35560">
                  <a:moveTo>
                    <a:pt x="4572" y="9143"/>
                  </a:moveTo>
                  <a:lnTo>
                    <a:pt x="0" y="9143"/>
                  </a:lnTo>
                  <a:lnTo>
                    <a:pt x="0" y="35051"/>
                  </a:lnTo>
                  <a:lnTo>
                    <a:pt x="4572" y="35051"/>
                  </a:lnTo>
                  <a:lnTo>
                    <a:pt x="4572" y="9143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46832" y="3415283"/>
              <a:ext cx="387095" cy="36575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3060191" y="3416808"/>
              <a:ext cx="5080" cy="35560"/>
            </a:xfrm>
            <a:custGeom>
              <a:avLst/>
              <a:gdLst/>
              <a:ahLst/>
              <a:cxnLst/>
              <a:rect l="l" t="t" r="r" b="b"/>
              <a:pathLst>
                <a:path w="5080" h="35560">
                  <a:moveTo>
                    <a:pt x="4572" y="0"/>
                  </a:moveTo>
                  <a:lnTo>
                    <a:pt x="0" y="0"/>
                  </a:lnTo>
                  <a:lnTo>
                    <a:pt x="0" y="4572"/>
                  </a:lnTo>
                  <a:lnTo>
                    <a:pt x="4572" y="4572"/>
                  </a:lnTo>
                  <a:lnTo>
                    <a:pt x="4572" y="0"/>
                  </a:lnTo>
                  <a:close/>
                </a:path>
                <a:path w="5080" h="35560">
                  <a:moveTo>
                    <a:pt x="4572" y="9143"/>
                  </a:moveTo>
                  <a:lnTo>
                    <a:pt x="0" y="9143"/>
                  </a:lnTo>
                  <a:lnTo>
                    <a:pt x="0" y="35051"/>
                  </a:lnTo>
                  <a:lnTo>
                    <a:pt x="4572" y="35051"/>
                  </a:lnTo>
                  <a:lnTo>
                    <a:pt x="4572" y="9143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43072" y="3415283"/>
              <a:ext cx="513587" cy="45719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3646932" y="3416808"/>
              <a:ext cx="5080" cy="35560"/>
            </a:xfrm>
            <a:custGeom>
              <a:avLst/>
              <a:gdLst/>
              <a:ahLst/>
              <a:cxnLst/>
              <a:rect l="l" t="t" r="r" b="b"/>
              <a:pathLst>
                <a:path w="5079" h="35560">
                  <a:moveTo>
                    <a:pt x="4571" y="0"/>
                  </a:moveTo>
                  <a:lnTo>
                    <a:pt x="0" y="0"/>
                  </a:lnTo>
                  <a:lnTo>
                    <a:pt x="0" y="4572"/>
                  </a:lnTo>
                  <a:lnTo>
                    <a:pt x="4571" y="4572"/>
                  </a:lnTo>
                  <a:lnTo>
                    <a:pt x="4571" y="0"/>
                  </a:lnTo>
                  <a:close/>
                </a:path>
                <a:path w="5079" h="35560">
                  <a:moveTo>
                    <a:pt x="4571" y="9143"/>
                  </a:moveTo>
                  <a:lnTo>
                    <a:pt x="0" y="9143"/>
                  </a:lnTo>
                  <a:lnTo>
                    <a:pt x="0" y="35051"/>
                  </a:lnTo>
                  <a:lnTo>
                    <a:pt x="4571" y="35051"/>
                  </a:lnTo>
                  <a:lnTo>
                    <a:pt x="4571" y="9143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51732" y="3339084"/>
              <a:ext cx="598932" cy="120396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394203" y="452149"/>
            <a:ext cx="280797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2-way</a:t>
            </a:r>
            <a:r>
              <a:rPr dirty="0" sz="12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Set</a:t>
            </a:r>
            <a:r>
              <a:rPr dirty="0" sz="120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Associative</a:t>
            </a:r>
            <a:r>
              <a:rPr dirty="0" sz="12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Mapping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Example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5378196" y="364489"/>
            <a:ext cx="5125720" cy="3204210"/>
            <a:chOff x="5378196" y="364489"/>
            <a:chExt cx="5125720" cy="3204210"/>
          </a:xfrm>
        </p:grpSpPr>
        <p:sp>
          <p:nvSpPr>
            <p:cNvPr id="16" name="object 16" descr=""/>
            <p:cNvSpPr/>
            <p:nvPr/>
          </p:nvSpPr>
          <p:spPr>
            <a:xfrm>
              <a:off x="5378183" y="364489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10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381244" y="688847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6"/>
                  </a:moveTo>
                  <a:lnTo>
                    <a:pt x="0" y="36576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6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6913880" y="339191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6307818" y="1050270"/>
            <a:ext cx="4168775" cy="2503805"/>
            <a:chOff x="6307818" y="1050270"/>
            <a:chExt cx="4168775" cy="2503805"/>
          </a:xfrm>
        </p:grpSpPr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40951" y="3339083"/>
              <a:ext cx="1335023" cy="214883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07818" y="1050270"/>
              <a:ext cx="3235554" cy="2215661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5583392" y="452149"/>
            <a:ext cx="264795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Varying</a:t>
            </a:r>
            <a:r>
              <a:rPr dirty="0" sz="12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Associativity</a:t>
            </a:r>
            <a:r>
              <a:rPr dirty="0" sz="120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Over</a:t>
            </a:r>
            <a:r>
              <a:rPr dirty="0" sz="12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12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1A1A1A"/>
                </a:solidFill>
                <a:latin typeface="Arial MT"/>
                <a:cs typeface="Arial MT"/>
              </a:rPr>
              <a:t>Size</a:t>
            </a:r>
            <a:endParaRPr sz="1200">
              <a:latin typeface="Arial MT"/>
              <a:cs typeface="Arial MT"/>
            </a:endParaRPr>
          </a:p>
        </p:txBody>
      </p:sp>
      <p:graphicFrame>
        <p:nvGraphicFramePr>
          <p:cNvPr id="23" name="object 23" descr=""/>
          <p:cNvGraphicFramePr>
            <a:graphicFrameLocks noGrp="1"/>
          </p:cNvGraphicFramePr>
          <p:nvPr/>
        </p:nvGraphicFramePr>
        <p:xfrm>
          <a:off x="188976" y="3991610"/>
          <a:ext cx="5201920" cy="3195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77105"/>
                <a:gridCol w="340995"/>
              </a:tblGrid>
              <a:tr h="338455">
                <a:tc>
                  <a:txBody>
                    <a:bodyPr/>
                    <a:lstStyle/>
                    <a:p>
                      <a:pPr marL="21399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12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Replacement</a:t>
                      </a:r>
                      <a:r>
                        <a:rPr dirty="0" sz="1200" spc="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Algorithms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9779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90909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857500">
                <a:tc gridSpan="2">
                  <a:txBody>
                    <a:bodyPr/>
                    <a:lstStyle/>
                    <a:p>
                      <a:pPr marL="375285" marR="326390">
                        <a:lnSpc>
                          <a:spcPct val="102000"/>
                        </a:lnSpc>
                        <a:spcBef>
                          <a:spcPts val="605"/>
                        </a:spcBef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Once</a:t>
                      </a:r>
                      <a:r>
                        <a:rPr dirty="0" sz="1000" spc="4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000" spc="7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cache</a:t>
                      </a:r>
                      <a:r>
                        <a:rPr dirty="0" sz="1000" spc="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has</a:t>
                      </a:r>
                      <a:r>
                        <a:rPr dirty="0" sz="1000" spc="6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been</a:t>
                      </a:r>
                      <a:r>
                        <a:rPr dirty="0" sz="1000" spc="7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filled,</a:t>
                      </a:r>
                      <a:r>
                        <a:rPr dirty="0" sz="1000" spc="6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when</a:t>
                      </a:r>
                      <a:r>
                        <a:rPr dirty="0" sz="1000" spc="8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000" spc="7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new</a:t>
                      </a:r>
                      <a:r>
                        <a:rPr dirty="0" sz="1000" spc="6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block</a:t>
                      </a:r>
                      <a:r>
                        <a:rPr dirty="0" sz="1000" spc="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000" spc="5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brought</a:t>
                      </a:r>
                      <a:r>
                        <a:rPr dirty="0" sz="1000" spc="7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into</a:t>
                      </a:r>
                      <a:r>
                        <a:rPr dirty="0" sz="1000" spc="4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000" spc="7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cache,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one</a:t>
                      </a:r>
                      <a:r>
                        <a:rPr dirty="0" sz="1000" spc="6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000" spc="6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000" spc="4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existing</a:t>
                      </a:r>
                      <a:r>
                        <a:rPr dirty="0" sz="1000" spc="5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blocks</a:t>
                      </a:r>
                      <a:r>
                        <a:rPr dirty="0" sz="1000" spc="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must</a:t>
                      </a:r>
                      <a:r>
                        <a:rPr dirty="0" sz="1000" spc="6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000" spc="7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replaced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375285" marR="281940">
                        <a:lnSpc>
                          <a:spcPct val="103000"/>
                        </a:lnSpc>
                        <a:spcBef>
                          <a:spcPts val="555"/>
                        </a:spcBef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000" spc="6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direct</a:t>
                      </a:r>
                      <a:r>
                        <a:rPr dirty="0" sz="1000" spc="7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mapping</a:t>
                      </a:r>
                      <a:r>
                        <a:rPr dirty="0" sz="1000" spc="7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there</a:t>
                      </a:r>
                      <a:r>
                        <a:rPr dirty="0" sz="1000" spc="6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000" spc="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only</a:t>
                      </a:r>
                      <a:r>
                        <a:rPr dirty="0" sz="1000" spc="6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one</a:t>
                      </a:r>
                      <a:r>
                        <a:rPr dirty="0" sz="1000" spc="6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possible</a:t>
                      </a:r>
                      <a:r>
                        <a:rPr dirty="0" sz="1000" spc="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line</a:t>
                      </a:r>
                      <a:r>
                        <a:rPr dirty="0" sz="1000" spc="7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000" spc="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any</a:t>
                      </a:r>
                      <a:r>
                        <a:rPr dirty="0" sz="1000" spc="7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particular</a:t>
                      </a:r>
                      <a:r>
                        <a:rPr dirty="0" sz="1000" spc="8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block</a:t>
                      </a:r>
                      <a:r>
                        <a:rPr dirty="0" sz="1000" spc="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and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r>
                        <a:rPr dirty="0" sz="1000" spc="5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choice</a:t>
                      </a:r>
                      <a:r>
                        <a:rPr dirty="0" sz="1000" spc="4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000" spc="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possible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375285" marR="242570">
                        <a:lnSpc>
                          <a:spcPct val="103000"/>
                        </a:lnSpc>
                        <a:spcBef>
                          <a:spcPts val="550"/>
                        </a:spcBef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000" spc="10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000" spc="10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associative</a:t>
                      </a:r>
                      <a:r>
                        <a:rPr dirty="0" sz="1000" spc="6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000" spc="9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set-associative</a:t>
                      </a:r>
                      <a:r>
                        <a:rPr dirty="0" sz="1000" spc="6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techniques</a:t>
                      </a:r>
                      <a:r>
                        <a:rPr dirty="0" sz="1000" spc="1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000" spc="10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replacement</a:t>
                      </a:r>
                      <a:r>
                        <a:rPr dirty="0" sz="1000" spc="114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algorithm</a:t>
                      </a:r>
                      <a:r>
                        <a:rPr dirty="0" sz="1000" spc="1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is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needed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37528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000" spc="3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achieve</a:t>
                      </a:r>
                      <a:r>
                        <a:rPr dirty="0" sz="1000" spc="6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high</a:t>
                      </a:r>
                      <a:r>
                        <a:rPr dirty="0" sz="1000" spc="8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speed,</a:t>
                      </a:r>
                      <a:r>
                        <a:rPr dirty="0" sz="1000" spc="7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an</a:t>
                      </a:r>
                      <a:r>
                        <a:rPr dirty="0" sz="1000" spc="8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algorithm</a:t>
                      </a:r>
                      <a:r>
                        <a:rPr dirty="0" sz="1000" spc="7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must</a:t>
                      </a:r>
                      <a:r>
                        <a:rPr dirty="0" sz="1000" spc="5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000" spc="8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implemented</a:t>
                      </a:r>
                      <a:r>
                        <a:rPr dirty="0" sz="1000" spc="9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000" spc="6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hardware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reproduced</a:t>
                      </a:r>
                      <a:r>
                        <a:rPr dirty="0" sz="350" spc="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based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on</a:t>
                      </a:r>
                      <a:r>
                        <a:rPr dirty="0" sz="350" spc="6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Computer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Organization</a:t>
                      </a:r>
                      <a:r>
                        <a:rPr dirty="0" sz="350" spc="26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350" spc="6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Architecture,</a:t>
                      </a:r>
                      <a:r>
                        <a:rPr dirty="0" sz="350" spc="8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9ed(by</a:t>
                      </a:r>
                      <a:r>
                        <a:rPr dirty="0" sz="350" spc="6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W.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Stallings)</a:t>
                      </a:r>
                      <a:endParaRPr sz="3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6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2013</a:t>
                      </a:r>
                      <a:r>
                        <a:rPr dirty="0" sz="350" spc="6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Computer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Organization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Architecture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768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24" name="object 2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51732" y="6966204"/>
            <a:ext cx="1336548" cy="213360"/>
          </a:xfrm>
          <a:prstGeom prst="rect">
            <a:avLst/>
          </a:prstGeom>
        </p:spPr>
      </p:pic>
      <p:sp>
        <p:nvSpPr>
          <p:cNvPr id="25" name="object 25" descr=""/>
          <p:cNvSpPr/>
          <p:nvPr/>
        </p:nvSpPr>
        <p:spPr>
          <a:xfrm>
            <a:off x="417576" y="4472940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39623" y="39624"/>
                </a:moveTo>
                <a:lnTo>
                  <a:pt x="0" y="39624"/>
                </a:lnTo>
                <a:lnTo>
                  <a:pt x="0" y="0"/>
                </a:lnTo>
                <a:lnTo>
                  <a:pt x="39623" y="0"/>
                </a:lnTo>
                <a:lnTo>
                  <a:pt x="39623" y="3962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417576" y="4855464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39623" y="39623"/>
                </a:moveTo>
                <a:lnTo>
                  <a:pt x="0" y="39623"/>
                </a:lnTo>
                <a:lnTo>
                  <a:pt x="0" y="0"/>
                </a:lnTo>
                <a:lnTo>
                  <a:pt x="39623" y="0"/>
                </a:lnTo>
                <a:lnTo>
                  <a:pt x="39623" y="3962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417576" y="5239512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39623" y="39623"/>
                </a:moveTo>
                <a:lnTo>
                  <a:pt x="0" y="39623"/>
                </a:lnTo>
                <a:lnTo>
                  <a:pt x="0" y="0"/>
                </a:lnTo>
                <a:lnTo>
                  <a:pt x="39623" y="0"/>
                </a:lnTo>
                <a:lnTo>
                  <a:pt x="39623" y="3962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417576" y="5623560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39623" y="39623"/>
                </a:moveTo>
                <a:lnTo>
                  <a:pt x="0" y="39623"/>
                </a:lnTo>
                <a:lnTo>
                  <a:pt x="0" y="0"/>
                </a:lnTo>
                <a:lnTo>
                  <a:pt x="39623" y="0"/>
                </a:lnTo>
                <a:lnTo>
                  <a:pt x="39623" y="3962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9" name="object 29" descr=""/>
          <p:cNvGrpSpPr/>
          <p:nvPr/>
        </p:nvGrpSpPr>
        <p:grpSpPr>
          <a:xfrm>
            <a:off x="5378196" y="3991610"/>
            <a:ext cx="5125720" cy="3204210"/>
            <a:chOff x="5378196" y="3991610"/>
            <a:chExt cx="5125720" cy="3204210"/>
          </a:xfrm>
        </p:grpSpPr>
        <p:sp>
          <p:nvSpPr>
            <p:cNvPr id="30" name="object 30" descr=""/>
            <p:cNvSpPr/>
            <p:nvPr/>
          </p:nvSpPr>
          <p:spPr>
            <a:xfrm>
              <a:off x="537818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381244" y="4315968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691388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5606796" y="4472940"/>
            <a:ext cx="4869180" cy="2707005"/>
            <a:chOff x="5606796" y="4472940"/>
            <a:chExt cx="4869180" cy="2707005"/>
          </a:xfrm>
        </p:grpSpPr>
        <p:pic>
          <p:nvPicPr>
            <p:cNvPr id="34" name="object 3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40951" y="6966204"/>
              <a:ext cx="1335023" cy="213360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5606796" y="4472940"/>
              <a:ext cx="40005" cy="1722755"/>
            </a:xfrm>
            <a:custGeom>
              <a:avLst/>
              <a:gdLst/>
              <a:ahLst/>
              <a:cxnLst/>
              <a:rect l="l" t="t" r="r" b="b"/>
              <a:pathLst>
                <a:path w="40004" h="1722754">
                  <a:moveTo>
                    <a:pt x="39611" y="1682496"/>
                  </a:moveTo>
                  <a:lnTo>
                    <a:pt x="0" y="1682496"/>
                  </a:lnTo>
                  <a:lnTo>
                    <a:pt x="0" y="1722132"/>
                  </a:lnTo>
                  <a:lnTo>
                    <a:pt x="39611" y="1722132"/>
                  </a:lnTo>
                  <a:lnTo>
                    <a:pt x="39611" y="1682496"/>
                  </a:lnTo>
                  <a:close/>
                </a:path>
                <a:path w="40004" h="1722754">
                  <a:moveTo>
                    <a:pt x="39611" y="1086612"/>
                  </a:moveTo>
                  <a:lnTo>
                    <a:pt x="0" y="1086612"/>
                  </a:lnTo>
                  <a:lnTo>
                    <a:pt x="0" y="1126248"/>
                  </a:lnTo>
                  <a:lnTo>
                    <a:pt x="39611" y="1126248"/>
                  </a:lnTo>
                  <a:lnTo>
                    <a:pt x="39611" y="1086612"/>
                  </a:lnTo>
                  <a:close/>
                </a:path>
                <a:path w="40004" h="1722754">
                  <a:moveTo>
                    <a:pt x="39611" y="0"/>
                  </a:moveTo>
                  <a:lnTo>
                    <a:pt x="0" y="0"/>
                  </a:lnTo>
                  <a:lnTo>
                    <a:pt x="0" y="39636"/>
                  </a:lnTo>
                  <a:lnTo>
                    <a:pt x="39611" y="39636"/>
                  </a:lnTo>
                  <a:lnTo>
                    <a:pt x="39611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5583392" y="4079179"/>
            <a:ext cx="4455795" cy="25507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12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four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most</a:t>
            </a:r>
            <a:r>
              <a:rPr dirty="0" sz="12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common</a:t>
            </a:r>
            <a:r>
              <a:rPr dirty="0" sz="12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replacement</a:t>
            </a:r>
            <a:r>
              <a:rPr dirty="0" sz="12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algorithms </a:t>
            </a:r>
            <a:r>
              <a:rPr dirty="0" sz="1200" spc="-20">
                <a:solidFill>
                  <a:srgbClr val="1A1A1A"/>
                </a:solidFill>
                <a:latin typeface="Arial MT"/>
                <a:cs typeface="Arial MT"/>
              </a:rPr>
              <a:t>are:</a:t>
            </a:r>
            <a:endParaRPr sz="1200">
              <a:latin typeface="Arial MT"/>
              <a:cs typeface="Arial MT"/>
            </a:endParaRPr>
          </a:p>
          <a:p>
            <a:pPr marL="173990">
              <a:lnSpc>
                <a:spcPct val="100000"/>
              </a:lnSpc>
              <a:spcBef>
                <a:spcPts val="1090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Least</a:t>
            </a:r>
            <a:r>
              <a:rPr dirty="0" sz="100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recently</a:t>
            </a:r>
            <a:r>
              <a:rPr dirty="0" sz="100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used</a:t>
            </a:r>
            <a:r>
              <a:rPr dirty="0" sz="1000" spc="9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(LRU)</a:t>
            </a:r>
            <a:endParaRPr sz="1000">
              <a:latin typeface="Arial MT"/>
              <a:cs typeface="Arial MT"/>
            </a:endParaRPr>
          </a:p>
          <a:p>
            <a:pPr marL="358775" indent="-132715">
              <a:lnSpc>
                <a:spcPct val="100000"/>
              </a:lnSpc>
              <a:spcBef>
                <a:spcPts val="250"/>
              </a:spcBef>
              <a:buChar char="•"/>
              <a:tabLst>
                <a:tab pos="358775" algn="l"/>
              </a:tabLst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Most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effective</a:t>
            </a:r>
            <a:endParaRPr sz="1000">
              <a:latin typeface="Arial MT"/>
              <a:cs typeface="Arial MT"/>
            </a:endParaRPr>
          </a:p>
          <a:p>
            <a:pPr marL="358140" marR="60325" indent="-132715">
              <a:lnSpc>
                <a:spcPct val="101000"/>
              </a:lnSpc>
              <a:spcBef>
                <a:spcPts val="229"/>
              </a:spcBef>
              <a:buChar char="•"/>
              <a:tabLst>
                <a:tab pos="360045" algn="l"/>
              </a:tabLst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Replace that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block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set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that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has</a:t>
            </a:r>
            <a:r>
              <a:rPr dirty="0" sz="10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been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10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longest with</a:t>
            </a:r>
            <a:r>
              <a:rPr dirty="0" sz="1000" spc="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1A1A1A"/>
                </a:solidFill>
                <a:latin typeface="Arial MT"/>
                <a:cs typeface="Arial MT"/>
              </a:rPr>
              <a:t>no </a:t>
            </a:r>
            <a:r>
              <a:rPr dirty="0" sz="1000" spc="-25">
                <a:solidFill>
                  <a:srgbClr val="1A1A1A"/>
                </a:solidFill>
                <a:latin typeface="Arial MT"/>
                <a:cs typeface="Arial MT"/>
              </a:rPr>
              <a:t>	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reference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1A1A1A"/>
                </a:solidFill>
                <a:latin typeface="Arial MT"/>
                <a:cs typeface="Arial MT"/>
              </a:rPr>
              <a:t>it</a:t>
            </a:r>
            <a:endParaRPr sz="1000">
              <a:latin typeface="Arial MT"/>
              <a:cs typeface="Arial MT"/>
            </a:endParaRPr>
          </a:p>
          <a:p>
            <a:pPr marL="358140" marR="245110" indent="-132715">
              <a:lnSpc>
                <a:spcPct val="101000"/>
              </a:lnSpc>
              <a:spcBef>
                <a:spcPts val="240"/>
              </a:spcBef>
              <a:buChar char="•"/>
              <a:tabLst>
                <a:tab pos="360045" algn="l"/>
              </a:tabLst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Because of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its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simplicity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implementation, LRU</a:t>
            </a:r>
            <a:r>
              <a:rPr dirty="0" sz="10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is the</a:t>
            </a:r>
            <a:r>
              <a:rPr dirty="0" sz="1000" spc="-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most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popular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	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replacement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algorithm</a:t>
            </a:r>
            <a:endParaRPr sz="1000">
              <a:latin typeface="Arial MT"/>
              <a:cs typeface="Arial MT"/>
            </a:endParaRPr>
          </a:p>
          <a:p>
            <a:pPr marL="173990">
              <a:lnSpc>
                <a:spcPct val="100000"/>
              </a:lnSpc>
              <a:spcBef>
                <a:spcPts val="585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First-in-first-out</a:t>
            </a:r>
            <a:r>
              <a:rPr dirty="0" sz="1000" spc="1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(FIFO)</a:t>
            </a:r>
            <a:endParaRPr sz="1000">
              <a:latin typeface="Arial MT"/>
              <a:cs typeface="Arial MT"/>
            </a:endParaRPr>
          </a:p>
          <a:p>
            <a:pPr marL="358775" indent="-132715">
              <a:lnSpc>
                <a:spcPct val="100000"/>
              </a:lnSpc>
              <a:spcBef>
                <a:spcPts val="254"/>
              </a:spcBef>
              <a:buChar char="•"/>
              <a:tabLst>
                <a:tab pos="358775" algn="l"/>
              </a:tabLst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Replace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that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block</a:t>
            </a:r>
            <a:r>
              <a:rPr dirty="0" sz="10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10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set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that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has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been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10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10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longest</a:t>
            </a:r>
            <a:endParaRPr sz="1000">
              <a:latin typeface="Arial MT"/>
              <a:cs typeface="Arial MT"/>
            </a:endParaRPr>
          </a:p>
          <a:p>
            <a:pPr marL="358775" indent="-132715">
              <a:lnSpc>
                <a:spcPct val="100000"/>
              </a:lnSpc>
              <a:spcBef>
                <a:spcPts val="250"/>
              </a:spcBef>
              <a:buChar char="•"/>
              <a:tabLst>
                <a:tab pos="358775" algn="l"/>
              </a:tabLst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Easily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implemented as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round-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robin</a:t>
            </a:r>
            <a:r>
              <a:rPr dirty="0" sz="10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or</a:t>
            </a:r>
            <a:r>
              <a:rPr dirty="0" sz="10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circular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buffer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technique</a:t>
            </a:r>
            <a:endParaRPr sz="1000">
              <a:latin typeface="Arial MT"/>
              <a:cs typeface="Arial MT"/>
            </a:endParaRPr>
          </a:p>
          <a:p>
            <a:pPr marL="173990">
              <a:lnSpc>
                <a:spcPct val="100000"/>
              </a:lnSpc>
              <a:spcBef>
                <a:spcPts val="590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Least</a:t>
            </a:r>
            <a:r>
              <a:rPr dirty="0" sz="1000" spc="9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frequently</a:t>
            </a:r>
            <a:r>
              <a:rPr dirty="0" sz="1000" spc="9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used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(LFU)</a:t>
            </a:r>
            <a:endParaRPr sz="1000">
              <a:latin typeface="Arial MT"/>
              <a:cs typeface="Arial MT"/>
            </a:endParaRPr>
          </a:p>
          <a:p>
            <a:pPr marL="358775" indent="-132715">
              <a:lnSpc>
                <a:spcPct val="100000"/>
              </a:lnSpc>
              <a:spcBef>
                <a:spcPts val="250"/>
              </a:spcBef>
              <a:buChar char="•"/>
              <a:tabLst>
                <a:tab pos="358775" algn="l"/>
              </a:tabLst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Replace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that block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in the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set that has</a:t>
            </a:r>
            <a:r>
              <a:rPr dirty="0" sz="10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experienced</a:t>
            </a:r>
            <a:r>
              <a:rPr dirty="0" sz="10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fewest</a:t>
            </a:r>
            <a:r>
              <a:rPr dirty="0" sz="10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references</a:t>
            </a:r>
            <a:endParaRPr sz="1000">
              <a:latin typeface="Arial MT"/>
              <a:cs typeface="Arial MT"/>
            </a:endParaRPr>
          </a:p>
          <a:p>
            <a:pPr marL="358775" indent="-132715">
              <a:lnSpc>
                <a:spcPct val="100000"/>
              </a:lnSpc>
              <a:spcBef>
                <a:spcPts val="240"/>
              </a:spcBef>
              <a:buChar char="•"/>
              <a:tabLst>
                <a:tab pos="358775" algn="l"/>
              </a:tabLst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Could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be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implemented by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associating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counter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with</a:t>
            </a:r>
            <a:r>
              <a:rPr dirty="0" sz="10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each</a:t>
            </a:r>
            <a:r>
              <a:rPr dirty="0" sz="10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line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92023" y="688848"/>
            <a:ext cx="4777740" cy="36830"/>
          </a:xfrm>
          <a:custGeom>
            <a:avLst/>
            <a:gdLst/>
            <a:ahLst/>
            <a:cxnLst/>
            <a:rect l="l" t="t" r="r" b="b"/>
            <a:pathLst>
              <a:path w="4777740" h="36829">
                <a:moveTo>
                  <a:pt x="4777740" y="36576"/>
                </a:moveTo>
                <a:lnTo>
                  <a:pt x="0" y="36576"/>
                </a:lnTo>
                <a:lnTo>
                  <a:pt x="0" y="0"/>
                </a:lnTo>
                <a:lnTo>
                  <a:pt x="4777740" y="0"/>
                </a:lnTo>
                <a:lnTo>
                  <a:pt x="4777740" y="36576"/>
                </a:lnTo>
                <a:close/>
              </a:path>
            </a:pathLst>
          </a:custGeom>
          <a:solidFill>
            <a:srgbClr val="9090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724660" y="339191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1732" y="3339084"/>
            <a:ext cx="1336548" cy="214883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94203" y="452149"/>
            <a:ext cx="84010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Write</a:t>
            </a:r>
            <a:r>
              <a:rPr dirty="0" sz="12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Policy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667512" y="975360"/>
            <a:ext cx="2025650" cy="571500"/>
            <a:chOff x="667512" y="975360"/>
            <a:chExt cx="2025650" cy="57150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7512" y="975360"/>
              <a:ext cx="2025395" cy="57149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2564" y="989075"/>
              <a:ext cx="1938527" cy="521208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6947" y="1001268"/>
              <a:ext cx="1891284" cy="472439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753902" y="1002311"/>
            <a:ext cx="1837055" cy="44450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ctr" marL="12065" marR="5080" indent="-1270">
              <a:lnSpc>
                <a:spcPct val="87000"/>
              </a:lnSpc>
              <a:spcBef>
                <a:spcPts val="265"/>
              </a:spcBef>
            </a:pPr>
            <a:r>
              <a:rPr dirty="0" sz="1000">
                <a:solidFill>
                  <a:srgbClr val="E9E9E9"/>
                </a:solidFill>
                <a:latin typeface="Arial MT"/>
                <a:cs typeface="Arial MT"/>
              </a:rPr>
              <a:t>When</a:t>
            </a:r>
            <a:r>
              <a:rPr dirty="0" sz="1000" spc="-10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E9E9E9"/>
                </a:solidFill>
                <a:latin typeface="Arial MT"/>
                <a:cs typeface="Arial MT"/>
              </a:rPr>
              <a:t>a</a:t>
            </a:r>
            <a:r>
              <a:rPr dirty="0" sz="1000" spc="10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E9E9E9"/>
                </a:solidFill>
                <a:latin typeface="Arial MT"/>
                <a:cs typeface="Arial MT"/>
              </a:rPr>
              <a:t>block</a:t>
            </a:r>
            <a:r>
              <a:rPr dirty="0" sz="1000" spc="-15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E9E9E9"/>
                </a:solidFill>
                <a:latin typeface="Arial MT"/>
                <a:cs typeface="Arial MT"/>
              </a:rPr>
              <a:t>that</a:t>
            </a:r>
            <a:r>
              <a:rPr dirty="0" sz="1000" spc="5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E9E9E9"/>
                </a:solidFill>
                <a:latin typeface="Arial MT"/>
                <a:cs typeface="Arial MT"/>
              </a:rPr>
              <a:t>is</a:t>
            </a:r>
            <a:r>
              <a:rPr dirty="0" sz="1000" spc="-5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E9E9E9"/>
                </a:solidFill>
                <a:latin typeface="Arial MT"/>
                <a:cs typeface="Arial MT"/>
              </a:rPr>
              <a:t>resident</a:t>
            </a:r>
            <a:r>
              <a:rPr dirty="0" sz="1000" spc="10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E9E9E9"/>
                </a:solidFill>
                <a:latin typeface="Arial MT"/>
                <a:cs typeface="Arial MT"/>
              </a:rPr>
              <a:t>in </a:t>
            </a:r>
            <a:r>
              <a:rPr dirty="0" sz="1000">
                <a:solidFill>
                  <a:srgbClr val="E9E9E9"/>
                </a:solidFill>
                <a:latin typeface="Arial MT"/>
                <a:cs typeface="Arial MT"/>
              </a:rPr>
              <a:t>the</a:t>
            </a:r>
            <a:r>
              <a:rPr dirty="0" sz="1000" spc="5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E9E9E9"/>
                </a:solidFill>
                <a:latin typeface="Arial MT"/>
                <a:cs typeface="Arial MT"/>
              </a:rPr>
              <a:t>cache</a:t>
            </a:r>
            <a:r>
              <a:rPr dirty="0" sz="1000" spc="10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E9E9E9"/>
                </a:solidFill>
                <a:latin typeface="Arial MT"/>
                <a:cs typeface="Arial MT"/>
              </a:rPr>
              <a:t>is to</a:t>
            </a:r>
            <a:r>
              <a:rPr dirty="0" sz="1000" spc="-15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E9E9E9"/>
                </a:solidFill>
                <a:latin typeface="Arial MT"/>
                <a:cs typeface="Arial MT"/>
              </a:rPr>
              <a:t>be</a:t>
            </a:r>
            <a:r>
              <a:rPr dirty="0" sz="1000" spc="10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E9E9E9"/>
                </a:solidFill>
                <a:latin typeface="Arial MT"/>
                <a:cs typeface="Arial MT"/>
              </a:rPr>
              <a:t>replaced</a:t>
            </a:r>
            <a:r>
              <a:rPr dirty="0" sz="1000" spc="500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E9E9E9"/>
                </a:solidFill>
                <a:latin typeface="Arial MT"/>
                <a:cs typeface="Arial MT"/>
              </a:rPr>
              <a:t>there</a:t>
            </a:r>
            <a:r>
              <a:rPr dirty="0" sz="1000" spc="5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E9E9E9"/>
                </a:solidFill>
                <a:latin typeface="Arial MT"/>
                <a:cs typeface="Arial MT"/>
              </a:rPr>
              <a:t>are</a:t>
            </a:r>
            <a:r>
              <a:rPr dirty="0" sz="1000" spc="-15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E9E9E9"/>
                </a:solidFill>
                <a:latin typeface="Arial MT"/>
                <a:cs typeface="Arial MT"/>
              </a:rPr>
              <a:t>two</a:t>
            </a:r>
            <a:r>
              <a:rPr dirty="0" sz="1000" spc="15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E9E9E9"/>
                </a:solidFill>
                <a:latin typeface="Arial MT"/>
                <a:cs typeface="Arial MT"/>
              </a:rPr>
              <a:t>cases to </a:t>
            </a:r>
            <a:r>
              <a:rPr dirty="0" sz="1000" spc="-10">
                <a:solidFill>
                  <a:srgbClr val="E9E9E9"/>
                </a:solidFill>
                <a:latin typeface="Arial MT"/>
                <a:cs typeface="Arial MT"/>
              </a:rPr>
              <a:t>consider: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723900" y="1502663"/>
            <a:ext cx="1896110" cy="611505"/>
            <a:chOff x="723900" y="1502663"/>
            <a:chExt cx="1896110" cy="611505"/>
          </a:xfrm>
        </p:grpSpPr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06296" y="1502663"/>
              <a:ext cx="134112" cy="132587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30680" y="1514855"/>
              <a:ext cx="83820" cy="82296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723900" y="1636775"/>
              <a:ext cx="1896110" cy="477520"/>
            </a:xfrm>
            <a:custGeom>
              <a:avLst/>
              <a:gdLst/>
              <a:ahLst/>
              <a:cxnLst/>
              <a:rect l="l" t="t" r="r" b="b"/>
              <a:pathLst>
                <a:path w="1896110" h="477519">
                  <a:moveTo>
                    <a:pt x="1895856" y="50292"/>
                  </a:moveTo>
                  <a:lnTo>
                    <a:pt x="1892084" y="30861"/>
                  </a:lnTo>
                  <a:lnTo>
                    <a:pt x="1881759" y="14859"/>
                  </a:lnTo>
                  <a:lnTo>
                    <a:pt x="1867090" y="4572"/>
                  </a:lnTo>
                  <a:lnTo>
                    <a:pt x="1866277" y="4000"/>
                  </a:lnTo>
                  <a:lnTo>
                    <a:pt x="1847088" y="0"/>
                  </a:lnTo>
                  <a:lnTo>
                    <a:pt x="50292" y="0"/>
                  </a:lnTo>
                  <a:lnTo>
                    <a:pt x="30861" y="4000"/>
                  </a:lnTo>
                  <a:lnTo>
                    <a:pt x="14859" y="14859"/>
                  </a:lnTo>
                  <a:lnTo>
                    <a:pt x="4000" y="30861"/>
                  </a:lnTo>
                  <a:lnTo>
                    <a:pt x="0" y="50292"/>
                  </a:lnTo>
                  <a:lnTo>
                    <a:pt x="0" y="428244"/>
                  </a:lnTo>
                  <a:lnTo>
                    <a:pt x="4000" y="447446"/>
                  </a:lnTo>
                  <a:lnTo>
                    <a:pt x="14859" y="462915"/>
                  </a:lnTo>
                  <a:lnTo>
                    <a:pt x="30861" y="473252"/>
                  </a:lnTo>
                  <a:lnTo>
                    <a:pt x="50292" y="477012"/>
                  </a:lnTo>
                  <a:lnTo>
                    <a:pt x="1847088" y="477012"/>
                  </a:lnTo>
                  <a:lnTo>
                    <a:pt x="1866277" y="473252"/>
                  </a:lnTo>
                  <a:lnTo>
                    <a:pt x="1867484" y="472440"/>
                  </a:lnTo>
                  <a:lnTo>
                    <a:pt x="1881759" y="462915"/>
                  </a:lnTo>
                  <a:lnTo>
                    <a:pt x="1892084" y="447446"/>
                  </a:lnTo>
                  <a:lnTo>
                    <a:pt x="1895856" y="428244"/>
                  </a:lnTo>
                  <a:lnTo>
                    <a:pt x="1895856" y="50292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755395" y="1639284"/>
            <a:ext cx="1833245" cy="45402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algn="ctr" marL="12700" marR="5080">
              <a:lnSpc>
                <a:spcPct val="90200"/>
              </a:lnSpc>
              <a:spcBef>
                <a:spcPts val="215"/>
              </a:spcBef>
            </a:pPr>
            <a:r>
              <a:rPr dirty="0" sz="750">
                <a:latin typeface="Arial MT"/>
                <a:cs typeface="Arial MT"/>
              </a:rPr>
              <a:t>If</a:t>
            </a:r>
            <a:r>
              <a:rPr dirty="0" sz="750" spc="4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the</a:t>
            </a:r>
            <a:r>
              <a:rPr dirty="0" sz="750" spc="5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old</a:t>
            </a:r>
            <a:r>
              <a:rPr dirty="0" sz="750" spc="7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block</a:t>
            </a:r>
            <a:r>
              <a:rPr dirty="0" sz="750" spc="5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in</a:t>
            </a:r>
            <a:r>
              <a:rPr dirty="0" sz="750" spc="5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the</a:t>
            </a:r>
            <a:r>
              <a:rPr dirty="0" sz="750" spc="5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cache</a:t>
            </a:r>
            <a:r>
              <a:rPr dirty="0" sz="750" spc="5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has</a:t>
            </a:r>
            <a:r>
              <a:rPr dirty="0" sz="750" spc="6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not</a:t>
            </a:r>
            <a:r>
              <a:rPr dirty="0" sz="750" spc="60">
                <a:latin typeface="Arial MT"/>
                <a:cs typeface="Arial MT"/>
              </a:rPr>
              <a:t> </a:t>
            </a:r>
            <a:r>
              <a:rPr dirty="0" sz="750" spc="-20">
                <a:latin typeface="Arial MT"/>
                <a:cs typeface="Arial MT"/>
              </a:rPr>
              <a:t>been</a:t>
            </a:r>
            <a:r>
              <a:rPr dirty="0" sz="750">
                <a:latin typeface="Arial MT"/>
                <a:cs typeface="Arial MT"/>
              </a:rPr>
              <a:t> altered</a:t>
            </a:r>
            <a:r>
              <a:rPr dirty="0" sz="750" spc="7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then</a:t>
            </a:r>
            <a:r>
              <a:rPr dirty="0" sz="750" spc="7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it</a:t>
            </a:r>
            <a:r>
              <a:rPr dirty="0" sz="750" spc="5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may</a:t>
            </a:r>
            <a:r>
              <a:rPr dirty="0" sz="750" spc="8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be</a:t>
            </a:r>
            <a:r>
              <a:rPr dirty="0" sz="750" spc="9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overwritten</a:t>
            </a:r>
            <a:r>
              <a:rPr dirty="0" sz="750" spc="8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with</a:t>
            </a:r>
            <a:r>
              <a:rPr dirty="0" sz="750" spc="70">
                <a:latin typeface="Arial MT"/>
                <a:cs typeface="Arial MT"/>
              </a:rPr>
              <a:t> </a:t>
            </a:r>
            <a:r>
              <a:rPr dirty="0" sz="750" spc="-50">
                <a:latin typeface="Arial MT"/>
                <a:cs typeface="Arial MT"/>
              </a:rPr>
              <a:t>a</a:t>
            </a:r>
            <a:r>
              <a:rPr dirty="0" sz="750">
                <a:latin typeface="Arial MT"/>
                <a:cs typeface="Arial MT"/>
              </a:rPr>
              <a:t> new</a:t>
            </a:r>
            <a:r>
              <a:rPr dirty="0" sz="750" spc="7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block</a:t>
            </a:r>
            <a:r>
              <a:rPr dirty="0" sz="750" spc="6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without</a:t>
            </a:r>
            <a:r>
              <a:rPr dirty="0" sz="750" spc="6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first</a:t>
            </a:r>
            <a:r>
              <a:rPr dirty="0" sz="750" spc="8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writing</a:t>
            </a:r>
            <a:r>
              <a:rPr dirty="0" sz="750" spc="7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out</a:t>
            </a:r>
            <a:r>
              <a:rPr dirty="0" sz="750" spc="6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the</a:t>
            </a:r>
            <a:r>
              <a:rPr dirty="0" sz="750" spc="75">
                <a:latin typeface="Arial MT"/>
                <a:cs typeface="Arial MT"/>
              </a:rPr>
              <a:t> </a:t>
            </a:r>
            <a:r>
              <a:rPr dirty="0" sz="750" spc="-25">
                <a:latin typeface="Arial MT"/>
                <a:cs typeface="Arial MT"/>
              </a:rPr>
              <a:t>old</a:t>
            </a:r>
            <a:r>
              <a:rPr dirty="0" sz="750" spc="-10">
                <a:latin typeface="Arial MT"/>
                <a:cs typeface="Arial MT"/>
              </a:rPr>
              <a:t> block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723900" y="2144572"/>
            <a:ext cx="1896110" cy="990600"/>
            <a:chOff x="723900" y="2144572"/>
            <a:chExt cx="1896110" cy="990600"/>
          </a:xfrm>
        </p:grpSpPr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16354" y="2144572"/>
              <a:ext cx="124053" cy="130759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30680" y="2153411"/>
              <a:ext cx="83820" cy="82295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723900" y="2273807"/>
              <a:ext cx="1896110" cy="861060"/>
            </a:xfrm>
            <a:custGeom>
              <a:avLst/>
              <a:gdLst/>
              <a:ahLst/>
              <a:cxnLst/>
              <a:rect l="l" t="t" r="r" b="b"/>
              <a:pathLst>
                <a:path w="1896110" h="861060">
                  <a:moveTo>
                    <a:pt x="1895856" y="88392"/>
                  </a:moveTo>
                  <a:lnTo>
                    <a:pt x="1889137" y="54013"/>
                  </a:lnTo>
                  <a:lnTo>
                    <a:pt x="1884807" y="47409"/>
                  </a:lnTo>
                  <a:lnTo>
                    <a:pt x="1884807" y="56578"/>
                  </a:lnTo>
                  <a:lnTo>
                    <a:pt x="1877136" y="42748"/>
                  </a:lnTo>
                  <a:lnTo>
                    <a:pt x="1884807" y="56578"/>
                  </a:lnTo>
                  <a:lnTo>
                    <a:pt x="1884807" y="47409"/>
                  </a:lnTo>
                  <a:lnTo>
                    <a:pt x="1870710" y="25908"/>
                  </a:lnTo>
                  <a:lnTo>
                    <a:pt x="1866900" y="23291"/>
                  </a:lnTo>
                  <a:lnTo>
                    <a:pt x="1866900" y="30480"/>
                  </a:lnTo>
                  <a:lnTo>
                    <a:pt x="1854631" y="20243"/>
                  </a:lnTo>
                  <a:lnTo>
                    <a:pt x="1866900" y="30480"/>
                  </a:lnTo>
                  <a:lnTo>
                    <a:pt x="1866900" y="23291"/>
                  </a:lnTo>
                  <a:lnTo>
                    <a:pt x="1843125" y="6959"/>
                  </a:lnTo>
                  <a:lnTo>
                    <a:pt x="1838921" y="6096"/>
                  </a:lnTo>
                  <a:lnTo>
                    <a:pt x="1808988" y="0"/>
                  </a:lnTo>
                  <a:lnTo>
                    <a:pt x="88392" y="0"/>
                  </a:lnTo>
                  <a:lnTo>
                    <a:pt x="54000" y="6959"/>
                  </a:lnTo>
                  <a:lnTo>
                    <a:pt x="42735" y="14566"/>
                  </a:lnTo>
                  <a:lnTo>
                    <a:pt x="42735" y="20243"/>
                  </a:lnTo>
                  <a:lnTo>
                    <a:pt x="30480" y="30492"/>
                  </a:lnTo>
                  <a:lnTo>
                    <a:pt x="20231" y="42748"/>
                  </a:lnTo>
                  <a:lnTo>
                    <a:pt x="30480" y="30480"/>
                  </a:lnTo>
                  <a:lnTo>
                    <a:pt x="42735" y="20243"/>
                  </a:lnTo>
                  <a:lnTo>
                    <a:pt x="42735" y="14566"/>
                  </a:lnTo>
                  <a:lnTo>
                    <a:pt x="25908" y="25908"/>
                  </a:lnTo>
                  <a:lnTo>
                    <a:pt x="12573" y="45681"/>
                  </a:lnTo>
                  <a:lnTo>
                    <a:pt x="12573" y="56578"/>
                  </a:lnTo>
                  <a:lnTo>
                    <a:pt x="7759" y="71843"/>
                  </a:lnTo>
                  <a:lnTo>
                    <a:pt x="12573" y="56578"/>
                  </a:lnTo>
                  <a:lnTo>
                    <a:pt x="12573" y="45681"/>
                  </a:lnTo>
                  <a:lnTo>
                    <a:pt x="6946" y="54013"/>
                  </a:lnTo>
                  <a:lnTo>
                    <a:pt x="0" y="88392"/>
                  </a:lnTo>
                  <a:lnTo>
                    <a:pt x="0" y="772668"/>
                  </a:lnTo>
                  <a:lnTo>
                    <a:pt x="6946" y="807059"/>
                  </a:lnTo>
                  <a:lnTo>
                    <a:pt x="25908" y="835152"/>
                  </a:lnTo>
                  <a:lnTo>
                    <a:pt x="54000" y="854113"/>
                  </a:lnTo>
                  <a:lnTo>
                    <a:pt x="88392" y="861060"/>
                  </a:lnTo>
                  <a:lnTo>
                    <a:pt x="1808988" y="861060"/>
                  </a:lnTo>
                  <a:lnTo>
                    <a:pt x="1838921" y="854964"/>
                  </a:lnTo>
                  <a:lnTo>
                    <a:pt x="1843125" y="854113"/>
                  </a:lnTo>
                  <a:lnTo>
                    <a:pt x="1870710" y="835152"/>
                  </a:lnTo>
                  <a:lnTo>
                    <a:pt x="1889137" y="807059"/>
                  </a:lnTo>
                  <a:lnTo>
                    <a:pt x="1895856" y="772668"/>
                  </a:lnTo>
                  <a:lnTo>
                    <a:pt x="1895856" y="88392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756894" y="2366266"/>
            <a:ext cx="1827530" cy="659765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algn="ctr" marL="12700" marR="5080" indent="3810">
              <a:lnSpc>
                <a:spcPct val="90100"/>
              </a:lnSpc>
              <a:spcBef>
                <a:spcPts val="219"/>
              </a:spcBef>
            </a:pPr>
            <a:r>
              <a:rPr dirty="0" sz="750">
                <a:latin typeface="Arial MT"/>
                <a:cs typeface="Arial MT"/>
              </a:rPr>
              <a:t>If</a:t>
            </a:r>
            <a:r>
              <a:rPr dirty="0" sz="750" spc="6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at</a:t>
            </a:r>
            <a:r>
              <a:rPr dirty="0" sz="750" spc="6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least</a:t>
            </a:r>
            <a:r>
              <a:rPr dirty="0" sz="750" spc="6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one</a:t>
            </a:r>
            <a:r>
              <a:rPr dirty="0" sz="750" spc="7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write</a:t>
            </a:r>
            <a:r>
              <a:rPr dirty="0" sz="750" spc="8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operation</a:t>
            </a:r>
            <a:r>
              <a:rPr dirty="0" sz="750" spc="5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has</a:t>
            </a:r>
            <a:r>
              <a:rPr dirty="0" sz="750" spc="85">
                <a:latin typeface="Arial MT"/>
                <a:cs typeface="Arial MT"/>
              </a:rPr>
              <a:t> </a:t>
            </a:r>
            <a:r>
              <a:rPr dirty="0" sz="750" spc="-20">
                <a:latin typeface="Arial MT"/>
                <a:cs typeface="Arial MT"/>
              </a:rPr>
              <a:t>been</a:t>
            </a:r>
            <a:r>
              <a:rPr dirty="0" sz="750">
                <a:latin typeface="Arial MT"/>
                <a:cs typeface="Arial MT"/>
              </a:rPr>
              <a:t> performed</a:t>
            </a:r>
            <a:r>
              <a:rPr dirty="0" sz="750" spc="6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on</a:t>
            </a:r>
            <a:r>
              <a:rPr dirty="0" sz="750" spc="6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a</a:t>
            </a:r>
            <a:r>
              <a:rPr dirty="0" sz="750" spc="6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word</a:t>
            </a:r>
            <a:r>
              <a:rPr dirty="0" sz="750" spc="8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in</a:t>
            </a:r>
            <a:r>
              <a:rPr dirty="0" sz="750" spc="6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that</a:t>
            </a:r>
            <a:r>
              <a:rPr dirty="0" sz="750" spc="5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line</a:t>
            </a:r>
            <a:r>
              <a:rPr dirty="0" sz="750" spc="6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of</a:t>
            </a:r>
            <a:r>
              <a:rPr dirty="0" sz="750" spc="75">
                <a:latin typeface="Arial MT"/>
                <a:cs typeface="Arial MT"/>
              </a:rPr>
              <a:t> </a:t>
            </a:r>
            <a:r>
              <a:rPr dirty="0" sz="750" spc="-25">
                <a:latin typeface="Arial MT"/>
                <a:cs typeface="Arial MT"/>
              </a:rPr>
              <a:t>the</a:t>
            </a:r>
            <a:r>
              <a:rPr dirty="0" sz="750">
                <a:latin typeface="Arial MT"/>
                <a:cs typeface="Arial MT"/>
              </a:rPr>
              <a:t> cache</a:t>
            </a:r>
            <a:r>
              <a:rPr dirty="0" sz="750" spc="6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then</a:t>
            </a:r>
            <a:r>
              <a:rPr dirty="0" sz="750" spc="6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main</a:t>
            </a:r>
            <a:r>
              <a:rPr dirty="0" sz="750" spc="10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memory</a:t>
            </a:r>
            <a:r>
              <a:rPr dirty="0" sz="750" spc="9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must</a:t>
            </a:r>
            <a:r>
              <a:rPr dirty="0" sz="750" spc="80">
                <a:latin typeface="Arial MT"/>
                <a:cs typeface="Arial MT"/>
              </a:rPr>
              <a:t> </a:t>
            </a:r>
            <a:r>
              <a:rPr dirty="0" sz="750" spc="-25">
                <a:latin typeface="Arial MT"/>
                <a:cs typeface="Arial MT"/>
              </a:rPr>
              <a:t>be</a:t>
            </a:r>
            <a:r>
              <a:rPr dirty="0" sz="750">
                <a:latin typeface="Arial MT"/>
                <a:cs typeface="Arial MT"/>
              </a:rPr>
              <a:t> updated</a:t>
            </a:r>
            <a:r>
              <a:rPr dirty="0" sz="750" spc="7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by</a:t>
            </a:r>
            <a:r>
              <a:rPr dirty="0" sz="750" spc="8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writing</a:t>
            </a:r>
            <a:r>
              <a:rPr dirty="0" sz="750" spc="9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the</a:t>
            </a:r>
            <a:r>
              <a:rPr dirty="0" sz="750" spc="7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line</a:t>
            </a:r>
            <a:r>
              <a:rPr dirty="0" sz="750" spc="7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of</a:t>
            </a:r>
            <a:r>
              <a:rPr dirty="0" sz="750" spc="6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cache</a:t>
            </a:r>
            <a:r>
              <a:rPr dirty="0" sz="750" spc="60">
                <a:latin typeface="Arial MT"/>
                <a:cs typeface="Arial MT"/>
              </a:rPr>
              <a:t> </a:t>
            </a:r>
            <a:r>
              <a:rPr dirty="0" sz="750" spc="-25">
                <a:latin typeface="Arial MT"/>
                <a:cs typeface="Arial MT"/>
              </a:rPr>
              <a:t>out</a:t>
            </a:r>
            <a:r>
              <a:rPr dirty="0" sz="750" spc="50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to</a:t>
            </a:r>
            <a:r>
              <a:rPr dirty="0" sz="750" spc="8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the</a:t>
            </a:r>
            <a:r>
              <a:rPr dirty="0" sz="750" spc="4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block</a:t>
            </a:r>
            <a:r>
              <a:rPr dirty="0" sz="750" spc="9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of</a:t>
            </a:r>
            <a:r>
              <a:rPr dirty="0" sz="750" spc="8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memory</a:t>
            </a:r>
            <a:r>
              <a:rPr dirty="0" sz="750" spc="7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before</a:t>
            </a:r>
            <a:r>
              <a:rPr dirty="0" sz="750" spc="9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bringing</a:t>
            </a:r>
            <a:r>
              <a:rPr dirty="0" sz="750" spc="80">
                <a:latin typeface="Arial MT"/>
                <a:cs typeface="Arial MT"/>
              </a:rPr>
              <a:t> </a:t>
            </a:r>
            <a:r>
              <a:rPr dirty="0" sz="750" spc="-25">
                <a:latin typeface="Arial MT"/>
                <a:cs typeface="Arial MT"/>
              </a:rPr>
              <a:t>in</a:t>
            </a:r>
            <a:r>
              <a:rPr dirty="0" sz="750">
                <a:latin typeface="Arial MT"/>
                <a:cs typeface="Arial MT"/>
              </a:rPr>
              <a:t> the</a:t>
            </a:r>
            <a:r>
              <a:rPr dirty="0" sz="750" spc="6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new</a:t>
            </a:r>
            <a:r>
              <a:rPr dirty="0" sz="750" spc="65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block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2857500" y="989075"/>
            <a:ext cx="1940560" cy="521334"/>
            <a:chOff x="2857500" y="989075"/>
            <a:chExt cx="1940560" cy="521334"/>
          </a:xfrm>
        </p:grpSpPr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57500" y="989075"/>
              <a:ext cx="1940051" cy="521208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82467" y="1040891"/>
              <a:ext cx="1725167" cy="440436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81883" y="1001268"/>
              <a:ext cx="1891283" cy="472439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3068838" y="1069320"/>
            <a:ext cx="1518920" cy="31178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382905" marR="5080" indent="-370840">
              <a:lnSpc>
                <a:spcPts val="1040"/>
              </a:lnSpc>
              <a:spcBef>
                <a:spcPts val="275"/>
              </a:spcBef>
            </a:pPr>
            <a:r>
              <a:rPr dirty="0" sz="1000">
                <a:solidFill>
                  <a:srgbClr val="E9E9E9"/>
                </a:solidFill>
                <a:latin typeface="Arial MT"/>
                <a:cs typeface="Arial MT"/>
              </a:rPr>
              <a:t>There</a:t>
            </a:r>
            <a:r>
              <a:rPr dirty="0" sz="1000" spc="-25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E9E9E9"/>
                </a:solidFill>
                <a:latin typeface="Arial MT"/>
                <a:cs typeface="Arial MT"/>
              </a:rPr>
              <a:t>are</a:t>
            </a:r>
            <a:r>
              <a:rPr dirty="0" sz="1000" spc="-5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E9E9E9"/>
                </a:solidFill>
                <a:latin typeface="Arial MT"/>
                <a:cs typeface="Arial MT"/>
              </a:rPr>
              <a:t>two</a:t>
            </a:r>
            <a:r>
              <a:rPr dirty="0" sz="1000" spc="15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E9E9E9"/>
                </a:solidFill>
                <a:latin typeface="Arial MT"/>
                <a:cs typeface="Arial MT"/>
              </a:rPr>
              <a:t>problems </a:t>
            </a:r>
            <a:r>
              <a:rPr dirty="0" sz="1000" spc="-25">
                <a:solidFill>
                  <a:srgbClr val="E9E9E9"/>
                </a:solidFill>
                <a:latin typeface="Arial MT"/>
                <a:cs typeface="Arial MT"/>
              </a:rPr>
              <a:t>to </a:t>
            </a:r>
            <a:r>
              <a:rPr dirty="0" sz="1000">
                <a:solidFill>
                  <a:srgbClr val="E9E9E9"/>
                </a:solidFill>
                <a:latin typeface="Arial MT"/>
                <a:cs typeface="Arial MT"/>
              </a:rPr>
              <a:t>contend</a:t>
            </a:r>
            <a:r>
              <a:rPr dirty="0" sz="1000" spc="5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E9E9E9"/>
                </a:solidFill>
                <a:latin typeface="Arial MT"/>
                <a:cs typeface="Arial MT"/>
              </a:rPr>
              <a:t>with: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2878835" y="1502663"/>
            <a:ext cx="1897380" cy="611505"/>
            <a:chOff x="2878835" y="1502663"/>
            <a:chExt cx="1897380" cy="611505"/>
          </a:xfrm>
        </p:grpSpPr>
        <p:pic>
          <p:nvPicPr>
            <p:cNvPr id="27" name="object 2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62755" y="1502663"/>
              <a:ext cx="131063" cy="132587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787139" y="1514855"/>
              <a:ext cx="82295" cy="82296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2878836" y="1636775"/>
              <a:ext cx="1897380" cy="477520"/>
            </a:xfrm>
            <a:custGeom>
              <a:avLst/>
              <a:gdLst/>
              <a:ahLst/>
              <a:cxnLst/>
              <a:rect l="l" t="t" r="r" b="b"/>
              <a:pathLst>
                <a:path w="1897379" h="477519">
                  <a:moveTo>
                    <a:pt x="1891284" y="50292"/>
                  </a:moveTo>
                  <a:lnTo>
                    <a:pt x="1887804" y="32219"/>
                  </a:lnTo>
                  <a:lnTo>
                    <a:pt x="1878330" y="17716"/>
                  </a:lnTo>
                  <a:lnTo>
                    <a:pt x="1864271" y="8077"/>
                  </a:lnTo>
                  <a:lnTo>
                    <a:pt x="1847088" y="4572"/>
                  </a:lnTo>
                  <a:lnTo>
                    <a:pt x="50292" y="4572"/>
                  </a:lnTo>
                  <a:lnTo>
                    <a:pt x="33096" y="8077"/>
                  </a:lnTo>
                  <a:lnTo>
                    <a:pt x="19050" y="17716"/>
                  </a:lnTo>
                  <a:lnTo>
                    <a:pt x="9563" y="32219"/>
                  </a:lnTo>
                  <a:lnTo>
                    <a:pt x="6096" y="50292"/>
                  </a:lnTo>
                  <a:lnTo>
                    <a:pt x="6096" y="428244"/>
                  </a:lnTo>
                  <a:lnTo>
                    <a:pt x="9563" y="445439"/>
                  </a:lnTo>
                  <a:lnTo>
                    <a:pt x="19050" y="459486"/>
                  </a:lnTo>
                  <a:lnTo>
                    <a:pt x="33096" y="468972"/>
                  </a:lnTo>
                  <a:lnTo>
                    <a:pt x="50292" y="472440"/>
                  </a:lnTo>
                  <a:lnTo>
                    <a:pt x="1847088" y="472440"/>
                  </a:lnTo>
                  <a:lnTo>
                    <a:pt x="1864271" y="468972"/>
                  </a:lnTo>
                  <a:lnTo>
                    <a:pt x="1878330" y="459486"/>
                  </a:lnTo>
                  <a:lnTo>
                    <a:pt x="1887804" y="445439"/>
                  </a:lnTo>
                  <a:lnTo>
                    <a:pt x="1891284" y="428244"/>
                  </a:lnTo>
                  <a:lnTo>
                    <a:pt x="1891284" y="50292"/>
                  </a:lnTo>
                  <a:close/>
                </a:path>
                <a:path w="1897379" h="477519">
                  <a:moveTo>
                    <a:pt x="1897380" y="50292"/>
                  </a:moveTo>
                  <a:lnTo>
                    <a:pt x="1894332" y="35496"/>
                  </a:lnTo>
                  <a:lnTo>
                    <a:pt x="1894332" y="50292"/>
                  </a:lnTo>
                  <a:lnTo>
                    <a:pt x="1894332" y="428244"/>
                  </a:lnTo>
                  <a:lnTo>
                    <a:pt x="1890585" y="446557"/>
                  </a:lnTo>
                  <a:lnTo>
                    <a:pt x="1880425" y="461581"/>
                  </a:lnTo>
                  <a:lnTo>
                    <a:pt x="1865388" y="471754"/>
                  </a:lnTo>
                  <a:lnTo>
                    <a:pt x="1847088" y="475488"/>
                  </a:lnTo>
                  <a:lnTo>
                    <a:pt x="50279" y="475488"/>
                  </a:lnTo>
                  <a:lnTo>
                    <a:pt x="31978" y="471754"/>
                  </a:lnTo>
                  <a:lnTo>
                    <a:pt x="16941" y="461581"/>
                  </a:lnTo>
                  <a:lnTo>
                    <a:pt x="6781" y="446557"/>
                  </a:lnTo>
                  <a:lnTo>
                    <a:pt x="3035" y="428244"/>
                  </a:lnTo>
                  <a:lnTo>
                    <a:pt x="3035" y="50292"/>
                  </a:lnTo>
                  <a:lnTo>
                    <a:pt x="6781" y="31991"/>
                  </a:lnTo>
                  <a:lnTo>
                    <a:pt x="16941" y="16954"/>
                  </a:lnTo>
                  <a:lnTo>
                    <a:pt x="31978" y="6794"/>
                  </a:lnTo>
                  <a:lnTo>
                    <a:pt x="50279" y="3048"/>
                  </a:lnTo>
                  <a:lnTo>
                    <a:pt x="1847088" y="3048"/>
                  </a:lnTo>
                  <a:lnTo>
                    <a:pt x="1865388" y="6794"/>
                  </a:lnTo>
                  <a:lnTo>
                    <a:pt x="1880425" y="16954"/>
                  </a:lnTo>
                  <a:lnTo>
                    <a:pt x="1890585" y="31991"/>
                  </a:lnTo>
                  <a:lnTo>
                    <a:pt x="1894332" y="50292"/>
                  </a:lnTo>
                  <a:lnTo>
                    <a:pt x="1894332" y="35496"/>
                  </a:lnTo>
                  <a:lnTo>
                    <a:pt x="1893379" y="30861"/>
                  </a:lnTo>
                  <a:lnTo>
                    <a:pt x="1882521" y="14859"/>
                  </a:lnTo>
                  <a:lnTo>
                    <a:pt x="1866519" y="4000"/>
                  </a:lnTo>
                  <a:lnTo>
                    <a:pt x="1861883" y="3048"/>
                  </a:lnTo>
                  <a:lnTo>
                    <a:pt x="1847088" y="0"/>
                  </a:lnTo>
                  <a:lnTo>
                    <a:pt x="50279" y="0"/>
                  </a:lnTo>
                  <a:lnTo>
                    <a:pt x="30848" y="4000"/>
                  </a:lnTo>
                  <a:lnTo>
                    <a:pt x="14846" y="14859"/>
                  </a:lnTo>
                  <a:lnTo>
                    <a:pt x="3987" y="30861"/>
                  </a:lnTo>
                  <a:lnTo>
                    <a:pt x="0" y="50292"/>
                  </a:lnTo>
                  <a:lnTo>
                    <a:pt x="0" y="428244"/>
                  </a:lnTo>
                  <a:lnTo>
                    <a:pt x="3987" y="447446"/>
                  </a:lnTo>
                  <a:lnTo>
                    <a:pt x="14846" y="462915"/>
                  </a:lnTo>
                  <a:lnTo>
                    <a:pt x="30848" y="473252"/>
                  </a:lnTo>
                  <a:lnTo>
                    <a:pt x="50279" y="477012"/>
                  </a:lnTo>
                  <a:lnTo>
                    <a:pt x="1847088" y="477012"/>
                  </a:lnTo>
                  <a:lnTo>
                    <a:pt x="1854949" y="475488"/>
                  </a:lnTo>
                  <a:lnTo>
                    <a:pt x="1866519" y="473252"/>
                  </a:lnTo>
                  <a:lnTo>
                    <a:pt x="1882521" y="462915"/>
                  </a:lnTo>
                  <a:lnTo>
                    <a:pt x="1893379" y="447446"/>
                  </a:lnTo>
                  <a:lnTo>
                    <a:pt x="1897380" y="428244"/>
                  </a:lnTo>
                  <a:lnTo>
                    <a:pt x="1897380" y="50292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881883" y="1639823"/>
              <a:ext cx="1891664" cy="472440"/>
            </a:xfrm>
            <a:custGeom>
              <a:avLst/>
              <a:gdLst/>
              <a:ahLst/>
              <a:cxnLst/>
              <a:rect l="l" t="t" r="r" b="b"/>
              <a:pathLst>
                <a:path w="1891664" h="472439">
                  <a:moveTo>
                    <a:pt x="1844040" y="472439"/>
                  </a:moveTo>
                  <a:lnTo>
                    <a:pt x="47244" y="472439"/>
                  </a:lnTo>
                  <a:lnTo>
                    <a:pt x="28932" y="468701"/>
                  </a:lnTo>
                  <a:lnTo>
                    <a:pt x="13906" y="458533"/>
                  </a:lnTo>
                  <a:lnTo>
                    <a:pt x="3738" y="443507"/>
                  </a:lnTo>
                  <a:lnTo>
                    <a:pt x="0" y="425195"/>
                  </a:lnTo>
                  <a:lnTo>
                    <a:pt x="0" y="47243"/>
                  </a:lnTo>
                  <a:lnTo>
                    <a:pt x="28932" y="3738"/>
                  </a:lnTo>
                  <a:lnTo>
                    <a:pt x="47244" y="0"/>
                  </a:lnTo>
                  <a:lnTo>
                    <a:pt x="1844040" y="0"/>
                  </a:lnTo>
                  <a:lnTo>
                    <a:pt x="1851504" y="1523"/>
                  </a:lnTo>
                  <a:lnTo>
                    <a:pt x="47244" y="1523"/>
                  </a:lnTo>
                  <a:lnTo>
                    <a:pt x="30051" y="5024"/>
                  </a:lnTo>
                  <a:lnTo>
                    <a:pt x="16002" y="14668"/>
                  </a:lnTo>
                  <a:lnTo>
                    <a:pt x="6524" y="29170"/>
                  </a:lnTo>
                  <a:lnTo>
                    <a:pt x="3048" y="47243"/>
                  </a:lnTo>
                  <a:lnTo>
                    <a:pt x="3048" y="425195"/>
                  </a:lnTo>
                  <a:lnTo>
                    <a:pt x="6524" y="442388"/>
                  </a:lnTo>
                  <a:lnTo>
                    <a:pt x="16002" y="456437"/>
                  </a:lnTo>
                  <a:lnTo>
                    <a:pt x="30051" y="465915"/>
                  </a:lnTo>
                  <a:lnTo>
                    <a:pt x="47244" y="469391"/>
                  </a:lnTo>
                  <a:lnTo>
                    <a:pt x="1858969" y="469391"/>
                  </a:lnTo>
                  <a:lnTo>
                    <a:pt x="1844040" y="472439"/>
                  </a:lnTo>
                  <a:close/>
                </a:path>
                <a:path w="1891664" h="472439">
                  <a:moveTo>
                    <a:pt x="1858969" y="469391"/>
                  </a:moveTo>
                  <a:lnTo>
                    <a:pt x="1844040" y="469391"/>
                  </a:lnTo>
                  <a:lnTo>
                    <a:pt x="1861232" y="465915"/>
                  </a:lnTo>
                  <a:lnTo>
                    <a:pt x="1875282" y="456437"/>
                  </a:lnTo>
                  <a:lnTo>
                    <a:pt x="1884759" y="442388"/>
                  </a:lnTo>
                  <a:lnTo>
                    <a:pt x="1888236" y="425195"/>
                  </a:lnTo>
                  <a:lnTo>
                    <a:pt x="1888236" y="47243"/>
                  </a:lnTo>
                  <a:lnTo>
                    <a:pt x="1884759" y="29170"/>
                  </a:lnTo>
                  <a:lnTo>
                    <a:pt x="1875282" y="14668"/>
                  </a:lnTo>
                  <a:lnTo>
                    <a:pt x="1861232" y="5024"/>
                  </a:lnTo>
                  <a:lnTo>
                    <a:pt x="1844040" y="1523"/>
                  </a:lnTo>
                  <a:lnTo>
                    <a:pt x="1851504" y="1523"/>
                  </a:lnTo>
                  <a:lnTo>
                    <a:pt x="1862351" y="3738"/>
                  </a:lnTo>
                  <a:lnTo>
                    <a:pt x="1877377" y="13906"/>
                  </a:lnTo>
                  <a:lnTo>
                    <a:pt x="1887545" y="28932"/>
                  </a:lnTo>
                  <a:lnTo>
                    <a:pt x="1891284" y="47243"/>
                  </a:lnTo>
                  <a:lnTo>
                    <a:pt x="1891284" y="425195"/>
                  </a:lnTo>
                  <a:lnTo>
                    <a:pt x="1887545" y="443507"/>
                  </a:lnTo>
                  <a:lnTo>
                    <a:pt x="1877377" y="458533"/>
                  </a:lnTo>
                  <a:lnTo>
                    <a:pt x="1862351" y="468701"/>
                  </a:lnTo>
                  <a:lnTo>
                    <a:pt x="1858969" y="469391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2937742" y="1742939"/>
            <a:ext cx="1779270" cy="246379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533400" marR="5080" indent="-521334">
              <a:lnSpc>
                <a:spcPts val="800"/>
              </a:lnSpc>
              <a:spcBef>
                <a:spcPts val="240"/>
              </a:spcBef>
            </a:pPr>
            <a:r>
              <a:rPr dirty="0" sz="750">
                <a:latin typeface="Arial MT"/>
                <a:cs typeface="Arial MT"/>
              </a:rPr>
              <a:t>More</a:t>
            </a:r>
            <a:r>
              <a:rPr dirty="0" sz="750" spc="8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than</a:t>
            </a:r>
            <a:r>
              <a:rPr dirty="0" sz="750" spc="6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one</a:t>
            </a:r>
            <a:r>
              <a:rPr dirty="0" sz="750" spc="7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device</a:t>
            </a:r>
            <a:r>
              <a:rPr dirty="0" sz="750" spc="8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may</a:t>
            </a:r>
            <a:r>
              <a:rPr dirty="0" sz="750" spc="8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have</a:t>
            </a:r>
            <a:r>
              <a:rPr dirty="0" sz="750" spc="90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access </a:t>
            </a:r>
            <a:r>
              <a:rPr dirty="0" sz="750">
                <a:latin typeface="Arial MT"/>
                <a:cs typeface="Arial MT"/>
              </a:rPr>
              <a:t>to</a:t>
            </a:r>
            <a:r>
              <a:rPr dirty="0" sz="750" spc="5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main</a:t>
            </a:r>
            <a:r>
              <a:rPr dirty="0" sz="750" spc="50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memory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2889503" y="2144572"/>
            <a:ext cx="1877695" cy="946150"/>
            <a:chOff x="2889503" y="2144572"/>
            <a:chExt cx="1877695" cy="946150"/>
          </a:xfrm>
        </p:grpSpPr>
        <p:pic>
          <p:nvPicPr>
            <p:cNvPr id="33" name="object 3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775862" y="2144572"/>
              <a:ext cx="117957" cy="130759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787140" y="2153411"/>
              <a:ext cx="82295" cy="82295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2889491" y="2273807"/>
              <a:ext cx="1877695" cy="817244"/>
            </a:xfrm>
            <a:custGeom>
              <a:avLst/>
              <a:gdLst/>
              <a:ahLst/>
              <a:cxnLst/>
              <a:rect l="l" t="t" r="r" b="b"/>
              <a:pathLst>
                <a:path w="1877695" h="817244">
                  <a:moveTo>
                    <a:pt x="1871472" y="83820"/>
                  </a:moveTo>
                  <a:lnTo>
                    <a:pt x="1858619" y="40322"/>
                  </a:lnTo>
                  <a:lnTo>
                    <a:pt x="1824037" y="12382"/>
                  </a:lnTo>
                  <a:lnTo>
                    <a:pt x="1793748" y="6096"/>
                  </a:lnTo>
                  <a:lnTo>
                    <a:pt x="83820" y="6096"/>
                  </a:lnTo>
                  <a:lnTo>
                    <a:pt x="40322" y="19608"/>
                  </a:lnTo>
                  <a:lnTo>
                    <a:pt x="11811" y="53530"/>
                  </a:lnTo>
                  <a:lnTo>
                    <a:pt x="6108" y="83820"/>
                  </a:lnTo>
                  <a:lnTo>
                    <a:pt x="6108" y="733044"/>
                  </a:lnTo>
                  <a:lnTo>
                    <a:pt x="18961" y="777201"/>
                  </a:lnTo>
                  <a:lnTo>
                    <a:pt x="53530" y="806005"/>
                  </a:lnTo>
                  <a:lnTo>
                    <a:pt x="83820" y="812292"/>
                  </a:lnTo>
                  <a:lnTo>
                    <a:pt x="1793748" y="812292"/>
                  </a:lnTo>
                  <a:lnTo>
                    <a:pt x="1837258" y="798791"/>
                  </a:lnTo>
                  <a:lnTo>
                    <a:pt x="1865757" y="763524"/>
                  </a:lnTo>
                  <a:lnTo>
                    <a:pt x="1871472" y="733044"/>
                  </a:lnTo>
                  <a:lnTo>
                    <a:pt x="1871472" y="83820"/>
                  </a:lnTo>
                  <a:close/>
                </a:path>
                <a:path w="1877695" h="817244">
                  <a:moveTo>
                    <a:pt x="1877568" y="83832"/>
                  </a:moveTo>
                  <a:lnTo>
                    <a:pt x="1874520" y="69024"/>
                  </a:lnTo>
                  <a:lnTo>
                    <a:pt x="1874520" y="83832"/>
                  </a:lnTo>
                  <a:lnTo>
                    <a:pt x="1874520" y="733056"/>
                  </a:lnTo>
                  <a:lnTo>
                    <a:pt x="1868119" y="764959"/>
                  </a:lnTo>
                  <a:lnTo>
                    <a:pt x="1850707" y="790587"/>
                  </a:lnTo>
                  <a:lnTo>
                    <a:pt x="1825015" y="807631"/>
                  </a:lnTo>
                  <a:lnTo>
                    <a:pt x="1793748" y="813828"/>
                  </a:lnTo>
                  <a:lnTo>
                    <a:pt x="83820" y="813828"/>
                  </a:lnTo>
                  <a:lnTo>
                    <a:pt x="52565" y="807631"/>
                  </a:lnTo>
                  <a:lnTo>
                    <a:pt x="26860" y="790587"/>
                  </a:lnTo>
                  <a:lnTo>
                    <a:pt x="9461" y="764959"/>
                  </a:lnTo>
                  <a:lnTo>
                    <a:pt x="3048" y="733056"/>
                  </a:lnTo>
                  <a:lnTo>
                    <a:pt x="3048" y="83832"/>
                  </a:lnTo>
                  <a:lnTo>
                    <a:pt x="9461" y="52565"/>
                  </a:lnTo>
                  <a:lnTo>
                    <a:pt x="26860" y="26860"/>
                  </a:lnTo>
                  <a:lnTo>
                    <a:pt x="52565" y="9461"/>
                  </a:lnTo>
                  <a:lnTo>
                    <a:pt x="83820" y="3048"/>
                  </a:lnTo>
                  <a:lnTo>
                    <a:pt x="1793748" y="3048"/>
                  </a:lnTo>
                  <a:lnTo>
                    <a:pt x="1825015" y="9461"/>
                  </a:lnTo>
                  <a:lnTo>
                    <a:pt x="1850707" y="26860"/>
                  </a:lnTo>
                  <a:lnTo>
                    <a:pt x="1868119" y="52565"/>
                  </a:lnTo>
                  <a:lnTo>
                    <a:pt x="1874520" y="83832"/>
                  </a:lnTo>
                  <a:lnTo>
                    <a:pt x="1874520" y="69024"/>
                  </a:lnTo>
                  <a:lnTo>
                    <a:pt x="1852803" y="24765"/>
                  </a:lnTo>
                  <a:lnTo>
                    <a:pt x="1808556" y="3048"/>
                  </a:lnTo>
                  <a:lnTo>
                    <a:pt x="1793748" y="0"/>
                  </a:lnTo>
                  <a:lnTo>
                    <a:pt x="83820" y="0"/>
                  </a:lnTo>
                  <a:lnTo>
                    <a:pt x="51435" y="6667"/>
                  </a:lnTo>
                  <a:lnTo>
                    <a:pt x="24765" y="24765"/>
                  </a:lnTo>
                  <a:lnTo>
                    <a:pt x="6667" y="51435"/>
                  </a:lnTo>
                  <a:lnTo>
                    <a:pt x="0" y="83832"/>
                  </a:lnTo>
                  <a:lnTo>
                    <a:pt x="0" y="733056"/>
                  </a:lnTo>
                  <a:lnTo>
                    <a:pt x="6667" y="765441"/>
                  </a:lnTo>
                  <a:lnTo>
                    <a:pt x="24765" y="792111"/>
                  </a:lnTo>
                  <a:lnTo>
                    <a:pt x="51435" y="810209"/>
                  </a:lnTo>
                  <a:lnTo>
                    <a:pt x="83820" y="816876"/>
                  </a:lnTo>
                  <a:lnTo>
                    <a:pt x="1793748" y="816876"/>
                  </a:lnTo>
                  <a:lnTo>
                    <a:pt x="1852803" y="792111"/>
                  </a:lnTo>
                  <a:lnTo>
                    <a:pt x="1877568" y="733056"/>
                  </a:lnTo>
                  <a:lnTo>
                    <a:pt x="1877568" y="83832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2892551" y="2276855"/>
              <a:ext cx="1871980" cy="810895"/>
            </a:xfrm>
            <a:custGeom>
              <a:avLst/>
              <a:gdLst/>
              <a:ahLst/>
              <a:cxnLst/>
              <a:rect l="l" t="t" r="r" b="b"/>
              <a:pathLst>
                <a:path w="1871979" h="810894">
                  <a:moveTo>
                    <a:pt x="65336" y="807667"/>
                  </a:moveTo>
                  <a:lnTo>
                    <a:pt x="65113" y="807667"/>
                  </a:lnTo>
                  <a:lnTo>
                    <a:pt x="49506" y="804576"/>
                  </a:lnTo>
                  <a:lnTo>
                    <a:pt x="23812" y="787527"/>
                  </a:lnTo>
                  <a:lnTo>
                    <a:pt x="6405" y="761904"/>
                  </a:lnTo>
                  <a:lnTo>
                    <a:pt x="0" y="729996"/>
                  </a:lnTo>
                  <a:lnTo>
                    <a:pt x="0" y="80772"/>
                  </a:lnTo>
                  <a:lnTo>
                    <a:pt x="6405" y="49506"/>
                  </a:lnTo>
                  <a:lnTo>
                    <a:pt x="23812" y="23812"/>
                  </a:lnTo>
                  <a:lnTo>
                    <a:pt x="49506" y="6405"/>
                  </a:lnTo>
                  <a:lnTo>
                    <a:pt x="80771" y="0"/>
                  </a:lnTo>
                  <a:lnTo>
                    <a:pt x="1790700" y="0"/>
                  </a:lnTo>
                  <a:lnTo>
                    <a:pt x="1805577" y="3048"/>
                  </a:lnTo>
                  <a:lnTo>
                    <a:pt x="80771" y="3048"/>
                  </a:lnTo>
                  <a:lnTo>
                    <a:pt x="65127" y="4691"/>
                  </a:lnTo>
                  <a:lnTo>
                    <a:pt x="25908" y="25908"/>
                  </a:lnTo>
                  <a:lnTo>
                    <a:pt x="4476" y="65127"/>
                  </a:lnTo>
                  <a:lnTo>
                    <a:pt x="3048" y="80772"/>
                  </a:lnTo>
                  <a:lnTo>
                    <a:pt x="3048" y="729996"/>
                  </a:lnTo>
                  <a:lnTo>
                    <a:pt x="15906" y="774144"/>
                  </a:lnTo>
                  <a:lnTo>
                    <a:pt x="50482" y="802957"/>
                  </a:lnTo>
                  <a:lnTo>
                    <a:pt x="65336" y="807667"/>
                  </a:lnTo>
                  <a:close/>
                </a:path>
                <a:path w="1871979" h="810894">
                  <a:moveTo>
                    <a:pt x="1806358" y="807667"/>
                  </a:moveTo>
                  <a:lnTo>
                    <a:pt x="1845564" y="786384"/>
                  </a:lnTo>
                  <a:lnTo>
                    <a:pt x="1866995" y="745664"/>
                  </a:lnTo>
                  <a:lnTo>
                    <a:pt x="1868424" y="729996"/>
                  </a:lnTo>
                  <a:lnTo>
                    <a:pt x="1868424" y="80772"/>
                  </a:lnTo>
                  <a:lnTo>
                    <a:pt x="1855565" y="37266"/>
                  </a:lnTo>
                  <a:lnTo>
                    <a:pt x="1820989" y="9334"/>
                  </a:lnTo>
                  <a:lnTo>
                    <a:pt x="1790700" y="3048"/>
                  </a:lnTo>
                  <a:lnTo>
                    <a:pt x="1805577" y="3048"/>
                  </a:lnTo>
                  <a:lnTo>
                    <a:pt x="1821965" y="6405"/>
                  </a:lnTo>
                  <a:lnTo>
                    <a:pt x="1847659" y="23812"/>
                  </a:lnTo>
                  <a:lnTo>
                    <a:pt x="1865066" y="49506"/>
                  </a:lnTo>
                  <a:lnTo>
                    <a:pt x="1871472" y="80772"/>
                  </a:lnTo>
                  <a:lnTo>
                    <a:pt x="1871472" y="729996"/>
                  </a:lnTo>
                  <a:lnTo>
                    <a:pt x="1865066" y="761904"/>
                  </a:lnTo>
                  <a:lnTo>
                    <a:pt x="1847659" y="787527"/>
                  </a:lnTo>
                  <a:lnTo>
                    <a:pt x="1821965" y="804576"/>
                  </a:lnTo>
                  <a:lnTo>
                    <a:pt x="1806358" y="807667"/>
                  </a:lnTo>
                  <a:close/>
                </a:path>
                <a:path w="1871979" h="810894">
                  <a:moveTo>
                    <a:pt x="1798396" y="809244"/>
                  </a:moveTo>
                  <a:lnTo>
                    <a:pt x="1790700" y="809244"/>
                  </a:lnTo>
                  <a:lnTo>
                    <a:pt x="1807087" y="807522"/>
                  </a:lnTo>
                  <a:lnTo>
                    <a:pt x="1806806" y="807522"/>
                  </a:lnTo>
                  <a:lnTo>
                    <a:pt x="1806358" y="807667"/>
                  </a:lnTo>
                  <a:lnTo>
                    <a:pt x="1798396" y="809244"/>
                  </a:lnTo>
                  <a:close/>
                </a:path>
                <a:path w="1871979" h="810894">
                  <a:moveTo>
                    <a:pt x="1790700" y="810768"/>
                  </a:moveTo>
                  <a:lnTo>
                    <a:pt x="80771" y="810768"/>
                  </a:lnTo>
                  <a:lnTo>
                    <a:pt x="65113" y="807667"/>
                  </a:lnTo>
                  <a:lnTo>
                    <a:pt x="80771" y="809244"/>
                  </a:lnTo>
                  <a:lnTo>
                    <a:pt x="1798396" y="809244"/>
                  </a:lnTo>
                  <a:lnTo>
                    <a:pt x="1790700" y="810768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2916412" y="2343388"/>
            <a:ext cx="1822450" cy="659765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algn="ctr" marL="12065" marR="5080" indent="-1270">
              <a:lnSpc>
                <a:spcPct val="90100"/>
              </a:lnSpc>
              <a:spcBef>
                <a:spcPts val="219"/>
              </a:spcBef>
            </a:pPr>
            <a:r>
              <a:rPr dirty="0" sz="750">
                <a:latin typeface="Arial MT"/>
                <a:cs typeface="Arial MT"/>
              </a:rPr>
              <a:t>A</a:t>
            </a:r>
            <a:r>
              <a:rPr dirty="0" sz="750" spc="4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more</a:t>
            </a:r>
            <a:r>
              <a:rPr dirty="0" sz="750" spc="10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complex</a:t>
            </a:r>
            <a:r>
              <a:rPr dirty="0" sz="750" spc="9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problem</a:t>
            </a:r>
            <a:r>
              <a:rPr dirty="0" sz="750" spc="8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occurs</a:t>
            </a:r>
            <a:r>
              <a:rPr dirty="0" sz="750" spc="95">
                <a:latin typeface="Arial MT"/>
                <a:cs typeface="Arial MT"/>
              </a:rPr>
              <a:t> </a:t>
            </a:r>
            <a:r>
              <a:rPr dirty="0" sz="750" spc="-20">
                <a:latin typeface="Arial MT"/>
                <a:cs typeface="Arial MT"/>
              </a:rPr>
              <a:t>when</a:t>
            </a:r>
            <a:r>
              <a:rPr dirty="0" sz="750">
                <a:latin typeface="Arial MT"/>
                <a:cs typeface="Arial MT"/>
              </a:rPr>
              <a:t> multiple</a:t>
            </a:r>
            <a:r>
              <a:rPr dirty="0" sz="750" spc="10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processors</a:t>
            </a:r>
            <a:r>
              <a:rPr dirty="0" sz="750" spc="7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are</a:t>
            </a:r>
            <a:r>
              <a:rPr dirty="0" sz="750" spc="114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attached</a:t>
            </a:r>
            <a:r>
              <a:rPr dirty="0" sz="750" spc="7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to</a:t>
            </a:r>
            <a:r>
              <a:rPr dirty="0" sz="750" spc="105">
                <a:latin typeface="Arial MT"/>
                <a:cs typeface="Arial MT"/>
              </a:rPr>
              <a:t> </a:t>
            </a:r>
            <a:r>
              <a:rPr dirty="0" sz="750" spc="-25">
                <a:latin typeface="Arial MT"/>
                <a:cs typeface="Arial MT"/>
              </a:rPr>
              <a:t>the</a:t>
            </a:r>
            <a:r>
              <a:rPr dirty="0" sz="750">
                <a:latin typeface="Arial MT"/>
                <a:cs typeface="Arial MT"/>
              </a:rPr>
              <a:t> same</a:t>
            </a:r>
            <a:r>
              <a:rPr dirty="0" sz="750" spc="9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bus</a:t>
            </a:r>
            <a:r>
              <a:rPr dirty="0" sz="750" spc="8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and</a:t>
            </a:r>
            <a:r>
              <a:rPr dirty="0" sz="750" spc="9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each</a:t>
            </a:r>
            <a:r>
              <a:rPr dirty="0" sz="750" spc="9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processor</a:t>
            </a:r>
            <a:r>
              <a:rPr dirty="0" sz="750" spc="6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has</a:t>
            </a:r>
            <a:r>
              <a:rPr dirty="0" sz="750" spc="95">
                <a:latin typeface="Arial MT"/>
                <a:cs typeface="Arial MT"/>
              </a:rPr>
              <a:t> </a:t>
            </a:r>
            <a:r>
              <a:rPr dirty="0" sz="750" spc="-25">
                <a:latin typeface="Arial MT"/>
                <a:cs typeface="Arial MT"/>
              </a:rPr>
              <a:t>its</a:t>
            </a:r>
            <a:r>
              <a:rPr dirty="0" sz="750">
                <a:latin typeface="Arial MT"/>
                <a:cs typeface="Arial MT"/>
              </a:rPr>
              <a:t> own</a:t>
            </a:r>
            <a:r>
              <a:rPr dirty="0" sz="750" spc="6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local</a:t>
            </a:r>
            <a:r>
              <a:rPr dirty="0" sz="750" spc="5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cache</a:t>
            </a:r>
            <a:r>
              <a:rPr dirty="0" sz="750" spc="5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-</a:t>
            </a:r>
            <a:r>
              <a:rPr dirty="0" sz="750" spc="7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if</a:t>
            </a:r>
            <a:r>
              <a:rPr dirty="0" sz="750" spc="3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a</a:t>
            </a:r>
            <a:r>
              <a:rPr dirty="0" sz="750" spc="8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word</a:t>
            </a:r>
            <a:r>
              <a:rPr dirty="0" sz="750" spc="6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is</a:t>
            </a:r>
            <a:r>
              <a:rPr dirty="0" sz="750" spc="6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altered</a:t>
            </a:r>
            <a:r>
              <a:rPr dirty="0" sz="750" spc="60">
                <a:latin typeface="Arial MT"/>
                <a:cs typeface="Arial MT"/>
              </a:rPr>
              <a:t> </a:t>
            </a:r>
            <a:r>
              <a:rPr dirty="0" sz="750" spc="-25">
                <a:latin typeface="Arial MT"/>
                <a:cs typeface="Arial MT"/>
              </a:rPr>
              <a:t>in</a:t>
            </a:r>
            <a:r>
              <a:rPr dirty="0" sz="750">
                <a:latin typeface="Arial MT"/>
                <a:cs typeface="Arial MT"/>
              </a:rPr>
              <a:t> one</a:t>
            </a:r>
            <a:r>
              <a:rPr dirty="0" sz="750" spc="9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cache</a:t>
            </a:r>
            <a:r>
              <a:rPr dirty="0" sz="750" spc="8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it</a:t>
            </a:r>
            <a:r>
              <a:rPr dirty="0" sz="750" spc="9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could</a:t>
            </a:r>
            <a:r>
              <a:rPr dirty="0" sz="750" spc="9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conceivably</a:t>
            </a:r>
            <a:r>
              <a:rPr dirty="0" sz="750" spc="105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invalidate </a:t>
            </a:r>
            <a:r>
              <a:rPr dirty="0" sz="750">
                <a:latin typeface="Arial MT"/>
                <a:cs typeface="Arial MT"/>
              </a:rPr>
              <a:t>a</a:t>
            </a:r>
            <a:r>
              <a:rPr dirty="0" sz="750" spc="5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word</a:t>
            </a:r>
            <a:r>
              <a:rPr dirty="0" sz="750" spc="6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in</a:t>
            </a:r>
            <a:r>
              <a:rPr dirty="0" sz="750" spc="5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other</a:t>
            </a:r>
            <a:r>
              <a:rPr dirty="0" sz="750" spc="45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caches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5378196" y="364489"/>
            <a:ext cx="5125720" cy="3204210"/>
            <a:chOff x="5378196" y="364489"/>
            <a:chExt cx="5125720" cy="3204210"/>
          </a:xfrm>
        </p:grpSpPr>
        <p:sp>
          <p:nvSpPr>
            <p:cNvPr id="39" name="object 39" descr=""/>
            <p:cNvSpPr/>
            <p:nvPr/>
          </p:nvSpPr>
          <p:spPr>
            <a:xfrm>
              <a:off x="5378183" y="364489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10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5381244" y="688847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6"/>
                  </a:moveTo>
                  <a:lnTo>
                    <a:pt x="0" y="36576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6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6913880" y="339191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5606796" y="845820"/>
            <a:ext cx="4869180" cy="2708275"/>
            <a:chOff x="5606796" y="845820"/>
            <a:chExt cx="4869180" cy="2708275"/>
          </a:xfrm>
        </p:grpSpPr>
        <p:pic>
          <p:nvPicPr>
            <p:cNvPr id="43" name="object 4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0951" y="3339083"/>
              <a:ext cx="1335023" cy="214883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5606796" y="845819"/>
              <a:ext cx="40005" cy="972819"/>
            </a:xfrm>
            <a:custGeom>
              <a:avLst/>
              <a:gdLst/>
              <a:ahLst/>
              <a:cxnLst/>
              <a:rect l="l" t="t" r="r" b="b"/>
              <a:pathLst>
                <a:path w="40004" h="972819">
                  <a:moveTo>
                    <a:pt x="39611" y="932688"/>
                  </a:moveTo>
                  <a:lnTo>
                    <a:pt x="0" y="932688"/>
                  </a:lnTo>
                  <a:lnTo>
                    <a:pt x="0" y="972312"/>
                  </a:lnTo>
                  <a:lnTo>
                    <a:pt x="39611" y="972312"/>
                  </a:lnTo>
                  <a:lnTo>
                    <a:pt x="39611" y="932688"/>
                  </a:lnTo>
                  <a:close/>
                </a:path>
                <a:path w="40004" h="972819">
                  <a:moveTo>
                    <a:pt x="39611" y="0"/>
                  </a:moveTo>
                  <a:lnTo>
                    <a:pt x="0" y="0"/>
                  </a:lnTo>
                  <a:lnTo>
                    <a:pt x="0" y="39624"/>
                  </a:lnTo>
                  <a:lnTo>
                    <a:pt x="39611" y="39624"/>
                  </a:lnTo>
                  <a:lnTo>
                    <a:pt x="39611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5583392" y="452149"/>
            <a:ext cx="2028189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Write Through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vs.</a:t>
            </a:r>
            <a:r>
              <a:rPr dirty="0" sz="12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Write</a:t>
            </a:r>
            <a:r>
              <a:rPr dirty="0" sz="12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1A1A1A"/>
                </a:solidFill>
                <a:latin typeface="Arial MT"/>
                <a:cs typeface="Arial MT"/>
              </a:rPr>
              <a:t>Back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5744922" y="770608"/>
            <a:ext cx="810260" cy="182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Write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through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5796829" y="928901"/>
            <a:ext cx="4179570" cy="72961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45415" indent="-132715">
              <a:lnSpc>
                <a:spcPct val="100000"/>
              </a:lnSpc>
              <a:spcBef>
                <a:spcPts val="335"/>
              </a:spcBef>
              <a:buChar char="•"/>
              <a:tabLst>
                <a:tab pos="145415" algn="l"/>
              </a:tabLst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Simplest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technique</a:t>
            </a:r>
            <a:endParaRPr sz="1000">
              <a:latin typeface="Arial MT"/>
              <a:cs typeface="Arial MT"/>
            </a:endParaRPr>
          </a:p>
          <a:p>
            <a:pPr marL="145415" indent="-132715">
              <a:lnSpc>
                <a:spcPct val="100000"/>
              </a:lnSpc>
              <a:spcBef>
                <a:spcPts val="240"/>
              </a:spcBef>
              <a:buChar char="•"/>
              <a:tabLst>
                <a:tab pos="145415" algn="l"/>
              </a:tabLst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All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write</a:t>
            </a:r>
            <a:r>
              <a:rPr dirty="0" sz="10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operations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are made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10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main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r>
              <a:rPr dirty="0" sz="10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as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well</a:t>
            </a:r>
            <a:r>
              <a:rPr dirty="0" sz="10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as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cache</a:t>
            </a:r>
            <a:endParaRPr sz="1000">
              <a:latin typeface="Arial MT"/>
              <a:cs typeface="Arial MT"/>
            </a:endParaRPr>
          </a:p>
          <a:p>
            <a:pPr marL="144780" marR="5080" indent="-132715">
              <a:lnSpc>
                <a:spcPct val="101000"/>
              </a:lnSpc>
              <a:spcBef>
                <a:spcPts val="240"/>
              </a:spcBef>
              <a:buChar char="•"/>
              <a:tabLst>
                <a:tab pos="146685" algn="l"/>
              </a:tabLst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main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disadvantage of this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technique is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that it generates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substantial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	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r>
              <a:rPr dirty="0" sz="10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traffic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may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create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bottleneck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5744922" y="1703347"/>
            <a:ext cx="643255" cy="182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Write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back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5796829" y="1860026"/>
            <a:ext cx="4293235" cy="91757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45415" indent="-132715">
              <a:lnSpc>
                <a:spcPct val="100000"/>
              </a:lnSpc>
              <a:spcBef>
                <a:spcPts val="350"/>
              </a:spcBef>
              <a:buChar char="•"/>
              <a:tabLst>
                <a:tab pos="145415" algn="l"/>
              </a:tabLst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Minimizes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writes</a:t>
            </a:r>
            <a:endParaRPr sz="1000">
              <a:latin typeface="Arial MT"/>
              <a:cs typeface="Arial MT"/>
            </a:endParaRPr>
          </a:p>
          <a:p>
            <a:pPr marL="145415" indent="-132715">
              <a:lnSpc>
                <a:spcPct val="100000"/>
              </a:lnSpc>
              <a:spcBef>
                <a:spcPts val="250"/>
              </a:spcBef>
              <a:buChar char="•"/>
              <a:tabLst>
                <a:tab pos="145415" algn="l"/>
              </a:tabLst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Updates are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made only</a:t>
            </a:r>
            <a:r>
              <a:rPr dirty="0" sz="10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endParaRPr sz="1000">
              <a:latin typeface="Arial MT"/>
              <a:cs typeface="Arial MT"/>
            </a:endParaRPr>
          </a:p>
          <a:p>
            <a:pPr marL="144780" marR="5080" indent="-132715">
              <a:lnSpc>
                <a:spcPct val="101000"/>
              </a:lnSpc>
              <a:spcBef>
                <a:spcPts val="240"/>
              </a:spcBef>
              <a:buChar char="•"/>
              <a:tabLst>
                <a:tab pos="146685" algn="l"/>
              </a:tabLst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Portions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main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are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invalid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hence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accesses by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I/O</a:t>
            </a:r>
            <a:r>
              <a:rPr dirty="0" sz="10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modules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	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can</a:t>
            </a:r>
            <a:r>
              <a:rPr dirty="0" sz="10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be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allowed</a:t>
            </a:r>
            <a:r>
              <a:rPr dirty="0" sz="100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only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through</a:t>
            </a:r>
            <a:r>
              <a:rPr dirty="0" sz="10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endParaRPr sz="1000">
              <a:latin typeface="Arial MT"/>
              <a:cs typeface="Arial MT"/>
            </a:endParaRPr>
          </a:p>
          <a:p>
            <a:pPr marL="145415" indent="-132715">
              <a:lnSpc>
                <a:spcPct val="100000"/>
              </a:lnSpc>
              <a:spcBef>
                <a:spcPts val="254"/>
              </a:spcBef>
              <a:buChar char="•"/>
              <a:tabLst>
                <a:tab pos="145415" algn="l"/>
              </a:tabLst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This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makes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for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complex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circuitry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dirty="0" sz="10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potential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bottleneck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188976" y="3991610"/>
            <a:ext cx="5125720" cy="3204210"/>
            <a:chOff x="188976" y="3991610"/>
            <a:chExt cx="5125720" cy="3204210"/>
          </a:xfrm>
        </p:grpSpPr>
        <p:sp>
          <p:nvSpPr>
            <p:cNvPr id="51" name="object 51" descr=""/>
            <p:cNvSpPr/>
            <p:nvPr/>
          </p:nvSpPr>
          <p:spPr>
            <a:xfrm>
              <a:off x="18896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604" y="0"/>
                  </a:lnTo>
                  <a:lnTo>
                    <a:pt x="5117604" y="7620"/>
                  </a:lnTo>
                  <a:lnTo>
                    <a:pt x="5117604" y="3196590"/>
                  </a:lnTo>
                  <a:lnTo>
                    <a:pt x="7632" y="3196590"/>
                  </a:lnTo>
                  <a:lnTo>
                    <a:pt x="7632" y="3197098"/>
                  </a:lnTo>
                  <a:lnTo>
                    <a:pt x="4584" y="3197098"/>
                  </a:lnTo>
                  <a:lnTo>
                    <a:pt x="4584" y="3196590"/>
                  </a:lnTo>
                  <a:lnTo>
                    <a:pt x="7632" y="3196590"/>
                  </a:lnTo>
                  <a:lnTo>
                    <a:pt x="7632" y="7620"/>
                  </a:lnTo>
                  <a:lnTo>
                    <a:pt x="5117604" y="7620"/>
                  </a:lnTo>
                  <a:lnTo>
                    <a:pt x="5117604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92024" y="4315968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172466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798575" y="5161788"/>
            <a:ext cx="4490085" cy="2018030"/>
            <a:chOff x="798575" y="5161788"/>
            <a:chExt cx="4490085" cy="2018030"/>
          </a:xfrm>
        </p:grpSpPr>
        <p:pic>
          <p:nvPicPr>
            <p:cNvPr id="55" name="object 5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951732" y="6966204"/>
              <a:ext cx="1336548" cy="213360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798575" y="5161788"/>
              <a:ext cx="3903345" cy="952500"/>
            </a:xfrm>
            <a:custGeom>
              <a:avLst/>
              <a:gdLst/>
              <a:ahLst/>
              <a:cxnLst/>
              <a:rect l="l" t="t" r="r" b="b"/>
              <a:pathLst>
                <a:path w="3903345" h="952500">
                  <a:moveTo>
                    <a:pt x="3427475" y="952500"/>
                  </a:moveTo>
                  <a:lnTo>
                    <a:pt x="3427475" y="714756"/>
                  </a:lnTo>
                  <a:lnTo>
                    <a:pt x="0" y="714756"/>
                  </a:lnTo>
                  <a:lnTo>
                    <a:pt x="237743" y="477012"/>
                  </a:lnTo>
                  <a:lnTo>
                    <a:pt x="0" y="237743"/>
                  </a:lnTo>
                  <a:lnTo>
                    <a:pt x="3427475" y="237743"/>
                  </a:lnTo>
                  <a:lnTo>
                    <a:pt x="3427475" y="0"/>
                  </a:lnTo>
                  <a:lnTo>
                    <a:pt x="3902964" y="477012"/>
                  </a:lnTo>
                  <a:lnTo>
                    <a:pt x="3427475" y="95250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394203" y="4079179"/>
            <a:ext cx="65913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Line</a:t>
            </a:r>
            <a:r>
              <a:rPr dirty="0" sz="12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1A1A1A"/>
                </a:solidFill>
                <a:latin typeface="Arial MT"/>
                <a:cs typeface="Arial MT"/>
              </a:rPr>
              <a:t>Size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843789" y="4353593"/>
            <a:ext cx="575945" cy="101219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algn="ctr" marL="12700" marR="5080" indent="-635">
              <a:lnSpc>
                <a:spcPct val="89200"/>
              </a:lnSpc>
              <a:spcBef>
                <a:spcPts val="204"/>
              </a:spcBef>
            </a:pPr>
            <a:r>
              <a:rPr dirty="0" sz="650">
                <a:latin typeface="Arial MT"/>
                <a:cs typeface="Arial MT"/>
              </a:rPr>
              <a:t>When</a:t>
            </a:r>
            <a:r>
              <a:rPr dirty="0" sz="650" spc="1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a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block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of</a:t>
            </a:r>
            <a:r>
              <a:rPr dirty="0" sz="650" spc="2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data</a:t>
            </a:r>
            <a:r>
              <a:rPr dirty="0" sz="650" spc="35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is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retrieved</a:t>
            </a:r>
            <a:r>
              <a:rPr dirty="0" sz="650" spc="60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and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placed</a:t>
            </a:r>
            <a:r>
              <a:rPr dirty="0" sz="650" spc="1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in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the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cache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not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only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the</a:t>
            </a:r>
            <a:r>
              <a:rPr dirty="0" sz="650" spc="25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desired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word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but</a:t>
            </a:r>
            <a:r>
              <a:rPr dirty="0" sz="650" spc="25"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also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some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number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of</a:t>
            </a:r>
            <a:r>
              <a:rPr dirty="0" sz="650" spc="2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adjacent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words</a:t>
            </a:r>
            <a:r>
              <a:rPr dirty="0" sz="650" spc="45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are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retrieved</a:t>
            </a:r>
            <a:endParaRPr sz="650">
              <a:latin typeface="Arial MT"/>
              <a:cs typeface="Arial MT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1030224" y="5489448"/>
            <a:ext cx="2961640" cy="314325"/>
            <a:chOff x="1030224" y="5489448"/>
            <a:chExt cx="2961640" cy="314325"/>
          </a:xfrm>
        </p:grpSpPr>
        <p:pic>
          <p:nvPicPr>
            <p:cNvPr id="60" name="object 60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30224" y="5632704"/>
              <a:ext cx="6095" cy="12192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30224" y="5489448"/>
              <a:ext cx="306323" cy="307848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63751" y="5513832"/>
              <a:ext cx="239268" cy="237744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1053083" y="5503164"/>
              <a:ext cx="260985" cy="259079"/>
            </a:xfrm>
            <a:custGeom>
              <a:avLst/>
              <a:gdLst/>
              <a:ahLst/>
              <a:cxnLst/>
              <a:rect l="l" t="t" r="r" b="b"/>
              <a:pathLst>
                <a:path w="260984" h="259079">
                  <a:moveTo>
                    <a:pt x="129540" y="259080"/>
                  </a:moveTo>
                  <a:lnTo>
                    <a:pt x="79081" y="248912"/>
                  </a:lnTo>
                  <a:lnTo>
                    <a:pt x="37909" y="221170"/>
                  </a:lnTo>
                  <a:lnTo>
                    <a:pt x="10167" y="179998"/>
                  </a:lnTo>
                  <a:lnTo>
                    <a:pt x="0" y="129540"/>
                  </a:lnTo>
                  <a:lnTo>
                    <a:pt x="10167" y="79081"/>
                  </a:lnTo>
                  <a:lnTo>
                    <a:pt x="37909" y="37909"/>
                  </a:lnTo>
                  <a:lnTo>
                    <a:pt x="79081" y="10167"/>
                  </a:lnTo>
                  <a:lnTo>
                    <a:pt x="129540" y="0"/>
                  </a:lnTo>
                  <a:lnTo>
                    <a:pt x="180236" y="10167"/>
                  </a:lnTo>
                  <a:lnTo>
                    <a:pt x="197022" y="21336"/>
                  </a:lnTo>
                  <a:lnTo>
                    <a:pt x="129540" y="21336"/>
                  </a:lnTo>
                  <a:lnTo>
                    <a:pt x="87558" y="29670"/>
                  </a:lnTo>
                  <a:lnTo>
                    <a:pt x="53149" y="52578"/>
                  </a:lnTo>
                  <a:lnTo>
                    <a:pt x="29884" y="86915"/>
                  </a:lnTo>
                  <a:lnTo>
                    <a:pt x="21336" y="129540"/>
                  </a:lnTo>
                  <a:lnTo>
                    <a:pt x="29884" y="171521"/>
                  </a:lnTo>
                  <a:lnTo>
                    <a:pt x="53149" y="205930"/>
                  </a:lnTo>
                  <a:lnTo>
                    <a:pt x="87558" y="229195"/>
                  </a:lnTo>
                  <a:lnTo>
                    <a:pt x="129540" y="237744"/>
                  </a:lnTo>
                  <a:lnTo>
                    <a:pt x="197022" y="237744"/>
                  </a:lnTo>
                  <a:lnTo>
                    <a:pt x="180236" y="248912"/>
                  </a:lnTo>
                  <a:lnTo>
                    <a:pt x="129540" y="259080"/>
                  </a:lnTo>
                  <a:close/>
                </a:path>
                <a:path w="260984" h="259079">
                  <a:moveTo>
                    <a:pt x="197022" y="237744"/>
                  </a:moveTo>
                  <a:lnTo>
                    <a:pt x="129540" y="237744"/>
                  </a:lnTo>
                  <a:lnTo>
                    <a:pt x="172188" y="229195"/>
                  </a:lnTo>
                  <a:lnTo>
                    <a:pt x="206692" y="205930"/>
                  </a:lnTo>
                  <a:lnTo>
                    <a:pt x="230052" y="171521"/>
                  </a:lnTo>
                  <a:lnTo>
                    <a:pt x="239268" y="129540"/>
                  </a:lnTo>
                  <a:lnTo>
                    <a:pt x="230052" y="86915"/>
                  </a:lnTo>
                  <a:lnTo>
                    <a:pt x="206692" y="52578"/>
                  </a:lnTo>
                  <a:lnTo>
                    <a:pt x="172188" y="29670"/>
                  </a:lnTo>
                  <a:lnTo>
                    <a:pt x="129540" y="21336"/>
                  </a:lnTo>
                  <a:lnTo>
                    <a:pt x="197022" y="21336"/>
                  </a:lnTo>
                  <a:lnTo>
                    <a:pt x="221932" y="37909"/>
                  </a:lnTo>
                  <a:lnTo>
                    <a:pt x="250197" y="79081"/>
                  </a:lnTo>
                  <a:lnTo>
                    <a:pt x="260604" y="129540"/>
                  </a:lnTo>
                  <a:lnTo>
                    <a:pt x="250197" y="179998"/>
                  </a:lnTo>
                  <a:lnTo>
                    <a:pt x="221932" y="221170"/>
                  </a:lnTo>
                  <a:lnTo>
                    <a:pt x="197022" y="2377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624583" y="5497068"/>
              <a:ext cx="306324" cy="306324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58112" y="5519928"/>
              <a:ext cx="239268" cy="237744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1647444" y="5509260"/>
              <a:ext cx="260985" cy="259079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29540" y="259080"/>
                  </a:moveTo>
                  <a:lnTo>
                    <a:pt x="79081" y="248912"/>
                  </a:lnTo>
                  <a:lnTo>
                    <a:pt x="37909" y="221170"/>
                  </a:lnTo>
                  <a:lnTo>
                    <a:pt x="10167" y="179998"/>
                  </a:lnTo>
                  <a:lnTo>
                    <a:pt x="0" y="129540"/>
                  </a:lnTo>
                  <a:lnTo>
                    <a:pt x="10167" y="79081"/>
                  </a:lnTo>
                  <a:lnTo>
                    <a:pt x="37909" y="37909"/>
                  </a:lnTo>
                  <a:lnTo>
                    <a:pt x="79081" y="10167"/>
                  </a:lnTo>
                  <a:lnTo>
                    <a:pt x="129540" y="0"/>
                  </a:lnTo>
                  <a:lnTo>
                    <a:pt x="180236" y="10167"/>
                  </a:lnTo>
                  <a:lnTo>
                    <a:pt x="197022" y="21336"/>
                  </a:lnTo>
                  <a:lnTo>
                    <a:pt x="129540" y="21336"/>
                  </a:lnTo>
                  <a:lnTo>
                    <a:pt x="87558" y="29884"/>
                  </a:lnTo>
                  <a:lnTo>
                    <a:pt x="53149" y="53149"/>
                  </a:lnTo>
                  <a:lnTo>
                    <a:pt x="29884" y="87558"/>
                  </a:lnTo>
                  <a:lnTo>
                    <a:pt x="21336" y="129540"/>
                  </a:lnTo>
                  <a:lnTo>
                    <a:pt x="29884" y="171521"/>
                  </a:lnTo>
                  <a:lnTo>
                    <a:pt x="53149" y="205930"/>
                  </a:lnTo>
                  <a:lnTo>
                    <a:pt x="87558" y="229195"/>
                  </a:lnTo>
                  <a:lnTo>
                    <a:pt x="129540" y="237744"/>
                  </a:lnTo>
                  <a:lnTo>
                    <a:pt x="197022" y="237744"/>
                  </a:lnTo>
                  <a:lnTo>
                    <a:pt x="180236" y="248912"/>
                  </a:lnTo>
                  <a:lnTo>
                    <a:pt x="129540" y="259080"/>
                  </a:lnTo>
                  <a:close/>
                </a:path>
                <a:path w="260985" h="259079">
                  <a:moveTo>
                    <a:pt x="197022" y="237744"/>
                  </a:moveTo>
                  <a:lnTo>
                    <a:pt x="129540" y="237744"/>
                  </a:lnTo>
                  <a:lnTo>
                    <a:pt x="172188" y="229195"/>
                  </a:lnTo>
                  <a:lnTo>
                    <a:pt x="206692" y="205930"/>
                  </a:lnTo>
                  <a:lnTo>
                    <a:pt x="230052" y="171521"/>
                  </a:lnTo>
                  <a:lnTo>
                    <a:pt x="239268" y="129540"/>
                  </a:lnTo>
                  <a:lnTo>
                    <a:pt x="230052" y="87558"/>
                  </a:lnTo>
                  <a:lnTo>
                    <a:pt x="206692" y="53149"/>
                  </a:lnTo>
                  <a:lnTo>
                    <a:pt x="172188" y="29884"/>
                  </a:lnTo>
                  <a:lnTo>
                    <a:pt x="129540" y="21336"/>
                  </a:lnTo>
                  <a:lnTo>
                    <a:pt x="197022" y="21336"/>
                  </a:lnTo>
                  <a:lnTo>
                    <a:pt x="221932" y="37909"/>
                  </a:lnTo>
                  <a:lnTo>
                    <a:pt x="250197" y="79081"/>
                  </a:lnTo>
                  <a:lnTo>
                    <a:pt x="260604" y="129540"/>
                  </a:lnTo>
                  <a:lnTo>
                    <a:pt x="250197" y="179998"/>
                  </a:lnTo>
                  <a:lnTo>
                    <a:pt x="221932" y="221170"/>
                  </a:lnTo>
                  <a:lnTo>
                    <a:pt x="197022" y="2377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226563" y="5497068"/>
              <a:ext cx="307847" cy="306324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261616" y="5519928"/>
              <a:ext cx="237743" cy="237744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2250947" y="5509260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80" h="259079">
                  <a:moveTo>
                    <a:pt x="129540" y="259080"/>
                  </a:moveTo>
                  <a:lnTo>
                    <a:pt x="79081" y="248912"/>
                  </a:lnTo>
                  <a:lnTo>
                    <a:pt x="37909" y="221170"/>
                  </a:lnTo>
                  <a:lnTo>
                    <a:pt x="10167" y="179998"/>
                  </a:lnTo>
                  <a:lnTo>
                    <a:pt x="0" y="129540"/>
                  </a:lnTo>
                  <a:lnTo>
                    <a:pt x="10167" y="79081"/>
                  </a:lnTo>
                  <a:lnTo>
                    <a:pt x="37909" y="37909"/>
                  </a:lnTo>
                  <a:lnTo>
                    <a:pt x="79081" y="10167"/>
                  </a:lnTo>
                  <a:lnTo>
                    <a:pt x="129540" y="0"/>
                  </a:lnTo>
                  <a:lnTo>
                    <a:pt x="179998" y="10167"/>
                  </a:lnTo>
                  <a:lnTo>
                    <a:pt x="196573" y="21336"/>
                  </a:lnTo>
                  <a:lnTo>
                    <a:pt x="129540" y="21336"/>
                  </a:lnTo>
                  <a:lnTo>
                    <a:pt x="87558" y="29884"/>
                  </a:lnTo>
                  <a:lnTo>
                    <a:pt x="53149" y="53149"/>
                  </a:lnTo>
                  <a:lnTo>
                    <a:pt x="29884" y="87558"/>
                  </a:lnTo>
                  <a:lnTo>
                    <a:pt x="21336" y="129540"/>
                  </a:lnTo>
                  <a:lnTo>
                    <a:pt x="29884" y="171521"/>
                  </a:lnTo>
                  <a:lnTo>
                    <a:pt x="53149" y="205930"/>
                  </a:lnTo>
                  <a:lnTo>
                    <a:pt x="87558" y="229195"/>
                  </a:lnTo>
                  <a:lnTo>
                    <a:pt x="129540" y="237744"/>
                  </a:lnTo>
                  <a:lnTo>
                    <a:pt x="196573" y="237744"/>
                  </a:lnTo>
                  <a:lnTo>
                    <a:pt x="179998" y="248912"/>
                  </a:lnTo>
                  <a:lnTo>
                    <a:pt x="129540" y="259080"/>
                  </a:lnTo>
                  <a:close/>
                </a:path>
                <a:path w="259080" h="259079">
                  <a:moveTo>
                    <a:pt x="196573" y="237744"/>
                  </a:moveTo>
                  <a:lnTo>
                    <a:pt x="129540" y="237744"/>
                  </a:lnTo>
                  <a:lnTo>
                    <a:pt x="171521" y="229195"/>
                  </a:lnTo>
                  <a:lnTo>
                    <a:pt x="205930" y="205930"/>
                  </a:lnTo>
                  <a:lnTo>
                    <a:pt x="229195" y="171521"/>
                  </a:lnTo>
                  <a:lnTo>
                    <a:pt x="237744" y="129540"/>
                  </a:lnTo>
                  <a:lnTo>
                    <a:pt x="229195" y="87558"/>
                  </a:lnTo>
                  <a:lnTo>
                    <a:pt x="205930" y="53149"/>
                  </a:lnTo>
                  <a:lnTo>
                    <a:pt x="171521" y="29884"/>
                  </a:lnTo>
                  <a:lnTo>
                    <a:pt x="129540" y="21336"/>
                  </a:lnTo>
                  <a:lnTo>
                    <a:pt x="196573" y="21336"/>
                  </a:lnTo>
                  <a:lnTo>
                    <a:pt x="221170" y="37909"/>
                  </a:lnTo>
                  <a:lnTo>
                    <a:pt x="248912" y="79081"/>
                  </a:lnTo>
                  <a:lnTo>
                    <a:pt x="259080" y="129540"/>
                  </a:lnTo>
                  <a:lnTo>
                    <a:pt x="248912" y="179998"/>
                  </a:lnTo>
                  <a:lnTo>
                    <a:pt x="221170" y="221170"/>
                  </a:lnTo>
                  <a:lnTo>
                    <a:pt x="196573" y="2377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953511" y="5497068"/>
              <a:ext cx="306324" cy="306324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987040" y="5519928"/>
              <a:ext cx="237743" cy="237744"/>
            </a:xfrm>
            <a:prstGeom prst="rect">
              <a:avLst/>
            </a:prstGeom>
          </p:spPr>
        </p:pic>
        <p:sp>
          <p:nvSpPr>
            <p:cNvPr id="72" name="object 72" descr=""/>
            <p:cNvSpPr/>
            <p:nvPr/>
          </p:nvSpPr>
          <p:spPr>
            <a:xfrm>
              <a:off x="2976372" y="5509260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80" h="259079">
                  <a:moveTo>
                    <a:pt x="129540" y="259080"/>
                  </a:moveTo>
                  <a:lnTo>
                    <a:pt x="79081" y="248912"/>
                  </a:lnTo>
                  <a:lnTo>
                    <a:pt x="37909" y="221170"/>
                  </a:lnTo>
                  <a:lnTo>
                    <a:pt x="10167" y="179998"/>
                  </a:lnTo>
                  <a:lnTo>
                    <a:pt x="0" y="129540"/>
                  </a:lnTo>
                  <a:lnTo>
                    <a:pt x="10167" y="79081"/>
                  </a:lnTo>
                  <a:lnTo>
                    <a:pt x="37909" y="37909"/>
                  </a:lnTo>
                  <a:lnTo>
                    <a:pt x="79081" y="10167"/>
                  </a:lnTo>
                  <a:lnTo>
                    <a:pt x="129540" y="0"/>
                  </a:lnTo>
                  <a:lnTo>
                    <a:pt x="179998" y="10167"/>
                  </a:lnTo>
                  <a:lnTo>
                    <a:pt x="196573" y="21336"/>
                  </a:lnTo>
                  <a:lnTo>
                    <a:pt x="129540" y="21336"/>
                  </a:lnTo>
                  <a:lnTo>
                    <a:pt x="87558" y="29884"/>
                  </a:lnTo>
                  <a:lnTo>
                    <a:pt x="53149" y="53149"/>
                  </a:lnTo>
                  <a:lnTo>
                    <a:pt x="29884" y="87558"/>
                  </a:lnTo>
                  <a:lnTo>
                    <a:pt x="21336" y="129540"/>
                  </a:lnTo>
                  <a:lnTo>
                    <a:pt x="29884" y="171521"/>
                  </a:lnTo>
                  <a:lnTo>
                    <a:pt x="53149" y="205930"/>
                  </a:lnTo>
                  <a:lnTo>
                    <a:pt x="87558" y="229195"/>
                  </a:lnTo>
                  <a:lnTo>
                    <a:pt x="129540" y="237744"/>
                  </a:lnTo>
                  <a:lnTo>
                    <a:pt x="196573" y="237744"/>
                  </a:lnTo>
                  <a:lnTo>
                    <a:pt x="179998" y="248912"/>
                  </a:lnTo>
                  <a:lnTo>
                    <a:pt x="129540" y="259080"/>
                  </a:lnTo>
                  <a:close/>
                </a:path>
                <a:path w="259080" h="259079">
                  <a:moveTo>
                    <a:pt x="196573" y="237744"/>
                  </a:moveTo>
                  <a:lnTo>
                    <a:pt x="129540" y="237744"/>
                  </a:lnTo>
                  <a:lnTo>
                    <a:pt x="172164" y="229195"/>
                  </a:lnTo>
                  <a:lnTo>
                    <a:pt x="206502" y="205930"/>
                  </a:lnTo>
                  <a:lnTo>
                    <a:pt x="229409" y="171521"/>
                  </a:lnTo>
                  <a:lnTo>
                    <a:pt x="237744" y="129540"/>
                  </a:lnTo>
                  <a:lnTo>
                    <a:pt x="229409" y="87558"/>
                  </a:lnTo>
                  <a:lnTo>
                    <a:pt x="206502" y="53149"/>
                  </a:lnTo>
                  <a:lnTo>
                    <a:pt x="172164" y="29884"/>
                  </a:lnTo>
                  <a:lnTo>
                    <a:pt x="129540" y="21336"/>
                  </a:lnTo>
                  <a:lnTo>
                    <a:pt x="196573" y="21336"/>
                  </a:lnTo>
                  <a:lnTo>
                    <a:pt x="221170" y="37909"/>
                  </a:lnTo>
                  <a:lnTo>
                    <a:pt x="248912" y="79081"/>
                  </a:lnTo>
                  <a:lnTo>
                    <a:pt x="259080" y="129540"/>
                  </a:lnTo>
                  <a:lnTo>
                    <a:pt x="248912" y="179998"/>
                  </a:lnTo>
                  <a:lnTo>
                    <a:pt x="221170" y="221170"/>
                  </a:lnTo>
                  <a:lnTo>
                    <a:pt x="196573" y="2377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685031" y="5489448"/>
              <a:ext cx="306324" cy="307848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718559" y="5513832"/>
              <a:ext cx="237743" cy="237744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3707891" y="5503164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40" y="259080"/>
                  </a:moveTo>
                  <a:lnTo>
                    <a:pt x="79081" y="248912"/>
                  </a:lnTo>
                  <a:lnTo>
                    <a:pt x="37909" y="221170"/>
                  </a:lnTo>
                  <a:lnTo>
                    <a:pt x="10167" y="179998"/>
                  </a:lnTo>
                  <a:lnTo>
                    <a:pt x="0" y="129540"/>
                  </a:lnTo>
                  <a:lnTo>
                    <a:pt x="10167" y="79081"/>
                  </a:lnTo>
                  <a:lnTo>
                    <a:pt x="37909" y="37909"/>
                  </a:lnTo>
                  <a:lnTo>
                    <a:pt x="79081" y="10167"/>
                  </a:lnTo>
                  <a:lnTo>
                    <a:pt x="129540" y="0"/>
                  </a:lnTo>
                  <a:lnTo>
                    <a:pt x="179998" y="10167"/>
                  </a:lnTo>
                  <a:lnTo>
                    <a:pt x="196573" y="21336"/>
                  </a:lnTo>
                  <a:lnTo>
                    <a:pt x="129540" y="21336"/>
                  </a:lnTo>
                  <a:lnTo>
                    <a:pt x="87558" y="29670"/>
                  </a:lnTo>
                  <a:lnTo>
                    <a:pt x="53149" y="52578"/>
                  </a:lnTo>
                  <a:lnTo>
                    <a:pt x="29884" y="86915"/>
                  </a:lnTo>
                  <a:lnTo>
                    <a:pt x="21336" y="129540"/>
                  </a:lnTo>
                  <a:lnTo>
                    <a:pt x="29884" y="171521"/>
                  </a:lnTo>
                  <a:lnTo>
                    <a:pt x="53149" y="205930"/>
                  </a:lnTo>
                  <a:lnTo>
                    <a:pt x="87558" y="229195"/>
                  </a:lnTo>
                  <a:lnTo>
                    <a:pt x="129540" y="237744"/>
                  </a:lnTo>
                  <a:lnTo>
                    <a:pt x="196573" y="237744"/>
                  </a:lnTo>
                  <a:lnTo>
                    <a:pt x="179998" y="248912"/>
                  </a:lnTo>
                  <a:lnTo>
                    <a:pt x="129540" y="259080"/>
                  </a:lnTo>
                  <a:close/>
                </a:path>
                <a:path w="259079" h="259079">
                  <a:moveTo>
                    <a:pt x="196573" y="237744"/>
                  </a:moveTo>
                  <a:lnTo>
                    <a:pt x="129540" y="237744"/>
                  </a:lnTo>
                  <a:lnTo>
                    <a:pt x="172164" y="229195"/>
                  </a:lnTo>
                  <a:lnTo>
                    <a:pt x="206502" y="205930"/>
                  </a:lnTo>
                  <a:lnTo>
                    <a:pt x="229409" y="171521"/>
                  </a:lnTo>
                  <a:lnTo>
                    <a:pt x="237744" y="129540"/>
                  </a:lnTo>
                  <a:lnTo>
                    <a:pt x="229409" y="86915"/>
                  </a:lnTo>
                  <a:lnTo>
                    <a:pt x="206502" y="52578"/>
                  </a:lnTo>
                  <a:lnTo>
                    <a:pt x="172164" y="29670"/>
                  </a:lnTo>
                  <a:lnTo>
                    <a:pt x="129540" y="21336"/>
                  </a:lnTo>
                  <a:lnTo>
                    <a:pt x="196573" y="21336"/>
                  </a:lnTo>
                  <a:lnTo>
                    <a:pt x="221170" y="37909"/>
                  </a:lnTo>
                  <a:lnTo>
                    <a:pt x="248912" y="79081"/>
                  </a:lnTo>
                  <a:lnTo>
                    <a:pt x="259080" y="129540"/>
                  </a:lnTo>
                  <a:lnTo>
                    <a:pt x="248912" y="179998"/>
                  </a:lnTo>
                  <a:lnTo>
                    <a:pt x="221170" y="221170"/>
                  </a:lnTo>
                  <a:lnTo>
                    <a:pt x="196573" y="2377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 descr=""/>
          <p:cNvSpPr txBox="1"/>
          <p:nvPr/>
        </p:nvSpPr>
        <p:spPr>
          <a:xfrm>
            <a:off x="1532632" y="5895883"/>
            <a:ext cx="490855" cy="8350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algn="ctr" marL="12700" marR="5080">
              <a:lnSpc>
                <a:spcPts val="700"/>
              </a:lnSpc>
              <a:spcBef>
                <a:spcPts val="210"/>
              </a:spcBef>
            </a:pPr>
            <a:r>
              <a:rPr dirty="0" sz="650">
                <a:latin typeface="Arial MT"/>
                <a:cs typeface="Arial MT"/>
              </a:rPr>
              <a:t>As</a:t>
            </a:r>
            <a:r>
              <a:rPr dirty="0" sz="650" spc="3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the</a:t>
            </a:r>
            <a:r>
              <a:rPr dirty="0" sz="650" spc="2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block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size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increases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the</a:t>
            </a:r>
            <a:r>
              <a:rPr dirty="0" sz="650" spc="2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hit</a:t>
            </a:r>
            <a:r>
              <a:rPr dirty="0" sz="650" spc="25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ratio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will</a:t>
            </a:r>
            <a:r>
              <a:rPr dirty="0" sz="650" spc="1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at</a:t>
            </a:r>
            <a:r>
              <a:rPr dirty="0" sz="650" spc="1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first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increase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because</a:t>
            </a:r>
            <a:r>
              <a:rPr dirty="0" sz="650" spc="65">
                <a:latin typeface="Arial MT"/>
                <a:cs typeface="Arial MT"/>
              </a:rPr>
              <a:t> </a:t>
            </a:r>
            <a:r>
              <a:rPr dirty="0" sz="650" spc="-35">
                <a:latin typeface="Arial MT"/>
                <a:cs typeface="Arial MT"/>
              </a:rPr>
              <a:t>of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the</a:t>
            </a:r>
            <a:r>
              <a:rPr dirty="0" sz="650" spc="25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principle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of</a:t>
            </a:r>
            <a:r>
              <a:rPr dirty="0" sz="650" spc="2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locality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2134629" y="4707183"/>
            <a:ext cx="490855" cy="65849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algn="ctr" marL="12700" marR="5080">
              <a:lnSpc>
                <a:spcPts val="700"/>
              </a:lnSpc>
              <a:spcBef>
                <a:spcPts val="210"/>
              </a:spcBef>
            </a:pPr>
            <a:r>
              <a:rPr dirty="0" sz="650">
                <a:latin typeface="Arial MT"/>
                <a:cs typeface="Arial MT"/>
              </a:rPr>
              <a:t>As</a:t>
            </a:r>
            <a:r>
              <a:rPr dirty="0" sz="650" spc="3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the</a:t>
            </a:r>
            <a:r>
              <a:rPr dirty="0" sz="650" spc="2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block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size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increases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more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useful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data</a:t>
            </a:r>
            <a:r>
              <a:rPr dirty="0" sz="650" spc="30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are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brought</a:t>
            </a:r>
            <a:r>
              <a:rPr dirty="0" sz="650" spc="60"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into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the</a:t>
            </a:r>
            <a:r>
              <a:rPr dirty="0" sz="650" spc="25"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cache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2728995" y="5895883"/>
            <a:ext cx="754380" cy="110045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algn="ctr" marL="12700" marR="5080" indent="-635">
              <a:lnSpc>
                <a:spcPts val="700"/>
              </a:lnSpc>
              <a:spcBef>
                <a:spcPts val="210"/>
              </a:spcBef>
            </a:pPr>
            <a:r>
              <a:rPr dirty="0" sz="650">
                <a:latin typeface="Arial MT"/>
                <a:cs typeface="Arial MT"/>
              </a:rPr>
              <a:t>The</a:t>
            </a:r>
            <a:r>
              <a:rPr dirty="0" sz="650" spc="2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hit</a:t>
            </a:r>
            <a:r>
              <a:rPr dirty="0" sz="650" spc="3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ratio</a:t>
            </a:r>
            <a:r>
              <a:rPr dirty="0" sz="650" spc="25"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will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begin</a:t>
            </a:r>
            <a:r>
              <a:rPr dirty="0" sz="650" spc="2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to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decrease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as</a:t>
            </a:r>
            <a:r>
              <a:rPr dirty="0" sz="650" spc="2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the</a:t>
            </a:r>
            <a:r>
              <a:rPr dirty="0" sz="650" spc="35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block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becomes</a:t>
            </a:r>
            <a:r>
              <a:rPr dirty="0" sz="650" spc="8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bigger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and</a:t>
            </a:r>
            <a:r>
              <a:rPr dirty="0" sz="650" spc="3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the</a:t>
            </a:r>
            <a:r>
              <a:rPr dirty="0" sz="650" spc="3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probability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of</a:t>
            </a:r>
            <a:r>
              <a:rPr dirty="0" sz="650" spc="3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using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the</a:t>
            </a:r>
            <a:r>
              <a:rPr dirty="0" sz="650" spc="2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newly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fetched</a:t>
            </a:r>
            <a:r>
              <a:rPr dirty="0" sz="650" spc="5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information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becomes</a:t>
            </a:r>
            <a:r>
              <a:rPr dirty="0" sz="650" spc="5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less</a:t>
            </a:r>
            <a:r>
              <a:rPr dirty="0" sz="650" spc="55"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than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the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probability</a:t>
            </a:r>
            <a:r>
              <a:rPr dirty="0" sz="650" spc="50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of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reusing</a:t>
            </a:r>
            <a:r>
              <a:rPr dirty="0" sz="650" spc="45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the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information</a:t>
            </a:r>
            <a:r>
              <a:rPr dirty="0" sz="650" spc="70"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that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has</a:t>
            </a:r>
            <a:r>
              <a:rPr dirty="0" sz="650" spc="1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to</a:t>
            </a:r>
            <a:r>
              <a:rPr dirty="0" sz="650" spc="3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be</a:t>
            </a:r>
            <a:r>
              <a:rPr dirty="0" sz="650" spc="3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replaced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3483393" y="4240818"/>
            <a:ext cx="491490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>
                <a:latin typeface="Arial MT"/>
                <a:cs typeface="Arial MT"/>
              </a:rPr>
              <a:t>Two</a:t>
            </a:r>
            <a:r>
              <a:rPr dirty="0" sz="650" spc="-15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specific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3483393" y="4329215"/>
            <a:ext cx="668655" cy="21526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680"/>
              </a:lnSpc>
              <a:spcBef>
                <a:spcPts val="225"/>
              </a:spcBef>
            </a:pPr>
            <a:r>
              <a:rPr dirty="0" sz="650">
                <a:latin typeface="Arial MT"/>
                <a:cs typeface="Arial MT"/>
              </a:rPr>
              <a:t>effects</a:t>
            </a:r>
            <a:r>
              <a:rPr dirty="0" sz="650" spc="4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come</a:t>
            </a:r>
            <a:r>
              <a:rPr dirty="0" sz="650" spc="60"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into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play: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3483355" y="4541012"/>
            <a:ext cx="685800" cy="82423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44450" marR="5080" indent="-34290">
              <a:lnSpc>
                <a:spcPts val="610"/>
              </a:lnSpc>
              <a:spcBef>
                <a:spcPts val="200"/>
              </a:spcBef>
              <a:buSzPct val="81818"/>
              <a:buChar char="•"/>
              <a:tabLst>
                <a:tab pos="44450" algn="l"/>
              </a:tabLst>
            </a:pPr>
            <a:r>
              <a:rPr dirty="0" sz="550">
                <a:latin typeface="Arial MT"/>
                <a:cs typeface="Arial MT"/>
              </a:rPr>
              <a:t>Larger</a:t>
            </a:r>
            <a:r>
              <a:rPr dirty="0" sz="550" spc="114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blocks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reduce</a:t>
            </a:r>
            <a:r>
              <a:rPr dirty="0" sz="550" spc="90"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the</a:t>
            </a:r>
            <a:r>
              <a:rPr dirty="0" sz="550" spc="105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number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of</a:t>
            </a:r>
            <a:r>
              <a:rPr dirty="0" sz="550" spc="80"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blocks</a:t>
            </a:r>
            <a:r>
              <a:rPr dirty="0" sz="550" spc="60"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that</a:t>
            </a:r>
            <a:r>
              <a:rPr dirty="0" sz="550" spc="85">
                <a:latin typeface="Arial MT"/>
                <a:cs typeface="Arial MT"/>
              </a:rPr>
              <a:t> </a:t>
            </a:r>
            <a:r>
              <a:rPr dirty="0" sz="550" spc="-25">
                <a:latin typeface="Arial MT"/>
                <a:cs typeface="Arial MT"/>
              </a:rPr>
              <a:t>fit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into</a:t>
            </a:r>
            <a:r>
              <a:rPr dirty="0" sz="550" spc="45"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a</a:t>
            </a:r>
            <a:r>
              <a:rPr dirty="0" sz="550" spc="55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  <a:p>
            <a:pPr marL="44450" marR="6350" indent="-34290">
              <a:lnSpc>
                <a:spcPct val="92400"/>
              </a:lnSpc>
              <a:spcBef>
                <a:spcPts val="80"/>
              </a:spcBef>
              <a:buSzPct val="81818"/>
              <a:buChar char="•"/>
              <a:tabLst>
                <a:tab pos="44450" algn="l"/>
              </a:tabLst>
            </a:pPr>
            <a:r>
              <a:rPr dirty="0" sz="550">
                <a:latin typeface="Arial MT"/>
                <a:cs typeface="Arial MT"/>
              </a:rPr>
              <a:t>As</a:t>
            </a:r>
            <a:r>
              <a:rPr dirty="0" sz="550" spc="45"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a</a:t>
            </a:r>
            <a:r>
              <a:rPr dirty="0" sz="550" spc="35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block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10">
                <a:latin typeface="Arial MT"/>
                <a:cs typeface="Arial MT"/>
              </a:rPr>
              <a:t>becomes</a:t>
            </a:r>
            <a:r>
              <a:rPr dirty="0" sz="550" spc="75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larger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each</a:t>
            </a:r>
            <a:r>
              <a:rPr dirty="0" sz="550" spc="95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additional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word</a:t>
            </a:r>
            <a:r>
              <a:rPr dirty="0" sz="550" spc="60"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is</a:t>
            </a:r>
            <a:r>
              <a:rPr dirty="0" sz="550" spc="45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farther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from</a:t>
            </a:r>
            <a:r>
              <a:rPr dirty="0" sz="550" spc="55"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the</a:t>
            </a:r>
            <a:r>
              <a:rPr dirty="0" sz="550" spc="8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requested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word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82" name="object 82" descr=""/>
          <p:cNvGrpSpPr/>
          <p:nvPr/>
        </p:nvGrpSpPr>
        <p:grpSpPr>
          <a:xfrm>
            <a:off x="5378196" y="3991610"/>
            <a:ext cx="5125720" cy="3204210"/>
            <a:chOff x="5378196" y="3991610"/>
            <a:chExt cx="5125720" cy="3204210"/>
          </a:xfrm>
        </p:grpSpPr>
        <p:sp>
          <p:nvSpPr>
            <p:cNvPr id="83" name="object 83" descr=""/>
            <p:cNvSpPr/>
            <p:nvPr/>
          </p:nvSpPr>
          <p:spPr>
            <a:xfrm>
              <a:off x="537818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5381244" y="4315968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 descr=""/>
          <p:cNvSpPr txBox="1"/>
          <p:nvPr/>
        </p:nvSpPr>
        <p:spPr>
          <a:xfrm>
            <a:off x="691388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86" name="object 86" descr=""/>
          <p:cNvGrpSpPr/>
          <p:nvPr/>
        </p:nvGrpSpPr>
        <p:grpSpPr>
          <a:xfrm>
            <a:off x="5606796" y="4466844"/>
            <a:ext cx="4869180" cy="2712720"/>
            <a:chOff x="5606796" y="4466844"/>
            <a:chExt cx="4869180" cy="2712720"/>
          </a:xfrm>
        </p:grpSpPr>
        <p:pic>
          <p:nvPicPr>
            <p:cNvPr id="87" name="object 8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140951" y="6966204"/>
              <a:ext cx="1335023" cy="213360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5606796" y="4466844"/>
              <a:ext cx="36830" cy="1998345"/>
            </a:xfrm>
            <a:custGeom>
              <a:avLst/>
              <a:gdLst/>
              <a:ahLst/>
              <a:cxnLst/>
              <a:rect l="l" t="t" r="r" b="b"/>
              <a:pathLst>
                <a:path w="36829" h="1998345">
                  <a:moveTo>
                    <a:pt x="36563" y="1961388"/>
                  </a:moveTo>
                  <a:lnTo>
                    <a:pt x="0" y="1961388"/>
                  </a:lnTo>
                  <a:lnTo>
                    <a:pt x="0" y="1997964"/>
                  </a:lnTo>
                  <a:lnTo>
                    <a:pt x="36563" y="1997964"/>
                  </a:lnTo>
                  <a:lnTo>
                    <a:pt x="36563" y="1961388"/>
                  </a:lnTo>
                  <a:close/>
                </a:path>
                <a:path w="36829" h="1998345">
                  <a:moveTo>
                    <a:pt x="36563" y="1606296"/>
                  </a:moveTo>
                  <a:lnTo>
                    <a:pt x="0" y="1606296"/>
                  </a:lnTo>
                  <a:lnTo>
                    <a:pt x="0" y="1642872"/>
                  </a:lnTo>
                  <a:lnTo>
                    <a:pt x="36563" y="1642872"/>
                  </a:lnTo>
                  <a:lnTo>
                    <a:pt x="36563" y="1606296"/>
                  </a:lnTo>
                  <a:close/>
                </a:path>
                <a:path w="36829" h="1998345">
                  <a:moveTo>
                    <a:pt x="36563" y="1120140"/>
                  </a:moveTo>
                  <a:lnTo>
                    <a:pt x="0" y="1120140"/>
                  </a:lnTo>
                  <a:lnTo>
                    <a:pt x="0" y="1156728"/>
                  </a:lnTo>
                  <a:lnTo>
                    <a:pt x="36563" y="1156728"/>
                  </a:lnTo>
                  <a:lnTo>
                    <a:pt x="36563" y="1120140"/>
                  </a:lnTo>
                  <a:close/>
                </a:path>
                <a:path w="36829" h="1998345">
                  <a:moveTo>
                    <a:pt x="36563" y="356616"/>
                  </a:moveTo>
                  <a:lnTo>
                    <a:pt x="0" y="356616"/>
                  </a:lnTo>
                  <a:lnTo>
                    <a:pt x="0" y="393192"/>
                  </a:lnTo>
                  <a:lnTo>
                    <a:pt x="36563" y="393192"/>
                  </a:lnTo>
                  <a:lnTo>
                    <a:pt x="36563" y="356616"/>
                  </a:lnTo>
                  <a:close/>
                </a:path>
                <a:path w="36829" h="1998345">
                  <a:moveTo>
                    <a:pt x="36563" y="0"/>
                  </a:moveTo>
                  <a:lnTo>
                    <a:pt x="0" y="0"/>
                  </a:lnTo>
                  <a:lnTo>
                    <a:pt x="0" y="36576"/>
                  </a:lnTo>
                  <a:lnTo>
                    <a:pt x="36563" y="36576"/>
                  </a:lnTo>
                  <a:lnTo>
                    <a:pt x="36563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" name="object 89" descr=""/>
          <p:cNvSpPr txBox="1"/>
          <p:nvPr/>
        </p:nvSpPr>
        <p:spPr>
          <a:xfrm>
            <a:off x="5583392" y="4079179"/>
            <a:ext cx="123571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Multilevel</a:t>
            </a:r>
            <a:r>
              <a:rPr dirty="0" sz="12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Caches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5744990" y="4397745"/>
            <a:ext cx="4412615" cy="666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3400"/>
              </a:lnSpc>
              <a:spcBef>
                <a:spcPts val="100"/>
              </a:spcBef>
            </a:pP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As</a:t>
            </a:r>
            <a:r>
              <a:rPr dirty="0" sz="9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logic</a:t>
            </a:r>
            <a:r>
              <a:rPr dirty="0" sz="9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density</a:t>
            </a:r>
            <a:r>
              <a:rPr dirty="0" sz="9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has</a:t>
            </a:r>
            <a:r>
              <a:rPr dirty="0" sz="9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increased</a:t>
            </a:r>
            <a:r>
              <a:rPr dirty="0" sz="9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it</a:t>
            </a:r>
            <a:r>
              <a:rPr dirty="0" sz="9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has</a:t>
            </a:r>
            <a:r>
              <a:rPr dirty="0" sz="9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become</a:t>
            </a:r>
            <a:r>
              <a:rPr dirty="0" sz="9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possible</a:t>
            </a:r>
            <a:r>
              <a:rPr dirty="0" sz="9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9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have</a:t>
            </a:r>
            <a:r>
              <a:rPr dirty="0" sz="9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dirty="0" sz="9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9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on</a:t>
            </a:r>
            <a:r>
              <a:rPr dirty="0" sz="9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9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1A1A1A"/>
                </a:solidFill>
                <a:latin typeface="Arial MT"/>
                <a:cs typeface="Arial MT"/>
              </a:rPr>
              <a:t>same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chip</a:t>
            </a:r>
            <a:r>
              <a:rPr dirty="0" sz="9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as</a:t>
            </a:r>
            <a:r>
              <a:rPr dirty="0" sz="9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90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1A1A1A"/>
                </a:solidFill>
                <a:latin typeface="Arial MT"/>
                <a:cs typeface="Arial MT"/>
              </a:rPr>
              <a:t>processor</a:t>
            </a:r>
            <a:endParaRPr sz="900">
              <a:latin typeface="Arial MT"/>
              <a:cs typeface="Arial MT"/>
            </a:endParaRPr>
          </a:p>
          <a:p>
            <a:pPr marL="12700" marR="244475">
              <a:lnSpc>
                <a:spcPct val="104400"/>
              </a:lnSpc>
              <a:spcBef>
                <a:spcPts val="550"/>
              </a:spcBef>
            </a:pP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9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on-chip</a:t>
            </a:r>
            <a:r>
              <a:rPr dirty="0" sz="900" spc="1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9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reduces</a:t>
            </a:r>
            <a:r>
              <a:rPr dirty="0" sz="900" spc="9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9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processor’s</a:t>
            </a:r>
            <a:r>
              <a:rPr dirty="0" sz="9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external</a:t>
            </a:r>
            <a:r>
              <a:rPr dirty="0" sz="900" spc="9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bus</a:t>
            </a:r>
            <a:r>
              <a:rPr dirty="0" sz="900" spc="9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activity</a:t>
            </a:r>
            <a:r>
              <a:rPr dirty="0" sz="9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dirty="0" sz="900" spc="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speeds</a:t>
            </a:r>
            <a:r>
              <a:rPr dirty="0" sz="900" spc="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1A1A1A"/>
                </a:solidFill>
                <a:latin typeface="Arial MT"/>
                <a:cs typeface="Arial MT"/>
              </a:rPr>
              <a:t>up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execution</a:t>
            </a:r>
            <a:r>
              <a:rPr dirty="0" sz="9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time</a:t>
            </a:r>
            <a:r>
              <a:rPr dirty="0" sz="900" spc="1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dirty="0" sz="900" spc="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increases</a:t>
            </a:r>
            <a:r>
              <a:rPr dirty="0" sz="900" spc="9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overall</a:t>
            </a:r>
            <a:r>
              <a:rPr dirty="0" sz="90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system</a:t>
            </a:r>
            <a:r>
              <a:rPr dirty="0" sz="900" spc="1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1A1A1A"/>
                </a:solidFill>
                <a:latin typeface="Arial MT"/>
                <a:cs typeface="Arial MT"/>
              </a:rPr>
              <a:t>performance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5796693" y="5039871"/>
            <a:ext cx="4354830" cy="43434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48590" indent="-135890">
              <a:lnSpc>
                <a:spcPct val="100000"/>
              </a:lnSpc>
              <a:spcBef>
                <a:spcPts val="270"/>
              </a:spcBef>
              <a:buChar char="•"/>
              <a:tabLst>
                <a:tab pos="148590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When</a:t>
            </a:r>
            <a:r>
              <a:rPr dirty="0" sz="7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7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requested</a:t>
            </a:r>
            <a:r>
              <a:rPr dirty="0" sz="750" spc="-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instruction</a:t>
            </a:r>
            <a:r>
              <a:rPr dirty="0" sz="7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or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dirty="0" sz="7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7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found</a:t>
            </a:r>
            <a:r>
              <a:rPr dirty="0" sz="7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the 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on-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chip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cache,</a:t>
            </a:r>
            <a:r>
              <a:rPr dirty="0" sz="7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7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bus</a:t>
            </a:r>
            <a:r>
              <a:rPr dirty="0" sz="7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access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7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eliminated</a:t>
            </a:r>
            <a:endParaRPr sz="750">
              <a:latin typeface="Arial MT"/>
              <a:cs typeface="Arial MT"/>
            </a:endParaRPr>
          </a:p>
          <a:p>
            <a:pPr marL="148590" indent="-135890">
              <a:lnSpc>
                <a:spcPct val="100000"/>
              </a:lnSpc>
              <a:spcBef>
                <a:spcPts val="165"/>
              </a:spcBef>
              <a:buChar char="•"/>
              <a:tabLst>
                <a:tab pos="148590" algn="l"/>
              </a:tabLst>
            </a:pP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On-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chip</a:t>
            </a:r>
            <a:r>
              <a:rPr dirty="0" sz="750" spc="-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750" spc="-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accesses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will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complete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appreciably</a:t>
            </a:r>
            <a:r>
              <a:rPr dirty="0" sz="7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faster</a:t>
            </a:r>
            <a:r>
              <a:rPr dirty="0" sz="7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than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would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even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 zero-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wait</a:t>
            </a:r>
            <a:r>
              <a:rPr dirty="0" sz="7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state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bus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 cycles</a:t>
            </a:r>
            <a:endParaRPr sz="750">
              <a:latin typeface="Arial MT"/>
              <a:cs typeface="Arial MT"/>
            </a:endParaRPr>
          </a:p>
          <a:p>
            <a:pPr marL="148590" indent="-135890">
              <a:lnSpc>
                <a:spcPct val="100000"/>
              </a:lnSpc>
              <a:spcBef>
                <a:spcPts val="180"/>
              </a:spcBef>
              <a:buChar char="•"/>
              <a:tabLst>
                <a:tab pos="148590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During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this</a:t>
            </a:r>
            <a:r>
              <a:rPr dirty="0" sz="7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period</a:t>
            </a:r>
            <a:r>
              <a:rPr dirty="0" sz="7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7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bus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7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free</a:t>
            </a:r>
            <a:r>
              <a:rPr dirty="0" sz="7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7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support</a:t>
            </a:r>
            <a:r>
              <a:rPr dirty="0" sz="750" spc="-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other</a:t>
            </a:r>
            <a:r>
              <a:rPr dirty="0" sz="7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transfers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5744990" y="5488542"/>
            <a:ext cx="4403090" cy="118046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Two-level</a:t>
            </a:r>
            <a:r>
              <a:rPr dirty="0" sz="900" spc="9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1A1A1A"/>
                </a:solidFill>
                <a:latin typeface="Arial MT"/>
                <a:cs typeface="Arial MT"/>
              </a:rPr>
              <a:t>cache:</a:t>
            </a:r>
            <a:endParaRPr sz="900">
              <a:latin typeface="Arial MT"/>
              <a:cs typeface="Arial MT"/>
            </a:endParaRPr>
          </a:p>
          <a:p>
            <a:pPr marL="200025" indent="-135890">
              <a:lnSpc>
                <a:spcPct val="100000"/>
              </a:lnSpc>
              <a:spcBef>
                <a:spcPts val="185"/>
              </a:spcBef>
              <a:buChar char="•"/>
              <a:tabLst>
                <a:tab pos="200025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Internal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750" spc="-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designated</a:t>
            </a:r>
            <a:r>
              <a:rPr dirty="0" sz="7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as</a:t>
            </a:r>
            <a:r>
              <a:rPr dirty="0" sz="7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level</a:t>
            </a:r>
            <a:r>
              <a:rPr dirty="0" sz="7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1 </a:t>
            </a:r>
            <a:r>
              <a:rPr dirty="0" sz="750" spc="-20">
                <a:solidFill>
                  <a:srgbClr val="1A1A1A"/>
                </a:solidFill>
                <a:latin typeface="Arial MT"/>
                <a:cs typeface="Arial MT"/>
              </a:rPr>
              <a:t>(L1)</a:t>
            </a:r>
            <a:endParaRPr sz="750">
              <a:latin typeface="Arial MT"/>
              <a:cs typeface="Arial MT"/>
            </a:endParaRPr>
          </a:p>
          <a:p>
            <a:pPr marL="200025" indent="-135890">
              <a:lnSpc>
                <a:spcPct val="100000"/>
              </a:lnSpc>
              <a:spcBef>
                <a:spcPts val="180"/>
              </a:spcBef>
              <a:buChar char="•"/>
              <a:tabLst>
                <a:tab pos="200025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External</a:t>
            </a:r>
            <a:r>
              <a:rPr dirty="0" sz="7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7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designated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as</a:t>
            </a:r>
            <a:r>
              <a:rPr dirty="0" sz="750" spc="-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level</a:t>
            </a:r>
            <a:r>
              <a:rPr dirty="0" sz="7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2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20">
                <a:solidFill>
                  <a:srgbClr val="1A1A1A"/>
                </a:solidFill>
                <a:latin typeface="Arial MT"/>
                <a:cs typeface="Arial MT"/>
              </a:rPr>
              <a:t>(L2)</a:t>
            </a:r>
            <a:endParaRPr sz="750">
              <a:latin typeface="Arial MT"/>
              <a:cs typeface="Arial MT"/>
            </a:endParaRPr>
          </a:p>
          <a:p>
            <a:pPr marL="12700" marR="5080">
              <a:lnSpc>
                <a:spcPct val="103299"/>
              </a:lnSpc>
              <a:spcBef>
                <a:spcPts val="550"/>
              </a:spcBef>
            </a:pP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Potential</a:t>
            </a:r>
            <a:r>
              <a:rPr dirty="0" sz="9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savings</a:t>
            </a:r>
            <a:r>
              <a:rPr dirty="0" sz="9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due</a:t>
            </a:r>
            <a:r>
              <a:rPr dirty="0" sz="9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9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9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use</a:t>
            </a:r>
            <a:r>
              <a:rPr dirty="0" sz="9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9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an</a:t>
            </a:r>
            <a:r>
              <a:rPr dirty="0" sz="9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L2</a:t>
            </a:r>
            <a:r>
              <a:rPr dirty="0" sz="9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9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depends</a:t>
            </a:r>
            <a:r>
              <a:rPr dirty="0" sz="9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on</a:t>
            </a:r>
            <a:r>
              <a:rPr dirty="0" sz="9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9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hit</a:t>
            </a:r>
            <a:r>
              <a:rPr dirty="0" sz="9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rates</a:t>
            </a:r>
            <a:r>
              <a:rPr dirty="0" sz="9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dirty="0" sz="9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both</a:t>
            </a:r>
            <a:r>
              <a:rPr dirty="0" sz="9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1A1A1A"/>
                </a:solidFill>
                <a:latin typeface="Arial MT"/>
                <a:cs typeface="Arial MT"/>
              </a:rPr>
              <a:t>the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L1</a:t>
            </a:r>
            <a:r>
              <a:rPr dirty="0" sz="9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dirty="0" sz="9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L2</a:t>
            </a:r>
            <a:r>
              <a:rPr dirty="0" sz="9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1A1A1A"/>
                </a:solidFill>
                <a:latin typeface="Arial MT"/>
                <a:cs typeface="Arial MT"/>
              </a:rPr>
              <a:t>caches</a:t>
            </a:r>
            <a:endParaRPr sz="900">
              <a:latin typeface="Arial MT"/>
              <a:cs typeface="Arial MT"/>
            </a:endParaRPr>
          </a:p>
          <a:p>
            <a:pPr marL="12700" marR="28575">
              <a:lnSpc>
                <a:spcPct val="103299"/>
              </a:lnSpc>
              <a:spcBef>
                <a:spcPts val="565"/>
              </a:spcBef>
            </a:pP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9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use</a:t>
            </a:r>
            <a:r>
              <a:rPr dirty="0" sz="9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9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multilevel</a:t>
            </a:r>
            <a:r>
              <a:rPr dirty="0" sz="90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caches</a:t>
            </a:r>
            <a:r>
              <a:rPr dirty="0" sz="9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complicates</a:t>
            </a:r>
            <a:r>
              <a:rPr dirty="0" sz="9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all</a:t>
            </a:r>
            <a:r>
              <a:rPr dirty="0" sz="9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9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9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design</a:t>
            </a:r>
            <a:r>
              <a:rPr dirty="0" sz="9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issues</a:t>
            </a:r>
            <a:r>
              <a:rPr dirty="0" sz="9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related</a:t>
            </a:r>
            <a:r>
              <a:rPr dirty="0" sz="9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9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1A1A1A"/>
                </a:solidFill>
                <a:latin typeface="Arial MT"/>
                <a:cs typeface="Arial MT"/>
              </a:rPr>
              <a:t>caches,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including</a:t>
            </a:r>
            <a:r>
              <a:rPr dirty="0" sz="90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size,</a:t>
            </a:r>
            <a:r>
              <a:rPr dirty="0" sz="9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replacement</a:t>
            </a:r>
            <a:r>
              <a:rPr dirty="0" sz="900" spc="10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algorithm,</a:t>
            </a:r>
            <a:r>
              <a:rPr dirty="0" sz="9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dirty="0" sz="90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A1A"/>
                </a:solidFill>
                <a:latin typeface="Arial MT"/>
                <a:cs typeface="Arial MT"/>
              </a:rPr>
              <a:t>write</a:t>
            </a:r>
            <a:r>
              <a:rPr dirty="0" sz="900" spc="1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1A1A1A"/>
                </a:solidFill>
                <a:latin typeface="Arial MT"/>
                <a:cs typeface="Arial MT"/>
              </a:rPr>
              <a:t>policy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92023" y="688848"/>
            <a:ext cx="4777740" cy="36830"/>
          </a:xfrm>
          <a:custGeom>
            <a:avLst/>
            <a:gdLst/>
            <a:ahLst/>
            <a:cxnLst/>
            <a:rect l="l" t="t" r="r" b="b"/>
            <a:pathLst>
              <a:path w="4777740" h="36829">
                <a:moveTo>
                  <a:pt x="4777740" y="36576"/>
                </a:moveTo>
                <a:lnTo>
                  <a:pt x="0" y="36576"/>
                </a:lnTo>
                <a:lnTo>
                  <a:pt x="0" y="0"/>
                </a:lnTo>
                <a:lnTo>
                  <a:pt x="4777740" y="0"/>
                </a:lnTo>
                <a:lnTo>
                  <a:pt x="4777740" y="36576"/>
                </a:lnTo>
                <a:close/>
              </a:path>
            </a:pathLst>
          </a:custGeom>
          <a:solidFill>
            <a:srgbClr val="9090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724660" y="339191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1732" y="3339084"/>
            <a:ext cx="1336548" cy="214883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94203" y="452149"/>
            <a:ext cx="323913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Hit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Ratio</a:t>
            </a:r>
            <a:r>
              <a:rPr dirty="0" sz="12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(L1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&amp;</a:t>
            </a:r>
            <a:r>
              <a:rPr dirty="0" sz="12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L2)</a:t>
            </a:r>
            <a:r>
              <a:rPr dirty="0" sz="12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for</a:t>
            </a:r>
            <a:r>
              <a:rPr dirty="0" sz="12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8</a:t>
            </a:r>
            <a:r>
              <a:rPr dirty="0" sz="12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Kbyte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dirty="0" sz="12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16 Kbyte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25">
                <a:solidFill>
                  <a:srgbClr val="1A1A1A"/>
                </a:solidFill>
                <a:latin typeface="Arial MT"/>
                <a:cs typeface="Arial MT"/>
              </a:rPr>
              <a:t>L1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3651" y="1027910"/>
            <a:ext cx="2586871" cy="2063694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5378196" y="364489"/>
            <a:ext cx="5125720" cy="3204210"/>
            <a:chOff x="5378196" y="364489"/>
            <a:chExt cx="5125720" cy="3204210"/>
          </a:xfrm>
        </p:grpSpPr>
        <p:sp>
          <p:nvSpPr>
            <p:cNvPr id="8" name="object 8" descr=""/>
            <p:cNvSpPr/>
            <p:nvPr/>
          </p:nvSpPr>
          <p:spPr>
            <a:xfrm>
              <a:off x="5378183" y="364489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10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381244" y="688847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6"/>
                  </a:moveTo>
                  <a:lnTo>
                    <a:pt x="0" y="36576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6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6913880" y="339191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5606796" y="845820"/>
            <a:ext cx="4869180" cy="2708275"/>
            <a:chOff x="5606796" y="845820"/>
            <a:chExt cx="4869180" cy="2708275"/>
          </a:xfrm>
        </p:grpSpPr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0951" y="3339083"/>
              <a:ext cx="1335023" cy="214883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5606796" y="845819"/>
              <a:ext cx="40005" cy="1731645"/>
            </a:xfrm>
            <a:custGeom>
              <a:avLst/>
              <a:gdLst/>
              <a:ahLst/>
              <a:cxnLst/>
              <a:rect l="l" t="t" r="r" b="b"/>
              <a:pathLst>
                <a:path w="40004" h="1731645">
                  <a:moveTo>
                    <a:pt x="39611" y="1691640"/>
                  </a:moveTo>
                  <a:lnTo>
                    <a:pt x="0" y="1691640"/>
                  </a:lnTo>
                  <a:lnTo>
                    <a:pt x="0" y="1731264"/>
                  </a:lnTo>
                  <a:lnTo>
                    <a:pt x="39611" y="1731264"/>
                  </a:lnTo>
                  <a:lnTo>
                    <a:pt x="39611" y="1691640"/>
                  </a:lnTo>
                  <a:close/>
                </a:path>
                <a:path w="40004" h="1731645">
                  <a:moveTo>
                    <a:pt x="39611" y="1464564"/>
                  </a:moveTo>
                  <a:lnTo>
                    <a:pt x="0" y="1464564"/>
                  </a:lnTo>
                  <a:lnTo>
                    <a:pt x="0" y="1504188"/>
                  </a:lnTo>
                  <a:lnTo>
                    <a:pt x="39611" y="1504188"/>
                  </a:lnTo>
                  <a:lnTo>
                    <a:pt x="39611" y="1464564"/>
                  </a:lnTo>
                  <a:close/>
                </a:path>
                <a:path w="40004" h="1731645">
                  <a:moveTo>
                    <a:pt x="39611" y="780288"/>
                  </a:moveTo>
                  <a:lnTo>
                    <a:pt x="0" y="780288"/>
                  </a:lnTo>
                  <a:lnTo>
                    <a:pt x="0" y="819912"/>
                  </a:lnTo>
                  <a:lnTo>
                    <a:pt x="39611" y="819912"/>
                  </a:lnTo>
                  <a:lnTo>
                    <a:pt x="39611" y="780288"/>
                  </a:lnTo>
                  <a:close/>
                </a:path>
                <a:path w="40004" h="1731645">
                  <a:moveTo>
                    <a:pt x="39611" y="0"/>
                  </a:moveTo>
                  <a:lnTo>
                    <a:pt x="0" y="0"/>
                  </a:lnTo>
                  <a:lnTo>
                    <a:pt x="0" y="39624"/>
                  </a:lnTo>
                  <a:lnTo>
                    <a:pt x="39611" y="39624"/>
                  </a:lnTo>
                  <a:lnTo>
                    <a:pt x="39611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5583392" y="452149"/>
            <a:ext cx="1936114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Unified</a:t>
            </a:r>
            <a:r>
              <a:rPr dirty="0" sz="12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Versus</a:t>
            </a:r>
            <a:r>
              <a:rPr dirty="0" sz="12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Split</a:t>
            </a:r>
            <a:r>
              <a:rPr dirty="0" sz="12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Caches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744922" y="739656"/>
            <a:ext cx="4278630" cy="237998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Has</a:t>
            </a:r>
            <a:r>
              <a:rPr dirty="0" sz="10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become</a:t>
            </a:r>
            <a:r>
              <a:rPr dirty="0" sz="10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common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10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split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cache:</a:t>
            </a:r>
            <a:endParaRPr sz="1000">
              <a:latin typeface="Arial MT"/>
              <a:cs typeface="Arial MT"/>
            </a:endParaRPr>
          </a:p>
          <a:p>
            <a:pPr marL="196850" indent="-132715">
              <a:lnSpc>
                <a:spcPct val="100000"/>
              </a:lnSpc>
              <a:spcBef>
                <a:spcPts val="250"/>
              </a:spcBef>
              <a:buChar char="•"/>
              <a:tabLst>
                <a:tab pos="196850" algn="l"/>
              </a:tabLst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One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dedicated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instructions</a:t>
            </a:r>
            <a:endParaRPr sz="1000">
              <a:latin typeface="Arial MT"/>
              <a:cs typeface="Arial MT"/>
            </a:endParaRPr>
          </a:p>
          <a:p>
            <a:pPr marL="196850" indent="-132715">
              <a:lnSpc>
                <a:spcPct val="100000"/>
              </a:lnSpc>
              <a:spcBef>
                <a:spcPts val="240"/>
              </a:spcBef>
              <a:buChar char="•"/>
              <a:tabLst>
                <a:tab pos="196850" algn="l"/>
              </a:tabLst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One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dedicated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endParaRPr sz="1000">
              <a:latin typeface="Arial MT"/>
              <a:cs typeface="Arial MT"/>
            </a:endParaRPr>
          </a:p>
          <a:p>
            <a:pPr marL="196850" indent="-132715">
              <a:lnSpc>
                <a:spcPct val="100000"/>
              </a:lnSpc>
              <a:spcBef>
                <a:spcPts val="254"/>
              </a:spcBef>
              <a:buChar char="•"/>
              <a:tabLst>
                <a:tab pos="196850" algn="l"/>
              </a:tabLst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Both</a:t>
            </a:r>
            <a:r>
              <a:rPr dirty="0" sz="10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exist</a:t>
            </a:r>
            <a:r>
              <a:rPr dirty="0" sz="10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at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same</a:t>
            </a:r>
            <a:r>
              <a:rPr dirty="0" sz="10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level, typically</a:t>
            </a:r>
            <a:r>
              <a:rPr dirty="0" sz="10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as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two</a:t>
            </a:r>
            <a:r>
              <a:rPr dirty="0" sz="10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L1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caches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Advantages</a:t>
            </a:r>
            <a:r>
              <a:rPr dirty="0" sz="1000" spc="1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000" spc="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unified</a:t>
            </a:r>
            <a:r>
              <a:rPr dirty="0" sz="1000" spc="9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cache:</a:t>
            </a:r>
            <a:endParaRPr sz="1000">
              <a:latin typeface="Arial MT"/>
              <a:cs typeface="Arial MT"/>
            </a:endParaRPr>
          </a:p>
          <a:p>
            <a:pPr marL="196850" indent="-132715">
              <a:lnSpc>
                <a:spcPct val="100000"/>
              </a:lnSpc>
              <a:spcBef>
                <a:spcPts val="265"/>
              </a:spcBef>
              <a:buChar char="•"/>
              <a:tabLst>
                <a:tab pos="196850" algn="l"/>
              </a:tabLst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Higher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hit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rate</a:t>
            </a:r>
            <a:endParaRPr sz="1000">
              <a:latin typeface="Arial MT"/>
              <a:cs typeface="Arial MT"/>
            </a:endParaRPr>
          </a:p>
          <a:p>
            <a:pPr lvl="1" marL="384175" indent="-106680">
              <a:lnSpc>
                <a:spcPct val="100000"/>
              </a:lnSpc>
              <a:spcBef>
                <a:spcPts val="180"/>
              </a:spcBef>
              <a:buChar char="–"/>
              <a:tabLst>
                <a:tab pos="384175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Balances</a:t>
            </a:r>
            <a:r>
              <a:rPr dirty="0" sz="750" spc="-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load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7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instruction</a:t>
            </a:r>
            <a:r>
              <a:rPr dirty="0" sz="7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dirty="0" sz="7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dirty="0" sz="750" spc="-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fetches</a:t>
            </a:r>
            <a:r>
              <a:rPr dirty="0" sz="7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automatically</a:t>
            </a:r>
            <a:endParaRPr sz="750">
              <a:latin typeface="Arial MT"/>
              <a:cs typeface="Arial MT"/>
            </a:endParaRPr>
          </a:p>
          <a:p>
            <a:pPr lvl="1" marL="384175" indent="-106680">
              <a:lnSpc>
                <a:spcPct val="100000"/>
              </a:lnSpc>
              <a:spcBef>
                <a:spcPts val="180"/>
              </a:spcBef>
              <a:buChar char="–"/>
              <a:tabLst>
                <a:tab pos="384175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Only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one</a:t>
            </a:r>
            <a:r>
              <a:rPr dirty="0" sz="7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750" spc="-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needs</a:t>
            </a:r>
            <a:r>
              <a:rPr dirty="0" sz="7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7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be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designed and</a:t>
            </a:r>
            <a:r>
              <a:rPr dirty="0" sz="750" spc="-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implemented</a:t>
            </a:r>
            <a:endParaRPr sz="750">
              <a:latin typeface="Arial MT"/>
              <a:cs typeface="Arial MT"/>
            </a:endParaRPr>
          </a:p>
          <a:p>
            <a:pPr marL="12700" marR="5080">
              <a:lnSpc>
                <a:spcPct val="148000"/>
              </a:lnSpc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Trend</a:t>
            </a:r>
            <a:r>
              <a:rPr dirty="0" sz="100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10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toward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split</a:t>
            </a:r>
            <a:r>
              <a:rPr dirty="0" sz="10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caches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at</a:t>
            </a:r>
            <a:r>
              <a:rPr dirty="0" sz="10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10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L1</a:t>
            </a:r>
            <a:r>
              <a:rPr dirty="0" sz="10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unified</a:t>
            </a:r>
            <a:r>
              <a:rPr dirty="0" sz="100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caches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for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higher</a:t>
            </a:r>
            <a:r>
              <a:rPr dirty="0" sz="100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levels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Advantages</a:t>
            </a:r>
            <a:r>
              <a:rPr dirty="0" sz="1000" spc="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split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cache:</a:t>
            </a:r>
            <a:endParaRPr sz="1000">
              <a:latin typeface="Arial MT"/>
              <a:cs typeface="Arial MT"/>
            </a:endParaRPr>
          </a:p>
          <a:p>
            <a:pPr marL="196850" marR="86995" indent="-132715">
              <a:lnSpc>
                <a:spcPct val="101000"/>
              </a:lnSpc>
              <a:spcBef>
                <a:spcPts val="254"/>
              </a:spcBef>
              <a:buChar char="•"/>
              <a:tabLst>
                <a:tab pos="198755" algn="l"/>
              </a:tabLst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Eliminates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10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contention</a:t>
            </a:r>
            <a:r>
              <a:rPr dirty="0" sz="10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between</a:t>
            </a:r>
            <a:r>
              <a:rPr dirty="0" sz="10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instruction</a:t>
            </a:r>
            <a:r>
              <a:rPr dirty="0" sz="10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fetch/decode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unit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1A1A1A"/>
                </a:solidFill>
                <a:latin typeface="Arial MT"/>
                <a:cs typeface="Arial MT"/>
              </a:rPr>
              <a:t>and </a:t>
            </a:r>
            <a:r>
              <a:rPr dirty="0" sz="1000" spc="-25">
                <a:solidFill>
                  <a:srgbClr val="1A1A1A"/>
                </a:solidFill>
                <a:latin typeface="Arial MT"/>
                <a:cs typeface="Arial MT"/>
              </a:rPr>
              <a:t>	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execution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unit</a:t>
            </a:r>
            <a:endParaRPr sz="1000">
              <a:latin typeface="Arial MT"/>
              <a:cs typeface="Arial MT"/>
            </a:endParaRPr>
          </a:p>
          <a:p>
            <a:pPr lvl="1" marL="384175" indent="-106680">
              <a:lnSpc>
                <a:spcPct val="100000"/>
              </a:lnSpc>
              <a:spcBef>
                <a:spcPts val="175"/>
              </a:spcBef>
              <a:buChar char="–"/>
              <a:tabLst>
                <a:tab pos="384175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Important</a:t>
            </a:r>
            <a:r>
              <a:rPr dirty="0" sz="750" spc="-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dirty="0" sz="7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pipelining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88976" y="3991610"/>
            <a:ext cx="5125720" cy="3204210"/>
            <a:chOff x="188976" y="3991610"/>
            <a:chExt cx="5125720" cy="3204210"/>
          </a:xfrm>
        </p:grpSpPr>
        <p:sp>
          <p:nvSpPr>
            <p:cNvPr id="17" name="object 17" descr=""/>
            <p:cNvSpPr/>
            <p:nvPr/>
          </p:nvSpPr>
          <p:spPr>
            <a:xfrm>
              <a:off x="18896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604" y="0"/>
                  </a:lnTo>
                  <a:lnTo>
                    <a:pt x="5117604" y="7620"/>
                  </a:lnTo>
                  <a:lnTo>
                    <a:pt x="5117604" y="3196590"/>
                  </a:lnTo>
                  <a:lnTo>
                    <a:pt x="7632" y="3196590"/>
                  </a:lnTo>
                  <a:lnTo>
                    <a:pt x="7632" y="3197098"/>
                  </a:lnTo>
                  <a:lnTo>
                    <a:pt x="4584" y="3197098"/>
                  </a:lnTo>
                  <a:lnTo>
                    <a:pt x="4584" y="3196590"/>
                  </a:lnTo>
                  <a:lnTo>
                    <a:pt x="7632" y="3196590"/>
                  </a:lnTo>
                  <a:lnTo>
                    <a:pt x="7632" y="7620"/>
                  </a:lnTo>
                  <a:lnTo>
                    <a:pt x="5117604" y="7620"/>
                  </a:lnTo>
                  <a:lnTo>
                    <a:pt x="5117604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92024" y="4315968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72466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072895" y="4393691"/>
            <a:ext cx="4213860" cy="2786380"/>
            <a:chOff x="1072895" y="4393691"/>
            <a:chExt cx="4213860" cy="2786380"/>
          </a:xfrm>
        </p:grpSpPr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51732" y="6967728"/>
              <a:ext cx="1335023" cy="211835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2895" y="4393691"/>
              <a:ext cx="3329939" cy="2580131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7279" y="5954267"/>
              <a:ext cx="1562100" cy="64007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098803" y="5967983"/>
              <a:ext cx="1527175" cy="13970"/>
            </a:xfrm>
            <a:custGeom>
              <a:avLst/>
              <a:gdLst/>
              <a:ahLst/>
              <a:cxnLst/>
              <a:rect l="l" t="t" r="r" b="b"/>
              <a:pathLst>
                <a:path w="1527175" h="13970">
                  <a:moveTo>
                    <a:pt x="1527047" y="13716"/>
                  </a:moveTo>
                  <a:lnTo>
                    <a:pt x="0" y="13716"/>
                  </a:lnTo>
                  <a:lnTo>
                    <a:pt x="0" y="0"/>
                  </a:lnTo>
                  <a:lnTo>
                    <a:pt x="1527047" y="0"/>
                  </a:lnTo>
                  <a:lnTo>
                    <a:pt x="1527047" y="1371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2895" y="6611111"/>
              <a:ext cx="1586483" cy="65531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1098803" y="6624828"/>
              <a:ext cx="1527175" cy="13970"/>
            </a:xfrm>
            <a:custGeom>
              <a:avLst/>
              <a:gdLst/>
              <a:ahLst/>
              <a:cxnLst/>
              <a:rect l="l" t="t" r="r" b="b"/>
              <a:pathLst>
                <a:path w="1527175" h="13970">
                  <a:moveTo>
                    <a:pt x="1527047" y="13716"/>
                  </a:moveTo>
                  <a:lnTo>
                    <a:pt x="0" y="13716"/>
                  </a:lnTo>
                  <a:lnTo>
                    <a:pt x="0" y="0"/>
                  </a:lnTo>
                  <a:lnTo>
                    <a:pt x="1527047" y="0"/>
                  </a:lnTo>
                  <a:lnTo>
                    <a:pt x="1527047" y="1371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394203" y="4079179"/>
            <a:ext cx="1850389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Intel</a:t>
            </a:r>
            <a:r>
              <a:rPr dirty="0" sz="12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CPU</a:t>
            </a:r>
            <a:r>
              <a:rPr dirty="0" sz="12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Evolution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5378196" y="3991610"/>
            <a:ext cx="5125720" cy="3204210"/>
            <a:chOff x="5378196" y="3991610"/>
            <a:chExt cx="5125720" cy="3204210"/>
          </a:xfrm>
        </p:grpSpPr>
        <p:sp>
          <p:nvSpPr>
            <p:cNvPr id="29" name="object 29" descr=""/>
            <p:cNvSpPr/>
            <p:nvPr/>
          </p:nvSpPr>
          <p:spPr>
            <a:xfrm>
              <a:off x="537818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381244" y="4315968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691388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6076408" y="4637851"/>
            <a:ext cx="4399915" cy="2541905"/>
            <a:chOff x="6076408" y="4637851"/>
            <a:chExt cx="4399915" cy="2541905"/>
          </a:xfrm>
        </p:grpSpPr>
        <p:pic>
          <p:nvPicPr>
            <p:cNvPr id="33" name="object 3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40951" y="6966204"/>
              <a:ext cx="1335023" cy="213360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76408" y="4637851"/>
              <a:ext cx="3721725" cy="1971657"/>
            </a:xfrm>
            <a:prstGeom prst="rect">
              <a:avLst/>
            </a:prstGeom>
          </p:spPr>
        </p:pic>
      </p:grpSp>
      <p:sp>
        <p:nvSpPr>
          <p:cNvPr id="35" name="object 35" descr=""/>
          <p:cNvSpPr txBox="1"/>
          <p:nvPr/>
        </p:nvSpPr>
        <p:spPr>
          <a:xfrm>
            <a:off x="5583392" y="4079179"/>
            <a:ext cx="176530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Pentium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4</a:t>
            </a:r>
            <a:r>
              <a:rPr dirty="0" sz="12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Block</a:t>
            </a:r>
            <a:r>
              <a:rPr dirty="0" sz="1200" spc="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Diagram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176015" y="690372"/>
            <a:ext cx="1792605" cy="35560"/>
          </a:xfrm>
          <a:custGeom>
            <a:avLst/>
            <a:gdLst/>
            <a:ahLst/>
            <a:cxnLst/>
            <a:rect l="l" t="t" r="r" b="b"/>
            <a:pathLst>
              <a:path w="1792604" h="35559">
                <a:moveTo>
                  <a:pt x="1792224" y="35052"/>
                </a:moveTo>
                <a:lnTo>
                  <a:pt x="0" y="35052"/>
                </a:lnTo>
                <a:lnTo>
                  <a:pt x="0" y="0"/>
                </a:lnTo>
                <a:lnTo>
                  <a:pt x="1792224" y="0"/>
                </a:lnTo>
                <a:lnTo>
                  <a:pt x="1792224" y="35052"/>
                </a:lnTo>
                <a:close/>
              </a:path>
            </a:pathLst>
          </a:custGeom>
          <a:solidFill>
            <a:srgbClr val="9090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93547" y="690372"/>
            <a:ext cx="426720" cy="35560"/>
          </a:xfrm>
          <a:custGeom>
            <a:avLst/>
            <a:gdLst/>
            <a:ahLst/>
            <a:cxnLst/>
            <a:rect l="l" t="t" r="r" b="b"/>
            <a:pathLst>
              <a:path w="426720" h="35559">
                <a:moveTo>
                  <a:pt x="426719" y="35052"/>
                </a:moveTo>
                <a:lnTo>
                  <a:pt x="0" y="35052"/>
                </a:lnTo>
                <a:lnTo>
                  <a:pt x="0" y="0"/>
                </a:lnTo>
                <a:lnTo>
                  <a:pt x="426719" y="0"/>
                </a:lnTo>
                <a:lnTo>
                  <a:pt x="426719" y="35052"/>
                </a:lnTo>
                <a:close/>
              </a:path>
            </a:pathLst>
          </a:custGeom>
          <a:solidFill>
            <a:srgbClr val="9090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3146696" y="3391915"/>
            <a:ext cx="627380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ure,</a:t>
            </a:r>
            <a:r>
              <a:rPr dirty="0" sz="350" spc="5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4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4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737360" y="3404362"/>
            <a:ext cx="1425575" cy="11557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algn="r">
              <a:lnSpc>
                <a:spcPct val="100000"/>
              </a:lnSpc>
              <a:spcBef>
                <a:spcPts val="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</a:t>
            </a:r>
            <a:endParaRPr sz="350">
              <a:latin typeface="Verdana"/>
              <a:cs typeface="Verdana"/>
            </a:endParaRPr>
          </a:p>
          <a:p>
            <a:pPr algn="r">
              <a:lnSpc>
                <a:spcPct val="100000"/>
              </a:lnSpc>
              <a:spcBef>
                <a:spcPts val="4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20">
                <a:solidFill>
                  <a:srgbClr val="D3D3D3"/>
                </a:solidFill>
                <a:latin typeface="Verdana"/>
                <a:cs typeface="Verdana"/>
              </a:rPr>
              <a:t>Archi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150888" y="3449828"/>
            <a:ext cx="194310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tecture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1732" y="3339084"/>
            <a:ext cx="1336548" cy="214883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3326326" y="772170"/>
            <a:ext cx="1191260" cy="579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20345">
              <a:lnSpc>
                <a:spcPct val="100800"/>
              </a:lnSpc>
              <a:spcBef>
                <a:spcPts val="10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Intel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Nehalem Architecture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(i-7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core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dirty="0" sz="12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1A1A1A"/>
                </a:solidFill>
                <a:latin typeface="Arial MT"/>
                <a:cs typeface="Arial MT"/>
              </a:rPr>
              <a:t>2008)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18743" y="370332"/>
            <a:ext cx="2557780" cy="3195955"/>
            <a:chOff x="618743" y="370332"/>
            <a:chExt cx="2557780" cy="3195955"/>
          </a:xfrm>
        </p:grpSpPr>
        <p:sp>
          <p:nvSpPr>
            <p:cNvPr id="10" name="object 10" descr=""/>
            <p:cNvSpPr/>
            <p:nvPr/>
          </p:nvSpPr>
          <p:spPr>
            <a:xfrm>
              <a:off x="618743" y="370332"/>
              <a:ext cx="2557780" cy="3195955"/>
            </a:xfrm>
            <a:custGeom>
              <a:avLst/>
              <a:gdLst/>
              <a:ahLst/>
              <a:cxnLst/>
              <a:rect l="l" t="t" r="r" b="b"/>
              <a:pathLst>
                <a:path w="2557780" h="3195954">
                  <a:moveTo>
                    <a:pt x="2557272" y="3195827"/>
                  </a:moveTo>
                  <a:lnTo>
                    <a:pt x="0" y="3195827"/>
                  </a:lnTo>
                  <a:lnTo>
                    <a:pt x="0" y="0"/>
                  </a:lnTo>
                  <a:lnTo>
                    <a:pt x="2557272" y="0"/>
                  </a:lnTo>
                  <a:lnTo>
                    <a:pt x="2557272" y="3195827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0268" y="371856"/>
              <a:ext cx="2135123" cy="228600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47772" y="371856"/>
              <a:ext cx="428243" cy="3194303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0268" y="2651760"/>
              <a:ext cx="2135123" cy="914400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5378196" y="364489"/>
            <a:ext cx="5125720" cy="3204210"/>
            <a:chOff x="5378196" y="364489"/>
            <a:chExt cx="5125720" cy="3204210"/>
          </a:xfrm>
        </p:grpSpPr>
        <p:sp>
          <p:nvSpPr>
            <p:cNvPr id="15" name="object 15" descr=""/>
            <p:cNvSpPr/>
            <p:nvPr/>
          </p:nvSpPr>
          <p:spPr>
            <a:xfrm>
              <a:off x="5378183" y="364489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10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381244" y="688847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6"/>
                  </a:moveTo>
                  <a:lnTo>
                    <a:pt x="0" y="36576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6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6913880" y="339191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5807964" y="868680"/>
            <a:ext cx="4668520" cy="2685415"/>
            <a:chOff x="5807964" y="868680"/>
            <a:chExt cx="4668520" cy="2685415"/>
          </a:xfrm>
        </p:grpSpPr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0952" y="3339084"/>
              <a:ext cx="1335023" cy="214883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5807964" y="941832"/>
              <a:ext cx="85725" cy="218440"/>
            </a:xfrm>
            <a:custGeom>
              <a:avLst/>
              <a:gdLst/>
              <a:ahLst/>
              <a:cxnLst/>
              <a:rect l="l" t="t" r="r" b="b"/>
              <a:pathLst>
                <a:path w="85725" h="218440">
                  <a:moveTo>
                    <a:pt x="85343" y="217932"/>
                  </a:moveTo>
                  <a:lnTo>
                    <a:pt x="0" y="217932"/>
                  </a:lnTo>
                  <a:lnTo>
                    <a:pt x="0" y="0"/>
                  </a:lnTo>
                  <a:lnTo>
                    <a:pt x="85343" y="0"/>
                  </a:lnTo>
                  <a:lnTo>
                    <a:pt x="85343" y="217932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84748" y="868680"/>
              <a:ext cx="3919727" cy="2350449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5583392" y="452149"/>
            <a:ext cx="150622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ARM</a:t>
            </a:r>
            <a:r>
              <a:rPr dirty="0" sz="12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Cache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Features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188976" y="3991610"/>
            <a:ext cx="5125720" cy="3204210"/>
            <a:chOff x="188976" y="3991610"/>
            <a:chExt cx="5125720" cy="3204210"/>
          </a:xfrm>
        </p:grpSpPr>
        <p:sp>
          <p:nvSpPr>
            <p:cNvPr id="24" name="object 24" descr=""/>
            <p:cNvSpPr/>
            <p:nvPr/>
          </p:nvSpPr>
          <p:spPr>
            <a:xfrm>
              <a:off x="18896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604" y="0"/>
                  </a:lnTo>
                  <a:lnTo>
                    <a:pt x="5117604" y="7620"/>
                  </a:lnTo>
                  <a:lnTo>
                    <a:pt x="5117604" y="3196590"/>
                  </a:lnTo>
                  <a:lnTo>
                    <a:pt x="7632" y="3196590"/>
                  </a:lnTo>
                  <a:lnTo>
                    <a:pt x="7632" y="3197098"/>
                  </a:lnTo>
                  <a:lnTo>
                    <a:pt x="4584" y="3197098"/>
                  </a:lnTo>
                  <a:lnTo>
                    <a:pt x="4584" y="3196590"/>
                  </a:lnTo>
                  <a:lnTo>
                    <a:pt x="7632" y="3196590"/>
                  </a:lnTo>
                  <a:lnTo>
                    <a:pt x="7632" y="7620"/>
                  </a:lnTo>
                  <a:lnTo>
                    <a:pt x="5117604" y="7620"/>
                  </a:lnTo>
                  <a:lnTo>
                    <a:pt x="5117604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92024" y="4315968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172466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1041250" y="4602714"/>
            <a:ext cx="4247515" cy="2577465"/>
            <a:chOff x="1041250" y="4602714"/>
            <a:chExt cx="4247515" cy="2577465"/>
          </a:xfrm>
        </p:grpSpPr>
        <p:pic>
          <p:nvPicPr>
            <p:cNvPr id="28" name="object 2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51732" y="6966204"/>
              <a:ext cx="1336548" cy="213360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1250" y="4602714"/>
              <a:ext cx="3398878" cy="1769715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/>
          <p:nvPr/>
        </p:nvSpPr>
        <p:spPr>
          <a:xfrm>
            <a:off x="394203" y="4079179"/>
            <a:ext cx="292671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ARM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12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and Write</a:t>
            </a:r>
            <a:r>
              <a:rPr dirty="0" sz="120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Buffer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Organization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5378196" y="3991610"/>
            <a:ext cx="5125720" cy="3204210"/>
            <a:chOff x="5378196" y="3991610"/>
            <a:chExt cx="5125720" cy="3204210"/>
          </a:xfrm>
        </p:grpSpPr>
        <p:sp>
          <p:nvSpPr>
            <p:cNvPr id="32" name="object 32" descr=""/>
            <p:cNvSpPr/>
            <p:nvPr/>
          </p:nvSpPr>
          <p:spPr>
            <a:xfrm>
              <a:off x="537818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381244" y="4315968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691388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5605271" y="4466844"/>
            <a:ext cx="4871085" cy="2712720"/>
            <a:chOff x="5605271" y="4466844"/>
            <a:chExt cx="4871085" cy="2712720"/>
          </a:xfrm>
        </p:grpSpPr>
        <p:pic>
          <p:nvPicPr>
            <p:cNvPr id="36" name="object 3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40952" y="6966204"/>
              <a:ext cx="1335023" cy="213360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5605259" y="4466844"/>
              <a:ext cx="33655" cy="1309370"/>
            </a:xfrm>
            <a:custGeom>
              <a:avLst/>
              <a:gdLst/>
              <a:ahLst/>
              <a:cxnLst/>
              <a:rect l="l" t="t" r="r" b="b"/>
              <a:pathLst>
                <a:path w="33654" h="1309370">
                  <a:moveTo>
                    <a:pt x="33540" y="1274064"/>
                  </a:moveTo>
                  <a:lnTo>
                    <a:pt x="0" y="1274064"/>
                  </a:lnTo>
                  <a:lnTo>
                    <a:pt x="0" y="1309128"/>
                  </a:lnTo>
                  <a:lnTo>
                    <a:pt x="33540" y="1309128"/>
                  </a:lnTo>
                  <a:lnTo>
                    <a:pt x="33540" y="1274064"/>
                  </a:lnTo>
                  <a:close/>
                </a:path>
                <a:path w="33654" h="1309370">
                  <a:moveTo>
                    <a:pt x="33540" y="637044"/>
                  </a:moveTo>
                  <a:lnTo>
                    <a:pt x="0" y="637044"/>
                  </a:lnTo>
                  <a:lnTo>
                    <a:pt x="0" y="672096"/>
                  </a:lnTo>
                  <a:lnTo>
                    <a:pt x="33540" y="672096"/>
                  </a:lnTo>
                  <a:lnTo>
                    <a:pt x="33540" y="637044"/>
                  </a:lnTo>
                  <a:close/>
                </a:path>
                <a:path w="33654" h="1309370">
                  <a:moveTo>
                    <a:pt x="33540" y="0"/>
                  </a:moveTo>
                  <a:lnTo>
                    <a:pt x="0" y="0"/>
                  </a:lnTo>
                  <a:lnTo>
                    <a:pt x="0" y="35064"/>
                  </a:lnTo>
                  <a:lnTo>
                    <a:pt x="33540" y="35064"/>
                  </a:lnTo>
                  <a:lnTo>
                    <a:pt x="33540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38516" y="4713732"/>
              <a:ext cx="1530096" cy="2004060"/>
            </a:xfrm>
            <a:prstGeom prst="rect">
              <a:avLst/>
            </a:prstGeom>
          </p:spPr>
        </p:pic>
      </p:grpSp>
      <p:sp>
        <p:nvSpPr>
          <p:cNvPr id="39" name="object 39" descr=""/>
          <p:cNvSpPr txBox="1"/>
          <p:nvPr/>
        </p:nvSpPr>
        <p:spPr>
          <a:xfrm>
            <a:off x="5583392" y="4079179"/>
            <a:ext cx="68580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Summary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5745004" y="4371219"/>
            <a:ext cx="1812925" cy="146304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Characteristics</a:t>
            </a:r>
            <a:r>
              <a:rPr dirty="0" sz="850" spc="1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850" spc="1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r>
              <a:rPr dirty="0" sz="850" spc="1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A1A1A"/>
                </a:solidFill>
                <a:latin typeface="Arial MT"/>
                <a:cs typeface="Arial MT"/>
              </a:rPr>
              <a:t>Systems</a:t>
            </a:r>
            <a:endParaRPr sz="850">
              <a:latin typeface="Arial MT"/>
              <a:cs typeface="Arial MT"/>
            </a:endParaRPr>
          </a:p>
          <a:p>
            <a:pPr marL="199390" indent="-135255">
              <a:lnSpc>
                <a:spcPct val="100000"/>
              </a:lnSpc>
              <a:spcBef>
                <a:spcPts val="235"/>
              </a:spcBef>
              <a:buChar char="•"/>
              <a:tabLst>
                <a:tab pos="199390" algn="l"/>
              </a:tabLst>
            </a:pP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Location</a:t>
            </a:r>
            <a:endParaRPr sz="750">
              <a:latin typeface="Arial MT"/>
              <a:cs typeface="Arial MT"/>
            </a:endParaRPr>
          </a:p>
          <a:p>
            <a:pPr marL="199390" indent="-135255">
              <a:lnSpc>
                <a:spcPct val="100000"/>
              </a:lnSpc>
              <a:spcBef>
                <a:spcPts val="225"/>
              </a:spcBef>
              <a:buChar char="•"/>
              <a:tabLst>
                <a:tab pos="199390" algn="l"/>
              </a:tabLst>
            </a:pP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Capacity</a:t>
            </a:r>
            <a:endParaRPr sz="750">
              <a:latin typeface="Arial MT"/>
              <a:cs typeface="Arial MT"/>
            </a:endParaRPr>
          </a:p>
          <a:p>
            <a:pPr marL="199390" indent="-135255">
              <a:lnSpc>
                <a:spcPct val="100000"/>
              </a:lnSpc>
              <a:spcBef>
                <a:spcPts val="229"/>
              </a:spcBef>
              <a:buChar char="•"/>
              <a:tabLst>
                <a:tab pos="199390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Unit</a:t>
            </a:r>
            <a:r>
              <a:rPr dirty="0" sz="75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75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transfer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r>
              <a:rPr dirty="0" sz="850" spc="1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A1A1A"/>
                </a:solidFill>
                <a:latin typeface="Arial MT"/>
                <a:cs typeface="Arial MT"/>
              </a:rPr>
              <a:t>Hierarchy</a:t>
            </a:r>
            <a:endParaRPr sz="850">
              <a:latin typeface="Arial MT"/>
              <a:cs typeface="Arial MT"/>
            </a:endParaRPr>
          </a:p>
          <a:p>
            <a:pPr marL="199390" indent="-135255">
              <a:lnSpc>
                <a:spcPct val="100000"/>
              </a:lnSpc>
              <a:spcBef>
                <a:spcPts val="229"/>
              </a:spcBef>
              <a:buChar char="•"/>
              <a:tabLst>
                <a:tab pos="199390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How</a:t>
            </a:r>
            <a:r>
              <a:rPr dirty="0" sz="75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much?</a:t>
            </a:r>
            <a:endParaRPr sz="750">
              <a:latin typeface="Arial MT"/>
              <a:cs typeface="Arial MT"/>
            </a:endParaRPr>
          </a:p>
          <a:p>
            <a:pPr marL="199390" indent="-135255">
              <a:lnSpc>
                <a:spcPct val="100000"/>
              </a:lnSpc>
              <a:spcBef>
                <a:spcPts val="229"/>
              </a:spcBef>
              <a:buChar char="•"/>
              <a:tabLst>
                <a:tab pos="199390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How</a:t>
            </a:r>
            <a:r>
              <a:rPr dirty="0" sz="75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fast?</a:t>
            </a:r>
            <a:endParaRPr sz="750">
              <a:latin typeface="Arial MT"/>
              <a:cs typeface="Arial MT"/>
            </a:endParaRPr>
          </a:p>
          <a:p>
            <a:pPr marL="199390" indent="-135255">
              <a:lnSpc>
                <a:spcPct val="100000"/>
              </a:lnSpc>
              <a:spcBef>
                <a:spcPts val="225"/>
              </a:spcBef>
              <a:buChar char="•"/>
              <a:tabLst>
                <a:tab pos="199390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How</a:t>
            </a:r>
            <a:r>
              <a:rPr dirty="0" sz="75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expensive?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Elements</a:t>
            </a:r>
            <a:r>
              <a:rPr dirty="0" sz="850" spc="9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850" spc="1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85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A1A1A"/>
                </a:solidFill>
                <a:latin typeface="Arial MT"/>
                <a:cs typeface="Arial MT"/>
              </a:rPr>
              <a:t>design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5796714" y="5808969"/>
            <a:ext cx="1231900" cy="1028700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147955" indent="-135255">
              <a:lnSpc>
                <a:spcPct val="100000"/>
              </a:lnSpc>
              <a:spcBef>
                <a:spcPts val="320"/>
              </a:spcBef>
              <a:buChar char="•"/>
              <a:tabLst>
                <a:tab pos="147955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750" spc="9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addresses</a:t>
            </a:r>
            <a:endParaRPr sz="750">
              <a:latin typeface="Arial MT"/>
              <a:cs typeface="Arial MT"/>
            </a:endParaRPr>
          </a:p>
          <a:p>
            <a:pPr marL="147955" indent="-135255">
              <a:lnSpc>
                <a:spcPct val="100000"/>
              </a:lnSpc>
              <a:spcBef>
                <a:spcPts val="229"/>
              </a:spcBef>
              <a:buChar char="•"/>
              <a:tabLst>
                <a:tab pos="147955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750" spc="9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20">
                <a:solidFill>
                  <a:srgbClr val="1A1A1A"/>
                </a:solidFill>
                <a:latin typeface="Arial MT"/>
                <a:cs typeface="Arial MT"/>
              </a:rPr>
              <a:t>size</a:t>
            </a:r>
            <a:endParaRPr sz="750">
              <a:latin typeface="Arial MT"/>
              <a:cs typeface="Arial MT"/>
            </a:endParaRPr>
          </a:p>
          <a:p>
            <a:pPr marL="147955" indent="-135255">
              <a:lnSpc>
                <a:spcPct val="100000"/>
              </a:lnSpc>
              <a:spcBef>
                <a:spcPts val="225"/>
              </a:spcBef>
              <a:buChar char="•"/>
              <a:tabLst>
                <a:tab pos="147955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Mapping</a:t>
            </a:r>
            <a:r>
              <a:rPr dirty="0" sz="750" spc="1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function</a:t>
            </a:r>
            <a:endParaRPr sz="750">
              <a:latin typeface="Arial MT"/>
              <a:cs typeface="Arial MT"/>
            </a:endParaRPr>
          </a:p>
          <a:p>
            <a:pPr marL="147955" indent="-135255">
              <a:lnSpc>
                <a:spcPct val="100000"/>
              </a:lnSpc>
              <a:spcBef>
                <a:spcPts val="229"/>
              </a:spcBef>
              <a:buChar char="•"/>
              <a:tabLst>
                <a:tab pos="147955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Replacement</a:t>
            </a:r>
            <a:r>
              <a:rPr dirty="0" sz="750" spc="1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algorithms</a:t>
            </a:r>
            <a:endParaRPr sz="750">
              <a:latin typeface="Arial MT"/>
              <a:cs typeface="Arial MT"/>
            </a:endParaRPr>
          </a:p>
          <a:p>
            <a:pPr marL="147955" indent="-135255">
              <a:lnSpc>
                <a:spcPct val="100000"/>
              </a:lnSpc>
              <a:spcBef>
                <a:spcPts val="225"/>
              </a:spcBef>
              <a:buChar char="•"/>
              <a:tabLst>
                <a:tab pos="147955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Write</a:t>
            </a:r>
            <a:r>
              <a:rPr dirty="0" sz="75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policy</a:t>
            </a:r>
            <a:endParaRPr sz="750">
              <a:latin typeface="Arial MT"/>
              <a:cs typeface="Arial MT"/>
            </a:endParaRPr>
          </a:p>
          <a:p>
            <a:pPr marL="147955" indent="-135255">
              <a:lnSpc>
                <a:spcPct val="100000"/>
              </a:lnSpc>
              <a:spcBef>
                <a:spcPts val="229"/>
              </a:spcBef>
              <a:buChar char="•"/>
              <a:tabLst>
                <a:tab pos="147955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Line</a:t>
            </a:r>
            <a:r>
              <a:rPr dirty="0" sz="75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20">
                <a:solidFill>
                  <a:srgbClr val="1A1A1A"/>
                </a:solidFill>
                <a:latin typeface="Arial MT"/>
                <a:cs typeface="Arial MT"/>
              </a:rPr>
              <a:t>size</a:t>
            </a:r>
            <a:endParaRPr sz="750">
              <a:latin typeface="Arial MT"/>
              <a:cs typeface="Arial MT"/>
            </a:endParaRPr>
          </a:p>
          <a:p>
            <a:pPr marL="147955" indent="-135255">
              <a:lnSpc>
                <a:spcPct val="100000"/>
              </a:lnSpc>
              <a:spcBef>
                <a:spcPts val="229"/>
              </a:spcBef>
              <a:buChar char="•"/>
              <a:tabLst>
                <a:tab pos="147955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Number</a:t>
            </a:r>
            <a:r>
              <a:rPr dirty="0" sz="75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75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caches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8090407" y="6737096"/>
            <a:ext cx="1086485" cy="749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00" spc="10" i="1">
                <a:solidFill>
                  <a:srgbClr val="AFAFAF"/>
                </a:solidFill>
                <a:latin typeface="Verdana"/>
                <a:cs typeface="Verdana"/>
              </a:rPr>
              <a:t>Image</a:t>
            </a:r>
            <a:r>
              <a:rPr dirty="0" sz="300" spc="145" i="1">
                <a:solidFill>
                  <a:srgbClr val="AFAFAF"/>
                </a:solidFill>
                <a:latin typeface="Verdana"/>
                <a:cs typeface="Verdana"/>
              </a:rPr>
              <a:t> </a:t>
            </a:r>
            <a:r>
              <a:rPr dirty="0" sz="300" spc="10" i="1">
                <a:solidFill>
                  <a:srgbClr val="AFAFAF"/>
                </a:solidFill>
                <a:latin typeface="Verdana"/>
                <a:cs typeface="Verdana"/>
              </a:rPr>
              <a:t>from</a:t>
            </a:r>
            <a:r>
              <a:rPr dirty="0" sz="300" spc="160" i="1">
                <a:solidFill>
                  <a:srgbClr val="AFAFAF"/>
                </a:solidFill>
                <a:latin typeface="Verdana"/>
                <a:cs typeface="Verdana"/>
              </a:rPr>
              <a:t> </a:t>
            </a:r>
            <a:r>
              <a:rPr dirty="0" sz="300" spc="-10" i="1">
                <a:solidFill>
                  <a:srgbClr val="AFAFAF"/>
                </a:solidFill>
                <a:latin typeface="Verdana"/>
                <a:cs typeface="Verdana"/>
                <a:hlinkClick r:id="rId10"/>
              </a:rPr>
              <a:t>http://www.promotionalpro.com/blog/</a:t>
            </a:r>
            <a:endParaRPr sz="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92023" y="367284"/>
            <a:ext cx="599440" cy="3194685"/>
          </a:xfrm>
          <a:custGeom>
            <a:avLst/>
            <a:gdLst/>
            <a:ahLst/>
            <a:cxnLst/>
            <a:rect l="l" t="t" r="r" b="b"/>
            <a:pathLst>
              <a:path w="599440" h="3194685">
                <a:moveTo>
                  <a:pt x="598932" y="3194304"/>
                </a:moveTo>
                <a:lnTo>
                  <a:pt x="0" y="3194304"/>
                </a:lnTo>
                <a:lnTo>
                  <a:pt x="0" y="0"/>
                </a:lnTo>
                <a:lnTo>
                  <a:pt x="598932" y="0"/>
                </a:lnTo>
                <a:lnTo>
                  <a:pt x="598932" y="3194304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092708" y="1845563"/>
            <a:ext cx="3919854" cy="12700"/>
          </a:xfrm>
          <a:custGeom>
            <a:avLst/>
            <a:gdLst/>
            <a:ahLst/>
            <a:cxnLst/>
            <a:rect l="l" t="t" r="r" b="b"/>
            <a:pathLst>
              <a:path w="3919854" h="12700">
                <a:moveTo>
                  <a:pt x="3919727" y="12191"/>
                </a:moveTo>
                <a:lnTo>
                  <a:pt x="0" y="12191"/>
                </a:lnTo>
                <a:lnTo>
                  <a:pt x="0" y="0"/>
                </a:lnTo>
                <a:lnTo>
                  <a:pt x="3919727" y="0"/>
                </a:lnTo>
                <a:lnTo>
                  <a:pt x="3919727" y="12191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1732" y="3364991"/>
            <a:ext cx="1336548" cy="18745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21001" y="1308620"/>
            <a:ext cx="1680807" cy="16360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200164" y="1261371"/>
            <a:ext cx="2202180" cy="5264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b="1">
                <a:solidFill>
                  <a:srgbClr val="1A1A1A"/>
                </a:solidFill>
                <a:latin typeface="Arial"/>
                <a:cs typeface="Arial"/>
              </a:rPr>
              <a:t>Computer</a:t>
            </a:r>
            <a:r>
              <a:rPr dirty="0" sz="1200" spc="10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A1A1A"/>
                </a:solidFill>
                <a:latin typeface="Arial"/>
                <a:cs typeface="Arial"/>
              </a:rPr>
              <a:t>Architecture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4445">
              <a:lnSpc>
                <a:spcPct val="100000"/>
              </a:lnSpc>
            </a:pPr>
            <a:r>
              <a:rPr dirty="0" sz="900" b="1">
                <a:solidFill>
                  <a:srgbClr val="1A1A1A"/>
                </a:solidFill>
                <a:latin typeface="Arial"/>
                <a:cs typeface="Arial"/>
              </a:rPr>
              <a:t>Internal</a:t>
            </a:r>
            <a:r>
              <a:rPr dirty="0" sz="900" spc="80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1A1A1A"/>
                </a:solidFill>
                <a:latin typeface="Arial"/>
                <a:cs typeface="Arial"/>
              </a:rPr>
              <a:t>Memory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5378196" y="364489"/>
            <a:ext cx="5125720" cy="3204210"/>
            <a:chOff x="5378196" y="364489"/>
            <a:chExt cx="5125720" cy="3204210"/>
          </a:xfrm>
        </p:grpSpPr>
        <p:sp>
          <p:nvSpPr>
            <p:cNvPr id="8" name="object 8" descr=""/>
            <p:cNvSpPr/>
            <p:nvPr/>
          </p:nvSpPr>
          <p:spPr>
            <a:xfrm>
              <a:off x="5378183" y="364489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10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381244" y="688847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6"/>
                  </a:moveTo>
                  <a:lnTo>
                    <a:pt x="0" y="36576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6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6913880" y="339191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6070138" y="1136978"/>
            <a:ext cx="4406265" cy="2417445"/>
            <a:chOff x="6070138" y="1136978"/>
            <a:chExt cx="4406265" cy="2417445"/>
          </a:xfrm>
        </p:grpSpPr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0951" y="3339084"/>
              <a:ext cx="1335023" cy="214883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70138" y="1136978"/>
              <a:ext cx="3767258" cy="1681603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5583392" y="452149"/>
            <a:ext cx="160909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r>
              <a:rPr dirty="0" sz="12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Cell</a:t>
            </a:r>
            <a:r>
              <a:rPr dirty="0" sz="12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Operation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88976" y="3991610"/>
            <a:ext cx="5125720" cy="3204210"/>
            <a:chOff x="188976" y="3991610"/>
            <a:chExt cx="5125720" cy="3204210"/>
          </a:xfrm>
        </p:grpSpPr>
        <p:sp>
          <p:nvSpPr>
            <p:cNvPr id="16" name="object 16" descr=""/>
            <p:cNvSpPr/>
            <p:nvPr/>
          </p:nvSpPr>
          <p:spPr>
            <a:xfrm>
              <a:off x="18896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604" y="0"/>
                  </a:lnTo>
                  <a:lnTo>
                    <a:pt x="5117604" y="7620"/>
                  </a:lnTo>
                  <a:lnTo>
                    <a:pt x="5117604" y="3196590"/>
                  </a:lnTo>
                  <a:lnTo>
                    <a:pt x="7632" y="3196590"/>
                  </a:lnTo>
                  <a:lnTo>
                    <a:pt x="7632" y="3197098"/>
                  </a:lnTo>
                  <a:lnTo>
                    <a:pt x="4584" y="3197098"/>
                  </a:lnTo>
                  <a:lnTo>
                    <a:pt x="4584" y="3196590"/>
                  </a:lnTo>
                  <a:lnTo>
                    <a:pt x="7632" y="3196590"/>
                  </a:lnTo>
                  <a:lnTo>
                    <a:pt x="7632" y="7620"/>
                  </a:lnTo>
                  <a:lnTo>
                    <a:pt x="5117604" y="7620"/>
                  </a:lnTo>
                  <a:lnTo>
                    <a:pt x="5117604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92024" y="4315968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172466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723900" y="4526280"/>
            <a:ext cx="4564380" cy="2653665"/>
            <a:chOff x="723900" y="4526280"/>
            <a:chExt cx="4564380" cy="2653665"/>
          </a:xfrm>
        </p:grpSpPr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51732" y="6966204"/>
              <a:ext cx="1336548" cy="213360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1333500" y="4526280"/>
              <a:ext cx="85725" cy="218440"/>
            </a:xfrm>
            <a:custGeom>
              <a:avLst/>
              <a:gdLst/>
              <a:ahLst/>
              <a:cxnLst/>
              <a:rect l="l" t="t" r="r" b="b"/>
              <a:pathLst>
                <a:path w="85725" h="218439">
                  <a:moveTo>
                    <a:pt x="85344" y="217931"/>
                  </a:moveTo>
                  <a:lnTo>
                    <a:pt x="0" y="217931"/>
                  </a:lnTo>
                  <a:lnTo>
                    <a:pt x="0" y="0"/>
                  </a:lnTo>
                  <a:lnTo>
                    <a:pt x="85344" y="0"/>
                  </a:lnTo>
                  <a:lnTo>
                    <a:pt x="85344" y="217931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3900" y="4533900"/>
              <a:ext cx="4050791" cy="2282951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33500" y="4532376"/>
              <a:ext cx="86867" cy="213359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394203" y="4079179"/>
            <a:ext cx="211264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Semiconductor</a:t>
            </a:r>
            <a:r>
              <a:rPr dirty="0" sz="12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Memory </a:t>
            </a:r>
            <a:r>
              <a:rPr dirty="0" sz="1200" spc="-20">
                <a:solidFill>
                  <a:srgbClr val="1A1A1A"/>
                </a:solidFill>
                <a:latin typeface="Arial MT"/>
                <a:cs typeface="Arial MT"/>
              </a:rPr>
              <a:t>Types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5378196" y="3991610"/>
            <a:ext cx="5125720" cy="3204210"/>
            <a:chOff x="5378196" y="3991610"/>
            <a:chExt cx="5125720" cy="3204210"/>
          </a:xfrm>
        </p:grpSpPr>
        <p:sp>
          <p:nvSpPr>
            <p:cNvPr id="26" name="object 26" descr=""/>
            <p:cNvSpPr/>
            <p:nvPr/>
          </p:nvSpPr>
          <p:spPr>
            <a:xfrm>
              <a:off x="537818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381244" y="4315968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691388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5606796" y="4472940"/>
            <a:ext cx="4869180" cy="2707005"/>
            <a:chOff x="5606796" y="4472940"/>
            <a:chExt cx="4869180" cy="2707005"/>
          </a:xfrm>
        </p:grpSpPr>
        <p:pic>
          <p:nvPicPr>
            <p:cNvPr id="30" name="object 3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0951" y="6966204"/>
              <a:ext cx="1335023" cy="213360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5606796" y="4472940"/>
              <a:ext cx="38100" cy="1054735"/>
            </a:xfrm>
            <a:custGeom>
              <a:avLst/>
              <a:gdLst/>
              <a:ahLst/>
              <a:cxnLst/>
              <a:rect l="l" t="t" r="r" b="b"/>
              <a:pathLst>
                <a:path w="38100" h="1054735">
                  <a:moveTo>
                    <a:pt x="38100" y="1014984"/>
                  </a:moveTo>
                  <a:lnTo>
                    <a:pt x="0" y="1014984"/>
                  </a:lnTo>
                  <a:lnTo>
                    <a:pt x="0" y="1054608"/>
                  </a:lnTo>
                  <a:lnTo>
                    <a:pt x="38100" y="1054608"/>
                  </a:lnTo>
                  <a:lnTo>
                    <a:pt x="38100" y="1014984"/>
                  </a:lnTo>
                  <a:close/>
                </a:path>
                <a:path w="38100" h="1054735">
                  <a:moveTo>
                    <a:pt x="38100" y="0"/>
                  </a:moveTo>
                  <a:lnTo>
                    <a:pt x="0" y="0"/>
                  </a:lnTo>
                  <a:lnTo>
                    <a:pt x="0" y="39636"/>
                  </a:lnTo>
                  <a:lnTo>
                    <a:pt x="38100" y="39636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5583392" y="4079179"/>
            <a:ext cx="223329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RAM</a:t>
            </a:r>
            <a:r>
              <a:rPr dirty="0" sz="12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(Random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Access</a:t>
            </a:r>
            <a:r>
              <a:rPr dirty="0" sz="12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Memory)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745025" y="4364609"/>
            <a:ext cx="4314190" cy="171958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Dynamic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RAM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(DRAM)</a:t>
            </a:r>
            <a:endParaRPr sz="1000">
              <a:latin typeface="Arial MT"/>
              <a:cs typeface="Arial MT"/>
            </a:endParaRPr>
          </a:p>
          <a:p>
            <a:pPr marL="198120" indent="-133985">
              <a:lnSpc>
                <a:spcPct val="100000"/>
              </a:lnSpc>
              <a:spcBef>
                <a:spcPts val="265"/>
              </a:spcBef>
              <a:buChar char="•"/>
              <a:tabLst>
                <a:tab pos="198120" algn="l"/>
              </a:tabLst>
            </a:pP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Made</a:t>
            </a:r>
            <a:r>
              <a:rPr dirty="0" sz="85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with</a:t>
            </a:r>
            <a:r>
              <a:rPr dirty="0" sz="85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cells</a:t>
            </a:r>
            <a:r>
              <a:rPr dirty="0" sz="85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that</a:t>
            </a:r>
            <a:r>
              <a:rPr dirty="0" sz="85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store</a:t>
            </a:r>
            <a:r>
              <a:rPr dirty="0" sz="85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dirty="0" sz="85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as</a:t>
            </a:r>
            <a:r>
              <a:rPr dirty="0" sz="85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charge</a:t>
            </a:r>
            <a:r>
              <a:rPr dirty="0" sz="85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on</a:t>
            </a:r>
            <a:r>
              <a:rPr dirty="0" sz="85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A1A1A"/>
                </a:solidFill>
                <a:latin typeface="Arial MT"/>
                <a:cs typeface="Arial MT"/>
              </a:rPr>
              <a:t>capacitors</a:t>
            </a:r>
            <a:endParaRPr sz="850">
              <a:latin typeface="Arial MT"/>
              <a:cs typeface="Arial MT"/>
            </a:endParaRPr>
          </a:p>
          <a:p>
            <a:pPr marL="198120" indent="-133985">
              <a:lnSpc>
                <a:spcPct val="100000"/>
              </a:lnSpc>
              <a:spcBef>
                <a:spcPts val="265"/>
              </a:spcBef>
              <a:buChar char="•"/>
              <a:tabLst>
                <a:tab pos="198120" algn="l"/>
              </a:tabLst>
            </a:pP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Presence</a:t>
            </a:r>
            <a:r>
              <a:rPr dirty="0" sz="85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or</a:t>
            </a:r>
            <a:r>
              <a:rPr dirty="0" sz="850" spc="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absence</a:t>
            </a:r>
            <a:r>
              <a:rPr dirty="0" sz="85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850" spc="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charge</a:t>
            </a:r>
            <a:r>
              <a:rPr dirty="0" sz="85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dirty="0" sz="85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dirty="0" sz="85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capacitor</a:t>
            </a:r>
            <a:r>
              <a:rPr dirty="0" sz="85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85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interpreted</a:t>
            </a:r>
            <a:r>
              <a:rPr dirty="0" sz="850" spc="9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as</a:t>
            </a:r>
            <a:r>
              <a:rPr dirty="0" sz="850" spc="9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dirty="0" sz="85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binary</a:t>
            </a:r>
            <a:r>
              <a:rPr dirty="0" sz="85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1A1A1A"/>
                </a:solidFill>
                <a:latin typeface="Arial MT"/>
                <a:cs typeface="Arial MT"/>
              </a:rPr>
              <a:t>1/0</a:t>
            </a:r>
            <a:endParaRPr sz="850">
              <a:latin typeface="Arial MT"/>
              <a:cs typeface="Arial MT"/>
            </a:endParaRPr>
          </a:p>
          <a:p>
            <a:pPr marL="198120" indent="-133985">
              <a:lnSpc>
                <a:spcPct val="100000"/>
              </a:lnSpc>
              <a:spcBef>
                <a:spcPts val="280"/>
              </a:spcBef>
              <a:buChar char="•"/>
              <a:tabLst>
                <a:tab pos="198120" algn="l"/>
              </a:tabLst>
            </a:pP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Requires</a:t>
            </a:r>
            <a:r>
              <a:rPr dirty="0" sz="850" spc="9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periodic</a:t>
            </a:r>
            <a:r>
              <a:rPr dirty="0" sz="85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charge</a:t>
            </a:r>
            <a:r>
              <a:rPr dirty="0" sz="850" spc="1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refreshing</a:t>
            </a:r>
            <a:r>
              <a:rPr dirty="0" sz="850" spc="1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850" spc="10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maintain</a:t>
            </a:r>
            <a:r>
              <a:rPr dirty="0" sz="850" spc="1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dirty="0" sz="850" spc="1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A1A1A"/>
                </a:solidFill>
                <a:latin typeface="Arial MT"/>
                <a:cs typeface="Arial MT"/>
              </a:rPr>
              <a:t>storage</a:t>
            </a:r>
            <a:endParaRPr sz="850">
              <a:latin typeface="Arial MT"/>
              <a:cs typeface="Arial MT"/>
            </a:endParaRPr>
          </a:p>
          <a:p>
            <a:pPr marL="198120" marR="5080" indent="-134620">
              <a:lnSpc>
                <a:spcPct val="105900"/>
              </a:lnSpc>
              <a:spcBef>
                <a:spcPts val="200"/>
              </a:spcBef>
              <a:buChar char="•"/>
              <a:tabLst>
                <a:tab pos="198120" algn="l"/>
              </a:tabLst>
            </a:pP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85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term</a:t>
            </a:r>
            <a:r>
              <a:rPr dirty="0" sz="850" spc="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dynamic</a:t>
            </a:r>
            <a:r>
              <a:rPr dirty="0" sz="850" spc="9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refers</a:t>
            </a:r>
            <a:r>
              <a:rPr dirty="0" sz="850" spc="9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85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tendency</a:t>
            </a:r>
            <a:r>
              <a:rPr dirty="0" sz="85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85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85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stored</a:t>
            </a:r>
            <a:r>
              <a:rPr dirty="0" sz="850" spc="9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charge</a:t>
            </a:r>
            <a:r>
              <a:rPr dirty="0" sz="85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85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leak</a:t>
            </a:r>
            <a:r>
              <a:rPr dirty="0" sz="85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away,</a:t>
            </a:r>
            <a:r>
              <a:rPr dirty="0" sz="850" spc="1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even</a:t>
            </a:r>
            <a:r>
              <a:rPr dirty="0" sz="85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1A1A1A"/>
                </a:solidFill>
                <a:latin typeface="Arial MT"/>
                <a:cs typeface="Arial MT"/>
              </a:rPr>
              <a:t>with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power</a:t>
            </a:r>
            <a:r>
              <a:rPr dirty="0" sz="850" spc="1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continuously</a:t>
            </a:r>
            <a:r>
              <a:rPr dirty="0" sz="850" spc="10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A1A1A"/>
                </a:solidFill>
                <a:latin typeface="Arial MT"/>
                <a:cs typeface="Arial MT"/>
              </a:rPr>
              <a:t>applied</a:t>
            </a:r>
            <a:endParaRPr sz="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Static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RAM</a:t>
            </a:r>
            <a:r>
              <a:rPr dirty="0" sz="10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(SRAM)</a:t>
            </a:r>
            <a:endParaRPr sz="1000">
              <a:latin typeface="Arial MT"/>
              <a:cs typeface="Arial MT"/>
            </a:endParaRPr>
          </a:p>
          <a:p>
            <a:pPr marL="198120" indent="-133985">
              <a:lnSpc>
                <a:spcPct val="100000"/>
              </a:lnSpc>
              <a:spcBef>
                <a:spcPts val="260"/>
              </a:spcBef>
              <a:buChar char="•"/>
              <a:tabLst>
                <a:tab pos="198120" algn="l"/>
              </a:tabLst>
            </a:pP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Digital</a:t>
            </a:r>
            <a:r>
              <a:rPr dirty="0" sz="85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device</a:t>
            </a:r>
            <a:r>
              <a:rPr dirty="0" sz="85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that</a:t>
            </a:r>
            <a:r>
              <a:rPr dirty="0" sz="850" spc="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uses</a:t>
            </a:r>
            <a:r>
              <a:rPr dirty="0" sz="850" spc="9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850" spc="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same</a:t>
            </a:r>
            <a:r>
              <a:rPr dirty="0" sz="85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logic</a:t>
            </a:r>
            <a:r>
              <a:rPr dirty="0" sz="85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elements</a:t>
            </a:r>
            <a:r>
              <a:rPr dirty="0" sz="85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used</a:t>
            </a:r>
            <a:r>
              <a:rPr dirty="0" sz="85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dirty="0" sz="85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850" spc="9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A1A1A"/>
                </a:solidFill>
                <a:latin typeface="Arial MT"/>
                <a:cs typeface="Arial MT"/>
              </a:rPr>
              <a:t>processor</a:t>
            </a:r>
            <a:endParaRPr sz="850">
              <a:latin typeface="Arial MT"/>
              <a:cs typeface="Arial MT"/>
            </a:endParaRPr>
          </a:p>
          <a:p>
            <a:pPr marL="198120" indent="-133985">
              <a:lnSpc>
                <a:spcPct val="100000"/>
              </a:lnSpc>
              <a:spcBef>
                <a:spcPts val="275"/>
              </a:spcBef>
              <a:buChar char="•"/>
              <a:tabLst>
                <a:tab pos="198120" algn="l"/>
              </a:tabLst>
            </a:pP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Binary</a:t>
            </a:r>
            <a:r>
              <a:rPr dirty="0" sz="850" spc="9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values</a:t>
            </a:r>
            <a:r>
              <a:rPr dirty="0" sz="85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are</a:t>
            </a:r>
            <a:r>
              <a:rPr dirty="0" sz="850" spc="9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stored</a:t>
            </a:r>
            <a:r>
              <a:rPr dirty="0" sz="850" spc="1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using</a:t>
            </a:r>
            <a:r>
              <a:rPr dirty="0" sz="850" spc="9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traditional</a:t>
            </a:r>
            <a:r>
              <a:rPr dirty="0" sz="850" spc="10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flip-flop</a:t>
            </a:r>
            <a:r>
              <a:rPr dirty="0" sz="85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logic</a:t>
            </a:r>
            <a:r>
              <a:rPr dirty="0" sz="85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gate</a:t>
            </a:r>
            <a:r>
              <a:rPr dirty="0" sz="85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A1A1A"/>
                </a:solidFill>
                <a:latin typeface="Arial MT"/>
                <a:cs typeface="Arial MT"/>
              </a:rPr>
              <a:t>configurations</a:t>
            </a:r>
            <a:endParaRPr sz="850">
              <a:latin typeface="Arial MT"/>
              <a:cs typeface="Arial MT"/>
            </a:endParaRPr>
          </a:p>
          <a:p>
            <a:pPr marL="198120" indent="-133985">
              <a:lnSpc>
                <a:spcPct val="100000"/>
              </a:lnSpc>
              <a:spcBef>
                <a:spcPts val="265"/>
              </a:spcBef>
              <a:buChar char="•"/>
              <a:tabLst>
                <a:tab pos="198120" algn="l"/>
              </a:tabLst>
            </a:pP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Will</a:t>
            </a:r>
            <a:r>
              <a:rPr dirty="0" sz="85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hold</a:t>
            </a:r>
            <a:r>
              <a:rPr dirty="0" sz="85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its</a:t>
            </a:r>
            <a:r>
              <a:rPr dirty="0" sz="85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dirty="0" sz="85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as</a:t>
            </a:r>
            <a:r>
              <a:rPr dirty="0" sz="85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long</a:t>
            </a:r>
            <a:r>
              <a:rPr dirty="0" sz="85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as</a:t>
            </a:r>
            <a:r>
              <a:rPr dirty="0" sz="85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power</a:t>
            </a:r>
            <a:r>
              <a:rPr dirty="0" sz="85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85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supplied</a:t>
            </a:r>
            <a:r>
              <a:rPr dirty="0" sz="85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850" spc="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1A1A1A"/>
                </a:solidFill>
                <a:latin typeface="Arial MT"/>
                <a:cs typeface="Arial MT"/>
              </a:rPr>
              <a:t>it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6914388" y="6041135"/>
            <a:ext cx="2057400" cy="1152525"/>
            <a:chOff x="6914388" y="6041135"/>
            <a:chExt cx="2057400" cy="1152525"/>
          </a:xfrm>
        </p:grpSpPr>
        <p:pic>
          <p:nvPicPr>
            <p:cNvPr id="35" name="object 3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14388" y="6042660"/>
              <a:ext cx="2057400" cy="1150619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7847076" y="7043940"/>
              <a:ext cx="993775" cy="35560"/>
            </a:xfrm>
            <a:custGeom>
              <a:avLst/>
              <a:gdLst/>
              <a:ahLst/>
              <a:cxnLst/>
              <a:rect l="l" t="t" r="r" b="b"/>
              <a:pathLst>
                <a:path w="993775" h="35559">
                  <a:moveTo>
                    <a:pt x="4572" y="9131"/>
                  </a:moveTo>
                  <a:lnTo>
                    <a:pt x="0" y="9131"/>
                  </a:lnTo>
                  <a:lnTo>
                    <a:pt x="0" y="35052"/>
                  </a:lnTo>
                  <a:lnTo>
                    <a:pt x="4572" y="35052"/>
                  </a:lnTo>
                  <a:lnTo>
                    <a:pt x="4572" y="9131"/>
                  </a:lnTo>
                  <a:close/>
                </a:path>
                <a:path w="993775" h="35559">
                  <a:moveTo>
                    <a:pt x="4572" y="0"/>
                  </a:moveTo>
                  <a:lnTo>
                    <a:pt x="0" y="0"/>
                  </a:lnTo>
                  <a:lnTo>
                    <a:pt x="0" y="4559"/>
                  </a:lnTo>
                  <a:lnTo>
                    <a:pt x="4572" y="4559"/>
                  </a:lnTo>
                  <a:lnTo>
                    <a:pt x="4572" y="0"/>
                  </a:lnTo>
                  <a:close/>
                </a:path>
                <a:path w="993775" h="35559">
                  <a:moveTo>
                    <a:pt x="89916" y="9131"/>
                  </a:moveTo>
                  <a:lnTo>
                    <a:pt x="85331" y="9131"/>
                  </a:lnTo>
                  <a:lnTo>
                    <a:pt x="85331" y="35052"/>
                  </a:lnTo>
                  <a:lnTo>
                    <a:pt x="89916" y="35052"/>
                  </a:lnTo>
                  <a:lnTo>
                    <a:pt x="89916" y="9131"/>
                  </a:lnTo>
                  <a:close/>
                </a:path>
                <a:path w="993775" h="35559">
                  <a:moveTo>
                    <a:pt x="89916" y="0"/>
                  </a:moveTo>
                  <a:lnTo>
                    <a:pt x="85331" y="0"/>
                  </a:lnTo>
                  <a:lnTo>
                    <a:pt x="85331" y="4559"/>
                  </a:lnTo>
                  <a:lnTo>
                    <a:pt x="89916" y="4559"/>
                  </a:lnTo>
                  <a:lnTo>
                    <a:pt x="89916" y="0"/>
                  </a:lnTo>
                  <a:close/>
                </a:path>
                <a:path w="993775" h="35559">
                  <a:moveTo>
                    <a:pt x="993635" y="9131"/>
                  </a:moveTo>
                  <a:lnTo>
                    <a:pt x="989063" y="9131"/>
                  </a:lnTo>
                  <a:lnTo>
                    <a:pt x="989063" y="35052"/>
                  </a:lnTo>
                  <a:lnTo>
                    <a:pt x="993635" y="35052"/>
                  </a:lnTo>
                  <a:lnTo>
                    <a:pt x="993635" y="9131"/>
                  </a:lnTo>
                  <a:close/>
                </a:path>
                <a:path w="993775" h="35559">
                  <a:moveTo>
                    <a:pt x="993635" y="0"/>
                  </a:moveTo>
                  <a:lnTo>
                    <a:pt x="989063" y="0"/>
                  </a:lnTo>
                  <a:lnTo>
                    <a:pt x="989063" y="4559"/>
                  </a:lnTo>
                  <a:lnTo>
                    <a:pt x="993635" y="4559"/>
                  </a:lnTo>
                  <a:lnTo>
                    <a:pt x="993635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57872" y="7042403"/>
              <a:ext cx="1588008" cy="105156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14388" y="6041135"/>
              <a:ext cx="1530096" cy="3352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92023" y="688848"/>
            <a:ext cx="4777740" cy="36830"/>
          </a:xfrm>
          <a:custGeom>
            <a:avLst/>
            <a:gdLst/>
            <a:ahLst/>
            <a:cxnLst/>
            <a:rect l="l" t="t" r="r" b="b"/>
            <a:pathLst>
              <a:path w="4777740" h="36829">
                <a:moveTo>
                  <a:pt x="4777740" y="36576"/>
                </a:moveTo>
                <a:lnTo>
                  <a:pt x="0" y="36576"/>
                </a:lnTo>
                <a:lnTo>
                  <a:pt x="0" y="0"/>
                </a:lnTo>
                <a:lnTo>
                  <a:pt x="4777740" y="0"/>
                </a:lnTo>
                <a:lnTo>
                  <a:pt x="4777740" y="36576"/>
                </a:lnTo>
                <a:close/>
              </a:path>
            </a:pathLst>
          </a:custGeom>
          <a:solidFill>
            <a:srgbClr val="9090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724660" y="339191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1732" y="3339084"/>
            <a:ext cx="1336548" cy="214883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417576" y="845820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5">
                <a:moveTo>
                  <a:pt x="39623" y="39623"/>
                </a:moveTo>
                <a:lnTo>
                  <a:pt x="0" y="39623"/>
                </a:lnTo>
                <a:lnTo>
                  <a:pt x="0" y="0"/>
                </a:lnTo>
                <a:lnTo>
                  <a:pt x="39623" y="0"/>
                </a:lnTo>
                <a:lnTo>
                  <a:pt x="39623" y="3962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17576" y="1072896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5">
                <a:moveTo>
                  <a:pt x="39623" y="39624"/>
                </a:moveTo>
                <a:lnTo>
                  <a:pt x="0" y="39624"/>
                </a:lnTo>
                <a:lnTo>
                  <a:pt x="0" y="0"/>
                </a:lnTo>
                <a:lnTo>
                  <a:pt x="39623" y="0"/>
                </a:lnTo>
                <a:lnTo>
                  <a:pt x="39623" y="3962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17576" y="1299972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5">
                <a:moveTo>
                  <a:pt x="39623" y="39624"/>
                </a:moveTo>
                <a:lnTo>
                  <a:pt x="0" y="39624"/>
                </a:lnTo>
                <a:lnTo>
                  <a:pt x="0" y="0"/>
                </a:lnTo>
                <a:lnTo>
                  <a:pt x="39623" y="0"/>
                </a:lnTo>
                <a:lnTo>
                  <a:pt x="39623" y="3962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17576" y="1684020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5">
                <a:moveTo>
                  <a:pt x="39623" y="39624"/>
                </a:moveTo>
                <a:lnTo>
                  <a:pt x="0" y="39624"/>
                </a:lnTo>
                <a:lnTo>
                  <a:pt x="0" y="0"/>
                </a:lnTo>
                <a:lnTo>
                  <a:pt x="39623" y="0"/>
                </a:lnTo>
                <a:lnTo>
                  <a:pt x="39623" y="3962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394203" y="452149"/>
            <a:ext cx="4494530" cy="17970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Read Only</a:t>
            </a:r>
            <a:r>
              <a:rPr dirty="0" sz="12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r>
              <a:rPr dirty="0" sz="12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1A1A1A"/>
                </a:solidFill>
                <a:latin typeface="Arial MT"/>
                <a:cs typeface="Arial MT"/>
              </a:rPr>
              <a:t>(ROM)</a:t>
            </a:r>
            <a:endParaRPr sz="1200">
              <a:latin typeface="Arial MT"/>
              <a:cs typeface="Arial MT"/>
            </a:endParaRPr>
          </a:p>
          <a:p>
            <a:pPr marL="173990" marR="5080">
              <a:lnSpc>
                <a:spcPct val="149000"/>
              </a:lnSpc>
              <a:spcBef>
                <a:spcPts val="500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Contains</a:t>
            </a:r>
            <a:r>
              <a:rPr dirty="0" sz="100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dirty="0" sz="10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permanent</a:t>
            </a:r>
            <a:r>
              <a:rPr dirty="0" sz="100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pattern</a:t>
            </a:r>
            <a:r>
              <a:rPr dirty="0" sz="100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that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cannot</a:t>
            </a:r>
            <a:r>
              <a:rPr dirty="0" sz="10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be</a:t>
            </a:r>
            <a:r>
              <a:rPr dirty="0" sz="1000" spc="4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changed</a:t>
            </a:r>
            <a:r>
              <a:rPr dirty="0" sz="1000" spc="9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or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added</a:t>
            </a:r>
            <a:r>
              <a:rPr dirty="0" sz="100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1A1A1A"/>
                </a:solidFill>
                <a:latin typeface="Arial MT"/>
                <a:cs typeface="Arial MT"/>
              </a:rPr>
              <a:t>to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No</a:t>
            </a:r>
            <a:r>
              <a:rPr dirty="0" sz="10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power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source</a:t>
            </a:r>
            <a:r>
              <a:rPr dirty="0" sz="100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required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maintain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10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bit</a:t>
            </a:r>
            <a:r>
              <a:rPr dirty="0" sz="10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values</a:t>
            </a:r>
            <a:r>
              <a:rPr dirty="0" sz="10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dirty="0" sz="10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endParaRPr sz="1000">
              <a:latin typeface="Arial MT"/>
              <a:cs typeface="Arial MT"/>
            </a:endParaRPr>
          </a:p>
          <a:p>
            <a:pPr marL="173990" marR="170180">
              <a:lnSpc>
                <a:spcPct val="102000"/>
              </a:lnSpc>
              <a:spcBef>
                <a:spcPts val="565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or</a:t>
            </a:r>
            <a:r>
              <a:rPr dirty="0" sz="10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program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100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permanently</a:t>
            </a:r>
            <a:r>
              <a:rPr dirty="0" sz="10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main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r>
              <a:rPr dirty="0" sz="10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never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needs</a:t>
            </a:r>
            <a:r>
              <a:rPr dirty="0" sz="10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1A1A1A"/>
                </a:solidFill>
                <a:latin typeface="Arial MT"/>
                <a:cs typeface="Arial MT"/>
              </a:rPr>
              <a:t>be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loaded</a:t>
            </a:r>
            <a:r>
              <a:rPr dirty="0" sz="1000" spc="9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from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secondary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storage</a:t>
            </a:r>
            <a:r>
              <a:rPr dirty="0" sz="1000" spc="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device</a:t>
            </a:r>
            <a:endParaRPr sz="1000">
              <a:latin typeface="Arial MT"/>
              <a:cs typeface="Arial MT"/>
            </a:endParaRPr>
          </a:p>
          <a:p>
            <a:pPr marL="173990">
              <a:lnSpc>
                <a:spcPct val="100000"/>
              </a:lnSpc>
              <a:spcBef>
                <a:spcPts val="600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10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actually</a:t>
            </a:r>
            <a:r>
              <a:rPr dirty="0" sz="1000" spc="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wired</a:t>
            </a:r>
            <a:r>
              <a:rPr dirty="0" sz="1000" spc="9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into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10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chip</a:t>
            </a:r>
            <a:r>
              <a:rPr dirty="0" sz="10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as</a:t>
            </a:r>
            <a:r>
              <a:rPr dirty="0" sz="100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part</a:t>
            </a:r>
            <a:r>
              <a:rPr dirty="0" sz="10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10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fabrication</a:t>
            </a:r>
            <a:r>
              <a:rPr dirty="0" sz="10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process</a:t>
            </a:r>
            <a:endParaRPr sz="1000">
              <a:latin typeface="Arial MT"/>
              <a:cs typeface="Arial MT"/>
            </a:endParaRPr>
          </a:p>
          <a:p>
            <a:pPr marL="358140" indent="-132080">
              <a:lnSpc>
                <a:spcPct val="100000"/>
              </a:lnSpc>
              <a:spcBef>
                <a:spcPts val="250"/>
              </a:spcBef>
              <a:buChar char="•"/>
              <a:tabLst>
                <a:tab pos="358140" algn="l"/>
              </a:tabLst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Disadvantages of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this:</a:t>
            </a:r>
            <a:endParaRPr sz="1000">
              <a:latin typeface="Arial MT"/>
              <a:cs typeface="Arial MT"/>
            </a:endParaRPr>
          </a:p>
          <a:p>
            <a:pPr lvl="1" marL="546100" indent="-106680">
              <a:lnSpc>
                <a:spcPct val="100000"/>
              </a:lnSpc>
              <a:spcBef>
                <a:spcPts val="180"/>
              </a:spcBef>
              <a:buChar char="–"/>
              <a:tabLst>
                <a:tab pos="546100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No</a:t>
            </a:r>
            <a:r>
              <a:rPr dirty="0" sz="7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room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for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error,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if</a:t>
            </a:r>
            <a:r>
              <a:rPr dirty="0" sz="7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one</a:t>
            </a:r>
            <a:r>
              <a:rPr dirty="0" sz="7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bit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7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wrong</a:t>
            </a:r>
            <a:r>
              <a:rPr dirty="0" sz="75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750" spc="-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whole</a:t>
            </a:r>
            <a:r>
              <a:rPr dirty="0" sz="7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batch</a:t>
            </a:r>
            <a:r>
              <a:rPr dirty="0" sz="7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7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ROMs must</a:t>
            </a:r>
            <a:r>
              <a:rPr dirty="0" sz="7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be</a:t>
            </a:r>
            <a:r>
              <a:rPr dirty="0" sz="7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thrown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1A1A1A"/>
                </a:solidFill>
                <a:latin typeface="Arial MT"/>
                <a:cs typeface="Arial MT"/>
              </a:rPr>
              <a:t>out</a:t>
            </a:r>
            <a:endParaRPr sz="750">
              <a:latin typeface="Arial MT"/>
              <a:cs typeface="Arial MT"/>
            </a:endParaRPr>
          </a:p>
          <a:p>
            <a:pPr lvl="1" marL="546100" indent="-106680">
              <a:lnSpc>
                <a:spcPct val="100000"/>
              </a:lnSpc>
              <a:spcBef>
                <a:spcPts val="180"/>
              </a:spcBef>
              <a:buChar char="–"/>
              <a:tabLst>
                <a:tab pos="546100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dirty="0" sz="75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insertion</a:t>
            </a:r>
            <a:r>
              <a:rPr dirty="0" sz="7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step</a:t>
            </a:r>
            <a:r>
              <a:rPr dirty="0" sz="7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includes</a:t>
            </a:r>
            <a:r>
              <a:rPr dirty="0" sz="7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a relatively</a:t>
            </a:r>
            <a:r>
              <a:rPr dirty="0" sz="7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large</a:t>
            </a:r>
            <a:r>
              <a:rPr dirty="0" sz="75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fixed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20">
                <a:solidFill>
                  <a:srgbClr val="1A1A1A"/>
                </a:solidFill>
                <a:latin typeface="Arial MT"/>
                <a:cs typeface="Arial MT"/>
              </a:rPr>
              <a:t>cost</a:t>
            </a:r>
            <a:endParaRPr sz="750">
              <a:latin typeface="Arial MT"/>
              <a:cs typeface="Arial MT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5378196" y="364489"/>
          <a:ext cx="5201920" cy="3195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77105"/>
                <a:gridCol w="340995"/>
              </a:tblGrid>
              <a:tr h="338455">
                <a:tc>
                  <a:txBody>
                    <a:bodyPr/>
                    <a:lstStyle/>
                    <a:p>
                      <a:pPr marL="21399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12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Programmable</a:t>
                      </a:r>
                      <a:r>
                        <a:rPr dirty="0" sz="12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ROM</a:t>
                      </a:r>
                      <a:r>
                        <a:rPr dirty="0" sz="1200" spc="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(PROM)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9779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90909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857500">
                <a:tc gridSpan="2">
                  <a:txBody>
                    <a:bodyPr/>
                    <a:lstStyle/>
                    <a:p>
                      <a:pPr marL="37528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Less</a:t>
                      </a:r>
                      <a:r>
                        <a:rPr dirty="0" sz="1000" spc="9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expensive</a:t>
                      </a:r>
                      <a:r>
                        <a:rPr dirty="0" sz="1000" spc="9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alternative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37528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Nonvolatile</a:t>
                      </a:r>
                      <a:r>
                        <a:rPr dirty="0" sz="1000" spc="8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000" spc="5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may</a:t>
                      </a:r>
                      <a:r>
                        <a:rPr dirty="0" sz="1000" spc="4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000" spc="7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written</a:t>
                      </a:r>
                      <a:r>
                        <a:rPr dirty="0" sz="1000" spc="8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into</a:t>
                      </a:r>
                      <a:r>
                        <a:rPr dirty="0" sz="1000" spc="4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only</a:t>
                      </a:r>
                      <a:r>
                        <a:rPr dirty="0" sz="1000" spc="7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once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375285" marR="251460">
                        <a:lnSpc>
                          <a:spcPct val="102000"/>
                        </a:lnSpc>
                        <a:spcBef>
                          <a:spcPts val="560"/>
                        </a:spcBef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Writing</a:t>
                      </a:r>
                      <a:r>
                        <a:rPr dirty="0" sz="1000" spc="6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process</a:t>
                      </a:r>
                      <a:r>
                        <a:rPr dirty="0" sz="1000" spc="6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000" spc="7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performed</a:t>
                      </a:r>
                      <a:r>
                        <a:rPr dirty="0" sz="1000" spc="9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electrically</a:t>
                      </a:r>
                      <a:r>
                        <a:rPr dirty="0" sz="1000" spc="6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000" spc="8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may</a:t>
                      </a:r>
                      <a:r>
                        <a:rPr dirty="0" sz="1000" spc="7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000" spc="6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performed</a:t>
                      </a:r>
                      <a:r>
                        <a:rPr dirty="0" sz="1000" spc="8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1000" spc="7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supplier</a:t>
                      </a:r>
                      <a:r>
                        <a:rPr dirty="0" sz="1000" spc="6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or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customer</a:t>
                      </a:r>
                      <a:r>
                        <a:rPr dirty="0" sz="1000" spc="4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at</a:t>
                      </a:r>
                      <a:r>
                        <a:rPr dirty="0" sz="1000" spc="6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000" spc="4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time</a:t>
                      </a:r>
                      <a:r>
                        <a:rPr dirty="0" sz="1000" spc="7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later</a:t>
                      </a:r>
                      <a:r>
                        <a:rPr dirty="0" sz="1000" spc="7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than</a:t>
                      </a:r>
                      <a:r>
                        <a:rPr dirty="0" sz="1000" spc="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000" spc="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original</a:t>
                      </a:r>
                      <a:r>
                        <a:rPr dirty="0" sz="1000" spc="7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chip</a:t>
                      </a:r>
                      <a:r>
                        <a:rPr dirty="0" sz="1000" spc="5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fabrication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375285" marR="1693545">
                        <a:lnSpc>
                          <a:spcPct val="149000"/>
                        </a:lnSpc>
                        <a:spcBef>
                          <a:spcPts val="15"/>
                        </a:spcBef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Special</a:t>
                      </a:r>
                      <a:r>
                        <a:rPr dirty="0" sz="1000" spc="6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equipment</a:t>
                      </a:r>
                      <a:r>
                        <a:rPr dirty="0" sz="1000" spc="8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000" spc="6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required</a:t>
                      </a:r>
                      <a:r>
                        <a:rPr dirty="0" sz="1000" spc="8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000" spc="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000" spc="7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writing</a:t>
                      </a:r>
                      <a:r>
                        <a:rPr dirty="0" sz="1000" spc="8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process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Provides</a:t>
                      </a:r>
                      <a:r>
                        <a:rPr dirty="0" sz="1000" spc="8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flexibility</a:t>
                      </a:r>
                      <a:r>
                        <a:rPr dirty="0" sz="1000" spc="8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000" spc="7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convenience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37528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Attractive</a:t>
                      </a:r>
                      <a:r>
                        <a:rPr dirty="0" sz="1000" spc="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000" spc="7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high</a:t>
                      </a:r>
                      <a:r>
                        <a:rPr dirty="0" sz="1000" spc="1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volume</a:t>
                      </a:r>
                      <a:r>
                        <a:rPr dirty="0" sz="1000" spc="1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production</a:t>
                      </a:r>
                      <a:r>
                        <a:rPr dirty="0" sz="1000" spc="1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runs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reproduced</a:t>
                      </a:r>
                      <a:r>
                        <a:rPr dirty="0" sz="350" spc="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based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on</a:t>
                      </a:r>
                      <a:r>
                        <a:rPr dirty="0" sz="350" spc="6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Computer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Organization</a:t>
                      </a:r>
                      <a:r>
                        <a:rPr dirty="0" sz="350" spc="26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350" spc="6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Architecture,</a:t>
                      </a:r>
                      <a:r>
                        <a:rPr dirty="0" sz="350" spc="8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9ed(by</a:t>
                      </a:r>
                      <a:r>
                        <a:rPr dirty="0" sz="350" spc="6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W.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Stallings)</a:t>
                      </a:r>
                      <a:endParaRPr sz="3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6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2013</a:t>
                      </a:r>
                      <a:r>
                        <a:rPr dirty="0" sz="350" spc="6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Computer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Organization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Architecture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800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0952" y="3339084"/>
            <a:ext cx="1335023" cy="214883"/>
          </a:xfrm>
          <a:prstGeom prst="rect">
            <a:avLst/>
          </a:prstGeom>
        </p:spPr>
      </p:pic>
      <p:sp>
        <p:nvSpPr>
          <p:cNvPr id="12" name="object 12" descr=""/>
          <p:cNvSpPr/>
          <p:nvPr/>
        </p:nvSpPr>
        <p:spPr>
          <a:xfrm>
            <a:off x="5606796" y="845820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5">
                <a:moveTo>
                  <a:pt x="39623" y="39623"/>
                </a:moveTo>
                <a:lnTo>
                  <a:pt x="0" y="39623"/>
                </a:lnTo>
                <a:lnTo>
                  <a:pt x="0" y="0"/>
                </a:lnTo>
                <a:lnTo>
                  <a:pt x="39623" y="0"/>
                </a:lnTo>
                <a:lnTo>
                  <a:pt x="39623" y="3962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606796" y="1072896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5">
                <a:moveTo>
                  <a:pt x="39623" y="39624"/>
                </a:moveTo>
                <a:lnTo>
                  <a:pt x="0" y="39624"/>
                </a:lnTo>
                <a:lnTo>
                  <a:pt x="0" y="0"/>
                </a:lnTo>
                <a:lnTo>
                  <a:pt x="39623" y="0"/>
                </a:lnTo>
                <a:lnTo>
                  <a:pt x="39623" y="3962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5606796" y="1299972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5">
                <a:moveTo>
                  <a:pt x="39623" y="39624"/>
                </a:moveTo>
                <a:lnTo>
                  <a:pt x="0" y="39624"/>
                </a:lnTo>
                <a:lnTo>
                  <a:pt x="0" y="0"/>
                </a:lnTo>
                <a:lnTo>
                  <a:pt x="39623" y="0"/>
                </a:lnTo>
                <a:lnTo>
                  <a:pt x="39623" y="3962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5606796" y="1684020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5">
                <a:moveTo>
                  <a:pt x="39623" y="39624"/>
                </a:moveTo>
                <a:lnTo>
                  <a:pt x="0" y="39624"/>
                </a:lnTo>
                <a:lnTo>
                  <a:pt x="0" y="0"/>
                </a:lnTo>
                <a:lnTo>
                  <a:pt x="39623" y="0"/>
                </a:lnTo>
                <a:lnTo>
                  <a:pt x="39623" y="3962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5606796" y="1911095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5">
                <a:moveTo>
                  <a:pt x="39623" y="39624"/>
                </a:moveTo>
                <a:lnTo>
                  <a:pt x="0" y="39624"/>
                </a:lnTo>
                <a:lnTo>
                  <a:pt x="0" y="0"/>
                </a:lnTo>
                <a:lnTo>
                  <a:pt x="39623" y="0"/>
                </a:lnTo>
                <a:lnTo>
                  <a:pt x="39623" y="3962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5606796" y="2139695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5">
                <a:moveTo>
                  <a:pt x="39623" y="39624"/>
                </a:moveTo>
                <a:lnTo>
                  <a:pt x="0" y="39624"/>
                </a:lnTo>
                <a:lnTo>
                  <a:pt x="0" y="0"/>
                </a:lnTo>
                <a:lnTo>
                  <a:pt x="39623" y="0"/>
                </a:lnTo>
                <a:lnTo>
                  <a:pt x="39623" y="3962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 descr=""/>
          <p:cNvGrpSpPr/>
          <p:nvPr/>
        </p:nvGrpSpPr>
        <p:grpSpPr>
          <a:xfrm>
            <a:off x="188976" y="3991610"/>
            <a:ext cx="5125720" cy="3204210"/>
            <a:chOff x="188976" y="3991610"/>
            <a:chExt cx="5125720" cy="3204210"/>
          </a:xfrm>
        </p:grpSpPr>
        <p:sp>
          <p:nvSpPr>
            <p:cNvPr id="19" name="object 19" descr=""/>
            <p:cNvSpPr/>
            <p:nvPr/>
          </p:nvSpPr>
          <p:spPr>
            <a:xfrm>
              <a:off x="18896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604" y="0"/>
                  </a:lnTo>
                  <a:lnTo>
                    <a:pt x="5117604" y="7620"/>
                  </a:lnTo>
                  <a:lnTo>
                    <a:pt x="5117604" y="3196590"/>
                  </a:lnTo>
                  <a:lnTo>
                    <a:pt x="7632" y="3196590"/>
                  </a:lnTo>
                  <a:lnTo>
                    <a:pt x="7632" y="3197098"/>
                  </a:lnTo>
                  <a:lnTo>
                    <a:pt x="4584" y="3197098"/>
                  </a:lnTo>
                  <a:lnTo>
                    <a:pt x="4584" y="3196590"/>
                  </a:lnTo>
                  <a:lnTo>
                    <a:pt x="7632" y="3196590"/>
                  </a:lnTo>
                  <a:lnTo>
                    <a:pt x="7632" y="7620"/>
                  </a:lnTo>
                  <a:lnTo>
                    <a:pt x="5117604" y="7620"/>
                  </a:lnTo>
                  <a:lnTo>
                    <a:pt x="5117604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92024" y="4315968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172466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737616" y="4471415"/>
            <a:ext cx="4551045" cy="2708275"/>
            <a:chOff x="737616" y="4471415"/>
            <a:chExt cx="4551045" cy="2708275"/>
          </a:xfrm>
        </p:grpSpPr>
        <p:pic>
          <p:nvPicPr>
            <p:cNvPr id="23" name="object 2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51732" y="6966203"/>
              <a:ext cx="1336548" cy="213360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7616" y="4471415"/>
              <a:ext cx="1310639" cy="2424327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760475" y="4482083"/>
              <a:ext cx="1263650" cy="2380615"/>
            </a:xfrm>
            <a:custGeom>
              <a:avLst/>
              <a:gdLst/>
              <a:ahLst/>
              <a:cxnLst/>
              <a:rect l="l" t="t" r="r" b="b"/>
              <a:pathLst>
                <a:path w="1263650" h="2380615">
                  <a:moveTo>
                    <a:pt x="1136904" y="2380487"/>
                  </a:moveTo>
                  <a:lnTo>
                    <a:pt x="126491" y="2380487"/>
                  </a:lnTo>
                  <a:lnTo>
                    <a:pt x="77795" y="2370581"/>
                  </a:lnTo>
                  <a:lnTo>
                    <a:pt x="37528" y="2343531"/>
                  </a:lnTo>
                  <a:lnTo>
                    <a:pt x="10120" y="2303335"/>
                  </a:lnTo>
                  <a:lnTo>
                    <a:pt x="0" y="2253996"/>
                  </a:lnTo>
                  <a:lnTo>
                    <a:pt x="0" y="126492"/>
                  </a:lnTo>
                  <a:lnTo>
                    <a:pt x="10120" y="77152"/>
                  </a:lnTo>
                  <a:lnTo>
                    <a:pt x="37528" y="36957"/>
                  </a:lnTo>
                  <a:lnTo>
                    <a:pt x="77795" y="9906"/>
                  </a:lnTo>
                  <a:lnTo>
                    <a:pt x="126491" y="0"/>
                  </a:lnTo>
                  <a:lnTo>
                    <a:pt x="1136904" y="0"/>
                  </a:lnTo>
                  <a:lnTo>
                    <a:pt x="1186243" y="9906"/>
                  </a:lnTo>
                  <a:lnTo>
                    <a:pt x="1226439" y="36957"/>
                  </a:lnTo>
                  <a:lnTo>
                    <a:pt x="1253489" y="77152"/>
                  </a:lnTo>
                  <a:lnTo>
                    <a:pt x="1263395" y="126492"/>
                  </a:lnTo>
                  <a:lnTo>
                    <a:pt x="1263395" y="2253996"/>
                  </a:lnTo>
                  <a:lnTo>
                    <a:pt x="1253489" y="2303335"/>
                  </a:lnTo>
                  <a:lnTo>
                    <a:pt x="1226438" y="2343531"/>
                  </a:lnTo>
                  <a:lnTo>
                    <a:pt x="1186243" y="2370581"/>
                  </a:lnTo>
                  <a:lnTo>
                    <a:pt x="1136904" y="2380487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200" y="4623815"/>
              <a:ext cx="1124712" cy="487680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394203" y="4079179"/>
            <a:ext cx="148971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Read-Mostly</a:t>
            </a:r>
            <a:r>
              <a:rPr dirty="0" sz="12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962685" y="4669085"/>
            <a:ext cx="862330" cy="2984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50" spc="-10">
                <a:latin typeface="Arial MT"/>
                <a:cs typeface="Arial MT"/>
              </a:rPr>
              <a:t>EPROM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864108" y="5184648"/>
            <a:ext cx="1057910" cy="515620"/>
            <a:chOff x="864108" y="5184648"/>
            <a:chExt cx="1057910" cy="515620"/>
          </a:xfrm>
        </p:grpSpPr>
        <p:pic>
          <p:nvPicPr>
            <p:cNvPr id="30" name="object 3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4108" y="5184648"/>
              <a:ext cx="1057655" cy="515111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6968" y="5196839"/>
              <a:ext cx="1010411" cy="466344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3356" y="5324855"/>
              <a:ext cx="925068" cy="156972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92124" y="5364480"/>
              <a:ext cx="803147" cy="65531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40891" y="5398007"/>
              <a:ext cx="150875" cy="156972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88720" y="5398007"/>
              <a:ext cx="27431" cy="158496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84732" y="5398007"/>
              <a:ext cx="467867" cy="156972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13104" y="5398007"/>
              <a:ext cx="73151" cy="156972"/>
            </a:xfrm>
            <a:prstGeom prst="rect">
              <a:avLst/>
            </a:prstGeom>
          </p:spPr>
        </p:pic>
      </p:grpSp>
      <p:sp>
        <p:nvSpPr>
          <p:cNvPr id="38" name="object 38" descr=""/>
          <p:cNvSpPr txBox="1"/>
          <p:nvPr/>
        </p:nvSpPr>
        <p:spPr>
          <a:xfrm>
            <a:off x="974852" y="5333492"/>
            <a:ext cx="834390" cy="18288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09855" marR="5080" indent="-97790">
              <a:lnSpc>
                <a:spcPts val="580"/>
              </a:lnSpc>
              <a:spcBef>
                <a:spcPts val="185"/>
              </a:spcBef>
            </a:pP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Erasable</a:t>
            </a:r>
            <a:r>
              <a:rPr dirty="0" sz="550" spc="5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E9E9E9"/>
                </a:solidFill>
                <a:latin typeface="Arial"/>
                <a:cs typeface="Arial"/>
              </a:rPr>
              <a:t>programmable</a:t>
            </a:r>
            <a:r>
              <a:rPr dirty="0" sz="550" spc="50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read-only</a:t>
            </a:r>
            <a:r>
              <a:rPr dirty="0" sz="550" spc="2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E9E9E9"/>
                </a:solidFill>
                <a:latin typeface="Arial"/>
                <a:cs typeface="Arial"/>
              </a:rPr>
              <a:t>memory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864108" y="5725667"/>
            <a:ext cx="1057910" cy="515620"/>
            <a:chOff x="864108" y="5725667"/>
            <a:chExt cx="1057910" cy="515620"/>
          </a:xfrm>
        </p:grpSpPr>
        <p:pic>
          <p:nvPicPr>
            <p:cNvPr id="40" name="object 4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64108" y="5725667"/>
              <a:ext cx="1057655" cy="515112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86968" y="5736335"/>
              <a:ext cx="1010411" cy="467867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46404" y="5864352"/>
              <a:ext cx="917447" cy="156971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86027" y="5937503"/>
              <a:ext cx="819912" cy="158496"/>
            </a:xfrm>
            <a:prstGeom prst="rect">
              <a:avLst/>
            </a:prstGeom>
          </p:spPr>
        </p:pic>
      </p:grpSp>
      <p:sp>
        <p:nvSpPr>
          <p:cNvPr id="44" name="object 44" descr=""/>
          <p:cNvSpPr txBox="1"/>
          <p:nvPr/>
        </p:nvSpPr>
        <p:spPr>
          <a:xfrm>
            <a:off x="977900" y="5872988"/>
            <a:ext cx="826135" cy="18288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52069" marR="5080" indent="-40005">
              <a:lnSpc>
                <a:spcPts val="580"/>
              </a:lnSpc>
              <a:spcBef>
                <a:spcPts val="185"/>
              </a:spcBef>
            </a:pP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Erasure</a:t>
            </a:r>
            <a:r>
              <a:rPr dirty="0" sz="550" spc="2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process</a:t>
            </a:r>
            <a:r>
              <a:rPr dirty="0" sz="550" spc="4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can</a:t>
            </a:r>
            <a:r>
              <a:rPr dirty="0" sz="550" spc="4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25" b="1">
                <a:solidFill>
                  <a:srgbClr val="E9E9E9"/>
                </a:solidFill>
                <a:latin typeface="Arial"/>
                <a:cs typeface="Arial"/>
              </a:rPr>
              <a:t>be</a:t>
            </a:r>
            <a:r>
              <a:rPr dirty="0" sz="550" spc="50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performed</a:t>
            </a:r>
            <a:r>
              <a:rPr dirty="0" sz="550" spc="2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E9E9E9"/>
                </a:solidFill>
                <a:latin typeface="Arial"/>
                <a:cs typeface="Arial"/>
              </a:rPr>
              <a:t>repeatedly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856487" y="6265164"/>
            <a:ext cx="1097280" cy="515620"/>
            <a:chOff x="856487" y="6265164"/>
            <a:chExt cx="1097280" cy="515620"/>
          </a:xfrm>
        </p:grpSpPr>
        <p:pic>
          <p:nvPicPr>
            <p:cNvPr id="46" name="object 46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56487" y="6265164"/>
              <a:ext cx="1097279" cy="515112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79347" y="6330696"/>
              <a:ext cx="1053084" cy="413003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86967" y="6332219"/>
              <a:ext cx="1010411" cy="155448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97635" y="6487668"/>
              <a:ext cx="124968" cy="74675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789175" y="6403848"/>
              <a:ext cx="124968" cy="158495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97635" y="6403848"/>
              <a:ext cx="999743" cy="105155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21079" y="6487668"/>
              <a:ext cx="768095" cy="147827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21079" y="6477000"/>
              <a:ext cx="769620" cy="32003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1021841" y="6477000"/>
              <a:ext cx="0" cy="13970"/>
            </a:xfrm>
            <a:custGeom>
              <a:avLst/>
              <a:gdLst/>
              <a:ahLst/>
              <a:cxnLst/>
              <a:rect l="l" t="t" r="r" b="b"/>
              <a:pathLst>
                <a:path w="0" h="13970">
                  <a:moveTo>
                    <a:pt x="0" y="1371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9E9E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33271" y="6477000"/>
              <a:ext cx="757427" cy="105155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184147" y="6550151"/>
              <a:ext cx="446531" cy="160019"/>
            </a:xfrm>
            <a:prstGeom prst="rect">
              <a:avLst/>
            </a:prstGeom>
          </p:spPr>
        </p:pic>
      </p:grpSp>
      <p:sp>
        <p:nvSpPr>
          <p:cNvPr id="57" name="object 57" descr=""/>
          <p:cNvSpPr txBox="1"/>
          <p:nvPr/>
        </p:nvSpPr>
        <p:spPr>
          <a:xfrm>
            <a:off x="910844" y="6337808"/>
            <a:ext cx="960755" cy="33083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ctr" marL="12700" marR="5080">
              <a:lnSpc>
                <a:spcPct val="87900"/>
              </a:lnSpc>
              <a:spcBef>
                <a:spcPts val="180"/>
              </a:spcBef>
            </a:pP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More</a:t>
            </a:r>
            <a:r>
              <a:rPr dirty="0" sz="550" spc="1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expensive</a:t>
            </a:r>
            <a:r>
              <a:rPr dirty="0" sz="550" spc="4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than</a:t>
            </a:r>
            <a:r>
              <a:rPr dirty="0" sz="550" spc="3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20" b="1">
                <a:solidFill>
                  <a:srgbClr val="E9E9E9"/>
                </a:solidFill>
                <a:latin typeface="Arial"/>
                <a:cs typeface="Arial"/>
              </a:rPr>
              <a:t>PROM</a:t>
            </a:r>
            <a:r>
              <a:rPr dirty="0" sz="550" spc="50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but</a:t>
            </a:r>
            <a:r>
              <a:rPr dirty="0" sz="550" spc="1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it</a:t>
            </a:r>
            <a:r>
              <a:rPr dirty="0" sz="550" spc="2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has</a:t>
            </a:r>
            <a:r>
              <a:rPr dirty="0" sz="550" spc="1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the advantage</a:t>
            </a:r>
            <a:r>
              <a:rPr dirty="0" sz="550" spc="2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35" b="1">
                <a:solidFill>
                  <a:srgbClr val="E9E9E9"/>
                </a:solidFill>
                <a:latin typeface="Arial"/>
                <a:cs typeface="Arial"/>
              </a:rPr>
              <a:t>of</a:t>
            </a:r>
            <a:r>
              <a:rPr dirty="0" sz="550" spc="50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the</a:t>
            </a:r>
            <a:r>
              <a:rPr dirty="0" sz="550" spc="2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multiple</a:t>
            </a:r>
            <a:r>
              <a:rPr dirty="0" sz="550" spc="1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E9E9E9"/>
                </a:solidFill>
                <a:latin typeface="Arial"/>
                <a:cs typeface="Arial"/>
              </a:rPr>
              <a:t>update</a:t>
            </a:r>
            <a:r>
              <a:rPr dirty="0" sz="550" spc="50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E9E9E9"/>
                </a:solidFill>
                <a:latin typeface="Arial"/>
                <a:cs typeface="Arial"/>
              </a:rPr>
              <a:t>capability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2095500" y="4471415"/>
            <a:ext cx="1325880" cy="2428240"/>
            <a:chOff x="2095500" y="4471415"/>
            <a:chExt cx="1325880" cy="2428240"/>
          </a:xfrm>
        </p:grpSpPr>
        <p:pic>
          <p:nvPicPr>
            <p:cNvPr id="59" name="object 59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095500" y="4471415"/>
              <a:ext cx="1325880" cy="2427732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2118359" y="4482083"/>
              <a:ext cx="1263650" cy="2380615"/>
            </a:xfrm>
            <a:custGeom>
              <a:avLst/>
              <a:gdLst/>
              <a:ahLst/>
              <a:cxnLst/>
              <a:rect l="l" t="t" r="r" b="b"/>
              <a:pathLst>
                <a:path w="1263650" h="2380615">
                  <a:moveTo>
                    <a:pt x="1136904" y="2380487"/>
                  </a:moveTo>
                  <a:lnTo>
                    <a:pt x="126491" y="2380487"/>
                  </a:lnTo>
                  <a:lnTo>
                    <a:pt x="77152" y="2370581"/>
                  </a:lnTo>
                  <a:lnTo>
                    <a:pt x="36956" y="2343531"/>
                  </a:lnTo>
                  <a:lnTo>
                    <a:pt x="9905" y="2303335"/>
                  </a:lnTo>
                  <a:lnTo>
                    <a:pt x="0" y="2253996"/>
                  </a:lnTo>
                  <a:lnTo>
                    <a:pt x="0" y="126492"/>
                  </a:lnTo>
                  <a:lnTo>
                    <a:pt x="9905" y="77152"/>
                  </a:lnTo>
                  <a:lnTo>
                    <a:pt x="36956" y="36957"/>
                  </a:lnTo>
                  <a:lnTo>
                    <a:pt x="77152" y="9906"/>
                  </a:lnTo>
                  <a:lnTo>
                    <a:pt x="126491" y="0"/>
                  </a:lnTo>
                  <a:lnTo>
                    <a:pt x="1136904" y="0"/>
                  </a:lnTo>
                  <a:lnTo>
                    <a:pt x="1186243" y="9906"/>
                  </a:lnTo>
                  <a:lnTo>
                    <a:pt x="1226439" y="36957"/>
                  </a:lnTo>
                  <a:lnTo>
                    <a:pt x="1253489" y="77152"/>
                  </a:lnTo>
                  <a:lnTo>
                    <a:pt x="1263395" y="126492"/>
                  </a:lnTo>
                  <a:lnTo>
                    <a:pt x="1263395" y="2253996"/>
                  </a:lnTo>
                  <a:lnTo>
                    <a:pt x="1253489" y="2303335"/>
                  </a:lnTo>
                  <a:lnTo>
                    <a:pt x="1226438" y="2343531"/>
                  </a:lnTo>
                  <a:lnTo>
                    <a:pt x="1186243" y="2370581"/>
                  </a:lnTo>
                  <a:lnTo>
                    <a:pt x="1136904" y="2380487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119883" y="4623815"/>
              <a:ext cx="1277112" cy="487680"/>
            </a:xfrm>
            <a:prstGeom prst="rect">
              <a:avLst/>
            </a:prstGeom>
          </p:spPr>
        </p:pic>
      </p:grpSp>
      <p:sp>
        <p:nvSpPr>
          <p:cNvPr id="62" name="object 62" descr=""/>
          <p:cNvSpPr txBox="1"/>
          <p:nvPr/>
        </p:nvSpPr>
        <p:spPr>
          <a:xfrm>
            <a:off x="2244314" y="4669085"/>
            <a:ext cx="1012190" cy="2984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50" spc="-10">
                <a:latin typeface="Arial MT"/>
                <a:cs typeface="Arial MT"/>
              </a:rPr>
              <a:t>EEPROM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63" name="object 63" descr=""/>
          <p:cNvGrpSpPr/>
          <p:nvPr/>
        </p:nvGrpSpPr>
        <p:grpSpPr>
          <a:xfrm>
            <a:off x="2220467" y="5184648"/>
            <a:ext cx="1059180" cy="394970"/>
            <a:chOff x="2220467" y="5184648"/>
            <a:chExt cx="1059180" cy="394970"/>
          </a:xfrm>
        </p:grpSpPr>
        <p:pic>
          <p:nvPicPr>
            <p:cNvPr id="64" name="object 64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220467" y="5184648"/>
              <a:ext cx="1059180" cy="394716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267712" y="5218176"/>
              <a:ext cx="993647" cy="348995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244851" y="5196839"/>
              <a:ext cx="1010412" cy="345948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365248" y="5227320"/>
              <a:ext cx="798575" cy="74675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290571" y="5301996"/>
              <a:ext cx="662939" cy="156971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339340" y="5341620"/>
              <a:ext cx="614171" cy="117348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951988" y="5301996"/>
              <a:ext cx="27431" cy="156971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072383" y="5301996"/>
              <a:ext cx="166116" cy="156971"/>
            </a:xfrm>
            <a:prstGeom prst="rect">
              <a:avLst/>
            </a:prstGeom>
          </p:spPr>
        </p:pic>
        <p:pic>
          <p:nvPicPr>
            <p:cNvPr id="72" name="object 72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048000" y="5300472"/>
              <a:ext cx="115824" cy="158496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976372" y="5300472"/>
              <a:ext cx="73151" cy="158496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567940" y="5373623"/>
              <a:ext cx="373379" cy="158496"/>
            </a:xfrm>
            <a:prstGeom prst="rect">
              <a:avLst/>
            </a:prstGeom>
          </p:spPr>
        </p:pic>
      </p:grpSp>
      <p:sp>
        <p:nvSpPr>
          <p:cNvPr id="75" name="object 75" descr=""/>
          <p:cNvSpPr txBox="1"/>
          <p:nvPr/>
        </p:nvSpPr>
        <p:spPr>
          <a:xfrm>
            <a:off x="2322067" y="5235956"/>
            <a:ext cx="857250" cy="255904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ctr" marL="12065" marR="5080" indent="-1905">
              <a:lnSpc>
                <a:spcPts val="580"/>
              </a:lnSpc>
              <a:spcBef>
                <a:spcPts val="185"/>
              </a:spcBef>
            </a:pP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Electrically</a:t>
            </a:r>
            <a:r>
              <a:rPr dirty="0" sz="550" spc="6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E9E9E9"/>
                </a:solidFill>
                <a:latin typeface="Arial"/>
                <a:cs typeface="Arial"/>
              </a:rPr>
              <a:t>erasable</a:t>
            </a:r>
            <a:r>
              <a:rPr dirty="0" sz="550" spc="50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programmable</a:t>
            </a:r>
            <a:r>
              <a:rPr dirty="0" sz="550" spc="4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read-</a:t>
            </a:r>
            <a:r>
              <a:rPr dirty="0" sz="550" spc="-20" b="1">
                <a:solidFill>
                  <a:srgbClr val="E9E9E9"/>
                </a:solidFill>
                <a:latin typeface="Arial"/>
                <a:cs typeface="Arial"/>
              </a:rPr>
              <a:t>only</a:t>
            </a:r>
            <a:r>
              <a:rPr dirty="0" sz="550" spc="50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E9E9E9"/>
                </a:solidFill>
                <a:latin typeface="Arial"/>
                <a:cs typeface="Arial"/>
              </a:rPr>
              <a:t>memory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76" name="object 76" descr=""/>
          <p:cNvGrpSpPr/>
          <p:nvPr/>
        </p:nvGrpSpPr>
        <p:grpSpPr>
          <a:xfrm>
            <a:off x="2220467" y="5585460"/>
            <a:ext cx="1062355" cy="394970"/>
            <a:chOff x="2220467" y="5585460"/>
            <a:chExt cx="1062355" cy="394970"/>
          </a:xfrm>
        </p:grpSpPr>
        <p:pic>
          <p:nvPicPr>
            <p:cNvPr id="77" name="object 77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220467" y="5585460"/>
              <a:ext cx="1062228" cy="394716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247900" y="5618987"/>
              <a:ext cx="1031748" cy="348996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244851" y="5596128"/>
              <a:ext cx="1010412" cy="347471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275332" y="5628132"/>
              <a:ext cx="979931" cy="73151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255264" y="5701283"/>
              <a:ext cx="4571" cy="156971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270759" y="5701283"/>
              <a:ext cx="286512" cy="156971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948940" y="5785103"/>
              <a:ext cx="306324" cy="73151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2275332" y="5701283"/>
              <a:ext cx="979931" cy="105155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557272" y="5774435"/>
              <a:ext cx="394716" cy="156971"/>
            </a:xfrm>
            <a:prstGeom prst="rect">
              <a:avLst/>
            </a:prstGeom>
          </p:spPr>
        </p:pic>
      </p:grpSp>
      <p:sp>
        <p:nvSpPr>
          <p:cNvPr id="86" name="object 86" descr=""/>
          <p:cNvSpPr txBox="1"/>
          <p:nvPr/>
        </p:nvSpPr>
        <p:spPr>
          <a:xfrm>
            <a:off x="2302255" y="5635244"/>
            <a:ext cx="897255" cy="255904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ctr" marL="12700" marR="5080" indent="-2540">
              <a:lnSpc>
                <a:spcPts val="580"/>
              </a:lnSpc>
              <a:spcBef>
                <a:spcPts val="185"/>
              </a:spcBef>
            </a:pP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Can</a:t>
            </a:r>
            <a:r>
              <a:rPr dirty="0" sz="550" spc="2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be written</a:t>
            </a:r>
            <a:r>
              <a:rPr dirty="0" sz="550" spc="1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into</a:t>
            </a:r>
            <a:r>
              <a:rPr dirty="0" sz="550" spc="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at</a:t>
            </a:r>
            <a:r>
              <a:rPr dirty="0" sz="550" spc="2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25" b="1">
                <a:solidFill>
                  <a:srgbClr val="E9E9E9"/>
                </a:solidFill>
                <a:latin typeface="Arial"/>
                <a:cs typeface="Arial"/>
              </a:rPr>
              <a:t>any</a:t>
            </a:r>
            <a:r>
              <a:rPr dirty="0" sz="550" spc="50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time</a:t>
            </a:r>
            <a:r>
              <a:rPr dirty="0" sz="550" spc="2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without</a:t>
            </a:r>
            <a:r>
              <a:rPr dirty="0" sz="550" spc="1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erasing</a:t>
            </a:r>
            <a:r>
              <a:rPr dirty="0" sz="550" spc="2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E9E9E9"/>
                </a:solidFill>
                <a:latin typeface="Arial"/>
                <a:cs typeface="Arial"/>
              </a:rPr>
              <a:t>prior</a:t>
            </a:r>
            <a:r>
              <a:rPr dirty="0" sz="550" spc="50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E9E9E9"/>
                </a:solidFill>
                <a:latin typeface="Arial"/>
                <a:cs typeface="Arial"/>
              </a:rPr>
              <a:t>contents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87" name="object 87" descr=""/>
          <p:cNvGrpSpPr/>
          <p:nvPr/>
        </p:nvGrpSpPr>
        <p:grpSpPr>
          <a:xfrm>
            <a:off x="2203704" y="5981700"/>
            <a:ext cx="1120140" cy="424180"/>
            <a:chOff x="2203704" y="5981700"/>
            <a:chExt cx="1120140" cy="424180"/>
          </a:xfrm>
        </p:grpSpPr>
        <p:pic>
          <p:nvPicPr>
            <p:cNvPr id="88" name="object 88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2203704" y="5981700"/>
              <a:ext cx="1120139" cy="423671"/>
            </a:xfrm>
            <a:prstGeom prst="rect">
              <a:avLst/>
            </a:prstGeom>
          </p:spPr>
        </p:pic>
        <p:pic>
          <p:nvPicPr>
            <p:cNvPr id="89" name="object 89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2220467" y="5984748"/>
              <a:ext cx="1065275" cy="394716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2241804" y="5992368"/>
              <a:ext cx="1037844" cy="146303"/>
            </a:xfrm>
            <a:prstGeom prst="rect">
              <a:avLst/>
            </a:prstGeom>
          </p:spPr>
        </p:pic>
        <p:pic>
          <p:nvPicPr>
            <p:cNvPr id="91" name="object 91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2244851" y="5996939"/>
              <a:ext cx="1010412" cy="141732"/>
            </a:xfrm>
            <a:prstGeom prst="rect">
              <a:avLst/>
            </a:prstGeom>
          </p:spPr>
        </p:pic>
        <p:pic>
          <p:nvPicPr>
            <p:cNvPr id="92" name="object 92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2289048" y="6030467"/>
              <a:ext cx="926591" cy="65532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2340863" y="6065519"/>
              <a:ext cx="131063" cy="74676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2566416" y="6063996"/>
              <a:ext cx="620267" cy="74675"/>
            </a:xfrm>
            <a:prstGeom prst="rect">
              <a:avLst/>
            </a:prstGeom>
          </p:spPr>
        </p:pic>
        <p:sp>
          <p:nvSpPr>
            <p:cNvPr id="95" name="object 95" descr=""/>
            <p:cNvSpPr/>
            <p:nvPr/>
          </p:nvSpPr>
          <p:spPr>
            <a:xfrm>
              <a:off x="2590800" y="6072377"/>
              <a:ext cx="1905" cy="0"/>
            </a:xfrm>
            <a:custGeom>
              <a:avLst/>
              <a:gdLst/>
              <a:ahLst/>
              <a:cxnLst/>
              <a:rect l="l" t="t" r="r" b="b"/>
              <a:pathLst>
                <a:path w="1905" h="0">
                  <a:moveTo>
                    <a:pt x="0" y="0"/>
                  </a:moveTo>
                  <a:lnTo>
                    <a:pt x="1524" y="0"/>
                  </a:lnTo>
                </a:path>
              </a:pathLst>
            </a:custGeom>
            <a:ln w="3175">
              <a:solidFill>
                <a:srgbClr val="E9E9E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2470403" y="6063996"/>
              <a:ext cx="644652" cy="77723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3255264" y="6138671"/>
              <a:ext cx="45719" cy="158495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2226563" y="6138671"/>
              <a:ext cx="18287" cy="156972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2241804" y="6138671"/>
              <a:ext cx="1043939" cy="156972"/>
            </a:xfrm>
            <a:prstGeom prst="rect">
              <a:avLst/>
            </a:prstGeom>
          </p:spPr>
        </p:pic>
        <p:pic>
          <p:nvPicPr>
            <p:cNvPr id="100" name="object 100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2517648" y="6138671"/>
              <a:ext cx="598931" cy="32004"/>
            </a:xfrm>
            <a:prstGeom prst="rect">
              <a:avLst/>
            </a:prstGeom>
          </p:spPr>
        </p:pic>
        <p:pic>
          <p:nvPicPr>
            <p:cNvPr id="101" name="object 101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2270759" y="6176771"/>
              <a:ext cx="958596" cy="67056"/>
            </a:xfrm>
            <a:prstGeom prst="rect">
              <a:avLst/>
            </a:prstGeom>
          </p:spPr>
        </p:pic>
        <p:pic>
          <p:nvPicPr>
            <p:cNvPr id="102" name="object 102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2574035" y="6211823"/>
              <a:ext cx="359663" cy="158496"/>
            </a:xfrm>
            <a:prstGeom prst="rect">
              <a:avLst/>
            </a:prstGeom>
          </p:spPr>
        </p:pic>
      </p:grpSp>
      <p:sp>
        <p:nvSpPr>
          <p:cNvPr id="103" name="object 103" descr=""/>
          <p:cNvSpPr txBox="1"/>
          <p:nvPr/>
        </p:nvSpPr>
        <p:spPr>
          <a:xfrm>
            <a:off x="2258060" y="5999479"/>
            <a:ext cx="984885" cy="32956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ctr" marL="12700" marR="5080" indent="-1905">
              <a:lnSpc>
                <a:spcPts val="580"/>
              </a:lnSpc>
              <a:spcBef>
                <a:spcPts val="185"/>
              </a:spcBef>
            </a:pP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Combines</a:t>
            </a:r>
            <a:r>
              <a:rPr dirty="0" sz="550" spc="3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the</a:t>
            </a:r>
            <a:r>
              <a:rPr dirty="0" sz="550" spc="1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advantage</a:t>
            </a:r>
            <a:r>
              <a:rPr dirty="0" sz="550" spc="3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25" b="1">
                <a:solidFill>
                  <a:srgbClr val="E9E9E9"/>
                </a:solidFill>
                <a:latin typeface="Arial"/>
                <a:cs typeface="Arial"/>
              </a:rPr>
              <a:t>of</a:t>
            </a:r>
            <a:r>
              <a:rPr dirty="0" sz="550" spc="50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E9E9E9"/>
                </a:solidFill>
                <a:latin typeface="Arial"/>
                <a:cs typeface="Arial"/>
              </a:rPr>
              <a:t>non-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volatility</a:t>
            </a:r>
            <a:r>
              <a:rPr dirty="0" sz="550" spc="4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with</a:t>
            </a:r>
            <a:r>
              <a:rPr dirty="0" sz="550" spc="4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25" b="1">
                <a:solidFill>
                  <a:srgbClr val="E9E9E9"/>
                </a:solidFill>
                <a:latin typeface="Arial"/>
                <a:cs typeface="Arial"/>
              </a:rPr>
              <a:t>the</a:t>
            </a:r>
            <a:r>
              <a:rPr dirty="0" sz="550" spc="50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flexibility</a:t>
            </a:r>
            <a:r>
              <a:rPr dirty="0" sz="550" spc="1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of</a:t>
            </a:r>
            <a:r>
              <a:rPr dirty="0" sz="550" spc="2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being</a:t>
            </a:r>
            <a:r>
              <a:rPr dirty="0" sz="550" spc="2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E9E9E9"/>
                </a:solidFill>
                <a:latin typeface="Arial"/>
                <a:cs typeface="Arial"/>
              </a:rPr>
              <a:t>updatable</a:t>
            </a:r>
            <a:r>
              <a:rPr dirty="0" sz="550" spc="50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in </a:t>
            </a:r>
            <a:r>
              <a:rPr dirty="0" sz="550" spc="-10" b="1">
                <a:solidFill>
                  <a:srgbClr val="E9E9E9"/>
                </a:solidFill>
                <a:latin typeface="Arial"/>
                <a:cs typeface="Arial"/>
              </a:rPr>
              <a:t>place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104" name="object 104" descr=""/>
          <p:cNvGrpSpPr/>
          <p:nvPr/>
        </p:nvGrpSpPr>
        <p:grpSpPr>
          <a:xfrm>
            <a:off x="2220467" y="6385560"/>
            <a:ext cx="1059180" cy="394970"/>
            <a:chOff x="2220467" y="6385560"/>
            <a:chExt cx="1059180" cy="394970"/>
          </a:xfrm>
        </p:grpSpPr>
        <p:pic>
          <p:nvPicPr>
            <p:cNvPr id="105" name="object 105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2220467" y="6385560"/>
              <a:ext cx="1059180" cy="394715"/>
            </a:xfrm>
            <a:prstGeom prst="rect">
              <a:avLst/>
            </a:prstGeom>
          </p:spPr>
        </p:pic>
        <p:pic>
          <p:nvPicPr>
            <p:cNvPr id="106" name="object 106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2244851" y="6397751"/>
              <a:ext cx="1010412" cy="345948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2354579" y="6464807"/>
              <a:ext cx="818387" cy="156972"/>
            </a:xfrm>
            <a:prstGeom prst="rect">
              <a:avLst/>
            </a:prstGeom>
          </p:spPr>
        </p:pic>
        <p:pic>
          <p:nvPicPr>
            <p:cNvPr id="108" name="object 108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2403348" y="6504431"/>
              <a:ext cx="697991" cy="65531"/>
            </a:xfrm>
            <a:prstGeom prst="rect">
              <a:avLst/>
            </a:prstGeom>
          </p:spPr>
        </p:pic>
        <p:pic>
          <p:nvPicPr>
            <p:cNvPr id="109" name="object 109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2575559" y="6537960"/>
              <a:ext cx="376427" cy="158495"/>
            </a:xfrm>
            <a:prstGeom prst="rect">
              <a:avLst/>
            </a:prstGeom>
          </p:spPr>
        </p:pic>
      </p:grpSp>
      <p:sp>
        <p:nvSpPr>
          <p:cNvPr id="110" name="object 110" descr=""/>
          <p:cNvSpPr txBox="1"/>
          <p:nvPr/>
        </p:nvSpPr>
        <p:spPr>
          <a:xfrm>
            <a:off x="2386075" y="6471919"/>
            <a:ext cx="727075" cy="18478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233679" marR="5080" indent="-220979">
              <a:lnSpc>
                <a:spcPts val="590"/>
              </a:lnSpc>
              <a:spcBef>
                <a:spcPts val="180"/>
              </a:spcBef>
            </a:pP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More</a:t>
            </a:r>
            <a:r>
              <a:rPr dirty="0" sz="550" spc="2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expensive</a:t>
            </a:r>
            <a:r>
              <a:rPr dirty="0" sz="550" spc="6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20" b="1">
                <a:solidFill>
                  <a:srgbClr val="E9E9E9"/>
                </a:solidFill>
                <a:latin typeface="Arial"/>
                <a:cs typeface="Arial"/>
              </a:rPr>
              <a:t>than</a:t>
            </a:r>
            <a:r>
              <a:rPr dirty="0" sz="550" spc="50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E9E9E9"/>
                </a:solidFill>
                <a:latin typeface="Arial"/>
                <a:cs typeface="Arial"/>
              </a:rPr>
              <a:t>EPROM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111" name="object 111" descr=""/>
          <p:cNvGrpSpPr/>
          <p:nvPr/>
        </p:nvGrpSpPr>
        <p:grpSpPr>
          <a:xfrm>
            <a:off x="3451859" y="4471415"/>
            <a:ext cx="1312545" cy="2428240"/>
            <a:chOff x="3451859" y="4471415"/>
            <a:chExt cx="1312545" cy="2428240"/>
          </a:xfrm>
        </p:grpSpPr>
        <p:pic>
          <p:nvPicPr>
            <p:cNvPr id="112" name="object 112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3451859" y="4471415"/>
              <a:ext cx="1312164" cy="2427732"/>
            </a:xfrm>
            <a:prstGeom prst="rect">
              <a:avLst/>
            </a:prstGeom>
          </p:spPr>
        </p:pic>
        <p:sp>
          <p:nvSpPr>
            <p:cNvPr id="113" name="object 113" descr=""/>
            <p:cNvSpPr/>
            <p:nvPr/>
          </p:nvSpPr>
          <p:spPr>
            <a:xfrm>
              <a:off x="3476243" y="4482083"/>
              <a:ext cx="1263650" cy="2380615"/>
            </a:xfrm>
            <a:custGeom>
              <a:avLst/>
              <a:gdLst/>
              <a:ahLst/>
              <a:cxnLst/>
              <a:rect l="l" t="t" r="r" b="b"/>
              <a:pathLst>
                <a:path w="1263650" h="2380615">
                  <a:moveTo>
                    <a:pt x="1136904" y="2380487"/>
                  </a:moveTo>
                  <a:lnTo>
                    <a:pt x="126491" y="2380487"/>
                  </a:lnTo>
                  <a:lnTo>
                    <a:pt x="77152" y="2370581"/>
                  </a:lnTo>
                  <a:lnTo>
                    <a:pt x="36956" y="2343531"/>
                  </a:lnTo>
                  <a:lnTo>
                    <a:pt x="9905" y="2303335"/>
                  </a:lnTo>
                  <a:lnTo>
                    <a:pt x="0" y="2253996"/>
                  </a:lnTo>
                  <a:lnTo>
                    <a:pt x="0" y="126492"/>
                  </a:lnTo>
                  <a:lnTo>
                    <a:pt x="9905" y="77152"/>
                  </a:lnTo>
                  <a:lnTo>
                    <a:pt x="36956" y="36957"/>
                  </a:lnTo>
                  <a:lnTo>
                    <a:pt x="77152" y="9906"/>
                  </a:lnTo>
                  <a:lnTo>
                    <a:pt x="126491" y="0"/>
                  </a:lnTo>
                  <a:lnTo>
                    <a:pt x="1136904" y="0"/>
                  </a:lnTo>
                  <a:lnTo>
                    <a:pt x="1186243" y="9906"/>
                  </a:lnTo>
                  <a:lnTo>
                    <a:pt x="1226439" y="36957"/>
                  </a:lnTo>
                  <a:lnTo>
                    <a:pt x="1253489" y="77152"/>
                  </a:lnTo>
                  <a:lnTo>
                    <a:pt x="1263395" y="126492"/>
                  </a:lnTo>
                  <a:lnTo>
                    <a:pt x="1263395" y="2253996"/>
                  </a:lnTo>
                  <a:lnTo>
                    <a:pt x="1253489" y="2303335"/>
                  </a:lnTo>
                  <a:lnTo>
                    <a:pt x="1226438" y="2343531"/>
                  </a:lnTo>
                  <a:lnTo>
                    <a:pt x="1186243" y="2370581"/>
                  </a:lnTo>
                  <a:lnTo>
                    <a:pt x="1136904" y="2380487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4" name="object 114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3694175" y="4506467"/>
              <a:ext cx="906779" cy="234696"/>
            </a:xfrm>
            <a:prstGeom prst="rect">
              <a:avLst/>
            </a:prstGeom>
          </p:spPr>
        </p:pic>
        <p:pic>
          <p:nvPicPr>
            <p:cNvPr id="115" name="object 115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3848099" y="4626863"/>
              <a:ext cx="537971" cy="115824"/>
            </a:xfrm>
            <a:prstGeom prst="rect">
              <a:avLst/>
            </a:prstGeom>
          </p:spPr>
        </p:pic>
        <p:pic>
          <p:nvPicPr>
            <p:cNvPr id="116" name="object 116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3561588" y="4741164"/>
              <a:ext cx="1109471" cy="486155"/>
            </a:xfrm>
            <a:prstGeom prst="rect">
              <a:avLst/>
            </a:prstGeom>
          </p:spPr>
        </p:pic>
        <p:pic>
          <p:nvPicPr>
            <p:cNvPr id="117" name="object 117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3694175" y="4741163"/>
              <a:ext cx="906779" cy="249935"/>
            </a:xfrm>
            <a:prstGeom prst="rect">
              <a:avLst/>
            </a:prstGeom>
          </p:spPr>
        </p:pic>
      </p:grpSp>
      <p:sp>
        <p:nvSpPr>
          <p:cNvPr id="118" name="object 118" descr=""/>
          <p:cNvSpPr txBox="1"/>
          <p:nvPr/>
        </p:nvSpPr>
        <p:spPr>
          <a:xfrm>
            <a:off x="3684496" y="4550114"/>
            <a:ext cx="845185" cy="53467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2700" marR="5080" indent="132080">
              <a:lnSpc>
                <a:spcPts val="1860"/>
              </a:lnSpc>
              <a:spcBef>
                <a:spcPts val="400"/>
              </a:spcBef>
            </a:pPr>
            <a:r>
              <a:rPr dirty="0" sz="1750" spc="-10">
                <a:latin typeface="Arial MT"/>
                <a:cs typeface="Arial MT"/>
              </a:rPr>
              <a:t>Flash Memory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119" name="object 119" descr=""/>
          <p:cNvGrpSpPr/>
          <p:nvPr/>
        </p:nvGrpSpPr>
        <p:grpSpPr>
          <a:xfrm>
            <a:off x="3578352" y="5184648"/>
            <a:ext cx="1059180" cy="515620"/>
            <a:chOff x="3578352" y="5184648"/>
            <a:chExt cx="1059180" cy="515620"/>
          </a:xfrm>
        </p:grpSpPr>
        <p:pic>
          <p:nvPicPr>
            <p:cNvPr id="120" name="object 120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3578352" y="5184648"/>
              <a:ext cx="1059179" cy="515112"/>
            </a:xfrm>
            <a:prstGeom prst="rect">
              <a:avLst/>
            </a:prstGeom>
          </p:spPr>
        </p:pic>
        <p:pic>
          <p:nvPicPr>
            <p:cNvPr id="121" name="object 121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3602736" y="5196839"/>
              <a:ext cx="1010412" cy="466344"/>
            </a:xfrm>
            <a:prstGeom prst="rect">
              <a:avLst/>
            </a:prstGeom>
          </p:spPr>
        </p:pic>
        <p:pic>
          <p:nvPicPr>
            <p:cNvPr id="122" name="object 122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3700272" y="5288280"/>
              <a:ext cx="841247" cy="74675"/>
            </a:xfrm>
            <a:prstGeom prst="rect">
              <a:avLst/>
            </a:prstGeom>
          </p:spPr>
        </p:pic>
      </p:grpSp>
      <p:sp>
        <p:nvSpPr>
          <p:cNvPr id="123" name="object 123" descr=""/>
          <p:cNvSpPr txBox="1"/>
          <p:nvPr/>
        </p:nvSpPr>
        <p:spPr>
          <a:xfrm>
            <a:off x="3731767" y="5295392"/>
            <a:ext cx="752475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Intermediate</a:t>
            </a:r>
            <a:r>
              <a:rPr dirty="0" sz="550" spc="3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E9E9E9"/>
                </a:solidFill>
                <a:latin typeface="Arial"/>
                <a:cs typeface="Arial"/>
              </a:rPr>
              <a:t>between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124" name="object 124" descr=""/>
          <p:cNvGrpSpPr/>
          <p:nvPr/>
        </p:nvGrpSpPr>
        <p:grpSpPr>
          <a:xfrm>
            <a:off x="3610355" y="5361432"/>
            <a:ext cx="1001394" cy="230504"/>
            <a:chOff x="3610355" y="5361432"/>
            <a:chExt cx="1001394" cy="230504"/>
          </a:xfrm>
        </p:grpSpPr>
        <p:pic>
          <p:nvPicPr>
            <p:cNvPr id="125" name="object 125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3654551" y="5361432"/>
              <a:ext cx="45720" cy="73151"/>
            </a:xfrm>
            <a:prstGeom prst="rect">
              <a:avLst/>
            </a:prstGeom>
          </p:spPr>
        </p:pic>
        <p:pic>
          <p:nvPicPr>
            <p:cNvPr id="126" name="object 126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3700272" y="5361432"/>
              <a:ext cx="886967" cy="74675"/>
            </a:xfrm>
            <a:prstGeom prst="rect">
              <a:avLst/>
            </a:prstGeom>
          </p:spPr>
        </p:pic>
        <p:pic>
          <p:nvPicPr>
            <p:cNvPr id="127" name="object 127" descr="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3610355" y="5434584"/>
              <a:ext cx="1001267" cy="156971"/>
            </a:xfrm>
            <a:prstGeom prst="rect">
              <a:avLst/>
            </a:prstGeom>
          </p:spPr>
        </p:pic>
        <p:pic>
          <p:nvPicPr>
            <p:cNvPr id="128" name="object 128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3654551" y="5434583"/>
              <a:ext cx="932688" cy="83819"/>
            </a:xfrm>
            <a:prstGeom prst="rect">
              <a:avLst/>
            </a:prstGeom>
          </p:spPr>
        </p:pic>
      </p:grpSp>
      <p:sp>
        <p:nvSpPr>
          <p:cNvPr id="129" name="object 129" descr=""/>
          <p:cNvSpPr txBox="1"/>
          <p:nvPr/>
        </p:nvSpPr>
        <p:spPr>
          <a:xfrm>
            <a:off x="3641852" y="5370067"/>
            <a:ext cx="933450" cy="18288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 indent="43815">
              <a:lnSpc>
                <a:spcPts val="580"/>
              </a:lnSpc>
              <a:spcBef>
                <a:spcPts val="185"/>
              </a:spcBef>
            </a:pP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EPROM</a:t>
            </a:r>
            <a:r>
              <a:rPr dirty="0" sz="550" spc="1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and</a:t>
            </a:r>
            <a:r>
              <a:rPr dirty="0" sz="550" spc="2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EEPROM</a:t>
            </a:r>
            <a:r>
              <a:rPr dirty="0" sz="550" spc="3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25" b="1">
                <a:solidFill>
                  <a:srgbClr val="E9E9E9"/>
                </a:solidFill>
                <a:latin typeface="Arial"/>
                <a:cs typeface="Arial"/>
              </a:rPr>
              <a:t>in</a:t>
            </a:r>
            <a:r>
              <a:rPr dirty="0" sz="550" spc="50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both</a:t>
            </a:r>
            <a:r>
              <a:rPr dirty="0" sz="550" spc="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cost</a:t>
            </a:r>
            <a:r>
              <a:rPr dirty="0" sz="550" spc="1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and</a:t>
            </a:r>
            <a:r>
              <a:rPr dirty="0" sz="550" spc="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E9E9E9"/>
                </a:solidFill>
                <a:latin typeface="Arial"/>
                <a:cs typeface="Arial"/>
              </a:rPr>
              <a:t>functionality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130" name="object 130" descr=""/>
          <p:cNvGrpSpPr/>
          <p:nvPr/>
        </p:nvGrpSpPr>
        <p:grpSpPr>
          <a:xfrm>
            <a:off x="3578352" y="5725667"/>
            <a:ext cx="1061085" cy="515620"/>
            <a:chOff x="3578352" y="5725667"/>
            <a:chExt cx="1061085" cy="515620"/>
          </a:xfrm>
        </p:grpSpPr>
        <p:pic>
          <p:nvPicPr>
            <p:cNvPr id="131" name="object 131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3578352" y="5725667"/>
              <a:ext cx="1059179" cy="515112"/>
            </a:xfrm>
            <a:prstGeom prst="rect">
              <a:avLst/>
            </a:prstGeom>
          </p:spPr>
        </p:pic>
        <p:pic>
          <p:nvPicPr>
            <p:cNvPr id="132" name="object 132" descr="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3601212" y="5818632"/>
              <a:ext cx="3048" cy="348996"/>
            </a:xfrm>
            <a:prstGeom prst="rect">
              <a:avLst/>
            </a:prstGeom>
          </p:spPr>
        </p:pic>
        <p:pic>
          <p:nvPicPr>
            <p:cNvPr id="133" name="object 133" descr="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4613148" y="5817107"/>
              <a:ext cx="25907" cy="352043"/>
            </a:xfrm>
            <a:prstGeom prst="rect">
              <a:avLst/>
            </a:prstGeom>
          </p:spPr>
        </p:pic>
        <p:pic>
          <p:nvPicPr>
            <p:cNvPr id="134" name="object 134" descr="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3602736" y="5736335"/>
              <a:ext cx="1013460" cy="467867"/>
            </a:xfrm>
            <a:prstGeom prst="rect">
              <a:avLst/>
            </a:prstGeom>
          </p:spPr>
        </p:pic>
        <p:pic>
          <p:nvPicPr>
            <p:cNvPr id="135" name="object 135" descr="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3627120" y="5827776"/>
              <a:ext cx="986028" cy="156971"/>
            </a:xfrm>
            <a:prstGeom prst="rect">
              <a:avLst/>
            </a:prstGeom>
          </p:spPr>
        </p:pic>
        <p:pic>
          <p:nvPicPr>
            <p:cNvPr id="136" name="object 136" descr="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3677412" y="5867400"/>
              <a:ext cx="865632" cy="65531"/>
            </a:xfrm>
            <a:prstGeom prst="rect">
              <a:avLst/>
            </a:prstGeom>
          </p:spPr>
        </p:pic>
        <p:pic>
          <p:nvPicPr>
            <p:cNvPr id="137" name="object 137" descr="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3704844" y="5900928"/>
              <a:ext cx="832104" cy="74675"/>
            </a:xfrm>
            <a:prstGeom prst="rect">
              <a:avLst/>
            </a:prstGeom>
          </p:spPr>
        </p:pic>
        <p:pic>
          <p:nvPicPr>
            <p:cNvPr id="138" name="object 138" descr="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3624072" y="5974080"/>
              <a:ext cx="422147" cy="158495"/>
            </a:xfrm>
            <a:prstGeom prst="rect">
              <a:avLst/>
            </a:prstGeom>
          </p:spPr>
        </p:pic>
        <p:pic>
          <p:nvPicPr>
            <p:cNvPr id="139" name="object 139" descr="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3672840" y="6013703"/>
              <a:ext cx="373379" cy="65532"/>
            </a:xfrm>
            <a:prstGeom prst="rect">
              <a:avLst/>
            </a:prstGeom>
          </p:spPr>
        </p:pic>
        <p:pic>
          <p:nvPicPr>
            <p:cNvPr id="140" name="object 140" descr="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4044696" y="5975603"/>
              <a:ext cx="27431" cy="156971"/>
            </a:xfrm>
            <a:prstGeom prst="rect">
              <a:avLst/>
            </a:prstGeom>
          </p:spPr>
        </p:pic>
        <p:pic>
          <p:nvPicPr>
            <p:cNvPr id="141" name="object 141" descr="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4165092" y="5974080"/>
              <a:ext cx="434340" cy="158495"/>
            </a:xfrm>
            <a:prstGeom prst="rect">
              <a:avLst/>
            </a:prstGeom>
          </p:spPr>
        </p:pic>
        <p:pic>
          <p:nvPicPr>
            <p:cNvPr id="142" name="object 142" descr="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4140708" y="5974080"/>
              <a:ext cx="396240" cy="158496"/>
            </a:xfrm>
            <a:prstGeom prst="rect">
              <a:avLst/>
            </a:prstGeom>
          </p:spPr>
        </p:pic>
        <p:pic>
          <p:nvPicPr>
            <p:cNvPr id="143" name="object 143" descr="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4069080" y="5974080"/>
              <a:ext cx="73151" cy="158496"/>
            </a:xfrm>
            <a:prstGeom prst="rect">
              <a:avLst/>
            </a:prstGeom>
          </p:spPr>
        </p:pic>
      </p:grpSp>
      <p:sp>
        <p:nvSpPr>
          <p:cNvPr id="144" name="object 144" descr=""/>
          <p:cNvSpPr txBox="1"/>
          <p:nvPr/>
        </p:nvSpPr>
        <p:spPr>
          <a:xfrm>
            <a:off x="3655567" y="5836411"/>
            <a:ext cx="904240" cy="255904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ctr" marL="12700" marR="5080" indent="-1905">
              <a:lnSpc>
                <a:spcPts val="580"/>
              </a:lnSpc>
              <a:spcBef>
                <a:spcPts val="185"/>
              </a:spcBef>
            </a:pP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Uses</a:t>
            </a:r>
            <a:r>
              <a:rPr dirty="0" sz="550" spc="2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an</a:t>
            </a:r>
            <a:r>
              <a:rPr dirty="0" sz="550" spc="3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electrical</a:t>
            </a:r>
            <a:r>
              <a:rPr dirty="0" sz="550" spc="3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E9E9E9"/>
                </a:solidFill>
                <a:latin typeface="Arial"/>
                <a:cs typeface="Arial"/>
              </a:rPr>
              <a:t>erasing</a:t>
            </a:r>
            <a:r>
              <a:rPr dirty="0" sz="550" spc="50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technology,</a:t>
            </a:r>
            <a:r>
              <a:rPr dirty="0" sz="550" spc="3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does</a:t>
            </a:r>
            <a:r>
              <a:rPr dirty="0" sz="550" spc="1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25" b="1">
                <a:solidFill>
                  <a:srgbClr val="E9E9E9"/>
                </a:solidFill>
                <a:latin typeface="Arial"/>
                <a:cs typeface="Arial"/>
              </a:rPr>
              <a:t>not</a:t>
            </a:r>
            <a:r>
              <a:rPr dirty="0" sz="550" spc="50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provide</a:t>
            </a:r>
            <a:r>
              <a:rPr dirty="0" sz="550" spc="2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byte-level</a:t>
            </a:r>
            <a:r>
              <a:rPr dirty="0" sz="550" spc="3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E9E9E9"/>
                </a:solidFill>
                <a:latin typeface="Arial"/>
                <a:cs typeface="Arial"/>
              </a:rPr>
              <a:t>erasure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145" name="object 145" descr=""/>
          <p:cNvGrpSpPr/>
          <p:nvPr/>
        </p:nvGrpSpPr>
        <p:grpSpPr>
          <a:xfrm>
            <a:off x="3578352" y="6265164"/>
            <a:ext cx="1076325" cy="515620"/>
            <a:chOff x="3578352" y="6265164"/>
            <a:chExt cx="1076325" cy="515620"/>
          </a:xfrm>
        </p:grpSpPr>
        <p:pic>
          <p:nvPicPr>
            <p:cNvPr id="146" name="object 146" descr="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3578352" y="6265164"/>
              <a:ext cx="1075944" cy="515112"/>
            </a:xfrm>
            <a:prstGeom prst="rect">
              <a:avLst/>
            </a:prstGeom>
          </p:spPr>
        </p:pic>
        <p:pic>
          <p:nvPicPr>
            <p:cNvPr id="147" name="object 147" descr="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3602736" y="6275832"/>
              <a:ext cx="1013460" cy="467867"/>
            </a:xfrm>
            <a:prstGeom prst="rect">
              <a:avLst/>
            </a:prstGeom>
          </p:spPr>
        </p:pic>
        <p:pic>
          <p:nvPicPr>
            <p:cNvPr id="148" name="object 148" descr="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3627120" y="6332219"/>
              <a:ext cx="986028" cy="146303"/>
            </a:xfrm>
            <a:prstGeom prst="rect">
              <a:avLst/>
            </a:prstGeom>
          </p:spPr>
        </p:pic>
        <p:pic>
          <p:nvPicPr>
            <p:cNvPr id="149" name="object 149" descr="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3643884" y="6403848"/>
              <a:ext cx="955548" cy="76200"/>
            </a:xfrm>
            <a:prstGeom prst="rect">
              <a:avLst/>
            </a:prstGeom>
          </p:spPr>
        </p:pic>
        <p:pic>
          <p:nvPicPr>
            <p:cNvPr id="150" name="object 150" descr="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4613148" y="6478523"/>
              <a:ext cx="16763" cy="156972"/>
            </a:xfrm>
            <a:prstGeom prst="rect">
              <a:avLst/>
            </a:prstGeom>
          </p:spPr>
        </p:pic>
        <p:pic>
          <p:nvPicPr>
            <p:cNvPr id="151" name="object 151" descr="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3613404" y="6478523"/>
              <a:ext cx="172212" cy="156972"/>
            </a:xfrm>
            <a:prstGeom prst="rect">
              <a:avLst/>
            </a:prstGeom>
          </p:spPr>
        </p:pic>
        <p:pic>
          <p:nvPicPr>
            <p:cNvPr id="152" name="object 152" descr="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4437888" y="6477000"/>
              <a:ext cx="178307" cy="158495"/>
            </a:xfrm>
            <a:prstGeom prst="rect">
              <a:avLst/>
            </a:prstGeom>
          </p:spPr>
        </p:pic>
        <p:pic>
          <p:nvPicPr>
            <p:cNvPr id="153" name="object 153" descr="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3643884" y="6477000"/>
              <a:ext cx="955548" cy="105155"/>
            </a:xfrm>
            <a:prstGeom prst="rect">
              <a:avLst/>
            </a:prstGeom>
          </p:spPr>
        </p:pic>
        <p:pic>
          <p:nvPicPr>
            <p:cNvPr id="154" name="object 154" descr="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3784092" y="6550151"/>
              <a:ext cx="655319" cy="160019"/>
            </a:xfrm>
            <a:prstGeom prst="rect">
              <a:avLst/>
            </a:prstGeom>
          </p:spPr>
        </p:pic>
      </p:grpSp>
      <p:sp>
        <p:nvSpPr>
          <p:cNvPr id="155" name="object 155" descr=""/>
          <p:cNvSpPr txBox="1"/>
          <p:nvPr/>
        </p:nvSpPr>
        <p:spPr>
          <a:xfrm>
            <a:off x="3644900" y="6337808"/>
            <a:ext cx="924560" cy="33083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ctr" marL="12700" marR="5080">
              <a:lnSpc>
                <a:spcPct val="87900"/>
              </a:lnSpc>
              <a:spcBef>
                <a:spcPts val="180"/>
              </a:spcBef>
            </a:pP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Microchip</a:t>
            </a:r>
            <a:r>
              <a:rPr dirty="0" sz="550" spc="2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is</a:t>
            </a:r>
            <a:r>
              <a:rPr dirty="0" sz="550" spc="2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organized</a:t>
            </a:r>
            <a:r>
              <a:rPr dirty="0" sz="550" spc="3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25" b="1">
                <a:solidFill>
                  <a:srgbClr val="E9E9E9"/>
                </a:solidFill>
                <a:latin typeface="Arial"/>
                <a:cs typeface="Arial"/>
              </a:rPr>
              <a:t>so</a:t>
            </a:r>
            <a:r>
              <a:rPr dirty="0" sz="550" spc="50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that</a:t>
            </a:r>
            <a:r>
              <a:rPr dirty="0" sz="550" spc="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a</a:t>
            </a:r>
            <a:r>
              <a:rPr dirty="0" sz="550" spc="1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section</a:t>
            </a:r>
            <a:r>
              <a:rPr dirty="0" sz="550" spc="2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of</a:t>
            </a:r>
            <a:r>
              <a:rPr dirty="0" sz="550" spc="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E9E9E9"/>
                </a:solidFill>
                <a:latin typeface="Arial"/>
                <a:cs typeface="Arial"/>
              </a:rPr>
              <a:t>memory</a:t>
            </a:r>
            <a:r>
              <a:rPr dirty="0" sz="550" spc="50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cells</a:t>
            </a:r>
            <a:r>
              <a:rPr dirty="0" sz="550" spc="2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are</a:t>
            </a:r>
            <a:r>
              <a:rPr dirty="0" sz="550" spc="3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erased</a:t>
            </a:r>
            <a:r>
              <a:rPr dirty="0" sz="550" spc="2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in</a:t>
            </a:r>
            <a:r>
              <a:rPr dirty="0" sz="550" spc="1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a</a:t>
            </a:r>
            <a:r>
              <a:rPr dirty="0" sz="550" spc="2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E9E9E9"/>
                </a:solidFill>
                <a:latin typeface="Arial"/>
                <a:cs typeface="Arial"/>
              </a:rPr>
              <a:t>single</a:t>
            </a:r>
            <a:r>
              <a:rPr dirty="0" sz="550" spc="50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action</a:t>
            </a:r>
            <a:r>
              <a:rPr dirty="0" sz="550" spc="15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E9E9E9"/>
                </a:solidFill>
                <a:latin typeface="Arial"/>
                <a:cs typeface="Arial"/>
              </a:rPr>
              <a:t>or</a:t>
            </a:r>
            <a:r>
              <a:rPr dirty="0" sz="550" spc="10" b="1">
                <a:solidFill>
                  <a:srgbClr val="E9E9E9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E9E9E9"/>
                </a:solidFill>
                <a:latin typeface="Arial"/>
                <a:cs typeface="Arial"/>
              </a:rPr>
              <a:t>“flash”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156" name="object 156" descr=""/>
          <p:cNvGrpSpPr/>
          <p:nvPr/>
        </p:nvGrpSpPr>
        <p:grpSpPr>
          <a:xfrm>
            <a:off x="5378196" y="3991610"/>
            <a:ext cx="5125720" cy="3204210"/>
            <a:chOff x="5378196" y="3991610"/>
            <a:chExt cx="5125720" cy="3204210"/>
          </a:xfrm>
        </p:grpSpPr>
        <p:sp>
          <p:nvSpPr>
            <p:cNvPr id="157" name="object 157" descr=""/>
            <p:cNvSpPr/>
            <p:nvPr/>
          </p:nvSpPr>
          <p:spPr>
            <a:xfrm>
              <a:off x="537818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5381244" y="4315968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9" name="object 159" descr=""/>
          <p:cNvSpPr txBox="1"/>
          <p:nvPr/>
        </p:nvSpPr>
        <p:spPr>
          <a:xfrm>
            <a:off x="691388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60" name="object 160" descr=""/>
          <p:cNvGrpSpPr/>
          <p:nvPr/>
        </p:nvGrpSpPr>
        <p:grpSpPr>
          <a:xfrm>
            <a:off x="6141516" y="4490061"/>
            <a:ext cx="4334510" cy="2689860"/>
            <a:chOff x="6141516" y="4490061"/>
            <a:chExt cx="4334510" cy="2689860"/>
          </a:xfrm>
        </p:grpSpPr>
        <p:pic>
          <p:nvPicPr>
            <p:cNvPr id="161" name="object 16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0952" y="6966203"/>
              <a:ext cx="1335023" cy="213360"/>
            </a:xfrm>
            <a:prstGeom prst="rect">
              <a:avLst/>
            </a:prstGeom>
          </p:spPr>
        </p:pic>
        <p:pic>
          <p:nvPicPr>
            <p:cNvPr id="162" name="object 162" descr="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6141516" y="4490061"/>
              <a:ext cx="3637331" cy="2214082"/>
            </a:xfrm>
            <a:prstGeom prst="rect">
              <a:avLst/>
            </a:prstGeom>
          </p:spPr>
        </p:pic>
      </p:grpSp>
      <p:sp>
        <p:nvSpPr>
          <p:cNvPr id="163" name="object 163" descr=""/>
          <p:cNvSpPr txBox="1"/>
          <p:nvPr/>
        </p:nvSpPr>
        <p:spPr>
          <a:xfrm>
            <a:off x="5583392" y="4079179"/>
            <a:ext cx="208597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Typical</a:t>
            </a:r>
            <a:r>
              <a:rPr dirty="0" sz="12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16 Mb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DRAM</a:t>
            </a:r>
            <a:r>
              <a:rPr dirty="0" sz="12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(4M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x</a:t>
            </a:r>
            <a:r>
              <a:rPr dirty="0" sz="120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25">
                <a:solidFill>
                  <a:srgbClr val="1A1A1A"/>
                </a:solidFill>
                <a:latin typeface="Arial MT"/>
                <a:cs typeface="Arial MT"/>
              </a:rPr>
              <a:t>4)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93535" y="689863"/>
            <a:ext cx="4775200" cy="35560"/>
          </a:xfrm>
          <a:custGeom>
            <a:avLst/>
            <a:gdLst/>
            <a:ahLst/>
            <a:cxnLst/>
            <a:rect l="l" t="t" r="r" b="b"/>
            <a:pathLst>
              <a:path w="4775200" h="35559">
                <a:moveTo>
                  <a:pt x="4774692" y="0"/>
                </a:moveTo>
                <a:lnTo>
                  <a:pt x="0" y="0"/>
                </a:lnTo>
                <a:lnTo>
                  <a:pt x="0" y="7620"/>
                </a:lnTo>
                <a:lnTo>
                  <a:pt x="0" y="35560"/>
                </a:lnTo>
                <a:lnTo>
                  <a:pt x="1024128" y="35560"/>
                </a:lnTo>
                <a:lnTo>
                  <a:pt x="1024128" y="7620"/>
                </a:lnTo>
                <a:lnTo>
                  <a:pt x="3759708" y="7620"/>
                </a:lnTo>
                <a:lnTo>
                  <a:pt x="3759708" y="35560"/>
                </a:lnTo>
                <a:lnTo>
                  <a:pt x="4774692" y="35560"/>
                </a:lnTo>
                <a:lnTo>
                  <a:pt x="4774692" y="7620"/>
                </a:lnTo>
                <a:lnTo>
                  <a:pt x="4774692" y="0"/>
                </a:lnTo>
                <a:close/>
              </a:path>
            </a:pathLst>
          </a:custGeom>
          <a:solidFill>
            <a:srgbClr val="9090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724660" y="339191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217675" y="696468"/>
            <a:ext cx="4069079" cy="2856230"/>
            <a:chOff x="1217675" y="696468"/>
            <a:chExt cx="4069079" cy="285623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51732" y="3340608"/>
              <a:ext cx="1335023" cy="21183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7675" y="696468"/>
              <a:ext cx="2738627" cy="2755391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7856" y="3416808"/>
              <a:ext cx="149351" cy="35051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2743200" y="3416808"/>
              <a:ext cx="5080" cy="35560"/>
            </a:xfrm>
            <a:custGeom>
              <a:avLst/>
              <a:gdLst/>
              <a:ahLst/>
              <a:cxnLst/>
              <a:rect l="l" t="t" r="r" b="b"/>
              <a:pathLst>
                <a:path w="5080" h="35560">
                  <a:moveTo>
                    <a:pt x="4572" y="0"/>
                  </a:moveTo>
                  <a:lnTo>
                    <a:pt x="0" y="0"/>
                  </a:lnTo>
                  <a:lnTo>
                    <a:pt x="0" y="4572"/>
                  </a:lnTo>
                  <a:lnTo>
                    <a:pt x="4572" y="4572"/>
                  </a:lnTo>
                  <a:lnTo>
                    <a:pt x="4572" y="0"/>
                  </a:lnTo>
                  <a:close/>
                </a:path>
                <a:path w="5080" h="35560">
                  <a:moveTo>
                    <a:pt x="4572" y="9143"/>
                  </a:moveTo>
                  <a:lnTo>
                    <a:pt x="0" y="9143"/>
                  </a:lnTo>
                  <a:lnTo>
                    <a:pt x="0" y="35051"/>
                  </a:lnTo>
                  <a:lnTo>
                    <a:pt x="4572" y="35051"/>
                  </a:lnTo>
                  <a:lnTo>
                    <a:pt x="4572" y="9143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46832" y="3415284"/>
              <a:ext cx="387095" cy="36575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3060191" y="3416808"/>
              <a:ext cx="5080" cy="35560"/>
            </a:xfrm>
            <a:custGeom>
              <a:avLst/>
              <a:gdLst/>
              <a:ahLst/>
              <a:cxnLst/>
              <a:rect l="l" t="t" r="r" b="b"/>
              <a:pathLst>
                <a:path w="5080" h="35560">
                  <a:moveTo>
                    <a:pt x="4572" y="0"/>
                  </a:moveTo>
                  <a:lnTo>
                    <a:pt x="0" y="0"/>
                  </a:lnTo>
                  <a:lnTo>
                    <a:pt x="0" y="4572"/>
                  </a:lnTo>
                  <a:lnTo>
                    <a:pt x="4572" y="4572"/>
                  </a:lnTo>
                  <a:lnTo>
                    <a:pt x="4572" y="0"/>
                  </a:lnTo>
                  <a:close/>
                </a:path>
                <a:path w="5080" h="35560">
                  <a:moveTo>
                    <a:pt x="4572" y="9143"/>
                  </a:moveTo>
                  <a:lnTo>
                    <a:pt x="0" y="9143"/>
                  </a:lnTo>
                  <a:lnTo>
                    <a:pt x="0" y="35051"/>
                  </a:lnTo>
                  <a:lnTo>
                    <a:pt x="4572" y="35051"/>
                  </a:lnTo>
                  <a:lnTo>
                    <a:pt x="4572" y="9143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44596" y="3415284"/>
              <a:ext cx="368807" cy="36575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3509772" y="344881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 h="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21024" y="3415284"/>
              <a:ext cx="135635" cy="36575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51732" y="3339084"/>
              <a:ext cx="3048" cy="111251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394203" y="452149"/>
            <a:ext cx="299402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Organization</a:t>
            </a:r>
            <a:r>
              <a:rPr dirty="0" sz="12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Example</a:t>
            </a:r>
            <a:r>
              <a:rPr dirty="0" sz="12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(256</a:t>
            </a:r>
            <a:r>
              <a:rPr dirty="0" sz="12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KByte)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5378196" y="364489"/>
            <a:ext cx="5125720" cy="3204210"/>
            <a:chOff x="5378196" y="364489"/>
            <a:chExt cx="5125720" cy="3204210"/>
          </a:xfrm>
        </p:grpSpPr>
        <p:sp>
          <p:nvSpPr>
            <p:cNvPr id="17" name="object 17" descr=""/>
            <p:cNvSpPr/>
            <p:nvPr/>
          </p:nvSpPr>
          <p:spPr>
            <a:xfrm>
              <a:off x="5378183" y="364489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10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381244" y="688847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6"/>
                  </a:moveTo>
                  <a:lnTo>
                    <a:pt x="0" y="36576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6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6913880" y="339191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6531958" y="970788"/>
            <a:ext cx="3944620" cy="2583180"/>
            <a:chOff x="6531958" y="970788"/>
            <a:chExt cx="3944620" cy="2583180"/>
          </a:xfrm>
        </p:grpSpPr>
        <p:pic>
          <p:nvPicPr>
            <p:cNvPr id="21" name="object 2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40951" y="3339083"/>
              <a:ext cx="1335023" cy="214883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31958" y="970788"/>
              <a:ext cx="2769188" cy="1901600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5583392" y="452149"/>
            <a:ext cx="2012314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1MByte Module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Organization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188976" y="3991610"/>
            <a:ext cx="5125720" cy="3204210"/>
            <a:chOff x="188976" y="3991610"/>
            <a:chExt cx="5125720" cy="3204210"/>
          </a:xfrm>
        </p:grpSpPr>
        <p:sp>
          <p:nvSpPr>
            <p:cNvPr id="25" name="object 25" descr=""/>
            <p:cNvSpPr/>
            <p:nvPr/>
          </p:nvSpPr>
          <p:spPr>
            <a:xfrm>
              <a:off x="18896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604" y="0"/>
                  </a:lnTo>
                  <a:lnTo>
                    <a:pt x="5117604" y="7620"/>
                  </a:lnTo>
                  <a:lnTo>
                    <a:pt x="5117604" y="3196590"/>
                  </a:lnTo>
                  <a:lnTo>
                    <a:pt x="7632" y="3196590"/>
                  </a:lnTo>
                  <a:lnTo>
                    <a:pt x="7632" y="3197098"/>
                  </a:lnTo>
                  <a:lnTo>
                    <a:pt x="4584" y="3197098"/>
                  </a:lnTo>
                  <a:lnTo>
                    <a:pt x="4584" y="3196590"/>
                  </a:lnTo>
                  <a:lnTo>
                    <a:pt x="7632" y="3196590"/>
                  </a:lnTo>
                  <a:lnTo>
                    <a:pt x="7632" y="7620"/>
                  </a:lnTo>
                  <a:lnTo>
                    <a:pt x="5117604" y="7620"/>
                  </a:lnTo>
                  <a:lnTo>
                    <a:pt x="5117604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92024" y="4315968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172466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1086612" y="4617720"/>
            <a:ext cx="4201795" cy="2562225"/>
            <a:chOff x="1086612" y="4617720"/>
            <a:chExt cx="4201795" cy="2562225"/>
          </a:xfrm>
        </p:grpSpPr>
        <p:pic>
          <p:nvPicPr>
            <p:cNvPr id="29" name="object 2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51732" y="6966204"/>
              <a:ext cx="1336548" cy="213360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86612" y="4937760"/>
              <a:ext cx="2017776" cy="2019299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02663" y="4956048"/>
              <a:ext cx="560832" cy="199644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15568" y="5358892"/>
              <a:ext cx="188976" cy="1153160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33144" y="6737604"/>
              <a:ext cx="1123187" cy="176783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109472" y="4948427"/>
              <a:ext cx="1971039" cy="1968500"/>
            </a:xfrm>
            <a:custGeom>
              <a:avLst/>
              <a:gdLst/>
              <a:ahLst/>
              <a:cxnLst/>
              <a:rect l="l" t="t" r="r" b="b"/>
              <a:pathLst>
                <a:path w="1971039" h="1968500">
                  <a:moveTo>
                    <a:pt x="788098" y="25400"/>
                  </a:moveTo>
                  <a:lnTo>
                    <a:pt x="753703" y="25400"/>
                  </a:lnTo>
                  <a:lnTo>
                    <a:pt x="844628" y="0"/>
                  </a:lnTo>
                  <a:lnTo>
                    <a:pt x="885598" y="0"/>
                  </a:lnTo>
                  <a:lnTo>
                    <a:pt x="788098" y="25400"/>
                  </a:lnTo>
                  <a:close/>
                </a:path>
                <a:path w="1971039" h="1968500">
                  <a:moveTo>
                    <a:pt x="1218263" y="25400"/>
                  </a:moveTo>
                  <a:lnTo>
                    <a:pt x="1183076" y="25400"/>
                  </a:lnTo>
                  <a:lnTo>
                    <a:pt x="1085954" y="0"/>
                  </a:lnTo>
                  <a:lnTo>
                    <a:pt x="1127394" y="0"/>
                  </a:lnTo>
                  <a:lnTo>
                    <a:pt x="1218263" y="25400"/>
                  </a:lnTo>
                  <a:close/>
                </a:path>
                <a:path w="1971039" h="1968500">
                  <a:moveTo>
                    <a:pt x="677070" y="47546"/>
                  </a:moveTo>
                  <a:lnTo>
                    <a:pt x="694027" y="38100"/>
                  </a:lnTo>
                  <a:lnTo>
                    <a:pt x="740602" y="25400"/>
                  </a:lnTo>
                  <a:lnTo>
                    <a:pt x="753703" y="25400"/>
                  </a:lnTo>
                  <a:lnTo>
                    <a:pt x="677070" y="47546"/>
                  </a:lnTo>
                  <a:close/>
                </a:path>
                <a:path w="1971039" h="1968500">
                  <a:moveTo>
                    <a:pt x="1292659" y="46912"/>
                  </a:moveTo>
                  <a:lnTo>
                    <a:pt x="1218263" y="25400"/>
                  </a:lnTo>
                  <a:lnTo>
                    <a:pt x="1230424" y="25400"/>
                  </a:lnTo>
                  <a:lnTo>
                    <a:pt x="1276876" y="38100"/>
                  </a:lnTo>
                  <a:lnTo>
                    <a:pt x="1292659" y="46912"/>
                  </a:lnTo>
                  <a:close/>
                </a:path>
                <a:path w="1971039" h="1968500">
                  <a:moveTo>
                    <a:pt x="1448578" y="113138"/>
                  </a:moveTo>
                  <a:lnTo>
                    <a:pt x="1410216" y="101600"/>
                  </a:lnTo>
                  <a:lnTo>
                    <a:pt x="1366837" y="76200"/>
                  </a:lnTo>
                  <a:lnTo>
                    <a:pt x="1322369" y="63500"/>
                  </a:lnTo>
                  <a:lnTo>
                    <a:pt x="1292659" y="46912"/>
                  </a:lnTo>
                  <a:lnTo>
                    <a:pt x="1390050" y="76200"/>
                  </a:lnTo>
                  <a:lnTo>
                    <a:pt x="1430624" y="101600"/>
                  </a:lnTo>
                  <a:lnTo>
                    <a:pt x="1448578" y="113138"/>
                  </a:lnTo>
                  <a:close/>
                </a:path>
                <a:path w="1971039" h="1968500">
                  <a:moveTo>
                    <a:pt x="524098" y="112519"/>
                  </a:moveTo>
                  <a:lnTo>
                    <a:pt x="541113" y="101600"/>
                  </a:lnTo>
                  <a:lnTo>
                    <a:pt x="581741" y="76200"/>
                  </a:lnTo>
                  <a:lnTo>
                    <a:pt x="677070" y="47546"/>
                  </a:lnTo>
                  <a:lnTo>
                    <a:pt x="648433" y="63500"/>
                  </a:lnTo>
                  <a:lnTo>
                    <a:pt x="603885" y="76200"/>
                  </a:lnTo>
                  <a:lnTo>
                    <a:pt x="560443" y="101600"/>
                  </a:lnTo>
                  <a:lnTo>
                    <a:pt x="524098" y="112519"/>
                  </a:lnTo>
                  <a:close/>
                </a:path>
                <a:path w="1971039" h="1968500">
                  <a:moveTo>
                    <a:pt x="493216" y="129745"/>
                  </a:moveTo>
                  <a:lnTo>
                    <a:pt x="518171" y="114300"/>
                  </a:lnTo>
                  <a:lnTo>
                    <a:pt x="524098" y="112519"/>
                  </a:lnTo>
                  <a:lnTo>
                    <a:pt x="501534" y="127000"/>
                  </a:lnTo>
                  <a:lnTo>
                    <a:pt x="493216" y="129745"/>
                  </a:lnTo>
                  <a:close/>
                </a:path>
                <a:path w="1971039" h="1968500">
                  <a:moveTo>
                    <a:pt x="1476143" y="128982"/>
                  </a:moveTo>
                  <a:lnTo>
                    <a:pt x="1470146" y="127000"/>
                  </a:lnTo>
                  <a:lnTo>
                    <a:pt x="1448578" y="113138"/>
                  </a:lnTo>
                  <a:lnTo>
                    <a:pt x="1452440" y="114300"/>
                  </a:lnTo>
                  <a:lnTo>
                    <a:pt x="1476143" y="128982"/>
                  </a:lnTo>
                  <a:close/>
                </a:path>
                <a:path w="1971039" h="1968500">
                  <a:moveTo>
                    <a:pt x="1432263" y="1853673"/>
                  </a:moveTo>
                  <a:lnTo>
                    <a:pt x="1493445" y="1816100"/>
                  </a:lnTo>
                  <a:lnTo>
                    <a:pt x="1533167" y="1790700"/>
                  </a:lnTo>
                  <a:lnTo>
                    <a:pt x="1571541" y="1765300"/>
                  </a:lnTo>
                  <a:lnTo>
                    <a:pt x="1608501" y="1739900"/>
                  </a:lnTo>
                  <a:lnTo>
                    <a:pt x="1643984" y="1701800"/>
                  </a:lnTo>
                  <a:lnTo>
                    <a:pt x="1677924" y="1676400"/>
                  </a:lnTo>
                  <a:lnTo>
                    <a:pt x="1710543" y="1638300"/>
                  </a:lnTo>
                  <a:lnTo>
                    <a:pt x="1741494" y="1600200"/>
                  </a:lnTo>
                  <a:lnTo>
                    <a:pt x="1770717" y="1562100"/>
                  </a:lnTo>
                  <a:lnTo>
                    <a:pt x="1798153" y="1524000"/>
                  </a:lnTo>
                  <a:lnTo>
                    <a:pt x="1823740" y="1485900"/>
                  </a:lnTo>
                  <a:lnTo>
                    <a:pt x="1847418" y="1447800"/>
                  </a:lnTo>
                  <a:lnTo>
                    <a:pt x="1869127" y="1409700"/>
                  </a:lnTo>
                  <a:lnTo>
                    <a:pt x="1888807" y="1358900"/>
                  </a:lnTo>
                  <a:lnTo>
                    <a:pt x="1906397" y="1320800"/>
                  </a:lnTo>
                  <a:lnTo>
                    <a:pt x="1921838" y="1270000"/>
                  </a:lnTo>
                  <a:lnTo>
                    <a:pt x="1935068" y="1219200"/>
                  </a:lnTo>
                  <a:lnTo>
                    <a:pt x="1946029" y="1181100"/>
                  </a:lnTo>
                  <a:lnTo>
                    <a:pt x="1954658" y="1130300"/>
                  </a:lnTo>
                  <a:lnTo>
                    <a:pt x="1960896" y="1079500"/>
                  </a:lnTo>
                  <a:lnTo>
                    <a:pt x="1964684" y="1028700"/>
                  </a:lnTo>
                  <a:lnTo>
                    <a:pt x="1965960" y="977900"/>
                  </a:lnTo>
                  <a:lnTo>
                    <a:pt x="1964684" y="927100"/>
                  </a:lnTo>
                  <a:lnTo>
                    <a:pt x="1960896" y="876300"/>
                  </a:lnTo>
                  <a:lnTo>
                    <a:pt x="1954658" y="825500"/>
                  </a:lnTo>
                  <a:lnTo>
                    <a:pt x="1946029" y="787400"/>
                  </a:lnTo>
                  <a:lnTo>
                    <a:pt x="1935068" y="736600"/>
                  </a:lnTo>
                  <a:lnTo>
                    <a:pt x="1921838" y="685800"/>
                  </a:lnTo>
                  <a:lnTo>
                    <a:pt x="1906397" y="647700"/>
                  </a:lnTo>
                  <a:lnTo>
                    <a:pt x="1888807" y="596900"/>
                  </a:lnTo>
                  <a:lnTo>
                    <a:pt x="1869127" y="558800"/>
                  </a:lnTo>
                  <a:lnTo>
                    <a:pt x="1847418" y="508000"/>
                  </a:lnTo>
                  <a:lnTo>
                    <a:pt x="1823740" y="469900"/>
                  </a:lnTo>
                  <a:lnTo>
                    <a:pt x="1798153" y="431800"/>
                  </a:lnTo>
                  <a:lnTo>
                    <a:pt x="1770717" y="393700"/>
                  </a:lnTo>
                  <a:lnTo>
                    <a:pt x="1741494" y="355600"/>
                  </a:lnTo>
                  <a:lnTo>
                    <a:pt x="1710543" y="317500"/>
                  </a:lnTo>
                  <a:lnTo>
                    <a:pt x="1677924" y="292100"/>
                  </a:lnTo>
                  <a:lnTo>
                    <a:pt x="1643984" y="254000"/>
                  </a:lnTo>
                  <a:lnTo>
                    <a:pt x="1608501" y="228600"/>
                  </a:lnTo>
                  <a:lnTo>
                    <a:pt x="1571541" y="190500"/>
                  </a:lnTo>
                  <a:lnTo>
                    <a:pt x="1533167" y="165100"/>
                  </a:lnTo>
                  <a:lnTo>
                    <a:pt x="1493445" y="139700"/>
                  </a:lnTo>
                  <a:lnTo>
                    <a:pt x="1476143" y="128982"/>
                  </a:lnTo>
                  <a:lnTo>
                    <a:pt x="1508564" y="139700"/>
                  </a:lnTo>
                  <a:lnTo>
                    <a:pt x="1545828" y="165100"/>
                  </a:lnTo>
                  <a:lnTo>
                    <a:pt x="1581885" y="190500"/>
                  </a:lnTo>
                  <a:lnTo>
                    <a:pt x="1616685" y="228600"/>
                  </a:lnTo>
                  <a:lnTo>
                    <a:pt x="1650175" y="254000"/>
                  </a:lnTo>
                  <a:lnTo>
                    <a:pt x="1682305" y="279400"/>
                  </a:lnTo>
                  <a:lnTo>
                    <a:pt x="1713023" y="317500"/>
                  </a:lnTo>
                  <a:lnTo>
                    <a:pt x="1742278" y="342900"/>
                  </a:lnTo>
                  <a:lnTo>
                    <a:pt x="1770017" y="381000"/>
                  </a:lnTo>
                  <a:lnTo>
                    <a:pt x="1796191" y="419100"/>
                  </a:lnTo>
                  <a:lnTo>
                    <a:pt x="1820747" y="457200"/>
                  </a:lnTo>
                  <a:lnTo>
                    <a:pt x="1843634" y="495300"/>
                  </a:lnTo>
                  <a:lnTo>
                    <a:pt x="1864801" y="533400"/>
                  </a:lnTo>
                  <a:lnTo>
                    <a:pt x="1884196" y="571500"/>
                  </a:lnTo>
                  <a:lnTo>
                    <a:pt x="1901767" y="622300"/>
                  </a:lnTo>
                  <a:lnTo>
                    <a:pt x="1917464" y="660400"/>
                  </a:lnTo>
                  <a:lnTo>
                    <a:pt x="1931234" y="698500"/>
                  </a:lnTo>
                  <a:lnTo>
                    <a:pt x="1943028" y="749300"/>
                  </a:lnTo>
                  <a:lnTo>
                    <a:pt x="1952792" y="787400"/>
                  </a:lnTo>
                  <a:lnTo>
                    <a:pt x="1960476" y="838200"/>
                  </a:lnTo>
                  <a:lnTo>
                    <a:pt x="1966028" y="889000"/>
                  </a:lnTo>
                  <a:lnTo>
                    <a:pt x="1969397" y="927100"/>
                  </a:lnTo>
                  <a:lnTo>
                    <a:pt x="1970532" y="977900"/>
                  </a:lnTo>
                  <a:lnTo>
                    <a:pt x="1969397" y="1028700"/>
                  </a:lnTo>
                  <a:lnTo>
                    <a:pt x="1966028" y="1079500"/>
                  </a:lnTo>
                  <a:lnTo>
                    <a:pt x="1960476" y="1117600"/>
                  </a:lnTo>
                  <a:lnTo>
                    <a:pt x="1952792" y="1168400"/>
                  </a:lnTo>
                  <a:lnTo>
                    <a:pt x="1943028" y="1206500"/>
                  </a:lnTo>
                  <a:lnTo>
                    <a:pt x="1931234" y="1257300"/>
                  </a:lnTo>
                  <a:lnTo>
                    <a:pt x="1917464" y="1295400"/>
                  </a:lnTo>
                  <a:lnTo>
                    <a:pt x="1901767" y="1346200"/>
                  </a:lnTo>
                  <a:lnTo>
                    <a:pt x="1884196" y="1384300"/>
                  </a:lnTo>
                  <a:lnTo>
                    <a:pt x="1864801" y="1422400"/>
                  </a:lnTo>
                  <a:lnTo>
                    <a:pt x="1843634" y="1460500"/>
                  </a:lnTo>
                  <a:lnTo>
                    <a:pt x="1820747" y="1498600"/>
                  </a:lnTo>
                  <a:lnTo>
                    <a:pt x="1796191" y="1536700"/>
                  </a:lnTo>
                  <a:lnTo>
                    <a:pt x="1770017" y="1574800"/>
                  </a:lnTo>
                  <a:lnTo>
                    <a:pt x="1742278" y="1612900"/>
                  </a:lnTo>
                  <a:lnTo>
                    <a:pt x="1713023" y="1638300"/>
                  </a:lnTo>
                  <a:lnTo>
                    <a:pt x="1682305" y="1676400"/>
                  </a:lnTo>
                  <a:lnTo>
                    <a:pt x="1650175" y="1701800"/>
                  </a:lnTo>
                  <a:lnTo>
                    <a:pt x="1616685" y="1739900"/>
                  </a:lnTo>
                  <a:lnTo>
                    <a:pt x="1581885" y="1765300"/>
                  </a:lnTo>
                  <a:lnTo>
                    <a:pt x="1545828" y="1790700"/>
                  </a:lnTo>
                  <a:lnTo>
                    <a:pt x="1508564" y="1816100"/>
                  </a:lnTo>
                  <a:lnTo>
                    <a:pt x="1470146" y="1841500"/>
                  </a:lnTo>
                  <a:lnTo>
                    <a:pt x="1432263" y="1853673"/>
                  </a:lnTo>
                  <a:close/>
                </a:path>
                <a:path w="1971039" h="1968500">
                  <a:moveTo>
                    <a:pt x="537238" y="1852956"/>
                  </a:moveTo>
                  <a:lnTo>
                    <a:pt x="463055" y="1816100"/>
                  </a:lnTo>
                  <a:lnTo>
                    <a:pt x="425729" y="1790700"/>
                  </a:lnTo>
                  <a:lnTo>
                    <a:pt x="389607" y="1765300"/>
                  </a:lnTo>
                  <a:lnTo>
                    <a:pt x="354742" y="1739900"/>
                  </a:lnTo>
                  <a:lnTo>
                    <a:pt x="321185" y="1701800"/>
                  </a:lnTo>
                  <a:lnTo>
                    <a:pt x="288988" y="1676400"/>
                  </a:lnTo>
                  <a:lnTo>
                    <a:pt x="258203" y="1638300"/>
                  </a:lnTo>
                  <a:lnTo>
                    <a:pt x="228882" y="1612900"/>
                  </a:lnTo>
                  <a:lnTo>
                    <a:pt x="201076" y="1574800"/>
                  </a:lnTo>
                  <a:lnTo>
                    <a:pt x="174838" y="1536700"/>
                  </a:lnTo>
                  <a:lnTo>
                    <a:pt x="150219" y="1498600"/>
                  </a:lnTo>
                  <a:lnTo>
                    <a:pt x="127272" y="1460500"/>
                  </a:lnTo>
                  <a:lnTo>
                    <a:pt x="106048" y="1422400"/>
                  </a:lnTo>
                  <a:lnTo>
                    <a:pt x="86599" y="1384300"/>
                  </a:lnTo>
                  <a:lnTo>
                    <a:pt x="68977" y="1346200"/>
                  </a:lnTo>
                  <a:lnTo>
                    <a:pt x="53234" y="1295400"/>
                  </a:lnTo>
                  <a:lnTo>
                    <a:pt x="39422" y="1257300"/>
                  </a:lnTo>
                  <a:lnTo>
                    <a:pt x="27593" y="1206500"/>
                  </a:lnTo>
                  <a:lnTo>
                    <a:pt x="17797" y="1168400"/>
                  </a:lnTo>
                  <a:lnTo>
                    <a:pt x="10089" y="1117600"/>
                  </a:lnTo>
                  <a:lnTo>
                    <a:pt x="4518" y="1079500"/>
                  </a:lnTo>
                  <a:lnTo>
                    <a:pt x="1138" y="1028700"/>
                  </a:lnTo>
                  <a:lnTo>
                    <a:pt x="0" y="977900"/>
                  </a:lnTo>
                  <a:lnTo>
                    <a:pt x="1138" y="927100"/>
                  </a:lnTo>
                  <a:lnTo>
                    <a:pt x="4518" y="889000"/>
                  </a:lnTo>
                  <a:lnTo>
                    <a:pt x="10089" y="838200"/>
                  </a:lnTo>
                  <a:lnTo>
                    <a:pt x="17797" y="787400"/>
                  </a:lnTo>
                  <a:lnTo>
                    <a:pt x="27593" y="749300"/>
                  </a:lnTo>
                  <a:lnTo>
                    <a:pt x="39422" y="698500"/>
                  </a:lnTo>
                  <a:lnTo>
                    <a:pt x="53234" y="660400"/>
                  </a:lnTo>
                  <a:lnTo>
                    <a:pt x="68977" y="622300"/>
                  </a:lnTo>
                  <a:lnTo>
                    <a:pt x="86599" y="571500"/>
                  </a:lnTo>
                  <a:lnTo>
                    <a:pt x="106048" y="533400"/>
                  </a:lnTo>
                  <a:lnTo>
                    <a:pt x="127272" y="495300"/>
                  </a:lnTo>
                  <a:lnTo>
                    <a:pt x="150219" y="457200"/>
                  </a:lnTo>
                  <a:lnTo>
                    <a:pt x="174838" y="419100"/>
                  </a:lnTo>
                  <a:lnTo>
                    <a:pt x="201076" y="381000"/>
                  </a:lnTo>
                  <a:lnTo>
                    <a:pt x="228882" y="342900"/>
                  </a:lnTo>
                  <a:lnTo>
                    <a:pt x="258203" y="317500"/>
                  </a:lnTo>
                  <a:lnTo>
                    <a:pt x="288988" y="279400"/>
                  </a:lnTo>
                  <a:lnTo>
                    <a:pt x="321185" y="254000"/>
                  </a:lnTo>
                  <a:lnTo>
                    <a:pt x="354742" y="228600"/>
                  </a:lnTo>
                  <a:lnTo>
                    <a:pt x="389607" y="190500"/>
                  </a:lnTo>
                  <a:lnTo>
                    <a:pt x="425729" y="165100"/>
                  </a:lnTo>
                  <a:lnTo>
                    <a:pt x="463055" y="139700"/>
                  </a:lnTo>
                  <a:lnTo>
                    <a:pt x="493216" y="129745"/>
                  </a:lnTo>
                  <a:lnTo>
                    <a:pt x="477132" y="139700"/>
                  </a:lnTo>
                  <a:lnTo>
                    <a:pt x="437388" y="165100"/>
                  </a:lnTo>
                  <a:lnTo>
                    <a:pt x="399000" y="190500"/>
                  </a:lnTo>
                  <a:lnTo>
                    <a:pt x="362033" y="228600"/>
                  </a:lnTo>
                  <a:lnTo>
                    <a:pt x="326548" y="254000"/>
                  </a:lnTo>
                  <a:lnTo>
                    <a:pt x="292608" y="292100"/>
                  </a:lnTo>
                  <a:lnTo>
                    <a:pt x="260257" y="317500"/>
                  </a:lnTo>
                  <a:lnTo>
                    <a:pt x="229540" y="355600"/>
                  </a:lnTo>
                  <a:lnTo>
                    <a:pt x="200520" y="393700"/>
                  </a:lnTo>
                  <a:lnTo>
                    <a:pt x="173259" y="431800"/>
                  </a:lnTo>
                  <a:lnTo>
                    <a:pt x="147820" y="469900"/>
                  </a:lnTo>
                  <a:lnTo>
                    <a:pt x="124265" y="508000"/>
                  </a:lnTo>
                  <a:lnTo>
                    <a:pt x="102657" y="558800"/>
                  </a:lnTo>
                  <a:lnTo>
                    <a:pt x="83058" y="596900"/>
                  </a:lnTo>
                  <a:lnTo>
                    <a:pt x="65530" y="647700"/>
                  </a:lnTo>
                  <a:lnTo>
                    <a:pt x="50137" y="685800"/>
                  </a:lnTo>
                  <a:lnTo>
                    <a:pt x="36940" y="736600"/>
                  </a:lnTo>
                  <a:lnTo>
                    <a:pt x="26003" y="787400"/>
                  </a:lnTo>
                  <a:lnTo>
                    <a:pt x="17387" y="825500"/>
                  </a:lnTo>
                  <a:lnTo>
                    <a:pt x="11156" y="876300"/>
                  </a:lnTo>
                  <a:lnTo>
                    <a:pt x="7371" y="927100"/>
                  </a:lnTo>
                  <a:lnTo>
                    <a:pt x="6096" y="977900"/>
                  </a:lnTo>
                  <a:lnTo>
                    <a:pt x="7371" y="1028700"/>
                  </a:lnTo>
                  <a:lnTo>
                    <a:pt x="11156" y="1079500"/>
                  </a:lnTo>
                  <a:lnTo>
                    <a:pt x="17387" y="1130300"/>
                  </a:lnTo>
                  <a:lnTo>
                    <a:pt x="26003" y="1181100"/>
                  </a:lnTo>
                  <a:lnTo>
                    <a:pt x="36940" y="1219200"/>
                  </a:lnTo>
                  <a:lnTo>
                    <a:pt x="50137" y="1270000"/>
                  </a:lnTo>
                  <a:lnTo>
                    <a:pt x="65530" y="1320800"/>
                  </a:lnTo>
                  <a:lnTo>
                    <a:pt x="83058" y="1358900"/>
                  </a:lnTo>
                  <a:lnTo>
                    <a:pt x="102657" y="1409700"/>
                  </a:lnTo>
                  <a:lnTo>
                    <a:pt x="124265" y="1447800"/>
                  </a:lnTo>
                  <a:lnTo>
                    <a:pt x="147820" y="1485900"/>
                  </a:lnTo>
                  <a:lnTo>
                    <a:pt x="173259" y="1524000"/>
                  </a:lnTo>
                  <a:lnTo>
                    <a:pt x="200520" y="1562100"/>
                  </a:lnTo>
                  <a:lnTo>
                    <a:pt x="229540" y="1600200"/>
                  </a:lnTo>
                  <a:lnTo>
                    <a:pt x="260257" y="1638300"/>
                  </a:lnTo>
                  <a:lnTo>
                    <a:pt x="292608" y="1676400"/>
                  </a:lnTo>
                  <a:lnTo>
                    <a:pt x="326548" y="1701800"/>
                  </a:lnTo>
                  <a:lnTo>
                    <a:pt x="362033" y="1739900"/>
                  </a:lnTo>
                  <a:lnTo>
                    <a:pt x="399000" y="1765300"/>
                  </a:lnTo>
                  <a:lnTo>
                    <a:pt x="437388" y="1790700"/>
                  </a:lnTo>
                  <a:lnTo>
                    <a:pt x="477132" y="1816100"/>
                  </a:lnTo>
                  <a:lnTo>
                    <a:pt x="518171" y="1841500"/>
                  </a:lnTo>
                  <a:lnTo>
                    <a:pt x="537238" y="1852956"/>
                  </a:lnTo>
                  <a:close/>
                </a:path>
                <a:path w="1971039" h="1968500">
                  <a:moveTo>
                    <a:pt x="562291" y="1867440"/>
                  </a:moveTo>
                  <a:lnTo>
                    <a:pt x="560332" y="1866833"/>
                  </a:lnTo>
                  <a:lnTo>
                    <a:pt x="537238" y="1852956"/>
                  </a:lnTo>
                  <a:lnTo>
                    <a:pt x="541113" y="1854200"/>
                  </a:lnTo>
                  <a:lnTo>
                    <a:pt x="562291" y="1867440"/>
                  </a:lnTo>
                  <a:close/>
                </a:path>
                <a:path w="1971039" h="1968500">
                  <a:moveTo>
                    <a:pt x="1410452" y="1866833"/>
                  </a:moveTo>
                  <a:lnTo>
                    <a:pt x="1430624" y="1854200"/>
                  </a:lnTo>
                  <a:lnTo>
                    <a:pt x="1432263" y="1853673"/>
                  </a:lnTo>
                  <a:lnTo>
                    <a:pt x="1410452" y="1866833"/>
                  </a:lnTo>
                  <a:close/>
                </a:path>
                <a:path w="1971039" h="1968500">
                  <a:moveTo>
                    <a:pt x="1218263" y="1943100"/>
                  </a:moveTo>
                  <a:lnTo>
                    <a:pt x="1183076" y="1943100"/>
                  </a:lnTo>
                  <a:lnTo>
                    <a:pt x="1322369" y="1905000"/>
                  </a:lnTo>
                  <a:lnTo>
                    <a:pt x="1366837" y="1879600"/>
                  </a:lnTo>
                  <a:lnTo>
                    <a:pt x="1410444" y="1866833"/>
                  </a:lnTo>
                  <a:lnTo>
                    <a:pt x="1390050" y="1879600"/>
                  </a:lnTo>
                  <a:lnTo>
                    <a:pt x="1348476" y="1892300"/>
                  </a:lnTo>
                  <a:lnTo>
                    <a:pt x="1305952" y="1917700"/>
                  </a:lnTo>
                  <a:lnTo>
                    <a:pt x="1218263" y="1943100"/>
                  </a:lnTo>
                  <a:close/>
                </a:path>
                <a:path w="1971039" h="1968500">
                  <a:moveTo>
                    <a:pt x="788098" y="1943100"/>
                  </a:moveTo>
                  <a:lnTo>
                    <a:pt x="753703" y="1943100"/>
                  </a:lnTo>
                  <a:lnTo>
                    <a:pt x="665936" y="1917700"/>
                  </a:lnTo>
                  <a:lnTo>
                    <a:pt x="623366" y="1892300"/>
                  </a:lnTo>
                  <a:lnTo>
                    <a:pt x="581741" y="1879600"/>
                  </a:lnTo>
                  <a:lnTo>
                    <a:pt x="562291" y="1867440"/>
                  </a:lnTo>
                  <a:lnTo>
                    <a:pt x="603885" y="1879600"/>
                  </a:lnTo>
                  <a:lnTo>
                    <a:pt x="648433" y="1905000"/>
                  </a:lnTo>
                  <a:lnTo>
                    <a:pt x="788098" y="1943100"/>
                  </a:lnTo>
                  <a:close/>
                </a:path>
                <a:path w="1971039" h="1968500">
                  <a:moveTo>
                    <a:pt x="885598" y="1955800"/>
                  </a:moveTo>
                  <a:lnTo>
                    <a:pt x="844628" y="1955800"/>
                  </a:lnTo>
                  <a:lnTo>
                    <a:pt x="798797" y="1943100"/>
                  </a:lnTo>
                  <a:lnTo>
                    <a:pt x="836451" y="1943100"/>
                  </a:lnTo>
                  <a:lnTo>
                    <a:pt x="885598" y="1955800"/>
                  </a:lnTo>
                  <a:close/>
                </a:path>
                <a:path w="1971039" h="1968500">
                  <a:moveTo>
                    <a:pt x="1127394" y="1955800"/>
                  </a:moveTo>
                  <a:lnTo>
                    <a:pt x="1085954" y="1955800"/>
                  </a:lnTo>
                  <a:lnTo>
                    <a:pt x="1134898" y="1943100"/>
                  </a:lnTo>
                  <a:lnTo>
                    <a:pt x="1173200" y="1943100"/>
                  </a:lnTo>
                  <a:lnTo>
                    <a:pt x="1127394" y="1955800"/>
                  </a:lnTo>
                  <a:close/>
                </a:path>
                <a:path w="1971039" h="1968500">
                  <a:moveTo>
                    <a:pt x="1033756" y="1968500"/>
                  </a:moveTo>
                  <a:lnTo>
                    <a:pt x="938295" y="1968500"/>
                  </a:lnTo>
                  <a:lnTo>
                    <a:pt x="891145" y="1955800"/>
                  </a:lnTo>
                  <a:lnTo>
                    <a:pt x="1080895" y="1955800"/>
                  </a:lnTo>
                  <a:lnTo>
                    <a:pt x="1033756" y="1968500"/>
                  </a:lnTo>
                  <a:close/>
                </a:path>
              </a:pathLst>
            </a:custGeom>
            <a:solidFill>
              <a:srgbClr val="1616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04544" y="5155692"/>
              <a:ext cx="185927" cy="190499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04544" y="6524244"/>
              <a:ext cx="217931" cy="213359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670048" y="6579107"/>
              <a:ext cx="214883" cy="158496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304544" y="5162804"/>
              <a:ext cx="1527047" cy="1574800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304544" y="5155692"/>
              <a:ext cx="195071" cy="199643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04544" y="6515100"/>
              <a:ext cx="227075" cy="222503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659380" y="6579107"/>
              <a:ext cx="179831" cy="158496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81912" y="5175504"/>
              <a:ext cx="481583" cy="199644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333500" y="5434838"/>
              <a:ext cx="188975" cy="999489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667000" y="6422136"/>
              <a:ext cx="12191" cy="13716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07820" y="6519672"/>
              <a:ext cx="973836" cy="175260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1328927" y="5167883"/>
              <a:ext cx="1533525" cy="1533525"/>
            </a:xfrm>
            <a:custGeom>
              <a:avLst/>
              <a:gdLst/>
              <a:ahLst/>
              <a:cxnLst/>
              <a:rect l="l" t="t" r="r" b="b"/>
              <a:pathLst>
                <a:path w="1533525" h="1533525">
                  <a:moveTo>
                    <a:pt x="766572" y="1533144"/>
                  </a:moveTo>
                  <a:lnTo>
                    <a:pt x="718060" y="1531637"/>
                  </a:lnTo>
                  <a:lnTo>
                    <a:pt x="670354" y="1527176"/>
                  </a:lnTo>
                  <a:lnTo>
                    <a:pt x="623545" y="1519851"/>
                  </a:lnTo>
                  <a:lnTo>
                    <a:pt x="577720" y="1509750"/>
                  </a:lnTo>
                  <a:lnTo>
                    <a:pt x="532971" y="1496964"/>
                  </a:lnTo>
                  <a:lnTo>
                    <a:pt x="489386" y="1481582"/>
                  </a:lnTo>
                  <a:lnTo>
                    <a:pt x="447055" y="1463694"/>
                  </a:lnTo>
                  <a:lnTo>
                    <a:pt x="406067" y="1443388"/>
                  </a:lnTo>
                  <a:lnTo>
                    <a:pt x="366512" y="1420754"/>
                  </a:lnTo>
                  <a:lnTo>
                    <a:pt x="328479" y="1395883"/>
                  </a:lnTo>
                  <a:lnTo>
                    <a:pt x="292058" y="1368863"/>
                  </a:lnTo>
                  <a:lnTo>
                    <a:pt x="257338" y="1339784"/>
                  </a:lnTo>
                  <a:lnTo>
                    <a:pt x="224409" y="1308735"/>
                  </a:lnTo>
                  <a:lnTo>
                    <a:pt x="193360" y="1275805"/>
                  </a:lnTo>
                  <a:lnTo>
                    <a:pt x="164280" y="1241085"/>
                  </a:lnTo>
                  <a:lnTo>
                    <a:pt x="137260" y="1204664"/>
                  </a:lnTo>
                  <a:lnTo>
                    <a:pt x="112389" y="1166631"/>
                  </a:lnTo>
                  <a:lnTo>
                    <a:pt x="89755" y="1127076"/>
                  </a:lnTo>
                  <a:lnTo>
                    <a:pt x="69450" y="1086088"/>
                  </a:lnTo>
                  <a:lnTo>
                    <a:pt x="51561" y="1043757"/>
                  </a:lnTo>
                  <a:lnTo>
                    <a:pt x="36179" y="1000172"/>
                  </a:lnTo>
                  <a:lnTo>
                    <a:pt x="23393" y="955423"/>
                  </a:lnTo>
                  <a:lnTo>
                    <a:pt x="13293" y="909598"/>
                  </a:lnTo>
                  <a:lnTo>
                    <a:pt x="5967" y="862789"/>
                  </a:lnTo>
                  <a:lnTo>
                    <a:pt x="1506" y="815083"/>
                  </a:lnTo>
                  <a:lnTo>
                    <a:pt x="0" y="766572"/>
                  </a:lnTo>
                  <a:lnTo>
                    <a:pt x="1506" y="718060"/>
                  </a:lnTo>
                  <a:lnTo>
                    <a:pt x="5967" y="670354"/>
                  </a:lnTo>
                  <a:lnTo>
                    <a:pt x="13293" y="623545"/>
                  </a:lnTo>
                  <a:lnTo>
                    <a:pt x="23393" y="577720"/>
                  </a:lnTo>
                  <a:lnTo>
                    <a:pt x="36179" y="532971"/>
                  </a:lnTo>
                  <a:lnTo>
                    <a:pt x="51561" y="489386"/>
                  </a:lnTo>
                  <a:lnTo>
                    <a:pt x="69450" y="447055"/>
                  </a:lnTo>
                  <a:lnTo>
                    <a:pt x="89755" y="406067"/>
                  </a:lnTo>
                  <a:lnTo>
                    <a:pt x="112389" y="366512"/>
                  </a:lnTo>
                  <a:lnTo>
                    <a:pt x="137260" y="328479"/>
                  </a:lnTo>
                  <a:lnTo>
                    <a:pt x="164280" y="292058"/>
                  </a:lnTo>
                  <a:lnTo>
                    <a:pt x="193360" y="257338"/>
                  </a:lnTo>
                  <a:lnTo>
                    <a:pt x="224409" y="224409"/>
                  </a:lnTo>
                  <a:lnTo>
                    <a:pt x="257338" y="193360"/>
                  </a:lnTo>
                  <a:lnTo>
                    <a:pt x="292058" y="164280"/>
                  </a:lnTo>
                  <a:lnTo>
                    <a:pt x="328479" y="137260"/>
                  </a:lnTo>
                  <a:lnTo>
                    <a:pt x="366512" y="112389"/>
                  </a:lnTo>
                  <a:lnTo>
                    <a:pt x="406067" y="89755"/>
                  </a:lnTo>
                  <a:lnTo>
                    <a:pt x="447055" y="69450"/>
                  </a:lnTo>
                  <a:lnTo>
                    <a:pt x="489386" y="51561"/>
                  </a:lnTo>
                  <a:lnTo>
                    <a:pt x="532971" y="36179"/>
                  </a:lnTo>
                  <a:lnTo>
                    <a:pt x="577720" y="23393"/>
                  </a:lnTo>
                  <a:lnTo>
                    <a:pt x="623545" y="13293"/>
                  </a:lnTo>
                  <a:lnTo>
                    <a:pt x="670354" y="5967"/>
                  </a:lnTo>
                  <a:lnTo>
                    <a:pt x="718060" y="1506"/>
                  </a:lnTo>
                  <a:lnTo>
                    <a:pt x="766572" y="0"/>
                  </a:lnTo>
                  <a:lnTo>
                    <a:pt x="815083" y="1506"/>
                  </a:lnTo>
                  <a:lnTo>
                    <a:pt x="847863" y="4572"/>
                  </a:lnTo>
                  <a:lnTo>
                    <a:pt x="766572" y="4572"/>
                  </a:lnTo>
                  <a:lnTo>
                    <a:pt x="714425" y="6330"/>
                  </a:lnTo>
                  <a:lnTo>
                    <a:pt x="663215" y="11528"/>
                  </a:lnTo>
                  <a:lnTo>
                    <a:pt x="613052" y="20050"/>
                  </a:lnTo>
                  <a:lnTo>
                    <a:pt x="564049" y="31778"/>
                  </a:lnTo>
                  <a:lnTo>
                    <a:pt x="516315" y="46596"/>
                  </a:lnTo>
                  <a:lnTo>
                    <a:pt x="469963" y="64389"/>
                  </a:lnTo>
                  <a:lnTo>
                    <a:pt x="425103" y="85038"/>
                  </a:lnTo>
                  <a:lnTo>
                    <a:pt x="381846" y="108429"/>
                  </a:lnTo>
                  <a:lnTo>
                    <a:pt x="340304" y="134445"/>
                  </a:lnTo>
                  <a:lnTo>
                    <a:pt x="300587" y="162969"/>
                  </a:lnTo>
                  <a:lnTo>
                    <a:pt x="262807" y="193884"/>
                  </a:lnTo>
                  <a:lnTo>
                    <a:pt x="227076" y="227076"/>
                  </a:lnTo>
                  <a:lnTo>
                    <a:pt x="193884" y="262808"/>
                  </a:lnTo>
                  <a:lnTo>
                    <a:pt x="162969" y="300587"/>
                  </a:lnTo>
                  <a:lnTo>
                    <a:pt x="134445" y="340304"/>
                  </a:lnTo>
                  <a:lnTo>
                    <a:pt x="108429" y="381846"/>
                  </a:lnTo>
                  <a:lnTo>
                    <a:pt x="85038" y="425103"/>
                  </a:lnTo>
                  <a:lnTo>
                    <a:pt x="64389" y="469963"/>
                  </a:lnTo>
                  <a:lnTo>
                    <a:pt x="46596" y="516315"/>
                  </a:lnTo>
                  <a:lnTo>
                    <a:pt x="31778" y="564049"/>
                  </a:lnTo>
                  <a:lnTo>
                    <a:pt x="20050" y="613052"/>
                  </a:lnTo>
                  <a:lnTo>
                    <a:pt x="11528" y="663215"/>
                  </a:lnTo>
                  <a:lnTo>
                    <a:pt x="6330" y="714425"/>
                  </a:lnTo>
                  <a:lnTo>
                    <a:pt x="4572" y="766572"/>
                  </a:lnTo>
                  <a:lnTo>
                    <a:pt x="6208" y="815083"/>
                  </a:lnTo>
                  <a:lnTo>
                    <a:pt x="11528" y="869921"/>
                  </a:lnTo>
                  <a:lnTo>
                    <a:pt x="20050" y="920067"/>
                  </a:lnTo>
                  <a:lnTo>
                    <a:pt x="31778" y="969038"/>
                  </a:lnTo>
                  <a:lnTo>
                    <a:pt x="46596" y="1016717"/>
                  </a:lnTo>
                  <a:lnTo>
                    <a:pt x="64389" y="1062990"/>
                  </a:lnTo>
                  <a:lnTo>
                    <a:pt x="85038" y="1107738"/>
                  </a:lnTo>
                  <a:lnTo>
                    <a:pt x="108429" y="1150845"/>
                  </a:lnTo>
                  <a:lnTo>
                    <a:pt x="134445" y="1192196"/>
                  </a:lnTo>
                  <a:lnTo>
                    <a:pt x="162969" y="1231674"/>
                  </a:lnTo>
                  <a:lnTo>
                    <a:pt x="193884" y="1269162"/>
                  </a:lnTo>
                  <a:lnTo>
                    <a:pt x="227076" y="1304544"/>
                  </a:lnTo>
                  <a:lnTo>
                    <a:pt x="262807" y="1337735"/>
                  </a:lnTo>
                  <a:lnTo>
                    <a:pt x="300587" y="1368650"/>
                  </a:lnTo>
                  <a:lnTo>
                    <a:pt x="340304" y="1397174"/>
                  </a:lnTo>
                  <a:lnTo>
                    <a:pt x="381846" y="1423190"/>
                  </a:lnTo>
                  <a:lnTo>
                    <a:pt x="425103" y="1446581"/>
                  </a:lnTo>
                  <a:lnTo>
                    <a:pt x="469963" y="1467231"/>
                  </a:lnTo>
                  <a:lnTo>
                    <a:pt x="516315" y="1485023"/>
                  </a:lnTo>
                  <a:lnTo>
                    <a:pt x="564049" y="1499841"/>
                  </a:lnTo>
                  <a:lnTo>
                    <a:pt x="613052" y="1511569"/>
                  </a:lnTo>
                  <a:lnTo>
                    <a:pt x="663215" y="1520091"/>
                  </a:lnTo>
                  <a:lnTo>
                    <a:pt x="714425" y="1525289"/>
                  </a:lnTo>
                  <a:lnTo>
                    <a:pt x="766572" y="1527048"/>
                  </a:lnTo>
                  <a:lnTo>
                    <a:pt x="863609" y="1527048"/>
                  </a:lnTo>
                  <a:lnTo>
                    <a:pt x="862789" y="1527176"/>
                  </a:lnTo>
                  <a:lnTo>
                    <a:pt x="815083" y="1531637"/>
                  </a:lnTo>
                  <a:lnTo>
                    <a:pt x="766572" y="1533144"/>
                  </a:lnTo>
                  <a:close/>
                </a:path>
                <a:path w="1533525" h="1533525">
                  <a:moveTo>
                    <a:pt x="863609" y="1527048"/>
                  </a:moveTo>
                  <a:lnTo>
                    <a:pt x="766572" y="1527048"/>
                  </a:lnTo>
                  <a:lnTo>
                    <a:pt x="818717" y="1525289"/>
                  </a:lnTo>
                  <a:lnTo>
                    <a:pt x="869921" y="1520091"/>
                  </a:lnTo>
                  <a:lnTo>
                    <a:pt x="920067" y="1511569"/>
                  </a:lnTo>
                  <a:lnTo>
                    <a:pt x="969038" y="1499841"/>
                  </a:lnTo>
                  <a:lnTo>
                    <a:pt x="1016717" y="1485023"/>
                  </a:lnTo>
                  <a:lnTo>
                    <a:pt x="1062990" y="1467231"/>
                  </a:lnTo>
                  <a:lnTo>
                    <a:pt x="1107738" y="1446581"/>
                  </a:lnTo>
                  <a:lnTo>
                    <a:pt x="1150845" y="1423190"/>
                  </a:lnTo>
                  <a:lnTo>
                    <a:pt x="1192196" y="1397174"/>
                  </a:lnTo>
                  <a:lnTo>
                    <a:pt x="1231674" y="1368650"/>
                  </a:lnTo>
                  <a:lnTo>
                    <a:pt x="1269162" y="1337735"/>
                  </a:lnTo>
                  <a:lnTo>
                    <a:pt x="1304544" y="1304544"/>
                  </a:lnTo>
                  <a:lnTo>
                    <a:pt x="1337735" y="1269162"/>
                  </a:lnTo>
                  <a:lnTo>
                    <a:pt x="1368650" y="1231674"/>
                  </a:lnTo>
                  <a:lnTo>
                    <a:pt x="1397174" y="1192196"/>
                  </a:lnTo>
                  <a:lnTo>
                    <a:pt x="1423190" y="1150845"/>
                  </a:lnTo>
                  <a:lnTo>
                    <a:pt x="1446581" y="1107738"/>
                  </a:lnTo>
                  <a:lnTo>
                    <a:pt x="1467231" y="1062990"/>
                  </a:lnTo>
                  <a:lnTo>
                    <a:pt x="1485023" y="1016717"/>
                  </a:lnTo>
                  <a:lnTo>
                    <a:pt x="1499841" y="969038"/>
                  </a:lnTo>
                  <a:lnTo>
                    <a:pt x="1511569" y="920067"/>
                  </a:lnTo>
                  <a:lnTo>
                    <a:pt x="1520091" y="869921"/>
                  </a:lnTo>
                  <a:lnTo>
                    <a:pt x="1525289" y="818717"/>
                  </a:lnTo>
                  <a:lnTo>
                    <a:pt x="1527048" y="766572"/>
                  </a:lnTo>
                  <a:lnTo>
                    <a:pt x="1525412" y="718060"/>
                  </a:lnTo>
                  <a:lnTo>
                    <a:pt x="1520091" y="663215"/>
                  </a:lnTo>
                  <a:lnTo>
                    <a:pt x="1511569" y="613052"/>
                  </a:lnTo>
                  <a:lnTo>
                    <a:pt x="1499841" y="564049"/>
                  </a:lnTo>
                  <a:lnTo>
                    <a:pt x="1485023" y="516315"/>
                  </a:lnTo>
                  <a:lnTo>
                    <a:pt x="1467231" y="469963"/>
                  </a:lnTo>
                  <a:lnTo>
                    <a:pt x="1446581" y="425103"/>
                  </a:lnTo>
                  <a:lnTo>
                    <a:pt x="1423190" y="381846"/>
                  </a:lnTo>
                  <a:lnTo>
                    <a:pt x="1397174" y="340304"/>
                  </a:lnTo>
                  <a:lnTo>
                    <a:pt x="1368650" y="300587"/>
                  </a:lnTo>
                  <a:lnTo>
                    <a:pt x="1337735" y="262808"/>
                  </a:lnTo>
                  <a:lnTo>
                    <a:pt x="1304544" y="227076"/>
                  </a:lnTo>
                  <a:lnTo>
                    <a:pt x="1269162" y="193884"/>
                  </a:lnTo>
                  <a:lnTo>
                    <a:pt x="1231674" y="162969"/>
                  </a:lnTo>
                  <a:lnTo>
                    <a:pt x="1192196" y="134445"/>
                  </a:lnTo>
                  <a:lnTo>
                    <a:pt x="1150845" y="108429"/>
                  </a:lnTo>
                  <a:lnTo>
                    <a:pt x="1107738" y="85038"/>
                  </a:lnTo>
                  <a:lnTo>
                    <a:pt x="1062990" y="64389"/>
                  </a:lnTo>
                  <a:lnTo>
                    <a:pt x="1016717" y="46596"/>
                  </a:lnTo>
                  <a:lnTo>
                    <a:pt x="969038" y="31778"/>
                  </a:lnTo>
                  <a:lnTo>
                    <a:pt x="920067" y="20050"/>
                  </a:lnTo>
                  <a:lnTo>
                    <a:pt x="869921" y="11528"/>
                  </a:lnTo>
                  <a:lnTo>
                    <a:pt x="818717" y="6330"/>
                  </a:lnTo>
                  <a:lnTo>
                    <a:pt x="766572" y="4572"/>
                  </a:lnTo>
                  <a:lnTo>
                    <a:pt x="847863" y="4572"/>
                  </a:lnTo>
                  <a:lnTo>
                    <a:pt x="909598" y="13293"/>
                  </a:lnTo>
                  <a:lnTo>
                    <a:pt x="955423" y="23393"/>
                  </a:lnTo>
                  <a:lnTo>
                    <a:pt x="1000172" y="36179"/>
                  </a:lnTo>
                  <a:lnTo>
                    <a:pt x="1043757" y="51561"/>
                  </a:lnTo>
                  <a:lnTo>
                    <a:pt x="1086088" y="69450"/>
                  </a:lnTo>
                  <a:lnTo>
                    <a:pt x="1127076" y="89755"/>
                  </a:lnTo>
                  <a:lnTo>
                    <a:pt x="1166631" y="112389"/>
                  </a:lnTo>
                  <a:lnTo>
                    <a:pt x="1204664" y="137260"/>
                  </a:lnTo>
                  <a:lnTo>
                    <a:pt x="1241085" y="164280"/>
                  </a:lnTo>
                  <a:lnTo>
                    <a:pt x="1275805" y="193360"/>
                  </a:lnTo>
                  <a:lnTo>
                    <a:pt x="1308735" y="224409"/>
                  </a:lnTo>
                  <a:lnTo>
                    <a:pt x="1339784" y="257338"/>
                  </a:lnTo>
                  <a:lnTo>
                    <a:pt x="1368863" y="292058"/>
                  </a:lnTo>
                  <a:lnTo>
                    <a:pt x="1395883" y="328479"/>
                  </a:lnTo>
                  <a:lnTo>
                    <a:pt x="1420754" y="366512"/>
                  </a:lnTo>
                  <a:lnTo>
                    <a:pt x="1443388" y="406067"/>
                  </a:lnTo>
                  <a:lnTo>
                    <a:pt x="1463694" y="447055"/>
                  </a:lnTo>
                  <a:lnTo>
                    <a:pt x="1481582" y="489386"/>
                  </a:lnTo>
                  <a:lnTo>
                    <a:pt x="1496964" y="532971"/>
                  </a:lnTo>
                  <a:lnTo>
                    <a:pt x="1509750" y="577720"/>
                  </a:lnTo>
                  <a:lnTo>
                    <a:pt x="1519851" y="623545"/>
                  </a:lnTo>
                  <a:lnTo>
                    <a:pt x="1527176" y="670354"/>
                  </a:lnTo>
                  <a:lnTo>
                    <a:pt x="1531637" y="718060"/>
                  </a:lnTo>
                  <a:lnTo>
                    <a:pt x="1533144" y="766572"/>
                  </a:lnTo>
                  <a:lnTo>
                    <a:pt x="1531637" y="815083"/>
                  </a:lnTo>
                  <a:lnTo>
                    <a:pt x="1527176" y="862789"/>
                  </a:lnTo>
                  <a:lnTo>
                    <a:pt x="1519851" y="909598"/>
                  </a:lnTo>
                  <a:lnTo>
                    <a:pt x="1509750" y="955423"/>
                  </a:lnTo>
                  <a:lnTo>
                    <a:pt x="1496964" y="1000172"/>
                  </a:lnTo>
                  <a:lnTo>
                    <a:pt x="1481582" y="1043757"/>
                  </a:lnTo>
                  <a:lnTo>
                    <a:pt x="1463694" y="1086088"/>
                  </a:lnTo>
                  <a:lnTo>
                    <a:pt x="1443388" y="1127076"/>
                  </a:lnTo>
                  <a:lnTo>
                    <a:pt x="1420754" y="1166631"/>
                  </a:lnTo>
                  <a:lnTo>
                    <a:pt x="1395883" y="1204664"/>
                  </a:lnTo>
                  <a:lnTo>
                    <a:pt x="1368863" y="1241085"/>
                  </a:lnTo>
                  <a:lnTo>
                    <a:pt x="1339784" y="1275805"/>
                  </a:lnTo>
                  <a:lnTo>
                    <a:pt x="1308735" y="1308735"/>
                  </a:lnTo>
                  <a:lnTo>
                    <a:pt x="1275805" y="1339784"/>
                  </a:lnTo>
                  <a:lnTo>
                    <a:pt x="1241085" y="1368863"/>
                  </a:lnTo>
                  <a:lnTo>
                    <a:pt x="1204664" y="1395883"/>
                  </a:lnTo>
                  <a:lnTo>
                    <a:pt x="1166631" y="1420754"/>
                  </a:lnTo>
                  <a:lnTo>
                    <a:pt x="1127076" y="1443388"/>
                  </a:lnTo>
                  <a:lnTo>
                    <a:pt x="1086088" y="1463694"/>
                  </a:lnTo>
                  <a:lnTo>
                    <a:pt x="1043757" y="1481582"/>
                  </a:lnTo>
                  <a:lnTo>
                    <a:pt x="1000172" y="1496964"/>
                  </a:lnTo>
                  <a:lnTo>
                    <a:pt x="955423" y="1509750"/>
                  </a:lnTo>
                  <a:lnTo>
                    <a:pt x="909598" y="1519851"/>
                  </a:lnTo>
                  <a:lnTo>
                    <a:pt x="863609" y="1527048"/>
                  </a:lnTo>
                  <a:close/>
                </a:path>
              </a:pathLst>
            </a:custGeom>
            <a:solidFill>
              <a:srgbClr val="1616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522476" y="5375148"/>
              <a:ext cx="48768" cy="48767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522476" y="6446520"/>
              <a:ext cx="74675" cy="73151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593848" y="6448044"/>
              <a:ext cx="73151" cy="71627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22476" y="5375148"/>
              <a:ext cx="1144524" cy="1144523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522476" y="6437376"/>
              <a:ext cx="83820" cy="82295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584703" y="6438900"/>
              <a:ext cx="82296" cy="80771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551432" y="5393690"/>
              <a:ext cx="973835" cy="1083310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1546860" y="5385815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79">
                  <a:moveTo>
                    <a:pt x="548640" y="1097279"/>
                  </a:moveTo>
                  <a:lnTo>
                    <a:pt x="501262" y="1095268"/>
                  </a:lnTo>
                  <a:lnTo>
                    <a:pt x="455012" y="1089342"/>
                  </a:lnTo>
                  <a:lnTo>
                    <a:pt x="410052" y="1079666"/>
                  </a:lnTo>
                  <a:lnTo>
                    <a:pt x="366546" y="1066404"/>
                  </a:lnTo>
                  <a:lnTo>
                    <a:pt x="324659" y="1049720"/>
                  </a:lnTo>
                  <a:lnTo>
                    <a:pt x="284554" y="1029777"/>
                  </a:lnTo>
                  <a:lnTo>
                    <a:pt x="246396" y="1006741"/>
                  </a:lnTo>
                  <a:lnTo>
                    <a:pt x="210348" y="980774"/>
                  </a:lnTo>
                  <a:lnTo>
                    <a:pt x="176574" y="952041"/>
                  </a:lnTo>
                  <a:lnTo>
                    <a:pt x="145238" y="920705"/>
                  </a:lnTo>
                  <a:lnTo>
                    <a:pt x="116505" y="886932"/>
                  </a:lnTo>
                  <a:lnTo>
                    <a:pt x="90538" y="850883"/>
                  </a:lnTo>
                  <a:lnTo>
                    <a:pt x="67502" y="812725"/>
                  </a:lnTo>
                  <a:lnTo>
                    <a:pt x="47559" y="772620"/>
                  </a:lnTo>
                  <a:lnTo>
                    <a:pt x="30875" y="730733"/>
                  </a:lnTo>
                  <a:lnTo>
                    <a:pt x="17613" y="687227"/>
                  </a:lnTo>
                  <a:lnTo>
                    <a:pt x="7937" y="642267"/>
                  </a:lnTo>
                  <a:lnTo>
                    <a:pt x="2011" y="596017"/>
                  </a:lnTo>
                  <a:lnTo>
                    <a:pt x="0" y="548639"/>
                  </a:lnTo>
                  <a:lnTo>
                    <a:pt x="2011" y="501262"/>
                  </a:lnTo>
                  <a:lnTo>
                    <a:pt x="7937" y="455012"/>
                  </a:lnTo>
                  <a:lnTo>
                    <a:pt x="17613" y="410052"/>
                  </a:lnTo>
                  <a:lnTo>
                    <a:pt x="30875" y="366546"/>
                  </a:lnTo>
                  <a:lnTo>
                    <a:pt x="47559" y="324659"/>
                  </a:lnTo>
                  <a:lnTo>
                    <a:pt x="67502" y="284554"/>
                  </a:lnTo>
                  <a:lnTo>
                    <a:pt x="90538" y="246396"/>
                  </a:lnTo>
                  <a:lnTo>
                    <a:pt x="116505" y="210347"/>
                  </a:lnTo>
                  <a:lnTo>
                    <a:pt x="145238" y="176574"/>
                  </a:lnTo>
                  <a:lnTo>
                    <a:pt x="176574" y="145238"/>
                  </a:lnTo>
                  <a:lnTo>
                    <a:pt x="210348" y="116505"/>
                  </a:lnTo>
                  <a:lnTo>
                    <a:pt x="246396" y="90538"/>
                  </a:lnTo>
                  <a:lnTo>
                    <a:pt x="284554" y="67502"/>
                  </a:lnTo>
                  <a:lnTo>
                    <a:pt x="324659" y="47559"/>
                  </a:lnTo>
                  <a:lnTo>
                    <a:pt x="366546" y="30875"/>
                  </a:lnTo>
                  <a:lnTo>
                    <a:pt x="410052" y="17613"/>
                  </a:lnTo>
                  <a:lnTo>
                    <a:pt x="455012" y="7937"/>
                  </a:lnTo>
                  <a:lnTo>
                    <a:pt x="501262" y="2011"/>
                  </a:lnTo>
                  <a:lnTo>
                    <a:pt x="548640" y="0"/>
                  </a:lnTo>
                  <a:lnTo>
                    <a:pt x="595801" y="2011"/>
                  </a:lnTo>
                  <a:lnTo>
                    <a:pt x="615710" y="4571"/>
                  </a:lnTo>
                  <a:lnTo>
                    <a:pt x="548640" y="4571"/>
                  </a:lnTo>
                  <a:lnTo>
                    <a:pt x="498943" y="6798"/>
                  </a:lnTo>
                  <a:lnTo>
                    <a:pt x="450564" y="13352"/>
                  </a:lnTo>
                  <a:lnTo>
                    <a:pt x="403690" y="24045"/>
                  </a:lnTo>
                  <a:lnTo>
                    <a:pt x="358510" y="38689"/>
                  </a:lnTo>
                  <a:lnTo>
                    <a:pt x="315210" y="57096"/>
                  </a:lnTo>
                  <a:lnTo>
                    <a:pt x="273981" y="79078"/>
                  </a:lnTo>
                  <a:lnTo>
                    <a:pt x="235009" y="104447"/>
                  </a:lnTo>
                  <a:lnTo>
                    <a:pt x="198483" y="133014"/>
                  </a:lnTo>
                  <a:lnTo>
                    <a:pt x="164591" y="164591"/>
                  </a:lnTo>
                  <a:lnTo>
                    <a:pt x="133014" y="198483"/>
                  </a:lnTo>
                  <a:lnTo>
                    <a:pt x="104447" y="235009"/>
                  </a:lnTo>
                  <a:lnTo>
                    <a:pt x="79078" y="273981"/>
                  </a:lnTo>
                  <a:lnTo>
                    <a:pt x="57096" y="315210"/>
                  </a:lnTo>
                  <a:lnTo>
                    <a:pt x="38689" y="358510"/>
                  </a:lnTo>
                  <a:lnTo>
                    <a:pt x="24045" y="403690"/>
                  </a:lnTo>
                  <a:lnTo>
                    <a:pt x="13352" y="450564"/>
                  </a:lnTo>
                  <a:lnTo>
                    <a:pt x="6798" y="498943"/>
                  </a:lnTo>
                  <a:lnTo>
                    <a:pt x="4572" y="548639"/>
                  </a:lnTo>
                  <a:lnTo>
                    <a:pt x="6713" y="596017"/>
                  </a:lnTo>
                  <a:lnTo>
                    <a:pt x="13352" y="645925"/>
                  </a:lnTo>
                  <a:lnTo>
                    <a:pt x="24045" y="692573"/>
                  </a:lnTo>
                  <a:lnTo>
                    <a:pt x="38689" y="737641"/>
                  </a:lnTo>
                  <a:lnTo>
                    <a:pt x="57096" y="780940"/>
                  </a:lnTo>
                  <a:lnTo>
                    <a:pt x="79078" y="822282"/>
                  </a:lnTo>
                  <a:lnTo>
                    <a:pt x="104447" y="861480"/>
                  </a:lnTo>
                  <a:lnTo>
                    <a:pt x="133014" y="898344"/>
                  </a:lnTo>
                  <a:lnTo>
                    <a:pt x="164591" y="932688"/>
                  </a:lnTo>
                  <a:lnTo>
                    <a:pt x="198483" y="963811"/>
                  </a:lnTo>
                  <a:lnTo>
                    <a:pt x="235009" y="992025"/>
                  </a:lnTo>
                  <a:lnTo>
                    <a:pt x="273981" y="1017128"/>
                  </a:lnTo>
                  <a:lnTo>
                    <a:pt x="315210" y="1038920"/>
                  </a:lnTo>
                  <a:lnTo>
                    <a:pt x="358510" y="1057200"/>
                  </a:lnTo>
                  <a:lnTo>
                    <a:pt x="403690" y="1071767"/>
                  </a:lnTo>
                  <a:lnTo>
                    <a:pt x="450564" y="1082420"/>
                  </a:lnTo>
                  <a:lnTo>
                    <a:pt x="498943" y="1088959"/>
                  </a:lnTo>
                  <a:lnTo>
                    <a:pt x="548640" y="1091184"/>
                  </a:lnTo>
                  <a:lnTo>
                    <a:pt x="627562" y="1091184"/>
                  </a:lnTo>
                  <a:lnTo>
                    <a:pt x="595801" y="1095268"/>
                  </a:lnTo>
                  <a:lnTo>
                    <a:pt x="548640" y="1097279"/>
                  </a:lnTo>
                  <a:close/>
                </a:path>
                <a:path w="1097280" h="1097279">
                  <a:moveTo>
                    <a:pt x="627562" y="1091184"/>
                  </a:moveTo>
                  <a:lnTo>
                    <a:pt x="548640" y="1091184"/>
                  </a:lnTo>
                  <a:lnTo>
                    <a:pt x="597884" y="1088959"/>
                  </a:lnTo>
                  <a:lnTo>
                    <a:pt x="645925" y="1082420"/>
                  </a:lnTo>
                  <a:lnTo>
                    <a:pt x="692573" y="1071767"/>
                  </a:lnTo>
                  <a:lnTo>
                    <a:pt x="737641" y="1057200"/>
                  </a:lnTo>
                  <a:lnTo>
                    <a:pt x="780940" y="1038920"/>
                  </a:lnTo>
                  <a:lnTo>
                    <a:pt x="822282" y="1017128"/>
                  </a:lnTo>
                  <a:lnTo>
                    <a:pt x="861480" y="992025"/>
                  </a:lnTo>
                  <a:lnTo>
                    <a:pt x="898344" y="963811"/>
                  </a:lnTo>
                  <a:lnTo>
                    <a:pt x="932688" y="932688"/>
                  </a:lnTo>
                  <a:lnTo>
                    <a:pt x="963811" y="898344"/>
                  </a:lnTo>
                  <a:lnTo>
                    <a:pt x="992025" y="861480"/>
                  </a:lnTo>
                  <a:lnTo>
                    <a:pt x="1017128" y="822282"/>
                  </a:lnTo>
                  <a:lnTo>
                    <a:pt x="1038920" y="780940"/>
                  </a:lnTo>
                  <a:lnTo>
                    <a:pt x="1057200" y="737641"/>
                  </a:lnTo>
                  <a:lnTo>
                    <a:pt x="1071767" y="692573"/>
                  </a:lnTo>
                  <a:lnTo>
                    <a:pt x="1082420" y="645925"/>
                  </a:lnTo>
                  <a:lnTo>
                    <a:pt x="1088959" y="597884"/>
                  </a:lnTo>
                  <a:lnTo>
                    <a:pt x="1091184" y="548639"/>
                  </a:lnTo>
                  <a:lnTo>
                    <a:pt x="1089063" y="501262"/>
                  </a:lnTo>
                  <a:lnTo>
                    <a:pt x="1082420" y="450564"/>
                  </a:lnTo>
                  <a:lnTo>
                    <a:pt x="1071767" y="403690"/>
                  </a:lnTo>
                  <a:lnTo>
                    <a:pt x="1057200" y="358510"/>
                  </a:lnTo>
                  <a:lnTo>
                    <a:pt x="1038920" y="315210"/>
                  </a:lnTo>
                  <a:lnTo>
                    <a:pt x="1017128" y="273981"/>
                  </a:lnTo>
                  <a:lnTo>
                    <a:pt x="992025" y="235009"/>
                  </a:lnTo>
                  <a:lnTo>
                    <a:pt x="963811" y="198483"/>
                  </a:lnTo>
                  <a:lnTo>
                    <a:pt x="932688" y="164591"/>
                  </a:lnTo>
                  <a:lnTo>
                    <a:pt x="898344" y="133014"/>
                  </a:lnTo>
                  <a:lnTo>
                    <a:pt x="861480" y="104447"/>
                  </a:lnTo>
                  <a:lnTo>
                    <a:pt x="822282" y="79078"/>
                  </a:lnTo>
                  <a:lnTo>
                    <a:pt x="780940" y="57096"/>
                  </a:lnTo>
                  <a:lnTo>
                    <a:pt x="737641" y="38689"/>
                  </a:lnTo>
                  <a:lnTo>
                    <a:pt x="692573" y="24045"/>
                  </a:lnTo>
                  <a:lnTo>
                    <a:pt x="645925" y="13352"/>
                  </a:lnTo>
                  <a:lnTo>
                    <a:pt x="597884" y="6798"/>
                  </a:lnTo>
                  <a:lnTo>
                    <a:pt x="548640" y="4571"/>
                  </a:lnTo>
                  <a:lnTo>
                    <a:pt x="615710" y="4571"/>
                  </a:lnTo>
                  <a:lnTo>
                    <a:pt x="686715" y="17613"/>
                  </a:lnTo>
                  <a:lnTo>
                    <a:pt x="730133" y="30875"/>
                  </a:lnTo>
                  <a:lnTo>
                    <a:pt x="771967" y="47559"/>
                  </a:lnTo>
                  <a:lnTo>
                    <a:pt x="812049" y="67502"/>
                  </a:lnTo>
                  <a:lnTo>
                    <a:pt x="850212" y="90538"/>
                  </a:lnTo>
                  <a:lnTo>
                    <a:pt x="886286" y="116505"/>
                  </a:lnTo>
                  <a:lnTo>
                    <a:pt x="920105" y="145238"/>
                  </a:lnTo>
                  <a:lnTo>
                    <a:pt x="951501" y="176574"/>
                  </a:lnTo>
                  <a:lnTo>
                    <a:pt x="980305" y="210347"/>
                  </a:lnTo>
                  <a:lnTo>
                    <a:pt x="1006349" y="246396"/>
                  </a:lnTo>
                  <a:lnTo>
                    <a:pt x="1029465" y="284554"/>
                  </a:lnTo>
                  <a:lnTo>
                    <a:pt x="1049486" y="324659"/>
                  </a:lnTo>
                  <a:lnTo>
                    <a:pt x="1066244" y="366546"/>
                  </a:lnTo>
                  <a:lnTo>
                    <a:pt x="1079570" y="410052"/>
                  </a:lnTo>
                  <a:lnTo>
                    <a:pt x="1089297" y="455012"/>
                  </a:lnTo>
                  <a:lnTo>
                    <a:pt x="1095256" y="501262"/>
                  </a:lnTo>
                  <a:lnTo>
                    <a:pt x="1097280" y="548639"/>
                  </a:lnTo>
                  <a:lnTo>
                    <a:pt x="1095256" y="596017"/>
                  </a:lnTo>
                  <a:lnTo>
                    <a:pt x="1089297" y="642267"/>
                  </a:lnTo>
                  <a:lnTo>
                    <a:pt x="1079570" y="687227"/>
                  </a:lnTo>
                  <a:lnTo>
                    <a:pt x="1066244" y="730733"/>
                  </a:lnTo>
                  <a:lnTo>
                    <a:pt x="1049486" y="772620"/>
                  </a:lnTo>
                  <a:lnTo>
                    <a:pt x="1029465" y="812725"/>
                  </a:lnTo>
                  <a:lnTo>
                    <a:pt x="1006349" y="850883"/>
                  </a:lnTo>
                  <a:lnTo>
                    <a:pt x="980305" y="886932"/>
                  </a:lnTo>
                  <a:lnTo>
                    <a:pt x="951501" y="920705"/>
                  </a:lnTo>
                  <a:lnTo>
                    <a:pt x="920105" y="952041"/>
                  </a:lnTo>
                  <a:lnTo>
                    <a:pt x="886286" y="980774"/>
                  </a:lnTo>
                  <a:lnTo>
                    <a:pt x="850212" y="1006741"/>
                  </a:lnTo>
                  <a:lnTo>
                    <a:pt x="812049" y="1029777"/>
                  </a:lnTo>
                  <a:lnTo>
                    <a:pt x="771967" y="1049720"/>
                  </a:lnTo>
                  <a:lnTo>
                    <a:pt x="730133" y="1066404"/>
                  </a:lnTo>
                  <a:lnTo>
                    <a:pt x="686715" y="1079666"/>
                  </a:lnTo>
                  <a:lnTo>
                    <a:pt x="641882" y="1089342"/>
                  </a:lnTo>
                  <a:lnTo>
                    <a:pt x="627562" y="1091184"/>
                  </a:lnTo>
                  <a:close/>
                </a:path>
              </a:pathLst>
            </a:custGeom>
            <a:solidFill>
              <a:srgbClr val="1616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740408" y="5593080"/>
              <a:ext cx="708659" cy="707135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770888" y="5612892"/>
              <a:ext cx="586740" cy="646175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1764792" y="5603747"/>
              <a:ext cx="660400" cy="660400"/>
            </a:xfrm>
            <a:custGeom>
              <a:avLst/>
              <a:gdLst/>
              <a:ahLst/>
              <a:cxnLst/>
              <a:rect l="l" t="t" r="r" b="b"/>
              <a:pathLst>
                <a:path w="660400" h="660400">
                  <a:moveTo>
                    <a:pt x="330708" y="659892"/>
                  </a:moveTo>
                  <a:lnTo>
                    <a:pt x="281785" y="656312"/>
                  </a:lnTo>
                  <a:lnTo>
                    <a:pt x="235109" y="645918"/>
                  </a:lnTo>
                  <a:lnTo>
                    <a:pt x="191188" y="629224"/>
                  </a:lnTo>
                  <a:lnTo>
                    <a:pt x="150530" y="606745"/>
                  </a:lnTo>
                  <a:lnTo>
                    <a:pt x="113643" y="578997"/>
                  </a:lnTo>
                  <a:lnTo>
                    <a:pt x="81037" y="546495"/>
                  </a:lnTo>
                  <a:lnTo>
                    <a:pt x="53219" y="509754"/>
                  </a:lnTo>
                  <a:lnTo>
                    <a:pt x="30698" y="469290"/>
                  </a:lnTo>
                  <a:lnTo>
                    <a:pt x="13982" y="425617"/>
                  </a:lnTo>
                  <a:lnTo>
                    <a:pt x="3580" y="379251"/>
                  </a:lnTo>
                  <a:lnTo>
                    <a:pt x="0" y="330708"/>
                  </a:lnTo>
                  <a:lnTo>
                    <a:pt x="3580" y="281785"/>
                  </a:lnTo>
                  <a:lnTo>
                    <a:pt x="13982" y="235109"/>
                  </a:lnTo>
                  <a:lnTo>
                    <a:pt x="30698" y="191188"/>
                  </a:lnTo>
                  <a:lnTo>
                    <a:pt x="53219" y="150530"/>
                  </a:lnTo>
                  <a:lnTo>
                    <a:pt x="81037" y="113643"/>
                  </a:lnTo>
                  <a:lnTo>
                    <a:pt x="113643" y="81037"/>
                  </a:lnTo>
                  <a:lnTo>
                    <a:pt x="150530" y="53219"/>
                  </a:lnTo>
                  <a:lnTo>
                    <a:pt x="191188" y="30698"/>
                  </a:lnTo>
                  <a:lnTo>
                    <a:pt x="235109" y="13982"/>
                  </a:lnTo>
                  <a:lnTo>
                    <a:pt x="281785" y="3580"/>
                  </a:lnTo>
                  <a:lnTo>
                    <a:pt x="330708" y="0"/>
                  </a:lnTo>
                  <a:lnTo>
                    <a:pt x="379251" y="3580"/>
                  </a:lnTo>
                  <a:lnTo>
                    <a:pt x="390464" y="6095"/>
                  </a:lnTo>
                  <a:lnTo>
                    <a:pt x="330708" y="6095"/>
                  </a:lnTo>
                  <a:lnTo>
                    <a:pt x="277953" y="10216"/>
                  </a:lnTo>
                  <a:lnTo>
                    <a:pt x="227978" y="22238"/>
                  </a:lnTo>
                  <a:lnTo>
                    <a:pt x="181368" y="41647"/>
                  </a:lnTo>
                  <a:lnTo>
                    <a:pt x="138708" y="67933"/>
                  </a:lnTo>
                  <a:lnTo>
                    <a:pt x="100584" y="100584"/>
                  </a:lnTo>
                  <a:lnTo>
                    <a:pt x="67933" y="138708"/>
                  </a:lnTo>
                  <a:lnTo>
                    <a:pt x="41647" y="181368"/>
                  </a:lnTo>
                  <a:lnTo>
                    <a:pt x="22238" y="227978"/>
                  </a:lnTo>
                  <a:lnTo>
                    <a:pt x="10216" y="277953"/>
                  </a:lnTo>
                  <a:lnTo>
                    <a:pt x="6096" y="330708"/>
                  </a:lnTo>
                  <a:lnTo>
                    <a:pt x="10216" y="383450"/>
                  </a:lnTo>
                  <a:lnTo>
                    <a:pt x="22238" y="433340"/>
                  </a:lnTo>
                  <a:lnTo>
                    <a:pt x="41647" y="479718"/>
                  </a:lnTo>
                  <a:lnTo>
                    <a:pt x="67933" y="521927"/>
                  </a:lnTo>
                  <a:lnTo>
                    <a:pt x="100584" y="559308"/>
                  </a:lnTo>
                  <a:lnTo>
                    <a:pt x="138708" y="592116"/>
                  </a:lnTo>
                  <a:lnTo>
                    <a:pt x="181368" y="618780"/>
                  </a:lnTo>
                  <a:lnTo>
                    <a:pt x="227978" y="638641"/>
                  </a:lnTo>
                  <a:lnTo>
                    <a:pt x="277953" y="651040"/>
                  </a:lnTo>
                  <a:lnTo>
                    <a:pt x="330708" y="655320"/>
                  </a:lnTo>
                  <a:lnTo>
                    <a:pt x="383679" y="655320"/>
                  </a:lnTo>
                  <a:lnTo>
                    <a:pt x="379251" y="656312"/>
                  </a:lnTo>
                  <a:lnTo>
                    <a:pt x="330708" y="659892"/>
                  </a:lnTo>
                  <a:close/>
                </a:path>
                <a:path w="660400" h="660400">
                  <a:moveTo>
                    <a:pt x="383679" y="655320"/>
                  </a:moveTo>
                  <a:lnTo>
                    <a:pt x="330708" y="655320"/>
                  </a:lnTo>
                  <a:lnTo>
                    <a:pt x="382865" y="651040"/>
                  </a:lnTo>
                  <a:lnTo>
                    <a:pt x="432681" y="638641"/>
                  </a:lnTo>
                  <a:lnTo>
                    <a:pt x="479279" y="618780"/>
                  </a:lnTo>
                  <a:lnTo>
                    <a:pt x="521781" y="592116"/>
                  </a:lnTo>
                  <a:lnTo>
                    <a:pt x="559308" y="559308"/>
                  </a:lnTo>
                  <a:lnTo>
                    <a:pt x="592116" y="521927"/>
                  </a:lnTo>
                  <a:lnTo>
                    <a:pt x="618780" y="479718"/>
                  </a:lnTo>
                  <a:lnTo>
                    <a:pt x="638641" y="433340"/>
                  </a:lnTo>
                  <a:lnTo>
                    <a:pt x="651040" y="383450"/>
                  </a:lnTo>
                  <a:lnTo>
                    <a:pt x="655320" y="330708"/>
                  </a:lnTo>
                  <a:lnTo>
                    <a:pt x="651040" y="277953"/>
                  </a:lnTo>
                  <a:lnTo>
                    <a:pt x="638641" y="227978"/>
                  </a:lnTo>
                  <a:lnTo>
                    <a:pt x="618780" y="181368"/>
                  </a:lnTo>
                  <a:lnTo>
                    <a:pt x="592116" y="138708"/>
                  </a:lnTo>
                  <a:lnTo>
                    <a:pt x="559308" y="100584"/>
                  </a:lnTo>
                  <a:lnTo>
                    <a:pt x="521781" y="67933"/>
                  </a:lnTo>
                  <a:lnTo>
                    <a:pt x="479279" y="41647"/>
                  </a:lnTo>
                  <a:lnTo>
                    <a:pt x="432681" y="22238"/>
                  </a:lnTo>
                  <a:lnTo>
                    <a:pt x="382865" y="10216"/>
                  </a:lnTo>
                  <a:lnTo>
                    <a:pt x="330708" y="6095"/>
                  </a:lnTo>
                  <a:lnTo>
                    <a:pt x="390464" y="6095"/>
                  </a:lnTo>
                  <a:lnTo>
                    <a:pt x="469290" y="30698"/>
                  </a:lnTo>
                  <a:lnTo>
                    <a:pt x="509754" y="53219"/>
                  </a:lnTo>
                  <a:lnTo>
                    <a:pt x="546495" y="81037"/>
                  </a:lnTo>
                  <a:lnTo>
                    <a:pt x="578997" y="113643"/>
                  </a:lnTo>
                  <a:lnTo>
                    <a:pt x="606745" y="150530"/>
                  </a:lnTo>
                  <a:lnTo>
                    <a:pt x="629224" y="191188"/>
                  </a:lnTo>
                  <a:lnTo>
                    <a:pt x="645918" y="235109"/>
                  </a:lnTo>
                  <a:lnTo>
                    <a:pt x="656312" y="281785"/>
                  </a:lnTo>
                  <a:lnTo>
                    <a:pt x="659892" y="330708"/>
                  </a:lnTo>
                  <a:lnTo>
                    <a:pt x="656312" y="379251"/>
                  </a:lnTo>
                  <a:lnTo>
                    <a:pt x="645918" y="425617"/>
                  </a:lnTo>
                  <a:lnTo>
                    <a:pt x="629224" y="469290"/>
                  </a:lnTo>
                  <a:lnTo>
                    <a:pt x="606745" y="509754"/>
                  </a:lnTo>
                  <a:lnTo>
                    <a:pt x="578997" y="546495"/>
                  </a:lnTo>
                  <a:lnTo>
                    <a:pt x="546495" y="578997"/>
                  </a:lnTo>
                  <a:lnTo>
                    <a:pt x="509754" y="606745"/>
                  </a:lnTo>
                  <a:lnTo>
                    <a:pt x="469290" y="629224"/>
                  </a:lnTo>
                  <a:lnTo>
                    <a:pt x="425617" y="645918"/>
                  </a:lnTo>
                  <a:lnTo>
                    <a:pt x="383679" y="655320"/>
                  </a:lnTo>
                  <a:close/>
                </a:path>
              </a:pathLst>
            </a:custGeom>
            <a:solidFill>
              <a:srgbClr val="16161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959863" y="5811012"/>
              <a:ext cx="266700" cy="271271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988820" y="5833872"/>
              <a:ext cx="204216" cy="207264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982724" y="5821680"/>
              <a:ext cx="224028" cy="224028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134868" y="4617720"/>
              <a:ext cx="301751" cy="62483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3159252" y="4629912"/>
              <a:ext cx="247015" cy="15240"/>
            </a:xfrm>
            <a:custGeom>
              <a:avLst/>
              <a:gdLst/>
              <a:ahLst/>
              <a:cxnLst/>
              <a:rect l="l" t="t" r="r" b="b"/>
              <a:pathLst>
                <a:path w="247014" h="15239">
                  <a:moveTo>
                    <a:pt x="246888" y="15240"/>
                  </a:moveTo>
                  <a:lnTo>
                    <a:pt x="0" y="15240"/>
                  </a:lnTo>
                  <a:lnTo>
                    <a:pt x="0" y="0"/>
                  </a:lnTo>
                  <a:lnTo>
                    <a:pt x="246888" y="0"/>
                  </a:lnTo>
                  <a:lnTo>
                    <a:pt x="246888" y="1524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881884" y="4678680"/>
              <a:ext cx="304800" cy="307848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171700" y="5788152"/>
              <a:ext cx="54863" cy="188976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063496" y="5611368"/>
              <a:ext cx="163067" cy="199644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063496" y="4619244"/>
              <a:ext cx="1071371" cy="367284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063496" y="4949952"/>
              <a:ext cx="295655" cy="228600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2063496" y="5167884"/>
              <a:ext cx="163067" cy="469392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063496" y="5811012"/>
              <a:ext cx="123444" cy="32003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063496" y="5823204"/>
              <a:ext cx="143255" cy="153924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3134868" y="4619244"/>
              <a:ext cx="51816" cy="60959"/>
            </a:xfrm>
            <a:prstGeom prst="rect">
              <a:avLst/>
            </a:prstGeom>
          </p:spPr>
        </p:pic>
        <p:sp>
          <p:nvSpPr>
            <p:cNvPr id="72" name="object 72" descr=""/>
            <p:cNvSpPr/>
            <p:nvPr/>
          </p:nvSpPr>
          <p:spPr>
            <a:xfrm>
              <a:off x="2089404" y="4632960"/>
              <a:ext cx="1074420" cy="1306195"/>
            </a:xfrm>
            <a:custGeom>
              <a:avLst/>
              <a:gdLst/>
              <a:ahLst/>
              <a:cxnLst/>
              <a:rect l="l" t="t" r="r" b="b"/>
              <a:pathLst>
                <a:path w="1074420" h="1306195">
                  <a:moveTo>
                    <a:pt x="12191" y="1306068"/>
                  </a:moveTo>
                  <a:lnTo>
                    <a:pt x="0" y="1296924"/>
                  </a:lnTo>
                  <a:lnTo>
                    <a:pt x="1063752" y="0"/>
                  </a:lnTo>
                  <a:lnTo>
                    <a:pt x="1074420" y="9143"/>
                  </a:lnTo>
                  <a:lnTo>
                    <a:pt x="12191" y="130606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3134868" y="4983480"/>
              <a:ext cx="301751" cy="62483"/>
            </a:xfrm>
            <a:prstGeom prst="rect">
              <a:avLst/>
            </a:prstGeom>
          </p:spPr>
        </p:pic>
        <p:sp>
          <p:nvSpPr>
            <p:cNvPr id="74" name="object 74" descr=""/>
            <p:cNvSpPr/>
            <p:nvPr/>
          </p:nvSpPr>
          <p:spPr>
            <a:xfrm>
              <a:off x="3159252" y="4995672"/>
              <a:ext cx="247015" cy="17145"/>
            </a:xfrm>
            <a:custGeom>
              <a:avLst/>
              <a:gdLst/>
              <a:ahLst/>
              <a:cxnLst/>
              <a:rect l="l" t="t" r="r" b="b"/>
              <a:pathLst>
                <a:path w="247014" h="17145">
                  <a:moveTo>
                    <a:pt x="246888" y="16764"/>
                  </a:moveTo>
                  <a:lnTo>
                    <a:pt x="0" y="16764"/>
                  </a:lnTo>
                  <a:lnTo>
                    <a:pt x="0" y="0"/>
                  </a:lnTo>
                  <a:lnTo>
                    <a:pt x="246888" y="0"/>
                  </a:lnTo>
                  <a:lnTo>
                    <a:pt x="246888" y="16764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2365248" y="6117336"/>
              <a:ext cx="6095" cy="9144"/>
            </a:xfrm>
            <a:prstGeom prst="rect">
              <a:avLst/>
            </a:prstGeom>
          </p:spPr>
        </p:pic>
        <p:pic>
          <p:nvPicPr>
            <p:cNvPr id="76" name="object 76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2226563" y="5975604"/>
              <a:ext cx="144780" cy="150876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104388" y="4986528"/>
              <a:ext cx="30479" cy="73151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2743200" y="4986528"/>
              <a:ext cx="361187" cy="335279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2724911" y="5155692"/>
              <a:ext cx="160020" cy="178307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2586227" y="5183123"/>
              <a:ext cx="286512" cy="170688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2581656" y="5347716"/>
              <a:ext cx="12191" cy="6096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2310384" y="5611368"/>
              <a:ext cx="60960" cy="141732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2226563" y="5689092"/>
              <a:ext cx="144780" cy="288035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2307336" y="5684520"/>
              <a:ext cx="64008" cy="79248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2226563" y="5811012"/>
              <a:ext cx="4572" cy="166116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2226563" y="5638800"/>
              <a:ext cx="68580" cy="123444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2345436" y="4986528"/>
              <a:ext cx="530351" cy="350519"/>
            </a:xfrm>
            <a:prstGeom prst="rect">
              <a:avLst/>
            </a:prstGeom>
          </p:spPr>
        </p:pic>
        <p:pic>
          <p:nvPicPr>
            <p:cNvPr id="88" name="object 88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2365248" y="4986528"/>
              <a:ext cx="496824" cy="169164"/>
            </a:xfrm>
            <a:prstGeom prst="rect">
              <a:avLst/>
            </a:prstGeom>
          </p:spPr>
        </p:pic>
        <p:pic>
          <p:nvPicPr>
            <p:cNvPr id="89" name="object 89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2226563" y="4986528"/>
              <a:ext cx="463295" cy="169164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2226563" y="5155692"/>
              <a:ext cx="487679" cy="181355"/>
            </a:xfrm>
            <a:prstGeom prst="rect">
              <a:avLst/>
            </a:prstGeom>
          </p:spPr>
        </p:pic>
        <p:pic>
          <p:nvPicPr>
            <p:cNvPr id="91" name="object 91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2226563" y="5186172"/>
              <a:ext cx="345947" cy="188976"/>
            </a:xfrm>
            <a:prstGeom prst="rect">
              <a:avLst/>
            </a:prstGeom>
          </p:spPr>
        </p:pic>
        <p:pic>
          <p:nvPicPr>
            <p:cNvPr id="92" name="object 92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2226563" y="5180076"/>
              <a:ext cx="348995" cy="161543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2226563" y="5375148"/>
              <a:ext cx="144780" cy="85344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2226563" y="5408676"/>
              <a:ext cx="144780" cy="184403"/>
            </a:xfrm>
            <a:prstGeom prst="rect">
              <a:avLst/>
            </a:prstGeom>
          </p:spPr>
        </p:pic>
        <p:pic>
          <p:nvPicPr>
            <p:cNvPr id="95" name="object 95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2226563" y="5402580"/>
              <a:ext cx="144780" cy="64007"/>
            </a:xfrm>
            <a:prstGeom prst="rect">
              <a:avLst/>
            </a:prstGeom>
          </p:spPr>
        </p:pic>
        <p:pic>
          <p:nvPicPr>
            <p:cNvPr id="96" name="object 96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2226563" y="5593080"/>
              <a:ext cx="138684" cy="85343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2563367" y="4986528"/>
              <a:ext cx="316991" cy="367283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2226563" y="5588507"/>
              <a:ext cx="144780" cy="196596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3104388" y="5045964"/>
              <a:ext cx="85343" cy="307848"/>
            </a:xfrm>
            <a:prstGeom prst="rect">
              <a:avLst/>
            </a:prstGeom>
          </p:spPr>
        </p:pic>
        <p:pic>
          <p:nvPicPr>
            <p:cNvPr id="100" name="object 100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2878836" y="5085588"/>
              <a:ext cx="225552" cy="268224"/>
            </a:xfrm>
            <a:prstGeom prst="rect">
              <a:avLst/>
            </a:prstGeom>
          </p:spPr>
        </p:pic>
        <p:pic>
          <p:nvPicPr>
            <p:cNvPr id="101" name="object 101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3134868" y="4986528"/>
              <a:ext cx="54864" cy="62483"/>
            </a:xfrm>
            <a:prstGeom prst="rect">
              <a:avLst/>
            </a:prstGeom>
          </p:spPr>
        </p:pic>
        <p:sp>
          <p:nvSpPr>
            <p:cNvPr id="102" name="object 102" descr=""/>
            <p:cNvSpPr/>
            <p:nvPr/>
          </p:nvSpPr>
          <p:spPr>
            <a:xfrm>
              <a:off x="2252472" y="5000244"/>
              <a:ext cx="913130" cy="1088390"/>
            </a:xfrm>
            <a:custGeom>
              <a:avLst/>
              <a:gdLst/>
              <a:ahLst/>
              <a:cxnLst/>
              <a:rect l="l" t="t" r="r" b="b"/>
              <a:pathLst>
                <a:path w="913130" h="1088389">
                  <a:moveTo>
                    <a:pt x="10668" y="1088135"/>
                  </a:moveTo>
                  <a:lnTo>
                    <a:pt x="0" y="1078991"/>
                  </a:lnTo>
                  <a:lnTo>
                    <a:pt x="902208" y="0"/>
                  </a:lnTo>
                  <a:lnTo>
                    <a:pt x="912876" y="9143"/>
                  </a:lnTo>
                  <a:lnTo>
                    <a:pt x="10668" y="108813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3189732" y="5350764"/>
              <a:ext cx="246887" cy="62483"/>
            </a:xfrm>
            <a:prstGeom prst="rect">
              <a:avLst/>
            </a:prstGeom>
          </p:spPr>
        </p:pic>
        <p:sp>
          <p:nvSpPr>
            <p:cNvPr id="104" name="object 104" descr=""/>
            <p:cNvSpPr/>
            <p:nvPr/>
          </p:nvSpPr>
          <p:spPr>
            <a:xfrm>
              <a:off x="3186684" y="5352288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3134868" y="5352288"/>
              <a:ext cx="53340" cy="0"/>
            </a:xfrm>
            <a:custGeom>
              <a:avLst/>
              <a:gdLst/>
              <a:ahLst/>
              <a:cxnLst/>
              <a:rect l="l" t="t" r="r" b="b"/>
              <a:pathLst>
                <a:path w="53339" h="0">
                  <a:moveTo>
                    <a:pt x="0" y="0"/>
                  </a:moveTo>
                  <a:lnTo>
                    <a:pt x="53339" y="0"/>
                  </a:lnTo>
                </a:path>
              </a:pathLst>
            </a:custGeom>
            <a:ln w="317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3159252" y="5362955"/>
              <a:ext cx="247015" cy="15240"/>
            </a:xfrm>
            <a:custGeom>
              <a:avLst/>
              <a:gdLst/>
              <a:ahLst/>
              <a:cxnLst/>
              <a:rect l="l" t="t" r="r" b="b"/>
              <a:pathLst>
                <a:path w="247014" h="15239">
                  <a:moveTo>
                    <a:pt x="246888" y="15240"/>
                  </a:moveTo>
                  <a:lnTo>
                    <a:pt x="0" y="15240"/>
                  </a:lnTo>
                  <a:lnTo>
                    <a:pt x="0" y="0"/>
                  </a:lnTo>
                  <a:lnTo>
                    <a:pt x="246888" y="0"/>
                  </a:lnTo>
                  <a:lnTo>
                    <a:pt x="246888" y="1524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2534411" y="6254496"/>
              <a:ext cx="7620" cy="10667"/>
            </a:xfrm>
            <a:prstGeom prst="rect">
              <a:avLst/>
            </a:prstGeom>
          </p:spPr>
        </p:pic>
        <p:pic>
          <p:nvPicPr>
            <p:cNvPr id="108" name="object 108" descr="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2371344" y="6126480"/>
              <a:ext cx="170687" cy="138683"/>
            </a:xfrm>
            <a:prstGeom prst="rect">
              <a:avLst/>
            </a:prstGeom>
          </p:spPr>
        </p:pic>
        <p:pic>
          <p:nvPicPr>
            <p:cNvPr id="109" name="object 109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2371344" y="5977128"/>
              <a:ext cx="170687" cy="149351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2371344" y="5757672"/>
              <a:ext cx="170687" cy="219456"/>
            </a:xfrm>
            <a:prstGeom prst="rect">
              <a:avLst/>
            </a:prstGeom>
          </p:spPr>
        </p:pic>
        <p:pic>
          <p:nvPicPr>
            <p:cNvPr id="111" name="object 111" descr="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2564892" y="5353812"/>
              <a:ext cx="294132" cy="228600"/>
            </a:xfrm>
            <a:prstGeom prst="rect">
              <a:avLst/>
            </a:prstGeom>
          </p:spPr>
        </p:pic>
        <p:pic>
          <p:nvPicPr>
            <p:cNvPr id="112" name="object 112" descr="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2619756" y="5375148"/>
              <a:ext cx="111251" cy="135635"/>
            </a:xfrm>
            <a:prstGeom prst="rect">
              <a:avLst/>
            </a:prstGeom>
          </p:spPr>
        </p:pic>
        <p:pic>
          <p:nvPicPr>
            <p:cNvPr id="113" name="object 113" descr="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2449067" y="5375148"/>
              <a:ext cx="217932" cy="307848"/>
            </a:xfrm>
            <a:prstGeom prst="rect">
              <a:avLst/>
            </a:prstGeom>
          </p:spPr>
        </p:pic>
        <p:pic>
          <p:nvPicPr>
            <p:cNvPr id="114" name="object 114" descr="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2386584" y="5519928"/>
              <a:ext cx="192024" cy="324611"/>
            </a:xfrm>
            <a:prstGeom prst="rect">
              <a:avLst/>
            </a:prstGeom>
          </p:spPr>
        </p:pic>
        <p:pic>
          <p:nvPicPr>
            <p:cNvPr id="115" name="object 115" descr="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2444496" y="5516880"/>
              <a:ext cx="138683" cy="170687"/>
            </a:xfrm>
            <a:prstGeom prst="rect">
              <a:avLst/>
            </a:prstGeom>
          </p:spPr>
        </p:pic>
        <p:pic>
          <p:nvPicPr>
            <p:cNvPr id="116" name="object 116" descr="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2371344" y="5375148"/>
              <a:ext cx="173736" cy="560832"/>
            </a:xfrm>
            <a:prstGeom prst="rect">
              <a:avLst/>
            </a:prstGeom>
          </p:spPr>
        </p:pic>
        <p:pic>
          <p:nvPicPr>
            <p:cNvPr id="117" name="object 117" descr="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2371344" y="5353812"/>
              <a:ext cx="190499" cy="21335"/>
            </a:xfrm>
            <a:prstGeom prst="rect">
              <a:avLst/>
            </a:prstGeom>
          </p:spPr>
        </p:pic>
        <p:pic>
          <p:nvPicPr>
            <p:cNvPr id="118" name="object 118" descr="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2371344" y="5353812"/>
              <a:ext cx="208787" cy="254507"/>
            </a:xfrm>
            <a:prstGeom prst="rect">
              <a:avLst/>
            </a:prstGeom>
          </p:spPr>
        </p:pic>
        <p:pic>
          <p:nvPicPr>
            <p:cNvPr id="119" name="object 119" descr="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3104388" y="5411723"/>
              <a:ext cx="85343" cy="300228"/>
            </a:xfrm>
            <a:prstGeom prst="rect">
              <a:avLst/>
            </a:prstGeom>
          </p:spPr>
        </p:pic>
        <p:pic>
          <p:nvPicPr>
            <p:cNvPr id="120" name="object 120" descr="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3005327" y="5446776"/>
              <a:ext cx="99060" cy="265175"/>
            </a:xfrm>
            <a:prstGeom prst="rect">
              <a:avLst/>
            </a:prstGeom>
          </p:spPr>
        </p:pic>
        <p:pic>
          <p:nvPicPr>
            <p:cNvPr id="121" name="object 121" descr="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2868168" y="5558028"/>
              <a:ext cx="187451" cy="153923"/>
            </a:xfrm>
            <a:prstGeom prst="rect">
              <a:avLst/>
            </a:prstGeom>
          </p:spPr>
        </p:pic>
        <p:pic>
          <p:nvPicPr>
            <p:cNvPr id="122" name="object 122" descr="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3104388" y="5353812"/>
              <a:ext cx="30479" cy="68580"/>
            </a:xfrm>
            <a:prstGeom prst="rect">
              <a:avLst/>
            </a:prstGeom>
          </p:spPr>
        </p:pic>
        <p:pic>
          <p:nvPicPr>
            <p:cNvPr id="123" name="object 123" descr="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2891027" y="5353812"/>
              <a:ext cx="213359" cy="187451"/>
            </a:xfrm>
            <a:prstGeom prst="rect">
              <a:avLst/>
            </a:prstGeom>
          </p:spPr>
        </p:pic>
        <p:pic>
          <p:nvPicPr>
            <p:cNvPr id="124" name="object 124" descr="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2884932" y="5356860"/>
              <a:ext cx="109727" cy="312419"/>
            </a:xfrm>
            <a:prstGeom prst="rect">
              <a:avLst/>
            </a:prstGeom>
          </p:spPr>
        </p:pic>
        <p:pic>
          <p:nvPicPr>
            <p:cNvPr id="125" name="object 125" descr="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2884932" y="5353812"/>
              <a:ext cx="114299" cy="192023"/>
            </a:xfrm>
            <a:prstGeom prst="rect">
              <a:avLst/>
            </a:prstGeom>
          </p:spPr>
        </p:pic>
        <p:pic>
          <p:nvPicPr>
            <p:cNvPr id="126" name="object 126" descr="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2740152" y="5353812"/>
              <a:ext cx="144780" cy="358139"/>
            </a:xfrm>
            <a:prstGeom prst="rect">
              <a:avLst/>
            </a:prstGeom>
          </p:spPr>
        </p:pic>
        <p:pic>
          <p:nvPicPr>
            <p:cNvPr id="127" name="object 127" descr="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2667000" y="5524500"/>
              <a:ext cx="156972" cy="187451"/>
            </a:xfrm>
            <a:prstGeom prst="rect">
              <a:avLst/>
            </a:prstGeom>
          </p:spPr>
        </p:pic>
        <p:pic>
          <p:nvPicPr>
            <p:cNvPr id="128" name="object 128" descr="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2735580" y="5519928"/>
              <a:ext cx="92963" cy="192023"/>
            </a:xfrm>
            <a:prstGeom prst="rect">
              <a:avLst/>
            </a:prstGeom>
          </p:spPr>
        </p:pic>
        <p:pic>
          <p:nvPicPr>
            <p:cNvPr id="129" name="object 129" descr="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2578608" y="5608320"/>
              <a:ext cx="88391" cy="103632"/>
            </a:xfrm>
            <a:prstGeom prst="rect">
              <a:avLst/>
            </a:prstGeom>
          </p:spPr>
        </p:pic>
        <p:pic>
          <p:nvPicPr>
            <p:cNvPr id="130" name="object 130" descr="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2560319" y="5353812"/>
              <a:ext cx="316991" cy="358139"/>
            </a:xfrm>
            <a:prstGeom prst="rect">
              <a:avLst/>
            </a:prstGeom>
          </p:spPr>
        </p:pic>
        <p:pic>
          <p:nvPicPr>
            <p:cNvPr id="131" name="object 131" descr="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2371344" y="5734812"/>
              <a:ext cx="170687" cy="224027"/>
            </a:xfrm>
            <a:prstGeom prst="rect">
              <a:avLst/>
            </a:prstGeom>
          </p:spPr>
        </p:pic>
        <p:pic>
          <p:nvPicPr>
            <p:cNvPr id="132" name="object 132" descr="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3134868" y="5352288"/>
              <a:ext cx="54864" cy="62483"/>
            </a:xfrm>
            <a:prstGeom prst="rect">
              <a:avLst/>
            </a:prstGeom>
          </p:spPr>
        </p:pic>
        <p:sp>
          <p:nvSpPr>
            <p:cNvPr id="133" name="object 133" descr=""/>
            <p:cNvSpPr/>
            <p:nvPr/>
          </p:nvSpPr>
          <p:spPr>
            <a:xfrm>
              <a:off x="2397252" y="5366004"/>
              <a:ext cx="768350" cy="861060"/>
            </a:xfrm>
            <a:custGeom>
              <a:avLst/>
              <a:gdLst/>
              <a:ahLst/>
              <a:cxnLst/>
              <a:rect l="l" t="t" r="r" b="b"/>
              <a:pathLst>
                <a:path w="768350" h="861060">
                  <a:moveTo>
                    <a:pt x="10668" y="861060"/>
                  </a:moveTo>
                  <a:lnTo>
                    <a:pt x="0" y="851916"/>
                  </a:lnTo>
                  <a:lnTo>
                    <a:pt x="757428" y="0"/>
                  </a:lnTo>
                  <a:lnTo>
                    <a:pt x="768096" y="9144"/>
                  </a:lnTo>
                  <a:lnTo>
                    <a:pt x="10668" y="86106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4" name="object 134" descr="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3134868" y="5708904"/>
              <a:ext cx="301751" cy="62483"/>
            </a:xfrm>
            <a:prstGeom prst="rect">
              <a:avLst/>
            </a:prstGeom>
          </p:spPr>
        </p:pic>
        <p:sp>
          <p:nvSpPr>
            <p:cNvPr id="135" name="object 135" descr=""/>
            <p:cNvSpPr/>
            <p:nvPr/>
          </p:nvSpPr>
          <p:spPr>
            <a:xfrm>
              <a:off x="3188208" y="5708904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w="0" h="5079">
                  <a:moveTo>
                    <a:pt x="0" y="457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3159252" y="5722620"/>
              <a:ext cx="247015" cy="15240"/>
            </a:xfrm>
            <a:custGeom>
              <a:avLst/>
              <a:gdLst/>
              <a:ahLst/>
              <a:cxnLst/>
              <a:rect l="l" t="t" r="r" b="b"/>
              <a:pathLst>
                <a:path w="247014" h="15239">
                  <a:moveTo>
                    <a:pt x="246888" y="15240"/>
                  </a:moveTo>
                  <a:lnTo>
                    <a:pt x="0" y="15240"/>
                  </a:lnTo>
                  <a:lnTo>
                    <a:pt x="0" y="0"/>
                  </a:lnTo>
                  <a:lnTo>
                    <a:pt x="246888" y="0"/>
                  </a:lnTo>
                  <a:lnTo>
                    <a:pt x="246888" y="1524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7" name="object 137" descr="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2542032" y="6126480"/>
              <a:ext cx="161543" cy="295655"/>
            </a:xfrm>
            <a:prstGeom prst="rect">
              <a:avLst/>
            </a:prstGeom>
          </p:spPr>
        </p:pic>
        <p:pic>
          <p:nvPicPr>
            <p:cNvPr id="138" name="object 138" descr="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2542032" y="6126480"/>
              <a:ext cx="124967" cy="138683"/>
            </a:xfrm>
            <a:prstGeom prst="rect">
              <a:avLst/>
            </a:prstGeom>
          </p:spPr>
        </p:pic>
        <p:pic>
          <p:nvPicPr>
            <p:cNvPr id="139" name="object 139" descr="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2852927" y="5977128"/>
              <a:ext cx="74675" cy="82295"/>
            </a:xfrm>
            <a:prstGeom prst="rect">
              <a:avLst/>
            </a:prstGeom>
          </p:spPr>
        </p:pic>
        <p:pic>
          <p:nvPicPr>
            <p:cNvPr id="140" name="object 140" descr="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2542032" y="5977128"/>
              <a:ext cx="318515" cy="274319"/>
            </a:xfrm>
            <a:prstGeom prst="rect">
              <a:avLst/>
            </a:prstGeom>
          </p:spPr>
        </p:pic>
        <p:pic>
          <p:nvPicPr>
            <p:cNvPr id="141" name="object 141" descr="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3055619" y="5711952"/>
              <a:ext cx="79248" cy="103632"/>
            </a:xfrm>
            <a:prstGeom prst="rect">
              <a:avLst/>
            </a:prstGeom>
          </p:spPr>
        </p:pic>
        <p:pic>
          <p:nvPicPr>
            <p:cNvPr id="142" name="object 142" descr="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2837688" y="5711952"/>
              <a:ext cx="234695" cy="265176"/>
            </a:xfrm>
            <a:prstGeom prst="rect">
              <a:avLst/>
            </a:prstGeom>
          </p:spPr>
        </p:pic>
        <p:pic>
          <p:nvPicPr>
            <p:cNvPr id="143" name="object 143" descr="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2542032" y="5745480"/>
              <a:ext cx="320040" cy="381000"/>
            </a:xfrm>
            <a:prstGeom prst="rect">
              <a:avLst/>
            </a:prstGeom>
          </p:spPr>
        </p:pic>
        <p:pic>
          <p:nvPicPr>
            <p:cNvPr id="144" name="object 144" descr="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2542032" y="5977128"/>
              <a:ext cx="70103" cy="77723"/>
            </a:xfrm>
            <a:prstGeom prst="rect">
              <a:avLst/>
            </a:prstGeom>
          </p:spPr>
        </p:pic>
        <p:pic>
          <p:nvPicPr>
            <p:cNvPr id="145" name="object 145" descr="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2828543" y="5711952"/>
              <a:ext cx="18287" cy="15240"/>
            </a:xfrm>
            <a:prstGeom prst="rect">
              <a:avLst/>
            </a:prstGeom>
          </p:spPr>
        </p:pic>
        <p:pic>
          <p:nvPicPr>
            <p:cNvPr id="146" name="object 146" descr="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2667000" y="5711952"/>
              <a:ext cx="166116" cy="202692"/>
            </a:xfrm>
            <a:prstGeom prst="rect">
              <a:avLst/>
            </a:prstGeom>
          </p:spPr>
        </p:pic>
        <p:pic>
          <p:nvPicPr>
            <p:cNvPr id="147" name="object 147" descr="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2596896" y="5711952"/>
              <a:ext cx="70103" cy="228600"/>
            </a:xfrm>
            <a:prstGeom prst="rect">
              <a:avLst/>
            </a:prstGeom>
          </p:spPr>
        </p:pic>
        <p:pic>
          <p:nvPicPr>
            <p:cNvPr id="148" name="object 148" descr="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2542032" y="5711952"/>
              <a:ext cx="102107" cy="265176"/>
            </a:xfrm>
            <a:prstGeom prst="rect">
              <a:avLst/>
            </a:prstGeom>
          </p:spPr>
        </p:pic>
        <p:pic>
          <p:nvPicPr>
            <p:cNvPr id="149" name="object 149" descr="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2542032" y="5711952"/>
              <a:ext cx="324611" cy="364235"/>
            </a:xfrm>
            <a:prstGeom prst="rect">
              <a:avLst/>
            </a:prstGeom>
          </p:spPr>
        </p:pic>
        <p:pic>
          <p:nvPicPr>
            <p:cNvPr id="150" name="object 150" descr="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3073908" y="5771388"/>
              <a:ext cx="115824" cy="289560"/>
            </a:xfrm>
            <a:prstGeom prst="rect">
              <a:avLst/>
            </a:prstGeom>
          </p:spPr>
        </p:pic>
        <p:pic>
          <p:nvPicPr>
            <p:cNvPr id="151" name="object 151" descr="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2872740" y="5769864"/>
              <a:ext cx="313943" cy="291083"/>
            </a:xfrm>
            <a:prstGeom prst="rect">
              <a:avLst/>
            </a:prstGeom>
          </p:spPr>
        </p:pic>
        <p:pic>
          <p:nvPicPr>
            <p:cNvPr id="152" name="object 152" descr="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2948940" y="5835396"/>
              <a:ext cx="131063" cy="141732"/>
            </a:xfrm>
            <a:prstGeom prst="rect">
              <a:avLst/>
            </a:prstGeom>
          </p:spPr>
        </p:pic>
        <p:pic>
          <p:nvPicPr>
            <p:cNvPr id="153" name="object 153" descr="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3134868" y="5711952"/>
              <a:ext cx="54864" cy="60959"/>
            </a:xfrm>
            <a:prstGeom prst="rect">
              <a:avLst/>
            </a:prstGeom>
          </p:spPr>
        </p:pic>
        <p:sp>
          <p:nvSpPr>
            <p:cNvPr id="154" name="object 154" descr=""/>
            <p:cNvSpPr/>
            <p:nvPr/>
          </p:nvSpPr>
          <p:spPr>
            <a:xfrm>
              <a:off x="2567940" y="5725668"/>
              <a:ext cx="597535" cy="660400"/>
            </a:xfrm>
            <a:custGeom>
              <a:avLst/>
              <a:gdLst/>
              <a:ahLst/>
              <a:cxnLst/>
              <a:rect l="l" t="t" r="r" b="b"/>
              <a:pathLst>
                <a:path w="597535" h="660400">
                  <a:moveTo>
                    <a:pt x="10667" y="659892"/>
                  </a:moveTo>
                  <a:lnTo>
                    <a:pt x="0" y="650748"/>
                  </a:lnTo>
                  <a:lnTo>
                    <a:pt x="586740" y="0"/>
                  </a:lnTo>
                  <a:lnTo>
                    <a:pt x="597408" y="9144"/>
                  </a:lnTo>
                  <a:lnTo>
                    <a:pt x="10667" y="65989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5" name="object 155" descr=""/>
          <p:cNvSpPr txBox="1"/>
          <p:nvPr/>
        </p:nvSpPr>
        <p:spPr>
          <a:xfrm>
            <a:off x="394203" y="4079179"/>
            <a:ext cx="138620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Interleaved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6" name="object 156" descr=""/>
          <p:cNvSpPr txBox="1"/>
          <p:nvPr/>
        </p:nvSpPr>
        <p:spPr>
          <a:xfrm>
            <a:off x="3402632" y="4477022"/>
            <a:ext cx="1018540" cy="189611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50800" marR="234950">
              <a:lnSpc>
                <a:spcPts val="700"/>
              </a:lnSpc>
              <a:spcBef>
                <a:spcPts val="210"/>
              </a:spcBef>
            </a:pPr>
            <a:r>
              <a:rPr dirty="0" sz="650">
                <a:latin typeface="Arial MT"/>
                <a:cs typeface="Arial MT"/>
              </a:rPr>
              <a:t>Composed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of</a:t>
            </a:r>
            <a:r>
              <a:rPr dirty="0" sz="650" spc="75">
                <a:latin typeface="Arial MT"/>
                <a:cs typeface="Arial MT"/>
              </a:rPr>
              <a:t> </a:t>
            </a:r>
            <a:r>
              <a:rPr dirty="0" sz="650" spc="-50">
                <a:latin typeface="Arial MT"/>
                <a:cs typeface="Arial MT"/>
              </a:rPr>
              <a:t>a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collection</a:t>
            </a:r>
            <a:r>
              <a:rPr dirty="0" sz="650" spc="3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of</a:t>
            </a:r>
            <a:r>
              <a:rPr dirty="0" sz="650" spc="45"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DRAM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chips</a:t>
            </a:r>
            <a:endParaRPr sz="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650">
              <a:latin typeface="Arial MT"/>
              <a:cs typeface="Arial MT"/>
            </a:endParaRPr>
          </a:p>
          <a:p>
            <a:pPr marL="50800" marR="176530">
              <a:lnSpc>
                <a:spcPts val="710"/>
              </a:lnSpc>
              <a:spcBef>
                <a:spcPts val="5"/>
              </a:spcBef>
            </a:pPr>
            <a:r>
              <a:rPr dirty="0" sz="650">
                <a:latin typeface="Arial MT"/>
                <a:cs typeface="Arial MT"/>
              </a:rPr>
              <a:t>Grouped</a:t>
            </a:r>
            <a:r>
              <a:rPr dirty="0" sz="650" spc="7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together</a:t>
            </a:r>
            <a:r>
              <a:rPr dirty="0" sz="650" spc="70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to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form</a:t>
            </a:r>
            <a:r>
              <a:rPr dirty="0" sz="650" spc="4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a</a:t>
            </a:r>
            <a:r>
              <a:rPr dirty="0" sz="650" spc="25">
                <a:latin typeface="Arial MT"/>
                <a:cs typeface="Arial MT"/>
              </a:rPr>
              <a:t> </a:t>
            </a:r>
            <a:r>
              <a:rPr dirty="0" sz="650" i="1">
                <a:latin typeface="Arial"/>
                <a:cs typeface="Arial"/>
              </a:rPr>
              <a:t>memory</a:t>
            </a:r>
            <a:r>
              <a:rPr dirty="0" sz="650" spc="65" i="1">
                <a:latin typeface="Arial"/>
                <a:cs typeface="Arial"/>
              </a:rPr>
              <a:t> </a:t>
            </a:r>
            <a:r>
              <a:rPr dirty="0" sz="650" spc="-20" i="1">
                <a:latin typeface="Arial"/>
                <a:cs typeface="Arial"/>
              </a:rPr>
              <a:t>bank</a:t>
            </a: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650">
              <a:latin typeface="Arial"/>
              <a:cs typeface="Arial"/>
            </a:endParaRPr>
          </a:p>
          <a:p>
            <a:pPr marL="50800" marR="43180">
              <a:lnSpc>
                <a:spcPct val="90100"/>
              </a:lnSpc>
            </a:pPr>
            <a:r>
              <a:rPr dirty="0" sz="650">
                <a:latin typeface="Arial MT"/>
                <a:cs typeface="Arial MT"/>
              </a:rPr>
              <a:t>Each</a:t>
            </a:r>
            <a:r>
              <a:rPr dirty="0" sz="650" spc="3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bank</a:t>
            </a:r>
            <a:r>
              <a:rPr dirty="0" sz="650" spc="45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is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independently</a:t>
            </a:r>
            <a:r>
              <a:rPr dirty="0" sz="650" spc="4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able</a:t>
            </a:r>
            <a:r>
              <a:rPr dirty="0" sz="650" spc="65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to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service</a:t>
            </a:r>
            <a:r>
              <a:rPr dirty="0" sz="650" spc="6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a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memory</a:t>
            </a:r>
            <a:r>
              <a:rPr dirty="0" sz="650" spc="25"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read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baseline="4273" sz="975" spc="-547">
                <a:latin typeface="Arial MT"/>
                <a:cs typeface="Arial MT"/>
              </a:rPr>
              <a:t>o</a:t>
            </a:r>
            <a:r>
              <a:rPr dirty="0" sz="650" spc="-80" i="1">
                <a:latin typeface="Arial"/>
                <a:cs typeface="Arial"/>
              </a:rPr>
              <a:t>K</a:t>
            </a:r>
            <a:r>
              <a:rPr dirty="0" baseline="4273" sz="975" spc="44">
                <a:latin typeface="Arial MT"/>
                <a:cs typeface="Arial MT"/>
              </a:rPr>
              <a:t>r</a:t>
            </a:r>
            <a:r>
              <a:rPr dirty="0" sz="650" spc="-215">
                <a:latin typeface="Arial MT"/>
                <a:cs typeface="Arial MT"/>
              </a:rPr>
              <a:t>b</a:t>
            </a:r>
            <a:r>
              <a:rPr dirty="0" baseline="4273" sz="975" spc="-405">
                <a:latin typeface="Arial MT"/>
                <a:cs typeface="Arial MT"/>
              </a:rPr>
              <a:t>w</a:t>
            </a:r>
            <a:r>
              <a:rPr dirty="0" sz="650" spc="-105">
                <a:latin typeface="Arial MT"/>
                <a:cs typeface="Arial MT"/>
              </a:rPr>
              <a:t>a</a:t>
            </a:r>
            <a:r>
              <a:rPr dirty="0" baseline="4273" sz="975" spc="-150">
                <a:latin typeface="Arial MT"/>
                <a:cs typeface="Arial MT"/>
              </a:rPr>
              <a:t>r</a:t>
            </a:r>
            <a:r>
              <a:rPr dirty="0" sz="650" spc="-270">
                <a:latin typeface="Arial MT"/>
                <a:cs typeface="Arial MT"/>
              </a:rPr>
              <a:t>n</a:t>
            </a:r>
            <a:r>
              <a:rPr dirty="0" baseline="4273" sz="975" spc="-15">
                <a:latin typeface="Arial MT"/>
                <a:cs typeface="Arial MT"/>
              </a:rPr>
              <a:t>i</a:t>
            </a:r>
            <a:r>
              <a:rPr dirty="0" baseline="4273" sz="975" spc="-104">
                <a:latin typeface="Arial MT"/>
                <a:cs typeface="Arial MT"/>
              </a:rPr>
              <a:t>t</a:t>
            </a:r>
            <a:r>
              <a:rPr dirty="0" sz="650" spc="-265">
                <a:latin typeface="Arial MT"/>
                <a:cs typeface="Arial MT"/>
              </a:rPr>
              <a:t>k</a:t>
            </a:r>
            <a:r>
              <a:rPr dirty="0" baseline="4273" sz="975" spc="-165">
                <a:latin typeface="Arial MT"/>
                <a:cs typeface="Arial MT"/>
              </a:rPr>
              <a:t>e</a:t>
            </a:r>
            <a:r>
              <a:rPr dirty="0" sz="650" spc="-40">
                <a:latin typeface="Arial MT"/>
                <a:cs typeface="Arial MT"/>
              </a:rPr>
              <a:t>s</a:t>
            </a:r>
            <a:r>
              <a:rPr dirty="0" baseline="4273" sz="975" spc="-7">
                <a:latin typeface="Arial MT"/>
                <a:cs typeface="Arial MT"/>
              </a:rPr>
              <a:t>r</a:t>
            </a:r>
            <a:r>
              <a:rPr dirty="0" sz="650" spc="-325">
                <a:latin typeface="Arial MT"/>
                <a:cs typeface="Arial MT"/>
              </a:rPr>
              <a:t>c</a:t>
            </a:r>
            <a:r>
              <a:rPr dirty="0" baseline="4273" sz="975" spc="-75">
                <a:latin typeface="Arial MT"/>
                <a:cs typeface="Arial MT"/>
              </a:rPr>
              <a:t>e</a:t>
            </a:r>
            <a:r>
              <a:rPr dirty="0" sz="650" spc="-325">
                <a:latin typeface="Arial MT"/>
                <a:cs typeface="Arial MT"/>
              </a:rPr>
              <a:t>a</a:t>
            </a:r>
            <a:r>
              <a:rPr dirty="0" baseline="4273" sz="975" spc="-7">
                <a:latin typeface="Arial MT"/>
                <a:cs typeface="Arial MT"/>
              </a:rPr>
              <a:t>qu</a:t>
            </a:r>
            <a:r>
              <a:rPr dirty="0" baseline="4273" sz="975" spc="-1162">
                <a:latin typeface="Arial MT"/>
                <a:cs typeface="Arial MT"/>
              </a:rPr>
              <a:t>e</a:t>
            </a:r>
            <a:r>
              <a:rPr dirty="0" sz="650">
                <a:latin typeface="Arial MT"/>
                <a:cs typeface="Arial MT"/>
              </a:rPr>
              <a:t>n</a:t>
            </a:r>
            <a:r>
              <a:rPr dirty="0" sz="650" spc="95">
                <a:latin typeface="Arial MT"/>
                <a:cs typeface="Arial MT"/>
              </a:rPr>
              <a:t> </a:t>
            </a:r>
            <a:r>
              <a:rPr dirty="0" sz="650" spc="-55">
                <a:latin typeface="Arial MT"/>
                <a:cs typeface="Arial MT"/>
              </a:rPr>
              <a:t>s</a:t>
            </a:r>
            <a:r>
              <a:rPr dirty="0" baseline="4273" sz="975" spc="-82">
                <a:latin typeface="Arial MT"/>
                <a:cs typeface="Arial MT"/>
              </a:rPr>
              <a:t>s</a:t>
            </a:r>
            <a:r>
              <a:rPr dirty="0" sz="650" spc="-55">
                <a:latin typeface="Arial MT"/>
                <a:cs typeface="Arial MT"/>
              </a:rPr>
              <a:t>e</a:t>
            </a:r>
            <a:r>
              <a:rPr dirty="0" baseline="4273" sz="975" spc="-82">
                <a:latin typeface="Arial MT"/>
                <a:cs typeface="Arial MT"/>
              </a:rPr>
              <a:t>t</a:t>
            </a:r>
            <a:r>
              <a:rPr dirty="0" sz="650" spc="-55">
                <a:latin typeface="Arial MT"/>
                <a:cs typeface="Arial MT"/>
              </a:rPr>
              <a:t>rvice</a:t>
            </a:r>
            <a:r>
              <a:rPr dirty="0" sz="650" spc="110">
                <a:latin typeface="Arial MT"/>
                <a:cs typeface="Arial MT"/>
              </a:rPr>
              <a:t> </a:t>
            </a:r>
            <a:r>
              <a:rPr dirty="0" sz="650" spc="-50" i="1">
                <a:latin typeface="Arial"/>
                <a:cs typeface="Arial"/>
              </a:rPr>
              <a:t>K</a:t>
            </a:r>
            <a:r>
              <a:rPr dirty="0" sz="650" spc="500" i="1">
                <a:latin typeface="Arial"/>
                <a:cs typeface="Arial"/>
              </a:rPr>
              <a:t> </a:t>
            </a:r>
            <a:r>
              <a:rPr dirty="0" sz="650" spc="-10">
                <a:latin typeface="Arial MT"/>
                <a:cs typeface="Arial MT"/>
              </a:rPr>
              <a:t>requests</a:t>
            </a:r>
            <a:r>
              <a:rPr dirty="0" sz="650" spc="500">
                <a:latin typeface="Arial MT"/>
                <a:cs typeface="Arial MT"/>
              </a:rPr>
              <a:t>  </a:t>
            </a:r>
            <a:r>
              <a:rPr dirty="0" sz="650" spc="-10">
                <a:latin typeface="Arial MT"/>
                <a:cs typeface="Arial MT"/>
              </a:rPr>
              <a:t>simultaneously,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increasing</a:t>
            </a:r>
            <a:r>
              <a:rPr dirty="0" sz="650" spc="8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memory</a:t>
            </a:r>
            <a:r>
              <a:rPr dirty="0" sz="650" spc="70"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read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or</a:t>
            </a:r>
            <a:r>
              <a:rPr dirty="0" sz="650" spc="3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write</a:t>
            </a:r>
            <a:r>
              <a:rPr dirty="0" sz="650" spc="3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rates</a:t>
            </a:r>
            <a:r>
              <a:rPr dirty="0" sz="650" spc="1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by</a:t>
            </a:r>
            <a:r>
              <a:rPr dirty="0" sz="650" spc="3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a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factor</a:t>
            </a:r>
            <a:endParaRPr sz="650">
              <a:latin typeface="Arial MT"/>
              <a:cs typeface="Arial MT"/>
            </a:endParaRPr>
          </a:p>
          <a:p>
            <a:pPr marL="60960" marR="81280" indent="-10795">
              <a:lnSpc>
                <a:spcPts val="700"/>
              </a:lnSpc>
              <a:spcBef>
                <a:spcPts val="105"/>
              </a:spcBef>
            </a:pPr>
            <a:r>
              <a:rPr dirty="0" baseline="8547" sz="975" spc="-142">
                <a:latin typeface="Arial MT"/>
                <a:cs typeface="Arial MT"/>
              </a:rPr>
              <a:t>o</a:t>
            </a:r>
            <a:r>
              <a:rPr dirty="0" sz="650" spc="-95">
                <a:latin typeface="Arial MT"/>
                <a:cs typeface="Arial MT"/>
              </a:rPr>
              <a:t>If</a:t>
            </a:r>
            <a:r>
              <a:rPr dirty="0" baseline="8547" sz="975" spc="-142">
                <a:latin typeface="Arial MT"/>
                <a:cs typeface="Arial MT"/>
              </a:rPr>
              <a:t>f</a:t>
            </a:r>
            <a:r>
              <a:rPr dirty="0" baseline="8547" sz="975" spc="-127">
                <a:latin typeface="Arial MT"/>
                <a:cs typeface="Arial MT"/>
              </a:rPr>
              <a:t> </a:t>
            </a:r>
            <a:r>
              <a:rPr dirty="0" sz="650" spc="-35">
                <a:latin typeface="Arial MT"/>
                <a:cs typeface="Arial MT"/>
              </a:rPr>
              <a:t>c</a:t>
            </a:r>
            <a:r>
              <a:rPr dirty="0" baseline="8547" sz="975" spc="-52" i="1">
                <a:latin typeface="Arial"/>
                <a:cs typeface="Arial"/>
              </a:rPr>
              <a:t>K</a:t>
            </a:r>
            <a:r>
              <a:rPr dirty="0" sz="650" spc="-35">
                <a:latin typeface="Arial MT"/>
                <a:cs typeface="Arial MT"/>
              </a:rPr>
              <a:t>onsecutive</a:t>
            </a:r>
            <a:r>
              <a:rPr dirty="0" sz="650" spc="6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words</a:t>
            </a:r>
            <a:r>
              <a:rPr dirty="0" sz="650" spc="80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of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memory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are</a:t>
            </a:r>
            <a:r>
              <a:rPr dirty="0" sz="650" spc="6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stored</a:t>
            </a:r>
            <a:r>
              <a:rPr dirty="0" sz="650" spc="50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in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different</a:t>
            </a:r>
            <a:r>
              <a:rPr dirty="0" sz="650" spc="5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banks,</a:t>
            </a:r>
            <a:r>
              <a:rPr dirty="0" sz="650" spc="60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the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transfer</a:t>
            </a:r>
            <a:r>
              <a:rPr dirty="0" sz="650" spc="2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of</a:t>
            </a:r>
            <a:r>
              <a:rPr dirty="0" sz="650" spc="3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a</a:t>
            </a:r>
            <a:r>
              <a:rPr dirty="0" sz="650" spc="5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block</a:t>
            </a:r>
            <a:r>
              <a:rPr dirty="0" sz="650" spc="45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of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memory</a:t>
            </a:r>
            <a:r>
              <a:rPr dirty="0" sz="650" spc="3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is</a:t>
            </a:r>
            <a:r>
              <a:rPr dirty="0" sz="650" spc="6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speeded</a:t>
            </a:r>
            <a:r>
              <a:rPr dirty="0" sz="650" spc="45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up</a:t>
            </a:r>
            <a:endParaRPr sz="650">
              <a:latin typeface="Arial MT"/>
              <a:cs typeface="Arial MT"/>
            </a:endParaRPr>
          </a:p>
        </p:txBody>
      </p:sp>
      <p:grpSp>
        <p:nvGrpSpPr>
          <p:cNvPr id="157" name="object 157" descr=""/>
          <p:cNvGrpSpPr/>
          <p:nvPr/>
        </p:nvGrpSpPr>
        <p:grpSpPr>
          <a:xfrm>
            <a:off x="2703575" y="6057900"/>
            <a:ext cx="733425" cy="521334"/>
            <a:chOff x="2703575" y="6057900"/>
            <a:chExt cx="733425" cy="521334"/>
          </a:xfrm>
        </p:grpSpPr>
        <p:pic>
          <p:nvPicPr>
            <p:cNvPr id="158" name="object 158" descr="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3134867" y="6057900"/>
              <a:ext cx="301751" cy="62483"/>
            </a:xfrm>
            <a:prstGeom prst="rect">
              <a:avLst/>
            </a:prstGeom>
          </p:spPr>
        </p:pic>
        <p:sp>
          <p:nvSpPr>
            <p:cNvPr id="159" name="object 159" descr=""/>
            <p:cNvSpPr/>
            <p:nvPr/>
          </p:nvSpPr>
          <p:spPr>
            <a:xfrm>
              <a:off x="3159251" y="6070092"/>
              <a:ext cx="247015" cy="17145"/>
            </a:xfrm>
            <a:custGeom>
              <a:avLst/>
              <a:gdLst/>
              <a:ahLst/>
              <a:cxnLst/>
              <a:rect l="l" t="t" r="r" b="b"/>
              <a:pathLst>
                <a:path w="247014" h="17145">
                  <a:moveTo>
                    <a:pt x="246888" y="16763"/>
                  </a:moveTo>
                  <a:lnTo>
                    <a:pt x="0" y="16763"/>
                  </a:lnTo>
                  <a:lnTo>
                    <a:pt x="0" y="0"/>
                  </a:lnTo>
                  <a:lnTo>
                    <a:pt x="246888" y="0"/>
                  </a:lnTo>
                  <a:lnTo>
                    <a:pt x="246888" y="1676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0" name="object 160" descr="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2884931" y="6422135"/>
              <a:ext cx="304800" cy="156971"/>
            </a:xfrm>
            <a:prstGeom prst="rect">
              <a:avLst/>
            </a:prstGeom>
          </p:spPr>
        </p:pic>
        <p:pic>
          <p:nvPicPr>
            <p:cNvPr id="161" name="object 161" descr="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2840735" y="6422135"/>
              <a:ext cx="109728" cy="156971"/>
            </a:xfrm>
            <a:prstGeom prst="rect">
              <a:avLst/>
            </a:prstGeom>
          </p:spPr>
        </p:pic>
        <p:pic>
          <p:nvPicPr>
            <p:cNvPr id="162" name="object 162" descr="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2703575" y="6422135"/>
              <a:ext cx="181356" cy="156971"/>
            </a:xfrm>
            <a:prstGeom prst="rect">
              <a:avLst/>
            </a:prstGeom>
          </p:spPr>
        </p:pic>
        <p:pic>
          <p:nvPicPr>
            <p:cNvPr id="163" name="object 163" descr="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2951988" y="6265164"/>
              <a:ext cx="237743" cy="156971"/>
            </a:xfrm>
            <a:prstGeom prst="rect">
              <a:avLst/>
            </a:prstGeom>
          </p:spPr>
        </p:pic>
        <p:pic>
          <p:nvPicPr>
            <p:cNvPr id="164" name="object 164" descr="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2884931" y="6265164"/>
              <a:ext cx="132587" cy="156971"/>
            </a:xfrm>
            <a:prstGeom prst="rect">
              <a:avLst/>
            </a:prstGeom>
          </p:spPr>
        </p:pic>
        <p:pic>
          <p:nvPicPr>
            <p:cNvPr id="165" name="object 165" descr="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2945891" y="6265164"/>
              <a:ext cx="77724" cy="156971"/>
            </a:xfrm>
            <a:prstGeom prst="rect">
              <a:avLst/>
            </a:prstGeom>
          </p:spPr>
        </p:pic>
        <p:pic>
          <p:nvPicPr>
            <p:cNvPr id="166" name="object 166" descr="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2703575" y="6265164"/>
              <a:ext cx="181356" cy="156971"/>
            </a:xfrm>
            <a:prstGeom prst="rect">
              <a:avLst/>
            </a:prstGeom>
          </p:spPr>
        </p:pic>
        <p:pic>
          <p:nvPicPr>
            <p:cNvPr id="167" name="object 167" descr="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2703575" y="6265164"/>
              <a:ext cx="83820" cy="135635"/>
            </a:xfrm>
            <a:prstGeom prst="rect">
              <a:avLst/>
            </a:prstGeom>
          </p:spPr>
        </p:pic>
        <p:pic>
          <p:nvPicPr>
            <p:cNvPr id="168" name="object 168" descr="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2788919" y="6126480"/>
              <a:ext cx="400812" cy="138683"/>
            </a:xfrm>
            <a:prstGeom prst="rect">
              <a:avLst/>
            </a:prstGeom>
          </p:spPr>
        </p:pic>
        <p:pic>
          <p:nvPicPr>
            <p:cNvPr id="169" name="object 169" descr="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2703575" y="6060948"/>
              <a:ext cx="486156" cy="204216"/>
            </a:xfrm>
            <a:prstGeom prst="rect">
              <a:avLst/>
            </a:prstGeom>
          </p:spPr>
        </p:pic>
        <p:pic>
          <p:nvPicPr>
            <p:cNvPr id="170" name="object 170" descr="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2703575" y="6126480"/>
              <a:ext cx="89916" cy="100583"/>
            </a:xfrm>
            <a:prstGeom prst="rect">
              <a:avLst/>
            </a:prstGeom>
          </p:spPr>
        </p:pic>
        <p:pic>
          <p:nvPicPr>
            <p:cNvPr id="171" name="object 171" descr="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2703575" y="6060948"/>
              <a:ext cx="147827" cy="65532"/>
            </a:xfrm>
            <a:prstGeom prst="rect">
              <a:avLst/>
            </a:prstGeom>
          </p:spPr>
        </p:pic>
        <p:pic>
          <p:nvPicPr>
            <p:cNvPr id="172" name="object 172" descr="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2703575" y="6060948"/>
              <a:ext cx="167640" cy="187451"/>
            </a:xfrm>
            <a:prstGeom prst="rect">
              <a:avLst/>
            </a:prstGeom>
          </p:spPr>
        </p:pic>
        <p:pic>
          <p:nvPicPr>
            <p:cNvPr id="173" name="object 173" descr="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3134867" y="6060948"/>
              <a:ext cx="54864" cy="59435"/>
            </a:xfrm>
            <a:prstGeom prst="rect">
              <a:avLst/>
            </a:prstGeom>
          </p:spPr>
        </p:pic>
        <p:sp>
          <p:nvSpPr>
            <p:cNvPr id="174" name="object 174" descr=""/>
            <p:cNvSpPr/>
            <p:nvPr/>
          </p:nvSpPr>
          <p:spPr>
            <a:xfrm>
              <a:off x="2729483" y="6073139"/>
              <a:ext cx="436245" cy="469900"/>
            </a:xfrm>
            <a:custGeom>
              <a:avLst/>
              <a:gdLst/>
              <a:ahLst/>
              <a:cxnLst/>
              <a:rect l="l" t="t" r="r" b="b"/>
              <a:pathLst>
                <a:path w="436244" h="469900">
                  <a:moveTo>
                    <a:pt x="9143" y="469392"/>
                  </a:moveTo>
                  <a:lnTo>
                    <a:pt x="0" y="458724"/>
                  </a:lnTo>
                  <a:lnTo>
                    <a:pt x="425196" y="0"/>
                  </a:lnTo>
                  <a:lnTo>
                    <a:pt x="435864" y="10667"/>
                  </a:lnTo>
                  <a:lnTo>
                    <a:pt x="9143" y="46939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75" name="object 175" descr=""/>
          <p:cNvGraphicFramePr>
            <a:graphicFrameLocks noGrp="1"/>
          </p:cNvGraphicFramePr>
          <p:nvPr/>
        </p:nvGraphicFramePr>
        <p:xfrm>
          <a:off x="5378196" y="3991610"/>
          <a:ext cx="5201920" cy="3195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77105"/>
                <a:gridCol w="340995"/>
              </a:tblGrid>
              <a:tr h="338455">
                <a:tc>
                  <a:txBody>
                    <a:bodyPr/>
                    <a:lstStyle/>
                    <a:p>
                      <a:pPr marL="21399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12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Error </a:t>
                      </a:r>
                      <a:r>
                        <a:rPr dirty="0" sz="12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Correction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9779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90909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857500">
                <a:tc gridSpan="2">
                  <a:txBody>
                    <a:bodyPr/>
                    <a:lstStyle/>
                    <a:p>
                      <a:pPr marL="37528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Hard</a:t>
                      </a:r>
                      <a:r>
                        <a:rPr dirty="0" sz="1000" spc="5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Failure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560070" indent="-132715">
                        <a:lnSpc>
                          <a:spcPct val="100000"/>
                        </a:lnSpc>
                        <a:spcBef>
                          <a:spcPts val="254"/>
                        </a:spcBef>
                        <a:buChar char="•"/>
                        <a:tabLst>
                          <a:tab pos="560070" algn="l"/>
                        </a:tabLst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Permanent</a:t>
                      </a:r>
                      <a:r>
                        <a:rPr dirty="0" sz="1000" spc="-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physical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defect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559435" marR="286385" indent="-132715">
                        <a:lnSpc>
                          <a:spcPct val="101000"/>
                        </a:lnSpc>
                        <a:spcBef>
                          <a:spcPts val="225"/>
                        </a:spcBef>
                        <a:buChar char="•"/>
                        <a:tabLst>
                          <a:tab pos="561340" algn="l"/>
                        </a:tabLst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Memory</a:t>
                      </a:r>
                      <a:r>
                        <a:rPr dirty="0" sz="1000" spc="-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cell</a:t>
                      </a:r>
                      <a:r>
                        <a:rPr dirty="0" sz="1000" spc="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cells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affected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cannot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reliably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store</a:t>
                      </a:r>
                      <a:r>
                        <a:rPr dirty="0" sz="1000" spc="-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data but become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stuck</a:t>
                      </a:r>
                      <a:r>
                        <a:rPr dirty="0" sz="1000" spc="-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at </a:t>
                      </a:r>
                      <a:r>
                        <a:rPr dirty="0" sz="10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r>
                        <a:rPr dirty="0" sz="1000" spc="-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r>
                        <a:rPr dirty="0" sz="1000" spc="-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switch</a:t>
                      </a:r>
                      <a:r>
                        <a:rPr dirty="0" sz="1000" spc="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erratically</a:t>
                      </a:r>
                      <a:r>
                        <a:rPr dirty="0" sz="1000" spc="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between</a:t>
                      </a:r>
                      <a:r>
                        <a:rPr dirty="0" sz="1000" spc="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and </a:t>
                      </a:r>
                      <a:r>
                        <a:rPr dirty="0" sz="1000" spc="-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560070" indent="-132715">
                        <a:lnSpc>
                          <a:spcPct val="100000"/>
                        </a:lnSpc>
                        <a:spcBef>
                          <a:spcPts val="254"/>
                        </a:spcBef>
                        <a:buChar char="•"/>
                        <a:tabLst>
                          <a:tab pos="560070" algn="l"/>
                        </a:tabLst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Can be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caused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by: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lvl="1" marL="747395" indent="-106680">
                        <a:lnSpc>
                          <a:spcPct val="100000"/>
                        </a:lnSpc>
                        <a:spcBef>
                          <a:spcPts val="185"/>
                        </a:spcBef>
                        <a:buChar char="–"/>
                        <a:tabLst>
                          <a:tab pos="747395" algn="l"/>
                        </a:tabLst>
                      </a:pPr>
                      <a:r>
                        <a:rPr dirty="0" sz="7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Harsh</a:t>
                      </a:r>
                      <a:r>
                        <a:rPr dirty="0" sz="750" spc="-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environmental</a:t>
                      </a:r>
                      <a:r>
                        <a:rPr dirty="0" sz="75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abuse</a:t>
                      </a:r>
                      <a:endParaRPr sz="750">
                        <a:latin typeface="Arial MT"/>
                        <a:cs typeface="Arial MT"/>
                      </a:endParaRPr>
                    </a:p>
                    <a:p>
                      <a:pPr lvl="1" marL="747395" indent="-106680">
                        <a:lnSpc>
                          <a:spcPct val="100000"/>
                        </a:lnSpc>
                        <a:spcBef>
                          <a:spcPts val="170"/>
                        </a:spcBef>
                        <a:buChar char="–"/>
                        <a:tabLst>
                          <a:tab pos="747395" algn="l"/>
                        </a:tabLst>
                      </a:pPr>
                      <a:r>
                        <a:rPr dirty="0" sz="7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Manufacturing</a:t>
                      </a:r>
                      <a:r>
                        <a:rPr dirty="0" sz="750" spc="-3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defects</a:t>
                      </a:r>
                      <a:endParaRPr sz="750">
                        <a:latin typeface="Arial MT"/>
                        <a:cs typeface="Arial MT"/>
                      </a:endParaRPr>
                    </a:p>
                    <a:p>
                      <a:pPr lvl="1" marL="747395" indent="-106680">
                        <a:lnSpc>
                          <a:spcPct val="100000"/>
                        </a:lnSpc>
                        <a:spcBef>
                          <a:spcPts val="180"/>
                        </a:spcBef>
                        <a:buChar char="–"/>
                        <a:tabLst>
                          <a:tab pos="747395" algn="l"/>
                        </a:tabLst>
                      </a:pPr>
                      <a:r>
                        <a:rPr dirty="0" sz="750" spc="-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Wear</a:t>
                      </a:r>
                      <a:endParaRPr sz="750">
                        <a:latin typeface="Arial MT"/>
                        <a:cs typeface="Arial MT"/>
                      </a:endParaRPr>
                    </a:p>
                    <a:p>
                      <a:pPr marL="37528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Soft</a:t>
                      </a:r>
                      <a:r>
                        <a:rPr dirty="0" sz="1000" spc="6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Error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559435" marR="578485" indent="-132715">
                        <a:lnSpc>
                          <a:spcPct val="101000"/>
                        </a:lnSpc>
                        <a:spcBef>
                          <a:spcPts val="254"/>
                        </a:spcBef>
                        <a:buChar char="•"/>
                        <a:tabLst>
                          <a:tab pos="561340" algn="l"/>
                        </a:tabLst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Random,</a:t>
                      </a:r>
                      <a:r>
                        <a:rPr dirty="0" sz="1000" spc="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non-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destructive</a:t>
                      </a:r>
                      <a:r>
                        <a:rPr dirty="0" sz="1000" spc="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event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that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alters the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contents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one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or </a:t>
                      </a:r>
                      <a:r>
                        <a:rPr dirty="0" sz="1000" spc="-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more </a:t>
                      </a:r>
                      <a:r>
                        <a:rPr dirty="0" sz="1000" spc="-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memory</a:t>
                      </a:r>
                      <a:r>
                        <a:rPr dirty="0" sz="1000" spc="-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cells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560070" indent="-132715">
                        <a:lnSpc>
                          <a:spcPct val="100000"/>
                        </a:lnSpc>
                        <a:spcBef>
                          <a:spcPts val="250"/>
                        </a:spcBef>
                        <a:buChar char="•"/>
                        <a:tabLst>
                          <a:tab pos="560070" algn="l"/>
                        </a:tabLst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permanent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damage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memory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560070" indent="-132715">
                        <a:lnSpc>
                          <a:spcPct val="100000"/>
                        </a:lnSpc>
                        <a:spcBef>
                          <a:spcPts val="240"/>
                        </a:spcBef>
                        <a:buChar char="•"/>
                        <a:tabLst>
                          <a:tab pos="560070" algn="l"/>
                        </a:tabLst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Can be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caused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by: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lvl="1" marL="747395" indent="-106680">
                        <a:lnSpc>
                          <a:spcPct val="100000"/>
                        </a:lnSpc>
                        <a:spcBef>
                          <a:spcPts val="180"/>
                        </a:spcBef>
                        <a:buChar char="–"/>
                        <a:tabLst>
                          <a:tab pos="747395" algn="l"/>
                        </a:tabLst>
                      </a:pPr>
                      <a:r>
                        <a:rPr dirty="0" sz="7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Power</a:t>
                      </a:r>
                      <a:r>
                        <a:rPr dirty="0" sz="75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supply</a:t>
                      </a:r>
                      <a:r>
                        <a:rPr dirty="0" sz="75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problems</a:t>
                      </a:r>
                      <a:endParaRPr sz="750">
                        <a:latin typeface="Arial MT"/>
                        <a:cs typeface="Arial MT"/>
                      </a:endParaRPr>
                    </a:p>
                    <a:p>
                      <a:pPr lvl="1" marL="747395" indent="-106680">
                        <a:lnSpc>
                          <a:spcPct val="100000"/>
                        </a:lnSpc>
                        <a:spcBef>
                          <a:spcPts val="180"/>
                        </a:spcBef>
                        <a:buChar char="–"/>
                        <a:tabLst>
                          <a:tab pos="747395" algn="l"/>
                        </a:tabLst>
                      </a:pPr>
                      <a:r>
                        <a:rPr dirty="0" sz="7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Alpha</a:t>
                      </a:r>
                      <a:r>
                        <a:rPr dirty="0" sz="750" spc="-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particles</a:t>
                      </a:r>
                      <a:endParaRPr sz="75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reproduced</a:t>
                      </a:r>
                      <a:r>
                        <a:rPr dirty="0" sz="350" spc="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based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on</a:t>
                      </a:r>
                      <a:r>
                        <a:rPr dirty="0" sz="350" spc="6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Computer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Organization</a:t>
                      </a:r>
                      <a:r>
                        <a:rPr dirty="0" sz="350" spc="26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350" spc="6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Architecture,</a:t>
                      </a:r>
                      <a:r>
                        <a:rPr dirty="0" sz="350" spc="8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9ed(by</a:t>
                      </a:r>
                      <a:r>
                        <a:rPr dirty="0" sz="350" spc="6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W.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Stallings)</a:t>
                      </a:r>
                      <a:endParaRPr sz="3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6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2013</a:t>
                      </a:r>
                      <a:r>
                        <a:rPr dirty="0" sz="350" spc="6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Computer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Organization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Architecture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800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176" name="object 176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140952" y="6966204"/>
            <a:ext cx="1335023" cy="213360"/>
          </a:xfrm>
          <a:prstGeom prst="rect">
            <a:avLst/>
          </a:prstGeom>
        </p:spPr>
      </p:pic>
      <p:sp>
        <p:nvSpPr>
          <p:cNvPr id="177" name="object 177" descr=""/>
          <p:cNvSpPr/>
          <p:nvPr/>
        </p:nvSpPr>
        <p:spPr>
          <a:xfrm>
            <a:off x="5606796" y="4472940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39623" y="39624"/>
                </a:moveTo>
                <a:lnTo>
                  <a:pt x="0" y="39624"/>
                </a:lnTo>
                <a:lnTo>
                  <a:pt x="0" y="0"/>
                </a:lnTo>
                <a:lnTo>
                  <a:pt x="39623" y="0"/>
                </a:lnTo>
                <a:lnTo>
                  <a:pt x="39623" y="3962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 descr=""/>
          <p:cNvSpPr/>
          <p:nvPr/>
        </p:nvSpPr>
        <p:spPr>
          <a:xfrm>
            <a:off x="5606796" y="5815584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39623" y="39623"/>
                </a:moveTo>
                <a:lnTo>
                  <a:pt x="0" y="39623"/>
                </a:lnTo>
                <a:lnTo>
                  <a:pt x="0" y="0"/>
                </a:lnTo>
                <a:lnTo>
                  <a:pt x="39623" y="0"/>
                </a:lnTo>
                <a:lnTo>
                  <a:pt x="39623" y="3962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92023" y="688848"/>
            <a:ext cx="4777740" cy="36830"/>
          </a:xfrm>
          <a:custGeom>
            <a:avLst/>
            <a:gdLst/>
            <a:ahLst/>
            <a:cxnLst/>
            <a:rect l="l" t="t" r="r" b="b"/>
            <a:pathLst>
              <a:path w="4777740" h="36829">
                <a:moveTo>
                  <a:pt x="4777740" y="36576"/>
                </a:moveTo>
                <a:lnTo>
                  <a:pt x="0" y="36576"/>
                </a:lnTo>
                <a:lnTo>
                  <a:pt x="0" y="0"/>
                </a:lnTo>
                <a:lnTo>
                  <a:pt x="4777740" y="0"/>
                </a:lnTo>
                <a:lnTo>
                  <a:pt x="4777740" y="36576"/>
                </a:lnTo>
                <a:close/>
              </a:path>
            </a:pathLst>
          </a:custGeom>
          <a:solidFill>
            <a:srgbClr val="9090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724660" y="339191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1732" y="3339084"/>
            <a:ext cx="1336548" cy="214883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94203" y="452149"/>
            <a:ext cx="216598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Error</a:t>
            </a:r>
            <a:r>
              <a:rPr dirty="0" sz="12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Correcting</a:t>
            </a:r>
            <a:r>
              <a:rPr dirty="0" sz="12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Code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Function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5968" y="1012473"/>
            <a:ext cx="3436592" cy="1766485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5378196" y="364489"/>
            <a:ext cx="5125720" cy="3204210"/>
            <a:chOff x="5378196" y="364489"/>
            <a:chExt cx="5125720" cy="3204210"/>
          </a:xfrm>
        </p:grpSpPr>
        <p:sp>
          <p:nvSpPr>
            <p:cNvPr id="8" name="object 8" descr=""/>
            <p:cNvSpPr/>
            <p:nvPr/>
          </p:nvSpPr>
          <p:spPr>
            <a:xfrm>
              <a:off x="5378183" y="364489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10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381244" y="688847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6"/>
                  </a:moveTo>
                  <a:lnTo>
                    <a:pt x="0" y="36576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6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6913880" y="339191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6756634" y="888612"/>
            <a:ext cx="3719829" cy="2665730"/>
            <a:chOff x="6756634" y="888612"/>
            <a:chExt cx="3719829" cy="2665730"/>
          </a:xfrm>
        </p:grpSpPr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0951" y="3339083"/>
              <a:ext cx="1335023" cy="214883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56634" y="888612"/>
              <a:ext cx="2388523" cy="2392190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5583392" y="452149"/>
            <a:ext cx="223266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Hamming Error</a:t>
            </a:r>
            <a:r>
              <a:rPr dirty="0" sz="120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Correcting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1A1A1A"/>
                </a:solidFill>
                <a:latin typeface="Arial MT"/>
                <a:cs typeface="Arial MT"/>
              </a:rPr>
              <a:t>Code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88976" y="3991610"/>
            <a:ext cx="5125720" cy="3204210"/>
            <a:chOff x="188976" y="3991610"/>
            <a:chExt cx="5125720" cy="3204210"/>
          </a:xfrm>
        </p:grpSpPr>
        <p:sp>
          <p:nvSpPr>
            <p:cNvPr id="16" name="object 16" descr=""/>
            <p:cNvSpPr/>
            <p:nvPr/>
          </p:nvSpPr>
          <p:spPr>
            <a:xfrm>
              <a:off x="18896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604" y="0"/>
                  </a:lnTo>
                  <a:lnTo>
                    <a:pt x="5117604" y="7620"/>
                  </a:lnTo>
                  <a:lnTo>
                    <a:pt x="5117604" y="3196590"/>
                  </a:lnTo>
                  <a:lnTo>
                    <a:pt x="7632" y="3196590"/>
                  </a:lnTo>
                  <a:lnTo>
                    <a:pt x="7632" y="3197098"/>
                  </a:lnTo>
                  <a:lnTo>
                    <a:pt x="4584" y="3197098"/>
                  </a:lnTo>
                  <a:lnTo>
                    <a:pt x="4584" y="3196590"/>
                  </a:lnTo>
                  <a:lnTo>
                    <a:pt x="7632" y="3196590"/>
                  </a:lnTo>
                  <a:lnTo>
                    <a:pt x="7632" y="7620"/>
                  </a:lnTo>
                  <a:lnTo>
                    <a:pt x="5117604" y="7620"/>
                  </a:lnTo>
                  <a:lnTo>
                    <a:pt x="5117604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92024" y="4315968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172466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798415" y="4916306"/>
            <a:ext cx="4490085" cy="2263775"/>
            <a:chOff x="798415" y="4916306"/>
            <a:chExt cx="4490085" cy="2263775"/>
          </a:xfrm>
        </p:grpSpPr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51731" y="6966204"/>
              <a:ext cx="1336548" cy="21336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8415" y="4916306"/>
              <a:ext cx="4012665" cy="1255541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394203" y="4079179"/>
            <a:ext cx="240093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Layout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2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Data Bits</a:t>
            </a:r>
            <a:r>
              <a:rPr dirty="0" sz="12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and Check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1A1A1A"/>
                </a:solidFill>
                <a:latin typeface="Arial MT"/>
                <a:cs typeface="Arial MT"/>
              </a:rPr>
              <a:t>Bits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5378196" y="3991610"/>
            <a:ext cx="5125720" cy="3204210"/>
            <a:chOff x="5378196" y="3991610"/>
            <a:chExt cx="5125720" cy="3204210"/>
          </a:xfrm>
        </p:grpSpPr>
        <p:sp>
          <p:nvSpPr>
            <p:cNvPr id="24" name="object 24" descr=""/>
            <p:cNvSpPr/>
            <p:nvPr/>
          </p:nvSpPr>
          <p:spPr>
            <a:xfrm>
              <a:off x="537818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381244" y="4315968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691388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6238183" y="4613052"/>
            <a:ext cx="4237990" cy="2566670"/>
            <a:chOff x="6238183" y="4613052"/>
            <a:chExt cx="4237990" cy="2566670"/>
          </a:xfrm>
        </p:grpSpPr>
        <p:pic>
          <p:nvPicPr>
            <p:cNvPr id="28" name="object 2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40952" y="6966204"/>
              <a:ext cx="1335023" cy="213360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38183" y="4613052"/>
              <a:ext cx="3435761" cy="2051042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/>
          <p:nvPr/>
        </p:nvSpPr>
        <p:spPr>
          <a:xfrm>
            <a:off x="5583392" y="4079179"/>
            <a:ext cx="149225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Check</a:t>
            </a:r>
            <a:r>
              <a:rPr dirty="0" sz="1200" spc="-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Bit</a:t>
            </a:r>
            <a:r>
              <a:rPr dirty="0" sz="1200" spc="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Calculation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92023" y="688848"/>
            <a:ext cx="4777740" cy="36830"/>
          </a:xfrm>
          <a:custGeom>
            <a:avLst/>
            <a:gdLst/>
            <a:ahLst/>
            <a:cxnLst/>
            <a:rect l="l" t="t" r="r" b="b"/>
            <a:pathLst>
              <a:path w="4777740" h="36829">
                <a:moveTo>
                  <a:pt x="4777740" y="36576"/>
                </a:moveTo>
                <a:lnTo>
                  <a:pt x="0" y="36576"/>
                </a:lnTo>
                <a:lnTo>
                  <a:pt x="0" y="0"/>
                </a:lnTo>
                <a:lnTo>
                  <a:pt x="4777740" y="0"/>
                </a:lnTo>
                <a:lnTo>
                  <a:pt x="4777740" y="36576"/>
                </a:lnTo>
                <a:close/>
              </a:path>
            </a:pathLst>
          </a:custGeom>
          <a:solidFill>
            <a:srgbClr val="9090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724660" y="339191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1732" y="3339084"/>
            <a:ext cx="1336548" cy="214883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94203" y="452149"/>
            <a:ext cx="183197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Hamming</a:t>
            </a:r>
            <a:r>
              <a:rPr dirty="0" sz="12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SEC-DED</a:t>
            </a:r>
            <a:r>
              <a:rPr dirty="0" sz="12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1A1A1A"/>
                </a:solidFill>
                <a:latin typeface="Arial MT"/>
                <a:cs typeface="Arial MT"/>
              </a:rPr>
              <a:t>Code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2491" y="1022237"/>
            <a:ext cx="3211629" cy="214041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20739" y="2043683"/>
            <a:ext cx="4038600" cy="741639"/>
          </a:xfrm>
          <a:prstGeom prst="rect">
            <a:avLst/>
          </a:prstGeom>
        </p:spPr>
      </p:pic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5378196" y="364489"/>
          <a:ext cx="5201920" cy="3195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77105"/>
                <a:gridCol w="340995"/>
              </a:tblGrid>
              <a:tr h="338455">
                <a:tc>
                  <a:txBody>
                    <a:bodyPr/>
                    <a:lstStyle/>
                    <a:p>
                      <a:pPr marL="21399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12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Advanced</a:t>
                      </a:r>
                      <a:r>
                        <a:rPr dirty="0" sz="1200" spc="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DRAM</a:t>
                      </a:r>
                      <a:r>
                        <a:rPr dirty="0" sz="1200" spc="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Organization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9779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90909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857500">
                <a:tc gridSpan="2">
                  <a:txBody>
                    <a:bodyPr/>
                    <a:lstStyle/>
                    <a:p>
                      <a:pPr marL="375285" marR="49466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One</a:t>
                      </a:r>
                      <a:r>
                        <a:rPr dirty="0" sz="1000" spc="6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000" spc="8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000" spc="8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most</a:t>
                      </a:r>
                      <a:r>
                        <a:rPr dirty="0" sz="1000" spc="7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critical</a:t>
                      </a:r>
                      <a:r>
                        <a:rPr dirty="0" sz="1000" spc="7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system</a:t>
                      </a:r>
                      <a:r>
                        <a:rPr dirty="0" sz="1000" spc="6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bottlenecks</a:t>
                      </a:r>
                      <a:r>
                        <a:rPr dirty="0" sz="1000" spc="7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when</a:t>
                      </a:r>
                      <a:r>
                        <a:rPr dirty="0" sz="1000" spc="8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using</a:t>
                      </a:r>
                      <a:r>
                        <a:rPr dirty="0" sz="1000" spc="8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high-</a:t>
                      </a:r>
                      <a:r>
                        <a:rPr dirty="0" sz="1000" spc="-36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p</a:t>
                      </a:r>
                      <a:r>
                        <a:rPr dirty="0" baseline="25252" sz="1650" spc="-675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dirty="0" sz="1000" spc="-8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baseline="25252" sz="1650" spc="-975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1000" spc="3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r</a:t>
                      </a:r>
                      <a:r>
                        <a:rPr dirty="0" sz="1000" spc="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f</a:t>
                      </a:r>
                      <a:r>
                        <a:rPr dirty="0" sz="1000" spc="-49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</a:t>
                      </a:r>
                      <a:r>
                        <a:rPr dirty="0" baseline="25252" sz="1650" spc="-337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000" spc="-6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r</a:t>
                      </a:r>
                      <a:r>
                        <a:rPr dirty="0" baseline="25252" sz="1650" spc="-123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1000" spc="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000" spc="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nce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processors</a:t>
                      </a:r>
                      <a:r>
                        <a:rPr dirty="0" sz="1000" spc="6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000" spc="6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000" spc="5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interface</a:t>
                      </a:r>
                      <a:r>
                        <a:rPr dirty="0" sz="1000" spc="6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000" spc="5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main</a:t>
                      </a:r>
                      <a:r>
                        <a:rPr dirty="0" sz="1000" spc="8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internal</a:t>
                      </a:r>
                      <a:r>
                        <a:rPr dirty="0" sz="1000" spc="8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memory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375285" marR="291465">
                        <a:lnSpc>
                          <a:spcPct val="103000"/>
                        </a:lnSpc>
                        <a:spcBef>
                          <a:spcPts val="555"/>
                        </a:spcBef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000" spc="6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traditional</a:t>
                      </a:r>
                      <a:r>
                        <a:rPr dirty="0" sz="1000" spc="10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DRAM</a:t>
                      </a:r>
                      <a:r>
                        <a:rPr dirty="0" sz="1000" spc="6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chip</a:t>
                      </a:r>
                      <a:r>
                        <a:rPr dirty="0" sz="1000" spc="6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000" spc="7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constrained</a:t>
                      </a:r>
                      <a:r>
                        <a:rPr dirty="0" sz="1000" spc="8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both</a:t>
                      </a:r>
                      <a:r>
                        <a:rPr dirty="0" sz="1000" spc="8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1000" spc="6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its</a:t>
                      </a:r>
                      <a:r>
                        <a:rPr dirty="0" sz="1000" spc="7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internal</a:t>
                      </a:r>
                      <a:r>
                        <a:rPr dirty="0" sz="1000" spc="7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architecture</a:t>
                      </a:r>
                      <a:r>
                        <a:rPr dirty="0" sz="1000" spc="6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and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1000" spc="5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its</a:t>
                      </a:r>
                      <a:r>
                        <a:rPr dirty="0" sz="1000" spc="6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interface</a:t>
                      </a:r>
                      <a:r>
                        <a:rPr dirty="0" sz="1000" spc="8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000" spc="4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000" spc="8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processor’s</a:t>
                      </a:r>
                      <a:r>
                        <a:rPr dirty="0" sz="1000" spc="6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memory</a:t>
                      </a:r>
                      <a:r>
                        <a:rPr dirty="0" sz="1000" spc="7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bus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375285" marR="636270">
                        <a:lnSpc>
                          <a:spcPct val="103000"/>
                        </a:lnSpc>
                        <a:spcBef>
                          <a:spcPts val="555"/>
                        </a:spcBef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000" spc="6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number</a:t>
                      </a:r>
                      <a:r>
                        <a:rPr dirty="0" sz="1000" spc="8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000" spc="8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enhancements</a:t>
                      </a:r>
                      <a:r>
                        <a:rPr dirty="0" sz="1000" spc="1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000" spc="6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000" spc="6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basic</a:t>
                      </a:r>
                      <a:r>
                        <a:rPr dirty="0" sz="1000" spc="6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DRAM</a:t>
                      </a:r>
                      <a:r>
                        <a:rPr dirty="0" sz="1000" spc="7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architecture</a:t>
                      </a:r>
                      <a:r>
                        <a:rPr dirty="0" sz="1000" spc="8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have</a:t>
                      </a:r>
                      <a:r>
                        <a:rPr dirty="0" sz="1000" spc="6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been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explored: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 marR="7785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DRAM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reproduced</a:t>
                      </a:r>
                      <a:r>
                        <a:rPr dirty="0" sz="350" spc="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based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on</a:t>
                      </a:r>
                      <a:r>
                        <a:rPr dirty="0" sz="350" spc="6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Computer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Organization</a:t>
                      </a:r>
                      <a:r>
                        <a:rPr dirty="0" sz="350" spc="26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350" spc="6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Architecture,</a:t>
                      </a:r>
                      <a:r>
                        <a:rPr dirty="0" sz="350" spc="8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9ed(by</a:t>
                      </a:r>
                      <a:r>
                        <a:rPr dirty="0" sz="350" spc="6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W.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Stallings)</a:t>
                      </a:r>
                      <a:endParaRPr sz="3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6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2013</a:t>
                      </a:r>
                      <a:r>
                        <a:rPr dirty="0" sz="350" spc="6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Computer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Organization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Architecture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0952" y="3339084"/>
            <a:ext cx="1335023" cy="214883"/>
          </a:xfrm>
          <a:prstGeom prst="rect">
            <a:avLst/>
          </a:prstGeom>
        </p:spPr>
      </p:pic>
      <p:sp>
        <p:nvSpPr>
          <p:cNvPr id="10" name="object 10" descr=""/>
          <p:cNvSpPr/>
          <p:nvPr/>
        </p:nvSpPr>
        <p:spPr>
          <a:xfrm>
            <a:off x="5606796" y="845820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5">
                <a:moveTo>
                  <a:pt x="39623" y="39623"/>
                </a:moveTo>
                <a:lnTo>
                  <a:pt x="0" y="39623"/>
                </a:lnTo>
                <a:lnTo>
                  <a:pt x="0" y="0"/>
                </a:lnTo>
                <a:lnTo>
                  <a:pt x="39623" y="0"/>
                </a:lnTo>
                <a:lnTo>
                  <a:pt x="39623" y="3962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606796" y="1228344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5">
                <a:moveTo>
                  <a:pt x="39623" y="39623"/>
                </a:moveTo>
                <a:lnTo>
                  <a:pt x="0" y="39623"/>
                </a:lnTo>
                <a:lnTo>
                  <a:pt x="0" y="0"/>
                </a:lnTo>
                <a:lnTo>
                  <a:pt x="39623" y="0"/>
                </a:lnTo>
                <a:lnTo>
                  <a:pt x="39623" y="3962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606796" y="1612391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5">
                <a:moveTo>
                  <a:pt x="39623" y="39624"/>
                </a:moveTo>
                <a:lnTo>
                  <a:pt x="0" y="39624"/>
                </a:lnTo>
                <a:lnTo>
                  <a:pt x="0" y="0"/>
                </a:lnTo>
                <a:lnTo>
                  <a:pt x="39623" y="0"/>
                </a:lnTo>
                <a:lnTo>
                  <a:pt x="39623" y="3962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188976" y="3991610"/>
            <a:ext cx="5125720" cy="3204210"/>
            <a:chOff x="188976" y="3991610"/>
            <a:chExt cx="5125720" cy="3204210"/>
          </a:xfrm>
        </p:grpSpPr>
        <p:sp>
          <p:nvSpPr>
            <p:cNvPr id="14" name="object 14" descr=""/>
            <p:cNvSpPr/>
            <p:nvPr/>
          </p:nvSpPr>
          <p:spPr>
            <a:xfrm>
              <a:off x="18896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604" y="0"/>
                  </a:lnTo>
                  <a:lnTo>
                    <a:pt x="5117604" y="7620"/>
                  </a:lnTo>
                  <a:lnTo>
                    <a:pt x="5117604" y="3196590"/>
                  </a:lnTo>
                  <a:lnTo>
                    <a:pt x="7632" y="3196590"/>
                  </a:lnTo>
                  <a:lnTo>
                    <a:pt x="7632" y="3197098"/>
                  </a:lnTo>
                  <a:lnTo>
                    <a:pt x="4584" y="3197098"/>
                  </a:lnTo>
                  <a:lnTo>
                    <a:pt x="4584" y="3196590"/>
                  </a:lnTo>
                  <a:lnTo>
                    <a:pt x="7632" y="3196590"/>
                  </a:lnTo>
                  <a:lnTo>
                    <a:pt x="7632" y="7620"/>
                  </a:lnTo>
                  <a:lnTo>
                    <a:pt x="5117604" y="7620"/>
                  </a:lnTo>
                  <a:lnTo>
                    <a:pt x="5117604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92024" y="4315968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72466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740130" y="5169230"/>
            <a:ext cx="4548505" cy="2010410"/>
            <a:chOff x="740130" y="5169230"/>
            <a:chExt cx="4548505" cy="2010410"/>
          </a:xfrm>
        </p:grpSpPr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51731" y="6966204"/>
              <a:ext cx="1336548" cy="21336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0130" y="5169230"/>
              <a:ext cx="3966114" cy="923047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394203" y="4079179"/>
            <a:ext cx="149669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SDRAM</a:t>
            </a:r>
            <a:r>
              <a:rPr dirty="0" sz="12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Read</a:t>
            </a:r>
            <a:r>
              <a:rPr dirty="0" sz="12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Timing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5378196" y="3991610"/>
            <a:ext cx="5125720" cy="3204210"/>
            <a:chOff x="5378196" y="3991610"/>
            <a:chExt cx="5125720" cy="3204210"/>
          </a:xfrm>
        </p:grpSpPr>
        <p:sp>
          <p:nvSpPr>
            <p:cNvPr id="22" name="object 22" descr=""/>
            <p:cNvSpPr/>
            <p:nvPr/>
          </p:nvSpPr>
          <p:spPr>
            <a:xfrm>
              <a:off x="537818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592" y="0"/>
                  </a:lnTo>
                  <a:lnTo>
                    <a:pt x="5117592" y="7620"/>
                  </a:lnTo>
                  <a:lnTo>
                    <a:pt x="5117592" y="3196590"/>
                  </a:lnTo>
                  <a:lnTo>
                    <a:pt x="7620" y="3196590"/>
                  </a:lnTo>
                  <a:lnTo>
                    <a:pt x="7620" y="3197098"/>
                  </a:lnTo>
                  <a:lnTo>
                    <a:pt x="4572" y="3197098"/>
                  </a:lnTo>
                  <a:lnTo>
                    <a:pt x="4572" y="3196590"/>
                  </a:lnTo>
                  <a:lnTo>
                    <a:pt x="7620" y="3196590"/>
                  </a:lnTo>
                  <a:lnTo>
                    <a:pt x="7620" y="7620"/>
                  </a:lnTo>
                  <a:lnTo>
                    <a:pt x="5117592" y="7620"/>
                  </a:lnTo>
                  <a:lnTo>
                    <a:pt x="5117592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381244" y="4315968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691388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5606796" y="4472940"/>
            <a:ext cx="4869180" cy="2707005"/>
            <a:chOff x="5606796" y="4472940"/>
            <a:chExt cx="4869180" cy="2707005"/>
          </a:xfrm>
        </p:grpSpPr>
        <p:pic>
          <p:nvPicPr>
            <p:cNvPr id="26" name="object 2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40951" y="6966204"/>
              <a:ext cx="1335023" cy="213360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5606796" y="4472940"/>
              <a:ext cx="40005" cy="650875"/>
            </a:xfrm>
            <a:custGeom>
              <a:avLst/>
              <a:gdLst/>
              <a:ahLst/>
              <a:cxnLst/>
              <a:rect l="l" t="t" r="r" b="b"/>
              <a:pathLst>
                <a:path w="40004" h="650875">
                  <a:moveTo>
                    <a:pt x="39611" y="611136"/>
                  </a:moveTo>
                  <a:lnTo>
                    <a:pt x="0" y="611136"/>
                  </a:lnTo>
                  <a:lnTo>
                    <a:pt x="0" y="650748"/>
                  </a:lnTo>
                  <a:lnTo>
                    <a:pt x="39611" y="650748"/>
                  </a:lnTo>
                  <a:lnTo>
                    <a:pt x="39611" y="611136"/>
                  </a:lnTo>
                  <a:close/>
                </a:path>
                <a:path w="40004" h="650875">
                  <a:moveTo>
                    <a:pt x="39611" y="227076"/>
                  </a:moveTo>
                  <a:lnTo>
                    <a:pt x="0" y="227076"/>
                  </a:lnTo>
                  <a:lnTo>
                    <a:pt x="0" y="266700"/>
                  </a:lnTo>
                  <a:lnTo>
                    <a:pt x="39611" y="266700"/>
                  </a:lnTo>
                  <a:lnTo>
                    <a:pt x="39611" y="227076"/>
                  </a:lnTo>
                  <a:close/>
                </a:path>
                <a:path w="40004" h="650875">
                  <a:moveTo>
                    <a:pt x="39611" y="0"/>
                  </a:moveTo>
                  <a:lnTo>
                    <a:pt x="0" y="0"/>
                  </a:lnTo>
                  <a:lnTo>
                    <a:pt x="0" y="39636"/>
                  </a:lnTo>
                  <a:lnTo>
                    <a:pt x="39611" y="39636"/>
                  </a:lnTo>
                  <a:lnTo>
                    <a:pt x="39611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5583392" y="4079179"/>
            <a:ext cx="292481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Double</a:t>
            </a:r>
            <a:r>
              <a:rPr dirty="0" sz="12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dirty="0" sz="120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Rate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SDRAM</a:t>
            </a:r>
            <a:r>
              <a:rPr dirty="0" sz="12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(DDR</a:t>
            </a:r>
            <a:r>
              <a:rPr dirty="0" sz="1200" spc="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SDRAM)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744922" y="4328029"/>
            <a:ext cx="4355465" cy="101917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SDRAM</a:t>
            </a:r>
            <a:r>
              <a:rPr dirty="0" sz="10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can</a:t>
            </a:r>
            <a:r>
              <a:rPr dirty="0" sz="10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only</a:t>
            </a:r>
            <a:r>
              <a:rPr dirty="0" sz="10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send</a:t>
            </a:r>
            <a:r>
              <a:rPr dirty="0" sz="10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once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per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bus</a:t>
            </a:r>
            <a:r>
              <a:rPr dirty="0" sz="10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clock</a:t>
            </a:r>
            <a:r>
              <a:rPr dirty="0" sz="10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cycle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ct val="102000"/>
              </a:lnSpc>
              <a:spcBef>
                <a:spcPts val="565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Double-data-rate</a:t>
            </a:r>
            <a:r>
              <a:rPr dirty="0" sz="1000" spc="10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SDRAM</a:t>
            </a:r>
            <a:r>
              <a:rPr dirty="0" sz="100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can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send</a:t>
            </a:r>
            <a:r>
              <a:rPr dirty="0" sz="1000" spc="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dirty="0" sz="100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twice</a:t>
            </a:r>
            <a:r>
              <a:rPr dirty="0" sz="10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per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clock</a:t>
            </a:r>
            <a:r>
              <a:rPr dirty="0" sz="10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cycle,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once</a:t>
            </a:r>
            <a:r>
              <a:rPr dirty="0" sz="1000" spc="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on</a:t>
            </a:r>
            <a:r>
              <a:rPr dirty="0" sz="1000" spc="9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1A1A1A"/>
                </a:solidFill>
                <a:latin typeface="Arial MT"/>
                <a:cs typeface="Arial MT"/>
              </a:rPr>
              <a:t>the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rising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edge</a:t>
            </a:r>
            <a:r>
              <a:rPr dirty="0" sz="100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100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clock</a:t>
            </a:r>
            <a:r>
              <a:rPr dirty="0" sz="100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pulse</a:t>
            </a:r>
            <a:r>
              <a:rPr dirty="0" sz="100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once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on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1000" spc="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falling</a:t>
            </a:r>
            <a:r>
              <a:rPr dirty="0" sz="1000" spc="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edge</a:t>
            </a:r>
            <a:endParaRPr sz="1000">
              <a:latin typeface="Arial MT"/>
              <a:cs typeface="Arial MT"/>
            </a:endParaRPr>
          </a:p>
          <a:p>
            <a:pPr marL="12700" marR="113030">
              <a:lnSpc>
                <a:spcPct val="103000"/>
              </a:lnSpc>
              <a:spcBef>
                <a:spcPts val="550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Developed</a:t>
            </a:r>
            <a:r>
              <a:rPr dirty="0" sz="1000" spc="1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by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dirty="0" sz="100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JEDEC</a:t>
            </a:r>
            <a:r>
              <a:rPr dirty="0" sz="1000" spc="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Solid</a:t>
            </a:r>
            <a:r>
              <a:rPr dirty="0" sz="1000" spc="9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State</a:t>
            </a:r>
            <a:r>
              <a:rPr dirty="0" sz="1000" spc="1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Technology</a:t>
            </a:r>
            <a:r>
              <a:rPr dirty="0" sz="100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Association</a:t>
            </a:r>
            <a:r>
              <a:rPr dirty="0" sz="100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(Electronic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Industries</a:t>
            </a:r>
            <a:r>
              <a:rPr dirty="0" sz="1000" spc="2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Alliance’s</a:t>
            </a:r>
            <a:r>
              <a:rPr dirty="0" sz="1000" spc="2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semiconductor-engineering-standardization</a:t>
            </a:r>
            <a:r>
              <a:rPr dirty="0" sz="1000" spc="2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body)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92023" y="688848"/>
            <a:ext cx="4777740" cy="36830"/>
          </a:xfrm>
          <a:custGeom>
            <a:avLst/>
            <a:gdLst/>
            <a:ahLst/>
            <a:cxnLst/>
            <a:rect l="l" t="t" r="r" b="b"/>
            <a:pathLst>
              <a:path w="4777740" h="36829">
                <a:moveTo>
                  <a:pt x="4777740" y="36576"/>
                </a:moveTo>
                <a:lnTo>
                  <a:pt x="0" y="36576"/>
                </a:lnTo>
                <a:lnTo>
                  <a:pt x="0" y="0"/>
                </a:lnTo>
                <a:lnTo>
                  <a:pt x="4777740" y="0"/>
                </a:lnTo>
                <a:lnTo>
                  <a:pt x="4777740" y="36576"/>
                </a:lnTo>
                <a:close/>
              </a:path>
            </a:pathLst>
          </a:custGeom>
          <a:solidFill>
            <a:srgbClr val="9090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724660" y="339191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1732" y="3339084"/>
            <a:ext cx="1336548" cy="214883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94203" y="452149"/>
            <a:ext cx="187388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DDR</a:t>
            </a:r>
            <a:r>
              <a:rPr dirty="0" sz="12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SDRAM</a:t>
            </a:r>
            <a:r>
              <a:rPr dirty="0" sz="1200" spc="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Read</a:t>
            </a:r>
            <a:r>
              <a:rPr dirty="0" sz="1200" spc="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Timing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2316" y="895975"/>
            <a:ext cx="2854678" cy="2159498"/>
          </a:xfrm>
          <a:prstGeom prst="rect">
            <a:avLst/>
          </a:prstGeom>
        </p:spPr>
      </p:pic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5378196" y="364489"/>
          <a:ext cx="5201920" cy="3195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77105"/>
                <a:gridCol w="340995"/>
              </a:tblGrid>
              <a:tr h="338455">
                <a:tc>
                  <a:txBody>
                    <a:bodyPr/>
                    <a:lstStyle/>
                    <a:p>
                      <a:pPr marL="21399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12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Cache</a:t>
                      </a:r>
                      <a:r>
                        <a:rPr dirty="0" sz="1200" spc="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DRAM</a:t>
                      </a:r>
                      <a:r>
                        <a:rPr dirty="0" sz="1200" spc="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(CDRAM)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9779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90909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857500">
                <a:tc gridSpan="2">
                  <a:txBody>
                    <a:bodyPr/>
                    <a:lstStyle/>
                    <a:p>
                      <a:pPr marL="37528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Developed</a:t>
                      </a:r>
                      <a:r>
                        <a:rPr dirty="0" sz="1000" spc="9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1000" spc="7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Mitsubishi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375285" marR="1341120">
                        <a:lnSpc>
                          <a:spcPct val="149000"/>
                        </a:lnSpc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Integrates</a:t>
                      </a:r>
                      <a:r>
                        <a:rPr dirty="0" sz="1000" spc="8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000" spc="6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small</a:t>
                      </a:r>
                      <a:r>
                        <a:rPr dirty="0" sz="1000" spc="6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SRAM</a:t>
                      </a:r>
                      <a:r>
                        <a:rPr dirty="0" sz="1000" spc="5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cache</a:t>
                      </a:r>
                      <a:r>
                        <a:rPr dirty="0" sz="1000" spc="4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onto</a:t>
                      </a:r>
                      <a:r>
                        <a:rPr dirty="0" sz="1000" spc="4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000" spc="8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generic</a:t>
                      </a:r>
                      <a:r>
                        <a:rPr dirty="0" sz="1000" spc="8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DRAM</a:t>
                      </a:r>
                      <a:r>
                        <a:rPr dirty="0" sz="1000" spc="6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chip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SRAM</a:t>
                      </a:r>
                      <a:r>
                        <a:rPr dirty="0" sz="1000" spc="3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on</a:t>
                      </a:r>
                      <a:r>
                        <a:rPr dirty="0" sz="1000" spc="7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000" spc="6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CDRAM</a:t>
                      </a:r>
                      <a:r>
                        <a:rPr dirty="0" sz="1000" spc="4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can</a:t>
                      </a:r>
                      <a:r>
                        <a:rPr dirty="0" sz="1000" spc="3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000" spc="6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used</a:t>
                      </a:r>
                      <a:r>
                        <a:rPr dirty="0" sz="1000" spc="4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000" spc="7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two</a:t>
                      </a:r>
                      <a:r>
                        <a:rPr dirty="0" sz="1000" spc="4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ways: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560070" indent="-132715">
                        <a:lnSpc>
                          <a:spcPct val="100000"/>
                        </a:lnSpc>
                        <a:spcBef>
                          <a:spcPts val="254"/>
                        </a:spcBef>
                        <a:buChar char="•"/>
                        <a:tabLst>
                          <a:tab pos="560070" algn="l"/>
                        </a:tabLst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It</a:t>
                      </a:r>
                      <a:r>
                        <a:rPr dirty="0" sz="1000" spc="-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can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used</a:t>
                      </a:r>
                      <a:r>
                        <a:rPr dirty="0" sz="1000" spc="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as a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true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cache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consisting</a:t>
                      </a:r>
                      <a:r>
                        <a:rPr dirty="0" sz="1000" spc="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000" spc="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number</a:t>
                      </a:r>
                      <a:r>
                        <a:rPr dirty="0" sz="1000" spc="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64-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bit</a:t>
                      </a:r>
                      <a:r>
                        <a:rPr dirty="0" sz="1000" spc="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lines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64071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7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–</a:t>
                      </a:r>
                      <a:r>
                        <a:rPr dirty="0" sz="750" spc="19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Cache</a:t>
                      </a:r>
                      <a:r>
                        <a:rPr dirty="0" sz="750" spc="-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mode</a:t>
                      </a:r>
                      <a:r>
                        <a:rPr dirty="0" sz="75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75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75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CDRAM</a:t>
                      </a:r>
                      <a:r>
                        <a:rPr dirty="0" sz="750" spc="-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75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effective</a:t>
                      </a:r>
                      <a:r>
                        <a:rPr dirty="0" sz="750" spc="-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75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ordinary</a:t>
                      </a:r>
                      <a:r>
                        <a:rPr dirty="0" sz="750" spc="-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random</a:t>
                      </a:r>
                      <a:r>
                        <a:rPr dirty="0" sz="750" spc="-1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access</a:t>
                      </a:r>
                      <a:r>
                        <a:rPr dirty="0" sz="750" spc="-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75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memory</a:t>
                      </a:r>
                      <a:endParaRPr sz="750">
                        <a:latin typeface="Arial MT"/>
                        <a:cs typeface="Arial MT"/>
                      </a:endParaRPr>
                    </a:p>
                    <a:p>
                      <a:pPr marL="560070" indent="-132715">
                        <a:lnSpc>
                          <a:spcPct val="100000"/>
                        </a:lnSpc>
                        <a:spcBef>
                          <a:spcPts val="244"/>
                        </a:spcBef>
                        <a:buChar char="•"/>
                        <a:tabLst>
                          <a:tab pos="560070" algn="l"/>
                        </a:tabLst>
                      </a:pP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Can also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used as a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buffer to</a:t>
                      </a:r>
                      <a:r>
                        <a:rPr dirty="0" sz="1000" spc="-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support</a:t>
                      </a:r>
                      <a:r>
                        <a:rPr dirty="0" sz="1000" spc="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serial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access</a:t>
                      </a:r>
                      <a:r>
                        <a:rPr dirty="0" sz="1000" spc="1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of a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block</a:t>
                      </a:r>
                      <a:r>
                        <a:rPr dirty="0" sz="1000" spc="-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000" spc="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reproduced</a:t>
                      </a:r>
                      <a:r>
                        <a:rPr dirty="0" sz="350" spc="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based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on</a:t>
                      </a:r>
                      <a:r>
                        <a:rPr dirty="0" sz="350" spc="6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Computer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Organization</a:t>
                      </a:r>
                      <a:r>
                        <a:rPr dirty="0" sz="350" spc="26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350" spc="6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Architecture,</a:t>
                      </a:r>
                      <a:r>
                        <a:rPr dirty="0" sz="350" spc="8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9ed(by</a:t>
                      </a:r>
                      <a:r>
                        <a:rPr dirty="0" sz="350" spc="6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W.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Stallings)</a:t>
                      </a:r>
                      <a:endParaRPr sz="3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6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2013</a:t>
                      </a:r>
                      <a:r>
                        <a:rPr dirty="0" sz="350" spc="65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Computer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Organization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350" spc="7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0">
                          <a:solidFill>
                            <a:srgbClr val="D3D3D3"/>
                          </a:solidFill>
                          <a:latin typeface="Verdana"/>
                          <a:cs typeface="Verdana"/>
                        </a:rPr>
                        <a:t>Architecture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800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0952" y="3339084"/>
            <a:ext cx="1335023" cy="214883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5606796" y="845820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5">
                <a:moveTo>
                  <a:pt x="39623" y="39623"/>
                </a:moveTo>
                <a:lnTo>
                  <a:pt x="0" y="39623"/>
                </a:lnTo>
                <a:lnTo>
                  <a:pt x="0" y="0"/>
                </a:lnTo>
                <a:lnTo>
                  <a:pt x="39623" y="0"/>
                </a:lnTo>
                <a:lnTo>
                  <a:pt x="39623" y="3962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606796" y="1072896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5">
                <a:moveTo>
                  <a:pt x="39623" y="39624"/>
                </a:moveTo>
                <a:lnTo>
                  <a:pt x="0" y="39624"/>
                </a:lnTo>
                <a:lnTo>
                  <a:pt x="0" y="0"/>
                </a:lnTo>
                <a:lnTo>
                  <a:pt x="39623" y="0"/>
                </a:lnTo>
                <a:lnTo>
                  <a:pt x="39623" y="3962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606796" y="1299972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5">
                <a:moveTo>
                  <a:pt x="39623" y="39624"/>
                </a:moveTo>
                <a:lnTo>
                  <a:pt x="0" y="39624"/>
                </a:lnTo>
                <a:lnTo>
                  <a:pt x="0" y="0"/>
                </a:lnTo>
                <a:lnTo>
                  <a:pt x="39623" y="0"/>
                </a:lnTo>
                <a:lnTo>
                  <a:pt x="39623" y="3962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188976" y="3991610"/>
            <a:ext cx="5125720" cy="3204210"/>
            <a:chOff x="188976" y="3991610"/>
            <a:chExt cx="5125720" cy="3204210"/>
          </a:xfrm>
        </p:grpSpPr>
        <p:sp>
          <p:nvSpPr>
            <p:cNvPr id="13" name="object 13" descr=""/>
            <p:cNvSpPr/>
            <p:nvPr/>
          </p:nvSpPr>
          <p:spPr>
            <a:xfrm>
              <a:off x="188963" y="3991622"/>
              <a:ext cx="5125720" cy="3204210"/>
            </a:xfrm>
            <a:custGeom>
              <a:avLst/>
              <a:gdLst/>
              <a:ahLst/>
              <a:cxnLst/>
              <a:rect l="l" t="t" r="r" b="b"/>
              <a:pathLst>
                <a:path w="5125720" h="3204209">
                  <a:moveTo>
                    <a:pt x="5125212" y="0"/>
                  </a:moveTo>
                  <a:lnTo>
                    <a:pt x="5117604" y="0"/>
                  </a:lnTo>
                  <a:lnTo>
                    <a:pt x="5117604" y="7620"/>
                  </a:lnTo>
                  <a:lnTo>
                    <a:pt x="5117604" y="3196590"/>
                  </a:lnTo>
                  <a:lnTo>
                    <a:pt x="7632" y="3196590"/>
                  </a:lnTo>
                  <a:lnTo>
                    <a:pt x="7632" y="3197098"/>
                  </a:lnTo>
                  <a:lnTo>
                    <a:pt x="4584" y="3197098"/>
                  </a:lnTo>
                  <a:lnTo>
                    <a:pt x="4584" y="3196590"/>
                  </a:lnTo>
                  <a:lnTo>
                    <a:pt x="7632" y="3196590"/>
                  </a:lnTo>
                  <a:lnTo>
                    <a:pt x="7632" y="7620"/>
                  </a:lnTo>
                  <a:lnTo>
                    <a:pt x="5117604" y="7620"/>
                  </a:lnTo>
                  <a:lnTo>
                    <a:pt x="5117604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96590"/>
                  </a:lnTo>
                  <a:lnTo>
                    <a:pt x="0" y="3201670"/>
                  </a:lnTo>
                  <a:lnTo>
                    <a:pt x="0" y="3204210"/>
                  </a:lnTo>
                  <a:lnTo>
                    <a:pt x="5125212" y="3204210"/>
                  </a:lnTo>
                  <a:lnTo>
                    <a:pt x="5125212" y="3201670"/>
                  </a:lnTo>
                  <a:lnTo>
                    <a:pt x="5125212" y="3196590"/>
                  </a:lnTo>
                  <a:lnTo>
                    <a:pt x="5125212" y="7620"/>
                  </a:lnTo>
                  <a:lnTo>
                    <a:pt x="5125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92024" y="4315968"/>
              <a:ext cx="4777740" cy="36830"/>
            </a:xfrm>
            <a:custGeom>
              <a:avLst/>
              <a:gdLst/>
              <a:ahLst/>
              <a:cxnLst/>
              <a:rect l="l" t="t" r="r" b="b"/>
              <a:pathLst>
                <a:path w="4777740" h="36829">
                  <a:moveTo>
                    <a:pt x="4777740" y="36575"/>
                  </a:moveTo>
                  <a:lnTo>
                    <a:pt x="0" y="36575"/>
                  </a:lnTo>
                  <a:lnTo>
                    <a:pt x="0" y="0"/>
                  </a:lnTo>
                  <a:lnTo>
                    <a:pt x="4777740" y="0"/>
                  </a:lnTo>
                  <a:lnTo>
                    <a:pt x="4777740" y="3657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724660" y="7019035"/>
            <a:ext cx="2049780" cy="140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reproduced</a:t>
            </a:r>
            <a:r>
              <a:rPr dirty="0" sz="350" spc="5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based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on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2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Architecture,</a:t>
            </a:r>
            <a:r>
              <a:rPr dirty="0" sz="350" spc="8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9ed(by</a:t>
            </a:r>
            <a:r>
              <a:rPr dirty="0" sz="350" spc="6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W.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Stallings)</a:t>
            </a:r>
            <a:endParaRPr sz="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©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2013</a:t>
            </a:r>
            <a:r>
              <a:rPr dirty="0" sz="350" spc="65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Computer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Organization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>
                <a:solidFill>
                  <a:srgbClr val="D3D3D3"/>
                </a:solidFill>
                <a:latin typeface="Verdana"/>
                <a:cs typeface="Verdana"/>
              </a:rPr>
              <a:t>and</a:t>
            </a:r>
            <a:r>
              <a:rPr dirty="0" sz="350" spc="70">
                <a:solidFill>
                  <a:srgbClr val="D3D3D3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D3D3D3"/>
                </a:solidFill>
                <a:latin typeface="Verdana"/>
                <a:cs typeface="Verdana"/>
              </a:rPr>
              <a:t>Architecture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416051" y="4466844"/>
            <a:ext cx="4872355" cy="2712720"/>
            <a:chOff x="416051" y="4466844"/>
            <a:chExt cx="4872355" cy="2712720"/>
          </a:xfrm>
        </p:grpSpPr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51731" y="6966204"/>
              <a:ext cx="1336548" cy="213360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416051" y="4466844"/>
              <a:ext cx="33655" cy="1882139"/>
            </a:xfrm>
            <a:custGeom>
              <a:avLst/>
              <a:gdLst/>
              <a:ahLst/>
              <a:cxnLst/>
              <a:rect l="l" t="t" r="r" b="b"/>
              <a:pathLst>
                <a:path w="33654" h="1882139">
                  <a:moveTo>
                    <a:pt x="33528" y="1847088"/>
                  </a:moveTo>
                  <a:lnTo>
                    <a:pt x="0" y="1847088"/>
                  </a:lnTo>
                  <a:lnTo>
                    <a:pt x="0" y="1882140"/>
                  </a:lnTo>
                  <a:lnTo>
                    <a:pt x="33528" y="1882140"/>
                  </a:lnTo>
                  <a:lnTo>
                    <a:pt x="33528" y="1847088"/>
                  </a:lnTo>
                  <a:close/>
                </a:path>
                <a:path w="33654" h="1882139">
                  <a:moveTo>
                    <a:pt x="33528" y="1210056"/>
                  </a:moveTo>
                  <a:lnTo>
                    <a:pt x="0" y="1210056"/>
                  </a:lnTo>
                  <a:lnTo>
                    <a:pt x="0" y="1245108"/>
                  </a:lnTo>
                  <a:lnTo>
                    <a:pt x="33528" y="1245108"/>
                  </a:lnTo>
                  <a:lnTo>
                    <a:pt x="33528" y="1210056"/>
                  </a:lnTo>
                  <a:close/>
                </a:path>
                <a:path w="33654" h="1882139">
                  <a:moveTo>
                    <a:pt x="33528" y="0"/>
                  </a:moveTo>
                  <a:lnTo>
                    <a:pt x="0" y="0"/>
                  </a:lnTo>
                  <a:lnTo>
                    <a:pt x="0" y="35064"/>
                  </a:lnTo>
                  <a:lnTo>
                    <a:pt x="33528" y="35064"/>
                  </a:lnTo>
                  <a:lnTo>
                    <a:pt x="33528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394203" y="4079179"/>
            <a:ext cx="1708150" cy="27584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Summary</a:t>
            </a:r>
            <a:endParaRPr sz="1200">
              <a:latin typeface="Arial MT"/>
              <a:cs typeface="Arial MT"/>
            </a:endParaRPr>
          </a:p>
          <a:p>
            <a:pPr marL="173990">
              <a:lnSpc>
                <a:spcPct val="100000"/>
              </a:lnSpc>
              <a:spcBef>
                <a:spcPts val="1105"/>
              </a:spcBef>
            </a:pP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Semiconductor</a:t>
            </a:r>
            <a:r>
              <a:rPr dirty="0" sz="850" spc="1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main</a:t>
            </a:r>
            <a:r>
              <a:rPr dirty="0" sz="850" spc="1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endParaRPr sz="850">
              <a:latin typeface="Arial MT"/>
              <a:cs typeface="Arial MT"/>
            </a:endParaRPr>
          </a:p>
          <a:p>
            <a:pPr marL="361315" indent="-135255">
              <a:lnSpc>
                <a:spcPct val="100000"/>
              </a:lnSpc>
              <a:spcBef>
                <a:spcPts val="235"/>
              </a:spcBef>
              <a:buChar char="•"/>
              <a:tabLst>
                <a:tab pos="361315" algn="l"/>
              </a:tabLst>
            </a:pP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Organization</a:t>
            </a:r>
            <a:endParaRPr sz="750">
              <a:latin typeface="Arial MT"/>
              <a:cs typeface="Arial MT"/>
            </a:endParaRPr>
          </a:p>
          <a:p>
            <a:pPr marL="361315" indent="-135255">
              <a:lnSpc>
                <a:spcPct val="100000"/>
              </a:lnSpc>
              <a:spcBef>
                <a:spcPts val="225"/>
              </a:spcBef>
              <a:buChar char="•"/>
              <a:tabLst>
                <a:tab pos="361315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DRAM</a:t>
            </a:r>
            <a:r>
              <a:rPr dirty="0" sz="75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dirty="0" sz="75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20">
                <a:solidFill>
                  <a:srgbClr val="1A1A1A"/>
                </a:solidFill>
                <a:latin typeface="Arial MT"/>
                <a:cs typeface="Arial MT"/>
              </a:rPr>
              <a:t>SRAM</a:t>
            </a:r>
            <a:endParaRPr sz="750">
              <a:latin typeface="Arial MT"/>
              <a:cs typeface="Arial MT"/>
            </a:endParaRPr>
          </a:p>
          <a:p>
            <a:pPr marL="361315" indent="-135255">
              <a:lnSpc>
                <a:spcPct val="100000"/>
              </a:lnSpc>
              <a:spcBef>
                <a:spcPts val="229"/>
              </a:spcBef>
              <a:buChar char="•"/>
              <a:tabLst>
                <a:tab pos="361315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Types</a:t>
            </a:r>
            <a:r>
              <a:rPr dirty="0" sz="750" spc="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75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1A1A1A"/>
                </a:solidFill>
                <a:latin typeface="Arial MT"/>
                <a:cs typeface="Arial MT"/>
              </a:rPr>
              <a:t>ROM</a:t>
            </a:r>
            <a:endParaRPr sz="750">
              <a:latin typeface="Arial MT"/>
              <a:cs typeface="Arial MT"/>
            </a:endParaRPr>
          </a:p>
          <a:p>
            <a:pPr marL="361315" indent="-135255">
              <a:lnSpc>
                <a:spcPct val="100000"/>
              </a:lnSpc>
              <a:spcBef>
                <a:spcPts val="229"/>
              </a:spcBef>
              <a:buChar char="•"/>
              <a:tabLst>
                <a:tab pos="361315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Chip</a:t>
            </a:r>
            <a:r>
              <a:rPr dirty="0" sz="75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logic</a:t>
            </a:r>
            <a:endParaRPr sz="750">
              <a:latin typeface="Arial MT"/>
              <a:cs typeface="Arial MT"/>
            </a:endParaRPr>
          </a:p>
          <a:p>
            <a:pPr marL="361315" indent="-135255">
              <a:lnSpc>
                <a:spcPct val="100000"/>
              </a:lnSpc>
              <a:spcBef>
                <a:spcPts val="225"/>
              </a:spcBef>
              <a:buChar char="•"/>
              <a:tabLst>
                <a:tab pos="361315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Chip</a:t>
            </a:r>
            <a:r>
              <a:rPr dirty="0" sz="75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packaging</a:t>
            </a:r>
            <a:endParaRPr sz="750">
              <a:latin typeface="Arial MT"/>
              <a:cs typeface="Arial MT"/>
            </a:endParaRPr>
          </a:p>
          <a:p>
            <a:pPr marL="361315" indent="-135255">
              <a:lnSpc>
                <a:spcPct val="100000"/>
              </a:lnSpc>
              <a:spcBef>
                <a:spcPts val="229"/>
              </a:spcBef>
              <a:buChar char="•"/>
              <a:tabLst>
                <a:tab pos="361315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Module</a:t>
            </a:r>
            <a:r>
              <a:rPr dirty="0" sz="750" spc="1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organization</a:t>
            </a:r>
            <a:endParaRPr sz="750">
              <a:latin typeface="Arial MT"/>
              <a:cs typeface="Arial MT"/>
            </a:endParaRPr>
          </a:p>
          <a:p>
            <a:pPr marL="361315" indent="-135255">
              <a:lnSpc>
                <a:spcPct val="100000"/>
              </a:lnSpc>
              <a:spcBef>
                <a:spcPts val="225"/>
              </a:spcBef>
              <a:buChar char="•"/>
              <a:tabLst>
                <a:tab pos="361315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Interleaved</a:t>
            </a:r>
            <a:r>
              <a:rPr dirty="0" sz="750" spc="1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memory</a:t>
            </a:r>
            <a:endParaRPr sz="750">
              <a:latin typeface="Arial MT"/>
              <a:cs typeface="Arial MT"/>
            </a:endParaRPr>
          </a:p>
          <a:p>
            <a:pPr marL="173990">
              <a:lnSpc>
                <a:spcPct val="100000"/>
              </a:lnSpc>
              <a:spcBef>
                <a:spcPts val="610"/>
              </a:spcBef>
            </a:pP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Error</a:t>
            </a:r>
            <a:r>
              <a:rPr dirty="0" sz="85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A1A1A"/>
                </a:solidFill>
                <a:latin typeface="Arial MT"/>
                <a:cs typeface="Arial MT"/>
              </a:rPr>
              <a:t>correction</a:t>
            </a:r>
            <a:endParaRPr sz="850">
              <a:latin typeface="Arial MT"/>
              <a:cs typeface="Arial MT"/>
            </a:endParaRPr>
          </a:p>
          <a:p>
            <a:pPr marL="361315" indent="-135255">
              <a:lnSpc>
                <a:spcPct val="100000"/>
              </a:lnSpc>
              <a:spcBef>
                <a:spcPts val="229"/>
              </a:spcBef>
              <a:buChar char="•"/>
              <a:tabLst>
                <a:tab pos="361315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Hard</a:t>
            </a:r>
            <a:r>
              <a:rPr dirty="0" sz="75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failure</a:t>
            </a:r>
            <a:endParaRPr sz="750">
              <a:latin typeface="Arial MT"/>
              <a:cs typeface="Arial MT"/>
            </a:endParaRPr>
          </a:p>
          <a:p>
            <a:pPr marL="361315" indent="-135255">
              <a:lnSpc>
                <a:spcPct val="100000"/>
              </a:lnSpc>
              <a:spcBef>
                <a:spcPts val="229"/>
              </a:spcBef>
              <a:buChar char="•"/>
              <a:tabLst>
                <a:tab pos="361315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Soft</a:t>
            </a:r>
            <a:r>
              <a:rPr dirty="0" sz="750" spc="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error</a:t>
            </a:r>
            <a:endParaRPr sz="750">
              <a:latin typeface="Arial MT"/>
              <a:cs typeface="Arial MT"/>
            </a:endParaRPr>
          </a:p>
          <a:p>
            <a:pPr marL="361315" indent="-135255">
              <a:lnSpc>
                <a:spcPct val="100000"/>
              </a:lnSpc>
              <a:spcBef>
                <a:spcPts val="229"/>
              </a:spcBef>
              <a:buChar char="•"/>
              <a:tabLst>
                <a:tab pos="361315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Hamming</a:t>
            </a:r>
            <a:r>
              <a:rPr dirty="0" sz="750" spc="1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20">
                <a:solidFill>
                  <a:srgbClr val="1A1A1A"/>
                </a:solidFill>
                <a:latin typeface="Arial MT"/>
                <a:cs typeface="Arial MT"/>
              </a:rPr>
              <a:t>code</a:t>
            </a:r>
            <a:endParaRPr sz="750">
              <a:latin typeface="Arial MT"/>
              <a:cs typeface="Arial MT"/>
            </a:endParaRPr>
          </a:p>
          <a:p>
            <a:pPr marL="173990">
              <a:lnSpc>
                <a:spcPct val="100000"/>
              </a:lnSpc>
              <a:spcBef>
                <a:spcPts val="605"/>
              </a:spcBef>
            </a:pP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Advanced</a:t>
            </a:r>
            <a:r>
              <a:rPr dirty="0" sz="850" spc="1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A1A1A"/>
                </a:solidFill>
                <a:latin typeface="Arial MT"/>
                <a:cs typeface="Arial MT"/>
              </a:rPr>
              <a:t>DRAM</a:t>
            </a:r>
            <a:r>
              <a:rPr dirty="0" sz="850" spc="1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A1A1A"/>
                </a:solidFill>
                <a:latin typeface="Arial MT"/>
                <a:cs typeface="Arial MT"/>
              </a:rPr>
              <a:t>organization</a:t>
            </a:r>
            <a:endParaRPr sz="850">
              <a:latin typeface="Arial MT"/>
              <a:cs typeface="Arial MT"/>
            </a:endParaRPr>
          </a:p>
          <a:p>
            <a:pPr marL="361315" indent="-135255">
              <a:lnSpc>
                <a:spcPct val="100000"/>
              </a:lnSpc>
              <a:spcBef>
                <a:spcPts val="229"/>
              </a:spcBef>
              <a:buChar char="•"/>
              <a:tabLst>
                <a:tab pos="361315" algn="l"/>
              </a:tabLst>
            </a:pPr>
            <a:r>
              <a:rPr dirty="0" sz="750" spc="10">
                <a:solidFill>
                  <a:srgbClr val="1A1A1A"/>
                </a:solidFill>
                <a:latin typeface="Arial MT"/>
                <a:cs typeface="Arial MT"/>
              </a:rPr>
              <a:t>Synchronous</a:t>
            </a:r>
            <a:r>
              <a:rPr dirty="0" sz="75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20">
                <a:solidFill>
                  <a:srgbClr val="1A1A1A"/>
                </a:solidFill>
                <a:latin typeface="Arial MT"/>
                <a:cs typeface="Arial MT"/>
              </a:rPr>
              <a:t>DRAM</a:t>
            </a:r>
            <a:endParaRPr sz="750">
              <a:latin typeface="Arial MT"/>
              <a:cs typeface="Arial MT"/>
            </a:endParaRPr>
          </a:p>
          <a:p>
            <a:pPr marL="361315" indent="-135255">
              <a:lnSpc>
                <a:spcPct val="100000"/>
              </a:lnSpc>
              <a:spcBef>
                <a:spcPts val="229"/>
              </a:spcBef>
              <a:buChar char="•"/>
              <a:tabLst>
                <a:tab pos="361315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DDR</a:t>
            </a:r>
            <a:r>
              <a:rPr dirty="0" sz="750" spc="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1A1A1A"/>
                </a:solidFill>
                <a:latin typeface="Arial MT"/>
                <a:cs typeface="Arial MT"/>
              </a:rPr>
              <a:t>SDRAM</a:t>
            </a:r>
            <a:endParaRPr sz="750">
              <a:latin typeface="Arial MT"/>
              <a:cs typeface="Arial MT"/>
            </a:endParaRPr>
          </a:p>
          <a:p>
            <a:pPr marL="361315" indent="-135255">
              <a:lnSpc>
                <a:spcPct val="100000"/>
              </a:lnSpc>
              <a:spcBef>
                <a:spcPts val="229"/>
              </a:spcBef>
              <a:buChar char="•"/>
              <a:tabLst>
                <a:tab pos="361315" algn="l"/>
              </a:tabLst>
            </a:pP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Cache</a:t>
            </a:r>
            <a:r>
              <a:rPr dirty="0" sz="750" spc="9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20">
                <a:solidFill>
                  <a:srgbClr val="1A1A1A"/>
                </a:solidFill>
                <a:latin typeface="Arial MT"/>
                <a:cs typeface="Arial MT"/>
              </a:rPr>
              <a:t>DRAM</a:t>
            </a:r>
            <a:endParaRPr sz="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FAFA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jhyun</dc:creator>
  <dc:title>COA-09w_Memory.pdf</dc:title>
  <dcterms:created xsi:type="dcterms:W3CDTF">2025-04-06T14:43:44Z</dcterms:created>
  <dcterms:modified xsi:type="dcterms:W3CDTF">2025-04-06T14:43:44Z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2023-04-04T00:00:00Z</vt:filetime>
  </property>
  <property fmtid="{D5CDD505-2E9C-101B-9397-08002B2CF9AE}" pid="3" name="LastSaved">
    <vt:filetime>2025-04-06T00:00:00Z</vt:filetime>
  </property>
  <property fmtid="{D5CDD505-2E9C-101B-9397-08002B2CF9AE}" pid="4" name="Producer">
    <vt:lpwstr>Microsoft: Print To PDF</vt:lpwstr>
  </property>
</Properties>
</file>