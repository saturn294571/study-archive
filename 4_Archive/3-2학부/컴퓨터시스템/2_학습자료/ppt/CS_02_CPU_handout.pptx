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2979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1.jp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12979" y="520074"/>
            <a:ext cx="553720" cy="2962910"/>
          </a:xfrm>
          <a:custGeom>
            <a:avLst/>
            <a:gdLst/>
            <a:ahLst/>
            <a:cxnLst/>
            <a:rect l="l" t="t" r="r" b="b"/>
            <a:pathLst>
              <a:path w="553719" h="2962910">
                <a:moveTo>
                  <a:pt x="553405" y="0"/>
                </a:moveTo>
                <a:lnTo>
                  <a:pt x="0" y="0"/>
                </a:lnTo>
                <a:lnTo>
                  <a:pt x="0" y="2962728"/>
                </a:lnTo>
                <a:lnTo>
                  <a:pt x="553405" y="2962728"/>
                </a:lnTo>
                <a:lnTo>
                  <a:pt x="55340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46793" y="1896079"/>
            <a:ext cx="3632835" cy="0"/>
          </a:xfrm>
          <a:custGeom>
            <a:avLst/>
            <a:gdLst/>
            <a:ahLst/>
            <a:cxnLst/>
            <a:rect l="l" t="t" r="r" b="b"/>
            <a:pathLst>
              <a:path w="3632835" h="0">
                <a:moveTo>
                  <a:pt x="0" y="0"/>
                </a:moveTo>
                <a:lnTo>
                  <a:pt x="3632545" y="0"/>
                </a:lnTo>
              </a:path>
            </a:pathLst>
          </a:custGeom>
          <a:ln w="9889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171490" y="1349167"/>
            <a:ext cx="1802130" cy="525780"/>
            <a:chOff x="2171490" y="1349167"/>
            <a:chExt cx="1802130" cy="52578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71490" y="1349167"/>
              <a:ext cx="1024172" cy="52532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9026" y="1349167"/>
              <a:ext cx="1024172" cy="525323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1785" y="2000066"/>
            <a:ext cx="1511159" cy="113454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14733" y="247649"/>
            <a:ext cx="4945380" cy="3513454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800">
              <a:latin typeface="Times New Roman"/>
              <a:cs typeface="Times New Roman"/>
            </a:endParaRPr>
          </a:p>
          <a:p>
            <a:pPr marL="2003425">
              <a:lnSpc>
                <a:spcPct val="100000"/>
              </a:lnSpc>
            </a:pPr>
            <a:r>
              <a:rPr dirty="0" sz="1800" spc="65" b="1">
                <a:solidFill>
                  <a:srgbClr val="003366"/>
                </a:solidFill>
                <a:latin typeface="Malgun Gothic"/>
                <a:cs typeface="Malgun Gothic"/>
              </a:rPr>
              <a:t>컴퓨터</a:t>
            </a:r>
            <a:r>
              <a:rPr dirty="0" sz="1800" spc="-125" b="1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800" spc="35" b="1">
                <a:solidFill>
                  <a:srgbClr val="003366"/>
                </a:solidFill>
                <a:latin typeface="Malgun Gothic"/>
                <a:cs typeface="Malgun Gothic"/>
              </a:rPr>
              <a:t>시스템</a:t>
            </a:r>
            <a:endParaRPr sz="1800">
              <a:latin typeface="Malgun Gothic"/>
              <a:cs typeface="Malgun Gothic"/>
            </a:endParaRPr>
          </a:p>
          <a:p>
            <a:pPr marL="3185160">
              <a:lnSpc>
                <a:spcPct val="100000"/>
              </a:lnSpc>
              <a:spcBef>
                <a:spcPts val="2045"/>
              </a:spcBef>
            </a:pPr>
            <a:r>
              <a:rPr dirty="0" sz="850" b="1">
                <a:solidFill>
                  <a:srgbClr val="003366"/>
                </a:solidFill>
                <a:latin typeface="Arial"/>
                <a:cs typeface="Arial"/>
              </a:rPr>
              <a:t>CPU Internal</a:t>
            </a:r>
            <a:r>
              <a:rPr dirty="0" sz="850" spc="1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3366"/>
                </a:solidFill>
                <a:latin typeface="Arial"/>
                <a:cs typeface="Arial"/>
              </a:rPr>
              <a:t>Architecture</a:t>
            </a: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850">
              <a:latin typeface="Arial"/>
              <a:cs typeface="Arial"/>
            </a:endParaRPr>
          </a:p>
          <a:p>
            <a:pPr algn="ctr" marL="2367280">
              <a:lnSpc>
                <a:spcPts val="550"/>
              </a:lnSpc>
            </a:pPr>
            <a:r>
              <a:rPr dirty="0" sz="500">
                <a:latin typeface="Verdana"/>
                <a:cs typeface="Verdana"/>
              </a:rPr>
              <a:t>This</a:t>
            </a:r>
            <a:r>
              <a:rPr dirty="0" sz="500" spc="4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material</a:t>
            </a:r>
            <a:r>
              <a:rPr dirty="0" sz="500" spc="4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is</a:t>
            </a:r>
            <a:r>
              <a:rPr dirty="0" sz="500" spc="4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reproduced</a:t>
            </a:r>
            <a:r>
              <a:rPr dirty="0" sz="500" spc="5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based</a:t>
            </a:r>
            <a:r>
              <a:rPr dirty="0" sz="500" spc="45">
                <a:latin typeface="Verdana"/>
                <a:cs typeface="Verdana"/>
              </a:rPr>
              <a:t> </a:t>
            </a:r>
            <a:r>
              <a:rPr dirty="0" sz="500" spc="-25">
                <a:latin typeface="Verdana"/>
                <a:cs typeface="Verdana"/>
              </a:rPr>
              <a:t>on</a:t>
            </a:r>
            <a:endParaRPr sz="500">
              <a:latin typeface="Verdana"/>
              <a:cs typeface="Verdana"/>
            </a:endParaRPr>
          </a:p>
          <a:p>
            <a:pPr algn="ctr" marL="2700655" marR="325755" indent="1270">
              <a:lnSpc>
                <a:spcPct val="80500"/>
              </a:lnSpc>
              <a:spcBef>
                <a:spcPts val="70"/>
              </a:spcBef>
            </a:pPr>
            <a:r>
              <a:rPr dirty="0" sz="500">
                <a:latin typeface="Malgun Gothic"/>
                <a:cs typeface="Malgun Gothic"/>
              </a:rPr>
              <a:t>핵심</a:t>
            </a:r>
            <a:r>
              <a:rPr dirty="0" sz="500" spc="60">
                <a:latin typeface="Malgun Gothic"/>
                <a:cs typeface="Malgun Gothic"/>
              </a:rPr>
              <a:t> </a:t>
            </a:r>
            <a:r>
              <a:rPr dirty="0" sz="500">
                <a:latin typeface="Malgun Gothic"/>
                <a:cs typeface="Malgun Gothic"/>
              </a:rPr>
              <a:t>컴퓨터구조</a:t>
            </a:r>
            <a:r>
              <a:rPr dirty="0" sz="500" spc="65">
                <a:latin typeface="Malgun Gothic"/>
                <a:cs typeface="Malgun Gothic"/>
              </a:rPr>
              <a:t> </a:t>
            </a:r>
            <a:r>
              <a:rPr dirty="0" sz="500">
                <a:latin typeface="Malgun Gothic"/>
                <a:cs typeface="Malgun Gothic"/>
              </a:rPr>
              <a:t>및</a:t>
            </a:r>
            <a:r>
              <a:rPr dirty="0" sz="500" spc="60">
                <a:latin typeface="Malgun Gothic"/>
                <a:cs typeface="Malgun Gothic"/>
              </a:rPr>
              <a:t> </a:t>
            </a:r>
            <a:r>
              <a:rPr dirty="0" sz="500">
                <a:latin typeface="Malgun Gothic"/>
                <a:cs typeface="Malgun Gothic"/>
              </a:rPr>
              <a:t>운영체제</a:t>
            </a:r>
            <a:r>
              <a:rPr dirty="0" sz="500" spc="65">
                <a:latin typeface="Malgun Gothic"/>
                <a:cs typeface="Malgun Gothic"/>
              </a:rPr>
              <a:t> </a:t>
            </a:r>
            <a:r>
              <a:rPr dirty="0" sz="500">
                <a:latin typeface="Malgun Gothic"/>
                <a:cs typeface="Malgun Gothic"/>
              </a:rPr>
              <a:t>해설</a:t>
            </a:r>
            <a:r>
              <a:rPr dirty="0" sz="500">
                <a:latin typeface="Verdana"/>
                <a:cs typeface="Verdana"/>
              </a:rPr>
              <a:t>(</a:t>
            </a:r>
            <a:r>
              <a:rPr dirty="0" sz="500">
                <a:latin typeface="Malgun Gothic"/>
                <a:cs typeface="Malgun Gothic"/>
              </a:rPr>
              <a:t>최종언저</a:t>
            </a:r>
            <a:r>
              <a:rPr dirty="0" sz="500">
                <a:latin typeface="Verdana"/>
                <a:cs typeface="Verdana"/>
              </a:rPr>
              <a:t>,</a:t>
            </a:r>
            <a:r>
              <a:rPr dirty="0" sz="500" spc="50">
                <a:latin typeface="Verdana"/>
                <a:cs typeface="Verdana"/>
              </a:rPr>
              <a:t> </a:t>
            </a:r>
            <a:r>
              <a:rPr dirty="0" sz="500" spc="-10">
                <a:latin typeface="Malgun Gothic"/>
                <a:cs typeface="Malgun Gothic"/>
              </a:rPr>
              <a:t>예문사</a:t>
            </a:r>
            <a:r>
              <a:rPr dirty="0" sz="500" spc="-10">
                <a:latin typeface="Verdana"/>
                <a:cs typeface="Verdana"/>
              </a:rPr>
              <a:t>),</a:t>
            </a:r>
            <a:r>
              <a:rPr dirty="0" sz="500" spc="50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Computer</a:t>
            </a:r>
            <a:r>
              <a:rPr dirty="0" sz="500" spc="5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Organization</a:t>
            </a:r>
            <a:r>
              <a:rPr dirty="0" sz="500" spc="29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and</a:t>
            </a:r>
            <a:r>
              <a:rPr dirty="0" sz="500" spc="6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Architecture,</a:t>
            </a:r>
            <a:r>
              <a:rPr dirty="0" sz="500" spc="5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9ed(by</a:t>
            </a:r>
            <a:r>
              <a:rPr dirty="0" sz="500" spc="60">
                <a:latin typeface="Verdana"/>
                <a:cs typeface="Verdana"/>
              </a:rPr>
              <a:t> </a:t>
            </a:r>
            <a:r>
              <a:rPr dirty="0" sz="500" spc="-10">
                <a:latin typeface="Verdana"/>
                <a:cs typeface="Verdana"/>
              </a:rPr>
              <a:t>William</a:t>
            </a:r>
            <a:r>
              <a:rPr dirty="0" sz="500" spc="50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Stallings)</a:t>
            </a:r>
            <a:r>
              <a:rPr dirty="0" sz="500" spc="60">
                <a:latin typeface="Verdana"/>
                <a:cs typeface="Verdana"/>
              </a:rPr>
              <a:t> </a:t>
            </a:r>
            <a:r>
              <a:rPr dirty="0" sz="500" spc="-25">
                <a:latin typeface="Verdana"/>
                <a:cs typeface="Verdana"/>
              </a:rPr>
              <a:t>and</a:t>
            </a:r>
            <a:endParaRPr sz="500">
              <a:latin typeface="Verdana"/>
              <a:cs typeface="Verdana"/>
            </a:endParaRPr>
          </a:p>
          <a:p>
            <a:pPr algn="ctr" marL="2369185">
              <a:lnSpc>
                <a:spcPts val="505"/>
              </a:lnSpc>
            </a:pPr>
            <a:r>
              <a:rPr dirty="0" sz="500">
                <a:latin typeface="Verdana"/>
                <a:cs typeface="Verdana"/>
              </a:rPr>
              <a:t>Computer</a:t>
            </a:r>
            <a:r>
              <a:rPr dirty="0" sz="500" spc="8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Architecture(by</a:t>
            </a:r>
            <a:r>
              <a:rPr dirty="0" sz="500" spc="9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Behrooz</a:t>
            </a:r>
            <a:r>
              <a:rPr dirty="0" sz="500" spc="90">
                <a:latin typeface="Verdana"/>
                <a:cs typeface="Verdana"/>
              </a:rPr>
              <a:t> </a:t>
            </a:r>
            <a:r>
              <a:rPr dirty="0" sz="500" spc="-10">
                <a:latin typeface="Verdana"/>
                <a:cs typeface="Verdana"/>
              </a:rPr>
              <a:t>Parhami),</a:t>
            </a:r>
            <a:endParaRPr sz="500">
              <a:latin typeface="Verdana"/>
              <a:cs typeface="Verdana"/>
            </a:endParaRPr>
          </a:p>
          <a:p>
            <a:pPr algn="ctr" marL="2368550">
              <a:lnSpc>
                <a:spcPct val="100000"/>
              </a:lnSpc>
              <a:spcBef>
                <a:spcPts val="400"/>
              </a:spcBef>
            </a:pPr>
            <a:r>
              <a:rPr dirty="0" sz="500">
                <a:latin typeface="Verdana"/>
                <a:cs typeface="Verdana"/>
              </a:rPr>
              <a:t>Copyrights</a:t>
            </a:r>
            <a:r>
              <a:rPr dirty="0" sz="500" spc="5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are</a:t>
            </a:r>
            <a:r>
              <a:rPr dirty="0" sz="500" spc="6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reserved</a:t>
            </a:r>
            <a:r>
              <a:rPr dirty="0" sz="500" spc="6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by</a:t>
            </a:r>
            <a:r>
              <a:rPr dirty="0" sz="500" spc="5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corresponding</a:t>
            </a:r>
            <a:r>
              <a:rPr dirty="0" sz="500" spc="60">
                <a:latin typeface="Verdana"/>
                <a:cs typeface="Verdana"/>
              </a:rPr>
              <a:t> </a:t>
            </a:r>
            <a:r>
              <a:rPr dirty="0" sz="500" spc="-10">
                <a:latin typeface="Verdana"/>
                <a:cs typeface="Verdana"/>
              </a:rPr>
              <a:t>authors.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432132" y="247649"/>
            <a:ext cx="4945380" cy="3513454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Times New Roman"/>
              <a:cs typeface="Times New Roman"/>
            </a:endParaRPr>
          </a:p>
          <a:p>
            <a:pPr marL="296545">
              <a:lnSpc>
                <a:spcPct val="100000"/>
              </a:lnSpc>
            </a:pP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CPU</a:t>
            </a:r>
            <a:r>
              <a:rPr dirty="0" sz="1150" spc="-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003366"/>
                </a:solidFill>
                <a:latin typeface="Malgun Gothic"/>
                <a:cs typeface="Malgun Gothic"/>
              </a:rPr>
              <a:t>구조도</a:t>
            </a: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14"/>
              </a:spcBef>
            </a:pPr>
            <a:endParaRPr sz="11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6179" y="913389"/>
            <a:ext cx="4245807" cy="2339621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412979" y="4370354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314733" y="3799049"/>
            <a:ext cx="4945380" cy="3513454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Times New Roman"/>
              <a:cs typeface="Times New Roman"/>
            </a:endParaRPr>
          </a:p>
          <a:p>
            <a:pPr marL="296545">
              <a:lnSpc>
                <a:spcPct val="100000"/>
              </a:lnSpc>
            </a:pP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CPU</a:t>
            </a:r>
            <a:r>
              <a:rPr dirty="0" sz="1150" spc="-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Malgun Gothic"/>
                <a:cs typeface="Malgun Gothic"/>
              </a:rPr>
              <a:t>구성요소</a:t>
            </a: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14"/>
              </a:spcBef>
            </a:pPr>
            <a:endParaRPr sz="11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0469" y="4524325"/>
            <a:ext cx="4381131" cy="2214385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5530380" y="4370354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7607709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5729114" y="4146223"/>
            <a:ext cx="191579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Execution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Unit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530955" y="6547970"/>
            <a:ext cx="3002280" cy="168275"/>
          </a:xfrm>
          <a:prstGeom prst="rect">
            <a:avLst/>
          </a:prstGeom>
          <a:solidFill>
            <a:srgbClr val="CCFF99"/>
          </a:solidFill>
        </p:spPr>
        <p:txBody>
          <a:bodyPr wrap="square" lIns="0" tIns="27940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220"/>
              </a:spcBef>
            </a:pPr>
            <a:r>
              <a:rPr dirty="0" sz="750">
                <a:latin typeface="Arial MT"/>
                <a:cs typeface="Arial MT"/>
              </a:rPr>
              <a:t>Abstract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view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of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the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instruction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execution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unit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for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MicroMIPS.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362149" y="4911464"/>
            <a:ext cx="3086100" cy="1273175"/>
            <a:chOff x="6362149" y="4911464"/>
            <a:chExt cx="3086100" cy="1273175"/>
          </a:xfrm>
        </p:grpSpPr>
        <p:sp>
          <p:nvSpPr>
            <p:cNvPr id="24" name="object 24" descr=""/>
            <p:cNvSpPr/>
            <p:nvPr/>
          </p:nvSpPr>
          <p:spPr>
            <a:xfrm>
              <a:off x="6578271" y="4914956"/>
              <a:ext cx="0" cy="1000125"/>
            </a:xfrm>
            <a:custGeom>
              <a:avLst/>
              <a:gdLst/>
              <a:ahLst/>
              <a:cxnLst/>
              <a:rect l="l" t="t" r="r" b="b"/>
              <a:pathLst>
                <a:path w="0" h="1000125">
                  <a:moveTo>
                    <a:pt x="0" y="0"/>
                  </a:moveTo>
                  <a:lnTo>
                    <a:pt x="0" y="999716"/>
                  </a:lnTo>
                </a:path>
              </a:pathLst>
            </a:custGeom>
            <a:ln w="6484">
              <a:solidFill>
                <a:srgbClr val="FF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444209" y="5559414"/>
              <a:ext cx="0" cy="349250"/>
            </a:xfrm>
            <a:custGeom>
              <a:avLst/>
              <a:gdLst/>
              <a:ahLst/>
              <a:cxnLst/>
              <a:rect l="l" t="t" r="r" b="b"/>
              <a:pathLst>
                <a:path w="0" h="349250">
                  <a:moveTo>
                    <a:pt x="0" y="0"/>
                  </a:moveTo>
                  <a:lnTo>
                    <a:pt x="0" y="348761"/>
                  </a:lnTo>
                </a:path>
              </a:pathLst>
            </a:custGeom>
            <a:ln w="6441">
              <a:solidFill>
                <a:srgbClr val="FF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557565" y="5612238"/>
              <a:ext cx="6985" cy="302895"/>
            </a:xfrm>
            <a:custGeom>
              <a:avLst/>
              <a:gdLst/>
              <a:ahLst/>
              <a:cxnLst/>
              <a:rect l="l" t="t" r="r" b="b"/>
              <a:pathLst>
                <a:path w="6984" h="302895">
                  <a:moveTo>
                    <a:pt x="6527" y="276237"/>
                  </a:moveTo>
                  <a:lnTo>
                    <a:pt x="0" y="269532"/>
                  </a:lnTo>
                  <a:lnTo>
                    <a:pt x="0" y="302437"/>
                  </a:lnTo>
                  <a:lnTo>
                    <a:pt x="6527" y="302437"/>
                  </a:lnTo>
                  <a:lnTo>
                    <a:pt x="6527" y="276237"/>
                  </a:lnTo>
                  <a:close/>
                </a:path>
                <a:path w="6984" h="302895">
                  <a:moveTo>
                    <a:pt x="6527" y="230124"/>
                  </a:moveTo>
                  <a:lnTo>
                    <a:pt x="0" y="223634"/>
                  </a:lnTo>
                  <a:lnTo>
                    <a:pt x="0" y="256540"/>
                  </a:lnTo>
                  <a:lnTo>
                    <a:pt x="6527" y="256540"/>
                  </a:lnTo>
                  <a:lnTo>
                    <a:pt x="6527" y="230124"/>
                  </a:lnTo>
                  <a:close/>
                </a:path>
                <a:path w="6984" h="302895">
                  <a:moveTo>
                    <a:pt x="6527" y="184023"/>
                  </a:moveTo>
                  <a:lnTo>
                    <a:pt x="0" y="177520"/>
                  </a:lnTo>
                  <a:lnTo>
                    <a:pt x="0" y="210426"/>
                  </a:lnTo>
                  <a:lnTo>
                    <a:pt x="6527" y="210426"/>
                  </a:lnTo>
                  <a:lnTo>
                    <a:pt x="6527" y="184023"/>
                  </a:lnTo>
                  <a:close/>
                </a:path>
                <a:path w="6984" h="302895">
                  <a:moveTo>
                    <a:pt x="6527" y="138125"/>
                  </a:moveTo>
                  <a:lnTo>
                    <a:pt x="0" y="131419"/>
                  </a:lnTo>
                  <a:lnTo>
                    <a:pt x="0" y="164325"/>
                  </a:lnTo>
                  <a:lnTo>
                    <a:pt x="6527" y="164325"/>
                  </a:lnTo>
                  <a:lnTo>
                    <a:pt x="6527" y="138125"/>
                  </a:lnTo>
                  <a:close/>
                </a:path>
                <a:path w="6984" h="302895">
                  <a:moveTo>
                    <a:pt x="6527" y="92011"/>
                  </a:moveTo>
                  <a:lnTo>
                    <a:pt x="0" y="85521"/>
                  </a:lnTo>
                  <a:lnTo>
                    <a:pt x="0" y="118198"/>
                  </a:lnTo>
                  <a:lnTo>
                    <a:pt x="6527" y="118198"/>
                  </a:lnTo>
                  <a:lnTo>
                    <a:pt x="6527" y="92011"/>
                  </a:lnTo>
                  <a:close/>
                </a:path>
                <a:path w="6984" h="302895">
                  <a:moveTo>
                    <a:pt x="6527" y="45897"/>
                  </a:moveTo>
                  <a:lnTo>
                    <a:pt x="0" y="39408"/>
                  </a:lnTo>
                  <a:lnTo>
                    <a:pt x="0" y="72301"/>
                  </a:lnTo>
                  <a:lnTo>
                    <a:pt x="6527" y="72301"/>
                  </a:lnTo>
                  <a:lnTo>
                    <a:pt x="6527" y="45897"/>
                  </a:lnTo>
                  <a:close/>
                </a:path>
                <a:path w="6984" h="302895">
                  <a:moveTo>
                    <a:pt x="6527" y="0"/>
                  </a:moveTo>
                  <a:lnTo>
                    <a:pt x="0" y="0"/>
                  </a:lnTo>
                  <a:lnTo>
                    <a:pt x="0" y="26200"/>
                  </a:lnTo>
                  <a:lnTo>
                    <a:pt x="6527" y="26200"/>
                  </a:lnTo>
                  <a:lnTo>
                    <a:pt x="6527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671013" y="5664839"/>
              <a:ext cx="0" cy="394970"/>
            </a:xfrm>
            <a:custGeom>
              <a:avLst/>
              <a:gdLst/>
              <a:ahLst/>
              <a:cxnLst/>
              <a:rect l="l" t="t" r="r" b="b"/>
              <a:pathLst>
                <a:path w="0" h="394970">
                  <a:moveTo>
                    <a:pt x="0" y="0"/>
                  </a:moveTo>
                  <a:lnTo>
                    <a:pt x="0" y="394658"/>
                  </a:lnTo>
                </a:path>
              </a:pathLst>
            </a:custGeom>
            <a:ln w="6441">
              <a:solidFill>
                <a:srgbClr val="FF0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00538" y="5921379"/>
              <a:ext cx="163558" cy="26303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80969" y="5921379"/>
              <a:ext cx="360018" cy="216928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6365642" y="5243774"/>
              <a:ext cx="104775" cy="316230"/>
            </a:xfrm>
            <a:custGeom>
              <a:avLst/>
              <a:gdLst/>
              <a:ahLst/>
              <a:cxnLst/>
              <a:rect l="l" t="t" r="r" b="b"/>
              <a:pathLst>
                <a:path w="104775" h="316229">
                  <a:moveTo>
                    <a:pt x="104584" y="0"/>
                  </a:moveTo>
                  <a:lnTo>
                    <a:pt x="0" y="0"/>
                  </a:lnTo>
                  <a:lnTo>
                    <a:pt x="0" y="315639"/>
                  </a:lnTo>
                  <a:lnTo>
                    <a:pt x="104584" y="315639"/>
                  </a:lnTo>
                  <a:lnTo>
                    <a:pt x="10458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365642" y="5243774"/>
              <a:ext cx="104775" cy="316230"/>
            </a:xfrm>
            <a:custGeom>
              <a:avLst/>
              <a:gdLst/>
              <a:ahLst/>
              <a:cxnLst/>
              <a:rect l="l" t="t" r="r" b="b"/>
              <a:pathLst>
                <a:path w="104775" h="316229">
                  <a:moveTo>
                    <a:pt x="0" y="315639"/>
                  </a:moveTo>
                  <a:lnTo>
                    <a:pt x="104584" y="315639"/>
                  </a:lnTo>
                  <a:lnTo>
                    <a:pt x="104584" y="0"/>
                  </a:lnTo>
                  <a:lnTo>
                    <a:pt x="0" y="0"/>
                  </a:lnTo>
                  <a:lnTo>
                    <a:pt x="0" y="315639"/>
                  </a:lnTo>
                  <a:close/>
                </a:path>
              </a:pathLst>
            </a:custGeom>
            <a:ln w="64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403671" y="5089110"/>
              <a:ext cx="367030" cy="631825"/>
            </a:xfrm>
            <a:custGeom>
              <a:avLst/>
              <a:gdLst/>
              <a:ahLst/>
              <a:cxnLst/>
              <a:rect l="l" t="t" r="r" b="b"/>
              <a:pathLst>
                <a:path w="367029" h="631825">
                  <a:moveTo>
                    <a:pt x="0" y="0"/>
                  </a:moveTo>
                  <a:lnTo>
                    <a:pt x="0" y="631480"/>
                  </a:lnTo>
                  <a:lnTo>
                    <a:pt x="366459" y="473442"/>
                  </a:lnTo>
                  <a:lnTo>
                    <a:pt x="366459" y="1577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403671" y="5089110"/>
              <a:ext cx="367030" cy="631825"/>
            </a:xfrm>
            <a:custGeom>
              <a:avLst/>
              <a:gdLst/>
              <a:ahLst/>
              <a:cxnLst/>
              <a:rect l="l" t="t" r="r" b="b"/>
              <a:pathLst>
                <a:path w="367029" h="631825">
                  <a:moveTo>
                    <a:pt x="0" y="631480"/>
                  </a:moveTo>
                  <a:lnTo>
                    <a:pt x="366459" y="473442"/>
                  </a:lnTo>
                  <a:lnTo>
                    <a:pt x="366459" y="157758"/>
                  </a:lnTo>
                  <a:lnTo>
                    <a:pt x="0" y="0"/>
                  </a:lnTo>
                  <a:lnTo>
                    <a:pt x="0" y="631480"/>
                  </a:lnTo>
                  <a:close/>
                </a:path>
              </a:pathLst>
            </a:custGeom>
            <a:ln w="6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348224" y="5243730"/>
              <a:ext cx="157480" cy="316230"/>
            </a:xfrm>
            <a:custGeom>
              <a:avLst/>
              <a:gdLst/>
              <a:ahLst/>
              <a:cxnLst/>
              <a:rect l="l" t="t" r="r" b="b"/>
              <a:pathLst>
                <a:path w="157479" h="316229">
                  <a:moveTo>
                    <a:pt x="0" y="0"/>
                  </a:moveTo>
                  <a:lnTo>
                    <a:pt x="0" y="315683"/>
                  </a:lnTo>
                  <a:lnTo>
                    <a:pt x="157116" y="157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403671" y="5299543"/>
              <a:ext cx="105410" cy="210820"/>
            </a:xfrm>
            <a:custGeom>
              <a:avLst/>
              <a:gdLst/>
              <a:ahLst/>
              <a:cxnLst/>
              <a:rect l="l" t="t" r="r" b="b"/>
              <a:pathLst>
                <a:path w="105409" h="210820">
                  <a:moveTo>
                    <a:pt x="0" y="0"/>
                  </a:moveTo>
                  <a:lnTo>
                    <a:pt x="104802" y="105172"/>
                  </a:lnTo>
                </a:path>
                <a:path w="105409" h="210820">
                  <a:moveTo>
                    <a:pt x="0" y="210397"/>
                  </a:moveTo>
                  <a:lnTo>
                    <a:pt x="104802" y="105172"/>
                  </a:lnTo>
                </a:path>
              </a:pathLst>
            </a:custGeom>
            <a:ln w="6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8518310" y="5316625"/>
            <a:ext cx="219710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 MT"/>
                <a:cs typeface="Arial MT"/>
              </a:rPr>
              <a:t>ALU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6623824" y="5171435"/>
            <a:ext cx="3138170" cy="500380"/>
            <a:chOff x="6623824" y="5171435"/>
            <a:chExt cx="3138170" cy="500380"/>
          </a:xfrm>
        </p:grpSpPr>
        <p:sp>
          <p:nvSpPr>
            <p:cNvPr id="38" name="object 38" descr=""/>
            <p:cNvSpPr/>
            <p:nvPr/>
          </p:nvSpPr>
          <p:spPr>
            <a:xfrm>
              <a:off x="7827955" y="5194283"/>
              <a:ext cx="549910" cy="0"/>
            </a:xfrm>
            <a:custGeom>
              <a:avLst/>
              <a:gdLst/>
              <a:ahLst/>
              <a:cxnLst/>
              <a:rect l="l" t="t" r="r" b="b"/>
              <a:pathLst>
                <a:path w="549909" h="0">
                  <a:moveTo>
                    <a:pt x="0" y="0"/>
                  </a:moveTo>
                  <a:lnTo>
                    <a:pt x="549515" y="0"/>
                  </a:lnTo>
                </a:path>
              </a:pathLst>
            </a:custGeom>
            <a:ln w="6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8361368" y="5171435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0" y="0"/>
                  </a:moveTo>
                  <a:lnTo>
                    <a:pt x="0" y="45957"/>
                  </a:lnTo>
                  <a:lnTo>
                    <a:pt x="45872" y="197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827955" y="5615375"/>
              <a:ext cx="549910" cy="0"/>
            </a:xfrm>
            <a:custGeom>
              <a:avLst/>
              <a:gdLst/>
              <a:ahLst/>
              <a:cxnLst/>
              <a:rect l="l" t="t" r="r" b="b"/>
              <a:pathLst>
                <a:path w="549909" h="0">
                  <a:moveTo>
                    <a:pt x="0" y="0"/>
                  </a:moveTo>
                  <a:lnTo>
                    <a:pt x="549515" y="0"/>
                  </a:lnTo>
                </a:path>
              </a:pathLst>
            </a:custGeom>
            <a:ln w="6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361368" y="5592317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0" y="0"/>
                  </a:moveTo>
                  <a:lnTo>
                    <a:pt x="0" y="46114"/>
                  </a:lnTo>
                  <a:lnTo>
                    <a:pt x="45872" y="19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283871" y="5243774"/>
              <a:ext cx="367030" cy="316230"/>
            </a:xfrm>
            <a:custGeom>
              <a:avLst/>
              <a:gdLst/>
              <a:ahLst/>
              <a:cxnLst/>
              <a:rect l="l" t="t" r="r" b="b"/>
              <a:pathLst>
                <a:path w="367029" h="316229">
                  <a:moveTo>
                    <a:pt x="366477" y="0"/>
                  </a:moveTo>
                  <a:lnTo>
                    <a:pt x="0" y="0"/>
                  </a:lnTo>
                  <a:lnTo>
                    <a:pt x="0" y="315639"/>
                  </a:lnTo>
                  <a:lnTo>
                    <a:pt x="366477" y="315639"/>
                  </a:lnTo>
                  <a:lnTo>
                    <a:pt x="3664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770131" y="5243774"/>
              <a:ext cx="988060" cy="424815"/>
            </a:xfrm>
            <a:custGeom>
              <a:avLst/>
              <a:gdLst/>
              <a:ahLst/>
              <a:cxnLst/>
              <a:rect l="l" t="t" r="r" b="b"/>
              <a:pathLst>
                <a:path w="988059" h="424814">
                  <a:moveTo>
                    <a:pt x="513740" y="315639"/>
                  </a:moveTo>
                  <a:lnTo>
                    <a:pt x="880217" y="315639"/>
                  </a:lnTo>
                  <a:lnTo>
                    <a:pt x="880217" y="0"/>
                  </a:lnTo>
                  <a:lnTo>
                    <a:pt x="513740" y="0"/>
                  </a:lnTo>
                  <a:lnTo>
                    <a:pt x="513740" y="315639"/>
                  </a:lnTo>
                  <a:close/>
                </a:path>
                <a:path w="988059" h="424814">
                  <a:moveTo>
                    <a:pt x="157116" y="424204"/>
                  </a:moveTo>
                  <a:lnTo>
                    <a:pt x="987961" y="424204"/>
                  </a:lnTo>
                </a:path>
                <a:path w="988059" h="424814">
                  <a:moveTo>
                    <a:pt x="0" y="160942"/>
                  </a:moveTo>
                  <a:lnTo>
                    <a:pt x="490760" y="160942"/>
                  </a:lnTo>
                </a:path>
              </a:pathLst>
            </a:custGeom>
            <a:ln w="6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9244527" y="5381868"/>
              <a:ext cx="39370" cy="46355"/>
            </a:xfrm>
            <a:custGeom>
              <a:avLst/>
              <a:gdLst/>
              <a:ahLst/>
              <a:cxnLst/>
              <a:rect l="l" t="t" r="r" b="b"/>
              <a:pathLst>
                <a:path w="39370" h="46354">
                  <a:moveTo>
                    <a:pt x="0" y="0"/>
                  </a:moveTo>
                  <a:lnTo>
                    <a:pt x="0" y="46132"/>
                  </a:lnTo>
                  <a:lnTo>
                    <a:pt x="39344" y="197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627316" y="5243774"/>
              <a:ext cx="367030" cy="316230"/>
            </a:xfrm>
            <a:custGeom>
              <a:avLst/>
              <a:gdLst/>
              <a:ahLst/>
              <a:cxnLst/>
              <a:rect l="l" t="t" r="r" b="b"/>
              <a:pathLst>
                <a:path w="367029" h="316229">
                  <a:moveTo>
                    <a:pt x="366477" y="0"/>
                  </a:moveTo>
                  <a:lnTo>
                    <a:pt x="0" y="0"/>
                  </a:lnTo>
                  <a:lnTo>
                    <a:pt x="0" y="315639"/>
                  </a:lnTo>
                  <a:lnTo>
                    <a:pt x="366477" y="315639"/>
                  </a:lnTo>
                  <a:lnTo>
                    <a:pt x="3664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627316" y="5243774"/>
              <a:ext cx="367030" cy="316230"/>
            </a:xfrm>
            <a:custGeom>
              <a:avLst/>
              <a:gdLst/>
              <a:ahLst/>
              <a:cxnLst/>
              <a:rect l="l" t="t" r="r" b="b"/>
              <a:pathLst>
                <a:path w="367029" h="316229">
                  <a:moveTo>
                    <a:pt x="0" y="315639"/>
                  </a:moveTo>
                  <a:lnTo>
                    <a:pt x="366477" y="315639"/>
                  </a:lnTo>
                  <a:lnTo>
                    <a:pt x="366477" y="0"/>
                  </a:lnTo>
                  <a:lnTo>
                    <a:pt x="0" y="0"/>
                  </a:lnTo>
                  <a:lnTo>
                    <a:pt x="0" y="315639"/>
                  </a:lnTo>
                  <a:close/>
                </a:path>
              </a:pathLst>
            </a:custGeom>
            <a:ln w="64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6699277" y="5283654"/>
            <a:ext cx="24384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R="5080" indent="32384">
              <a:lnSpc>
                <a:spcPct val="100000"/>
              </a:lnSpc>
              <a:spcBef>
                <a:spcPts val="120"/>
              </a:spcBef>
            </a:pPr>
            <a:r>
              <a:rPr dirty="0" sz="650" spc="-10">
                <a:latin typeface="Arial MT"/>
                <a:cs typeface="Arial MT"/>
              </a:rPr>
              <a:t>Instr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cache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6469867" y="4687785"/>
            <a:ext cx="3396615" cy="1188085"/>
            <a:chOff x="6469867" y="4687785"/>
            <a:chExt cx="3396615" cy="1188085"/>
          </a:xfrm>
        </p:grpSpPr>
        <p:sp>
          <p:nvSpPr>
            <p:cNvPr id="49" name="object 49" descr=""/>
            <p:cNvSpPr/>
            <p:nvPr/>
          </p:nvSpPr>
          <p:spPr>
            <a:xfrm>
              <a:off x="7252152" y="4825830"/>
              <a:ext cx="0" cy="579120"/>
            </a:xfrm>
            <a:custGeom>
              <a:avLst/>
              <a:gdLst/>
              <a:ahLst/>
              <a:cxnLst/>
              <a:rect l="l" t="t" r="r" b="b"/>
              <a:pathLst>
                <a:path w="0" h="579120">
                  <a:moveTo>
                    <a:pt x="0" y="0"/>
                  </a:moveTo>
                  <a:lnTo>
                    <a:pt x="0" y="578885"/>
                  </a:lnTo>
                </a:path>
              </a:pathLst>
            </a:custGeom>
            <a:ln w="6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235788" y="5388408"/>
              <a:ext cx="39370" cy="40005"/>
            </a:xfrm>
            <a:custGeom>
              <a:avLst/>
              <a:gdLst/>
              <a:ahLst/>
              <a:cxnLst/>
              <a:rect l="l" t="t" r="r" b="b"/>
              <a:pathLst>
                <a:path w="39370" h="40004">
                  <a:moveTo>
                    <a:pt x="19672" y="0"/>
                  </a:moveTo>
                  <a:lnTo>
                    <a:pt x="11127" y="1254"/>
                  </a:lnTo>
                  <a:lnTo>
                    <a:pt x="4972" y="5003"/>
                  </a:lnTo>
                  <a:lnTo>
                    <a:pt x="1249" y="11220"/>
                  </a:lnTo>
                  <a:lnTo>
                    <a:pt x="0" y="19883"/>
                  </a:lnTo>
                  <a:lnTo>
                    <a:pt x="1249" y="28444"/>
                  </a:lnTo>
                  <a:lnTo>
                    <a:pt x="4972" y="34610"/>
                  </a:lnTo>
                  <a:lnTo>
                    <a:pt x="11127" y="38339"/>
                  </a:lnTo>
                  <a:lnTo>
                    <a:pt x="19672" y="39592"/>
                  </a:lnTo>
                  <a:lnTo>
                    <a:pt x="28327" y="38339"/>
                  </a:lnTo>
                  <a:lnTo>
                    <a:pt x="34470" y="34610"/>
                  </a:lnTo>
                  <a:lnTo>
                    <a:pt x="38131" y="28444"/>
                  </a:lnTo>
                  <a:lnTo>
                    <a:pt x="39344" y="19883"/>
                  </a:lnTo>
                  <a:lnTo>
                    <a:pt x="38131" y="11220"/>
                  </a:lnTo>
                  <a:lnTo>
                    <a:pt x="34470" y="5003"/>
                  </a:lnTo>
                  <a:lnTo>
                    <a:pt x="28327" y="1254"/>
                  </a:lnTo>
                  <a:lnTo>
                    <a:pt x="196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473360" y="5404716"/>
              <a:ext cx="131445" cy="0"/>
            </a:xfrm>
            <a:custGeom>
              <a:avLst/>
              <a:gdLst/>
              <a:ahLst/>
              <a:cxnLst/>
              <a:rect l="l" t="t" r="r" b="b"/>
              <a:pathLst>
                <a:path w="131445" h="0">
                  <a:moveTo>
                    <a:pt x="0" y="0"/>
                  </a:moveTo>
                  <a:lnTo>
                    <a:pt x="130950" y="0"/>
                  </a:lnTo>
                </a:path>
              </a:pathLst>
            </a:custGeom>
            <a:ln w="6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588207" y="5381868"/>
              <a:ext cx="39370" cy="46355"/>
            </a:xfrm>
            <a:custGeom>
              <a:avLst/>
              <a:gdLst/>
              <a:ahLst/>
              <a:cxnLst/>
              <a:rect l="l" t="t" r="r" b="b"/>
              <a:pathLst>
                <a:path w="39370" h="46354">
                  <a:moveTo>
                    <a:pt x="0" y="0"/>
                  </a:moveTo>
                  <a:lnTo>
                    <a:pt x="0" y="46132"/>
                  </a:lnTo>
                  <a:lnTo>
                    <a:pt x="39109" y="197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562990" y="5138557"/>
              <a:ext cx="262255" cy="526415"/>
            </a:xfrm>
            <a:custGeom>
              <a:avLst/>
              <a:gdLst/>
              <a:ahLst/>
              <a:cxnLst/>
              <a:rect l="l" t="t" r="r" b="b"/>
              <a:pathLst>
                <a:path w="262254" h="526414">
                  <a:moveTo>
                    <a:pt x="261892" y="0"/>
                  </a:moveTo>
                  <a:lnTo>
                    <a:pt x="0" y="0"/>
                  </a:lnTo>
                  <a:lnTo>
                    <a:pt x="0" y="526281"/>
                  </a:lnTo>
                  <a:lnTo>
                    <a:pt x="261892" y="526281"/>
                  </a:lnTo>
                  <a:lnTo>
                    <a:pt x="261892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7356693" y="5138557"/>
              <a:ext cx="468630" cy="526415"/>
            </a:xfrm>
            <a:custGeom>
              <a:avLst/>
              <a:gdLst/>
              <a:ahLst/>
              <a:cxnLst/>
              <a:rect l="l" t="t" r="r" b="b"/>
              <a:pathLst>
                <a:path w="468629" h="526414">
                  <a:moveTo>
                    <a:pt x="206296" y="526281"/>
                  </a:moveTo>
                  <a:lnTo>
                    <a:pt x="468189" y="526281"/>
                  </a:lnTo>
                  <a:lnTo>
                    <a:pt x="468189" y="0"/>
                  </a:lnTo>
                  <a:lnTo>
                    <a:pt x="206296" y="0"/>
                  </a:lnTo>
                  <a:lnTo>
                    <a:pt x="206296" y="526281"/>
                  </a:lnTo>
                  <a:close/>
                </a:path>
                <a:path w="468629" h="526414">
                  <a:moveTo>
                    <a:pt x="0" y="55725"/>
                  </a:moveTo>
                  <a:lnTo>
                    <a:pt x="183229" y="55725"/>
                  </a:lnTo>
                </a:path>
              </a:pathLst>
            </a:custGeom>
            <a:ln w="6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523820" y="5171435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0" y="0"/>
                  </a:moveTo>
                  <a:lnTo>
                    <a:pt x="0" y="45957"/>
                  </a:lnTo>
                  <a:lnTo>
                    <a:pt x="45872" y="197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461496" y="5404716"/>
              <a:ext cx="2401570" cy="467359"/>
            </a:xfrm>
            <a:custGeom>
              <a:avLst/>
              <a:gdLst/>
              <a:ahLst/>
              <a:cxnLst/>
              <a:rect l="l" t="t" r="r" b="b"/>
              <a:pathLst>
                <a:path w="2401570" h="467360">
                  <a:moveTo>
                    <a:pt x="2191969" y="0"/>
                  </a:moveTo>
                  <a:lnTo>
                    <a:pt x="2401399" y="0"/>
                  </a:lnTo>
                </a:path>
                <a:path w="2401570" h="467360">
                  <a:moveTo>
                    <a:pt x="2401399" y="0"/>
                  </a:moveTo>
                  <a:lnTo>
                    <a:pt x="2401399" y="467198"/>
                  </a:lnTo>
                </a:path>
                <a:path w="2401570" h="467360">
                  <a:moveTo>
                    <a:pt x="2401399" y="467198"/>
                  </a:moveTo>
                  <a:lnTo>
                    <a:pt x="0" y="467198"/>
                  </a:lnTo>
                </a:path>
              </a:pathLst>
            </a:custGeom>
            <a:ln w="6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6522732" y="4691277"/>
              <a:ext cx="575945" cy="210820"/>
            </a:xfrm>
            <a:custGeom>
              <a:avLst/>
              <a:gdLst/>
              <a:ahLst/>
              <a:cxnLst/>
              <a:rect l="l" t="t" r="r" b="b"/>
              <a:pathLst>
                <a:path w="575945" h="210820">
                  <a:moveTo>
                    <a:pt x="575646" y="0"/>
                  </a:moveTo>
                  <a:lnTo>
                    <a:pt x="0" y="0"/>
                  </a:lnTo>
                  <a:lnTo>
                    <a:pt x="0" y="210423"/>
                  </a:lnTo>
                  <a:lnTo>
                    <a:pt x="575646" y="210423"/>
                  </a:lnTo>
                  <a:lnTo>
                    <a:pt x="575646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6522732" y="4691277"/>
              <a:ext cx="575945" cy="210820"/>
            </a:xfrm>
            <a:custGeom>
              <a:avLst/>
              <a:gdLst/>
              <a:ahLst/>
              <a:cxnLst/>
              <a:rect l="l" t="t" r="r" b="b"/>
              <a:pathLst>
                <a:path w="575945" h="210820">
                  <a:moveTo>
                    <a:pt x="0" y="210423"/>
                  </a:moveTo>
                  <a:lnTo>
                    <a:pt x="575646" y="210423"/>
                  </a:lnTo>
                  <a:lnTo>
                    <a:pt x="575646" y="0"/>
                  </a:lnTo>
                  <a:lnTo>
                    <a:pt x="0" y="0"/>
                  </a:lnTo>
                  <a:lnTo>
                    <a:pt x="0" y="210423"/>
                  </a:lnTo>
                  <a:close/>
                </a:path>
              </a:pathLst>
            </a:custGeom>
            <a:ln w="64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 txBox="1"/>
          <p:nvPr/>
        </p:nvSpPr>
        <p:spPr>
          <a:xfrm>
            <a:off x="6653465" y="4737688"/>
            <a:ext cx="353060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600">
                <a:latin typeface="Arial MT"/>
                <a:cs typeface="Arial MT"/>
              </a:rPr>
              <a:t>Next</a:t>
            </a:r>
            <a:r>
              <a:rPr dirty="0" sz="600" spc="-30">
                <a:latin typeface="Arial MT"/>
                <a:cs typeface="Arial MT"/>
              </a:rPr>
              <a:t> </a:t>
            </a:r>
            <a:r>
              <a:rPr dirty="0" sz="600" spc="-20">
                <a:latin typeface="Arial MT"/>
                <a:cs typeface="Arial MT"/>
              </a:rPr>
              <a:t>addr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6208188" y="4717165"/>
            <a:ext cx="3131820" cy="1576070"/>
            <a:chOff x="6208188" y="4717165"/>
            <a:chExt cx="3131820" cy="1576070"/>
          </a:xfrm>
        </p:grpSpPr>
        <p:sp>
          <p:nvSpPr>
            <p:cNvPr id="61" name="object 61" descr=""/>
            <p:cNvSpPr/>
            <p:nvPr/>
          </p:nvSpPr>
          <p:spPr>
            <a:xfrm>
              <a:off x="6211681" y="4799668"/>
              <a:ext cx="314325" cy="605155"/>
            </a:xfrm>
            <a:custGeom>
              <a:avLst/>
              <a:gdLst/>
              <a:ahLst/>
              <a:cxnLst/>
              <a:rect l="l" t="t" r="r" b="b"/>
              <a:pathLst>
                <a:path w="314325" h="605154">
                  <a:moveTo>
                    <a:pt x="314184" y="0"/>
                  </a:moveTo>
                  <a:lnTo>
                    <a:pt x="0" y="0"/>
                  </a:lnTo>
                </a:path>
                <a:path w="314325" h="605154">
                  <a:moveTo>
                    <a:pt x="0" y="598594"/>
                  </a:moveTo>
                  <a:lnTo>
                    <a:pt x="0" y="0"/>
                  </a:lnTo>
                </a:path>
                <a:path w="314325" h="605154">
                  <a:moveTo>
                    <a:pt x="0" y="605047"/>
                  </a:moveTo>
                  <a:lnTo>
                    <a:pt x="130946" y="605047"/>
                  </a:lnTo>
                </a:path>
              </a:pathLst>
            </a:custGeom>
            <a:ln w="6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6326314" y="5381868"/>
              <a:ext cx="39370" cy="46355"/>
            </a:xfrm>
            <a:custGeom>
              <a:avLst/>
              <a:gdLst/>
              <a:ahLst/>
              <a:cxnLst/>
              <a:rect l="l" t="t" r="r" b="b"/>
              <a:pathLst>
                <a:path w="39370" h="46354">
                  <a:moveTo>
                    <a:pt x="0" y="0"/>
                  </a:moveTo>
                  <a:lnTo>
                    <a:pt x="0" y="46132"/>
                  </a:lnTo>
                  <a:lnTo>
                    <a:pt x="39326" y="197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880269" y="4773244"/>
              <a:ext cx="0" cy="421640"/>
            </a:xfrm>
            <a:custGeom>
              <a:avLst/>
              <a:gdLst/>
              <a:ahLst/>
              <a:cxnLst/>
              <a:rect l="l" t="t" r="r" b="b"/>
              <a:pathLst>
                <a:path w="0" h="421639">
                  <a:moveTo>
                    <a:pt x="0" y="421039"/>
                  </a:moveTo>
                  <a:lnTo>
                    <a:pt x="0" y="0"/>
                  </a:lnTo>
                </a:path>
              </a:pathLst>
            </a:custGeom>
            <a:ln w="6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863992" y="5177976"/>
              <a:ext cx="39370" cy="40005"/>
            </a:xfrm>
            <a:custGeom>
              <a:avLst/>
              <a:gdLst/>
              <a:ahLst/>
              <a:cxnLst/>
              <a:rect l="l" t="t" r="r" b="b"/>
              <a:pathLst>
                <a:path w="39370" h="40004">
                  <a:moveTo>
                    <a:pt x="19672" y="0"/>
                  </a:moveTo>
                  <a:lnTo>
                    <a:pt x="11127" y="1215"/>
                  </a:lnTo>
                  <a:lnTo>
                    <a:pt x="4972" y="4883"/>
                  </a:lnTo>
                  <a:lnTo>
                    <a:pt x="1249" y="11036"/>
                  </a:lnTo>
                  <a:lnTo>
                    <a:pt x="0" y="19707"/>
                  </a:lnTo>
                  <a:lnTo>
                    <a:pt x="1249" y="28342"/>
                  </a:lnTo>
                  <a:lnTo>
                    <a:pt x="4972" y="34500"/>
                  </a:lnTo>
                  <a:lnTo>
                    <a:pt x="11127" y="38189"/>
                  </a:lnTo>
                  <a:lnTo>
                    <a:pt x="19672" y="39416"/>
                  </a:lnTo>
                  <a:lnTo>
                    <a:pt x="28291" y="38189"/>
                  </a:lnTo>
                  <a:lnTo>
                    <a:pt x="34437" y="34500"/>
                  </a:lnTo>
                  <a:lnTo>
                    <a:pt x="38119" y="28342"/>
                  </a:lnTo>
                  <a:lnTo>
                    <a:pt x="39344" y="19707"/>
                  </a:lnTo>
                  <a:lnTo>
                    <a:pt x="38119" y="11036"/>
                  </a:lnTo>
                  <a:lnTo>
                    <a:pt x="34437" y="4883"/>
                  </a:lnTo>
                  <a:lnTo>
                    <a:pt x="28291" y="1215"/>
                  </a:lnTo>
                  <a:lnTo>
                    <a:pt x="196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7932583" y="4720658"/>
              <a:ext cx="0" cy="894715"/>
            </a:xfrm>
            <a:custGeom>
              <a:avLst/>
              <a:gdLst/>
              <a:ahLst/>
              <a:cxnLst/>
              <a:rect l="l" t="t" r="r" b="b"/>
              <a:pathLst>
                <a:path w="0" h="894714">
                  <a:moveTo>
                    <a:pt x="0" y="894717"/>
                  </a:moveTo>
                  <a:lnTo>
                    <a:pt x="0" y="0"/>
                  </a:lnTo>
                </a:path>
              </a:pathLst>
            </a:custGeom>
            <a:ln w="6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7916481" y="5599032"/>
              <a:ext cx="39370" cy="40005"/>
            </a:xfrm>
            <a:custGeom>
              <a:avLst/>
              <a:gdLst/>
              <a:ahLst/>
              <a:cxnLst/>
              <a:rect l="l" t="t" r="r" b="b"/>
              <a:pathLst>
                <a:path w="39370" h="40004">
                  <a:moveTo>
                    <a:pt x="19410" y="0"/>
                  </a:moveTo>
                  <a:lnTo>
                    <a:pt x="10942" y="1221"/>
                  </a:lnTo>
                  <a:lnTo>
                    <a:pt x="4874" y="4899"/>
                  </a:lnTo>
                  <a:lnTo>
                    <a:pt x="1221" y="11052"/>
                  </a:lnTo>
                  <a:lnTo>
                    <a:pt x="0" y="19700"/>
                  </a:lnTo>
                  <a:lnTo>
                    <a:pt x="1221" y="28348"/>
                  </a:lnTo>
                  <a:lnTo>
                    <a:pt x="4874" y="34501"/>
                  </a:lnTo>
                  <a:lnTo>
                    <a:pt x="10942" y="38179"/>
                  </a:lnTo>
                  <a:lnTo>
                    <a:pt x="19410" y="39400"/>
                  </a:lnTo>
                  <a:lnTo>
                    <a:pt x="28066" y="38179"/>
                  </a:lnTo>
                  <a:lnTo>
                    <a:pt x="34207" y="34501"/>
                  </a:lnTo>
                  <a:lnTo>
                    <a:pt x="37868" y="28348"/>
                  </a:lnTo>
                  <a:lnTo>
                    <a:pt x="39081" y="19700"/>
                  </a:lnTo>
                  <a:lnTo>
                    <a:pt x="37868" y="11052"/>
                  </a:lnTo>
                  <a:lnTo>
                    <a:pt x="34207" y="4899"/>
                  </a:lnTo>
                  <a:lnTo>
                    <a:pt x="28066" y="1221"/>
                  </a:lnTo>
                  <a:lnTo>
                    <a:pt x="194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525865" y="5036524"/>
              <a:ext cx="0" cy="368300"/>
            </a:xfrm>
            <a:custGeom>
              <a:avLst/>
              <a:gdLst/>
              <a:ahLst/>
              <a:cxnLst/>
              <a:rect l="l" t="t" r="r" b="b"/>
              <a:pathLst>
                <a:path w="0" h="368300">
                  <a:moveTo>
                    <a:pt x="0" y="368191"/>
                  </a:moveTo>
                  <a:lnTo>
                    <a:pt x="0" y="0"/>
                  </a:lnTo>
                </a:path>
              </a:pathLst>
            </a:custGeom>
            <a:ln w="6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509552" y="5388408"/>
              <a:ext cx="39370" cy="40005"/>
            </a:xfrm>
            <a:custGeom>
              <a:avLst/>
              <a:gdLst/>
              <a:ahLst/>
              <a:cxnLst/>
              <a:rect l="l" t="t" r="r" b="b"/>
              <a:pathLst>
                <a:path w="39370" h="40004">
                  <a:moveTo>
                    <a:pt x="19664" y="0"/>
                  </a:moveTo>
                  <a:lnTo>
                    <a:pt x="11032" y="1254"/>
                  </a:lnTo>
                  <a:lnTo>
                    <a:pt x="4890" y="5003"/>
                  </a:lnTo>
                  <a:lnTo>
                    <a:pt x="1219" y="11220"/>
                  </a:lnTo>
                  <a:lnTo>
                    <a:pt x="0" y="19883"/>
                  </a:lnTo>
                  <a:lnTo>
                    <a:pt x="1219" y="28444"/>
                  </a:lnTo>
                  <a:lnTo>
                    <a:pt x="4890" y="34610"/>
                  </a:lnTo>
                  <a:lnTo>
                    <a:pt x="11032" y="38339"/>
                  </a:lnTo>
                  <a:lnTo>
                    <a:pt x="19664" y="39592"/>
                  </a:lnTo>
                  <a:lnTo>
                    <a:pt x="28296" y="38339"/>
                  </a:lnTo>
                  <a:lnTo>
                    <a:pt x="34438" y="34610"/>
                  </a:lnTo>
                  <a:lnTo>
                    <a:pt x="38108" y="28444"/>
                  </a:lnTo>
                  <a:lnTo>
                    <a:pt x="39328" y="19883"/>
                  </a:lnTo>
                  <a:lnTo>
                    <a:pt x="38108" y="11220"/>
                  </a:lnTo>
                  <a:lnTo>
                    <a:pt x="34438" y="5003"/>
                  </a:lnTo>
                  <a:lnTo>
                    <a:pt x="28296" y="1254"/>
                  </a:lnTo>
                  <a:lnTo>
                    <a:pt x="196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8927247" y="5404716"/>
              <a:ext cx="0" cy="263525"/>
            </a:xfrm>
            <a:custGeom>
              <a:avLst/>
              <a:gdLst/>
              <a:ahLst/>
              <a:cxnLst/>
              <a:rect l="l" t="t" r="r" b="b"/>
              <a:pathLst>
                <a:path w="0" h="263525">
                  <a:moveTo>
                    <a:pt x="0" y="0"/>
                  </a:moveTo>
                  <a:lnTo>
                    <a:pt x="0" y="263262"/>
                  </a:lnTo>
                </a:path>
              </a:pathLst>
            </a:custGeom>
            <a:ln w="6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8910883" y="5388408"/>
              <a:ext cx="39370" cy="40005"/>
            </a:xfrm>
            <a:custGeom>
              <a:avLst/>
              <a:gdLst/>
              <a:ahLst/>
              <a:cxnLst/>
              <a:rect l="l" t="t" r="r" b="b"/>
              <a:pathLst>
                <a:path w="39370" h="40004">
                  <a:moveTo>
                    <a:pt x="19672" y="0"/>
                  </a:moveTo>
                  <a:lnTo>
                    <a:pt x="11053" y="1254"/>
                  </a:lnTo>
                  <a:lnTo>
                    <a:pt x="4906" y="5003"/>
                  </a:lnTo>
                  <a:lnTo>
                    <a:pt x="1225" y="11220"/>
                  </a:lnTo>
                  <a:lnTo>
                    <a:pt x="0" y="19883"/>
                  </a:lnTo>
                  <a:lnTo>
                    <a:pt x="1225" y="28444"/>
                  </a:lnTo>
                  <a:lnTo>
                    <a:pt x="4906" y="34610"/>
                  </a:lnTo>
                  <a:lnTo>
                    <a:pt x="11053" y="38339"/>
                  </a:lnTo>
                  <a:lnTo>
                    <a:pt x="19672" y="39592"/>
                  </a:lnTo>
                  <a:lnTo>
                    <a:pt x="28327" y="38339"/>
                  </a:lnTo>
                  <a:lnTo>
                    <a:pt x="34470" y="34610"/>
                  </a:lnTo>
                  <a:lnTo>
                    <a:pt x="38131" y="28444"/>
                  </a:lnTo>
                  <a:lnTo>
                    <a:pt x="39344" y="19883"/>
                  </a:lnTo>
                  <a:lnTo>
                    <a:pt x="38131" y="11220"/>
                  </a:lnTo>
                  <a:lnTo>
                    <a:pt x="34470" y="5003"/>
                  </a:lnTo>
                  <a:lnTo>
                    <a:pt x="28327" y="1254"/>
                  </a:lnTo>
                  <a:lnTo>
                    <a:pt x="196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679613" y="6079198"/>
              <a:ext cx="2656840" cy="210820"/>
            </a:xfrm>
            <a:custGeom>
              <a:avLst/>
              <a:gdLst/>
              <a:ahLst/>
              <a:cxnLst/>
              <a:rect l="l" t="t" r="r" b="b"/>
              <a:pathLst>
                <a:path w="2656840" h="210820">
                  <a:moveTo>
                    <a:pt x="1328264" y="0"/>
                  </a:moveTo>
                  <a:lnTo>
                    <a:pt x="1247436" y="188"/>
                  </a:lnTo>
                  <a:lnTo>
                    <a:pt x="1167877" y="745"/>
                  </a:lnTo>
                  <a:lnTo>
                    <a:pt x="1089726" y="1662"/>
                  </a:lnTo>
                  <a:lnTo>
                    <a:pt x="1013125" y="2928"/>
                  </a:lnTo>
                  <a:lnTo>
                    <a:pt x="938211" y="4533"/>
                  </a:lnTo>
                  <a:lnTo>
                    <a:pt x="865126" y="6468"/>
                  </a:lnTo>
                  <a:lnTo>
                    <a:pt x="794008" y="8721"/>
                  </a:lnTo>
                  <a:lnTo>
                    <a:pt x="724998" y="11283"/>
                  </a:lnTo>
                  <a:lnTo>
                    <a:pt x="658234" y="14144"/>
                  </a:lnTo>
                  <a:lnTo>
                    <a:pt x="593858" y="17294"/>
                  </a:lnTo>
                  <a:lnTo>
                    <a:pt x="532008" y="20722"/>
                  </a:lnTo>
                  <a:lnTo>
                    <a:pt x="472824" y="24419"/>
                  </a:lnTo>
                  <a:lnTo>
                    <a:pt x="416445" y="28374"/>
                  </a:lnTo>
                  <a:lnTo>
                    <a:pt x="363013" y="32577"/>
                  </a:lnTo>
                  <a:lnTo>
                    <a:pt x="312665" y="37018"/>
                  </a:lnTo>
                  <a:lnTo>
                    <a:pt x="265543" y="41688"/>
                  </a:lnTo>
                  <a:lnTo>
                    <a:pt x="221785" y="46575"/>
                  </a:lnTo>
                  <a:lnTo>
                    <a:pt x="181532" y="51670"/>
                  </a:lnTo>
                  <a:lnTo>
                    <a:pt x="112097" y="62444"/>
                  </a:lnTo>
                  <a:lnTo>
                    <a:pt x="58356" y="73928"/>
                  </a:lnTo>
                  <a:lnTo>
                    <a:pt x="21427" y="86042"/>
                  </a:lnTo>
                  <a:lnTo>
                    <a:pt x="0" y="105216"/>
                  </a:lnTo>
                  <a:lnTo>
                    <a:pt x="2427" y="111750"/>
                  </a:lnTo>
                  <a:lnTo>
                    <a:pt x="37720" y="130590"/>
                  </a:lnTo>
                  <a:lnTo>
                    <a:pt x="83195" y="142417"/>
                  </a:lnTo>
                  <a:lnTo>
                    <a:pt x="144923" y="153564"/>
                  </a:lnTo>
                  <a:lnTo>
                    <a:pt x="221785" y="163952"/>
                  </a:lnTo>
                  <a:lnTo>
                    <a:pt x="265543" y="168837"/>
                  </a:lnTo>
                  <a:lnTo>
                    <a:pt x="312665" y="173503"/>
                  </a:lnTo>
                  <a:lnTo>
                    <a:pt x="363013" y="177939"/>
                  </a:lnTo>
                  <a:lnTo>
                    <a:pt x="416445" y="182136"/>
                  </a:lnTo>
                  <a:lnTo>
                    <a:pt x="472824" y="186084"/>
                  </a:lnTo>
                  <a:lnTo>
                    <a:pt x="532008" y="189773"/>
                  </a:lnTo>
                  <a:lnTo>
                    <a:pt x="593858" y="193193"/>
                  </a:lnTo>
                  <a:lnTo>
                    <a:pt x="658234" y="196335"/>
                  </a:lnTo>
                  <a:lnTo>
                    <a:pt x="724998" y="199188"/>
                  </a:lnTo>
                  <a:lnTo>
                    <a:pt x="794008" y="201742"/>
                  </a:lnTo>
                  <a:lnTo>
                    <a:pt x="865126" y="203988"/>
                  </a:lnTo>
                  <a:lnTo>
                    <a:pt x="938211" y="205915"/>
                  </a:lnTo>
                  <a:lnTo>
                    <a:pt x="1013125" y="207515"/>
                  </a:lnTo>
                  <a:lnTo>
                    <a:pt x="1089726" y="208776"/>
                  </a:lnTo>
                  <a:lnTo>
                    <a:pt x="1167877" y="209689"/>
                  </a:lnTo>
                  <a:lnTo>
                    <a:pt x="1247436" y="210244"/>
                  </a:lnTo>
                  <a:lnTo>
                    <a:pt x="1328264" y="210431"/>
                  </a:lnTo>
                  <a:lnTo>
                    <a:pt x="1409119" y="210244"/>
                  </a:lnTo>
                  <a:lnTo>
                    <a:pt x="1488701" y="209689"/>
                  </a:lnTo>
                  <a:lnTo>
                    <a:pt x="1566871" y="208776"/>
                  </a:lnTo>
                  <a:lnTo>
                    <a:pt x="1643490" y="207515"/>
                  </a:lnTo>
                  <a:lnTo>
                    <a:pt x="1718416" y="205915"/>
                  </a:lnTo>
                  <a:lnTo>
                    <a:pt x="1791512" y="203988"/>
                  </a:lnTo>
                  <a:lnTo>
                    <a:pt x="1862638" y="201742"/>
                  </a:lnTo>
                  <a:lnTo>
                    <a:pt x="1931654" y="199188"/>
                  </a:lnTo>
                  <a:lnTo>
                    <a:pt x="1998421" y="196335"/>
                  </a:lnTo>
                  <a:lnTo>
                    <a:pt x="2062798" y="193193"/>
                  </a:lnTo>
                  <a:lnTo>
                    <a:pt x="2124648" y="189773"/>
                  </a:lnTo>
                  <a:lnTo>
                    <a:pt x="2183830" y="186084"/>
                  </a:lnTo>
                  <a:lnTo>
                    <a:pt x="2240204" y="182136"/>
                  </a:lnTo>
                  <a:lnTo>
                    <a:pt x="2293632" y="177939"/>
                  </a:lnTo>
                  <a:lnTo>
                    <a:pt x="2343974" y="173503"/>
                  </a:lnTo>
                  <a:lnTo>
                    <a:pt x="2391089" y="168837"/>
                  </a:lnTo>
                  <a:lnTo>
                    <a:pt x="2434840" y="163952"/>
                  </a:lnTo>
                  <a:lnTo>
                    <a:pt x="2475086" y="158858"/>
                  </a:lnTo>
                  <a:lnTo>
                    <a:pt x="2544506" y="148080"/>
                  </a:lnTo>
                  <a:lnTo>
                    <a:pt x="2598233" y="136583"/>
                  </a:lnTo>
                  <a:lnTo>
                    <a:pt x="2635151" y="124447"/>
                  </a:lnTo>
                  <a:lnTo>
                    <a:pt x="2656572" y="105216"/>
                  </a:lnTo>
                  <a:lnTo>
                    <a:pt x="2654145" y="98704"/>
                  </a:lnTo>
                  <a:lnTo>
                    <a:pt x="2618863" y="79911"/>
                  </a:lnTo>
                  <a:lnTo>
                    <a:pt x="2573400" y="68103"/>
                  </a:lnTo>
                  <a:lnTo>
                    <a:pt x="2511688" y="56964"/>
                  </a:lnTo>
                  <a:lnTo>
                    <a:pt x="2434840" y="46575"/>
                  </a:lnTo>
                  <a:lnTo>
                    <a:pt x="2391089" y="41688"/>
                  </a:lnTo>
                  <a:lnTo>
                    <a:pt x="2343974" y="37018"/>
                  </a:lnTo>
                  <a:lnTo>
                    <a:pt x="2293632" y="32577"/>
                  </a:lnTo>
                  <a:lnTo>
                    <a:pt x="2240204" y="28374"/>
                  </a:lnTo>
                  <a:lnTo>
                    <a:pt x="2183830" y="24419"/>
                  </a:lnTo>
                  <a:lnTo>
                    <a:pt x="2124648" y="20722"/>
                  </a:lnTo>
                  <a:lnTo>
                    <a:pt x="2062798" y="17294"/>
                  </a:lnTo>
                  <a:lnTo>
                    <a:pt x="1998421" y="14144"/>
                  </a:lnTo>
                  <a:lnTo>
                    <a:pt x="1931654" y="11283"/>
                  </a:lnTo>
                  <a:lnTo>
                    <a:pt x="1862638" y="8721"/>
                  </a:lnTo>
                  <a:lnTo>
                    <a:pt x="1791512" y="6468"/>
                  </a:lnTo>
                  <a:lnTo>
                    <a:pt x="1718416" y="4533"/>
                  </a:lnTo>
                  <a:lnTo>
                    <a:pt x="1643490" y="2928"/>
                  </a:lnTo>
                  <a:lnTo>
                    <a:pt x="1566871" y="1662"/>
                  </a:lnTo>
                  <a:lnTo>
                    <a:pt x="1488701" y="745"/>
                  </a:lnTo>
                  <a:lnTo>
                    <a:pt x="1409119" y="188"/>
                  </a:lnTo>
                  <a:lnTo>
                    <a:pt x="1328264" y="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6679613" y="6079198"/>
              <a:ext cx="2656840" cy="210820"/>
            </a:xfrm>
            <a:custGeom>
              <a:avLst/>
              <a:gdLst/>
              <a:ahLst/>
              <a:cxnLst/>
              <a:rect l="l" t="t" r="r" b="b"/>
              <a:pathLst>
                <a:path w="2656840" h="210820">
                  <a:moveTo>
                    <a:pt x="0" y="105216"/>
                  </a:moveTo>
                  <a:lnTo>
                    <a:pt x="37720" y="130590"/>
                  </a:lnTo>
                  <a:lnTo>
                    <a:pt x="83195" y="142417"/>
                  </a:lnTo>
                  <a:lnTo>
                    <a:pt x="144923" y="153564"/>
                  </a:lnTo>
                  <a:lnTo>
                    <a:pt x="221785" y="163952"/>
                  </a:lnTo>
                  <a:lnTo>
                    <a:pt x="265543" y="168837"/>
                  </a:lnTo>
                  <a:lnTo>
                    <a:pt x="312665" y="173503"/>
                  </a:lnTo>
                  <a:lnTo>
                    <a:pt x="363013" y="177939"/>
                  </a:lnTo>
                  <a:lnTo>
                    <a:pt x="416445" y="182136"/>
                  </a:lnTo>
                  <a:lnTo>
                    <a:pt x="472824" y="186084"/>
                  </a:lnTo>
                  <a:lnTo>
                    <a:pt x="532008" y="189773"/>
                  </a:lnTo>
                  <a:lnTo>
                    <a:pt x="593858" y="193193"/>
                  </a:lnTo>
                  <a:lnTo>
                    <a:pt x="658234" y="196335"/>
                  </a:lnTo>
                  <a:lnTo>
                    <a:pt x="724998" y="199188"/>
                  </a:lnTo>
                  <a:lnTo>
                    <a:pt x="794008" y="201742"/>
                  </a:lnTo>
                  <a:lnTo>
                    <a:pt x="865126" y="203988"/>
                  </a:lnTo>
                  <a:lnTo>
                    <a:pt x="938211" y="205915"/>
                  </a:lnTo>
                  <a:lnTo>
                    <a:pt x="1013125" y="207515"/>
                  </a:lnTo>
                  <a:lnTo>
                    <a:pt x="1089726" y="208776"/>
                  </a:lnTo>
                  <a:lnTo>
                    <a:pt x="1167877" y="209689"/>
                  </a:lnTo>
                  <a:lnTo>
                    <a:pt x="1247436" y="210244"/>
                  </a:lnTo>
                  <a:lnTo>
                    <a:pt x="1328264" y="210431"/>
                  </a:lnTo>
                  <a:lnTo>
                    <a:pt x="1409119" y="210244"/>
                  </a:lnTo>
                  <a:lnTo>
                    <a:pt x="1488701" y="209689"/>
                  </a:lnTo>
                  <a:lnTo>
                    <a:pt x="1566871" y="208776"/>
                  </a:lnTo>
                  <a:lnTo>
                    <a:pt x="1643490" y="207515"/>
                  </a:lnTo>
                  <a:lnTo>
                    <a:pt x="1718416" y="205915"/>
                  </a:lnTo>
                  <a:lnTo>
                    <a:pt x="1791512" y="203988"/>
                  </a:lnTo>
                  <a:lnTo>
                    <a:pt x="1862638" y="201742"/>
                  </a:lnTo>
                  <a:lnTo>
                    <a:pt x="1931654" y="199188"/>
                  </a:lnTo>
                  <a:lnTo>
                    <a:pt x="1998421" y="196335"/>
                  </a:lnTo>
                  <a:lnTo>
                    <a:pt x="2062798" y="193193"/>
                  </a:lnTo>
                  <a:lnTo>
                    <a:pt x="2124648" y="189773"/>
                  </a:lnTo>
                  <a:lnTo>
                    <a:pt x="2183830" y="186084"/>
                  </a:lnTo>
                  <a:lnTo>
                    <a:pt x="2240204" y="182136"/>
                  </a:lnTo>
                  <a:lnTo>
                    <a:pt x="2293632" y="177939"/>
                  </a:lnTo>
                  <a:lnTo>
                    <a:pt x="2343974" y="173503"/>
                  </a:lnTo>
                  <a:lnTo>
                    <a:pt x="2391089" y="168837"/>
                  </a:lnTo>
                  <a:lnTo>
                    <a:pt x="2434840" y="163952"/>
                  </a:lnTo>
                  <a:lnTo>
                    <a:pt x="2475086" y="158858"/>
                  </a:lnTo>
                  <a:lnTo>
                    <a:pt x="2544506" y="148080"/>
                  </a:lnTo>
                  <a:lnTo>
                    <a:pt x="2598233" y="136583"/>
                  </a:lnTo>
                  <a:lnTo>
                    <a:pt x="2635151" y="124447"/>
                  </a:lnTo>
                  <a:lnTo>
                    <a:pt x="2656572" y="105216"/>
                  </a:lnTo>
                  <a:lnTo>
                    <a:pt x="2654145" y="98704"/>
                  </a:lnTo>
                  <a:lnTo>
                    <a:pt x="2618863" y="79911"/>
                  </a:lnTo>
                  <a:lnTo>
                    <a:pt x="2573400" y="68103"/>
                  </a:lnTo>
                  <a:lnTo>
                    <a:pt x="2511688" y="56964"/>
                  </a:lnTo>
                  <a:lnTo>
                    <a:pt x="2434840" y="46575"/>
                  </a:lnTo>
                  <a:lnTo>
                    <a:pt x="2391089" y="41688"/>
                  </a:lnTo>
                  <a:lnTo>
                    <a:pt x="2343974" y="37018"/>
                  </a:lnTo>
                  <a:lnTo>
                    <a:pt x="2293632" y="32577"/>
                  </a:lnTo>
                  <a:lnTo>
                    <a:pt x="2240204" y="28374"/>
                  </a:lnTo>
                  <a:lnTo>
                    <a:pt x="2183830" y="24419"/>
                  </a:lnTo>
                  <a:lnTo>
                    <a:pt x="2124648" y="20722"/>
                  </a:lnTo>
                  <a:lnTo>
                    <a:pt x="2062798" y="17294"/>
                  </a:lnTo>
                  <a:lnTo>
                    <a:pt x="1998421" y="14144"/>
                  </a:lnTo>
                  <a:lnTo>
                    <a:pt x="1931654" y="11283"/>
                  </a:lnTo>
                  <a:lnTo>
                    <a:pt x="1862638" y="8721"/>
                  </a:lnTo>
                  <a:lnTo>
                    <a:pt x="1791512" y="6468"/>
                  </a:lnTo>
                  <a:lnTo>
                    <a:pt x="1718416" y="4533"/>
                  </a:lnTo>
                  <a:lnTo>
                    <a:pt x="1643490" y="2928"/>
                  </a:lnTo>
                  <a:lnTo>
                    <a:pt x="1566871" y="1662"/>
                  </a:lnTo>
                  <a:lnTo>
                    <a:pt x="1488701" y="745"/>
                  </a:lnTo>
                  <a:lnTo>
                    <a:pt x="1409119" y="188"/>
                  </a:lnTo>
                  <a:lnTo>
                    <a:pt x="1328264" y="0"/>
                  </a:lnTo>
                  <a:lnTo>
                    <a:pt x="1247436" y="188"/>
                  </a:lnTo>
                  <a:lnTo>
                    <a:pt x="1167877" y="745"/>
                  </a:lnTo>
                  <a:lnTo>
                    <a:pt x="1089726" y="1662"/>
                  </a:lnTo>
                  <a:lnTo>
                    <a:pt x="1013125" y="2928"/>
                  </a:lnTo>
                  <a:lnTo>
                    <a:pt x="938211" y="4533"/>
                  </a:lnTo>
                  <a:lnTo>
                    <a:pt x="865126" y="6468"/>
                  </a:lnTo>
                  <a:lnTo>
                    <a:pt x="794008" y="8721"/>
                  </a:lnTo>
                  <a:lnTo>
                    <a:pt x="724998" y="11283"/>
                  </a:lnTo>
                  <a:lnTo>
                    <a:pt x="658234" y="14144"/>
                  </a:lnTo>
                  <a:lnTo>
                    <a:pt x="593858" y="17294"/>
                  </a:lnTo>
                  <a:lnTo>
                    <a:pt x="532008" y="20722"/>
                  </a:lnTo>
                  <a:lnTo>
                    <a:pt x="472824" y="24419"/>
                  </a:lnTo>
                  <a:lnTo>
                    <a:pt x="416445" y="28374"/>
                  </a:lnTo>
                  <a:lnTo>
                    <a:pt x="363013" y="32577"/>
                  </a:lnTo>
                  <a:lnTo>
                    <a:pt x="312665" y="37018"/>
                  </a:lnTo>
                  <a:lnTo>
                    <a:pt x="265543" y="41688"/>
                  </a:lnTo>
                  <a:lnTo>
                    <a:pt x="221785" y="46575"/>
                  </a:lnTo>
                  <a:lnTo>
                    <a:pt x="181532" y="51670"/>
                  </a:lnTo>
                  <a:lnTo>
                    <a:pt x="112097" y="62444"/>
                  </a:lnTo>
                  <a:lnTo>
                    <a:pt x="58356" y="73928"/>
                  </a:lnTo>
                  <a:lnTo>
                    <a:pt x="21427" y="86042"/>
                  </a:lnTo>
                  <a:lnTo>
                    <a:pt x="0" y="105216"/>
                  </a:lnTo>
                  <a:close/>
                </a:path>
              </a:pathLst>
            </a:custGeom>
            <a:ln w="6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 txBox="1"/>
          <p:nvPr/>
        </p:nvSpPr>
        <p:spPr>
          <a:xfrm>
            <a:off x="7877136" y="6125602"/>
            <a:ext cx="28702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650" spc="-10">
                <a:latin typeface="Arial MT"/>
                <a:cs typeface="Arial MT"/>
              </a:rPr>
              <a:t>Control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6522373" y="4697809"/>
            <a:ext cx="1414145" cy="1177925"/>
            <a:chOff x="6522373" y="4697809"/>
            <a:chExt cx="1414145" cy="1177925"/>
          </a:xfrm>
        </p:grpSpPr>
        <p:sp>
          <p:nvSpPr>
            <p:cNvPr id="75" name="object 75" descr=""/>
            <p:cNvSpPr/>
            <p:nvPr/>
          </p:nvSpPr>
          <p:spPr>
            <a:xfrm>
              <a:off x="7461495" y="5615375"/>
              <a:ext cx="78740" cy="0"/>
            </a:xfrm>
            <a:custGeom>
              <a:avLst/>
              <a:gdLst/>
              <a:ahLst/>
              <a:cxnLst/>
              <a:rect l="l" t="t" r="r" b="b"/>
              <a:pathLst>
                <a:path w="78740" h="0">
                  <a:moveTo>
                    <a:pt x="0" y="0"/>
                  </a:moveTo>
                  <a:lnTo>
                    <a:pt x="78427" y="0"/>
                  </a:lnTo>
                </a:path>
              </a:pathLst>
            </a:custGeom>
            <a:ln w="6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7523820" y="5592317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0" y="0"/>
                  </a:moveTo>
                  <a:lnTo>
                    <a:pt x="0" y="46114"/>
                  </a:lnTo>
                  <a:lnTo>
                    <a:pt x="45872" y="19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525865" y="4720658"/>
              <a:ext cx="1407160" cy="1151255"/>
            </a:xfrm>
            <a:custGeom>
              <a:avLst/>
              <a:gdLst/>
              <a:ahLst/>
              <a:cxnLst/>
              <a:rect l="l" t="t" r="r" b="b"/>
              <a:pathLst>
                <a:path w="1407159" h="1151254">
                  <a:moveTo>
                    <a:pt x="935630" y="894717"/>
                  </a:moveTo>
                  <a:lnTo>
                    <a:pt x="935630" y="1151256"/>
                  </a:lnTo>
                </a:path>
                <a:path w="1407159" h="1151254">
                  <a:moveTo>
                    <a:pt x="0" y="315866"/>
                  </a:moveTo>
                  <a:lnTo>
                    <a:pt x="673972" y="315866"/>
                  </a:lnTo>
                </a:path>
                <a:path w="1407159" h="1151254">
                  <a:moveTo>
                    <a:pt x="1406718" y="0"/>
                  </a:moveTo>
                  <a:lnTo>
                    <a:pt x="601986" y="0"/>
                  </a:lnTo>
                </a:path>
              </a:pathLst>
            </a:custGeom>
            <a:ln w="6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098343" y="469780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45872" y="0"/>
                  </a:moveTo>
                  <a:lnTo>
                    <a:pt x="0" y="19709"/>
                  </a:lnTo>
                  <a:lnTo>
                    <a:pt x="45872" y="46132"/>
                  </a:lnTo>
                  <a:lnTo>
                    <a:pt x="458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127852" y="4773244"/>
              <a:ext cx="752475" cy="0"/>
            </a:xfrm>
            <a:custGeom>
              <a:avLst/>
              <a:gdLst/>
              <a:ahLst/>
              <a:cxnLst/>
              <a:rect l="l" t="t" r="r" b="b"/>
              <a:pathLst>
                <a:path w="752475" h="0">
                  <a:moveTo>
                    <a:pt x="752417" y="0"/>
                  </a:moveTo>
                  <a:lnTo>
                    <a:pt x="0" y="0"/>
                  </a:lnTo>
                </a:path>
              </a:pathLst>
            </a:custGeom>
            <a:ln w="6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7098343" y="4750396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45872" y="0"/>
                  </a:moveTo>
                  <a:lnTo>
                    <a:pt x="0" y="19707"/>
                  </a:lnTo>
                  <a:lnTo>
                    <a:pt x="45872" y="46132"/>
                  </a:lnTo>
                  <a:lnTo>
                    <a:pt x="458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7127852" y="4878417"/>
              <a:ext cx="72390" cy="0"/>
            </a:xfrm>
            <a:custGeom>
              <a:avLst/>
              <a:gdLst/>
              <a:ahLst/>
              <a:cxnLst/>
              <a:rect l="l" t="t" r="r" b="b"/>
              <a:pathLst>
                <a:path w="72390" h="0">
                  <a:moveTo>
                    <a:pt x="71986" y="0"/>
                  </a:moveTo>
                  <a:lnTo>
                    <a:pt x="0" y="0"/>
                  </a:lnTo>
                </a:path>
              </a:pathLst>
            </a:custGeom>
            <a:ln w="6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7098343" y="485556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45872" y="0"/>
                  </a:moveTo>
                  <a:lnTo>
                    <a:pt x="0" y="19709"/>
                  </a:lnTo>
                  <a:lnTo>
                    <a:pt x="45872" y="46132"/>
                  </a:lnTo>
                  <a:lnTo>
                    <a:pt x="458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7199838" y="4878417"/>
              <a:ext cx="0" cy="158115"/>
            </a:xfrm>
            <a:custGeom>
              <a:avLst/>
              <a:gdLst/>
              <a:ahLst/>
              <a:cxnLst/>
              <a:rect l="l" t="t" r="r" b="b"/>
              <a:pathLst>
                <a:path w="0" h="158114">
                  <a:moveTo>
                    <a:pt x="0" y="158107"/>
                  </a:moveTo>
                  <a:lnTo>
                    <a:pt x="0" y="0"/>
                  </a:lnTo>
                </a:path>
              </a:pathLst>
            </a:custGeom>
            <a:ln w="6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 descr=""/>
          <p:cNvSpPr txBox="1"/>
          <p:nvPr/>
        </p:nvSpPr>
        <p:spPr>
          <a:xfrm>
            <a:off x="7621920" y="5257230"/>
            <a:ext cx="16510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6034" marR="5080" indent="-26670">
              <a:lnSpc>
                <a:spcPct val="100000"/>
              </a:lnSpc>
              <a:spcBef>
                <a:spcPts val="120"/>
              </a:spcBef>
            </a:pPr>
            <a:r>
              <a:rPr dirty="0" sz="650" spc="-25">
                <a:latin typeface="Arial MT"/>
                <a:cs typeface="Arial MT"/>
              </a:rPr>
              <a:t>Reg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file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7294763" y="4836403"/>
            <a:ext cx="85725" cy="112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550" spc="-25">
                <a:latin typeface="Arial MT"/>
                <a:cs typeface="Arial MT"/>
              </a:rPr>
              <a:t>jta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86" name="object 86" descr=""/>
          <p:cNvGrpSpPr/>
          <p:nvPr/>
        </p:nvGrpSpPr>
        <p:grpSpPr>
          <a:xfrm>
            <a:off x="8171436" y="5612236"/>
            <a:ext cx="46355" cy="105410"/>
            <a:chOff x="8171436" y="5612236"/>
            <a:chExt cx="46355" cy="105410"/>
          </a:xfrm>
        </p:grpSpPr>
        <p:sp>
          <p:nvSpPr>
            <p:cNvPr id="87" name="object 87" descr=""/>
            <p:cNvSpPr/>
            <p:nvPr/>
          </p:nvSpPr>
          <p:spPr>
            <a:xfrm>
              <a:off x="8194241" y="5641572"/>
              <a:ext cx="0" cy="72390"/>
            </a:xfrm>
            <a:custGeom>
              <a:avLst/>
              <a:gdLst/>
              <a:ahLst/>
              <a:cxnLst/>
              <a:rect l="l" t="t" r="r" b="b"/>
              <a:pathLst>
                <a:path w="0" h="72389">
                  <a:moveTo>
                    <a:pt x="0" y="72304"/>
                  </a:moveTo>
                  <a:lnTo>
                    <a:pt x="0" y="0"/>
                  </a:lnTo>
                </a:path>
              </a:pathLst>
            </a:custGeom>
            <a:ln w="6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171436" y="5612236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26374" y="0"/>
                  </a:moveTo>
                  <a:lnTo>
                    <a:pt x="0" y="45896"/>
                  </a:lnTo>
                  <a:lnTo>
                    <a:pt x="45872" y="45896"/>
                  </a:lnTo>
                  <a:lnTo>
                    <a:pt x="263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 descr=""/>
          <p:cNvSpPr txBox="1"/>
          <p:nvPr/>
        </p:nvSpPr>
        <p:spPr>
          <a:xfrm>
            <a:off x="7072230" y="5888983"/>
            <a:ext cx="229235" cy="112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550">
                <a:latin typeface="Arial MT"/>
                <a:cs typeface="Arial MT"/>
              </a:rPr>
              <a:t>op</a:t>
            </a:r>
            <a:r>
              <a:rPr dirty="0" sz="550" spc="365">
                <a:latin typeface="Arial MT"/>
                <a:cs typeface="Arial MT"/>
              </a:rPr>
              <a:t> </a:t>
            </a:r>
            <a:r>
              <a:rPr dirty="0" sz="550" spc="30">
                <a:latin typeface="Arial MT"/>
                <a:cs typeface="Arial MT"/>
              </a:rPr>
              <a:t>fn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7078933" y="5290406"/>
            <a:ext cx="125095" cy="112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550" spc="-20">
                <a:latin typeface="Arial MT"/>
                <a:cs typeface="Arial MT"/>
              </a:rPr>
              <a:t>inst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7281619" y="5698251"/>
            <a:ext cx="151765" cy="112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550" spc="-25">
                <a:latin typeface="Arial MT"/>
                <a:cs typeface="Arial MT"/>
              </a:rPr>
              <a:t>imm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92" name="object 92" descr=""/>
          <p:cNvGrpSpPr/>
          <p:nvPr/>
        </p:nvGrpSpPr>
        <p:grpSpPr>
          <a:xfrm>
            <a:off x="6993443" y="4802982"/>
            <a:ext cx="1204595" cy="1283335"/>
            <a:chOff x="6993443" y="4802982"/>
            <a:chExt cx="1204595" cy="1283335"/>
          </a:xfrm>
        </p:grpSpPr>
        <p:sp>
          <p:nvSpPr>
            <p:cNvPr id="93" name="object 93" descr=""/>
            <p:cNvSpPr/>
            <p:nvPr/>
          </p:nvSpPr>
          <p:spPr>
            <a:xfrm>
              <a:off x="7154052" y="5404716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w="0" h="651510">
                  <a:moveTo>
                    <a:pt x="0" y="651215"/>
                  </a:moveTo>
                  <a:lnTo>
                    <a:pt x="0" y="0"/>
                  </a:lnTo>
                </a:path>
              </a:pathLst>
            </a:custGeom>
            <a:ln w="6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7131240" y="5388413"/>
              <a:ext cx="46355" cy="697865"/>
            </a:xfrm>
            <a:custGeom>
              <a:avLst/>
              <a:gdLst/>
              <a:ahLst/>
              <a:cxnLst/>
              <a:rect l="l" t="t" r="r" b="b"/>
              <a:pathLst>
                <a:path w="46354" h="697864">
                  <a:moveTo>
                    <a:pt x="45783" y="651395"/>
                  </a:moveTo>
                  <a:lnTo>
                    <a:pt x="0" y="651395"/>
                  </a:lnTo>
                  <a:lnTo>
                    <a:pt x="19672" y="697293"/>
                  </a:lnTo>
                  <a:lnTo>
                    <a:pt x="45783" y="651395"/>
                  </a:lnTo>
                  <a:close/>
                </a:path>
                <a:path w="46354" h="697864">
                  <a:moveTo>
                    <a:pt x="45783" y="19888"/>
                  </a:moveTo>
                  <a:lnTo>
                    <a:pt x="44577" y="11226"/>
                  </a:lnTo>
                  <a:lnTo>
                    <a:pt x="40906" y="5003"/>
                  </a:lnTo>
                  <a:lnTo>
                    <a:pt x="34772" y="1257"/>
                  </a:lnTo>
                  <a:lnTo>
                    <a:pt x="26111" y="0"/>
                  </a:lnTo>
                  <a:lnTo>
                    <a:pt x="17500" y="1257"/>
                  </a:lnTo>
                  <a:lnTo>
                    <a:pt x="11353" y="5003"/>
                  </a:lnTo>
                  <a:lnTo>
                    <a:pt x="7670" y="11226"/>
                  </a:lnTo>
                  <a:lnTo>
                    <a:pt x="6438" y="19888"/>
                  </a:lnTo>
                  <a:lnTo>
                    <a:pt x="7670" y="28448"/>
                  </a:lnTo>
                  <a:lnTo>
                    <a:pt x="11353" y="34607"/>
                  </a:lnTo>
                  <a:lnTo>
                    <a:pt x="17500" y="38341"/>
                  </a:lnTo>
                  <a:lnTo>
                    <a:pt x="26111" y="39598"/>
                  </a:lnTo>
                  <a:lnTo>
                    <a:pt x="34772" y="38341"/>
                  </a:lnTo>
                  <a:lnTo>
                    <a:pt x="40906" y="34607"/>
                  </a:lnTo>
                  <a:lnTo>
                    <a:pt x="44577" y="28448"/>
                  </a:lnTo>
                  <a:lnTo>
                    <a:pt x="45783" y="198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6996936" y="4825830"/>
              <a:ext cx="1197610" cy="888365"/>
            </a:xfrm>
            <a:custGeom>
              <a:avLst/>
              <a:gdLst/>
              <a:ahLst/>
              <a:cxnLst/>
              <a:rect l="l" t="t" r="r" b="b"/>
              <a:pathLst>
                <a:path w="1197609" h="888364">
                  <a:moveTo>
                    <a:pt x="0" y="578885"/>
                  </a:moveTo>
                  <a:lnTo>
                    <a:pt x="412245" y="578885"/>
                  </a:lnTo>
                </a:path>
                <a:path w="1197609" h="888364">
                  <a:moveTo>
                    <a:pt x="1197304" y="888045"/>
                  </a:moveTo>
                  <a:lnTo>
                    <a:pt x="307443" y="888045"/>
                  </a:lnTo>
                </a:path>
                <a:path w="1197609" h="888364">
                  <a:moveTo>
                    <a:pt x="255216" y="0"/>
                  </a:moveTo>
                  <a:lnTo>
                    <a:pt x="130915" y="0"/>
                  </a:lnTo>
                </a:path>
              </a:pathLst>
            </a:custGeom>
            <a:ln w="6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7098343" y="4802982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45872" y="0"/>
                  </a:moveTo>
                  <a:lnTo>
                    <a:pt x="0" y="19709"/>
                  </a:lnTo>
                  <a:lnTo>
                    <a:pt x="45872" y="46132"/>
                  </a:lnTo>
                  <a:lnTo>
                    <a:pt x="458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7199838" y="5404716"/>
              <a:ext cx="0" cy="651510"/>
            </a:xfrm>
            <a:custGeom>
              <a:avLst/>
              <a:gdLst/>
              <a:ahLst/>
              <a:cxnLst/>
              <a:rect l="l" t="t" r="r" b="b"/>
              <a:pathLst>
                <a:path w="0" h="651510">
                  <a:moveTo>
                    <a:pt x="0" y="651215"/>
                  </a:moveTo>
                  <a:lnTo>
                    <a:pt x="0" y="0"/>
                  </a:lnTo>
                </a:path>
              </a:pathLst>
            </a:custGeom>
            <a:ln w="6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7177024" y="5388413"/>
              <a:ext cx="46355" cy="697865"/>
            </a:xfrm>
            <a:custGeom>
              <a:avLst/>
              <a:gdLst/>
              <a:ahLst/>
              <a:cxnLst/>
              <a:rect l="l" t="t" r="r" b="b"/>
              <a:pathLst>
                <a:path w="46354" h="697864">
                  <a:moveTo>
                    <a:pt x="45783" y="651395"/>
                  </a:moveTo>
                  <a:lnTo>
                    <a:pt x="0" y="651395"/>
                  </a:lnTo>
                  <a:lnTo>
                    <a:pt x="26111" y="697293"/>
                  </a:lnTo>
                  <a:lnTo>
                    <a:pt x="45783" y="651395"/>
                  </a:lnTo>
                  <a:close/>
                </a:path>
                <a:path w="46354" h="697864">
                  <a:moveTo>
                    <a:pt x="45783" y="19888"/>
                  </a:moveTo>
                  <a:lnTo>
                    <a:pt x="44538" y="11226"/>
                  </a:lnTo>
                  <a:lnTo>
                    <a:pt x="40817" y="5003"/>
                  </a:lnTo>
                  <a:lnTo>
                    <a:pt x="34658" y="1257"/>
                  </a:lnTo>
                  <a:lnTo>
                    <a:pt x="26111" y="0"/>
                  </a:lnTo>
                  <a:lnTo>
                    <a:pt x="17513" y="1257"/>
                  </a:lnTo>
                  <a:lnTo>
                    <a:pt x="11391" y="5003"/>
                  </a:lnTo>
                  <a:lnTo>
                    <a:pt x="7747" y="11226"/>
                  </a:lnTo>
                  <a:lnTo>
                    <a:pt x="6527" y="19888"/>
                  </a:lnTo>
                  <a:lnTo>
                    <a:pt x="7747" y="28448"/>
                  </a:lnTo>
                  <a:lnTo>
                    <a:pt x="11391" y="34607"/>
                  </a:lnTo>
                  <a:lnTo>
                    <a:pt x="17513" y="38341"/>
                  </a:lnTo>
                  <a:lnTo>
                    <a:pt x="26111" y="39598"/>
                  </a:lnTo>
                  <a:lnTo>
                    <a:pt x="34658" y="38341"/>
                  </a:lnTo>
                  <a:lnTo>
                    <a:pt x="40817" y="34607"/>
                  </a:lnTo>
                  <a:lnTo>
                    <a:pt x="44538" y="28448"/>
                  </a:lnTo>
                  <a:lnTo>
                    <a:pt x="45783" y="198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 descr=""/>
          <p:cNvSpPr txBox="1"/>
          <p:nvPr/>
        </p:nvSpPr>
        <p:spPr>
          <a:xfrm>
            <a:off x="7340590" y="5079712"/>
            <a:ext cx="224790" cy="112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550" spc="-10">
                <a:latin typeface="Arial MT"/>
                <a:cs typeface="Arial MT"/>
              </a:rPr>
              <a:t>rs,rt,rd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7975194" y="5079712"/>
            <a:ext cx="121920" cy="112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550" spc="-20">
                <a:latin typeface="Arial MT"/>
                <a:cs typeface="Arial MT"/>
              </a:rPr>
              <a:t>(rs)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7981722" y="5500813"/>
            <a:ext cx="108585" cy="112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550" spc="-20">
                <a:latin typeface="Arial MT"/>
                <a:cs typeface="Arial MT"/>
              </a:rPr>
              <a:t>(rt)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02" name="object 102" descr=""/>
          <p:cNvGrpSpPr/>
          <p:nvPr/>
        </p:nvGrpSpPr>
        <p:grpSpPr>
          <a:xfrm>
            <a:off x="7288363" y="5190791"/>
            <a:ext cx="1995805" cy="631825"/>
            <a:chOff x="7288363" y="5190791"/>
            <a:chExt cx="1995805" cy="631825"/>
          </a:xfrm>
        </p:grpSpPr>
        <p:sp>
          <p:nvSpPr>
            <p:cNvPr id="103" name="object 103" descr=""/>
            <p:cNvSpPr/>
            <p:nvPr/>
          </p:nvSpPr>
          <p:spPr>
            <a:xfrm>
              <a:off x="7356693" y="5194283"/>
              <a:ext cx="0" cy="210820"/>
            </a:xfrm>
            <a:custGeom>
              <a:avLst/>
              <a:gdLst/>
              <a:ahLst/>
              <a:cxnLst/>
              <a:rect l="l" t="t" r="r" b="b"/>
              <a:pathLst>
                <a:path w="0" h="210820">
                  <a:moveTo>
                    <a:pt x="0" y="0"/>
                  </a:moveTo>
                  <a:lnTo>
                    <a:pt x="0" y="210432"/>
                  </a:lnTo>
                </a:path>
              </a:pathLst>
            </a:custGeom>
            <a:ln w="6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7340591" y="5388409"/>
              <a:ext cx="39370" cy="40005"/>
            </a:xfrm>
            <a:custGeom>
              <a:avLst/>
              <a:gdLst/>
              <a:ahLst/>
              <a:cxnLst/>
              <a:rect l="l" t="t" r="r" b="b"/>
              <a:pathLst>
                <a:path w="39370" h="40004">
                  <a:moveTo>
                    <a:pt x="19671" y="0"/>
                  </a:moveTo>
                  <a:lnTo>
                    <a:pt x="11052" y="1254"/>
                  </a:lnTo>
                  <a:lnTo>
                    <a:pt x="4906" y="5003"/>
                  </a:lnTo>
                  <a:lnTo>
                    <a:pt x="1225" y="11220"/>
                  </a:lnTo>
                  <a:lnTo>
                    <a:pt x="0" y="19883"/>
                  </a:lnTo>
                  <a:lnTo>
                    <a:pt x="1225" y="28444"/>
                  </a:lnTo>
                  <a:lnTo>
                    <a:pt x="4906" y="34610"/>
                  </a:lnTo>
                  <a:lnTo>
                    <a:pt x="11052" y="38339"/>
                  </a:lnTo>
                  <a:lnTo>
                    <a:pt x="19671" y="39592"/>
                  </a:lnTo>
                  <a:lnTo>
                    <a:pt x="28189" y="38339"/>
                  </a:lnTo>
                  <a:lnTo>
                    <a:pt x="34284" y="34610"/>
                  </a:lnTo>
                  <a:lnTo>
                    <a:pt x="37946" y="28444"/>
                  </a:lnTo>
                  <a:lnTo>
                    <a:pt x="39169" y="19883"/>
                  </a:lnTo>
                  <a:lnTo>
                    <a:pt x="37946" y="11220"/>
                  </a:lnTo>
                  <a:lnTo>
                    <a:pt x="34284" y="5003"/>
                  </a:lnTo>
                  <a:lnTo>
                    <a:pt x="28189" y="1254"/>
                  </a:lnTo>
                  <a:lnTo>
                    <a:pt x="196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7304379" y="5404716"/>
              <a:ext cx="0" cy="309245"/>
            </a:xfrm>
            <a:custGeom>
              <a:avLst/>
              <a:gdLst/>
              <a:ahLst/>
              <a:cxnLst/>
              <a:rect l="l" t="t" r="r" b="b"/>
              <a:pathLst>
                <a:path w="0" h="309245">
                  <a:moveTo>
                    <a:pt x="0" y="309160"/>
                  </a:moveTo>
                  <a:lnTo>
                    <a:pt x="0" y="0"/>
                  </a:lnTo>
                </a:path>
              </a:pathLst>
            </a:custGeom>
            <a:ln w="6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7288363" y="5388409"/>
              <a:ext cx="39370" cy="40005"/>
            </a:xfrm>
            <a:custGeom>
              <a:avLst/>
              <a:gdLst/>
              <a:ahLst/>
              <a:cxnLst/>
              <a:rect l="l" t="t" r="r" b="b"/>
              <a:pathLst>
                <a:path w="39370" h="40004">
                  <a:moveTo>
                    <a:pt x="19410" y="0"/>
                  </a:moveTo>
                  <a:lnTo>
                    <a:pt x="10906" y="1254"/>
                  </a:lnTo>
                  <a:lnTo>
                    <a:pt x="4841" y="5003"/>
                  </a:lnTo>
                  <a:lnTo>
                    <a:pt x="1209" y="11220"/>
                  </a:lnTo>
                  <a:lnTo>
                    <a:pt x="0" y="19883"/>
                  </a:lnTo>
                  <a:lnTo>
                    <a:pt x="1209" y="28444"/>
                  </a:lnTo>
                  <a:lnTo>
                    <a:pt x="4841" y="34610"/>
                  </a:lnTo>
                  <a:lnTo>
                    <a:pt x="10906" y="38339"/>
                  </a:lnTo>
                  <a:lnTo>
                    <a:pt x="19410" y="39592"/>
                  </a:lnTo>
                  <a:lnTo>
                    <a:pt x="28029" y="38339"/>
                  </a:lnTo>
                  <a:lnTo>
                    <a:pt x="34176" y="34610"/>
                  </a:lnTo>
                  <a:lnTo>
                    <a:pt x="37857" y="28444"/>
                  </a:lnTo>
                  <a:lnTo>
                    <a:pt x="39082" y="19883"/>
                  </a:lnTo>
                  <a:lnTo>
                    <a:pt x="37857" y="11220"/>
                  </a:lnTo>
                  <a:lnTo>
                    <a:pt x="34176" y="5003"/>
                  </a:lnTo>
                  <a:lnTo>
                    <a:pt x="28029" y="1254"/>
                  </a:lnTo>
                  <a:lnTo>
                    <a:pt x="194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7932584" y="5509941"/>
              <a:ext cx="1328420" cy="309245"/>
            </a:xfrm>
            <a:custGeom>
              <a:avLst/>
              <a:gdLst/>
              <a:ahLst/>
              <a:cxnLst/>
              <a:rect l="l" t="t" r="r" b="b"/>
              <a:pathLst>
                <a:path w="1328420" h="309245">
                  <a:moveTo>
                    <a:pt x="0" y="105434"/>
                  </a:moveTo>
                  <a:lnTo>
                    <a:pt x="0" y="309151"/>
                  </a:lnTo>
                </a:path>
                <a:path w="1328420" h="309245">
                  <a:moveTo>
                    <a:pt x="0" y="309151"/>
                  </a:moveTo>
                  <a:lnTo>
                    <a:pt x="1099205" y="309151"/>
                  </a:lnTo>
                </a:path>
                <a:path w="1328420" h="309245">
                  <a:moveTo>
                    <a:pt x="1099205" y="309151"/>
                  </a:moveTo>
                  <a:lnTo>
                    <a:pt x="1099205" y="0"/>
                  </a:lnTo>
                </a:path>
                <a:path w="1328420" h="309245">
                  <a:moveTo>
                    <a:pt x="1099205" y="0"/>
                  </a:moveTo>
                  <a:lnTo>
                    <a:pt x="1328307" y="0"/>
                  </a:lnTo>
                </a:path>
              </a:pathLst>
            </a:custGeom>
            <a:ln w="6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9244528" y="5487110"/>
              <a:ext cx="39370" cy="46355"/>
            </a:xfrm>
            <a:custGeom>
              <a:avLst/>
              <a:gdLst/>
              <a:ahLst/>
              <a:cxnLst/>
              <a:rect l="l" t="t" r="r" b="b"/>
              <a:pathLst>
                <a:path w="39370" h="46354">
                  <a:moveTo>
                    <a:pt x="0" y="0"/>
                  </a:moveTo>
                  <a:lnTo>
                    <a:pt x="0" y="46106"/>
                  </a:lnTo>
                  <a:lnTo>
                    <a:pt x="39344" y="19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 descr=""/>
          <p:cNvSpPr txBox="1"/>
          <p:nvPr/>
        </p:nvSpPr>
        <p:spPr>
          <a:xfrm>
            <a:off x="9015686" y="5283654"/>
            <a:ext cx="583565" cy="23367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baseline="5050" sz="825">
                <a:latin typeface="Arial MT"/>
                <a:cs typeface="Arial MT"/>
              </a:rPr>
              <a:t>Address</a:t>
            </a:r>
            <a:r>
              <a:rPr dirty="0" baseline="5050" sz="825" spc="397">
                <a:latin typeface="Arial MT"/>
                <a:cs typeface="Arial MT"/>
              </a:rPr>
              <a:t>  </a:t>
            </a:r>
            <a:r>
              <a:rPr dirty="0" sz="650" spc="-20">
                <a:latin typeface="Arial MT"/>
                <a:cs typeface="Arial MT"/>
              </a:rPr>
              <a:t>Data</a:t>
            </a:r>
            <a:endParaRPr sz="650">
              <a:latin typeface="Arial MT"/>
              <a:cs typeface="Arial MT"/>
            </a:endParaRPr>
          </a:p>
          <a:p>
            <a:pPr marL="52069">
              <a:lnSpc>
                <a:spcPct val="100000"/>
              </a:lnSpc>
              <a:spcBef>
                <a:spcPts val="50"/>
              </a:spcBef>
              <a:tabLst>
                <a:tab pos="339725" algn="l"/>
              </a:tabLst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>
                <a:latin typeface="Arial MT"/>
                <a:cs typeface="Arial MT"/>
              </a:rPr>
              <a:t>	</a:t>
            </a:r>
            <a:r>
              <a:rPr dirty="0" baseline="4273" sz="975" spc="-15">
                <a:latin typeface="Arial MT"/>
                <a:cs typeface="Arial MT"/>
              </a:rPr>
              <a:t>cache</a:t>
            </a:r>
            <a:endParaRPr baseline="4273" sz="975">
              <a:latin typeface="Arial MT"/>
              <a:cs typeface="Arial MT"/>
            </a:endParaRPr>
          </a:p>
        </p:txBody>
      </p:sp>
      <p:grpSp>
        <p:nvGrpSpPr>
          <p:cNvPr id="110" name="object 110" descr=""/>
          <p:cNvGrpSpPr/>
          <p:nvPr/>
        </p:nvGrpSpPr>
        <p:grpSpPr>
          <a:xfrm>
            <a:off x="6575028" y="5401576"/>
            <a:ext cx="3206750" cy="737235"/>
            <a:chOff x="6575028" y="5401576"/>
            <a:chExt cx="3206750" cy="737235"/>
          </a:xfrm>
        </p:grpSpPr>
        <p:sp>
          <p:nvSpPr>
            <p:cNvPr id="111" name="object 111" descr=""/>
            <p:cNvSpPr/>
            <p:nvPr/>
          </p:nvSpPr>
          <p:spPr>
            <a:xfrm>
              <a:off x="9758093" y="5431140"/>
              <a:ext cx="0" cy="236854"/>
            </a:xfrm>
            <a:custGeom>
              <a:avLst/>
              <a:gdLst/>
              <a:ahLst/>
              <a:cxnLst/>
              <a:rect l="l" t="t" r="r" b="b"/>
              <a:pathLst>
                <a:path w="0" h="236854">
                  <a:moveTo>
                    <a:pt x="0" y="236838"/>
                  </a:moveTo>
                  <a:lnTo>
                    <a:pt x="0" y="0"/>
                  </a:lnTo>
                </a:path>
              </a:pathLst>
            </a:custGeom>
            <a:ln w="64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9735461" y="5401576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19498" y="0"/>
                  </a:moveTo>
                  <a:lnTo>
                    <a:pt x="0" y="46134"/>
                  </a:lnTo>
                  <a:lnTo>
                    <a:pt x="45873" y="46134"/>
                  </a:lnTo>
                  <a:lnTo>
                    <a:pt x="19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75028" y="5921379"/>
              <a:ext cx="366477" cy="216928"/>
            </a:xfrm>
            <a:prstGeom prst="rect">
              <a:avLst/>
            </a:prstGeom>
          </p:spPr>
        </p:pic>
      </p:grpSp>
      <p:sp>
        <p:nvSpPr>
          <p:cNvPr id="114" name="object 114" descr=""/>
          <p:cNvSpPr txBox="1"/>
          <p:nvPr/>
        </p:nvSpPr>
        <p:spPr>
          <a:xfrm>
            <a:off x="6378820" y="5139101"/>
            <a:ext cx="108585" cy="112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550" spc="-25">
                <a:latin typeface="Arial MT"/>
                <a:cs typeface="Arial MT"/>
              </a:rPr>
              <a:t>PC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15" name="object 115" descr=""/>
          <p:cNvSpPr/>
          <p:nvPr/>
        </p:nvSpPr>
        <p:spPr>
          <a:xfrm>
            <a:off x="5432132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14733" y="247649"/>
            <a:ext cx="4945380" cy="3513454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Times New Roman"/>
              <a:cs typeface="Times New Roman"/>
            </a:endParaRPr>
          </a:p>
          <a:p>
            <a:pPr marL="296545">
              <a:lnSpc>
                <a:spcPct val="100000"/>
              </a:lnSpc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ALU(Arithmetic</a:t>
            </a:r>
            <a:r>
              <a:rPr dirty="0" sz="11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Logic</a:t>
            </a:r>
            <a:r>
              <a:rPr dirty="0" sz="11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Unit)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496" y="1402087"/>
            <a:ext cx="4249331" cy="1361297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432132" y="247649"/>
            <a:ext cx="4945380" cy="3513454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33843" y="921188"/>
            <a:ext cx="3455928" cy="2292099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412979" y="4370354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490308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11714" y="4146223"/>
            <a:ext cx="81534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ALU</a:t>
            </a:r>
            <a:r>
              <a:rPr dirty="0" sz="1150" spc="-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Sample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595805" y="5211904"/>
            <a:ext cx="2884170" cy="1406525"/>
            <a:chOff x="1595805" y="5211904"/>
            <a:chExt cx="2884170" cy="1406525"/>
          </a:xfrm>
        </p:grpSpPr>
        <p:sp>
          <p:nvSpPr>
            <p:cNvPr id="14" name="object 14" descr=""/>
            <p:cNvSpPr/>
            <p:nvPr/>
          </p:nvSpPr>
          <p:spPr>
            <a:xfrm>
              <a:off x="3152838" y="6480588"/>
              <a:ext cx="38735" cy="137795"/>
            </a:xfrm>
            <a:custGeom>
              <a:avLst/>
              <a:gdLst/>
              <a:ahLst/>
              <a:cxnLst/>
              <a:rect l="l" t="t" r="r" b="b"/>
              <a:pathLst>
                <a:path w="38735" h="137795">
                  <a:moveTo>
                    <a:pt x="21869" y="38582"/>
                  </a:moveTo>
                  <a:lnTo>
                    <a:pt x="16471" y="32969"/>
                  </a:lnTo>
                  <a:lnTo>
                    <a:pt x="16471" y="60502"/>
                  </a:lnTo>
                  <a:lnTo>
                    <a:pt x="21869" y="60502"/>
                  </a:lnTo>
                  <a:lnTo>
                    <a:pt x="21869" y="38582"/>
                  </a:lnTo>
                  <a:close/>
                </a:path>
                <a:path w="38735" h="137795">
                  <a:moveTo>
                    <a:pt x="21869" y="0"/>
                  </a:moveTo>
                  <a:lnTo>
                    <a:pt x="16471" y="0"/>
                  </a:lnTo>
                  <a:lnTo>
                    <a:pt x="16471" y="22098"/>
                  </a:lnTo>
                  <a:lnTo>
                    <a:pt x="21869" y="22098"/>
                  </a:lnTo>
                  <a:lnTo>
                    <a:pt x="21869" y="0"/>
                  </a:lnTo>
                  <a:close/>
                </a:path>
                <a:path w="38735" h="137795">
                  <a:moveTo>
                    <a:pt x="38341" y="98882"/>
                  </a:moveTo>
                  <a:lnTo>
                    <a:pt x="21869" y="98882"/>
                  </a:lnTo>
                  <a:lnTo>
                    <a:pt x="21869" y="76974"/>
                  </a:lnTo>
                  <a:lnTo>
                    <a:pt x="16471" y="71361"/>
                  </a:lnTo>
                  <a:lnTo>
                    <a:pt x="16471" y="98882"/>
                  </a:lnTo>
                  <a:lnTo>
                    <a:pt x="0" y="98882"/>
                  </a:lnTo>
                  <a:lnTo>
                    <a:pt x="21869" y="137287"/>
                  </a:lnTo>
                  <a:lnTo>
                    <a:pt x="38341" y="98882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739433" y="5689687"/>
              <a:ext cx="740410" cy="878840"/>
            </a:xfrm>
            <a:custGeom>
              <a:avLst/>
              <a:gdLst/>
              <a:ahLst/>
              <a:cxnLst/>
              <a:rect l="l" t="t" r="r" b="b"/>
              <a:pathLst>
                <a:path w="740410" h="878840">
                  <a:moveTo>
                    <a:pt x="367219" y="0"/>
                  </a:moveTo>
                  <a:lnTo>
                    <a:pt x="324405" y="2971"/>
                  </a:lnTo>
                  <a:lnTo>
                    <a:pt x="283039" y="11660"/>
                  </a:lnTo>
                  <a:lnTo>
                    <a:pt x="243396" y="25730"/>
                  </a:lnTo>
                  <a:lnTo>
                    <a:pt x="205753" y="44844"/>
                  </a:lnTo>
                  <a:lnTo>
                    <a:pt x="170385" y="68667"/>
                  </a:lnTo>
                  <a:lnTo>
                    <a:pt x="137568" y="96861"/>
                  </a:lnTo>
                  <a:lnTo>
                    <a:pt x="107579" y="129089"/>
                  </a:lnTo>
                  <a:lnTo>
                    <a:pt x="80693" y="165015"/>
                  </a:lnTo>
                  <a:lnTo>
                    <a:pt x="57187" y="204302"/>
                  </a:lnTo>
                  <a:lnTo>
                    <a:pt x="37335" y="246614"/>
                  </a:lnTo>
                  <a:lnTo>
                    <a:pt x="21415" y="291613"/>
                  </a:lnTo>
                  <a:lnTo>
                    <a:pt x="9701" y="338963"/>
                  </a:lnTo>
                  <a:lnTo>
                    <a:pt x="2471" y="388328"/>
                  </a:lnTo>
                  <a:lnTo>
                    <a:pt x="0" y="439371"/>
                  </a:lnTo>
                  <a:lnTo>
                    <a:pt x="2471" y="490449"/>
                  </a:lnTo>
                  <a:lnTo>
                    <a:pt x="9701" y="539838"/>
                  </a:lnTo>
                  <a:lnTo>
                    <a:pt x="21415" y="587204"/>
                  </a:lnTo>
                  <a:lnTo>
                    <a:pt x="37335" y="632211"/>
                  </a:lnTo>
                  <a:lnTo>
                    <a:pt x="57187" y="674523"/>
                  </a:lnTo>
                  <a:lnTo>
                    <a:pt x="80693" y="713805"/>
                  </a:lnTo>
                  <a:lnTo>
                    <a:pt x="107579" y="749721"/>
                  </a:lnTo>
                  <a:lnTo>
                    <a:pt x="137568" y="781937"/>
                  </a:lnTo>
                  <a:lnTo>
                    <a:pt x="170385" y="810117"/>
                  </a:lnTo>
                  <a:lnTo>
                    <a:pt x="205753" y="833926"/>
                  </a:lnTo>
                  <a:lnTo>
                    <a:pt x="243396" y="853027"/>
                  </a:lnTo>
                  <a:lnTo>
                    <a:pt x="283039" y="867086"/>
                  </a:lnTo>
                  <a:lnTo>
                    <a:pt x="324405" y="875768"/>
                  </a:lnTo>
                  <a:lnTo>
                    <a:pt x="367219" y="878736"/>
                  </a:lnTo>
                  <a:lnTo>
                    <a:pt x="411137" y="875768"/>
                  </a:lnTo>
                  <a:lnTo>
                    <a:pt x="453451" y="867086"/>
                  </a:lnTo>
                  <a:lnTo>
                    <a:pt x="493896" y="853027"/>
                  </a:lnTo>
                  <a:lnTo>
                    <a:pt x="532207" y="833926"/>
                  </a:lnTo>
                  <a:lnTo>
                    <a:pt x="568123" y="810117"/>
                  </a:lnTo>
                  <a:lnTo>
                    <a:pt x="601377" y="781937"/>
                  </a:lnTo>
                  <a:lnTo>
                    <a:pt x="631708" y="749721"/>
                  </a:lnTo>
                  <a:lnTo>
                    <a:pt x="658850" y="713805"/>
                  </a:lnTo>
                  <a:lnTo>
                    <a:pt x="682541" y="674523"/>
                  </a:lnTo>
                  <a:lnTo>
                    <a:pt x="702515" y="632211"/>
                  </a:lnTo>
                  <a:lnTo>
                    <a:pt x="718511" y="587204"/>
                  </a:lnTo>
                  <a:lnTo>
                    <a:pt x="730262" y="539838"/>
                  </a:lnTo>
                  <a:lnTo>
                    <a:pt x="737507" y="490449"/>
                  </a:lnTo>
                  <a:lnTo>
                    <a:pt x="739980" y="439371"/>
                  </a:lnTo>
                  <a:lnTo>
                    <a:pt x="737507" y="388328"/>
                  </a:lnTo>
                  <a:lnTo>
                    <a:pt x="730262" y="338963"/>
                  </a:lnTo>
                  <a:lnTo>
                    <a:pt x="718511" y="291613"/>
                  </a:lnTo>
                  <a:lnTo>
                    <a:pt x="702515" y="246614"/>
                  </a:lnTo>
                  <a:lnTo>
                    <a:pt x="682541" y="204302"/>
                  </a:lnTo>
                  <a:lnTo>
                    <a:pt x="658850" y="165015"/>
                  </a:lnTo>
                  <a:lnTo>
                    <a:pt x="631708" y="129089"/>
                  </a:lnTo>
                  <a:lnTo>
                    <a:pt x="601377" y="96861"/>
                  </a:lnTo>
                  <a:lnTo>
                    <a:pt x="568123" y="68667"/>
                  </a:lnTo>
                  <a:lnTo>
                    <a:pt x="532207" y="44844"/>
                  </a:lnTo>
                  <a:lnTo>
                    <a:pt x="493896" y="25730"/>
                  </a:lnTo>
                  <a:lnTo>
                    <a:pt x="453451" y="11660"/>
                  </a:lnTo>
                  <a:lnTo>
                    <a:pt x="411137" y="2971"/>
                  </a:lnTo>
                  <a:lnTo>
                    <a:pt x="367219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739426" y="5689696"/>
              <a:ext cx="740410" cy="884555"/>
            </a:xfrm>
            <a:custGeom>
              <a:avLst/>
              <a:gdLst/>
              <a:ahLst/>
              <a:cxnLst/>
              <a:rect l="l" t="t" r="r" b="b"/>
              <a:pathLst>
                <a:path w="740410" h="884554">
                  <a:moveTo>
                    <a:pt x="5397" y="455853"/>
                  </a:moveTo>
                  <a:lnTo>
                    <a:pt x="0" y="450418"/>
                  </a:lnTo>
                  <a:lnTo>
                    <a:pt x="0" y="477951"/>
                  </a:lnTo>
                  <a:lnTo>
                    <a:pt x="5397" y="477951"/>
                  </a:lnTo>
                  <a:lnTo>
                    <a:pt x="5397" y="455853"/>
                  </a:lnTo>
                  <a:close/>
                </a:path>
                <a:path w="740410" h="884554">
                  <a:moveTo>
                    <a:pt x="5397" y="417449"/>
                  </a:moveTo>
                  <a:lnTo>
                    <a:pt x="0" y="412026"/>
                  </a:lnTo>
                  <a:lnTo>
                    <a:pt x="0" y="439369"/>
                  </a:lnTo>
                  <a:lnTo>
                    <a:pt x="5397" y="439369"/>
                  </a:lnTo>
                  <a:lnTo>
                    <a:pt x="5397" y="417449"/>
                  </a:lnTo>
                  <a:close/>
                </a:path>
                <a:path w="740410" h="884554">
                  <a:moveTo>
                    <a:pt x="5397" y="373634"/>
                  </a:moveTo>
                  <a:lnTo>
                    <a:pt x="0" y="379056"/>
                  </a:lnTo>
                  <a:lnTo>
                    <a:pt x="0" y="400977"/>
                  </a:lnTo>
                  <a:lnTo>
                    <a:pt x="5397" y="400977"/>
                  </a:lnTo>
                  <a:lnTo>
                    <a:pt x="5397" y="379056"/>
                  </a:lnTo>
                  <a:lnTo>
                    <a:pt x="5397" y="373634"/>
                  </a:lnTo>
                  <a:close/>
                </a:path>
                <a:path w="740410" h="884554">
                  <a:moveTo>
                    <a:pt x="11010" y="516331"/>
                  </a:moveTo>
                  <a:lnTo>
                    <a:pt x="5397" y="494423"/>
                  </a:lnTo>
                  <a:lnTo>
                    <a:pt x="5397" y="488810"/>
                  </a:lnTo>
                  <a:lnTo>
                    <a:pt x="0" y="494423"/>
                  </a:lnTo>
                  <a:lnTo>
                    <a:pt x="5397" y="516331"/>
                  </a:lnTo>
                  <a:lnTo>
                    <a:pt x="11010" y="516331"/>
                  </a:lnTo>
                  <a:close/>
                </a:path>
                <a:path w="740410" h="884554">
                  <a:moveTo>
                    <a:pt x="11010" y="335051"/>
                  </a:moveTo>
                  <a:lnTo>
                    <a:pt x="5397" y="340664"/>
                  </a:lnTo>
                  <a:lnTo>
                    <a:pt x="5397" y="362572"/>
                  </a:lnTo>
                  <a:lnTo>
                    <a:pt x="11010" y="362572"/>
                  </a:lnTo>
                  <a:lnTo>
                    <a:pt x="11010" y="335051"/>
                  </a:lnTo>
                  <a:close/>
                </a:path>
                <a:path w="740410" h="884554">
                  <a:moveTo>
                    <a:pt x="16471" y="549300"/>
                  </a:moveTo>
                  <a:lnTo>
                    <a:pt x="11010" y="532815"/>
                  </a:lnTo>
                  <a:lnTo>
                    <a:pt x="11010" y="527392"/>
                  </a:lnTo>
                  <a:lnTo>
                    <a:pt x="5397" y="532815"/>
                  </a:lnTo>
                  <a:lnTo>
                    <a:pt x="11010" y="549300"/>
                  </a:lnTo>
                  <a:lnTo>
                    <a:pt x="16471" y="554736"/>
                  </a:lnTo>
                  <a:lnTo>
                    <a:pt x="16471" y="549300"/>
                  </a:lnTo>
                  <a:close/>
                </a:path>
                <a:path w="740410" h="884554">
                  <a:moveTo>
                    <a:pt x="21869" y="302107"/>
                  </a:moveTo>
                  <a:lnTo>
                    <a:pt x="16471" y="302107"/>
                  </a:lnTo>
                  <a:lnTo>
                    <a:pt x="11010" y="324192"/>
                  </a:lnTo>
                  <a:lnTo>
                    <a:pt x="16471" y="324192"/>
                  </a:lnTo>
                  <a:lnTo>
                    <a:pt x="21869" y="302107"/>
                  </a:lnTo>
                  <a:close/>
                </a:path>
                <a:path w="740410" h="884554">
                  <a:moveTo>
                    <a:pt x="27266" y="587692"/>
                  </a:moveTo>
                  <a:lnTo>
                    <a:pt x="21869" y="565772"/>
                  </a:lnTo>
                  <a:lnTo>
                    <a:pt x="16471" y="565772"/>
                  </a:lnTo>
                  <a:lnTo>
                    <a:pt x="21869" y="587692"/>
                  </a:lnTo>
                  <a:lnTo>
                    <a:pt x="21869" y="593305"/>
                  </a:lnTo>
                  <a:lnTo>
                    <a:pt x="27266" y="587692"/>
                  </a:lnTo>
                  <a:close/>
                </a:path>
                <a:path w="740410" h="884554">
                  <a:moveTo>
                    <a:pt x="32880" y="263728"/>
                  </a:moveTo>
                  <a:lnTo>
                    <a:pt x="27266" y="263728"/>
                  </a:lnTo>
                  <a:lnTo>
                    <a:pt x="27266" y="269125"/>
                  </a:lnTo>
                  <a:lnTo>
                    <a:pt x="21869" y="285610"/>
                  </a:lnTo>
                  <a:lnTo>
                    <a:pt x="21869" y="291236"/>
                  </a:lnTo>
                  <a:lnTo>
                    <a:pt x="27266" y="285610"/>
                  </a:lnTo>
                  <a:lnTo>
                    <a:pt x="32880" y="269125"/>
                  </a:lnTo>
                  <a:lnTo>
                    <a:pt x="32880" y="263728"/>
                  </a:lnTo>
                  <a:close/>
                </a:path>
                <a:path w="740410" h="884554">
                  <a:moveTo>
                    <a:pt x="38354" y="626084"/>
                  </a:moveTo>
                  <a:lnTo>
                    <a:pt x="32880" y="609790"/>
                  </a:lnTo>
                  <a:lnTo>
                    <a:pt x="32880" y="604177"/>
                  </a:lnTo>
                  <a:lnTo>
                    <a:pt x="27266" y="604177"/>
                  </a:lnTo>
                  <a:lnTo>
                    <a:pt x="27266" y="609790"/>
                  </a:lnTo>
                  <a:lnTo>
                    <a:pt x="32880" y="626084"/>
                  </a:lnTo>
                  <a:lnTo>
                    <a:pt x="38354" y="626084"/>
                  </a:lnTo>
                  <a:close/>
                </a:path>
                <a:path w="740410" h="884554">
                  <a:moveTo>
                    <a:pt x="49352" y="225285"/>
                  </a:moveTo>
                  <a:lnTo>
                    <a:pt x="43738" y="230759"/>
                  </a:lnTo>
                  <a:lnTo>
                    <a:pt x="32880" y="252641"/>
                  </a:lnTo>
                  <a:lnTo>
                    <a:pt x="38354" y="252641"/>
                  </a:lnTo>
                  <a:lnTo>
                    <a:pt x="49352" y="230759"/>
                  </a:lnTo>
                  <a:lnTo>
                    <a:pt x="49352" y="225285"/>
                  </a:lnTo>
                  <a:close/>
                </a:path>
                <a:path w="740410" h="884554">
                  <a:moveTo>
                    <a:pt x="54825" y="659053"/>
                  </a:moveTo>
                  <a:lnTo>
                    <a:pt x="43738" y="642569"/>
                  </a:lnTo>
                  <a:lnTo>
                    <a:pt x="43738" y="637133"/>
                  </a:lnTo>
                  <a:lnTo>
                    <a:pt x="38354" y="642569"/>
                  </a:lnTo>
                  <a:lnTo>
                    <a:pt x="49352" y="659053"/>
                  </a:lnTo>
                  <a:lnTo>
                    <a:pt x="49352" y="664667"/>
                  </a:lnTo>
                  <a:lnTo>
                    <a:pt x="54825" y="659053"/>
                  </a:lnTo>
                  <a:close/>
                </a:path>
                <a:path w="740410" h="884554">
                  <a:moveTo>
                    <a:pt x="65684" y="197777"/>
                  </a:moveTo>
                  <a:lnTo>
                    <a:pt x="60223" y="192303"/>
                  </a:lnTo>
                  <a:lnTo>
                    <a:pt x="60223" y="197777"/>
                  </a:lnTo>
                  <a:lnTo>
                    <a:pt x="49352" y="214261"/>
                  </a:lnTo>
                  <a:lnTo>
                    <a:pt x="54825" y="219659"/>
                  </a:lnTo>
                  <a:lnTo>
                    <a:pt x="54825" y="214261"/>
                  </a:lnTo>
                  <a:lnTo>
                    <a:pt x="65684" y="197777"/>
                  </a:lnTo>
                  <a:close/>
                </a:path>
                <a:path w="740410" h="884554">
                  <a:moveTo>
                    <a:pt x="71297" y="692010"/>
                  </a:moveTo>
                  <a:lnTo>
                    <a:pt x="65684" y="686574"/>
                  </a:lnTo>
                  <a:lnTo>
                    <a:pt x="60223" y="675538"/>
                  </a:lnTo>
                  <a:lnTo>
                    <a:pt x="60223" y="670102"/>
                  </a:lnTo>
                  <a:lnTo>
                    <a:pt x="54825" y="675538"/>
                  </a:lnTo>
                  <a:lnTo>
                    <a:pt x="60223" y="686574"/>
                  </a:lnTo>
                  <a:lnTo>
                    <a:pt x="71297" y="697636"/>
                  </a:lnTo>
                  <a:lnTo>
                    <a:pt x="71297" y="692010"/>
                  </a:lnTo>
                  <a:close/>
                </a:path>
                <a:path w="740410" h="884554">
                  <a:moveTo>
                    <a:pt x="87782" y="164807"/>
                  </a:moveTo>
                  <a:lnTo>
                    <a:pt x="82169" y="159397"/>
                  </a:lnTo>
                  <a:lnTo>
                    <a:pt x="82169" y="164807"/>
                  </a:lnTo>
                  <a:lnTo>
                    <a:pt x="71297" y="181292"/>
                  </a:lnTo>
                  <a:lnTo>
                    <a:pt x="71297" y="186690"/>
                  </a:lnTo>
                  <a:lnTo>
                    <a:pt x="76695" y="181292"/>
                  </a:lnTo>
                  <a:lnTo>
                    <a:pt x="87782" y="164807"/>
                  </a:lnTo>
                  <a:close/>
                </a:path>
                <a:path w="740410" h="884554">
                  <a:moveTo>
                    <a:pt x="93167" y="724979"/>
                  </a:moveTo>
                  <a:lnTo>
                    <a:pt x="82169" y="708494"/>
                  </a:lnTo>
                  <a:lnTo>
                    <a:pt x="76695" y="703059"/>
                  </a:lnTo>
                  <a:lnTo>
                    <a:pt x="76695" y="708494"/>
                  </a:lnTo>
                  <a:lnTo>
                    <a:pt x="87782" y="724979"/>
                  </a:lnTo>
                  <a:lnTo>
                    <a:pt x="93167" y="730592"/>
                  </a:lnTo>
                  <a:lnTo>
                    <a:pt x="93167" y="724979"/>
                  </a:lnTo>
                  <a:close/>
                </a:path>
                <a:path w="740410" h="884554">
                  <a:moveTo>
                    <a:pt x="109651" y="752513"/>
                  </a:moveTo>
                  <a:lnTo>
                    <a:pt x="104038" y="741451"/>
                  </a:lnTo>
                  <a:lnTo>
                    <a:pt x="98640" y="736028"/>
                  </a:lnTo>
                  <a:lnTo>
                    <a:pt x="98640" y="741451"/>
                  </a:lnTo>
                  <a:lnTo>
                    <a:pt x="104038" y="752513"/>
                  </a:lnTo>
                  <a:lnTo>
                    <a:pt x="109651" y="752513"/>
                  </a:lnTo>
                  <a:close/>
                </a:path>
                <a:path w="740410" h="884554">
                  <a:moveTo>
                    <a:pt x="109651" y="131826"/>
                  </a:moveTo>
                  <a:lnTo>
                    <a:pt x="104038" y="131826"/>
                  </a:lnTo>
                  <a:lnTo>
                    <a:pt x="93167" y="148310"/>
                  </a:lnTo>
                  <a:lnTo>
                    <a:pt x="93167" y="153784"/>
                  </a:lnTo>
                  <a:lnTo>
                    <a:pt x="98640" y="148310"/>
                  </a:lnTo>
                  <a:lnTo>
                    <a:pt x="109651" y="131826"/>
                  </a:lnTo>
                  <a:close/>
                </a:path>
                <a:path w="740410" h="884554">
                  <a:moveTo>
                    <a:pt x="115049" y="752513"/>
                  </a:moveTo>
                  <a:lnTo>
                    <a:pt x="109651" y="747077"/>
                  </a:lnTo>
                  <a:lnTo>
                    <a:pt x="109651" y="752513"/>
                  </a:lnTo>
                  <a:lnTo>
                    <a:pt x="115049" y="757936"/>
                  </a:lnTo>
                  <a:lnTo>
                    <a:pt x="115049" y="752513"/>
                  </a:lnTo>
                  <a:close/>
                </a:path>
                <a:path w="740410" h="884554">
                  <a:moveTo>
                    <a:pt x="136994" y="104470"/>
                  </a:moveTo>
                  <a:lnTo>
                    <a:pt x="131521" y="104470"/>
                  </a:lnTo>
                  <a:lnTo>
                    <a:pt x="115049" y="115341"/>
                  </a:lnTo>
                  <a:lnTo>
                    <a:pt x="115049" y="120954"/>
                  </a:lnTo>
                  <a:lnTo>
                    <a:pt x="131521" y="109943"/>
                  </a:lnTo>
                  <a:lnTo>
                    <a:pt x="136994" y="104470"/>
                  </a:lnTo>
                  <a:close/>
                </a:path>
                <a:path w="740410" h="884554">
                  <a:moveTo>
                    <a:pt x="142379" y="780034"/>
                  </a:moveTo>
                  <a:lnTo>
                    <a:pt x="126123" y="763549"/>
                  </a:lnTo>
                  <a:lnTo>
                    <a:pt x="126123" y="768985"/>
                  </a:lnTo>
                  <a:lnTo>
                    <a:pt x="142379" y="785469"/>
                  </a:lnTo>
                  <a:lnTo>
                    <a:pt x="142379" y="780034"/>
                  </a:lnTo>
                  <a:close/>
                </a:path>
                <a:path w="740410" h="884554">
                  <a:moveTo>
                    <a:pt x="164477" y="76962"/>
                  </a:moveTo>
                  <a:lnTo>
                    <a:pt x="158864" y="76962"/>
                  </a:lnTo>
                  <a:lnTo>
                    <a:pt x="142379" y="88049"/>
                  </a:lnTo>
                  <a:lnTo>
                    <a:pt x="142379" y="93446"/>
                  </a:lnTo>
                  <a:lnTo>
                    <a:pt x="158864" y="82435"/>
                  </a:lnTo>
                  <a:lnTo>
                    <a:pt x="164477" y="76962"/>
                  </a:lnTo>
                  <a:close/>
                </a:path>
                <a:path w="740410" h="884554">
                  <a:moveTo>
                    <a:pt x="175336" y="807377"/>
                  </a:moveTo>
                  <a:lnTo>
                    <a:pt x="169938" y="807377"/>
                  </a:lnTo>
                  <a:lnTo>
                    <a:pt x="164477" y="801954"/>
                  </a:lnTo>
                  <a:lnTo>
                    <a:pt x="153466" y="790892"/>
                  </a:lnTo>
                  <a:lnTo>
                    <a:pt x="153466" y="796518"/>
                  </a:lnTo>
                  <a:lnTo>
                    <a:pt x="164477" y="807377"/>
                  </a:lnTo>
                  <a:lnTo>
                    <a:pt x="169938" y="812990"/>
                  </a:lnTo>
                  <a:lnTo>
                    <a:pt x="175336" y="807377"/>
                  </a:lnTo>
                  <a:close/>
                </a:path>
                <a:path w="740410" h="884554">
                  <a:moveTo>
                    <a:pt x="197205" y="55079"/>
                  </a:moveTo>
                  <a:lnTo>
                    <a:pt x="191808" y="55079"/>
                  </a:lnTo>
                  <a:lnTo>
                    <a:pt x="175336" y="65951"/>
                  </a:lnTo>
                  <a:lnTo>
                    <a:pt x="169938" y="65951"/>
                  </a:lnTo>
                  <a:lnTo>
                    <a:pt x="175336" y="71564"/>
                  </a:lnTo>
                  <a:lnTo>
                    <a:pt x="191808" y="60477"/>
                  </a:lnTo>
                  <a:lnTo>
                    <a:pt x="197205" y="55079"/>
                  </a:lnTo>
                  <a:close/>
                </a:path>
                <a:path w="740410" h="884554">
                  <a:moveTo>
                    <a:pt x="208292" y="829475"/>
                  </a:moveTo>
                  <a:lnTo>
                    <a:pt x="202819" y="823861"/>
                  </a:lnTo>
                  <a:lnTo>
                    <a:pt x="186423" y="812990"/>
                  </a:lnTo>
                  <a:lnTo>
                    <a:pt x="180949" y="818426"/>
                  </a:lnTo>
                  <a:lnTo>
                    <a:pt x="186423" y="818426"/>
                  </a:lnTo>
                  <a:lnTo>
                    <a:pt x="202819" y="829475"/>
                  </a:lnTo>
                  <a:lnTo>
                    <a:pt x="208292" y="829475"/>
                  </a:lnTo>
                  <a:close/>
                </a:path>
                <a:path w="740410" h="884554">
                  <a:moveTo>
                    <a:pt x="224764" y="32969"/>
                  </a:moveTo>
                  <a:lnTo>
                    <a:pt x="208292" y="43992"/>
                  </a:lnTo>
                  <a:lnTo>
                    <a:pt x="202819" y="49466"/>
                  </a:lnTo>
                  <a:lnTo>
                    <a:pt x="208292" y="49466"/>
                  </a:lnTo>
                  <a:lnTo>
                    <a:pt x="224764" y="38595"/>
                  </a:lnTo>
                  <a:lnTo>
                    <a:pt x="224764" y="32969"/>
                  </a:lnTo>
                  <a:close/>
                </a:path>
                <a:path w="740410" h="884554">
                  <a:moveTo>
                    <a:pt x="241236" y="845959"/>
                  </a:moveTo>
                  <a:lnTo>
                    <a:pt x="235623" y="845959"/>
                  </a:lnTo>
                  <a:lnTo>
                    <a:pt x="224764" y="840333"/>
                  </a:lnTo>
                  <a:lnTo>
                    <a:pt x="219303" y="834910"/>
                  </a:lnTo>
                  <a:lnTo>
                    <a:pt x="213690" y="840333"/>
                  </a:lnTo>
                  <a:lnTo>
                    <a:pt x="219303" y="840333"/>
                  </a:lnTo>
                  <a:lnTo>
                    <a:pt x="224764" y="845959"/>
                  </a:lnTo>
                  <a:lnTo>
                    <a:pt x="235623" y="851395"/>
                  </a:lnTo>
                  <a:lnTo>
                    <a:pt x="241236" y="845959"/>
                  </a:lnTo>
                  <a:close/>
                </a:path>
                <a:path w="740410" h="884554">
                  <a:moveTo>
                    <a:pt x="263118" y="22098"/>
                  </a:moveTo>
                  <a:lnTo>
                    <a:pt x="241236" y="27495"/>
                  </a:lnTo>
                  <a:lnTo>
                    <a:pt x="235623" y="27495"/>
                  </a:lnTo>
                  <a:lnTo>
                    <a:pt x="241236" y="32969"/>
                  </a:lnTo>
                  <a:lnTo>
                    <a:pt x="263118" y="27495"/>
                  </a:lnTo>
                  <a:lnTo>
                    <a:pt x="263118" y="22098"/>
                  </a:lnTo>
                  <a:close/>
                </a:path>
                <a:path w="740410" h="884554">
                  <a:moveTo>
                    <a:pt x="273977" y="856818"/>
                  </a:moveTo>
                  <a:lnTo>
                    <a:pt x="252107" y="851395"/>
                  </a:lnTo>
                  <a:lnTo>
                    <a:pt x="246634" y="851395"/>
                  </a:lnTo>
                  <a:lnTo>
                    <a:pt x="252107" y="856818"/>
                  </a:lnTo>
                  <a:lnTo>
                    <a:pt x="273977" y="862253"/>
                  </a:lnTo>
                  <a:lnTo>
                    <a:pt x="273977" y="856818"/>
                  </a:lnTo>
                  <a:close/>
                </a:path>
                <a:path w="740410" h="884554">
                  <a:moveTo>
                    <a:pt x="301459" y="11087"/>
                  </a:moveTo>
                  <a:lnTo>
                    <a:pt x="296062" y="5613"/>
                  </a:lnTo>
                  <a:lnTo>
                    <a:pt x="273977" y="16484"/>
                  </a:lnTo>
                  <a:lnTo>
                    <a:pt x="273977" y="22098"/>
                  </a:lnTo>
                  <a:lnTo>
                    <a:pt x="296062" y="11087"/>
                  </a:lnTo>
                  <a:lnTo>
                    <a:pt x="301459" y="11087"/>
                  </a:lnTo>
                  <a:close/>
                </a:path>
                <a:path w="740410" h="884554">
                  <a:moveTo>
                    <a:pt x="312318" y="873302"/>
                  </a:moveTo>
                  <a:lnTo>
                    <a:pt x="306933" y="867867"/>
                  </a:lnTo>
                  <a:lnTo>
                    <a:pt x="296062" y="867867"/>
                  </a:lnTo>
                  <a:lnTo>
                    <a:pt x="290449" y="862253"/>
                  </a:lnTo>
                  <a:lnTo>
                    <a:pt x="284988" y="867867"/>
                  </a:lnTo>
                  <a:lnTo>
                    <a:pt x="290449" y="867867"/>
                  </a:lnTo>
                  <a:lnTo>
                    <a:pt x="296062" y="873302"/>
                  </a:lnTo>
                  <a:lnTo>
                    <a:pt x="312318" y="873302"/>
                  </a:lnTo>
                  <a:close/>
                </a:path>
                <a:path w="740410" h="884554">
                  <a:moveTo>
                    <a:pt x="339877" y="5613"/>
                  </a:moveTo>
                  <a:lnTo>
                    <a:pt x="334416" y="0"/>
                  </a:lnTo>
                  <a:lnTo>
                    <a:pt x="312318" y="5613"/>
                  </a:lnTo>
                  <a:lnTo>
                    <a:pt x="312318" y="11087"/>
                  </a:lnTo>
                  <a:lnTo>
                    <a:pt x="334416" y="5613"/>
                  </a:lnTo>
                  <a:lnTo>
                    <a:pt x="339877" y="5613"/>
                  </a:lnTo>
                  <a:close/>
                </a:path>
                <a:path w="740410" h="884554">
                  <a:moveTo>
                    <a:pt x="350748" y="873302"/>
                  </a:moveTo>
                  <a:lnTo>
                    <a:pt x="345274" y="873302"/>
                  </a:lnTo>
                  <a:lnTo>
                    <a:pt x="323405" y="867867"/>
                  </a:lnTo>
                  <a:lnTo>
                    <a:pt x="323405" y="873302"/>
                  </a:lnTo>
                  <a:lnTo>
                    <a:pt x="345274" y="878738"/>
                  </a:lnTo>
                  <a:lnTo>
                    <a:pt x="350748" y="873302"/>
                  </a:lnTo>
                  <a:close/>
                </a:path>
                <a:path w="740410" h="884554">
                  <a:moveTo>
                    <a:pt x="383628" y="0"/>
                  </a:moveTo>
                  <a:lnTo>
                    <a:pt x="350748" y="0"/>
                  </a:lnTo>
                  <a:lnTo>
                    <a:pt x="350748" y="5613"/>
                  </a:lnTo>
                  <a:lnTo>
                    <a:pt x="383628" y="5613"/>
                  </a:lnTo>
                  <a:lnTo>
                    <a:pt x="383628" y="0"/>
                  </a:lnTo>
                  <a:close/>
                </a:path>
                <a:path w="740410" h="884554">
                  <a:moveTo>
                    <a:pt x="389242" y="878738"/>
                  </a:moveTo>
                  <a:lnTo>
                    <a:pt x="383628" y="873302"/>
                  </a:lnTo>
                  <a:lnTo>
                    <a:pt x="372757" y="878738"/>
                  </a:lnTo>
                  <a:lnTo>
                    <a:pt x="361759" y="873302"/>
                  </a:lnTo>
                  <a:lnTo>
                    <a:pt x="361759" y="878738"/>
                  </a:lnTo>
                  <a:lnTo>
                    <a:pt x="372757" y="884351"/>
                  </a:lnTo>
                  <a:lnTo>
                    <a:pt x="383628" y="878738"/>
                  </a:lnTo>
                  <a:lnTo>
                    <a:pt x="389242" y="878738"/>
                  </a:lnTo>
                  <a:close/>
                </a:path>
                <a:path w="740410" h="884554">
                  <a:moveTo>
                    <a:pt x="422046" y="5613"/>
                  </a:moveTo>
                  <a:lnTo>
                    <a:pt x="400100" y="0"/>
                  </a:lnTo>
                  <a:lnTo>
                    <a:pt x="394703" y="5613"/>
                  </a:lnTo>
                  <a:lnTo>
                    <a:pt x="400100" y="5613"/>
                  </a:lnTo>
                  <a:lnTo>
                    <a:pt x="422046" y="11087"/>
                  </a:lnTo>
                  <a:lnTo>
                    <a:pt x="422046" y="5613"/>
                  </a:lnTo>
                  <a:close/>
                </a:path>
                <a:path w="740410" h="884554">
                  <a:moveTo>
                    <a:pt x="427659" y="873302"/>
                  </a:moveTo>
                  <a:lnTo>
                    <a:pt x="422046" y="867867"/>
                  </a:lnTo>
                  <a:lnTo>
                    <a:pt x="400100" y="873302"/>
                  </a:lnTo>
                  <a:lnTo>
                    <a:pt x="400100" y="878738"/>
                  </a:lnTo>
                  <a:lnTo>
                    <a:pt x="422046" y="873302"/>
                  </a:lnTo>
                  <a:lnTo>
                    <a:pt x="427659" y="873302"/>
                  </a:lnTo>
                  <a:close/>
                </a:path>
                <a:path w="740410" h="884554">
                  <a:moveTo>
                    <a:pt x="460400" y="11087"/>
                  </a:moveTo>
                  <a:lnTo>
                    <a:pt x="455002" y="11087"/>
                  </a:lnTo>
                  <a:lnTo>
                    <a:pt x="449529" y="5613"/>
                  </a:lnTo>
                  <a:lnTo>
                    <a:pt x="433057" y="5613"/>
                  </a:lnTo>
                  <a:lnTo>
                    <a:pt x="433057" y="11087"/>
                  </a:lnTo>
                  <a:lnTo>
                    <a:pt x="449529" y="11087"/>
                  </a:lnTo>
                  <a:lnTo>
                    <a:pt x="455002" y="16484"/>
                  </a:lnTo>
                  <a:lnTo>
                    <a:pt x="460400" y="11087"/>
                  </a:lnTo>
                  <a:close/>
                </a:path>
                <a:path w="740410" h="884554">
                  <a:moveTo>
                    <a:pt x="466001" y="862253"/>
                  </a:moveTo>
                  <a:lnTo>
                    <a:pt x="460400" y="862253"/>
                  </a:lnTo>
                  <a:lnTo>
                    <a:pt x="449529" y="867867"/>
                  </a:lnTo>
                  <a:lnTo>
                    <a:pt x="438518" y="867867"/>
                  </a:lnTo>
                  <a:lnTo>
                    <a:pt x="438518" y="873302"/>
                  </a:lnTo>
                  <a:lnTo>
                    <a:pt x="449529" y="873302"/>
                  </a:lnTo>
                  <a:lnTo>
                    <a:pt x="460400" y="867867"/>
                  </a:lnTo>
                  <a:lnTo>
                    <a:pt x="466001" y="862253"/>
                  </a:lnTo>
                  <a:close/>
                </a:path>
                <a:path w="740410" h="884554">
                  <a:moveTo>
                    <a:pt x="493344" y="22098"/>
                  </a:moveTo>
                  <a:lnTo>
                    <a:pt x="471398" y="16484"/>
                  </a:lnTo>
                  <a:lnTo>
                    <a:pt x="471398" y="22098"/>
                  </a:lnTo>
                  <a:lnTo>
                    <a:pt x="493344" y="27495"/>
                  </a:lnTo>
                  <a:lnTo>
                    <a:pt x="493344" y="22098"/>
                  </a:lnTo>
                  <a:close/>
                </a:path>
                <a:path w="740410" h="884554">
                  <a:moveTo>
                    <a:pt x="498741" y="845959"/>
                  </a:moveTo>
                  <a:lnTo>
                    <a:pt x="476872" y="856818"/>
                  </a:lnTo>
                  <a:lnTo>
                    <a:pt x="471398" y="856818"/>
                  </a:lnTo>
                  <a:lnTo>
                    <a:pt x="476872" y="862253"/>
                  </a:lnTo>
                  <a:lnTo>
                    <a:pt x="498741" y="851395"/>
                  </a:lnTo>
                  <a:lnTo>
                    <a:pt x="498741" y="845959"/>
                  </a:lnTo>
                  <a:close/>
                </a:path>
                <a:path w="740410" h="884554">
                  <a:moveTo>
                    <a:pt x="531698" y="829475"/>
                  </a:moveTo>
                  <a:lnTo>
                    <a:pt x="515213" y="840333"/>
                  </a:lnTo>
                  <a:lnTo>
                    <a:pt x="509828" y="840333"/>
                  </a:lnTo>
                  <a:lnTo>
                    <a:pt x="509828" y="845959"/>
                  </a:lnTo>
                  <a:lnTo>
                    <a:pt x="515213" y="845959"/>
                  </a:lnTo>
                  <a:lnTo>
                    <a:pt x="531698" y="834910"/>
                  </a:lnTo>
                  <a:lnTo>
                    <a:pt x="531698" y="829475"/>
                  </a:lnTo>
                  <a:close/>
                </a:path>
                <a:path w="740410" h="884554">
                  <a:moveTo>
                    <a:pt x="531698" y="43992"/>
                  </a:moveTo>
                  <a:lnTo>
                    <a:pt x="526300" y="38595"/>
                  </a:lnTo>
                  <a:lnTo>
                    <a:pt x="515213" y="32969"/>
                  </a:lnTo>
                  <a:lnTo>
                    <a:pt x="509828" y="27495"/>
                  </a:lnTo>
                  <a:lnTo>
                    <a:pt x="504355" y="32969"/>
                  </a:lnTo>
                  <a:lnTo>
                    <a:pt x="509828" y="32969"/>
                  </a:lnTo>
                  <a:lnTo>
                    <a:pt x="515213" y="38595"/>
                  </a:lnTo>
                  <a:lnTo>
                    <a:pt x="526300" y="43992"/>
                  </a:lnTo>
                  <a:lnTo>
                    <a:pt x="531698" y="43992"/>
                  </a:lnTo>
                  <a:close/>
                </a:path>
                <a:path w="740410" h="884554">
                  <a:moveTo>
                    <a:pt x="564642" y="812990"/>
                  </a:moveTo>
                  <a:lnTo>
                    <a:pt x="542709" y="823861"/>
                  </a:lnTo>
                  <a:lnTo>
                    <a:pt x="542709" y="829475"/>
                  </a:lnTo>
                  <a:lnTo>
                    <a:pt x="564642" y="818426"/>
                  </a:lnTo>
                  <a:lnTo>
                    <a:pt x="564642" y="812990"/>
                  </a:lnTo>
                  <a:close/>
                </a:path>
                <a:path w="740410" h="884554">
                  <a:moveTo>
                    <a:pt x="564642" y="65951"/>
                  </a:moveTo>
                  <a:lnTo>
                    <a:pt x="559028" y="60477"/>
                  </a:lnTo>
                  <a:lnTo>
                    <a:pt x="542709" y="49466"/>
                  </a:lnTo>
                  <a:lnTo>
                    <a:pt x="537159" y="49466"/>
                  </a:lnTo>
                  <a:lnTo>
                    <a:pt x="542709" y="55079"/>
                  </a:lnTo>
                  <a:lnTo>
                    <a:pt x="559028" y="65951"/>
                  </a:lnTo>
                  <a:lnTo>
                    <a:pt x="564642" y="65951"/>
                  </a:lnTo>
                  <a:close/>
                </a:path>
                <a:path w="740410" h="884554">
                  <a:moveTo>
                    <a:pt x="591985" y="82435"/>
                  </a:moveTo>
                  <a:lnTo>
                    <a:pt x="575513" y="71564"/>
                  </a:lnTo>
                  <a:lnTo>
                    <a:pt x="570039" y="71564"/>
                  </a:lnTo>
                  <a:lnTo>
                    <a:pt x="575513" y="76962"/>
                  </a:lnTo>
                  <a:lnTo>
                    <a:pt x="591985" y="88049"/>
                  </a:lnTo>
                  <a:lnTo>
                    <a:pt x="591985" y="82435"/>
                  </a:lnTo>
                  <a:close/>
                </a:path>
                <a:path w="740410" h="884554">
                  <a:moveTo>
                    <a:pt x="597598" y="790892"/>
                  </a:moveTo>
                  <a:lnTo>
                    <a:pt x="591985" y="785469"/>
                  </a:lnTo>
                  <a:lnTo>
                    <a:pt x="575513" y="801954"/>
                  </a:lnTo>
                  <a:lnTo>
                    <a:pt x="575513" y="807377"/>
                  </a:lnTo>
                  <a:lnTo>
                    <a:pt x="591985" y="790892"/>
                  </a:lnTo>
                  <a:lnTo>
                    <a:pt x="597598" y="790892"/>
                  </a:lnTo>
                  <a:close/>
                </a:path>
                <a:path w="740410" h="884554">
                  <a:moveTo>
                    <a:pt x="619467" y="109943"/>
                  </a:moveTo>
                  <a:lnTo>
                    <a:pt x="602996" y="93446"/>
                  </a:lnTo>
                  <a:lnTo>
                    <a:pt x="597598" y="98856"/>
                  </a:lnTo>
                  <a:lnTo>
                    <a:pt x="602996" y="98856"/>
                  </a:lnTo>
                  <a:lnTo>
                    <a:pt x="619467" y="115341"/>
                  </a:lnTo>
                  <a:lnTo>
                    <a:pt x="619467" y="109943"/>
                  </a:lnTo>
                  <a:close/>
                </a:path>
                <a:path w="740410" h="884554">
                  <a:moveTo>
                    <a:pt x="624941" y="763549"/>
                  </a:moveTo>
                  <a:lnTo>
                    <a:pt x="619467" y="757936"/>
                  </a:lnTo>
                  <a:lnTo>
                    <a:pt x="602996" y="774420"/>
                  </a:lnTo>
                  <a:lnTo>
                    <a:pt x="602996" y="780034"/>
                  </a:lnTo>
                  <a:lnTo>
                    <a:pt x="619467" y="763549"/>
                  </a:lnTo>
                  <a:lnTo>
                    <a:pt x="624941" y="763549"/>
                  </a:lnTo>
                  <a:close/>
                </a:path>
                <a:path w="740410" h="884554">
                  <a:moveTo>
                    <a:pt x="630339" y="120954"/>
                  </a:moveTo>
                  <a:lnTo>
                    <a:pt x="624941" y="126428"/>
                  </a:lnTo>
                  <a:lnTo>
                    <a:pt x="630339" y="126428"/>
                  </a:lnTo>
                  <a:lnTo>
                    <a:pt x="630339" y="120954"/>
                  </a:lnTo>
                  <a:close/>
                </a:path>
                <a:path w="740410" h="884554">
                  <a:moveTo>
                    <a:pt x="646811" y="730592"/>
                  </a:moveTo>
                  <a:lnTo>
                    <a:pt x="641337" y="730592"/>
                  </a:lnTo>
                  <a:lnTo>
                    <a:pt x="630339" y="752513"/>
                  </a:lnTo>
                  <a:lnTo>
                    <a:pt x="635952" y="752513"/>
                  </a:lnTo>
                  <a:lnTo>
                    <a:pt x="646811" y="730592"/>
                  </a:lnTo>
                  <a:close/>
                </a:path>
                <a:path w="740410" h="884554">
                  <a:moveTo>
                    <a:pt x="646811" y="142913"/>
                  </a:moveTo>
                  <a:lnTo>
                    <a:pt x="635952" y="131826"/>
                  </a:lnTo>
                  <a:lnTo>
                    <a:pt x="630339" y="126428"/>
                  </a:lnTo>
                  <a:lnTo>
                    <a:pt x="630339" y="131826"/>
                  </a:lnTo>
                  <a:lnTo>
                    <a:pt x="641337" y="142913"/>
                  </a:lnTo>
                  <a:lnTo>
                    <a:pt x="641337" y="148310"/>
                  </a:lnTo>
                  <a:lnTo>
                    <a:pt x="646811" y="142913"/>
                  </a:lnTo>
                  <a:close/>
                </a:path>
                <a:path w="740410" h="884554">
                  <a:moveTo>
                    <a:pt x="668680" y="697636"/>
                  </a:moveTo>
                  <a:lnTo>
                    <a:pt x="663282" y="703059"/>
                  </a:lnTo>
                  <a:lnTo>
                    <a:pt x="652208" y="719543"/>
                  </a:lnTo>
                  <a:lnTo>
                    <a:pt x="657821" y="719543"/>
                  </a:lnTo>
                  <a:lnTo>
                    <a:pt x="668680" y="703059"/>
                  </a:lnTo>
                  <a:lnTo>
                    <a:pt x="668680" y="697636"/>
                  </a:lnTo>
                  <a:close/>
                </a:path>
                <a:path w="740410" h="884554">
                  <a:moveTo>
                    <a:pt x="668680" y="175895"/>
                  </a:moveTo>
                  <a:lnTo>
                    <a:pt x="652208" y="153784"/>
                  </a:lnTo>
                  <a:lnTo>
                    <a:pt x="646811" y="153784"/>
                  </a:lnTo>
                  <a:lnTo>
                    <a:pt x="663282" y="175895"/>
                  </a:lnTo>
                  <a:lnTo>
                    <a:pt x="668680" y="175895"/>
                  </a:lnTo>
                  <a:close/>
                </a:path>
                <a:path w="740410" h="884554">
                  <a:moveTo>
                    <a:pt x="685165" y="664667"/>
                  </a:moveTo>
                  <a:lnTo>
                    <a:pt x="679767" y="670102"/>
                  </a:lnTo>
                  <a:lnTo>
                    <a:pt x="674293" y="686574"/>
                  </a:lnTo>
                  <a:lnTo>
                    <a:pt x="674293" y="692010"/>
                  </a:lnTo>
                  <a:lnTo>
                    <a:pt x="679767" y="686574"/>
                  </a:lnTo>
                  <a:lnTo>
                    <a:pt x="685165" y="670102"/>
                  </a:lnTo>
                  <a:lnTo>
                    <a:pt x="685165" y="664667"/>
                  </a:lnTo>
                  <a:close/>
                </a:path>
                <a:path w="740410" h="884554">
                  <a:moveTo>
                    <a:pt x="685165" y="208788"/>
                  </a:moveTo>
                  <a:lnTo>
                    <a:pt x="679767" y="192303"/>
                  </a:lnTo>
                  <a:lnTo>
                    <a:pt x="674293" y="186690"/>
                  </a:lnTo>
                  <a:lnTo>
                    <a:pt x="668680" y="186690"/>
                  </a:lnTo>
                  <a:lnTo>
                    <a:pt x="674293" y="192303"/>
                  </a:lnTo>
                  <a:lnTo>
                    <a:pt x="679767" y="208788"/>
                  </a:lnTo>
                  <a:lnTo>
                    <a:pt x="685165" y="208788"/>
                  </a:lnTo>
                  <a:close/>
                </a:path>
                <a:path w="740410" h="884554">
                  <a:moveTo>
                    <a:pt x="701636" y="631710"/>
                  </a:moveTo>
                  <a:lnTo>
                    <a:pt x="696239" y="631710"/>
                  </a:lnTo>
                  <a:lnTo>
                    <a:pt x="690626" y="653618"/>
                  </a:lnTo>
                  <a:lnTo>
                    <a:pt x="696239" y="653618"/>
                  </a:lnTo>
                  <a:lnTo>
                    <a:pt x="701636" y="631710"/>
                  </a:lnTo>
                  <a:close/>
                </a:path>
                <a:path w="740410" h="884554">
                  <a:moveTo>
                    <a:pt x="701636" y="241769"/>
                  </a:moveTo>
                  <a:lnTo>
                    <a:pt x="690626" y="219659"/>
                  </a:lnTo>
                  <a:lnTo>
                    <a:pt x="685165" y="219659"/>
                  </a:lnTo>
                  <a:lnTo>
                    <a:pt x="696239" y="241769"/>
                  </a:lnTo>
                  <a:lnTo>
                    <a:pt x="701636" y="247243"/>
                  </a:lnTo>
                  <a:lnTo>
                    <a:pt x="701636" y="241769"/>
                  </a:lnTo>
                  <a:close/>
                </a:path>
                <a:path w="740410" h="884554">
                  <a:moveTo>
                    <a:pt x="718108" y="598741"/>
                  </a:moveTo>
                  <a:lnTo>
                    <a:pt x="712711" y="593305"/>
                  </a:lnTo>
                  <a:lnTo>
                    <a:pt x="712711" y="598741"/>
                  </a:lnTo>
                  <a:lnTo>
                    <a:pt x="707097" y="609790"/>
                  </a:lnTo>
                  <a:lnTo>
                    <a:pt x="707097" y="615226"/>
                  </a:lnTo>
                  <a:lnTo>
                    <a:pt x="707097" y="620661"/>
                  </a:lnTo>
                  <a:lnTo>
                    <a:pt x="712711" y="615226"/>
                  </a:lnTo>
                  <a:lnTo>
                    <a:pt x="712711" y="609790"/>
                  </a:lnTo>
                  <a:lnTo>
                    <a:pt x="718108" y="598741"/>
                  </a:lnTo>
                  <a:close/>
                </a:path>
                <a:path w="740410" h="884554">
                  <a:moveTo>
                    <a:pt x="718108" y="280149"/>
                  </a:moveTo>
                  <a:lnTo>
                    <a:pt x="712711" y="269125"/>
                  </a:lnTo>
                  <a:lnTo>
                    <a:pt x="707097" y="258254"/>
                  </a:lnTo>
                  <a:lnTo>
                    <a:pt x="707097" y="252641"/>
                  </a:lnTo>
                  <a:lnTo>
                    <a:pt x="701636" y="258254"/>
                  </a:lnTo>
                  <a:lnTo>
                    <a:pt x="707097" y="269125"/>
                  </a:lnTo>
                  <a:lnTo>
                    <a:pt x="712711" y="280149"/>
                  </a:lnTo>
                  <a:lnTo>
                    <a:pt x="718108" y="280149"/>
                  </a:lnTo>
                  <a:close/>
                </a:path>
                <a:path w="740410" h="884554">
                  <a:moveTo>
                    <a:pt x="723506" y="313118"/>
                  </a:moveTo>
                  <a:lnTo>
                    <a:pt x="718108" y="296633"/>
                  </a:lnTo>
                  <a:lnTo>
                    <a:pt x="718108" y="291236"/>
                  </a:lnTo>
                  <a:lnTo>
                    <a:pt x="712711" y="296633"/>
                  </a:lnTo>
                  <a:lnTo>
                    <a:pt x="718108" y="313118"/>
                  </a:lnTo>
                  <a:lnTo>
                    <a:pt x="723506" y="318592"/>
                  </a:lnTo>
                  <a:lnTo>
                    <a:pt x="723506" y="313118"/>
                  </a:lnTo>
                  <a:close/>
                </a:path>
                <a:path w="740410" h="884554">
                  <a:moveTo>
                    <a:pt x="728980" y="560349"/>
                  </a:moveTo>
                  <a:lnTo>
                    <a:pt x="723506" y="554736"/>
                  </a:lnTo>
                  <a:lnTo>
                    <a:pt x="723506" y="560349"/>
                  </a:lnTo>
                  <a:lnTo>
                    <a:pt x="718108" y="582269"/>
                  </a:lnTo>
                  <a:lnTo>
                    <a:pt x="723506" y="582269"/>
                  </a:lnTo>
                  <a:lnTo>
                    <a:pt x="728980" y="560349"/>
                  </a:lnTo>
                  <a:close/>
                </a:path>
                <a:path w="740410" h="884554">
                  <a:moveTo>
                    <a:pt x="734593" y="521766"/>
                  </a:moveTo>
                  <a:lnTo>
                    <a:pt x="728980" y="521766"/>
                  </a:lnTo>
                  <a:lnTo>
                    <a:pt x="728980" y="527392"/>
                  </a:lnTo>
                  <a:lnTo>
                    <a:pt x="723506" y="543864"/>
                  </a:lnTo>
                  <a:lnTo>
                    <a:pt x="728980" y="543864"/>
                  </a:lnTo>
                  <a:lnTo>
                    <a:pt x="734593" y="527392"/>
                  </a:lnTo>
                  <a:lnTo>
                    <a:pt x="734593" y="521766"/>
                  </a:lnTo>
                  <a:close/>
                </a:path>
                <a:path w="740410" h="884554">
                  <a:moveTo>
                    <a:pt x="734593" y="351536"/>
                  </a:moveTo>
                  <a:lnTo>
                    <a:pt x="728980" y="329615"/>
                  </a:lnTo>
                  <a:lnTo>
                    <a:pt x="723506" y="329615"/>
                  </a:lnTo>
                  <a:lnTo>
                    <a:pt x="728980" y="351536"/>
                  </a:lnTo>
                  <a:lnTo>
                    <a:pt x="734593" y="357149"/>
                  </a:lnTo>
                  <a:lnTo>
                    <a:pt x="734593" y="351536"/>
                  </a:lnTo>
                  <a:close/>
                </a:path>
                <a:path w="740410" h="884554">
                  <a:moveTo>
                    <a:pt x="739978" y="483374"/>
                  </a:moveTo>
                  <a:lnTo>
                    <a:pt x="734593" y="483374"/>
                  </a:lnTo>
                  <a:lnTo>
                    <a:pt x="728980" y="505294"/>
                  </a:lnTo>
                  <a:lnTo>
                    <a:pt x="734593" y="510908"/>
                  </a:lnTo>
                  <a:lnTo>
                    <a:pt x="734593" y="505294"/>
                  </a:lnTo>
                  <a:lnTo>
                    <a:pt x="739978" y="483374"/>
                  </a:lnTo>
                  <a:close/>
                </a:path>
                <a:path w="740410" h="884554">
                  <a:moveTo>
                    <a:pt x="739978" y="444982"/>
                  </a:moveTo>
                  <a:lnTo>
                    <a:pt x="734593" y="444982"/>
                  </a:lnTo>
                  <a:lnTo>
                    <a:pt x="734593" y="466890"/>
                  </a:lnTo>
                  <a:lnTo>
                    <a:pt x="739978" y="472325"/>
                  </a:lnTo>
                  <a:lnTo>
                    <a:pt x="739978" y="444982"/>
                  </a:lnTo>
                  <a:close/>
                </a:path>
                <a:path w="740410" h="884554">
                  <a:moveTo>
                    <a:pt x="739978" y="406412"/>
                  </a:moveTo>
                  <a:lnTo>
                    <a:pt x="734593" y="406412"/>
                  </a:lnTo>
                  <a:lnTo>
                    <a:pt x="734593" y="428510"/>
                  </a:lnTo>
                  <a:lnTo>
                    <a:pt x="739978" y="433933"/>
                  </a:lnTo>
                  <a:lnTo>
                    <a:pt x="739978" y="406412"/>
                  </a:lnTo>
                  <a:close/>
                </a:path>
                <a:path w="740410" h="884554">
                  <a:moveTo>
                    <a:pt x="739978" y="389928"/>
                  </a:moveTo>
                  <a:lnTo>
                    <a:pt x="734593" y="368007"/>
                  </a:lnTo>
                  <a:lnTo>
                    <a:pt x="728980" y="368007"/>
                  </a:lnTo>
                  <a:lnTo>
                    <a:pt x="734593" y="389928"/>
                  </a:lnTo>
                  <a:lnTo>
                    <a:pt x="734593" y="395541"/>
                  </a:lnTo>
                  <a:lnTo>
                    <a:pt x="739978" y="389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073842" y="6304922"/>
              <a:ext cx="164465" cy="225425"/>
            </a:xfrm>
            <a:custGeom>
              <a:avLst/>
              <a:gdLst/>
              <a:ahLst/>
              <a:cxnLst/>
              <a:rect l="l" t="t" r="r" b="b"/>
              <a:pathLst>
                <a:path w="164464" h="225425">
                  <a:moveTo>
                    <a:pt x="21945" y="153758"/>
                  </a:moveTo>
                  <a:lnTo>
                    <a:pt x="16332" y="148323"/>
                  </a:lnTo>
                  <a:lnTo>
                    <a:pt x="16332" y="175666"/>
                  </a:lnTo>
                  <a:lnTo>
                    <a:pt x="21945" y="175666"/>
                  </a:lnTo>
                  <a:lnTo>
                    <a:pt x="21945" y="153758"/>
                  </a:lnTo>
                  <a:close/>
                </a:path>
                <a:path w="164464" h="225425">
                  <a:moveTo>
                    <a:pt x="21945" y="115366"/>
                  </a:moveTo>
                  <a:lnTo>
                    <a:pt x="16332" y="109753"/>
                  </a:lnTo>
                  <a:lnTo>
                    <a:pt x="16332" y="137287"/>
                  </a:lnTo>
                  <a:lnTo>
                    <a:pt x="21945" y="137287"/>
                  </a:lnTo>
                  <a:lnTo>
                    <a:pt x="21945" y="115366"/>
                  </a:lnTo>
                  <a:close/>
                </a:path>
                <a:path w="164464" h="225425">
                  <a:moveTo>
                    <a:pt x="21945" y="76784"/>
                  </a:moveTo>
                  <a:lnTo>
                    <a:pt x="16332" y="71348"/>
                  </a:lnTo>
                  <a:lnTo>
                    <a:pt x="16332" y="98882"/>
                  </a:lnTo>
                  <a:lnTo>
                    <a:pt x="21945" y="98882"/>
                  </a:lnTo>
                  <a:lnTo>
                    <a:pt x="21945" y="76784"/>
                  </a:lnTo>
                  <a:close/>
                </a:path>
                <a:path w="164464" h="225425">
                  <a:moveTo>
                    <a:pt x="21945" y="38392"/>
                  </a:moveTo>
                  <a:lnTo>
                    <a:pt x="16332" y="32956"/>
                  </a:lnTo>
                  <a:lnTo>
                    <a:pt x="16332" y="60312"/>
                  </a:lnTo>
                  <a:lnTo>
                    <a:pt x="21945" y="60312"/>
                  </a:lnTo>
                  <a:lnTo>
                    <a:pt x="21945" y="38392"/>
                  </a:lnTo>
                  <a:close/>
                </a:path>
                <a:path w="164464" h="225425">
                  <a:moveTo>
                    <a:pt x="21945" y="0"/>
                  </a:moveTo>
                  <a:lnTo>
                    <a:pt x="16332" y="0"/>
                  </a:lnTo>
                  <a:lnTo>
                    <a:pt x="16332" y="21907"/>
                  </a:lnTo>
                  <a:lnTo>
                    <a:pt x="21945" y="21907"/>
                  </a:lnTo>
                  <a:lnTo>
                    <a:pt x="21945" y="0"/>
                  </a:lnTo>
                  <a:close/>
                </a:path>
                <a:path w="164464" h="225425">
                  <a:moveTo>
                    <a:pt x="38341" y="186728"/>
                  </a:moveTo>
                  <a:lnTo>
                    <a:pt x="16332" y="186728"/>
                  </a:lnTo>
                  <a:lnTo>
                    <a:pt x="0" y="186728"/>
                  </a:lnTo>
                  <a:lnTo>
                    <a:pt x="21945" y="225107"/>
                  </a:lnTo>
                  <a:lnTo>
                    <a:pt x="38341" y="186728"/>
                  </a:lnTo>
                  <a:close/>
                </a:path>
                <a:path w="164464" h="225425">
                  <a:moveTo>
                    <a:pt x="147853" y="153758"/>
                  </a:moveTo>
                  <a:lnTo>
                    <a:pt x="142455" y="148323"/>
                  </a:lnTo>
                  <a:lnTo>
                    <a:pt x="142455" y="175666"/>
                  </a:lnTo>
                  <a:lnTo>
                    <a:pt x="147853" y="175666"/>
                  </a:lnTo>
                  <a:lnTo>
                    <a:pt x="147853" y="153758"/>
                  </a:lnTo>
                  <a:close/>
                </a:path>
                <a:path w="164464" h="225425">
                  <a:moveTo>
                    <a:pt x="147853" y="115366"/>
                  </a:moveTo>
                  <a:lnTo>
                    <a:pt x="142455" y="109753"/>
                  </a:lnTo>
                  <a:lnTo>
                    <a:pt x="142455" y="137287"/>
                  </a:lnTo>
                  <a:lnTo>
                    <a:pt x="147853" y="137287"/>
                  </a:lnTo>
                  <a:lnTo>
                    <a:pt x="147853" y="115366"/>
                  </a:lnTo>
                  <a:close/>
                </a:path>
                <a:path w="164464" h="225425">
                  <a:moveTo>
                    <a:pt x="147853" y="76784"/>
                  </a:moveTo>
                  <a:lnTo>
                    <a:pt x="142455" y="71348"/>
                  </a:lnTo>
                  <a:lnTo>
                    <a:pt x="142455" y="98882"/>
                  </a:lnTo>
                  <a:lnTo>
                    <a:pt x="147853" y="98882"/>
                  </a:lnTo>
                  <a:lnTo>
                    <a:pt x="147853" y="76784"/>
                  </a:lnTo>
                  <a:close/>
                </a:path>
                <a:path w="164464" h="225425">
                  <a:moveTo>
                    <a:pt x="147853" y="38392"/>
                  </a:moveTo>
                  <a:lnTo>
                    <a:pt x="142455" y="32956"/>
                  </a:lnTo>
                  <a:lnTo>
                    <a:pt x="142455" y="60312"/>
                  </a:lnTo>
                  <a:lnTo>
                    <a:pt x="147853" y="60312"/>
                  </a:lnTo>
                  <a:lnTo>
                    <a:pt x="147853" y="38392"/>
                  </a:lnTo>
                  <a:close/>
                </a:path>
                <a:path w="164464" h="225425">
                  <a:moveTo>
                    <a:pt x="147853" y="0"/>
                  </a:moveTo>
                  <a:lnTo>
                    <a:pt x="142455" y="0"/>
                  </a:lnTo>
                  <a:lnTo>
                    <a:pt x="142455" y="21907"/>
                  </a:lnTo>
                  <a:lnTo>
                    <a:pt x="147853" y="21907"/>
                  </a:lnTo>
                  <a:lnTo>
                    <a:pt x="147853" y="0"/>
                  </a:lnTo>
                  <a:close/>
                </a:path>
                <a:path w="164464" h="225425">
                  <a:moveTo>
                    <a:pt x="164325" y="186728"/>
                  </a:moveTo>
                  <a:lnTo>
                    <a:pt x="142455" y="186728"/>
                  </a:lnTo>
                  <a:lnTo>
                    <a:pt x="125984" y="186728"/>
                  </a:lnTo>
                  <a:lnTo>
                    <a:pt x="142455" y="225107"/>
                  </a:lnTo>
                  <a:lnTo>
                    <a:pt x="164325" y="186728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172016" y="5470020"/>
              <a:ext cx="0" cy="175895"/>
            </a:xfrm>
            <a:custGeom>
              <a:avLst/>
              <a:gdLst/>
              <a:ahLst/>
              <a:cxnLst/>
              <a:rect l="l" t="t" r="r" b="b"/>
              <a:pathLst>
                <a:path w="0" h="175895">
                  <a:moveTo>
                    <a:pt x="0" y="0"/>
                  </a:moveTo>
                  <a:lnTo>
                    <a:pt x="0" y="175821"/>
                  </a:lnTo>
                </a:path>
              </a:pathLst>
            </a:custGeom>
            <a:ln w="5394">
              <a:solidFill>
                <a:srgbClr val="969696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686824" y="5453539"/>
              <a:ext cx="663575" cy="664845"/>
            </a:xfrm>
            <a:custGeom>
              <a:avLst/>
              <a:gdLst/>
              <a:ahLst/>
              <a:cxnLst/>
              <a:rect l="l" t="t" r="r" b="b"/>
              <a:pathLst>
                <a:path w="663575" h="664845">
                  <a:moveTo>
                    <a:pt x="5626" y="642569"/>
                  </a:moveTo>
                  <a:lnTo>
                    <a:pt x="0" y="637133"/>
                  </a:lnTo>
                  <a:lnTo>
                    <a:pt x="0" y="664667"/>
                  </a:lnTo>
                  <a:lnTo>
                    <a:pt x="5626" y="664667"/>
                  </a:lnTo>
                  <a:lnTo>
                    <a:pt x="5626" y="642569"/>
                  </a:lnTo>
                  <a:close/>
                </a:path>
                <a:path w="663575" h="664845">
                  <a:moveTo>
                    <a:pt x="5626" y="604164"/>
                  </a:moveTo>
                  <a:lnTo>
                    <a:pt x="0" y="598728"/>
                  </a:lnTo>
                  <a:lnTo>
                    <a:pt x="0" y="626084"/>
                  </a:lnTo>
                  <a:lnTo>
                    <a:pt x="5626" y="626084"/>
                  </a:lnTo>
                  <a:lnTo>
                    <a:pt x="5626" y="604164"/>
                  </a:lnTo>
                  <a:close/>
                </a:path>
                <a:path w="663575" h="664845">
                  <a:moveTo>
                    <a:pt x="5626" y="565772"/>
                  </a:moveTo>
                  <a:lnTo>
                    <a:pt x="0" y="560349"/>
                  </a:lnTo>
                  <a:lnTo>
                    <a:pt x="0" y="587692"/>
                  </a:lnTo>
                  <a:lnTo>
                    <a:pt x="5626" y="587692"/>
                  </a:lnTo>
                  <a:lnTo>
                    <a:pt x="5626" y="565772"/>
                  </a:lnTo>
                  <a:close/>
                </a:path>
                <a:path w="663575" h="664845">
                  <a:moveTo>
                    <a:pt x="5626" y="527392"/>
                  </a:moveTo>
                  <a:lnTo>
                    <a:pt x="0" y="521766"/>
                  </a:lnTo>
                  <a:lnTo>
                    <a:pt x="0" y="549275"/>
                  </a:lnTo>
                  <a:lnTo>
                    <a:pt x="5626" y="549275"/>
                  </a:lnTo>
                  <a:lnTo>
                    <a:pt x="5626" y="527392"/>
                  </a:lnTo>
                  <a:close/>
                </a:path>
                <a:path w="663575" h="664845">
                  <a:moveTo>
                    <a:pt x="5626" y="488797"/>
                  </a:moveTo>
                  <a:lnTo>
                    <a:pt x="0" y="483400"/>
                  </a:lnTo>
                  <a:lnTo>
                    <a:pt x="0" y="510908"/>
                  </a:lnTo>
                  <a:lnTo>
                    <a:pt x="5626" y="510908"/>
                  </a:lnTo>
                  <a:lnTo>
                    <a:pt x="5626" y="488797"/>
                  </a:lnTo>
                  <a:close/>
                </a:path>
                <a:path w="663575" h="664845">
                  <a:moveTo>
                    <a:pt x="5626" y="450418"/>
                  </a:moveTo>
                  <a:lnTo>
                    <a:pt x="0" y="444944"/>
                  </a:lnTo>
                  <a:lnTo>
                    <a:pt x="0" y="472313"/>
                  </a:lnTo>
                  <a:lnTo>
                    <a:pt x="5626" y="472313"/>
                  </a:lnTo>
                  <a:lnTo>
                    <a:pt x="5626" y="450418"/>
                  </a:lnTo>
                  <a:close/>
                </a:path>
                <a:path w="663575" h="664845">
                  <a:moveTo>
                    <a:pt x="5626" y="412051"/>
                  </a:moveTo>
                  <a:lnTo>
                    <a:pt x="0" y="412051"/>
                  </a:lnTo>
                  <a:lnTo>
                    <a:pt x="0" y="433933"/>
                  </a:lnTo>
                  <a:lnTo>
                    <a:pt x="5626" y="433933"/>
                  </a:lnTo>
                  <a:lnTo>
                    <a:pt x="5626" y="412051"/>
                  </a:lnTo>
                  <a:close/>
                </a:path>
                <a:path w="663575" h="664845">
                  <a:moveTo>
                    <a:pt x="93179" y="554748"/>
                  </a:moveTo>
                  <a:lnTo>
                    <a:pt x="87782" y="549275"/>
                  </a:lnTo>
                  <a:lnTo>
                    <a:pt x="87782" y="576821"/>
                  </a:lnTo>
                  <a:lnTo>
                    <a:pt x="93179" y="576821"/>
                  </a:lnTo>
                  <a:lnTo>
                    <a:pt x="93179" y="554748"/>
                  </a:lnTo>
                  <a:close/>
                </a:path>
                <a:path w="663575" h="664845">
                  <a:moveTo>
                    <a:pt x="93179" y="516305"/>
                  </a:moveTo>
                  <a:lnTo>
                    <a:pt x="87782" y="510908"/>
                  </a:lnTo>
                  <a:lnTo>
                    <a:pt x="87782" y="538264"/>
                  </a:lnTo>
                  <a:lnTo>
                    <a:pt x="93179" y="538264"/>
                  </a:lnTo>
                  <a:lnTo>
                    <a:pt x="93179" y="516305"/>
                  </a:lnTo>
                  <a:close/>
                </a:path>
                <a:path w="663575" h="664845">
                  <a:moveTo>
                    <a:pt x="93179" y="477926"/>
                  </a:moveTo>
                  <a:lnTo>
                    <a:pt x="87782" y="472313"/>
                  </a:lnTo>
                  <a:lnTo>
                    <a:pt x="87782" y="499884"/>
                  </a:lnTo>
                  <a:lnTo>
                    <a:pt x="93179" y="499884"/>
                  </a:lnTo>
                  <a:lnTo>
                    <a:pt x="93179" y="477926"/>
                  </a:lnTo>
                  <a:close/>
                </a:path>
                <a:path w="663575" h="664845">
                  <a:moveTo>
                    <a:pt x="93179" y="439331"/>
                  </a:moveTo>
                  <a:lnTo>
                    <a:pt x="87782" y="433933"/>
                  </a:lnTo>
                  <a:lnTo>
                    <a:pt x="87782" y="461441"/>
                  </a:lnTo>
                  <a:lnTo>
                    <a:pt x="93179" y="461441"/>
                  </a:lnTo>
                  <a:lnTo>
                    <a:pt x="93179" y="439331"/>
                  </a:lnTo>
                  <a:close/>
                </a:path>
                <a:path w="663575" h="664845">
                  <a:moveTo>
                    <a:pt x="93179" y="400964"/>
                  </a:moveTo>
                  <a:lnTo>
                    <a:pt x="87782" y="395554"/>
                  </a:lnTo>
                  <a:lnTo>
                    <a:pt x="87782" y="422846"/>
                  </a:lnTo>
                  <a:lnTo>
                    <a:pt x="93179" y="422846"/>
                  </a:lnTo>
                  <a:lnTo>
                    <a:pt x="93179" y="400964"/>
                  </a:lnTo>
                  <a:close/>
                </a:path>
                <a:path w="663575" h="664845">
                  <a:moveTo>
                    <a:pt x="93179" y="362585"/>
                  </a:moveTo>
                  <a:lnTo>
                    <a:pt x="87782" y="357111"/>
                  </a:lnTo>
                  <a:lnTo>
                    <a:pt x="87782" y="384467"/>
                  </a:lnTo>
                  <a:lnTo>
                    <a:pt x="93179" y="384467"/>
                  </a:lnTo>
                  <a:lnTo>
                    <a:pt x="93179" y="362585"/>
                  </a:lnTo>
                  <a:close/>
                </a:path>
                <a:path w="663575" h="664845">
                  <a:moveTo>
                    <a:pt x="93179" y="324205"/>
                  </a:moveTo>
                  <a:lnTo>
                    <a:pt x="87782" y="324205"/>
                  </a:lnTo>
                  <a:lnTo>
                    <a:pt x="87782" y="346100"/>
                  </a:lnTo>
                  <a:lnTo>
                    <a:pt x="93179" y="346100"/>
                  </a:lnTo>
                  <a:lnTo>
                    <a:pt x="93179" y="324205"/>
                  </a:lnTo>
                  <a:close/>
                </a:path>
                <a:path w="663575" h="664845">
                  <a:moveTo>
                    <a:pt x="504355" y="16484"/>
                  </a:moveTo>
                  <a:lnTo>
                    <a:pt x="482485" y="16484"/>
                  </a:lnTo>
                  <a:lnTo>
                    <a:pt x="482485" y="22098"/>
                  </a:lnTo>
                  <a:lnTo>
                    <a:pt x="504355" y="22098"/>
                  </a:lnTo>
                  <a:lnTo>
                    <a:pt x="504355" y="16484"/>
                  </a:lnTo>
                  <a:close/>
                </a:path>
                <a:path w="663575" h="664845">
                  <a:moveTo>
                    <a:pt x="542785" y="16484"/>
                  </a:moveTo>
                  <a:lnTo>
                    <a:pt x="520839" y="16484"/>
                  </a:lnTo>
                  <a:lnTo>
                    <a:pt x="515442" y="16484"/>
                  </a:lnTo>
                  <a:lnTo>
                    <a:pt x="520839" y="22098"/>
                  </a:lnTo>
                  <a:lnTo>
                    <a:pt x="542785" y="22098"/>
                  </a:lnTo>
                  <a:lnTo>
                    <a:pt x="542785" y="16484"/>
                  </a:lnTo>
                  <a:close/>
                </a:path>
                <a:path w="663575" h="664845">
                  <a:moveTo>
                    <a:pt x="581126" y="16484"/>
                  </a:moveTo>
                  <a:lnTo>
                    <a:pt x="559181" y="16484"/>
                  </a:lnTo>
                  <a:lnTo>
                    <a:pt x="553783" y="16484"/>
                  </a:lnTo>
                  <a:lnTo>
                    <a:pt x="559181" y="22098"/>
                  </a:lnTo>
                  <a:lnTo>
                    <a:pt x="581126" y="22098"/>
                  </a:lnTo>
                  <a:lnTo>
                    <a:pt x="581126" y="16484"/>
                  </a:lnTo>
                  <a:close/>
                </a:path>
                <a:path w="663575" h="664845">
                  <a:moveTo>
                    <a:pt x="619480" y="16484"/>
                  </a:moveTo>
                  <a:lnTo>
                    <a:pt x="597611" y="16484"/>
                  </a:lnTo>
                  <a:lnTo>
                    <a:pt x="592137" y="16484"/>
                  </a:lnTo>
                  <a:lnTo>
                    <a:pt x="597611" y="22098"/>
                  </a:lnTo>
                  <a:lnTo>
                    <a:pt x="619480" y="22098"/>
                  </a:lnTo>
                  <a:lnTo>
                    <a:pt x="619480" y="16484"/>
                  </a:lnTo>
                  <a:close/>
                </a:path>
                <a:path w="663575" h="664845">
                  <a:moveTo>
                    <a:pt x="663295" y="22098"/>
                  </a:moveTo>
                  <a:lnTo>
                    <a:pt x="624941" y="0"/>
                  </a:lnTo>
                  <a:lnTo>
                    <a:pt x="624941" y="38595"/>
                  </a:lnTo>
                  <a:lnTo>
                    <a:pt x="663295" y="22098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037271" y="5233863"/>
              <a:ext cx="0" cy="675640"/>
            </a:xfrm>
            <a:custGeom>
              <a:avLst/>
              <a:gdLst/>
              <a:ahLst/>
              <a:cxnLst/>
              <a:rect l="l" t="t" r="r" b="b"/>
              <a:pathLst>
                <a:path w="0" h="675639">
                  <a:moveTo>
                    <a:pt x="0" y="0"/>
                  </a:moveTo>
                  <a:lnTo>
                    <a:pt x="0" y="675491"/>
                  </a:lnTo>
                </a:path>
              </a:pathLst>
            </a:custGeom>
            <a:ln w="5424">
              <a:solidFill>
                <a:srgbClr val="969696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034559" y="521190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24" y="0"/>
                  </a:moveTo>
                  <a:lnTo>
                    <a:pt x="0" y="0"/>
                  </a:lnTo>
                  <a:lnTo>
                    <a:pt x="0" y="5472"/>
                  </a:lnTo>
                  <a:lnTo>
                    <a:pt x="5424" y="5472"/>
                  </a:lnTo>
                  <a:lnTo>
                    <a:pt x="5424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034559" y="5912163"/>
              <a:ext cx="132080" cy="0"/>
            </a:xfrm>
            <a:custGeom>
              <a:avLst/>
              <a:gdLst/>
              <a:ahLst/>
              <a:cxnLst/>
              <a:rect l="l" t="t" r="r" b="b"/>
              <a:pathLst>
                <a:path w="132080" h="0">
                  <a:moveTo>
                    <a:pt x="0" y="0"/>
                  </a:moveTo>
                  <a:lnTo>
                    <a:pt x="131570" y="0"/>
                  </a:lnTo>
                </a:path>
              </a:pathLst>
            </a:custGeom>
            <a:ln w="5617">
              <a:solidFill>
                <a:srgbClr val="96969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714320" y="5211909"/>
              <a:ext cx="38735" cy="220345"/>
            </a:xfrm>
            <a:custGeom>
              <a:avLst/>
              <a:gdLst/>
              <a:ahLst/>
              <a:cxnLst/>
              <a:rect l="l" t="t" r="r" b="b"/>
              <a:pathLst>
                <a:path w="38735" h="220345">
                  <a:moveTo>
                    <a:pt x="21869" y="153784"/>
                  </a:moveTo>
                  <a:lnTo>
                    <a:pt x="16471" y="148386"/>
                  </a:lnTo>
                  <a:lnTo>
                    <a:pt x="16471" y="175679"/>
                  </a:lnTo>
                  <a:lnTo>
                    <a:pt x="21869" y="175679"/>
                  </a:lnTo>
                  <a:lnTo>
                    <a:pt x="21869" y="153784"/>
                  </a:lnTo>
                  <a:close/>
                </a:path>
                <a:path w="38735" h="220345">
                  <a:moveTo>
                    <a:pt x="21869" y="115417"/>
                  </a:moveTo>
                  <a:lnTo>
                    <a:pt x="16471" y="109943"/>
                  </a:lnTo>
                  <a:lnTo>
                    <a:pt x="16471" y="137299"/>
                  </a:lnTo>
                  <a:lnTo>
                    <a:pt x="21869" y="137299"/>
                  </a:lnTo>
                  <a:lnTo>
                    <a:pt x="21869" y="115417"/>
                  </a:lnTo>
                  <a:close/>
                </a:path>
                <a:path w="38735" h="220345">
                  <a:moveTo>
                    <a:pt x="21869" y="76974"/>
                  </a:moveTo>
                  <a:lnTo>
                    <a:pt x="16471" y="71348"/>
                  </a:lnTo>
                  <a:lnTo>
                    <a:pt x="16471" y="98933"/>
                  </a:lnTo>
                  <a:lnTo>
                    <a:pt x="21869" y="98933"/>
                  </a:lnTo>
                  <a:lnTo>
                    <a:pt x="21869" y="76974"/>
                  </a:lnTo>
                  <a:close/>
                </a:path>
                <a:path w="38735" h="220345">
                  <a:moveTo>
                    <a:pt x="21869" y="38442"/>
                  </a:moveTo>
                  <a:lnTo>
                    <a:pt x="16471" y="32981"/>
                  </a:lnTo>
                  <a:lnTo>
                    <a:pt x="16471" y="60553"/>
                  </a:lnTo>
                  <a:lnTo>
                    <a:pt x="21869" y="60553"/>
                  </a:lnTo>
                  <a:lnTo>
                    <a:pt x="21869" y="38442"/>
                  </a:lnTo>
                  <a:close/>
                </a:path>
                <a:path w="38735" h="220345">
                  <a:moveTo>
                    <a:pt x="21869" y="0"/>
                  </a:moveTo>
                  <a:lnTo>
                    <a:pt x="16471" y="0"/>
                  </a:lnTo>
                  <a:lnTo>
                    <a:pt x="16471" y="21958"/>
                  </a:lnTo>
                  <a:lnTo>
                    <a:pt x="21869" y="21958"/>
                  </a:lnTo>
                  <a:lnTo>
                    <a:pt x="21869" y="0"/>
                  </a:lnTo>
                  <a:close/>
                </a:path>
                <a:path w="38735" h="220345">
                  <a:moveTo>
                    <a:pt x="38341" y="181292"/>
                  </a:moveTo>
                  <a:lnTo>
                    <a:pt x="0" y="181292"/>
                  </a:lnTo>
                  <a:lnTo>
                    <a:pt x="21869" y="219735"/>
                  </a:lnTo>
                  <a:lnTo>
                    <a:pt x="38341" y="181292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598662" y="5428800"/>
              <a:ext cx="894080" cy="0"/>
            </a:xfrm>
            <a:custGeom>
              <a:avLst/>
              <a:gdLst/>
              <a:ahLst/>
              <a:cxnLst/>
              <a:rect l="l" t="t" r="r" b="b"/>
              <a:pathLst>
                <a:path w="894080" h="0">
                  <a:moveTo>
                    <a:pt x="0" y="0"/>
                  </a:moveTo>
                  <a:lnTo>
                    <a:pt x="893518" y="0"/>
                  </a:lnTo>
                </a:path>
              </a:pathLst>
            </a:custGeom>
            <a:ln w="5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478474" y="5409686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0" y="0"/>
                  </a:moveTo>
                  <a:lnTo>
                    <a:pt x="0" y="38373"/>
                  </a:lnTo>
                  <a:lnTo>
                    <a:pt x="38421" y="21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44139" y="5799540"/>
              <a:ext cx="372756" cy="137262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598662" y="5824143"/>
              <a:ext cx="570230" cy="0"/>
            </a:xfrm>
            <a:custGeom>
              <a:avLst/>
              <a:gdLst/>
              <a:ahLst/>
              <a:cxnLst/>
              <a:rect l="l" t="t" r="r" b="b"/>
              <a:pathLst>
                <a:path w="570230" h="0">
                  <a:moveTo>
                    <a:pt x="0" y="0"/>
                  </a:moveTo>
                  <a:lnTo>
                    <a:pt x="570092" y="0"/>
                  </a:lnTo>
                </a:path>
              </a:pathLst>
            </a:custGeom>
            <a:ln w="5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519300" y="5924226"/>
            <a:ext cx="28829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10">
                <a:latin typeface="Arial MT"/>
                <a:cs typeface="Arial MT"/>
              </a:rPr>
              <a:t>Add</a:t>
            </a:r>
            <a:r>
              <a:rPr dirty="0" sz="550" spc="-10">
                <a:latin typeface="Symbol"/>
                <a:cs typeface="Symbol"/>
              </a:rPr>
              <a:t></a:t>
            </a:r>
            <a:r>
              <a:rPr dirty="0" sz="550" spc="-10">
                <a:latin typeface="Arial MT"/>
                <a:cs typeface="Arial MT"/>
              </a:rPr>
              <a:t>Sub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2862157" y="5629353"/>
            <a:ext cx="488315" cy="38735"/>
            <a:chOff x="2862157" y="5629353"/>
            <a:chExt cx="488315" cy="38735"/>
          </a:xfrm>
        </p:grpSpPr>
        <p:sp>
          <p:nvSpPr>
            <p:cNvPr id="30" name="object 30" descr=""/>
            <p:cNvSpPr/>
            <p:nvPr/>
          </p:nvSpPr>
          <p:spPr>
            <a:xfrm>
              <a:off x="2865015" y="5648468"/>
              <a:ext cx="461009" cy="0"/>
            </a:xfrm>
            <a:custGeom>
              <a:avLst/>
              <a:gdLst/>
              <a:ahLst/>
              <a:cxnLst/>
              <a:rect l="l" t="t" r="r" b="b"/>
              <a:pathLst>
                <a:path w="461010" h="0">
                  <a:moveTo>
                    <a:pt x="0" y="0"/>
                  </a:moveTo>
                  <a:lnTo>
                    <a:pt x="460392" y="0"/>
                  </a:lnTo>
                </a:path>
              </a:pathLst>
            </a:custGeom>
            <a:ln w="5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311775" y="5629353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0" y="0"/>
                  </a:moveTo>
                  <a:lnTo>
                    <a:pt x="0" y="38447"/>
                  </a:lnTo>
                  <a:lnTo>
                    <a:pt x="38347" y="2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1541199" y="5748551"/>
            <a:ext cx="4889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50" i="1">
                <a:latin typeface="Arial"/>
                <a:cs typeface="Arial"/>
              </a:rPr>
              <a:t>y</a:t>
            </a:r>
            <a:endParaRPr sz="55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541199" y="5358606"/>
            <a:ext cx="4889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50" i="1">
                <a:latin typeface="Arial"/>
                <a:cs typeface="Arial"/>
              </a:rPr>
              <a:t>x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2467379" y="5299512"/>
            <a:ext cx="400685" cy="703580"/>
            <a:chOff x="2467379" y="5299512"/>
            <a:chExt cx="400685" cy="703580"/>
          </a:xfrm>
        </p:grpSpPr>
        <p:sp>
          <p:nvSpPr>
            <p:cNvPr id="35" name="object 35" descr=""/>
            <p:cNvSpPr/>
            <p:nvPr/>
          </p:nvSpPr>
          <p:spPr>
            <a:xfrm>
              <a:off x="2514052" y="5302369"/>
              <a:ext cx="351155" cy="697865"/>
            </a:xfrm>
            <a:custGeom>
              <a:avLst/>
              <a:gdLst/>
              <a:ahLst/>
              <a:cxnLst/>
              <a:rect l="l" t="t" r="r" b="b"/>
              <a:pathLst>
                <a:path w="351155" h="697864">
                  <a:moveTo>
                    <a:pt x="0" y="0"/>
                  </a:moveTo>
                  <a:lnTo>
                    <a:pt x="0" y="697669"/>
                  </a:lnTo>
                  <a:lnTo>
                    <a:pt x="350962" y="488798"/>
                  </a:lnTo>
                  <a:lnTo>
                    <a:pt x="350962" y="2032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514052" y="5302369"/>
              <a:ext cx="351155" cy="697865"/>
            </a:xfrm>
            <a:custGeom>
              <a:avLst/>
              <a:gdLst/>
              <a:ahLst/>
              <a:cxnLst/>
              <a:rect l="l" t="t" r="r" b="b"/>
              <a:pathLst>
                <a:path w="351155" h="697864">
                  <a:moveTo>
                    <a:pt x="0" y="697669"/>
                  </a:moveTo>
                  <a:lnTo>
                    <a:pt x="350962" y="488798"/>
                  </a:lnTo>
                  <a:lnTo>
                    <a:pt x="350962" y="203252"/>
                  </a:lnTo>
                  <a:lnTo>
                    <a:pt x="0" y="0"/>
                  </a:lnTo>
                  <a:lnTo>
                    <a:pt x="0" y="697669"/>
                  </a:lnTo>
                  <a:close/>
                </a:path>
              </a:pathLst>
            </a:custGeom>
            <a:ln w="54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470236" y="5516638"/>
              <a:ext cx="132080" cy="264160"/>
            </a:xfrm>
            <a:custGeom>
              <a:avLst/>
              <a:gdLst/>
              <a:ahLst/>
              <a:cxnLst/>
              <a:rect l="l" t="t" r="r" b="b"/>
              <a:pathLst>
                <a:path w="132080" h="264160">
                  <a:moveTo>
                    <a:pt x="0" y="0"/>
                  </a:moveTo>
                  <a:lnTo>
                    <a:pt x="0" y="263732"/>
                  </a:lnTo>
                  <a:lnTo>
                    <a:pt x="131592" y="1318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470236" y="5516638"/>
              <a:ext cx="132080" cy="264160"/>
            </a:xfrm>
            <a:custGeom>
              <a:avLst/>
              <a:gdLst/>
              <a:ahLst/>
              <a:cxnLst/>
              <a:rect l="l" t="t" r="r" b="b"/>
              <a:pathLst>
                <a:path w="132080" h="264160">
                  <a:moveTo>
                    <a:pt x="131592" y="131829"/>
                  </a:moveTo>
                  <a:lnTo>
                    <a:pt x="0" y="263732"/>
                  </a:lnTo>
                  <a:lnTo>
                    <a:pt x="0" y="0"/>
                  </a:lnTo>
                  <a:lnTo>
                    <a:pt x="131592" y="131829"/>
                  </a:lnTo>
                  <a:close/>
                </a:path>
              </a:pathLst>
            </a:custGeom>
            <a:ln w="5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514052" y="5560630"/>
              <a:ext cx="132080" cy="175895"/>
            </a:xfrm>
            <a:custGeom>
              <a:avLst/>
              <a:gdLst/>
              <a:ahLst/>
              <a:cxnLst/>
              <a:rect l="l" t="t" r="r" b="b"/>
              <a:pathLst>
                <a:path w="132080" h="175895">
                  <a:moveTo>
                    <a:pt x="0" y="175675"/>
                  </a:moveTo>
                  <a:lnTo>
                    <a:pt x="131592" y="87837"/>
                  </a:lnTo>
                </a:path>
                <a:path w="132080" h="175895">
                  <a:moveTo>
                    <a:pt x="131592" y="87837"/>
                  </a:moveTo>
                  <a:lnTo>
                    <a:pt x="0" y="0"/>
                  </a:lnTo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2654029" y="5594761"/>
            <a:ext cx="20129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10">
                <a:latin typeface="Arial MT"/>
                <a:cs typeface="Arial MT"/>
              </a:rPr>
              <a:t>Adder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2654029" y="5792392"/>
            <a:ext cx="78740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25">
                <a:latin typeface="Arial MT"/>
                <a:cs typeface="Arial MT"/>
              </a:rPr>
              <a:t>32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2654029" y="5391582"/>
            <a:ext cx="4889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50" i="1">
                <a:latin typeface="Arial"/>
                <a:cs typeface="Arial"/>
              </a:rPr>
              <a:t>c</a:t>
            </a:r>
            <a:endParaRPr sz="550">
              <a:latin typeface="Arial"/>
              <a:cs typeface="Arial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2697845" y="5435423"/>
            <a:ext cx="4635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50">
                <a:latin typeface="Arial MT"/>
                <a:cs typeface="Arial MT"/>
              </a:rPr>
              <a:t>0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2412788" y="5759416"/>
            <a:ext cx="43180" cy="164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ts val="530"/>
              </a:lnSpc>
              <a:spcBef>
                <a:spcPts val="125"/>
              </a:spcBef>
            </a:pPr>
            <a:r>
              <a:rPr dirty="0" sz="450" spc="-50" i="1">
                <a:latin typeface="Arial"/>
                <a:cs typeface="Arial"/>
              </a:rPr>
              <a:t>k</a:t>
            </a:r>
            <a:endParaRPr sz="450">
              <a:latin typeface="Arial"/>
              <a:cs typeface="Arial"/>
            </a:endParaRPr>
          </a:p>
          <a:p>
            <a:pPr>
              <a:lnSpc>
                <a:spcPts val="530"/>
              </a:lnSpc>
            </a:pPr>
            <a:r>
              <a:rPr dirty="0" sz="450" spc="-50">
                <a:latin typeface="Arial MT"/>
                <a:cs typeface="Arial MT"/>
              </a:rPr>
              <a:t>/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45" name="object 45" descr=""/>
          <p:cNvSpPr/>
          <p:nvPr/>
        </p:nvSpPr>
        <p:spPr>
          <a:xfrm>
            <a:off x="2511428" y="4816561"/>
            <a:ext cx="351155" cy="1664335"/>
          </a:xfrm>
          <a:custGeom>
            <a:avLst/>
            <a:gdLst/>
            <a:ahLst/>
            <a:cxnLst/>
            <a:rect l="l" t="t" r="r" b="b"/>
            <a:pathLst>
              <a:path w="351155" h="1664335">
                <a:moveTo>
                  <a:pt x="0" y="263513"/>
                </a:moveTo>
                <a:lnTo>
                  <a:pt x="350926" y="263513"/>
                </a:lnTo>
                <a:lnTo>
                  <a:pt x="350926" y="0"/>
                </a:lnTo>
                <a:lnTo>
                  <a:pt x="0" y="0"/>
                </a:lnTo>
                <a:lnTo>
                  <a:pt x="0" y="263513"/>
                </a:lnTo>
                <a:close/>
              </a:path>
              <a:path w="351155" h="1664335">
                <a:moveTo>
                  <a:pt x="0" y="1664024"/>
                </a:moveTo>
                <a:lnTo>
                  <a:pt x="350926" y="1664024"/>
                </a:lnTo>
                <a:lnTo>
                  <a:pt x="350926" y="1400510"/>
                </a:lnTo>
                <a:lnTo>
                  <a:pt x="0" y="1400510"/>
                </a:lnTo>
                <a:lnTo>
                  <a:pt x="0" y="1664024"/>
                </a:lnTo>
                <a:close/>
              </a:path>
            </a:pathLst>
          </a:custGeom>
          <a:ln w="54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 txBox="1"/>
          <p:nvPr/>
        </p:nvSpPr>
        <p:spPr>
          <a:xfrm>
            <a:off x="2604672" y="6259250"/>
            <a:ext cx="180340" cy="19367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27305" marR="5080" indent="-27940">
              <a:lnSpc>
                <a:spcPts val="650"/>
              </a:lnSpc>
              <a:spcBef>
                <a:spcPts val="140"/>
              </a:spcBef>
            </a:pPr>
            <a:r>
              <a:rPr dirty="0" sz="550" spc="-10">
                <a:latin typeface="Arial MT"/>
                <a:cs typeface="Arial MT"/>
              </a:rPr>
              <a:t>Logic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unit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1804348" y="4728347"/>
            <a:ext cx="1896745" cy="1730375"/>
            <a:chOff x="1804348" y="4728347"/>
            <a:chExt cx="1896745" cy="1730375"/>
          </a:xfrm>
        </p:grpSpPr>
        <p:sp>
          <p:nvSpPr>
            <p:cNvPr id="48" name="object 48" descr=""/>
            <p:cNvSpPr/>
            <p:nvPr/>
          </p:nvSpPr>
          <p:spPr>
            <a:xfrm>
              <a:off x="2996535" y="5214531"/>
              <a:ext cx="526415" cy="697865"/>
            </a:xfrm>
            <a:custGeom>
              <a:avLst/>
              <a:gdLst/>
              <a:ahLst/>
              <a:cxnLst/>
              <a:rect l="l" t="t" r="r" b="b"/>
              <a:pathLst>
                <a:path w="526414" h="697864">
                  <a:moveTo>
                    <a:pt x="350743" y="697450"/>
                  </a:moveTo>
                  <a:lnTo>
                    <a:pt x="526152" y="521774"/>
                  </a:lnTo>
                  <a:lnTo>
                    <a:pt x="526152" y="170277"/>
                  </a:lnTo>
                  <a:lnTo>
                    <a:pt x="350743" y="0"/>
                  </a:lnTo>
                  <a:lnTo>
                    <a:pt x="350743" y="697450"/>
                  </a:lnTo>
                  <a:close/>
                </a:path>
                <a:path w="526414" h="697864">
                  <a:moveTo>
                    <a:pt x="0" y="87837"/>
                  </a:moveTo>
                  <a:lnTo>
                    <a:pt x="328872" y="87837"/>
                  </a:lnTo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311775" y="5283254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0" y="0"/>
                  </a:moveTo>
                  <a:lnTo>
                    <a:pt x="0" y="38594"/>
                  </a:lnTo>
                  <a:lnTo>
                    <a:pt x="38347" y="16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127982" y="5648468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5" h="0">
                  <a:moveTo>
                    <a:pt x="0" y="0"/>
                  </a:moveTo>
                  <a:lnTo>
                    <a:pt x="197425" y="0"/>
                  </a:lnTo>
                </a:path>
              </a:pathLst>
            </a:custGeom>
            <a:ln w="5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311775" y="5629353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0" y="0"/>
                  </a:moveTo>
                  <a:lnTo>
                    <a:pt x="0" y="38447"/>
                  </a:lnTo>
                  <a:lnTo>
                    <a:pt x="38347" y="2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952573" y="5824144"/>
              <a:ext cx="373380" cy="0"/>
            </a:xfrm>
            <a:custGeom>
              <a:avLst/>
              <a:gdLst/>
              <a:ahLst/>
              <a:cxnLst/>
              <a:rect l="l" t="t" r="r" b="b"/>
              <a:pathLst>
                <a:path w="373379" h="0">
                  <a:moveTo>
                    <a:pt x="0" y="0"/>
                  </a:moveTo>
                  <a:lnTo>
                    <a:pt x="372834" y="0"/>
                  </a:lnTo>
                </a:path>
              </a:pathLst>
            </a:custGeom>
            <a:ln w="5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311775" y="5805029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0" y="0"/>
                  </a:moveTo>
                  <a:lnTo>
                    <a:pt x="0" y="38446"/>
                  </a:lnTo>
                  <a:lnTo>
                    <a:pt x="38347" y="22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817828" y="4950872"/>
              <a:ext cx="674370" cy="1313180"/>
            </a:xfrm>
            <a:custGeom>
              <a:avLst/>
              <a:gdLst/>
              <a:ahLst/>
              <a:cxnLst/>
              <a:rect l="l" t="t" r="r" b="b"/>
              <a:pathLst>
                <a:path w="674369" h="1313179">
                  <a:moveTo>
                    <a:pt x="0" y="477928"/>
                  </a:moveTo>
                  <a:lnTo>
                    <a:pt x="0" y="0"/>
                  </a:lnTo>
                </a:path>
                <a:path w="674369" h="1313179">
                  <a:moveTo>
                    <a:pt x="0" y="1312658"/>
                  </a:moveTo>
                  <a:lnTo>
                    <a:pt x="674352" y="1312658"/>
                  </a:lnTo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478474" y="6244423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0" y="0"/>
                  </a:moveTo>
                  <a:lnTo>
                    <a:pt x="0" y="38578"/>
                  </a:lnTo>
                  <a:lnTo>
                    <a:pt x="38421" y="220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817828" y="4950872"/>
              <a:ext cx="153670" cy="0"/>
            </a:xfrm>
            <a:custGeom>
              <a:avLst/>
              <a:gdLst/>
              <a:ahLst/>
              <a:cxnLst/>
              <a:rect l="l" t="t" r="r" b="b"/>
              <a:pathLst>
                <a:path w="153669" h="0">
                  <a:moveTo>
                    <a:pt x="0" y="0"/>
                  </a:moveTo>
                  <a:lnTo>
                    <a:pt x="153471" y="0"/>
                  </a:lnTo>
                </a:path>
              </a:pathLst>
            </a:custGeom>
            <a:ln w="5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957819" y="4931757"/>
              <a:ext cx="33020" cy="38735"/>
            </a:xfrm>
            <a:custGeom>
              <a:avLst/>
              <a:gdLst/>
              <a:ahLst/>
              <a:cxnLst/>
              <a:rect l="l" t="t" r="r" b="b"/>
              <a:pathLst>
                <a:path w="33019" h="38735">
                  <a:moveTo>
                    <a:pt x="0" y="0"/>
                  </a:moveTo>
                  <a:lnTo>
                    <a:pt x="0" y="38592"/>
                  </a:lnTo>
                  <a:lnTo>
                    <a:pt x="32938" y="16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817828" y="5428800"/>
              <a:ext cx="0" cy="835025"/>
            </a:xfrm>
            <a:custGeom>
              <a:avLst/>
              <a:gdLst/>
              <a:ahLst/>
              <a:cxnLst/>
              <a:rect l="l" t="t" r="r" b="b"/>
              <a:pathLst>
                <a:path w="0" h="835025">
                  <a:moveTo>
                    <a:pt x="0" y="0"/>
                  </a:moveTo>
                  <a:lnTo>
                    <a:pt x="0" y="834729"/>
                  </a:lnTo>
                </a:path>
              </a:pathLst>
            </a:custGeom>
            <a:ln w="5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804348" y="541515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20">
                  <a:moveTo>
                    <a:pt x="27324" y="0"/>
                  </a:moveTo>
                  <a:lnTo>
                    <a:pt x="5430" y="0"/>
                  </a:lnTo>
                  <a:lnTo>
                    <a:pt x="0" y="5398"/>
                  </a:lnTo>
                  <a:lnTo>
                    <a:pt x="0" y="16487"/>
                  </a:lnTo>
                  <a:lnTo>
                    <a:pt x="0" y="27504"/>
                  </a:lnTo>
                  <a:lnTo>
                    <a:pt x="5430" y="32901"/>
                  </a:lnTo>
                  <a:lnTo>
                    <a:pt x="27324" y="32901"/>
                  </a:lnTo>
                  <a:lnTo>
                    <a:pt x="32755" y="27504"/>
                  </a:lnTo>
                  <a:lnTo>
                    <a:pt x="32755" y="5398"/>
                  </a:lnTo>
                  <a:lnTo>
                    <a:pt x="273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905605" y="5824144"/>
              <a:ext cx="0" cy="615315"/>
            </a:xfrm>
            <a:custGeom>
              <a:avLst/>
              <a:gdLst/>
              <a:ahLst/>
              <a:cxnLst/>
              <a:rect l="l" t="t" r="r" b="b"/>
              <a:pathLst>
                <a:path w="0" h="615314">
                  <a:moveTo>
                    <a:pt x="0" y="0"/>
                  </a:moveTo>
                  <a:lnTo>
                    <a:pt x="0" y="615244"/>
                  </a:lnTo>
                </a:path>
              </a:pathLst>
            </a:custGeom>
            <a:ln w="5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891943" y="581064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20">
                  <a:moveTo>
                    <a:pt x="27506" y="0"/>
                  </a:moveTo>
                  <a:lnTo>
                    <a:pt x="5607" y="0"/>
                  </a:lnTo>
                  <a:lnTo>
                    <a:pt x="0" y="5471"/>
                  </a:lnTo>
                  <a:lnTo>
                    <a:pt x="0" y="16488"/>
                  </a:lnTo>
                  <a:lnTo>
                    <a:pt x="0" y="27358"/>
                  </a:lnTo>
                  <a:lnTo>
                    <a:pt x="5607" y="32829"/>
                  </a:lnTo>
                  <a:lnTo>
                    <a:pt x="27506" y="32829"/>
                  </a:lnTo>
                  <a:lnTo>
                    <a:pt x="32938" y="27358"/>
                  </a:lnTo>
                  <a:lnTo>
                    <a:pt x="32938" y="5471"/>
                  </a:lnTo>
                  <a:lnTo>
                    <a:pt x="275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905605" y="6439388"/>
              <a:ext cx="586740" cy="0"/>
            </a:xfrm>
            <a:custGeom>
              <a:avLst/>
              <a:gdLst/>
              <a:ahLst/>
              <a:cxnLst/>
              <a:rect l="l" t="t" r="r" b="b"/>
              <a:pathLst>
                <a:path w="586739" h="0">
                  <a:moveTo>
                    <a:pt x="0" y="0"/>
                  </a:moveTo>
                  <a:lnTo>
                    <a:pt x="586575" y="0"/>
                  </a:lnTo>
                </a:path>
              </a:pathLst>
            </a:custGeom>
            <a:ln w="5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478474" y="6420281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0" y="0"/>
                  </a:moveTo>
                  <a:lnTo>
                    <a:pt x="0" y="38396"/>
                  </a:lnTo>
                  <a:lnTo>
                    <a:pt x="38421" y="21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817828" y="4731204"/>
              <a:ext cx="307340" cy="264160"/>
            </a:xfrm>
            <a:custGeom>
              <a:avLst/>
              <a:gdLst/>
              <a:ahLst/>
              <a:cxnLst/>
              <a:rect l="l" t="t" r="r" b="b"/>
              <a:pathLst>
                <a:path w="307339" h="264160">
                  <a:moveTo>
                    <a:pt x="175554" y="263659"/>
                  </a:moveTo>
                  <a:lnTo>
                    <a:pt x="306950" y="197781"/>
                  </a:lnTo>
                  <a:lnTo>
                    <a:pt x="306950" y="65878"/>
                  </a:lnTo>
                  <a:lnTo>
                    <a:pt x="175554" y="0"/>
                  </a:lnTo>
                  <a:lnTo>
                    <a:pt x="175554" y="263659"/>
                  </a:lnTo>
                  <a:close/>
                </a:path>
                <a:path w="307339" h="264160">
                  <a:moveTo>
                    <a:pt x="0" y="43991"/>
                  </a:moveTo>
                  <a:lnTo>
                    <a:pt x="153471" y="43991"/>
                  </a:lnTo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957819" y="4756082"/>
              <a:ext cx="33020" cy="38735"/>
            </a:xfrm>
            <a:custGeom>
              <a:avLst/>
              <a:gdLst/>
              <a:ahLst/>
              <a:cxnLst/>
              <a:rect l="l" t="t" r="r" b="b"/>
              <a:pathLst>
                <a:path w="33019" h="38735">
                  <a:moveTo>
                    <a:pt x="0" y="0"/>
                  </a:moveTo>
                  <a:lnTo>
                    <a:pt x="0" y="38373"/>
                  </a:lnTo>
                  <a:lnTo>
                    <a:pt x="32938" y="164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124778" y="4863034"/>
              <a:ext cx="367665" cy="0"/>
            </a:xfrm>
            <a:custGeom>
              <a:avLst/>
              <a:gdLst/>
              <a:ahLst/>
              <a:cxnLst/>
              <a:rect l="l" t="t" r="r" b="b"/>
              <a:pathLst>
                <a:path w="367664" h="0">
                  <a:moveTo>
                    <a:pt x="0" y="0"/>
                  </a:moveTo>
                  <a:lnTo>
                    <a:pt x="367402" y="0"/>
                  </a:lnTo>
                </a:path>
              </a:pathLst>
            </a:custGeom>
            <a:ln w="5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478474" y="4843919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0" y="0"/>
                  </a:moveTo>
                  <a:lnTo>
                    <a:pt x="0" y="38592"/>
                  </a:lnTo>
                  <a:lnTo>
                    <a:pt x="38421" y="16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905605" y="5038855"/>
              <a:ext cx="586740" cy="829944"/>
            </a:xfrm>
            <a:custGeom>
              <a:avLst/>
              <a:gdLst/>
              <a:ahLst/>
              <a:cxnLst/>
              <a:rect l="l" t="t" r="r" b="b"/>
              <a:pathLst>
                <a:path w="586739" h="829945">
                  <a:moveTo>
                    <a:pt x="0" y="829352"/>
                  </a:moveTo>
                  <a:lnTo>
                    <a:pt x="0" y="0"/>
                  </a:lnTo>
                </a:path>
                <a:path w="586739" h="829945">
                  <a:moveTo>
                    <a:pt x="0" y="0"/>
                  </a:moveTo>
                  <a:lnTo>
                    <a:pt x="586575" y="0"/>
                  </a:lnTo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2478474" y="5019814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0" y="0"/>
                  </a:moveTo>
                  <a:lnTo>
                    <a:pt x="0" y="38374"/>
                  </a:lnTo>
                  <a:lnTo>
                    <a:pt x="38421" y="164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2865015" y="4950872"/>
              <a:ext cx="811530" cy="1400810"/>
            </a:xfrm>
            <a:custGeom>
              <a:avLst/>
              <a:gdLst/>
              <a:ahLst/>
              <a:cxnLst/>
              <a:rect l="l" t="t" r="r" b="b"/>
              <a:pathLst>
                <a:path w="811529" h="1400810">
                  <a:moveTo>
                    <a:pt x="0" y="0"/>
                  </a:moveTo>
                  <a:lnTo>
                    <a:pt x="131519" y="0"/>
                  </a:lnTo>
                </a:path>
                <a:path w="811529" h="1400810">
                  <a:moveTo>
                    <a:pt x="131519" y="0"/>
                  </a:moveTo>
                  <a:lnTo>
                    <a:pt x="131519" y="351497"/>
                  </a:lnTo>
                </a:path>
                <a:path w="811529" h="1400810">
                  <a:moveTo>
                    <a:pt x="87558" y="873271"/>
                  </a:moveTo>
                  <a:lnTo>
                    <a:pt x="87558" y="1400495"/>
                  </a:lnTo>
                </a:path>
                <a:path w="811529" h="1400810">
                  <a:moveTo>
                    <a:pt x="0" y="1400495"/>
                  </a:moveTo>
                  <a:lnTo>
                    <a:pt x="87558" y="1400495"/>
                  </a:lnTo>
                </a:path>
                <a:path w="811529" h="1400810">
                  <a:moveTo>
                    <a:pt x="657672" y="609758"/>
                  </a:moveTo>
                  <a:lnTo>
                    <a:pt x="811136" y="609758"/>
                  </a:lnTo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662664" y="5541516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0" y="0"/>
                  </a:moveTo>
                  <a:lnTo>
                    <a:pt x="0" y="38446"/>
                  </a:lnTo>
                  <a:lnTo>
                    <a:pt x="38347" y="21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3728351" y="5484818"/>
            <a:ext cx="4889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50" i="1">
                <a:latin typeface="Arial"/>
                <a:cs typeface="Arial"/>
              </a:rPr>
              <a:t>s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73" name="object 73" descr=""/>
          <p:cNvGrpSpPr/>
          <p:nvPr/>
        </p:nvGrpSpPr>
        <p:grpSpPr>
          <a:xfrm>
            <a:off x="1593180" y="5898484"/>
            <a:ext cx="1115695" cy="702945"/>
            <a:chOff x="1593180" y="5898484"/>
            <a:chExt cx="1115695" cy="702945"/>
          </a:xfrm>
        </p:grpSpPr>
        <p:sp>
          <p:nvSpPr>
            <p:cNvPr id="74" name="object 74" descr=""/>
            <p:cNvSpPr/>
            <p:nvPr/>
          </p:nvSpPr>
          <p:spPr>
            <a:xfrm>
              <a:off x="1596038" y="5912163"/>
              <a:ext cx="438784" cy="0"/>
            </a:xfrm>
            <a:custGeom>
              <a:avLst/>
              <a:gdLst/>
              <a:ahLst/>
              <a:cxnLst/>
              <a:rect l="l" t="t" r="r" b="b"/>
              <a:pathLst>
                <a:path w="438785" h="0">
                  <a:moveTo>
                    <a:pt x="0" y="0"/>
                  </a:moveTo>
                  <a:lnTo>
                    <a:pt x="438520" y="0"/>
                  </a:lnTo>
                </a:path>
              </a:pathLst>
            </a:custGeom>
            <a:ln w="5617">
              <a:solidFill>
                <a:srgbClr val="969696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023503" y="5898484"/>
              <a:ext cx="685800" cy="702945"/>
            </a:xfrm>
            <a:custGeom>
              <a:avLst/>
              <a:gdLst/>
              <a:ahLst/>
              <a:cxnLst/>
              <a:rect l="l" t="t" r="r" b="b"/>
              <a:pathLst>
                <a:path w="685800" h="702945">
                  <a:moveTo>
                    <a:pt x="32943" y="5473"/>
                  </a:moveTo>
                  <a:lnTo>
                    <a:pt x="27520" y="0"/>
                  </a:lnTo>
                  <a:lnTo>
                    <a:pt x="5613" y="0"/>
                  </a:lnTo>
                  <a:lnTo>
                    <a:pt x="0" y="5473"/>
                  </a:lnTo>
                  <a:lnTo>
                    <a:pt x="0" y="16497"/>
                  </a:lnTo>
                  <a:lnTo>
                    <a:pt x="0" y="27368"/>
                  </a:lnTo>
                  <a:lnTo>
                    <a:pt x="5613" y="32981"/>
                  </a:lnTo>
                  <a:lnTo>
                    <a:pt x="27520" y="32981"/>
                  </a:lnTo>
                  <a:lnTo>
                    <a:pt x="32943" y="27368"/>
                  </a:lnTo>
                  <a:lnTo>
                    <a:pt x="32943" y="5473"/>
                  </a:lnTo>
                  <a:close/>
                </a:path>
                <a:path w="685800" h="702945">
                  <a:moveTo>
                    <a:pt x="668947" y="680986"/>
                  </a:moveTo>
                  <a:lnTo>
                    <a:pt x="663321" y="675563"/>
                  </a:lnTo>
                  <a:lnTo>
                    <a:pt x="663321" y="702906"/>
                  </a:lnTo>
                  <a:lnTo>
                    <a:pt x="668947" y="702906"/>
                  </a:lnTo>
                  <a:lnTo>
                    <a:pt x="668947" y="680986"/>
                  </a:lnTo>
                  <a:close/>
                </a:path>
                <a:path w="685800" h="702945">
                  <a:moveTo>
                    <a:pt x="668947" y="642607"/>
                  </a:moveTo>
                  <a:lnTo>
                    <a:pt x="663321" y="637171"/>
                  </a:lnTo>
                  <a:lnTo>
                    <a:pt x="663321" y="664514"/>
                  </a:lnTo>
                  <a:lnTo>
                    <a:pt x="668947" y="664514"/>
                  </a:lnTo>
                  <a:lnTo>
                    <a:pt x="668947" y="642607"/>
                  </a:lnTo>
                  <a:close/>
                </a:path>
                <a:path w="685800" h="702945">
                  <a:moveTo>
                    <a:pt x="685203" y="620687"/>
                  </a:moveTo>
                  <a:lnTo>
                    <a:pt x="668947" y="587730"/>
                  </a:lnTo>
                  <a:lnTo>
                    <a:pt x="646849" y="620687"/>
                  </a:lnTo>
                  <a:lnTo>
                    <a:pt x="663321" y="620687"/>
                  </a:lnTo>
                  <a:lnTo>
                    <a:pt x="663321" y="626122"/>
                  </a:lnTo>
                  <a:lnTo>
                    <a:pt x="668947" y="626122"/>
                  </a:lnTo>
                  <a:lnTo>
                    <a:pt x="668947" y="620687"/>
                  </a:lnTo>
                  <a:lnTo>
                    <a:pt x="685203" y="620687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 txBox="1"/>
          <p:nvPr/>
        </p:nvSpPr>
        <p:spPr>
          <a:xfrm>
            <a:off x="2176985" y="4743376"/>
            <a:ext cx="266065" cy="2298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r" marR="13335">
              <a:lnSpc>
                <a:spcPct val="100000"/>
              </a:lnSpc>
              <a:spcBef>
                <a:spcPts val="110"/>
              </a:spcBef>
            </a:pPr>
            <a:r>
              <a:rPr dirty="0" sz="550" spc="-10">
                <a:latin typeface="Arial MT"/>
                <a:cs typeface="Arial MT"/>
              </a:rPr>
              <a:t>Amount</a:t>
            </a:r>
            <a:endParaRPr sz="55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390"/>
              </a:spcBef>
            </a:pPr>
            <a:r>
              <a:rPr dirty="0" sz="450" spc="-50">
                <a:latin typeface="Arial MT"/>
                <a:cs typeface="Arial MT"/>
              </a:rPr>
              <a:t>5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77" name="object 77" descr=""/>
          <p:cNvSpPr/>
          <p:nvPr/>
        </p:nvSpPr>
        <p:spPr>
          <a:xfrm>
            <a:off x="2672984" y="6527226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0" y="43824"/>
                </a:moveTo>
                <a:lnTo>
                  <a:pt x="43961" y="0"/>
                </a:lnTo>
              </a:path>
            </a:pathLst>
          </a:custGeom>
          <a:ln w="54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 txBox="1"/>
          <p:nvPr/>
        </p:nvSpPr>
        <p:spPr>
          <a:xfrm>
            <a:off x="2434732" y="6482154"/>
            <a:ext cx="456565" cy="21272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84480">
              <a:lnSpc>
                <a:spcPct val="100000"/>
              </a:lnSpc>
              <a:spcBef>
                <a:spcPts val="229"/>
              </a:spcBef>
            </a:pPr>
            <a:r>
              <a:rPr dirty="0" sz="450" spc="-50">
                <a:latin typeface="Arial MT"/>
                <a:cs typeface="Arial MT"/>
              </a:rPr>
              <a:t>2</a:t>
            </a:r>
            <a:endParaRPr sz="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550">
                <a:latin typeface="Arial MT"/>
                <a:cs typeface="Arial MT"/>
              </a:rPr>
              <a:t>Logic</a:t>
            </a:r>
            <a:r>
              <a:rPr dirty="0" sz="550" spc="25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function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1563098" y="4655572"/>
            <a:ext cx="283210" cy="1816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20"/>
              </a:spcBef>
            </a:pPr>
            <a:r>
              <a:rPr dirty="0" sz="500" spc="-10">
                <a:latin typeface="Arial MT"/>
                <a:cs typeface="Arial MT"/>
              </a:rPr>
              <a:t>Constant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amount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80" name="object 80" descr=""/>
          <p:cNvGrpSpPr/>
          <p:nvPr/>
        </p:nvGrpSpPr>
        <p:grpSpPr>
          <a:xfrm>
            <a:off x="1902748" y="4684731"/>
            <a:ext cx="198120" cy="291465"/>
            <a:chOff x="1902748" y="4684731"/>
            <a:chExt cx="198120" cy="291465"/>
          </a:xfrm>
        </p:grpSpPr>
        <p:sp>
          <p:nvSpPr>
            <p:cNvPr id="81" name="object 81" descr=""/>
            <p:cNvSpPr/>
            <p:nvPr/>
          </p:nvSpPr>
          <p:spPr>
            <a:xfrm>
              <a:off x="1905605" y="4753309"/>
              <a:ext cx="43815" cy="219710"/>
            </a:xfrm>
            <a:custGeom>
              <a:avLst/>
              <a:gdLst/>
              <a:ahLst/>
              <a:cxnLst/>
              <a:rect l="l" t="t" r="r" b="b"/>
              <a:pathLst>
                <a:path w="43814" h="219710">
                  <a:moveTo>
                    <a:pt x="43801" y="0"/>
                  </a:moveTo>
                  <a:lnTo>
                    <a:pt x="0" y="43773"/>
                  </a:lnTo>
                </a:path>
                <a:path w="43814" h="219710">
                  <a:moveTo>
                    <a:pt x="43801" y="175675"/>
                  </a:moveTo>
                  <a:lnTo>
                    <a:pt x="0" y="219667"/>
                  </a:lnTo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2061883" y="4684732"/>
              <a:ext cx="38735" cy="88265"/>
            </a:xfrm>
            <a:custGeom>
              <a:avLst/>
              <a:gdLst/>
              <a:ahLst/>
              <a:cxnLst/>
              <a:rect l="l" t="t" r="r" b="b"/>
              <a:pathLst>
                <a:path w="38735" h="88264">
                  <a:moveTo>
                    <a:pt x="21894" y="0"/>
                  </a:moveTo>
                  <a:lnTo>
                    <a:pt x="16459" y="0"/>
                  </a:lnTo>
                  <a:lnTo>
                    <a:pt x="16459" y="21894"/>
                  </a:lnTo>
                  <a:lnTo>
                    <a:pt x="21894" y="21894"/>
                  </a:lnTo>
                  <a:lnTo>
                    <a:pt x="21894" y="0"/>
                  </a:lnTo>
                  <a:close/>
                </a:path>
                <a:path w="38735" h="88264">
                  <a:moveTo>
                    <a:pt x="38366" y="54864"/>
                  </a:moveTo>
                  <a:lnTo>
                    <a:pt x="21894" y="54864"/>
                  </a:lnTo>
                  <a:lnTo>
                    <a:pt x="21894" y="38379"/>
                  </a:lnTo>
                  <a:lnTo>
                    <a:pt x="16459" y="32981"/>
                  </a:lnTo>
                  <a:lnTo>
                    <a:pt x="16459" y="54864"/>
                  </a:lnTo>
                  <a:lnTo>
                    <a:pt x="0" y="54864"/>
                  </a:lnTo>
                  <a:lnTo>
                    <a:pt x="16459" y="87845"/>
                  </a:lnTo>
                  <a:lnTo>
                    <a:pt x="38366" y="54864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 descr=""/>
          <p:cNvSpPr txBox="1"/>
          <p:nvPr/>
        </p:nvSpPr>
        <p:spPr>
          <a:xfrm>
            <a:off x="1913843" y="4567700"/>
            <a:ext cx="33274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10">
                <a:latin typeface="Arial MT"/>
                <a:cs typeface="Arial MT"/>
              </a:rPr>
              <a:t>Const</a:t>
            </a:r>
            <a:r>
              <a:rPr dirty="0" sz="550" spc="-10">
                <a:latin typeface="Symbol"/>
                <a:cs typeface="Symbol"/>
              </a:rPr>
              <a:t></a:t>
            </a:r>
            <a:r>
              <a:rPr dirty="0" sz="550" spc="-10">
                <a:latin typeface="Arial MT"/>
                <a:cs typeface="Arial MT"/>
              </a:rPr>
              <a:t>Var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1866543" y="4699380"/>
            <a:ext cx="207010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450">
                <a:latin typeface="Arial MT"/>
                <a:cs typeface="Arial MT"/>
              </a:rPr>
              <a:t>5</a:t>
            </a:r>
            <a:r>
              <a:rPr dirty="0" sz="450" spc="480">
                <a:latin typeface="Arial MT"/>
                <a:cs typeface="Arial MT"/>
              </a:rPr>
              <a:t> </a:t>
            </a:r>
            <a:r>
              <a:rPr dirty="0" baseline="-43209" sz="675" spc="-89">
                <a:latin typeface="Arial MT"/>
                <a:cs typeface="Arial MT"/>
              </a:rPr>
              <a:t>0</a:t>
            </a:r>
            <a:endParaRPr baseline="-43209" sz="675">
              <a:latin typeface="Arial MT"/>
              <a:cs typeface="Arial MT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1537698" y="4880639"/>
            <a:ext cx="535940" cy="1758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ts val="580"/>
              </a:lnSpc>
              <a:spcBef>
                <a:spcPts val="120"/>
              </a:spcBef>
            </a:pPr>
            <a:r>
              <a:rPr dirty="0" baseline="5555" sz="750">
                <a:latin typeface="Arial MT"/>
                <a:cs typeface="Arial MT"/>
              </a:rPr>
              <a:t>Variable</a:t>
            </a:r>
            <a:r>
              <a:rPr dirty="0" baseline="5555" sz="750" spc="307">
                <a:latin typeface="Arial MT"/>
                <a:cs typeface="Arial MT"/>
              </a:rPr>
              <a:t>  </a:t>
            </a:r>
            <a:r>
              <a:rPr dirty="0" baseline="12345" sz="675">
                <a:latin typeface="Arial MT"/>
                <a:cs typeface="Arial MT"/>
              </a:rPr>
              <a:t>5</a:t>
            </a:r>
            <a:r>
              <a:rPr dirty="0" baseline="12345" sz="675" spc="284">
                <a:latin typeface="Arial MT"/>
                <a:cs typeface="Arial MT"/>
              </a:rPr>
              <a:t>  </a:t>
            </a:r>
            <a:r>
              <a:rPr dirty="0" sz="450" spc="-50">
                <a:latin typeface="Arial MT"/>
                <a:cs typeface="Arial MT"/>
              </a:rPr>
              <a:t>1</a:t>
            </a:r>
            <a:endParaRPr sz="450">
              <a:latin typeface="Arial MT"/>
              <a:cs typeface="Arial MT"/>
            </a:endParaRPr>
          </a:p>
          <a:p>
            <a:pPr marL="25400">
              <a:lnSpc>
                <a:spcPts val="580"/>
              </a:lnSpc>
            </a:pPr>
            <a:r>
              <a:rPr dirty="0" sz="500" spc="-10">
                <a:latin typeface="Arial MT"/>
                <a:cs typeface="Arial MT"/>
              </a:rPr>
              <a:t>amount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3355736" y="5254130"/>
            <a:ext cx="4635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50">
                <a:latin typeface="Arial MT"/>
                <a:cs typeface="Arial MT"/>
              </a:rPr>
              <a:t>0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3355736" y="5429805"/>
            <a:ext cx="4635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50">
                <a:latin typeface="Arial MT"/>
                <a:cs typeface="Arial MT"/>
              </a:rPr>
              <a:t>1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3355736" y="5605627"/>
            <a:ext cx="4635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50">
                <a:latin typeface="Arial MT"/>
                <a:cs typeface="Arial MT"/>
              </a:rPr>
              <a:t>2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3355736" y="5775904"/>
            <a:ext cx="4635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50">
                <a:latin typeface="Arial MT"/>
                <a:cs typeface="Arial MT"/>
              </a:rPr>
              <a:t>3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90" name="object 90" descr=""/>
          <p:cNvGrpSpPr/>
          <p:nvPr/>
        </p:nvGrpSpPr>
        <p:grpSpPr>
          <a:xfrm>
            <a:off x="3410327" y="5124067"/>
            <a:ext cx="49530" cy="175895"/>
            <a:chOff x="3410327" y="5124067"/>
            <a:chExt cx="49530" cy="175895"/>
          </a:xfrm>
        </p:grpSpPr>
        <p:sp>
          <p:nvSpPr>
            <p:cNvPr id="91" name="object 91" descr=""/>
            <p:cNvSpPr/>
            <p:nvPr/>
          </p:nvSpPr>
          <p:spPr>
            <a:xfrm>
              <a:off x="3415944" y="5124076"/>
              <a:ext cx="38735" cy="175895"/>
            </a:xfrm>
            <a:custGeom>
              <a:avLst/>
              <a:gdLst/>
              <a:ahLst/>
              <a:cxnLst/>
              <a:rect l="l" t="t" r="r" b="b"/>
              <a:pathLst>
                <a:path w="38735" h="175895">
                  <a:moveTo>
                    <a:pt x="21945" y="115417"/>
                  </a:moveTo>
                  <a:lnTo>
                    <a:pt x="16484" y="109791"/>
                  </a:lnTo>
                  <a:lnTo>
                    <a:pt x="16484" y="137299"/>
                  </a:lnTo>
                  <a:lnTo>
                    <a:pt x="21945" y="137299"/>
                  </a:lnTo>
                  <a:lnTo>
                    <a:pt x="21945" y="115417"/>
                  </a:lnTo>
                  <a:close/>
                </a:path>
                <a:path w="38735" h="175895">
                  <a:moveTo>
                    <a:pt x="21945" y="76822"/>
                  </a:moveTo>
                  <a:lnTo>
                    <a:pt x="16484" y="71348"/>
                  </a:lnTo>
                  <a:lnTo>
                    <a:pt x="16484" y="98920"/>
                  </a:lnTo>
                  <a:lnTo>
                    <a:pt x="21945" y="98920"/>
                  </a:lnTo>
                  <a:lnTo>
                    <a:pt x="21945" y="76822"/>
                  </a:lnTo>
                  <a:close/>
                </a:path>
                <a:path w="38735" h="175895">
                  <a:moveTo>
                    <a:pt x="21945" y="38442"/>
                  </a:moveTo>
                  <a:lnTo>
                    <a:pt x="16484" y="32969"/>
                  </a:lnTo>
                  <a:lnTo>
                    <a:pt x="16484" y="60325"/>
                  </a:lnTo>
                  <a:lnTo>
                    <a:pt x="21945" y="60325"/>
                  </a:lnTo>
                  <a:lnTo>
                    <a:pt x="21945" y="38442"/>
                  </a:lnTo>
                  <a:close/>
                </a:path>
                <a:path w="38735" h="175895">
                  <a:moveTo>
                    <a:pt x="21945" y="0"/>
                  </a:moveTo>
                  <a:lnTo>
                    <a:pt x="16484" y="0"/>
                  </a:lnTo>
                  <a:lnTo>
                    <a:pt x="16484" y="21958"/>
                  </a:lnTo>
                  <a:lnTo>
                    <a:pt x="21945" y="21958"/>
                  </a:lnTo>
                  <a:lnTo>
                    <a:pt x="21945" y="0"/>
                  </a:lnTo>
                  <a:close/>
                </a:path>
                <a:path w="38735" h="175895">
                  <a:moveTo>
                    <a:pt x="38430" y="142773"/>
                  </a:moveTo>
                  <a:lnTo>
                    <a:pt x="0" y="142773"/>
                  </a:lnTo>
                  <a:lnTo>
                    <a:pt x="21945" y="175666"/>
                  </a:lnTo>
                  <a:lnTo>
                    <a:pt x="38430" y="142773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3413184" y="5214531"/>
              <a:ext cx="43815" cy="44450"/>
            </a:xfrm>
            <a:custGeom>
              <a:avLst/>
              <a:gdLst/>
              <a:ahLst/>
              <a:cxnLst/>
              <a:rect l="l" t="t" r="r" b="b"/>
              <a:pathLst>
                <a:path w="43814" h="44450">
                  <a:moveTo>
                    <a:pt x="0" y="44064"/>
                  </a:moveTo>
                  <a:lnTo>
                    <a:pt x="43815" y="0"/>
                  </a:lnTo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3" name="object 93" descr=""/>
          <p:cNvSpPr txBox="1"/>
          <p:nvPr/>
        </p:nvSpPr>
        <p:spPr>
          <a:xfrm>
            <a:off x="3465238" y="5182780"/>
            <a:ext cx="4635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50">
                <a:latin typeface="Arial MT"/>
                <a:cs typeface="Arial MT"/>
              </a:rPr>
              <a:t>2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94" name="object 94" descr=""/>
          <p:cNvSpPr/>
          <p:nvPr/>
        </p:nvSpPr>
        <p:spPr>
          <a:xfrm>
            <a:off x="1795935" y="5214531"/>
            <a:ext cx="43815" cy="44450"/>
          </a:xfrm>
          <a:custGeom>
            <a:avLst/>
            <a:gdLst/>
            <a:ahLst/>
            <a:cxnLst/>
            <a:rect l="l" t="t" r="r" b="b"/>
            <a:pathLst>
              <a:path w="43814" h="44450">
                <a:moveTo>
                  <a:pt x="0" y="44064"/>
                </a:moveTo>
                <a:lnTo>
                  <a:pt x="43793" y="0"/>
                </a:lnTo>
              </a:path>
            </a:pathLst>
          </a:custGeom>
          <a:ln w="54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 txBox="1"/>
          <p:nvPr/>
        </p:nvSpPr>
        <p:spPr>
          <a:xfrm>
            <a:off x="1596038" y="5182780"/>
            <a:ext cx="20256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>
                <a:latin typeface="Arial MT"/>
                <a:cs typeface="Arial MT"/>
              </a:rPr>
              <a:t>5</a:t>
            </a:r>
            <a:r>
              <a:rPr dirty="0" sz="450" spc="5">
                <a:latin typeface="Arial MT"/>
                <a:cs typeface="Arial MT"/>
              </a:rPr>
              <a:t> </a:t>
            </a:r>
            <a:r>
              <a:rPr dirty="0" sz="450" spc="-20">
                <a:latin typeface="Arial MT"/>
                <a:cs typeface="Arial MT"/>
              </a:rPr>
              <a:t>LSBs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3032331" y="5182784"/>
            <a:ext cx="29527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>
                <a:latin typeface="Arial MT"/>
                <a:cs typeface="Arial MT"/>
              </a:rPr>
              <a:t>Shifted</a:t>
            </a:r>
            <a:r>
              <a:rPr dirty="0" sz="550" spc="65">
                <a:latin typeface="Arial MT"/>
                <a:cs typeface="Arial MT"/>
              </a:rPr>
              <a:t> </a:t>
            </a:r>
            <a:r>
              <a:rPr dirty="0" sz="550" spc="-50" i="1">
                <a:latin typeface="Arial"/>
                <a:cs typeface="Arial"/>
              </a:rPr>
              <a:t>y</a:t>
            </a:r>
            <a:endParaRPr sz="550">
              <a:latin typeface="Arial"/>
              <a:cs typeface="Arial"/>
            </a:endParaRPr>
          </a:p>
        </p:txBody>
      </p:sp>
      <p:sp>
        <p:nvSpPr>
          <p:cNvPr id="97" name="object 97" descr=""/>
          <p:cNvSpPr/>
          <p:nvPr/>
        </p:nvSpPr>
        <p:spPr>
          <a:xfrm>
            <a:off x="2382459" y="5016823"/>
            <a:ext cx="43815" cy="44450"/>
          </a:xfrm>
          <a:custGeom>
            <a:avLst/>
            <a:gdLst/>
            <a:ahLst/>
            <a:cxnLst/>
            <a:rect l="l" t="t" r="r" b="b"/>
            <a:pathLst>
              <a:path w="43814" h="44450">
                <a:moveTo>
                  <a:pt x="43815" y="0"/>
                </a:moveTo>
                <a:lnTo>
                  <a:pt x="0" y="43991"/>
                </a:lnTo>
              </a:path>
            </a:pathLst>
          </a:custGeom>
          <a:ln w="54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 txBox="1"/>
          <p:nvPr/>
        </p:nvSpPr>
        <p:spPr>
          <a:xfrm>
            <a:off x="2379835" y="5050877"/>
            <a:ext cx="78740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25">
                <a:latin typeface="Arial MT"/>
                <a:cs typeface="Arial MT"/>
              </a:rPr>
              <a:t>32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99" name="object 99" descr=""/>
          <p:cNvSpPr/>
          <p:nvPr/>
        </p:nvSpPr>
        <p:spPr>
          <a:xfrm>
            <a:off x="1686257" y="5406695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43976" y="0"/>
                </a:moveTo>
                <a:lnTo>
                  <a:pt x="0" y="43991"/>
                </a:lnTo>
              </a:path>
            </a:pathLst>
          </a:custGeom>
          <a:ln w="54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 txBox="1"/>
          <p:nvPr/>
        </p:nvSpPr>
        <p:spPr>
          <a:xfrm>
            <a:off x="1678201" y="5440822"/>
            <a:ext cx="78740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25">
                <a:latin typeface="Arial MT"/>
                <a:cs typeface="Arial MT"/>
              </a:rPr>
              <a:t>32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01" name="object 101" descr=""/>
          <p:cNvSpPr/>
          <p:nvPr/>
        </p:nvSpPr>
        <p:spPr>
          <a:xfrm>
            <a:off x="1686257" y="5802257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43976" y="0"/>
                </a:moveTo>
                <a:lnTo>
                  <a:pt x="0" y="43845"/>
                </a:lnTo>
              </a:path>
            </a:pathLst>
          </a:custGeom>
          <a:ln w="54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 txBox="1"/>
          <p:nvPr/>
        </p:nvSpPr>
        <p:spPr>
          <a:xfrm>
            <a:off x="1678201" y="5726441"/>
            <a:ext cx="78740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25">
                <a:latin typeface="Arial MT"/>
                <a:cs typeface="Arial MT"/>
              </a:rPr>
              <a:t>32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03" name="object 103" descr=""/>
          <p:cNvGrpSpPr/>
          <p:nvPr/>
        </p:nvGrpSpPr>
        <p:grpSpPr>
          <a:xfrm>
            <a:off x="2670127" y="4684731"/>
            <a:ext cx="779145" cy="1471930"/>
            <a:chOff x="2670127" y="4684731"/>
            <a:chExt cx="779145" cy="1471930"/>
          </a:xfrm>
        </p:grpSpPr>
        <p:sp>
          <p:nvSpPr>
            <p:cNvPr id="104" name="object 104" descr=""/>
            <p:cNvSpPr/>
            <p:nvPr/>
          </p:nvSpPr>
          <p:spPr>
            <a:xfrm>
              <a:off x="2670352" y="4684732"/>
              <a:ext cx="38735" cy="132080"/>
            </a:xfrm>
            <a:custGeom>
              <a:avLst/>
              <a:gdLst/>
              <a:ahLst/>
              <a:cxnLst/>
              <a:rect l="l" t="t" r="r" b="b"/>
              <a:pathLst>
                <a:path w="38735" h="132079">
                  <a:moveTo>
                    <a:pt x="22098" y="38379"/>
                  </a:moveTo>
                  <a:lnTo>
                    <a:pt x="16471" y="32981"/>
                  </a:lnTo>
                  <a:lnTo>
                    <a:pt x="16471" y="60337"/>
                  </a:lnTo>
                  <a:lnTo>
                    <a:pt x="22098" y="60337"/>
                  </a:lnTo>
                  <a:lnTo>
                    <a:pt x="22098" y="38379"/>
                  </a:lnTo>
                  <a:close/>
                </a:path>
                <a:path w="38735" h="132079">
                  <a:moveTo>
                    <a:pt x="22098" y="0"/>
                  </a:moveTo>
                  <a:lnTo>
                    <a:pt x="16471" y="0"/>
                  </a:lnTo>
                  <a:lnTo>
                    <a:pt x="16471" y="21894"/>
                  </a:lnTo>
                  <a:lnTo>
                    <a:pt x="22098" y="21894"/>
                  </a:lnTo>
                  <a:lnTo>
                    <a:pt x="22098" y="0"/>
                  </a:lnTo>
                  <a:close/>
                </a:path>
                <a:path w="38735" h="132079">
                  <a:moveTo>
                    <a:pt x="38354" y="98856"/>
                  </a:moveTo>
                  <a:lnTo>
                    <a:pt x="22098" y="98856"/>
                  </a:lnTo>
                  <a:lnTo>
                    <a:pt x="22098" y="76822"/>
                  </a:lnTo>
                  <a:lnTo>
                    <a:pt x="16471" y="71361"/>
                  </a:lnTo>
                  <a:lnTo>
                    <a:pt x="16471" y="98856"/>
                  </a:lnTo>
                  <a:lnTo>
                    <a:pt x="0" y="98856"/>
                  </a:lnTo>
                  <a:lnTo>
                    <a:pt x="22098" y="131838"/>
                  </a:lnTo>
                  <a:lnTo>
                    <a:pt x="38354" y="98856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2672984" y="4731204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43991"/>
                  </a:moveTo>
                  <a:lnTo>
                    <a:pt x="43961" y="0"/>
                  </a:lnTo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29520" y="6019215"/>
              <a:ext cx="219377" cy="137284"/>
            </a:xfrm>
            <a:prstGeom prst="rect">
              <a:avLst/>
            </a:prstGeom>
          </p:spPr>
        </p:pic>
      </p:grpSp>
      <p:sp>
        <p:nvSpPr>
          <p:cNvPr id="107" name="object 107" descr=""/>
          <p:cNvSpPr txBox="1"/>
          <p:nvPr/>
        </p:nvSpPr>
        <p:spPr>
          <a:xfrm>
            <a:off x="2584668" y="5748551"/>
            <a:ext cx="26098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dirty="0" sz="550" i="1">
                <a:latin typeface="Arial"/>
                <a:cs typeface="Arial"/>
              </a:rPr>
              <a:t>c</a:t>
            </a:r>
            <a:r>
              <a:rPr dirty="0" sz="550" spc="254" i="1">
                <a:latin typeface="Arial"/>
                <a:cs typeface="Arial"/>
              </a:rPr>
              <a:t> </a:t>
            </a:r>
            <a:r>
              <a:rPr dirty="0" baseline="35353" sz="825" i="1">
                <a:latin typeface="Arial"/>
                <a:cs typeface="Arial"/>
              </a:rPr>
              <a:t>c</a:t>
            </a:r>
            <a:r>
              <a:rPr dirty="0" baseline="35353" sz="825" spc="-127" i="1">
                <a:latin typeface="Arial"/>
                <a:cs typeface="Arial"/>
              </a:rPr>
              <a:t> </a:t>
            </a:r>
            <a:r>
              <a:rPr dirty="0" baseline="12345" sz="675" spc="-37">
                <a:latin typeface="Arial MT"/>
                <a:cs typeface="Arial MT"/>
              </a:rPr>
              <a:t>31</a:t>
            </a:r>
            <a:endParaRPr baseline="12345" sz="675">
              <a:latin typeface="Arial MT"/>
              <a:cs typeface="Arial MT"/>
            </a:endParaRPr>
          </a:p>
        </p:txBody>
      </p:sp>
      <p:grpSp>
        <p:nvGrpSpPr>
          <p:cNvPr id="108" name="object 108" descr=""/>
          <p:cNvGrpSpPr/>
          <p:nvPr/>
        </p:nvGrpSpPr>
        <p:grpSpPr>
          <a:xfrm>
            <a:off x="2683978" y="5634825"/>
            <a:ext cx="619760" cy="848994"/>
            <a:chOff x="2683978" y="5634825"/>
            <a:chExt cx="619760" cy="848994"/>
          </a:xfrm>
        </p:grpSpPr>
        <p:sp>
          <p:nvSpPr>
            <p:cNvPr id="109" name="object 109" descr=""/>
            <p:cNvSpPr/>
            <p:nvPr/>
          </p:nvSpPr>
          <p:spPr>
            <a:xfrm>
              <a:off x="2774613" y="6044030"/>
              <a:ext cx="482600" cy="0"/>
            </a:xfrm>
            <a:custGeom>
              <a:avLst/>
              <a:gdLst/>
              <a:ahLst/>
              <a:cxnLst/>
              <a:rect l="l" t="t" r="r" b="b"/>
              <a:pathLst>
                <a:path w="482600" h="0">
                  <a:moveTo>
                    <a:pt x="0" y="0"/>
                  </a:moveTo>
                  <a:lnTo>
                    <a:pt x="482264" y="0"/>
                  </a:lnTo>
                </a:path>
              </a:pathLst>
            </a:custGeom>
            <a:ln w="5617">
              <a:solidFill>
                <a:srgbClr val="96969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2686836" y="6131868"/>
              <a:ext cx="559435" cy="0"/>
            </a:xfrm>
            <a:custGeom>
              <a:avLst/>
              <a:gdLst/>
              <a:ahLst/>
              <a:cxnLst/>
              <a:rect l="l" t="t" r="r" b="b"/>
              <a:pathLst>
                <a:path w="559435" h="0">
                  <a:moveTo>
                    <a:pt x="0" y="0"/>
                  </a:moveTo>
                  <a:lnTo>
                    <a:pt x="559178" y="0"/>
                  </a:lnTo>
                </a:path>
              </a:pathLst>
            </a:custGeom>
            <a:ln w="5618">
              <a:solidFill>
                <a:srgbClr val="96969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3171943" y="5648468"/>
              <a:ext cx="0" cy="571500"/>
            </a:xfrm>
            <a:custGeom>
              <a:avLst/>
              <a:gdLst/>
              <a:ahLst/>
              <a:cxnLst/>
              <a:rect l="l" t="t" r="r" b="b"/>
              <a:pathLst>
                <a:path w="0" h="571500">
                  <a:moveTo>
                    <a:pt x="0" y="0"/>
                  </a:moveTo>
                  <a:lnTo>
                    <a:pt x="0" y="571237"/>
                  </a:lnTo>
                </a:path>
              </a:pathLst>
            </a:custGeom>
            <a:ln w="5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3158238" y="5634825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19" h="33020">
                  <a:moveTo>
                    <a:pt x="27557" y="0"/>
                  </a:moveTo>
                  <a:lnTo>
                    <a:pt x="5612" y="0"/>
                  </a:lnTo>
                  <a:lnTo>
                    <a:pt x="0" y="5398"/>
                  </a:lnTo>
                  <a:lnTo>
                    <a:pt x="0" y="16487"/>
                  </a:lnTo>
                  <a:lnTo>
                    <a:pt x="0" y="27503"/>
                  </a:lnTo>
                  <a:lnTo>
                    <a:pt x="5612" y="32975"/>
                  </a:lnTo>
                  <a:lnTo>
                    <a:pt x="27557" y="32975"/>
                  </a:lnTo>
                  <a:lnTo>
                    <a:pt x="32952" y="27503"/>
                  </a:lnTo>
                  <a:lnTo>
                    <a:pt x="32952" y="5398"/>
                  </a:lnTo>
                  <a:lnTo>
                    <a:pt x="275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3037726" y="6217072"/>
              <a:ext cx="263525" cy="263525"/>
            </a:xfrm>
            <a:custGeom>
              <a:avLst/>
              <a:gdLst/>
              <a:ahLst/>
              <a:cxnLst/>
              <a:rect l="l" t="t" r="r" b="b"/>
              <a:pathLst>
                <a:path w="263525" h="263525">
                  <a:moveTo>
                    <a:pt x="0" y="263513"/>
                  </a:moveTo>
                  <a:lnTo>
                    <a:pt x="263149" y="263513"/>
                  </a:lnTo>
                  <a:lnTo>
                    <a:pt x="263149" y="0"/>
                  </a:lnTo>
                  <a:lnTo>
                    <a:pt x="0" y="0"/>
                  </a:lnTo>
                  <a:lnTo>
                    <a:pt x="0" y="263513"/>
                  </a:lnTo>
                  <a:close/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4" name="object 114" descr=""/>
          <p:cNvSpPr txBox="1"/>
          <p:nvPr/>
        </p:nvSpPr>
        <p:spPr>
          <a:xfrm>
            <a:off x="3109027" y="6237155"/>
            <a:ext cx="144145" cy="229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1590">
              <a:lnSpc>
                <a:spcPts val="530"/>
              </a:lnSpc>
              <a:spcBef>
                <a:spcPts val="125"/>
              </a:spcBef>
            </a:pPr>
            <a:r>
              <a:rPr dirty="0" sz="450" spc="-25">
                <a:latin typeface="Arial MT"/>
                <a:cs typeface="Arial MT"/>
              </a:rPr>
              <a:t>32-</a:t>
            </a:r>
            <a:endParaRPr sz="450">
              <a:latin typeface="Arial MT"/>
              <a:cs typeface="Arial MT"/>
            </a:endParaRPr>
          </a:p>
          <a:p>
            <a:pPr marR="5080">
              <a:lnSpc>
                <a:spcPts val="520"/>
              </a:lnSpc>
              <a:spcBef>
                <a:spcPts val="25"/>
              </a:spcBef>
            </a:pPr>
            <a:r>
              <a:rPr dirty="0" sz="450" spc="-10">
                <a:latin typeface="Arial MT"/>
                <a:cs typeface="Arial MT"/>
              </a:rPr>
              <a:t>input</a:t>
            </a:r>
            <a:r>
              <a:rPr dirty="0" sz="450" spc="500">
                <a:latin typeface="Arial MT"/>
                <a:cs typeface="Arial MT"/>
              </a:rPr>
              <a:t> </a:t>
            </a:r>
            <a:r>
              <a:rPr dirty="0" sz="450" spc="-25">
                <a:latin typeface="Arial MT"/>
                <a:cs typeface="Arial MT"/>
              </a:rPr>
              <a:t>NOR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15" name="object 115" descr=""/>
          <p:cNvGrpSpPr/>
          <p:nvPr/>
        </p:nvGrpSpPr>
        <p:grpSpPr>
          <a:xfrm>
            <a:off x="3152843" y="6084997"/>
            <a:ext cx="38735" cy="137795"/>
            <a:chOff x="3152843" y="6084997"/>
            <a:chExt cx="38735" cy="137795"/>
          </a:xfrm>
        </p:grpSpPr>
        <p:sp>
          <p:nvSpPr>
            <p:cNvPr id="116" name="object 116" descr=""/>
            <p:cNvSpPr/>
            <p:nvPr/>
          </p:nvSpPr>
          <p:spPr>
            <a:xfrm>
              <a:off x="3171943" y="6087854"/>
              <a:ext cx="0" cy="109855"/>
            </a:xfrm>
            <a:custGeom>
              <a:avLst/>
              <a:gdLst/>
              <a:ahLst/>
              <a:cxnLst/>
              <a:rect l="l" t="t" r="r" b="b"/>
              <a:pathLst>
                <a:path w="0" h="109854">
                  <a:moveTo>
                    <a:pt x="0" y="0"/>
                  </a:moveTo>
                  <a:lnTo>
                    <a:pt x="0" y="109753"/>
                  </a:lnTo>
                </a:path>
              </a:pathLst>
            </a:custGeom>
            <a:ln w="5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3152843" y="618411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38347" y="0"/>
                  </a:moveTo>
                  <a:lnTo>
                    <a:pt x="0" y="0"/>
                  </a:lnTo>
                  <a:lnTo>
                    <a:pt x="21870" y="38388"/>
                  </a:lnTo>
                  <a:lnTo>
                    <a:pt x="383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 descr=""/>
          <p:cNvSpPr txBox="1"/>
          <p:nvPr/>
        </p:nvSpPr>
        <p:spPr>
          <a:xfrm>
            <a:off x="3415955" y="6583251"/>
            <a:ext cx="13843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20">
                <a:latin typeface="Arial MT"/>
                <a:cs typeface="Arial MT"/>
              </a:rPr>
              <a:t>Ovfl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3103413" y="6583251"/>
            <a:ext cx="15684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20">
                <a:latin typeface="Arial MT"/>
                <a:cs typeface="Arial MT"/>
              </a:rPr>
              <a:t>Zero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20" name="object 120" descr=""/>
          <p:cNvGrpSpPr/>
          <p:nvPr/>
        </p:nvGrpSpPr>
        <p:grpSpPr>
          <a:xfrm>
            <a:off x="2031701" y="5211783"/>
            <a:ext cx="1581785" cy="374015"/>
            <a:chOff x="2031701" y="5211783"/>
            <a:chExt cx="1581785" cy="374015"/>
          </a:xfrm>
        </p:grpSpPr>
        <p:sp>
          <p:nvSpPr>
            <p:cNvPr id="121" name="object 121" descr=""/>
            <p:cNvSpPr/>
            <p:nvPr/>
          </p:nvSpPr>
          <p:spPr>
            <a:xfrm>
              <a:off x="2034559" y="5214640"/>
              <a:ext cx="696595" cy="0"/>
            </a:xfrm>
            <a:custGeom>
              <a:avLst/>
              <a:gdLst/>
              <a:ahLst/>
              <a:cxnLst/>
              <a:rect l="l" t="t" r="r" b="b"/>
              <a:pathLst>
                <a:path w="696594" h="0">
                  <a:moveTo>
                    <a:pt x="0" y="0"/>
                  </a:moveTo>
                  <a:lnTo>
                    <a:pt x="696239" y="0"/>
                  </a:lnTo>
                </a:path>
              </a:pathLst>
            </a:custGeom>
            <a:ln w="5472">
              <a:solidFill>
                <a:srgbClr val="96969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3566649" y="5538524"/>
              <a:ext cx="43815" cy="44450"/>
            </a:xfrm>
            <a:custGeom>
              <a:avLst/>
              <a:gdLst/>
              <a:ahLst/>
              <a:cxnLst/>
              <a:rect l="l" t="t" r="r" b="b"/>
              <a:pathLst>
                <a:path w="43814" h="44450">
                  <a:moveTo>
                    <a:pt x="43815" y="0"/>
                  </a:moveTo>
                  <a:lnTo>
                    <a:pt x="0" y="44064"/>
                  </a:lnTo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 descr=""/>
          <p:cNvSpPr txBox="1"/>
          <p:nvPr/>
        </p:nvSpPr>
        <p:spPr>
          <a:xfrm>
            <a:off x="3558411" y="5572652"/>
            <a:ext cx="78740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25">
                <a:latin typeface="Arial MT"/>
                <a:cs typeface="Arial MT"/>
              </a:rPr>
              <a:t>32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24" name="object 124" descr=""/>
          <p:cNvSpPr/>
          <p:nvPr/>
        </p:nvSpPr>
        <p:spPr>
          <a:xfrm>
            <a:off x="2952573" y="5626362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43961" y="0"/>
                </a:moveTo>
                <a:lnTo>
                  <a:pt x="0" y="44064"/>
                </a:lnTo>
              </a:path>
            </a:pathLst>
          </a:custGeom>
          <a:ln w="54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 descr=""/>
          <p:cNvSpPr txBox="1"/>
          <p:nvPr/>
        </p:nvSpPr>
        <p:spPr>
          <a:xfrm>
            <a:off x="2916996" y="5528883"/>
            <a:ext cx="163830" cy="2298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i="1">
                <a:latin typeface="Arial"/>
                <a:cs typeface="Arial"/>
              </a:rPr>
              <a:t>x </a:t>
            </a:r>
            <a:r>
              <a:rPr dirty="0" sz="550">
                <a:latin typeface="Symbol"/>
                <a:cs typeface="Symbol"/>
              </a:rPr>
              <a:t></a:t>
            </a:r>
            <a:r>
              <a:rPr dirty="0" sz="550" spc="35">
                <a:latin typeface="Times New Roman"/>
                <a:cs typeface="Times New Roman"/>
              </a:rPr>
              <a:t> </a:t>
            </a:r>
            <a:r>
              <a:rPr dirty="0" sz="550" spc="-50" i="1">
                <a:latin typeface="Arial"/>
                <a:cs typeface="Arial"/>
              </a:rPr>
              <a:t>y</a:t>
            </a:r>
            <a:endParaRPr sz="55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390"/>
              </a:spcBef>
            </a:pPr>
            <a:r>
              <a:rPr dirty="0" sz="450" spc="-25">
                <a:latin typeface="Arial MT"/>
                <a:cs typeface="Arial MT"/>
              </a:rPr>
              <a:t>32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26" name="object 126" descr=""/>
          <p:cNvSpPr txBox="1"/>
          <p:nvPr/>
        </p:nvSpPr>
        <p:spPr>
          <a:xfrm>
            <a:off x="3180181" y="5528660"/>
            <a:ext cx="13525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25">
                <a:latin typeface="Arial MT"/>
                <a:cs typeface="Arial MT"/>
              </a:rPr>
              <a:t>MSB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27" name="object 127" descr=""/>
          <p:cNvGrpSpPr/>
          <p:nvPr/>
        </p:nvGrpSpPr>
        <p:grpSpPr>
          <a:xfrm>
            <a:off x="3914535" y="5777513"/>
            <a:ext cx="395605" cy="708660"/>
            <a:chOff x="3914535" y="5777513"/>
            <a:chExt cx="395605" cy="708660"/>
          </a:xfrm>
        </p:grpSpPr>
        <p:sp>
          <p:nvSpPr>
            <p:cNvPr id="128" name="object 128" descr=""/>
            <p:cNvSpPr/>
            <p:nvPr/>
          </p:nvSpPr>
          <p:spPr>
            <a:xfrm>
              <a:off x="3961354" y="5780371"/>
              <a:ext cx="345440" cy="702945"/>
            </a:xfrm>
            <a:custGeom>
              <a:avLst/>
              <a:gdLst/>
              <a:ahLst/>
              <a:cxnLst/>
              <a:rect l="l" t="t" r="r" b="b"/>
              <a:pathLst>
                <a:path w="345439" h="702945">
                  <a:moveTo>
                    <a:pt x="0" y="0"/>
                  </a:moveTo>
                  <a:lnTo>
                    <a:pt x="0" y="702841"/>
                  </a:lnTo>
                  <a:lnTo>
                    <a:pt x="345349" y="494204"/>
                  </a:lnTo>
                  <a:lnTo>
                    <a:pt x="345349" y="2085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3961354" y="5780371"/>
              <a:ext cx="345440" cy="702945"/>
            </a:xfrm>
            <a:custGeom>
              <a:avLst/>
              <a:gdLst/>
              <a:ahLst/>
              <a:cxnLst/>
              <a:rect l="l" t="t" r="r" b="b"/>
              <a:pathLst>
                <a:path w="345439" h="702945">
                  <a:moveTo>
                    <a:pt x="0" y="702841"/>
                  </a:moveTo>
                  <a:lnTo>
                    <a:pt x="345349" y="494204"/>
                  </a:lnTo>
                  <a:lnTo>
                    <a:pt x="345349" y="208578"/>
                  </a:lnTo>
                  <a:lnTo>
                    <a:pt x="0" y="0"/>
                  </a:lnTo>
                  <a:lnTo>
                    <a:pt x="0" y="702841"/>
                  </a:lnTo>
                  <a:close/>
                </a:path>
              </a:pathLst>
            </a:custGeom>
            <a:ln w="54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3917393" y="6000038"/>
              <a:ext cx="132080" cy="263525"/>
            </a:xfrm>
            <a:custGeom>
              <a:avLst/>
              <a:gdLst/>
              <a:ahLst/>
              <a:cxnLst/>
              <a:rect l="l" t="t" r="r" b="b"/>
              <a:pathLst>
                <a:path w="132079" h="263525">
                  <a:moveTo>
                    <a:pt x="0" y="0"/>
                  </a:moveTo>
                  <a:lnTo>
                    <a:pt x="0" y="263491"/>
                  </a:lnTo>
                  <a:lnTo>
                    <a:pt x="131592" y="1316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3917393" y="6000038"/>
              <a:ext cx="132080" cy="263525"/>
            </a:xfrm>
            <a:custGeom>
              <a:avLst/>
              <a:gdLst/>
              <a:ahLst/>
              <a:cxnLst/>
              <a:rect l="l" t="t" r="r" b="b"/>
              <a:pathLst>
                <a:path w="132079" h="263525">
                  <a:moveTo>
                    <a:pt x="131592" y="131647"/>
                  </a:moveTo>
                  <a:lnTo>
                    <a:pt x="0" y="263491"/>
                  </a:lnTo>
                  <a:lnTo>
                    <a:pt x="0" y="0"/>
                  </a:lnTo>
                  <a:lnTo>
                    <a:pt x="131592" y="131647"/>
                  </a:lnTo>
                  <a:close/>
                </a:path>
              </a:pathLst>
            </a:custGeom>
            <a:ln w="543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3961354" y="6043848"/>
              <a:ext cx="126364" cy="175895"/>
            </a:xfrm>
            <a:custGeom>
              <a:avLst/>
              <a:gdLst/>
              <a:ahLst/>
              <a:cxnLst/>
              <a:rect l="l" t="t" r="r" b="b"/>
              <a:pathLst>
                <a:path w="126364" h="175895">
                  <a:moveTo>
                    <a:pt x="0" y="175858"/>
                  </a:moveTo>
                  <a:lnTo>
                    <a:pt x="125979" y="87837"/>
                  </a:lnTo>
                </a:path>
                <a:path w="126364" h="175895">
                  <a:moveTo>
                    <a:pt x="125979" y="87837"/>
                  </a:moveTo>
                  <a:lnTo>
                    <a:pt x="0" y="0"/>
                  </a:lnTo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3" name="object 133" descr=""/>
          <p:cNvSpPr txBox="1"/>
          <p:nvPr/>
        </p:nvSpPr>
        <p:spPr>
          <a:xfrm>
            <a:off x="4134138" y="6077964"/>
            <a:ext cx="15240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34" name="object 134" descr=""/>
          <p:cNvGrpSpPr/>
          <p:nvPr/>
        </p:nvGrpSpPr>
        <p:grpSpPr>
          <a:xfrm>
            <a:off x="3826977" y="5892867"/>
            <a:ext cx="137795" cy="478155"/>
            <a:chOff x="3826977" y="5892867"/>
            <a:chExt cx="137795" cy="478155"/>
          </a:xfrm>
        </p:grpSpPr>
        <p:sp>
          <p:nvSpPr>
            <p:cNvPr id="135" name="object 135" descr=""/>
            <p:cNvSpPr/>
            <p:nvPr/>
          </p:nvSpPr>
          <p:spPr>
            <a:xfrm>
              <a:off x="3829834" y="5911981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109429" y="0"/>
                  </a:lnTo>
                </a:path>
              </a:pathLst>
            </a:custGeom>
            <a:ln w="5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3925849" y="5892867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0" y="0"/>
                  </a:moveTo>
                  <a:lnTo>
                    <a:pt x="0" y="38594"/>
                  </a:lnTo>
                  <a:lnTo>
                    <a:pt x="38348" y="22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3829834" y="6351368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109429" y="0"/>
                  </a:lnTo>
                </a:path>
              </a:pathLst>
            </a:custGeom>
            <a:ln w="5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3925849" y="6332261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0" y="0"/>
                  </a:moveTo>
                  <a:lnTo>
                    <a:pt x="0" y="38578"/>
                  </a:lnTo>
                  <a:lnTo>
                    <a:pt x="38348" y="220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object 139" descr=""/>
          <p:cNvSpPr txBox="1"/>
          <p:nvPr/>
        </p:nvSpPr>
        <p:spPr>
          <a:xfrm>
            <a:off x="3859944" y="6231725"/>
            <a:ext cx="4889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50" i="1">
                <a:latin typeface="Arial"/>
                <a:cs typeface="Arial"/>
              </a:rPr>
              <a:t>y</a:t>
            </a:r>
            <a:endParaRPr sz="550">
              <a:latin typeface="Arial"/>
              <a:cs typeface="Arial"/>
            </a:endParaRPr>
          </a:p>
        </p:txBody>
      </p:sp>
      <p:sp>
        <p:nvSpPr>
          <p:cNvPr id="140" name="object 140" descr=""/>
          <p:cNvSpPr txBox="1"/>
          <p:nvPr/>
        </p:nvSpPr>
        <p:spPr>
          <a:xfrm>
            <a:off x="3859944" y="5792323"/>
            <a:ext cx="4889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50" i="1">
                <a:latin typeface="Arial"/>
                <a:cs typeface="Arial"/>
              </a:rPr>
              <a:t>x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41" name="object 141" descr=""/>
          <p:cNvGrpSpPr/>
          <p:nvPr/>
        </p:nvGrpSpPr>
        <p:grpSpPr>
          <a:xfrm>
            <a:off x="4303846" y="6068748"/>
            <a:ext cx="132080" cy="38735"/>
            <a:chOff x="4303846" y="6068748"/>
            <a:chExt cx="132080" cy="38735"/>
          </a:xfrm>
        </p:grpSpPr>
        <p:sp>
          <p:nvSpPr>
            <p:cNvPr id="142" name="object 142" descr=""/>
            <p:cNvSpPr/>
            <p:nvPr/>
          </p:nvSpPr>
          <p:spPr>
            <a:xfrm>
              <a:off x="4306703" y="6087854"/>
              <a:ext cx="109855" cy="0"/>
            </a:xfrm>
            <a:custGeom>
              <a:avLst/>
              <a:gdLst/>
              <a:ahLst/>
              <a:cxnLst/>
              <a:rect l="l" t="t" r="r" b="b"/>
              <a:pathLst>
                <a:path w="109854" h="0">
                  <a:moveTo>
                    <a:pt x="0" y="0"/>
                  </a:moveTo>
                  <a:lnTo>
                    <a:pt x="109648" y="0"/>
                  </a:lnTo>
                </a:path>
              </a:pathLst>
            </a:custGeom>
            <a:ln w="5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4402719" y="6068748"/>
              <a:ext cx="33020" cy="38735"/>
            </a:xfrm>
            <a:custGeom>
              <a:avLst/>
              <a:gdLst/>
              <a:ahLst/>
              <a:cxnLst/>
              <a:rect l="l" t="t" r="r" b="b"/>
              <a:pathLst>
                <a:path w="33020" h="38735">
                  <a:moveTo>
                    <a:pt x="0" y="0"/>
                  </a:moveTo>
                  <a:lnTo>
                    <a:pt x="0" y="38395"/>
                  </a:lnTo>
                  <a:lnTo>
                    <a:pt x="32952" y="21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 descr=""/>
          <p:cNvSpPr txBox="1"/>
          <p:nvPr/>
        </p:nvSpPr>
        <p:spPr>
          <a:xfrm>
            <a:off x="4380774" y="5968211"/>
            <a:ext cx="48895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550" spc="-50" i="1">
                <a:latin typeface="Arial"/>
                <a:cs typeface="Arial"/>
              </a:rPr>
              <a:t>s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45" name="object 145" descr=""/>
          <p:cNvGrpSpPr/>
          <p:nvPr/>
        </p:nvGrpSpPr>
        <p:grpSpPr>
          <a:xfrm>
            <a:off x="2379602" y="4838290"/>
            <a:ext cx="1814830" cy="1076960"/>
            <a:chOff x="2379602" y="4838290"/>
            <a:chExt cx="1814830" cy="1076960"/>
          </a:xfrm>
        </p:grpSpPr>
        <p:sp>
          <p:nvSpPr>
            <p:cNvPr id="146" name="object 146" descr=""/>
            <p:cNvSpPr/>
            <p:nvPr/>
          </p:nvSpPr>
          <p:spPr>
            <a:xfrm>
              <a:off x="4155999" y="5777745"/>
              <a:ext cx="38735" cy="137795"/>
            </a:xfrm>
            <a:custGeom>
              <a:avLst/>
              <a:gdLst/>
              <a:ahLst/>
              <a:cxnLst/>
              <a:rect l="l" t="t" r="r" b="b"/>
              <a:pathLst>
                <a:path w="38735" h="137795">
                  <a:moveTo>
                    <a:pt x="21945" y="38379"/>
                  </a:moveTo>
                  <a:lnTo>
                    <a:pt x="16484" y="32905"/>
                  </a:lnTo>
                  <a:lnTo>
                    <a:pt x="16484" y="60261"/>
                  </a:lnTo>
                  <a:lnTo>
                    <a:pt x="21945" y="60261"/>
                  </a:lnTo>
                  <a:lnTo>
                    <a:pt x="21945" y="38379"/>
                  </a:lnTo>
                  <a:close/>
                </a:path>
                <a:path w="38735" h="137795">
                  <a:moveTo>
                    <a:pt x="21945" y="0"/>
                  </a:moveTo>
                  <a:lnTo>
                    <a:pt x="16484" y="0"/>
                  </a:lnTo>
                  <a:lnTo>
                    <a:pt x="16484" y="21894"/>
                  </a:lnTo>
                  <a:lnTo>
                    <a:pt x="21945" y="21894"/>
                  </a:lnTo>
                  <a:lnTo>
                    <a:pt x="21945" y="0"/>
                  </a:lnTo>
                  <a:close/>
                </a:path>
                <a:path w="38735" h="137795">
                  <a:moveTo>
                    <a:pt x="38430" y="98640"/>
                  </a:moveTo>
                  <a:lnTo>
                    <a:pt x="21945" y="98640"/>
                  </a:lnTo>
                  <a:lnTo>
                    <a:pt x="21945" y="76758"/>
                  </a:lnTo>
                  <a:lnTo>
                    <a:pt x="16484" y="71348"/>
                  </a:lnTo>
                  <a:lnTo>
                    <a:pt x="16484" y="98640"/>
                  </a:lnTo>
                  <a:lnTo>
                    <a:pt x="0" y="98640"/>
                  </a:lnTo>
                  <a:lnTo>
                    <a:pt x="16484" y="137236"/>
                  </a:lnTo>
                  <a:lnTo>
                    <a:pt x="38430" y="9864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2382459" y="4841147"/>
              <a:ext cx="43815" cy="44450"/>
            </a:xfrm>
            <a:custGeom>
              <a:avLst/>
              <a:gdLst/>
              <a:ahLst/>
              <a:cxnLst/>
              <a:rect l="l" t="t" r="r" b="b"/>
              <a:pathLst>
                <a:path w="43814" h="44450">
                  <a:moveTo>
                    <a:pt x="43815" y="0"/>
                  </a:moveTo>
                  <a:lnTo>
                    <a:pt x="0" y="43991"/>
                  </a:lnTo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 descr=""/>
          <p:cNvSpPr txBox="1"/>
          <p:nvPr/>
        </p:nvSpPr>
        <p:spPr>
          <a:xfrm>
            <a:off x="4156009" y="6231727"/>
            <a:ext cx="12509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20">
                <a:latin typeface="Arial MT"/>
                <a:cs typeface="Arial MT"/>
              </a:rPr>
              <a:t>Ovfl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49" name="object 149" descr=""/>
          <p:cNvSpPr txBox="1"/>
          <p:nvPr/>
        </p:nvSpPr>
        <p:spPr>
          <a:xfrm>
            <a:off x="4013408" y="6303077"/>
            <a:ext cx="139700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20">
                <a:latin typeface="Arial MT"/>
                <a:cs typeface="Arial MT"/>
              </a:rPr>
              <a:t>Zero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50" name="object 150" descr=""/>
          <p:cNvSpPr txBox="1"/>
          <p:nvPr/>
        </p:nvSpPr>
        <p:spPr>
          <a:xfrm>
            <a:off x="4073846" y="5907734"/>
            <a:ext cx="142240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 spc="-20">
                <a:latin typeface="Arial MT"/>
                <a:cs typeface="Arial MT"/>
              </a:rPr>
              <a:t>Func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51" name="object 151" descr=""/>
          <p:cNvGrpSpPr/>
          <p:nvPr/>
        </p:nvGrpSpPr>
        <p:grpSpPr>
          <a:xfrm>
            <a:off x="3432431" y="6082370"/>
            <a:ext cx="66040" cy="535940"/>
            <a:chOff x="3432431" y="6082370"/>
            <a:chExt cx="66040" cy="535940"/>
          </a:xfrm>
        </p:grpSpPr>
        <p:sp>
          <p:nvSpPr>
            <p:cNvPr id="152" name="object 152" descr=""/>
            <p:cNvSpPr/>
            <p:nvPr/>
          </p:nvSpPr>
          <p:spPr>
            <a:xfrm>
              <a:off x="3432429" y="6085237"/>
              <a:ext cx="43815" cy="5715"/>
            </a:xfrm>
            <a:custGeom>
              <a:avLst/>
              <a:gdLst/>
              <a:ahLst/>
              <a:cxnLst/>
              <a:rect l="l" t="t" r="r" b="b"/>
              <a:pathLst>
                <a:path w="43814" h="5714">
                  <a:moveTo>
                    <a:pt x="21945" y="0"/>
                  </a:moveTo>
                  <a:lnTo>
                    <a:pt x="0" y="0"/>
                  </a:lnTo>
                  <a:lnTo>
                    <a:pt x="0" y="5435"/>
                  </a:lnTo>
                  <a:lnTo>
                    <a:pt x="21945" y="5435"/>
                  </a:lnTo>
                  <a:lnTo>
                    <a:pt x="21945" y="0"/>
                  </a:lnTo>
                  <a:close/>
                </a:path>
                <a:path w="43814" h="5714">
                  <a:moveTo>
                    <a:pt x="43815" y="0"/>
                  </a:moveTo>
                  <a:lnTo>
                    <a:pt x="38417" y="0"/>
                  </a:lnTo>
                  <a:lnTo>
                    <a:pt x="38417" y="5435"/>
                  </a:lnTo>
                  <a:lnTo>
                    <a:pt x="43815" y="5435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3478981" y="6085227"/>
              <a:ext cx="0" cy="505459"/>
            </a:xfrm>
            <a:custGeom>
              <a:avLst/>
              <a:gdLst/>
              <a:ahLst/>
              <a:cxnLst/>
              <a:rect l="l" t="t" r="r" b="b"/>
              <a:pathLst>
                <a:path w="0" h="505459">
                  <a:moveTo>
                    <a:pt x="0" y="0"/>
                  </a:moveTo>
                  <a:lnTo>
                    <a:pt x="0" y="505294"/>
                  </a:lnTo>
                </a:path>
              </a:pathLst>
            </a:custGeom>
            <a:ln w="5467">
              <a:solidFill>
                <a:srgbClr val="969696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3459770" y="6579469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4">
                  <a:moveTo>
                    <a:pt x="38421" y="0"/>
                  </a:moveTo>
                  <a:lnTo>
                    <a:pt x="0" y="0"/>
                  </a:lnTo>
                  <a:lnTo>
                    <a:pt x="21944" y="38395"/>
                  </a:lnTo>
                  <a:lnTo>
                    <a:pt x="38421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5" name="object 155" descr=""/>
          <p:cNvSpPr txBox="1"/>
          <p:nvPr/>
        </p:nvSpPr>
        <p:spPr>
          <a:xfrm>
            <a:off x="3953116" y="5402452"/>
            <a:ext cx="342900" cy="40068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43815" marR="5080" indent="-44450">
              <a:lnSpc>
                <a:spcPts val="650"/>
              </a:lnSpc>
              <a:spcBef>
                <a:spcPts val="140"/>
              </a:spcBef>
            </a:pPr>
            <a:r>
              <a:rPr dirty="0" sz="550" spc="-10">
                <a:latin typeface="Arial MT"/>
                <a:cs typeface="Arial MT"/>
              </a:rPr>
              <a:t>Shorthand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symbol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for</a:t>
            </a:r>
            <a:r>
              <a:rPr dirty="0" sz="550" spc="15">
                <a:latin typeface="Arial MT"/>
                <a:cs typeface="Arial MT"/>
              </a:rPr>
              <a:t> </a:t>
            </a: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  <a:p>
            <a:pPr marL="92710">
              <a:lnSpc>
                <a:spcPct val="100000"/>
              </a:lnSpc>
              <a:spcBef>
                <a:spcPts val="415"/>
              </a:spcBef>
            </a:pPr>
            <a:r>
              <a:rPr dirty="0" sz="450" spc="-10">
                <a:latin typeface="Arial MT"/>
                <a:cs typeface="Arial MT"/>
              </a:rPr>
              <a:t>Control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56" name="object 156" descr=""/>
          <p:cNvGrpSpPr/>
          <p:nvPr/>
        </p:nvGrpSpPr>
        <p:grpSpPr>
          <a:xfrm>
            <a:off x="3914768" y="5997412"/>
            <a:ext cx="180975" cy="263525"/>
            <a:chOff x="3914768" y="5997412"/>
            <a:chExt cx="180975" cy="263525"/>
          </a:xfrm>
        </p:grpSpPr>
        <p:sp>
          <p:nvSpPr>
            <p:cNvPr id="157" name="object 157" descr=""/>
            <p:cNvSpPr/>
            <p:nvPr/>
          </p:nvSpPr>
          <p:spPr>
            <a:xfrm>
              <a:off x="3914768" y="5997412"/>
              <a:ext cx="175895" cy="263525"/>
            </a:xfrm>
            <a:custGeom>
              <a:avLst/>
              <a:gdLst/>
              <a:ahLst/>
              <a:cxnLst/>
              <a:rect l="l" t="t" r="r" b="b"/>
              <a:pathLst>
                <a:path w="175895" h="263525">
                  <a:moveTo>
                    <a:pt x="0" y="0"/>
                  </a:moveTo>
                  <a:lnTo>
                    <a:pt x="0" y="263491"/>
                  </a:lnTo>
                  <a:lnTo>
                    <a:pt x="175408" y="1316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3961354" y="6043848"/>
              <a:ext cx="131445" cy="175895"/>
            </a:xfrm>
            <a:custGeom>
              <a:avLst/>
              <a:gdLst/>
              <a:ahLst/>
              <a:cxnLst/>
              <a:rect l="l" t="t" r="r" b="b"/>
              <a:pathLst>
                <a:path w="131445" h="175895">
                  <a:moveTo>
                    <a:pt x="0" y="0"/>
                  </a:moveTo>
                  <a:lnTo>
                    <a:pt x="131446" y="87837"/>
                  </a:lnTo>
                </a:path>
                <a:path w="131445" h="175895">
                  <a:moveTo>
                    <a:pt x="0" y="175858"/>
                  </a:moveTo>
                  <a:lnTo>
                    <a:pt x="131446" y="87837"/>
                  </a:lnTo>
                </a:path>
              </a:pathLst>
            </a:custGeom>
            <a:ln w="5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9" name="object 159" descr=""/>
          <p:cNvSpPr txBox="1"/>
          <p:nvPr/>
        </p:nvSpPr>
        <p:spPr>
          <a:xfrm>
            <a:off x="3169319" y="5391358"/>
            <a:ext cx="16700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>
                <a:latin typeface="Arial MT"/>
                <a:cs typeface="Arial MT"/>
              </a:rPr>
              <a:t>0</a:t>
            </a:r>
            <a:r>
              <a:rPr dirty="0" sz="450" spc="5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or</a:t>
            </a:r>
            <a:r>
              <a:rPr dirty="0" sz="450" spc="25">
                <a:latin typeface="Arial MT"/>
                <a:cs typeface="Arial MT"/>
              </a:rPr>
              <a:t> </a:t>
            </a:r>
            <a:r>
              <a:rPr dirty="0" sz="450" spc="-50">
                <a:latin typeface="Arial MT"/>
                <a:cs typeface="Arial MT"/>
              </a:rPr>
              <a:t>1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60" name="object 160" descr=""/>
          <p:cNvSpPr txBox="1"/>
          <p:nvPr/>
        </p:nvSpPr>
        <p:spPr>
          <a:xfrm>
            <a:off x="2116722" y="6451410"/>
            <a:ext cx="243840" cy="2959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0795">
              <a:lnSpc>
                <a:spcPts val="530"/>
              </a:lnSpc>
              <a:spcBef>
                <a:spcPts val="125"/>
              </a:spcBef>
            </a:pPr>
            <a:r>
              <a:rPr dirty="0" sz="450">
                <a:latin typeface="Arial MT"/>
                <a:cs typeface="Arial MT"/>
              </a:rPr>
              <a:t>AND</a:t>
            </a:r>
            <a:r>
              <a:rPr dirty="0" sz="450" spc="114">
                <a:latin typeface="Arial MT"/>
                <a:cs typeface="Arial MT"/>
              </a:rPr>
              <a:t> </a:t>
            </a:r>
            <a:r>
              <a:rPr dirty="0" sz="450" spc="-25">
                <a:latin typeface="Arial MT"/>
                <a:cs typeface="Arial MT"/>
              </a:rPr>
              <a:t>00</a:t>
            </a:r>
            <a:endParaRPr sz="450">
              <a:latin typeface="Arial MT"/>
              <a:cs typeface="Arial MT"/>
            </a:endParaRPr>
          </a:p>
          <a:p>
            <a:pPr marL="43180">
              <a:lnSpc>
                <a:spcPts val="520"/>
              </a:lnSpc>
            </a:pPr>
            <a:r>
              <a:rPr dirty="0" sz="450">
                <a:latin typeface="Arial MT"/>
                <a:cs typeface="Arial MT"/>
              </a:rPr>
              <a:t>OR</a:t>
            </a:r>
            <a:r>
              <a:rPr dirty="0" sz="450" spc="90">
                <a:latin typeface="Arial MT"/>
                <a:cs typeface="Arial MT"/>
              </a:rPr>
              <a:t> </a:t>
            </a:r>
            <a:r>
              <a:rPr dirty="0" sz="450" spc="-25">
                <a:latin typeface="Arial MT"/>
                <a:cs typeface="Arial MT"/>
              </a:rPr>
              <a:t>01</a:t>
            </a:r>
            <a:endParaRPr sz="450">
              <a:latin typeface="Arial MT"/>
              <a:cs typeface="Arial MT"/>
            </a:endParaRPr>
          </a:p>
          <a:p>
            <a:pPr marL="5080">
              <a:lnSpc>
                <a:spcPts val="520"/>
              </a:lnSpc>
            </a:pPr>
            <a:r>
              <a:rPr dirty="0" sz="450">
                <a:latin typeface="Arial MT"/>
                <a:cs typeface="Arial MT"/>
              </a:rPr>
              <a:t>XOR</a:t>
            </a:r>
            <a:r>
              <a:rPr dirty="0" sz="450" spc="85">
                <a:latin typeface="Arial MT"/>
                <a:cs typeface="Arial MT"/>
              </a:rPr>
              <a:t> </a:t>
            </a:r>
            <a:r>
              <a:rPr dirty="0" sz="450" spc="-25">
                <a:latin typeface="Arial MT"/>
                <a:cs typeface="Arial MT"/>
              </a:rPr>
              <a:t>10</a:t>
            </a:r>
            <a:endParaRPr sz="450">
              <a:latin typeface="Arial MT"/>
              <a:cs typeface="Arial MT"/>
            </a:endParaRPr>
          </a:p>
          <a:p>
            <a:pPr>
              <a:lnSpc>
                <a:spcPts val="530"/>
              </a:lnSpc>
            </a:pPr>
            <a:r>
              <a:rPr dirty="0" sz="450">
                <a:latin typeface="Arial MT"/>
                <a:cs typeface="Arial MT"/>
              </a:rPr>
              <a:t>NOR</a:t>
            </a:r>
            <a:r>
              <a:rPr dirty="0" sz="450" spc="110">
                <a:latin typeface="Arial MT"/>
                <a:cs typeface="Arial MT"/>
              </a:rPr>
              <a:t> </a:t>
            </a:r>
            <a:r>
              <a:rPr dirty="0" sz="450" spc="-25">
                <a:latin typeface="Arial MT"/>
                <a:cs typeface="Arial MT"/>
              </a:rPr>
              <a:t>11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61" name="object 161" descr=""/>
          <p:cNvSpPr/>
          <p:nvPr/>
        </p:nvSpPr>
        <p:spPr>
          <a:xfrm>
            <a:off x="2344111" y="6466732"/>
            <a:ext cx="38735" cy="264160"/>
          </a:xfrm>
          <a:custGeom>
            <a:avLst/>
            <a:gdLst/>
            <a:ahLst/>
            <a:cxnLst/>
            <a:rect l="l" t="t" r="r" b="b"/>
            <a:pathLst>
              <a:path w="38735" h="264159">
                <a:moveTo>
                  <a:pt x="0" y="0"/>
                </a:moveTo>
                <a:lnTo>
                  <a:pt x="16476" y="5617"/>
                </a:lnTo>
                <a:lnTo>
                  <a:pt x="21944" y="22098"/>
                </a:lnTo>
                <a:lnTo>
                  <a:pt x="21944" y="109935"/>
                </a:lnTo>
                <a:lnTo>
                  <a:pt x="27339" y="126416"/>
                </a:lnTo>
                <a:lnTo>
                  <a:pt x="38347" y="131844"/>
                </a:lnTo>
                <a:lnTo>
                  <a:pt x="27339" y="137279"/>
                </a:lnTo>
                <a:lnTo>
                  <a:pt x="21944" y="153760"/>
                </a:lnTo>
                <a:lnTo>
                  <a:pt x="21944" y="241780"/>
                </a:lnTo>
                <a:lnTo>
                  <a:pt x="16476" y="258260"/>
                </a:lnTo>
                <a:lnTo>
                  <a:pt x="0" y="263693"/>
                </a:lnTo>
              </a:path>
            </a:pathLst>
          </a:custGeom>
          <a:ln w="5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 descr=""/>
          <p:cNvSpPr txBox="1"/>
          <p:nvPr/>
        </p:nvSpPr>
        <p:spPr>
          <a:xfrm>
            <a:off x="3706479" y="4831209"/>
            <a:ext cx="233045" cy="98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50">
                <a:latin typeface="Arial MT"/>
                <a:cs typeface="Arial MT"/>
              </a:rPr>
              <a:t>00</a:t>
            </a:r>
            <a:r>
              <a:rPr dirty="0" sz="450" spc="140">
                <a:latin typeface="Arial MT"/>
                <a:cs typeface="Arial MT"/>
              </a:rPr>
              <a:t> </a:t>
            </a:r>
            <a:r>
              <a:rPr dirty="0" sz="450" spc="-20">
                <a:latin typeface="Arial MT"/>
                <a:cs typeface="Arial MT"/>
              </a:rPr>
              <a:t>Shift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63" name="object 163" descr=""/>
          <p:cNvSpPr txBox="1"/>
          <p:nvPr/>
        </p:nvSpPr>
        <p:spPr>
          <a:xfrm>
            <a:off x="2562796" y="4897165"/>
            <a:ext cx="1504950" cy="1111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  <a:tabLst>
                <a:tab pos="781685" algn="l"/>
              </a:tabLst>
            </a:pPr>
            <a:r>
              <a:rPr dirty="0" sz="550" spc="-10">
                <a:latin typeface="Arial MT"/>
                <a:cs typeface="Arial MT"/>
              </a:rPr>
              <a:t>Shifter</a:t>
            </a:r>
            <a:r>
              <a:rPr dirty="0" sz="550">
                <a:latin typeface="Arial MT"/>
                <a:cs typeface="Arial MT"/>
              </a:rPr>
              <a:t>	</a:t>
            </a:r>
            <a:r>
              <a:rPr dirty="0" baseline="-15151" sz="825">
                <a:latin typeface="Arial MT"/>
                <a:cs typeface="Arial MT"/>
              </a:rPr>
              <a:t>Function</a:t>
            </a:r>
            <a:r>
              <a:rPr dirty="0" baseline="-15151" sz="825" spc="307">
                <a:latin typeface="Arial MT"/>
                <a:cs typeface="Arial MT"/>
              </a:rPr>
              <a:t>  </a:t>
            </a:r>
            <a:r>
              <a:rPr dirty="0" baseline="12345" sz="675">
                <a:latin typeface="Arial MT"/>
                <a:cs typeface="Arial MT"/>
              </a:rPr>
              <a:t>01</a:t>
            </a:r>
            <a:r>
              <a:rPr dirty="0" baseline="12345" sz="675" spc="209">
                <a:latin typeface="Arial MT"/>
                <a:cs typeface="Arial MT"/>
              </a:rPr>
              <a:t> </a:t>
            </a:r>
            <a:r>
              <a:rPr dirty="0" baseline="12345" sz="675">
                <a:latin typeface="Arial MT"/>
                <a:cs typeface="Arial MT"/>
              </a:rPr>
              <a:t>Set</a:t>
            </a:r>
            <a:r>
              <a:rPr dirty="0" baseline="12345" sz="675" spc="15">
                <a:latin typeface="Arial MT"/>
                <a:cs typeface="Arial MT"/>
              </a:rPr>
              <a:t> </a:t>
            </a:r>
            <a:r>
              <a:rPr dirty="0" baseline="12345" sz="675" spc="-30">
                <a:latin typeface="Arial MT"/>
                <a:cs typeface="Arial MT"/>
              </a:rPr>
              <a:t>less</a:t>
            </a:r>
            <a:endParaRPr baseline="12345" sz="675">
              <a:latin typeface="Arial MT"/>
              <a:cs typeface="Arial MT"/>
            </a:endParaRPr>
          </a:p>
        </p:txBody>
      </p:sp>
      <p:sp>
        <p:nvSpPr>
          <p:cNvPr id="164" name="object 164" descr=""/>
          <p:cNvSpPr txBox="1"/>
          <p:nvPr/>
        </p:nvSpPr>
        <p:spPr>
          <a:xfrm>
            <a:off x="3374151" y="4952173"/>
            <a:ext cx="730250" cy="1752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5400">
              <a:lnSpc>
                <a:spcPts val="640"/>
              </a:lnSpc>
              <a:spcBef>
                <a:spcPts val="110"/>
              </a:spcBef>
              <a:tabLst>
                <a:tab pos="332105" algn="l"/>
              </a:tabLst>
            </a:pPr>
            <a:r>
              <a:rPr dirty="0" baseline="-40404" sz="825" spc="-15">
                <a:latin typeface="Arial MT"/>
                <a:cs typeface="Arial MT"/>
              </a:rPr>
              <a:t>class</a:t>
            </a:r>
            <a:r>
              <a:rPr dirty="0" baseline="-40404" sz="825">
                <a:latin typeface="Arial MT"/>
                <a:cs typeface="Arial MT"/>
              </a:rPr>
              <a:t>	</a:t>
            </a:r>
            <a:r>
              <a:rPr dirty="0" sz="450">
                <a:latin typeface="Arial MT"/>
                <a:cs typeface="Arial MT"/>
              </a:rPr>
              <a:t>10</a:t>
            </a:r>
            <a:r>
              <a:rPr dirty="0" sz="450" spc="130">
                <a:latin typeface="Arial MT"/>
                <a:cs typeface="Arial MT"/>
              </a:rPr>
              <a:t> </a:t>
            </a:r>
            <a:r>
              <a:rPr dirty="0" sz="450" spc="-10">
                <a:latin typeface="Arial MT"/>
                <a:cs typeface="Arial MT"/>
              </a:rPr>
              <a:t>Arithmetic</a:t>
            </a:r>
            <a:endParaRPr sz="450">
              <a:latin typeface="Arial MT"/>
              <a:cs typeface="Arial MT"/>
            </a:endParaRPr>
          </a:p>
          <a:p>
            <a:pPr marL="332105">
              <a:lnSpc>
                <a:spcPts val="520"/>
              </a:lnSpc>
            </a:pPr>
            <a:r>
              <a:rPr dirty="0" sz="450">
                <a:latin typeface="Arial MT"/>
                <a:cs typeface="Arial MT"/>
              </a:rPr>
              <a:t>11</a:t>
            </a:r>
            <a:r>
              <a:rPr dirty="0" sz="450" spc="140">
                <a:latin typeface="Arial MT"/>
                <a:cs typeface="Arial MT"/>
              </a:rPr>
              <a:t> </a:t>
            </a:r>
            <a:r>
              <a:rPr dirty="0" sz="450" spc="-10">
                <a:latin typeface="Arial MT"/>
                <a:cs typeface="Arial MT"/>
              </a:rPr>
              <a:t>Logic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65" name="object 165" descr=""/>
          <p:cNvSpPr/>
          <p:nvPr/>
        </p:nvSpPr>
        <p:spPr>
          <a:xfrm>
            <a:off x="3654280" y="4863034"/>
            <a:ext cx="44450" cy="264160"/>
          </a:xfrm>
          <a:custGeom>
            <a:avLst/>
            <a:gdLst/>
            <a:ahLst/>
            <a:cxnLst/>
            <a:rect l="l" t="t" r="r" b="b"/>
            <a:pathLst>
              <a:path w="44450" h="264160">
                <a:moveTo>
                  <a:pt x="43961" y="0"/>
                </a:moveTo>
                <a:lnTo>
                  <a:pt x="27485" y="5617"/>
                </a:lnTo>
                <a:lnTo>
                  <a:pt x="21871" y="22105"/>
                </a:lnTo>
                <a:lnTo>
                  <a:pt x="21871" y="109943"/>
                </a:lnTo>
                <a:lnTo>
                  <a:pt x="16476" y="126431"/>
                </a:lnTo>
                <a:lnTo>
                  <a:pt x="0" y="131829"/>
                </a:lnTo>
                <a:lnTo>
                  <a:pt x="16476" y="137301"/>
                </a:lnTo>
                <a:lnTo>
                  <a:pt x="21871" y="153789"/>
                </a:lnTo>
                <a:lnTo>
                  <a:pt x="21871" y="241772"/>
                </a:lnTo>
                <a:lnTo>
                  <a:pt x="27485" y="258260"/>
                </a:lnTo>
                <a:lnTo>
                  <a:pt x="43961" y="263659"/>
                </a:lnTo>
              </a:path>
            </a:pathLst>
          </a:custGeom>
          <a:ln w="54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6" name="object 166" descr=""/>
          <p:cNvSpPr txBox="1"/>
          <p:nvPr/>
        </p:nvSpPr>
        <p:spPr>
          <a:xfrm>
            <a:off x="2458688" y="4567550"/>
            <a:ext cx="1001394" cy="2959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45465">
              <a:lnSpc>
                <a:spcPts val="480"/>
              </a:lnSpc>
              <a:spcBef>
                <a:spcPts val="125"/>
              </a:spcBef>
            </a:pPr>
            <a:r>
              <a:rPr dirty="0" sz="450">
                <a:latin typeface="Arial MT"/>
                <a:cs typeface="Arial MT"/>
              </a:rPr>
              <a:t>00</a:t>
            </a:r>
            <a:r>
              <a:rPr dirty="0" sz="450" spc="120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No</a:t>
            </a:r>
            <a:r>
              <a:rPr dirty="0" sz="450" spc="-5">
                <a:latin typeface="Arial MT"/>
                <a:cs typeface="Arial MT"/>
              </a:rPr>
              <a:t> </a:t>
            </a:r>
            <a:r>
              <a:rPr dirty="0" sz="450" spc="-10">
                <a:latin typeface="Arial MT"/>
                <a:cs typeface="Arial MT"/>
              </a:rPr>
              <a:t>shift</a:t>
            </a:r>
            <a:endParaRPr sz="450">
              <a:latin typeface="Arial MT"/>
              <a:cs typeface="Arial MT"/>
            </a:endParaRPr>
          </a:p>
          <a:p>
            <a:pPr marL="25400">
              <a:lnSpc>
                <a:spcPts val="580"/>
              </a:lnSpc>
            </a:pPr>
            <a:r>
              <a:rPr dirty="0" baseline="10101" sz="825">
                <a:latin typeface="Arial MT"/>
                <a:cs typeface="Arial MT"/>
              </a:rPr>
              <a:t>Shift</a:t>
            </a:r>
            <a:r>
              <a:rPr dirty="0" baseline="10101" sz="825" spc="60">
                <a:latin typeface="Arial MT"/>
                <a:cs typeface="Arial MT"/>
              </a:rPr>
              <a:t> </a:t>
            </a:r>
            <a:r>
              <a:rPr dirty="0" baseline="10101" sz="825">
                <a:latin typeface="Arial MT"/>
                <a:cs typeface="Arial MT"/>
              </a:rPr>
              <a:t>function</a:t>
            </a:r>
            <a:r>
              <a:rPr dirty="0" baseline="10101" sz="825" spc="419">
                <a:latin typeface="Arial MT"/>
                <a:cs typeface="Arial MT"/>
              </a:rPr>
              <a:t>  </a:t>
            </a:r>
            <a:r>
              <a:rPr dirty="0" sz="450">
                <a:latin typeface="Arial MT"/>
                <a:cs typeface="Arial MT"/>
              </a:rPr>
              <a:t>01</a:t>
            </a:r>
            <a:r>
              <a:rPr dirty="0" sz="450" spc="150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Logical</a:t>
            </a:r>
            <a:r>
              <a:rPr dirty="0" sz="450" spc="-5">
                <a:latin typeface="Arial MT"/>
                <a:cs typeface="Arial MT"/>
              </a:rPr>
              <a:t> </a:t>
            </a:r>
            <a:r>
              <a:rPr dirty="0" sz="450" spc="-20">
                <a:latin typeface="Arial MT"/>
                <a:cs typeface="Arial MT"/>
              </a:rPr>
              <a:t>left</a:t>
            </a:r>
            <a:endParaRPr sz="450">
              <a:latin typeface="Arial MT"/>
              <a:cs typeface="Arial MT"/>
            </a:endParaRPr>
          </a:p>
          <a:p>
            <a:pPr algn="r" marR="30480">
              <a:lnSpc>
                <a:spcPts val="509"/>
              </a:lnSpc>
              <a:tabLst>
                <a:tab pos="284480" algn="l"/>
              </a:tabLst>
            </a:pPr>
            <a:r>
              <a:rPr dirty="0" sz="450" spc="-50">
                <a:latin typeface="Arial MT"/>
                <a:cs typeface="Arial MT"/>
              </a:rPr>
              <a:t>2</a:t>
            </a:r>
            <a:r>
              <a:rPr dirty="0" sz="450">
                <a:latin typeface="Arial MT"/>
                <a:cs typeface="Arial MT"/>
              </a:rPr>
              <a:t>	10</a:t>
            </a:r>
            <a:r>
              <a:rPr dirty="0" sz="450" spc="155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Logical </a:t>
            </a:r>
            <a:r>
              <a:rPr dirty="0" sz="450" spc="-10">
                <a:latin typeface="Arial MT"/>
                <a:cs typeface="Arial MT"/>
              </a:rPr>
              <a:t>right</a:t>
            </a:r>
            <a:endParaRPr sz="450">
              <a:latin typeface="Arial MT"/>
              <a:cs typeface="Arial MT"/>
            </a:endParaRPr>
          </a:p>
          <a:p>
            <a:pPr algn="r" marR="90805">
              <a:lnSpc>
                <a:spcPts val="530"/>
              </a:lnSpc>
            </a:pPr>
            <a:r>
              <a:rPr dirty="0" sz="450">
                <a:latin typeface="Arial MT"/>
                <a:cs typeface="Arial MT"/>
              </a:rPr>
              <a:t>11</a:t>
            </a:r>
            <a:r>
              <a:rPr dirty="0" sz="450" spc="170">
                <a:latin typeface="Arial MT"/>
                <a:cs typeface="Arial MT"/>
              </a:rPr>
              <a:t> </a:t>
            </a:r>
            <a:r>
              <a:rPr dirty="0" sz="450">
                <a:latin typeface="Arial MT"/>
                <a:cs typeface="Arial MT"/>
              </a:rPr>
              <a:t>Arith</a:t>
            </a:r>
            <a:r>
              <a:rPr dirty="0" sz="450" spc="20">
                <a:latin typeface="Arial MT"/>
                <a:cs typeface="Arial MT"/>
              </a:rPr>
              <a:t> </a:t>
            </a:r>
            <a:r>
              <a:rPr dirty="0" sz="450" spc="-10">
                <a:latin typeface="Arial MT"/>
                <a:cs typeface="Arial MT"/>
              </a:rPr>
              <a:t>right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67" name="object 167" descr="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sp>
          <p:nvSpPr>
            <p:cNvPr id="168" name="object 168" descr=""/>
            <p:cNvSpPr/>
            <p:nvPr/>
          </p:nvSpPr>
          <p:spPr>
            <a:xfrm>
              <a:off x="2952573" y="4599520"/>
              <a:ext cx="44450" cy="263525"/>
            </a:xfrm>
            <a:custGeom>
              <a:avLst/>
              <a:gdLst/>
              <a:ahLst/>
              <a:cxnLst/>
              <a:rect l="l" t="t" r="r" b="b"/>
              <a:pathLst>
                <a:path w="44450" h="263525">
                  <a:moveTo>
                    <a:pt x="43961" y="0"/>
                  </a:moveTo>
                  <a:lnTo>
                    <a:pt x="27557" y="5398"/>
                  </a:lnTo>
                  <a:lnTo>
                    <a:pt x="21944" y="21886"/>
                  </a:lnTo>
                  <a:lnTo>
                    <a:pt x="21944" y="109724"/>
                  </a:lnTo>
                  <a:lnTo>
                    <a:pt x="16476" y="126212"/>
                  </a:lnTo>
                  <a:lnTo>
                    <a:pt x="0" y="131683"/>
                  </a:lnTo>
                  <a:lnTo>
                    <a:pt x="16476" y="137301"/>
                  </a:lnTo>
                  <a:lnTo>
                    <a:pt x="21944" y="153789"/>
                  </a:lnTo>
                  <a:lnTo>
                    <a:pt x="21944" y="241627"/>
                  </a:lnTo>
                  <a:lnTo>
                    <a:pt x="27557" y="258041"/>
                  </a:lnTo>
                  <a:lnTo>
                    <a:pt x="43961" y="263513"/>
                  </a:lnTo>
                </a:path>
              </a:pathLst>
            </a:custGeom>
            <a:ln w="5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 descr=""/>
          <p:cNvSpPr/>
          <p:nvPr/>
        </p:nvSpPr>
        <p:spPr>
          <a:xfrm>
            <a:off x="5530380" y="4370354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1" name="object 17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172" name="object 172" descr=""/>
          <p:cNvSpPr txBox="1"/>
          <p:nvPr/>
        </p:nvSpPr>
        <p:spPr>
          <a:xfrm>
            <a:off x="5432132" y="3799049"/>
            <a:ext cx="4945380" cy="3513454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Times New Roman"/>
              <a:cs typeface="Times New Roman"/>
            </a:endParaRPr>
          </a:p>
          <a:p>
            <a:pPr marL="296545">
              <a:lnSpc>
                <a:spcPct val="100000"/>
              </a:lnSpc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115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Set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73" name="object 17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4691" y="4768688"/>
            <a:ext cx="4393989" cy="17224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90308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1714" y="594823"/>
            <a:ext cx="4122420" cy="1930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115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Set</a:t>
            </a:r>
            <a:endParaRPr sz="1150">
              <a:latin typeface="Arial MT"/>
              <a:cs typeface="Arial MT"/>
            </a:endParaRPr>
          </a:p>
          <a:p>
            <a:pPr marL="147955" indent="-14795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Register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003366"/>
                </a:solidFill>
                <a:latin typeface="Arial MT"/>
                <a:cs typeface="Arial MT"/>
              </a:rPr>
              <a:t>Type</a:t>
            </a:r>
            <a:endParaRPr sz="950">
              <a:latin typeface="Arial MT"/>
              <a:cs typeface="Arial MT"/>
            </a:endParaRPr>
          </a:p>
          <a:p>
            <a:pPr lvl="1" marL="320675" indent="-123189">
              <a:lnSpc>
                <a:spcPct val="100000"/>
              </a:lnSpc>
              <a:spcBef>
                <a:spcPts val="284"/>
              </a:spcBef>
              <a:buFont typeface="Arial MT"/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연산이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Register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데이터에서만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이루어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지는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명령어</a:t>
            </a:r>
            <a:endParaRPr sz="900">
              <a:latin typeface="Malgun Gothic"/>
              <a:cs typeface="Malgun Gothic"/>
            </a:endParaRPr>
          </a:p>
          <a:p>
            <a:pPr marL="147955" indent="-147955">
              <a:lnSpc>
                <a:spcPct val="100000"/>
              </a:lnSpc>
              <a:spcBef>
                <a:spcPts val="515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Load from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Memory</a:t>
            </a:r>
            <a:endParaRPr sz="950">
              <a:latin typeface="Arial MT"/>
              <a:cs typeface="Arial MT"/>
            </a:endParaRPr>
          </a:p>
          <a:p>
            <a:pPr lvl="1" marL="320675" marR="5080" indent="-123825">
              <a:lnSpc>
                <a:spcPct val="101600"/>
              </a:lnSpc>
              <a:spcBef>
                <a:spcPts val="275"/>
              </a:spcBef>
              <a:buFont typeface="Arial MT"/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연산에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필요한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데이터가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외부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메모리에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존재하여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메모리로부터</a:t>
            </a:r>
            <a:r>
              <a:rPr dirty="0" sz="900" spc="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Malgun Gothic"/>
                <a:cs typeface="Malgun Gothic"/>
              </a:rPr>
              <a:t>데이터를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읽는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동작이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필요한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명령어</a:t>
            </a:r>
            <a:endParaRPr sz="900">
              <a:latin typeface="Malgun Gothic"/>
              <a:cs typeface="Malgun Gothic"/>
            </a:endParaRPr>
          </a:p>
          <a:p>
            <a:pPr marL="147955" indent="-147955">
              <a:lnSpc>
                <a:spcPct val="100000"/>
              </a:lnSpc>
              <a:spcBef>
                <a:spcPts val="56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Save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Memory</a:t>
            </a:r>
            <a:endParaRPr sz="950">
              <a:latin typeface="Arial MT"/>
              <a:cs typeface="Arial MT"/>
            </a:endParaRPr>
          </a:p>
          <a:p>
            <a:pPr lvl="1" marL="320675" indent="-12318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연산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결과를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외부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메모리에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저장하는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명령어</a:t>
            </a:r>
            <a:endParaRPr sz="900">
              <a:latin typeface="Malgun Gothic"/>
              <a:cs typeface="Malgun Gothic"/>
            </a:endParaRPr>
          </a:p>
          <a:p>
            <a:pPr marL="147955" indent="-147955">
              <a:lnSpc>
                <a:spcPct val="100000"/>
              </a:lnSpc>
              <a:spcBef>
                <a:spcPts val="56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Jump(Branch)</a:t>
            </a:r>
            <a:endParaRPr sz="950">
              <a:latin typeface="Arial MT"/>
              <a:cs typeface="Arial MT"/>
            </a:endParaRPr>
          </a:p>
          <a:p>
            <a:pPr lvl="1" marL="320675" indent="-123189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프로그램의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진행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순서를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변경하는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명령어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6" name="object 6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607709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729114" y="594823"/>
            <a:ext cx="112458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Addressing</a:t>
            </a:r>
            <a:r>
              <a:rPr dirty="0" sz="11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Mode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2072" y="1217439"/>
              <a:ext cx="4385889" cy="1738896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2490308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611714" y="4146223"/>
            <a:ext cx="114173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Direct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Addressing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328" y="5107418"/>
              <a:ext cx="4338757" cy="1029356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607709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5729114" y="4146223"/>
            <a:ext cx="129984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Register</a:t>
            </a:r>
            <a:r>
              <a:rPr dirty="0" sz="1150" spc="-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Addressing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9100" y="4862288"/>
              <a:ext cx="4381916" cy="1515779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14733" y="247649"/>
            <a:ext cx="4945380" cy="3513454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Times New Roman"/>
              <a:cs typeface="Times New Roman"/>
            </a:endParaRPr>
          </a:p>
          <a:p>
            <a:pPr marL="296545">
              <a:lnSpc>
                <a:spcPct val="100000"/>
              </a:lnSpc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Register</a:t>
            </a:r>
            <a:r>
              <a:rPr dirty="0" sz="1150" spc="-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Indirect</a:t>
            </a:r>
            <a:r>
              <a:rPr dirty="0" sz="1150" spc="-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Addressing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393" y="1092661"/>
            <a:ext cx="4352755" cy="1963313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432132" y="247649"/>
            <a:ext cx="4945380" cy="3513454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Times New Roman"/>
              <a:cs typeface="Times New Roman"/>
            </a:endParaRPr>
          </a:p>
          <a:p>
            <a:pPr marL="296545">
              <a:lnSpc>
                <a:spcPct val="100000"/>
              </a:lnSpc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Memory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Indirect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Addressing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7209" y="1294436"/>
            <a:ext cx="4361775" cy="1568117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412979" y="4370354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14733" y="3799049"/>
            <a:ext cx="4945380" cy="3513454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Times New Roman"/>
              <a:cs typeface="Times New Roman"/>
            </a:endParaRPr>
          </a:p>
          <a:p>
            <a:pPr marL="296545">
              <a:lnSpc>
                <a:spcPct val="100000"/>
              </a:lnSpc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Immediate</a:t>
            </a:r>
            <a:r>
              <a:rPr dirty="0" sz="11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Addressing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1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2441" y="5448295"/>
            <a:ext cx="3275961" cy="358292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5530380" y="4370354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607709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5729114" y="4146223"/>
            <a:ext cx="255143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Performance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Single-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Cycle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Design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224056" y="4604360"/>
            <a:ext cx="1812289" cy="601980"/>
            <a:chOff x="6224056" y="4604360"/>
            <a:chExt cx="1812289" cy="601980"/>
          </a:xfrm>
        </p:grpSpPr>
        <p:sp>
          <p:nvSpPr>
            <p:cNvPr id="18" name="object 18" descr=""/>
            <p:cNvSpPr/>
            <p:nvPr/>
          </p:nvSpPr>
          <p:spPr>
            <a:xfrm>
              <a:off x="7710793" y="5189927"/>
              <a:ext cx="129539" cy="0"/>
            </a:xfrm>
            <a:custGeom>
              <a:avLst/>
              <a:gdLst/>
              <a:ahLst/>
              <a:cxnLst/>
              <a:rect l="l" t="t" r="r" b="b"/>
              <a:pathLst>
                <a:path w="129540" h="0">
                  <a:moveTo>
                    <a:pt x="0" y="0"/>
                  </a:moveTo>
                  <a:lnTo>
                    <a:pt x="129482" y="0"/>
                  </a:lnTo>
                </a:path>
              </a:pathLst>
            </a:custGeom>
            <a:ln w="4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829076" y="517403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0" y="0"/>
                  </a:moveTo>
                  <a:lnTo>
                    <a:pt x="0" y="31790"/>
                  </a:lnTo>
                  <a:lnTo>
                    <a:pt x="31845" y="1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224056" y="4695883"/>
              <a:ext cx="73025" cy="182245"/>
            </a:xfrm>
            <a:custGeom>
              <a:avLst/>
              <a:gdLst/>
              <a:ahLst/>
              <a:cxnLst/>
              <a:rect l="l" t="t" r="r" b="b"/>
              <a:pathLst>
                <a:path w="73025" h="182245">
                  <a:moveTo>
                    <a:pt x="72742" y="0"/>
                  </a:moveTo>
                  <a:lnTo>
                    <a:pt x="0" y="0"/>
                  </a:lnTo>
                  <a:lnTo>
                    <a:pt x="0" y="182085"/>
                  </a:lnTo>
                  <a:lnTo>
                    <a:pt x="72742" y="182085"/>
                  </a:lnTo>
                  <a:lnTo>
                    <a:pt x="72742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094631" y="4606900"/>
              <a:ext cx="254635" cy="364490"/>
            </a:xfrm>
            <a:custGeom>
              <a:avLst/>
              <a:gdLst/>
              <a:ahLst/>
              <a:cxnLst/>
              <a:rect l="l" t="t" r="r" b="b"/>
              <a:pathLst>
                <a:path w="254634" h="364489">
                  <a:moveTo>
                    <a:pt x="0" y="0"/>
                  </a:moveTo>
                  <a:lnTo>
                    <a:pt x="0" y="364376"/>
                  </a:lnTo>
                  <a:lnTo>
                    <a:pt x="254582" y="273252"/>
                  </a:lnTo>
                  <a:lnTo>
                    <a:pt x="254582" y="91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949147" y="4606900"/>
              <a:ext cx="400685" cy="364490"/>
            </a:xfrm>
            <a:custGeom>
              <a:avLst/>
              <a:gdLst/>
              <a:ahLst/>
              <a:cxnLst/>
              <a:rect l="l" t="t" r="r" b="b"/>
              <a:pathLst>
                <a:path w="400684" h="364489">
                  <a:moveTo>
                    <a:pt x="145484" y="364376"/>
                  </a:moveTo>
                  <a:lnTo>
                    <a:pt x="400066" y="273252"/>
                  </a:lnTo>
                  <a:lnTo>
                    <a:pt x="400066" y="91124"/>
                  </a:lnTo>
                  <a:lnTo>
                    <a:pt x="145484" y="0"/>
                  </a:lnTo>
                  <a:lnTo>
                    <a:pt x="145484" y="364376"/>
                  </a:lnTo>
                  <a:close/>
                </a:path>
                <a:path w="400684" h="364489">
                  <a:moveTo>
                    <a:pt x="145484" y="122914"/>
                  </a:moveTo>
                  <a:lnTo>
                    <a:pt x="218256" y="182248"/>
                  </a:lnTo>
                </a:path>
                <a:path w="400684" h="364489">
                  <a:moveTo>
                    <a:pt x="145484" y="241461"/>
                  </a:moveTo>
                  <a:lnTo>
                    <a:pt x="218256" y="182248"/>
                  </a:lnTo>
                </a:path>
                <a:path w="400684" h="364489">
                  <a:moveTo>
                    <a:pt x="0" y="300613"/>
                  </a:moveTo>
                  <a:lnTo>
                    <a:pt x="127321" y="300613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065267" y="4891678"/>
              <a:ext cx="31750" cy="32384"/>
            </a:xfrm>
            <a:custGeom>
              <a:avLst/>
              <a:gdLst/>
              <a:ahLst/>
              <a:cxnLst/>
              <a:rect l="l" t="t" r="r" b="b"/>
              <a:pathLst>
                <a:path w="31750" h="32385">
                  <a:moveTo>
                    <a:pt x="0" y="0"/>
                  </a:moveTo>
                  <a:lnTo>
                    <a:pt x="0" y="31912"/>
                  </a:lnTo>
                  <a:lnTo>
                    <a:pt x="31724" y="136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456193" y="4695883"/>
              <a:ext cx="254635" cy="182245"/>
            </a:xfrm>
            <a:custGeom>
              <a:avLst/>
              <a:gdLst/>
              <a:ahLst/>
              <a:cxnLst/>
              <a:rect l="l" t="t" r="r" b="b"/>
              <a:pathLst>
                <a:path w="254634" h="182245">
                  <a:moveTo>
                    <a:pt x="254600" y="0"/>
                  </a:moveTo>
                  <a:lnTo>
                    <a:pt x="0" y="0"/>
                  </a:lnTo>
                  <a:lnTo>
                    <a:pt x="0" y="182085"/>
                  </a:lnTo>
                  <a:lnTo>
                    <a:pt x="254600" y="182085"/>
                  </a:lnTo>
                  <a:lnTo>
                    <a:pt x="2546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385600" y="4695883"/>
              <a:ext cx="400685" cy="243840"/>
            </a:xfrm>
            <a:custGeom>
              <a:avLst/>
              <a:gdLst/>
              <a:ahLst/>
              <a:cxnLst/>
              <a:rect l="l" t="t" r="r" b="b"/>
              <a:pathLst>
                <a:path w="400684" h="243839">
                  <a:moveTo>
                    <a:pt x="70592" y="182085"/>
                  </a:moveTo>
                  <a:lnTo>
                    <a:pt x="325193" y="182085"/>
                  </a:lnTo>
                  <a:lnTo>
                    <a:pt x="325193" y="0"/>
                  </a:lnTo>
                  <a:lnTo>
                    <a:pt x="70592" y="0"/>
                  </a:lnTo>
                  <a:lnTo>
                    <a:pt x="70592" y="182085"/>
                  </a:lnTo>
                  <a:close/>
                </a:path>
                <a:path w="400684" h="243839">
                  <a:moveTo>
                    <a:pt x="0" y="243421"/>
                  </a:moveTo>
                  <a:lnTo>
                    <a:pt x="400066" y="243421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369540" y="4695883"/>
              <a:ext cx="250190" cy="182245"/>
            </a:xfrm>
            <a:custGeom>
              <a:avLst/>
              <a:gdLst/>
              <a:ahLst/>
              <a:cxnLst/>
              <a:rect l="l" t="t" r="r" b="b"/>
              <a:pathLst>
                <a:path w="250190" h="182245">
                  <a:moveTo>
                    <a:pt x="250090" y="0"/>
                  </a:moveTo>
                  <a:lnTo>
                    <a:pt x="0" y="0"/>
                  </a:lnTo>
                  <a:lnTo>
                    <a:pt x="0" y="182085"/>
                  </a:lnTo>
                  <a:lnTo>
                    <a:pt x="250090" y="182085"/>
                  </a:lnTo>
                  <a:lnTo>
                    <a:pt x="25009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369540" y="4695883"/>
              <a:ext cx="379730" cy="182245"/>
            </a:xfrm>
            <a:custGeom>
              <a:avLst/>
              <a:gdLst/>
              <a:ahLst/>
              <a:cxnLst/>
              <a:rect l="l" t="t" r="r" b="b"/>
              <a:pathLst>
                <a:path w="379729" h="182245">
                  <a:moveTo>
                    <a:pt x="0" y="182085"/>
                  </a:moveTo>
                  <a:lnTo>
                    <a:pt x="250090" y="182085"/>
                  </a:lnTo>
                  <a:lnTo>
                    <a:pt x="250090" y="0"/>
                  </a:lnTo>
                  <a:lnTo>
                    <a:pt x="0" y="0"/>
                  </a:lnTo>
                  <a:lnTo>
                    <a:pt x="0" y="182085"/>
                  </a:lnTo>
                  <a:close/>
                </a:path>
                <a:path w="379729" h="182245">
                  <a:moveTo>
                    <a:pt x="252251" y="93266"/>
                  </a:moveTo>
                  <a:lnTo>
                    <a:pt x="379573" y="93266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737913" y="4773253"/>
              <a:ext cx="31750" cy="32384"/>
            </a:xfrm>
            <a:custGeom>
              <a:avLst/>
              <a:gdLst/>
              <a:ahLst/>
              <a:cxnLst/>
              <a:rect l="l" t="t" r="r" b="b"/>
              <a:pathLst>
                <a:path w="31750" h="32385">
                  <a:moveTo>
                    <a:pt x="0" y="0"/>
                  </a:moveTo>
                  <a:lnTo>
                    <a:pt x="0" y="31790"/>
                  </a:lnTo>
                  <a:lnTo>
                    <a:pt x="31723" y="1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765096" y="4636658"/>
              <a:ext cx="182245" cy="300990"/>
            </a:xfrm>
            <a:custGeom>
              <a:avLst/>
              <a:gdLst/>
              <a:ahLst/>
              <a:cxnLst/>
              <a:rect l="l" t="t" r="r" b="b"/>
              <a:pathLst>
                <a:path w="182245" h="300989">
                  <a:moveTo>
                    <a:pt x="181858" y="0"/>
                  </a:moveTo>
                  <a:lnTo>
                    <a:pt x="0" y="0"/>
                  </a:lnTo>
                  <a:lnTo>
                    <a:pt x="0" y="300461"/>
                  </a:lnTo>
                  <a:lnTo>
                    <a:pt x="181858" y="300461"/>
                  </a:lnTo>
                  <a:lnTo>
                    <a:pt x="181858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765096" y="4636658"/>
              <a:ext cx="621030" cy="302895"/>
            </a:xfrm>
            <a:custGeom>
              <a:avLst/>
              <a:gdLst/>
              <a:ahLst/>
              <a:cxnLst/>
              <a:rect l="l" t="t" r="r" b="b"/>
              <a:pathLst>
                <a:path w="621029" h="302895">
                  <a:moveTo>
                    <a:pt x="0" y="300461"/>
                  </a:moveTo>
                  <a:lnTo>
                    <a:pt x="181858" y="300461"/>
                  </a:lnTo>
                  <a:lnTo>
                    <a:pt x="181858" y="0"/>
                  </a:lnTo>
                  <a:lnTo>
                    <a:pt x="0" y="0"/>
                  </a:lnTo>
                  <a:lnTo>
                    <a:pt x="0" y="300461"/>
                  </a:lnTo>
                  <a:close/>
                </a:path>
                <a:path w="621029" h="302895">
                  <a:moveTo>
                    <a:pt x="620503" y="152490"/>
                  </a:moveTo>
                  <a:lnTo>
                    <a:pt x="620503" y="302646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856260" y="4636658"/>
              <a:ext cx="177800" cy="300990"/>
            </a:xfrm>
            <a:custGeom>
              <a:avLst/>
              <a:gdLst/>
              <a:ahLst/>
              <a:cxnLst/>
              <a:rect l="l" t="t" r="r" b="b"/>
              <a:pathLst>
                <a:path w="177800" h="300989">
                  <a:moveTo>
                    <a:pt x="177348" y="0"/>
                  </a:moveTo>
                  <a:lnTo>
                    <a:pt x="0" y="0"/>
                  </a:lnTo>
                  <a:lnTo>
                    <a:pt x="0" y="300461"/>
                  </a:lnTo>
                  <a:lnTo>
                    <a:pt x="177348" y="300461"/>
                  </a:lnTo>
                  <a:lnTo>
                    <a:pt x="177348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856260" y="4636658"/>
              <a:ext cx="177800" cy="300990"/>
            </a:xfrm>
            <a:custGeom>
              <a:avLst/>
              <a:gdLst/>
              <a:ahLst/>
              <a:cxnLst/>
              <a:rect l="l" t="t" r="r" b="b"/>
              <a:pathLst>
                <a:path w="177800" h="300989">
                  <a:moveTo>
                    <a:pt x="0" y="300461"/>
                  </a:moveTo>
                  <a:lnTo>
                    <a:pt x="177348" y="300461"/>
                  </a:lnTo>
                  <a:lnTo>
                    <a:pt x="177348" y="0"/>
                  </a:lnTo>
                  <a:lnTo>
                    <a:pt x="0" y="0"/>
                  </a:lnTo>
                  <a:lnTo>
                    <a:pt x="0" y="300461"/>
                  </a:lnTo>
                  <a:close/>
                </a:path>
              </a:pathLst>
            </a:custGeom>
            <a:ln w="45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49147" y="4650216"/>
              <a:ext cx="216077" cy="227751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98977" y="4773253"/>
              <a:ext cx="325072" cy="75182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7349214" y="4789149"/>
              <a:ext cx="491490" cy="150495"/>
            </a:xfrm>
            <a:custGeom>
              <a:avLst/>
              <a:gdLst/>
              <a:ahLst/>
              <a:cxnLst/>
              <a:rect l="l" t="t" r="r" b="b"/>
              <a:pathLst>
                <a:path w="491490" h="150495">
                  <a:moveTo>
                    <a:pt x="0" y="0"/>
                  </a:moveTo>
                  <a:lnTo>
                    <a:pt x="36386" y="0"/>
                  </a:lnTo>
                </a:path>
                <a:path w="491490" h="150495">
                  <a:moveTo>
                    <a:pt x="436453" y="0"/>
                  </a:moveTo>
                  <a:lnTo>
                    <a:pt x="436453" y="150155"/>
                  </a:lnTo>
                </a:path>
                <a:path w="491490" h="150495">
                  <a:moveTo>
                    <a:pt x="436453" y="0"/>
                  </a:moveTo>
                  <a:lnTo>
                    <a:pt x="491062" y="0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829076" y="477325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0" y="0"/>
                  </a:moveTo>
                  <a:lnTo>
                    <a:pt x="0" y="31790"/>
                  </a:lnTo>
                  <a:lnTo>
                    <a:pt x="31845" y="1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6224056" y="4695883"/>
            <a:ext cx="73025" cy="182245"/>
          </a:xfrm>
          <a:prstGeom prst="rect">
            <a:avLst/>
          </a:prstGeom>
          <a:ln w="4510">
            <a:solidFill>
              <a:srgbClr val="000000"/>
            </a:solidFill>
          </a:ln>
        </p:spPr>
        <p:txBody>
          <a:bodyPr wrap="square" lIns="0" tIns="52069" rIns="0" bIns="0" rtlCol="0" vert="horz">
            <a:spAutoFit/>
          </a:bodyPr>
          <a:lstStyle/>
          <a:p>
            <a:pPr marL="22225" marR="3810" indent="4445">
              <a:lnSpc>
                <a:spcPts val="430"/>
              </a:lnSpc>
              <a:spcBef>
                <a:spcPts val="409"/>
              </a:spcBef>
            </a:pPr>
            <a:r>
              <a:rPr dirty="0" sz="400" spc="-50">
                <a:latin typeface="Arial MT"/>
                <a:cs typeface="Arial MT"/>
              </a:rPr>
              <a:t>P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50">
                <a:latin typeface="Arial MT"/>
                <a:cs typeface="Arial MT"/>
              </a:rPr>
              <a:t>C</a:t>
            </a:r>
            <a:endParaRPr sz="400">
              <a:latin typeface="Arial MT"/>
              <a:cs typeface="Arial MT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6221515" y="4825417"/>
            <a:ext cx="1814830" cy="544830"/>
            <a:chOff x="6221515" y="4825417"/>
            <a:chExt cx="1814830" cy="544830"/>
          </a:xfrm>
        </p:grpSpPr>
        <p:sp>
          <p:nvSpPr>
            <p:cNvPr id="39" name="object 39" descr=""/>
            <p:cNvSpPr/>
            <p:nvPr/>
          </p:nvSpPr>
          <p:spPr>
            <a:xfrm>
              <a:off x="6224055" y="5096630"/>
              <a:ext cx="73025" cy="177800"/>
            </a:xfrm>
            <a:custGeom>
              <a:avLst/>
              <a:gdLst/>
              <a:ahLst/>
              <a:cxnLst/>
              <a:rect l="l" t="t" r="r" b="b"/>
              <a:pathLst>
                <a:path w="73025" h="177800">
                  <a:moveTo>
                    <a:pt x="72742" y="0"/>
                  </a:moveTo>
                  <a:lnTo>
                    <a:pt x="0" y="0"/>
                  </a:lnTo>
                  <a:lnTo>
                    <a:pt x="0" y="177565"/>
                  </a:lnTo>
                  <a:lnTo>
                    <a:pt x="72742" y="177565"/>
                  </a:lnTo>
                  <a:lnTo>
                    <a:pt x="72742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224055" y="5096630"/>
              <a:ext cx="73025" cy="177800"/>
            </a:xfrm>
            <a:custGeom>
              <a:avLst/>
              <a:gdLst/>
              <a:ahLst/>
              <a:cxnLst/>
              <a:rect l="l" t="t" r="r" b="b"/>
              <a:pathLst>
                <a:path w="73025" h="177800">
                  <a:moveTo>
                    <a:pt x="0" y="177565"/>
                  </a:moveTo>
                  <a:lnTo>
                    <a:pt x="72742" y="177565"/>
                  </a:lnTo>
                  <a:lnTo>
                    <a:pt x="72742" y="0"/>
                  </a:lnTo>
                  <a:lnTo>
                    <a:pt x="0" y="0"/>
                  </a:lnTo>
                  <a:lnTo>
                    <a:pt x="0" y="177565"/>
                  </a:lnTo>
                  <a:close/>
                </a:path>
              </a:pathLst>
            </a:custGeom>
            <a:ln w="4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094631" y="5007678"/>
              <a:ext cx="254635" cy="360045"/>
            </a:xfrm>
            <a:custGeom>
              <a:avLst/>
              <a:gdLst/>
              <a:ahLst/>
              <a:cxnLst/>
              <a:rect l="l" t="t" r="r" b="b"/>
              <a:pathLst>
                <a:path w="254634" h="360045">
                  <a:moveTo>
                    <a:pt x="0" y="0"/>
                  </a:moveTo>
                  <a:lnTo>
                    <a:pt x="0" y="359826"/>
                  </a:lnTo>
                  <a:lnTo>
                    <a:pt x="254582" y="273191"/>
                  </a:lnTo>
                  <a:lnTo>
                    <a:pt x="254582" y="91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949147" y="5007678"/>
              <a:ext cx="400685" cy="360045"/>
            </a:xfrm>
            <a:custGeom>
              <a:avLst/>
              <a:gdLst/>
              <a:ahLst/>
              <a:cxnLst/>
              <a:rect l="l" t="t" r="r" b="b"/>
              <a:pathLst>
                <a:path w="400684" h="360045">
                  <a:moveTo>
                    <a:pt x="145484" y="359826"/>
                  </a:moveTo>
                  <a:lnTo>
                    <a:pt x="400066" y="273191"/>
                  </a:lnTo>
                  <a:lnTo>
                    <a:pt x="400066" y="91124"/>
                  </a:lnTo>
                  <a:lnTo>
                    <a:pt x="145484" y="0"/>
                  </a:lnTo>
                  <a:lnTo>
                    <a:pt x="145484" y="359826"/>
                  </a:lnTo>
                  <a:close/>
                </a:path>
                <a:path w="400684" h="360045">
                  <a:moveTo>
                    <a:pt x="145484" y="118364"/>
                  </a:moveTo>
                  <a:lnTo>
                    <a:pt x="218256" y="182248"/>
                  </a:lnTo>
                </a:path>
                <a:path w="400684" h="360045">
                  <a:moveTo>
                    <a:pt x="145484" y="241461"/>
                  </a:moveTo>
                  <a:lnTo>
                    <a:pt x="218256" y="182248"/>
                  </a:lnTo>
                </a:path>
                <a:path w="400684" h="360045">
                  <a:moveTo>
                    <a:pt x="0" y="300613"/>
                  </a:moveTo>
                  <a:lnTo>
                    <a:pt x="127321" y="300613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065267" y="5292396"/>
              <a:ext cx="31750" cy="32384"/>
            </a:xfrm>
            <a:custGeom>
              <a:avLst/>
              <a:gdLst/>
              <a:ahLst/>
              <a:cxnLst/>
              <a:rect l="l" t="t" r="r" b="b"/>
              <a:pathLst>
                <a:path w="31750" h="32385">
                  <a:moveTo>
                    <a:pt x="0" y="0"/>
                  </a:moveTo>
                  <a:lnTo>
                    <a:pt x="0" y="31972"/>
                  </a:lnTo>
                  <a:lnTo>
                    <a:pt x="31724" y="137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456193" y="5096630"/>
              <a:ext cx="254635" cy="177800"/>
            </a:xfrm>
            <a:custGeom>
              <a:avLst/>
              <a:gdLst/>
              <a:ahLst/>
              <a:cxnLst/>
              <a:rect l="l" t="t" r="r" b="b"/>
              <a:pathLst>
                <a:path w="254634" h="177800">
                  <a:moveTo>
                    <a:pt x="254600" y="0"/>
                  </a:moveTo>
                  <a:lnTo>
                    <a:pt x="0" y="0"/>
                  </a:lnTo>
                  <a:lnTo>
                    <a:pt x="0" y="177565"/>
                  </a:lnTo>
                  <a:lnTo>
                    <a:pt x="254600" y="177565"/>
                  </a:lnTo>
                  <a:lnTo>
                    <a:pt x="2546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456193" y="5096630"/>
              <a:ext cx="254635" cy="177800"/>
            </a:xfrm>
            <a:custGeom>
              <a:avLst/>
              <a:gdLst/>
              <a:ahLst/>
              <a:cxnLst/>
              <a:rect l="l" t="t" r="r" b="b"/>
              <a:pathLst>
                <a:path w="254634" h="177800">
                  <a:moveTo>
                    <a:pt x="0" y="177565"/>
                  </a:moveTo>
                  <a:lnTo>
                    <a:pt x="254600" y="177565"/>
                  </a:lnTo>
                  <a:lnTo>
                    <a:pt x="254600" y="0"/>
                  </a:lnTo>
                  <a:lnTo>
                    <a:pt x="0" y="0"/>
                  </a:lnTo>
                  <a:lnTo>
                    <a:pt x="0" y="177565"/>
                  </a:lnTo>
                  <a:close/>
                </a:path>
              </a:pathLst>
            </a:custGeom>
            <a:ln w="45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369540" y="5096630"/>
              <a:ext cx="250190" cy="177800"/>
            </a:xfrm>
            <a:custGeom>
              <a:avLst/>
              <a:gdLst/>
              <a:ahLst/>
              <a:cxnLst/>
              <a:rect l="l" t="t" r="r" b="b"/>
              <a:pathLst>
                <a:path w="250190" h="177800">
                  <a:moveTo>
                    <a:pt x="250090" y="0"/>
                  </a:moveTo>
                  <a:lnTo>
                    <a:pt x="0" y="0"/>
                  </a:lnTo>
                  <a:lnTo>
                    <a:pt x="0" y="177565"/>
                  </a:lnTo>
                  <a:lnTo>
                    <a:pt x="250090" y="177565"/>
                  </a:lnTo>
                  <a:lnTo>
                    <a:pt x="25009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369540" y="5096630"/>
              <a:ext cx="379730" cy="177800"/>
            </a:xfrm>
            <a:custGeom>
              <a:avLst/>
              <a:gdLst/>
              <a:ahLst/>
              <a:cxnLst/>
              <a:rect l="l" t="t" r="r" b="b"/>
              <a:pathLst>
                <a:path w="379729" h="177800">
                  <a:moveTo>
                    <a:pt x="0" y="177565"/>
                  </a:moveTo>
                  <a:lnTo>
                    <a:pt x="250090" y="177565"/>
                  </a:lnTo>
                  <a:lnTo>
                    <a:pt x="250090" y="0"/>
                  </a:lnTo>
                  <a:lnTo>
                    <a:pt x="0" y="0"/>
                  </a:lnTo>
                  <a:lnTo>
                    <a:pt x="0" y="177565"/>
                  </a:lnTo>
                  <a:close/>
                </a:path>
                <a:path w="379729" h="177800">
                  <a:moveTo>
                    <a:pt x="252251" y="93296"/>
                  </a:moveTo>
                  <a:lnTo>
                    <a:pt x="379573" y="93296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737913" y="5174031"/>
              <a:ext cx="31750" cy="32384"/>
            </a:xfrm>
            <a:custGeom>
              <a:avLst/>
              <a:gdLst/>
              <a:ahLst/>
              <a:cxnLst/>
              <a:rect l="l" t="t" r="r" b="b"/>
              <a:pathLst>
                <a:path w="31750" h="32385">
                  <a:moveTo>
                    <a:pt x="0" y="0"/>
                  </a:moveTo>
                  <a:lnTo>
                    <a:pt x="0" y="31790"/>
                  </a:lnTo>
                  <a:lnTo>
                    <a:pt x="31723" y="1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765096" y="5032770"/>
              <a:ext cx="182245" cy="305435"/>
            </a:xfrm>
            <a:custGeom>
              <a:avLst/>
              <a:gdLst/>
              <a:ahLst/>
              <a:cxnLst/>
              <a:rect l="l" t="t" r="r" b="b"/>
              <a:pathLst>
                <a:path w="182245" h="305435">
                  <a:moveTo>
                    <a:pt x="181858" y="0"/>
                  </a:moveTo>
                  <a:lnTo>
                    <a:pt x="0" y="0"/>
                  </a:lnTo>
                  <a:lnTo>
                    <a:pt x="0" y="305127"/>
                  </a:lnTo>
                  <a:lnTo>
                    <a:pt x="181858" y="305127"/>
                  </a:lnTo>
                  <a:lnTo>
                    <a:pt x="181858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765096" y="5032770"/>
              <a:ext cx="182245" cy="305435"/>
            </a:xfrm>
            <a:custGeom>
              <a:avLst/>
              <a:gdLst/>
              <a:ahLst/>
              <a:cxnLst/>
              <a:rect l="l" t="t" r="r" b="b"/>
              <a:pathLst>
                <a:path w="182245" h="305435">
                  <a:moveTo>
                    <a:pt x="0" y="305127"/>
                  </a:moveTo>
                  <a:lnTo>
                    <a:pt x="181858" y="305127"/>
                  </a:lnTo>
                  <a:lnTo>
                    <a:pt x="181858" y="0"/>
                  </a:lnTo>
                  <a:lnTo>
                    <a:pt x="0" y="0"/>
                  </a:lnTo>
                  <a:lnTo>
                    <a:pt x="0" y="305127"/>
                  </a:lnTo>
                  <a:close/>
                </a:path>
              </a:pathLst>
            </a:custGeom>
            <a:ln w="45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7856259" y="5032770"/>
              <a:ext cx="177800" cy="305435"/>
            </a:xfrm>
            <a:custGeom>
              <a:avLst/>
              <a:gdLst/>
              <a:ahLst/>
              <a:cxnLst/>
              <a:rect l="l" t="t" r="r" b="b"/>
              <a:pathLst>
                <a:path w="177800" h="305435">
                  <a:moveTo>
                    <a:pt x="177348" y="0"/>
                  </a:moveTo>
                  <a:lnTo>
                    <a:pt x="0" y="0"/>
                  </a:lnTo>
                  <a:lnTo>
                    <a:pt x="0" y="305127"/>
                  </a:lnTo>
                  <a:lnTo>
                    <a:pt x="177348" y="305127"/>
                  </a:lnTo>
                  <a:lnTo>
                    <a:pt x="177348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856259" y="5032770"/>
              <a:ext cx="177800" cy="305435"/>
            </a:xfrm>
            <a:custGeom>
              <a:avLst/>
              <a:gdLst/>
              <a:ahLst/>
              <a:cxnLst/>
              <a:rect l="l" t="t" r="r" b="b"/>
              <a:pathLst>
                <a:path w="177800" h="305435">
                  <a:moveTo>
                    <a:pt x="0" y="305127"/>
                  </a:moveTo>
                  <a:lnTo>
                    <a:pt x="177348" y="305127"/>
                  </a:lnTo>
                  <a:lnTo>
                    <a:pt x="177348" y="0"/>
                  </a:lnTo>
                  <a:lnTo>
                    <a:pt x="0" y="0"/>
                  </a:lnTo>
                  <a:lnTo>
                    <a:pt x="0" y="305127"/>
                  </a:lnTo>
                  <a:close/>
                </a:path>
              </a:pathLst>
            </a:custGeom>
            <a:ln w="45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49147" y="5050995"/>
              <a:ext cx="216077" cy="223199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6298977" y="5189927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561" y="0"/>
                  </a:lnTo>
                </a:path>
              </a:pathLst>
            </a:custGeom>
            <a:ln w="4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6342337" y="5174031"/>
              <a:ext cx="27305" cy="32384"/>
            </a:xfrm>
            <a:custGeom>
              <a:avLst/>
              <a:gdLst/>
              <a:ahLst/>
              <a:cxnLst/>
              <a:rect l="l" t="t" r="r" b="b"/>
              <a:pathLst>
                <a:path w="27304" h="32385">
                  <a:moveTo>
                    <a:pt x="0" y="0"/>
                  </a:moveTo>
                  <a:lnTo>
                    <a:pt x="0" y="31790"/>
                  </a:lnTo>
                  <a:lnTo>
                    <a:pt x="27202" y="1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856259" y="4827957"/>
              <a:ext cx="177800" cy="27305"/>
            </a:xfrm>
            <a:custGeom>
              <a:avLst/>
              <a:gdLst/>
              <a:ahLst/>
              <a:cxnLst/>
              <a:rect l="l" t="t" r="r" b="b"/>
              <a:pathLst>
                <a:path w="177800" h="27304">
                  <a:moveTo>
                    <a:pt x="177348" y="0"/>
                  </a:moveTo>
                  <a:lnTo>
                    <a:pt x="0" y="0"/>
                  </a:lnTo>
                  <a:lnTo>
                    <a:pt x="0" y="27259"/>
                  </a:lnTo>
                  <a:lnTo>
                    <a:pt x="177348" y="27259"/>
                  </a:lnTo>
                  <a:lnTo>
                    <a:pt x="1773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856259" y="4827957"/>
              <a:ext cx="177800" cy="27305"/>
            </a:xfrm>
            <a:custGeom>
              <a:avLst/>
              <a:gdLst/>
              <a:ahLst/>
              <a:cxnLst/>
              <a:rect l="l" t="t" r="r" b="b"/>
              <a:pathLst>
                <a:path w="177800" h="27304">
                  <a:moveTo>
                    <a:pt x="0" y="27259"/>
                  </a:moveTo>
                  <a:lnTo>
                    <a:pt x="177348" y="27259"/>
                  </a:lnTo>
                  <a:lnTo>
                    <a:pt x="177348" y="0"/>
                  </a:lnTo>
                  <a:lnTo>
                    <a:pt x="0" y="0"/>
                  </a:lnTo>
                  <a:lnTo>
                    <a:pt x="0" y="27259"/>
                  </a:lnTo>
                  <a:close/>
                </a:path>
              </a:pathLst>
            </a:custGeom>
            <a:ln w="4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856259" y="5228735"/>
              <a:ext cx="177800" cy="27305"/>
            </a:xfrm>
            <a:custGeom>
              <a:avLst/>
              <a:gdLst/>
              <a:ahLst/>
              <a:cxnLst/>
              <a:rect l="l" t="t" r="r" b="b"/>
              <a:pathLst>
                <a:path w="177800" h="27304">
                  <a:moveTo>
                    <a:pt x="177348" y="0"/>
                  </a:moveTo>
                  <a:lnTo>
                    <a:pt x="0" y="0"/>
                  </a:lnTo>
                  <a:lnTo>
                    <a:pt x="0" y="27259"/>
                  </a:lnTo>
                  <a:lnTo>
                    <a:pt x="177348" y="27259"/>
                  </a:lnTo>
                  <a:lnTo>
                    <a:pt x="1773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856259" y="5228735"/>
              <a:ext cx="177800" cy="27305"/>
            </a:xfrm>
            <a:custGeom>
              <a:avLst/>
              <a:gdLst/>
              <a:ahLst/>
              <a:cxnLst/>
              <a:rect l="l" t="t" r="r" b="b"/>
              <a:pathLst>
                <a:path w="177800" h="27304">
                  <a:moveTo>
                    <a:pt x="0" y="27259"/>
                  </a:moveTo>
                  <a:lnTo>
                    <a:pt x="177348" y="27259"/>
                  </a:lnTo>
                  <a:lnTo>
                    <a:pt x="177348" y="0"/>
                  </a:lnTo>
                  <a:lnTo>
                    <a:pt x="0" y="0"/>
                  </a:lnTo>
                  <a:lnTo>
                    <a:pt x="0" y="27259"/>
                  </a:lnTo>
                  <a:close/>
                </a:path>
              </a:pathLst>
            </a:custGeom>
            <a:ln w="4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442282" y="5215026"/>
              <a:ext cx="109220" cy="32384"/>
            </a:xfrm>
            <a:custGeom>
              <a:avLst/>
              <a:gdLst/>
              <a:ahLst/>
              <a:cxnLst/>
              <a:rect l="l" t="t" r="r" b="b"/>
              <a:pathLst>
                <a:path w="109220" h="32385">
                  <a:moveTo>
                    <a:pt x="109116" y="0"/>
                  </a:moveTo>
                  <a:lnTo>
                    <a:pt x="0" y="0"/>
                  </a:lnTo>
                  <a:lnTo>
                    <a:pt x="0" y="31928"/>
                  </a:lnTo>
                  <a:lnTo>
                    <a:pt x="109116" y="31928"/>
                  </a:lnTo>
                  <a:lnTo>
                    <a:pt x="109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371719" y="5185255"/>
              <a:ext cx="1068705" cy="62230"/>
            </a:xfrm>
            <a:custGeom>
              <a:avLst/>
              <a:gdLst/>
              <a:ahLst/>
              <a:cxnLst/>
              <a:rect l="l" t="t" r="r" b="b"/>
              <a:pathLst>
                <a:path w="1068704" h="62229">
                  <a:moveTo>
                    <a:pt x="70562" y="61700"/>
                  </a:moveTo>
                  <a:lnTo>
                    <a:pt x="179678" y="61700"/>
                  </a:lnTo>
                  <a:lnTo>
                    <a:pt x="179678" y="29771"/>
                  </a:lnTo>
                  <a:lnTo>
                    <a:pt x="70562" y="29771"/>
                  </a:lnTo>
                  <a:lnTo>
                    <a:pt x="70562" y="61700"/>
                  </a:lnTo>
                  <a:close/>
                </a:path>
                <a:path w="1068704" h="62229">
                  <a:moveTo>
                    <a:pt x="0" y="4671"/>
                  </a:moveTo>
                  <a:lnTo>
                    <a:pt x="72742" y="45622"/>
                  </a:lnTo>
                </a:path>
                <a:path w="1068704" h="62229">
                  <a:moveTo>
                    <a:pt x="109128" y="50173"/>
                  </a:moveTo>
                  <a:lnTo>
                    <a:pt x="250072" y="4671"/>
                  </a:lnTo>
                </a:path>
                <a:path w="1068704" h="62229">
                  <a:moveTo>
                    <a:pt x="977494" y="0"/>
                  </a:moveTo>
                  <a:lnTo>
                    <a:pt x="1068429" y="0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428948" y="5169542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0"/>
                  </a:moveTo>
                  <a:lnTo>
                    <a:pt x="0" y="31729"/>
                  </a:lnTo>
                  <a:lnTo>
                    <a:pt x="31724" y="18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6246753" y="5129440"/>
            <a:ext cx="50800" cy="14033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R="5080" indent="4445">
              <a:lnSpc>
                <a:spcPts val="430"/>
              </a:lnSpc>
              <a:spcBef>
                <a:spcPts val="150"/>
              </a:spcBef>
            </a:pPr>
            <a:r>
              <a:rPr dirty="0" sz="400" spc="-50">
                <a:latin typeface="Arial MT"/>
                <a:cs typeface="Arial MT"/>
              </a:rPr>
              <a:t>P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50">
                <a:latin typeface="Arial MT"/>
                <a:cs typeface="Arial MT"/>
              </a:rPr>
              <a:t>C</a:t>
            </a:r>
            <a:endParaRPr sz="400">
              <a:latin typeface="Arial MT"/>
              <a:cs typeface="Arial MT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6224056" y="5401426"/>
            <a:ext cx="1489710" cy="369570"/>
            <a:chOff x="6224056" y="5401426"/>
            <a:chExt cx="1489710" cy="369570"/>
          </a:xfrm>
        </p:grpSpPr>
        <p:sp>
          <p:nvSpPr>
            <p:cNvPr id="65" name="object 65" descr=""/>
            <p:cNvSpPr/>
            <p:nvPr/>
          </p:nvSpPr>
          <p:spPr>
            <a:xfrm>
              <a:off x="6224056" y="5492737"/>
              <a:ext cx="73025" cy="182245"/>
            </a:xfrm>
            <a:custGeom>
              <a:avLst/>
              <a:gdLst/>
              <a:ahLst/>
              <a:cxnLst/>
              <a:rect l="l" t="t" r="r" b="b"/>
              <a:pathLst>
                <a:path w="73025" h="182245">
                  <a:moveTo>
                    <a:pt x="72742" y="0"/>
                  </a:moveTo>
                  <a:lnTo>
                    <a:pt x="0" y="0"/>
                  </a:lnTo>
                  <a:lnTo>
                    <a:pt x="0" y="182236"/>
                  </a:lnTo>
                  <a:lnTo>
                    <a:pt x="72742" y="182236"/>
                  </a:lnTo>
                  <a:lnTo>
                    <a:pt x="72742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7094631" y="5403966"/>
              <a:ext cx="254635" cy="364490"/>
            </a:xfrm>
            <a:custGeom>
              <a:avLst/>
              <a:gdLst/>
              <a:ahLst/>
              <a:cxnLst/>
              <a:rect l="l" t="t" r="r" b="b"/>
              <a:pathLst>
                <a:path w="254634" h="364489">
                  <a:moveTo>
                    <a:pt x="0" y="0"/>
                  </a:moveTo>
                  <a:lnTo>
                    <a:pt x="0" y="364315"/>
                  </a:lnTo>
                  <a:lnTo>
                    <a:pt x="254582" y="273191"/>
                  </a:lnTo>
                  <a:lnTo>
                    <a:pt x="254582" y="90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949147" y="5403966"/>
              <a:ext cx="400685" cy="364490"/>
            </a:xfrm>
            <a:custGeom>
              <a:avLst/>
              <a:gdLst/>
              <a:ahLst/>
              <a:cxnLst/>
              <a:rect l="l" t="t" r="r" b="b"/>
              <a:pathLst>
                <a:path w="400684" h="364489">
                  <a:moveTo>
                    <a:pt x="145484" y="364315"/>
                  </a:moveTo>
                  <a:lnTo>
                    <a:pt x="400066" y="273191"/>
                  </a:lnTo>
                  <a:lnTo>
                    <a:pt x="400066" y="90942"/>
                  </a:lnTo>
                  <a:lnTo>
                    <a:pt x="145484" y="0"/>
                  </a:lnTo>
                  <a:lnTo>
                    <a:pt x="145484" y="364315"/>
                  </a:lnTo>
                  <a:close/>
                </a:path>
                <a:path w="400684" h="364489">
                  <a:moveTo>
                    <a:pt x="145484" y="122854"/>
                  </a:moveTo>
                  <a:lnTo>
                    <a:pt x="218256" y="182066"/>
                  </a:lnTo>
                </a:path>
                <a:path w="400684" h="364489">
                  <a:moveTo>
                    <a:pt x="145484" y="245890"/>
                  </a:moveTo>
                  <a:lnTo>
                    <a:pt x="218256" y="182066"/>
                  </a:lnTo>
                </a:path>
                <a:path w="400684" h="364489">
                  <a:moveTo>
                    <a:pt x="0" y="305103"/>
                  </a:moveTo>
                  <a:lnTo>
                    <a:pt x="127321" y="305103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7065267" y="5693174"/>
              <a:ext cx="31750" cy="32384"/>
            </a:xfrm>
            <a:custGeom>
              <a:avLst/>
              <a:gdLst/>
              <a:ahLst/>
              <a:cxnLst/>
              <a:rect l="l" t="t" r="r" b="b"/>
              <a:pathLst>
                <a:path w="31750" h="32385">
                  <a:moveTo>
                    <a:pt x="0" y="0"/>
                  </a:moveTo>
                  <a:lnTo>
                    <a:pt x="0" y="31911"/>
                  </a:lnTo>
                  <a:lnTo>
                    <a:pt x="31724" y="137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7456193" y="5492737"/>
              <a:ext cx="254635" cy="182245"/>
            </a:xfrm>
            <a:custGeom>
              <a:avLst/>
              <a:gdLst/>
              <a:ahLst/>
              <a:cxnLst/>
              <a:rect l="l" t="t" r="r" b="b"/>
              <a:pathLst>
                <a:path w="254634" h="182245">
                  <a:moveTo>
                    <a:pt x="254600" y="0"/>
                  </a:moveTo>
                  <a:lnTo>
                    <a:pt x="0" y="0"/>
                  </a:lnTo>
                  <a:lnTo>
                    <a:pt x="0" y="182236"/>
                  </a:lnTo>
                  <a:lnTo>
                    <a:pt x="254600" y="182236"/>
                  </a:lnTo>
                  <a:lnTo>
                    <a:pt x="2546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7456193" y="5492737"/>
              <a:ext cx="254635" cy="182245"/>
            </a:xfrm>
            <a:custGeom>
              <a:avLst/>
              <a:gdLst/>
              <a:ahLst/>
              <a:cxnLst/>
              <a:rect l="l" t="t" r="r" b="b"/>
              <a:pathLst>
                <a:path w="254634" h="182245">
                  <a:moveTo>
                    <a:pt x="0" y="182236"/>
                  </a:moveTo>
                  <a:lnTo>
                    <a:pt x="254600" y="182236"/>
                  </a:lnTo>
                  <a:lnTo>
                    <a:pt x="254600" y="0"/>
                  </a:lnTo>
                  <a:lnTo>
                    <a:pt x="0" y="0"/>
                  </a:lnTo>
                  <a:lnTo>
                    <a:pt x="0" y="182236"/>
                  </a:lnTo>
                  <a:close/>
                </a:path>
              </a:pathLst>
            </a:custGeom>
            <a:ln w="45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369540" y="5492737"/>
              <a:ext cx="250190" cy="182245"/>
            </a:xfrm>
            <a:custGeom>
              <a:avLst/>
              <a:gdLst/>
              <a:ahLst/>
              <a:cxnLst/>
              <a:rect l="l" t="t" r="r" b="b"/>
              <a:pathLst>
                <a:path w="250190" h="182245">
                  <a:moveTo>
                    <a:pt x="250090" y="0"/>
                  </a:moveTo>
                  <a:lnTo>
                    <a:pt x="0" y="0"/>
                  </a:lnTo>
                  <a:lnTo>
                    <a:pt x="0" y="182236"/>
                  </a:lnTo>
                  <a:lnTo>
                    <a:pt x="250090" y="182236"/>
                  </a:lnTo>
                  <a:lnTo>
                    <a:pt x="25009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6369540" y="5492737"/>
              <a:ext cx="379730" cy="182245"/>
            </a:xfrm>
            <a:custGeom>
              <a:avLst/>
              <a:gdLst/>
              <a:ahLst/>
              <a:cxnLst/>
              <a:rect l="l" t="t" r="r" b="b"/>
              <a:pathLst>
                <a:path w="379729" h="182245">
                  <a:moveTo>
                    <a:pt x="0" y="182236"/>
                  </a:moveTo>
                  <a:lnTo>
                    <a:pt x="250090" y="182236"/>
                  </a:lnTo>
                  <a:lnTo>
                    <a:pt x="250090" y="0"/>
                  </a:lnTo>
                  <a:lnTo>
                    <a:pt x="0" y="0"/>
                  </a:lnTo>
                  <a:lnTo>
                    <a:pt x="0" y="182236"/>
                  </a:lnTo>
                  <a:close/>
                </a:path>
                <a:path w="379729" h="182245">
                  <a:moveTo>
                    <a:pt x="252251" y="93296"/>
                  </a:moveTo>
                  <a:lnTo>
                    <a:pt x="379573" y="93296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6737913" y="5570258"/>
              <a:ext cx="31750" cy="32384"/>
            </a:xfrm>
            <a:custGeom>
              <a:avLst/>
              <a:gdLst/>
              <a:ahLst/>
              <a:cxnLst/>
              <a:rect l="l" t="t" r="r" b="b"/>
              <a:pathLst>
                <a:path w="31750" h="32385">
                  <a:moveTo>
                    <a:pt x="0" y="0"/>
                  </a:moveTo>
                  <a:lnTo>
                    <a:pt x="0" y="31790"/>
                  </a:lnTo>
                  <a:lnTo>
                    <a:pt x="31723" y="182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6765096" y="5433548"/>
              <a:ext cx="182245" cy="305435"/>
            </a:xfrm>
            <a:custGeom>
              <a:avLst/>
              <a:gdLst/>
              <a:ahLst/>
              <a:cxnLst/>
              <a:rect l="l" t="t" r="r" b="b"/>
              <a:pathLst>
                <a:path w="182245" h="305435">
                  <a:moveTo>
                    <a:pt x="181858" y="0"/>
                  </a:moveTo>
                  <a:lnTo>
                    <a:pt x="0" y="0"/>
                  </a:lnTo>
                  <a:lnTo>
                    <a:pt x="0" y="305127"/>
                  </a:lnTo>
                  <a:lnTo>
                    <a:pt x="181858" y="305127"/>
                  </a:lnTo>
                  <a:lnTo>
                    <a:pt x="181858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6765096" y="5433548"/>
              <a:ext cx="182245" cy="305435"/>
            </a:xfrm>
            <a:custGeom>
              <a:avLst/>
              <a:gdLst/>
              <a:ahLst/>
              <a:cxnLst/>
              <a:rect l="l" t="t" r="r" b="b"/>
              <a:pathLst>
                <a:path w="182245" h="305435">
                  <a:moveTo>
                    <a:pt x="0" y="305127"/>
                  </a:moveTo>
                  <a:lnTo>
                    <a:pt x="181858" y="305127"/>
                  </a:lnTo>
                  <a:lnTo>
                    <a:pt x="181858" y="0"/>
                  </a:lnTo>
                  <a:lnTo>
                    <a:pt x="0" y="0"/>
                  </a:lnTo>
                  <a:lnTo>
                    <a:pt x="0" y="305127"/>
                  </a:lnTo>
                  <a:close/>
                </a:path>
              </a:pathLst>
            </a:custGeom>
            <a:ln w="45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49147" y="5451773"/>
              <a:ext cx="216077" cy="223199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98977" y="5570258"/>
              <a:ext cx="325072" cy="79672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7349214" y="5586033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91440" h="0">
                  <a:moveTo>
                    <a:pt x="0" y="0"/>
                  </a:moveTo>
                  <a:lnTo>
                    <a:pt x="90935" y="0"/>
                  </a:lnTo>
                </a:path>
              </a:pathLst>
            </a:custGeom>
            <a:ln w="4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428948" y="5570258"/>
              <a:ext cx="31750" cy="32384"/>
            </a:xfrm>
            <a:custGeom>
              <a:avLst/>
              <a:gdLst/>
              <a:ahLst/>
              <a:cxnLst/>
              <a:rect l="l" t="t" r="r" b="b"/>
              <a:pathLst>
                <a:path w="31750" h="32385">
                  <a:moveTo>
                    <a:pt x="0" y="0"/>
                  </a:moveTo>
                  <a:lnTo>
                    <a:pt x="0" y="31790"/>
                  </a:lnTo>
                  <a:lnTo>
                    <a:pt x="31724" y="182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6224056" y="5492737"/>
            <a:ext cx="73025" cy="182245"/>
          </a:xfrm>
          <a:prstGeom prst="rect">
            <a:avLst/>
          </a:prstGeom>
          <a:ln w="4510">
            <a:solidFill>
              <a:srgbClr val="000000"/>
            </a:solidFill>
          </a:ln>
        </p:spPr>
        <p:txBody>
          <a:bodyPr wrap="square" lIns="0" tIns="56515" rIns="0" bIns="0" rtlCol="0" vert="horz">
            <a:spAutoFit/>
          </a:bodyPr>
          <a:lstStyle/>
          <a:p>
            <a:pPr marL="22225" marR="3810" indent="4445">
              <a:lnSpc>
                <a:spcPts val="430"/>
              </a:lnSpc>
              <a:spcBef>
                <a:spcPts val="445"/>
              </a:spcBef>
            </a:pPr>
            <a:r>
              <a:rPr dirty="0" sz="400" spc="-50">
                <a:latin typeface="Arial MT"/>
                <a:cs typeface="Arial MT"/>
              </a:rPr>
              <a:t>P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50">
                <a:latin typeface="Arial MT"/>
                <a:cs typeface="Arial MT"/>
              </a:rPr>
              <a:t>C</a:t>
            </a:r>
            <a:endParaRPr sz="400">
              <a:latin typeface="Arial MT"/>
              <a:cs typeface="Arial MT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6221515" y="4725102"/>
            <a:ext cx="1130300" cy="1446530"/>
            <a:chOff x="6221515" y="4725102"/>
            <a:chExt cx="1130300" cy="1446530"/>
          </a:xfrm>
        </p:grpSpPr>
        <p:sp>
          <p:nvSpPr>
            <p:cNvPr id="82" name="object 82" descr=""/>
            <p:cNvSpPr/>
            <p:nvPr/>
          </p:nvSpPr>
          <p:spPr>
            <a:xfrm>
              <a:off x="6224055" y="5893490"/>
              <a:ext cx="73025" cy="182245"/>
            </a:xfrm>
            <a:custGeom>
              <a:avLst/>
              <a:gdLst/>
              <a:ahLst/>
              <a:cxnLst/>
              <a:rect l="l" t="t" r="r" b="b"/>
              <a:pathLst>
                <a:path w="73025" h="182245">
                  <a:moveTo>
                    <a:pt x="72742" y="0"/>
                  </a:moveTo>
                  <a:lnTo>
                    <a:pt x="0" y="0"/>
                  </a:lnTo>
                  <a:lnTo>
                    <a:pt x="0" y="182236"/>
                  </a:lnTo>
                  <a:lnTo>
                    <a:pt x="72742" y="182236"/>
                  </a:lnTo>
                  <a:lnTo>
                    <a:pt x="72742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224055" y="5893490"/>
              <a:ext cx="73025" cy="182245"/>
            </a:xfrm>
            <a:custGeom>
              <a:avLst/>
              <a:gdLst/>
              <a:ahLst/>
              <a:cxnLst/>
              <a:rect l="l" t="t" r="r" b="b"/>
              <a:pathLst>
                <a:path w="73025" h="182245">
                  <a:moveTo>
                    <a:pt x="0" y="182236"/>
                  </a:moveTo>
                  <a:lnTo>
                    <a:pt x="72742" y="182236"/>
                  </a:lnTo>
                  <a:lnTo>
                    <a:pt x="72742" y="0"/>
                  </a:lnTo>
                  <a:lnTo>
                    <a:pt x="0" y="0"/>
                  </a:lnTo>
                  <a:lnTo>
                    <a:pt x="0" y="182236"/>
                  </a:lnTo>
                  <a:close/>
                </a:path>
              </a:pathLst>
            </a:custGeom>
            <a:ln w="4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7094631" y="5804683"/>
              <a:ext cx="254635" cy="364490"/>
            </a:xfrm>
            <a:custGeom>
              <a:avLst/>
              <a:gdLst/>
              <a:ahLst/>
              <a:cxnLst/>
              <a:rect l="l" t="t" r="r" b="b"/>
              <a:pathLst>
                <a:path w="254634" h="364489">
                  <a:moveTo>
                    <a:pt x="0" y="0"/>
                  </a:moveTo>
                  <a:lnTo>
                    <a:pt x="0" y="364340"/>
                  </a:lnTo>
                  <a:lnTo>
                    <a:pt x="254582" y="273221"/>
                  </a:lnTo>
                  <a:lnTo>
                    <a:pt x="254582" y="91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949147" y="5804683"/>
              <a:ext cx="400685" cy="364490"/>
            </a:xfrm>
            <a:custGeom>
              <a:avLst/>
              <a:gdLst/>
              <a:ahLst/>
              <a:cxnLst/>
              <a:rect l="l" t="t" r="r" b="b"/>
              <a:pathLst>
                <a:path w="400684" h="364489">
                  <a:moveTo>
                    <a:pt x="145484" y="364340"/>
                  </a:moveTo>
                  <a:lnTo>
                    <a:pt x="400066" y="273221"/>
                  </a:lnTo>
                  <a:lnTo>
                    <a:pt x="400066" y="91003"/>
                  </a:lnTo>
                  <a:lnTo>
                    <a:pt x="145484" y="0"/>
                  </a:lnTo>
                  <a:lnTo>
                    <a:pt x="145484" y="364340"/>
                  </a:lnTo>
                  <a:close/>
                </a:path>
                <a:path w="400684" h="364489">
                  <a:moveTo>
                    <a:pt x="145484" y="122914"/>
                  </a:moveTo>
                  <a:lnTo>
                    <a:pt x="218256" y="182109"/>
                  </a:lnTo>
                </a:path>
                <a:path w="400684" h="364489">
                  <a:moveTo>
                    <a:pt x="145484" y="241297"/>
                  </a:moveTo>
                  <a:lnTo>
                    <a:pt x="218256" y="182109"/>
                  </a:lnTo>
                </a:path>
                <a:path w="400684" h="364489">
                  <a:moveTo>
                    <a:pt x="0" y="305151"/>
                  </a:moveTo>
                  <a:lnTo>
                    <a:pt x="72772" y="305151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6369540" y="5893490"/>
              <a:ext cx="250190" cy="182245"/>
            </a:xfrm>
            <a:custGeom>
              <a:avLst/>
              <a:gdLst/>
              <a:ahLst/>
              <a:cxnLst/>
              <a:rect l="l" t="t" r="r" b="b"/>
              <a:pathLst>
                <a:path w="250190" h="182245">
                  <a:moveTo>
                    <a:pt x="250090" y="0"/>
                  </a:moveTo>
                  <a:lnTo>
                    <a:pt x="0" y="0"/>
                  </a:lnTo>
                  <a:lnTo>
                    <a:pt x="0" y="182236"/>
                  </a:lnTo>
                  <a:lnTo>
                    <a:pt x="250090" y="182236"/>
                  </a:lnTo>
                  <a:lnTo>
                    <a:pt x="25009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6369540" y="5893490"/>
              <a:ext cx="379730" cy="182245"/>
            </a:xfrm>
            <a:custGeom>
              <a:avLst/>
              <a:gdLst/>
              <a:ahLst/>
              <a:cxnLst/>
              <a:rect l="l" t="t" r="r" b="b"/>
              <a:pathLst>
                <a:path w="379729" h="182245">
                  <a:moveTo>
                    <a:pt x="0" y="182236"/>
                  </a:moveTo>
                  <a:lnTo>
                    <a:pt x="250090" y="182236"/>
                  </a:lnTo>
                  <a:lnTo>
                    <a:pt x="250090" y="0"/>
                  </a:lnTo>
                  <a:lnTo>
                    <a:pt x="0" y="0"/>
                  </a:lnTo>
                  <a:lnTo>
                    <a:pt x="0" y="182236"/>
                  </a:lnTo>
                  <a:close/>
                </a:path>
                <a:path w="379729" h="182245">
                  <a:moveTo>
                    <a:pt x="252251" y="93302"/>
                  </a:moveTo>
                  <a:lnTo>
                    <a:pt x="379573" y="93302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737913" y="5971036"/>
              <a:ext cx="31750" cy="32384"/>
            </a:xfrm>
            <a:custGeom>
              <a:avLst/>
              <a:gdLst/>
              <a:ahLst/>
              <a:cxnLst/>
              <a:rect l="l" t="t" r="r" b="b"/>
              <a:pathLst>
                <a:path w="31750" h="32385">
                  <a:moveTo>
                    <a:pt x="0" y="0"/>
                  </a:moveTo>
                  <a:lnTo>
                    <a:pt x="0" y="31790"/>
                  </a:lnTo>
                  <a:lnTo>
                    <a:pt x="31723" y="18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765096" y="5834301"/>
              <a:ext cx="182245" cy="300990"/>
            </a:xfrm>
            <a:custGeom>
              <a:avLst/>
              <a:gdLst/>
              <a:ahLst/>
              <a:cxnLst/>
              <a:rect l="l" t="t" r="r" b="b"/>
              <a:pathLst>
                <a:path w="182245" h="300989">
                  <a:moveTo>
                    <a:pt x="181858" y="0"/>
                  </a:moveTo>
                  <a:lnTo>
                    <a:pt x="0" y="0"/>
                  </a:lnTo>
                  <a:lnTo>
                    <a:pt x="0" y="300613"/>
                  </a:lnTo>
                  <a:lnTo>
                    <a:pt x="181858" y="300613"/>
                  </a:lnTo>
                  <a:lnTo>
                    <a:pt x="181858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765096" y="5834301"/>
              <a:ext cx="220979" cy="300990"/>
            </a:xfrm>
            <a:custGeom>
              <a:avLst/>
              <a:gdLst/>
              <a:ahLst/>
              <a:cxnLst/>
              <a:rect l="l" t="t" r="r" b="b"/>
              <a:pathLst>
                <a:path w="220979" h="300989">
                  <a:moveTo>
                    <a:pt x="0" y="300613"/>
                  </a:moveTo>
                  <a:lnTo>
                    <a:pt x="181858" y="300613"/>
                  </a:lnTo>
                  <a:lnTo>
                    <a:pt x="181858" y="0"/>
                  </a:lnTo>
                  <a:lnTo>
                    <a:pt x="0" y="0"/>
                  </a:lnTo>
                  <a:lnTo>
                    <a:pt x="0" y="300613"/>
                  </a:lnTo>
                  <a:close/>
                </a:path>
                <a:path w="220979" h="300989">
                  <a:moveTo>
                    <a:pt x="184050" y="29594"/>
                  </a:moveTo>
                  <a:lnTo>
                    <a:pt x="220436" y="29594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056065" y="5893501"/>
              <a:ext cx="109220" cy="182245"/>
            </a:xfrm>
            <a:custGeom>
              <a:avLst/>
              <a:gdLst/>
              <a:ahLst/>
              <a:cxnLst/>
              <a:rect l="l" t="t" r="r" b="b"/>
              <a:pathLst>
                <a:path w="109220" h="182245">
                  <a:moveTo>
                    <a:pt x="0" y="0"/>
                  </a:moveTo>
                  <a:lnTo>
                    <a:pt x="0" y="182224"/>
                  </a:lnTo>
                  <a:lnTo>
                    <a:pt x="109159" y="91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298977" y="5986792"/>
              <a:ext cx="54610" cy="0"/>
            </a:xfrm>
            <a:custGeom>
              <a:avLst/>
              <a:gdLst/>
              <a:ahLst/>
              <a:cxnLst/>
              <a:rect l="l" t="t" r="r" b="b"/>
              <a:pathLst>
                <a:path w="54610" h="0">
                  <a:moveTo>
                    <a:pt x="0" y="0"/>
                  </a:moveTo>
                  <a:lnTo>
                    <a:pt x="54561" y="0"/>
                  </a:lnTo>
                </a:path>
              </a:pathLst>
            </a:custGeom>
            <a:ln w="4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6342337" y="5971036"/>
              <a:ext cx="27305" cy="32384"/>
            </a:xfrm>
            <a:custGeom>
              <a:avLst/>
              <a:gdLst/>
              <a:ahLst/>
              <a:cxnLst/>
              <a:rect l="l" t="t" r="r" b="b"/>
              <a:pathLst>
                <a:path w="27304" h="32385">
                  <a:moveTo>
                    <a:pt x="0" y="0"/>
                  </a:moveTo>
                  <a:lnTo>
                    <a:pt x="0" y="31790"/>
                  </a:lnTo>
                  <a:lnTo>
                    <a:pt x="27202" y="18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6765096" y="4850708"/>
              <a:ext cx="182245" cy="27305"/>
            </a:xfrm>
            <a:custGeom>
              <a:avLst/>
              <a:gdLst/>
              <a:ahLst/>
              <a:cxnLst/>
              <a:rect l="l" t="t" r="r" b="b"/>
              <a:pathLst>
                <a:path w="182245" h="27304">
                  <a:moveTo>
                    <a:pt x="181858" y="0"/>
                  </a:moveTo>
                  <a:lnTo>
                    <a:pt x="0" y="0"/>
                  </a:lnTo>
                  <a:lnTo>
                    <a:pt x="0" y="27259"/>
                  </a:lnTo>
                  <a:lnTo>
                    <a:pt x="181858" y="27259"/>
                  </a:lnTo>
                  <a:lnTo>
                    <a:pt x="181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6765096" y="4850708"/>
              <a:ext cx="182245" cy="27305"/>
            </a:xfrm>
            <a:custGeom>
              <a:avLst/>
              <a:gdLst/>
              <a:ahLst/>
              <a:cxnLst/>
              <a:rect l="l" t="t" r="r" b="b"/>
              <a:pathLst>
                <a:path w="182245" h="27304">
                  <a:moveTo>
                    <a:pt x="0" y="27259"/>
                  </a:moveTo>
                  <a:lnTo>
                    <a:pt x="181858" y="27259"/>
                  </a:lnTo>
                  <a:lnTo>
                    <a:pt x="181858" y="0"/>
                  </a:lnTo>
                  <a:lnTo>
                    <a:pt x="0" y="0"/>
                  </a:lnTo>
                  <a:lnTo>
                    <a:pt x="0" y="27259"/>
                  </a:lnTo>
                  <a:close/>
                </a:path>
              </a:pathLst>
            </a:custGeom>
            <a:ln w="4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6765096" y="5246907"/>
              <a:ext cx="182245" cy="32384"/>
            </a:xfrm>
            <a:custGeom>
              <a:avLst/>
              <a:gdLst/>
              <a:ahLst/>
              <a:cxnLst/>
              <a:rect l="l" t="t" r="r" b="b"/>
              <a:pathLst>
                <a:path w="182245" h="32385">
                  <a:moveTo>
                    <a:pt x="181858" y="0"/>
                  </a:moveTo>
                  <a:lnTo>
                    <a:pt x="0" y="0"/>
                  </a:lnTo>
                  <a:lnTo>
                    <a:pt x="0" y="31778"/>
                  </a:lnTo>
                  <a:lnTo>
                    <a:pt x="181858" y="31778"/>
                  </a:lnTo>
                  <a:lnTo>
                    <a:pt x="181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6765096" y="5246907"/>
              <a:ext cx="182245" cy="32384"/>
            </a:xfrm>
            <a:custGeom>
              <a:avLst/>
              <a:gdLst/>
              <a:ahLst/>
              <a:cxnLst/>
              <a:rect l="l" t="t" r="r" b="b"/>
              <a:pathLst>
                <a:path w="182245" h="32385">
                  <a:moveTo>
                    <a:pt x="0" y="31778"/>
                  </a:moveTo>
                  <a:lnTo>
                    <a:pt x="181858" y="31778"/>
                  </a:lnTo>
                  <a:lnTo>
                    <a:pt x="181858" y="0"/>
                  </a:lnTo>
                  <a:lnTo>
                    <a:pt x="0" y="0"/>
                  </a:lnTo>
                  <a:lnTo>
                    <a:pt x="0" y="31778"/>
                  </a:lnTo>
                  <a:close/>
                </a:path>
              </a:pathLst>
            </a:custGeom>
            <a:ln w="4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6765096" y="5647684"/>
              <a:ext cx="182245" cy="32384"/>
            </a:xfrm>
            <a:custGeom>
              <a:avLst/>
              <a:gdLst/>
              <a:ahLst/>
              <a:cxnLst/>
              <a:rect l="l" t="t" r="r" b="b"/>
              <a:pathLst>
                <a:path w="182245" h="32385">
                  <a:moveTo>
                    <a:pt x="181858" y="0"/>
                  </a:moveTo>
                  <a:lnTo>
                    <a:pt x="0" y="0"/>
                  </a:lnTo>
                  <a:lnTo>
                    <a:pt x="0" y="31778"/>
                  </a:lnTo>
                  <a:lnTo>
                    <a:pt x="181858" y="31778"/>
                  </a:lnTo>
                  <a:lnTo>
                    <a:pt x="181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6765096" y="5647684"/>
              <a:ext cx="182245" cy="32384"/>
            </a:xfrm>
            <a:custGeom>
              <a:avLst/>
              <a:gdLst/>
              <a:ahLst/>
              <a:cxnLst/>
              <a:rect l="l" t="t" r="r" b="b"/>
              <a:pathLst>
                <a:path w="182245" h="32385">
                  <a:moveTo>
                    <a:pt x="0" y="31778"/>
                  </a:moveTo>
                  <a:lnTo>
                    <a:pt x="181858" y="31778"/>
                  </a:lnTo>
                  <a:lnTo>
                    <a:pt x="181858" y="0"/>
                  </a:lnTo>
                  <a:lnTo>
                    <a:pt x="0" y="0"/>
                  </a:lnTo>
                  <a:lnTo>
                    <a:pt x="0" y="31778"/>
                  </a:lnTo>
                  <a:close/>
                </a:path>
              </a:pathLst>
            </a:custGeom>
            <a:ln w="4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6765096" y="6048467"/>
              <a:ext cx="182245" cy="27305"/>
            </a:xfrm>
            <a:custGeom>
              <a:avLst/>
              <a:gdLst/>
              <a:ahLst/>
              <a:cxnLst/>
              <a:rect l="l" t="t" r="r" b="b"/>
              <a:pathLst>
                <a:path w="182245" h="27304">
                  <a:moveTo>
                    <a:pt x="181858" y="0"/>
                  </a:moveTo>
                  <a:lnTo>
                    <a:pt x="0" y="0"/>
                  </a:lnTo>
                  <a:lnTo>
                    <a:pt x="0" y="27259"/>
                  </a:lnTo>
                  <a:lnTo>
                    <a:pt x="181858" y="27259"/>
                  </a:lnTo>
                  <a:lnTo>
                    <a:pt x="181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6765096" y="6048467"/>
              <a:ext cx="182245" cy="27305"/>
            </a:xfrm>
            <a:custGeom>
              <a:avLst/>
              <a:gdLst/>
              <a:ahLst/>
              <a:cxnLst/>
              <a:rect l="l" t="t" r="r" b="b"/>
              <a:pathLst>
                <a:path w="182245" h="27304">
                  <a:moveTo>
                    <a:pt x="0" y="27259"/>
                  </a:moveTo>
                  <a:lnTo>
                    <a:pt x="181858" y="27259"/>
                  </a:lnTo>
                  <a:lnTo>
                    <a:pt x="181858" y="0"/>
                  </a:lnTo>
                  <a:lnTo>
                    <a:pt x="0" y="0"/>
                  </a:lnTo>
                  <a:lnTo>
                    <a:pt x="0" y="27259"/>
                  </a:lnTo>
                  <a:close/>
                </a:path>
              </a:pathLst>
            </a:custGeom>
            <a:ln w="4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6765096" y="4727642"/>
              <a:ext cx="182245" cy="27940"/>
            </a:xfrm>
            <a:custGeom>
              <a:avLst/>
              <a:gdLst/>
              <a:ahLst/>
              <a:cxnLst/>
              <a:rect l="l" t="t" r="r" b="b"/>
              <a:pathLst>
                <a:path w="182245" h="27939">
                  <a:moveTo>
                    <a:pt x="181858" y="0"/>
                  </a:moveTo>
                  <a:lnTo>
                    <a:pt x="0" y="0"/>
                  </a:lnTo>
                  <a:lnTo>
                    <a:pt x="0" y="27410"/>
                  </a:lnTo>
                  <a:lnTo>
                    <a:pt x="181858" y="27410"/>
                  </a:lnTo>
                  <a:lnTo>
                    <a:pt x="181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6765096" y="4727642"/>
              <a:ext cx="182245" cy="27940"/>
            </a:xfrm>
            <a:custGeom>
              <a:avLst/>
              <a:gdLst/>
              <a:ahLst/>
              <a:cxnLst/>
              <a:rect l="l" t="t" r="r" b="b"/>
              <a:pathLst>
                <a:path w="182245" h="27939">
                  <a:moveTo>
                    <a:pt x="0" y="27410"/>
                  </a:moveTo>
                  <a:lnTo>
                    <a:pt x="181858" y="27410"/>
                  </a:lnTo>
                  <a:lnTo>
                    <a:pt x="181858" y="0"/>
                  </a:lnTo>
                  <a:lnTo>
                    <a:pt x="0" y="0"/>
                  </a:lnTo>
                  <a:lnTo>
                    <a:pt x="0" y="27410"/>
                  </a:lnTo>
                  <a:close/>
                </a:path>
              </a:pathLst>
            </a:custGeom>
            <a:ln w="4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6765096" y="5123902"/>
              <a:ext cx="182245" cy="32384"/>
            </a:xfrm>
            <a:custGeom>
              <a:avLst/>
              <a:gdLst/>
              <a:ahLst/>
              <a:cxnLst/>
              <a:rect l="l" t="t" r="r" b="b"/>
              <a:pathLst>
                <a:path w="182245" h="32385">
                  <a:moveTo>
                    <a:pt x="181858" y="0"/>
                  </a:moveTo>
                  <a:lnTo>
                    <a:pt x="0" y="0"/>
                  </a:lnTo>
                  <a:lnTo>
                    <a:pt x="0" y="31928"/>
                  </a:lnTo>
                  <a:lnTo>
                    <a:pt x="181858" y="31928"/>
                  </a:lnTo>
                  <a:lnTo>
                    <a:pt x="181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6765096" y="5123902"/>
              <a:ext cx="182245" cy="32384"/>
            </a:xfrm>
            <a:custGeom>
              <a:avLst/>
              <a:gdLst/>
              <a:ahLst/>
              <a:cxnLst/>
              <a:rect l="l" t="t" r="r" b="b"/>
              <a:pathLst>
                <a:path w="182245" h="32385">
                  <a:moveTo>
                    <a:pt x="0" y="31928"/>
                  </a:moveTo>
                  <a:lnTo>
                    <a:pt x="181858" y="31928"/>
                  </a:lnTo>
                  <a:lnTo>
                    <a:pt x="181858" y="0"/>
                  </a:lnTo>
                  <a:lnTo>
                    <a:pt x="0" y="0"/>
                  </a:lnTo>
                  <a:lnTo>
                    <a:pt x="0" y="31928"/>
                  </a:lnTo>
                  <a:close/>
                </a:path>
              </a:pathLst>
            </a:custGeom>
            <a:ln w="4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6765096" y="5524680"/>
              <a:ext cx="182245" cy="32384"/>
            </a:xfrm>
            <a:custGeom>
              <a:avLst/>
              <a:gdLst/>
              <a:ahLst/>
              <a:cxnLst/>
              <a:rect l="l" t="t" r="r" b="b"/>
              <a:pathLst>
                <a:path w="182245" h="32385">
                  <a:moveTo>
                    <a:pt x="181858" y="0"/>
                  </a:moveTo>
                  <a:lnTo>
                    <a:pt x="0" y="0"/>
                  </a:lnTo>
                  <a:lnTo>
                    <a:pt x="0" y="31928"/>
                  </a:lnTo>
                  <a:lnTo>
                    <a:pt x="181858" y="31928"/>
                  </a:lnTo>
                  <a:lnTo>
                    <a:pt x="181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6765096" y="5524680"/>
              <a:ext cx="182245" cy="32384"/>
            </a:xfrm>
            <a:custGeom>
              <a:avLst/>
              <a:gdLst/>
              <a:ahLst/>
              <a:cxnLst/>
              <a:rect l="l" t="t" r="r" b="b"/>
              <a:pathLst>
                <a:path w="182245" h="32385">
                  <a:moveTo>
                    <a:pt x="0" y="31928"/>
                  </a:moveTo>
                  <a:lnTo>
                    <a:pt x="181858" y="31928"/>
                  </a:lnTo>
                  <a:lnTo>
                    <a:pt x="181858" y="0"/>
                  </a:lnTo>
                  <a:lnTo>
                    <a:pt x="0" y="0"/>
                  </a:lnTo>
                  <a:lnTo>
                    <a:pt x="0" y="31928"/>
                  </a:lnTo>
                  <a:close/>
                </a:path>
              </a:pathLst>
            </a:custGeom>
            <a:ln w="45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6765096" y="5925397"/>
              <a:ext cx="182245" cy="32384"/>
            </a:xfrm>
            <a:custGeom>
              <a:avLst/>
              <a:gdLst/>
              <a:ahLst/>
              <a:cxnLst/>
              <a:rect l="l" t="t" r="r" b="b"/>
              <a:pathLst>
                <a:path w="182245" h="32385">
                  <a:moveTo>
                    <a:pt x="181858" y="0"/>
                  </a:moveTo>
                  <a:lnTo>
                    <a:pt x="0" y="0"/>
                  </a:lnTo>
                  <a:lnTo>
                    <a:pt x="0" y="31928"/>
                  </a:lnTo>
                  <a:lnTo>
                    <a:pt x="181858" y="31928"/>
                  </a:lnTo>
                  <a:lnTo>
                    <a:pt x="1818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6765096" y="4743526"/>
              <a:ext cx="184150" cy="1357630"/>
            </a:xfrm>
            <a:custGeom>
              <a:avLst/>
              <a:gdLst/>
              <a:ahLst/>
              <a:cxnLst/>
              <a:rect l="l" t="t" r="r" b="b"/>
              <a:pathLst>
                <a:path w="184150" h="1357629">
                  <a:moveTo>
                    <a:pt x="0" y="1213799"/>
                  </a:moveTo>
                  <a:lnTo>
                    <a:pt x="181858" y="1213799"/>
                  </a:lnTo>
                  <a:lnTo>
                    <a:pt x="181858" y="1181870"/>
                  </a:lnTo>
                  <a:lnTo>
                    <a:pt x="0" y="1181870"/>
                  </a:lnTo>
                  <a:lnTo>
                    <a:pt x="0" y="1213799"/>
                  </a:lnTo>
                  <a:close/>
                </a:path>
                <a:path w="184150" h="1357629">
                  <a:moveTo>
                    <a:pt x="97655" y="0"/>
                  </a:moveTo>
                  <a:lnTo>
                    <a:pt x="184050" y="159316"/>
                  </a:lnTo>
                </a:path>
                <a:path w="184150" h="1357629">
                  <a:moveTo>
                    <a:pt x="97655" y="396227"/>
                  </a:moveTo>
                  <a:lnTo>
                    <a:pt x="184050" y="560093"/>
                  </a:lnTo>
                </a:path>
                <a:path w="184150" h="1357629">
                  <a:moveTo>
                    <a:pt x="97655" y="797005"/>
                  </a:moveTo>
                  <a:lnTo>
                    <a:pt x="184050" y="960871"/>
                  </a:lnTo>
                </a:path>
                <a:path w="184150" h="1357629">
                  <a:moveTo>
                    <a:pt x="97655" y="1197783"/>
                  </a:moveTo>
                  <a:lnTo>
                    <a:pt x="184050" y="1357123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6442282" y="6016537"/>
              <a:ext cx="109220" cy="27305"/>
            </a:xfrm>
            <a:custGeom>
              <a:avLst/>
              <a:gdLst/>
              <a:ahLst/>
              <a:cxnLst/>
              <a:rect l="l" t="t" r="r" b="b"/>
              <a:pathLst>
                <a:path w="109220" h="27304">
                  <a:moveTo>
                    <a:pt x="109116" y="0"/>
                  </a:moveTo>
                  <a:lnTo>
                    <a:pt x="0" y="0"/>
                  </a:lnTo>
                  <a:lnTo>
                    <a:pt x="0" y="27259"/>
                  </a:lnTo>
                  <a:lnTo>
                    <a:pt x="109116" y="27259"/>
                  </a:lnTo>
                  <a:lnTo>
                    <a:pt x="1091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6371719" y="5986792"/>
              <a:ext cx="250190" cy="57150"/>
            </a:xfrm>
            <a:custGeom>
              <a:avLst/>
              <a:gdLst/>
              <a:ahLst/>
              <a:cxnLst/>
              <a:rect l="l" t="t" r="r" b="b"/>
              <a:pathLst>
                <a:path w="250190" h="57150">
                  <a:moveTo>
                    <a:pt x="70562" y="57004"/>
                  </a:moveTo>
                  <a:lnTo>
                    <a:pt x="179678" y="57004"/>
                  </a:lnTo>
                  <a:lnTo>
                    <a:pt x="179678" y="29744"/>
                  </a:lnTo>
                  <a:lnTo>
                    <a:pt x="70562" y="29744"/>
                  </a:lnTo>
                  <a:lnTo>
                    <a:pt x="70562" y="57004"/>
                  </a:lnTo>
                  <a:close/>
                </a:path>
                <a:path w="250190" h="57150">
                  <a:moveTo>
                    <a:pt x="0" y="0"/>
                  </a:moveTo>
                  <a:lnTo>
                    <a:pt x="72742" y="45635"/>
                  </a:lnTo>
                </a:path>
                <a:path w="250190" h="57150">
                  <a:moveTo>
                    <a:pt x="109128" y="45635"/>
                  </a:moveTo>
                  <a:lnTo>
                    <a:pt x="250072" y="0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 descr=""/>
          <p:cNvSpPr txBox="1"/>
          <p:nvPr/>
        </p:nvSpPr>
        <p:spPr>
          <a:xfrm>
            <a:off x="6246753" y="5930941"/>
            <a:ext cx="50800" cy="14033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R="5080" indent="4445">
              <a:lnSpc>
                <a:spcPts val="430"/>
              </a:lnSpc>
              <a:spcBef>
                <a:spcPts val="150"/>
              </a:spcBef>
            </a:pPr>
            <a:r>
              <a:rPr dirty="0" sz="400" spc="-50">
                <a:latin typeface="Arial MT"/>
                <a:cs typeface="Arial MT"/>
              </a:rPr>
              <a:t>P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50">
                <a:latin typeface="Arial MT"/>
                <a:cs typeface="Arial MT"/>
              </a:rPr>
              <a:t>C</a:t>
            </a:r>
            <a:endParaRPr sz="400">
              <a:latin typeface="Arial MT"/>
              <a:cs typeface="Arial MT"/>
            </a:endParaRPr>
          </a:p>
        </p:txBody>
      </p:sp>
      <p:grpSp>
        <p:nvGrpSpPr>
          <p:cNvPr id="113" name="object 113" descr=""/>
          <p:cNvGrpSpPr/>
          <p:nvPr/>
        </p:nvGrpSpPr>
        <p:grpSpPr>
          <a:xfrm>
            <a:off x="6221515" y="6202933"/>
            <a:ext cx="1130300" cy="369570"/>
            <a:chOff x="6221515" y="6202933"/>
            <a:chExt cx="1130300" cy="369570"/>
          </a:xfrm>
        </p:grpSpPr>
        <p:sp>
          <p:nvSpPr>
            <p:cNvPr id="114" name="object 114" descr=""/>
            <p:cNvSpPr/>
            <p:nvPr/>
          </p:nvSpPr>
          <p:spPr>
            <a:xfrm>
              <a:off x="6224055" y="6294249"/>
              <a:ext cx="73025" cy="182245"/>
            </a:xfrm>
            <a:custGeom>
              <a:avLst/>
              <a:gdLst/>
              <a:ahLst/>
              <a:cxnLst/>
              <a:rect l="l" t="t" r="r" b="b"/>
              <a:pathLst>
                <a:path w="73025" h="182245">
                  <a:moveTo>
                    <a:pt x="72742" y="0"/>
                  </a:moveTo>
                  <a:lnTo>
                    <a:pt x="0" y="0"/>
                  </a:lnTo>
                  <a:lnTo>
                    <a:pt x="0" y="182236"/>
                  </a:lnTo>
                  <a:lnTo>
                    <a:pt x="72742" y="182236"/>
                  </a:lnTo>
                  <a:lnTo>
                    <a:pt x="72742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6224055" y="6294249"/>
              <a:ext cx="73025" cy="182245"/>
            </a:xfrm>
            <a:custGeom>
              <a:avLst/>
              <a:gdLst/>
              <a:ahLst/>
              <a:cxnLst/>
              <a:rect l="l" t="t" r="r" b="b"/>
              <a:pathLst>
                <a:path w="73025" h="182245">
                  <a:moveTo>
                    <a:pt x="0" y="182236"/>
                  </a:moveTo>
                  <a:lnTo>
                    <a:pt x="72742" y="182236"/>
                  </a:lnTo>
                  <a:lnTo>
                    <a:pt x="72742" y="0"/>
                  </a:lnTo>
                  <a:lnTo>
                    <a:pt x="0" y="0"/>
                  </a:lnTo>
                  <a:lnTo>
                    <a:pt x="0" y="182236"/>
                  </a:lnTo>
                  <a:close/>
                </a:path>
              </a:pathLst>
            </a:custGeom>
            <a:ln w="45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7094631" y="6205473"/>
              <a:ext cx="254635" cy="364490"/>
            </a:xfrm>
            <a:custGeom>
              <a:avLst/>
              <a:gdLst/>
              <a:ahLst/>
              <a:cxnLst/>
              <a:rect l="l" t="t" r="r" b="b"/>
              <a:pathLst>
                <a:path w="254634" h="364490">
                  <a:moveTo>
                    <a:pt x="0" y="0"/>
                  </a:moveTo>
                  <a:lnTo>
                    <a:pt x="0" y="364317"/>
                  </a:lnTo>
                  <a:lnTo>
                    <a:pt x="254582" y="273197"/>
                  </a:lnTo>
                  <a:lnTo>
                    <a:pt x="254582" y="909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7094631" y="6205473"/>
              <a:ext cx="254635" cy="364490"/>
            </a:xfrm>
            <a:custGeom>
              <a:avLst/>
              <a:gdLst/>
              <a:ahLst/>
              <a:cxnLst/>
              <a:rect l="l" t="t" r="r" b="b"/>
              <a:pathLst>
                <a:path w="254634" h="364490">
                  <a:moveTo>
                    <a:pt x="0" y="364317"/>
                  </a:moveTo>
                  <a:lnTo>
                    <a:pt x="254582" y="273197"/>
                  </a:lnTo>
                  <a:lnTo>
                    <a:pt x="254582" y="90966"/>
                  </a:lnTo>
                  <a:lnTo>
                    <a:pt x="0" y="0"/>
                  </a:lnTo>
                  <a:lnTo>
                    <a:pt x="0" y="364317"/>
                  </a:lnTo>
                  <a:close/>
                </a:path>
                <a:path w="254634" h="364490">
                  <a:moveTo>
                    <a:pt x="0" y="118376"/>
                  </a:moveTo>
                  <a:lnTo>
                    <a:pt x="72772" y="182085"/>
                  </a:lnTo>
                </a:path>
                <a:path w="254634" h="364490">
                  <a:moveTo>
                    <a:pt x="0" y="241273"/>
                  </a:moveTo>
                  <a:lnTo>
                    <a:pt x="72772" y="182085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6369540" y="6294249"/>
              <a:ext cx="250190" cy="182245"/>
            </a:xfrm>
            <a:custGeom>
              <a:avLst/>
              <a:gdLst/>
              <a:ahLst/>
              <a:cxnLst/>
              <a:rect l="l" t="t" r="r" b="b"/>
              <a:pathLst>
                <a:path w="250190" h="182245">
                  <a:moveTo>
                    <a:pt x="250090" y="0"/>
                  </a:moveTo>
                  <a:lnTo>
                    <a:pt x="0" y="0"/>
                  </a:lnTo>
                  <a:lnTo>
                    <a:pt x="0" y="182236"/>
                  </a:lnTo>
                  <a:lnTo>
                    <a:pt x="250090" y="182236"/>
                  </a:lnTo>
                  <a:lnTo>
                    <a:pt x="25009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6369540" y="6294249"/>
              <a:ext cx="325120" cy="182245"/>
            </a:xfrm>
            <a:custGeom>
              <a:avLst/>
              <a:gdLst/>
              <a:ahLst/>
              <a:cxnLst/>
              <a:rect l="l" t="t" r="r" b="b"/>
              <a:pathLst>
                <a:path w="325120" h="182245">
                  <a:moveTo>
                    <a:pt x="0" y="182236"/>
                  </a:moveTo>
                  <a:lnTo>
                    <a:pt x="250090" y="182236"/>
                  </a:lnTo>
                  <a:lnTo>
                    <a:pt x="250090" y="0"/>
                  </a:lnTo>
                  <a:lnTo>
                    <a:pt x="0" y="0"/>
                  </a:lnTo>
                  <a:lnTo>
                    <a:pt x="0" y="182236"/>
                  </a:lnTo>
                  <a:close/>
                </a:path>
                <a:path w="325120" h="182245">
                  <a:moveTo>
                    <a:pt x="252251" y="93308"/>
                  </a:moveTo>
                  <a:lnTo>
                    <a:pt x="325024" y="93308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7056065" y="6294255"/>
              <a:ext cx="109220" cy="182245"/>
            </a:xfrm>
            <a:custGeom>
              <a:avLst/>
              <a:gdLst/>
              <a:ahLst/>
              <a:cxnLst/>
              <a:rect l="l" t="t" r="r" b="b"/>
              <a:pathLst>
                <a:path w="109220" h="182245">
                  <a:moveTo>
                    <a:pt x="0" y="0"/>
                  </a:moveTo>
                  <a:lnTo>
                    <a:pt x="0" y="182230"/>
                  </a:lnTo>
                  <a:lnTo>
                    <a:pt x="109159" y="91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1" name="object 1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98977" y="6371814"/>
              <a:ext cx="325072" cy="75006"/>
            </a:xfrm>
            <a:prstGeom prst="rect">
              <a:avLst/>
            </a:prstGeom>
          </p:spPr>
        </p:pic>
      </p:grpSp>
      <p:sp>
        <p:nvSpPr>
          <p:cNvPr id="122" name="object 122" descr=""/>
          <p:cNvSpPr txBox="1"/>
          <p:nvPr/>
        </p:nvSpPr>
        <p:spPr>
          <a:xfrm>
            <a:off x="6246753" y="6331707"/>
            <a:ext cx="50800" cy="14033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R="5080" indent="4445">
              <a:lnSpc>
                <a:spcPts val="430"/>
              </a:lnSpc>
              <a:spcBef>
                <a:spcPts val="150"/>
              </a:spcBef>
            </a:pPr>
            <a:r>
              <a:rPr dirty="0" sz="400" spc="-50">
                <a:latin typeface="Arial MT"/>
                <a:cs typeface="Arial MT"/>
              </a:rPr>
              <a:t>P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50">
                <a:latin typeface="Arial MT"/>
                <a:cs typeface="Arial MT"/>
              </a:rPr>
              <a:t>C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23" name="object 123" descr=""/>
          <p:cNvSpPr txBox="1"/>
          <p:nvPr/>
        </p:nvSpPr>
        <p:spPr>
          <a:xfrm>
            <a:off x="5905884" y="4742377"/>
            <a:ext cx="259715" cy="965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450">
                <a:latin typeface="Arial MT"/>
                <a:cs typeface="Arial MT"/>
              </a:rPr>
              <a:t>ALU-</a:t>
            </a:r>
            <a:r>
              <a:rPr dirty="0" sz="450" spc="-20">
                <a:latin typeface="Arial MT"/>
                <a:cs typeface="Arial MT"/>
              </a:rPr>
              <a:t>type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24" name="object 124" descr=""/>
          <p:cNvSpPr txBox="1"/>
          <p:nvPr/>
        </p:nvSpPr>
        <p:spPr>
          <a:xfrm>
            <a:off x="5905884" y="5143094"/>
            <a:ext cx="140335" cy="965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450" spc="-20">
                <a:latin typeface="Arial MT"/>
                <a:cs typeface="Arial MT"/>
              </a:rPr>
              <a:t>Load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125" name="object 125" descr=""/>
          <p:cNvSpPr txBox="1"/>
          <p:nvPr/>
        </p:nvSpPr>
        <p:spPr>
          <a:xfrm>
            <a:off x="5905884" y="5543872"/>
            <a:ext cx="154940" cy="965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450" spc="-10">
                <a:latin typeface="Arial MT"/>
                <a:cs typeface="Arial MT"/>
              </a:rPr>
              <a:t>Store</a:t>
            </a:r>
            <a:endParaRPr sz="450">
              <a:latin typeface="Arial MT"/>
              <a:cs typeface="Arial MT"/>
            </a:endParaRPr>
          </a:p>
        </p:txBody>
      </p:sp>
      <p:grpSp>
        <p:nvGrpSpPr>
          <p:cNvPr id="126" name="object 126" descr=""/>
          <p:cNvGrpSpPr/>
          <p:nvPr/>
        </p:nvGrpSpPr>
        <p:grpSpPr>
          <a:xfrm>
            <a:off x="6403374" y="5781789"/>
            <a:ext cx="182880" cy="478790"/>
            <a:chOff x="6403374" y="5781789"/>
            <a:chExt cx="182880" cy="478790"/>
          </a:xfrm>
        </p:grpSpPr>
        <p:sp>
          <p:nvSpPr>
            <p:cNvPr id="127" name="object 127" descr=""/>
            <p:cNvSpPr/>
            <p:nvPr/>
          </p:nvSpPr>
          <p:spPr>
            <a:xfrm>
              <a:off x="6405914" y="5784329"/>
              <a:ext cx="177800" cy="73025"/>
            </a:xfrm>
            <a:custGeom>
              <a:avLst/>
              <a:gdLst/>
              <a:ahLst/>
              <a:cxnLst/>
              <a:rect l="l" t="t" r="r" b="b"/>
              <a:pathLst>
                <a:path w="177800" h="73025">
                  <a:moveTo>
                    <a:pt x="177348" y="0"/>
                  </a:moveTo>
                  <a:lnTo>
                    <a:pt x="0" y="0"/>
                  </a:lnTo>
                  <a:lnTo>
                    <a:pt x="0" y="72893"/>
                  </a:lnTo>
                  <a:lnTo>
                    <a:pt x="177348" y="72893"/>
                  </a:lnTo>
                  <a:lnTo>
                    <a:pt x="177348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6405914" y="5784329"/>
              <a:ext cx="177800" cy="73025"/>
            </a:xfrm>
            <a:custGeom>
              <a:avLst/>
              <a:gdLst/>
              <a:ahLst/>
              <a:cxnLst/>
              <a:rect l="l" t="t" r="r" b="b"/>
              <a:pathLst>
                <a:path w="177800" h="73025">
                  <a:moveTo>
                    <a:pt x="0" y="72893"/>
                  </a:moveTo>
                  <a:lnTo>
                    <a:pt x="177348" y="72893"/>
                  </a:lnTo>
                  <a:lnTo>
                    <a:pt x="177348" y="0"/>
                  </a:lnTo>
                  <a:lnTo>
                    <a:pt x="0" y="0"/>
                  </a:lnTo>
                  <a:lnTo>
                    <a:pt x="0" y="72893"/>
                  </a:lnTo>
                  <a:close/>
                </a:path>
              </a:pathLst>
            </a:custGeom>
            <a:ln w="45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6405914" y="6185064"/>
              <a:ext cx="177800" cy="73025"/>
            </a:xfrm>
            <a:custGeom>
              <a:avLst/>
              <a:gdLst/>
              <a:ahLst/>
              <a:cxnLst/>
              <a:rect l="l" t="t" r="r" b="b"/>
              <a:pathLst>
                <a:path w="177800" h="73025">
                  <a:moveTo>
                    <a:pt x="177348" y="0"/>
                  </a:moveTo>
                  <a:lnTo>
                    <a:pt x="0" y="0"/>
                  </a:lnTo>
                  <a:lnTo>
                    <a:pt x="0" y="72893"/>
                  </a:lnTo>
                  <a:lnTo>
                    <a:pt x="177348" y="72893"/>
                  </a:lnTo>
                  <a:lnTo>
                    <a:pt x="177348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6405914" y="6185064"/>
              <a:ext cx="177800" cy="73025"/>
            </a:xfrm>
            <a:custGeom>
              <a:avLst/>
              <a:gdLst/>
              <a:ahLst/>
              <a:cxnLst/>
              <a:rect l="l" t="t" r="r" b="b"/>
              <a:pathLst>
                <a:path w="177800" h="73025">
                  <a:moveTo>
                    <a:pt x="0" y="72893"/>
                  </a:moveTo>
                  <a:lnTo>
                    <a:pt x="177348" y="72893"/>
                  </a:lnTo>
                  <a:lnTo>
                    <a:pt x="177348" y="0"/>
                  </a:lnTo>
                  <a:lnTo>
                    <a:pt x="0" y="0"/>
                  </a:lnTo>
                  <a:lnTo>
                    <a:pt x="0" y="72893"/>
                  </a:lnTo>
                  <a:close/>
                </a:path>
              </a:pathLst>
            </a:custGeom>
            <a:ln w="45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1" name="object 131" descr=""/>
          <p:cNvSpPr txBox="1"/>
          <p:nvPr/>
        </p:nvSpPr>
        <p:spPr>
          <a:xfrm>
            <a:off x="7183387" y="5917238"/>
            <a:ext cx="134620" cy="154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 indent="13335">
              <a:lnSpc>
                <a:spcPct val="104700"/>
              </a:lnSpc>
              <a:spcBef>
                <a:spcPts val="105"/>
              </a:spcBef>
            </a:pPr>
            <a:r>
              <a:rPr dirty="0" sz="400" spc="-25">
                <a:latin typeface="Arial MT"/>
                <a:cs typeface="Arial MT"/>
              </a:rPr>
              <a:t>Not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20">
                <a:latin typeface="Arial MT"/>
                <a:cs typeface="Arial MT"/>
              </a:rPr>
              <a:t>used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32" name="object 132" descr=""/>
          <p:cNvSpPr txBox="1"/>
          <p:nvPr/>
        </p:nvSpPr>
        <p:spPr>
          <a:xfrm>
            <a:off x="7183387" y="6308964"/>
            <a:ext cx="134620" cy="154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 indent="13335">
              <a:lnSpc>
                <a:spcPct val="104500"/>
              </a:lnSpc>
              <a:spcBef>
                <a:spcPts val="105"/>
              </a:spcBef>
            </a:pPr>
            <a:r>
              <a:rPr dirty="0" sz="400" spc="-25">
                <a:latin typeface="Arial MT"/>
                <a:cs typeface="Arial MT"/>
              </a:rPr>
              <a:t>Not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20">
                <a:latin typeface="Arial MT"/>
                <a:cs typeface="Arial MT"/>
              </a:rPr>
              <a:t>used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33" name="object 133" descr=""/>
          <p:cNvSpPr txBox="1"/>
          <p:nvPr/>
        </p:nvSpPr>
        <p:spPr>
          <a:xfrm>
            <a:off x="7533445" y="4719594"/>
            <a:ext cx="134620" cy="1549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 indent="13335">
              <a:lnSpc>
                <a:spcPct val="104500"/>
              </a:lnSpc>
              <a:spcBef>
                <a:spcPts val="105"/>
              </a:spcBef>
            </a:pPr>
            <a:r>
              <a:rPr dirty="0" sz="400" spc="-25">
                <a:latin typeface="Arial MT"/>
                <a:cs typeface="Arial MT"/>
              </a:rPr>
              <a:t>Not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20">
                <a:latin typeface="Arial MT"/>
                <a:cs typeface="Arial MT"/>
              </a:rPr>
              <a:t>used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34" name="object 134" descr=""/>
          <p:cNvSpPr txBox="1"/>
          <p:nvPr/>
        </p:nvSpPr>
        <p:spPr>
          <a:xfrm>
            <a:off x="7456192" y="5893490"/>
            <a:ext cx="254635" cy="182245"/>
          </a:xfrm>
          <a:prstGeom prst="rect">
            <a:avLst/>
          </a:prstGeom>
          <a:solidFill>
            <a:srgbClr val="FFFF99"/>
          </a:solidFill>
          <a:ln w="4515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76835" marR="48260" indent="13335">
              <a:lnSpc>
                <a:spcPct val="104500"/>
              </a:lnSpc>
              <a:spcBef>
                <a:spcPts val="330"/>
              </a:spcBef>
            </a:pPr>
            <a:r>
              <a:rPr dirty="0" sz="400" spc="-25">
                <a:latin typeface="Arial MT"/>
                <a:cs typeface="Arial MT"/>
              </a:rPr>
              <a:t>Not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20">
                <a:latin typeface="Arial MT"/>
                <a:cs typeface="Arial MT"/>
              </a:rPr>
              <a:t>used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35" name="object 135" descr=""/>
          <p:cNvSpPr txBox="1"/>
          <p:nvPr/>
        </p:nvSpPr>
        <p:spPr>
          <a:xfrm>
            <a:off x="7456192" y="6294250"/>
            <a:ext cx="254635" cy="182245"/>
          </a:xfrm>
          <a:prstGeom prst="rect">
            <a:avLst/>
          </a:prstGeom>
          <a:solidFill>
            <a:srgbClr val="FFFF99"/>
          </a:solidFill>
          <a:ln w="4515">
            <a:solidFill>
              <a:srgbClr val="000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76835" marR="48260" indent="13335">
              <a:lnSpc>
                <a:spcPct val="104700"/>
              </a:lnSpc>
              <a:spcBef>
                <a:spcPts val="295"/>
              </a:spcBef>
            </a:pPr>
            <a:r>
              <a:rPr dirty="0" sz="400" spc="-25">
                <a:latin typeface="Arial MT"/>
                <a:cs typeface="Arial MT"/>
              </a:rPr>
              <a:t>Not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20">
                <a:latin typeface="Arial MT"/>
                <a:cs typeface="Arial MT"/>
              </a:rPr>
              <a:t>used</a:t>
            </a:r>
            <a:endParaRPr sz="400">
              <a:latin typeface="Arial MT"/>
              <a:cs typeface="Arial MT"/>
            </a:endParaRPr>
          </a:p>
        </p:txBody>
      </p:sp>
      <p:grpSp>
        <p:nvGrpSpPr>
          <p:cNvPr id="136" name="object 136" descr=""/>
          <p:cNvGrpSpPr/>
          <p:nvPr/>
        </p:nvGrpSpPr>
        <p:grpSpPr>
          <a:xfrm>
            <a:off x="6246752" y="6207809"/>
            <a:ext cx="450850" cy="182880"/>
            <a:chOff x="6246752" y="6207809"/>
            <a:chExt cx="450850" cy="182880"/>
          </a:xfrm>
        </p:grpSpPr>
        <p:sp>
          <p:nvSpPr>
            <p:cNvPr id="137" name="object 137" descr=""/>
            <p:cNvSpPr/>
            <p:nvPr/>
          </p:nvSpPr>
          <p:spPr>
            <a:xfrm>
              <a:off x="6603629" y="6223698"/>
              <a:ext cx="91440" cy="164465"/>
            </a:xfrm>
            <a:custGeom>
              <a:avLst/>
              <a:gdLst/>
              <a:ahLst/>
              <a:cxnLst/>
              <a:rect l="l" t="t" r="r" b="b"/>
              <a:pathLst>
                <a:path w="91440" h="164464">
                  <a:moveTo>
                    <a:pt x="90935" y="163860"/>
                  </a:moveTo>
                  <a:lnTo>
                    <a:pt x="90935" y="0"/>
                  </a:lnTo>
                </a:path>
                <a:path w="91440" h="164464">
                  <a:moveTo>
                    <a:pt x="90935" y="0"/>
                  </a:moveTo>
                  <a:lnTo>
                    <a:pt x="0" y="0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6587766" y="6207809"/>
              <a:ext cx="27940" cy="32384"/>
            </a:xfrm>
            <a:custGeom>
              <a:avLst/>
              <a:gdLst/>
              <a:ahLst/>
              <a:cxnLst/>
              <a:rect l="l" t="t" r="r" b="b"/>
              <a:pathLst>
                <a:path w="27940" h="32385">
                  <a:moveTo>
                    <a:pt x="27365" y="0"/>
                  </a:moveTo>
                  <a:lnTo>
                    <a:pt x="0" y="18218"/>
                  </a:lnTo>
                  <a:lnTo>
                    <a:pt x="27365" y="31923"/>
                  </a:lnTo>
                  <a:lnTo>
                    <a:pt x="273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6262609" y="6223698"/>
              <a:ext cx="146050" cy="55244"/>
            </a:xfrm>
            <a:custGeom>
              <a:avLst/>
              <a:gdLst/>
              <a:ahLst/>
              <a:cxnLst/>
              <a:rect l="l" t="t" r="r" b="b"/>
              <a:pathLst>
                <a:path w="146050" h="55245">
                  <a:moveTo>
                    <a:pt x="145484" y="0"/>
                  </a:moveTo>
                  <a:lnTo>
                    <a:pt x="0" y="0"/>
                  </a:lnTo>
                </a:path>
                <a:path w="146050" h="55245">
                  <a:moveTo>
                    <a:pt x="0" y="0"/>
                  </a:moveTo>
                  <a:lnTo>
                    <a:pt x="0" y="54668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6246752" y="6266997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64" y="0"/>
                  </a:moveTo>
                  <a:lnTo>
                    <a:pt x="0" y="0"/>
                  </a:lnTo>
                  <a:lnTo>
                    <a:pt x="13677" y="31923"/>
                  </a:lnTo>
                  <a:lnTo>
                    <a:pt x="318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1" name="object 141" descr=""/>
          <p:cNvSpPr txBox="1"/>
          <p:nvPr/>
        </p:nvSpPr>
        <p:spPr>
          <a:xfrm>
            <a:off x="7856259" y="5433548"/>
            <a:ext cx="177800" cy="305435"/>
          </a:xfrm>
          <a:prstGeom prst="rect">
            <a:avLst/>
          </a:prstGeom>
          <a:solidFill>
            <a:srgbClr val="FFCC99"/>
          </a:solidFill>
          <a:ln w="4511">
            <a:solidFill>
              <a:srgbClr val="000000"/>
            </a:solidFill>
          </a:ln>
        </p:spPr>
        <p:txBody>
          <a:bodyPr wrap="square" lIns="0" tIns="336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endParaRPr sz="400">
              <a:latin typeface="Times New Roman"/>
              <a:cs typeface="Times New Roman"/>
            </a:endParaRPr>
          </a:p>
          <a:p>
            <a:pPr marL="27305" marR="20955" indent="13335">
              <a:lnSpc>
                <a:spcPct val="104500"/>
              </a:lnSpc>
            </a:pPr>
            <a:r>
              <a:rPr dirty="0" sz="400" spc="-25">
                <a:latin typeface="Arial MT"/>
                <a:cs typeface="Arial MT"/>
              </a:rPr>
              <a:t>Not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20">
                <a:latin typeface="Arial MT"/>
                <a:cs typeface="Arial MT"/>
              </a:rPr>
              <a:t>used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42" name="object 142" descr=""/>
          <p:cNvSpPr txBox="1"/>
          <p:nvPr/>
        </p:nvSpPr>
        <p:spPr>
          <a:xfrm>
            <a:off x="7856259" y="5834302"/>
            <a:ext cx="177800" cy="300990"/>
          </a:xfrm>
          <a:prstGeom prst="rect">
            <a:avLst/>
          </a:prstGeom>
          <a:solidFill>
            <a:srgbClr val="FFCC99"/>
          </a:solidFill>
          <a:ln w="4511">
            <a:solidFill>
              <a:srgbClr val="000000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9"/>
              </a:spcBef>
            </a:pPr>
            <a:endParaRPr sz="400">
              <a:latin typeface="Times New Roman"/>
              <a:cs typeface="Times New Roman"/>
            </a:endParaRPr>
          </a:p>
          <a:p>
            <a:pPr marL="27305" marR="20955" indent="13335">
              <a:lnSpc>
                <a:spcPct val="104500"/>
              </a:lnSpc>
            </a:pPr>
            <a:r>
              <a:rPr dirty="0" sz="400" spc="-25">
                <a:latin typeface="Arial MT"/>
                <a:cs typeface="Arial MT"/>
              </a:rPr>
              <a:t>Not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20">
                <a:latin typeface="Arial MT"/>
                <a:cs typeface="Arial MT"/>
              </a:rPr>
              <a:t>used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43" name="object 143" descr=""/>
          <p:cNvSpPr txBox="1"/>
          <p:nvPr/>
        </p:nvSpPr>
        <p:spPr>
          <a:xfrm>
            <a:off x="7856259" y="6235064"/>
            <a:ext cx="177800" cy="300990"/>
          </a:xfrm>
          <a:prstGeom prst="rect">
            <a:avLst/>
          </a:prstGeom>
          <a:solidFill>
            <a:srgbClr val="FFCC99"/>
          </a:solidFill>
          <a:ln w="4511">
            <a:solidFill>
              <a:srgbClr val="000000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9"/>
              </a:spcBef>
            </a:pPr>
            <a:endParaRPr sz="400">
              <a:latin typeface="Times New Roman"/>
              <a:cs typeface="Times New Roman"/>
            </a:endParaRPr>
          </a:p>
          <a:p>
            <a:pPr marL="27305" marR="20955" indent="13335">
              <a:lnSpc>
                <a:spcPct val="104500"/>
              </a:lnSpc>
            </a:pPr>
            <a:r>
              <a:rPr dirty="0" sz="400" spc="-25">
                <a:latin typeface="Arial MT"/>
                <a:cs typeface="Arial MT"/>
              </a:rPr>
              <a:t>Not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20">
                <a:latin typeface="Arial MT"/>
                <a:cs typeface="Arial MT"/>
              </a:rPr>
              <a:t>used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44" name="object 144" descr=""/>
          <p:cNvSpPr txBox="1"/>
          <p:nvPr/>
        </p:nvSpPr>
        <p:spPr>
          <a:xfrm>
            <a:off x="6765097" y="6235064"/>
            <a:ext cx="182245" cy="300990"/>
          </a:xfrm>
          <a:prstGeom prst="rect">
            <a:avLst/>
          </a:prstGeom>
          <a:solidFill>
            <a:srgbClr val="FFCC99"/>
          </a:solidFill>
          <a:ln w="4511">
            <a:solidFill>
              <a:srgbClr val="000000"/>
            </a:solidFill>
          </a:ln>
        </p:spPr>
        <p:txBody>
          <a:bodyPr wrap="square" lIns="0" tIns="2920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9"/>
              </a:spcBef>
            </a:pPr>
            <a:endParaRPr sz="400">
              <a:latin typeface="Times New Roman"/>
              <a:cs typeface="Times New Roman"/>
            </a:endParaRPr>
          </a:p>
          <a:p>
            <a:pPr marL="31750" marR="20955" indent="13335">
              <a:lnSpc>
                <a:spcPct val="104500"/>
              </a:lnSpc>
            </a:pPr>
            <a:r>
              <a:rPr dirty="0" sz="400" spc="-25">
                <a:latin typeface="Arial MT"/>
                <a:cs typeface="Arial MT"/>
              </a:rPr>
              <a:t>Not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 spc="-20">
                <a:latin typeface="Arial MT"/>
                <a:cs typeface="Arial MT"/>
              </a:rPr>
              <a:t>used</a:t>
            </a:r>
            <a:endParaRPr sz="400">
              <a:latin typeface="Arial MT"/>
              <a:cs typeface="Arial MT"/>
            </a:endParaRPr>
          </a:p>
        </p:txBody>
      </p:sp>
      <p:grpSp>
        <p:nvGrpSpPr>
          <p:cNvPr id="145" name="object 145" descr=""/>
          <p:cNvGrpSpPr/>
          <p:nvPr/>
        </p:nvGrpSpPr>
        <p:grpSpPr>
          <a:xfrm>
            <a:off x="6246752" y="4663573"/>
            <a:ext cx="1701164" cy="1449070"/>
            <a:chOff x="6246752" y="4663573"/>
            <a:chExt cx="1701164" cy="1449070"/>
          </a:xfrm>
        </p:grpSpPr>
        <p:sp>
          <p:nvSpPr>
            <p:cNvPr id="146" name="object 146" descr=""/>
            <p:cNvSpPr/>
            <p:nvPr/>
          </p:nvSpPr>
          <p:spPr>
            <a:xfrm>
              <a:off x="6262609" y="5822944"/>
              <a:ext cx="146050" cy="55244"/>
            </a:xfrm>
            <a:custGeom>
              <a:avLst/>
              <a:gdLst/>
              <a:ahLst/>
              <a:cxnLst/>
              <a:rect l="l" t="t" r="r" b="b"/>
              <a:pathLst>
                <a:path w="146050" h="55245">
                  <a:moveTo>
                    <a:pt x="145484" y="0"/>
                  </a:moveTo>
                  <a:lnTo>
                    <a:pt x="0" y="0"/>
                  </a:lnTo>
                </a:path>
                <a:path w="146050" h="55245">
                  <a:moveTo>
                    <a:pt x="0" y="0"/>
                  </a:moveTo>
                  <a:lnTo>
                    <a:pt x="0" y="54662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6246752" y="586620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64" y="0"/>
                  </a:moveTo>
                  <a:lnTo>
                    <a:pt x="0" y="0"/>
                  </a:lnTo>
                  <a:lnTo>
                    <a:pt x="13677" y="31972"/>
                  </a:lnTo>
                  <a:lnTo>
                    <a:pt x="318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6603629" y="5822944"/>
              <a:ext cx="382270" cy="0"/>
            </a:xfrm>
            <a:custGeom>
              <a:avLst/>
              <a:gdLst/>
              <a:ahLst/>
              <a:cxnLst/>
              <a:rect l="l" t="t" r="r" b="b"/>
              <a:pathLst>
                <a:path w="382270" h="0">
                  <a:moveTo>
                    <a:pt x="381904" y="0"/>
                  </a:moveTo>
                  <a:lnTo>
                    <a:pt x="0" y="0"/>
                  </a:lnTo>
                </a:path>
              </a:pathLst>
            </a:custGeom>
            <a:ln w="45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6587766" y="5807049"/>
              <a:ext cx="27940" cy="32384"/>
            </a:xfrm>
            <a:custGeom>
              <a:avLst/>
              <a:gdLst/>
              <a:ahLst/>
              <a:cxnLst/>
              <a:rect l="l" t="t" r="r" b="b"/>
              <a:pathLst>
                <a:path w="27940" h="32385">
                  <a:moveTo>
                    <a:pt x="27365" y="0"/>
                  </a:moveTo>
                  <a:lnTo>
                    <a:pt x="0" y="18200"/>
                  </a:lnTo>
                  <a:lnTo>
                    <a:pt x="27365" y="31912"/>
                  </a:lnTo>
                  <a:lnTo>
                    <a:pt x="273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6603629" y="5804683"/>
              <a:ext cx="418465" cy="305435"/>
            </a:xfrm>
            <a:custGeom>
              <a:avLst/>
              <a:gdLst/>
              <a:ahLst/>
              <a:cxnLst/>
              <a:rect l="l" t="t" r="r" b="b"/>
              <a:pathLst>
                <a:path w="418465" h="305435">
                  <a:moveTo>
                    <a:pt x="381904" y="18261"/>
                  </a:moveTo>
                  <a:lnTo>
                    <a:pt x="381904" y="63702"/>
                  </a:lnTo>
                </a:path>
                <a:path w="418465" h="305435">
                  <a:moveTo>
                    <a:pt x="418290" y="305151"/>
                  </a:moveTo>
                  <a:lnTo>
                    <a:pt x="418290" y="0"/>
                  </a:lnTo>
                </a:path>
                <a:path w="418465" h="305435">
                  <a:moveTo>
                    <a:pt x="418290" y="0"/>
                  </a:moveTo>
                  <a:lnTo>
                    <a:pt x="0" y="0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6587766" y="5788787"/>
              <a:ext cx="27940" cy="32384"/>
            </a:xfrm>
            <a:custGeom>
              <a:avLst/>
              <a:gdLst/>
              <a:ahLst/>
              <a:cxnLst/>
              <a:rect l="l" t="t" r="r" b="b"/>
              <a:pathLst>
                <a:path w="27940" h="32385">
                  <a:moveTo>
                    <a:pt x="27365" y="0"/>
                  </a:moveTo>
                  <a:lnTo>
                    <a:pt x="0" y="18261"/>
                  </a:lnTo>
                  <a:lnTo>
                    <a:pt x="27365" y="31972"/>
                  </a:lnTo>
                  <a:lnTo>
                    <a:pt x="273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6876435" y="4666113"/>
              <a:ext cx="1068705" cy="1398270"/>
            </a:xfrm>
            <a:custGeom>
              <a:avLst/>
              <a:gdLst/>
              <a:ahLst/>
              <a:cxnLst/>
              <a:rect l="l" t="t" r="r" b="b"/>
              <a:pathLst>
                <a:path w="1068704" h="1398270">
                  <a:moveTo>
                    <a:pt x="0" y="596555"/>
                  </a:moveTo>
                  <a:lnTo>
                    <a:pt x="72711" y="400777"/>
                  </a:lnTo>
                </a:path>
                <a:path w="1068704" h="1398270">
                  <a:moveTo>
                    <a:pt x="0" y="997333"/>
                  </a:moveTo>
                  <a:lnTo>
                    <a:pt x="72711" y="801555"/>
                  </a:lnTo>
                </a:path>
                <a:path w="1068704" h="1398270">
                  <a:moveTo>
                    <a:pt x="0" y="1398087"/>
                  </a:moveTo>
                  <a:lnTo>
                    <a:pt x="72711" y="1197783"/>
                  </a:lnTo>
                </a:path>
                <a:path w="1068704" h="1398270">
                  <a:moveTo>
                    <a:pt x="0" y="195778"/>
                  </a:moveTo>
                  <a:lnTo>
                    <a:pt x="72711" y="0"/>
                  </a:lnTo>
                </a:path>
                <a:path w="1068704" h="1398270">
                  <a:moveTo>
                    <a:pt x="982004" y="123036"/>
                  </a:moveTo>
                  <a:lnTo>
                    <a:pt x="1068399" y="182248"/>
                  </a:lnTo>
                </a:path>
                <a:path w="1068704" h="1398270">
                  <a:moveTo>
                    <a:pt x="982004" y="523813"/>
                  </a:moveTo>
                  <a:lnTo>
                    <a:pt x="1068399" y="583026"/>
                  </a:lnTo>
                </a:path>
              </a:pathLst>
            </a:custGeom>
            <a:ln w="4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 descr=""/>
          <p:cNvSpPr txBox="1"/>
          <p:nvPr/>
        </p:nvSpPr>
        <p:spPr>
          <a:xfrm>
            <a:off x="5905884" y="5944650"/>
            <a:ext cx="202565" cy="149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ts val="509"/>
              </a:lnSpc>
              <a:spcBef>
                <a:spcPts val="114"/>
              </a:spcBef>
            </a:pPr>
            <a:r>
              <a:rPr dirty="0" sz="450" spc="-10">
                <a:latin typeface="Arial MT"/>
                <a:cs typeface="Arial MT"/>
              </a:rPr>
              <a:t>Branch</a:t>
            </a:r>
            <a:endParaRPr sz="450">
              <a:latin typeface="Arial MT"/>
              <a:cs typeface="Arial MT"/>
            </a:endParaRPr>
          </a:p>
          <a:p>
            <a:pPr>
              <a:lnSpc>
                <a:spcPts val="450"/>
              </a:lnSpc>
            </a:pPr>
            <a:r>
              <a:rPr dirty="0" sz="400" spc="-10">
                <a:latin typeface="Arial MT"/>
                <a:cs typeface="Arial MT"/>
              </a:rPr>
              <a:t>(and</a:t>
            </a:r>
            <a:r>
              <a:rPr dirty="0" sz="400">
                <a:latin typeface="Arial MT"/>
                <a:cs typeface="Arial MT"/>
              </a:rPr>
              <a:t> </a:t>
            </a:r>
            <a:r>
              <a:rPr dirty="0" sz="400" spc="-25">
                <a:latin typeface="Courier New"/>
                <a:cs typeface="Courier New"/>
              </a:rPr>
              <a:t>jr</a:t>
            </a:r>
            <a:r>
              <a:rPr dirty="0" sz="400" spc="-25">
                <a:latin typeface="Arial MT"/>
                <a:cs typeface="Arial MT"/>
              </a:rPr>
              <a:t>)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54" name="object 154" descr=""/>
          <p:cNvSpPr txBox="1"/>
          <p:nvPr/>
        </p:nvSpPr>
        <p:spPr>
          <a:xfrm>
            <a:off x="5905884" y="6336224"/>
            <a:ext cx="238760" cy="2133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R="5080">
              <a:lnSpc>
                <a:spcPct val="96200"/>
              </a:lnSpc>
              <a:spcBef>
                <a:spcPts val="135"/>
              </a:spcBef>
            </a:pPr>
            <a:r>
              <a:rPr dirty="0" sz="450" spc="-10">
                <a:latin typeface="Arial MT"/>
                <a:cs typeface="Arial MT"/>
              </a:rPr>
              <a:t>Jum</a:t>
            </a:r>
            <a:r>
              <a:rPr dirty="0" sz="450" spc="-60">
                <a:latin typeface="Arial MT"/>
                <a:cs typeface="Arial MT"/>
              </a:rPr>
              <a:t> </a:t>
            </a:r>
            <a:r>
              <a:rPr dirty="0" sz="450" spc="-50">
                <a:latin typeface="Arial MT"/>
                <a:cs typeface="Arial MT"/>
              </a:rPr>
              <a:t>p</a:t>
            </a:r>
            <a:r>
              <a:rPr dirty="0" sz="450" spc="500">
                <a:latin typeface="Arial MT"/>
                <a:cs typeface="Arial MT"/>
              </a:rPr>
              <a:t> </a:t>
            </a:r>
            <a:r>
              <a:rPr dirty="0" sz="400" spc="-10">
                <a:latin typeface="Arial MT"/>
                <a:cs typeface="Arial MT"/>
              </a:rPr>
              <a:t>(except</a:t>
            </a:r>
            <a:r>
              <a:rPr dirty="0" sz="400" spc="500">
                <a:latin typeface="Arial MT"/>
                <a:cs typeface="Arial MT"/>
              </a:rPr>
              <a:t> </a:t>
            </a:r>
            <a:r>
              <a:rPr dirty="0" sz="400">
                <a:latin typeface="Courier New"/>
                <a:cs typeface="Courier New"/>
              </a:rPr>
              <a:t>jr</a:t>
            </a:r>
            <a:r>
              <a:rPr dirty="0" sz="400" spc="-120">
                <a:latin typeface="Courier New"/>
                <a:cs typeface="Courier New"/>
              </a:rPr>
              <a:t> </a:t>
            </a:r>
            <a:r>
              <a:rPr dirty="0" sz="400">
                <a:latin typeface="Arial MT"/>
                <a:cs typeface="Arial MT"/>
              </a:rPr>
              <a:t>&amp;</a:t>
            </a:r>
            <a:r>
              <a:rPr dirty="0" sz="400" spc="-50">
                <a:latin typeface="Arial MT"/>
                <a:cs typeface="Arial MT"/>
              </a:rPr>
              <a:t> </a:t>
            </a:r>
            <a:r>
              <a:rPr dirty="0" sz="400" spc="-20">
                <a:latin typeface="Courier New"/>
                <a:cs typeface="Courier New"/>
              </a:rPr>
              <a:t>jal</a:t>
            </a:r>
            <a:r>
              <a:rPr dirty="0" sz="400" spc="-20">
                <a:latin typeface="Arial MT"/>
                <a:cs typeface="Arial MT"/>
              </a:rPr>
              <a:t>)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55" name="object 155" descr=""/>
          <p:cNvSpPr/>
          <p:nvPr/>
        </p:nvSpPr>
        <p:spPr>
          <a:xfrm>
            <a:off x="5432132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90308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1714" y="594823"/>
            <a:ext cx="110744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CPU</a:t>
            </a:r>
            <a:r>
              <a:rPr dirty="0" sz="1150" spc="-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Control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Unit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0122" y="926991"/>
              <a:ext cx="2585070" cy="231039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607709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729114" y="594823"/>
            <a:ext cx="141478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Control</a:t>
            </a:r>
            <a:r>
              <a:rPr dirty="0" sz="1150" spc="-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Unit</a:t>
            </a:r>
            <a:r>
              <a:rPr dirty="0" sz="1150" spc="-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30">
                <a:solidFill>
                  <a:srgbClr val="003366"/>
                </a:solidFill>
                <a:latin typeface="Malgun Gothic"/>
                <a:cs typeface="Malgun Gothic"/>
              </a:rPr>
              <a:t>구성</a:t>
            </a:r>
            <a:r>
              <a:rPr dirty="0" sz="1150" spc="-114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25">
                <a:solidFill>
                  <a:srgbClr val="003366"/>
                </a:solidFill>
                <a:latin typeface="Malgun Gothic"/>
                <a:cs typeface="Malgun Gothic"/>
              </a:rPr>
              <a:t>요소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3090" y="920725"/>
              <a:ext cx="3545780" cy="2331345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490308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611714" y="4146223"/>
            <a:ext cx="235013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Hard-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wired</a:t>
            </a:r>
            <a:r>
              <a:rPr dirty="0" sz="11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35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1150" spc="-35">
                <a:solidFill>
                  <a:srgbClr val="003366"/>
                </a:solidFill>
                <a:latin typeface="Malgun Gothic"/>
                <a:cs typeface="Malgun Gothic"/>
              </a:rPr>
              <a:t>고정</a:t>
            </a:r>
            <a:r>
              <a:rPr dirty="0" sz="11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40">
                <a:solidFill>
                  <a:srgbClr val="003366"/>
                </a:solidFill>
                <a:latin typeface="Malgun Gothic"/>
                <a:cs typeface="Malgun Gothic"/>
              </a:rPr>
              <a:t>하드웨어</a:t>
            </a:r>
            <a:r>
              <a:rPr dirty="0" sz="11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25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1417" y="4455135"/>
              <a:ext cx="4177724" cy="2346423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607709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5729114" y="4146223"/>
            <a:ext cx="235013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40">
                <a:solidFill>
                  <a:srgbClr val="003366"/>
                </a:solidFill>
                <a:latin typeface="Malgun Gothic"/>
                <a:cs typeface="Malgun Gothic"/>
              </a:rPr>
              <a:t>마이크로</a:t>
            </a:r>
            <a:r>
              <a:rPr dirty="0" sz="115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40">
                <a:solidFill>
                  <a:srgbClr val="003366"/>
                </a:solidFill>
                <a:latin typeface="Malgun Gothic"/>
                <a:cs typeface="Malgun Gothic"/>
              </a:rPr>
              <a:t>프로그래밍</a:t>
            </a:r>
            <a:r>
              <a:rPr dirty="0" sz="115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(S/W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07831" y="4477794"/>
              <a:ext cx="4374731" cy="2294479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90308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1714" y="594823"/>
            <a:ext cx="94678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30">
                <a:solidFill>
                  <a:srgbClr val="003366"/>
                </a:solidFill>
                <a:latin typeface="Malgun Gothic"/>
                <a:cs typeface="Malgun Gothic"/>
              </a:rPr>
              <a:t>구현</a:t>
            </a:r>
            <a:r>
              <a:rPr dirty="0" sz="115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30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r>
              <a:rPr dirty="0" sz="115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25">
                <a:solidFill>
                  <a:srgbClr val="003366"/>
                </a:solidFill>
                <a:latin typeface="Malgun Gothic"/>
                <a:cs typeface="Malgun Gothic"/>
              </a:rPr>
              <a:t>비교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516" y="1056454"/>
              <a:ext cx="4390767" cy="2034332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5530380" y="520074"/>
            <a:ext cx="4721860" cy="2962910"/>
            <a:chOff x="5530380" y="520074"/>
            <a:chExt cx="4721860" cy="2962910"/>
          </a:xfrm>
        </p:grpSpPr>
        <p:sp>
          <p:nvSpPr>
            <p:cNvPr id="10" name="object 10" descr=""/>
            <p:cNvSpPr/>
            <p:nvPr/>
          </p:nvSpPr>
          <p:spPr>
            <a:xfrm>
              <a:off x="5530380" y="520074"/>
              <a:ext cx="553720" cy="2962910"/>
            </a:xfrm>
            <a:custGeom>
              <a:avLst/>
              <a:gdLst/>
              <a:ahLst/>
              <a:cxnLst/>
              <a:rect l="l" t="t" r="r" b="b"/>
              <a:pathLst>
                <a:path w="553720" h="2962910">
                  <a:moveTo>
                    <a:pt x="553405" y="0"/>
                  </a:moveTo>
                  <a:lnTo>
                    <a:pt x="0" y="0"/>
                  </a:lnTo>
                  <a:lnTo>
                    <a:pt x="0" y="2962728"/>
                  </a:lnTo>
                  <a:lnTo>
                    <a:pt x="553405" y="2962728"/>
                  </a:lnTo>
                  <a:lnTo>
                    <a:pt x="55340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364193" y="1896079"/>
              <a:ext cx="3632835" cy="0"/>
            </a:xfrm>
            <a:custGeom>
              <a:avLst/>
              <a:gdLst/>
              <a:ahLst/>
              <a:cxnLst/>
              <a:rect l="l" t="t" r="r" b="b"/>
              <a:pathLst>
                <a:path w="3632834" h="0">
                  <a:moveTo>
                    <a:pt x="0" y="0"/>
                  </a:moveTo>
                  <a:lnTo>
                    <a:pt x="3632545" y="0"/>
                  </a:lnTo>
                </a:path>
              </a:pathLst>
            </a:custGeom>
            <a:ln w="988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15008" y="3278165"/>
              <a:ext cx="1237066" cy="19597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7087" y="1317118"/>
              <a:ext cx="1541136" cy="326063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7494539" y="1345883"/>
            <a:ext cx="137350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dirty="0" sz="1150" spc="-2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003366"/>
                </a:solidFill>
                <a:latin typeface="Arial"/>
                <a:cs typeface="Arial"/>
              </a:rPr>
              <a:t>Simple</a:t>
            </a:r>
            <a:r>
              <a:rPr dirty="0" sz="1150" spc="-2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003366"/>
                </a:solidFill>
                <a:latin typeface="Arial"/>
                <a:cs typeface="Arial"/>
              </a:rPr>
              <a:t>Processor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036826" y="2322704"/>
            <a:ext cx="28829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b="1">
                <a:solidFill>
                  <a:srgbClr val="003366"/>
                </a:solidFill>
                <a:latin typeface="Arial"/>
                <a:cs typeface="Arial"/>
              </a:rPr>
              <a:t>MU </a:t>
            </a:r>
            <a:r>
              <a:rPr dirty="0" sz="850" spc="-50" b="1">
                <a:solidFill>
                  <a:srgbClr val="003366"/>
                </a:solidFill>
                <a:latin typeface="Arial"/>
                <a:cs typeface="Arial"/>
              </a:rPr>
              <a:t>0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428957" y="244474"/>
            <a:ext cx="4951730" cy="6781165"/>
            <a:chOff x="5428957" y="244474"/>
            <a:chExt cx="4951730" cy="6781165"/>
          </a:xfrm>
        </p:grpSpPr>
        <p:sp>
          <p:nvSpPr>
            <p:cNvPr id="17" name="object 17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15008" y="6829564"/>
              <a:ext cx="1237066" cy="195974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2490308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611714" y="4146223"/>
            <a:ext cx="4239260" cy="2365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dirty="0" sz="1150" spc="-2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003366"/>
                </a:solidFill>
                <a:latin typeface="Arial"/>
                <a:cs typeface="Arial"/>
              </a:rPr>
              <a:t>Simple</a:t>
            </a:r>
            <a:r>
              <a:rPr dirty="0" sz="1150" spc="-2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003366"/>
                </a:solidFill>
                <a:latin typeface="Arial"/>
                <a:cs typeface="Arial"/>
              </a:rPr>
              <a:t>Processor</a:t>
            </a:r>
            <a:endParaRPr sz="1150">
              <a:latin typeface="Arial"/>
              <a:cs typeface="Arial"/>
            </a:endParaRPr>
          </a:p>
          <a:p>
            <a:pPr algn="just" marL="146685" marR="2905760" indent="-147320">
              <a:lnSpc>
                <a:spcPts val="950"/>
              </a:lnSpc>
              <a:spcBef>
                <a:spcPts val="975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Based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on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von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Neumann 	model</a:t>
            </a:r>
            <a:endParaRPr sz="850">
              <a:latin typeface="Arial MT"/>
              <a:cs typeface="Arial MT"/>
            </a:endParaRPr>
          </a:p>
          <a:p>
            <a:pPr algn="just" marL="146685" marR="2900045" indent="-147320">
              <a:lnSpc>
                <a:spcPts val="910"/>
              </a:lnSpc>
              <a:spcBef>
                <a:spcPts val="56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for the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micro- 	processor</a:t>
            </a:r>
            <a:endParaRPr sz="850">
              <a:latin typeface="Arial MT"/>
              <a:cs typeface="Arial MT"/>
            </a:endParaRPr>
          </a:p>
          <a:p>
            <a:pPr algn="just" marL="147955" marR="2870835">
              <a:lnSpc>
                <a:spcPct val="92000"/>
              </a:lnSpc>
              <a:spcBef>
                <a:spcPts val="15"/>
              </a:spcBef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(stored program) and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03366"/>
                </a:solidFill>
                <a:latin typeface="Arial MT"/>
                <a:cs typeface="Arial MT"/>
              </a:rPr>
              <a:t>the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data for computation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03366"/>
                </a:solidFill>
                <a:latin typeface="Arial MT"/>
                <a:cs typeface="Arial MT"/>
              </a:rPr>
              <a:t>are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both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stored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 </a:t>
            </a:r>
            <a:r>
              <a:rPr dirty="0" sz="850" spc="-10" b="1">
                <a:solidFill>
                  <a:srgbClr val="003366"/>
                </a:solidFill>
                <a:latin typeface="Arial"/>
                <a:cs typeface="Arial"/>
              </a:rPr>
              <a:t>memory</a:t>
            </a:r>
            <a:endParaRPr sz="850">
              <a:latin typeface="Arial"/>
              <a:cs typeface="Arial"/>
            </a:endParaRPr>
          </a:p>
          <a:p>
            <a:pPr marL="146685" marR="2616835" indent="-147320">
              <a:lnSpc>
                <a:spcPts val="919"/>
              </a:lnSpc>
              <a:spcBef>
                <a:spcPts val="55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850" b="1">
                <a:solidFill>
                  <a:srgbClr val="003366"/>
                </a:solidFill>
                <a:latin typeface="Arial"/>
                <a:cs typeface="Arial"/>
              </a:rPr>
              <a:t>Microprocessing</a:t>
            </a:r>
            <a:r>
              <a:rPr dirty="0" sz="850" spc="-1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3366"/>
                </a:solidFill>
                <a:latin typeface="Arial"/>
                <a:cs typeface="Arial"/>
              </a:rPr>
              <a:t>Unit</a:t>
            </a:r>
            <a:r>
              <a:rPr dirty="0" sz="850" spc="-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003366"/>
                </a:solidFill>
                <a:latin typeface="Arial MT"/>
                <a:cs typeface="Arial MT"/>
              </a:rPr>
              <a:t>(MPU) </a:t>
            </a:r>
            <a:r>
              <a:rPr dirty="0" sz="850" spc="-20">
                <a:solidFill>
                  <a:srgbClr val="003366"/>
                </a:solidFill>
                <a:latin typeface="Arial MT"/>
                <a:cs typeface="Arial MT"/>
              </a:rPr>
              <a:t>	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contains:</a:t>
            </a:r>
            <a:endParaRPr sz="850">
              <a:latin typeface="Arial MT"/>
              <a:cs typeface="Arial MT"/>
            </a:endParaRPr>
          </a:p>
          <a:p>
            <a:pPr lvl="1" marL="318135" indent="-120650">
              <a:lnSpc>
                <a:spcPct val="100000"/>
              </a:lnSpc>
              <a:spcBef>
                <a:spcPts val="125"/>
              </a:spcBef>
              <a:buChar char="•"/>
              <a:tabLst>
                <a:tab pos="318135" algn="l"/>
              </a:tabLst>
            </a:pPr>
            <a:r>
              <a:rPr dirty="0" sz="650" spc="10">
                <a:solidFill>
                  <a:srgbClr val="003366"/>
                </a:solidFill>
                <a:latin typeface="Arial MT"/>
                <a:cs typeface="Arial MT"/>
              </a:rPr>
              <a:t>Arithmetic/Logic</a:t>
            </a:r>
            <a:r>
              <a:rPr dirty="0" sz="65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10">
                <a:solidFill>
                  <a:srgbClr val="003366"/>
                </a:solidFill>
                <a:latin typeface="Arial MT"/>
                <a:cs typeface="Arial MT"/>
              </a:rPr>
              <a:t>Unit</a:t>
            </a:r>
            <a:r>
              <a:rPr dirty="0" sz="65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03366"/>
                </a:solidFill>
                <a:latin typeface="Arial MT"/>
                <a:cs typeface="Arial MT"/>
              </a:rPr>
              <a:t>(ALU)</a:t>
            </a:r>
            <a:endParaRPr sz="650">
              <a:latin typeface="Arial MT"/>
              <a:cs typeface="Arial MT"/>
            </a:endParaRPr>
          </a:p>
          <a:p>
            <a:pPr lvl="1" marL="318135" indent="-120650">
              <a:lnSpc>
                <a:spcPct val="100000"/>
              </a:lnSpc>
              <a:spcBef>
                <a:spcPts val="140"/>
              </a:spcBef>
              <a:buChar char="•"/>
              <a:tabLst>
                <a:tab pos="318135" algn="l"/>
              </a:tabLst>
            </a:pP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Control</a:t>
            </a:r>
            <a:r>
              <a:rPr dirty="0" sz="650" spc="114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03366"/>
                </a:solidFill>
                <a:latin typeface="Arial MT"/>
                <a:cs typeface="Arial MT"/>
              </a:rPr>
              <a:t>Unit</a:t>
            </a:r>
            <a:endParaRPr sz="650">
              <a:latin typeface="Arial MT"/>
              <a:cs typeface="Arial MT"/>
            </a:endParaRPr>
          </a:p>
          <a:p>
            <a:pPr lvl="1" marL="318135" indent="-120650">
              <a:lnSpc>
                <a:spcPct val="100000"/>
              </a:lnSpc>
              <a:spcBef>
                <a:spcPts val="130"/>
              </a:spcBef>
              <a:buChar char="•"/>
              <a:tabLst>
                <a:tab pos="318135" algn="l"/>
              </a:tabLst>
            </a:pP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Registers</a:t>
            </a:r>
            <a:endParaRPr sz="650">
              <a:latin typeface="Arial MT"/>
              <a:cs typeface="Arial MT"/>
            </a:endParaRPr>
          </a:p>
          <a:p>
            <a:pPr marL="147320" indent="-147320">
              <a:lnSpc>
                <a:spcPct val="100000"/>
              </a:lnSpc>
              <a:spcBef>
                <a:spcPts val="434"/>
              </a:spcBef>
              <a:buFont typeface="Wingdings"/>
              <a:buChar char=""/>
              <a:tabLst>
                <a:tab pos="147320" algn="l"/>
              </a:tabLst>
            </a:pPr>
            <a:r>
              <a:rPr dirty="0" sz="850" b="1">
                <a:solidFill>
                  <a:srgbClr val="003366"/>
                </a:solidFill>
                <a:latin typeface="Arial"/>
                <a:cs typeface="Arial"/>
              </a:rPr>
              <a:t>Input/output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block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interfaces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to the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outside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world (e.g.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user,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disc storage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etc.)</a:t>
            </a:r>
            <a:endParaRPr sz="850">
              <a:latin typeface="Arial MT"/>
              <a:cs typeface="Arial MT"/>
            </a:endParaRPr>
          </a:p>
          <a:p>
            <a:pPr marL="146685" marR="5080" indent="-147320">
              <a:lnSpc>
                <a:spcPts val="919"/>
              </a:lnSpc>
              <a:spcBef>
                <a:spcPts val="555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communication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between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memory,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MPU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I/O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is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through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 b="1">
                <a:solidFill>
                  <a:srgbClr val="003366"/>
                </a:solidFill>
                <a:latin typeface="Arial"/>
                <a:cs typeface="Arial"/>
              </a:rPr>
              <a:t>microprocessor </a:t>
            </a:r>
            <a:r>
              <a:rPr dirty="0" sz="850" spc="-10" b="1">
                <a:solidFill>
                  <a:srgbClr val="003366"/>
                </a:solidFill>
                <a:latin typeface="Arial"/>
                <a:cs typeface="Arial"/>
              </a:rPr>
              <a:t>	</a:t>
            </a:r>
            <a:r>
              <a:rPr dirty="0" sz="850" spc="-25" b="1">
                <a:solidFill>
                  <a:srgbClr val="003366"/>
                </a:solidFill>
                <a:latin typeface="Arial"/>
                <a:cs typeface="Arial"/>
              </a:rPr>
              <a:t>bus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6473" y="4797952"/>
              <a:ext cx="1484996" cy="917520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5729114" y="4146223"/>
            <a:ext cx="1885314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MU0</a:t>
            </a:r>
            <a:r>
              <a:rPr dirty="0" sz="1150" spc="-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–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Very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simple</a:t>
            </a:r>
            <a:r>
              <a:rPr dirty="0" sz="1150" spc="-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processor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067808" y="5740098"/>
            <a:ext cx="3663950" cy="129921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46685" marR="114935" indent="-147320">
              <a:lnSpc>
                <a:spcPct val="105700"/>
              </a:lnSpc>
              <a:spcBef>
                <a:spcPts val="5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Let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us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design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simple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processor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MU0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with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16-bit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Arial MT"/>
                <a:cs typeface="Arial MT"/>
              </a:rPr>
              <a:t>and </a:t>
            </a:r>
            <a:r>
              <a:rPr dirty="0" sz="900" spc="-25">
                <a:solidFill>
                  <a:srgbClr val="003366"/>
                </a:solidFill>
                <a:latin typeface="Arial MT"/>
                <a:cs typeface="Arial MT"/>
              </a:rPr>
              <a:t>	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minimal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hardware:-</a:t>
            </a:r>
            <a:endParaRPr sz="900">
              <a:latin typeface="Arial MT"/>
              <a:cs typeface="Arial MT"/>
            </a:endParaRPr>
          </a:p>
          <a:p>
            <a:pPr lvl="1" marL="320675" marR="379095" indent="-123825">
              <a:lnSpc>
                <a:spcPct val="105100"/>
              </a:lnSpc>
              <a:spcBef>
                <a:spcPts val="160"/>
              </a:spcBef>
              <a:buChar char="•"/>
              <a:tabLst>
                <a:tab pos="320675" algn="l"/>
              </a:tabLst>
            </a:pP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Program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Counter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(PC)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-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holds</a:t>
            </a:r>
            <a:r>
              <a:rPr dirty="0" sz="800" spc="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address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800" spc="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next</a:t>
            </a:r>
            <a:r>
              <a:rPr dirty="0" sz="8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800" spc="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800" spc="-10">
                <a:solidFill>
                  <a:srgbClr val="003366"/>
                </a:solidFill>
                <a:latin typeface="Arial MT"/>
                <a:cs typeface="Arial MT"/>
              </a:rPr>
              <a:t> execute</a:t>
            </a:r>
            <a:endParaRPr sz="800">
              <a:latin typeface="Arial MT"/>
              <a:cs typeface="Arial MT"/>
            </a:endParaRPr>
          </a:p>
          <a:p>
            <a:pPr lvl="1" marL="321310" indent="-123825">
              <a:lnSpc>
                <a:spcPct val="100000"/>
              </a:lnSpc>
              <a:spcBef>
                <a:spcPts val="225"/>
              </a:spcBef>
              <a:buChar char="•"/>
              <a:tabLst>
                <a:tab pos="321310" algn="l"/>
              </a:tabLst>
            </a:pP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Accumulator</a:t>
            </a:r>
            <a:r>
              <a:rPr dirty="0" sz="8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(ACC)</a:t>
            </a:r>
            <a:r>
              <a:rPr dirty="0" sz="800" spc="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-</a:t>
            </a:r>
            <a:r>
              <a:rPr dirty="0" sz="8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holds</a:t>
            </a:r>
            <a:r>
              <a:rPr dirty="0" sz="800" spc="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being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3366"/>
                </a:solidFill>
                <a:latin typeface="Arial MT"/>
                <a:cs typeface="Arial MT"/>
              </a:rPr>
              <a:t>processed</a:t>
            </a:r>
            <a:endParaRPr sz="800">
              <a:latin typeface="Arial MT"/>
              <a:cs typeface="Arial MT"/>
            </a:endParaRPr>
          </a:p>
          <a:p>
            <a:pPr lvl="1" marL="321310" indent="-123825">
              <a:lnSpc>
                <a:spcPct val="100000"/>
              </a:lnSpc>
              <a:spcBef>
                <a:spcPts val="280"/>
              </a:spcBef>
              <a:buChar char="•"/>
              <a:tabLst>
                <a:tab pos="321310" algn="l"/>
              </a:tabLst>
            </a:pP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Arithmetic</a:t>
            </a:r>
            <a:r>
              <a:rPr dirty="0" sz="8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Logic</a:t>
            </a:r>
            <a:r>
              <a:rPr dirty="0" sz="8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Unit</a:t>
            </a:r>
            <a:r>
              <a:rPr dirty="0" sz="8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(ALU)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-</a:t>
            </a:r>
            <a:r>
              <a:rPr dirty="0" sz="8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performs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operations</a:t>
            </a:r>
            <a:r>
              <a:rPr dirty="0" sz="800" spc="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on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endParaRPr sz="800">
              <a:latin typeface="Arial MT"/>
              <a:cs typeface="Arial MT"/>
            </a:endParaRPr>
          </a:p>
          <a:p>
            <a:pPr lvl="1" marL="321310" indent="-123825">
              <a:lnSpc>
                <a:spcPct val="100000"/>
              </a:lnSpc>
              <a:spcBef>
                <a:spcPts val="225"/>
              </a:spcBef>
              <a:buChar char="•"/>
              <a:tabLst>
                <a:tab pos="321310" algn="l"/>
              </a:tabLst>
            </a:pP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800" spc="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Register</a:t>
            </a:r>
            <a:r>
              <a:rPr dirty="0" sz="8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(IR)</a:t>
            </a:r>
            <a:r>
              <a:rPr dirty="0" sz="8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-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holds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current</a:t>
            </a:r>
            <a:r>
              <a:rPr dirty="0" sz="8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code</a:t>
            </a:r>
            <a:r>
              <a:rPr dirty="0" sz="800" spc="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being</a:t>
            </a:r>
            <a:r>
              <a:rPr dirty="0" sz="8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003366"/>
                </a:solidFill>
                <a:latin typeface="Arial MT"/>
                <a:cs typeface="Arial MT"/>
              </a:rPr>
              <a:t>executed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800">
              <a:latin typeface="Arial MT"/>
              <a:cs typeface="Arial MT"/>
            </a:endParaRPr>
          </a:p>
          <a:p>
            <a:pPr algn="ctr" marL="3810">
              <a:lnSpc>
                <a:spcPct val="100000"/>
              </a:lnSpc>
              <a:spcBef>
                <a:spcPts val="5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pic>
          <p:nvPicPr>
            <p:cNvPr id="29" name="object 2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62389" y="4593351"/>
              <a:ext cx="2020894" cy="950126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90308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1714" y="594823"/>
            <a:ext cx="4327525" cy="18967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MU0</a:t>
            </a:r>
            <a:endParaRPr sz="1150">
              <a:latin typeface="Arial MT"/>
              <a:cs typeface="Arial MT"/>
            </a:endParaRPr>
          </a:p>
          <a:p>
            <a:pPr marL="147955" marR="525780" indent="-148590">
              <a:lnSpc>
                <a:spcPct val="101099"/>
              </a:lnSpc>
              <a:spcBef>
                <a:spcPts val="95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b="1">
                <a:solidFill>
                  <a:srgbClr val="003366"/>
                </a:solidFill>
                <a:latin typeface="Arial"/>
                <a:cs typeface="Arial"/>
              </a:rPr>
              <a:t>Program</a:t>
            </a:r>
            <a:r>
              <a:rPr dirty="0" sz="950" spc="-1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3366"/>
                </a:solidFill>
                <a:latin typeface="Arial"/>
                <a:cs typeface="Arial"/>
              </a:rPr>
              <a:t>Counter</a:t>
            </a:r>
            <a:r>
              <a:rPr dirty="0" sz="950" spc="-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(PC)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register to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hold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address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of the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current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instruction.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(Visible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Programmer)</a:t>
            </a:r>
            <a:endParaRPr sz="950">
              <a:latin typeface="Arial MT"/>
              <a:cs typeface="Arial MT"/>
            </a:endParaRPr>
          </a:p>
          <a:p>
            <a:pPr marL="147955" indent="-147955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One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register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- 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b="1">
                <a:solidFill>
                  <a:srgbClr val="003366"/>
                </a:solidFill>
                <a:latin typeface="Arial"/>
                <a:cs typeface="Arial"/>
              </a:rPr>
              <a:t>Accumulator</a:t>
            </a:r>
            <a:r>
              <a:rPr dirty="0" sz="950" spc="-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(ACC).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(Visible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Programmer).</a:t>
            </a:r>
            <a:endParaRPr sz="950">
              <a:latin typeface="Arial MT"/>
              <a:cs typeface="Arial MT"/>
            </a:endParaRPr>
          </a:p>
          <a:p>
            <a:pPr marL="147955" marR="5080" indent="-148590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147955" algn="l"/>
                <a:tab pos="180340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	An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10" b="1">
                <a:solidFill>
                  <a:srgbClr val="003366"/>
                </a:solidFill>
                <a:latin typeface="Arial"/>
                <a:cs typeface="Arial"/>
              </a:rPr>
              <a:t>Arithmetic-</a:t>
            </a:r>
            <a:r>
              <a:rPr dirty="0" sz="950" b="1">
                <a:solidFill>
                  <a:srgbClr val="003366"/>
                </a:solidFill>
                <a:latin typeface="Arial"/>
                <a:cs typeface="Arial"/>
              </a:rPr>
              <a:t>Logic</a:t>
            </a:r>
            <a:r>
              <a:rPr dirty="0" sz="950" spc="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3366"/>
                </a:solidFill>
                <a:latin typeface="Arial"/>
                <a:cs typeface="Arial"/>
              </a:rPr>
              <a:t>Unit</a:t>
            </a:r>
            <a:r>
              <a:rPr dirty="0" sz="950" spc="1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(ALU)</a:t>
            </a:r>
            <a:r>
              <a:rPr dirty="0" sz="9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for</a:t>
            </a:r>
            <a:r>
              <a:rPr dirty="0" sz="9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doing,</a:t>
            </a:r>
            <a:r>
              <a:rPr dirty="0" sz="9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eh,</a:t>
            </a:r>
            <a:r>
              <a:rPr dirty="0" sz="9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arithmetic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logic.</a:t>
            </a:r>
            <a:r>
              <a:rPr dirty="0" sz="9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(Invisible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Programmer).</a:t>
            </a:r>
            <a:endParaRPr sz="950">
              <a:latin typeface="Arial MT"/>
              <a:cs typeface="Arial MT"/>
            </a:endParaRPr>
          </a:p>
          <a:p>
            <a:pPr marL="147955" marR="125095" indent="-148590">
              <a:lnSpc>
                <a:spcPct val="101099"/>
              </a:lnSpc>
              <a:spcBef>
                <a:spcPts val="54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An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b="1">
                <a:solidFill>
                  <a:srgbClr val="003366"/>
                </a:solidFill>
                <a:latin typeface="Arial"/>
                <a:cs typeface="Arial"/>
              </a:rPr>
              <a:t>Instruction</a:t>
            </a:r>
            <a:r>
              <a:rPr dirty="0" sz="950" spc="-1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03366"/>
                </a:solidFill>
                <a:latin typeface="Arial"/>
                <a:cs typeface="Arial"/>
              </a:rPr>
              <a:t>Register</a:t>
            </a:r>
            <a:r>
              <a:rPr dirty="0" sz="950" spc="-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(IR)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for holding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current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instruction.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(Invisible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003366"/>
                </a:solidFill>
                <a:latin typeface="Arial MT"/>
                <a:cs typeface="Arial MT"/>
              </a:rPr>
              <a:t>to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Programmer.)</a:t>
            </a:r>
            <a:endParaRPr sz="950">
              <a:latin typeface="Arial MT"/>
              <a:cs typeface="Arial MT"/>
            </a:endParaRPr>
          </a:p>
          <a:p>
            <a:pPr marL="147955" marR="33020" indent="-148590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Decode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Logic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Control Logic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use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components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of MU0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003366"/>
                </a:solidFill>
                <a:latin typeface="Arial MT"/>
                <a:cs typeface="Arial MT"/>
              </a:rPr>
              <a:t>to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give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effect to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instructions.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6" name="object 6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607709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729114" y="594823"/>
            <a:ext cx="4383405" cy="98869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MU0</a:t>
            </a:r>
            <a:r>
              <a:rPr dirty="0" sz="1150" spc="-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instructions</a:t>
            </a:r>
            <a:endParaRPr sz="1150">
              <a:latin typeface="Arial MT"/>
              <a:cs typeface="Arial MT"/>
            </a:endParaRPr>
          </a:p>
          <a:p>
            <a:pPr marL="147320" indent="-147320">
              <a:lnSpc>
                <a:spcPct val="100000"/>
              </a:lnSpc>
              <a:spcBef>
                <a:spcPts val="975"/>
              </a:spcBef>
              <a:buFont typeface="Wingdings"/>
              <a:buChar char=""/>
              <a:tabLst>
                <a:tab pos="147320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Let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us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further assume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that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processor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only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has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8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instructions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can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only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access</a:t>
            </a:r>
            <a:endParaRPr sz="850">
              <a:latin typeface="Arial MT"/>
              <a:cs typeface="Arial MT"/>
            </a:endParaRPr>
          </a:p>
          <a:p>
            <a:pPr marL="147955">
              <a:lnSpc>
                <a:spcPct val="100000"/>
              </a:lnSpc>
              <a:spcBef>
                <a:spcPts val="30"/>
              </a:spcBef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maximum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8k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byte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memory.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This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implies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that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address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bus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is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only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12-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bit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wide.</a:t>
            </a:r>
            <a:endParaRPr sz="850">
              <a:latin typeface="Arial MT"/>
              <a:cs typeface="Arial MT"/>
            </a:endParaRPr>
          </a:p>
          <a:p>
            <a:pPr marL="147320" indent="-147320">
              <a:lnSpc>
                <a:spcPct val="100000"/>
              </a:lnSpc>
              <a:spcBef>
                <a:spcPts val="540"/>
              </a:spcBef>
              <a:buFont typeface="Wingdings"/>
              <a:buChar char=""/>
              <a:tabLst>
                <a:tab pos="147320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We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also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assume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that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this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is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16-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bit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MPU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ALL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instructions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are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16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bits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wide.</a:t>
            </a:r>
            <a:endParaRPr sz="850">
              <a:latin typeface="Arial MT"/>
              <a:cs typeface="Arial MT"/>
            </a:endParaRPr>
          </a:p>
          <a:p>
            <a:pPr marL="147320" indent="-147320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147320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16-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bit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code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(machine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code)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has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format: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729116" y="2215410"/>
            <a:ext cx="4243705" cy="4883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46685" marR="5080" indent="-147320">
              <a:lnSpc>
                <a:spcPct val="103299"/>
              </a:lnSpc>
              <a:spcBef>
                <a:spcPts val="85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Note</a:t>
            </a:r>
            <a:r>
              <a:rPr dirty="0" sz="8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that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top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4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bits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define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operation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code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(opcode),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i.e.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it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defines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what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operation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	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is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perform.</a:t>
            </a:r>
            <a:endParaRPr sz="850">
              <a:latin typeface="Arial MT"/>
              <a:cs typeface="Arial MT"/>
            </a:endParaRPr>
          </a:p>
          <a:p>
            <a:pPr marL="147320" indent="-147320">
              <a:lnSpc>
                <a:spcPct val="100000"/>
              </a:lnSpc>
              <a:spcBef>
                <a:spcPts val="525"/>
              </a:spcBef>
              <a:buFont typeface="Wingdings"/>
              <a:buChar char=""/>
              <a:tabLst>
                <a:tab pos="147320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The bottom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12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bits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define the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memory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address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of the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operand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003366"/>
                </a:solidFill>
                <a:latin typeface="Arial MT"/>
                <a:cs typeface="Arial MT"/>
              </a:rPr>
              <a:t>data.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5552" y="1753873"/>
              <a:ext cx="1858967" cy="293507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477608" y="6958009"/>
            <a:ext cx="6134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022531" y="4232616"/>
            <a:ext cx="127825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MU0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 Instruction 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Set</a:t>
            </a:r>
            <a:endParaRPr sz="1150">
              <a:latin typeface="Arial MT"/>
              <a:cs typeface="Arial MT"/>
            </a:endParaRPr>
          </a:p>
        </p:txBody>
      </p:sp>
      <p:graphicFrame>
        <p:nvGraphicFramePr>
          <p:cNvPr id="20" name="object 20" descr=""/>
          <p:cNvGraphicFramePr>
            <a:graphicFrameLocks noGrp="1"/>
          </p:cNvGraphicFramePr>
          <p:nvPr/>
        </p:nvGraphicFramePr>
        <p:xfrm>
          <a:off x="1280557" y="4580509"/>
          <a:ext cx="3295015" cy="1475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2640"/>
                <a:gridCol w="861695"/>
                <a:gridCol w="1538605"/>
              </a:tblGrid>
              <a:tr h="210820">
                <a:tc>
                  <a:txBody>
                    <a:bodyPr/>
                    <a:lstStyle/>
                    <a:p>
                      <a:pPr algn="ctr" marR="3556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050" spc="-1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Instruction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4604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2258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050" spc="-1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Opcode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460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050" spc="-1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Semantics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4604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LDA</a:t>
                      </a:r>
                      <a:r>
                        <a:rPr dirty="0" sz="7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24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7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0000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28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ACC</a:t>
                      </a:r>
                      <a:r>
                        <a:rPr dirty="0" sz="750" spc="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:=</a:t>
                      </a:r>
                      <a:r>
                        <a:rPr dirty="0" sz="750" spc="4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mem</a:t>
                      </a:r>
                      <a:r>
                        <a:rPr dirty="0" baseline="-16666" sz="7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16</a:t>
                      </a:r>
                      <a:r>
                        <a:rPr dirty="0" sz="7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[S]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286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STO</a:t>
                      </a:r>
                      <a:r>
                        <a:rPr dirty="0" sz="7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242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0001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mem</a:t>
                      </a:r>
                      <a:r>
                        <a:rPr dirty="0" baseline="-16666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16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[S]</a:t>
                      </a:r>
                      <a:r>
                        <a:rPr dirty="0" sz="750" spc="5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:=</a:t>
                      </a:r>
                      <a:r>
                        <a:rPr dirty="0" sz="7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ACC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ADD</a:t>
                      </a:r>
                      <a:r>
                        <a:rPr dirty="0" sz="750" spc="6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24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7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0010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28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ACC</a:t>
                      </a:r>
                      <a:r>
                        <a:rPr dirty="0" sz="750" spc="4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:=</a:t>
                      </a:r>
                      <a:r>
                        <a:rPr dirty="0" sz="7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ACC</a:t>
                      </a:r>
                      <a:r>
                        <a:rPr dirty="0" sz="750" spc="4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750" spc="4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mem</a:t>
                      </a:r>
                      <a:r>
                        <a:rPr dirty="0" baseline="-16666" sz="7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16</a:t>
                      </a:r>
                      <a:r>
                        <a:rPr dirty="0" sz="7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[S]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286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SUB</a:t>
                      </a:r>
                      <a:r>
                        <a:rPr dirty="0" sz="750" spc="6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686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0011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ACC</a:t>
                      </a:r>
                      <a:r>
                        <a:rPr dirty="0" sz="750" spc="4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:=</a:t>
                      </a:r>
                      <a:r>
                        <a:rPr dirty="0" sz="7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ACC</a:t>
                      </a:r>
                      <a:r>
                        <a:rPr dirty="0" sz="750" spc="4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750" spc="4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mem</a:t>
                      </a:r>
                      <a:r>
                        <a:rPr dirty="0" baseline="-16666" sz="7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16</a:t>
                      </a:r>
                      <a:r>
                        <a:rPr dirty="0" sz="7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[S]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JMP</a:t>
                      </a:r>
                      <a:r>
                        <a:rPr dirty="0" sz="750" spc="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24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7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0100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PC</a:t>
                      </a:r>
                      <a:r>
                        <a:rPr dirty="0" sz="7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:=</a:t>
                      </a:r>
                      <a:r>
                        <a:rPr dirty="0" sz="7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JGE</a:t>
                      </a:r>
                      <a:r>
                        <a:rPr dirty="0" sz="750" spc="4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242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0101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7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ACC</a:t>
                      </a:r>
                      <a:r>
                        <a:rPr dirty="0" sz="750" spc="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≥</a:t>
                      </a:r>
                      <a:r>
                        <a:rPr dirty="0" sz="7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sz="7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PC</a:t>
                      </a:r>
                      <a:r>
                        <a:rPr dirty="0" sz="7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:=</a:t>
                      </a:r>
                      <a:r>
                        <a:rPr dirty="0" sz="7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JNE</a:t>
                      </a:r>
                      <a:r>
                        <a:rPr dirty="0" sz="750" spc="5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62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7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0110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7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ACC</a:t>
                      </a:r>
                      <a:r>
                        <a:rPr dirty="0" sz="750" spc="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≠</a:t>
                      </a:r>
                      <a:r>
                        <a:rPr dirty="0" sz="7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sz="7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PC</a:t>
                      </a:r>
                      <a:r>
                        <a:rPr dirty="0" sz="7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:=</a:t>
                      </a:r>
                      <a:r>
                        <a:rPr dirty="0" sz="7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413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7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STP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200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7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0111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47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7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stop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2476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object 21" descr=""/>
          <p:cNvSpPr txBox="1"/>
          <p:nvPr/>
        </p:nvSpPr>
        <p:spPr>
          <a:xfrm>
            <a:off x="1322705" y="6168216"/>
            <a:ext cx="2506345" cy="509270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359"/>
              </a:spcBef>
              <a:buFont typeface="Wingdings"/>
              <a:buChar char=""/>
              <a:tabLst>
                <a:tab pos="160020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2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load/store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instructions: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LDA,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03366"/>
                </a:solidFill>
                <a:latin typeface="Arial MT"/>
                <a:cs typeface="Arial MT"/>
              </a:rPr>
              <a:t>STO</a:t>
            </a:r>
            <a:endParaRPr sz="850">
              <a:latin typeface="Arial MT"/>
              <a:cs typeface="Arial MT"/>
            </a:endParaRPr>
          </a:p>
          <a:p>
            <a:pPr marL="160020" indent="-147320">
              <a:lnSpc>
                <a:spcPct val="100000"/>
              </a:lnSpc>
              <a:spcBef>
                <a:spcPts val="260"/>
              </a:spcBef>
              <a:buFont typeface="Wingdings"/>
              <a:buChar char=""/>
              <a:tabLst>
                <a:tab pos="160020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2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computation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instructions: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ADD,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03366"/>
                </a:solidFill>
                <a:latin typeface="Arial MT"/>
                <a:cs typeface="Arial MT"/>
              </a:rPr>
              <a:t>SUB</a:t>
            </a:r>
            <a:endParaRPr sz="850">
              <a:latin typeface="Arial MT"/>
              <a:cs typeface="Arial MT"/>
            </a:endParaRPr>
          </a:p>
          <a:p>
            <a:pPr marL="160020" indent="-147320">
              <a:lnSpc>
                <a:spcPct val="100000"/>
              </a:lnSpc>
              <a:spcBef>
                <a:spcPts val="220"/>
              </a:spcBef>
              <a:buFont typeface="Wingdings"/>
              <a:buChar char=""/>
              <a:tabLst>
                <a:tab pos="160020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4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control</a:t>
            </a:r>
            <a:r>
              <a:rPr dirty="0" sz="85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flow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instructions: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JMP,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JGE,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JNE,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03366"/>
                </a:solidFill>
                <a:latin typeface="Arial MT"/>
                <a:cs typeface="Arial MT"/>
              </a:rPr>
              <a:t>STP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314733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7607709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5729114" y="4146223"/>
            <a:ext cx="4025900" cy="13392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1150" spc="-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Path</a:t>
            </a:r>
            <a:r>
              <a:rPr dirty="0" sz="1150" spc="-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&amp;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Control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Logic</a:t>
            </a:r>
            <a:endParaRPr sz="1150">
              <a:latin typeface="Arial MT"/>
              <a:cs typeface="Arial MT"/>
            </a:endParaRPr>
          </a:p>
          <a:p>
            <a:pPr marL="147955" indent="-14795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Path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all 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components that carry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or handle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bits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parallel</a:t>
            </a:r>
            <a:endParaRPr sz="950">
              <a:latin typeface="Arial MT"/>
              <a:cs typeface="Arial MT"/>
            </a:endParaRPr>
          </a:p>
          <a:p>
            <a:pPr lvl="1" marL="320675" indent="-123189">
              <a:lnSpc>
                <a:spcPct val="100000"/>
              </a:lnSpc>
              <a:spcBef>
                <a:spcPts val="284"/>
              </a:spcBef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ACC,</a:t>
            </a:r>
            <a:r>
              <a:rPr dirty="0" sz="9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PC,</a:t>
            </a:r>
            <a:r>
              <a:rPr dirty="0" sz="9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ALU,</a:t>
            </a:r>
            <a:r>
              <a:rPr dirty="0" sz="9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Arial MT"/>
                <a:cs typeface="Arial MT"/>
              </a:rPr>
              <a:t>IR</a:t>
            </a:r>
            <a:endParaRPr sz="900">
              <a:latin typeface="Arial MT"/>
              <a:cs typeface="Arial MT"/>
            </a:endParaRPr>
          </a:p>
          <a:p>
            <a:pPr lvl="1" marL="320675" indent="-123189">
              <a:lnSpc>
                <a:spcPct val="100000"/>
              </a:lnSpc>
              <a:spcBef>
                <a:spcPts val="245"/>
              </a:spcBef>
              <a:buChar char="•"/>
              <a:tabLst>
                <a:tab pos="320675" algn="l"/>
              </a:tabLst>
            </a:pP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memory</a:t>
            </a:r>
            <a:endParaRPr sz="900">
              <a:latin typeface="Arial MT"/>
              <a:cs typeface="Arial MT"/>
            </a:endParaRPr>
          </a:p>
          <a:p>
            <a:pPr lvl="1" marL="320675" indent="-123189">
              <a:lnSpc>
                <a:spcPct val="100000"/>
              </a:lnSpc>
              <a:spcBef>
                <a:spcPts val="290"/>
              </a:spcBef>
              <a:buChar char="•"/>
              <a:tabLst>
                <a:tab pos="320675" algn="l"/>
              </a:tabLst>
            </a:pP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Buses</a:t>
            </a:r>
            <a:endParaRPr sz="900">
              <a:latin typeface="Arial MT"/>
              <a:cs typeface="Arial MT"/>
            </a:endParaRPr>
          </a:p>
          <a:p>
            <a:pPr marL="147955" marR="5080" indent="-148590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Control Logic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: 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logic needed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to use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 datapath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components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to </a:t>
            </a:r>
            <a:r>
              <a:rPr dirty="0" sz="950" spc="-20">
                <a:solidFill>
                  <a:srgbClr val="003366"/>
                </a:solidFill>
                <a:latin typeface="Arial MT"/>
                <a:cs typeface="Arial MT"/>
              </a:rPr>
              <a:t>give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effect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instructions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set.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finite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state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machine.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5432132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90308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1714" y="594823"/>
            <a:ext cx="226568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Execution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Step</a:t>
            </a:r>
            <a:r>
              <a:rPr dirty="0" sz="11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1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Fetch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52576" y="2255455"/>
            <a:ext cx="3645535" cy="66675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47955" indent="-14795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MPU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outputs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value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program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counter (PC)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on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address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003366"/>
                </a:solidFill>
                <a:latin typeface="Arial MT"/>
                <a:cs typeface="Arial MT"/>
              </a:rPr>
              <a:t>bus.</a:t>
            </a:r>
            <a:endParaRPr sz="950">
              <a:latin typeface="Arial MT"/>
              <a:cs typeface="Arial MT"/>
            </a:endParaRPr>
          </a:p>
          <a:p>
            <a:pPr marL="147955" indent="-147955">
              <a:lnSpc>
                <a:spcPct val="100000"/>
              </a:lnSpc>
              <a:spcBef>
                <a:spcPts val="565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Memory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puts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contents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at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address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on 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003366"/>
                </a:solidFill>
                <a:latin typeface="Arial MT"/>
                <a:cs typeface="Arial MT"/>
              </a:rPr>
              <a:t>bus.</a:t>
            </a:r>
            <a:endParaRPr sz="950">
              <a:latin typeface="Arial MT"/>
              <a:cs typeface="Arial MT"/>
            </a:endParaRPr>
          </a:p>
          <a:p>
            <a:pPr marL="147955" indent="-14795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stored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registers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003366"/>
                </a:solidFill>
                <a:latin typeface="Arial MT"/>
                <a:cs typeface="Arial MT"/>
              </a:rPr>
              <a:t>(IR).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4989" y="1041951"/>
              <a:ext cx="2020894" cy="95012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7607709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5729114" y="594823"/>
            <a:ext cx="240030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Execution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Step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2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Decode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07084" y="2205183"/>
            <a:ext cx="3971290" cy="6762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7955" marR="5080" indent="-148590">
              <a:lnSpc>
                <a:spcPct val="100000"/>
              </a:lnSpc>
              <a:spcBef>
                <a:spcPts val="11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word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stored in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IR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decoded by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internal logic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to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provide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control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signals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ALU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and other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internal circuits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inside </a:t>
            </a:r>
            <a:r>
              <a:rPr dirty="0" sz="950" spc="-20">
                <a:solidFill>
                  <a:srgbClr val="003366"/>
                </a:solidFill>
                <a:latin typeface="Arial MT"/>
                <a:cs typeface="Arial MT"/>
              </a:rPr>
              <a:t>MPU.</a:t>
            </a:r>
            <a:endParaRPr sz="950">
              <a:latin typeface="Arial MT"/>
              <a:cs typeface="Arial MT"/>
            </a:endParaRPr>
          </a:p>
          <a:p>
            <a:pPr marL="147955" marR="80645" indent="-148590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Program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counter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value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(PC)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is pushed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onto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address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bus,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003366"/>
                </a:solidFill>
                <a:latin typeface="Arial MT"/>
                <a:cs typeface="Arial MT"/>
              </a:rPr>
              <a:t>ALU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increment this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value by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b="1">
                <a:solidFill>
                  <a:srgbClr val="003366"/>
                </a:solidFill>
                <a:latin typeface="Arial"/>
                <a:cs typeface="Arial"/>
              </a:rPr>
              <a:t>k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put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it back into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 Program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Counter.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2389" y="1041951"/>
              <a:ext cx="2020894" cy="950126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2490308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611714" y="4146223"/>
            <a:ext cx="216217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Execution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Step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3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 Operand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Fetch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66879" y="5716174"/>
            <a:ext cx="3573145" cy="678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7955" marR="112395" indent="-148590">
              <a:lnSpc>
                <a:spcPct val="101099"/>
              </a:lnSpc>
              <a:spcBef>
                <a:spcPts val="95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register provides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address of 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data to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003366"/>
                </a:solidFill>
                <a:latin typeface="Arial MT"/>
                <a:cs typeface="Arial MT"/>
              </a:rPr>
              <a:t>be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processed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(i.e.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b="1">
                <a:solidFill>
                  <a:srgbClr val="003366"/>
                </a:solidFill>
                <a:latin typeface="Arial"/>
                <a:cs typeface="Arial"/>
              </a:rPr>
              <a:t>operand</a:t>
            </a:r>
            <a:r>
              <a:rPr dirty="0" sz="950" spc="-10" b="1">
                <a:solidFill>
                  <a:srgbClr val="003366"/>
                </a:solidFill>
                <a:latin typeface="Arial"/>
                <a:cs typeface="Arial"/>
              </a:rPr>
              <a:t> address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).</a:t>
            </a:r>
            <a:endParaRPr sz="950">
              <a:latin typeface="Arial MT"/>
              <a:cs typeface="Arial MT"/>
            </a:endParaRPr>
          </a:p>
          <a:p>
            <a:pPr marL="147955" marR="5080" indent="-148590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Memory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supplies the operand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data on the data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bus to the </a:t>
            </a:r>
            <a:r>
              <a:rPr dirty="0" sz="950" spc="-20">
                <a:solidFill>
                  <a:srgbClr val="003366"/>
                </a:solidFill>
                <a:latin typeface="Arial MT"/>
                <a:cs typeface="Arial MT"/>
              </a:rPr>
              <a:t>MPU,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ready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for processing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either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by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ALU or 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003366"/>
                </a:solidFill>
                <a:latin typeface="Arial MT"/>
                <a:cs typeface="Arial MT"/>
              </a:rPr>
              <a:t>ACC.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4989" y="4593351"/>
              <a:ext cx="2020894" cy="950126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607709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5729114" y="4146223"/>
            <a:ext cx="242506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Execution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Step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4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Execute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084279" y="5709206"/>
            <a:ext cx="3645535" cy="5314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7955" marR="5080" indent="-148590">
              <a:lnSpc>
                <a:spcPct val="100000"/>
              </a:lnSpc>
              <a:spcBef>
                <a:spcPts val="11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Processing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performed on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 operand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by 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ALU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according </a:t>
            </a:r>
            <a:r>
              <a:rPr dirty="0" sz="950" spc="-25">
                <a:solidFill>
                  <a:srgbClr val="003366"/>
                </a:solidFill>
                <a:latin typeface="Arial MT"/>
                <a:cs typeface="Arial MT"/>
              </a:rPr>
              <a:t>to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instruction.</a:t>
            </a:r>
            <a:endParaRPr sz="950">
              <a:latin typeface="Arial MT"/>
              <a:cs typeface="Arial MT"/>
            </a:endParaRPr>
          </a:p>
          <a:p>
            <a:pPr marL="147955" indent="-147955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result is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put back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into 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Accumulator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(ACC).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pic>
          <p:nvPicPr>
            <p:cNvPr id="31" name="object 3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2389" y="4593351"/>
              <a:ext cx="2020894" cy="950126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14733" y="247649"/>
            <a:ext cx="4945380" cy="3513454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Times New Roman"/>
              <a:cs typeface="Times New Roman"/>
            </a:endParaRPr>
          </a:p>
          <a:p>
            <a:pPr marL="296545">
              <a:lnSpc>
                <a:spcPct val="100000"/>
              </a:lnSpc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Execution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Step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5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Write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Back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(may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not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exist)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150">
              <a:latin typeface="Arial MT"/>
              <a:cs typeface="Arial MT"/>
            </a:endParaRPr>
          </a:p>
          <a:p>
            <a:pPr marL="781685" indent="-147955">
              <a:lnSpc>
                <a:spcPct val="100000"/>
              </a:lnSpc>
              <a:buFont typeface="Wingdings"/>
              <a:buChar char=""/>
              <a:tabLst>
                <a:tab pos="78168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This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step may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not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be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needed.</a:t>
            </a:r>
            <a:endParaRPr sz="950">
              <a:latin typeface="Arial MT"/>
              <a:cs typeface="Arial MT"/>
            </a:endParaRPr>
          </a:p>
          <a:p>
            <a:pPr marL="781685" marR="760095" indent="-148590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78168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result from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Accumulator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written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back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into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memory. </a:t>
            </a:r>
            <a:r>
              <a:rPr dirty="0" sz="950" spc="-25">
                <a:solidFill>
                  <a:srgbClr val="003366"/>
                </a:solidFill>
                <a:latin typeface="Arial MT"/>
                <a:cs typeface="Arial MT"/>
              </a:rPr>
              <a:t>In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many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processors, this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will be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done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as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separate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instruction.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4989" y="1041951"/>
            <a:ext cx="2020894" cy="9501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Jaehyun Park</dc:creator>
  <dc:title>CS_02_CPU_handout</dc:title>
  <dcterms:created xsi:type="dcterms:W3CDTF">2025-04-06T14:43:05Z</dcterms:created>
  <dcterms:modified xsi:type="dcterms:W3CDTF">2025-04-06T14:43:05Z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2021-03-15T00:00:00Z</vt:filetime>
  </property>
  <property fmtid="{D5CDD505-2E9C-101B-9397-08002B2CF9AE}" pid="3" name="Creator">
    <vt:lpwstr>pdftopdf filter</vt:lpwstr>
  </property>
  <property fmtid="{D5CDD505-2E9C-101B-9397-08002B2CF9AE}" pid="4" name="LastSaved">
    <vt:filetime>2025-04-06T00:00:00Z</vt:filetime>
  </property>
  <property fmtid="{D5CDD505-2E9C-101B-9397-08002B2CF9AE}" pid="5" name="Producer">
    <vt:lpwstr>macOS Version 11.2.2 (Build 20D80) Quartz PDFContext</vt:lpwstr>
  </property>
</Properties>
</file>