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sldIdLst>
    <p:sldId id="283" r:id="rId2"/>
    <p:sldId id="284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51" autoAdjust="0"/>
    <p:restoredTop sz="96234" autoAdjust="0"/>
  </p:normalViewPr>
  <p:slideViewPr>
    <p:cSldViewPr>
      <p:cViewPr varScale="1">
        <p:scale>
          <a:sx n="76" d="100"/>
          <a:sy n="76" d="100"/>
        </p:scale>
        <p:origin x="370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2938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3B312-57A8-47C3-BA4B-2C813ABC4C95}" type="datetimeFigureOut">
              <a:rPr lang="ko-KR" altLang="en-US" smtClean="0"/>
              <a:t>2025-04-24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EB649-B1DB-48B2-96AD-31D5AB3F7F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70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9D012-466D-4393-B88A-B81ADB903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0838"/>
            <a:ext cx="5143500" cy="344963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293A83-36FC-4C7D-BDF4-1CC359894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238"/>
            <a:ext cx="5143500" cy="23923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1C4600-5751-48C6-AC23-B11FF485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CF582-2BBE-4520-9136-34434075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29244F-145C-4D20-83D4-E8FDC985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33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코넬식 노트 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5A52A8-2805-42DC-9A4A-36BF99DF2F7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835C1085-EC86-4500-A95F-EC02D30EB5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9B82232-86F7-46BF-B25E-C1E6ACEBBC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560512"/>
            <a:ext cx="1296144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9D62C66A-A8F3-42B7-A09D-E7FA729E26C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560512"/>
            <a:ext cx="5400599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>
                <a:solidFill>
                  <a:srgbClr val="0070C0"/>
                </a:solidFill>
              </a:defRPr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46D795C-2771-4725-82A8-B114B1B4190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4" name="날짜 개체 틀 4">
            <a:extLst>
              <a:ext uri="{FF2B5EF4-FFF2-40B4-BE49-F238E27FC236}">
                <a16:creationId xmlns:a16="http://schemas.microsoft.com/office/drawing/2014/main" id="{91ABAAB3-A3F0-4DFF-BF41-441F35F9C4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2025-04-24</a:t>
            </a:fld>
            <a:endParaRPr lang="ko-KR" altLang="en-US" dirty="0"/>
          </a:p>
        </p:txBody>
      </p:sp>
      <p:sp>
        <p:nvSpPr>
          <p:cNvPr id="15" name="슬라이드 번호 개체 틀 6">
            <a:extLst>
              <a:ext uri="{FF2B5EF4-FFF2-40B4-BE49-F238E27FC236}">
                <a16:creationId xmlns:a16="http://schemas.microsoft.com/office/drawing/2014/main" id="{4E1FB95C-C14A-4C28-A50A-34497665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449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4">
            <a:extLst>
              <a:ext uri="{FF2B5EF4-FFF2-40B4-BE49-F238E27FC236}">
                <a16:creationId xmlns:a16="http://schemas.microsoft.com/office/drawing/2014/main" id="{5FBEC3BA-1878-4EC1-9EE4-BB3AA272808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740C1CF8-2810-4B8B-9E67-840108284B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944F807-3964-4082-822B-5E53CDCD8B3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344488"/>
            <a:ext cx="1296144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28" name="내용 개체 틀 3">
            <a:extLst>
              <a:ext uri="{FF2B5EF4-FFF2-40B4-BE49-F238E27FC236}">
                <a16:creationId xmlns:a16="http://schemas.microsoft.com/office/drawing/2014/main" id="{41D3E48A-F8B6-48E4-8BCD-B5A863191DE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344488"/>
            <a:ext cx="5400599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3BFED26C-166F-4DBC-8358-65449225F96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0" name="날짜 개체 틀 4">
            <a:extLst>
              <a:ext uri="{FF2B5EF4-FFF2-40B4-BE49-F238E27FC236}">
                <a16:creationId xmlns:a16="http://schemas.microsoft.com/office/drawing/2014/main" id="{8098F897-D130-4A85-926C-912EAB1A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2025-04-24</a:t>
            </a:fld>
            <a:endParaRPr lang="ko-KR" altLang="en-US" dirty="0"/>
          </a:p>
        </p:txBody>
      </p:sp>
      <p:sp>
        <p:nvSpPr>
          <p:cNvPr id="31" name="슬라이드 번호 개체 틀 6">
            <a:extLst>
              <a:ext uri="{FF2B5EF4-FFF2-40B4-BE49-F238E27FC236}">
                <a16:creationId xmlns:a16="http://schemas.microsoft.com/office/drawing/2014/main" id="{871FA819-0CC0-477C-BA85-646032956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415A8630-4555-49FF-95EA-19025017722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624" y="4376936"/>
            <a:ext cx="1296144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3" name="내용 개체 틀 3">
            <a:extLst>
              <a:ext uri="{FF2B5EF4-FFF2-40B4-BE49-F238E27FC236}">
                <a16:creationId xmlns:a16="http://schemas.microsoft.com/office/drawing/2014/main" id="{401078D4-13E2-4A15-A24E-D6ED5A3416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412776" y="4376936"/>
            <a:ext cx="5400599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36C1BE20-27A2-4680-B99C-77FF72519C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24" y="4088904"/>
            <a:ext cx="6768753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035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F1CE3-26B0-4207-BAD4-1041574E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70150"/>
            <a:ext cx="5915025" cy="41195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15FBA2-4936-4706-95C3-FAFA6A7E4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6629400"/>
            <a:ext cx="5915025" cy="216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C197-B0BD-436B-9980-EE59CBD7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4C08F-0304-4F96-B877-0B06C4B7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8234A-EDA6-43E8-AE6C-3CF677CA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38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96F35-AC99-4BF8-A397-0C1E1B4F7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29E579-ECC7-4C64-9EB8-D640165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2025-04-24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058974-E397-415A-A6C5-25F209F6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EC53FD-3472-4366-8E73-7C38B1AD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71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833BB0-4D29-49DC-A1FE-7E66598F34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2025-04-24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A96632-B0B8-401E-AC60-AEF38408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B7D2F-5D24-4FF6-9CD1-85539759F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7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97DC2-9736-4DB8-86D5-0677DFF9E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B6482-CF33-47BC-832B-7D18B209E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0720F2-9210-4195-98B9-0E2CBCAAB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417417-E261-4ECB-8D35-6E591646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2025-04-24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45D919-E2FD-413A-8928-E0C39853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7E8C6-6C26-4B84-BB1D-47019112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1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E4CC0-196A-4FF3-BA7A-2A838BC7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334584-9C2E-4FB4-B223-147590AA6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63A644-9209-46E1-8503-E03E899FB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5D5566-58C8-4D6E-950D-81773B05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2025-04-24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681FE-25FC-424A-A5C2-B8558CD8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D9E155-E9CA-4BDD-ADAC-D743596E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54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24B4C-8380-4ECE-A3C6-32F34249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5AE434-937A-4C07-B3EA-1C1EAB35C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829F06-0D5F-4146-B5FF-E0AAFF1A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5C82C-F88C-4F7F-91C3-F46031C3C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503FCB-B458-4F60-AF20-667E8325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7FC31D-270D-481C-B55E-E09DB06FD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8550" y="527050"/>
            <a:ext cx="1477963" cy="839470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FEBD54-0F8B-435E-A784-7973F6276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527050"/>
            <a:ext cx="4284662" cy="8394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D8C272-27C0-467E-8B2F-8060E69DCD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9F6D-897D-4DD0-BAAA-382522428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CE28EA-6ACB-498F-A385-71929DA3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36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BE23EC-F7A8-48CF-830D-AA10C569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4A2647-8522-4C16-9847-3E5362ED8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E217D-506C-41EC-8074-70FE9F358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A75F8-F7CF-491B-B1E4-FC201F6C4E25}" type="datetimeFigureOut">
              <a:rPr lang="ko-KR" altLang="en-US" smtClean="0"/>
              <a:t>2025-04-24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512B2E-566A-4965-92DB-6F8EB3F9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5EB1A7-DDFB-4F87-8544-6EA579152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66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7" r:id="rId2"/>
    <p:sldLayoutId id="2147483674" r:id="rId3"/>
    <p:sldLayoutId id="2147483675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51D99D2-BCD0-2B91-297A-FC78C8B7DC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D0BCDF0-1EDA-A414-CB45-AC2450216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기본자료구조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D0CFC8D-CD4B-051C-D626-5872F8CCB24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C2EFF23-2B30-CF4D-A5E4-650B4351BF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비트</a:t>
            </a:r>
            <a:endParaRPr lang="en-US" altLang="ko-KR" dirty="0"/>
          </a:p>
          <a:p>
            <a:pPr lvl="1"/>
            <a:r>
              <a:rPr lang="en-US" altLang="ko-KR" dirty="0"/>
              <a:t>8</a:t>
            </a:r>
            <a:r>
              <a:rPr lang="ko-KR" altLang="en-US" dirty="0"/>
              <a:t>비트 </a:t>
            </a:r>
            <a:r>
              <a:rPr lang="en-US" altLang="ko-KR" dirty="0"/>
              <a:t>= 1</a:t>
            </a:r>
            <a:r>
              <a:rPr lang="ko-KR" altLang="en-US" dirty="0"/>
              <a:t>바이트</a:t>
            </a:r>
            <a:r>
              <a:rPr lang="en-US" altLang="ko-KR" dirty="0"/>
              <a:t> ; 4</a:t>
            </a:r>
            <a:r>
              <a:rPr lang="ko-KR" altLang="en-US" dirty="0"/>
              <a:t>비트는 </a:t>
            </a:r>
            <a:r>
              <a:rPr lang="en-US" altLang="ko-KR" dirty="0"/>
              <a:t>2^4 = 16</a:t>
            </a:r>
            <a:r>
              <a:rPr lang="ko-KR" altLang="en-US" dirty="0"/>
              <a:t>개의 </a:t>
            </a:r>
            <a:r>
              <a:rPr lang="ko-KR" altLang="en-US" dirty="0" err="1"/>
              <a:t>상태값</a:t>
            </a:r>
            <a:r>
              <a:rPr lang="ko-KR" altLang="en-US" dirty="0"/>
              <a:t> 표현 가능</a:t>
            </a:r>
            <a:endParaRPr lang="en-US" altLang="ko-KR" dirty="0"/>
          </a:p>
          <a:p>
            <a:r>
              <a:rPr lang="en-US" altLang="ko-KR" dirty="0"/>
              <a:t>2</a:t>
            </a:r>
            <a:r>
              <a:rPr lang="ko-KR" altLang="en-US" dirty="0"/>
              <a:t>진수의 정수 표현</a:t>
            </a:r>
            <a:endParaRPr lang="en-US" altLang="ko-KR" dirty="0"/>
          </a:p>
          <a:p>
            <a:pPr lvl="1"/>
            <a:r>
              <a:rPr lang="ko-KR" altLang="en-US" dirty="0"/>
              <a:t>최상위 비트 </a:t>
            </a:r>
            <a:r>
              <a:rPr lang="en-US" altLang="ko-KR" dirty="0"/>
              <a:t>: 0,1</a:t>
            </a:r>
            <a:r>
              <a:rPr lang="ko-KR" altLang="en-US" dirty="0"/>
              <a:t>로</a:t>
            </a:r>
            <a:r>
              <a:rPr lang="en-US" altLang="ko-KR" dirty="0"/>
              <a:t> </a:t>
            </a:r>
            <a:r>
              <a:rPr lang="ko-KR" altLang="en-US" dirty="0"/>
              <a:t>각각 음수</a:t>
            </a:r>
            <a:r>
              <a:rPr lang="en-US" altLang="ko-KR" dirty="0"/>
              <a:t>,</a:t>
            </a:r>
            <a:r>
              <a:rPr lang="ko-KR" altLang="en-US" dirty="0"/>
              <a:t>양수</a:t>
            </a:r>
            <a:endParaRPr lang="en-US" altLang="ko-KR" dirty="0"/>
          </a:p>
          <a:p>
            <a:pPr lvl="2"/>
            <a:r>
              <a:rPr lang="ko-KR" altLang="en-US" dirty="0"/>
              <a:t>나머지 비트 </a:t>
            </a:r>
            <a:r>
              <a:rPr lang="en-US" altLang="ko-KR" dirty="0"/>
              <a:t>: 2</a:t>
            </a:r>
            <a:r>
              <a:rPr lang="ko-KR" altLang="en-US" dirty="0"/>
              <a:t>진수 표시 </a:t>
            </a:r>
            <a:r>
              <a:rPr lang="en-US" altLang="ko-KR" dirty="0"/>
              <a:t>; ex)</a:t>
            </a:r>
            <a:r>
              <a:rPr lang="ko-KR" altLang="en-US" dirty="0"/>
              <a:t> </a:t>
            </a:r>
            <a:r>
              <a:rPr lang="en-US" altLang="ko-KR" dirty="0"/>
              <a:t>-21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10010101</a:t>
            </a:r>
          </a:p>
          <a:p>
            <a:r>
              <a:rPr lang="en-US" altLang="ko-KR" dirty="0"/>
              <a:t>2</a:t>
            </a:r>
            <a:r>
              <a:rPr lang="ko-KR" altLang="en-US" dirty="0"/>
              <a:t>의 보수</a:t>
            </a:r>
            <a:endParaRPr lang="en-US" altLang="ko-KR" dirty="0"/>
          </a:p>
          <a:p>
            <a:pPr lvl="1"/>
            <a:r>
              <a:rPr lang="ko-KR" altLang="en-US" dirty="0"/>
              <a:t>음수를 계산하기 위해 사용</a:t>
            </a:r>
            <a:r>
              <a:rPr lang="en-US" altLang="ko-KR" dirty="0"/>
              <a:t>; </a:t>
            </a:r>
            <a:r>
              <a:rPr lang="ko-KR" altLang="en-US" dirty="0"/>
              <a:t>양수에서 </a:t>
            </a:r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/>
              <a:t>1</a:t>
            </a:r>
            <a:r>
              <a:rPr lang="ko-KR" altLang="en-US" dirty="0"/>
              <a:t>을 모두 뒤집고 </a:t>
            </a:r>
            <a:r>
              <a:rPr lang="en-US" altLang="ko-KR" dirty="0"/>
              <a:t>1</a:t>
            </a:r>
            <a:r>
              <a:rPr lang="ko-KR" altLang="en-US" dirty="0"/>
              <a:t>을 더하면 </a:t>
            </a:r>
            <a:r>
              <a:rPr lang="en-US" altLang="ko-KR" dirty="0"/>
              <a:t>2</a:t>
            </a:r>
            <a:r>
              <a:rPr lang="ko-KR" altLang="en-US" dirty="0"/>
              <a:t>의 보수가 됨</a:t>
            </a:r>
            <a:endParaRPr lang="en-US" altLang="ko-KR" dirty="0"/>
          </a:p>
          <a:p>
            <a:pPr lvl="2"/>
            <a:r>
              <a:rPr lang="en-US" altLang="ko-KR" dirty="0"/>
              <a:t>Ex) 3+2 = 0011 + 0010 = 0101, 3-2 = 0011 + 1110 = 0001</a:t>
            </a:r>
          </a:p>
          <a:p>
            <a:r>
              <a:rPr lang="en-US" altLang="ko-KR" dirty="0"/>
              <a:t>2</a:t>
            </a:r>
            <a:r>
              <a:rPr lang="ko-KR" altLang="en-US" dirty="0"/>
              <a:t>진수의 실수 표현</a:t>
            </a:r>
            <a:endParaRPr lang="en-US" altLang="ko-KR" dirty="0"/>
          </a:p>
          <a:p>
            <a:pPr lvl="1"/>
            <a:r>
              <a:rPr lang="ko-KR" altLang="en-US" dirty="0"/>
              <a:t>고정소수점 </a:t>
            </a:r>
            <a:r>
              <a:rPr lang="en-US" altLang="ko-KR" dirty="0"/>
              <a:t>: </a:t>
            </a:r>
            <a:r>
              <a:rPr lang="ko-KR" altLang="en-US" dirty="0"/>
              <a:t>정수부와 소수부로 나눔</a:t>
            </a:r>
            <a:r>
              <a:rPr lang="en-US" altLang="ko-KR" dirty="0"/>
              <a:t>. 12.34</a:t>
            </a:r>
            <a:r>
              <a:rPr lang="ko-KR" altLang="en-US" dirty="0"/>
              <a:t>면 정수부에 </a:t>
            </a:r>
            <a:r>
              <a:rPr lang="en-US" altLang="ko-KR" dirty="0"/>
              <a:t>12, </a:t>
            </a:r>
            <a:r>
              <a:rPr lang="ko-KR" altLang="en-US" dirty="0"/>
              <a:t>소수부에 </a:t>
            </a:r>
            <a:r>
              <a:rPr lang="en-US" altLang="ko-KR" dirty="0"/>
              <a:t>34, </a:t>
            </a:r>
            <a:r>
              <a:rPr lang="ko-KR" altLang="en-US" dirty="0"/>
              <a:t>부호부에 </a:t>
            </a:r>
            <a:r>
              <a:rPr lang="en-US" altLang="ko-KR" dirty="0"/>
              <a:t>0</a:t>
            </a:r>
          </a:p>
          <a:p>
            <a:pPr lvl="1"/>
            <a:r>
              <a:rPr lang="ko-KR" altLang="en-US" dirty="0"/>
              <a:t>부동소수점 </a:t>
            </a:r>
            <a:r>
              <a:rPr lang="en-US" altLang="ko-KR" dirty="0"/>
              <a:t>: </a:t>
            </a:r>
            <a:r>
              <a:rPr lang="ko-KR" altLang="en-US" dirty="0"/>
              <a:t>실수를 부호</a:t>
            </a:r>
            <a:r>
              <a:rPr lang="en-US" altLang="ko-KR" dirty="0"/>
              <a:t>,</a:t>
            </a:r>
            <a:r>
              <a:rPr lang="ko-KR" altLang="en-US" dirty="0"/>
              <a:t>지수</a:t>
            </a:r>
            <a:r>
              <a:rPr lang="en-US" altLang="ko-KR" dirty="0"/>
              <a:t>,</a:t>
            </a:r>
            <a:r>
              <a:rPr lang="ko-KR" altLang="en-US" dirty="0"/>
              <a:t>소수로 나눠 저장</a:t>
            </a:r>
            <a:endParaRPr lang="en-US" altLang="ko-KR" dirty="0"/>
          </a:p>
          <a:p>
            <a:pPr lvl="2"/>
            <a:r>
              <a:rPr lang="en-US" altLang="ko-KR" dirty="0"/>
              <a:t>32</a:t>
            </a:r>
            <a:r>
              <a:rPr lang="ko-KR" altLang="en-US" dirty="0"/>
              <a:t>비트에서 </a:t>
            </a:r>
            <a:r>
              <a:rPr lang="en-US" altLang="ko-KR" dirty="0"/>
              <a:t>1</a:t>
            </a:r>
            <a:r>
              <a:rPr lang="ko-KR" altLang="en-US" dirty="0"/>
              <a:t>비트 </a:t>
            </a:r>
            <a:r>
              <a:rPr lang="en-US" altLang="ko-KR" dirty="0"/>
              <a:t>: </a:t>
            </a:r>
            <a:r>
              <a:rPr lang="ko-KR" altLang="en-US" dirty="0"/>
              <a:t>부호</a:t>
            </a:r>
            <a:r>
              <a:rPr lang="en-US" altLang="ko-KR" dirty="0"/>
              <a:t>, 7</a:t>
            </a:r>
            <a:r>
              <a:rPr lang="ko-KR" altLang="en-US" dirty="0"/>
              <a:t>비트 </a:t>
            </a:r>
            <a:r>
              <a:rPr lang="en-US" altLang="ko-KR" dirty="0"/>
              <a:t>: </a:t>
            </a:r>
            <a:r>
              <a:rPr lang="ko-KR" altLang="en-US" dirty="0" err="1"/>
              <a:t>지수부</a:t>
            </a:r>
            <a:r>
              <a:rPr lang="en-US" altLang="ko-KR" dirty="0"/>
              <a:t>, 24</a:t>
            </a:r>
            <a:r>
              <a:rPr lang="ko-KR" altLang="en-US" dirty="0"/>
              <a:t>비트 </a:t>
            </a:r>
            <a:r>
              <a:rPr lang="en-US" altLang="ko-KR" dirty="0"/>
              <a:t>: </a:t>
            </a:r>
            <a:r>
              <a:rPr lang="ko-KR" altLang="en-US" dirty="0" err="1"/>
              <a:t>소수부</a:t>
            </a:r>
            <a:endParaRPr lang="en-US" altLang="ko-KR" dirty="0"/>
          </a:p>
          <a:p>
            <a:pPr lvl="2"/>
            <a:r>
              <a:rPr lang="ko-KR" altLang="en-US" dirty="0" err="1"/>
              <a:t>지수부</a:t>
            </a:r>
            <a:r>
              <a:rPr lang="en-US" altLang="ko-KR" dirty="0"/>
              <a:t>/</a:t>
            </a:r>
            <a:r>
              <a:rPr lang="ko-KR" altLang="en-US" dirty="0"/>
              <a:t>소수부를 각각 확장할 수 있으나 그 대가로 </a:t>
            </a:r>
            <a:r>
              <a:rPr lang="ko-KR" altLang="en-US" dirty="0" err="1"/>
              <a:t>소수부</a:t>
            </a:r>
            <a:r>
              <a:rPr lang="en-US" altLang="ko-KR" dirty="0"/>
              <a:t>/</a:t>
            </a:r>
            <a:r>
              <a:rPr lang="ko-KR" altLang="en-US" dirty="0"/>
              <a:t>지수부의 자릿수가 감소</a:t>
            </a:r>
            <a:endParaRPr lang="en-US" altLang="ko-KR" dirty="0"/>
          </a:p>
          <a:p>
            <a:r>
              <a:rPr lang="en-US" altLang="ko-KR" dirty="0"/>
              <a:t>ASCII </a:t>
            </a:r>
            <a:r>
              <a:rPr lang="ko-KR" altLang="en-US" dirty="0"/>
              <a:t>코드</a:t>
            </a:r>
            <a:r>
              <a:rPr lang="en-US" altLang="ko-KR" dirty="0"/>
              <a:t>, Unicode</a:t>
            </a:r>
          </a:p>
          <a:p>
            <a:pPr lvl="1"/>
            <a:r>
              <a:rPr lang="en-US" altLang="ko-KR" dirty="0"/>
              <a:t>ASCII </a:t>
            </a:r>
            <a:r>
              <a:rPr lang="ko-KR" altLang="en-US" dirty="0"/>
              <a:t>코드 </a:t>
            </a:r>
            <a:r>
              <a:rPr lang="en-US" altLang="ko-KR" dirty="0"/>
              <a:t>: </a:t>
            </a:r>
            <a:r>
              <a:rPr lang="ko-KR" altLang="en-US" dirty="0"/>
              <a:t>문자를</a:t>
            </a:r>
            <a:r>
              <a:rPr lang="en-US" altLang="ko-KR" dirty="0"/>
              <a:t> </a:t>
            </a:r>
            <a:r>
              <a:rPr lang="ko-KR" altLang="en-US" dirty="0"/>
              <a:t>숫자에 매핑하는 코드</a:t>
            </a:r>
            <a:r>
              <a:rPr lang="en-US" altLang="ko-KR" dirty="0"/>
              <a:t>; 7</a:t>
            </a:r>
            <a:r>
              <a:rPr lang="ko-KR" altLang="en-US" dirty="0"/>
              <a:t>비트로 사용</a:t>
            </a:r>
            <a:r>
              <a:rPr lang="en-US" altLang="ko-KR" dirty="0"/>
              <a:t>; ex) A = 1000001 = 65</a:t>
            </a:r>
          </a:p>
          <a:p>
            <a:pPr lvl="1"/>
            <a:r>
              <a:rPr lang="en-US" altLang="ko-KR" dirty="0"/>
              <a:t>Unicode : </a:t>
            </a:r>
            <a:r>
              <a:rPr lang="ko-KR" altLang="en-US" dirty="0"/>
              <a:t>모든 문자를 매핑</a:t>
            </a:r>
            <a:r>
              <a:rPr lang="en-US" altLang="ko-KR" dirty="0"/>
              <a:t>; </a:t>
            </a:r>
            <a:r>
              <a:rPr lang="ko-KR" altLang="en-US" dirty="0"/>
              <a:t>영문은 </a:t>
            </a:r>
            <a:r>
              <a:rPr lang="en-US" altLang="ko-KR" dirty="0"/>
              <a:t>1</a:t>
            </a:r>
            <a:r>
              <a:rPr lang="ko-KR" altLang="en-US" dirty="0"/>
              <a:t>바이트</a:t>
            </a:r>
            <a:r>
              <a:rPr lang="en-US" altLang="ko-KR" dirty="0"/>
              <a:t>, </a:t>
            </a:r>
            <a:r>
              <a:rPr lang="ko-KR" altLang="en-US" dirty="0"/>
              <a:t>한글은 </a:t>
            </a:r>
            <a:r>
              <a:rPr lang="en-US" altLang="ko-KR" dirty="0"/>
              <a:t>2</a:t>
            </a:r>
            <a:r>
              <a:rPr lang="ko-KR" altLang="en-US" dirty="0"/>
              <a:t>바이트</a:t>
            </a:r>
            <a:r>
              <a:rPr lang="en-US" altLang="ko-KR" dirty="0"/>
              <a:t>, </a:t>
            </a:r>
            <a:r>
              <a:rPr lang="ko-KR" altLang="en-US" dirty="0"/>
              <a:t>한문은 </a:t>
            </a:r>
            <a:r>
              <a:rPr lang="en-US" altLang="ko-KR" dirty="0"/>
              <a:t>3</a:t>
            </a:r>
            <a:r>
              <a:rPr lang="ko-KR" altLang="en-US" dirty="0"/>
              <a:t>바이트 내에 저장 가능 </a:t>
            </a:r>
            <a:r>
              <a:rPr lang="en-US" altLang="ko-KR" dirty="0"/>
              <a:t>; ex) </a:t>
            </a:r>
            <a:r>
              <a:rPr lang="ko-KR" altLang="en-US" dirty="0"/>
              <a:t>가 </a:t>
            </a:r>
            <a:r>
              <a:rPr lang="en-US" altLang="ko-KR" dirty="0"/>
              <a:t>= AC0 0 -&gt; 1010 1100 0000 0000</a:t>
            </a:r>
          </a:p>
          <a:p>
            <a:r>
              <a:rPr lang="ko-KR" altLang="en-US" dirty="0"/>
              <a:t>배열</a:t>
            </a:r>
            <a:r>
              <a:rPr lang="en-US" altLang="ko-KR" dirty="0"/>
              <a:t>, </a:t>
            </a:r>
            <a:r>
              <a:rPr lang="ko-KR" altLang="en-US" dirty="0"/>
              <a:t>포인터</a:t>
            </a:r>
            <a:r>
              <a:rPr lang="en-US" altLang="ko-KR" dirty="0"/>
              <a:t>, </a:t>
            </a:r>
            <a:r>
              <a:rPr lang="ko-KR" altLang="en-US" dirty="0"/>
              <a:t>문자열</a:t>
            </a:r>
            <a:endParaRPr lang="en-US" altLang="ko-KR" dirty="0"/>
          </a:p>
          <a:p>
            <a:pPr lvl="1"/>
            <a:r>
              <a:rPr lang="ko-KR" altLang="en-US" dirty="0"/>
              <a:t>배열</a:t>
            </a:r>
            <a:r>
              <a:rPr lang="en-US" altLang="ko-KR" dirty="0"/>
              <a:t>(Array) : </a:t>
            </a:r>
            <a:r>
              <a:rPr lang="ko-KR" altLang="en-US" dirty="0"/>
              <a:t>정적 타입 언어</a:t>
            </a:r>
            <a:r>
              <a:rPr lang="en-US" altLang="ko-KR" dirty="0"/>
              <a:t>(java, c, </a:t>
            </a:r>
            <a:r>
              <a:rPr lang="en-US" altLang="ko-KR" dirty="0" err="1"/>
              <a:t>c++</a:t>
            </a:r>
            <a:r>
              <a:rPr lang="en-US" altLang="ko-KR" dirty="0"/>
              <a:t>)</a:t>
            </a:r>
            <a:r>
              <a:rPr lang="ko-KR" altLang="en-US" dirty="0"/>
              <a:t>에서 크기를 미리 지정</a:t>
            </a:r>
            <a:r>
              <a:rPr lang="en-US" altLang="ko-KR" dirty="0"/>
              <a:t>, </a:t>
            </a:r>
            <a:r>
              <a:rPr lang="ko-KR" altLang="en-US" dirty="0"/>
              <a:t>배열의 모든 요소는 동일한 데이터 타입을 가져야 함</a:t>
            </a:r>
            <a:endParaRPr lang="en-US" altLang="ko-KR" dirty="0"/>
          </a:p>
          <a:p>
            <a:pPr lvl="2"/>
            <a:r>
              <a:rPr lang="ko-KR" altLang="en-US" dirty="0" err="1"/>
              <a:t>파이썬의</a:t>
            </a:r>
            <a:r>
              <a:rPr lang="ko-KR" altLang="en-US" dirty="0"/>
              <a:t> 리스트는 배열과 유사하나 서로 다른 타입의 자료를 저장할 수 있음</a:t>
            </a:r>
            <a:r>
              <a:rPr lang="en-US" altLang="ko-KR" dirty="0"/>
              <a:t>(</a:t>
            </a:r>
            <a:r>
              <a:rPr lang="ko-KR" altLang="en-US" dirty="0"/>
              <a:t>리스트가 각 객체의 메모리 주소를 저장하기 때문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문자열 </a:t>
            </a:r>
            <a:r>
              <a:rPr lang="en-US" altLang="ko-KR" dirty="0"/>
              <a:t>: </a:t>
            </a:r>
            <a:r>
              <a:rPr lang="ko-KR" altLang="en-US" dirty="0" err="1"/>
              <a:t>파이썬에서</a:t>
            </a:r>
            <a:r>
              <a:rPr lang="ko-KR" altLang="en-US" dirty="0"/>
              <a:t> 별도의 </a:t>
            </a:r>
            <a:r>
              <a:rPr lang="en-US" altLang="ko-KR" dirty="0"/>
              <a:t>char </a:t>
            </a:r>
            <a:r>
              <a:rPr lang="ko-KR" altLang="en-US" dirty="0"/>
              <a:t>타입 없이 길이가 </a:t>
            </a:r>
            <a:r>
              <a:rPr lang="en-US" altLang="ko-KR" dirty="0"/>
              <a:t>1</a:t>
            </a:r>
            <a:r>
              <a:rPr lang="ko-KR" altLang="en-US" dirty="0"/>
              <a:t>이상이면 </a:t>
            </a:r>
            <a:r>
              <a:rPr lang="en-US" altLang="ko-KR" dirty="0"/>
              <a:t>string </a:t>
            </a:r>
            <a:r>
              <a:rPr lang="ko-KR" altLang="en-US" dirty="0"/>
              <a:t>타입</a:t>
            </a:r>
            <a:r>
              <a:rPr lang="en-US" altLang="ko-KR" dirty="0"/>
              <a:t>; </a:t>
            </a:r>
            <a:r>
              <a:rPr lang="ko-KR" altLang="en-US" dirty="0"/>
              <a:t>문자열이 </a:t>
            </a:r>
            <a:r>
              <a:rPr lang="ko-KR" altLang="en-US" dirty="0" err="1"/>
              <a:t>깨지는건</a:t>
            </a:r>
            <a:r>
              <a:rPr lang="ko-KR" altLang="en-US" dirty="0"/>
              <a:t> 인코딩 방식과 읽을 때의 사용한 방식이 다르기 때문에</a:t>
            </a:r>
            <a:endParaRPr lang="en-US" altLang="ko-KR" dirty="0"/>
          </a:p>
          <a:p>
            <a:r>
              <a:rPr lang="ko-KR" altLang="en-US" dirty="0"/>
              <a:t>인터프리터와 메모리 할당</a:t>
            </a:r>
            <a:endParaRPr lang="en-US" altLang="ko-KR" dirty="0"/>
          </a:p>
          <a:p>
            <a:pPr lvl="1"/>
            <a:r>
              <a:rPr lang="ko-KR" altLang="en-US" dirty="0"/>
              <a:t>인터프리터</a:t>
            </a:r>
            <a:r>
              <a:rPr lang="en-US" altLang="ko-KR" dirty="0"/>
              <a:t>(</a:t>
            </a:r>
            <a:r>
              <a:rPr lang="ko-KR" altLang="en-US" dirty="0"/>
              <a:t>파이썬</a:t>
            </a:r>
            <a:r>
              <a:rPr lang="en-US" altLang="ko-KR" dirty="0"/>
              <a:t>) : </a:t>
            </a:r>
            <a:r>
              <a:rPr lang="ko-KR" altLang="en-US" dirty="0"/>
              <a:t>코드를</a:t>
            </a:r>
            <a:r>
              <a:rPr lang="en-US" altLang="ko-KR" dirty="0"/>
              <a:t> </a:t>
            </a:r>
            <a:r>
              <a:rPr lang="ko-KR" altLang="en-US" dirty="0"/>
              <a:t>한 줄씩 실행</a:t>
            </a:r>
            <a:r>
              <a:rPr lang="en-US" altLang="ko-KR" dirty="0"/>
              <a:t>, </a:t>
            </a:r>
            <a:r>
              <a:rPr lang="ko-KR" altLang="en-US" dirty="0"/>
              <a:t>사용자가 디버깅하기 편리</a:t>
            </a:r>
            <a:r>
              <a:rPr lang="en-US" altLang="ko-KR" dirty="0"/>
              <a:t>, </a:t>
            </a:r>
            <a:r>
              <a:rPr lang="ko-KR" altLang="en-US" dirty="0"/>
              <a:t>실행속도 느림</a:t>
            </a:r>
            <a:endParaRPr lang="en-US" altLang="ko-KR" dirty="0"/>
          </a:p>
          <a:p>
            <a:pPr lvl="2"/>
            <a:r>
              <a:rPr lang="ko-KR" altLang="en-US" dirty="0"/>
              <a:t>컴파일러</a:t>
            </a:r>
            <a:r>
              <a:rPr lang="en-US" altLang="ko-KR" dirty="0"/>
              <a:t>(C) : </a:t>
            </a:r>
            <a:r>
              <a:rPr lang="ko-KR" altLang="en-US" dirty="0"/>
              <a:t>모든 코드를 번역 후 실행</a:t>
            </a:r>
            <a:r>
              <a:rPr lang="en-US" altLang="ko-KR" dirty="0"/>
              <a:t>, </a:t>
            </a:r>
            <a:r>
              <a:rPr lang="ko-KR" altLang="en-US" dirty="0"/>
              <a:t>빠르지만 디버깅 불리</a:t>
            </a:r>
            <a:endParaRPr lang="en-US" altLang="ko-KR" dirty="0"/>
          </a:p>
          <a:p>
            <a:pPr lvl="1"/>
            <a:r>
              <a:rPr lang="ko-KR" altLang="en-US" dirty="0"/>
              <a:t>메모리 할당</a:t>
            </a:r>
            <a:endParaRPr lang="en-US" altLang="ko-KR" dirty="0"/>
          </a:p>
          <a:p>
            <a:pPr lvl="2"/>
            <a:r>
              <a:rPr lang="ko-KR" altLang="en-US" dirty="0"/>
              <a:t>동적 자료형 언어</a:t>
            </a:r>
            <a:r>
              <a:rPr lang="en-US" altLang="ko-KR" dirty="0"/>
              <a:t>(</a:t>
            </a:r>
            <a:r>
              <a:rPr lang="ko-KR" altLang="en-US" dirty="0"/>
              <a:t>파이썬</a:t>
            </a:r>
            <a:r>
              <a:rPr lang="en-US" altLang="ko-KR" dirty="0"/>
              <a:t>) : </a:t>
            </a:r>
            <a:r>
              <a:rPr lang="ko-KR" altLang="en-US" dirty="0"/>
              <a:t>변수 </a:t>
            </a:r>
            <a:r>
              <a:rPr lang="ko-KR" altLang="en-US" dirty="0" err="1"/>
              <a:t>선언시</a:t>
            </a:r>
            <a:r>
              <a:rPr lang="ko-KR" altLang="en-US" dirty="0"/>
              <a:t> 데이터 타입 지정 </a:t>
            </a:r>
            <a:r>
              <a:rPr lang="en-US" altLang="ko-KR" dirty="0"/>
              <a:t>X, </a:t>
            </a:r>
            <a:r>
              <a:rPr lang="ko-KR" altLang="en-US" dirty="0"/>
              <a:t>동적메모리 </a:t>
            </a:r>
            <a:r>
              <a:rPr lang="ko-KR" altLang="en-US" dirty="0" err="1"/>
              <a:t>힐당</a:t>
            </a:r>
            <a:endParaRPr lang="en-US" altLang="ko-KR" dirty="0"/>
          </a:p>
          <a:p>
            <a:pPr lvl="3"/>
            <a:r>
              <a:rPr lang="ko-KR" altLang="en-US" dirty="0"/>
              <a:t>동적 메모리 할당 </a:t>
            </a:r>
            <a:r>
              <a:rPr lang="en-US" altLang="ko-KR" dirty="0"/>
              <a:t>: </a:t>
            </a:r>
            <a:r>
              <a:rPr lang="ko-KR" altLang="en-US" dirty="0" err="1"/>
              <a:t>런타임중</a:t>
            </a:r>
            <a:r>
              <a:rPr lang="ko-KR" altLang="en-US" dirty="0"/>
              <a:t> 자동적으로 데이터 타입 결정 및 메모리 할당</a:t>
            </a:r>
            <a:endParaRPr lang="en-US" altLang="ko-KR" dirty="0"/>
          </a:p>
          <a:p>
            <a:pPr lvl="2"/>
            <a:r>
              <a:rPr lang="ko-KR" altLang="en-US" dirty="0"/>
              <a:t>정적 자료형 </a:t>
            </a:r>
            <a:r>
              <a:rPr lang="en-US" altLang="ko-KR" dirty="0"/>
              <a:t>: </a:t>
            </a:r>
            <a:r>
              <a:rPr lang="ko-KR" altLang="en-US" dirty="0"/>
              <a:t>변수 </a:t>
            </a:r>
            <a:r>
              <a:rPr lang="ko-KR" altLang="en-US" dirty="0" err="1"/>
              <a:t>선언시</a:t>
            </a:r>
            <a:r>
              <a:rPr lang="ko-KR" altLang="en-US" dirty="0"/>
              <a:t> 데이터 타입 지정 및 고정된 메모리 크기 할당</a:t>
            </a:r>
            <a:endParaRPr lang="en-US" altLang="ko-KR" dirty="0"/>
          </a:p>
          <a:p>
            <a:pPr lvl="3"/>
            <a:r>
              <a:rPr lang="ko-KR" altLang="en-US" dirty="0"/>
              <a:t>자바</a:t>
            </a:r>
            <a:r>
              <a:rPr lang="en-US" altLang="ko-KR" dirty="0"/>
              <a:t>, C</a:t>
            </a:r>
            <a:r>
              <a:rPr lang="ko-KR" altLang="en-US" dirty="0"/>
              <a:t>에선 정수의 할당된 크기를 넘어서면 </a:t>
            </a:r>
            <a:r>
              <a:rPr lang="ko-KR" altLang="en-US" dirty="0" err="1"/>
              <a:t>오버플로우</a:t>
            </a:r>
            <a:r>
              <a:rPr lang="ko-KR" altLang="en-US" dirty="0"/>
              <a:t> 발생</a:t>
            </a:r>
            <a:r>
              <a:rPr lang="en-US" altLang="ko-KR" dirty="0"/>
              <a:t>. </a:t>
            </a:r>
            <a:r>
              <a:rPr lang="ko-KR" altLang="en-US" dirty="0"/>
              <a:t>하지만 </a:t>
            </a:r>
            <a:r>
              <a:rPr lang="ko-KR" altLang="en-US" dirty="0" err="1"/>
              <a:t>파이썬에선</a:t>
            </a:r>
            <a:r>
              <a:rPr lang="ko-KR" altLang="en-US" dirty="0"/>
              <a:t> </a:t>
            </a:r>
            <a:r>
              <a:rPr lang="en-US" altLang="ko-KR" dirty="0"/>
              <a:t>32</a:t>
            </a:r>
            <a:r>
              <a:rPr lang="ko-KR" altLang="en-US" dirty="0"/>
              <a:t>비트에서 자동적으로 </a:t>
            </a:r>
            <a:r>
              <a:rPr lang="en-US" altLang="ko-KR" dirty="0"/>
              <a:t>64</a:t>
            </a:r>
            <a:r>
              <a:rPr lang="ko-KR" altLang="en-US" dirty="0"/>
              <a:t>비트로 확장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3DA2708-F7F6-6CE5-B4E2-1E18EF6E4907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965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C869CD5-5C8C-F517-EE0D-B7B7857B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AE00C01-4A7E-05A5-8EE0-FDC576FD8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기본자료구조</a:t>
            </a:r>
            <a:r>
              <a:rPr lang="en-US" altLang="ko-KR" dirty="0"/>
              <a:t>(</a:t>
            </a:r>
            <a:r>
              <a:rPr lang="ko-KR" altLang="en-US" dirty="0"/>
              <a:t>계속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9BF7D2-48CD-D83C-CDEA-C790F94BF7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6A10AB0-9F01-F8C0-CA3E-4313B37615D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Class</a:t>
            </a:r>
          </a:p>
          <a:p>
            <a:pPr lvl="1"/>
            <a:r>
              <a:rPr lang="en-US" altLang="ko-KR" dirty="0"/>
              <a:t>Attribute : </a:t>
            </a:r>
            <a:r>
              <a:rPr lang="ko-KR" altLang="en-US" dirty="0"/>
              <a:t>객체의 속성</a:t>
            </a:r>
            <a:r>
              <a:rPr lang="en-US" altLang="ko-KR" dirty="0"/>
              <a:t>; </a:t>
            </a:r>
            <a:r>
              <a:rPr lang="ko-KR" altLang="en-US" dirty="0"/>
              <a:t>특성을 나타냄</a:t>
            </a:r>
            <a:r>
              <a:rPr lang="en-US" altLang="ko-KR" dirty="0"/>
              <a:t> (</a:t>
            </a:r>
            <a:r>
              <a:rPr lang="ko-KR" altLang="en-US" dirty="0" err="1"/>
              <a:t>마리오의</a:t>
            </a:r>
            <a:r>
              <a:rPr lang="ko-KR" altLang="en-US" dirty="0"/>
              <a:t> </a:t>
            </a:r>
            <a:r>
              <a:rPr lang="ko-KR" altLang="en-US" dirty="0" err="1"/>
              <a:t>스프라이트</a:t>
            </a:r>
            <a:r>
              <a:rPr lang="en-US" altLang="ko-KR" dirty="0"/>
              <a:t>, </a:t>
            </a:r>
            <a:r>
              <a:rPr lang="ko-KR" altLang="en-US" dirty="0"/>
              <a:t>점프 효과음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Method : </a:t>
            </a:r>
            <a:r>
              <a:rPr lang="ko-KR" altLang="en-US" dirty="0"/>
              <a:t>객체의 행동</a:t>
            </a:r>
            <a:r>
              <a:rPr lang="en-US" altLang="ko-KR" dirty="0"/>
              <a:t>; (</a:t>
            </a:r>
            <a:r>
              <a:rPr lang="ko-KR" altLang="en-US" dirty="0"/>
              <a:t>달리기</a:t>
            </a:r>
            <a:r>
              <a:rPr lang="en-US" altLang="ko-KR" dirty="0"/>
              <a:t>, </a:t>
            </a:r>
            <a:r>
              <a:rPr lang="ko-KR" altLang="en-US" dirty="0"/>
              <a:t>점프하기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__</a:t>
            </a:r>
            <a:r>
              <a:rPr lang="en-US" altLang="ko-KR" dirty="0" err="1"/>
              <a:t>init</a:t>
            </a:r>
            <a:r>
              <a:rPr lang="en-US" altLang="ko-KR" dirty="0"/>
              <a:t>__</a:t>
            </a:r>
            <a:r>
              <a:rPr lang="ko-KR" altLang="en-US" dirty="0"/>
              <a:t> 메소드 </a:t>
            </a:r>
            <a:r>
              <a:rPr lang="en-US" altLang="ko-KR" dirty="0"/>
              <a:t>: </a:t>
            </a:r>
            <a:r>
              <a:rPr lang="ko-KR" altLang="en-US" dirty="0"/>
              <a:t>클래스의 객체가 생성될 때 호출</a:t>
            </a:r>
            <a:r>
              <a:rPr lang="en-US" altLang="ko-KR" dirty="0"/>
              <a:t>. </a:t>
            </a:r>
            <a:r>
              <a:rPr lang="ko-KR" altLang="en-US" dirty="0"/>
              <a:t>객체의 초기상태를 설정</a:t>
            </a:r>
            <a:r>
              <a:rPr lang="en-US" altLang="ko-KR" dirty="0"/>
              <a:t>. Self</a:t>
            </a:r>
            <a:r>
              <a:rPr lang="ko-KR" altLang="en-US" dirty="0"/>
              <a:t>는 생성되는 객체 자신을 가리킴</a:t>
            </a:r>
            <a:endParaRPr lang="en-US" altLang="ko-KR" dirty="0"/>
          </a:p>
          <a:p>
            <a:pPr lvl="2"/>
            <a:r>
              <a:rPr lang="en-US" altLang="ko-KR" dirty="0"/>
              <a:t>Self : </a:t>
            </a:r>
            <a:r>
              <a:rPr lang="ko-KR" altLang="en-US" dirty="0"/>
              <a:t>인스턴스</a:t>
            </a:r>
            <a:r>
              <a:rPr lang="en-US" altLang="ko-KR" dirty="0"/>
              <a:t> </a:t>
            </a:r>
            <a:r>
              <a:rPr lang="ko-KR" altLang="en-US" dirty="0"/>
              <a:t>메소드에서 첫번째 인자로 전달되는 객체 자신을 가리킴</a:t>
            </a:r>
            <a:endParaRPr lang="en-US" altLang="ko-KR" dirty="0"/>
          </a:p>
          <a:p>
            <a:pPr lvl="2"/>
            <a:r>
              <a:rPr lang="en-US" altLang="ko-KR" dirty="0"/>
              <a:t>CLS : </a:t>
            </a:r>
            <a:r>
              <a:rPr lang="ko-KR" altLang="en-US" dirty="0"/>
              <a:t>클래스</a:t>
            </a:r>
            <a:r>
              <a:rPr lang="en-US" altLang="ko-KR" dirty="0"/>
              <a:t> </a:t>
            </a:r>
            <a:r>
              <a:rPr lang="ko-KR" altLang="en-US" dirty="0"/>
              <a:t>메소드에서 첫번째 인자로 전달되는 클래스 자신을 가리킴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DE36D4D-B72B-0274-45F5-6B84F4F30FCA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FB76A87-7474-9EDF-0869-D33FC597E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764" y="2072680"/>
            <a:ext cx="2814404" cy="237626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1D27430-1962-DE8D-2C1F-62FEE6ABA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764" y="4520952"/>
            <a:ext cx="2335395" cy="230425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83C1098-477E-CEB7-6169-C360B30F05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4531" y="5035202"/>
            <a:ext cx="2903472" cy="185182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7F73590-0560-4581-51FD-3ACAED3CD7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5105" y="2124449"/>
            <a:ext cx="2076288" cy="254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547324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24279</TotalTime>
  <Words>438</Words>
  <Application>Microsoft Office PowerPoint</Application>
  <PresentationFormat>A4 용지(210x297mm)</PresentationFormat>
  <Paragraphs>36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Wingdings</vt:lpstr>
      <vt:lpstr>디자인 사용자 지정</vt:lpstr>
      <vt:lpstr>기본자료구조</vt:lpstr>
      <vt:lpstr>기본자료구조(계속)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13640</dc:creator>
  <cp:lastModifiedBy>노동주</cp:lastModifiedBy>
  <cp:revision>546</cp:revision>
  <dcterms:created xsi:type="dcterms:W3CDTF">2021-05-24T07:27:04Z</dcterms:created>
  <dcterms:modified xsi:type="dcterms:W3CDTF">2025-04-24T08:16:27Z</dcterms:modified>
</cp:coreProperties>
</file>