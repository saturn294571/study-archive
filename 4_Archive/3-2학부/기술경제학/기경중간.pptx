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72" r:id="rId1"/>
  </p:sldMasterIdLst>
  <p:notesMasterIdLst>
    <p:notesMasterId r:id="rId13"/>
  </p:notesMasterIdLst>
  <p:sldIdLst>
    <p:sldId id="283" r:id="rId2"/>
    <p:sldId id="286" r:id="rId3"/>
    <p:sldId id="294" r:id="rId4"/>
    <p:sldId id="295" r:id="rId5"/>
    <p:sldId id="296" r:id="rId6"/>
    <p:sldId id="297" r:id="rId7"/>
    <p:sldId id="298" r:id="rId8"/>
    <p:sldId id="299" r:id="rId9"/>
    <p:sldId id="300" r:id="rId10"/>
    <p:sldId id="292" r:id="rId11"/>
    <p:sldId id="293" r:id="rId12"/>
  </p:sldIdLst>
  <p:sldSz cx="6858000" cy="9906000" type="A4"/>
  <p:notesSz cx="6858000" cy="9144000"/>
  <p:embeddedFontLst>
    <p:embeddedFont>
      <p:font typeface="맑은 고딕" panose="020B0503020000020004" pitchFamily="50" charset="-127"/>
      <p:regular r:id="rId14"/>
      <p:bold r:id="rId1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034E78-7F5D-4C2E-B375-FC64B27BC917}" styleName="어두운 스타일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A111915-BE36-4E01-A7E5-04B1672EAD32}" styleName="밝은 스타일 2 - 강조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951" autoAdjust="0"/>
    <p:restoredTop sz="96234" autoAdjust="0"/>
  </p:normalViewPr>
  <p:slideViewPr>
    <p:cSldViewPr>
      <p:cViewPr varScale="1">
        <p:scale>
          <a:sx n="76" d="100"/>
          <a:sy n="76" d="100"/>
        </p:scale>
        <p:origin x="370" y="53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75" d="100"/>
          <a:sy n="75" d="100"/>
        </p:scale>
        <p:origin x="2938" y="4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83B312-57A8-47C3-BA4B-2C813ABC4C95}" type="datetimeFigureOut">
              <a:rPr lang="ko-KR" altLang="en-US" smtClean="0"/>
              <a:t>2025-06-04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BEB649-B1DB-48B2-96AD-31D5AB3F7F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6706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E9D012-466D-4393-B88A-B81ADB903C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7250" y="1620838"/>
            <a:ext cx="5143500" cy="3449637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2293A83-36FC-4C7D-BDF4-1CC359894F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7250" y="5202238"/>
            <a:ext cx="5143500" cy="23923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31C4600-5751-48C6-AC23-B11FF485234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2025-06-04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29CF582-2BBE-4520-9136-344340752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A29244F-145C-4D20-83D4-E8FDC9859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33349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코넬식 노트 기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45A52A8-2805-42DC-9A4A-36BF99DF2F70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437113" y="56456"/>
            <a:ext cx="2376264" cy="43204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anchor="ctr">
            <a:normAutofit/>
          </a:bodyPr>
          <a:lstStyle>
            <a:lvl1pPr marL="0" indent="0">
              <a:buNone/>
              <a:defRPr sz="1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dirty="0"/>
              <a:t>##</a:t>
            </a:r>
            <a:r>
              <a:rPr lang="ko-KR" altLang="en-US" dirty="0"/>
              <a:t>학과 </a:t>
            </a:r>
            <a:r>
              <a:rPr lang="en-US" altLang="ko-KR" dirty="0"/>
              <a:t>#</a:t>
            </a:r>
            <a:r>
              <a:rPr lang="ko-KR" altLang="en-US" dirty="0"/>
              <a:t>학년 </a:t>
            </a:r>
            <a:r>
              <a:rPr lang="en-US" altLang="ko-KR" dirty="0"/>
              <a:t>#</a:t>
            </a:r>
            <a:r>
              <a:rPr lang="ko-KR" altLang="en-US" dirty="0"/>
              <a:t>학기 </a:t>
            </a:r>
            <a:r>
              <a:rPr lang="en-US" altLang="ko-KR" dirty="0"/>
              <a:t>#</a:t>
            </a:r>
            <a:r>
              <a:rPr lang="ko-KR" altLang="en-US" dirty="0"/>
              <a:t>주차 </a:t>
            </a:r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835C1085-EC86-4500-A95F-EC02D30EB5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625" y="56456"/>
            <a:ext cx="4320480" cy="43204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>
              <a:defRPr sz="1500" b="0"/>
            </a:lvl1pPr>
          </a:lstStyle>
          <a:p>
            <a:r>
              <a:rPr lang="ko-KR" altLang="en-US" dirty="0"/>
              <a:t>과목명 </a:t>
            </a:r>
            <a:r>
              <a:rPr lang="en-US" altLang="ko-KR" dirty="0"/>
              <a:t>[</a:t>
            </a:r>
            <a:r>
              <a:rPr lang="ko-KR" altLang="en-US" dirty="0"/>
              <a:t>단원 이름</a:t>
            </a:r>
            <a:r>
              <a:rPr lang="en-US" altLang="ko-KR" dirty="0"/>
              <a:t>]</a:t>
            </a:r>
            <a:endParaRPr lang="ko-KR" altLang="en-US" dirty="0"/>
          </a:p>
        </p:txBody>
      </p: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69B82232-86F7-46BF-B25E-C1E6ACEBBC6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4624" y="560512"/>
            <a:ext cx="1296144" cy="756084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176213" indent="-176213">
              <a:lnSpc>
                <a:spcPct val="100000"/>
              </a:lnSpc>
              <a:buClr>
                <a:srgbClr val="00B050"/>
              </a:buClr>
              <a:buFont typeface="Wingdings" panose="05000000000000000000" pitchFamily="2" charset="2"/>
              <a:buChar char="ü"/>
              <a:defRPr sz="1050"/>
            </a:lvl1pPr>
            <a:lvl2pPr marL="363538" indent="-146050">
              <a:lnSpc>
                <a:spcPct val="100000"/>
              </a:lnSpc>
              <a:buFont typeface="맑은 고딕" panose="020B0503020000020004" pitchFamily="50" charset="-127"/>
              <a:buChar char="ￚ"/>
              <a:defRPr sz="1050"/>
            </a:lvl2pPr>
            <a:lvl3pPr marL="539750" indent="-228600">
              <a:lnSpc>
                <a:spcPct val="100000"/>
              </a:lnSpc>
              <a:buFont typeface="맑은 고딕" panose="020B0503020000020004" pitchFamily="50" charset="-127"/>
              <a:buChar char="→"/>
              <a:defRPr sz="105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주요생각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주요포인트를 연결하는 질문들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그림</a:t>
            </a:r>
            <a:r>
              <a:rPr lang="en-US" altLang="ko-KR" dirty="0"/>
              <a:t>(</a:t>
            </a:r>
            <a:r>
              <a:rPr lang="ko-KR" altLang="en-US" dirty="0"/>
              <a:t>도식</a:t>
            </a:r>
            <a:r>
              <a:rPr lang="en-US" altLang="ko-KR" dirty="0"/>
              <a:t>)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 err="1"/>
              <a:t>학습시</a:t>
            </a:r>
            <a:r>
              <a:rPr lang="ko-KR" altLang="en-US" dirty="0"/>
              <a:t> 주요사항을</a:t>
            </a:r>
            <a:br>
              <a:rPr lang="en-US" altLang="ko-KR" dirty="0"/>
            </a:br>
            <a:r>
              <a:rPr lang="ko-KR" altLang="en-US" dirty="0"/>
              <a:t>연상케 해주는 힌트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** </a:t>
            </a:r>
            <a:r>
              <a:rPr lang="ko-KR" altLang="en-US" dirty="0"/>
              <a:t>작성시기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ko-KR" altLang="en-US" dirty="0" err="1"/>
              <a:t>수업후</a:t>
            </a:r>
            <a:r>
              <a:rPr lang="ko-KR" altLang="en-US" dirty="0"/>
              <a:t> 복습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12" name="내용 개체 틀 3">
            <a:extLst>
              <a:ext uri="{FF2B5EF4-FFF2-40B4-BE49-F238E27FC236}">
                <a16:creationId xmlns:a16="http://schemas.microsoft.com/office/drawing/2014/main" id="{9D62C66A-A8F3-42B7-A09D-E7FA729E26C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412776" y="560512"/>
            <a:ext cx="5400599" cy="756084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176213" indent="-176213">
              <a:lnSpc>
                <a:spcPct val="100000"/>
              </a:lnSpc>
              <a:buFont typeface="맑은 고딕" panose="020B0503020000020004" pitchFamily="50" charset="-127"/>
              <a:buChar char="#"/>
              <a:defRPr sz="1050">
                <a:solidFill>
                  <a:srgbClr val="0070C0"/>
                </a:solidFill>
              </a:defRPr>
            </a:lvl1pPr>
            <a:lvl2pPr marL="363538" indent="-187325">
              <a:lnSpc>
                <a:spcPct val="100000"/>
              </a:lnSpc>
              <a:buFont typeface="맑은 고딕" panose="020B0503020000020004" pitchFamily="50" charset="-127"/>
              <a:buChar char="ￚ"/>
              <a:tabLst/>
              <a:defRPr sz="1000"/>
            </a:lvl2pPr>
            <a:lvl3pPr marL="539750" indent="-147638">
              <a:lnSpc>
                <a:spcPct val="100000"/>
              </a:lnSpc>
              <a:buFont typeface="맑은 고딕" panose="020B0503020000020004" pitchFamily="50" charset="-127"/>
              <a:buChar char="→"/>
              <a:defRPr sz="1000"/>
            </a:lvl3pPr>
            <a:lvl4pPr marL="714375" indent="-174625">
              <a:lnSpc>
                <a:spcPct val="100000"/>
              </a:lnSpc>
              <a:defRPr sz="900"/>
            </a:lvl4pPr>
            <a:lvl5pPr marL="903288" indent="-188913">
              <a:lnSpc>
                <a:spcPct val="100000"/>
              </a:lnSpc>
              <a:tabLst>
                <a:tab pos="1077913" algn="l"/>
              </a:tabLst>
              <a:defRPr sz="900"/>
            </a:lvl5pPr>
          </a:lstStyle>
          <a:p>
            <a:pPr lvl="0"/>
            <a:r>
              <a:rPr lang="ko-KR" altLang="en-US" dirty="0"/>
              <a:t>수업 내용을 기록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필기 시 지켜야 할 사항들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ko-KR" altLang="en-US" dirty="0"/>
              <a:t>간결한 문장</a:t>
            </a:r>
            <a:br>
              <a:rPr lang="en-US" altLang="ko-KR" dirty="0"/>
            </a:br>
            <a:r>
              <a:rPr lang="ko-KR" altLang="en-US" dirty="0"/>
              <a:t>간단한 기호</a:t>
            </a:r>
            <a:br>
              <a:rPr lang="en-US" altLang="ko-KR" dirty="0"/>
            </a:br>
            <a:r>
              <a:rPr lang="ko-KR" altLang="en-US" dirty="0"/>
              <a:t>약자</a:t>
            </a:r>
            <a:br>
              <a:rPr lang="en-US" altLang="ko-KR" dirty="0"/>
            </a:br>
            <a:r>
              <a:rPr lang="ko-KR" altLang="en-US" dirty="0"/>
              <a:t>목차</a:t>
            </a:r>
            <a:br>
              <a:rPr lang="en-US" altLang="ko-KR" dirty="0"/>
            </a:br>
            <a:r>
              <a:rPr lang="ko-KR" altLang="en-US" dirty="0"/>
              <a:t>주요 포인트 사이에 충분한 공간</a:t>
            </a:r>
            <a:br>
              <a:rPr lang="en-US" altLang="ko-KR" dirty="0"/>
            </a:br>
            <a:r>
              <a:rPr lang="ko-KR" altLang="en-US" dirty="0"/>
              <a:t>최소한의 내용</a:t>
            </a:r>
            <a:r>
              <a:rPr lang="en-US" altLang="ko-KR" dirty="0"/>
              <a:t>, </a:t>
            </a:r>
            <a:r>
              <a:rPr lang="ko-KR" altLang="en-US" dirty="0"/>
              <a:t>핵심만을 담으려 노력할 것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** </a:t>
            </a:r>
            <a:r>
              <a:rPr lang="ko-KR" altLang="en-US" dirty="0"/>
              <a:t>작성시기 </a:t>
            </a:r>
            <a:r>
              <a:rPr lang="en-US" altLang="ko-KR" dirty="0"/>
              <a:t>: </a:t>
            </a:r>
            <a:r>
              <a:rPr lang="ko-KR" altLang="en-US" dirty="0"/>
              <a:t>수업 중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** </a:t>
            </a:r>
            <a:r>
              <a:rPr lang="ko-KR" altLang="en-US" dirty="0"/>
              <a:t>공부 순서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en-US" altLang="ko-KR" dirty="0"/>
              <a:t>1. </a:t>
            </a:r>
            <a:r>
              <a:rPr lang="ko-KR" altLang="en-US" dirty="0"/>
              <a:t>강의 수강 및 수업내용 받아 적기</a:t>
            </a:r>
            <a:br>
              <a:rPr lang="en-US" altLang="ko-KR" dirty="0"/>
            </a:br>
            <a:r>
              <a:rPr lang="en-US" altLang="ko-KR" dirty="0"/>
              <a:t>2. </a:t>
            </a:r>
            <a:r>
              <a:rPr lang="ko-KR" altLang="en-US" dirty="0"/>
              <a:t>강의 내용 </a:t>
            </a:r>
            <a:r>
              <a:rPr lang="en-US" altLang="ko-KR" dirty="0"/>
              <a:t>&amp; </a:t>
            </a:r>
            <a:r>
              <a:rPr lang="ko-KR" altLang="en-US" dirty="0"/>
              <a:t>받아 적은 내용 기반으로 노트 필기</a:t>
            </a:r>
            <a:br>
              <a:rPr lang="en-US" altLang="ko-KR" dirty="0"/>
            </a:br>
            <a:r>
              <a:rPr lang="en-US" altLang="ko-KR" dirty="0"/>
              <a:t>3. </a:t>
            </a:r>
            <a:r>
              <a:rPr lang="ko-KR" altLang="en-US" dirty="0"/>
              <a:t>내용 설명하기 </a:t>
            </a:r>
            <a:r>
              <a:rPr lang="en-US" altLang="ko-KR" dirty="0"/>
              <a:t>&amp; </a:t>
            </a:r>
            <a:r>
              <a:rPr lang="ko-KR" altLang="en-US" dirty="0"/>
              <a:t>완전히 설명</a:t>
            </a:r>
            <a:r>
              <a:rPr lang="en-US" altLang="ko-KR" dirty="0"/>
              <a:t>, </a:t>
            </a:r>
            <a:r>
              <a:rPr lang="ko-KR" altLang="en-US" dirty="0"/>
              <a:t>이해할 때 까지 </a:t>
            </a:r>
            <a:r>
              <a:rPr lang="en-US" altLang="ko-KR" dirty="0"/>
              <a:t>1~3 </a:t>
            </a:r>
            <a:r>
              <a:rPr lang="ko-KR" altLang="en-US" dirty="0"/>
              <a:t>반복</a:t>
            </a:r>
            <a:br>
              <a:rPr lang="en-US" altLang="ko-KR" dirty="0"/>
            </a:br>
            <a:r>
              <a:rPr lang="en-US" altLang="ko-KR" dirty="0"/>
              <a:t>4. </a:t>
            </a:r>
            <a:r>
              <a:rPr lang="ko-KR" altLang="en-US" dirty="0"/>
              <a:t>교과서</a:t>
            </a:r>
            <a:r>
              <a:rPr lang="en-US" altLang="ko-KR" dirty="0"/>
              <a:t>/</a:t>
            </a:r>
            <a:r>
              <a:rPr lang="ko-KR" altLang="en-US" dirty="0"/>
              <a:t>참고서로 내용 심화 이해 및 문제 풀어 보기</a:t>
            </a:r>
            <a:br>
              <a:rPr lang="en-US" altLang="ko-KR" dirty="0"/>
            </a:br>
            <a:r>
              <a:rPr lang="en-US" altLang="ko-KR" dirty="0"/>
              <a:t>5. </a:t>
            </a:r>
            <a:r>
              <a:rPr lang="ko-KR" altLang="en-US" dirty="0"/>
              <a:t>기출분석 및 예상 적중 문제 </a:t>
            </a:r>
            <a:r>
              <a:rPr lang="ko-KR" altLang="en-US" dirty="0" err="1"/>
              <a:t>풀어보기</a:t>
            </a:r>
            <a:r>
              <a:rPr lang="en-US" altLang="ko-KR" dirty="0"/>
              <a:t>/</a:t>
            </a:r>
            <a:r>
              <a:rPr lang="ko-KR" altLang="en-US" dirty="0"/>
              <a:t>만들기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A46D795C-2771-4725-82A8-B114B1B4190A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44624" y="8193360"/>
            <a:ext cx="6768752" cy="165618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228600" indent="-228600">
              <a:lnSpc>
                <a:spcPct val="100000"/>
              </a:lnSpc>
              <a:buFont typeface="Wingdings" panose="05000000000000000000" pitchFamily="2" charset="2"/>
              <a:buChar char="§"/>
              <a:defRPr sz="1000"/>
            </a:lvl1pPr>
            <a:lvl2pPr marL="446088" indent="-228600">
              <a:lnSpc>
                <a:spcPct val="100000"/>
              </a:lnSpc>
              <a:buFont typeface="맑은 고딕" panose="020B0503020000020004" pitchFamily="50" charset="-127"/>
              <a:buChar char="ￚ"/>
              <a:defRPr sz="1000"/>
            </a:lvl2pPr>
            <a:lvl3pPr marL="620713" indent="-228600">
              <a:lnSpc>
                <a:spcPct val="100000"/>
              </a:lnSpc>
              <a:buFont typeface="맑은 고딕" panose="020B0503020000020004" pitchFamily="50" charset="-127"/>
              <a:buChar char="→"/>
              <a:defRPr sz="10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가장 중요한 생각을 </a:t>
            </a:r>
            <a:r>
              <a:rPr lang="en-US" altLang="ko-KR" dirty="0"/>
              <a:t>1~2</a:t>
            </a:r>
            <a:r>
              <a:rPr lang="ko-KR" altLang="en-US" dirty="0"/>
              <a:t>문장으로 요약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시험 공부 시 빠르게 참고할 수 있게 작성 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14" name="날짜 개체 틀 4">
            <a:extLst>
              <a:ext uri="{FF2B5EF4-FFF2-40B4-BE49-F238E27FC236}">
                <a16:creationId xmlns:a16="http://schemas.microsoft.com/office/drawing/2014/main" id="{91ABAAB3-A3F0-4DFF-BF41-441F35F9C4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73216" y="9557890"/>
            <a:ext cx="1440160" cy="288032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2025-06-04</a:t>
            </a:fld>
            <a:endParaRPr lang="ko-KR" altLang="en-US" dirty="0"/>
          </a:p>
        </p:txBody>
      </p:sp>
      <p:sp>
        <p:nvSpPr>
          <p:cNvPr id="15" name="슬라이드 번호 개체 틀 6">
            <a:extLst>
              <a:ext uri="{FF2B5EF4-FFF2-40B4-BE49-F238E27FC236}">
                <a16:creationId xmlns:a16="http://schemas.microsoft.com/office/drawing/2014/main" id="{4E1FB95C-C14A-4C28-A50A-344976658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73216" y="9557890"/>
            <a:ext cx="1440160" cy="291654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44932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텍스트 개체 틀 4">
            <a:extLst>
              <a:ext uri="{FF2B5EF4-FFF2-40B4-BE49-F238E27FC236}">
                <a16:creationId xmlns:a16="http://schemas.microsoft.com/office/drawing/2014/main" id="{5FBEC3BA-1878-4EC1-9EE4-BB3AA272808E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437113" y="56456"/>
            <a:ext cx="2376264" cy="21602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anchor="ctr">
            <a:normAutofit/>
          </a:bodyPr>
          <a:lstStyle>
            <a:lvl1pPr marL="0" indent="0">
              <a:buNone/>
              <a:defRPr sz="1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dirty="0"/>
              <a:t>##</a:t>
            </a:r>
            <a:r>
              <a:rPr lang="ko-KR" altLang="en-US" dirty="0"/>
              <a:t>학과 </a:t>
            </a:r>
            <a:r>
              <a:rPr lang="en-US" altLang="ko-KR" dirty="0"/>
              <a:t>#</a:t>
            </a:r>
            <a:r>
              <a:rPr lang="ko-KR" altLang="en-US" dirty="0"/>
              <a:t>학년 </a:t>
            </a:r>
            <a:r>
              <a:rPr lang="en-US" altLang="ko-KR" dirty="0"/>
              <a:t>#</a:t>
            </a:r>
            <a:r>
              <a:rPr lang="ko-KR" altLang="en-US" dirty="0"/>
              <a:t>학기 </a:t>
            </a:r>
            <a:r>
              <a:rPr lang="en-US" altLang="ko-KR" dirty="0"/>
              <a:t>#</a:t>
            </a:r>
            <a:r>
              <a:rPr lang="ko-KR" altLang="en-US" dirty="0"/>
              <a:t>주차 </a:t>
            </a:r>
          </a:p>
        </p:txBody>
      </p:sp>
      <p:sp>
        <p:nvSpPr>
          <p:cNvPr id="26" name="제목 1">
            <a:extLst>
              <a:ext uri="{FF2B5EF4-FFF2-40B4-BE49-F238E27FC236}">
                <a16:creationId xmlns:a16="http://schemas.microsoft.com/office/drawing/2014/main" id="{740C1CF8-2810-4B8B-9E67-840108284B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625" y="56456"/>
            <a:ext cx="4320480" cy="21602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>
              <a:defRPr sz="1500" b="0"/>
            </a:lvl1pPr>
          </a:lstStyle>
          <a:p>
            <a:r>
              <a:rPr lang="ko-KR" altLang="en-US" dirty="0"/>
              <a:t>과목명 </a:t>
            </a:r>
            <a:r>
              <a:rPr lang="en-US" altLang="ko-KR" dirty="0"/>
              <a:t>[</a:t>
            </a:r>
            <a:r>
              <a:rPr lang="ko-KR" altLang="en-US" dirty="0"/>
              <a:t>단원 이름</a:t>
            </a:r>
            <a:r>
              <a:rPr lang="en-US" altLang="ko-KR" dirty="0"/>
              <a:t>]</a:t>
            </a:r>
            <a:endParaRPr lang="ko-KR" altLang="en-US" dirty="0"/>
          </a:p>
        </p:txBody>
      </p:sp>
      <p:sp>
        <p:nvSpPr>
          <p:cNvPr id="27" name="내용 개체 틀 2">
            <a:extLst>
              <a:ext uri="{FF2B5EF4-FFF2-40B4-BE49-F238E27FC236}">
                <a16:creationId xmlns:a16="http://schemas.microsoft.com/office/drawing/2014/main" id="{C944F807-3964-4082-822B-5E53CDCD8B3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4624" y="344488"/>
            <a:ext cx="1296144" cy="367240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176213" indent="-176213">
              <a:lnSpc>
                <a:spcPct val="100000"/>
              </a:lnSpc>
              <a:buClr>
                <a:srgbClr val="00B050"/>
              </a:buClr>
              <a:buFont typeface="Wingdings" panose="05000000000000000000" pitchFamily="2" charset="2"/>
              <a:buChar char="ü"/>
              <a:defRPr sz="1050"/>
            </a:lvl1pPr>
            <a:lvl2pPr marL="363538" indent="-146050">
              <a:lnSpc>
                <a:spcPct val="100000"/>
              </a:lnSpc>
              <a:buFont typeface="맑은 고딕" panose="020B0503020000020004" pitchFamily="50" charset="-127"/>
              <a:buChar char="ￚ"/>
              <a:defRPr sz="1050"/>
            </a:lvl2pPr>
            <a:lvl3pPr marL="539750" indent="-228600">
              <a:lnSpc>
                <a:spcPct val="100000"/>
              </a:lnSpc>
              <a:buFont typeface="맑은 고딕" panose="020B0503020000020004" pitchFamily="50" charset="-127"/>
              <a:buChar char="→"/>
              <a:defRPr sz="105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주요생각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주요포인트를 연결하는 질문들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그림</a:t>
            </a:r>
            <a:r>
              <a:rPr lang="en-US" altLang="ko-KR" dirty="0"/>
              <a:t>(</a:t>
            </a:r>
            <a:r>
              <a:rPr lang="ko-KR" altLang="en-US" dirty="0"/>
              <a:t>도식</a:t>
            </a:r>
            <a:r>
              <a:rPr lang="en-US" altLang="ko-KR" dirty="0"/>
              <a:t>)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 err="1"/>
              <a:t>학습시</a:t>
            </a:r>
            <a:r>
              <a:rPr lang="ko-KR" altLang="en-US" dirty="0"/>
              <a:t> 주요사항을</a:t>
            </a:r>
            <a:br>
              <a:rPr lang="en-US" altLang="ko-KR" dirty="0"/>
            </a:br>
            <a:r>
              <a:rPr lang="ko-KR" altLang="en-US" dirty="0"/>
              <a:t>연상케 해주는 힌트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28" name="내용 개체 틀 3">
            <a:extLst>
              <a:ext uri="{FF2B5EF4-FFF2-40B4-BE49-F238E27FC236}">
                <a16:creationId xmlns:a16="http://schemas.microsoft.com/office/drawing/2014/main" id="{41D3E48A-F8B6-48E4-8BCD-B5A863191DE4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412776" y="344488"/>
            <a:ext cx="5400599" cy="367240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176213" indent="-176213">
              <a:lnSpc>
                <a:spcPct val="100000"/>
              </a:lnSpc>
              <a:buFont typeface="맑은 고딕" panose="020B0503020000020004" pitchFamily="50" charset="-127"/>
              <a:buChar char="#"/>
              <a:defRPr sz="1050"/>
            </a:lvl1pPr>
            <a:lvl2pPr marL="363538" indent="-187325">
              <a:lnSpc>
                <a:spcPct val="100000"/>
              </a:lnSpc>
              <a:buFont typeface="맑은 고딕" panose="020B0503020000020004" pitchFamily="50" charset="-127"/>
              <a:buChar char="ￚ"/>
              <a:tabLst/>
              <a:defRPr sz="1000"/>
            </a:lvl2pPr>
            <a:lvl3pPr marL="539750" indent="-147638">
              <a:lnSpc>
                <a:spcPct val="100000"/>
              </a:lnSpc>
              <a:buFont typeface="맑은 고딕" panose="020B0503020000020004" pitchFamily="50" charset="-127"/>
              <a:buChar char="→"/>
              <a:defRPr sz="1000"/>
            </a:lvl3pPr>
            <a:lvl4pPr marL="714375" indent="-174625">
              <a:lnSpc>
                <a:spcPct val="100000"/>
              </a:lnSpc>
              <a:defRPr sz="900"/>
            </a:lvl4pPr>
            <a:lvl5pPr marL="903288" indent="-188913">
              <a:lnSpc>
                <a:spcPct val="100000"/>
              </a:lnSpc>
              <a:tabLst>
                <a:tab pos="1077913" algn="l"/>
              </a:tabLst>
              <a:defRPr sz="900"/>
            </a:lvl5pPr>
          </a:lstStyle>
          <a:p>
            <a:pPr lvl="0"/>
            <a:r>
              <a:rPr lang="ko-KR" altLang="en-US" dirty="0"/>
              <a:t>수업 내용을 기록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필기 시 지켜야 할 사항들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ko-KR" altLang="en-US" dirty="0"/>
              <a:t>간결한 문장</a:t>
            </a:r>
            <a:br>
              <a:rPr lang="en-US" altLang="ko-KR" dirty="0"/>
            </a:br>
            <a:r>
              <a:rPr lang="ko-KR" altLang="en-US" dirty="0"/>
              <a:t>간단한 기호</a:t>
            </a:r>
            <a:br>
              <a:rPr lang="en-US" altLang="ko-KR" dirty="0"/>
            </a:br>
            <a:r>
              <a:rPr lang="ko-KR" altLang="en-US" dirty="0"/>
              <a:t>약자</a:t>
            </a:r>
            <a:br>
              <a:rPr lang="en-US" altLang="ko-KR" dirty="0"/>
            </a:br>
            <a:r>
              <a:rPr lang="ko-KR" altLang="en-US" dirty="0"/>
              <a:t>목차</a:t>
            </a:r>
            <a:br>
              <a:rPr lang="en-US" altLang="ko-KR" dirty="0"/>
            </a:br>
            <a:r>
              <a:rPr lang="ko-KR" altLang="en-US" dirty="0"/>
              <a:t>주요 포인트 사이에 충분한 공간</a:t>
            </a:r>
            <a:br>
              <a:rPr lang="en-US" altLang="ko-KR" dirty="0"/>
            </a:br>
            <a:r>
              <a:rPr lang="ko-KR" altLang="en-US" dirty="0"/>
              <a:t>최소한의 내용</a:t>
            </a:r>
            <a:r>
              <a:rPr lang="en-US" altLang="ko-KR" dirty="0"/>
              <a:t>, </a:t>
            </a:r>
            <a:r>
              <a:rPr lang="ko-KR" altLang="en-US" dirty="0"/>
              <a:t>핵심만을 담으려 노력할 것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** </a:t>
            </a:r>
            <a:r>
              <a:rPr lang="ko-KR" altLang="en-US" dirty="0"/>
              <a:t>작성시기 </a:t>
            </a:r>
            <a:r>
              <a:rPr lang="en-US" altLang="ko-KR" dirty="0"/>
              <a:t>: </a:t>
            </a:r>
            <a:r>
              <a:rPr lang="ko-KR" altLang="en-US" dirty="0"/>
              <a:t>수업 중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29" name="내용 개체 틀 2">
            <a:extLst>
              <a:ext uri="{FF2B5EF4-FFF2-40B4-BE49-F238E27FC236}">
                <a16:creationId xmlns:a16="http://schemas.microsoft.com/office/drawing/2014/main" id="{3BFED26C-166F-4DBC-8358-65449225F961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44624" y="8193360"/>
            <a:ext cx="6768752" cy="165618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228600" indent="-228600">
              <a:lnSpc>
                <a:spcPct val="100000"/>
              </a:lnSpc>
              <a:buFont typeface="Wingdings" panose="05000000000000000000" pitchFamily="2" charset="2"/>
              <a:buChar char="§"/>
              <a:defRPr sz="1000"/>
            </a:lvl1pPr>
            <a:lvl2pPr marL="446088" indent="-228600">
              <a:lnSpc>
                <a:spcPct val="100000"/>
              </a:lnSpc>
              <a:buFont typeface="맑은 고딕" panose="020B0503020000020004" pitchFamily="50" charset="-127"/>
              <a:buChar char="ￚ"/>
              <a:defRPr sz="1000"/>
            </a:lvl2pPr>
            <a:lvl3pPr marL="620713" indent="-228600">
              <a:lnSpc>
                <a:spcPct val="100000"/>
              </a:lnSpc>
              <a:buFont typeface="맑은 고딕" panose="020B0503020000020004" pitchFamily="50" charset="-127"/>
              <a:buChar char="→"/>
              <a:defRPr sz="10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가장 중요한 생각을 </a:t>
            </a:r>
            <a:r>
              <a:rPr lang="en-US" altLang="ko-KR" dirty="0"/>
              <a:t>1~2</a:t>
            </a:r>
            <a:r>
              <a:rPr lang="ko-KR" altLang="en-US" dirty="0"/>
              <a:t>문장으로 요약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시험 공부 시 빠르게 참고할 수 있게 작성 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30" name="날짜 개체 틀 4">
            <a:extLst>
              <a:ext uri="{FF2B5EF4-FFF2-40B4-BE49-F238E27FC236}">
                <a16:creationId xmlns:a16="http://schemas.microsoft.com/office/drawing/2014/main" id="{8098F897-D130-4A85-926C-912EAB1A4C2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73216" y="9557890"/>
            <a:ext cx="1440160" cy="288032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2025-06-04</a:t>
            </a:fld>
            <a:endParaRPr lang="ko-KR" altLang="en-US" dirty="0"/>
          </a:p>
        </p:txBody>
      </p:sp>
      <p:sp>
        <p:nvSpPr>
          <p:cNvPr id="31" name="슬라이드 번호 개체 틀 6">
            <a:extLst>
              <a:ext uri="{FF2B5EF4-FFF2-40B4-BE49-F238E27FC236}">
                <a16:creationId xmlns:a16="http://schemas.microsoft.com/office/drawing/2014/main" id="{871FA819-0CC0-477C-BA85-646032956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73216" y="9557890"/>
            <a:ext cx="1440160" cy="291654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 dirty="0"/>
          </a:p>
        </p:txBody>
      </p:sp>
      <p:sp>
        <p:nvSpPr>
          <p:cNvPr id="32" name="내용 개체 틀 2">
            <a:extLst>
              <a:ext uri="{FF2B5EF4-FFF2-40B4-BE49-F238E27FC236}">
                <a16:creationId xmlns:a16="http://schemas.microsoft.com/office/drawing/2014/main" id="{415A8630-4555-49FF-95EA-19025017722E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4624" y="4376936"/>
            <a:ext cx="1296144" cy="374441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176213" indent="-176213">
              <a:lnSpc>
                <a:spcPct val="100000"/>
              </a:lnSpc>
              <a:buClr>
                <a:srgbClr val="00B050"/>
              </a:buClr>
              <a:buFont typeface="Wingdings" panose="05000000000000000000" pitchFamily="2" charset="2"/>
              <a:buChar char="ü"/>
              <a:defRPr sz="1050"/>
            </a:lvl1pPr>
            <a:lvl2pPr marL="363538" indent="-146050">
              <a:lnSpc>
                <a:spcPct val="100000"/>
              </a:lnSpc>
              <a:buFont typeface="맑은 고딕" panose="020B0503020000020004" pitchFamily="50" charset="-127"/>
              <a:buChar char="ￚ"/>
              <a:defRPr sz="1050"/>
            </a:lvl2pPr>
            <a:lvl3pPr marL="539750" indent="-228600">
              <a:lnSpc>
                <a:spcPct val="100000"/>
              </a:lnSpc>
              <a:buFont typeface="맑은 고딕" panose="020B0503020000020004" pitchFamily="50" charset="-127"/>
              <a:buChar char="→"/>
              <a:defRPr sz="105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altLang="ko-KR" dirty="0"/>
              <a:t>** </a:t>
            </a:r>
            <a:r>
              <a:rPr lang="ko-KR" altLang="en-US" dirty="0"/>
              <a:t>작성시기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ko-KR" altLang="en-US" dirty="0" err="1"/>
              <a:t>수업후</a:t>
            </a:r>
            <a:r>
              <a:rPr lang="ko-KR" altLang="en-US" dirty="0"/>
              <a:t> 복습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33" name="내용 개체 틀 3">
            <a:extLst>
              <a:ext uri="{FF2B5EF4-FFF2-40B4-BE49-F238E27FC236}">
                <a16:creationId xmlns:a16="http://schemas.microsoft.com/office/drawing/2014/main" id="{401078D4-13E2-4A15-A24E-D6ED5A3416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412776" y="4376936"/>
            <a:ext cx="5400599" cy="374441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176213" indent="-176213">
              <a:lnSpc>
                <a:spcPct val="100000"/>
              </a:lnSpc>
              <a:buFont typeface="맑은 고딕" panose="020B0503020000020004" pitchFamily="50" charset="-127"/>
              <a:buChar char="#"/>
              <a:defRPr sz="1050"/>
            </a:lvl1pPr>
            <a:lvl2pPr marL="363538" indent="-187325">
              <a:lnSpc>
                <a:spcPct val="100000"/>
              </a:lnSpc>
              <a:buFont typeface="맑은 고딕" panose="020B0503020000020004" pitchFamily="50" charset="-127"/>
              <a:buChar char="ￚ"/>
              <a:tabLst/>
              <a:defRPr sz="1000"/>
            </a:lvl2pPr>
            <a:lvl3pPr marL="539750" indent="-147638">
              <a:lnSpc>
                <a:spcPct val="100000"/>
              </a:lnSpc>
              <a:buFont typeface="맑은 고딕" panose="020B0503020000020004" pitchFamily="50" charset="-127"/>
              <a:buChar char="→"/>
              <a:defRPr sz="1000"/>
            </a:lvl3pPr>
            <a:lvl4pPr marL="714375" indent="-174625">
              <a:lnSpc>
                <a:spcPct val="100000"/>
              </a:lnSpc>
              <a:defRPr sz="900"/>
            </a:lvl4pPr>
            <a:lvl5pPr marL="903288" indent="-188913">
              <a:lnSpc>
                <a:spcPct val="100000"/>
              </a:lnSpc>
              <a:tabLst>
                <a:tab pos="1077913" algn="l"/>
              </a:tabLst>
              <a:defRPr sz="900"/>
            </a:lvl5pPr>
          </a:lstStyle>
          <a:p>
            <a:pPr lvl="0"/>
            <a:r>
              <a:rPr lang="en-US" altLang="ko-KR" dirty="0"/>
              <a:t>** </a:t>
            </a:r>
            <a:r>
              <a:rPr lang="ko-KR" altLang="en-US" dirty="0"/>
              <a:t>공부 순서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en-US" altLang="ko-KR" dirty="0"/>
              <a:t>1. </a:t>
            </a:r>
            <a:r>
              <a:rPr lang="ko-KR" altLang="en-US" dirty="0"/>
              <a:t>강의 수강 및 수업내용 받아 적기</a:t>
            </a:r>
            <a:br>
              <a:rPr lang="en-US" altLang="ko-KR" dirty="0"/>
            </a:br>
            <a:r>
              <a:rPr lang="en-US" altLang="ko-KR" dirty="0"/>
              <a:t>2. </a:t>
            </a:r>
            <a:r>
              <a:rPr lang="ko-KR" altLang="en-US" dirty="0"/>
              <a:t>강의 내용 </a:t>
            </a:r>
            <a:r>
              <a:rPr lang="en-US" altLang="ko-KR" dirty="0"/>
              <a:t>&amp; </a:t>
            </a:r>
            <a:r>
              <a:rPr lang="ko-KR" altLang="en-US" dirty="0"/>
              <a:t>받아 적은 내용 기반으로 노트 필기</a:t>
            </a:r>
            <a:br>
              <a:rPr lang="en-US" altLang="ko-KR" dirty="0"/>
            </a:br>
            <a:r>
              <a:rPr lang="en-US" altLang="ko-KR" dirty="0"/>
              <a:t>3. </a:t>
            </a:r>
            <a:r>
              <a:rPr lang="ko-KR" altLang="en-US" dirty="0"/>
              <a:t>내용 설명하기 </a:t>
            </a:r>
            <a:r>
              <a:rPr lang="en-US" altLang="ko-KR" dirty="0"/>
              <a:t>&amp; </a:t>
            </a:r>
            <a:r>
              <a:rPr lang="ko-KR" altLang="en-US" dirty="0"/>
              <a:t>완전히 설명</a:t>
            </a:r>
            <a:r>
              <a:rPr lang="en-US" altLang="ko-KR" dirty="0"/>
              <a:t>, </a:t>
            </a:r>
            <a:r>
              <a:rPr lang="ko-KR" altLang="en-US" dirty="0"/>
              <a:t>이해할 때 까지 </a:t>
            </a:r>
            <a:r>
              <a:rPr lang="en-US" altLang="ko-KR" dirty="0"/>
              <a:t>1~3 </a:t>
            </a:r>
            <a:r>
              <a:rPr lang="ko-KR" altLang="en-US" dirty="0"/>
              <a:t>반복</a:t>
            </a:r>
            <a:br>
              <a:rPr lang="en-US" altLang="ko-KR" dirty="0"/>
            </a:br>
            <a:r>
              <a:rPr lang="en-US" altLang="ko-KR" dirty="0"/>
              <a:t>4. </a:t>
            </a:r>
            <a:r>
              <a:rPr lang="ko-KR" altLang="en-US" dirty="0"/>
              <a:t>교과서</a:t>
            </a:r>
            <a:r>
              <a:rPr lang="en-US" altLang="ko-KR" dirty="0"/>
              <a:t>/</a:t>
            </a:r>
            <a:r>
              <a:rPr lang="ko-KR" altLang="en-US" dirty="0"/>
              <a:t>참고서로 내용 심화 이해 및 문제 풀어 보기</a:t>
            </a:r>
            <a:br>
              <a:rPr lang="en-US" altLang="ko-KR" dirty="0"/>
            </a:br>
            <a:r>
              <a:rPr lang="en-US" altLang="ko-KR" dirty="0"/>
              <a:t>5. </a:t>
            </a:r>
            <a:r>
              <a:rPr lang="ko-KR" altLang="en-US" dirty="0"/>
              <a:t>기출분석 및 예상 적중 문제 </a:t>
            </a:r>
            <a:r>
              <a:rPr lang="ko-KR" altLang="en-US" dirty="0" err="1"/>
              <a:t>풀어보기</a:t>
            </a:r>
            <a:r>
              <a:rPr lang="en-US" altLang="ko-KR" dirty="0"/>
              <a:t>/</a:t>
            </a:r>
            <a:r>
              <a:rPr lang="ko-KR" altLang="en-US" dirty="0"/>
              <a:t>만들기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34" name="텍스트 개체 틀 4">
            <a:extLst>
              <a:ext uri="{FF2B5EF4-FFF2-40B4-BE49-F238E27FC236}">
                <a16:creationId xmlns:a16="http://schemas.microsoft.com/office/drawing/2014/main" id="{36C1BE20-27A2-4680-B99C-77FF72519C8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624" y="4088904"/>
            <a:ext cx="6768753" cy="21602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anchor="ctr">
            <a:normAutofit/>
          </a:bodyPr>
          <a:lstStyle>
            <a:lvl1pPr marL="0" indent="0">
              <a:buNone/>
              <a:defRPr sz="1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dirty="0"/>
              <a:t>과목명 </a:t>
            </a:r>
            <a:r>
              <a:rPr lang="en-US" altLang="ko-KR" dirty="0"/>
              <a:t>[</a:t>
            </a:r>
            <a:r>
              <a:rPr lang="ko-KR" altLang="en-US" dirty="0"/>
              <a:t>단원 이름</a:t>
            </a:r>
            <a:r>
              <a:rPr lang="en-US" altLang="ko-KR" dirty="0"/>
              <a:t>]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00351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4F1CE3-26B0-4207-BAD4-1041574E9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313" y="2470150"/>
            <a:ext cx="5915025" cy="4119563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B15FBA2-4936-4706-95C3-FAFA6A7E42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8313" y="6629400"/>
            <a:ext cx="5915025" cy="21669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2C8C197-B0BD-436B-9980-EE59CBD7C32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2025-06-04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714C08F-0304-4F96-B877-0B06C4B7E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8B8234A-EDA6-43E8-AE6C-3CF677CAE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73827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496F35-AC99-4BF8-A397-0C1E1B4F7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8" y="527050"/>
            <a:ext cx="5915025" cy="19145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429E579-ECC7-4C64-9EB8-D640165DE6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2025-06-04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2058974-E397-415A-A6C5-25F209F6C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5EC53FD-3472-4366-8E73-7C38B1AD9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57161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0833BB0-4D29-49DC-A1FE-7E66598F340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2025-06-04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9A96632-B0B8-401E-AC60-AEF384086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63B7D2F-5D24-4FF6-9CD1-85539759F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46773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D97DC2-9736-4DB8-86D5-0677DFF9E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075" y="660400"/>
            <a:ext cx="2211388" cy="23114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9B6482-CF33-47BC-832B-7D18B209E8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16238" y="1425575"/>
            <a:ext cx="3471862" cy="704056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40720F2-9210-4195-98B9-0E2CBCAAB5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3075" y="2971800"/>
            <a:ext cx="2211388" cy="55054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E417417-E261-4ECB-8D35-6E5916469C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2025-06-04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345D919-E2FD-413A-8928-E0C39853F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C27E8C6-6C26-4B84-BB1D-470191126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7188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FE4CC0-196A-4FF3-BA7A-2A838BC73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075" y="660400"/>
            <a:ext cx="2211388" cy="23114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7334584-9C2E-4FB4-B223-147590AA64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2916238" y="1425575"/>
            <a:ext cx="3471862" cy="70405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663A644-9209-46E1-8503-E03E899FB8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3075" y="2971800"/>
            <a:ext cx="2211388" cy="55054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15D5566-58C8-4D6E-950D-81773B0518C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2025-06-04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7A681FE-25FC-424A-A5C2-B8558CD8F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BD9E155-E9CA-4BDD-ADAC-D743596ED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55431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A24B4C-8380-4ECE-A3C6-32F342492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8" y="527050"/>
            <a:ext cx="5915025" cy="19145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25AE434-937A-4C07-B3EA-1C1EAB35C2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71488" y="2636838"/>
            <a:ext cx="5915025" cy="628491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2829F06-0D5F-4146-B5FF-E0AAFF1AA13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2025-06-04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FD5C82C-F88C-4F7F-91C3-F46031C3C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6503FCB-B458-4F60-AF20-667E8325E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6673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97FC31D-270D-481C-B55E-E09DB06FD4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4908550" y="527050"/>
            <a:ext cx="1477963" cy="8394700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EFEBD54-0F8B-435E-A784-7973F62763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71488" y="527050"/>
            <a:ext cx="4284662" cy="83947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6D8C272-27C0-467E-8B2F-8060E69DCD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2025-06-04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E99F6D-897D-4DD0-BAAA-382522428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7CE28EA-6ACB-498F-A385-71929DA3F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53630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7BE23EC-F7A8-48CF-830D-AA10C5692C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8" y="527050"/>
            <a:ext cx="5915025" cy="19145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D4A2647-8522-4C16-9847-3E5362ED86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1488" y="2636838"/>
            <a:ext cx="5915025" cy="62849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85E217D-506C-41EC-8074-70FE9F358A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1A75F8-F7CF-491B-B1E4-FC201F6C4E25}" type="datetimeFigureOut">
              <a:rPr lang="ko-KR" altLang="en-US" smtClean="0"/>
              <a:t>2025-06-04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F512B2E-566A-4965-92DB-6F8EB3F9D6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55EB1A7-DDFB-4F87-8544-6EA5791527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1666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7" r:id="rId2"/>
    <p:sldLayoutId id="2147483674" r:id="rId3"/>
    <p:sldLayoutId id="2147483675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E51D99D2-BCD0-2B91-297A-FC78C8B7DC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FD0BCDF0-1EDA-A414-CB45-AC2450216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기술 혁신의 역사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D0CFC8D-CD4B-051C-D626-5872F8CCB24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2C2EFF23-2B30-CF4D-A5E4-650B4351BFA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고대 시대</a:t>
            </a:r>
          </a:p>
          <a:p>
            <a:pPr lvl="1"/>
            <a:r>
              <a:rPr lang="ko-KR" altLang="en-US" dirty="0"/>
              <a:t>간석기</a:t>
            </a:r>
            <a:r>
              <a:rPr lang="en-US" altLang="ko-KR" dirty="0"/>
              <a:t>, </a:t>
            </a:r>
            <a:r>
              <a:rPr lang="ko-KR" altLang="en-US" dirty="0"/>
              <a:t>청동기 </a:t>
            </a:r>
            <a:r>
              <a:rPr lang="en-US" altLang="ko-KR" dirty="0"/>
              <a:t>: </a:t>
            </a:r>
            <a:r>
              <a:rPr lang="ko-KR" altLang="en-US" dirty="0"/>
              <a:t>지식의 습득 </a:t>
            </a:r>
            <a:r>
              <a:rPr lang="en-US" altLang="ko-KR" dirty="0"/>
              <a:t>: </a:t>
            </a:r>
            <a:r>
              <a:rPr lang="ko-KR" altLang="en-US" dirty="0"/>
              <a:t>우연</a:t>
            </a:r>
            <a:r>
              <a:rPr lang="en-US" altLang="ko-KR" dirty="0"/>
              <a:t>, </a:t>
            </a:r>
            <a:r>
              <a:rPr lang="ko-KR" altLang="en-US" dirty="0" err="1"/>
              <a:t>느린속도</a:t>
            </a:r>
            <a:r>
              <a:rPr lang="en-US" altLang="ko-KR" dirty="0"/>
              <a:t>;</a:t>
            </a:r>
          </a:p>
          <a:p>
            <a:pPr lvl="1"/>
            <a:r>
              <a:rPr lang="ko-KR" altLang="en-US" dirty="0"/>
              <a:t>고대 이집트 </a:t>
            </a:r>
            <a:r>
              <a:rPr lang="en-US" altLang="ko-KR" dirty="0"/>
              <a:t>: </a:t>
            </a:r>
            <a:r>
              <a:rPr lang="ko-KR" altLang="en-US" dirty="0" err="1"/>
              <a:t>이모텝의</a:t>
            </a:r>
            <a:r>
              <a:rPr lang="ko-KR" altLang="en-US" dirty="0"/>
              <a:t> 피라미드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정부의 직접구매방식</a:t>
            </a:r>
            <a:r>
              <a:rPr lang="en-US" altLang="ko-KR" dirty="0">
                <a:sym typeface="Wingdings" panose="05000000000000000000" pitchFamily="2" charset="2"/>
              </a:rPr>
              <a:t>. </a:t>
            </a:r>
            <a:r>
              <a:rPr lang="ko-KR" altLang="en-US" dirty="0">
                <a:sym typeface="Wingdings" panose="05000000000000000000" pitchFamily="2" charset="2"/>
              </a:rPr>
              <a:t>혁신의 주체 </a:t>
            </a:r>
            <a:r>
              <a:rPr lang="en-US" altLang="ko-KR" dirty="0">
                <a:sym typeface="Wingdings" panose="05000000000000000000" pitchFamily="2" charset="2"/>
              </a:rPr>
              <a:t>= </a:t>
            </a:r>
            <a:r>
              <a:rPr lang="ko-KR" altLang="en-US" dirty="0">
                <a:sym typeface="Wingdings" panose="05000000000000000000" pitchFamily="2" charset="2"/>
              </a:rPr>
              <a:t>정부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ko-KR" altLang="en-US" dirty="0"/>
              <a:t>고대 그리스</a:t>
            </a:r>
            <a:r>
              <a:rPr lang="en-US" altLang="ko-KR" dirty="0"/>
              <a:t>: </a:t>
            </a:r>
            <a:r>
              <a:rPr lang="ko-KR" altLang="en-US" dirty="0"/>
              <a:t>도서관</a:t>
            </a:r>
            <a:r>
              <a:rPr lang="en-US" altLang="ko-KR" dirty="0"/>
              <a:t>(</a:t>
            </a:r>
            <a:r>
              <a:rPr lang="ko-KR" altLang="en-US" dirty="0"/>
              <a:t>알렉산드리아</a:t>
            </a:r>
            <a:r>
              <a:rPr lang="en-US" altLang="ko-KR" dirty="0"/>
              <a:t>)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/>
              <a:t>분권적 지식 </a:t>
            </a:r>
            <a:r>
              <a:rPr lang="ko-KR" altLang="en-US" dirty="0" err="1"/>
              <a:t>연구및</a:t>
            </a:r>
            <a:r>
              <a:rPr lang="ko-KR" altLang="en-US" dirty="0"/>
              <a:t> 공유</a:t>
            </a:r>
            <a:r>
              <a:rPr lang="en-US" altLang="ko-KR" dirty="0"/>
              <a:t>; </a:t>
            </a:r>
            <a:r>
              <a:rPr lang="ko-KR" altLang="en-US" dirty="0"/>
              <a:t>개인</a:t>
            </a:r>
            <a:r>
              <a:rPr lang="en-US" altLang="ko-KR" dirty="0"/>
              <a:t>(</a:t>
            </a:r>
            <a:r>
              <a:rPr lang="ko-KR" altLang="en-US" dirty="0"/>
              <a:t>부유층</a:t>
            </a:r>
            <a:r>
              <a:rPr lang="en-US" altLang="ko-KR" dirty="0"/>
              <a:t>)</a:t>
            </a:r>
            <a:r>
              <a:rPr lang="ko-KR" altLang="en-US" dirty="0"/>
              <a:t> </a:t>
            </a:r>
            <a:r>
              <a:rPr lang="en-US" altLang="ko-KR" dirty="0">
                <a:sym typeface="Wingdings" panose="05000000000000000000" pitchFamily="2" charset="2"/>
              </a:rPr>
              <a:t>  </a:t>
            </a:r>
            <a:r>
              <a:rPr lang="ko-KR" altLang="en-US" dirty="0">
                <a:sym typeface="Wingdings" panose="05000000000000000000" pitchFamily="2" charset="2"/>
              </a:rPr>
              <a:t>발명가에게 연구 용역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ko-KR" altLang="en-US" dirty="0">
                <a:sym typeface="Wingdings" panose="05000000000000000000" pitchFamily="2" charset="2"/>
              </a:rPr>
              <a:t>고대로마</a:t>
            </a:r>
            <a:r>
              <a:rPr lang="en-US" altLang="ko-KR" dirty="0">
                <a:sym typeface="Wingdings" panose="05000000000000000000" pitchFamily="2" charset="2"/>
              </a:rPr>
              <a:t>: </a:t>
            </a:r>
            <a:r>
              <a:rPr lang="ko-KR" altLang="en-US" dirty="0">
                <a:sym typeface="Wingdings" panose="05000000000000000000" pitchFamily="2" charset="2"/>
              </a:rPr>
              <a:t>제국주의적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ko-KR" altLang="en-US" dirty="0">
                <a:sym typeface="Wingdings" panose="05000000000000000000" pitchFamily="2" charset="2"/>
              </a:rPr>
              <a:t>중앙집권적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 err="1">
                <a:sym typeface="Wingdings" panose="05000000000000000000" pitchFamily="2" charset="2"/>
              </a:rPr>
              <a:t>수도교</a:t>
            </a:r>
            <a:r>
              <a:rPr lang="ko-KR" altLang="en-US" dirty="0">
                <a:sym typeface="Wingdings" panose="05000000000000000000" pitchFamily="2" charset="2"/>
              </a:rPr>
              <a:t> 발달 </a:t>
            </a:r>
            <a:r>
              <a:rPr lang="en-US" altLang="ko-KR" dirty="0">
                <a:sym typeface="Wingdings" panose="05000000000000000000" pitchFamily="2" charset="2"/>
              </a:rPr>
              <a:t>(</a:t>
            </a:r>
            <a:r>
              <a:rPr lang="ko-KR" altLang="en-US" dirty="0">
                <a:sym typeface="Wingdings" panose="05000000000000000000" pitchFamily="2" charset="2"/>
              </a:rPr>
              <a:t>지식인을 동원해 기술설계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보상</a:t>
            </a:r>
            <a:r>
              <a:rPr lang="en-US" altLang="ko-KR" dirty="0">
                <a:sym typeface="Wingdings" panose="05000000000000000000" pitchFamily="2" charset="2"/>
              </a:rPr>
              <a:t>); </a:t>
            </a:r>
            <a:r>
              <a:rPr lang="ko-KR" altLang="en-US" dirty="0">
                <a:sym typeface="Wingdings" panose="05000000000000000000" pitchFamily="2" charset="2"/>
              </a:rPr>
              <a:t>독립적 발명</a:t>
            </a:r>
            <a:r>
              <a:rPr lang="en-US" altLang="ko-KR" dirty="0">
                <a:sym typeface="Wingdings" panose="05000000000000000000" pitchFamily="2" charset="2"/>
              </a:rPr>
              <a:t>O but, </a:t>
            </a:r>
            <a:r>
              <a:rPr lang="ko-KR" altLang="en-US" dirty="0">
                <a:sym typeface="Wingdings" panose="05000000000000000000" pitchFamily="2" charset="2"/>
              </a:rPr>
              <a:t>권위에 도전하거나 필요 </a:t>
            </a:r>
            <a:r>
              <a:rPr lang="ko-KR" altLang="en-US" dirty="0" err="1">
                <a:sym typeface="Wingdings" panose="05000000000000000000" pitchFamily="2" charset="2"/>
              </a:rPr>
              <a:t>없는건</a:t>
            </a:r>
            <a:r>
              <a:rPr lang="ko-KR" altLang="en-US" dirty="0">
                <a:sym typeface="Wingdings" panose="05000000000000000000" pitchFamily="2" charset="2"/>
              </a:rPr>
              <a:t> 발명 </a:t>
            </a:r>
            <a:r>
              <a:rPr lang="en-US" altLang="ko-KR" dirty="0">
                <a:sym typeface="Wingdings" panose="05000000000000000000" pitchFamily="2" charset="2"/>
              </a:rPr>
              <a:t></a:t>
            </a:r>
            <a:r>
              <a:rPr lang="ko-KR" altLang="en-US" dirty="0">
                <a:sym typeface="Wingdings" panose="05000000000000000000" pitchFamily="2" charset="2"/>
              </a:rPr>
              <a:t>억압</a:t>
            </a:r>
            <a:endParaRPr lang="en-US" altLang="ko-KR" dirty="0">
              <a:sym typeface="Wingdings" panose="05000000000000000000" pitchFamily="2" charset="2"/>
            </a:endParaRPr>
          </a:p>
          <a:p>
            <a:r>
              <a:rPr lang="ko-KR" altLang="en-US" dirty="0"/>
              <a:t>중세 시대</a:t>
            </a:r>
          </a:p>
          <a:p>
            <a:pPr lvl="1"/>
            <a:r>
              <a:rPr lang="ko-KR" altLang="en-US" dirty="0">
                <a:sym typeface="Wingdings" panose="05000000000000000000" pitchFamily="2" charset="2"/>
              </a:rPr>
              <a:t>수도원 </a:t>
            </a:r>
            <a:r>
              <a:rPr lang="en-US" altLang="ko-KR" dirty="0">
                <a:sym typeface="Wingdings" panose="05000000000000000000" pitchFamily="2" charset="2"/>
              </a:rPr>
              <a:t>: </a:t>
            </a:r>
            <a:r>
              <a:rPr lang="ko-KR" altLang="en-US" dirty="0">
                <a:sym typeface="Wingdings" panose="05000000000000000000" pitchFamily="2" charset="2"/>
              </a:rPr>
              <a:t>수도원을 중심으로 신학 중심 지식 발달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ko-KR" altLang="en-US" dirty="0">
                <a:sym typeface="Wingdings" panose="05000000000000000000" pitchFamily="2" charset="2"/>
              </a:rPr>
              <a:t>길드 </a:t>
            </a:r>
            <a:r>
              <a:rPr lang="en-US" altLang="ko-KR" dirty="0">
                <a:sym typeface="Wingdings" panose="05000000000000000000" pitchFamily="2" charset="2"/>
              </a:rPr>
              <a:t>: </a:t>
            </a:r>
            <a:r>
              <a:rPr lang="ko-KR" altLang="en-US" dirty="0">
                <a:sym typeface="Wingdings" panose="05000000000000000000" pitchFamily="2" charset="2"/>
              </a:rPr>
              <a:t>동종 업계 종사자간 배타적 집단</a:t>
            </a:r>
            <a:r>
              <a:rPr lang="en-US" altLang="ko-KR" dirty="0">
                <a:sym typeface="Wingdings" panose="05000000000000000000" pitchFamily="2" charset="2"/>
              </a:rPr>
              <a:t>. </a:t>
            </a:r>
            <a:r>
              <a:rPr lang="ko-KR" altLang="en-US" dirty="0">
                <a:sym typeface="Wingdings" panose="05000000000000000000" pitchFamily="2" charset="2"/>
              </a:rPr>
              <a:t>회원간 지식공유 활발</a:t>
            </a:r>
            <a:r>
              <a:rPr lang="en-US" altLang="ko-KR" dirty="0">
                <a:sym typeface="Wingdings" panose="05000000000000000000" pitchFamily="2" charset="2"/>
              </a:rPr>
              <a:t>. But, </a:t>
            </a:r>
            <a:r>
              <a:rPr lang="ko-KR" altLang="en-US" dirty="0">
                <a:sym typeface="Wingdings" panose="05000000000000000000" pitchFamily="2" charset="2"/>
              </a:rPr>
              <a:t>외부인에겐 비밀주의</a:t>
            </a:r>
            <a:r>
              <a:rPr lang="en-US" altLang="ko-KR" dirty="0">
                <a:sym typeface="Wingdings" panose="05000000000000000000" pitchFamily="2" charset="2"/>
              </a:rPr>
              <a:t>. </a:t>
            </a:r>
            <a:r>
              <a:rPr lang="ko-KR" altLang="en-US" dirty="0">
                <a:sym typeface="Wingdings" panose="05000000000000000000" pitchFamily="2" charset="2"/>
              </a:rPr>
              <a:t>기술과 지식이 도제식으로 전달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ko-KR" altLang="en-US" dirty="0">
                <a:sym typeface="Wingdings" panose="05000000000000000000" pitchFamily="2" charset="2"/>
              </a:rPr>
              <a:t>대학 </a:t>
            </a:r>
            <a:r>
              <a:rPr lang="en-US" altLang="ko-KR" dirty="0">
                <a:sym typeface="Wingdings" panose="05000000000000000000" pitchFamily="2" charset="2"/>
              </a:rPr>
              <a:t>: </a:t>
            </a:r>
            <a:r>
              <a:rPr lang="ko-KR" altLang="en-US" dirty="0">
                <a:sym typeface="Wingdings" panose="05000000000000000000" pitchFamily="2" charset="2"/>
              </a:rPr>
              <a:t>길드의 </a:t>
            </a:r>
            <a:r>
              <a:rPr lang="ko-KR" altLang="en-US" dirty="0" err="1">
                <a:sym typeface="Wingdings" panose="05000000000000000000" pitchFamily="2" charset="2"/>
              </a:rPr>
              <a:t>도제식</a:t>
            </a:r>
            <a:r>
              <a:rPr lang="ko-KR" altLang="en-US" dirty="0">
                <a:sym typeface="Wingdings" panose="05000000000000000000" pitchFamily="2" charset="2"/>
              </a:rPr>
              <a:t> 기술 전수 방식에서 여러 길드들이 합쳐 </a:t>
            </a:r>
            <a:r>
              <a:rPr lang="en-US" altLang="ko-KR" dirty="0">
                <a:sym typeface="Wingdings" panose="05000000000000000000" pitchFamily="2" charset="2"/>
              </a:rPr>
              <a:t>university </a:t>
            </a:r>
            <a:r>
              <a:rPr lang="ko-KR" altLang="en-US" dirty="0">
                <a:sym typeface="Wingdings" panose="05000000000000000000" pitchFamily="2" charset="2"/>
              </a:rPr>
              <a:t>탄생</a:t>
            </a:r>
            <a:r>
              <a:rPr lang="en-US" altLang="ko-KR" dirty="0">
                <a:sym typeface="Wingdings" panose="05000000000000000000" pitchFamily="2" charset="2"/>
              </a:rPr>
              <a:t>. </a:t>
            </a:r>
            <a:r>
              <a:rPr lang="ko-KR" altLang="en-US" dirty="0">
                <a:sym typeface="Wingdings" panose="05000000000000000000" pitchFamily="2" charset="2"/>
              </a:rPr>
              <a:t>대학은 새 기술 개발과 학생 교육을 목표</a:t>
            </a:r>
            <a:endParaRPr lang="en-US" altLang="ko-KR" dirty="0">
              <a:sym typeface="Wingdings" panose="05000000000000000000" pitchFamily="2" charset="2"/>
            </a:endParaRPr>
          </a:p>
          <a:p>
            <a:r>
              <a:rPr lang="ko-KR" altLang="en-US" dirty="0"/>
              <a:t>르네상스 시대</a:t>
            </a:r>
            <a:r>
              <a:rPr lang="en-US" altLang="ko-KR" dirty="0"/>
              <a:t>(</a:t>
            </a:r>
            <a:r>
              <a:rPr lang="ko-KR" altLang="en-US" dirty="0"/>
              <a:t>후원</a:t>
            </a:r>
            <a:r>
              <a:rPr lang="en-US" altLang="ko-KR" dirty="0"/>
              <a:t>)</a:t>
            </a:r>
            <a:endParaRPr lang="ko-KR" altLang="en-US" dirty="0"/>
          </a:p>
          <a:p>
            <a:pPr lvl="1"/>
            <a:r>
              <a:rPr lang="ko-KR" altLang="en-US" dirty="0"/>
              <a:t>금속활자 </a:t>
            </a:r>
            <a:r>
              <a:rPr lang="en-US" altLang="ko-KR" dirty="0"/>
              <a:t>&amp; </a:t>
            </a:r>
            <a:r>
              <a:rPr lang="ko-KR" altLang="en-US" dirty="0"/>
              <a:t>종교개혁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접근성 향상 </a:t>
            </a:r>
            <a:r>
              <a:rPr lang="en-US" altLang="ko-KR" dirty="0">
                <a:sym typeface="Wingdings" panose="05000000000000000000" pitchFamily="2" charset="2"/>
              </a:rPr>
              <a:t> (</a:t>
            </a:r>
            <a:r>
              <a:rPr lang="ko-KR" altLang="en-US" dirty="0">
                <a:sym typeface="Wingdings" panose="05000000000000000000" pitchFamily="2" charset="2"/>
              </a:rPr>
              <a:t>교황권위 ↓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ko-KR" altLang="en-US" dirty="0">
                <a:sym typeface="Wingdings" panose="05000000000000000000" pitchFamily="2" charset="2"/>
              </a:rPr>
              <a:t>인간본주의</a:t>
            </a:r>
            <a:r>
              <a:rPr lang="en-US" altLang="ko-KR" dirty="0">
                <a:sym typeface="Wingdings" panose="05000000000000000000" pitchFamily="2" charset="2"/>
              </a:rPr>
              <a:t>)</a:t>
            </a:r>
          </a:p>
          <a:p>
            <a:pPr lvl="1"/>
            <a:r>
              <a:rPr lang="ko-KR" altLang="en-US" dirty="0">
                <a:sym typeface="Wingdings" panose="05000000000000000000" pitchFamily="2" charset="2"/>
              </a:rPr>
              <a:t>상업 발달 및 후원 </a:t>
            </a:r>
            <a:r>
              <a:rPr lang="en-US" altLang="ko-KR" dirty="0">
                <a:sym typeface="Wingdings" panose="05000000000000000000" pitchFamily="2" charset="2"/>
              </a:rPr>
              <a:t>: </a:t>
            </a:r>
            <a:r>
              <a:rPr lang="ko-KR" altLang="en-US" dirty="0">
                <a:sym typeface="Wingdings" panose="05000000000000000000" pitchFamily="2" charset="2"/>
              </a:rPr>
              <a:t>메디치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예술가 및 과학</a:t>
            </a:r>
            <a:r>
              <a:rPr lang="en-US" altLang="ko-KR" dirty="0">
                <a:sym typeface="Wingdings" panose="05000000000000000000" pitchFamily="2" charset="2"/>
              </a:rPr>
              <a:t>/</a:t>
            </a:r>
            <a:r>
              <a:rPr lang="ko-KR" altLang="en-US" dirty="0">
                <a:sym typeface="Wingdings" panose="05000000000000000000" pitchFamily="2" charset="2"/>
              </a:rPr>
              <a:t>기술자 후원</a:t>
            </a:r>
            <a:r>
              <a:rPr lang="en-US" altLang="ko-KR" dirty="0">
                <a:sym typeface="Wingdings" panose="05000000000000000000" pitchFamily="2" charset="2"/>
              </a:rPr>
              <a:t>;</a:t>
            </a:r>
          </a:p>
          <a:p>
            <a:pPr lvl="2"/>
            <a:r>
              <a:rPr lang="ko-KR" altLang="en-US" dirty="0">
                <a:sym typeface="Wingdings" panose="05000000000000000000" pitchFamily="2" charset="2"/>
              </a:rPr>
              <a:t>실패에도 지원하는 후원</a:t>
            </a:r>
            <a:r>
              <a:rPr lang="en-US" altLang="ko-KR" dirty="0">
                <a:sym typeface="Wingdings" panose="05000000000000000000" pitchFamily="2" charset="2"/>
              </a:rPr>
              <a:t>. </a:t>
            </a:r>
            <a:r>
              <a:rPr lang="ko-KR" altLang="en-US" dirty="0">
                <a:sym typeface="Wingdings" panose="05000000000000000000" pitchFamily="2" charset="2"/>
              </a:rPr>
              <a:t>자유로운 연구 환경</a:t>
            </a:r>
            <a:endParaRPr lang="en-US" altLang="ko-KR" dirty="0">
              <a:sym typeface="Wingdings" panose="05000000000000000000" pitchFamily="2" charset="2"/>
            </a:endParaRPr>
          </a:p>
          <a:p>
            <a:r>
              <a:rPr lang="ko-KR" altLang="en-US" dirty="0" err="1"/>
              <a:t>근대유럽</a:t>
            </a:r>
            <a:r>
              <a:rPr lang="en-US" altLang="ko-KR" dirty="0"/>
              <a:t>(</a:t>
            </a:r>
            <a:r>
              <a:rPr lang="ko-KR" altLang="en-US" dirty="0"/>
              <a:t>포상제도</a:t>
            </a:r>
            <a:r>
              <a:rPr lang="en-US" altLang="ko-KR" dirty="0"/>
              <a:t>)</a:t>
            </a:r>
            <a:endParaRPr lang="ko-KR" altLang="en-US" dirty="0"/>
          </a:p>
          <a:p>
            <a:pPr lvl="1"/>
            <a:r>
              <a:rPr lang="ko-KR" altLang="en-US" dirty="0"/>
              <a:t>정부 주도 포상제 </a:t>
            </a:r>
            <a:r>
              <a:rPr lang="en-US" altLang="ko-KR" dirty="0"/>
              <a:t>: </a:t>
            </a:r>
            <a:r>
              <a:rPr lang="ko-KR" altLang="en-US" dirty="0"/>
              <a:t>특정 문제 해결을 위해 발명에 포상금 지급</a:t>
            </a:r>
            <a:endParaRPr lang="en-US" altLang="ko-KR" dirty="0"/>
          </a:p>
          <a:p>
            <a:pPr lvl="2"/>
            <a:r>
              <a:rPr lang="ko-KR" altLang="en-US" dirty="0"/>
              <a:t>통조림 개발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 err="1">
                <a:sym typeface="Wingdings" panose="05000000000000000000" pitchFamily="2" charset="2"/>
              </a:rPr>
              <a:t>나톨레옹</a:t>
            </a:r>
            <a:r>
              <a:rPr lang="ko-KR" altLang="en-US" dirty="0">
                <a:sym typeface="Wingdings" panose="05000000000000000000" pitchFamily="2" charset="2"/>
              </a:rPr>
              <a:t> 포상</a:t>
            </a:r>
            <a:r>
              <a:rPr lang="en-US" altLang="ko-KR" dirty="0">
                <a:sym typeface="Wingdings" panose="05000000000000000000" pitchFamily="2" charset="2"/>
              </a:rPr>
              <a:t>; </a:t>
            </a:r>
            <a:r>
              <a:rPr lang="ko-KR" altLang="en-US" dirty="0">
                <a:sym typeface="Wingdings" panose="05000000000000000000" pitchFamily="2" charset="2"/>
              </a:rPr>
              <a:t>크로노미터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영국 경도심의위원회에게 포상</a:t>
            </a:r>
            <a:r>
              <a:rPr lang="en-US" altLang="ko-KR" dirty="0">
                <a:sym typeface="Wingdings" panose="05000000000000000000" pitchFamily="2" charset="2"/>
              </a:rPr>
              <a:t>. But, </a:t>
            </a:r>
            <a:r>
              <a:rPr lang="ko-KR" altLang="en-US" dirty="0">
                <a:sym typeface="Wingdings" panose="05000000000000000000" pitchFamily="2" charset="2"/>
              </a:rPr>
              <a:t>특허 포기</a:t>
            </a:r>
            <a:endParaRPr lang="en-US" altLang="ko-KR" dirty="0">
              <a:sym typeface="Wingdings" panose="05000000000000000000" pitchFamily="2" charset="2"/>
            </a:endParaRPr>
          </a:p>
          <a:p>
            <a:pPr lvl="2"/>
            <a:r>
              <a:rPr lang="ko-KR" altLang="en-US" dirty="0"/>
              <a:t>포상제도의 한계 </a:t>
            </a:r>
            <a:r>
              <a:rPr lang="en-US" altLang="ko-KR" dirty="0"/>
              <a:t>: </a:t>
            </a:r>
            <a:r>
              <a:rPr lang="ko-KR" altLang="en-US" dirty="0"/>
              <a:t>초기 발명의 부담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발명가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ko-KR" altLang="en-US" dirty="0">
                <a:sym typeface="Wingdings" panose="05000000000000000000" pitchFamily="2" charset="2"/>
              </a:rPr>
              <a:t>포상금 지급 전까지 비밀주의 경향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ko-KR" altLang="en-US" dirty="0">
                <a:sym typeface="Wingdings" panose="05000000000000000000" pitchFamily="2" charset="2"/>
              </a:rPr>
              <a:t>정부주도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기술의 수요 및 수준 결정의 중앙집중화</a:t>
            </a:r>
            <a:endParaRPr lang="en-US" altLang="ko-KR" dirty="0">
              <a:sym typeface="Wingdings" panose="05000000000000000000" pitchFamily="2" charset="2"/>
            </a:endParaRPr>
          </a:p>
          <a:p>
            <a:r>
              <a:rPr lang="ko-KR" altLang="en-US" dirty="0" err="1"/>
              <a:t>근대유럽</a:t>
            </a:r>
            <a:r>
              <a:rPr lang="en-US" altLang="ko-KR" dirty="0"/>
              <a:t>(</a:t>
            </a:r>
            <a:r>
              <a:rPr lang="ko-KR" altLang="en-US" dirty="0"/>
              <a:t>특허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영국 전매조례 </a:t>
            </a:r>
            <a:r>
              <a:rPr lang="en-US" altLang="ko-KR" dirty="0"/>
              <a:t>: 14</a:t>
            </a:r>
            <a:r>
              <a:rPr lang="ko-KR" altLang="en-US" dirty="0"/>
              <a:t>년간 독점권</a:t>
            </a:r>
            <a:r>
              <a:rPr lang="en-US" altLang="ko-KR" dirty="0"/>
              <a:t>, </a:t>
            </a:r>
            <a:r>
              <a:rPr lang="ko-KR" altLang="en-US" dirty="0"/>
              <a:t>무허가 생산</a:t>
            </a:r>
            <a:r>
              <a:rPr lang="en-US" altLang="ko-KR" dirty="0"/>
              <a:t>/</a:t>
            </a:r>
            <a:r>
              <a:rPr lang="ko-KR" altLang="en-US" dirty="0"/>
              <a:t>판매 시 법적처벌</a:t>
            </a:r>
            <a:r>
              <a:rPr lang="en-US" altLang="ko-KR" dirty="0"/>
              <a:t>, </a:t>
            </a:r>
            <a:r>
              <a:rPr lang="ko-KR" altLang="en-US" dirty="0"/>
              <a:t>선발명주의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선출원주의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ko-KR" altLang="en-US" dirty="0">
                <a:sym typeface="Wingdings" panose="05000000000000000000" pitchFamily="2" charset="2"/>
              </a:rPr>
              <a:t>공</a:t>
            </a:r>
            <a:r>
              <a:rPr lang="en-US" altLang="ko-KR" dirty="0">
                <a:sym typeface="Wingdings" panose="05000000000000000000" pitchFamily="2" charset="2"/>
              </a:rPr>
              <a:t>,</a:t>
            </a:r>
            <a:r>
              <a:rPr lang="ko-KR" altLang="en-US" dirty="0" err="1">
                <a:sym typeface="Wingdings" panose="05000000000000000000" pitchFamily="2" charset="2"/>
              </a:rPr>
              <a:t>익위배시</a:t>
            </a:r>
            <a:r>
              <a:rPr lang="ko-KR" altLang="en-US" dirty="0">
                <a:sym typeface="Wingdings" panose="05000000000000000000" pitchFamily="2" charset="2"/>
              </a:rPr>
              <a:t> 특허 불인정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ko-KR" altLang="en-US" dirty="0">
                <a:sym typeface="Wingdings" panose="05000000000000000000" pitchFamily="2" charset="2"/>
              </a:rPr>
              <a:t>특허권 특징 </a:t>
            </a:r>
            <a:r>
              <a:rPr lang="en-US" altLang="ko-KR" dirty="0">
                <a:sym typeface="Wingdings" panose="05000000000000000000" pitchFamily="2" charset="2"/>
              </a:rPr>
              <a:t>: </a:t>
            </a:r>
            <a:r>
              <a:rPr lang="ko-KR" altLang="en-US" dirty="0">
                <a:sym typeface="Wingdings" panose="05000000000000000000" pitchFamily="2" charset="2"/>
              </a:rPr>
              <a:t>특권은 인위적 재산권</a:t>
            </a:r>
            <a:r>
              <a:rPr lang="en-US" altLang="ko-KR" dirty="0">
                <a:sym typeface="Wingdings" panose="05000000000000000000" pitchFamily="2" charset="2"/>
              </a:rPr>
              <a:t>  </a:t>
            </a:r>
            <a:r>
              <a:rPr lang="ko-KR" altLang="en-US" dirty="0">
                <a:sym typeface="Wingdings" panose="05000000000000000000" pitchFamily="2" charset="2"/>
              </a:rPr>
              <a:t>국가마다 다르게 적용</a:t>
            </a:r>
            <a:r>
              <a:rPr lang="en-US" altLang="ko-KR" dirty="0">
                <a:sym typeface="Wingdings" panose="05000000000000000000" pitchFamily="2" charset="2"/>
              </a:rPr>
              <a:t>; </a:t>
            </a:r>
            <a:r>
              <a:rPr lang="ko-KR" altLang="en-US" dirty="0">
                <a:sym typeface="Wingdings" panose="05000000000000000000" pitchFamily="2" charset="2"/>
              </a:rPr>
              <a:t>특허의 청구항</a:t>
            </a:r>
            <a:r>
              <a:rPr lang="en-US" altLang="ko-KR" dirty="0">
                <a:sym typeface="Wingdings" panose="05000000000000000000" pitchFamily="2" charset="2"/>
              </a:rPr>
              <a:t>(</a:t>
            </a:r>
            <a:r>
              <a:rPr lang="ko-KR" altLang="en-US" dirty="0">
                <a:sym typeface="Wingdings" panose="05000000000000000000" pitchFamily="2" charset="2"/>
              </a:rPr>
              <a:t>클레임</a:t>
            </a:r>
            <a:r>
              <a:rPr lang="en-US" altLang="ko-KR" dirty="0">
                <a:sym typeface="Wingdings" panose="05000000000000000000" pitchFamily="2" charset="2"/>
              </a:rPr>
              <a:t>)</a:t>
            </a:r>
            <a:r>
              <a:rPr lang="ko-KR" altLang="en-US" dirty="0">
                <a:sym typeface="Wingdings" panose="05000000000000000000" pitchFamily="2" charset="2"/>
              </a:rPr>
              <a:t>을 통해 권리 설정</a:t>
            </a:r>
            <a:r>
              <a:rPr lang="en-US" altLang="ko-KR" dirty="0">
                <a:sym typeface="Wingdings" panose="05000000000000000000" pitchFamily="2" charset="2"/>
              </a:rPr>
              <a:t>; </a:t>
            </a:r>
            <a:r>
              <a:rPr lang="ko-KR" altLang="en-US" dirty="0">
                <a:sym typeface="Wingdings" panose="05000000000000000000" pitchFamily="2" charset="2"/>
              </a:rPr>
              <a:t>특허를 통해 독점적 이익 가능</a:t>
            </a:r>
            <a:r>
              <a:rPr lang="en-US" altLang="ko-KR" dirty="0">
                <a:sym typeface="Wingdings" panose="05000000000000000000" pitchFamily="2" charset="2"/>
              </a:rPr>
              <a:t>(</a:t>
            </a:r>
            <a:r>
              <a:rPr lang="ko-KR" altLang="en-US" dirty="0" err="1">
                <a:sym typeface="Wingdings" panose="05000000000000000000" pitchFamily="2" charset="2"/>
              </a:rPr>
              <a:t>라이선스료</a:t>
            </a:r>
            <a:r>
              <a:rPr lang="en-US" altLang="ko-KR" dirty="0">
                <a:sym typeface="Wingdings" panose="05000000000000000000" pitchFamily="2" charset="2"/>
              </a:rPr>
              <a:t>)</a:t>
            </a:r>
          </a:p>
          <a:p>
            <a:pPr lvl="2"/>
            <a:r>
              <a:rPr lang="ko-KR" altLang="en-US" dirty="0"/>
              <a:t>단점 </a:t>
            </a:r>
            <a:r>
              <a:rPr lang="en-US" altLang="ko-KR" dirty="0"/>
              <a:t>: </a:t>
            </a:r>
            <a:r>
              <a:rPr lang="ko-KR" altLang="en-US" dirty="0"/>
              <a:t>사후보상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자본력이 없는 발명가 어려움</a:t>
            </a:r>
            <a:endParaRPr lang="en-US" altLang="ko-KR" dirty="0">
              <a:sym typeface="Wingdings" panose="05000000000000000000" pitchFamily="2" charset="2"/>
            </a:endParaRPr>
          </a:p>
          <a:p>
            <a:pPr lvl="2"/>
            <a:r>
              <a:rPr lang="ko-KR" altLang="en-US" dirty="0">
                <a:sym typeface="Wingdings" panose="05000000000000000000" pitchFamily="2" charset="2"/>
              </a:rPr>
              <a:t>특허</a:t>
            </a:r>
            <a:r>
              <a:rPr lang="en-US" altLang="ko-KR" dirty="0">
                <a:sym typeface="Wingdings" panose="05000000000000000000" pitchFamily="2" charset="2"/>
              </a:rPr>
              <a:t>-</a:t>
            </a:r>
            <a:r>
              <a:rPr lang="ko-KR" altLang="en-US" dirty="0">
                <a:sym typeface="Wingdings" panose="05000000000000000000" pitchFamily="2" charset="2"/>
              </a:rPr>
              <a:t>포상간 차이 </a:t>
            </a:r>
            <a:r>
              <a:rPr lang="en-US" altLang="ko-KR" dirty="0">
                <a:sym typeface="Wingdings" panose="05000000000000000000" pitchFamily="2" charset="2"/>
              </a:rPr>
              <a:t>: </a:t>
            </a:r>
            <a:r>
              <a:rPr lang="ko-KR" altLang="en-US" dirty="0">
                <a:sym typeface="Wingdings" panose="05000000000000000000" pitchFamily="2" charset="2"/>
              </a:rPr>
              <a:t>특허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독점적 재산권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ko-KR" altLang="en-US" dirty="0">
                <a:sym typeface="Wingdings" panose="05000000000000000000" pitchFamily="2" charset="2"/>
              </a:rPr>
              <a:t>포상</a:t>
            </a:r>
            <a:r>
              <a:rPr lang="en-US" altLang="ko-KR" dirty="0">
                <a:sym typeface="Wingdings" panose="05000000000000000000" pitchFamily="2" charset="2"/>
              </a:rPr>
              <a:t>  </a:t>
            </a:r>
            <a:r>
              <a:rPr lang="ko-KR" altLang="en-US" dirty="0">
                <a:sym typeface="Wingdings" panose="05000000000000000000" pitchFamily="2" charset="2"/>
              </a:rPr>
              <a:t>보상지급 후 권리 양도</a:t>
            </a:r>
            <a:endParaRPr lang="ko-KR" altLang="en-US" dirty="0"/>
          </a:p>
          <a:p>
            <a:endParaRPr lang="en-US" altLang="ko-KR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3DA2708-F7F6-6CE5-B4E2-1E18EF6E4907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69658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19937C39-2F62-6CBF-B007-37733A9089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F2F5F3F8-A6CD-AF03-59B5-0F29658E3E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311E955-ADD0-7020-5B35-DD5611AD8B1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39D7F1C7-CC05-7EE6-5685-AFE99F9D3BA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현대의 후원자 </a:t>
            </a:r>
            <a:r>
              <a:rPr lang="en-US" altLang="ko-KR" dirty="0"/>
              <a:t>: </a:t>
            </a:r>
            <a:r>
              <a:rPr lang="ko-KR" altLang="en-US" dirty="0"/>
              <a:t>재단</a:t>
            </a:r>
            <a:endParaRPr lang="en-US" altLang="ko-KR" dirty="0"/>
          </a:p>
          <a:p>
            <a:pPr lvl="1"/>
            <a:r>
              <a:rPr lang="ko-KR" altLang="en-US" dirty="0"/>
              <a:t>특정 분야에 집중</a:t>
            </a:r>
            <a:r>
              <a:rPr lang="en-US" altLang="ko-KR" dirty="0"/>
              <a:t>, </a:t>
            </a:r>
            <a:r>
              <a:rPr lang="ko-KR" altLang="en-US" dirty="0"/>
              <a:t>소외된 문제에 관심</a:t>
            </a:r>
            <a:endParaRPr lang="en-US" altLang="ko-KR" dirty="0"/>
          </a:p>
          <a:p>
            <a:pPr lvl="1"/>
            <a:r>
              <a:rPr lang="ko-KR" altLang="en-US" dirty="0"/>
              <a:t>근대 </a:t>
            </a:r>
            <a:r>
              <a:rPr lang="en-US" altLang="ko-KR" dirty="0"/>
              <a:t>: </a:t>
            </a:r>
            <a:r>
              <a:rPr lang="ko-KR" altLang="en-US" dirty="0"/>
              <a:t>민간</a:t>
            </a:r>
            <a:r>
              <a:rPr lang="en-US" altLang="ko-KR" dirty="0"/>
              <a:t>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현대 </a:t>
            </a:r>
            <a:r>
              <a:rPr lang="en-US" altLang="ko-KR" dirty="0">
                <a:sym typeface="Wingdings" panose="05000000000000000000" pitchFamily="2" charset="2"/>
              </a:rPr>
              <a:t>: </a:t>
            </a:r>
            <a:r>
              <a:rPr lang="ko-KR" altLang="en-US" dirty="0">
                <a:sym typeface="Wingdings" panose="05000000000000000000" pitchFamily="2" charset="2"/>
              </a:rPr>
              <a:t>거대과학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ko-KR" altLang="en-US" dirty="0">
                <a:sym typeface="Wingdings" panose="05000000000000000000" pitchFamily="2" charset="2"/>
              </a:rPr>
              <a:t>장비 및 비용 증가</a:t>
            </a:r>
            <a:endParaRPr lang="en-US" altLang="ko-KR" dirty="0">
              <a:sym typeface="Wingdings" panose="05000000000000000000" pitchFamily="2" charset="2"/>
            </a:endParaRPr>
          </a:p>
          <a:p>
            <a:pPr lvl="2"/>
            <a:r>
              <a:rPr lang="ko-KR" altLang="en-US" dirty="0">
                <a:sym typeface="Wingdings" panose="05000000000000000000" pitchFamily="2" charset="2"/>
              </a:rPr>
              <a:t>민간재간 </a:t>
            </a:r>
            <a:r>
              <a:rPr lang="en-US" altLang="ko-KR" dirty="0">
                <a:sym typeface="Wingdings" panose="05000000000000000000" pitchFamily="2" charset="2"/>
              </a:rPr>
              <a:t>: </a:t>
            </a:r>
            <a:r>
              <a:rPr lang="ko-KR" altLang="en-US" dirty="0">
                <a:sym typeface="Wingdings" panose="05000000000000000000" pitchFamily="2" charset="2"/>
              </a:rPr>
              <a:t>록펠러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ko-KR" altLang="en-US" dirty="0">
                <a:sym typeface="Wingdings" panose="05000000000000000000" pitchFamily="2" charset="2"/>
              </a:rPr>
              <a:t>카네기 등 거대과학 투자</a:t>
            </a:r>
            <a:endParaRPr lang="en-US" altLang="ko-KR" dirty="0">
              <a:sym typeface="Wingdings" panose="05000000000000000000" pitchFamily="2" charset="2"/>
            </a:endParaRPr>
          </a:p>
          <a:p>
            <a:pPr lvl="2"/>
            <a:r>
              <a:rPr lang="ko-KR" altLang="en-US" dirty="0">
                <a:sym typeface="Wingdings" panose="05000000000000000000" pitchFamily="2" charset="2"/>
              </a:rPr>
              <a:t>정부 역할 </a:t>
            </a:r>
            <a:r>
              <a:rPr lang="en-US" altLang="ko-KR" dirty="0">
                <a:sym typeface="Wingdings" panose="05000000000000000000" pitchFamily="2" charset="2"/>
              </a:rPr>
              <a:t>: </a:t>
            </a:r>
            <a:r>
              <a:rPr lang="ko-KR" altLang="en-US" dirty="0">
                <a:sym typeface="Wingdings" panose="05000000000000000000" pitchFamily="2" charset="2"/>
              </a:rPr>
              <a:t>대공황 이후 </a:t>
            </a:r>
            <a:r>
              <a:rPr lang="en-US" altLang="ko-KR" dirty="0">
                <a:sym typeface="Wingdings" panose="05000000000000000000" pitchFamily="2" charset="2"/>
              </a:rPr>
              <a:t>NSF</a:t>
            </a:r>
            <a:r>
              <a:rPr lang="ko-KR" altLang="en-US" dirty="0">
                <a:sym typeface="Wingdings" panose="05000000000000000000" pitchFamily="2" charset="2"/>
              </a:rPr>
              <a:t>등 </a:t>
            </a:r>
            <a:r>
              <a:rPr lang="ko-KR" altLang="en-US" dirty="0" err="1">
                <a:sym typeface="Wingdings" panose="05000000000000000000" pitchFamily="2" charset="2"/>
              </a:rPr>
              <a:t>설림립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사전적 지원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ko-KR" altLang="en-US" dirty="0">
                <a:sym typeface="Wingdings" panose="05000000000000000000" pitchFamily="2" charset="2"/>
              </a:rPr>
              <a:t>군산복합체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ko-KR" altLang="en-US" dirty="0">
                <a:sym typeface="Wingdings" panose="05000000000000000000" pitchFamily="2" charset="2"/>
              </a:rPr>
              <a:t>산학협력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ko-KR" altLang="en-US" dirty="0">
                <a:sym typeface="Wingdings" panose="05000000000000000000" pitchFamily="2" charset="2"/>
              </a:rPr>
              <a:t>국제협력 등 증대</a:t>
            </a:r>
            <a:endParaRPr lang="en-US" altLang="ko-KR" dirty="0"/>
          </a:p>
          <a:p>
            <a:r>
              <a:rPr lang="ko-KR" altLang="en-US" dirty="0" err="1"/>
              <a:t>베이돌</a:t>
            </a:r>
            <a:r>
              <a:rPr lang="ko-KR" altLang="en-US" dirty="0"/>
              <a:t> </a:t>
            </a:r>
            <a:r>
              <a:rPr lang="ko-KR" altLang="en-US" dirty="0" err="1"/>
              <a:t>액트</a:t>
            </a:r>
            <a:r>
              <a:rPr lang="ko-KR" altLang="en-US" dirty="0"/>
              <a:t> </a:t>
            </a:r>
            <a:r>
              <a:rPr lang="en-US" altLang="ko-KR" dirty="0"/>
              <a:t>(Bayh-Dole Act)</a:t>
            </a:r>
          </a:p>
          <a:p>
            <a:pPr lvl="1"/>
            <a:r>
              <a:rPr lang="ko-KR" altLang="en-US" dirty="0"/>
              <a:t>정부 지원을 받아 개발한 기술 및 발명에 대한 소유권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발명가</a:t>
            </a:r>
            <a:endParaRPr lang="en-US" altLang="ko-KR" dirty="0"/>
          </a:p>
          <a:p>
            <a:pPr lvl="1"/>
            <a:r>
              <a:rPr lang="ko-KR" altLang="en-US" dirty="0"/>
              <a:t>긍정적 효과</a:t>
            </a:r>
            <a:r>
              <a:rPr lang="en-US" altLang="ko-KR" dirty="0"/>
              <a:t>: </a:t>
            </a:r>
            <a:r>
              <a:rPr lang="ko-KR" altLang="en-US" dirty="0"/>
              <a:t>연구 개발 및 특허 출원 활성화</a:t>
            </a:r>
            <a:r>
              <a:rPr lang="en-US" altLang="ko-KR" dirty="0"/>
              <a:t>, </a:t>
            </a:r>
            <a:r>
              <a:rPr lang="ko-KR" altLang="en-US" dirty="0"/>
              <a:t>기술 상업화 촉진</a:t>
            </a:r>
            <a:endParaRPr lang="en-US" altLang="ko-KR" dirty="0"/>
          </a:p>
          <a:p>
            <a:pPr lvl="1"/>
            <a:r>
              <a:rPr lang="ko-KR" altLang="en-US" dirty="0"/>
              <a:t>비판 </a:t>
            </a:r>
            <a:r>
              <a:rPr lang="en-US" altLang="ko-KR" dirty="0"/>
              <a:t>: </a:t>
            </a:r>
            <a:r>
              <a:rPr lang="ko-KR" altLang="en-US" dirty="0"/>
              <a:t>국민세금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연구</a:t>
            </a:r>
            <a:r>
              <a:rPr lang="en-US" altLang="ko-KR" dirty="0">
                <a:sym typeface="Wingdings" panose="05000000000000000000" pitchFamily="2" charset="2"/>
              </a:rPr>
              <a:t>; </a:t>
            </a:r>
            <a:r>
              <a:rPr lang="ko-KR" altLang="en-US" dirty="0">
                <a:sym typeface="Wingdings" panose="05000000000000000000" pitchFamily="2" charset="2"/>
              </a:rPr>
              <a:t>개인</a:t>
            </a:r>
            <a:r>
              <a:rPr lang="en-US" altLang="ko-KR" dirty="0">
                <a:sym typeface="Wingdings" panose="05000000000000000000" pitchFamily="2" charset="2"/>
              </a:rPr>
              <a:t>/</a:t>
            </a:r>
            <a:r>
              <a:rPr lang="ko-KR" altLang="en-US" dirty="0">
                <a:sym typeface="Wingdings" panose="05000000000000000000" pitchFamily="2" charset="2"/>
              </a:rPr>
              <a:t>기업이 이익이 정당</a:t>
            </a:r>
            <a:r>
              <a:rPr lang="en-US" altLang="ko-KR" dirty="0">
                <a:sym typeface="Wingdings" panose="05000000000000000000" pitchFamily="2" charset="2"/>
              </a:rPr>
              <a:t>?; </a:t>
            </a:r>
            <a:r>
              <a:rPr lang="ko-KR" altLang="en-US" dirty="0">
                <a:sym typeface="Wingdings" panose="05000000000000000000" pitchFamily="2" charset="2"/>
              </a:rPr>
              <a:t>상업목적 연구 편중</a:t>
            </a:r>
            <a:r>
              <a:rPr lang="en-US" altLang="ko-KR" dirty="0">
                <a:sym typeface="Wingdings" panose="05000000000000000000" pitchFamily="2" charset="2"/>
              </a:rPr>
              <a:t> &amp; </a:t>
            </a:r>
            <a:r>
              <a:rPr lang="ko-KR" altLang="en-US" dirty="0">
                <a:sym typeface="Wingdings" panose="05000000000000000000" pitchFamily="2" charset="2"/>
              </a:rPr>
              <a:t>사회적 필요 연구 소외</a:t>
            </a:r>
            <a:endParaRPr lang="en-US" altLang="ko-KR" dirty="0">
              <a:sym typeface="Wingdings" panose="05000000000000000000" pitchFamily="2" charset="2"/>
            </a:endParaRPr>
          </a:p>
          <a:p>
            <a:r>
              <a:rPr lang="ko-KR" altLang="en-US" dirty="0">
                <a:sym typeface="Wingdings" panose="05000000000000000000" pitchFamily="2" charset="2"/>
              </a:rPr>
              <a:t>결론</a:t>
            </a:r>
            <a:endParaRPr lang="en-US" altLang="ko-KR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B8F359B-4044-79EF-5D98-B3D5014633B3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8CFB1AB1-EF01-EAA6-9214-D3433B3C0E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9144923"/>
              </p:ext>
            </p:extLst>
          </p:nvPr>
        </p:nvGraphicFramePr>
        <p:xfrm>
          <a:off x="1556792" y="3249860"/>
          <a:ext cx="2217942" cy="187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9130">
                  <a:extLst>
                    <a:ext uri="{9D8B030D-6E8A-4147-A177-3AD203B41FA5}">
                      <a16:colId xmlns:a16="http://schemas.microsoft.com/office/drawing/2014/main" val="2042407725"/>
                    </a:ext>
                  </a:extLst>
                </a:gridCol>
                <a:gridCol w="1558812">
                  <a:extLst>
                    <a:ext uri="{9D8B030D-6E8A-4147-A177-3AD203B41FA5}">
                      <a16:colId xmlns:a16="http://schemas.microsoft.com/office/drawing/2014/main" val="3340989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고대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우연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왕국 관료</a:t>
                      </a:r>
                      <a:endParaRPr lang="en-US" altLang="ko-KR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00577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중세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왕조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수도원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길드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대학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70697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근대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포상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후원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특허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77831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근</a:t>
                      </a:r>
                      <a:r>
                        <a:rPr lang="en-US" altLang="ko-KR" sz="1000" dirty="0"/>
                        <a:t>/</a:t>
                      </a:r>
                      <a:r>
                        <a:rPr lang="ko-KR" altLang="en-US" sz="1000" dirty="0"/>
                        <a:t>현대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재단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36264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현대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정부연구소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정부지원금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군산복합체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산학협력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1648975"/>
                  </a:ext>
                </a:extLst>
              </a:tr>
            </a:tbl>
          </a:graphicData>
        </a:graphic>
      </p:graphicFrame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8DBDDB8C-B56F-A34F-C333-DC89A2E5B5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8982849"/>
              </p:ext>
            </p:extLst>
          </p:nvPr>
        </p:nvGraphicFramePr>
        <p:xfrm>
          <a:off x="3824024" y="3264832"/>
          <a:ext cx="1692577" cy="1112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2330">
                  <a:extLst>
                    <a:ext uri="{9D8B030D-6E8A-4147-A177-3AD203B41FA5}">
                      <a16:colId xmlns:a16="http://schemas.microsoft.com/office/drawing/2014/main" val="693805285"/>
                    </a:ext>
                  </a:extLst>
                </a:gridCol>
                <a:gridCol w="830247">
                  <a:extLst>
                    <a:ext uri="{9D8B030D-6E8A-4147-A177-3AD203B41FA5}">
                      <a16:colId xmlns:a16="http://schemas.microsoft.com/office/drawing/2014/main" val="1196760330"/>
                    </a:ext>
                  </a:extLst>
                </a:gridCol>
              </a:tblGrid>
              <a:tr h="27802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과거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현재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551986"/>
                  </a:ext>
                </a:extLst>
              </a:tr>
              <a:tr h="27802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중앙집중적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분권적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9204148"/>
                  </a:ext>
                </a:extLst>
              </a:tr>
              <a:tr h="27802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정부</a:t>
                      </a:r>
                      <a:r>
                        <a:rPr lang="en-US" altLang="ko-KR" sz="1000" dirty="0"/>
                        <a:t>/</a:t>
                      </a:r>
                      <a:r>
                        <a:rPr lang="ko-KR" altLang="en-US" sz="1000" dirty="0"/>
                        <a:t>군사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민간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3806365"/>
                  </a:ext>
                </a:extLst>
              </a:tr>
              <a:tr h="27802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비밀주의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개방</a:t>
                      </a:r>
                      <a:r>
                        <a:rPr lang="en-US" altLang="ko-KR" sz="1000" dirty="0"/>
                        <a:t>/</a:t>
                      </a:r>
                      <a:r>
                        <a:rPr lang="ko-KR" altLang="en-US" sz="1000" dirty="0"/>
                        <a:t>확산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78863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849431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CE7F6DFA-3BDC-0EA1-6BD3-34E5DA4DEC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CD1049B5-961F-C7B0-EE23-0778A018F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미시경제 기초지식</a:t>
            </a:r>
            <a:r>
              <a:rPr lang="en-US" altLang="ko-KR" dirty="0"/>
              <a:t>(</a:t>
            </a:r>
            <a:r>
              <a:rPr lang="ko-KR" altLang="en-US" dirty="0"/>
              <a:t>독점시장구조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AE3B146-74F7-51C6-AF28-8AE8323CC5C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B267A088-A537-A477-15F3-8DE7EEE4AE0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ko-KR" altLang="en-US" b="1" dirty="0"/>
              <a:t>독점기업의 수요와 공급</a:t>
            </a:r>
            <a:endParaRPr lang="en-US" altLang="ko-KR" b="1" dirty="0"/>
          </a:p>
          <a:p>
            <a:pPr lvl="1"/>
            <a:r>
              <a:rPr lang="ko-KR" altLang="en-US" dirty="0"/>
              <a:t>독점기업에선 수요곡선이</a:t>
            </a:r>
            <a:r>
              <a:rPr lang="en-US" altLang="ko-KR" dirty="0"/>
              <a:t> D = AR(</a:t>
            </a:r>
            <a:r>
              <a:rPr lang="ko-KR" altLang="en-US" dirty="0"/>
              <a:t>평균수입</a:t>
            </a:r>
            <a:r>
              <a:rPr lang="en-US" altLang="ko-KR" dirty="0"/>
              <a:t>)</a:t>
            </a:r>
            <a:r>
              <a:rPr lang="ko-KR" altLang="en-US" dirty="0"/>
              <a:t>을 만족</a:t>
            </a:r>
            <a:r>
              <a:rPr lang="en-US" altLang="ko-KR" dirty="0"/>
              <a:t>.</a:t>
            </a:r>
          </a:p>
          <a:p>
            <a:pPr lvl="2"/>
            <a:r>
              <a:rPr lang="en-US" altLang="ko-KR" dirty="0"/>
              <a:t>MR</a:t>
            </a:r>
            <a:r>
              <a:rPr lang="ko-KR" altLang="en-US" dirty="0"/>
              <a:t>은 </a:t>
            </a:r>
            <a:r>
              <a:rPr lang="en-US" altLang="ko-KR" dirty="0"/>
              <a:t>AR</a:t>
            </a:r>
            <a:r>
              <a:rPr lang="ko-KR" altLang="en-US" dirty="0"/>
              <a:t>의 </a:t>
            </a:r>
            <a:r>
              <a:rPr lang="en-US" altLang="ko-KR" dirty="0"/>
              <a:t>2</a:t>
            </a:r>
            <a:r>
              <a:rPr lang="ko-KR" altLang="en-US" dirty="0"/>
              <a:t>배의 기울기를 가짐</a:t>
            </a:r>
            <a:endParaRPr lang="en-US" altLang="ko-KR" dirty="0"/>
          </a:p>
          <a:p>
            <a:pPr lvl="1"/>
            <a:r>
              <a:rPr lang="ko-KR" altLang="en-US" dirty="0"/>
              <a:t>독점기업에선 생산과 가격이 각각 </a:t>
            </a:r>
            <a:r>
              <a:rPr lang="en-US" altLang="ko-KR" dirty="0"/>
              <a:t>MC=MR</a:t>
            </a:r>
            <a:r>
              <a:rPr lang="ko-KR" altLang="en-US" dirty="0"/>
              <a:t>이 되는 </a:t>
            </a:r>
            <a:br>
              <a:rPr lang="en-US" altLang="ko-KR" dirty="0"/>
            </a:br>
            <a:r>
              <a:rPr lang="ko-KR" altLang="en-US" dirty="0"/>
              <a:t>수준에서 생산량 </a:t>
            </a:r>
            <a:r>
              <a:rPr lang="en-US" altLang="ko-KR" dirty="0" err="1"/>
              <a:t>Qm</a:t>
            </a:r>
            <a:r>
              <a:rPr lang="ko-KR" altLang="en-US" dirty="0"/>
              <a:t>이 결정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 </a:t>
            </a:r>
            <a:r>
              <a:rPr lang="ko-KR" altLang="en-US" dirty="0"/>
              <a:t>그리고 가격은 </a:t>
            </a:r>
            <a:r>
              <a:rPr lang="en-US" altLang="ko-KR" dirty="0"/>
              <a:t>AR(</a:t>
            </a:r>
            <a:r>
              <a:rPr lang="en-US" altLang="ko-KR" dirty="0" err="1"/>
              <a:t>Qm</a:t>
            </a:r>
            <a:r>
              <a:rPr lang="en-US" altLang="ko-KR" dirty="0"/>
              <a:t>) = Pm</a:t>
            </a:r>
            <a:r>
              <a:rPr lang="ko-KR" altLang="en-US" dirty="0"/>
              <a:t> 수준에서 결정</a:t>
            </a:r>
            <a:endParaRPr lang="en-US" altLang="ko-KR" dirty="0"/>
          </a:p>
          <a:p>
            <a:pPr lvl="1"/>
            <a:r>
              <a:rPr lang="ko-KR" altLang="en-US" dirty="0"/>
              <a:t>독점시장이라도 </a:t>
            </a:r>
            <a:r>
              <a:rPr lang="en-US" altLang="ko-KR" dirty="0"/>
              <a:t>1</a:t>
            </a:r>
            <a:r>
              <a:rPr lang="ko-KR" altLang="en-US" dirty="0"/>
              <a:t>급가격차별을 할 수 있으면</a:t>
            </a:r>
            <a:r>
              <a:rPr lang="en-US" altLang="ko-KR" dirty="0"/>
              <a:t> </a:t>
            </a:r>
            <a:br>
              <a:rPr lang="en-US" altLang="ko-KR" dirty="0"/>
            </a:br>
            <a:r>
              <a:rPr lang="ko-KR" altLang="en-US" dirty="0"/>
              <a:t>사회후생은 완전경쟁과 동일</a:t>
            </a:r>
            <a:r>
              <a:rPr lang="en-US" altLang="ko-KR" dirty="0"/>
              <a:t>;</a:t>
            </a:r>
          </a:p>
          <a:p>
            <a:r>
              <a:rPr lang="ko-KR" altLang="en-US" b="1" dirty="0"/>
              <a:t>자연독점</a:t>
            </a:r>
            <a:endParaRPr lang="en-US" altLang="ko-KR" b="1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ko-KR" altLang="en-US" dirty="0"/>
              <a:t>초기 고정비용이 높고</a:t>
            </a:r>
            <a:r>
              <a:rPr lang="en-US" altLang="ko-KR" dirty="0"/>
              <a:t>, </a:t>
            </a:r>
            <a:r>
              <a:rPr lang="ko-KR" altLang="en-US" dirty="0" err="1"/>
              <a:t>평균총비용</a:t>
            </a:r>
            <a:r>
              <a:rPr lang="en-US" altLang="ko-KR" dirty="0"/>
              <a:t>(ATC)</a:t>
            </a:r>
            <a:r>
              <a:rPr lang="ko-KR" altLang="en-US" dirty="0"/>
              <a:t>가 계속 낮아질 경우</a:t>
            </a:r>
            <a:r>
              <a:rPr lang="en-US" altLang="ko-KR" dirty="0"/>
              <a:t>(</a:t>
            </a:r>
            <a:r>
              <a:rPr lang="ko-KR" altLang="en-US" dirty="0"/>
              <a:t>규모의 경제 존재</a:t>
            </a:r>
            <a:r>
              <a:rPr lang="en-US" altLang="ko-KR" dirty="0"/>
              <a:t>)</a:t>
            </a:r>
          </a:p>
          <a:p>
            <a:pPr lvl="2"/>
            <a:r>
              <a:rPr lang="ko-KR" altLang="en-US" dirty="0"/>
              <a:t>이 기업에서 독점기업의 가격을 적용하지 못하도록 정부가 가격을 규제</a:t>
            </a:r>
            <a:endParaRPr lang="en-US" altLang="ko-KR" dirty="0"/>
          </a:p>
          <a:p>
            <a:pPr lvl="1"/>
            <a:r>
              <a:rPr lang="ko-KR" altLang="en-US" dirty="0"/>
              <a:t>자연독점에서 정부의 가격 조절 수준</a:t>
            </a:r>
            <a:r>
              <a:rPr lang="en-US" altLang="ko-KR" dirty="0"/>
              <a:t>?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완전경쟁</a:t>
            </a:r>
            <a:endParaRPr lang="en-US" altLang="ko-KR" dirty="0">
              <a:sym typeface="Wingdings" panose="05000000000000000000" pitchFamily="2" charset="2"/>
            </a:endParaRPr>
          </a:p>
          <a:p>
            <a:pPr lvl="2"/>
            <a:r>
              <a:rPr lang="en-US" altLang="ko-KR" dirty="0">
                <a:sym typeface="Wingdings" panose="05000000000000000000" pitchFamily="2" charset="2"/>
              </a:rPr>
              <a:t>MC = D </a:t>
            </a:r>
            <a:r>
              <a:rPr lang="ko-KR" altLang="en-US" dirty="0">
                <a:sym typeface="Wingdings" panose="05000000000000000000" pitchFamily="2" charset="2"/>
              </a:rPr>
              <a:t>수준에선 완전경쟁 수준의 가격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부작용 </a:t>
            </a:r>
            <a:r>
              <a:rPr lang="en-US" altLang="ko-KR" dirty="0">
                <a:sym typeface="Wingdings" panose="05000000000000000000" pitchFamily="2" charset="2"/>
              </a:rPr>
              <a:t>: ATC &gt; MC</a:t>
            </a:r>
            <a:r>
              <a:rPr lang="ko-KR" altLang="en-US" dirty="0">
                <a:sym typeface="Wingdings" panose="05000000000000000000" pitchFamily="2" charset="2"/>
              </a:rPr>
              <a:t>일 경우 기업의 손실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en-US" altLang="ko-KR" dirty="0" err="1">
                <a:sym typeface="Wingdings" panose="05000000000000000000" pitchFamily="2" charset="2"/>
              </a:rPr>
              <a:t>ACBPr</a:t>
            </a:r>
            <a:r>
              <a:rPr lang="ko-KR" altLang="en-US" dirty="0">
                <a:sym typeface="Wingdings" panose="05000000000000000000" pitchFamily="2" charset="2"/>
              </a:rPr>
              <a:t>의 손실 발생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정부가 그만큼의 보조금 지급</a:t>
            </a:r>
            <a:r>
              <a:rPr lang="en-US" altLang="ko-KR" dirty="0">
                <a:sym typeface="Wingdings" panose="05000000000000000000" pitchFamily="2" charset="2"/>
              </a:rPr>
              <a:t> 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그러나 정부가 손실을 측정하기엔 현실적으로 어려움</a:t>
            </a:r>
            <a:endParaRPr lang="en-US" altLang="ko-KR" dirty="0">
              <a:sym typeface="Wingdings" panose="05000000000000000000" pitchFamily="2" charset="2"/>
            </a:endParaRPr>
          </a:p>
          <a:p>
            <a:pPr lvl="2"/>
            <a:r>
              <a:rPr lang="ko-KR" altLang="en-US" dirty="0">
                <a:sym typeface="Wingdings" panose="05000000000000000000" pitchFamily="2" charset="2"/>
              </a:rPr>
              <a:t>따라서 정부는 </a:t>
            </a:r>
            <a:r>
              <a:rPr lang="en-US" altLang="ko-KR" dirty="0">
                <a:sym typeface="Wingdings" panose="05000000000000000000" pitchFamily="2" charset="2"/>
              </a:rPr>
              <a:t>D=ATC </a:t>
            </a:r>
            <a:r>
              <a:rPr lang="ko-KR" altLang="en-US" dirty="0">
                <a:sym typeface="Wingdings" panose="05000000000000000000" pitchFamily="2" charset="2"/>
              </a:rPr>
              <a:t>수준에서 가격으로 결정</a:t>
            </a:r>
            <a:r>
              <a:rPr lang="en-US" altLang="ko-KR" dirty="0">
                <a:sym typeface="Wingdings" panose="05000000000000000000" pitchFamily="2" charset="2"/>
              </a:rPr>
              <a:t>.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ko-KR" altLang="en-US" dirty="0">
                <a:sym typeface="Wingdings" panose="05000000000000000000" pitchFamily="2" charset="2"/>
              </a:rPr>
              <a:t>기업의 초과이윤 </a:t>
            </a:r>
            <a:r>
              <a:rPr lang="en-US" altLang="ko-KR" dirty="0">
                <a:sym typeface="Wingdings" panose="05000000000000000000" pitchFamily="2" charset="2"/>
              </a:rPr>
              <a:t>= 0, </a:t>
            </a:r>
            <a:r>
              <a:rPr lang="ko-KR" altLang="en-US" dirty="0">
                <a:sym typeface="Wingdings" panose="05000000000000000000" pitchFamily="2" charset="2"/>
              </a:rPr>
              <a:t>그러나 </a:t>
            </a:r>
            <a:r>
              <a:rPr lang="en-US" altLang="ko-KR" dirty="0">
                <a:sym typeface="Wingdings" panose="05000000000000000000" pitchFamily="2" charset="2"/>
              </a:rPr>
              <a:t>MC = </a:t>
            </a:r>
            <a:r>
              <a:rPr lang="ko-KR" altLang="en-US" dirty="0">
                <a:sym typeface="Wingdings" panose="05000000000000000000" pitchFamily="2" charset="2"/>
              </a:rPr>
              <a:t>보단 비효율적</a:t>
            </a:r>
            <a:endParaRPr lang="en-US" altLang="ko-KR" dirty="0">
              <a:sym typeface="Wingdings" panose="05000000000000000000" pitchFamily="2" charset="2"/>
            </a:endParaRP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5F81027-BDE9-051A-EDF2-0693D8243649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1998391D-C46F-4207-A20E-1A76135ED6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9160" y="612114"/>
            <a:ext cx="1944215" cy="1532574"/>
          </a:xfrm>
          <a:prstGeom prst="rect">
            <a:avLst/>
          </a:prstGeom>
        </p:spPr>
      </p:pic>
      <p:pic>
        <p:nvPicPr>
          <p:cNvPr id="9" name="그림 8" descr="라인, 스크린샷, 도표, 그래프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ADB6D1D5-C9B3-DD10-7F57-CE8E862CE3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72"/>
          <a:stretch/>
        </p:blipFill>
        <p:spPr>
          <a:xfrm>
            <a:off x="1844824" y="2360712"/>
            <a:ext cx="4320955" cy="1532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66812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9623F00A-C3BC-CFA5-9C60-D94CEC72B4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55511893-30BB-F294-1C63-802140269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미시경제 기초지식</a:t>
            </a:r>
            <a:r>
              <a:rPr lang="en-US" altLang="ko-KR" dirty="0"/>
              <a:t>(</a:t>
            </a:r>
            <a:r>
              <a:rPr lang="ko-KR" altLang="en-US" dirty="0"/>
              <a:t>공공재와 외부효과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4B4253E-3EE5-15E8-C24C-3EF361CEA1D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99B6C2C9-0502-2EFD-AACD-D56905A7150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ko-KR" altLang="en-US" dirty="0"/>
              <a:t>공공재의 특성</a:t>
            </a:r>
            <a:endParaRPr lang="en-US" altLang="ko-KR" dirty="0"/>
          </a:p>
          <a:p>
            <a:pPr lvl="1"/>
            <a:r>
              <a:rPr lang="ko-KR" altLang="en-US" dirty="0" err="1"/>
              <a:t>비배재성과</a:t>
            </a:r>
            <a:r>
              <a:rPr lang="ko-KR" altLang="en-US" dirty="0"/>
              <a:t> 비경합성</a:t>
            </a:r>
            <a:endParaRPr lang="en-US" altLang="ko-KR" dirty="0"/>
          </a:p>
          <a:p>
            <a:pPr lvl="2"/>
            <a:r>
              <a:rPr lang="ko-KR" altLang="en-US" dirty="0"/>
              <a:t>배재성 </a:t>
            </a:r>
            <a:r>
              <a:rPr lang="en-US" altLang="ko-KR" dirty="0"/>
              <a:t>: </a:t>
            </a:r>
            <a:r>
              <a:rPr lang="ko-KR" altLang="en-US" dirty="0"/>
              <a:t>대가를 지불하지 않음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재화의 사용 </a:t>
            </a:r>
            <a:r>
              <a:rPr lang="en-US" altLang="ko-KR" dirty="0">
                <a:sym typeface="Wingdings" panose="05000000000000000000" pitchFamily="2" charset="2"/>
              </a:rPr>
              <a:t>X</a:t>
            </a:r>
          </a:p>
          <a:p>
            <a:pPr lvl="2"/>
            <a:r>
              <a:rPr lang="ko-KR" altLang="en-US" dirty="0" err="1">
                <a:sym typeface="Wingdings" panose="05000000000000000000" pitchFamily="2" charset="2"/>
              </a:rPr>
              <a:t>경합성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: </a:t>
            </a:r>
            <a:r>
              <a:rPr lang="ko-KR" altLang="en-US" dirty="0">
                <a:sym typeface="Wingdings" panose="05000000000000000000" pitchFamily="2" charset="2"/>
              </a:rPr>
              <a:t>한 사람이 재화를 사용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동시에 다른 사람이 재화 이용 </a:t>
            </a:r>
            <a:r>
              <a:rPr lang="en-US" altLang="ko-KR" dirty="0">
                <a:sym typeface="Wingdings" panose="05000000000000000000" pitchFamily="2" charset="2"/>
              </a:rPr>
              <a:t>X</a:t>
            </a:r>
          </a:p>
          <a:p>
            <a:pPr lvl="2"/>
            <a:r>
              <a:rPr lang="ko-KR" altLang="en-US" dirty="0">
                <a:sym typeface="Wingdings" panose="05000000000000000000" pitchFamily="2" charset="2"/>
              </a:rPr>
              <a:t>공공재는 배재성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ko-KR" altLang="en-US" dirty="0" err="1">
                <a:sym typeface="Wingdings" panose="05000000000000000000" pitchFamily="2" charset="2"/>
              </a:rPr>
              <a:t>경합성중</a:t>
            </a:r>
            <a:r>
              <a:rPr lang="ko-KR" altLang="en-US" dirty="0">
                <a:sym typeface="Wingdings" panose="05000000000000000000" pitchFamily="2" charset="2"/>
              </a:rPr>
              <a:t> 적어도 하나가 결핍</a:t>
            </a:r>
            <a:r>
              <a:rPr lang="en-US" altLang="ko-KR" dirty="0">
                <a:sym typeface="Wingdings" panose="05000000000000000000" pitchFamily="2" charset="2"/>
              </a:rPr>
              <a:t>.</a:t>
            </a:r>
            <a:endParaRPr lang="en-US" altLang="ko-KR" dirty="0"/>
          </a:p>
          <a:p>
            <a:pPr lvl="1"/>
            <a:r>
              <a:rPr lang="ko-KR" altLang="en-US" dirty="0"/>
              <a:t>반공유지의 비극</a:t>
            </a:r>
            <a:endParaRPr lang="en-US" altLang="ko-KR" dirty="0"/>
          </a:p>
          <a:p>
            <a:pPr lvl="2"/>
            <a:r>
              <a:rPr lang="ko-KR" altLang="en-US" dirty="0" err="1"/>
              <a:t>공유되어야할</a:t>
            </a:r>
            <a:r>
              <a:rPr lang="ko-KR" altLang="en-US" dirty="0"/>
              <a:t> 재산이 </a:t>
            </a:r>
            <a:r>
              <a:rPr lang="ko-KR" altLang="en-US" dirty="0">
                <a:sym typeface="Wingdings" panose="05000000000000000000" pitchFamily="2" charset="2"/>
              </a:rPr>
              <a:t>분할</a:t>
            </a:r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en-US" dirty="0">
                <a:sym typeface="Wingdings" panose="05000000000000000000" pitchFamily="2" charset="2"/>
              </a:rPr>
              <a:t>및 사유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사회의 자원활용 방해</a:t>
            </a:r>
            <a:endParaRPr lang="en-US" altLang="ko-KR" dirty="0">
              <a:sym typeface="Wingdings" panose="05000000000000000000" pitchFamily="2" charset="2"/>
            </a:endParaRPr>
          </a:p>
          <a:p>
            <a:pPr lvl="2"/>
            <a:r>
              <a:rPr lang="ko-KR" altLang="en-US" dirty="0">
                <a:sym typeface="Wingdings" panose="05000000000000000000" pitchFamily="2" charset="2"/>
              </a:rPr>
              <a:t>너무 많은 소유권자가 각자의 소유권 주장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사회적 과소사용</a:t>
            </a:r>
            <a:endParaRPr lang="en-US" altLang="ko-KR" dirty="0">
              <a:sym typeface="Wingdings" panose="05000000000000000000" pitchFamily="2" charset="2"/>
            </a:endParaRPr>
          </a:p>
          <a:p>
            <a:pPr lvl="2"/>
            <a:r>
              <a:rPr lang="ko-KR" altLang="en-US" dirty="0">
                <a:sym typeface="Wingdings" panose="05000000000000000000" pitchFamily="2" charset="2"/>
              </a:rPr>
              <a:t>공유지의 비극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자원의 과도사용</a:t>
            </a:r>
            <a:r>
              <a:rPr lang="en-US" altLang="ko-KR" dirty="0">
                <a:sym typeface="Wingdings" panose="05000000000000000000" pitchFamily="2" charset="2"/>
              </a:rPr>
              <a:t>; but, </a:t>
            </a:r>
            <a:r>
              <a:rPr lang="ko-KR" altLang="en-US" dirty="0">
                <a:sym typeface="Wingdings" panose="05000000000000000000" pitchFamily="2" charset="2"/>
              </a:rPr>
              <a:t>사유지의 비극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자원의 과소사용</a:t>
            </a:r>
            <a:endParaRPr lang="en-US" altLang="ko-KR" dirty="0">
              <a:sym typeface="Wingdings" panose="05000000000000000000" pitchFamily="2" charset="2"/>
            </a:endParaRPr>
          </a:p>
          <a:p>
            <a:r>
              <a:rPr lang="ko-KR" altLang="en-US" b="1" dirty="0">
                <a:sym typeface="Wingdings" panose="05000000000000000000" pitchFamily="2" charset="2"/>
              </a:rPr>
              <a:t>공공재 </a:t>
            </a:r>
            <a:r>
              <a:rPr lang="en-US" altLang="ko-KR" b="1" dirty="0">
                <a:sym typeface="Wingdings" panose="05000000000000000000" pitchFamily="2" charset="2"/>
              </a:rPr>
              <a:t>: </a:t>
            </a:r>
            <a:r>
              <a:rPr lang="ko-KR" altLang="en-US" b="1" dirty="0">
                <a:sym typeface="Wingdings" panose="05000000000000000000" pitchFamily="2" charset="2"/>
              </a:rPr>
              <a:t>조세와 정부보조금</a:t>
            </a:r>
            <a:endParaRPr lang="en-US" altLang="ko-KR" b="1" dirty="0">
              <a:sym typeface="Wingdings" panose="05000000000000000000" pitchFamily="2" charset="2"/>
            </a:endParaRPr>
          </a:p>
          <a:p>
            <a:pPr lvl="1"/>
            <a:r>
              <a:rPr lang="en-US" altLang="ko-KR" dirty="0">
                <a:sym typeface="Wingdings" panose="05000000000000000000" pitchFamily="2" charset="2"/>
              </a:rPr>
              <a:t>“</a:t>
            </a:r>
            <a:r>
              <a:rPr lang="ko-KR" altLang="en-US" dirty="0">
                <a:sym typeface="Wingdings" panose="05000000000000000000" pitchFamily="2" charset="2"/>
              </a:rPr>
              <a:t>긍정적 외부효과가 있을 경우 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ko-KR" altLang="en-US" dirty="0">
                <a:sym typeface="Wingdings" panose="05000000000000000000" pitchFamily="2" charset="2"/>
              </a:rPr>
              <a:t>공공재의 생산을 활성화 위해 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ko-KR" altLang="en-US" dirty="0">
                <a:sym typeface="Wingdings" panose="05000000000000000000" pitchFamily="2" charset="2"/>
              </a:rPr>
              <a:t>얼만큼의 보조금</a:t>
            </a:r>
            <a:r>
              <a:rPr lang="en-US" altLang="ko-KR" dirty="0">
                <a:sym typeface="Wingdings" panose="05000000000000000000" pitchFamily="2" charset="2"/>
              </a:rPr>
              <a:t>?”</a:t>
            </a:r>
          </a:p>
          <a:p>
            <a:pPr lvl="2"/>
            <a:r>
              <a:rPr lang="ko-KR" altLang="en-US" dirty="0">
                <a:sym typeface="Wingdings" panose="05000000000000000000" pitchFamily="2" charset="2"/>
              </a:rPr>
              <a:t>직접 정부가 공공재 공급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직접적 시장 개입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ko-KR" altLang="en-US" dirty="0">
                <a:sym typeface="Wingdings" panose="05000000000000000000" pitchFamily="2" charset="2"/>
              </a:rPr>
              <a:t>공공재 생산 기업에 보조금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간접적 시장개입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en-US" altLang="ko-KR" dirty="0">
                <a:sym typeface="Wingdings" panose="05000000000000000000" pitchFamily="2" charset="2"/>
              </a:rPr>
              <a:t>1) </a:t>
            </a:r>
            <a:r>
              <a:rPr lang="ko-KR" altLang="en-US" dirty="0">
                <a:sym typeface="Wingdings" panose="05000000000000000000" pitchFamily="2" charset="2"/>
              </a:rPr>
              <a:t>정부 개입 전 </a:t>
            </a:r>
            <a:r>
              <a:rPr lang="en-US" altLang="ko-KR" dirty="0">
                <a:sym typeface="Wingdings" panose="05000000000000000000" pitchFamily="2" charset="2"/>
              </a:rPr>
              <a:t>:</a:t>
            </a:r>
            <a:r>
              <a:rPr lang="ko-KR" altLang="en-US" dirty="0">
                <a:sym typeface="Wingdings" panose="05000000000000000000" pitchFamily="2" charset="2"/>
              </a:rPr>
              <a:t>개별 소비자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ko-KR" altLang="en-US" dirty="0">
                <a:sym typeface="Wingdings" panose="05000000000000000000" pitchFamily="2" charset="2"/>
              </a:rPr>
              <a:t>는 </a:t>
            </a:r>
            <a:r>
              <a:rPr lang="en-US" altLang="ko-KR" dirty="0">
                <a:sym typeface="Wingdings" panose="05000000000000000000" pitchFamily="2" charset="2"/>
              </a:rPr>
              <a:t>MPB</a:t>
            </a:r>
            <a:r>
              <a:rPr lang="ko-KR" altLang="en-US" dirty="0">
                <a:sym typeface="Wingdings" panose="05000000000000000000" pitchFamily="2" charset="2"/>
              </a:rPr>
              <a:t>만 고려</a:t>
            </a:r>
            <a:r>
              <a:rPr lang="en-US" altLang="ko-KR" dirty="0">
                <a:sym typeface="Wingdings" panose="05000000000000000000" pitchFamily="2" charset="2"/>
              </a:rPr>
              <a:t>; </a:t>
            </a:r>
            <a:r>
              <a:rPr lang="ko-KR" altLang="en-US" dirty="0">
                <a:sym typeface="Wingdings" panose="05000000000000000000" pitchFamily="2" charset="2"/>
              </a:rPr>
              <a:t>이때 실제 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ko-KR" altLang="en-US" dirty="0">
                <a:sym typeface="Wingdings" panose="05000000000000000000" pitchFamily="2" charset="2"/>
              </a:rPr>
              <a:t>생산량은 </a:t>
            </a:r>
            <a:r>
              <a:rPr lang="en-US" altLang="ko-KR" dirty="0">
                <a:sym typeface="Wingdings" panose="05000000000000000000" pitchFamily="2" charset="2"/>
              </a:rPr>
              <a:t>Q1,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en-US" dirty="0" err="1">
                <a:sym typeface="Wingdings" panose="05000000000000000000" pitchFamily="2" charset="2"/>
              </a:rPr>
              <a:t>소잉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= </a:t>
            </a:r>
            <a:r>
              <a:rPr lang="en-US" altLang="ko-KR" dirty="0" err="1">
                <a:sym typeface="Wingdings" panose="05000000000000000000" pitchFamily="2" charset="2"/>
              </a:rPr>
              <a:t>b+e</a:t>
            </a:r>
            <a:r>
              <a:rPr lang="en-US" altLang="ko-KR" dirty="0">
                <a:sym typeface="Wingdings" panose="05000000000000000000" pitchFamily="2" charset="2"/>
              </a:rPr>
              <a:t>,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ko-KR" altLang="en-US" dirty="0" err="1">
                <a:sym typeface="Wingdings" panose="05000000000000000000" pitchFamily="2" charset="2"/>
              </a:rPr>
              <a:t>생잉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= </a:t>
            </a:r>
            <a:r>
              <a:rPr lang="en-US" altLang="ko-KR" dirty="0" err="1">
                <a:sym typeface="Wingdings" panose="05000000000000000000" pitchFamily="2" charset="2"/>
              </a:rPr>
              <a:t>h+l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en-US" altLang="ko-KR" dirty="0">
                <a:sym typeface="Wingdings" panose="05000000000000000000" pitchFamily="2" charset="2"/>
              </a:rPr>
              <a:t>but,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(</a:t>
            </a:r>
            <a:r>
              <a:rPr lang="ko-KR" altLang="en-US" dirty="0">
                <a:sym typeface="Wingdings" panose="05000000000000000000" pitchFamily="2" charset="2"/>
              </a:rPr>
              <a:t>정부가 인지한 바람직한 곡선</a:t>
            </a:r>
            <a:r>
              <a:rPr lang="en-US" altLang="ko-KR" dirty="0">
                <a:sym typeface="Wingdings" panose="05000000000000000000" pitchFamily="2" charset="2"/>
              </a:rPr>
              <a:t>)</a:t>
            </a:r>
            <a:r>
              <a:rPr lang="ko-KR" altLang="en-US" dirty="0">
                <a:sym typeface="Wingdings" panose="05000000000000000000" pitchFamily="2" charset="2"/>
              </a:rPr>
              <a:t>  </a:t>
            </a:r>
            <a:r>
              <a:rPr lang="en-US" altLang="ko-KR" dirty="0">
                <a:sym typeface="Wingdings" panose="05000000000000000000" pitchFamily="2" charset="2"/>
              </a:rPr>
              <a:t>= MSB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=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MPB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+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MEB; 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Ps-P* </a:t>
            </a:r>
            <a:r>
              <a:rPr lang="ko-KR" altLang="en-US" dirty="0">
                <a:sym typeface="Wingdings" panose="05000000000000000000" pitchFamily="2" charset="2"/>
              </a:rPr>
              <a:t>만큼의 보조금을 지급한다면</a:t>
            </a:r>
            <a:r>
              <a:rPr lang="en-US" altLang="ko-KR" dirty="0">
                <a:sym typeface="Wingdings" panose="05000000000000000000" pitchFamily="2" charset="2"/>
              </a:rPr>
              <a:t>?  </a:t>
            </a:r>
            <a:r>
              <a:rPr lang="ko-KR" altLang="en-US" dirty="0">
                <a:sym typeface="Wingdings" panose="05000000000000000000" pitchFamily="2" charset="2"/>
              </a:rPr>
              <a:t>소비가 </a:t>
            </a:r>
            <a:r>
              <a:rPr lang="en-US" altLang="ko-KR" dirty="0">
                <a:sym typeface="Wingdings" panose="05000000000000000000" pitchFamily="2" charset="2"/>
              </a:rPr>
              <a:t>(Q1  Q*)</a:t>
            </a:r>
            <a:r>
              <a:rPr lang="ko-KR" altLang="en-US" dirty="0">
                <a:sym typeface="Wingdings" panose="05000000000000000000" pitchFamily="2" charset="2"/>
              </a:rPr>
              <a:t>로 증가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ko-KR" altLang="en-US" dirty="0" err="1">
                <a:sym typeface="Wingdings" panose="05000000000000000000" pitchFamily="2" charset="2"/>
              </a:rPr>
              <a:t>소잉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= </a:t>
            </a:r>
            <a:r>
              <a:rPr lang="en-US" altLang="ko-KR" dirty="0" err="1">
                <a:sym typeface="Wingdings" panose="05000000000000000000" pitchFamily="2" charset="2"/>
              </a:rPr>
              <a:t>a+b+c+d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ko-KR" altLang="en-US" dirty="0" err="1">
                <a:sym typeface="Wingdings" panose="05000000000000000000" pitchFamily="2" charset="2"/>
              </a:rPr>
              <a:t>생잉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= </a:t>
            </a:r>
            <a:r>
              <a:rPr lang="en-US" altLang="ko-KR" dirty="0" err="1">
                <a:sym typeface="Wingdings" panose="05000000000000000000" pitchFamily="2" charset="2"/>
              </a:rPr>
              <a:t>e+f+g+h+l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ko-KR" altLang="en-US" dirty="0">
                <a:sym typeface="Wingdings" panose="05000000000000000000" pitchFamily="2" charset="2"/>
              </a:rPr>
              <a:t>정부의 </a:t>
            </a:r>
            <a:r>
              <a:rPr lang="en-US" altLang="ko-KR" dirty="0">
                <a:sym typeface="Wingdings" panose="05000000000000000000" pitchFamily="2" charset="2"/>
              </a:rPr>
              <a:t>dead weight loss = k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ko-KR" altLang="en-US" dirty="0">
                <a:sym typeface="Wingdings" panose="05000000000000000000" pitchFamily="2" charset="2"/>
              </a:rPr>
              <a:t>왜 개입</a:t>
            </a:r>
            <a:r>
              <a:rPr lang="en-US" altLang="ko-KR" dirty="0">
                <a:sym typeface="Wingdings" panose="05000000000000000000" pitchFamily="2" charset="2"/>
              </a:rPr>
              <a:t>?  n</a:t>
            </a:r>
            <a:r>
              <a:rPr lang="ko-KR" altLang="en-US" dirty="0">
                <a:sym typeface="Wingdings" panose="05000000000000000000" pitchFamily="2" charset="2"/>
              </a:rPr>
              <a:t>만큼의 </a:t>
            </a:r>
            <a:r>
              <a:rPr lang="en-US" altLang="ko-KR" dirty="0">
                <a:sym typeface="Wingdings" panose="05000000000000000000" pitchFamily="2" charset="2"/>
              </a:rPr>
              <a:t>MEB </a:t>
            </a:r>
            <a:r>
              <a:rPr lang="ko-KR" altLang="en-US" dirty="0">
                <a:sym typeface="Wingdings" panose="05000000000000000000" pitchFamily="2" charset="2"/>
              </a:rPr>
              <a:t>증가</a:t>
            </a:r>
            <a:r>
              <a:rPr lang="en-US" altLang="ko-KR" dirty="0">
                <a:sym typeface="Wingdings" panose="05000000000000000000" pitchFamily="2" charset="2"/>
              </a:rPr>
              <a:t>;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ko-KR" altLang="en-US" dirty="0">
                <a:sym typeface="Wingdings" panose="05000000000000000000" pitchFamily="2" charset="2"/>
              </a:rPr>
              <a:t>사회적 최적수준보다 적은 생산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보조금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외부성의 효과 충족</a:t>
            </a:r>
            <a:endParaRPr lang="en-US" altLang="ko-KR" dirty="0">
              <a:sym typeface="Wingdings" panose="05000000000000000000" pitchFamily="2" charset="2"/>
            </a:endParaRPr>
          </a:p>
          <a:p>
            <a:r>
              <a:rPr lang="ko-KR" altLang="en-US" b="1" dirty="0">
                <a:sym typeface="Wingdings" panose="05000000000000000000" pitchFamily="2" charset="2"/>
              </a:rPr>
              <a:t>공공재 </a:t>
            </a:r>
            <a:r>
              <a:rPr lang="en-US" altLang="ko-KR" b="1" dirty="0">
                <a:sym typeface="Wingdings" panose="05000000000000000000" pitchFamily="2" charset="2"/>
              </a:rPr>
              <a:t>: </a:t>
            </a:r>
            <a:r>
              <a:rPr lang="ko-KR" altLang="en-US" b="1" dirty="0">
                <a:sym typeface="Wingdings" panose="05000000000000000000" pitchFamily="2" charset="2"/>
              </a:rPr>
              <a:t>공공재의 직접공급</a:t>
            </a:r>
            <a:endParaRPr lang="en-US" altLang="ko-KR" b="1" dirty="0">
              <a:sym typeface="Wingdings" panose="05000000000000000000" pitchFamily="2" charset="2"/>
            </a:endParaRPr>
          </a:p>
          <a:p>
            <a:pPr lvl="1"/>
            <a:r>
              <a:rPr lang="ko-KR" altLang="en-US" dirty="0">
                <a:sym typeface="Wingdings" panose="05000000000000000000" pitchFamily="2" charset="2"/>
              </a:rPr>
              <a:t>공공재를 직접공급</a:t>
            </a:r>
            <a:r>
              <a:rPr lang="en-US" altLang="ko-KR" dirty="0">
                <a:sym typeface="Wingdings" panose="05000000000000000000" pitchFamily="2" charset="2"/>
              </a:rPr>
              <a:t>?  </a:t>
            </a:r>
            <a:r>
              <a:rPr lang="ko-KR" altLang="en-US" dirty="0">
                <a:sym typeface="Wingdings" panose="05000000000000000000" pitchFamily="2" charset="2"/>
              </a:rPr>
              <a:t>얼마나</a:t>
            </a:r>
            <a:r>
              <a:rPr lang="en-US" altLang="ko-KR" dirty="0">
                <a:sym typeface="Wingdings" panose="05000000000000000000" pitchFamily="2" charset="2"/>
              </a:rPr>
              <a:t>?</a:t>
            </a:r>
          </a:p>
          <a:p>
            <a:pPr lvl="1"/>
            <a:r>
              <a:rPr lang="ko-KR" altLang="en-US" dirty="0">
                <a:sym typeface="Wingdings" panose="05000000000000000000" pitchFamily="2" charset="2"/>
              </a:rPr>
              <a:t>추가적으로 공급되는 단위의 한계편익</a:t>
            </a:r>
            <a:r>
              <a:rPr lang="en-US" altLang="ko-KR" dirty="0">
                <a:sym typeface="Wingdings" panose="05000000000000000000" pitchFamily="2" charset="2"/>
              </a:rPr>
              <a:t>(MB)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= </a:t>
            </a:r>
            <a:r>
              <a:rPr lang="ko-KR" altLang="en-US" dirty="0">
                <a:sym typeface="Wingdings" panose="05000000000000000000" pitchFamily="2" charset="2"/>
              </a:rPr>
              <a:t>해당</a:t>
            </a:r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en-US" dirty="0">
                <a:sym typeface="Wingdings" panose="05000000000000000000" pitchFamily="2" charset="2"/>
              </a:rPr>
              <a:t>단위의 한계 비용</a:t>
            </a:r>
            <a:r>
              <a:rPr lang="en-US" altLang="ko-KR" dirty="0">
                <a:sym typeface="Wingdings" panose="05000000000000000000" pitchFamily="2" charset="2"/>
              </a:rPr>
              <a:t>(MC)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ko-KR" altLang="en-US" dirty="0">
                <a:sym typeface="Wingdings" panose="05000000000000000000" pitchFamily="2" charset="2"/>
              </a:rPr>
              <a:t>을</a:t>
            </a:r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en-US" dirty="0">
                <a:sym typeface="Wingdings" panose="05000000000000000000" pitchFamily="2" charset="2"/>
              </a:rPr>
              <a:t>만족할 때 까지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ko-KR" altLang="en-US" dirty="0">
                <a:sym typeface="Wingdings" panose="05000000000000000000" pitchFamily="2" charset="2"/>
              </a:rPr>
              <a:t>공공재</a:t>
            </a:r>
            <a:r>
              <a:rPr lang="en-US" altLang="ko-KR" dirty="0">
                <a:sym typeface="Wingdings" panose="05000000000000000000" pitchFamily="2" charset="2"/>
              </a:rPr>
              <a:t>: </a:t>
            </a:r>
            <a:r>
              <a:rPr lang="ko-KR" altLang="en-US" dirty="0">
                <a:sym typeface="Wingdings" panose="05000000000000000000" pitchFamily="2" charset="2"/>
              </a:rPr>
              <a:t>비경합재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사회적 한계편익의 계산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= (</a:t>
            </a:r>
            <a:r>
              <a:rPr lang="ko-KR" altLang="en-US" dirty="0">
                <a:sym typeface="Wingdings" panose="05000000000000000000" pitchFamily="2" charset="2"/>
              </a:rPr>
              <a:t>각 개인의 지불의사금액 </a:t>
            </a:r>
            <a:r>
              <a:rPr lang="en-US" altLang="ko-KR" dirty="0">
                <a:sym typeface="Wingdings" panose="05000000000000000000" pitchFamily="2" charset="2"/>
              </a:rPr>
              <a:t>X)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=(</a:t>
            </a:r>
            <a:r>
              <a:rPr lang="ko-KR" altLang="en-US" dirty="0">
                <a:sym typeface="Wingdings" panose="05000000000000000000" pitchFamily="2" charset="2"/>
              </a:rPr>
              <a:t>모든 소비자의 지불하려는 금액 합</a:t>
            </a:r>
            <a:r>
              <a:rPr lang="en-US" altLang="ko-KR" dirty="0">
                <a:sym typeface="Wingdings" panose="05000000000000000000" pitchFamily="2" charset="2"/>
              </a:rPr>
              <a:t>)</a:t>
            </a:r>
          </a:p>
          <a:p>
            <a:pPr lvl="2"/>
            <a:r>
              <a:rPr lang="ko-KR" altLang="en-US" dirty="0">
                <a:sym typeface="Wingdings" panose="05000000000000000000" pitchFamily="2" charset="2"/>
              </a:rPr>
              <a:t>소비자의 수요곡선을 수직으로 </a:t>
            </a:r>
            <a:r>
              <a:rPr lang="ko-KR" altLang="en-US" dirty="0" err="1">
                <a:sym typeface="Wingdings" panose="05000000000000000000" pitchFamily="2" charset="2"/>
              </a:rPr>
              <a:t>더한것</a:t>
            </a:r>
            <a:endParaRPr lang="en-US" altLang="ko-KR" dirty="0">
              <a:sym typeface="Wingdings" panose="05000000000000000000" pitchFamily="2" charset="2"/>
            </a:endParaRP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1D46B3B-76D8-8C0E-787E-354ED6AEFB39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pic>
        <p:nvPicPr>
          <p:cNvPr id="8" name="그림 7" descr="텍스트, 라인, 도표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569D42AC-B698-428F-B092-50B0D30D86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3016" y="2504728"/>
            <a:ext cx="3240359" cy="2088232"/>
          </a:xfrm>
          <a:prstGeom prst="rect">
            <a:avLst/>
          </a:prstGeom>
        </p:spPr>
      </p:pic>
      <p:pic>
        <p:nvPicPr>
          <p:cNvPr id="10" name="그림 9" descr="텍스트, 라인, 도표, 그래프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B38740B2-DC04-50EF-C012-A3A51AA6D1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4364" y="5512257"/>
            <a:ext cx="2247817" cy="18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8045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E4BBD38C-D38C-6558-9EEF-AD3AD864C0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9902F77D-E0BD-1ECE-D8C0-754D7CD87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비대칭 정보</a:t>
            </a:r>
            <a:r>
              <a:rPr lang="en-US" altLang="ko-KR" dirty="0"/>
              <a:t>, </a:t>
            </a:r>
            <a:r>
              <a:rPr lang="ko-KR" altLang="en-US" dirty="0"/>
              <a:t>유인설계의 문제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1C5C225-E2DC-040E-FA7C-9B0B6CB3557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86031F43-15B4-73CE-4646-4B043241A96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ko-KR" altLang="en-US" dirty="0"/>
              <a:t>리스크와 불확실성</a:t>
            </a:r>
            <a:endParaRPr lang="en-US" altLang="ko-KR" dirty="0"/>
          </a:p>
          <a:p>
            <a:pPr lvl="1"/>
            <a:r>
              <a:rPr lang="en-US" altLang="ko-KR" dirty="0"/>
              <a:t>Risk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 err="1"/>
              <a:t>헷징</a:t>
            </a:r>
            <a:r>
              <a:rPr lang="en-US" altLang="ko-KR" dirty="0"/>
              <a:t>(Hedging) : </a:t>
            </a:r>
            <a:r>
              <a:rPr lang="ko-KR" altLang="en-US" dirty="0"/>
              <a:t>위험을 분산</a:t>
            </a:r>
            <a:r>
              <a:rPr lang="en-US" altLang="ko-KR" dirty="0"/>
              <a:t>; </a:t>
            </a:r>
            <a:r>
              <a:rPr lang="ko-KR" altLang="en-US" dirty="0"/>
              <a:t>선물</a:t>
            </a:r>
            <a:r>
              <a:rPr lang="en-US" altLang="ko-KR" dirty="0"/>
              <a:t>/</a:t>
            </a:r>
            <a:r>
              <a:rPr lang="ko-KR" altLang="en-US" dirty="0"/>
              <a:t>옵션</a:t>
            </a:r>
            <a:r>
              <a:rPr lang="en-US" altLang="ko-KR" dirty="0"/>
              <a:t>/</a:t>
            </a:r>
            <a:r>
              <a:rPr lang="ko-KR" altLang="en-US" dirty="0" err="1"/>
              <a:t>자산포폴</a:t>
            </a:r>
            <a:endParaRPr lang="en-US" altLang="ko-KR" dirty="0"/>
          </a:p>
          <a:p>
            <a:pPr lvl="1"/>
            <a:r>
              <a:rPr lang="en-US" altLang="ko-KR" dirty="0"/>
              <a:t>Uncertainty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 err="1">
                <a:sym typeface="Wingdings" panose="05000000000000000000" pitchFamily="2" charset="2"/>
              </a:rPr>
              <a:t>풀링</a:t>
            </a:r>
            <a:r>
              <a:rPr lang="en-US" altLang="ko-KR" dirty="0">
                <a:sym typeface="Wingdings" panose="05000000000000000000" pitchFamily="2" charset="2"/>
              </a:rPr>
              <a:t>(Pooling) : </a:t>
            </a:r>
            <a:r>
              <a:rPr lang="ko-KR" altLang="en-US" dirty="0">
                <a:sym typeface="Wingdings" panose="05000000000000000000" pitchFamily="2" charset="2"/>
              </a:rPr>
              <a:t>단일 가격</a:t>
            </a:r>
            <a:r>
              <a:rPr lang="en-US" altLang="ko-KR" dirty="0">
                <a:sym typeface="Wingdings" panose="05000000000000000000" pitchFamily="2" charset="2"/>
              </a:rPr>
              <a:t>/</a:t>
            </a:r>
            <a:r>
              <a:rPr lang="ko-KR" altLang="en-US" dirty="0">
                <a:sym typeface="Wingdings" panose="05000000000000000000" pitchFamily="2" charset="2"/>
              </a:rPr>
              <a:t>정책을 적용하면 평균적으로 해소</a:t>
            </a:r>
            <a:endParaRPr lang="en-US" altLang="ko-KR" dirty="0">
              <a:sym typeface="Wingdings" panose="05000000000000000000" pitchFamily="2" charset="2"/>
            </a:endParaRPr>
          </a:p>
          <a:p>
            <a:pPr lvl="2"/>
            <a:r>
              <a:rPr lang="ko-KR" altLang="en-US" dirty="0">
                <a:sym typeface="Wingdings" panose="05000000000000000000" pitchFamily="2" charset="2"/>
              </a:rPr>
              <a:t>수요의 </a:t>
            </a:r>
            <a:r>
              <a:rPr lang="ko-KR" altLang="en-US" dirty="0" err="1">
                <a:sym typeface="Wingdings" panose="05000000000000000000" pitchFamily="2" charset="2"/>
              </a:rPr>
              <a:t>풀링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이질적이면 서로가 보완적임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ko-KR" altLang="en-US" dirty="0">
                <a:sym typeface="Wingdings" panose="05000000000000000000" pitchFamily="2" charset="2"/>
              </a:rPr>
              <a:t>각 사람의 위험</a:t>
            </a:r>
            <a:r>
              <a:rPr lang="en-US" altLang="ko-KR" dirty="0">
                <a:sym typeface="Wingdings" panose="05000000000000000000" pitchFamily="2" charset="2"/>
              </a:rPr>
              <a:t>/</a:t>
            </a:r>
            <a:r>
              <a:rPr lang="ko-KR" altLang="en-US" dirty="0">
                <a:sym typeface="Wingdings" panose="05000000000000000000" pitchFamily="2" charset="2"/>
              </a:rPr>
              <a:t>사건 이벤트가 다른 시점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보완성이 높을수록 보험의 안정성 높음</a:t>
            </a:r>
            <a:endParaRPr lang="en-US" altLang="ko-KR" dirty="0">
              <a:sym typeface="Wingdings" panose="05000000000000000000" pitchFamily="2" charset="2"/>
            </a:endParaRPr>
          </a:p>
          <a:p>
            <a:r>
              <a:rPr lang="ko-KR" altLang="en-US" dirty="0"/>
              <a:t>보험시장에서의 도덕적 해이</a:t>
            </a:r>
            <a:endParaRPr lang="en-US" altLang="ko-KR" dirty="0"/>
          </a:p>
          <a:p>
            <a:pPr lvl="1"/>
            <a:r>
              <a:rPr lang="ko-KR" altLang="en-US" dirty="0"/>
              <a:t>도덕적 해이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ko-KR" altLang="en-US" dirty="0"/>
              <a:t>착취 </a:t>
            </a:r>
            <a:r>
              <a:rPr lang="en-US" altLang="ko-KR" dirty="0"/>
              <a:t>: (</a:t>
            </a:r>
            <a:r>
              <a:rPr lang="ko-KR" altLang="en-US" dirty="0"/>
              <a:t>정보 많은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정보 부족</a:t>
            </a:r>
            <a:r>
              <a:rPr lang="en-US" altLang="ko-KR" dirty="0">
                <a:sym typeface="Wingdings" panose="05000000000000000000" pitchFamily="2" charset="2"/>
              </a:rPr>
              <a:t>)</a:t>
            </a:r>
          </a:p>
          <a:p>
            <a:pPr lvl="1"/>
            <a:r>
              <a:rPr lang="ko-KR" altLang="en-US" dirty="0">
                <a:sym typeface="Wingdings" panose="05000000000000000000" pitchFamily="2" charset="2"/>
              </a:rPr>
              <a:t>보험사의 대응</a:t>
            </a:r>
            <a:r>
              <a:rPr lang="en-US" altLang="ko-KR" dirty="0">
                <a:sym typeface="Wingdings" panose="05000000000000000000" pitchFamily="2" charset="2"/>
              </a:rPr>
              <a:t>: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ko-KR" altLang="en-US" dirty="0">
                <a:sym typeface="Wingdings" panose="05000000000000000000" pitchFamily="2" charset="2"/>
              </a:rPr>
              <a:t>어떻게 가입자 스스로 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ko-KR" altLang="en-US" dirty="0">
                <a:sym typeface="Wingdings" panose="05000000000000000000" pitchFamily="2" charset="2"/>
              </a:rPr>
              <a:t>사고예방</a:t>
            </a:r>
            <a:r>
              <a:rPr lang="en-US" altLang="ko-KR" dirty="0">
                <a:sym typeface="Wingdings" panose="05000000000000000000" pitchFamily="2" charset="2"/>
              </a:rPr>
              <a:t>?</a:t>
            </a:r>
          </a:p>
          <a:p>
            <a:pPr lvl="2"/>
            <a:r>
              <a:rPr lang="ko-KR" altLang="en-US" dirty="0">
                <a:sym typeface="Wingdings" panose="05000000000000000000" pitchFamily="2" charset="2"/>
              </a:rPr>
              <a:t>사고가 났을 때 가입자도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ko-KR" altLang="en-US" dirty="0">
                <a:sym typeface="Wingdings" panose="05000000000000000000" pitchFamily="2" charset="2"/>
              </a:rPr>
              <a:t>피해의 일부를 부담</a:t>
            </a:r>
            <a:r>
              <a:rPr lang="en-US" altLang="ko-KR" dirty="0">
                <a:sym typeface="Wingdings" panose="05000000000000000000" pitchFamily="2" charset="2"/>
              </a:rPr>
              <a:t>;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ko-KR" altLang="en-US" dirty="0">
                <a:sym typeface="Wingdings" panose="05000000000000000000" pitchFamily="2" charset="2"/>
              </a:rPr>
              <a:t>가입자 부담 비율이 </a:t>
            </a:r>
            <a:r>
              <a:rPr lang="en-US" altLang="ko-KR" dirty="0">
                <a:sym typeface="Wingdings" panose="05000000000000000000" pitchFamily="2" charset="2"/>
              </a:rPr>
              <a:t>100%</a:t>
            </a:r>
            <a:r>
              <a:rPr lang="ko-KR" altLang="en-US" dirty="0">
                <a:sym typeface="Wingdings" panose="05000000000000000000" pitchFamily="2" charset="2"/>
              </a:rPr>
              <a:t>보다 작은 이상 도덕적 해이 유인 존재</a:t>
            </a:r>
            <a:endParaRPr lang="en-US" altLang="ko-KR" dirty="0">
              <a:sym typeface="Wingdings" panose="05000000000000000000" pitchFamily="2" charset="2"/>
            </a:endParaRPr>
          </a:p>
          <a:p>
            <a:r>
              <a:rPr lang="ko-KR" altLang="en-US" dirty="0">
                <a:sym typeface="Wingdings" panose="05000000000000000000" pitchFamily="2" charset="2"/>
              </a:rPr>
              <a:t>유인설계</a:t>
            </a:r>
            <a:r>
              <a:rPr lang="en-US" altLang="ko-KR" dirty="0">
                <a:sym typeface="Wingdings" panose="05000000000000000000" pitchFamily="2" charset="2"/>
              </a:rPr>
              <a:t>(Mechanism/Incentive design)</a:t>
            </a:r>
            <a:r>
              <a:rPr lang="ko-KR" altLang="en-US" dirty="0">
                <a:sym typeface="Wingdings" panose="05000000000000000000" pitchFamily="2" charset="2"/>
              </a:rPr>
              <a:t>의 문제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en-US" altLang="ko-KR" dirty="0">
                <a:sym typeface="Wingdings" panose="05000000000000000000" pitchFamily="2" charset="2"/>
              </a:rPr>
              <a:t>“</a:t>
            </a:r>
            <a:r>
              <a:rPr lang="ko-KR" altLang="en-US" dirty="0">
                <a:sym typeface="Wingdings" panose="05000000000000000000" pitchFamily="2" charset="2"/>
              </a:rPr>
              <a:t>어떻게 주인</a:t>
            </a:r>
            <a:r>
              <a:rPr lang="en-US" altLang="ko-KR" dirty="0">
                <a:sym typeface="Wingdings" panose="05000000000000000000" pitchFamily="2" charset="2"/>
              </a:rPr>
              <a:t>-</a:t>
            </a:r>
            <a:r>
              <a:rPr lang="ko-KR" altLang="en-US" dirty="0">
                <a:sym typeface="Wingdings" panose="05000000000000000000" pitchFamily="2" charset="2"/>
              </a:rPr>
              <a:t>대리인 문제 해결</a:t>
            </a:r>
            <a:r>
              <a:rPr lang="en-US" altLang="ko-KR" dirty="0">
                <a:sym typeface="Wingdings" panose="05000000000000000000" pitchFamily="2" charset="2"/>
              </a:rPr>
              <a:t>?”</a:t>
            </a:r>
          </a:p>
          <a:p>
            <a:pPr lvl="2"/>
            <a:r>
              <a:rPr lang="ko-KR" altLang="en-US" dirty="0">
                <a:sym typeface="Wingdings" panose="05000000000000000000" pitchFamily="2" charset="2"/>
              </a:rPr>
              <a:t>노동자 고용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열심히</a:t>
            </a:r>
            <a:r>
              <a:rPr lang="en-US" altLang="ko-KR" dirty="0">
                <a:sym typeface="Wingdings" panose="05000000000000000000" pitchFamily="2" charset="2"/>
              </a:rPr>
              <a:t>? (</a:t>
            </a:r>
            <a:r>
              <a:rPr lang="ko-KR" altLang="en-US" dirty="0">
                <a:sym typeface="Wingdings" panose="05000000000000000000" pitchFamily="2" charset="2"/>
              </a:rPr>
              <a:t>고용주가 </a:t>
            </a:r>
            <a:r>
              <a:rPr lang="ko-KR" altLang="en-US" dirty="0" err="1">
                <a:sym typeface="Wingdings" panose="05000000000000000000" pitchFamily="2" charset="2"/>
              </a:rPr>
              <a:t>안볼때</a:t>
            </a:r>
            <a:r>
              <a:rPr lang="ko-KR" altLang="en-US" dirty="0">
                <a:sym typeface="Wingdings" panose="05000000000000000000" pitchFamily="2" charset="2"/>
              </a:rPr>
              <a:t> 놀 인센티브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비대칭 정보</a:t>
            </a:r>
            <a:r>
              <a:rPr lang="en-US" altLang="ko-KR" dirty="0">
                <a:sym typeface="Wingdings" panose="05000000000000000000" pitchFamily="2" charset="2"/>
              </a:rPr>
              <a:t>)  </a:t>
            </a:r>
            <a:r>
              <a:rPr lang="ko-KR" altLang="en-US" dirty="0">
                <a:sym typeface="Wingdings" panose="05000000000000000000" pitchFamily="2" charset="2"/>
              </a:rPr>
              <a:t>어떻게 </a:t>
            </a:r>
            <a:r>
              <a:rPr lang="ko-KR" altLang="en-US" dirty="0" err="1">
                <a:sym typeface="Wingdings" panose="05000000000000000000" pitchFamily="2" charset="2"/>
              </a:rPr>
              <a:t>안볼때도</a:t>
            </a:r>
            <a:r>
              <a:rPr lang="ko-KR" altLang="en-US" dirty="0">
                <a:sym typeface="Wingdings" panose="05000000000000000000" pitchFamily="2" charset="2"/>
              </a:rPr>
              <a:t> 열심히</a:t>
            </a:r>
            <a:r>
              <a:rPr lang="en-US" altLang="ko-KR" dirty="0">
                <a:sym typeface="Wingdings" panose="05000000000000000000" pitchFamily="2" charset="2"/>
              </a:rPr>
              <a:t>?</a:t>
            </a:r>
          </a:p>
          <a:p>
            <a:pPr lvl="1"/>
            <a:r>
              <a:rPr lang="ko-KR" altLang="en-US" dirty="0"/>
              <a:t>양복점 예제의 상황</a:t>
            </a:r>
            <a:endParaRPr lang="en-US" altLang="ko-KR" dirty="0"/>
          </a:p>
          <a:p>
            <a:pPr lvl="2"/>
            <a:r>
              <a:rPr lang="ko-KR" altLang="en-US" dirty="0"/>
              <a:t>기업주는 어떤 여건이 나타날지</a:t>
            </a:r>
            <a:br>
              <a:rPr lang="en-US" altLang="ko-KR" dirty="0"/>
            </a:br>
            <a:r>
              <a:rPr lang="ko-KR" altLang="en-US" dirty="0"/>
              <a:t>모름</a:t>
            </a:r>
            <a:endParaRPr lang="en-US" altLang="ko-KR" dirty="0"/>
          </a:p>
          <a:p>
            <a:pPr lvl="2"/>
            <a:r>
              <a:rPr lang="ko-KR" altLang="en-US" dirty="0"/>
              <a:t>재단사의 목표 </a:t>
            </a:r>
            <a:r>
              <a:rPr lang="en-US" altLang="ko-KR" dirty="0"/>
              <a:t>: </a:t>
            </a:r>
            <a:r>
              <a:rPr lang="ko-KR" altLang="en-US" dirty="0"/>
              <a:t>순임금의 극대화</a:t>
            </a:r>
            <a:endParaRPr lang="en-US" altLang="ko-KR" dirty="0"/>
          </a:p>
          <a:p>
            <a:pPr lvl="2"/>
            <a:r>
              <a:rPr lang="ko-KR" altLang="en-US" dirty="0"/>
              <a:t>재단사 노력에 따르는 비용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en-US" altLang="ko-KR" dirty="0"/>
              <a:t>C = 0.5a; a=1</a:t>
            </a:r>
            <a:r>
              <a:rPr lang="ko-KR" altLang="en-US" dirty="0"/>
              <a:t>이면 </a:t>
            </a:r>
            <a:r>
              <a:rPr lang="en-US" altLang="ko-KR" dirty="0"/>
              <a:t>C = 0.5</a:t>
            </a:r>
            <a:r>
              <a:rPr lang="ko-KR" altLang="en-US" dirty="0"/>
              <a:t>억</a:t>
            </a:r>
            <a:endParaRPr lang="en-US" altLang="ko-KR" dirty="0"/>
          </a:p>
          <a:p>
            <a:pPr lvl="1"/>
            <a:r>
              <a:rPr lang="ko-KR" altLang="en-US" dirty="0"/>
              <a:t>양복점 예제의 해답</a:t>
            </a:r>
            <a:endParaRPr lang="en-US" altLang="ko-KR" dirty="0"/>
          </a:p>
          <a:p>
            <a:pPr lvl="2"/>
            <a:r>
              <a:rPr lang="en-US" altLang="ko-KR" dirty="0"/>
              <a:t>1) </a:t>
            </a:r>
            <a:r>
              <a:rPr lang="ko-KR" altLang="en-US" dirty="0"/>
              <a:t>재단사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고정임금</a:t>
            </a:r>
            <a:r>
              <a:rPr lang="en-US" altLang="ko-KR" dirty="0">
                <a:sym typeface="Wingdings" panose="05000000000000000000" pitchFamily="2" charset="2"/>
              </a:rPr>
              <a:t> ex)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8000</a:t>
            </a:r>
            <a:r>
              <a:rPr lang="ko-KR" altLang="en-US" dirty="0">
                <a:sym typeface="Wingdings" panose="05000000000000000000" pitchFamily="2" charset="2"/>
              </a:rPr>
              <a:t>만</a:t>
            </a:r>
            <a:r>
              <a:rPr lang="en-US" altLang="ko-KR" dirty="0">
                <a:sym typeface="Wingdings" panose="05000000000000000000" pitchFamily="2" charset="2"/>
              </a:rPr>
              <a:t> : </a:t>
            </a:r>
            <a:r>
              <a:rPr lang="ko-KR" altLang="en-US" dirty="0">
                <a:sym typeface="Wingdings" panose="05000000000000000000" pitchFamily="2" charset="2"/>
              </a:rPr>
              <a:t>재단사 </a:t>
            </a:r>
            <a:r>
              <a:rPr lang="en-US" altLang="ko-KR" dirty="0">
                <a:sym typeface="Wingdings" panose="05000000000000000000" pitchFamily="2" charset="2"/>
              </a:rPr>
              <a:t> a=0; 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ko-KR" altLang="en-US" dirty="0">
                <a:sym typeface="Wingdings" panose="05000000000000000000" pitchFamily="2" charset="2"/>
              </a:rPr>
              <a:t>기업주 기대순이익 </a:t>
            </a:r>
            <a:r>
              <a:rPr lang="en-US" altLang="ko-KR" dirty="0">
                <a:sym typeface="Wingdings" panose="05000000000000000000" pitchFamily="2" charset="2"/>
              </a:rPr>
              <a:t>= (0.5*2 + 0.5*4)-0.8 = 2.2</a:t>
            </a:r>
            <a:r>
              <a:rPr lang="ko-KR" altLang="en-US" dirty="0">
                <a:sym typeface="Wingdings" panose="05000000000000000000" pitchFamily="2" charset="2"/>
              </a:rPr>
              <a:t>억</a:t>
            </a:r>
            <a:endParaRPr lang="en-US" altLang="ko-KR" dirty="0">
              <a:sym typeface="Wingdings" panose="05000000000000000000" pitchFamily="2" charset="2"/>
            </a:endParaRPr>
          </a:p>
          <a:p>
            <a:pPr lvl="2"/>
            <a:r>
              <a:rPr lang="en-US" altLang="ko-KR" dirty="0">
                <a:sym typeface="Wingdings" panose="05000000000000000000" pitchFamily="2" charset="2"/>
              </a:rPr>
              <a:t>2) </a:t>
            </a:r>
            <a:r>
              <a:rPr lang="ko-KR" altLang="en-US" dirty="0">
                <a:sym typeface="Wingdings" panose="05000000000000000000" pitchFamily="2" charset="2"/>
              </a:rPr>
              <a:t>재단사의 노력 반영하는 임금 </a:t>
            </a:r>
            <a:r>
              <a:rPr lang="en-US" altLang="ko-KR" dirty="0">
                <a:sym typeface="Wingdings" panose="05000000000000000000" pitchFamily="2" charset="2"/>
              </a:rPr>
              <a:t>ex) </a:t>
            </a:r>
            <a:r>
              <a:rPr lang="ko-KR" altLang="en-US" dirty="0">
                <a:sym typeface="Wingdings" panose="05000000000000000000" pitchFamily="2" charset="2"/>
              </a:rPr>
              <a:t>이윤 </a:t>
            </a:r>
            <a:r>
              <a:rPr lang="en-US" altLang="ko-KR" dirty="0">
                <a:sym typeface="Wingdings" panose="05000000000000000000" pitchFamily="2" charset="2"/>
              </a:rPr>
              <a:t>=( 2</a:t>
            </a:r>
            <a:r>
              <a:rPr lang="ko-KR" altLang="en-US" dirty="0">
                <a:sym typeface="Wingdings" panose="05000000000000000000" pitchFamily="2" charset="2"/>
              </a:rPr>
              <a:t>억 </a:t>
            </a:r>
            <a:r>
              <a:rPr lang="en-US" altLang="ko-KR" dirty="0">
                <a:sym typeface="Wingdings" panose="05000000000000000000" pitchFamily="2" charset="2"/>
              </a:rPr>
              <a:t>or 4</a:t>
            </a:r>
            <a:r>
              <a:rPr lang="ko-KR" altLang="en-US" dirty="0">
                <a:sym typeface="Wingdings" panose="05000000000000000000" pitchFamily="2" charset="2"/>
              </a:rPr>
              <a:t>억</a:t>
            </a:r>
            <a:r>
              <a:rPr lang="en-US" altLang="ko-KR" dirty="0">
                <a:sym typeface="Wingdings" panose="05000000000000000000" pitchFamily="2" charset="2"/>
              </a:rPr>
              <a:t>)  </a:t>
            </a:r>
            <a:r>
              <a:rPr lang="ko-KR" altLang="en-US" dirty="0">
                <a:sym typeface="Wingdings" panose="05000000000000000000" pitchFamily="2" charset="2"/>
              </a:rPr>
              <a:t>연봉</a:t>
            </a:r>
            <a:r>
              <a:rPr lang="en-US" altLang="ko-KR" dirty="0">
                <a:sym typeface="Wingdings" panose="05000000000000000000" pitchFamily="2" charset="2"/>
              </a:rPr>
              <a:t> = 4</a:t>
            </a:r>
            <a:r>
              <a:rPr lang="ko-KR" altLang="en-US" dirty="0">
                <a:sym typeface="Wingdings" panose="05000000000000000000" pitchFamily="2" charset="2"/>
              </a:rPr>
              <a:t>천만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ko-KR" altLang="en-US" dirty="0">
                <a:sym typeface="Wingdings" panose="05000000000000000000" pitchFamily="2" charset="2"/>
              </a:rPr>
              <a:t>이윤 </a:t>
            </a:r>
            <a:r>
              <a:rPr lang="en-US" altLang="ko-KR" dirty="0">
                <a:sym typeface="Wingdings" panose="05000000000000000000" pitchFamily="2" charset="2"/>
              </a:rPr>
              <a:t>= 8</a:t>
            </a:r>
            <a:r>
              <a:rPr lang="ko-KR" altLang="en-US" dirty="0">
                <a:sym typeface="Wingdings" panose="05000000000000000000" pitchFamily="2" charset="2"/>
              </a:rPr>
              <a:t>억</a:t>
            </a:r>
            <a:r>
              <a:rPr lang="en-US" altLang="ko-KR" dirty="0">
                <a:sym typeface="Wingdings" panose="05000000000000000000" pitchFamily="2" charset="2"/>
              </a:rPr>
              <a:t>  </a:t>
            </a:r>
            <a:r>
              <a:rPr lang="ko-KR" altLang="en-US" dirty="0">
                <a:sym typeface="Wingdings" panose="05000000000000000000" pitchFamily="2" charset="2"/>
              </a:rPr>
              <a:t>연봉 </a:t>
            </a:r>
            <a:r>
              <a:rPr lang="en-US" altLang="ko-KR" dirty="0">
                <a:sym typeface="Wingdings" panose="05000000000000000000" pitchFamily="2" charset="2"/>
              </a:rPr>
              <a:t>= 2</a:t>
            </a:r>
            <a:r>
              <a:rPr lang="ko-KR" altLang="en-US" dirty="0">
                <a:sym typeface="Wingdings" panose="05000000000000000000" pitchFamily="2" charset="2"/>
              </a:rPr>
              <a:t>억 </a:t>
            </a:r>
            <a:r>
              <a:rPr lang="en-US" altLang="ko-KR" dirty="0">
                <a:sym typeface="Wingdings" panose="05000000000000000000" pitchFamily="2" charset="2"/>
              </a:rPr>
              <a:t>4</a:t>
            </a:r>
            <a:r>
              <a:rPr lang="ko-KR" altLang="en-US" dirty="0">
                <a:sym typeface="Wingdings" panose="05000000000000000000" pitchFamily="2" charset="2"/>
              </a:rPr>
              <a:t>천만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ko-KR" altLang="en-US" dirty="0">
                <a:sym typeface="Wingdings" panose="05000000000000000000" pitchFamily="2" charset="2"/>
              </a:rPr>
              <a:t>재단사 </a:t>
            </a:r>
            <a:r>
              <a:rPr lang="en-US" altLang="ko-KR" dirty="0">
                <a:sym typeface="Wingdings" panose="05000000000000000000" pitchFamily="2" charset="2"/>
              </a:rPr>
              <a:t>: a=0  </a:t>
            </a:r>
            <a:r>
              <a:rPr lang="ko-KR" altLang="en-US" dirty="0">
                <a:sym typeface="Wingdings" panose="05000000000000000000" pitchFamily="2" charset="2"/>
              </a:rPr>
              <a:t>연봉 </a:t>
            </a:r>
            <a:r>
              <a:rPr lang="en-US" altLang="ko-KR" dirty="0">
                <a:sym typeface="Wingdings" panose="05000000000000000000" pitchFamily="2" charset="2"/>
              </a:rPr>
              <a:t>= 0.4</a:t>
            </a:r>
            <a:r>
              <a:rPr lang="ko-KR" altLang="en-US" dirty="0">
                <a:sym typeface="Wingdings" panose="05000000000000000000" pitchFamily="2" charset="2"/>
              </a:rPr>
              <a:t>억</a:t>
            </a:r>
            <a:r>
              <a:rPr lang="en-US" altLang="ko-KR" dirty="0">
                <a:sym typeface="Wingdings" panose="05000000000000000000" pitchFamily="2" charset="2"/>
              </a:rPr>
              <a:t>; a=1  </a:t>
            </a:r>
            <a:r>
              <a:rPr lang="ko-KR" altLang="en-US" dirty="0">
                <a:sym typeface="Wingdings" panose="05000000000000000000" pitchFamily="2" charset="2"/>
              </a:rPr>
              <a:t>연봉 </a:t>
            </a:r>
            <a:r>
              <a:rPr lang="en-US" altLang="ko-KR" dirty="0">
                <a:sym typeface="Wingdings" panose="05000000000000000000" pitchFamily="2" charset="2"/>
              </a:rPr>
              <a:t>= 0.5*0.4+0.5*2.4 – 0.5 = 0.9</a:t>
            </a:r>
            <a:r>
              <a:rPr lang="ko-KR" altLang="en-US" dirty="0">
                <a:sym typeface="Wingdings" panose="05000000000000000000" pitchFamily="2" charset="2"/>
              </a:rPr>
              <a:t>억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재단사는 가장 높은 수준의 노력을 할 것으로 예상</a:t>
            </a:r>
            <a:r>
              <a:rPr lang="en-US" altLang="ko-KR" dirty="0">
                <a:sym typeface="Wingdings" panose="05000000000000000000" pitchFamily="2" charset="2"/>
              </a:rPr>
              <a:t>: </a:t>
            </a:r>
            <a:r>
              <a:rPr lang="ko-KR" altLang="en-US" dirty="0">
                <a:sym typeface="Wingdings" panose="05000000000000000000" pitchFamily="2" charset="2"/>
              </a:rPr>
              <a:t>파레토 개선</a:t>
            </a:r>
            <a:endParaRPr lang="en-US" altLang="ko-KR" dirty="0">
              <a:sym typeface="Wingdings" panose="05000000000000000000" pitchFamily="2" charset="2"/>
            </a:endParaRPr>
          </a:p>
          <a:p>
            <a:pPr lvl="2"/>
            <a:r>
              <a:rPr lang="en-US" altLang="ko-KR" dirty="0">
                <a:sym typeface="Wingdings" panose="05000000000000000000" pitchFamily="2" charset="2"/>
              </a:rPr>
              <a:t>3) </a:t>
            </a:r>
            <a:r>
              <a:rPr lang="ko-KR" altLang="en-US" dirty="0">
                <a:sym typeface="Wingdings" panose="05000000000000000000" pitchFamily="2" charset="2"/>
              </a:rPr>
              <a:t>이익의 공유</a:t>
            </a:r>
            <a:r>
              <a:rPr lang="en-US" altLang="ko-KR" dirty="0">
                <a:sym typeface="Wingdings" panose="05000000000000000000" pitchFamily="2" charset="2"/>
              </a:rPr>
              <a:t>: </a:t>
            </a:r>
            <a:r>
              <a:rPr lang="ko-KR" altLang="en-US" dirty="0">
                <a:sym typeface="Wingdings" panose="05000000000000000000" pitchFamily="2" charset="2"/>
              </a:rPr>
              <a:t>기업주와 재단사가 이윤을 공유</a:t>
            </a:r>
            <a:r>
              <a:rPr lang="en-US" altLang="ko-KR" dirty="0">
                <a:sym typeface="Wingdings" panose="05000000000000000000" pitchFamily="2" charset="2"/>
              </a:rPr>
              <a:t> 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ex) 3</a:t>
            </a:r>
            <a:r>
              <a:rPr lang="ko-KR" altLang="en-US" dirty="0">
                <a:sym typeface="Wingdings" panose="05000000000000000000" pitchFamily="2" charset="2"/>
              </a:rPr>
              <a:t>억 </a:t>
            </a:r>
            <a:r>
              <a:rPr lang="en-US" altLang="ko-KR" dirty="0">
                <a:sym typeface="Wingdings" panose="05000000000000000000" pitchFamily="2" charset="2"/>
              </a:rPr>
              <a:t>&lt; </a:t>
            </a:r>
            <a:r>
              <a:rPr lang="ko-KR" altLang="en-US" dirty="0">
                <a:sym typeface="Wingdings" panose="05000000000000000000" pitchFamily="2" charset="2"/>
              </a:rPr>
              <a:t>이윤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연봉 </a:t>
            </a:r>
            <a:r>
              <a:rPr lang="en-US" altLang="ko-KR" dirty="0">
                <a:sym typeface="Wingdings" panose="05000000000000000000" pitchFamily="2" charset="2"/>
              </a:rPr>
              <a:t>= </a:t>
            </a:r>
            <a:r>
              <a:rPr lang="ko-KR" altLang="en-US" dirty="0">
                <a:sym typeface="Wingdings" panose="05000000000000000000" pitchFamily="2" charset="2"/>
              </a:rPr>
              <a:t>이윤</a:t>
            </a:r>
            <a:r>
              <a:rPr lang="en-US" altLang="ko-KR" dirty="0">
                <a:sym typeface="Wingdings" panose="05000000000000000000" pitchFamily="2" charset="2"/>
              </a:rPr>
              <a:t>*0.4; 3</a:t>
            </a:r>
            <a:r>
              <a:rPr lang="ko-KR" altLang="en-US" dirty="0">
                <a:sym typeface="Wingdings" panose="05000000000000000000" pitchFamily="2" charset="2"/>
              </a:rPr>
              <a:t>억 </a:t>
            </a:r>
            <a:r>
              <a:rPr lang="en-US" altLang="ko-KR" dirty="0">
                <a:sym typeface="Wingdings" panose="05000000000000000000" pitchFamily="2" charset="2"/>
              </a:rPr>
              <a:t>&gt;= </a:t>
            </a:r>
            <a:r>
              <a:rPr lang="ko-KR" altLang="en-US" dirty="0">
                <a:sym typeface="Wingdings" panose="05000000000000000000" pitchFamily="2" charset="2"/>
              </a:rPr>
              <a:t>이윤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연봉 </a:t>
            </a:r>
            <a:r>
              <a:rPr lang="en-US" altLang="ko-KR" dirty="0">
                <a:sym typeface="Wingdings" panose="05000000000000000000" pitchFamily="2" charset="2"/>
              </a:rPr>
              <a:t>= 0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W = 0.4(π-3) : pi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&lt;= 3</a:t>
            </a:r>
            <a:r>
              <a:rPr lang="ko-KR" altLang="en-US" dirty="0">
                <a:sym typeface="Wingdings" panose="05000000000000000000" pitchFamily="2" charset="2"/>
              </a:rPr>
              <a:t>인</a:t>
            </a:r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en-US" dirty="0">
                <a:sym typeface="Wingdings" panose="05000000000000000000" pitchFamily="2" charset="2"/>
              </a:rPr>
              <a:t>경우 </a:t>
            </a:r>
            <a:r>
              <a:rPr lang="en-US" altLang="ko-KR" dirty="0">
                <a:sym typeface="Wingdings" panose="05000000000000000000" pitchFamily="2" charset="2"/>
              </a:rPr>
              <a:t>W = 0</a:t>
            </a:r>
          </a:p>
          <a:p>
            <a:pPr lvl="2"/>
            <a:r>
              <a:rPr lang="ko-KR" altLang="en-US" dirty="0">
                <a:sym typeface="Wingdings" panose="05000000000000000000" pitchFamily="2" charset="2"/>
              </a:rPr>
              <a:t>주인</a:t>
            </a:r>
            <a:r>
              <a:rPr lang="en-US" altLang="ko-KR" dirty="0">
                <a:sym typeface="Wingdings" panose="05000000000000000000" pitchFamily="2" charset="2"/>
              </a:rPr>
              <a:t>-</a:t>
            </a:r>
            <a:r>
              <a:rPr lang="ko-KR" altLang="en-US" dirty="0">
                <a:sym typeface="Wingdings" panose="05000000000000000000" pitchFamily="2" charset="2"/>
              </a:rPr>
              <a:t>대리인 문제와 인센티브 디자인의 핵심 </a:t>
            </a:r>
            <a:r>
              <a:rPr lang="en-US" altLang="ko-KR" dirty="0">
                <a:sym typeface="Wingdings" panose="05000000000000000000" pitchFamily="2" charset="2"/>
              </a:rPr>
              <a:t>: </a:t>
            </a:r>
            <a:r>
              <a:rPr lang="ko-KR" altLang="en-US" dirty="0">
                <a:sym typeface="Wingdings" panose="05000000000000000000" pitchFamily="2" charset="2"/>
              </a:rPr>
              <a:t>많은 노력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많은 보수</a:t>
            </a:r>
            <a:endParaRPr lang="en-US" altLang="ko-KR" dirty="0">
              <a:sym typeface="Wingdings" panose="05000000000000000000" pitchFamily="2" charset="2"/>
            </a:endParaRPr>
          </a:p>
          <a:p>
            <a:pPr lvl="3"/>
            <a:r>
              <a:rPr lang="ko-KR" altLang="en-US" dirty="0">
                <a:sym typeface="Wingdings" panose="05000000000000000000" pitchFamily="2" charset="2"/>
              </a:rPr>
              <a:t>그럼 왜 고정임금을 유지하나</a:t>
            </a:r>
            <a:r>
              <a:rPr lang="en-US" altLang="ko-KR" dirty="0">
                <a:sym typeface="Wingdings" panose="05000000000000000000" pitchFamily="2" charset="2"/>
              </a:rPr>
              <a:t>?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모든 근로자가 일을 태만하는 거에서 효용</a:t>
            </a:r>
            <a:r>
              <a:rPr lang="en-US" altLang="ko-KR" dirty="0">
                <a:sym typeface="Wingdings" panose="05000000000000000000" pitchFamily="2" charset="2"/>
              </a:rPr>
              <a:t>X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1DDFD4E-FE96-E5C4-B5D3-B3D1D0631D16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pic>
        <p:nvPicPr>
          <p:cNvPr id="8" name="그림 7" descr="텍스트, 스크린샷, 폰트, 라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7D6CF880-FAE1-3606-0497-86B24B4401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4363" y="1568624"/>
            <a:ext cx="3096343" cy="1496635"/>
          </a:xfrm>
          <a:prstGeom prst="rect">
            <a:avLst/>
          </a:prstGeom>
        </p:spPr>
      </p:pic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7C04FD48-88A2-4A29-720A-99D81E1853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6525641"/>
              </p:ext>
            </p:extLst>
          </p:nvPr>
        </p:nvGraphicFramePr>
        <p:xfrm>
          <a:off x="3972911" y="4054169"/>
          <a:ext cx="2827795" cy="116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3480">
                  <a:extLst>
                    <a:ext uri="{9D8B030D-6E8A-4147-A177-3AD203B41FA5}">
                      <a16:colId xmlns:a16="http://schemas.microsoft.com/office/drawing/2014/main" val="4225487036"/>
                    </a:ext>
                  </a:extLst>
                </a:gridCol>
                <a:gridCol w="840105">
                  <a:extLst>
                    <a:ext uri="{9D8B030D-6E8A-4147-A177-3AD203B41FA5}">
                      <a16:colId xmlns:a16="http://schemas.microsoft.com/office/drawing/2014/main" val="1410612447"/>
                    </a:ext>
                  </a:extLst>
                </a:gridCol>
                <a:gridCol w="814210">
                  <a:extLst>
                    <a:ext uri="{9D8B030D-6E8A-4147-A177-3AD203B41FA5}">
                      <a16:colId xmlns:a16="http://schemas.microsoft.com/office/drawing/2014/main" val="4265710967"/>
                    </a:ext>
                  </a:extLst>
                </a:gridCol>
              </a:tblGrid>
              <a:tr h="142984">
                <a:tc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/>
                        <a:t>나쁜 여건</a:t>
                      </a:r>
                      <a:br>
                        <a:rPr lang="en-US" altLang="ko-KR" sz="1100" dirty="0"/>
                      </a:br>
                      <a:r>
                        <a:rPr lang="en-US" altLang="ko-KR" sz="1100" dirty="0"/>
                        <a:t>(p0=0.5)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/>
                        <a:t>좋은 여건</a:t>
                      </a:r>
                      <a:br>
                        <a:rPr lang="en-US" altLang="ko-KR" sz="1100" dirty="0"/>
                      </a:br>
                      <a:r>
                        <a:rPr lang="en-US" altLang="ko-KR" sz="1100" dirty="0"/>
                        <a:t>(p1=0.5)</a:t>
                      </a:r>
                      <a:endParaRPr lang="ko-KR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33807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/>
                        <a:t>적은 노력</a:t>
                      </a:r>
                      <a:r>
                        <a:rPr lang="en-US" altLang="ko-KR" sz="1100" dirty="0"/>
                        <a:t>(a=0)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/>
                        <a:t>2</a:t>
                      </a:r>
                      <a:r>
                        <a:rPr lang="ko-KR" altLang="en-US" sz="1100" dirty="0"/>
                        <a:t>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/>
                        <a:t>4</a:t>
                      </a:r>
                      <a:r>
                        <a:rPr lang="ko-KR" altLang="en-US" sz="1100" dirty="0"/>
                        <a:t>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09953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/>
                        <a:t>많은 노력</a:t>
                      </a:r>
                      <a:r>
                        <a:rPr lang="en-US" altLang="ko-KR" sz="1100" dirty="0"/>
                        <a:t>(a=1)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/>
                        <a:t>4</a:t>
                      </a:r>
                      <a:r>
                        <a:rPr lang="ko-KR" altLang="en-US" sz="1100" dirty="0"/>
                        <a:t>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/>
                        <a:t>8</a:t>
                      </a:r>
                      <a:r>
                        <a:rPr lang="ko-KR" altLang="en-US" sz="1100" dirty="0"/>
                        <a:t>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82730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609336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39ADA258-9E1F-AFBB-7371-E03CE9D297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64CC7A95-C02E-F2B9-D97D-7C3AF49FD2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완비정보 하에 쿠르노 경쟁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9A74FA3-FB18-610C-7B5D-7731D5EC342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A1B25E54-6355-F892-A5EC-DAABA16674F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ko-KR" altLang="en-US" b="1" dirty="0"/>
              <a:t>쿠르노 경쟁 시 알아야 할 사항</a:t>
            </a:r>
            <a:endParaRPr lang="en-US" altLang="ko-KR" b="1" dirty="0"/>
          </a:p>
          <a:p>
            <a:pPr lvl="1"/>
            <a:r>
              <a:rPr lang="en-US" altLang="ko-KR" dirty="0"/>
              <a:t>1) </a:t>
            </a:r>
            <a:r>
              <a:rPr lang="ko-KR" altLang="en-US" dirty="0"/>
              <a:t>기업의 행위 </a:t>
            </a:r>
            <a:r>
              <a:rPr lang="en-US" altLang="ko-KR" dirty="0">
                <a:sym typeface="Wingdings" panose="05000000000000000000" pitchFamily="2" charset="2"/>
              </a:rPr>
              <a:t> BRF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(</a:t>
            </a:r>
            <a:r>
              <a:rPr lang="ko-KR" altLang="en-US" dirty="0">
                <a:sym typeface="Wingdings" panose="05000000000000000000" pitchFamily="2" charset="2"/>
              </a:rPr>
              <a:t>최적반응함수</a:t>
            </a:r>
            <a:r>
              <a:rPr lang="en-US" altLang="ko-KR" dirty="0">
                <a:sym typeface="Wingdings" panose="05000000000000000000" pitchFamily="2" charset="2"/>
              </a:rPr>
              <a:t>)</a:t>
            </a:r>
          </a:p>
          <a:p>
            <a:pPr lvl="1"/>
            <a:r>
              <a:rPr lang="en-US" altLang="ko-KR" dirty="0">
                <a:sym typeface="Wingdings" panose="05000000000000000000" pitchFamily="2" charset="2"/>
              </a:rPr>
              <a:t>2) </a:t>
            </a:r>
            <a:r>
              <a:rPr lang="ko-KR" altLang="en-US" dirty="0">
                <a:sym typeface="Wingdings" panose="05000000000000000000" pitchFamily="2" charset="2"/>
              </a:rPr>
              <a:t>시장에 미치는 영향 </a:t>
            </a:r>
            <a:r>
              <a:rPr lang="en-US" altLang="ko-KR" dirty="0">
                <a:sym typeface="Wingdings" panose="05000000000000000000" pitchFamily="2" charset="2"/>
              </a:rPr>
              <a:t>= 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ko-KR" altLang="en-US" dirty="0">
                <a:sym typeface="Wingdings" panose="05000000000000000000" pitchFamily="2" charset="2"/>
              </a:rPr>
              <a:t>사회후생을 평가 가능</a:t>
            </a:r>
            <a:r>
              <a:rPr lang="en-US" altLang="ko-KR" dirty="0">
                <a:sym typeface="Wingdings" panose="05000000000000000000" pitchFamily="2" charset="2"/>
              </a:rPr>
              <a:t> 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ko-KR" altLang="en-US" dirty="0">
                <a:sym typeface="Wingdings" panose="05000000000000000000" pitchFamily="2" charset="2"/>
              </a:rPr>
              <a:t>시장수요함수 </a:t>
            </a:r>
            <a:r>
              <a:rPr lang="en-US" altLang="ko-KR" dirty="0">
                <a:sym typeface="Wingdings" panose="05000000000000000000" pitchFamily="2" charset="2"/>
              </a:rPr>
              <a:t>P(Q) = a-</a:t>
            </a:r>
            <a:r>
              <a:rPr lang="en-US" altLang="ko-KR" dirty="0" err="1">
                <a:sym typeface="Wingdings" panose="05000000000000000000" pitchFamily="2" charset="2"/>
              </a:rPr>
              <a:t>bQ</a:t>
            </a:r>
            <a:r>
              <a:rPr lang="en-US" altLang="ko-KR" dirty="0">
                <a:sym typeface="Wingdings" panose="05000000000000000000" pitchFamily="2" charset="2"/>
              </a:rPr>
              <a:t>;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Q = q1+q2;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ex)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P=1-Q; (a=b=1)</a:t>
            </a:r>
          </a:p>
          <a:p>
            <a:pPr lvl="1"/>
            <a:r>
              <a:rPr lang="en-US" altLang="ko-KR" dirty="0" err="1">
                <a:sym typeface="Wingdings" panose="05000000000000000000" pitchFamily="2" charset="2"/>
              </a:rPr>
              <a:t>a,b,c</a:t>
            </a:r>
            <a:r>
              <a:rPr lang="ko-KR" altLang="en-US" dirty="0">
                <a:sym typeface="Wingdings" panose="05000000000000000000" pitchFamily="2" charset="2"/>
              </a:rPr>
              <a:t>는 정해진 파라미터</a:t>
            </a:r>
            <a:r>
              <a:rPr lang="en-US" altLang="ko-KR" dirty="0">
                <a:sym typeface="Wingdings" panose="05000000000000000000" pitchFamily="2" charset="2"/>
              </a:rPr>
              <a:t>;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q1</a:t>
            </a:r>
            <a:r>
              <a:rPr lang="ko-KR" altLang="en-US" dirty="0">
                <a:sym typeface="Wingdings" panose="05000000000000000000" pitchFamily="2" charset="2"/>
              </a:rPr>
              <a:t>과 </a:t>
            </a:r>
            <a:r>
              <a:rPr lang="en-US" altLang="ko-KR" dirty="0">
                <a:sym typeface="Wingdings" panose="05000000000000000000" pitchFamily="2" charset="2"/>
              </a:rPr>
              <a:t>q2, q1</a:t>
            </a:r>
            <a:r>
              <a:rPr lang="ko-KR" altLang="en-US" dirty="0">
                <a:sym typeface="Wingdings" panose="05000000000000000000" pitchFamily="2" charset="2"/>
              </a:rPr>
              <a:t>과 </a:t>
            </a:r>
            <a:r>
              <a:rPr lang="en-US" altLang="ko-KR" dirty="0">
                <a:sym typeface="Wingdings" panose="05000000000000000000" pitchFamily="2" charset="2"/>
              </a:rPr>
              <a:t>c1</a:t>
            </a:r>
            <a:r>
              <a:rPr lang="ko-KR" altLang="en-US" dirty="0">
                <a:sym typeface="Wingdings" panose="05000000000000000000" pitchFamily="2" charset="2"/>
              </a:rPr>
              <a:t>은 반비례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a</a:t>
            </a:r>
            <a:r>
              <a:rPr lang="ko-KR" altLang="en-US" dirty="0">
                <a:sym typeface="Wingdings" panose="05000000000000000000" pitchFamily="2" charset="2"/>
              </a:rPr>
              <a:t>는 수요</a:t>
            </a:r>
            <a:r>
              <a:rPr lang="en-US" altLang="ko-KR" dirty="0">
                <a:sym typeface="Wingdings" panose="05000000000000000000" pitchFamily="2" charset="2"/>
              </a:rPr>
              <a:t>; </a:t>
            </a:r>
            <a:r>
              <a:rPr lang="ko-KR" altLang="en-US" dirty="0">
                <a:sym typeface="Wingdings" panose="05000000000000000000" pitchFamily="2" charset="2"/>
              </a:rPr>
              <a:t>수요와 </a:t>
            </a:r>
            <a:r>
              <a:rPr lang="en-US" altLang="ko-KR" dirty="0">
                <a:sym typeface="Wingdings" panose="05000000000000000000" pitchFamily="2" charset="2"/>
              </a:rPr>
              <a:t>q1</a:t>
            </a:r>
            <a:r>
              <a:rPr lang="ko-KR" altLang="en-US" dirty="0">
                <a:sym typeface="Wingdings" panose="05000000000000000000" pitchFamily="2" charset="2"/>
              </a:rPr>
              <a:t>은 비례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b="1" dirty="0"/>
              <a:t>완비 정보 하의 쿠르노 경쟁</a:t>
            </a:r>
            <a:endParaRPr lang="en-US" altLang="ko-KR" b="1" dirty="0"/>
          </a:p>
          <a:p>
            <a:pPr lvl="1"/>
            <a:r>
              <a:rPr lang="ko-KR" altLang="en-US" dirty="0"/>
              <a:t>쿠르노 경쟁 </a:t>
            </a:r>
            <a:r>
              <a:rPr lang="en-US" altLang="ko-KR" dirty="0">
                <a:sym typeface="Wingdings" panose="05000000000000000000" pitchFamily="2" charset="2"/>
              </a:rPr>
              <a:t></a:t>
            </a:r>
            <a:r>
              <a:rPr lang="en-US" altLang="ko-KR" dirty="0"/>
              <a:t> </a:t>
            </a:r>
            <a:r>
              <a:rPr lang="ko-KR" altLang="en-US" dirty="0"/>
              <a:t>수량경쟁</a:t>
            </a:r>
            <a:br>
              <a:rPr lang="en-US" altLang="ko-KR" dirty="0"/>
            </a:br>
            <a:r>
              <a:rPr lang="ko-KR" altLang="en-US" dirty="0"/>
              <a:t>비가격경쟁</a:t>
            </a:r>
            <a:r>
              <a:rPr lang="en-US" altLang="ko-KR" dirty="0"/>
              <a:t>(</a:t>
            </a:r>
            <a:r>
              <a:rPr lang="en-US" altLang="ko-KR" dirty="0" err="1"/>
              <a:t>RnD</a:t>
            </a:r>
            <a:r>
              <a:rPr lang="en-US" altLang="ko-KR" dirty="0"/>
              <a:t>, </a:t>
            </a:r>
            <a:r>
              <a:rPr lang="ko-KR" altLang="en-US" dirty="0"/>
              <a:t>광고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 err="1"/>
              <a:t>버틀란트</a:t>
            </a:r>
            <a:r>
              <a:rPr lang="ko-KR" altLang="en-US" dirty="0"/>
              <a:t> 경쟁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가격경쟁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ko-KR" altLang="en-US" dirty="0">
                <a:sym typeface="Wingdings" panose="05000000000000000000" pitchFamily="2" charset="2"/>
              </a:rPr>
              <a:t>전략적 </a:t>
            </a:r>
            <a:r>
              <a:rPr lang="ko-KR" altLang="en-US" dirty="0" err="1">
                <a:sym typeface="Wingdings" panose="05000000000000000000" pitchFamily="2" charset="2"/>
              </a:rPr>
              <a:t>보완재</a:t>
            </a:r>
            <a:r>
              <a:rPr lang="ko-KR" altLang="en-US" dirty="0">
                <a:sym typeface="Wingdings" panose="05000000000000000000" pitchFamily="2" charset="2"/>
              </a:rPr>
              <a:t> 관계</a:t>
            </a:r>
            <a:endParaRPr lang="en-US" altLang="ko-KR" dirty="0">
              <a:sym typeface="Wingdings" panose="05000000000000000000" pitchFamily="2" charset="2"/>
            </a:endParaRPr>
          </a:p>
          <a:p>
            <a:pPr lvl="2"/>
            <a:r>
              <a:rPr lang="en-US" altLang="ko-KR" dirty="0">
                <a:sym typeface="Wingdings" panose="05000000000000000000" pitchFamily="2" charset="2"/>
              </a:rPr>
              <a:t>But, </a:t>
            </a:r>
            <a:r>
              <a:rPr lang="ko-KR" altLang="en-US" dirty="0" err="1">
                <a:sym typeface="Wingdings" panose="05000000000000000000" pitchFamily="2" charset="2"/>
              </a:rPr>
              <a:t>쿠르노경쟁은</a:t>
            </a:r>
            <a:r>
              <a:rPr lang="ko-KR" altLang="en-US" dirty="0">
                <a:sym typeface="Wingdings" panose="05000000000000000000" pitchFamily="2" charset="2"/>
              </a:rPr>
              <a:t> 전략적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ko-KR" altLang="en-US" dirty="0">
                <a:sym typeface="Wingdings" panose="05000000000000000000" pitchFamily="2" charset="2"/>
              </a:rPr>
              <a:t>대체재 관계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ko-KR" altLang="en-US" dirty="0">
                <a:sym typeface="Wingdings" panose="05000000000000000000" pitchFamily="2" charset="2"/>
              </a:rPr>
              <a:t>수량경쟁의 대부분은 전략적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ko-KR" altLang="en-US" dirty="0">
                <a:sym typeface="Wingdings" panose="05000000000000000000" pitchFamily="2" charset="2"/>
              </a:rPr>
              <a:t>대체재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대체재 </a:t>
            </a:r>
            <a:r>
              <a:rPr lang="en-US" altLang="ko-KR" dirty="0">
                <a:sym typeface="Wingdings" panose="05000000000000000000" pitchFamily="2" charset="2"/>
              </a:rPr>
              <a:t>: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ko-KR" altLang="en-US" dirty="0">
                <a:sym typeface="Wingdings" panose="05000000000000000000" pitchFamily="2" charset="2"/>
              </a:rPr>
              <a:t>하나의 가격이 오르면</a:t>
            </a:r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en-US" dirty="0">
                <a:sym typeface="Wingdings" panose="05000000000000000000" pitchFamily="2" charset="2"/>
              </a:rPr>
              <a:t>대체재 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ko-KR" altLang="en-US" dirty="0">
                <a:sym typeface="Wingdings" panose="05000000000000000000" pitchFamily="2" charset="2"/>
              </a:rPr>
              <a:t>수요량이 오름</a:t>
            </a:r>
            <a:r>
              <a:rPr lang="en-US" altLang="ko-KR" dirty="0">
                <a:sym typeface="Wingdings" panose="05000000000000000000" pitchFamily="2" charset="2"/>
              </a:rPr>
              <a:t> (</a:t>
            </a:r>
            <a:r>
              <a:rPr lang="ko-KR" altLang="en-US" dirty="0">
                <a:sym typeface="Wingdings" panose="05000000000000000000" pitchFamily="2" charset="2"/>
              </a:rPr>
              <a:t>가격때문에 수량이 반대인 경우</a:t>
            </a:r>
            <a:r>
              <a:rPr lang="en-US" altLang="ko-KR" dirty="0">
                <a:sym typeface="Wingdings" panose="05000000000000000000" pitchFamily="2" charset="2"/>
              </a:rPr>
              <a:t>)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ko-KR" altLang="en-US" dirty="0">
                <a:sym typeface="Wingdings" panose="05000000000000000000" pitchFamily="2" charset="2"/>
              </a:rPr>
              <a:t>전략적 대체재 </a:t>
            </a:r>
            <a:r>
              <a:rPr lang="en-US" altLang="ko-KR" dirty="0">
                <a:sym typeface="Wingdings" panose="05000000000000000000" pitchFamily="2" charset="2"/>
              </a:rPr>
              <a:t>: </a:t>
            </a:r>
            <a:r>
              <a:rPr lang="ko-KR" altLang="en-US" dirty="0">
                <a:sym typeface="Wingdings" panose="05000000000000000000" pitchFamily="2" charset="2"/>
              </a:rPr>
              <a:t>수량을 늘림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이익 극대를 위해 생산을 줄임</a:t>
            </a:r>
            <a:r>
              <a:rPr lang="en-US" altLang="ko-KR" dirty="0">
                <a:sym typeface="Wingdings" panose="05000000000000000000" pitchFamily="2" charset="2"/>
              </a:rPr>
              <a:t> (</a:t>
            </a:r>
            <a:r>
              <a:rPr lang="ko-KR" altLang="en-US" dirty="0">
                <a:sym typeface="Wingdings" panose="05000000000000000000" pitchFamily="2" charset="2"/>
              </a:rPr>
              <a:t>이익극대화 땜에 수량이 반대방향인 경우</a:t>
            </a:r>
            <a:r>
              <a:rPr lang="en-US" altLang="ko-KR" dirty="0">
                <a:sym typeface="Wingdings" panose="05000000000000000000" pitchFamily="2" charset="2"/>
              </a:rPr>
              <a:t>)</a:t>
            </a:r>
          </a:p>
          <a:p>
            <a:pPr lvl="1"/>
            <a:r>
              <a:rPr lang="ko-KR" altLang="en-US" dirty="0" err="1"/>
              <a:t>보완재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 err="1"/>
              <a:t>가격땜에</a:t>
            </a:r>
            <a:r>
              <a:rPr lang="ko-KR" altLang="en-US" dirty="0"/>
              <a:t> 수요량의 방향이 같은 방향</a:t>
            </a:r>
            <a:br>
              <a:rPr lang="en-US" altLang="ko-KR" dirty="0"/>
            </a:br>
            <a:r>
              <a:rPr lang="ko-KR" altLang="en-US" dirty="0"/>
              <a:t>전략적 보완관계 </a:t>
            </a:r>
            <a:r>
              <a:rPr lang="en-US" altLang="ko-KR" dirty="0"/>
              <a:t>: (</a:t>
            </a:r>
            <a:r>
              <a:rPr lang="ko-KR" altLang="en-US" dirty="0"/>
              <a:t>상대방 수량을 증가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나도 수량 증가</a:t>
            </a:r>
            <a:r>
              <a:rPr lang="en-US" altLang="ko-KR" dirty="0">
                <a:sym typeface="Wingdings" panose="05000000000000000000" pitchFamily="2" charset="2"/>
              </a:rPr>
              <a:t>)</a:t>
            </a:r>
            <a:r>
              <a:rPr lang="ko-KR" altLang="en-US" dirty="0">
                <a:sym typeface="Wingdings" panose="05000000000000000000" pitchFamily="2" charset="2"/>
              </a:rPr>
              <a:t>가 옳은 경우</a:t>
            </a:r>
            <a:endParaRPr lang="en-US" altLang="ko-KR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5ECE444-14EB-703C-D0C2-8ED59F49C679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pic>
        <p:nvPicPr>
          <p:cNvPr id="8" name="그림 7" descr="텍스트, 폰트, 스크린샷, 번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CAC6C389-EBD5-2FB2-0BAA-B84229FEE8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5317" y="602840"/>
            <a:ext cx="2948058" cy="3990120"/>
          </a:xfrm>
          <a:prstGeom prst="rect">
            <a:avLst/>
          </a:prstGeom>
        </p:spPr>
      </p:pic>
      <p:pic>
        <p:nvPicPr>
          <p:cNvPr id="10" name="그림 9" descr="텍스트, 라인, 도표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DB122E0C-FEF4-72F1-1303-82A6CF3ABF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2997" y="5529063"/>
            <a:ext cx="2016225" cy="1423691"/>
          </a:xfrm>
          <a:prstGeom prst="rect">
            <a:avLst/>
          </a:prstGeom>
        </p:spPr>
      </p:pic>
      <p:pic>
        <p:nvPicPr>
          <p:cNvPr id="11" name="그림 10" descr="텍스트, 친필, 폰트, 번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5F0CDA9D-E0DC-BC1A-1E5F-D4B21CC9A18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5196" y="5529064"/>
            <a:ext cx="3478401" cy="2376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53712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E29BB70-A7EF-86B0-A256-0772B74BDC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AA6663EB-0BD6-B384-2BE7-C703FB4174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비대칭정보 하의 쿠르노 경쟁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8038D82-7895-3599-B017-700B5BE4FA7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06E1506E-D262-29DB-FF6F-CACCA1D0976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ko-KR" altLang="en-US" dirty="0"/>
              <a:t>비대칭 정보 하의 쿠르노 경쟁</a:t>
            </a:r>
            <a:endParaRPr lang="en-US" altLang="ko-KR" dirty="0"/>
          </a:p>
          <a:p>
            <a:pPr lvl="1"/>
            <a:r>
              <a:rPr lang="en-US" altLang="ko-KR" dirty="0"/>
              <a:t>P(Q) = a-</a:t>
            </a:r>
            <a:r>
              <a:rPr lang="en-US" altLang="ko-KR" dirty="0" err="1"/>
              <a:t>bQ</a:t>
            </a:r>
            <a:r>
              <a:rPr lang="en-US" altLang="ko-KR" dirty="0"/>
              <a:t>; </a:t>
            </a:r>
            <a:r>
              <a:rPr lang="ko-KR" altLang="en-US" dirty="0"/>
              <a:t>각</a:t>
            </a:r>
            <a:r>
              <a:rPr lang="en-US" altLang="ko-KR" dirty="0"/>
              <a:t> </a:t>
            </a:r>
            <a:r>
              <a:rPr lang="ko-KR" altLang="en-US" dirty="0"/>
              <a:t>기업의 한계 비용 </a:t>
            </a:r>
            <a:r>
              <a:rPr lang="en-US" altLang="ko-KR" dirty="0"/>
              <a:t>C1, C2;</a:t>
            </a:r>
          </a:p>
          <a:p>
            <a:pPr lvl="2"/>
            <a:r>
              <a:rPr lang="ko-KR" altLang="en-US" dirty="0"/>
              <a:t>기업</a:t>
            </a:r>
            <a:r>
              <a:rPr lang="en-US" altLang="ko-KR" dirty="0"/>
              <a:t>2</a:t>
            </a:r>
            <a:r>
              <a:rPr lang="ko-KR" altLang="en-US" dirty="0"/>
              <a:t>의 한계비용은 모든 기업이 알고 있다</a:t>
            </a:r>
            <a:endParaRPr lang="en-US" altLang="ko-KR" dirty="0"/>
          </a:p>
          <a:p>
            <a:pPr lvl="1"/>
            <a:r>
              <a:rPr lang="en-US" altLang="ko-KR" dirty="0"/>
              <a:t>C1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en-US" altLang="ko-KR" dirty="0"/>
              <a:t>a</a:t>
            </a:r>
            <a:r>
              <a:rPr lang="ko-KR" altLang="en-US" dirty="0"/>
              <a:t>의 확률로 </a:t>
            </a:r>
            <a:r>
              <a:rPr lang="en-US" altLang="ko-KR" dirty="0"/>
              <a:t>CL, (1-a)</a:t>
            </a:r>
            <a:r>
              <a:rPr lang="ko-KR" altLang="en-US" dirty="0"/>
              <a:t>의 확률로 </a:t>
            </a:r>
            <a:r>
              <a:rPr lang="en-US" altLang="ko-KR" dirty="0"/>
              <a:t>CH; CH &gt; CL</a:t>
            </a:r>
          </a:p>
          <a:p>
            <a:pPr lvl="2"/>
            <a:r>
              <a:rPr lang="en-US" altLang="ko-KR" dirty="0"/>
              <a:t>S1(CH) =</a:t>
            </a:r>
            <a:r>
              <a:rPr lang="en-US" altLang="ko-KR" dirty="0" err="1"/>
              <a:t>qH</a:t>
            </a:r>
            <a:r>
              <a:rPr lang="en-US" altLang="ko-KR" dirty="0"/>
              <a:t>; S1(CL) = </a:t>
            </a:r>
            <a:r>
              <a:rPr lang="en-US" altLang="ko-KR" dirty="0" err="1"/>
              <a:t>qL</a:t>
            </a:r>
            <a:r>
              <a:rPr lang="en-US" altLang="ko-KR" dirty="0"/>
              <a:t>; </a:t>
            </a:r>
            <a:r>
              <a:rPr lang="en-US" altLang="ko-KR" dirty="0" err="1"/>
              <a:t>qH</a:t>
            </a:r>
            <a:r>
              <a:rPr lang="en-US" altLang="ko-KR" dirty="0"/>
              <a:t> &lt; </a:t>
            </a:r>
            <a:r>
              <a:rPr lang="en-US" altLang="ko-KR" dirty="0" err="1"/>
              <a:t>qL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L</a:t>
            </a:r>
            <a:r>
              <a:rPr lang="ko-KR" altLang="en-US" dirty="0"/>
              <a:t>타입 </a:t>
            </a:r>
            <a:r>
              <a:rPr lang="en-US" altLang="ko-KR" dirty="0"/>
              <a:t>: </a:t>
            </a:r>
            <a:r>
              <a:rPr lang="ko-KR" altLang="en-US" dirty="0"/>
              <a:t>기업</a:t>
            </a:r>
            <a:r>
              <a:rPr lang="en-US" altLang="ko-KR" dirty="0"/>
              <a:t>2</a:t>
            </a:r>
            <a:r>
              <a:rPr lang="ko-KR" altLang="en-US" dirty="0"/>
              <a:t>가 </a:t>
            </a:r>
            <a:r>
              <a:rPr lang="en-US" altLang="ko-KR" dirty="0"/>
              <a:t>C1=CL</a:t>
            </a:r>
            <a:r>
              <a:rPr lang="ko-KR" altLang="en-US" dirty="0"/>
              <a:t>인 경우보다 더 생산함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 err="1"/>
              <a:t>완비정보하에서의</a:t>
            </a:r>
            <a:r>
              <a:rPr lang="ko-KR" altLang="en-US" dirty="0"/>
              <a:t> 산출량보다 덜 생산</a:t>
            </a:r>
            <a:endParaRPr lang="en-US" altLang="ko-KR" dirty="0"/>
          </a:p>
          <a:p>
            <a:pPr lvl="2"/>
            <a:r>
              <a:rPr lang="ko-KR" altLang="en-US" dirty="0"/>
              <a:t>효율적 기업이 더 손해</a:t>
            </a:r>
            <a:endParaRPr lang="en-US" altLang="ko-KR" dirty="0"/>
          </a:p>
          <a:p>
            <a:pPr lvl="1"/>
            <a:r>
              <a:rPr lang="en-US" altLang="ko-KR" dirty="0"/>
              <a:t>H</a:t>
            </a:r>
            <a:r>
              <a:rPr lang="ko-KR" altLang="en-US" dirty="0"/>
              <a:t>타입 </a:t>
            </a:r>
            <a:r>
              <a:rPr lang="en-US" altLang="ko-KR" dirty="0"/>
              <a:t>: </a:t>
            </a:r>
            <a:r>
              <a:rPr lang="ko-KR" altLang="en-US" dirty="0"/>
              <a:t>기업</a:t>
            </a:r>
            <a:r>
              <a:rPr lang="en-US" altLang="ko-KR" dirty="0"/>
              <a:t>2</a:t>
            </a:r>
            <a:r>
              <a:rPr lang="ko-KR" altLang="en-US" dirty="0"/>
              <a:t>가 </a:t>
            </a:r>
            <a:r>
              <a:rPr lang="en-US" altLang="ko-KR" dirty="0"/>
              <a:t>C1=CH</a:t>
            </a:r>
            <a:r>
              <a:rPr lang="ko-KR" altLang="en-US" dirty="0"/>
              <a:t>인 경우보다 덜 생산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 err="1"/>
              <a:t>완비정보하에서의</a:t>
            </a:r>
            <a:r>
              <a:rPr lang="ko-KR" altLang="en-US" dirty="0"/>
              <a:t> 산출량보다 더 생산함</a:t>
            </a:r>
            <a:endParaRPr lang="en-US" altLang="ko-KR" dirty="0"/>
          </a:p>
          <a:p>
            <a:pPr lvl="2"/>
            <a:r>
              <a:rPr lang="ko-KR" altLang="en-US" dirty="0"/>
              <a:t>비효율적 기업이 더 이득</a:t>
            </a:r>
            <a:endParaRPr lang="en-US" altLang="ko-KR" dirty="0"/>
          </a:p>
          <a:p>
            <a:pPr lvl="1"/>
            <a:r>
              <a:rPr lang="ko-KR" altLang="en-US" dirty="0"/>
              <a:t>결론 </a:t>
            </a:r>
            <a:r>
              <a:rPr lang="en-US" altLang="ko-KR" dirty="0"/>
              <a:t>: H</a:t>
            </a:r>
            <a:r>
              <a:rPr lang="ko-KR" altLang="en-US" dirty="0"/>
              <a:t>타입의 존재 가능성 때문에 </a:t>
            </a:r>
            <a:r>
              <a:rPr lang="en-US" altLang="ko-KR" dirty="0"/>
              <a:t>L</a:t>
            </a:r>
            <a:r>
              <a:rPr lang="ko-KR" altLang="en-US" dirty="0"/>
              <a:t>타입은</a:t>
            </a:r>
            <a:br>
              <a:rPr lang="en-US" altLang="ko-KR" dirty="0"/>
            </a:br>
            <a:r>
              <a:rPr lang="ko-KR" altLang="en-US" dirty="0" err="1"/>
              <a:t>완비정보하에서</a:t>
            </a:r>
            <a:r>
              <a:rPr lang="ko-KR" altLang="en-US" dirty="0"/>
              <a:t> 손해</a:t>
            </a:r>
            <a:r>
              <a:rPr lang="en-US" altLang="ko-KR" dirty="0"/>
              <a:t>. H</a:t>
            </a:r>
            <a:r>
              <a:rPr lang="ko-KR" altLang="en-US" dirty="0"/>
              <a:t>타입은 </a:t>
            </a:r>
            <a:r>
              <a:rPr lang="en-US" altLang="ko-KR" dirty="0"/>
              <a:t>L</a:t>
            </a:r>
            <a:r>
              <a:rPr lang="ko-KR" altLang="en-US" dirty="0"/>
              <a:t>타입의 존재가능성 때문에 완비정보보다 더 이득</a:t>
            </a:r>
            <a:r>
              <a:rPr lang="en-US" altLang="ko-KR" dirty="0"/>
              <a:t>.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96DB2F5-5A8C-AE1F-2358-F542B08AE87C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pic>
        <p:nvPicPr>
          <p:cNvPr id="11" name="그림 10" descr="텍스트, 스크린샷, 폰트, 번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6F6CEE80-41F3-AFDD-D969-9D5C2680C6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2467" y="1640632"/>
            <a:ext cx="4390869" cy="2659434"/>
          </a:xfrm>
          <a:prstGeom prst="rect">
            <a:avLst/>
          </a:prstGeom>
        </p:spPr>
      </p:pic>
      <p:pic>
        <p:nvPicPr>
          <p:cNvPr id="13" name="그림 12" descr="텍스트, 스크린샷, 폰트, 도표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D4002691-1CA5-8B5F-7A77-C8622AD3F7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9120" y="4300066"/>
            <a:ext cx="2037311" cy="1517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79829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4463A46E-B063-EC23-2838-5A185438F1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9D38CA38-1C0A-2586-F2FE-52542E38C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시장구조와 기술혁신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5518892-DD9D-F074-1C6B-43A0581E870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19B8A93F-D2E7-A99C-A88D-E347A05A052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altLang="ko-KR" dirty="0"/>
              <a:t>R&amp;D </a:t>
            </a:r>
            <a:r>
              <a:rPr lang="ko-KR" altLang="en-US" dirty="0"/>
              <a:t>활동에 가장 기여할 수 있는 시장구조</a:t>
            </a:r>
            <a:endParaRPr lang="en-US" altLang="ko-KR" dirty="0"/>
          </a:p>
          <a:p>
            <a:pPr lvl="1"/>
            <a:r>
              <a:rPr lang="ko-KR" altLang="en-US" dirty="0"/>
              <a:t>배분적 효율성 </a:t>
            </a:r>
            <a:r>
              <a:rPr lang="en-US" altLang="ko-KR" dirty="0"/>
              <a:t>: </a:t>
            </a:r>
            <a:r>
              <a:rPr lang="ko-KR" altLang="en-US" dirty="0"/>
              <a:t>주어진 </a:t>
            </a:r>
            <a:r>
              <a:rPr lang="ko-KR" altLang="en-US" dirty="0" err="1"/>
              <a:t>기술하에</a:t>
            </a:r>
            <a:r>
              <a:rPr lang="ko-KR" altLang="en-US" dirty="0"/>
              <a:t> 생산되는 재화</a:t>
            </a:r>
            <a:r>
              <a:rPr lang="en-US" altLang="ko-KR" dirty="0"/>
              <a:t>/</a:t>
            </a:r>
            <a:r>
              <a:rPr lang="ko-KR" altLang="en-US" dirty="0"/>
              <a:t>서비스 간 자원 배분</a:t>
            </a:r>
            <a:endParaRPr lang="en-US" altLang="ko-KR" dirty="0"/>
          </a:p>
          <a:p>
            <a:pPr lvl="1"/>
            <a:r>
              <a:rPr lang="ko-KR" altLang="en-US" dirty="0"/>
              <a:t>동태적 효율성 </a:t>
            </a:r>
            <a:r>
              <a:rPr lang="en-US" altLang="ko-KR" dirty="0"/>
              <a:t>: </a:t>
            </a:r>
            <a:r>
              <a:rPr lang="ko-KR" altLang="en-US" dirty="0"/>
              <a:t>대기업 위주 시장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신제품</a:t>
            </a:r>
            <a:r>
              <a:rPr lang="en-US" altLang="ko-KR" dirty="0">
                <a:sym typeface="Wingdings" panose="05000000000000000000" pitchFamily="2" charset="2"/>
              </a:rPr>
              <a:t>/</a:t>
            </a:r>
            <a:r>
              <a:rPr lang="ko-KR" altLang="en-US" dirty="0">
                <a:sym typeface="Wingdings" panose="05000000000000000000" pitchFamily="2" charset="2"/>
              </a:rPr>
              <a:t>신기술 개발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효율적 자원배분</a:t>
            </a:r>
            <a:endParaRPr lang="en-US" altLang="ko-KR" dirty="0">
              <a:sym typeface="Wingdings" panose="05000000000000000000" pitchFamily="2" charset="2"/>
            </a:endParaRPr>
          </a:p>
          <a:p>
            <a:r>
              <a:rPr lang="ko-KR" altLang="en-US" dirty="0"/>
              <a:t>혁신의 구분</a:t>
            </a:r>
            <a:endParaRPr lang="en-US" altLang="ko-KR" dirty="0"/>
          </a:p>
          <a:p>
            <a:pPr lvl="1"/>
            <a:r>
              <a:rPr lang="ko-KR" altLang="en-US" dirty="0"/>
              <a:t>기초연구 </a:t>
            </a:r>
            <a:r>
              <a:rPr lang="en-US" altLang="ko-KR" dirty="0"/>
              <a:t>: </a:t>
            </a:r>
            <a:r>
              <a:rPr lang="ko-KR" altLang="en-US" dirty="0"/>
              <a:t>기초지식</a:t>
            </a:r>
            <a:r>
              <a:rPr lang="en-US" altLang="ko-KR" dirty="0"/>
              <a:t>(</a:t>
            </a:r>
            <a:r>
              <a:rPr lang="ko-KR" altLang="en-US" dirty="0"/>
              <a:t>전자기학</a:t>
            </a:r>
            <a:r>
              <a:rPr lang="en-US" altLang="ko-KR" dirty="0"/>
              <a:t>)</a:t>
            </a:r>
            <a:br>
              <a:rPr lang="en-US" altLang="ko-KR" dirty="0"/>
            </a:br>
            <a:r>
              <a:rPr lang="ko-KR" altLang="en-US" dirty="0"/>
              <a:t>응용연구</a:t>
            </a:r>
            <a:r>
              <a:rPr lang="en-US" altLang="ko-KR" dirty="0"/>
              <a:t> :</a:t>
            </a:r>
            <a:r>
              <a:rPr lang="ko-KR" altLang="en-US" dirty="0"/>
              <a:t>공학적 노력필요 </a:t>
            </a:r>
            <a:r>
              <a:rPr lang="en-US" altLang="ko-KR" dirty="0"/>
              <a:t>, </a:t>
            </a:r>
            <a:r>
              <a:rPr lang="ko-KR" altLang="en-US" dirty="0"/>
              <a:t>특정 용도를 겨냥</a:t>
            </a:r>
            <a:r>
              <a:rPr lang="en-US" altLang="ko-KR" dirty="0"/>
              <a:t>(</a:t>
            </a:r>
            <a:r>
              <a:rPr lang="ko-KR" altLang="en-US" dirty="0"/>
              <a:t>레이더 기술</a:t>
            </a:r>
            <a:r>
              <a:rPr lang="en-US" altLang="ko-KR" dirty="0"/>
              <a:t>)</a:t>
            </a:r>
            <a:br>
              <a:rPr lang="en-US" altLang="ko-KR" dirty="0"/>
            </a:br>
            <a:r>
              <a:rPr lang="ko-KR" altLang="en-US" dirty="0"/>
              <a:t>개발연구 </a:t>
            </a:r>
            <a:r>
              <a:rPr lang="en-US" altLang="ko-KR" dirty="0"/>
              <a:t>: </a:t>
            </a:r>
            <a:r>
              <a:rPr lang="ko-KR" altLang="en-US" dirty="0"/>
              <a:t>시제품을 소비자가 사용할 수 있고 대량생산 가능</a:t>
            </a:r>
            <a:r>
              <a:rPr lang="en-US" altLang="ko-KR" dirty="0"/>
              <a:t>(</a:t>
            </a:r>
            <a:r>
              <a:rPr lang="ko-KR" altLang="en-US" dirty="0"/>
              <a:t>전자레인지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공정혁신</a:t>
            </a:r>
            <a:r>
              <a:rPr lang="en-US" altLang="ko-KR" dirty="0"/>
              <a:t>(process innovation)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기존 제품을 값싸게 생산하는 법을 알아냄</a:t>
            </a:r>
            <a:endParaRPr lang="en-US" altLang="ko-KR" dirty="0"/>
          </a:p>
          <a:p>
            <a:pPr lvl="2"/>
            <a:r>
              <a:rPr lang="en-US" altLang="ko-KR" dirty="0"/>
              <a:t>Drastic innovation :</a:t>
            </a:r>
            <a:r>
              <a:rPr lang="ko-KR" altLang="en-US" dirty="0"/>
              <a:t> 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생산단가 감소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가격을 내릴 수 있음</a:t>
            </a:r>
            <a:r>
              <a:rPr lang="en-US" altLang="ko-KR" dirty="0">
                <a:sym typeface="Wingdings" panose="05000000000000000000" pitchFamily="2" charset="2"/>
              </a:rPr>
              <a:t>)  </a:t>
            </a:r>
            <a:r>
              <a:rPr lang="ko-KR" altLang="en-US" dirty="0">
                <a:sym typeface="Wingdings" panose="05000000000000000000" pitchFamily="2" charset="2"/>
              </a:rPr>
              <a:t>소비자의 수요 증대</a:t>
            </a:r>
            <a:r>
              <a:rPr lang="en-US" altLang="ko-KR" dirty="0">
                <a:sym typeface="Wingdings" panose="05000000000000000000" pitchFamily="2" charset="2"/>
              </a:rPr>
              <a:t>. </a:t>
            </a:r>
            <a:r>
              <a:rPr lang="ko-KR" altLang="en-US" dirty="0">
                <a:sym typeface="Wingdings" panose="05000000000000000000" pitchFamily="2" charset="2"/>
              </a:rPr>
              <a:t>소비자의 이득</a:t>
            </a:r>
            <a:r>
              <a:rPr lang="en-US" altLang="ko-KR" dirty="0">
                <a:sym typeface="Wingdings" panose="05000000000000000000" pitchFamily="2" charset="2"/>
              </a:rPr>
              <a:t> </a:t>
            </a:r>
          </a:p>
          <a:p>
            <a:pPr lvl="2"/>
            <a:r>
              <a:rPr lang="en-US" altLang="ko-KR" dirty="0">
                <a:sym typeface="Wingdings" panose="05000000000000000000" pitchFamily="2" charset="2"/>
              </a:rPr>
              <a:t>Non-drastic innovation : </a:t>
            </a:r>
            <a:r>
              <a:rPr lang="ko-KR" altLang="en-US" dirty="0">
                <a:sym typeface="Wingdings" panose="05000000000000000000" pitchFamily="2" charset="2"/>
              </a:rPr>
              <a:t>생산단가 감소</a:t>
            </a:r>
            <a:r>
              <a:rPr lang="en-US" altLang="ko-KR" dirty="0">
                <a:sym typeface="Wingdings" panose="05000000000000000000" pitchFamily="2" charset="2"/>
              </a:rPr>
              <a:t> but, </a:t>
            </a:r>
            <a:r>
              <a:rPr lang="ko-KR" altLang="en-US" dirty="0">
                <a:sym typeface="Wingdings" panose="05000000000000000000" pitchFamily="2" charset="2"/>
              </a:rPr>
              <a:t>가격 내리지 </a:t>
            </a:r>
            <a:r>
              <a:rPr lang="en-US" altLang="ko-KR" dirty="0">
                <a:sym typeface="Wingdings" panose="05000000000000000000" pitchFamily="2" charset="2"/>
              </a:rPr>
              <a:t>X.  </a:t>
            </a:r>
            <a:r>
              <a:rPr lang="ko-KR" altLang="en-US" dirty="0">
                <a:sym typeface="Wingdings" panose="05000000000000000000" pitchFamily="2" charset="2"/>
              </a:rPr>
              <a:t>수요</a:t>
            </a:r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en-US" dirty="0">
                <a:sym typeface="Wingdings" panose="05000000000000000000" pitchFamily="2" charset="2"/>
              </a:rPr>
              <a:t>그대로</a:t>
            </a:r>
            <a:r>
              <a:rPr lang="en-US" altLang="ko-KR" dirty="0">
                <a:sym typeface="Wingdings" panose="05000000000000000000" pitchFamily="2" charset="2"/>
              </a:rPr>
              <a:t>. </a:t>
            </a:r>
            <a:r>
              <a:rPr lang="ko-KR" altLang="en-US" dirty="0">
                <a:sym typeface="Wingdings" panose="05000000000000000000" pitchFamily="2" charset="2"/>
              </a:rPr>
              <a:t>생산자 이득</a:t>
            </a:r>
            <a:r>
              <a:rPr lang="en-US" altLang="ko-KR" dirty="0">
                <a:sym typeface="Wingdings" panose="05000000000000000000" pitchFamily="2" charset="2"/>
              </a:rPr>
              <a:t>.</a:t>
            </a:r>
          </a:p>
          <a:p>
            <a:pPr lvl="2"/>
            <a:endParaRPr lang="en-US" altLang="ko-KR" dirty="0">
              <a:sym typeface="Wingdings" panose="05000000000000000000" pitchFamily="2" charset="2"/>
            </a:endParaRPr>
          </a:p>
          <a:p>
            <a:pPr lvl="2"/>
            <a:endParaRPr lang="en-US" altLang="ko-KR" dirty="0">
              <a:sym typeface="Wingdings" panose="05000000000000000000" pitchFamily="2" charset="2"/>
            </a:endParaRPr>
          </a:p>
          <a:p>
            <a:pPr lvl="2"/>
            <a:endParaRPr lang="en-US" altLang="ko-KR" dirty="0">
              <a:sym typeface="Wingdings" panose="05000000000000000000" pitchFamily="2" charset="2"/>
            </a:endParaRPr>
          </a:p>
          <a:p>
            <a:pPr lvl="2"/>
            <a:endParaRPr lang="en-US" altLang="ko-KR" dirty="0">
              <a:sym typeface="Wingdings" panose="05000000000000000000" pitchFamily="2" charset="2"/>
            </a:endParaRPr>
          </a:p>
          <a:p>
            <a:pPr lvl="2"/>
            <a:endParaRPr lang="en-US" altLang="ko-KR" dirty="0">
              <a:sym typeface="Wingdings" panose="05000000000000000000" pitchFamily="2" charset="2"/>
            </a:endParaRPr>
          </a:p>
          <a:p>
            <a:pPr lvl="2"/>
            <a:endParaRPr lang="en-US" altLang="ko-KR" dirty="0">
              <a:sym typeface="Wingdings" panose="05000000000000000000" pitchFamily="2" charset="2"/>
            </a:endParaRPr>
          </a:p>
          <a:p>
            <a:pPr lvl="2"/>
            <a:endParaRPr lang="en-US" altLang="ko-KR" dirty="0">
              <a:sym typeface="Wingdings" panose="05000000000000000000" pitchFamily="2" charset="2"/>
            </a:endParaRPr>
          </a:p>
          <a:p>
            <a:pPr lvl="2"/>
            <a:endParaRPr lang="en-US" altLang="ko-KR" dirty="0">
              <a:sym typeface="Wingdings" panose="05000000000000000000" pitchFamily="2" charset="2"/>
            </a:endParaRPr>
          </a:p>
          <a:p>
            <a:pPr lvl="2"/>
            <a:endParaRPr lang="en-US" altLang="ko-KR" dirty="0">
              <a:sym typeface="Wingdings" panose="05000000000000000000" pitchFamily="2" charset="2"/>
            </a:endParaRPr>
          </a:p>
          <a:p>
            <a:pPr lvl="2"/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ko-KR" altLang="en-US" dirty="0">
                <a:sym typeface="Wingdings" panose="05000000000000000000" pitchFamily="2" charset="2"/>
              </a:rPr>
              <a:t>제품혁신</a:t>
            </a:r>
            <a:r>
              <a:rPr lang="en-US" altLang="ko-KR" dirty="0">
                <a:sym typeface="Wingdings" panose="05000000000000000000" pitchFamily="2" charset="2"/>
              </a:rPr>
              <a:t>(Product Innovation) : </a:t>
            </a:r>
            <a:r>
              <a:rPr lang="ko-KR" altLang="en-US" dirty="0">
                <a:sym typeface="Wingdings" panose="05000000000000000000" pitchFamily="2" charset="2"/>
              </a:rPr>
              <a:t>새 제품을 만들어 내는 것</a:t>
            </a:r>
            <a:endParaRPr lang="en-US" altLang="ko-KR" dirty="0">
              <a:sym typeface="Wingdings" panose="05000000000000000000" pitchFamily="2" charset="2"/>
            </a:endParaRPr>
          </a:p>
          <a:p>
            <a:pPr lvl="2"/>
            <a:r>
              <a:rPr lang="ko-KR" altLang="en-US" dirty="0">
                <a:sym typeface="Wingdings" panose="05000000000000000000" pitchFamily="2" charset="2"/>
              </a:rPr>
              <a:t>제품간 대체효과 </a:t>
            </a:r>
            <a:r>
              <a:rPr lang="en-US" altLang="ko-KR" dirty="0">
                <a:sym typeface="Wingdings" panose="05000000000000000000" pitchFamily="2" charset="2"/>
              </a:rPr>
              <a:t>: 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substitution : </a:t>
            </a:r>
            <a:r>
              <a:rPr lang="ko-KR" altLang="en-US" dirty="0">
                <a:sym typeface="Wingdings" panose="05000000000000000000" pitchFamily="2" charset="2"/>
              </a:rPr>
              <a:t>제품개발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얼마나 경쟁사 소비 대체</a:t>
            </a:r>
            <a:r>
              <a:rPr lang="en-US" altLang="ko-KR" dirty="0">
                <a:sym typeface="Wingdings" panose="05000000000000000000" pitchFamily="2" charset="2"/>
              </a:rPr>
              <a:t>?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Replacement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effect : </a:t>
            </a:r>
            <a:r>
              <a:rPr lang="ko-KR" altLang="en-US" dirty="0">
                <a:sym typeface="Wingdings" panose="05000000000000000000" pitchFamily="2" charset="2"/>
              </a:rPr>
              <a:t>제품개발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얼마나 자사의 제품 대체</a:t>
            </a:r>
            <a:r>
              <a:rPr lang="en-US" altLang="ko-KR" dirty="0">
                <a:sym typeface="Wingdings" panose="05000000000000000000" pitchFamily="2" charset="2"/>
              </a:rPr>
              <a:t>?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4377A6E-FD52-0DFF-31DD-F4F4F39BAB46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8" name="그림 7" descr="라인, 도표, 텍스트, 스크린샷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DE47E261-6FA3-4D69-53A8-562188AF53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2776" y="2936776"/>
            <a:ext cx="5400599" cy="2204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04012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457CDE31-24DB-9BE7-9FE5-1A36EFE7A0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E38E9E3-B24D-C906-0BCA-8C5D178A65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시장구조와 연구개발투자의 상관관계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42980CB-7A5F-0EF3-BED1-DF092B3AF74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C6142EB8-C589-0723-DEEE-9FBC4710E02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ko-KR" altLang="en-US" dirty="0" err="1"/>
              <a:t>슘페터</a:t>
            </a:r>
            <a:r>
              <a:rPr lang="ko-KR" altLang="en-US" dirty="0"/>
              <a:t> 가설과 </a:t>
            </a:r>
            <a:r>
              <a:rPr lang="en-US" altLang="ko-KR" dirty="0"/>
              <a:t>creative destruction : </a:t>
            </a:r>
            <a:r>
              <a:rPr lang="ko-KR" altLang="en-US" dirty="0"/>
              <a:t>독점시장이 기술개발을 용이케 한다</a:t>
            </a:r>
            <a:endParaRPr lang="en-US" altLang="ko-KR" dirty="0"/>
          </a:p>
          <a:p>
            <a:pPr lvl="1"/>
            <a:r>
              <a:rPr lang="ko-KR" altLang="en-US" dirty="0"/>
              <a:t>독점적 시장구조가 기술혁신에 유리한 점</a:t>
            </a:r>
            <a:endParaRPr lang="en-US" altLang="ko-KR" dirty="0"/>
          </a:p>
          <a:p>
            <a:pPr lvl="2"/>
            <a:r>
              <a:rPr lang="en-US" altLang="ko-KR" dirty="0" err="1"/>
              <a:t>RnD</a:t>
            </a:r>
            <a:r>
              <a:rPr lang="ko-KR" altLang="en-US" dirty="0"/>
              <a:t>에 투자할 충분한 자원</a:t>
            </a:r>
            <a:br>
              <a:rPr lang="en-US" altLang="ko-KR" dirty="0"/>
            </a:br>
            <a:r>
              <a:rPr lang="ko-KR" altLang="en-US" dirty="0"/>
              <a:t>대규모 </a:t>
            </a:r>
            <a:r>
              <a:rPr lang="en-US" altLang="ko-KR" dirty="0" err="1"/>
              <a:t>Rnd</a:t>
            </a:r>
            <a:r>
              <a:rPr lang="en-US" altLang="ko-KR" dirty="0"/>
              <a:t> </a:t>
            </a:r>
            <a:r>
              <a:rPr lang="ko-KR" altLang="en-US" dirty="0"/>
              <a:t>투자와 규모의 경제</a:t>
            </a:r>
            <a:br>
              <a:rPr lang="en-US" altLang="ko-KR" dirty="0"/>
            </a:br>
            <a:r>
              <a:rPr lang="ko-KR" altLang="en-US" dirty="0"/>
              <a:t>여러 프로젝트의 동시추구</a:t>
            </a:r>
            <a:br>
              <a:rPr lang="en-US" altLang="ko-KR" dirty="0"/>
            </a:br>
            <a:r>
              <a:rPr lang="ko-KR" altLang="en-US" dirty="0"/>
              <a:t>사업 다각화 </a:t>
            </a:r>
            <a:r>
              <a:rPr lang="en-US" altLang="ko-KR" dirty="0"/>
              <a:t>&amp; </a:t>
            </a:r>
            <a:r>
              <a:rPr lang="ko-KR" altLang="en-US" dirty="0"/>
              <a:t>연구개발성과의 다양한 이용</a:t>
            </a:r>
            <a:br>
              <a:rPr lang="en-US" altLang="ko-KR" dirty="0"/>
            </a:br>
            <a:r>
              <a:rPr lang="ko-KR" altLang="en-US" dirty="0"/>
              <a:t>장기간 고비용 프로젝트 </a:t>
            </a:r>
            <a:r>
              <a:rPr lang="en-US" altLang="ko-KR" dirty="0"/>
              <a:t>ok</a:t>
            </a:r>
          </a:p>
          <a:p>
            <a:pPr lvl="1"/>
            <a:r>
              <a:rPr lang="ko-KR" altLang="en-US" dirty="0"/>
              <a:t>기술혁신에 불리한점 </a:t>
            </a:r>
            <a:r>
              <a:rPr lang="en-US" altLang="ko-KR" dirty="0"/>
              <a:t>: </a:t>
            </a:r>
            <a:r>
              <a:rPr lang="ko-KR" altLang="en-US" dirty="0"/>
              <a:t>관료주의 </a:t>
            </a:r>
            <a:r>
              <a:rPr lang="ko-KR" altLang="en-US" dirty="0" err="1"/>
              <a:t>비효융성</a:t>
            </a:r>
            <a:endParaRPr lang="en-US" altLang="ko-KR" dirty="0"/>
          </a:p>
          <a:p>
            <a:r>
              <a:rPr lang="en-US" altLang="ko-KR" dirty="0"/>
              <a:t>Arrow </a:t>
            </a:r>
            <a:r>
              <a:rPr lang="ko-KR" altLang="en-US" dirty="0"/>
              <a:t>가설 </a:t>
            </a:r>
            <a:r>
              <a:rPr lang="en-US" altLang="ko-KR" dirty="0"/>
              <a:t>: </a:t>
            </a:r>
            <a:r>
              <a:rPr lang="ko-KR" altLang="en-US" dirty="0" err="1"/>
              <a:t>슘페터</a:t>
            </a:r>
            <a:r>
              <a:rPr lang="ko-KR" altLang="en-US" dirty="0"/>
              <a:t> 가설에 대한 반박</a:t>
            </a:r>
            <a:r>
              <a:rPr lang="en-US" altLang="ko-KR" dirty="0"/>
              <a:t>; Replacement Effect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Minor</a:t>
            </a:r>
            <a:r>
              <a:rPr lang="ko-KR" altLang="en-US" dirty="0"/>
              <a:t> </a:t>
            </a:r>
            <a:r>
              <a:rPr lang="en-US" altLang="ko-KR" dirty="0"/>
              <a:t>innovation : 1+2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경쟁시장일 때 순이익</a:t>
            </a:r>
            <a:r>
              <a:rPr lang="en-US" altLang="ko-KR" dirty="0">
                <a:sym typeface="Wingdings" panose="05000000000000000000" pitchFamily="2" charset="2"/>
              </a:rPr>
              <a:t>; 1 </a:t>
            </a:r>
            <a:r>
              <a:rPr lang="ko-KR" altLang="en-US" dirty="0">
                <a:sym typeface="Wingdings" panose="05000000000000000000" pitchFamily="2" charset="2"/>
              </a:rPr>
              <a:t>독점일 때 순이익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en-US" altLang="ko-KR" dirty="0"/>
              <a:t>Major innovation : </a:t>
            </a:r>
            <a:r>
              <a:rPr lang="ko-KR" altLang="en-US" dirty="0" err="1"/>
              <a:t>완경</a:t>
            </a:r>
            <a:r>
              <a:rPr lang="ko-KR" altLang="en-US" dirty="0"/>
              <a:t> </a:t>
            </a:r>
            <a:r>
              <a:rPr lang="en-US" altLang="ko-KR" dirty="0"/>
              <a:t>: P0,Q0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혁신성공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경쟁 </a:t>
            </a:r>
            <a:r>
              <a:rPr lang="en-US" altLang="ko-KR" dirty="0">
                <a:sym typeface="Wingdings" panose="05000000000000000000" pitchFamily="2" charset="2"/>
              </a:rPr>
              <a:t>: </a:t>
            </a:r>
            <a:r>
              <a:rPr lang="ko-KR" altLang="en-US" dirty="0">
                <a:sym typeface="Wingdings" panose="05000000000000000000" pitchFamily="2" charset="2"/>
              </a:rPr>
              <a:t>온전한 분홍색</a:t>
            </a:r>
            <a:r>
              <a:rPr lang="en-US" altLang="ko-KR" dirty="0">
                <a:sym typeface="Wingdings" panose="05000000000000000000" pitchFamily="2" charset="2"/>
              </a:rPr>
              <a:t>; </a:t>
            </a:r>
            <a:r>
              <a:rPr lang="ko-KR" altLang="en-US" dirty="0">
                <a:sym typeface="Wingdings" panose="05000000000000000000" pitchFamily="2" charset="2"/>
              </a:rPr>
              <a:t>대체</a:t>
            </a:r>
            <a:r>
              <a:rPr lang="en-US" altLang="ko-KR" dirty="0">
                <a:sym typeface="Wingdings" panose="05000000000000000000" pitchFamily="2" charset="2"/>
              </a:rPr>
              <a:t>X</a:t>
            </a:r>
          </a:p>
          <a:p>
            <a:pPr lvl="2"/>
            <a:r>
              <a:rPr lang="ko-KR" altLang="en-US" dirty="0">
                <a:sym typeface="Wingdings" panose="05000000000000000000" pitchFamily="2" charset="2"/>
              </a:rPr>
              <a:t>살색</a:t>
            </a:r>
            <a:r>
              <a:rPr lang="en-US" altLang="ko-KR" dirty="0">
                <a:sym typeface="Wingdings" panose="05000000000000000000" pitchFamily="2" charset="2"/>
              </a:rPr>
              <a:t> = </a:t>
            </a:r>
            <a:r>
              <a:rPr lang="ko-KR" altLang="en-US" dirty="0">
                <a:sym typeface="Wingdings" panose="05000000000000000000" pitchFamily="2" charset="2"/>
              </a:rPr>
              <a:t>독점기업 초가이윤</a:t>
            </a:r>
            <a:r>
              <a:rPr lang="en-US" altLang="ko-KR" dirty="0">
                <a:sym typeface="Wingdings" panose="05000000000000000000" pitchFamily="2" charset="2"/>
              </a:rPr>
              <a:t>;</a:t>
            </a:r>
          </a:p>
          <a:p>
            <a:pPr lvl="2"/>
            <a:r>
              <a:rPr lang="ko-KR" altLang="en-US" dirty="0">
                <a:sym typeface="Wingdings" panose="05000000000000000000" pitchFamily="2" charset="2"/>
              </a:rPr>
              <a:t>경쟁 </a:t>
            </a:r>
            <a:r>
              <a:rPr lang="en-US" altLang="ko-KR" dirty="0">
                <a:sym typeface="Wingdings" panose="05000000000000000000" pitchFamily="2" charset="2"/>
              </a:rPr>
              <a:t>: </a:t>
            </a:r>
            <a:r>
              <a:rPr lang="ko-KR" altLang="en-US" dirty="0">
                <a:sym typeface="Wingdings" panose="05000000000000000000" pitchFamily="2" charset="2"/>
              </a:rPr>
              <a:t>순이익 </a:t>
            </a:r>
            <a:r>
              <a:rPr lang="en-US" altLang="ko-KR" dirty="0">
                <a:sym typeface="Wingdings" panose="05000000000000000000" pitchFamily="2" charset="2"/>
              </a:rPr>
              <a:t>= </a:t>
            </a:r>
            <a:r>
              <a:rPr lang="ko-KR" altLang="en-US" dirty="0">
                <a:sym typeface="Wingdings" panose="05000000000000000000" pitchFamily="2" charset="2"/>
              </a:rPr>
              <a:t>살색 </a:t>
            </a:r>
            <a:r>
              <a:rPr lang="en-US" altLang="ko-KR" dirty="0">
                <a:sym typeface="Wingdings" panose="05000000000000000000" pitchFamily="2" charset="2"/>
              </a:rPr>
              <a:t>– </a:t>
            </a:r>
            <a:r>
              <a:rPr lang="ko-KR" altLang="en-US" dirty="0">
                <a:sym typeface="Wingdings" panose="05000000000000000000" pitchFamily="2" charset="2"/>
              </a:rPr>
              <a:t>노랑</a:t>
            </a:r>
            <a:r>
              <a:rPr lang="en-US" altLang="ko-KR" dirty="0">
                <a:sym typeface="Wingdings" panose="05000000000000000000" pitchFamily="2" charset="2"/>
              </a:rPr>
              <a:t>; </a:t>
            </a:r>
            <a:r>
              <a:rPr lang="ko-KR" altLang="en-US" dirty="0">
                <a:sym typeface="Wingdings" panose="05000000000000000000" pitchFamily="2" charset="2"/>
              </a:rPr>
              <a:t>독점으로 인해 노랑의 영역 대체</a:t>
            </a:r>
            <a:endParaRPr lang="en-US" altLang="ko-KR" dirty="0"/>
          </a:p>
          <a:p>
            <a:pPr lvl="1"/>
            <a:r>
              <a:rPr lang="ko-KR" altLang="en-US" dirty="0">
                <a:sym typeface="Wingdings" panose="05000000000000000000" pitchFamily="2" charset="2"/>
              </a:rPr>
              <a:t>이론의 역사적 배경</a:t>
            </a:r>
            <a:endParaRPr lang="en-US" altLang="ko-KR" dirty="0">
              <a:sym typeface="Wingdings" panose="05000000000000000000" pitchFamily="2" charset="2"/>
            </a:endParaRPr>
          </a:p>
          <a:p>
            <a:pPr lvl="2"/>
            <a:r>
              <a:rPr lang="en-US" altLang="ko-KR" dirty="0">
                <a:sym typeface="Wingdings" panose="05000000000000000000" pitchFamily="2" charset="2"/>
              </a:rPr>
              <a:t>1) </a:t>
            </a:r>
            <a:r>
              <a:rPr lang="ko-KR" altLang="en-US" dirty="0">
                <a:sym typeface="Wingdings" panose="05000000000000000000" pitchFamily="2" charset="2"/>
              </a:rPr>
              <a:t>냉전</a:t>
            </a:r>
            <a:r>
              <a:rPr lang="en-US" altLang="ko-KR" dirty="0">
                <a:sym typeface="Wingdings" panose="05000000000000000000" pitchFamily="2" charset="2"/>
              </a:rPr>
              <a:t>/</a:t>
            </a:r>
            <a:r>
              <a:rPr lang="ko-KR" altLang="en-US" dirty="0">
                <a:sym typeface="Wingdings" panose="05000000000000000000" pitchFamily="2" charset="2"/>
              </a:rPr>
              <a:t>기술경쟁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2) </a:t>
            </a:r>
            <a:r>
              <a:rPr lang="ko-KR" altLang="en-US" dirty="0">
                <a:sym typeface="Wingdings" panose="05000000000000000000" pitchFamily="2" charset="2"/>
              </a:rPr>
              <a:t>대기업 중심 경제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3) </a:t>
            </a:r>
            <a:r>
              <a:rPr lang="en-US" altLang="ko-KR" dirty="0" err="1">
                <a:sym typeface="Wingdings" panose="05000000000000000000" pitchFamily="2" charset="2"/>
              </a:rPr>
              <a:t>RnD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ko-KR" altLang="en-US" dirty="0">
                <a:sym typeface="Wingdings" panose="05000000000000000000" pitchFamily="2" charset="2"/>
              </a:rPr>
              <a:t>시장실패에 관심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en-US" altLang="ko-KR" dirty="0"/>
              <a:t>Arrow </a:t>
            </a:r>
            <a:r>
              <a:rPr lang="ko-KR" altLang="en-US" dirty="0"/>
              <a:t>가설의 한계</a:t>
            </a:r>
            <a:endParaRPr lang="en-US" altLang="ko-KR" dirty="0"/>
          </a:p>
          <a:p>
            <a:pPr lvl="2"/>
            <a:r>
              <a:rPr lang="ko-KR" altLang="en-US" dirty="0"/>
              <a:t>새로운 생산공정의 개발</a:t>
            </a:r>
            <a:br>
              <a:rPr lang="en-US" altLang="ko-KR" dirty="0"/>
            </a:b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외생변수로 간주</a:t>
            </a:r>
            <a:endParaRPr lang="en-US" altLang="ko-KR" dirty="0">
              <a:sym typeface="Wingdings" panose="05000000000000000000" pitchFamily="2" charset="2"/>
            </a:endParaRPr>
          </a:p>
          <a:p>
            <a:pPr lvl="2"/>
            <a:r>
              <a:rPr lang="ko-KR" altLang="en-US" dirty="0">
                <a:sym typeface="Wingdings" panose="05000000000000000000" pitchFamily="2" charset="2"/>
              </a:rPr>
              <a:t>시장구조를 외생적으로 간주</a:t>
            </a:r>
            <a:endParaRPr lang="en-US" altLang="ko-KR" dirty="0">
              <a:sym typeface="Wingdings" panose="05000000000000000000" pitchFamily="2" charset="2"/>
            </a:endParaRPr>
          </a:p>
          <a:p>
            <a:pPr lvl="2"/>
            <a:r>
              <a:rPr lang="ko-KR" altLang="en-US">
                <a:sym typeface="Wingdings" panose="05000000000000000000" pitchFamily="2" charset="2"/>
              </a:rPr>
              <a:t>과점시장을 분석에서 뺌</a:t>
            </a:r>
            <a:endParaRPr lang="en-US" altLang="ko-KR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CEF0B6B-4F98-378C-D124-8196D00D225A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pic>
        <p:nvPicPr>
          <p:cNvPr id="8" name="그림 7" descr="도표, 라인, 그래프, 평행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6D0CC613-8B39-B460-098C-A2D6D3D400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2491" y="2360712"/>
            <a:ext cx="4941168" cy="1793166"/>
          </a:xfrm>
          <a:prstGeom prst="rect">
            <a:avLst/>
          </a:prstGeom>
        </p:spPr>
      </p:pic>
      <p:pic>
        <p:nvPicPr>
          <p:cNvPr id="10" name="그림 9" descr="텍스트, 라인, 도표, 스크린샷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228782FA-12CB-FC72-595A-B7A9EC1417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5023" y="5108312"/>
            <a:ext cx="3168351" cy="1366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26493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C7430E86-F7E7-C1BB-8B0D-8A49D65E12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0F16159C-AAA2-6837-7B48-1245F00122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1D712E1-9F4A-DE1C-3BAC-7E7F6E5F339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A521740D-05D9-62C9-BE83-7129B36E607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ko-KR" dirty="0"/>
              <a:t>### 1. </a:t>
            </a:r>
            <a:r>
              <a:rPr lang="ko-KR" altLang="en-US" dirty="0"/>
              <a:t>경제 순환 모형의 기본 구조 </a:t>
            </a:r>
            <a:r>
              <a:rPr lang="en-US" altLang="ko-KR" dirty="0"/>
              <a:t>[1, 2]</a:t>
            </a:r>
          </a:p>
          <a:p>
            <a:pPr lvl="1"/>
            <a:r>
              <a:rPr lang="en-US" altLang="ko-KR" dirty="0"/>
              <a:t>*   </a:t>
            </a:r>
            <a:r>
              <a:rPr lang="ko-KR" altLang="en-US" dirty="0"/>
              <a:t>미시경제학의 기본적인 구조는 **재화 및 서비스 시장**과 **생산 요소 시장**으로 구성됩니다 </a:t>
            </a:r>
            <a:r>
              <a:rPr lang="en-US" altLang="ko-KR" dirty="0"/>
              <a:t>[1].</a:t>
            </a:r>
          </a:p>
          <a:p>
            <a:pPr lvl="1"/>
            <a:r>
              <a:rPr lang="en-US" altLang="ko-KR" dirty="0"/>
              <a:t>*   **</a:t>
            </a:r>
            <a:r>
              <a:rPr lang="ko-KR" altLang="en-US" dirty="0"/>
              <a:t>재화 및 서비스 시장**에서는 **생산자</a:t>
            </a:r>
            <a:r>
              <a:rPr lang="en-US" altLang="ko-KR" dirty="0"/>
              <a:t>(</a:t>
            </a:r>
            <a:r>
              <a:rPr lang="ko-KR" altLang="en-US" dirty="0"/>
              <a:t>공급자</a:t>
            </a:r>
            <a:r>
              <a:rPr lang="en-US" altLang="ko-KR" dirty="0"/>
              <a:t>)**</a:t>
            </a:r>
            <a:r>
              <a:rPr lang="ko-KR" altLang="en-US" dirty="0"/>
              <a:t>가 재화나 서비스를 판매하고 **소비자</a:t>
            </a:r>
            <a:r>
              <a:rPr lang="en-US" altLang="ko-KR" dirty="0"/>
              <a:t>(</a:t>
            </a:r>
            <a:r>
              <a:rPr lang="ko-KR" altLang="en-US" dirty="0"/>
              <a:t>수요자</a:t>
            </a:r>
            <a:r>
              <a:rPr lang="en-US" altLang="ko-KR" dirty="0"/>
              <a:t>)**</a:t>
            </a:r>
            <a:r>
              <a:rPr lang="ko-KR" altLang="en-US" dirty="0"/>
              <a:t>가 이를 구매합니다 </a:t>
            </a:r>
            <a:r>
              <a:rPr lang="en-US" altLang="ko-KR" dirty="0"/>
              <a:t>[1, 3]. </a:t>
            </a:r>
            <a:r>
              <a:rPr lang="ko-KR" altLang="en-US" dirty="0"/>
              <a:t>가격은 시장에서 거래되는 재화나 서비스의 가격이며</a:t>
            </a:r>
            <a:r>
              <a:rPr lang="en-US" altLang="ko-KR" dirty="0"/>
              <a:t>, </a:t>
            </a:r>
            <a:r>
              <a:rPr lang="ko-KR" altLang="en-US" dirty="0"/>
              <a:t>거래량은 수요량 또는 공급량입니다 </a:t>
            </a:r>
            <a:r>
              <a:rPr lang="en-US" altLang="ko-KR" dirty="0"/>
              <a:t>[3].</a:t>
            </a:r>
          </a:p>
          <a:p>
            <a:pPr lvl="1"/>
            <a:r>
              <a:rPr lang="en-US" altLang="ko-KR" dirty="0"/>
              <a:t>*   **</a:t>
            </a:r>
            <a:r>
              <a:rPr lang="ko-KR" altLang="en-US" dirty="0"/>
              <a:t>생산 요소 시장** </a:t>
            </a:r>
            <a:r>
              <a:rPr lang="en-US" altLang="ko-KR" dirty="0"/>
              <a:t>(</a:t>
            </a:r>
            <a:r>
              <a:rPr lang="ko-KR" altLang="en-US" dirty="0"/>
              <a:t>예</a:t>
            </a:r>
            <a:r>
              <a:rPr lang="en-US" altLang="ko-KR" dirty="0"/>
              <a:t>: </a:t>
            </a:r>
            <a:r>
              <a:rPr lang="ko-KR" altLang="en-US" dirty="0"/>
              <a:t>노동 시장</a:t>
            </a:r>
            <a:r>
              <a:rPr lang="en-US" altLang="ko-KR" dirty="0"/>
              <a:t>, </a:t>
            </a:r>
            <a:r>
              <a:rPr lang="ko-KR" altLang="en-US" dirty="0"/>
              <a:t>자본 시장</a:t>
            </a:r>
            <a:r>
              <a:rPr lang="en-US" altLang="ko-KR" dirty="0"/>
              <a:t>)</a:t>
            </a:r>
            <a:r>
              <a:rPr lang="ko-KR" altLang="en-US" dirty="0"/>
              <a:t>에서는 역할이 반전됩니다 </a:t>
            </a:r>
            <a:r>
              <a:rPr lang="en-US" altLang="ko-KR" dirty="0"/>
              <a:t>[1, 3].</a:t>
            </a:r>
          </a:p>
          <a:p>
            <a:pPr lvl="1"/>
            <a:r>
              <a:rPr lang="en-US" altLang="ko-KR" dirty="0"/>
              <a:t>    *   </a:t>
            </a:r>
            <a:r>
              <a:rPr lang="ko-KR" altLang="en-US" dirty="0"/>
              <a:t>노동 시장에서 **소비자**는 노동력을 **공급**하고 **생산자**는 노동력을 **수요**합니다</a:t>
            </a:r>
            <a:r>
              <a:rPr lang="en-US" altLang="ko-KR" dirty="0"/>
              <a:t>. </a:t>
            </a:r>
            <a:r>
              <a:rPr lang="ko-KR" altLang="en-US" dirty="0"/>
              <a:t>가격은 **임금**</a:t>
            </a:r>
            <a:r>
              <a:rPr lang="en-US" altLang="ko-KR" dirty="0"/>
              <a:t>, </a:t>
            </a:r>
            <a:r>
              <a:rPr lang="ko-KR" altLang="en-US" dirty="0"/>
              <a:t>거래량은 노동 시간 또는 노동량입니다 </a:t>
            </a:r>
            <a:r>
              <a:rPr lang="en-US" altLang="ko-KR" dirty="0"/>
              <a:t>[1].</a:t>
            </a:r>
          </a:p>
          <a:p>
            <a:pPr lvl="1"/>
            <a:r>
              <a:rPr lang="en-US" altLang="ko-KR" dirty="0"/>
              <a:t>    *   </a:t>
            </a:r>
            <a:r>
              <a:rPr lang="ko-KR" altLang="en-US" dirty="0"/>
              <a:t>자본 시장에서 **소비자**는 저축을 통해 자본을 **공급**하고 **생산자**는 자본을 **수요**합니다</a:t>
            </a:r>
            <a:r>
              <a:rPr lang="en-US" altLang="ko-KR" dirty="0"/>
              <a:t>. </a:t>
            </a:r>
            <a:r>
              <a:rPr lang="ko-KR" altLang="en-US" dirty="0"/>
              <a:t>가격은 **이자율**</a:t>
            </a:r>
            <a:r>
              <a:rPr lang="en-US" altLang="ko-KR" dirty="0"/>
              <a:t>, </a:t>
            </a:r>
            <a:r>
              <a:rPr lang="ko-KR" altLang="en-US" dirty="0"/>
              <a:t>거래량은 </a:t>
            </a:r>
            <a:r>
              <a:rPr lang="ko-KR" altLang="en-US" dirty="0" err="1"/>
              <a:t>자본량입니다</a:t>
            </a:r>
            <a:r>
              <a:rPr lang="ko-KR" altLang="en-US" dirty="0"/>
              <a:t> </a:t>
            </a:r>
            <a:r>
              <a:rPr lang="en-US" altLang="ko-KR" dirty="0"/>
              <a:t>[1].</a:t>
            </a:r>
          </a:p>
          <a:p>
            <a:pPr lvl="1"/>
            <a:r>
              <a:rPr lang="en-US" altLang="ko-KR" dirty="0"/>
              <a:t>*   </a:t>
            </a:r>
            <a:r>
              <a:rPr lang="ko-KR" altLang="en-US" dirty="0"/>
              <a:t>생산자는 생산 요소 시장에서 노동과 자본을 구입하여 기술과 결합해 생산 함수를 통해 재화나 서비스를 생산하고</a:t>
            </a:r>
            <a:r>
              <a:rPr lang="en-US" altLang="ko-KR" dirty="0"/>
              <a:t>, </a:t>
            </a:r>
            <a:r>
              <a:rPr lang="ko-KR" altLang="en-US" dirty="0"/>
              <a:t>이를 재화 및 서비스 시장에 공급합니다 </a:t>
            </a:r>
            <a:r>
              <a:rPr lang="en-US" altLang="ko-KR" dirty="0"/>
              <a:t>[1].</a:t>
            </a:r>
          </a:p>
          <a:p>
            <a:pPr lvl="1"/>
            <a:r>
              <a:rPr lang="en-US" altLang="ko-KR" dirty="0"/>
              <a:t>*   </a:t>
            </a:r>
            <a:r>
              <a:rPr lang="ko-KR" altLang="en-US" dirty="0"/>
              <a:t>소비자는 노동이나 자본 공급을 통해 얻은 소득</a:t>
            </a:r>
            <a:r>
              <a:rPr lang="en-US" altLang="ko-KR" dirty="0"/>
              <a:t>(</a:t>
            </a:r>
            <a:r>
              <a:rPr lang="ko-KR" altLang="en-US" dirty="0"/>
              <a:t>임금</a:t>
            </a:r>
            <a:r>
              <a:rPr lang="en-US" altLang="ko-KR" dirty="0"/>
              <a:t>, </a:t>
            </a:r>
            <a:r>
              <a:rPr lang="ko-KR" altLang="en-US" dirty="0"/>
              <a:t>이자</a:t>
            </a:r>
            <a:r>
              <a:rPr lang="en-US" altLang="ko-KR" dirty="0"/>
              <a:t>)</a:t>
            </a:r>
            <a:r>
              <a:rPr lang="ko-KR" altLang="en-US" dirty="0"/>
              <a:t>으로 재화 및 서비스 시장에서 재화나 서비스를 구매하여 효용을 극대화하고자 합니다 </a:t>
            </a:r>
            <a:r>
              <a:rPr lang="en-US" altLang="ko-KR" dirty="0"/>
              <a:t>[1, 2]. </a:t>
            </a:r>
            <a:r>
              <a:rPr lang="ko-KR" altLang="en-US" dirty="0"/>
              <a:t>이는 예산 제약 하에서 이루어집니다 </a:t>
            </a:r>
            <a:r>
              <a:rPr lang="en-US" altLang="ko-KR" dirty="0"/>
              <a:t>[2].</a:t>
            </a:r>
          </a:p>
          <a:p>
            <a:pPr lvl="1"/>
            <a:r>
              <a:rPr lang="en-US" altLang="ko-KR" dirty="0"/>
              <a:t>*   **</a:t>
            </a:r>
            <a:r>
              <a:rPr lang="ko-KR" altLang="en-US" dirty="0"/>
              <a:t>돈의 흐름**은 시장 외부에서 내부로</a:t>
            </a:r>
            <a:r>
              <a:rPr lang="en-US" altLang="ko-KR" dirty="0"/>
              <a:t>, **</a:t>
            </a:r>
            <a:r>
              <a:rPr lang="ko-KR" altLang="en-US" dirty="0"/>
              <a:t>실물의 흐름**은 내부에서 외부로 순환하며</a:t>
            </a:r>
            <a:r>
              <a:rPr lang="en-US" altLang="ko-KR" dirty="0"/>
              <a:t>, </a:t>
            </a:r>
            <a:r>
              <a:rPr lang="ko-KR" altLang="en-US" dirty="0"/>
              <a:t>이론적으로는 양의 가치가 동일합니다 </a:t>
            </a:r>
            <a:r>
              <a:rPr lang="en-US" altLang="ko-KR" dirty="0"/>
              <a:t>[2].</a:t>
            </a:r>
          </a:p>
          <a:p>
            <a:pPr lvl="1"/>
            <a:r>
              <a:rPr lang="en-US" altLang="ko-KR" dirty="0"/>
              <a:t>*   </a:t>
            </a:r>
            <a:r>
              <a:rPr lang="ko-KR" altLang="en-US" dirty="0"/>
              <a:t>화폐 공급량의 변화는 인플레이션 또는 디플레이션을 초래할 수 있습니다 </a:t>
            </a:r>
            <a:r>
              <a:rPr lang="en-US" altLang="ko-KR" dirty="0"/>
              <a:t>[2, 3].</a:t>
            </a:r>
          </a:p>
          <a:p>
            <a:r>
              <a:rPr lang="en-US" altLang="ko-KR" dirty="0"/>
              <a:t>### 2. </a:t>
            </a:r>
            <a:r>
              <a:rPr lang="ko-KR" altLang="en-US" dirty="0"/>
              <a:t>시장 작동 원리의 이해 </a:t>
            </a:r>
            <a:r>
              <a:rPr lang="en-US" altLang="ko-KR" dirty="0"/>
              <a:t>[3, 4]</a:t>
            </a:r>
          </a:p>
          <a:p>
            <a:pPr lvl="1"/>
            <a:r>
              <a:rPr lang="en-US" altLang="ko-KR" dirty="0"/>
              <a:t>*   </a:t>
            </a:r>
            <a:r>
              <a:rPr lang="ko-KR" altLang="en-US" dirty="0"/>
              <a:t>재화 및 서비스 시장과 생산 요소 시장은 **수요와 공급 이론**에 의해 동일한 원리로 설명될 수 있습니다 </a:t>
            </a:r>
            <a:r>
              <a:rPr lang="en-US" altLang="ko-KR" dirty="0"/>
              <a:t>[3].</a:t>
            </a:r>
          </a:p>
          <a:p>
            <a:pPr lvl="1"/>
            <a:r>
              <a:rPr lang="en-US" altLang="ko-KR" dirty="0"/>
              <a:t>*   </a:t>
            </a:r>
            <a:r>
              <a:rPr lang="ko-KR" altLang="en-US" dirty="0"/>
              <a:t>유일한 차이점은 **생산자와 소비자의 역할이 시장에 따라 반전**된다는 것입니다 </a:t>
            </a:r>
            <a:r>
              <a:rPr lang="en-US" altLang="ko-KR" dirty="0"/>
              <a:t>[3].</a:t>
            </a:r>
          </a:p>
          <a:p>
            <a:pPr lvl="1"/>
            <a:r>
              <a:rPr lang="en-US" altLang="ko-KR" dirty="0"/>
              <a:t>*   </a:t>
            </a:r>
            <a:r>
              <a:rPr lang="ko-KR" altLang="en-US" dirty="0"/>
              <a:t>따라서 하나의 시장 작동 원리를 정확히 이해하면 다른 시장의 작동 원리를 추론하는 데 문제가 없습니다 </a:t>
            </a:r>
            <a:r>
              <a:rPr lang="en-US" altLang="ko-KR" dirty="0"/>
              <a:t>[4].</a:t>
            </a:r>
          </a:p>
          <a:p>
            <a:pPr lvl="1"/>
            <a:r>
              <a:rPr lang="en-US" altLang="ko-KR" dirty="0"/>
              <a:t>*   </a:t>
            </a:r>
            <a:r>
              <a:rPr lang="ko-KR" altLang="en-US" dirty="0"/>
              <a:t>미시경제학은 일반적으로 **소비자 이론**</a:t>
            </a:r>
            <a:r>
              <a:rPr lang="en-US" altLang="ko-KR" dirty="0"/>
              <a:t>, **</a:t>
            </a:r>
            <a:r>
              <a:rPr lang="ko-KR" altLang="en-US" dirty="0"/>
              <a:t>생산자 이론**</a:t>
            </a:r>
            <a:r>
              <a:rPr lang="en-US" altLang="ko-KR" dirty="0"/>
              <a:t>, **</a:t>
            </a:r>
            <a:r>
              <a:rPr lang="ko-KR" altLang="en-US" dirty="0"/>
              <a:t>시장 구조** 순으로 학습하지만</a:t>
            </a:r>
            <a:r>
              <a:rPr lang="en-US" altLang="ko-KR" dirty="0"/>
              <a:t>, </a:t>
            </a:r>
            <a:r>
              <a:rPr lang="ko-KR" altLang="en-US" dirty="0"/>
              <a:t>생산자 이론을 먼저 이해하는 것이 더 효과적일 수 있습니다 </a:t>
            </a:r>
            <a:r>
              <a:rPr lang="en-US" altLang="ko-KR" dirty="0"/>
              <a:t>[4]. </a:t>
            </a:r>
            <a:r>
              <a:rPr lang="ko-KR" altLang="en-US" dirty="0"/>
              <a:t>소비자 이론은 완전 경쟁 상황을 가정하지만</a:t>
            </a:r>
            <a:r>
              <a:rPr lang="en-US" altLang="ko-KR" dirty="0"/>
              <a:t>, </a:t>
            </a:r>
            <a:r>
              <a:rPr lang="ko-KR" altLang="en-US" dirty="0"/>
              <a:t>생산자 이론은 다양한 경쟁 상황을 고려하기 때문입니다 </a:t>
            </a:r>
            <a:r>
              <a:rPr lang="en-US" altLang="ko-KR" dirty="0"/>
              <a:t>[4].</a:t>
            </a:r>
          </a:p>
          <a:p>
            <a:r>
              <a:rPr lang="en-US" altLang="ko-KR" dirty="0"/>
              <a:t>### 3. </a:t>
            </a:r>
            <a:r>
              <a:rPr lang="ko-KR" altLang="en-US" dirty="0"/>
              <a:t>불확실성과 확률적 사고 </a:t>
            </a:r>
            <a:r>
              <a:rPr lang="en-US" altLang="ko-KR" dirty="0"/>
              <a:t>[5]</a:t>
            </a:r>
          </a:p>
          <a:p>
            <a:pPr lvl="1"/>
            <a:r>
              <a:rPr lang="en-US" altLang="ko-KR" dirty="0"/>
              <a:t>*   </a:t>
            </a:r>
            <a:r>
              <a:rPr lang="ko-KR" altLang="en-US" dirty="0"/>
              <a:t>실제 세상은 **불확실성**으로 가득 차 있으며</a:t>
            </a:r>
            <a:r>
              <a:rPr lang="en-US" altLang="ko-KR" dirty="0"/>
              <a:t>, </a:t>
            </a:r>
            <a:r>
              <a:rPr lang="ko-KR" altLang="en-US" dirty="0"/>
              <a:t>생산자의 판매량</a:t>
            </a:r>
            <a:r>
              <a:rPr lang="en-US" altLang="ko-KR" dirty="0"/>
              <a:t>, </a:t>
            </a:r>
            <a:r>
              <a:rPr lang="ko-KR" altLang="en-US" dirty="0"/>
              <a:t>경쟁자</a:t>
            </a:r>
            <a:r>
              <a:rPr lang="en-US" altLang="ko-KR" dirty="0"/>
              <a:t>, </a:t>
            </a:r>
            <a:r>
              <a:rPr lang="ko-KR" altLang="en-US" dirty="0"/>
              <a:t>연구 개발 성공 여부 등이 불투명합니다 </a:t>
            </a:r>
            <a:r>
              <a:rPr lang="en-US" altLang="ko-KR" dirty="0"/>
              <a:t>[5].</a:t>
            </a:r>
          </a:p>
          <a:p>
            <a:pPr lvl="1"/>
            <a:r>
              <a:rPr lang="en-US" altLang="ko-KR" dirty="0"/>
              <a:t>*   </a:t>
            </a:r>
            <a:r>
              <a:rPr lang="ko-KR" altLang="en-US" dirty="0"/>
              <a:t>불확실성 하에서 사람들은 **확률적**으로 사고하며</a:t>
            </a:r>
            <a:r>
              <a:rPr lang="en-US" altLang="ko-KR" dirty="0"/>
              <a:t>, </a:t>
            </a:r>
            <a:r>
              <a:rPr lang="ko-KR" altLang="en-US" dirty="0"/>
              <a:t>발생 가능성이 높은 사건에 더 높은 가중치를 부여하여 **</a:t>
            </a:r>
            <a:r>
              <a:rPr lang="ko-KR" altLang="en-US" dirty="0" err="1"/>
              <a:t>기대값</a:t>
            </a:r>
            <a:r>
              <a:rPr lang="ko-KR" altLang="en-US" dirty="0"/>
              <a:t>**을 계산하고 의사 결정을 합니다 </a:t>
            </a:r>
            <a:r>
              <a:rPr lang="en-US" altLang="ko-KR" dirty="0"/>
              <a:t>[5].</a:t>
            </a:r>
          </a:p>
          <a:p>
            <a:r>
              <a:rPr lang="en-US" altLang="ko-KR" dirty="0"/>
              <a:t>### 4. </a:t>
            </a:r>
            <a:r>
              <a:rPr lang="ko-KR" altLang="en-US" dirty="0"/>
              <a:t>시장 구조와 기술 혁신 연구의 기본 틀 </a:t>
            </a:r>
            <a:r>
              <a:rPr lang="en-US" altLang="ko-KR" dirty="0"/>
              <a:t>[5]</a:t>
            </a:r>
          </a:p>
          <a:p>
            <a:pPr lvl="1"/>
            <a:r>
              <a:rPr lang="en-US" altLang="ko-KR" dirty="0"/>
              <a:t>*   </a:t>
            </a:r>
            <a:r>
              <a:rPr lang="ko-KR" altLang="en-US" dirty="0"/>
              <a:t>본 강의에서는 **생산자** 입장에서 새로운 제품 개발 및 판매를 통한 이윤 극대화를 목표로 하는 **시장 구조와 기술 혁신**을 연구합니다 </a:t>
            </a:r>
            <a:r>
              <a:rPr lang="en-US" altLang="ko-KR" dirty="0"/>
              <a:t>[5].</a:t>
            </a:r>
          </a:p>
          <a:p>
            <a:pPr lvl="1"/>
            <a:r>
              <a:rPr lang="en-US" altLang="ko-KR" dirty="0"/>
              <a:t>*   </a:t>
            </a:r>
            <a:r>
              <a:rPr lang="ko-KR" altLang="en-US" dirty="0"/>
              <a:t>경쟁 상황</a:t>
            </a:r>
            <a:r>
              <a:rPr lang="en-US" altLang="ko-KR" dirty="0"/>
              <a:t>(</a:t>
            </a:r>
            <a:r>
              <a:rPr lang="ko-KR" altLang="en-US" dirty="0"/>
              <a:t>시장 구조</a:t>
            </a:r>
            <a:r>
              <a:rPr lang="en-US" altLang="ko-KR" dirty="0"/>
              <a:t>)</a:t>
            </a:r>
            <a:r>
              <a:rPr lang="ko-KR" altLang="en-US" dirty="0"/>
              <a:t>은 생산자의 성공 확률에 큰 영향을 미칩니다 </a:t>
            </a:r>
            <a:r>
              <a:rPr lang="en-US" altLang="ko-KR" dirty="0"/>
              <a:t>[5].</a:t>
            </a:r>
          </a:p>
          <a:p>
            <a:r>
              <a:rPr lang="en-US" altLang="ko-KR" dirty="0"/>
              <a:t>### 5. </a:t>
            </a:r>
            <a:r>
              <a:rPr lang="ko-KR" altLang="en-US" dirty="0"/>
              <a:t>혁신의 분류 </a:t>
            </a:r>
            <a:r>
              <a:rPr lang="en-US" altLang="ko-KR" dirty="0"/>
              <a:t>[5-7]</a:t>
            </a:r>
          </a:p>
          <a:p>
            <a:pPr lvl="1"/>
            <a:r>
              <a:rPr lang="en-US" altLang="ko-KR" dirty="0"/>
              <a:t>*   </a:t>
            </a:r>
            <a:r>
              <a:rPr lang="ko-KR" altLang="en-US" dirty="0"/>
              <a:t>혁신은 내용에 따라 **기초 연구**</a:t>
            </a:r>
            <a:r>
              <a:rPr lang="en-US" altLang="ko-KR" dirty="0"/>
              <a:t>, **</a:t>
            </a:r>
            <a:r>
              <a:rPr lang="ko-KR" altLang="en-US" dirty="0"/>
              <a:t>응용 연구**</a:t>
            </a:r>
            <a:r>
              <a:rPr lang="en-US" altLang="ko-KR" dirty="0"/>
              <a:t>, **</a:t>
            </a:r>
            <a:r>
              <a:rPr lang="ko-KR" altLang="en-US" dirty="0"/>
              <a:t>개발 연구**로 분류할 수 있습니다 </a:t>
            </a:r>
            <a:r>
              <a:rPr lang="en-US" altLang="ko-KR" dirty="0"/>
              <a:t>[5, 6].</a:t>
            </a:r>
          </a:p>
          <a:p>
            <a:pPr lvl="1"/>
            <a:r>
              <a:rPr lang="en-US" altLang="ko-KR" dirty="0"/>
              <a:t>    *   **</a:t>
            </a:r>
            <a:r>
              <a:rPr lang="ko-KR" altLang="en-US" dirty="0"/>
              <a:t>기초 연구**</a:t>
            </a:r>
            <a:r>
              <a:rPr lang="en-US" altLang="ko-KR" dirty="0"/>
              <a:t>: </a:t>
            </a:r>
            <a:r>
              <a:rPr lang="ko-KR" altLang="en-US" dirty="0"/>
              <a:t>순수 학문 연구 </a:t>
            </a:r>
            <a:r>
              <a:rPr lang="en-US" altLang="ko-KR" dirty="0"/>
              <a:t>[5].</a:t>
            </a:r>
          </a:p>
          <a:p>
            <a:pPr lvl="1"/>
            <a:r>
              <a:rPr lang="en-US" altLang="ko-KR" dirty="0"/>
              <a:t>    *   **</a:t>
            </a:r>
            <a:r>
              <a:rPr lang="ko-KR" altLang="en-US" dirty="0"/>
              <a:t>응용 연구**</a:t>
            </a:r>
            <a:r>
              <a:rPr lang="en-US" altLang="ko-KR" dirty="0"/>
              <a:t>: </a:t>
            </a:r>
            <a:r>
              <a:rPr lang="ko-KR" altLang="en-US" dirty="0"/>
              <a:t>기초 연구를 활용한 특정 용도의 공학적 연구 </a:t>
            </a:r>
            <a:r>
              <a:rPr lang="en-US" altLang="ko-KR" dirty="0"/>
              <a:t>[5, 6].</a:t>
            </a:r>
          </a:p>
          <a:p>
            <a:pPr lvl="1"/>
            <a:r>
              <a:rPr lang="en-US" altLang="ko-KR" dirty="0"/>
              <a:t>    *   **</a:t>
            </a:r>
            <a:r>
              <a:rPr lang="ko-KR" altLang="en-US" dirty="0"/>
              <a:t>개발 연구**</a:t>
            </a:r>
            <a:r>
              <a:rPr lang="en-US" altLang="ko-KR" dirty="0"/>
              <a:t>: </a:t>
            </a:r>
            <a:r>
              <a:rPr lang="ko-KR" altLang="en-US" dirty="0"/>
              <a:t>응용 연구 결과를 시장에 판매 가능한 제품으로 실용화하는 연구 </a:t>
            </a:r>
            <a:r>
              <a:rPr lang="en-US" altLang="ko-KR" dirty="0"/>
              <a:t>[5, 6].</a:t>
            </a:r>
          </a:p>
          <a:p>
            <a:pPr lvl="1"/>
            <a:r>
              <a:rPr lang="en-US" altLang="ko-KR" dirty="0"/>
              <a:t>*   </a:t>
            </a:r>
            <a:r>
              <a:rPr lang="ko-KR" altLang="en-US" dirty="0"/>
              <a:t>혁신은 결과물에 따라 **공정 혁신</a:t>
            </a:r>
            <a:r>
              <a:rPr lang="en-US" altLang="ko-KR" dirty="0"/>
              <a:t>(Process Innovation)**</a:t>
            </a:r>
            <a:r>
              <a:rPr lang="ko-KR" altLang="en-US" dirty="0"/>
              <a:t>과 **제품 혁신</a:t>
            </a:r>
            <a:r>
              <a:rPr lang="en-US" altLang="ko-KR" dirty="0"/>
              <a:t>(Product Innovation)**</a:t>
            </a:r>
            <a:r>
              <a:rPr lang="ko-KR" altLang="en-US" dirty="0"/>
              <a:t>으로 분류할 수 있습니다 </a:t>
            </a:r>
            <a:r>
              <a:rPr lang="en-US" altLang="ko-KR" dirty="0"/>
              <a:t>[7].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B4B54CA-07EB-EF51-E5CC-3F76781E87C2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75782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FE78D0C2-623C-3BBF-7809-19DBA99B8A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AA0B033D-66E1-D1A3-C5B4-C5CC783E3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E43873E-A6CB-5641-B5EE-720EAF373CF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8C81DF9F-6F76-DF15-A128-466775230B8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en-US" altLang="ko-KR" dirty="0"/>
              <a:t> ### 6. </a:t>
            </a:r>
            <a:r>
              <a:rPr lang="ko-KR" altLang="en-US" dirty="0"/>
              <a:t>공정 혁신 </a:t>
            </a:r>
            <a:r>
              <a:rPr lang="en-US" altLang="ko-KR" dirty="0"/>
              <a:t>(Process Innovation) [7-12]</a:t>
            </a:r>
          </a:p>
          <a:p>
            <a:pPr lvl="1"/>
            <a:r>
              <a:rPr lang="en-US" altLang="ko-KR" dirty="0"/>
              <a:t>*   **</a:t>
            </a:r>
            <a:r>
              <a:rPr lang="ko-KR" altLang="en-US" dirty="0"/>
              <a:t>공정 혁신**은 동일한 제품을 생산하는 과정에서 **비용을 절감**하는 혁신입니다 </a:t>
            </a:r>
            <a:r>
              <a:rPr lang="en-US" altLang="ko-KR" dirty="0"/>
              <a:t>[7].</a:t>
            </a:r>
          </a:p>
          <a:p>
            <a:pPr lvl="1"/>
            <a:r>
              <a:rPr lang="en-US" altLang="ko-KR" dirty="0"/>
              <a:t>*   **</a:t>
            </a:r>
            <a:r>
              <a:rPr lang="ko-KR" altLang="en-US" dirty="0"/>
              <a:t>급진적 공정 혁신 </a:t>
            </a:r>
            <a:r>
              <a:rPr lang="en-US" altLang="ko-KR" dirty="0"/>
              <a:t>(Drastic Process Innovation)**: </a:t>
            </a:r>
            <a:r>
              <a:rPr lang="ko-KR" altLang="en-US" dirty="0"/>
              <a:t>생산 비용의 **급격한 감소**를 통해 시장에서 **가격 인하**를 유발하고 소비자 후생을 증가시키는 혁신입니다 </a:t>
            </a:r>
            <a:r>
              <a:rPr lang="en-US" altLang="ko-KR" dirty="0"/>
              <a:t>[7, 8, 12].</a:t>
            </a:r>
          </a:p>
          <a:p>
            <a:pPr lvl="1"/>
            <a:r>
              <a:rPr lang="en-US" altLang="ko-KR" dirty="0"/>
              <a:t>*   **</a:t>
            </a:r>
            <a:r>
              <a:rPr lang="ko-KR" altLang="en-US" dirty="0" err="1"/>
              <a:t>비급진적</a:t>
            </a:r>
            <a:r>
              <a:rPr lang="ko-KR" altLang="en-US" dirty="0"/>
              <a:t> 공정 혁신 </a:t>
            </a:r>
            <a:r>
              <a:rPr lang="en-US" altLang="ko-KR" dirty="0"/>
              <a:t>(Non-Drastic Process Innovation)**: </a:t>
            </a:r>
            <a:r>
              <a:rPr lang="ko-KR" altLang="en-US" dirty="0"/>
              <a:t>생산 비용이 절감되지만 시장 **가격은 변하지 않고** 기업의 이윤만 증가하는 혁신입니다 </a:t>
            </a:r>
            <a:r>
              <a:rPr lang="en-US" altLang="ko-KR" dirty="0"/>
              <a:t>[8, 10, 12].</a:t>
            </a:r>
          </a:p>
          <a:p>
            <a:pPr lvl="1"/>
            <a:r>
              <a:rPr lang="en-US" altLang="ko-KR" dirty="0"/>
              <a:t>*   </a:t>
            </a:r>
            <a:r>
              <a:rPr lang="ko-KR" altLang="en-US" dirty="0"/>
              <a:t>공정 혁신의 효과는 기업의 가격 전략에 따라 달라집니다 </a:t>
            </a:r>
            <a:r>
              <a:rPr lang="en-US" altLang="ko-KR" dirty="0"/>
              <a:t>[7]. </a:t>
            </a:r>
            <a:r>
              <a:rPr lang="ko-KR" altLang="en-US" dirty="0"/>
              <a:t>비용 절감에도 불구하고 기존 가격을 유지하거나 소폭 인하하여 독점 이윤을 누릴 수 있습니다 </a:t>
            </a:r>
            <a:r>
              <a:rPr lang="en-US" altLang="ko-KR" dirty="0"/>
              <a:t>[10].</a:t>
            </a:r>
          </a:p>
          <a:p>
            <a:pPr lvl="1"/>
            <a:r>
              <a:rPr lang="en-US" altLang="ko-KR" dirty="0"/>
              <a:t>*   </a:t>
            </a:r>
            <a:r>
              <a:rPr lang="ko-KR" altLang="en-US" dirty="0"/>
              <a:t>급진적 혁신 여부는 시장에서의 **가격 변화**를 통해 판단할 수 있습니다 </a:t>
            </a:r>
            <a:r>
              <a:rPr lang="en-US" altLang="ko-KR" dirty="0"/>
              <a:t>[8].</a:t>
            </a:r>
          </a:p>
          <a:p>
            <a:pPr lvl="1"/>
            <a:r>
              <a:rPr lang="en-US" altLang="ko-KR" dirty="0"/>
              <a:t>*   </a:t>
            </a:r>
            <a:r>
              <a:rPr lang="ko-KR" altLang="en-US" dirty="0"/>
              <a:t>그래프를 통해 급진적 및 </a:t>
            </a:r>
            <a:r>
              <a:rPr lang="ko-KR" altLang="en-US" dirty="0" err="1"/>
              <a:t>비급진적</a:t>
            </a:r>
            <a:r>
              <a:rPr lang="ko-KR" altLang="en-US" dirty="0"/>
              <a:t> 공정 혁신을 설명하며</a:t>
            </a:r>
            <a:r>
              <a:rPr lang="en-US" altLang="ko-KR" dirty="0"/>
              <a:t>, **</a:t>
            </a:r>
            <a:r>
              <a:rPr lang="ko-KR" altLang="en-US" dirty="0"/>
              <a:t>수요 곡선의 </a:t>
            </a:r>
            <a:r>
              <a:rPr lang="ko-KR" altLang="en-US" dirty="0" err="1"/>
              <a:t>굴절점</a:t>
            </a:r>
            <a:r>
              <a:rPr lang="en-US" altLang="ko-KR" dirty="0"/>
              <a:t>(kinked demand curve)** </a:t>
            </a:r>
            <a:r>
              <a:rPr lang="ko-KR" altLang="en-US" dirty="0"/>
              <a:t>내에서 비용 절감이 이루어지면 </a:t>
            </a:r>
            <a:r>
              <a:rPr lang="ko-KR" altLang="en-US" dirty="0" err="1"/>
              <a:t>비급진적</a:t>
            </a:r>
            <a:r>
              <a:rPr lang="ko-KR" altLang="en-US" dirty="0"/>
              <a:t> 혁신</a:t>
            </a:r>
            <a:r>
              <a:rPr lang="en-US" altLang="ko-KR" dirty="0"/>
              <a:t>, </a:t>
            </a:r>
            <a:r>
              <a:rPr lang="ko-KR" altLang="en-US" dirty="0"/>
              <a:t>이를 벗어나 더 큰 비용 절감이 이루어지면 급진적 혁신으로 해석할 수 있습니다 </a:t>
            </a:r>
            <a:r>
              <a:rPr lang="en-US" altLang="ko-KR" dirty="0"/>
              <a:t>[9, 11, 12].</a:t>
            </a:r>
          </a:p>
          <a:p>
            <a:r>
              <a:rPr lang="en-US" altLang="ko-KR" dirty="0"/>
              <a:t>### 7. </a:t>
            </a:r>
            <a:r>
              <a:rPr lang="ko-KR" altLang="en-US" dirty="0"/>
              <a:t>제품 혁신 </a:t>
            </a:r>
            <a:r>
              <a:rPr lang="en-US" altLang="ko-KR" dirty="0"/>
              <a:t>(Product Innovation) [8, 9]</a:t>
            </a:r>
          </a:p>
          <a:p>
            <a:pPr lvl="1"/>
            <a:r>
              <a:rPr lang="en-US" altLang="ko-KR" dirty="0"/>
              <a:t>*   **</a:t>
            </a:r>
            <a:r>
              <a:rPr lang="ko-KR" altLang="en-US" dirty="0"/>
              <a:t>제품 혁신**은 **새로운 제품**을 개발하거나 **기존 제품을 개선**하는 혁신입니다 </a:t>
            </a:r>
            <a:r>
              <a:rPr lang="en-US" altLang="ko-KR" dirty="0"/>
              <a:t>[8].</a:t>
            </a:r>
          </a:p>
          <a:p>
            <a:pPr lvl="1"/>
            <a:r>
              <a:rPr lang="en-US" altLang="ko-KR" dirty="0"/>
              <a:t>*   </a:t>
            </a:r>
            <a:r>
              <a:rPr lang="ko-KR" altLang="en-US" dirty="0"/>
              <a:t>제품 혁신 시 고려 사항</a:t>
            </a:r>
            <a:r>
              <a:rPr lang="en-US" altLang="ko-KR" dirty="0"/>
              <a:t>: </a:t>
            </a:r>
            <a:r>
              <a:rPr lang="ko-KR" altLang="en-US" dirty="0"/>
              <a:t>경쟁사 제품과의 대체 가능성</a:t>
            </a:r>
            <a:r>
              <a:rPr lang="en-US" altLang="ko-KR" dirty="0"/>
              <a:t>, </a:t>
            </a:r>
            <a:r>
              <a:rPr lang="ko-KR" altLang="en-US" dirty="0"/>
              <a:t>기존 자사 제품과의 **대체 효과</a:t>
            </a:r>
            <a:r>
              <a:rPr lang="en-US" altLang="ko-KR" dirty="0"/>
              <a:t>(replacement effect)** [8, 9].</a:t>
            </a:r>
          </a:p>
          <a:p>
            <a:r>
              <a:rPr lang="en-US" altLang="ko-KR" dirty="0"/>
              <a:t>### 8. </a:t>
            </a:r>
            <a:r>
              <a:rPr lang="ko-KR" altLang="en-US" dirty="0"/>
              <a:t>연구 개발의 기본 개념 </a:t>
            </a:r>
            <a:r>
              <a:rPr lang="en-US" altLang="ko-KR" dirty="0"/>
              <a:t>[12, 13]</a:t>
            </a:r>
          </a:p>
          <a:p>
            <a:pPr lvl="1"/>
            <a:r>
              <a:rPr lang="en-US" altLang="ko-KR" dirty="0"/>
              <a:t>*   </a:t>
            </a:r>
            <a:r>
              <a:rPr lang="ko-KR" altLang="en-US" dirty="0"/>
              <a:t>혁신은 크게 내용에 따른 분류</a:t>
            </a:r>
            <a:r>
              <a:rPr lang="en-US" altLang="ko-KR" dirty="0"/>
              <a:t>(</a:t>
            </a:r>
            <a:r>
              <a:rPr lang="ko-KR" altLang="en-US" dirty="0"/>
              <a:t>기초</a:t>
            </a:r>
            <a:r>
              <a:rPr lang="en-US" altLang="ko-KR" dirty="0"/>
              <a:t>, </a:t>
            </a:r>
            <a:r>
              <a:rPr lang="ko-KR" altLang="en-US" dirty="0"/>
              <a:t>응용</a:t>
            </a:r>
            <a:r>
              <a:rPr lang="en-US" altLang="ko-KR" dirty="0"/>
              <a:t>, </a:t>
            </a:r>
            <a:r>
              <a:rPr lang="ko-KR" altLang="en-US" dirty="0"/>
              <a:t>개발</a:t>
            </a:r>
            <a:r>
              <a:rPr lang="en-US" altLang="ko-KR" dirty="0"/>
              <a:t>)</a:t>
            </a:r>
            <a:r>
              <a:rPr lang="ko-KR" altLang="en-US" dirty="0"/>
              <a:t>와 결과에 따른 분류</a:t>
            </a:r>
            <a:r>
              <a:rPr lang="en-US" altLang="ko-KR" dirty="0"/>
              <a:t>(</a:t>
            </a:r>
            <a:r>
              <a:rPr lang="ko-KR" altLang="en-US" dirty="0"/>
              <a:t>공정</a:t>
            </a:r>
            <a:r>
              <a:rPr lang="en-US" altLang="ko-KR" dirty="0"/>
              <a:t>, </a:t>
            </a:r>
            <a:r>
              <a:rPr lang="ko-KR" altLang="en-US" dirty="0"/>
              <a:t>제품</a:t>
            </a:r>
            <a:r>
              <a:rPr lang="en-US" altLang="ko-KR" dirty="0"/>
              <a:t>)</a:t>
            </a:r>
            <a:r>
              <a:rPr lang="ko-KR" altLang="en-US" dirty="0"/>
              <a:t>로 나눌 수 있습니다 </a:t>
            </a:r>
            <a:r>
              <a:rPr lang="en-US" altLang="ko-KR" dirty="0"/>
              <a:t>[12].</a:t>
            </a:r>
          </a:p>
          <a:p>
            <a:pPr lvl="1"/>
            <a:r>
              <a:rPr lang="en-US" altLang="ko-KR" dirty="0"/>
              <a:t>*   </a:t>
            </a:r>
            <a:r>
              <a:rPr lang="ko-KR" altLang="en-US" dirty="0"/>
              <a:t>본 강의의 주요 관심사는 **공정 혁신** 중에서도 **</a:t>
            </a:r>
            <a:r>
              <a:rPr lang="ko-KR" altLang="en-US" dirty="0" err="1"/>
              <a:t>비급진적</a:t>
            </a:r>
            <a:r>
              <a:rPr lang="en-US" altLang="ko-KR" dirty="0"/>
              <a:t>(</a:t>
            </a:r>
            <a:r>
              <a:rPr lang="ko-KR" altLang="en-US" dirty="0"/>
              <a:t>마이너</a:t>
            </a:r>
            <a:r>
              <a:rPr lang="en-US" altLang="ko-KR" dirty="0"/>
              <a:t>)** </a:t>
            </a:r>
            <a:r>
              <a:rPr lang="ko-KR" altLang="en-US" dirty="0"/>
              <a:t>혁신과 **급진적</a:t>
            </a:r>
            <a:r>
              <a:rPr lang="en-US" altLang="ko-KR" dirty="0"/>
              <a:t>(</a:t>
            </a:r>
            <a:r>
              <a:rPr lang="ko-KR" altLang="en-US" dirty="0"/>
              <a:t>메이저</a:t>
            </a:r>
            <a:r>
              <a:rPr lang="en-US" altLang="ko-KR" dirty="0"/>
              <a:t>)** </a:t>
            </a:r>
            <a:r>
              <a:rPr lang="ko-KR" altLang="en-US" dirty="0"/>
              <a:t>혁신입니다 </a:t>
            </a:r>
            <a:r>
              <a:rPr lang="en-US" altLang="ko-KR" dirty="0"/>
              <a:t>[13].</a:t>
            </a:r>
          </a:p>
          <a:p>
            <a:pPr lvl="1"/>
            <a:r>
              <a:rPr lang="en-US" altLang="ko-KR" dirty="0"/>
              <a:t>*   </a:t>
            </a:r>
            <a:r>
              <a:rPr lang="ko-KR" altLang="en-US" dirty="0"/>
              <a:t>경제학적으로 **</a:t>
            </a:r>
            <a:r>
              <a:rPr lang="ko-KR" altLang="en-US" dirty="0" err="1"/>
              <a:t>비급진적</a:t>
            </a:r>
            <a:r>
              <a:rPr lang="ko-KR" altLang="en-US" dirty="0"/>
              <a:t> 혁신**은 시장 가격에 변화가 없는 반면</a:t>
            </a:r>
            <a:r>
              <a:rPr lang="en-US" altLang="ko-KR" dirty="0"/>
              <a:t>, **</a:t>
            </a:r>
            <a:r>
              <a:rPr lang="ko-KR" altLang="en-US" dirty="0"/>
              <a:t>급진적 혁신**은 시장 가격 인하 효과를 발생시킵니다 </a:t>
            </a:r>
            <a:r>
              <a:rPr lang="en-US" altLang="ko-KR" dirty="0"/>
              <a:t>[13]. </a:t>
            </a:r>
            <a:r>
              <a:rPr lang="ko-KR" altLang="en-US" dirty="0"/>
              <a:t>이는 소비자 후생 변화에 중요한 영향을 미칩니다 </a:t>
            </a:r>
            <a:r>
              <a:rPr lang="en-US" altLang="ko-KR" dirty="0"/>
              <a:t>[</a:t>
            </a:r>
            <a:r>
              <a:rPr lang="en-US" altLang="ko-KR"/>
              <a:t>13].</a:t>
            </a:r>
            <a:endParaRPr lang="en-US" altLang="ko-KR" dirty="0"/>
          </a:p>
          <a:p>
            <a:r>
              <a:rPr lang="en-US" altLang="ko-KR" dirty="0"/>
              <a:t>### 9. </a:t>
            </a:r>
            <a:r>
              <a:rPr lang="ko-KR" altLang="en-US" dirty="0"/>
              <a:t>시장 구조와 연구 개발 투자에 대한 </a:t>
            </a:r>
            <a:r>
              <a:rPr lang="ko-KR" altLang="en-US" dirty="0" err="1"/>
              <a:t>슈페터의</a:t>
            </a:r>
            <a:r>
              <a:rPr lang="ko-KR" altLang="en-US" dirty="0"/>
              <a:t> 이론 </a:t>
            </a:r>
            <a:r>
              <a:rPr lang="en-US" altLang="ko-KR" dirty="0"/>
              <a:t>[13, 14]</a:t>
            </a:r>
          </a:p>
          <a:p>
            <a:pPr lvl="1"/>
            <a:r>
              <a:rPr lang="en-US" altLang="ko-KR" dirty="0"/>
              <a:t>*   **</a:t>
            </a:r>
            <a:r>
              <a:rPr lang="ko-KR" altLang="en-US" dirty="0"/>
              <a:t>조지프 </a:t>
            </a:r>
            <a:r>
              <a:rPr lang="ko-KR" altLang="en-US" dirty="0" err="1"/>
              <a:t>슘페터</a:t>
            </a:r>
            <a:r>
              <a:rPr lang="en-US" altLang="ko-KR" dirty="0"/>
              <a:t>(Joseph Schumpeter)**</a:t>
            </a:r>
            <a:r>
              <a:rPr lang="ko-KR" altLang="en-US" dirty="0"/>
              <a:t>는 시장 구조와 혁신 간의 관계에 대해 중요한 이론을 제시했습니다 </a:t>
            </a:r>
            <a:r>
              <a:rPr lang="en-US" altLang="ko-KR" dirty="0"/>
              <a:t>[13].</a:t>
            </a:r>
          </a:p>
          <a:p>
            <a:pPr lvl="1"/>
            <a:r>
              <a:rPr lang="en-US" altLang="ko-KR" dirty="0"/>
              <a:t>*   **</a:t>
            </a:r>
            <a:r>
              <a:rPr lang="ko-KR" altLang="en-US" dirty="0"/>
              <a:t>창조적 파괴 </a:t>
            </a:r>
            <a:r>
              <a:rPr lang="en-US" altLang="ko-KR" dirty="0"/>
              <a:t>(Creative Destruction) - Mark I (1912)**: </a:t>
            </a:r>
            <a:r>
              <a:rPr lang="ko-KR" altLang="en-US" dirty="0" err="1"/>
              <a:t>슘페터는</a:t>
            </a:r>
            <a:r>
              <a:rPr lang="ko-KR" altLang="en-US" dirty="0"/>
              <a:t> 기업들이 **독점 기업**이 되고자 하는 욕망이 혁신을 촉진한다고 주장했습니다 </a:t>
            </a:r>
            <a:r>
              <a:rPr lang="en-US" altLang="ko-KR" dirty="0"/>
              <a:t>[13]. </a:t>
            </a:r>
            <a:r>
              <a:rPr lang="ko-KR" altLang="en-US" dirty="0"/>
              <a:t>기존 독점 기업을 새로운 혁신으로 파괴하고 새로운 독점 기업이 등장하는 과정을 통해 경제 발전이 이루어진다고 보았습니다 </a:t>
            </a:r>
            <a:r>
              <a:rPr lang="en-US" altLang="ko-KR" dirty="0"/>
              <a:t>[13]. </a:t>
            </a:r>
            <a:r>
              <a:rPr lang="ko-KR" altLang="en-US" dirty="0"/>
              <a:t>이는 당시 </a:t>
            </a:r>
            <a:r>
              <a:rPr lang="en-US" altLang="ko-KR" dirty="0"/>
              <a:t>2</a:t>
            </a:r>
            <a:r>
              <a:rPr lang="ko-KR" altLang="en-US" dirty="0"/>
              <a:t>차 산업혁명 시기의 신흥 산업 강자들의 성장을 배경으로 합니다 </a:t>
            </a:r>
            <a:r>
              <a:rPr lang="en-US" altLang="ko-KR" dirty="0"/>
              <a:t>[13, 14].</a:t>
            </a:r>
          </a:p>
          <a:p>
            <a:pPr lvl="1"/>
            <a:r>
              <a:rPr lang="en-US" altLang="ko-KR" dirty="0"/>
              <a:t>*   **</a:t>
            </a:r>
            <a:r>
              <a:rPr lang="ko-KR" altLang="en-US" dirty="0"/>
              <a:t>창조적 축적 </a:t>
            </a:r>
            <a:r>
              <a:rPr lang="en-US" altLang="ko-KR" dirty="0"/>
              <a:t>(Creative Accumulation) - Mark II (1942)**: </a:t>
            </a:r>
            <a:r>
              <a:rPr lang="ko-KR" altLang="en-US" dirty="0"/>
              <a:t>이후 </a:t>
            </a:r>
            <a:r>
              <a:rPr lang="ko-KR" altLang="en-US" dirty="0" err="1"/>
              <a:t>슘페터는</a:t>
            </a:r>
            <a:r>
              <a:rPr lang="ko-KR" altLang="en-US" dirty="0"/>
              <a:t> 연구 개발이 주로 **대기업**에 의해 이루어지며</a:t>
            </a:r>
            <a:r>
              <a:rPr lang="en-US" altLang="ko-KR" dirty="0"/>
              <a:t>, </a:t>
            </a:r>
            <a:r>
              <a:rPr lang="ko-KR" altLang="en-US" dirty="0"/>
              <a:t>풍부한 자본과 노하우를 가진 대기업이 진정한 기술 혁신을 주도한다고 보았습니다 </a:t>
            </a:r>
            <a:r>
              <a:rPr lang="en-US" altLang="ko-KR" dirty="0"/>
              <a:t>[14]. </a:t>
            </a:r>
            <a:r>
              <a:rPr lang="ko-KR" altLang="en-US" dirty="0"/>
              <a:t>이는 </a:t>
            </a:r>
            <a:r>
              <a:rPr lang="en-US" altLang="ko-KR" dirty="0"/>
              <a:t>2</a:t>
            </a:r>
            <a:r>
              <a:rPr lang="ko-KR" altLang="en-US" dirty="0"/>
              <a:t>차 세계대전 당시 대기업들의 군수품 생산 및 기술 축적 경험을 바탕으로 합니다 </a:t>
            </a:r>
            <a:r>
              <a:rPr lang="en-US" altLang="ko-KR" dirty="0"/>
              <a:t>[14]. </a:t>
            </a:r>
            <a:r>
              <a:rPr lang="ko-KR" altLang="en-US" dirty="0"/>
              <a:t>따라서 독점적인 시장 구조는 연구 개발에 유리하다고 주장했습니다 </a:t>
            </a:r>
            <a:r>
              <a:rPr lang="en-US" altLang="ko-KR" dirty="0"/>
              <a:t>[14].</a:t>
            </a:r>
          </a:p>
          <a:p>
            <a:pPr lvl="1"/>
            <a:r>
              <a:rPr lang="en-US" altLang="ko-KR" dirty="0"/>
              <a:t>*   </a:t>
            </a:r>
            <a:r>
              <a:rPr lang="ko-KR" altLang="en-US" dirty="0"/>
              <a:t>두 이론 모두 **독점적인 시장 구조가 기술 혁신에 중요**하다고 주장하지만</a:t>
            </a:r>
            <a:r>
              <a:rPr lang="en-US" altLang="ko-KR" dirty="0"/>
              <a:t>, </a:t>
            </a:r>
            <a:r>
              <a:rPr lang="ko-KR" altLang="en-US" dirty="0"/>
              <a:t>혁신의 주체를 초기에는 중소 벤처 기업으로</a:t>
            </a:r>
            <a:r>
              <a:rPr lang="en-US" altLang="ko-KR" dirty="0"/>
              <a:t>, </a:t>
            </a:r>
            <a:r>
              <a:rPr lang="ko-KR" altLang="en-US" dirty="0"/>
              <a:t>후기에는 대기업으로 보았다는 차이가 있습니다 </a:t>
            </a:r>
            <a:r>
              <a:rPr lang="en-US" altLang="ko-KR" dirty="0"/>
              <a:t>[14].</a:t>
            </a:r>
          </a:p>
          <a:p>
            <a:endParaRPr lang="ko-KR" altLang="en-US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B4E8163-44BB-C9D6-6FED-18A1B08D14AD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3023544"/>
      </p:ext>
    </p:extLst>
  </p:cSld>
  <p:clrMapOvr>
    <a:masterClrMapping/>
  </p:clrMapOvr>
</p:sld>
</file>

<file path=ppt/theme/theme1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25765</TotalTime>
  <Words>3085</Words>
  <Application>Microsoft Office PowerPoint</Application>
  <PresentationFormat>A4 용지(210x297mm)</PresentationFormat>
  <Paragraphs>261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5" baseType="lpstr">
      <vt:lpstr>Arial</vt:lpstr>
      <vt:lpstr>맑은 고딕</vt:lpstr>
      <vt:lpstr>Wingdings</vt:lpstr>
      <vt:lpstr>디자인 사용자 지정</vt:lpstr>
      <vt:lpstr>기술 혁신의 역사</vt:lpstr>
      <vt:lpstr>PowerPoint 프레젠테이션</vt:lpstr>
      <vt:lpstr>미시경제 기초지식(독점시장구조)</vt:lpstr>
      <vt:lpstr>미시경제 기초지식(공공재와 외부효과)</vt:lpstr>
      <vt:lpstr>비대칭 정보, 유인설계의 문제</vt:lpstr>
      <vt:lpstr>완비정보 하에 쿠르노 경쟁</vt:lpstr>
      <vt:lpstr>비대칭정보 하의 쿠르노 경쟁</vt:lpstr>
      <vt:lpstr>시장구조와 기술혁신</vt:lpstr>
      <vt:lpstr>시장구조와 연구개발투자의 상관관계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13640</dc:creator>
  <cp:lastModifiedBy>노동주</cp:lastModifiedBy>
  <cp:revision>554</cp:revision>
  <dcterms:created xsi:type="dcterms:W3CDTF">2021-05-24T07:27:04Z</dcterms:created>
  <dcterms:modified xsi:type="dcterms:W3CDTF">2025-06-04T01:01:07Z</dcterms:modified>
</cp:coreProperties>
</file>