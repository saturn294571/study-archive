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14"/>
  </p:notesMasterIdLst>
  <p:sldIdLst>
    <p:sldId id="299" r:id="rId2"/>
    <p:sldId id="300" r:id="rId3"/>
    <p:sldId id="301" r:id="rId4"/>
    <p:sldId id="303" r:id="rId5"/>
    <p:sldId id="294" r:id="rId6"/>
    <p:sldId id="295" r:id="rId7"/>
    <p:sldId id="298" r:id="rId8"/>
    <p:sldId id="296" r:id="rId9"/>
    <p:sldId id="304" r:id="rId10"/>
    <p:sldId id="297" r:id="rId11"/>
    <p:sldId id="305" r:id="rId12"/>
    <p:sldId id="306" r:id="rId13"/>
  </p:sldIdLst>
  <p:sldSz cx="6858000" cy="9906000" type="A4"/>
  <p:notesSz cx="6858000" cy="9144000"/>
  <p:embeddedFontLs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69" autoAdjust="0"/>
    <p:restoredTop sz="96234" autoAdjust="0"/>
  </p:normalViewPr>
  <p:slideViewPr>
    <p:cSldViewPr>
      <p:cViewPr varScale="1">
        <p:scale>
          <a:sx n="76" d="100"/>
          <a:sy n="76" d="100"/>
        </p:scale>
        <p:origin x="245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4BBD38C-D38C-6558-9EEF-AD3AD864C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02F77D-E0BD-1ECE-D8C0-754D7CD8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비대칭 정보</a:t>
            </a:r>
            <a:r>
              <a:rPr lang="en-US" altLang="ko-KR" dirty="0"/>
              <a:t>, </a:t>
            </a:r>
            <a:r>
              <a:rPr lang="ko-KR" altLang="en-US" dirty="0"/>
              <a:t>유인설계의 문제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C5C225-E2DC-040E-FA7C-9B0B6CB355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6031F43-15B4-73CE-4646-4B043241A9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리스크와 불확실성</a:t>
            </a:r>
            <a:endParaRPr lang="en-US" altLang="ko-KR" dirty="0"/>
          </a:p>
          <a:p>
            <a:pPr lvl="1"/>
            <a:r>
              <a:rPr lang="en-US" altLang="ko-KR" dirty="0"/>
              <a:t>Risk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/>
              <a:t>헷징</a:t>
            </a:r>
            <a:r>
              <a:rPr lang="en-US" altLang="ko-KR" dirty="0"/>
              <a:t>(Hedging) : </a:t>
            </a:r>
            <a:r>
              <a:rPr lang="ko-KR" altLang="en-US" dirty="0"/>
              <a:t>위험을 분산</a:t>
            </a:r>
            <a:r>
              <a:rPr lang="en-US" altLang="ko-KR" dirty="0"/>
              <a:t>; </a:t>
            </a:r>
            <a:r>
              <a:rPr lang="ko-KR" altLang="en-US" dirty="0"/>
              <a:t>선물</a:t>
            </a:r>
            <a:r>
              <a:rPr lang="en-US" altLang="ko-KR" dirty="0"/>
              <a:t>/</a:t>
            </a:r>
            <a:r>
              <a:rPr lang="ko-KR" altLang="en-US" dirty="0"/>
              <a:t>옵션</a:t>
            </a:r>
            <a:r>
              <a:rPr lang="en-US" altLang="ko-KR" dirty="0"/>
              <a:t>/</a:t>
            </a:r>
            <a:r>
              <a:rPr lang="ko-KR" altLang="en-US" dirty="0" err="1"/>
              <a:t>자산포폴</a:t>
            </a:r>
            <a:endParaRPr lang="en-US" altLang="ko-KR" dirty="0"/>
          </a:p>
          <a:p>
            <a:pPr lvl="1"/>
            <a:r>
              <a:rPr lang="en-US" altLang="ko-KR" dirty="0"/>
              <a:t>Uncertainty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풀링</a:t>
            </a:r>
            <a:r>
              <a:rPr lang="en-US" altLang="ko-KR" dirty="0">
                <a:sym typeface="Wingdings" panose="05000000000000000000" pitchFamily="2" charset="2"/>
              </a:rPr>
              <a:t>(Pooling) : </a:t>
            </a:r>
            <a:r>
              <a:rPr lang="ko-KR" altLang="en-US" dirty="0">
                <a:sym typeface="Wingdings" panose="05000000000000000000" pitchFamily="2" charset="2"/>
              </a:rPr>
              <a:t>단일 가격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정책을 적용하면 평균적으로 해소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수요의 </a:t>
            </a:r>
            <a:r>
              <a:rPr lang="ko-KR" altLang="en-US" dirty="0" err="1">
                <a:sym typeface="Wingdings" panose="05000000000000000000" pitchFamily="2" charset="2"/>
              </a:rPr>
              <a:t>풀링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이질적이면 서로가 보완적임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각 사람의 위험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사건 이벤트가 다른 시점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보완성이 높을수록 보험의 안정성 높음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보험시장에서의 도덕적 해이</a:t>
            </a:r>
            <a:endParaRPr lang="en-US" altLang="ko-KR" dirty="0"/>
          </a:p>
          <a:p>
            <a:pPr lvl="1"/>
            <a:r>
              <a:rPr lang="ko-KR" altLang="en-US" dirty="0"/>
              <a:t>도덕적 해이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착취 </a:t>
            </a:r>
            <a:r>
              <a:rPr lang="en-US" altLang="ko-KR" dirty="0"/>
              <a:t>: (</a:t>
            </a:r>
            <a:r>
              <a:rPr lang="ko-KR" altLang="en-US" dirty="0"/>
              <a:t>정보 많은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정보 부족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보험사의 대응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어떻게 가입자 스스로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사고예방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사고가 났을 때 가입자도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피해의 일부를 부담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가입자 부담 비율이 </a:t>
            </a:r>
            <a:r>
              <a:rPr lang="en-US" altLang="ko-KR" dirty="0">
                <a:sym typeface="Wingdings" panose="05000000000000000000" pitchFamily="2" charset="2"/>
              </a:rPr>
              <a:t>100%</a:t>
            </a:r>
            <a:r>
              <a:rPr lang="ko-KR" altLang="en-US" dirty="0">
                <a:sym typeface="Wingdings" panose="05000000000000000000" pitchFamily="2" charset="2"/>
              </a:rPr>
              <a:t>보다 작은 이상 도덕적 해이 유인 존재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유인설계</a:t>
            </a:r>
            <a:r>
              <a:rPr lang="en-US" altLang="ko-KR" dirty="0">
                <a:sym typeface="Wingdings" panose="05000000000000000000" pitchFamily="2" charset="2"/>
              </a:rPr>
              <a:t>(Mechanism/Incentive design)</a:t>
            </a:r>
            <a:r>
              <a:rPr lang="ko-KR" altLang="en-US" dirty="0">
                <a:sym typeface="Wingdings" panose="05000000000000000000" pitchFamily="2" charset="2"/>
              </a:rPr>
              <a:t>의 문제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“</a:t>
            </a:r>
            <a:r>
              <a:rPr lang="ko-KR" altLang="en-US" dirty="0">
                <a:sym typeface="Wingdings" panose="05000000000000000000" pitchFamily="2" charset="2"/>
              </a:rPr>
              <a:t>어떻게 주인</a:t>
            </a:r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대리인 문제 해결</a:t>
            </a:r>
            <a:r>
              <a:rPr lang="en-US" altLang="ko-KR" dirty="0">
                <a:sym typeface="Wingdings" panose="05000000000000000000" pitchFamily="2" charset="2"/>
              </a:rPr>
              <a:t>?”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노동자 고용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열심히</a:t>
            </a:r>
            <a:r>
              <a:rPr lang="en-US" altLang="ko-KR" dirty="0">
                <a:sym typeface="Wingdings" panose="05000000000000000000" pitchFamily="2" charset="2"/>
              </a:rPr>
              <a:t>? (</a:t>
            </a:r>
            <a:r>
              <a:rPr lang="ko-KR" altLang="en-US" dirty="0">
                <a:sym typeface="Wingdings" panose="05000000000000000000" pitchFamily="2" charset="2"/>
              </a:rPr>
              <a:t>고용주가 </a:t>
            </a:r>
            <a:r>
              <a:rPr lang="ko-KR" altLang="en-US" dirty="0" err="1">
                <a:sym typeface="Wingdings" panose="05000000000000000000" pitchFamily="2" charset="2"/>
              </a:rPr>
              <a:t>안볼때</a:t>
            </a:r>
            <a:r>
              <a:rPr lang="ko-KR" altLang="en-US" dirty="0">
                <a:sym typeface="Wingdings" panose="05000000000000000000" pitchFamily="2" charset="2"/>
              </a:rPr>
              <a:t> 놀 인센티브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비대칭 정보</a:t>
            </a:r>
            <a:r>
              <a:rPr lang="en-US" altLang="ko-KR" dirty="0">
                <a:sym typeface="Wingdings" panose="05000000000000000000" pitchFamily="2" charset="2"/>
              </a:rPr>
              <a:t>)  </a:t>
            </a:r>
            <a:r>
              <a:rPr lang="ko-KR" altLang="en-US" dirty="0">
                <a:sym typeface="Wingdings" panose="05000000000000000000" pitchFamily="2" charset="2"/>
              </a:rPr>
              <a:t>어떻게 </a:t>
            </a:r>
            <a:r>
              <a:rPr lang="ko-KR" altLang="en-US" dirty="0" err="1">
                <a:sym typeface="Wingdings" panose="05000000000000000000" pitchFamily="2" charset="2"/>
              </a:rPr>
              <a:t>안볼때도</a:t>
            </a:r>
            <a:r>
              <a:rPr lang="ko-KR" altLang="en-US" dirty="0">
                <a:sym typeface="Wingdings" panose="05000000000000000000" pitchFamily="2" charset="2"/>
              </a:rPr>
              <a:t> 열심히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pPr lvl="1"/>
            <a:r>
              <a:rPr lang="ko-KR" altLang="en-US" dirty="0"/>
              <a:t>양복점 예제의 상황</a:t>
            </a:r>
            <a:endParaRPr lang="en-US" altLang="ko-KR" dirty="0"/>
          </a:p>
          <a:p>
            <a:pPr lvl="2"/>
            <a:r>
              <a:rPr lang="ko-KR" altLang="en-US" dirty="0"/>
              <a:t>기업주는 어떤 여건이 나타날지</a:t>
            </a:r>
            <a:br>
              <a:rPr lang="en-US" altLang="ko-KR" dirty="0"/>
            </a:br>
            <a:r>
              <a:rPr lang="ko-KR" altLang="en-US" dirty="0"/>
              <a:t>모름</a:t>
            </a:r>
            <a:endParaRPr lang="en-US" altLang="ko-KR" dirty="0"/>
          </a:p>
          <a:p>
            <a:pPr lvl="2"/>
            <a:r>
              <a:rPr lang="ko-KR" altLang="en-US" dirty="0"/>
              <a:t>재단사의 목표 </a:t>
            </a:r>
            <a:r>
              <a:rPr lang="en-US" altLang="ko-KR" dirty="0"/>
              <a:t>: </a:t>
            </a:r>
            <a:r>
              <a:rPr lang="ko-KR" altLang="en-US" dirty="0"/>
              <a:t>순임금의 극대화</a:t>
            </a:r>
            <a:endParaRPr lang="en-US" altLang="ko-KR" dirty="0"/>
          </a:p>
          <a:p>
            <a:pPr lvl="2"/>
            <a:r>
              <a:rPr lang="ko-KR" altLang="en-US" dirty="0"/>
              <a:t>재단사 노력에 따르는 비용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C = 0.5a; a=1</a:t>
            </a:r>
            <a:r>
              <a:rPr lang="ko-KR" altLang="en-US" dirty="0"/>
              <a:t>이면 </a:t>
            </a:r>
            <a:r>
              <a:rPr lang="en-US" altLang="ko-KR" dirty="0"/>
              <a:t>C = 0.5</a:t>
            </a:r>
            <a:r>
              <a:rPr lang="ko-KR" altLang="en-US" dirty="0"/>
              <a:t>억</a:t>
            </a:r>
            <a:endParaRPr lang="en-US" altLang="ko-KR" dirty="0"/>
          </a:p>
          <a:p>
            <a:pPr lvl="1"/>
            <a:r>
              <a:rPr lang="ko-KR" altLang="en-US" dirty="0"/>
              <a:t>양복점 예제의 해답</a:t>
            </a:r>
            <a:endParaRPr lang="en-US" altLang="ko-KR" dirty="0"/>
          </a:p>
          <a:p>
            <a:pPr lvl="2"/>
            <a:r>
              <a:rPr lang="en-US" altLang="ko-KR" dirty="0"/>
              <a:t>1) </a:t>
            </a:r>
            <a:r>
              <a:rPr lang="ko-KR" altLang="en-US" dirty="0"/>
              <a:t>재단사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고정임금</a:t>
            </a:r>
            <a:r>
              <a:rPr lang="en-US" altLang="ko-KR" dirty="0">
                <a:sym typeface="Wingdings" panose="05000000000000000000" pitchFamily="2" charset="2"/>
              </a:rPr>
              <a:t> ex)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8000</a:t>
            </a:r>
            <a:r>
              <a:rPr lang="ko-KR" altLang="en-US" dirty="0">
                <a:sym typeface="Wingdings" panose="05000000000000000000" pitchFamily="2" charset="2"/>
              </a:rPr>
              <a:t>만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재단사 </a:t>
            </a:r>
            <a:r>
              <a:rPr lang="en-US" altLang="ko-KR" dirty="0">
                <a:sym typeface="Wingdings" panose="05000000000000000000" pitchFamily="2" charset="2"/>
              </a:rPr>
              <a:t> a=0;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기업주 기대순이익 </a:t>
            </a:r>
            <a:r>
              <a:rPr lang="en-US" altLang="ko-KR" dirty="0">
                <a:sym typeface="Wingdings" panose="05000000000000000000" pitchFamily="2" charset="2"/>
              </a:rPr>
              <a:t>= (0.5*2 + 0.5*4)-0.8 = 2.2</a:t>
            </a:r>
            <a:r>
              <a:rPr lang="ko-KR" altLang="en-US" dirty="0">
                <a:sym typeface="Wingdings" panose="05000000000000000000" pitchFamily="2" charset="2"/>
              </a:rPr>
              <a:t>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2) </a:t>
            </a:r>
            <a:r>
              <a:rPr lang="ko-KR" altLang="en-US" dirty="0">
                <a:sym typeface="Wingdings" panose="05000000000000000000" pitchFamily="2" charset="2"/>
              </a:rPr>
              <a:t>재단사의 노력 반영하는 임금 </a:t>
            </a:r>
            <a:r>
              <a:rPr lang="en-US" altLang="ko-KR" dirty="0">
                <a:sym typeface="Wingdings" panose="05000000000000000000" pitchFamily="2" charset="2"/>
              </a:rPr>
              <a:t>ex) </a:t>
            </a:r>
            <a:r>
              <a:rPr lang="ko-KR" altLang="en-US" dirty="0">
                <a:sym typeface="Wingdings" panose="05000000000000000000" pitchFamily="2" charset="2"/>
              </a:rPr>
              <a:t>이윤 </a:t>
            </a:r>
            <a:r>
              <a:rPr lang="en-US" altLang="ko-KR" dirty="0">
                <a:sym typeface="Wingdings" panose="05000000000000000000" pitchFamily="2" charset="2"/>
              </a:rPr>
              <a:t>=( 2</a:t>
            </a:r>
            <a:r>
              <a:rPr lang="ko-KR" altLang="en-US" dirty="0">
                <a:sym typeface="Wingdings" panose="05000000000000000000" pitchFamily="2" charset="2"/>
              </a:rPr>
              <a:t>억 </a:t>
            </a:r>
            <a:r>
              <a:rPr lang="en-US" altLang="ko-KR" dirty="0">
                <a:sym typeface="Wingdings" panose="05000000000000000000" pitchFamily="2" charset="2"/>
              </a:rPr>
              <a:t>or 4</a:t>
            </a:r>
            <a:r>
              <a:rPr lang="ko-KR" altLang="en-US" dirty="0">
                <a:sym typeface="Wingdings" panose="05000000000000000000" pitchFamily="2" charset="2"/>
              </a:rPr>
              <a:t>억</a:t>
            </a:r>
            <a:r>
              <a:rPr lang="en-US" altLang="ko-KR" dirty="0">
                <a:sym typeface="Wingdings" panose="05000000000000000000" pitchFamily="2" charset="2"/>
              </a:rPr>
              <a:t>)  </a:t>
            </a:r>
            <a:r>
              <a:rPr lang="ko-KR" altLang="en-US" dirty="0">
                <a:sym typeface="Wingdings" panose="05000000000000000000" pitchFamily="2" charset="2"/>
              </a:rPr>
              <a:t>연봉</a:t>
            </a:r>
            <a:r>
              <a:rPr lang="en-US" altLang="ko-KR" dirty="0">
                <a:sym typeface="Wingdings" panose="05000000000000000000" pitchFamily="2" charset="2"/>
              </a:rPr>
              <a:t> = 4</a:t>
            </a:r>
            <a:r>
              <a:rPr lang="ko-KR" altLang="en-US" dirty="0">
                <a:sym typeface="Wingdings" panose="05000000000000000000" pitchFamily="2" charset="2"/>
              </a:rPr>
              <a:t>천만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이윤 </a:t>
            </a:r>
            <a:r>
              <a:rPr lang="en-US" altLang="ko-KR" dirty="0">
                <a:sym typeface="Wingdings" panose="05000000000000000000" pitchFamily="2" charset="2"/>
              </a:rPr>
              <a:t>= 8</a:t>
            </a:r>
            <a:r>
              <a:rPr lang="ko-KR" altLang="en-US" dirty="0">
                <a:sym typeface="Wingdings" panose="05000000000000000000" pitchFamily="2" charset="2"/>
              </a:rPr>
              <a:t>억</a:t>
            </a:r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ko-KR" altLang="en-US" dirty="0">
                <a:sym typeface="Wingdings" panose="05000000000000000000" pitchFamily="2" charset="2"/>
              </a:rPr>
              <a:t>연봉 </a:t>
            </a:r>
            <a:r>
              <a:rPr lang="en-US" altLang="ko-KR" dirty="0">
                <a:sym typeface="Wingdings" panose="05000000000000000000" pitchFamily="2" charset="2"/>
              </a:rPr>
              <a:t>= 2</a:t>
            </a:r>
            <a:r>
              <a:rPr lang="ko-KR" altLang="en-US" dirty="0">
                <a:sym typeface="Wingdings" panose="05000000000000000000" pitchFamily="2" charset="2"/>
              </a:rPr>
              <a:t>억 </a:t>
            </a:r>
            <a:r>
              <a:rPr lang="en-US" altLang="ko-KR" dirty="0">
                <a:sym typeface="Wingdings" panose="05000000000000000000" pitchFamily="2" charset="2"/>
              </a:rPr>
              <a:t>4</a:t>
            </a:r>
            <a:r>
              <a:rPr lang="ko-KR" altLang="en-US" dirty="0">
                <a:sym typeface="Wingdings" panose="05000000000000000000" pitchFamily="2" charset="2"/>
              </a:rPr>
              <a:t>천만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재단사 </a:t>
            </a:r>
            <a:r>
              <a:rPr lang="en-US" altLang="ko-KR" dirty="0">
                <a:sym typeface="Wingdings" panose="05000000000000000000" pitchFamily="2" charset="2"/>
              </a:rPr>
              <a:t>: a=0  </a:t>
            </a:r>
            <a:r>
              <a:rPr lang="ko-KR" altLang="en-US" dirty="0">
                <a:sym typeface="Wingdings" panose="05000000000000000000" pitchFamily="2" charset="2"/>
              </a:rPr>
              <a:t>연봉 </a:t>
            </a:r>
            <a:r>
              <a:rPr lang="en-US" altLang="ko-KR" dirty="0">
                <a:sym typeface="Wingdings" panose="05000000000000000000" pitchFamily="2" charset="2"/>
              </a:rPr>
              <a:t>= 0.4</a:t>
            </a:r>
            <a:r>
              <a:rPr lang="ko-KR" altLang="en-US" dirty="0">
                <a:sym typeface="Wingdings" panose="05000000000000000000" pitchFamily="2" charset="2"/>
              </a:rPr>
              <a:t>억</a:t>
            </a:r>
            <a:r>
              <a:rPr lang="en-US" altLang="ko-KR" dirty="0">
                <a:sym typeface="Wingdings" panose="05000000000000000000" pitchFamily="2" charset="2"/>
              </a:rPr>
              <a:t>; a=1  </a:t>
            </a:r>
            <a:r>
              <a:rPr lang="ko-KR" altLang="en-US" dirty="0">
                <a:sym typeface="Wingdings" panose="05000000000000000000" pitchFamily="2" charset="2"/>
              </a:rPr>
              <a:t>연봉 </a:t>
            </a:r>
            <a:r>
              <a:rPr lang="en-US" altLang="ko-KR" dirty="0">
                <a:sym typeface="Wingdings" panose="05000000000000000000" pitchFamily="2" charset="2"/>
              </a:rPr>
              <a:t>= 0.5*0.4+0.5*2.4 – 0.5 = 0.9</a:t>
            </a:r>
            <a:r>
              <a:rPr lang="ko-KR" altLang="en-US" dirty="0">
                <a:sym typeface="Wingdings" panose="05000000000000000000" pitchFamily="2" charset="2"/>
              </a:rPr>
              <a:t>억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재단사는 가장 높은 수준의 노력을 할 것으로 예상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파레토 개선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3) </a:t>
            </a:r>
            <a:r>
              <a:rPr lang="ko-KR" altLang="en-US" dirty="0">
                <a:sym typeface="Wingdings" panose="05000000000000000000" pitchFamily="2" charset="2"/>
              </a:rPr>
              <a:t>이익의 공유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기업주와 재단사가 이윤을 공유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ex) 3</a:t>
            </a:r>
            <a:r>
              <a:rPr lang="ko-KR" altLang="en-US" dirty="0">
                <a:sym typeface="Wingdings" panose="05000000000000000000" pitchFamily="2" charset="2"/>
              </a:rPr>
              <a:t>억 </a:t>
            </a:r>
            <a:r>
              <a:rPr lang="en-US" altLang="ko-KR" dirty="0">
                <a:sym typeface="Wingdings" panose="05000000000000000000" pitchFamily="2" charset="2"/>
              </a:rPr>
              <a:t>&lt; </a:t>
            </a:r>
            <a:r>
              <a:rPr lang="ko-KR" altLang="en-US" dirty="0">
                <a:sym typeface="Wingdings" panose="05000000000000000000" pitchFamily="2" charset="2"/>
              </a:rPr>
              <a:t>이윤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연봉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>
                <a:sym typeface="Wingdings" panose="05000000000000000000" pitchFamily="2" charset="2"/>
              </a:rPr>
              <a:t>이윤</a:t>
            </a:r>
            <a:r>
              <a:rPr lang="en-US" altLang="ko-KR" dirty="0">
                <a:sym typeface="Wingdings" panose="05000000000000000000" pitchFamily="2" charset="2"/>
              </a:rPr>
              <a:t>*0.4; 3</a:t>
            </a:r>
            <a:r>
              <a:rPr lang="ko-KR" altLang="en-US" dirty="0">
                <a:sym typeface="Wingdings" panose="05000000000000000000" pitchFamily="2" charset="2"/>
              </a:rPr>
              <a:t>억 </a:t>
            </a:r>
            <a:r>
              <a:rPr lang="en-US" altLang="ko-KR" dirty="0">
                <a:sym typeface="Wingdings" panose="05000000000000000000" pitchFamily="2" charset="2"/>
              </a:rPr>
              <a:t>&gt;= </a:t>
            </a:r>
            <a:r>
              <a:rPr lang="ko-KR" altLang="en-US" dirty="0">
                <a:sym typeface="Wingdings" panose="05000000000000000000" pitchFamily="2" charset="2"/>
              </a:rPr>
              <a:t>이윤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연봉 </a:t>
            </a:r>
            <a:r>
              <a:rPr lang="en-US" altLang="ko-KR" dirty="0">
                <a:sym typeface="Wingdings" panose="05000000000000000000" pitchFamily="2" charset="2"/>
              </a:rPr>
              <a:t>= 0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W = 0.4(π-3) : pi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&lt;= 3</a:t>
            </a:r>
            <a:r>
              <a:rPr lang="ko-KR" altLang="en-US" dirty="0">
                <a:sym typeface="Wingdings" panose="05000000000000000000" pitchFamily="2" charset="2"/>
              </a:rPr>
              <a:t>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경우 </a:t>
            </a:r>
            <a:r>
              <a:rPr lang="en-US" altLang="ko-KR" dirty="0">
                <a:sym typeface="Wingdings" panose="05000000000000000000" pitchFamily="2" charset="2"/>
              </a:rPr>
              <a:t>W = 0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주인</a:t>
            </a:r>
            <a:r>
              <a:rPr lang="en-US" altLang="ko-KR" dirty="0">
                <a:sym typeface="Wingdings" panose="05000000000000000000" pitchFamily="2" charset="2"/>
              </a:rPr>
              <a:t>-</a:t>
            </a:r>
            <a:r>
              <a:rPr lang="ko-KR" altLang="en-US" dirty="0">
                <a:sym typeface="Wingdings" panose="05000000000000000000" pitchFamily="2" charset="2"/>
              </a:rPr>
              <a:t>대리인 문제와 인센티브 디자인의 핵심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많은 노력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많은 보수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ko-KR" altLang="en-US" dirty="0">
                <a:sym typeface="Wingdings" panose="05000000000000000000" pitchFamily="2" charset="2"/>
              </a:rPr>
              <a:t>그럼 왜 고정임금을 유지하나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모든 근로자가 일을 태만하는 거에서 효용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</p:txBody>
      </p:sp>
      <p:pic>
        <p:nvPicPr>
          <p:cNvPr id="8" name="그림 7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D6CF880-FAE1-3606-0497-86B24B440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363" y="1568624"/>
            <a:ext cx="3096343" cy="1496635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C04FD48-88A2-4A29-720A-99D81E185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841828"/>
              </p:ext>
            </p:extLst>
          </p:nvPr>
        </p:nvGraphicFramePr>
        <p:xfrm>
          <a:off x="3972911" y="4054169"/>
          <a:ext cx="2827795" cy="116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>
                  <a:extLst>
                    <a:ext uri="{9D8B030D-6E8A-4147-A177-3AD203B41FA5}">
                      <a16:colId xmlns:a16="http://schemas.microsoft.com/office/drawing/2014/main" val="4225487036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1410612447"/>
                    </a:ext>
                  </a:extLst>
                </a:gridCol>
                <a:gridCol w="814210">
                  <a:extLst>
                    <a:ext uri="{9D8B030D-6E8A-4147-A177-3AD203B41FA5}">
                      <a16:colId xmlns:a16="http://schemas.microsoft.com/office/drawing/2014/main" val="4265710967"/>
                    </a:ext>
                  </a:extLst>
                </a:gridCol>
              </a:tblGrid>
              <a:tr h="14298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C=0.5, </a:t>
                      </a:r>
                    </a:p>
                    <a:p>
                      <a:pPr latinLnBrk="1"/>
                      <a:r>
                        <a:rPr lang="ko-KR" altLang="en-US" sz="1100" dirty="0"/>
                        <a:t>단위</a:t>
                      </a:r>
                      <a:r>
                        <a:rPr lang="en-US" altLang="ko-KR" sz="1100" dirty="0"/>
                        <a:t>:(</a:t>
                      </a:r>
                      <a:r>
                        <a:rPr lang="ko-KR" altLang="en-US" sz="1100" dirty="0"/>
                        <a:t>억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나쁜 여건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(p0=0.5)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좋은 여건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(p1=0.5)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380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적은 노력</a:t>
                      </a:r>
                      <a:r>
                        <a:rPr lang="en-US" altLang="ko-KR" sz="1100" dirty="0"/>
                        <a:t>(a=0)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995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많은 노력</a:t>
                      </a:r>
                      <a:r>
                        <a:rPr lang="en-US" altLang="ko-KR" sz="1100" dirty="0"/>
                        <a:t>(a=1)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8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273030"/>
                  </a:ext>
                </a:extLst>
              </a:tr>
            </a:tbl>
          </a:graphicData>
        </a:graphic>
      </p:graphicFrame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3E13F6B8-2507-9826-F255-7C757BE3A86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리스크 </a:t>
            </a:r>
            <a:r>
              <a:rPr lang="en-US" altLang="ko-KR" dirty="0"/>
              <a:t>→ </a:t>
            </a:r>
            <a:r>
              <a:rPr lang="ko-KR" altLang="en-US" dirty="0" err="1"/>
              <a:t>헷징</a:t>
            </a:r>
            <a:r>
              <a:rPr lang="en-US" altLang="ko-KR" dirty="0"/>
              <a:t>, </a:t>
            </a:r>
            <a:r>
              <a:rPr lang="ko-KR" altLang="en-US" dirty="0"/>
              <a:t>위험 분산 </a:t>
            </a:r>
            <a:r>
              <a:rPr lang="en-US" altLang="ko-KR" dirty="0"/>
              <a:t>// </a:t>
            </a:r>
            <a:r>
              <a:rPr lang="ko-KR" altLang="en-US" dirty="0"/>
              <a:t>불확실성 </a:t>
            </a:r>
            <a:r>
              <a:rPr lang="en-US" altLang="ko-KR" dirty="0"/>
              <a:t>→ </a:t>
            </a:r>
            <a:r>
              <a:rPr lang="ko-KR" altLang="en-US" dirty="0" err="1"/>
              <a:t>풀링</a:t>
            </a:r>
            <a:r>
              <a:rPr lang="en-US" altLang="ko-KR" dirty="0"/>
              <a:t>, </a:t>
            </a:r>
            <a:r>
              <a:rPr lang="ko-KR" altLang="en-US" dirty="0"/>
              <a:t>단일가격</a:t>
            </a:r>
            <a:r>
              <a:rPr lang="en-US" altLang="ko-KR" dirty="0"/>
              <a:t>/</a:t>
            </a:r>
            <a:r>
              <a:rPr lang="ko-KR" altLang="en-US" dirty="0"/>
              <a:t>정책 </a:t>
            </a:r>
            <a:r>
              <a:rPr lang="en-US" altLang="ko-KR" dirty="0"/>
              <a:t>→ </a:t>
            </a:r>
            <a:r>
              <a:rPr lang="ko-KR" altLang="en-US" dirty="0"/>
              <a:t>평균적 해소</a:t>
            </a:r>
            <a:r>
              <a:rPr lang="en-US" altLang="ko-KR" dirty="0"/>
              <a:t>; </a:t>
            </a:r>
            <a:r>
              <a:rPr lang="ko-KR" altLang="en-US" dirty="0"/>
              <a:t>수요의 </a:t>
            </a:r>
            <a:r>
              <a:rPr lang="ko-KR" altLang="en-US" dirty="0" err="1"/>
              <a:t>풀링</a:t>
            </a:r>
            <a:r>
              <a:rPr lang="ko-KR" altLang="en-US" dirty="0"/>
              <a:t> </a:t>
            </a:r>
            <a:r>
              <a:rPr lang="en-US" altLang="ko-KR" dirty="0"/>
              <a:t>= (</a:t>
            </a:r>
            <a:r>
              <a:rPr lang="ko-KR" altLang="en-US" dirty="0"/>
              <a:t>이질적</a:t>
            </a:r>
            <a:r>
              <a:rPr lang="en-US" altLang="ko-KR" dirty="0"/>
              <a:t>?→</a:t>
            </a:r>
            <a:r>
              <a:rPr lang="ko-KR" altLang="en-US" dirty="0"/>
              <a:t>보완적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보험시장에서</a:t>
            </a:r>
            <a:r>
              <a:rPr lang="en-US" altLang="ko-KR" dirty="0"/>
              <a:t> </a:t>
            </a:r>
            <a:r>
              <a:rPr lang="ko-KR" altLang="en-US" dirty="0"/>
              <a:t>도덕적 해이 </a:t>
            </a:r>
            <a:r>
              <a:rPr lang="en-US" altLang="ko-KR" dirty="0"/>
              <a:t>: MH = </a:t>
            </a:r>
            <a:r>
              <a:rPr lang="ko-KR" altLang="en-US" dirty="0"/>
              <a:t>착취</a:t>
            </a:r>
            <a:r>
              <a:rPr lang="en-US" altLang="ko-KR" dirty="0"/>
              <a:t> : </a:t>
            </a:r>
            <a:r>
              <a:rPr lang="ko-KR" altLang="en-US" dirty="0" err="1"/>
              <a:t>정많</a:t>
            </a:r>
            <a:r>
              <a:rPr lang="en-US" altLang="ko-KR" dirty="0"/>
              <a:t>→</a:t>
            </a:r>
            <a:r>
              <a:rPr lang="ko-KR" altLang="en-US" dirty="0" err="1"/>
              <a:t>정없</a:t>
            </a:r>
            <a:r>
              <a:rPr lang="en-US" altLang="ko-KR" dirty="0"/>
              <a:t>. </a:t>
            </a:r>
            <a:r>
              <a:rPr lang="ko-KR" altLang="en-US" dirty="0"/>
              <a:t>해결</a:t>
            </a:r>
            <a:r>
              <a:rPr lang="en-US" altLang="ko-KR" dirty="0"/>
              <a:t>? </a:t>
            </a:r>
            <a:r>
              <a:rPr lang="ko-KR" altLang="en-US" dirty="0"/>
              <a:t>가입자도 피해 일부 부담</a:t>
            </a:r>
            <a:endParaRPr lang="en-US" altLang="ko-KR" dirty="0"/>
          </a:p>
          <a:p>
            <a:r>
              <a:rPr lang="ko-KR" altLang="en-US" dirty="0"/>
              <a:t>유인설계문제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재</a:t>
            </a:r>
            <a:r>
              <a:rPr lang="en-US" altLang="ko-KR" dirty="0"/>
              <a:t>→</a:t>
            </a:r>
            <a:r>
              <a:rPr lang="ko-KR" altLang="en-US" dirty="0"/>
              <a:t>고정 </a:t>
            </a:r>
            <a:r>
              <a:rPr lang="en-US" altLang="ko-KR" dirty="0"/>
              <a:t>0.8, E(</a:t>
            </a:r>
            <a:r>
              <a:rPr lang="el-GR" altLang="ko-KR" dirty="0"/>
              <a:t>π</a:t>
            </a:r>
            <a:r>
              <a:rPr lang="en-US" altLang="ko-KR" dirty="0"/>
              <a:t>)=(2 * ½+ 4 * 1½) -0.8 = 2.2</a:t>
            </a:r>
            <a:br>
              <a:rPr lang="en-US" altLang="ko-KR" dirty="0"/>
            </a:br>
            <a:r>
              <a:rPr lang="en-US" altLang="ko-KR" dirty="0"/>
              <a:t>2) [</a:t>
            </a:r>
            <a:r>
              <a:rPr lang="el-GR" altLang="ko-KR" dirty="0"/>
              <a:t>π</a:t>
            </a:r>
            <a:r>
              <a:rPr lang="en-US" altLang="ko-KR" dirty="0"/>
              <a:t>=8→w=2.4 &amp; </a:t>
            </a:r>
            <a:r>
              <a:rPr lang="el-GR" altLang="ko-KR" dirty="0"/>
              <a:t>π</a:t>
            </a:r>
            <a:r>
              <a:rPr lang="en-US" altLang="ko-KR" dirty="0"/>
              <a:t>=2or4 → w=0.4] → E(w)=0.9, E(</a:t>
            </a:r>
            <a:r>
              <a:rPr lang="el-GR" altLang="ko-KR" dirty="0"/>
              <a:t>π</a:t>
            </a:r>
            <a:r>
              <a:rPr lang="en-US" altLang="ko-KR" dirty="0"/>
              <a:t>)=1.6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el-GR" altLang="ko-KR" dirty="0"/>
              <a:t>π</a:t>
            </a:r>
            <a:r>
              <a:rPr lang="en-US" altLang="ko-KR" dirty="0"/>
              <a:t>&gt;3→w=(</a:t>
            </a:r>
            <a:r>
              <a:rPr lang="el-GR" altLang="ko-KR" dirty="0"/>
              <a:t>π</a:t>
            </a:r>
            <a:r>
              <a:rPr lang="en-US" altLang="ko-KR" dirty="0"/>
              <a:t>-3)*0.4 or</a:t>
            </a:r>
            <a:r>
              <a:rPr lang="ko-KR" altLang="en-US" dirty="0"/>
              <a:t> </a:t>
            </a:r>
            <a:r>
              <a:rPr lang="el-GR" altLang="ko-KR" dirty="0"/>
              <a:t>π</a:t>
            </a:r>
            <a:r>
              <a:rPr lang="ko-KR" altLang="en-US" dirty="0"/>
              <a:t>≤</a:t>
            </a:r>
            <a:r>
              <a:rPr lang="en-US" altLang="ko-KR" dirty="0"/>
              <a:t>3 → w=0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A19B744-5310-8395-4C51-EC6240DAF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372" y="8804488"/>
            <a:ext cx="1368152" cy="6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3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9ADA258-9E1F-AFBB-7371-E03CE9D29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CC7A95-C02E-F2B9-D97D-7C3AF49FD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완비정보 하에 쿠르노 경쟁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A74FA3-FB18-610C-7B5D-7731D5EC34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1B25E54-6355-F892-A5EC-DAABA16674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b="1" dirty="0"/>
              <a:t>쿠르노 경쟁 시 알아야 할 사항</a:t>
            </a:r>
            <a:endParaRPr lang="en-US" altLang="ko-KR" b="1" dirty="0"/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기업의 행위 </a:t>
            </a:r>
            <a:r>
              <a:rPr lang="en-US" altLang="ko-KR" dirty="0">
                <a:sym typeface="Wingdings" panose="05000000000000000000" pitchFamily="2" charset="2"/>
              </a:rPr>
              <a:t> BRF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최적반응함수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2) </a:t>
            </a:r>
            <a:r>
              <a:rPr lang="ko-KR" altLang="en-US" dirty="0">
                <a:sym typeface="Wingdings" panose="05000000000000000000" pitchFamily="2" charset="2"/>
              </a:rPr>
              <a:t>시장에 미치는 영향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사회후생을 평가 가능</a:t>
            </a:r>
            <a:r>
              <a:rPr lang="en-US" altLang="ko-KR" dirty="0">
                <a:sym typeface="Wingdings" panose="05000000000000000000" pitchFamily="2" charset="2"/>
              </a:rPr>
              <a:t> 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시장수요함수 </a:t>
            </a:r>
            <a:r>
              <a:rPr lang="en-US" altLang="ko-KR" dirty="0">
                <a:sym typeface="Wingdings" panose="05000000000000000000" pitchFamily="2" charset="2"/>
              </a:rPr>
              <a:t>P(Q) = a-</a:t>
            </a:r>
            <a:r>
              <a:rPr lang="en-US" altLang="ko-KR" dirty="0" err="1">
                <a:sym typeface="Wingdings" panose="05000000000000000000" pitchFamily="2" charset="2"/>
              </a:rPr>
              <a:t>bQ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Q = q1+q2;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ex)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P=1-Q; (a=b=1)</a:t>
            </a: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a,b,c</a:t>
            </a:r>
            <a:r>
              <a:rPr lang="ko-KR" altLang="en-US" dirty="0">
                <a:sym typeface="Wingdings" panose="05000000000000000000" pitchFamily="2" charset="2"/>
              </a:rPr>
              <a:t>는 정해진 파라미터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q1</a:t>
            </a:r>
            <a:r>
              <a:rPr lang="ko-KR" altLang="en-US" dirty="0">
                <a:sym typeface="Wingdings" panose="05000000000000000000" pitchFamily="2" charset="2"/>
              </a:rPr>
              <a:t>과 </a:t>
            </a:r>
            <a:r>
              <a:rPr lang="en-US" altLang="ko-KR" dirty="0">
                <a:sym typeface="Wingdings" panose="05000000000000000000" pitchFamily="2" charset="2"/>
              </a:rPr>
              <a:t>q2, q1</a:t>
            </a:r>
            <a:r>
              <a:rPr lang="ko-KR" altLang="en-US" dirty="0">
                <a:sym typeface="Wingdings" panose="05000000000000000000" pitchFamily="2" charset="2"/>
              </a:rPr>
              <a:t>과 </a:t>
            </a:r>
            <a:r>
              <a:rPr lang="en-US" altLang="ko-KR" dirty="0">
                <a:sym typeface="Wingdings" panose="05000000000000000000" pitchFamily="2" charset="2"/>
              </a:rPr>
              <a:t>c1</a:t>
            </a:r>
            <a:r>
              <a:rPr lang="ko-KR" altLang="en-US" dirty="0">
                <a:sym typeface="Wingdings" panose="05000000000000000000" pitchFamily="2" charset="2"/>
              </a:rPr>
              <a:t>은 반비례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a</a:t>
            </a:r>
            <a:r>
              <a:rPr lang="ko-KR" altLang="en-US" dirty="0">
                <a:sym typeface="Wingdings" panose="05000000000000000000" pitchFamily="2" charset="2"/>
              </a:rPr>
              <a:t>는 수요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수요와 </a:t>
            </a:r>
            <a:r>
              <a:rPr lang="en-US" altLang="ko-KR" dirty="0">
                <a:sym typeface="Wingdings" panose="05000000000000000000" pitchFamily="2" charset="2"/>
              </a:rPr>
              <a:t>q1</a:t>
            </a:r>
            <a:r>
              <a:rPr lang="ko-KR" altLang="en-US" dirty="0">
                <a:sym typeface="Wingdings" panose="05000000000000000000" pitchFamily="2" charset="2"/>
              </a:rPr>
              <a:t>은 비례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b="1" dirty="0"/>
              <a:t>완비 정보 하의 쿠르노 경쟁</a:t>
            </a:r>
            <a:endParaRPr lang="en-US" altLang="ko-KR" b="1" dirty="0"/>
          </a:p>
          <a:p>
            <a:pPr lvl="1"/>
            <a:r>
              <a:rPr lang="ko-KR" altLang="en-US" dirty="0"/>
              <a:t>쿠르노 경쟁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ko-KR" altLang="en-US" dirty="0"/>
              <a:t>수량경쟁</a:t>
            </a:r>
            <a:br>
              <a:rPr lang="en-US" altLang="ko-KR" dirty="0"/>
            </a:br>
            <a:r>
              <a:rPr lang="ko-KR" altLang="en-US" dirty="0"/>
              <a:t>비가격경쟁</a:t>
            </a:r>
            <a:r>
              <a:rPr lang="en-US" altLang="ko-KR" dirty="0"/>
              <a:t>(</a:t>
            </a:r>
            <a:r>
              <a:rPr lang="en-US" altLang="ko-KR" dirty="0" err="1"/>
              <a:t>RnD</a:t>
            </a:r>
            <a:r>
              <a:rPr lang="en-US" altLang="ko-KR" dirty="0"/>
              <a:t>, </a:t>
            </a:r>
            <a:r>
              <a:rPr lang="ko-KR" altLang="en-US" dirty="0"/>
              <a:t>광고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버틀란트</a:t>
            </a:r>
            <a:r>
              <a:rPr lang="ko-KR" altLang="en-US" dirty="0"/>
              <a:t> 경쟁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가격경쟁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전략적 </a:t>
            </a:r>
            <a:r>
              <a:rPr lang="ko-KR" altLang="en-US" dirty="0" err="1">
                <a:sym typeface="Wingdings" panose="05000000000000000000" pitchFamily="2" charset="2"/>
              </a:rPr>
              <a:t>보완재</a:t>
            </a:r>
            <a:r>
              <a:rPr lang="ko-KR" altLang="en-US" dirty="0">
                <a:sym typeface="Wingdings" panose="05000000000000000000" pitchFamily="2" charset="2"/>
              </a:rPr>
              <a:t> 관계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But, </a:t>
            </a:r>
            <a:r>
              <a:rPr lang="ko-KR" altLang="en-US" dirty="0" err="1">
                <a:sym typeface="Wingdings" panose="05000000000000000000" pitchFamily="2" charset="2"/>
              </a:rPr>
              <a:t>쿠르노경쟁은</a:t>
            </a:r>
            <a:r>
              <a:rPr lang="ko-KR" altLang="en-US" dirty="0">
                <a:sym typeface="Wingdings" panose="05000000000000000000" pitchFamily="2" charset="2"/>
              </a:rPr>
              <a:t> 전략적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대체재 관계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수량경쟁의 대부분은 전략적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대체재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대체재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하나의 가격이 오르면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대체재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수요량이 오름</a:t>
            </a:r>
            <a:r>
              <a:rPr lang="en-US" altLang="ko-KR" dirty="0">
                <a:sym typeface="Wingdings" panose="05000000000000000000" pitchFamily="2" charset="2"/>
              </a:rPr>
              <a:t> (</a:t>
            </a:r>
            <a:r>
              <a:rPr lang="ko-KR" altLang="en-US" dirty="0">
                <a:sym typeface="Wingdings" panose="05000000000000000000" pitchFamily="2" charset="2"/>
              </a:rPr>
              <a:t>가격때문에 수량이 반대인 경우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전략적 대체재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수량을 늘림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이익 극대를 위해 생산을 줄임</a:t>
            </a:r>
            <a:r>
              <a:rPr lang="en-US" altLang="ko-KR" dirty="0">
                <a:sym typeface="Wingdings" panose="05000000000000000000" pitchFamily="2" charset="2"/>
              </a:rPr>
              <a:t> (</a:t>
            </a:r>
            <a:r>
              <a:rPr lang="ko-KR" altLang="en-US" dirty="0">
                <a:sym typeface="Wingdings" panose="05000000000000000000" pitchFamily="2" charset="2"/>
              </a:rPr>
              <a:t>이익극대화 땜에 수량이 반대방향인 경우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 err="1"/>
              <a:t>보완재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가격땜에</a:t>
            </a:r>
            <a:r>
              <a:rPr lang="ko-KR" altLang="en-US" dirty="0"/>
              <a:t> 수요량의 방향이 같은 방향</a:t>
            </a:r>
            <a:br>
              <a:rPr lang="en-US" altLang="ko-KR" dirty="0"/>
            </a:br>
            <a:r>
              <a:rPr lang="ko-KR" altLang="en-US" dirty="0"/>
              <a:t>전략적 보완관계 </a:t>
            </a:r>
            <a:r>
              <a:rPr lang="en-US" altLang="ko-KR" dirty="0"/>
              <a:t>: (</a:t>
            </a:r>
            <a:r>
              <a:rPr lang="ko-KR" altLang="en-US" dirty="0"/>
              <a:t>상대방 수량을 증가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나도 수량 증가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가 옳은 경우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ECE444-14EB-703C-D0C2-8ED59F49C67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쿠르노</a:t>
            </a:r>
            <a:r>
              <a:rPr lang="en-US" altLang="ko-KR" dirty="0"/>
              <a:t>→</a:t>
            </a:r>
            <a:r>
              <a:rPr lang="ko-KR" altLang="en-US" dirty="0"/>
              <a:t>수량경쟁</a:t>
            </a:r>
            <a:r>
              <a:rPr lang="en-US" altLang="ko-KR" dirty="0"/>
              <a:t>(</a:t>
            </a:r>
            <a:r>
              <a:rPr lang="ko-KR" altLang="en-US" dirty="0"/>
              <a:t>비가격경쟁</a:t>
            </a:r>
            <a:r>
              <a:rPr lang="en-US" altLang="ko-KR" dirty="0"/>
              <a:t>, R&amp;D)</a:t>
            </a:r>
          </a:p>
          <a:p>
            <a:r>
              <a:rPr lang="ko-KR" altLang="en-US" dirty="0"/>
              <a:t>전대 </a:t>
            </a:r>
            <a:r>
              <a:rPr lang="en-US" altLang="ko-KR" dirty="0"/>
              <a:t>: </a:t>
            </a:r>
            <a:r>
              <a:rPr lang="ko-KR" altLang="en-US" dirty="0"/>
              <a:t>상대생산</a:t>
            </a:r>
            <a:r>
              <a:rPr lang="en-US" altLang="ko-KR" dirty="0"/>
              <a:t>↑→</a:t>
            </a:r>
            <a:r>
              <a:rPr lang="ko-KR" altLang="en-US" dirty="0" err="1"/>
              <a:t>내생산</a:t>
            </a:r>
            <a:r>
              <a:rPr lang="en-US" altLang="ko-KR" dirty="0"/>
              <a:t>↓ </a:t>
            </a:r>
            <a:r>
              <a:rPr lang="ko-KR" altLang="en-US" dirty="0"/>
              <a:t>가 최적판단</a:t>
            </a:r>
            <a:br>
              <a:rPr lang="en-US" altLang="ko-KR" dirty="0"/>
            </a:br>
            <a:r>
              <a:rPr lang="ko-KR" altLang="en-US" dirty="0"/>
              <a:t>전보</a:t>
            </a:r>
            <a:r>
              <a:rPr lang="en-US" altLang="ko-KR" dirty="0"/>
              <a:t> : </a:t>
            </a:r>
            <a:r>
              <a:rPr lang="ko-KR" altLang="en-US" dirty="0"/>
              <a:t>상대생산</a:t>
            </a:r>
            <a:r>
              <a:rPr lang="en-US" altLang="ko-KR" dirty="0"/>
              <a:t>↓→</a:t>
            </a:r>
            <a:r>
              <a:rPr lang="ko-KR" altLang="en-US" dirty="0" err="1"/>
              <a:t>내생산</a:t>
            </a:r>
            <a:r>
              <a:rPr lang="en-US" altLang="ko-KR" dirty="0"/>
              <a:t>↑ </a:t>
            </a:r>
            <a:r>
              <a:rPr lang="ko-KR" altLang="en-US" dirty="0"/>
              <a:t>가 최적판단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8" name="그림 7" descr="텍스트, 폰트, 스크린샷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C6C389-EBD5-2FB2-0BAA-B84229FEE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317" y="602840"/>
            <a:ext cx="2948058" cy="3990120"/>
          </a:xfrm>
          <a:prstGeom prst="rect">
            <a:avLst/>
          </a:prstGeom>
        </p:spPr>
      </p:pic>
      <p:pic>
        <p:nvPicPr>
          <p:cNvPr id="11" name="그림 10" descr="텍스트, 친필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F0CDA9D-E0DC-BC1A-1E5F-D4B21CC9A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196" y="5601072"/>
            <a:ext cx="3372993" cy="230425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EC61B39-94BB-6DD5-B471-D009698A7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935" y="5529064"/>
            <a:ext cx="1939261" cy="136815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4451892-7D26-3D87-F1FE-25FA36703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916" y="8291057"/>
            <a:ext cx="1939261" cy="1368152"/>
          </a:xfrm>
          <a:prstGeom prst="rect">
            <a:avLst/>
          </a:prstGeom>
        </p:spPr>
      </p:pic>
      <p:pic>
        <p:nvPicPr>
          <p:cNvPr id="10" name="그림 9" descr="텍스트, 친필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AC208FD-08CB-6206-7F9B-2BE75A1CA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322" y="8316083"/>
            <a:ext cx="2065053" cy="141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7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29BB70-A7EF-86B0-A256-0772B74BD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6663EB-0BD6-B384-2BE7-C703FB41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비대칭정보하</a:t>
            </a:r>
            <a:r>
              <a:rPr lang="ko-KR" altLang="en-US" dirty="0"/>
              <a:t> 쿠르노 경쟁</a:t>
            </a:r>
            <a:r>
              <a:rPr lang="en-US" altLang="ko-KR" dirty="0"/>
              <a:t>/</a:t>
            </a:r>
            <a:r>
              <a:rPr lang="ko-KR" altLang="en-US" dirty="0"/>
              <a:t>시장구조와 기술혁신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038D82-7895-3599-B017-700B5BE4FA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6E1506E-D262-29DB-FF6F-CACCA1D097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비대칭 정보 하의 쿠르노 경쟁</a:t>
            </a:r>
            <a:endParaRPr lang="en-US" altLang="ko-KR" dirty="0"/>
          </a:p>
          <a:p>
            <a:pPr lvl="1"/>
            <a:r>
              <a:rPr lang="en-US" altLang="ko-KR" dirty="0"/>
              <a:t>P(Q) = a-</a:t>
            </a:r>
            <a:r>
              <a:rPr lang="en-US" altLang="ko-KR" dirty="0" err="1"/>
              <a:t>bQ</a:t>
            </a:r>
            <a:r>
              <a:rPr lang="en-US" altLang="ko-KR" dirty="0"/>
              <a:t>; </a:t>
            </a:r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기업의 한계 비용 </a:t>
            </a:r>
            <a:r>
              <a:rPr lang="en-US" altLang="ko-KR" dirty="0"/>
              <a:t>C1, C2; </a:t>
            </a:r>
            <a:r>
              <a:rPr lang="ko-KR" altLang="en-US" dirty="0"/>
              <a:t>기업</a:t>
            </a:r>
            <a:r>
              <a:rPr lang="en-US" altLang="ko-KR" dirty="0"/>
              <a:t>2</a:t>
            </a:r>
            <a:r>
              <a:rPr lang="ko-KR" altLang="en-US" dirty="0"/>
              <a:t> 한계비용 </a:t>
            </a:r>
            <a:r>
              <a:rPr lang="en-US" altLang="ko-KR" dirty="0"/>
              <a:t>-&gt; </a:t>
            </a:r>
            <a:r>
              <a:rPr lang="ko-KR" altLang="en-US" dirty="0"/>
              <a:t>모든 기업 알고</a:t>
            </a:r>
            <a:r>
              <a:rPr lang="en-US" altLang="ko-KR" dirty="0"/>
              <a:t>O</a:t>
            </a:r>
            <a:br>
              <a:rPr lang="en-US" altLang="ko-KR" dirty="0"/>
            </a:br>
            <a:r>
              <a:rPr lang="en-US" altLang="ko-KR" dirty="0"/>
              <a:t>C1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의 확률로 </a:t>
            </a:r>
            <a:r>
              <a:rPr lang="en-US" altLang="ko-KR" dirty="0"/>
              <a:t>CL, (1-a)</a:t>
            </a:r>
            <a:r>
              <a:rPr lang="ko-KR" altLang="en-US" dirty="0"/>
              <a:t> 확률로 </a:t>
            </a:r>
            <a:r>
              <a:rPr lang="en-US" altLang="ko-KR" dirty="0"/>
              <a:t>CH; CH &gt; CL-&gt;S1(CH) =</a:t>
            </a:r>
            <a:r>
              <a:rPr lang="en-US" altLang="ko-KR" dirty="0" err="1"/>
              <a:t>qH</a:t>
            </a:r>
            <a:r>
              <a:rPr lang="en-US" altLang="ko-KR" dirty="0"/>
              <a:t>; S1(CL) = </a:t>
            </a:r>
            <a:r>
              <a:rPr lang="en-US" altLang="ko-KR" dirty="0" err="1"/>
              <a:t>qL</a:t>
            </a:r>
            <a:r>
              <a:rPr lang="en-US" altLang="ko-KR" dirty="0"/>
              <a:t>; </a:t>
            </a:r>
            <a:r>
              <a:rPr lang="en-US" altLang="ko-KR" dirty="0" err="1"/>
              <a:t>qH</a:t>
            </a:r>
            <a:r>
              <a:rPr lang="en-US" altLang="ko-KR" dirty="0"/>
              <a:t> &lt; </a:t>
            </a:r>
            <a:r>
              <a:rPr lang="en-US" altLang="ko-KR" dirty="0" err="1"/>
              <a:t>qL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L</a:t>
            </a:r>
            <a:r>
              <a:rPr lang="ko-KR" altLang="en-US" dirty="0"/>
              <a:t>타입 </a:t>
            </a:r>
            <a:r>
              <a:rPr lang="en-US" altLang="ko-KR" dirty="0"/>
              <a:t>: </a:t>
            </a:r>
            <a:r>
              <a:rPr lang="ko-KR" altLang="en-US" dirty="0"/>
              <a:t>기업</a:t>
            </a:r>
            <a:r>
              <a:rPr lang="en-US" altLang="ko-KR" dirty="0"/>
              <a:t>2</a:t>
            </a:r>
            <a:r>
              <a:rPr lang="ko-KR" altLang="en-US" dirty="0"/>
              <a:t>가 </a:t>
            </a:r>
            <a:r>
              <a:rPr lang="en-US" altLang="ko-KR" dirty="0"/>
              <a:t>C1=CL</a:t>
            </a:r>
            <a:r>
              <a:rPr lang="ko-KR" altLang="en-US" dirty="0"/>
              <a:t>인 경우보다 더 생산함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완비정보하</a:t>
            </a:r>
            <a:r>
              <a:rPr lang="ko-KR" altLang="en-US" dirty="0"/>
              <a:t> 산출량보다 덜 생산</a:t>
            </a:r>
            <a:r>
              <a:rPr lang="en-US" altLang="ko-KR" dirty="0"/>
              <a:t>, </a:t>
            </a:r>
            <a:r>
              <a:rPr lang="ko-KR" altLang="en-US" dirty="0"/>
              <a:t>효율적 기업 손해</a:t>
            </a:r>
            <a:endParaRPr lang="en-US" altLang="ko-KR" dirty="0"/>
          </a:p>
          <a:p>
            <a:pPr lvl="1"/>
            <a:r>
              <a:rPr lang="en-US" altLang="ko-KR" dirty="0"/>
              <a:t>H</a:t>
            </a:r>
            <a:r>
              <a:rPr lang="ko-KR" altLang="en-US" dirty="0"/>
              <a:t>타입 </a:t>
            </a:r>
            <a:r>
              <a:rPr lang="en-US" altLang="ko-KR" dirty="0"/>
              <a:t>: </a:t>
            </a:r>
            <a:r>
              <a:rPr lang="ko-KR" altLang="en-US" dirty="0"/>
              <a:t>기업</a:t>
            </a:r>
            <a:r>
              <a:rPr lang="en-US" altLang="ko-KR" dirty="0"/>
              <a:t>2</a:t>
            </a:r>
            <a:r>
              <a:rPr lang="ko-KR" altLang="en-US" dirty="0"/>
              <a:t>가 </a:t>
            </a:r>
            <a:r>
              <a:rPr lang="en-US" altLang="ko-KR" dirty="0"/>
              <a:t>C1=CH</a:t>
            </a:r>
            <a:r>
              <a:rPr lang="ko-KR" altLang="en-US" dirty="0"/>
              <a:t>인 경우보다 덜 생산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완비정보하</a:t>
            </a:r>
            <a:r>
              <a:rPr lang="ko-KR" altLang="en-US" dirty="0"/>
              <a:t> 산출량보다 더 생산</a:t>
            </a:r>
            <a:r>
              <a:rPr lang="en-US" altLang="ko-KR" dirty="0"/>
              <a:t>, </a:t>
            </a:r>
            <a:r>
              <a:rPr lang="ko-KR" altLang="en-US" dirty="0"/>
              <a:t>비효율적 기업 이득</a:t>
            </a:r>
            <a:endParaRPr lang="en-US" altLang="ko-KR" dirty="0"/>
          </a:p>
          <a:p>
            <a:pPr lvl="1"/>
            <a:r>
              <a:rPr lang="ko-KR" altLang="en-US" dirty="0"/>
              <a:t>결론 </a:t>
            </a:r>
            <a:r>
              <a:rPr lang="en-US" altLang="ko-KR" dirty="0"/>
              <a:t>: H</a:t>
            </a:r>
            <a:r>
              <a:rPr lang="ko-KR" altLang="en-US" dirty="0"/>
              <a:t>타입의 존재 가능성 때문에 </a:t>
            </a:r>
            <a:r>
              <a:rPr lang="en-US" altLang="ko-KR" dirty="0"/>
              <a:t>L</a:t>
            </a:r>
            <a:r>
              <a:rPr lang="ko-KR" altLang="en-US" dirty="0"/>
              <a:t>타입은</a:t>
            </a:r>
            <a:br>
              <a:rPr lang="en-US" altLang="ko-KR" dirty="0"/>
            </a:br>
            <a:r>
              <a:rPr lang="ko-KR" altLang="en-US" dirty="0" err="1"/>
              <a:t>완비정보하</a:t>
            </a:r>
            <a:r>
              <a:rPr lang="ko-KR" altLang="en-US" dirty="0"/>
              <a:t> 손해</a:t>
            </a:r>
            <a:r>
              <a:rPr lang="en-US" altLang="ko-KR" dirty="0"/>
              <a:t>; H</a:t>
            </a:r>
            <a:r>
              <a:rPr lang="ko-KR" altLang="en-US" dirty="0"/>
              <a:t>는 </a:t>
            </a:r>
            <a:r>
              <a:rPr lang="en-US" altLang="ko-KR" dirty="0"/>
              <a:t>L</a:t>
            </a:r>
            <a:r>
              <a:rPr lang="ko-KR" altLang="en-US" dirty="0"/>
              <a:t>때문에 완비정보보다 이득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R&amp;D </a:t>
            </a:r>
            <a:r>
              <a:rPr lang="ko-KR" altLang="en-US" dirty="0"/>
              <a:t>활동에 가장 기여할 수 있는 시장구조</a:t>
            </a:r>
            <a:endParaRPr lang="en-US" altLang="ko-KR" dirty="0"/>
          </a:p>
          <a:p>
            <a:pPr lvl="1"/>
            <a:r>
              <a:rPr lang="ko-KR" altLang="en-US" dirty="0"/>
              <a:t>배분적 효율성 </a:t>
            </a:r>
            <a:r>
              <a:rPr lang="en-US" altLang="ko-KR" dirty="0"/>
              <a:t>: </a:t>
            </a:r>
            <a:r>
              <a:rPr lang="ko-KR" altLang="en-US" dirty="0"/>
              <a:t>주어진 </a:t>
            </a:r>
            <a:r>
              <a:rPr lang="ko-KR" altLang="en-US" dirty="0" err="1"/>
              <a:t>기술하에</a:t>
            </a:r>
            <a:r>
              <a:rPr lang="ko-KR" altLang="en-US" dirty="0"/>
              <a:t> 생산되는 재화</a:t>
            </a:r>
            <a:r>
              <a:rPr lang="en-US" altLang="ko-KR" dirty="0"/>
              <a:t>/</a:t>
            </a:r>
            <a:r>
              <a:rPr lang="ko-KR" altLang="en-US" dirty="0"/>
              <a:t>서비스 간 자원 배분</a:t>
            </a:r>
            <a:endParaRPr lang="en-US" altLang="ko-KR" dirty="0"/>
          </a:p>
          <a:p>
            <a:pPr lvl="1"/>
            <a:r>
              <a:rPr lang="ko-KR" altLang="en-US" dirty="0"/>
              <a:t>동태적 효율성 </a:t>
            </a:r>
            <a:r>
              <a:rPr lang="en-US" altLang="ko-KR" dirty="0"/>
              <a:t>: </a:t>
            </a:r>
            <a:r>
              <a:rPr lang="ko-KR" altLang="en-US" dirty="0"/>
              <a:t>대기업 위주 시장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신제품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신기술 개발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효율적 자원배분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혁신의 구분</a:t>
            </a:r>
            <a:endParaRPr lang="en-US" altLang="ko-KR" dirty="0"/>
          </a:p>
          <a:p>
            <a:pPr lvl="1"/>
            <a:r>
              <a:rPr lang="ko-KR" altLang="en-US" dirty="0"/>
              <a:t>기초연구 </a:t>
            </a:r>
            <a:r>
              <a:rPr lang="en-US" altLang="ko-KR" dirty="0"/>
              <a:t>: </a:t>
            </a:r>
            <a:r>
              <a:rPr lang="ko-KR" altLang="en-US" dirty="0"/>
              <a:t>기초지식</a:t>
            </a:r>
            <a:r>
              <a:rPr lang="en-US" altLang="ko-KR" dirty="0"/>
              <a:t>(</a:t>
            </a:r>
            <a:r>
              <a:rPr lang="ko-KR" altLang="en-US" dirty="0"/>
              <a:t>전자기학</a:t>
            </a:r>
            <a:r>
              <a:rPr lang="en-US" altLang="ko-KR" dirty="0"/>
              <a:t>); </a:t>
            </a:r>
            <a:r>
              <a:rPr lang="ko-KR" altLang="en-US" dirty="0"/>
              <a:t>응용연구</a:t>
            </a:r>
            <a:r>
              <a:rPr lang="en-US" altLang="ko-KR" dirty="0"/>
              <a:t> :</a:t>
            </a:r>
            <a:r>
              <a:rPr lang="ko-KR" altLang="en-US" dirty="0"/>
              <a:t>공학적 노력 </a:t>
            </a:r>
            <a:r>
              <a:rPr lang="en-US" altLang="ko-KR" dirty="0"/>
              <a:t>, </a:t>
            </a:r>
            <a:r>
              <a:rPr lang="ko-KR" altLang="en-US" dirty="0"/>
              <a:t>특정 용도 겨냥</a:t>
            </a:r>
            <a:r>
              <a:rPr lang="en-US" altLang="ko-KR" dirty="0"/>
              <a:t>(</a:t>
            </a:r>
            <a:r>
              <a:rPr lang="ko-KR" altLang="en-US" dirty="0"/>
              <a:t>레이더 기술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개발연구 </a:t>
            </a:r>
            <a:r>
              <a:rPr lang="en-US" altLang="ko-KR" dirty="0"/>
              <a:t>: </a:t>
            </a:r>
            <a:r>
              <a:rPr lang="ko-KR" altLang="en-US" dirty="0"/>
              <a:t>시제품을 소비자가 사용</a:t>
            </a:r>
            <a:r>
              <a:rPr lang="en-US" altLang="ko-KR" dirty="0"/>
              <a:t>O,</a:t>
            </a:r>
            <a:r>
              <a:rPr lang="ko-KR" altLang="en-US" dirty="0"/>
              <a:t> 대량생산</a:t>
            </a:r>
            <a:r>
              <a:rPr lang="en-US" altLang="ko-KR" dirty="0"/>
              <a:t>O(</a:t>
            </a:r>
            <a:r>
              <a:rPr lang="ko-KR" altLang="en-US" dirty="0"/>
              <a:t>전자레인지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공정혁신</a:t>
            </a:r>
            <a:r>
              <a:rPr lang="en-US" altLang="ko-KR" dirty="0"/>
              <a:t>(process innovation)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기존 제품을 값싸게 생산하는 법을 알아냄</a:t>
            </a:r>
            <a:endParaRPr lang="en-US" altLang="ko-KR" dirty="0"/>
          </a:p>
          <a:p>
            <a:pPr lvl="2"/>
            <a:r>
              <a:rPr lang="en-US" altLang="ko-KR" dirty="0"/>
              <a:t>Drastic innovation :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생산단가 감소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가격을 내릴 수 있음</a:t>
            </a:r>
            <a:r>
              <a:rPr lang="en-US" altLang="ko-KR" dirty="0">
                <a:sym typeface="Wingdings" panose="05000000000000000000" pitchFamily="2" charset="2"/>
              </a:rPr>
              <a:t>)  </a:t>
            </a:r>
            <a:r>
              <a:rPr lang="ko-KR" altLang="en-US" dirty="0">
                <a:sym typeface="Wingdings" panose="05000000000000000000" pitchFamily="2" charset="2"/>
              </a:rPr>
              <a:t>소비자의 수요 증대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소비자의 이득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Non-drastic innovation : </a:t>
            </a:r>
            <a:r>
              <a:rPr lang="ko-KR" altLang="en-US" dirty="0">
                <a:sym typeface="Wingdings" panose="05000000000000000000" pitchFamily="2" charset="2"/>
              </a:rPr>
              <a:t>생산단가 감소</a:t>
            </a:r>
            <a:r>
              <a:rPr lang="en-US" altLang="ko-KR" dirty="0">
                <a:sym typeface="Wingdings" panose="05000000000000000000" pitchFamily="2" charset="2"/>
              </a:rPr>
              <a:t> but, </a:t>
            </a:r>
            <a:r>
              <a:rPr lang="ko-KR" altLang="en-US" dirty="0">
                <a:sym typeface="Wingdings" panose="05000000000000000000" pitchFamily="2" charset="2"/>
              </a:rPr>
              <a:t>가격 내리지 </a:t>
            </a:r>
            <a:r>
              <a:rPr lang="en-US" altLang="ko-KR" dirty="0">
                <a:sym typeface="Wingdings" panose="05000000000000000000" pitchFamily="2" charset="2"/>
              </a:rPr>
              <a:t>X.  </a:t>
            </a:r>
            <a:r>
              <a:rPr lang="ko-KR" altLang="en-US" dirty="0">
                <a:sym typeface="Wingdings" panose="05000000000000000000" pitchFamily="2" charset="2"/>
              </a:rPr>
              <a:t>수요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그대로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생산자 이득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제품혁신</a:t>
            </a:r>
            <a:r>
              <a:rPr lang="en-US" altLang="ko-KR" dirty="0">
                <a:sym typeface="Wingdings" panose="05000000000000000000" pitchFamily="2" charset="2"/>
              </a:rPr>
              <a:t>(Product Innovation) : </a:t>
            </a:r>
            <a:r>
              <a:rPr lang="ko-KR" altLang="en-US" dirty="0">
                <a:sym typeface="Wingdings" panose="05000000000000000000" pitchFamily="2" charset="2"/>
              </a:rPr>
              <a:t>새 제품을 만들어 내는 것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제품간 대체효과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substitution : </a:t>
            </a:r>
            <a:r>
              <a:rPr lang="ko-KR" altLang="en-US" dirty="0">
                <a:sym typeface="Wingdings" panose="05000000000000000000" pitchFamily="2" charset="2"/>
              </a:rPr>
              <a:t>제품개발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얼마나 경쟁사 소비 대체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Replacement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effect : </a:t>
            </a:r>
            <a:r>
              <a:rPr lang="ko-KR" altLang="en-US" dirty="0">
                <a:sym typeface="Wingdings" panose="05000000000000000000" pitchFamily="2" charset="2"/>
              </a:rPr>
              <a:t>제품개발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얼마나 자사의 제품 대체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6DB2F5-5A8C-AE1F-2358-F542B08AE87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비대칭 </a:t>
            </a:r>
            <a:r>
              <a:rPr lang="ko-KR" altLang="en-US" dirty="0" err="1"/>
              <a:t>정보하</a:t>
            </a:r>
            <a:r>
              <a:rPr lang="ko-KR" altLang="en-US" dirty="0"/>
              <a:t> 쿠르노 경쟁</a:t>
            </a:r>
            <a:endParaRPr lang="en-US" altLang="ko-KR" dirty="0"/>
          </a:p>
          <a:p>
            <a:pPr lvl="1"/>
            <a:r>
              <a:rPr lang="en-US" altLang="ko-KR" dirty="0"/>
              <a:t>L/H</a:t>
            </a:r>
            <a:r>
              <a:rPr lang="ko-KR" altLang="en-US" dirty="0"/>
              <a:t>타입 </a:t>
            </a:r>
            <a:r>
              <a:rPr lang="en-US" altLang="ko-KR" dirty="0"/>
              <a:t>: </a:t>
            </a:r>
            <a:r>
              <a:rPr lang="ko-KR" altLang="en-US" dirty="0"/>
              <a:t>기업</a:t>
            </a:r>
            <a:r>
              <a:rPr lang="en-US" altLang="ko-KR" dirty="0"/>
              <a:t>2</a:t>
            </a:r>
            <a:r>
              <a:rPr lang="ko-KR" altLang="en-US" dirty="0"/>
              <a:t>가 </a:t>
            </a:r>
            <a:r>
              <a:rPr lang="en-US" altLang="ko-KR" dirty="0"/>
              <a:t>C1=CL/CH</a:t>
            </a:r>
            <a:r>
              <a:rPr lang="ko-KR" altLang="en-US" dirty="0"/>
              <a:t>인 경우보다 더</a:t>
            </a:r>
            <a:r>
              <a:rPr lang="en-US" altLang="ko-KR" dirty="0"/>
              <a:t>/</a:t>
            </a:r>
            <a:r>
              <a:rPr lang="ko-KR" altLang="en-US" dirty="0"/>
              <a:t>덜 생산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완비정보 산출량보다 덜</a:t>
            </a:r>
            <a:r>
              <a:rPr lang="en-US" altLang="ko-KR" dirty="0"/>
              <a:t>/</a:t>
            </a:r>
            <a:r>
              <a:rPr lang="ko-KR" altLang="en-US" dirty="0"/>
              <a:t>더 생산</a:t>
            </a:r>
            <a:r>
              <a:rPr lang="en-US" altLang="ko-KR" dirty="0"/>
              <a:t>, </a:t>
            </a:r>
            <a:r>
              <a:rPr lang="ko-KR" altLang="en-US" dirty="0"/>
              <a:t>효율적</a:t>
            </a:r>
            <a:r>
              <a:rPr lang="en-US" altLang="ko-KR" dirty="0"/>
              <a:t>/</a:t>
            </a:r>
            <a:r>
              <a:rPr lang="ko-KR" altLang="en-US" dirty="0"/>
              <a:t>비효율적 기업 손해</a:t>
            </a:r>
            <a:r>
              <a:rPr lang="en-US" altLang="ko-KR" dirty="0"/>
              <a:t>/</a:t>
            </a:r>
            <a:r>
              <a:rPr lang="ko-KR" altLang="en-US" dirty="0"/>
              <a:t>이득</a:t>
            </a:r>
            <a:br>
              <a:rPr lang="en-US" altLang="ko-KR" dirty="0"/>
            </a:br>
            <a:r>
              <a:rPr lang="ko-KR" altLang="en-US" dirty="0"/>
              <a:t>결론 </a:t>
            </a:r>
            <a:r>
              <a:rPr lang="en-US" altLang="ko-KR" dirty="0"/>
              <a:t>: H</a:t>
            </a:r>
            <a:r>
              <a:rPr lang="ko-KR" altLang="en-US" dirty="0"/>
              <a:t>타입의 존재 가능성 때문에 </a:t>
            </a:r>
            <a:r>
              <a:rPr lang="en-US" altLang="ko-KR" dirty="0"/>
              <a:t>L</a:t>
            </a:r>
            <a:r>
              <a:rPr lang="ko-KR" altLang="en-US" dirty="0"/>
              <a:t>타입은</a:t>
            </a:r>
            <a:r>
              <a:rPr lang="en-US" altLang="ko-KR" dirty="0"/>
              <a:t> </a:t>
            </a:r>
            <a:r>
              <a:rPr lang="ko-KR" altLang="en-US" dirty="0" err="1"/>
              <a:t>완비정보하</a:t>
            </a:r>
            <a:r>
              <a:rPr lang="ko-KR" altLang="en-US" dirty="0"/>
              <a:t> 손해</a:t>
            </a:r>
            <a:r>
              <a:rPr lang="en-US" altLang="ko-KR" dirty="0"/>
              <a:t>; H</a:t>
            </a:r>
            <a:r>
              <a:rPr lang="ko-KR" altLang="en-US" dirty="0"/>
              <a:t>는 </a:t>
            </a:r>
            <a:r>
              <a:rPr lang="en-US" altLang="ko-KR" dirty="0"/>
              <a:t>L</a:t>
            </a:r>
            <a:r>
              <a:rPr lang="ko-KR" altLang="en-US" dirty="0"/>
              <a:t>때문에 완비정보보다 이득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Major/minor Innovation : (</a:t>
            </a:r>
            <a:r>
              <a:rPr lang="ko-KR" altLang="en-US" dirty="0"/>
              <a:t>생산단가</a:t>
            </a:r>
            <a:r>
              <a:rPr lang="en-US" altLang="ko-KR" dirty="0"/>
              <a:t>↓→</a:t>
            </a:r>
            <a:r>
              <a:rPr lang="ko-KR" altLang="en-US" dirty="0"/>
              <a:t>가격</a:t>
            </a:r>
            <a:r>
              <a:rPr lang="en-US" altLang="ko-KR" dirty="0"/>
              <a:t>↓/↓X)→(</a:t>
            </a:r>
            <a:r>
              <a:rPr lang="ko-KR" altLang="en-US" dirty="0"/>
              <a:t>수요</a:t>
            </a:r>
            <a:r>
              <a:rPr lang="en-US" altLang="ko-KR" dirty="0"/>
              <a:t>↑/↑X→</a:t>
            </a:r>
            <a:r>
              <a:rPr lang="ko-KR" altLang="en-US" dirty="0"/>
              <a:t>소비자</a:t>
            </a:r>
            <a:r>
              <a:rPr lang="en-US" altLang="ko-KR" dirty="0"/>
              <a:t>/</a:t>
            </a:r>
            <a:r>
              <a:rPr lang="ko-KR" altLang="en-US" dirty="0"/>
              <a:t>생산자 이득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제품혁신 </a:t>
            </a:r>
            <a:r>
              <a:rPr lang="en-US" altLang="ko-KR" dirty="0"/>
              <a:t>: </a:t>
            </a:r>
            <a:r>
              <a:rPr lang="ko-KR" altLang="en-US" dirty="0" err="1"/>
              <a:t>새제품</a:t>
            </a:r>
            <a:r>
              <a:rPr lang="en-US" altLang="ko-KR" dirty="0"/>
              <a:t>;</a:t>
            </a:r>
            <a:r>
              <a:rPr lang="ko-KR" altLang="en-US" dirty="0"/>
              <a:t> 대체효과 </a:t>
            </a:r>
            <a:r>
              <a:rPr lang="en-US" altLang="ko-KR" dirty="0"/>
              <a:t>: substitution(=</a:t>
            </a:r>
            <a:r>
              <a:rPr lang="ko-KR" altLang="en-US" dirty="0"/>
              <a:t>경쟁사 소비 대체</a:t>
            </a:r>
            <a:r>
              <a:rPr lang="en-US" altLang="ko-KR" dirty="0"/>
              <a:t>), replace effect(=</a:t>
            </a:r>
            <a:r>
              <a:rPr lang="ko-KR" altLang="en-US" dirty="0"/>
              <a:t>자사 제품 대체</a:t>
            </a:r>
            <a:r>
              <a:rPr lang="en-US" altLang="ko-KR" dirty="0"/>
              <a:t>)</a:t>
            </a:r>
          </a:p>
        </p:txBody>
      </p:sp>
      <p:pic>
        <p:nvPicPr>
          <p:cNvPr id="11" name="그림 10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F6CEE80-41F3-AFDD-D969-9D5C2680C6A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935" y="1138289"/>
            <a:ext cx="5134878" cy="2575992"/>
          </a:xfrm>
          <a:prstGeom prst="rect">
            <a:avLst/>
          </a:prstGeom>
        </p:spPr>
      </p:pic>
      <p:pic>
        <p:nvPicPr>
          <p:cNvPr id="13" name="그림 12" descr="텍스트, 스크린샷, 폰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4002691-1CA5-8B5F-7A77-C8622AD3F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160" y="3720153"/>
            <a:ext cx="1774739" cy="1214275"/>
          </a:xfrm>
          <a:prstGeom prst="rect">
            <a:avLst/>
          </a:prstGeom>
        </p:spPr>
      </p:pic>
      <p:pic>
        <p:nvPicPr>
          <p:cNvPr id="8" name="그림 7" descr="라인, 도표, 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E47E261-6FA3-4D69-53A8-562188AF53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10"/>
          <a:stretch>
            <a:fillRect/>
          </a:stretch>
        </p:blipFill>
        <p:spPr>
          <a:xfrm>
            <a:off x="-38773" y="5093541"/>
            <a:ext cx="1694708" cy="1520946"/>
          </a:xfrm>
          <a:prstGeom prst="rect">
            <a:avLst/>
          </a:prstGeom>
        </p:spPr>
      </p:pic>
      <p:pic>
        <p:nvPicPr>
          <p:cNvPr id="7" name="그림 6" descr="라인, 도표, 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7DFA5F0-2209-6566-CB4E-1E0A46F1C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0"/>
          <a:stretch>
            <a:fillRect/>
          </a:stretch>
        </p:blipFill>
        <p:spPr>
          <a:xfrm>
            <a:off x="44624" y="6633796"/>
            <a:ext cx="1694708" cy="1520946"/>
          </a:xfrm>
          <a:prstGeom prst="rect">
            <a:avLst/>
          </a:prstGeom>
        </p:spPr>
      </p:pic>
      <p:pic>
        <p:nvPicPr>
          <p:cNvPr id="9" name="그림 8" descr="라인, 도표, 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F59745F-9087-F2AF-90BF-EB228F087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10"/>
          <a:stretch>
            <a:fillRect/>
          </a:stretch>
        </p:blipFill>
        <p:spPr>
          <a:xfrm>
            <a:off x="4680927" y="7935821"/>
            <a:ext cx="875485" cy="785720"/>
          </a:xfrm>
          <a:prstGeom prst="rect">
            <a:avLst/>
          </a:prstGeom>
        </p:spPr>
      </p:pic>
      <p:pic>
        <p:nvPicPr>
          <p:cNvPr id="10" name="그림 9" descr="라인, 도표, 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DE75D6B-A420-0A31-8785-5338C682B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0"/>
          <a:stretch>
            <a:fillRect/>
          </a:stretch>
        </p:blipFill>
        <p:spPr>
          <a:xfrm>
            <a:off x="5625245" y="7911560"/>
            <a:ext cx="875485" cy="78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8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57CDE31-24DB-9BE7-9FE5-1A36EFE7A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E38E9E3-B24D-C906-0BCA-8C5D178A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시장구조와 연구개발투자의 상관관계</a:t>
            </a:r>
            <a:br>
              <a:rPr lang="en-US" altLang="ko-KR" dirty="0"/>
            </a:br>
            <a:r>
              <a:rPr lang="en-US" altLang="ko-KR" dirty="0"/>
              <a:t>/</a:t>
            </a:r>
            <a:r>
              <a:rPr lang="ko-KR" altLang="en-US" dirty="0"/>
              <a:t> 기업간 연구개발 협력</a:t>
            </a:r>
            <a:r>
              <a:rPr lang="en-US" altLang="ko-KR" dirty="0"/>
              <a:t>/</a:t>
            </a:r>
            <a:r>
              <a:rPr lang="ko-KR" altLang="en-US" dirty="0"/>
              <a:t>산학 공동협력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2980CB-7A5F-0EF3-BED1-DF092B3AF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624" y="560512"/>
            <a:ext cx="1008112" cy="7560840"/>
          </a:xfr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6142EB8-C589-0723-DEEE-9FBC4710E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744" y="560512"/>
            <a:ext cx="5688631" cy="7560840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슘페터</a:t>
            </a:r>
            <a:r>
              <a:rPr lang="ko-KR" altLang="en-US" dirty="0"/>
              <a:t> 가설과 </a:t>
            </a:r>
            <a:r>
              <a:rPr lang="en-US" altLang="ko-KR" dirty="0"/>
              <a:t>creative destruction : </a:t>
            </a:r>
            <a:r>
              <a:rPr lang="ko-KR" altLang="en-US" dirty="0"/>
              <a:t>독점시장이 기술개발을 용이케 한다</a:t>
            </a:r>
            <a:endParaRPr lang="en-US" altLang="ko-KR" dirty="0"/>
          </a:p>
          <a:p>
            <a:pPr lvl="1"/>
            <a:r>
              <a:rPr lang="ko-KR" altLang="en-US" dirty="0"/>
              <a:t>독점적 시장구조가 기술혁신에 유리한 점</a:t>
            </a:r>
            <a:r>
              <a:rPr lang="en-US" altLang="ko-KR" dirty="0"/>
              <a:t>:  </a:t>
            </a:r>
            <a:r>
              <a:rPr lang="en-US" altLang="ko-KR" dirty="0" err="1"/>
              <a:t>RnD</a:t>
            </a:r>
            <a:r>
              <a:rPr lang="ko-KR" altLang="en-US" dirty="0"/>
              <a:t>에 투자할 자원</a:t>
            </a:r>
            <a:r>
              <a:rPr lang="en-US" altLang="ko-KR" dirty="0"/>
              <a:t> </a:t>
            </a:r>
            <a:r>
              <a:rPr lang="ko-KR" altLang="en-US" dirty="0"/>
              <a:t>↑</a:t>
            </a:r>
            <a:r>
              <a:rPr lang="en-US" altLang="ko-KR" dirty="0"/>
              <a:t>/</a:t>
            </a:r>
            <a:r>
              <a:rPr lang="ko-KR" altLang="en-US" dirty="0"/>
              <a:t>규모의 경제</a:t>
            </a:r>
            <a:br>
              <a:rPr lang="en-US" altLang="ko-KR" dirty="0"/>
            </a:br>
            <a:r>
              <a:rPr lang="ko-KR" altLang="en-US" dirty="0"/>
              <a:t>사업 다각화 및 여러 </a:t>
            </a:r>
            <a:r>
              <a:rPr lang="ko-KR" altLang="en-US" dirty="0" err="1"/>
              <a:t>프젝</a:t>
            </a:r>
            <a:r>
              <a:rPr lang="ko-KR" altLang="en-US" dirty="0"/>
              <a:t> 동시 추구 </a:t>
            </a:r>
            <a:r>
              <a:rPr lang="en-US" altLang="ko-KR" dirty="0"/>
              <a:t>&amp; </a:t>
            </a:r>
            <a:r>
              <a:rPr lang="ko-KR" altLang="en-US" dirty="0"/>
              <a:t>연구개발성과의 다양한 이용장기간 고비용 </a:t>
            </a:r>
            <a:r>
              <a:rPr lang="ko-KR" altLang="en-US" dirty="0" err="1"/>
              <a:t>프젝</a:t>
            </a:r>
            <a:r>
              <a:rPr lang="ko-KR" altLang="en-US" dirty="0"/>
              <a:t> </a:t>
            </a:r>
            <a:r>
              <a:rPr lang="en-US" altLang="ko-KR" dirty="0"/>
              <a:t>O</a:t>
            </a:r>
          </a:p>
          <a:p>
            <a:pPr lvl="1"/>
            <a:r>
              <a:rPr lang="ko-KR" altLang="en-US" dirty="0"/>
              <a:t>기술혁신 불리한점 </a:t>
            </a:r>
            <a:r>
              <a:rPr lang="en-US" altLang="ko-KR" dirty="0"/>
              <a:t>: </a:t>
            </a:r>
            <a:r>
              <a:rPr lang="ko-KR" altLang="en-US" dirty="0"/>
              <a:t>관료주의 비효율성</a:t>
            </a:r>
            <a:endParaRPr lang="en-US" altLang="ko-KR" dirty="0"/>
          </a:p>
          <a:p>
            <a:r>
              <a:rPr lang="en-US" altLang="ko-KR" dirty="0"/>
              <a:t>Arrow </a:t>
            </a:r>
            <a:r>
              <a:rPr lang="ko-KR" altLang="en-US" dirty="0"/>
              <a:t>가설 </a:t>
            </a:r>
            <a:r>
              <a:rPr lang="en-US" altLang="ko-KR" dirty="0"/>
              <a:t>: </a:t>
            </a:r>
            <a:r>
              <a:rPr lang="ko-KR" altLang="en-US" dirty="0" err="1"/>
              <a:t>슘페터</a:t>
            </a:r>
            <a:r>
              <a:rPr lang="ko-KR" altLang="en-US" dirty="0"/>
              <a:t> 가설에 대한 반박</a:t>
            </a:r>
            <a:r>
              <a:rPr lang="en-US" altLang="ko-KR" dirty="0"/>
              <a:t>; Replacement Effect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대체효과 </a:t>
            </a:r>
            <a:r>
              <a:rPr lang="en-US" altLang="ko-KR" dirty="0"/>
              <a:t>: </a:t>
            </a:r>
            <a:r>
              <a:rPr lang="ko-KR" altLang="en-US" dirty="0"/>
              <a:t>독점기업 기술혁신의 추가 이윤 </a:t>
            </a:r>
            <a:r>
              <a:rPr lang="en-US" altLang="ko-KR" dirty="0"/>
              <a:t>→ </a:t>
            </a:r>
            <a:r>
              <a:rPr lang="ko-KR" altLang="en-US" dirty="0"/>
              <a:t>이미 누리던 독점 이윤 일부 대체</a:t>
            </a:r>
            <a:endParaRPr lang="en-US" altLang="ko-KR" dirty="0"/>
          </a:p>
          <a:p>
            <a:pPr lvl="1"/>
            <a:r>
              <a:rPr lang="en-US" altLang="ko-KR" dirty="0"/>
              <a:t>Minor</a:t>
            </a:r>
            <a:r>
              <a:rPr lang="ko-KR" altLang="en-US" dirty="0"/>
              <a:t> </a:t>
            </a:r>
            <a:r>
              <a:rPr lang="en-US" altLang="ko-KR" dirty="0"/>
              <a:t>innovation : 1+2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경쟁시장일 때 순이익</a:t>
            </a:r>
            <a:r>
              <a:rPr lang="en-US" altLang="ko-KR" dirty="0">
                <a:sym typeface="Wingdings" panose="05000000000000000000" pitchFamily="2" charset="2"/>
              </a:rPr>
              <a:t>; 1 </a:t>
            </a:r>
            <a:r>
              <a:rPr lang="ko-KR" altLang="en-US" dirty="0">
                <a:sym typeface="Wingdings" panose="05000000000000000000" pitchFamily="2" charset="2"/>
              </a:rPr>
              <a:t>독점일 때 순이익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/>
              <a:t>Major innovation : </a:t>
            </a:r>
            <a:r>
              <a:rPr lang="ko-KR" altLang="en-US" dirty="0" err="1"/>
              <a:t>완경</a:t>
            </a:r>
            <a:r>
              <a:rPr lang="ko-KR" altLang="en-US" dirty="0"/>
              <a:t> </a:t>
            </a:r>
            <a:r>
              <a:rPr lang="en-US" altLang="ko-KR" dirty="0"/>
              <a:t>: P0,Q0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혁신성공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경쟁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온전한 분홍색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대체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pPr lvl="1"/>
            <a:r>
              <a:rPr lang="en-US" altLang="ko-KR" dirty="0"/>
              <a:t>Arrow </a:t>
            </a:r>
            <a:r>
              <a:rPr lang="ko-KR" altLang="en-US" dirty="0"/>
              <a:t>가설의 한계 </a:t>
            </a:r>
            <a:r>
              <a:rPr lang="en-US" altLang="ko-KR" dirty="0"/>
              <a:t>:</a:t>
            </a:r>
            <a:r>
              <a:rPr lang="ko-KR" altLang="en-US" dirty="0"/>
              <a:t>새 생산공정</a:t>
            </a:r>
            <a:r>
              <a:rPr lang="en-US" altLang="ko-KR" dirty="0"/>
              <a:t>/</a:t>
            </a:r>
            <a:r>
              <a:rPr lang="ko-KR" altLang="en-US" dirty="0"/>
              <a:t>시장구조</a:t>
            </a:r>
            <a:r>
              <a:rPr lang="en-US" altLang="ko-KR" dirty="0"/>
              <a:t>? → </a:t>
            </a:r>
            <a:r>
              <a:rPr lang="ko-KR" altLang="en-US" dirty="0"/>
              <a:t>외생적 </a:t>
            </a:r>
            <a:r>
              <a:rPr lang="en-US" altLang="ko-KR" dirty="0"/>
              <a:t>; </a:t>
            </a:r>
            <a:r>
              <a:rPr lang="ko-KR" altLang="en-US" dirty="0">
                <a:sym typeface="Wingdings" panose="05000000000000000000" pitchFamily="2" charset="2"/>
              </a:rPr>
              <a:t>과점시장 분석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r>
              <a:rPr lang="ko-KR" altLang="en-US" dirty="0"/>
              <a:t>기업간 연구개발</a:t>
            </a:r>
            <a:r>
              <a:rPr lang="en-US" altLang="ko-KR" dirty="0"/>
              <a:t>(R&amp;D) </a:t>
            </a:r>
            <a:r>
              <a:rPr lang="ko-KR" altLang="en-US" dirty="0"/>
              <a:t>협력</a:t>
            </a:r>
            <a:endParaRPr lang="en-US" altLang="ko-KR" dirty="0"/>
          </a:p>
          <a:p>
            <a:pPr lvl="1"/>
            <a:r>
              <a:rPr lang="ko-KR" altLang="en-US" dirty="0"/>
              <a:t>전략적 대체재 </a:t>
            </a:r>
            <a:r>
              <a:rPr lang="en-US" altLang="ko-KR" dirty="0"/>
              <a:t>: </a:t>
            </a:r>
            <a:r>
              <a:rPr lang="ko-KR" altLang="en-US" dirty="0" err="1"/>
              <a:t>한기업</a:t>
            </a:r>
            <a:r>
              <a:rPr lang="en-US" altLang="ko-KR" dirty="0"/>
              <a:t>→</a:t>
            </a:r>
            <a:r>
              <a:rPr lang="ko-KR" altLang="en-US" dirty="0"/>
              <a:t>타기업 최적전략 부정적</a:t>
            </a:r>
            <a:r>
              <a:rPr lang="en-US" altLang="ko-KR" dirty="0"/>
              <a:t>,</a:t>
            </a:r>
            <a:r>
              <a:rPr lang="ko-KR" altLang="en-US" dirty="0"/>
              <a:t>서로 행동 상쇄</a:t>
            </a:r>
            <a:r>
              <a:rPr lang="en-US" altLang="ko-KR" dirty="0"/>
              <a:t> (</a:t>
            </a:r>
            <a:r>
              <a:rPr lang="ko-KR" altLang="en-US" dirty="0"/>
              <a:t>상대</a:t>
            </a:r>
            <a:r>
              <a:rPr lang="en-US" altLang="ko-KR" dirty="0"/>
              <a:t> </a:t>
            </a:r>
            <a:r>
              <a:rPr lang="en-US" altLang="ko-KR" dirty="0" err="1"/>
              <a:t>RnD</a:t>
            </a:r>
            <a:r>
              <a:rPr lang="ko-KR" altLang="en-US" dirty="0"/>
              <a:t>↑</a:t>
            </a:r>
            <a:r>
              <a:rPr lang="en-US" altLang="ko-KR" dirty="0"/>
              <a:t>→</a:t>
            </a:r>
            <a:r>
              <a:rPr lang="ko-KR" altLang="en-US" dirty="0"/>
              <a:t>내 </a:t>
            </a:r>
            <a:r>
              <a:rPr lang="en-US" altLang="ko-KR" dirty="0" err="1"/>
              <a:t>RnD</a:t>
            </a:r>
            <a:r>
              <a:rPr lang="ko-KR" altLang="en-US" dirty="0"/>
              <a:t>↓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전략적 </a:t>
            </a:r>
            <a:r>
              <a:rPr lang="ko-KR" altLang="en-US" dirty="0" err="1"/>
              <a:t>보완재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한기업</a:t>
            </a:r>
            <a:r>
              <a:rPr lang="en-US" altLang="ko-KR" dirty="0"/>
              <a:t>→</a:t>
            </a:r>
            <a:r>
              <a:rPr lang="ko-KR" altLang="en-US" dirty="0"/>
              <a:t>타기업 최적전략 긍정적</a:t>
            </a:r>
            <a:r>
              <a:rPr lang="en-US" altLang="ko-KR" dirty="0"/>
              <a:t>,</a:t>
            </a:r>
            <a:r>
              <a:rPr lang="ko-KR" altLang="en-US" dirty="0"/>
              <a:t>서로 행동 강화</a:t>
            </a:r>
            <a:r>
              <a:rPr lang="en-US" altLang="ko-KR" dirty="0"/>
              <a:t> (</a:t>
            </a:r>
            <a:r>
              <a:rPr lang="ko-KR" altLang="en-US" dirty="0"/>
              <a:t>상대</a:t>
            </a:r>
            <a:r>
              <a:rPr lang="en-US" altLang="ko-KR" dirty="0"/>
              <a:t> </a:t>
            </a:r>
            <a:r>
              <a:rPr lang="en-US" altLang="ko-KR" dirty="0" err="1"/>
              <a:t>RnD</a:t>
            </a:r>
            <a:r>
              <a:rPr lang="ko-KR" altLang="en-US" dirty="0"/>
              <a:t>↑</a:t>
            </a:r>
            <a:r>
              <a:rPr lang="en-US" altLang="ko-KR" dirty="0"/>
              <a:t>→</a:t>
            </a:r>
            <a:r>
              <a:rPr lang="ko-KR" altLang="en-US" dirty="0"/>
              <a:t>내 </a:t>
            </a:r>
            <a:r>
              <a:rPr lang="en-US" altLang="ko-KR" dirty="0" err="1"/>
              <a:t>RnD</a:t>
            </a:r>
            <a:r>
              <a:rPr lang="ko-KR" altLang="en-US" dirty="0"/>
              <a:t>↑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 err="1"/>
              <a:t>프리라이딩</a:t>
            </a:r>
            <a:r>
              <a:rPr lang="ko-KR" altLang="en-US" dirty="0"/>
              <a:t> 문제 </a:t>
            </a:r>
            <a:r>
              <a:rPr lang="en-US" altLang="ko-KR" dirty="0"/>
              <a:t>: β &lt; 0.5 → </a:t>
            </a:r>
            <a:r>
              <a:rPr lang="ko-KR" altLang="en-US" dirty="0"/>
              <a:t>상대방이 </a:t>
            </a:r>
            <a:r>
              <a:rPr lang="en-US" altLang="ko-KR" dirty="0" err="1"/>
              <a:t>RnD</a:t>
            </a:r>
            <a:r>
              <a:rPr lang="en-US" altLang="ko-KR" dirty="0"/>
              <a:t> </a:t>
            </a:r>
            <a:r>
              <a:rPr lang="ko-KR" altLang="en-US" dirty="0"/>
              <a:t>투자</a:t>
            </a:r>
            <a:r>
              <a:rPr lang="en-US" altLang="ko-KR" dirty="0"/>
              <a:t>→ </a:t>
            </a:r>
            <a:r>
              <a:rPr lang="ko-KR" altLang="en-US" dirty="0"/>
              <a:t>내게 돌아오는 </a:t>
            </a:r>
            <a:r>
              <a:rPr lang="en-US" altLang="ko-KR" dirty="0"/>
              <a:t>spill over </a:t>
            </a:r>
            <a:r>
              <a:rPr lang="ko-KR" altLang="en-US" dirty="0"/>
              <a:t>↓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나는 </a:t>
            </a:r>
            <a:r>
              <a:rPr lang="en-US" altLang="ko-KR" dirty="0" err="1"/>
              <a:t>RnD</a:t>
            </a:r>
            <a:r>
              <a:rPr lang="ko-KR" altLang="en-US" dirty="0"/>
              <a:t>를 줄이고 상대방에게 </a:t>
            </a:r>
            <a:r>
              <a:rPr lang="ko-KR" altLang="en-US" dirty="0" err="1"/>
              <a:t>무임승차할</a:t>
            </a:r>
            <a:r>
              <a:rPr lang="ko-KR" altLang="en-US" dirty="0"/>
              <a:t> 유인 </a:t>
            </a:r>
            <a:r>
              <a:rPr lang="en-US" altLang="ko-KR" dirty="0"/>
              <a:t>O</a:t>
            </a:r>
          </a:p>
          <a:p>
            <a:pPr lvl="3"/>
            <a:r>
              <a:rPr lang="ko-KR" altLang="en-US" dirty="0"/>
              <a:t>서로 파급효과가 낮</a:t>
            </a:r>
            <a:r>
              <a:rPr lang="en-US" altLang="ko-KR" dirty="0"/>
              <a:t>/</a:t>
            </a:r>
            <a:r>
              <a:rPr lang="ko-KR" altLang="en-US" dirty="0"/>
              <a:t>높은 경우 두 기업은 서로 낮</a:t>
            </a:r>
            <a:r>
              <a:rPr lang="en-US" altLang="ko-KR" dirty="0"/>
              <a:t>/</a:t>
            </a:r>
            <a:r>
              <a:rPr lang="ko-KR" altLang="en-US" dirty="0"/>
              <a:t>높은 연구개발을 </a:t>
            </a:r>
            <a:r>
              <a:rPr lang="ko-KR" altLang="en-US" dirty="0" err="1"/>
              <a:t>하는게</a:t>
            </a:r>
            <a:r>
              <a:rPr lang="ko-KR" altLang="en-US" dirty="0"/>
              <a:t> 이윤 ↑</a:t>
            </a:r>
            <a:endParaRPr lang="en-US" altLang="ko-KR" dirty="0"/>
          </a:p>
          <a:p>
            <a:pPr lvl="2"/>
            <a:r>
              <a:rPr lang="ko-KR" altLang="en-US" dirty="0"/>
              <a:t>연구공동벤처</a:t>
            </a:r>
            <a:r>
              <a:rPr lang="en-US" altLang="ko-KR" dirty="0"/>
              <a:t>(RJV)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공동 </a:t>
            </a:r>
            <a:r>
              <a:rPr lang="en-US" altLang="ko-KR" dirty="0" err="1"/>
              <a:t>RnD</a:t>
            </a:r>
            <a:r>
              <a:rPr lang="en-US" altLang="ko-KR" dirty="0"/>
              <a:t>,</a:t>
            </a:r>
            <a:r>
              <a:rPr lang="ko-KR" altLang="en-US" dirty="0"/>
              <a:t> 제</a:t>
            </a:r>
            <a:r>
              <a:rPr lang="en-US" altLang="ko-KR" dirty="0"/>
              <a:t>3</a:t>
            </a:r>
            <a:r>
              <a:rPr lang="ko-KR" altLang="en-US" dirty="0"/>
              <a:t> 연구회사</a:t>
            </a:r>
            <a:r>
              <a:rPr lang="en-US" altLang="ko-KR" dirty="0"/>
              <a:t>.</a:t>
            </a:r>
            <a:r>
              <a:rPr lang="ko-KR" altLang="en-US" dirty="0"/>
              <a:t>각 지분 </a:t>
            </a:r>
            <a:r>
              <a:rPr lang="en-US" altLang="ko-KR" dirty="0"/>
              <a:t>50%-&gt;</a:t>
            </a:r>
            <a:r>
              <a:rPr lang="ko-KR" altLang="en-US" dirty="0"/>
              <a:t>파급효과</a:t>
            </a:r>
            <a:r>
              <a:rPr lang="en-US" altLang="ko-KR" dirty="0"/>
              <a:t> = 1; </a:t>
            </a:r>
            <a:r>
              <a:rPr lang="ko-KR" altLang="en-US" dirty="0"/>
              <a:t>배신 유인 ↓</a:t>
            </a:r>
            <a:endParaRPr lang="en-US" altLang="ko-KR" dirty="0"/>
          </a:p>
          <a:p>
            <a:r>
              <a:rPr lang="en-US" altLang="ko-KR" dirty="0"/>
              <a:t>Bayh-dole</a:t>
            </a:r>
            <a:r>
              <a:rPr lang="ko-KR" altLang="en-US" dirty="0"/>
              <a:t> </a:t>
            </a:r>
            <a:r>
              <a:rPr lang="en-US" altLang="ko-KR" dirty="0"/>
              <a:t>act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80s</a:t>
            </a:r>
            <a:r>
              <a:rPr lang="ko-KR" altLang="en-US" dirty="0"/>
              <a:t> 미국</a:t>
            </a:r>
            <a:r>
              <a:rPr lang="en-US" altLang="ko-KR" dirty="0"/>
              <a:t>, </a:t>
            </a:r>
            <a:r>
              <a:rPr lang="ko-KR" altLang="en-US" dirty="0"/>
              <a:t>정부 지원 연구</a:t>
            </a:r>
            <a:r>
              <a:rPr lang="en-US" altLang="ko-KR" dirty="0"/>
              <a:t>? -&gt; </a:t>
            </a:r>
            <a:r>
              <a:rPr lang="ko-KR" altLang="en-US" dirty="0"/>
              <a:t>특허의 소유권 </a:t>
            </a:r>
            <a:r>
              <a:rPr lang="en-US" altLang="ko-KR" dirty="0"/>
              <a:t>O</a:t>
            </a:r>
          </a:p>
          <a:p>
            <a:pPr lvl="1"/>
            <a:r>
              <a:rPr lang="ko-KR" altLang="en-US" dirty="0"/>
              <a:t>필요성</a:t>
            </a:r>
            <a:r>
              <a:rPr lang="en-US" altLang="ko-KR" dirty="0"/>
              <a:t> : </a:t>
            </a:r>
            <a:r>
              <a:rPr lang="ko-KR" altLang="en-US" dirty="0"/>
              <a:t>상업화 부족 </a:t>
            </a:r>
            <a:r>
              <a:rPr lang="en-US" altLang="ko-KR" dirty="0"/>
              <a:t>&amp; </a:t>
            </a:r>
            <a:r>
              <a:rPr lang="ko-KR" altLang="en-US" dirty="0"/>
              <a:t>연구자의 인센티브 부족</a:t>
            </a:r>
            <a:r>
              <a:rPr lang="en-US" altLang="ko-KR" dirty="0"/>
              <a:t>(</a:t>
            </a:r>
            <a:r>
              <a:rPr lang="ko-KR" altLang="en-US" dirty="0"/>
              <a:t>연구자는 상업화</a:t>
            </a:r>
            <a:r>
              <a:rPr lang="en-US" altLang="ko-KR" dirty="0"/>
              <a:t>X, </a:t>
            </a:r>
            <a:r>
              <a:rPr lang="ko-KR" altLang="en-US" dirty="0"/>
              <a:t>학문적</a:t>
            </a:r>
            <a:r>
              <a:rPr lang="en-US" altLang="ko-KR" dirty="0"/>
              <a:t> </a:t>
            </a:r>
            <a:r>
              <a:rPr lang="ko-KR" altLang="en-US" dirty="0"/>
              <a:t>실적만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원리 </a:t>
            </a:r>
            <a:r>
              <a:rPr lang="en-US" altLang="ko-KR" dirty="0"/>
              <a:t>: </a:t>
            </a:r>
            <a:r>
              <a:rPr lang="ko-KR" altLang="en-US" dirty="0"/>
              <a:t>소유권 이전</a:t>
            </a:r>
            <a:r>
              <a:rPr lang="en-US" altLang="ko-KR" dirty="0"/>
              <a:t>(</a:t>
            </a:r>
            <a:r>
              <a:rPr lang="ko-KR" altLang="en-US" dirty="0"/>
              <a:t>정부</a:t>
            </a:r>
            <a:r>
              <a:rPr lang="en-US" altLang="ko-KR" dirty="0"/>
              <a:t>X, </a:t>
            </a:r>
            <a:r>
              <a:rPr lang="ko-KR" altLang="en-US" dirty="0"/>
              <a:t>연구자</a:t>
            </a:r>
            <a:r>
              <a:rPr lang="en-US" altLang="ko-KR" dirty="0"/>
              <a:t>/</a:t>
            </a:r>
            <a:r>
              <a:rPr lang="ko-KR" altLang="en-US" dirty="0"/>
              <a:t>기관</a:t>
            </a:r>
            <a:r>
              <a:rPr lang="en-US" altLang="ko-KR" dirty="0"/>
              <a:t>/</a:t>
            </a:r>
            <a:r>
              <a:rPr lang="ko-KR" altLang="en-US" dirty="0"/>
              <a:t>대학</a:t>
            </a:r>
            <a:r>
              <a:rPr lang="en-US" altLang="ko-KR" dirty="0"/>
              <a:t>O), </a:t>
            </a:r>
            <a:r>
              <a:rPr lang="ko-KR" altLang="en-US" dirty="0"/>
              <a:t>상업화 유인</a:t>
            </a:r>
            <a:r>
              <a:rPr lang="en-US" altLang="ko-KR" dirty="0"/>
              <a:t>(</a:t>
            </a:r>
            <a:r>
              <a:rPr lang="ko-KR" altLang="en-US" dirty="0"/>
              <a:t>로열티</a:t>
            </a:r>
            <a:r>
              <a:rPr lang="en-US" altLang="ko-KR" dirty="0"/>
              <a:t>,</a:t>
            </a:r>
            <a:r>
              <a:rPr lang="ko-KR" altLang="en-US" dirty="0"/>
              <a:t>라이센스</a:t>
            </a:r>
            <a:r>
              <a:rPr lang="en-US" altLang="ko-KR" dirty="0"/>
              <a:t>,</a:t>
            </a:r>
            <a:r>
              <a:rPr lang="ko-KR" altLang="en-US" dirty="0"/>
              <a:t>판매</a:t>
            </a:r>
            <a:r>
              <a:rPr lang="en-US" altLang="ko-KR" dirty="0"/>
              <a:t>), </a:t>
            </a:r>
            <a:r>
              <a:rPr lang="ko-KR" altLang="en-US" dirty="0"/>
              <a:t>산학 </a:t>
            </a:r>
            <a:r>
              <a:rPr lang="ko-KR" altLang="en-US" dirty="0" err="1"/>
              <a:t>협력단</a:t>
            </a:r>
            <a:r>
              <a:rPr lang="ko-KR" altLang="en-US" dirty="0"/>
              <a:t> 활성화</a:t>
            </a:r>
            <a:r>
              <a:rPr lang="en-US" altLang="ko-KR" dirty="0"/>
              <a:t>(</a:t>
            </a:r>
            <a:r>
              <a:rPr lang="ko-KR" altLang="en-US" dirty="0"/>
              <a:t>대학 내 특허</a:t>
            </a:r>
            <a:r>
              <a:rPr lang="en-US" altLang="ko-KR" dirty="0"/>
              <a:t>/</a:t>
            </a:r>
            <a:r>
              <a:rPr lang="ko-KR" altLang="en-US" dirty="0" err="1"/>
              <a:t>라이선싱</a:t>
            </a:r>
            <a:r>
              <a:rPr lang="ko-KR" altLang="en-US" dirty="0"/>
              <a:t> 전담 관리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한계 및 부작용 </a:t>
            </a:r>
            <a:r>
              <a:rPr lang="en-US" altLang="ko-KR" dirty="0"/>
              <a:t>: </a:t>
            </a:r>
            <a:r>
              <a:rPr lang="ko-KR" altLang="en-US" dirty="0"/>
              <a:t>순수 기초연구↓</a:t>
            </a:r>
            <a:r>
              <a:rPr lang="en-US" altLang="ko-KR" dirty="0"/>
              <a:t>, </a:t>
            </a:r>
            <a:r>
              <a:rPr lang="ko-KR" altLang="en-US" dirty="0"/>
              <a:t>단기적</a:t>
            </a:r>
            <a:r>
              <a:rPr lang="en-US" altLang="ko-KR" dirty="0"/>
              <a:t>/</a:t>
            </a:r>
            <a:r>
              <a:rPr lang="ko-KR" altLang="en-US" dirty="0"/>
              <a:t>시장중심 연구 편중</a:t>
            </a:r>
            <a:r>
              <a:rPr lang="en-US" altLang="ko-KR" dirty="0"/>
              <a:t>, </a:t>
            </a:r>
            <a:r>
              <a:rPr lang="ko-KR" altLang="en-US" dirty="0"/>
              <a:t>지식의 공공성↓</a:t>
            </a:r>
            <a:endParaRPr lang="en-US" altLang="ko-KR" dirty="0"/>
          </a:p>
          <a:p>
            <a:r>
              <a:rPr lang="ko-KR" altLang="en-US" dirty="0"/>
              <a:t>임무지향적 혁신 정책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'</a:t>
            </a:r>
            <a:r>
              <a:rPr lang="ko-KR" altLang="en-US" dirty="0"/>
              <a:t>기업가적 국가</a:t>
            </a:r>
            <a:r>
              <a:rPr lang="en-US" altLang="ko-KR" dirty="0"/>
              <a:t>', </a:t>
            </a:r>
            <a:r>
              <a:rPr lang="ko-KR" altLang="en-US" dirty="0" err="1"/>
              <a:t>민간투자↓인</a:t>
            </a:r>
            <a:r>
              <a:rPr lang="ko-KR" altLang="en-US" dirty="0"/>
              <a:t> 장기적</a:t>
            </a:r>
            <a:r>
              <a:rPr lang="en-US" altLang="ko-KR" dirty="0"/>
              <a:t>,</a:t>
            </a:r>
            <a:r>
              <a:rPr lang="ko-KR" altLang="en-US" dirty="0"/>
              <a:t>사회적수요↑ 연구에 대한 정부 투자</a:t>
            </a:r>
            <a:endParaRPr lang="en-US" altLang="ko-KR" dirty="0"/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/>
              <a:t>시장실패 보완</a:t>
            </a:r>
            <a:r>
              <a:rPr lang="en-US" altLang="ko-KR" dirty="0"/>
              <a:t>, </a:t>
            </a:r>
            <a:r>
              <a:rPr lang="ko-KR" altLang="en-US" dirty="0" err="1"/>
              <a:t>사회적난제</a:t>
            </a:r>
            <a:r>
              <a:rPr lang="en-US" altLang="ko-KR" dirty="0"/>
              <a:t>(</a:t>
            </a:r>
            <a:r>
              <a:rPr lang="ko-KR" altLang="en-US" dirty="0"/>
              <a:t>기후</a:t>
            </a:r>
            <a:r>
              <a:rPr lang="en-US" altLang="ko-KR" dirty="0"/>
              <a:t>,</a:t>
            </a:r>
            <a:r>
              <a:rPr lang="ko-KR" altLang="en-US" dirty="0"/>
              <a:t>에너지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 ex) </a:t>
            </a:r>
            <a:r>
              <a:rPr lang="ko-KR" altLang="en-US" dirty="0"/>
              <a:t>맨해튼</a:t>
            </a:r>
            <a:r>
              <a:rPr lang="en-US" altLang="ko-KR" dirty="0"/>
              <a:t>/</a:t>
            </a:r>
            <a:r>
              <a:rPr lang="ko-KR" altLang="en-US" dirty="0"/>
              <a:t>아폴로</a:t>
            </a:r>
            <a:r>
              <a:rPr lang="en-US" altLang="ko-KR" dirty="0"/>
              <a:t>/DARPA</a:t>
            </a:r>
          </a:p>
          <a:p>
            <a:pPr lvl="1"/>
            <a:r>
              <a:rPr lang="ko-KR" altLang="en-US" dirty="0"/>
              <a:t>한계 </a:t>
            </a:r>
            <a:r>
              <a:rPr lang="en-US" altLang="ko-KR" dirty="0"/>
              <a:t>: </a:t>
            </a:r>
            <a:r>
              <a:rPr lang="ko-KR" altLang="en-US" dirty="0" err="1"/>
              <a:t>탑다운</a:t>
            </a:r>
            <a:r>
              <a:rPr lang="ko-KR" altLang="en-US" dirty="0"/>
              <a:t> 방식의 한계</a:t>
            </a:r>
            <a:r>
              <a:rPr lang="en-US" altLang="ko-KR" dirty="0"/>
              <a:t>(</a:t>
            </a:r>
            <a:r>
              <a:rPr lang="ko-KR" altLang="en-US" dirty="0"/>
              <a:t>학문적 자유↓</a:t>
            </a:r>
            <a:r>
              <a:rPr lang="en-US" altLang="ko-KR" dirty="0"/>
              <a:t>,</a:t>
            </a:r>
            <a:r>
              <a:rPr lang="ko-KR" altLang="en-US" dirty="0"/>
              <a:t>연구다양성 ↓</a:t>
            </a:r>
            <a:r>
              <a:rPr lang="en-US" altLang="ko-KR" dirty="0"/>
              <a:t>), </a:t>
            </a:r>
            <a:r>
              <a:rPr lang="ko-KR" altLang="en-US" dirty="0" err="1"/>
              <a:t>실패시</a:t>
            </a:r>
            <a:r>
              <a:rPr lang="ko-KR" altLang="en-US" dirty="0"/>
              <a:t> 큰 손실</a:t>
            </a:r>
            <a:r>
              <a:rPr lang="en-US" altLang="ko-KR" dirty="0"/>
              <a:t>, </a:t>
            </a:r>
            <a:r>
              <a:rPr lang="ko-KR" altLang="en-US" dirty="0"/>
              <a:t>통제</a:t>
            </a:r>
            <a:r>
              <a:rPr lang="en-US" altLang="ko-KR" dirty="0"/>
              <a:t>/</a:t>
            </a:r>
            <a:r>
              <a:rPr lang="ko-KR" altLang="en-US" dirty="0"/>
              <a:t>평가의 문제</a:t>
            </a:r>
            <a:r>
              <a:rPr lang="en-US" altLang="ko-KR" dirty="0"/>
              <a:t>(</a:t>
            </a:r>
            <a:r>
              <a:rPr lang="ko-KR" altLang="en-US" dirty="0"/>
              <a:t>누가</a:t>
            </a:r>
            <a:r>
              <a:rPr lang="en-US" altLang="ko-KR" dirty="0"/>
              <a:t>?</a:t>
            </a:r>
            <a:r>
              <a:rPr lang="ko-KR" altLang="en-US" dirty="0"/>
              <a:t> 어떻게</a:t>
            </a:r>
            <a:r>
              <a:rPr lang="en-US" altLang="ko-KR" dirty="0"/>
              <a:t>?</a:t>
            </a:r>
            <a:r>
              <a:rPr lang="ko-KR" altLang="en-US" dirty="0"/>
              <a:t> 임무</a:t>
            </a:r>
            <a:r>
              <a:rPr lang="en-US" altLang="ko-KR" dirty="0"/>
              <a:t>/</a:t>
            </a:r>
            <a:r>
              <a:rPr lang="ko-KR" altLang="en-US" dirty="0"/>
              <a:t>성과 배정</a:t>
            </a:r>
            <a:r>
              <a:rPr lang="en-US" altLang="ko-KR" dirty="0"/>
              <a:t>/</a:t>
            </a:r>
            <a:r>
              <a:rPr lang="ko-KR" altLang="en-US" dirty="0"/>
              <a:t>평가</a:t>
            </a:r>
            <a:r>
              <a:rPr lang="en-US" altLang="ko-KR" dirty="0"/>
              <a:t>?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EF0B6B-4F98-378C-D124-8196D00D225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프리라이딩</a:t>
            </a:r>
            <a:r>
              <a:rPr lang="ko-KR" altLang="en-US" dirty="0"/>
              <a:t> 문제 </a:t>
            </a:r>
            <a:r>
              <a:rPr lang="en-US" altLang="ko-KR" dirty="0"/>
              <a:t>: β &lt; 0.5 → </a:t>
            </a:r>
            <a:r>
              <a:rPr lang="ko-KR" altLang="en-US" dirty="0"/>
              <a:t>상대방이 </a:t>
            </a:r>
            <a:r>
              <a:rPr lang="en-US" altLang="ko-KR" dirty="0" err="1"/>
              <a:t>RnD</a:t>
            </a:r>
            <a:r>
              <a:rPr lang="en-US" altLang="ko-KR" dirty="0"/>
              <a:t> </a:t>
            </a:r>
            <a:r>
              <a:rPr lang="ko-KR" altLang="en-US" dirty="0"/>
              <a:t>투자</a:t>
            </a:r>
            <a:r>
              <a:rPr lang="en-US" altLang="ko-KR" dirty="0"/>
              <a:t>→ </a:t>
            </a:r>
            <a:r>
              <a:rPr lang="ko-KR" altLang="en-US" dirty="0"/>
              <a:t>내게 돌아오는 </a:t>
            </a:r>
            <a:r>
              <a:rPr lang="en-US" altLang="ko-KR" dirty="0"/>
              <a:t>spill over </a:t>
            </a:r>
            <a:r>
              <a:rPr lang="ko-KR" altLang="en-US" dirty="0"/>
              <a:t>↓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나는 </a:t>
            </a:r>
            <a:r>
              <a:rPr lang="en-US" altLang="ko-KR" dirty="0" err="1"/>
              <a:t>RnD</a:t>
            </a:r>
            <a:r>
              <a:rPr lang="ko-KR" altLang="en-US" dirty="0"/>
              <a:t>를 줄이고 상대방에게 </a:t>
            </a:r>
            <a:r>
              <a:rPr lang="ko-KR" altLang="en-US" dirty="0" err="1"/>
              <a:t>무임승차할</a:t>
            </a:r>
            <a:r>
              <a:rPr lang="ko-KR" altLang="en-US" dirty="0"/>
              <a:t> 유인 </a:t>
            </a:r>
            <a:r>
              <a:rPr lang="en-US" altLang="ko-KR" dirty="0"/>
              <a:t>O → RJV</a:t>
            </a:r>
          </a:p>
          <a:p>
            <a:r>
              <a:rPr lang="ko-KR" altLang="en-US" dirty="0"/>
              <a:t>전대</a:t>
            </a:r>
            <a:r>
              <a:rPr lang="en-US" altLang="ko-KR" dirty="0"/>
              <a:t>/</a:t>
            </a:r>
            <a:r>
              <a:rPr lang="ko-KR" altLang="en-US" dirty="0"/>
              <a:t>전보 </a:t>
            </a:r>
            <a:r>
              <a:rPr lang="en-US" altLang="ko-KR" dirty="0"/>
              <a:t>: </a:t>
            </a:r>
            <a:r>
              <a:rPr lang="ko-KR" altLang="en-US" dirty="0" err="1"/>
              <a:t>한기업</a:t>
            </a:r>
            <a:r>
              <a:rPr lang="en-US" altLang="ko-KR" dirty="0"/>
              <a:t>→</a:t>
            </a:r>
            <a:r>
              <a:rPr lang="ko-KR" altLang="en-US" dirty="0"/>
              <a:t>타기업 최적 전략 부정</a:t>
            </a:r>
            <a:r>
              <a:rPr lang="en-US" altLang="ko-KR" dirty="0"/>
              <a:t>/</a:t>
            </a:r>
            <a:r>
              <a:rPr lang="ko-KR" altLang="en-US" dirty="0"/>
              <a:t>긍정적</a:t>
            </a:r>
            <a:r>
              <a:rPr lang="en-US" altLang="ko-KR" dirty="0"/>
              <a:t>. </a:t>
            </a:r>
            <a:r>
              <a:rPr lang="ko-KR" altLang="en-US" dirty="0"/>
              <a:t>서로 행동 상쇄</a:t>
            </a:r>
            <a:r>
              <a:rPr lang="en-US" altLang="ko-KR" dirty="0"/>
              <a:t>/</a:t>
            </a:r>
            <a:r>
              <a:rPr lang="ko-KR" altLang="en-US" dirty="0"/>
              <a:t>강화</a:t>
            </a:r>
            <a:endParaRPr lang="en-US" altLang="ko-KR" dirty="0"/>
          </a:p>
          <a:p>
            <a:r>
              <a:rPr lang="en-US" altLang="ko-KR" dirty="0"/>
              <a:t>Bayh-dole</a:t>
            </a:r>
            <a:r>
              <a:rPr lang="ko-KR" altLang="en-US" dirty="0"/>
              <a:t> </a:t>
            </a:r>
            <a:r>
              <a:rPr lang="en-US" altLang="ko-KR" dirty="0"/>
              <a:t>act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80s</a:t>
            </a:r>
            <a:r>
              <a:rPr lang="ko-KR" altLang="en-US" dirty="0"/>
              <a:t> 미국</a:t>
            </a:r>
            <a:r>
              <a:rPr lang="en-US" altLang="ko-KR" dirty="0"/>
              <a:t>, </a:t>
            </a:r>
            <a:r>
              <a:rPr lang="ko-KR" altLang="en-US" dirty="0"/>
              <a:t>정부 지원 연구</a:t>
            </a:r>
            <a:r>
              <a:rPr lang="en-US" altLang="ko-KR" dirty="0"/>
              <a:t>? -&gt; </a:t>
            </a:r>
            <a:r>
              <a:rPr lang="ko-KR" altLang="en-US" dirty="0"/>
              <a:t>특허의 소유권 </a:t>
            </a:r>
            <a:r>
              <a:rPr lang="en-US" altLang="ko-KR" dirty="0"/>
              <a:t>O</a:t>
            </a:r>
          </a:p>
          <a:p>
            <a:pPr lvl="1"/>
            <a:r>
              <a:rPr lang="ko-KR" altLang="en-US" dirty="0"/>
              <a:t>소유권 이전</a:t>
            </a:r>
            <a:r>
              <a:rPr lang="en-US" altLang="ko-KR" dirty="0"/>
              <a:t>, </a:t>
            </a:r>
            <a:r>
              <a:rPr lang="ko-KR" altLang="en-US" dirty="0"/>
              <a:t>상업화 유인</a:t>
            </a:r>
            <a:r>
              <a:rPr lang="en-US" altLang="ko-KR" dirty="0"/>
              <a:t>, </a:t>
            </a:r>
            <a:r>
              <a:rPr lang="ko-KR" altLang="en-US" dirty="0"/>
              <a:t>산학협력단 활성화</a:t>
            </a:r>
          </a:p>
        </p:txBody>
      </p:sp>
      <p:pic>
        <p:nvPicPr>
          <p:cNvPr id="10" name="그림 9" descr="텍스트, 라인, 도표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28782FA-12CB-FC72-595A-B7A9EC141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998" y="2078441"/>
            <a:ext cx="1845377" cy="8228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08AA91-0E08-07D6-0D81-E1FC1B93838E}"/>
              </a:ext>
            </a:extLst>
          </p:cNvPr>
          <p:cNvSpPr txBox="1"/>
          <p:nvPr/>
        </p:nvSpPr>
        <p:spPr>
          <a:xfrm>
            <a:off x="4967998" y="1570610"/>
            <a:ext cx="184537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ym typeface="Wingdings" panose="05000000000000000000" pitchFamily="2" charset="2"/>
              </a:rPr>
              <a:t>살색</a:t>
            </a:r>
            <a:r>
              <a:rPr lang="en-US" altLang="ko-KR" sz="900" dirty="0">
                <a:sym typeface="Wingdings" panose="05000000000000000000" pitchFamily="2" charset="2"/>
              </a:rPr>
              <a:t> = </a:t>
            </a:r>
            <a:r>
              <a:rPr lang="ko-KR" altLang="en-US" sz="900" dirty="0">
                <a:sym typeface="Wingdings" panose="05000000000000000000" pitchFamily="2" charset="2"/>
              </a:rPr>
              <a:t>독점기업 초가이윤</a:t>
            </a:r>
            <a:r>
              <a:rPr lang="en-US" altLang="ko-KR" sz="900" dirty="0">
                <a:sym typeface="Wingdings" panose="05000000000000000000" pitchFamily="2" charset="2"/>
              </a:rPr>
              <a:t>;</a:t>
            </a:r>
            <a:br>
              <a:rPr lang="en-US" altLang="ko-KR" sz="900" dirty="0">
                <a:sym typeface="Wingdings" panose="05000000000000000000" pitchFamily="2" charset="2"/>
              </a:rPr>
            </a:br>
            <a:r>
              <a:rPr lang="ko-KR" altLang="en-US" sz="900" dirty="0">
                <a:sym typeface="Wingdings" panose="05000000000000000000" pitchFamily="2" charset="2"/>
              </a:rPr>
              <a:t>경쟁 </a:t>
            </a:r>
            <a:r>
              <a:rPr lang="en-US" altLang="ko-KR" sz="900" dirty="0">
                <a:sym typeface="Wingdings" panose="05000000000000000000" pitchFamily="2" charset="2"/>
              </a:rPr>
              <a:t>: </a:t>
            </a:r>
            <a:r>
              <a:rPr lang="ko-KR" altLang="en-US" sz="900" dirty="0">
                <a:sym typeface="Wingdings" panose="05000000000000000000" pitchFamily="2" charset="2"/>
              </a:rPr>
              <a:t>순이익 </a:t>
            </a:r>
            <a:r>
              <a:rPr lang="en-US" altLang="ko-KR" sz="900" dirty="0">
                <a:sym typeface="Wingdings" panose="05000000000000000000" pitchFamily="2" charset="2"/>
              </a:rPr>
              <a:t>= </a:t>
            </a:r>
            <a:r>
              <a:rPr lang="ko-KR" altLang="en-US" sz="900" dirty="0">
                <a:sym typeface="Wingdings" panose="05000000000000000000" pitchFamily="2" charset="2"/>
              </a:rPr>
              <a:t>살색 </a:t>
            </a:r>
            <a:r>
              <a:rPr lang="en-US" altLang="ko-KR" sz="900" dirty="0">
                <a:sym typeface="Wingdings" panose="05000000000000000000" pitchFamily="2" charset="2"/>
              </a:rPr>
              <a:t>– </a:t>
            </a:r>
            <a:r>
              <a:rPr lang="ko-KR" altLang="en-US" sz="900" dirty="0">
                <a:sym typeface="Wingdings" panose="05000000000000000000" pitchFamily="2" charset="2"/>
              </a:rPr>
              <a:t>노랑</a:t>
            </a:r>
            <a:r>
              <a:rPr lang="en-US" altLang="ko-KR" sz="900" dirty="0">
                <a:sym typeface="Wingdings" panose="05000000000000000000" pitchFamily="2" charset="2"/>
              </a:rPr>
              <a:t>; </a:t>
            </a:r>
            <a:br>
              <a:rPr lang="en-US" altLang="ko-KR" sz="900" dirty="0">
                <a:sym typeface="Wingdings" panose="05000000000000000000" pitchFamily="2" charset="2"/>
              </a:rPr>
            </a:br>
            <a:r>
              <a:rPr lang="ko-KR" altLang="en-US" sz="900" dirty="0">
                <a:sym typeface="Wingdings" panose="05000000000000000000" pitchFamily="2" charset="2"/>
              </a:rPr>
              <a:t>독점으로 인해 노랑의 영역 대체</a:t>
            </a:r>
            <a:endParaRPr lang="en-US" altLang="ko-KR" sz="900" dirty="0"/>
          </a:p>
        </p:txBody>
      </p:sp>
      <p:pic>
        <p:nvPicPr>
          <p:cNvPr id="8" name="그림 7" descr="도표, 라인, 그래프, 평행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D0CC613-8B39-B460-098C-A2D6D3D4009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52" y="1784648"/>
            <a:ext cx="3953596" cy="14347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58CD556-4A48-3A50-2479-3FF83180BB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878"/>
          <a:stretch>
            <a:fillRect/>
          </a:stretch>
        </p:blipFill>
        <p:spPr>
          <a:xfrm>
            <a:off x="-1" y="4953000"/>
            <a:ext cx="1254800" cy="10498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1185D06-A000-1D62-56E5-8E56695E4E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878"/>
          <a:stretch>
            <a:fillRect/>
          </a:stretch>
        </p:blipFill>
        <p:spPr>
          <a:xfrm>
            <a:off x="0" y="3903180"/>
            <a:ext cx="1254799" cy="1049820"/>
          </a:xfrm>
          <a:prstGeom prst="rect">
            <a:avLst/>
          </a:prstGeom>
        </p:spPr>
      </p:pic>
      <p:pic>
        <p:nvPicPr>
          <p:cNvPr id="12" name="그림 11" descr="도표, 라인, 그래프, 평행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9C08D8-ED6A-F057-8A2C-F30A406A334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512" y="8856855"/>
            <a:ext cx="2552863" cy="9264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0EE6FC-A751-48C7-9677-916DC38F4748}"/>
              </a:ext>
            </a:extLst>
          </p:cNvPr>
          <p:cNvSpPr txBox="1"/>
          <p:nvPr/>
        </p:nvSpPr>
        <p:spPr>
          <a:xfrm>
            <a:off x="5041723" y="8415145"/>
            <a:ext cx="184537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ym typeface="Wingdings" panose="05000000000000000000" pitchFamily="2" charset="2"/>
              </a:rPr>
              <a:t>살색</a:t>
            </a:r>
            <a:r>
              <a:rPr lang="en-US" altLang="ko-KR" sz="900" dirty="0">
                <a:sym typeface="Wingdings" panose="05000000000000000000" pitchFamily="2" charset="2"/>
              </a:rPr>
              <a:t> = </a:t>
            </a:r>
            <a:r>
              <a:rPr lang="ko-KR" altLang="en-US" sz="900" dirty="0">
                <a:sym typeface="Wingdings" panose="05000000000000000000" pitchFamily="2" charset="2"/>
              </a:rPr>
              <a:t>독점기업 초가이윤</a:t>
            </a:r>
            <a:r>
              <a:rPr lang="en-US" altLang="ko-KR" sz="900" dirty="0">
                <a:sym typeface="Wingdings" panose="05000000000000000000" pitchFamily="2" charset="2"/>
              </a:rPr>
              <a:t>;</a:t>
            </a:r>
            <a:br>
              <a:rPr lang="en-US" altLang="ko-KR" sz="900" dirty="0">
                <a:sym typeface="Wingdings" panose="05000000000000000000" pitchFamily="2" charset="2"/>
              </a:rPr>
            </a:br>
            <a:r>
              <a:rPr lang="ko-KR" altLang="en-US" sz="900" dirty="0">
                <a:sym typeface="Wingdings" panose="05000000000000000000" pitchFamily="2" charset="2"/>
              </a:rPr>
              <a:t>경쟁 </a:t>
            </a:r>
            <a:r>
              <a:rPr lang="en-US" altLang="ko-KR" sz="900" dirty="0">
                <a:sym typeface="Wingdings" panose="05000000000000000000" pitchFamily="2" charset="2"/>
              </a:rPr>
              <a:t>: </a:t>
            </a:r>
            <a:r>
              <a:rPr lang="ko-KR" altLang="en-US" sz="900" dirty="0">
                <a:sym typeface="Wingdings" panose="05000000000000000000" pitchFamily="2" charset="2"/>
              </a:rPr>
              <a:t>순이익 </a:t>
            </a:r>
            <a:r>
              <a:rPr lang="en-US" altLang="ko-KR" sz="900" dirty="0">
                <a:sym typeface="Wingdings" panose="05000000000000000000" pitchFamily="2" charset="2"/>
              </a:rPr>
              <a:t>= </a:t>
            </a:r>
            <a:r>
              <a:rPr lang="ko-KR" altLang="en-US" sz="900" dirty="0">
                <a:sym typeface="Wingdings" panose="05000000000000000000" pitchFamily="2" charset="2"/>
              </a:rPr>
              <a:t>살색 </a:t>
            </a:r>
            <a:r>
              <a:rPr lang="en-US" altLang="ko-KR" sz="900" dirty="0">
                <a:sym typeface="Wingdings" panose="05000000000000000000" pitchFamily="2" charset="2"/>
              </a:rPr>
              <a:t>– </a:t>
            </a:r>
            <a:r>
              <a:rPr lang="ko-KR" altLang="en-US" sz="900" dirty="0">
                <a:sym typeface="Wingdings" panose="05000000000000000000" pitchFamily="2" charset="2"/>
              </a:rPr>
              <a:t>노랑</a:t>
            </a:r>
            <a:r>
              <a:rPr lang="en-US" altLang="ko-KR" sz="900" dirty="0">
                <a:sym typeface="Wingdings" panose="05000000000000000000" pitchFamily="2" charset="2"/>
              </a:rPr>
              <a:t>; </a:t>
            </a:r>
            <a:br>
              <a:rPr lang="en-US" altLang="ko-KR" sz="900" dirty="0">
                <a:sym typeface="Wingdings" panose="05000000000000000000" pitchFamily="2" charset="2"/>
              </a:rPr>
            </a:br>
            <a:r>
              <a:rPr lang="ko-KR" altLang="en-US" sz="900" dirty="0">
                <a:sym typeface="Wingdings" panose="05000000000000000000" pitchFamily="2" charset="2"/>
              </a:rPr>
              <a:t>독점으로 인해 노랑의 영역 대체</a:t>
            </a:r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56264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8AD9BA1-45D6-B5D4-487F-F71A930D3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D685225-0FCE-1DA1-4137-FB141F754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지적재산권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D4031A-B000-D16E-A4FF-D0EC6B9683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D36AAD7-E0DB-BF1C-41E1-57BEB475C8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지적재산권 제도</a:t>
            </a:r>
            <a:endParaRPr lang="en-US" altLang="ko-KR" dirty="0"/>
          </a:p>
          <a:p>
            <a:pPr lvl="1"/>
            <a:r>
              <a:rPr lang="ko-KR" altLang="en-US" dirty="0"/>
              <a:t>지적재산권 종류 </a:t>
            </a:r>
            <a:r>
              <a:rPr lang="en-US" altLang="ko-KR" dirty="0"/>
              <a:t>: </a:t>
            </a:r>
            <a:r>
              <a:rPr lang="ko-KR" altLang="en-US" dirty="0"/>
              <a:t>특허권</a:t>
            </a:r>
            <a:r>
              <a:rPr lang="en-US" altLang="ko-KR" dirty="0"/>
              <a:t>, </a:t>
            </a:r>
            <a:r>
              <a:rPr lang="ko-KR" altLang="en-US" dirty="0"/>
              <a:t>저작권</a:t>
            </a:r>
            <a:r>
              <a:rPr lang="en-US" altLang="ko-KR" dirty="0"/>
              <a:t>, </a:t>
            </a:r>
            <a:r>
              <a:rPr lang="ko-KR" altLang="en-US" dirty="0"/>
              <a:t>상표권</a:t>
            </a:r>
            <a:r>
              <a:rPr lang="en-US" altLang="ko-KR" dirty="0"/>
              <a:t>, </a:t>
            </a:r>
            <a:r>
              <a:rPr lang="ko-KR" altLang="en-US" dirty="0"/>
              <a:t>디자인권</a:t>
            </a:r>
            <a:r>
              <a:rPr lang="en-US" altLang="ko-KR" dirty="0"/>
              <a:t>, </a:t>
            </a:r>
            <a:r>
              <a:rPr lang="ko-KR" altLang="en-US" dirty="0"/>
              <a:t>영업비밀</a:t>
            </a:r>
            <a:endParaRPr lang="en-US" altLang="ko-KR" dirty="0"/>
          </a:p>
          <a:p>
            <a:pPr lvl="1"/>
            <a:r>
              <a:rPr lang="ko-KR" altLang="en-US" dirty="0"/>
              <a:t>특허권 </a:t>
            </a:r>
            <a:r>
              <a:rPr lang="en-US" altLang="ko-KR" dirty="0"/>
              <a:t>vs </a:t>
            </a:r>
            <a:r>
              <a:rPr lang="ko-KR" altLang="en-US" dirty="0"/>
              <a:t>저작권 </a:t>
            </a:r>
            <a:r>
              <a:rPr lang="en-US" altLang="ko-KR" dirty="0"/>
              <a:t>: </a:t>
            </a:r>
            <a:r>
              <a:rPr lang="ko-KR" altLang="en-US" dirty="0"/>
              <a:t>특허는 아이디어</a:t>
            </a:r>
            <a:r>
              <a:rPr lang="en-US" altLang="ko-KR" dirty="0"/>
              <a:t>, </a:t>
            </a:r>
            <a:r>
              <a:rPr lang="ko-KR" altLang="en-US" dirty="0"/>
              <a:t>저작은 표현을 보호</a:t>
            </a:r>
            <a:r>
              <a:rPr lang="en-US" altLang="ko-KR" dirty="0"/>
              <a:t>;</a:t>
            </a:r>
          </a:p>
          <a:p>
            <a:pPr lvl="2"/>
            <a:r>
              <a:rPr lang="ko-KR" altLang="en-US" dirty="0"/>
              <a:t>특허 </a:t>
            </a:r>
            <a:r>
              <a:rPr lang="en-US" altLang="ko-KR" dirty="0"/>
              <a:t>: </a:t>
            </a:r>
            <a:r>
              <a:rPr lang="ko-KR" altLang="en-US" dirty="0"/>
              <a:t>엄격한 방식주의</a:t>
            </a:r>
            <a:r>
              <a:rPr lang="en-US" altLang="ko-KR" dirty="0"/>
              <a:t>, </a:t>
            </a:r>
            <a:r>
              <a:rPr lang="ko-KR" altLang="en-US" dirty="0"/>
              <a:t>선출원주의</a:t>
            </a:r>
            <a:r>
              <a:rPr lang="en-US" altLang="ko-KR" dirty="0"/>
              <a:t> vs </a:t>
            </a:r>
            <a:r>
              <a:rPr lang="ko-KR" altLang="en-US" dirty="0"/>
              <a:t>선발명주의</a:t>
            </a:r>
            <a:r>
              <a:rPr lang="en-US" altLang="ko-KR" dirty="0"/>
              <a:t>, </a:t>
            </a:r>
            <a:r>
              <a:rPr lang="ko-KR" altLang="en-US" dirty="0"/>
              <a:t>출원일 후 </a:t>
            </a:r>
            <a:r>
              <a:rPr lang="en-US" altLang="ko-KR" dirty="0"/>
              <a:t>20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신규성 충족</a:t>
            </a:r>
            <a:endParaRPr lang="en-US" altLang="ko-KR" dirty="0"/>
          </a:p>
          <a:p>
            <a:pPr lvl="2"/>
            <a:r>
              <a:rPr lang="ko-KR" altLang="en-US" dirty="0"/>
              <a:t>저작권 </a:t>
            </a:r>
            <a:r>
              <a:rPr lang="en-US" altLang="ko-KR" dirty="0"/>
              <a:t>: </a:t>
            </a:r>
            <a:r>
              <a:rPr lang="ko-KR" altLang="en-US" dirty="0"/>
              <a:t>무방식주의</a:t>
            </a:r>
            <a:r>
              <a:rPr lang="en-US" altLang="ko-KR" dirty="0"/>
              <a:t>, </a:t>
            </a:r>
            <a:r>
              <a:rPr lang="ko-KR" altLang="en-US" dirty="0"/>
              <a:t>저작자 생존 </a:t>
            </a:r>
            <a:r>
              <a:rPr lang="en-US" altLang="ko-KR" dirty="0"/>
              <a:t>+ </a:t>
            </a:r>
            <a:r>
              <a:rPr lang="ko-KR" altLang="en-US" dirty="0"/>
              <a:t>사후 </a:t>
            </a:r>
            <a:r>
              <a:rPr lang="en-US" altLang="ko-KR" dirty="0"/>
              <a:t>50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독창성</a:t>
            </a:r>
            <a:endParaRPr lang="en-US" altLang="ko-KR" dirty="0"/>
          </a:p>
          <a:p>
            <a:pPr lvl="1"/>
            <a:r>
              <a:rPr lang="ko-KR" altLang="en-US" dirty="0"/>
              <a:t>특허권</a:t>
            </a:r>
            <a:r>
              <a:rPr lang="en-US" altLang="ko-KR" dirty="0"/>
              <a:t>, </a:t>
            </a:r>
            <a:r>
              <a:rPr lang="ko-KR" altLang="en-US" dirty="0"/>
              <a:t>포상의 장단점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공통점 단점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중복투자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보상의 이득 </a:t>
            </a:r>
            <a:r>
              <a:rPr lang="en-US" altLang="ko-KR" dirty="0"/>
              <a:t>-&gt; </a:t>
            </a:r>
            <a:r>
              <a:rPr lang="ko-KR" altLang="en-US" dirty="0"/>
              <a:t>모두가</a:t>
            </a:r>
            <a:br>
              <a:rPr lang="en-US" altLang="ko-KR" dirty="0"/>
            </a:br>
            <a:r>
              <a:rPr lang="ko-KR" altLang="en-US" dirty="0"/>
              <a:t>뛰어듦 </a:t>
            </a:r>
            <a:r>
              <a:rPr lang="en-US" altLang="ko-KR" dirty="0"/>
              <a:t>-&gt; </a:t>
            </a:r>
            <a:r>
              <a:rPr lang="ko-KR" altLang="en-US" dirty="0"/>
              <a:t>중복투자</a:t>
            </a:r>
            <a:br>
              <a:rPr lang="en-US" altLang="ko-KR" dirty="0"/>
            </a:br>
            <a:r>
              <a:rPr lang="ko-KR" altLang="en-US" dirty="0"/>
              <a:t>사후보상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개인</a:t>
            </a:r>
            <a:r>
              <a:rPr lang="en-US" altLang="ko-KR" dirty="0"/>
              <a:t>/</a:t>
            </a:r>
            <a:r>
              <a:rPr lang="ko-KR" altLang="en-US" dirty="0"/>
              <a:t>소기업은 발명 어렵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보상전까지 철저한 비밀</a:t>
            </a:r>
            <a:endParaRPr lang="en-US" altLang="ko-KR" dirty="0"/>
          </a:p>
          <a:p>
            <a:r>
              <a:rPr lang="ko-KR" altLang="en-US" dirty="0"/>
              <a:t>특허권의 기원과 특징</a:t>
            </a:r>
            <a:endParaRPr lang="en-US" altLang="ko-KR" dirty="0"/>
          </a:p>
          <a:p>
            <a:pPr lvl="1"/>
            <a:r>
              <a:rPr lang="ko-KR" altLang="en-US" dirty="0"/>
              <a:t>기원 </a:t>
            </a:r>
            <a:r>
              <a:rPr lang="en-US" altLang="ko-KR" dirty="0"/>
              <a:t>: </a:t>
            </a:r>
            <a:r>
              <a:rPr lang="ko-KR" altLang="en-US" dirty="0"/>
              <a:t>최초 특허 </a:t>
            </a:r>
            <a:r>
              <a:rPr lang="en-US" altLang="ko-KR" dirty="0"/>
              <a:t>: </a:t>
            </a:r>
            <a:r>
              <a:rPr lang="ko-KR" altLang="en-US" dirty="0"/>
              <a:t>베니스 모직물공업 발전 위해</a:t>
            </a:r>
            <a:r>
              <a:rPr lang="en-US" altLang="ko-KR" dirty="0"/>
              <a:t> </a:t>
            </a:r>
            <a:r>
              <a:rPr lang="ko-KR" altLang="en-US" dirty="0"/>
              <a:t>법 제정 </a:t>
            </a:r>
            <a:r>
              <a:rPr lang="en-US" altLang="ko-KR" dirty="0"/>
              <a:t>&amp; </a:t>
            </a:r>
            <a:r>
              <a:rPr lang="ko-KR" altLang="en-US" dirty="0"/>
              <a:t>보호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영국 전매조례</a:t>
            </a:r>
            <a:r>
              <a:rPr lang="en-US" altLang="ko-KR" dirty="0"/>
              <a:t>: </a:t>
            </a:r>
            <a:r>
              <a:rPr lang="ko-KR" altLang="en-US" dirty="0"/>
              <a:t>선발명주의</a:t>
            </a:r>
            <a:r>
              <a:rPr lang="en-US" altLang="ko-KR" dirty="0"/>
              <a:t>, </a:t>
            </a:r>
            <a:r>
              <a:rPr lang="ko-KR" altLang="en-US" dirty="0"/>
              <a:t>독점권</a:t>
            </a:r>
            <a:r>
              <a:rPr lang="en-US" altLang="ko-KR" dirty="0"/>
              <a:t>, </a:t>
            </a:r>
            <a:r>
              <a:rPr lang="ko-KR" altLang="en-US" dirty="0" err="1"/>
              <a:t>공익위배대상</a:t>
            </a:r>
            <a:r>
              <a:rPr lang="ko-KR" altLang="en-US" dirty="0"/>
              <a:t> 특허 불인정</a:t>
            </a:r>
            <a:endParaRPr lang="en-US" altLang="ko-KR" dirty="0"/>
          </a:p>
          <a:p>
            <a:pPr lvl="1"/>
            <a:r>
              <a:rPr lang="ko-KR" altLang="en-US" dirty="0"/>
              <a:t>특허 명세서의 구성</a:t>
            </a:r>
            <a:endParaRPr lang="en-US" altLang="ko-KR" dirty="0"/>
          </a:p>
          <a:p>
            <a:pPr lvl="2"/>
            <a:r>
              <a:rPr lang="ko-KR" altLang="en-US" dirty="0"/>
              <a:t>출원서</a:t>
            </a:r>
            <a:r>
              <a:rPr lang="en-US" altLang="ko-KR" dirty="0"/>
              <a:t>(</a:t>
            </a:r>
            <a:r>
              <a:rPr lang="ko-KR" altLang="en-US" dirty="0"/>
              <a:t>선출원주의 적용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출원번호</a:t>
            </a:r>
            <a:r>
              <a:rPr lang="en-US" altLang="ko-KR" dirty="0"/>
              <a:t>, </a:t>
            </a:r>
            <a:r>
              <a:rPr lang="ko-KR" altLang="en-US" dirty="0"/>
              <a:t>출원일자</a:t>
            </a:r>
            <a:r>
              <a:rPr lang="en-US" altLang="ko-KR" dirty="0"/>
              <a:t>(</a:t>
            </a:r>
            <a:r>
              <a:rPr lang="ko-KR" altLang="en-US" dirty="0"/>
              <a:t>특허 낸 날</a:t>
            </a:r>
            <a:r>
              <a:rPr lang="en-US" altLang="ko-KR" dirty="0"/>
              <a:t>), </a:t>
            </a:r>
            <a:r>
              <a:rPr lang="ko-KR" altLang="en-US" dirty="0"/>
              <a:t>등록일자</a:t>
            </a:r>
            <a:r>
              <a:rPr lang="en-US" altLang="ko-KR" dirty="0"/>
              <a:t>(</a:t>
            </a:r>
            <a:r>
              <a:rPr lang="ko-KR" altLang="en-US" dirty="0"/>
              <a:t>특허 정한 날</a:t>
            </a:r>
            <a:r>
              <a:rPr lang="en-US" altLang="ko-KR" dirty="0"/>
              <a:t>) </a:t>
            </a:r>
          </a:p>
          <a:p>
            <a:pPr lvl="3"/>
            <a:r>
              <a:rPr lang="ko-KR" altLang="en-US" dirty="0"/>
              <a:t>심사청구 </a:t>
            </a:r>
            <a:r>
              <a:rPr lang="en-US" altLang="ko-KR" dirty="0"/>
              <a:t>: </a:t>
            </a:r>
            <a:r>
              <a:rPr lang="ko-KR" altLang="en-US" dirty="0" err="1"/>
              <a:t>출원끝나고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 err="1"/>
              <a:t>년지남</a:t>
            </a:r>
            <a:r>
              <a:rPr lang="en-US" altLang="ko-KR" dirty="0"/>
              <a:t>? -&gt; </a:t>
            </a:r>
            <a:r>
              <a:rPr lang="ko-KR" altLang="en-US" dirty="0"/>
              <a:t>자동 공개</a:t>
            </a:r>
            <a:r>
              <a:rPr lang="en-US" altLang="ko-KR" dirty="0"/>
              <a:t>; </a:t>
            </a:r>
            <a:r>
              <a:rPr lang="ko-KR" altLang="en-US" dirty="0"/>
              <a:t>기술공개</a:t>
            </a:r>
            <a:r>
              <a:rPr lang="en-US" altLang="ko-KR" dirty="0"/>
              <a:t>X </a:t>
            </a:r>
            <a:r>
              <a:rPr lang="ko-KR" altLang="en-US" dirty="0"/>
              <a:t>싶다면</a:t>
            </a:r>
            <a:r>
              <a:rPr lang="en-US" altLang="ko-KR" dirty="0"/>
              <a:t>? -&gt; </a:t>
            </a:r>
            <a:r>
              <a:rPr lang="ko-KR" altLang="en-US" dirty="0" err="1"/>
              <a:t>출원비공개</a:t>
            </a:r>
            <a:r>
              <a:rPr lang="ko-KR" altLang="en-US" dirty="0"/>
              <a:t> 요청</a:t>
            </a:r>
            <a:r>
              <a:rPr lang="en-US" altLang="ko-KR" dirty="0"/>
              <a:t>; </a:t>
            </a:r>
            <a:r>
              <a:rPr lang="ko-KR" altLang="en-US" dirty="0"/>
              <a:t>출원 </a:t>
            </a:r>
            <a:r>
              <a:rPr lang="en-US" altLang="ko-KR" dirty="0"/>
              <a:t>-&gt; </a:t>
            </a:r>
            <a:r>
              <a:rPr lang="ko-KR" altLang="en-US" dirty="0"/>
              <a:t>심사청구</a:t>
            </a:r>
            <a:r>
              <a:rPr lang="en-US" altLang="ko-KR" dirty="0"/>
              <a:t>X? : 3</a:t>
            </a:r>
            <a:r>
              <a:rPr lang="ko-KR" altLang="en-US" dirty="0" err="1"/>
              <a:t>년동안</a:t>
            </a:r>
            <a:r>
              <a:rPr lang="ko-KR" altLang="en-US" dirty="0"/>
              <a:t> 공개</a:t>
            </a:r>
            <a:r>
              <a:rPr lang="en-US" altLang="ko-KR" dirty="0"/>
              <a:t>X</a:t>
            </a:r>
          </a:p>
          <a:p>
            <a:pPr lvl="3"/>
            <a:r>
              <a:rPr lang="ko-KR" altLang="en-US" dirty="0"/>
              <a:t>심사청구 전략 </a:t>
            </a:r>
            <a:r>
              <a:rPr lang="en-US" altLang="ko-KR" dirty="0"/>
              <a:t>: </a:t>
            </a:r>
            <a:r>
              <a:rPr lang="ko-KR" altLang="en-US" dirty="0"/>
              <a:t>심사진행동안 </a:t>
            </a:r>
            <a:r>
              <a:rPr lang="en-US" altLang="ko-KR" dirty="0"/>
              <a:t>1</a:t>
            </a:r>
            <a:r>
              <a:rPr lang="ko-KR" altLang="en-US" dirty="0"/>
              <a:t>년간 비공개</a:t>
            </a:r>
            <a:r>
              <a:rPr lang="en-US" altLang="ko-KR" dirty="0"/>
              <a:t>, </a:t>
            </a:r>
            <a:r>
              <a:rPr lang="ko-KR" altLang="en-US" dirty="0"/>
              <a:t>심사청구</a:t>
            </a:r>
            <a:r>
              <a:rPr lang="en-US" altLang="ko-KR" dirty="0"/>
              <a:t>X. 3</a:t>
            </a:r>
            <a:r>
              <a:rPr lang="ko-KR" altLang="en-US" dirty="0" err="1"/>
              <a:t>년동안</a:t>
            </a:r>
            <a:r>
              <a:rPr lang="ko-KR" altLang="en-US" dirty="0"/>
              <a:t> 끈다 </a:t>
            </a:r>
            <a:r>
              <a:rPr lang="en-US" altLang="ko-KR" dirty="0"/>
              <a:t>-&gt; </a:t>
            </a:r>
            <a:r>
              <a:rPr lang="ko-KR" altLang="en-US" dirty="0"/>
              <a:t>특허 </a:t>
            </a:r>
            <a:r>
              <a:rPr lang="ko-KR" altLang="en-US" dirty="0" err="1"/>
              <a:t>획득시</a:t>
            </a:r>
            <a:r>
              <a:rPr lang="ko-KR" altLang="en-US" dirty="0"/>
              <a:t> 재산권이 출원일로 소급</a:t>
            </a:r>
            <a:br>
              <a:rPr lang="en-US" altLang="ko-KR" dirty="0"/>
            </a:br>
            <a:r>
              <a:rPr lang="ko-KR" altLang="en-US" dirty="0"/>
              <a:t>타 경쟁업체</a:t>
            </a:r>
            <a:r>
              <a:rPr lang="en-US" altLang="ko-KR" dirty="0"/>
              <a:t>? -&gt; </a:t>
            </a:r>
            <a:r>
              <a:rPr lang="ko-KR" altLang="en-US" dirty="0"/>
              <a:t>투자 주저</a:t>
            </a:r>
            <a:r>
              <a:rPr lang="en-US" altLang="ko-KR" dirty="0"/>
              <a:t>. </a:t>
            </a:r>
            <a:r>
              <a:rPr lang="ko-KR" altLang="en-US" dirty="0"/>
              <a:t>대기업</a:t>
            </a:r>
            <a:r>
              <a:rPr lang="en-US" altLang="ko-KR" dirty="0"/>
              <a:t>? -&gt; </a:t>
            </a:r>
            <a:r>
              <a:rPr lang="ko-KR" altLang="en-US" dirty="0"/>
              <a:t>될 수 </a:t>
            </a:r>
            <a:r>
              <a:rPr lang="ko-KR" altLang="en-US" dirty="0" err="1"/>
              <a:t>있는건</a:t>
            </a:r>
            <a:r>
              <a:rPr lang="ko-KR" altLang="en-US" dirty="0"/>
              <a:t> 전부 출원</a:t>
            </a:r>
            <a:r>
              <a:rPr lang="en-US" altLang="ko-KR" dirty="0"/>
              <a:t>(</a:t>
            </a:r>
            <a:r>
              <a:rPr lang="ko-KR" altLang="en-US" dirty="0"/>
              <a:t>대기업 </a:t>
            </a:r>
            <a:r>
              <a:rPr lang="en-US" altLang="ko-KR" dirty="0"/>
              <a:t>-&gt; </a:t>
            </a:r>
            <a:r>
              <a:rPr lang="ko-KR" altLang="en-US" dirty="0"/>
              <a:t>중소 제거</a:t>
            </a:r>
            <a:r>
              <a:rPr lang="en-US" altLang="ko-KR" dirty="0"/>
              <a:t>)</a:t>
            </a:r>
          </a:p>
          <a:p>
            <a:pPr lvl="3"/>
            <a:r>
              <a:rPr lang="ko-KR" altLang="en-US" dirty="0"/>
              <a:t>우선권 주장 </a:t>
            </a:r>
            <a:r>
              <a:rPr lang="en-US" altLang="ko-KR" dirty="0"/>
              <a:t>: </a:t>
            </a:r>
            <a:r>
              <a:rPr lang="ko-KR" altLang="en-US" dirty="0"/>
              <a:t>인정받고 싶으면 각 나라마다 따로</a:t>
            </a:r>
            <a:r>
              <a:rPr lang="en-US" altLang="ko-KR" dirty="0"/>
              <a:t> -&gt; </a:t>
            </a:r>
            <a:r>
              <a:rPr lang="ko-KR" altLang="en-US" dirty="0"/>
              <a:t>미 특허</a:t>
            </a:r>
            <a:r>
              <a:rPr lang="en-US" altLang="ko-KR" dirty="0"/>
              <a:t>? -&gt; 1</a:t>
            </a:r>
            <a:r>
              <a:rPr lang="ko-KR" altLang="en-US" dirty="0"/>
              <a:t>년 소급해서 인정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필요이유</a:t>
            </a:r>
            <a:r>
              <a:rPr lang="en-US" altLang="ko-KR" dirty="0"/>
              <a:t>? -&gt; 6</a:t>
            </a:r>
            <a:r>
              <a:rPr lang="ko-KR" altLang="en-US" dirty="0"/>
              <a:t>개월 늦게 출원해도 </a:t>
            </a:r>
            <a:r>
              <a:rPr lang="en-US" altLang="ko-KR" dirty="0"/>
              <a:t>1</a:t>
            </a:r>
            <a:r>
              <a:rPr lang="ko-KR" altLang="en-US" dirty="0"/>
              <a:t>년 소급 인정</a:t>
            </a:r>
            <a:endParaRPr lang="en-US" altLang="ko-KR" dirty="0"/>
          </a:p>
          <a:p>
            <a:pPr lvl="2"/>
            <a:r>
              <a:rPr lang="ko-KR" altLang="en-US" dirty="0"/>
              <a:t>청구항 </a:t>
            </a:r>
            <a:r>
              <a:rPr lang="en-US" altLang="ko-KR" dirty="0"/>
              <a:t>: </a:t>
            </a:r>
            <a:r>
              <a:rPr lang="ko-KR" altLang="en-US" dirty="0"/>
              <a:t>이런 분야에서 사용할 수 있다</a:t>
            </a:r>
            <a:r>
              <a:rPr lang="en-US" altLang="ko-KR" dirty="0"/>
              <a:t>; </a:t>
            </a:r>
            <a:r>
              <a:rPr lang="ko-KR" altLang="en-US" dirty="0"/>
              <a:t>모든 분야에서 청구항 인정</a:t>
            </a:r>
            <a:r>
              <a:rPr lang="en-US" altLang="ko-KR" dirty="0"/>
              <a:t>X, </a:t>
            </a:r>
            <a:r>
              <a:rPr lang="ko-KR" altLang="en-US" dirty="0"/>
              <a:t>더 많은 분야</a:t>
            </a:r>
            <a:r>
              <a:rPr lang="en-US" altLang="ko-KR" dirty="0"/>
              <a:t>? </a:t>
            </a:r>
            <a:r>
              <a:rPr lang="ko-KR" altLang="en-US" dirty="0"/>
              <a:t>더 많은 가치</a:t>
            </a:r>
            <a:endParaRPr lang="en-US" altLang="ko-KR" dirty="0"/>
          </a:p>
          <a:p>
            <a:pPr lvl="3"/>
            <a:r>
              <a:rPr lang="ko-KR" altLang="en-US" dirty="0"/>
              <a:t>선행기술조사문헌 </a:t>
            </a:r>
            <a:r>
              <a:rPr lang="en-US" altLang="ko-KR" dirty="0"/>
              <a:t>: </a:t>
            </a:r>
            <a:r>
              <a:rPr lang="ko-KR" altLang="en-US" dirty="0"/>
              <a:t>어떤 성행기술을 참고했나</a:t>
            </a:r>
            <a:r>
              <a:rPr lang="en-US" altLang="ko-KR" dirty="0"/>
              <a:t>?(X citation), </a:t>
            </a:r>
            <a:r>
              <a:rPr lang="ko-KR" altLang="en-US" dirty="0"/>
              <a:t>정직</a:t>
            </a:r>
            <a:r>
              <a:rPr lang="en-US" altLang="ko-KR" dirty="0"/>
              <a:t>? -&gt; </a:t>
            </a:r>
            <a:r>
              <a:rPr lang="ko-KR" altLang="en-US" dirty="0"/>
              <a:t>창의성</a:t>
            </a:r>
            <a:r>
              <a:rPr lang="en-US" altLang="ko-KR" dirty="0"/>
              <a:t>X</a:t>
            </a:r>
            <a:r>
              <a:rPr lang="ko-KR" altLang="en-US" dirty="0"/>
              <a:t>라고 판단</a:t>
            </a:r>
            <a:r>
              <a:rPr lang="en-US" altLang="ko-KR" dirty="0"/>
              <a:t> -&gt; </a:t>
            </a:r>
            <a:r>
              <a:rPr lang="ko-KR" altLang="en-US" dirty="0"/>
              <a:t>발명자 적게 </a:t>
            </a:r>
            <a:r>
              <a:rPr lang="ko-KR" altLang="en-US" dirty="0" err="1"/>
              <a:t>쓰려고함</a:t>
            </a:r>
            <a:r>
              <a:rPr lang="en-US" altLang="ko-KR" dirty="0"/>
              <a:t>; if </a:t>
            </a:r>
            <a:r>
              <a:rPr lang="ko-KR" altLang="en-US" dirty="0"/>
              <a:t>특허침해소송</a:t>
            </a:r>
            <a:r>
              <a:rPr lang="en-US" altLang="ko-KR" dirty="0"/>
              <a:t>? -&gt; </a:t>
            </a:r>
            <a:r>
              <a:rPr lang="ko-KR" altLang="en-US" dirty="0"/>
              <a:t>비용 많이</a:t>
            </a:r>
            <a:r>
              <a:rPr lang="en-US" altLang="ko-KR" dirty="0"/>
              <a:t>; </a:t>
            </a:r>
            <a:r>
              <a:rPr lang="ko-KR" altLang="en-US" dirty="0"/>
              <a:t>심사관이 </a:t>
            </a:r>
            <a:r>
              <a:rPr lang="en-US" altLang="ko-KR" dirty="0"/>
              <a:t>DB</a:t>
            </a:r>
            <a:r>
              <a:rPr lang="ko-KR" altLang="en-US" dirty="0"/>
              <a:t>에서 선행기술 조사</a:t>
            </a:r>
            <a:r>
              <a:rPr lang="en-US" altLang="ko-KR" dirty="0"/>
              <a:t>(Y citation); X+Y</a:t>
            </a:r>
            <a:r>
              <a:rPr lang="ko-KR" altLang="en-US" dirty="0"/>
              <a:t>를 합해서 판단</a:t>
            </a:r>
            <a:endParaRPr lang="en-US" altLang="ko-KR" dirty="0"/>
          </a:p>
          <a:p>
            <a:pPr lvl="3"/>
            <a:r>
              <a:rPr lang="ko-KR" altLang="en-US" dirty="0"/>
              <a:t>타입</a:t>
            </a:r>
            <a:r>
              <a:rPr lang="en-US" altLang="ko-KR" dirty="0"/>
              <a:t>2 </a:t>
            </a:r>
            <a:r>
              <a:rPr lang="ko-KR" altLang="en-US" dirty="0"/>
              <a:t>에러 </a:t>
            </a:r>
            <a:r>
              <a:rPr lang="en-US" altLang="ko-KR" dirty="0"/>
              <a:t>: </a:t>
            </a:r>
            <a:r>
              <a:rPr lang="ko-KR" altLang="en-US" dirty="0"/>
              <a:t>특허 </a:t>
            </a:r>
            <a:r>
              <a:rPr lang="ko-KR" altLang="en-US" dirty="0" err="1"/>
              <a:t>거절시</a:t>
            </a:r>
            <a:r>
              <a:rPr lang="ko-KR" altLang="en-US" dirty="0"/>
              <a:t> 사유 적어야 함 </a:t>
            </a:r>
            <a:r>
              <a:rPr lang="en-US" altLang="ko-KR" dirty="0"/>
              <a:t>-&gt; </a:t>
            </a:r>
            <a:r>
              <a:rPr lang="ko-KR" altLang="en-US" dirty="0"/>
              <a:t>업무 쌓일수록 특허 남발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전문가에게 너무</a:t>
            </a:r>
            <a:r>
              <a:rPr lang="en-US" altLang="ko-KR" dirty="0"/>
              <a:t> </a:t>
            </a:r>
            <a:r>
              <a:rPr lang="ko-KR" altLang="en-US" dirty="0"/>
              <a:t>많은</a:t>
            </a:r>
            <a:r>
              <a:rPr lang="en-US" altLang="ko-KR" dirty="0"/>
              <a:t> </a:t>
            </a:r>
            <a:r>
              <a:rPr lang="ko-KR" altLang="en-US" dirty="0"/>
              <a:t>업무</a:t>
            </a:r>
            <a:r>
              <a:rPr lang="en-US" altLang="ko-KR" dirty="0"/>
              <a:t>X (</a:t>
            </a:r>
            <a:r>
              <a:rPr lang="ko-KR" altLang="en-US" dirty="0"/>
              <a:t>자격</a:t>
            </a:r>
            <a:r>
              <a:rPr lang="en-US" altLang="ko-KR" dirty="0"/>
              <a:t>X</a:t>
            </a:r>
            <a:r>
              <a:rPr lang="ko-KR" altLang="en-US" dirty="0"/>
              <a:t>사람 </a:t>
            </a:r>
            <a:r>
              <a:rPr lang="en-US" altLang="ko-KR" dirty="0"/>
              <a:t>-&gt;</a:t>
            </a:r>
            <a:r>
              <a:rPr lang="ko-KR" altLang="en-US" dirty="0"/>
              <a:t> 자격</a:t>
            </a:r>
            <a:r>
              <a:rPr lang="en-US" altLang="ko-KR" dirty="0"/>
              <a:t>O vs </a:t>
            </a:r>
            <a:r>
              <a:rPr lang="ko-KR" altLang="en-US" dirty="0"/>
              <a:t>타입</a:t>
            </a:r>
            <a:r>
              <a:rPr lang="en-US" altLang="ko-KR" dirty="0"/>
              <a:t>1</a:t>
            </a:r>
            <a:r>
              <a:rPr lang="ko-KR" altLang="en-US" dirty="0"/>
              <a:t>에러 </a:t>
            </a:r>
            <a:r>
              <a:rPr lang="en-US" altLang="ko-KR" dirty="0"/>
              <a:t>: </a:t>
            </a:r>
            <a:r>
              <a:rPr lang="ko-KR" altLang="en-US" dirty="0"/>
              <a:t>자격</a:t>
            </a:r>
            <a:r>
              <a:rPr lang="en-US" altLang="ko-KR" dirty="0"/>
              <a:t>O</a:t>
            </a:r>
            <a:r>
              <a:rPr lang="ko-KR" altLang="en-US" dirty="0"/>
              <a:t>사람 </a:t>
            </a:r>
            <a:r>
              <a:rPr lang="en-US" altLang="ko-KR" dirty="0"/>
              <a:t>-&gt; </a:t>
            </a:r>
            <a:r>
              <a:rPr lang="ko-KR" altLang="en-US" dirty="0"/>
              <a:t>자격</a:t>
            </a:r>
            <a:r>
              <a:rPr lang="en-US" altLang="ko-KR" dirty="0"/>
              <a:t>X)</a:t>
            </a:r>
          </a:p>
          <a:p>
            <a:r>
              <a:rPr lang="ko-KR" altLang="en-US" dirty="0"/>
              <a:t>특허권의 요건</a:t>
            </a:r>
            <a:endParaRPr lang="en-US" altLang="ko-KR" dirty="0"/>
          </a:p>
          <a:p>
            <a:pPr lvl="1"/>
            <a:r>
              <a:rPr lang="ko-KR" altLang="en-US" dirty="0"/>
              <a:t>산업상 이용가능성</a:t>
            </a:r>
            <a:r>
              <a:rPr lang="en-US" altLang="ko-KR" dirty="0"/>
              <a:t>(usefulness)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산업발전에 유용</a:t>
            </a:r>
            <a:endParaRPr lang="en-US" altLang="ko-KR" dirty="0"/>
          </a:p>
          <a:p>
            <a:pPr lvl="1"/>
            <a:r>
              <a:rPr lang="ko-KR" altLang="en-US" dirty="0"/>
              <a:t>신규성</a:t>
            </a:r>
            <a:r>
              <a:rPr lang="en-US" altLang="ko-KR" dirty="0"/>
              <a:t>(novelty) : (</a:t>
            </a:r>
            <a:r>
              <a:rPr lang="ko-KR" altLang="en-US" dirty="0"/>
              <a:t>새롭지</a:t>
            </a:r>
            <a:r>
              <a:rPr lang="en-US" altLang="ko-KR" dirty="0"/>
              <a:t>X? -&gt; </a:t>
            </a:r>
            <a:r>
              <a:rPr lang="ko-KR" altLang="en-US" dirty="0"/>
              <a:t>특허인정</a:t>
            </a:r>
            <a:r>
              <a:rPr lang="en-US" altLang="ko-KR" dirty="0"/>
              <a:t>X) -&gt; </a:t>
            </a:r>
            <a:r>
              <a:rPr lang="ko-KR" altLang="en-US" dirty="0"/>
              <a:t>객관적</a:t>
            </a:r>
            <a:r>
              <a:rPr lang="en-US" altLang="ko-KR" dirty="0"/>
              <a:t> </a:t>
            </a:r>
            <a:r>
              <a:rPr lang="ko-KR" altLang="en-US" dirty="0"/>
              <a:t>새로움</a:t>
            </a:r>
            <a:endParaRPr lang="en-US" altLang="ko-KR" dirty="0"/>
          </a:p>
          <a:p>
            <a:pPr lvl="1"/>
            <a:r>
              <a:rPr lang="ko-KR" altLang="en-US" dirty="0"/>
              <a:t>진보성</a:t>
            </a:r>
            <a:r>
              <a:rPr lang="en-US" altLang="ko-KR" dirty="0"/>
              <a:t>(</a:t>
            </a:r>
            <a:r>
              <a:rPr lang="en-US" altLang="ko-KR" dirty="0" err="1"/>
              <a:t>nonobviousness</a:t>
            </a:r>
            <a:r>
              <a:rPr lang="en-US" altLang="ko-KR" dirty="0"/>
              <a:t>) : </a:t>
            </a:r>
            <a:r>
              <a:rPr lang="en-US" altLang="ko-KR" dirty="0" err="1"/>
              <a:t>nonobviousness</a:t>
            </a:r>
            <a:r>
              <a:rPr lang="en-US" altLang="ko-KR" dirty="0"/>
              <a:t> = </a:t>
            </a:r>
            <a:r>
              <a:rPr lang="ko-KR" altLang="en-US" dirty="0"/>
              <a:t>애매모호함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객관적 새로움 </a:t>
            </a:r>
            <a:r>
              <a:rPr lang="en-US" altLang="ko-KR" dirty="0"/>
              <a:t>+ </a:t>
            </a:r>
            <a:r>
              <a:rPr lang="ko-KR" altLang="en-US" dirty="0"/>
              <a:t>얼마나 새로움</a:t>
            </a:r>
            <a:r>
              <a:rPr lang="en-US" altLang="ko-KR" dirty="0"/>
              <a:t>?(inventive</a:t>
            </a:r>
            <a:r>
              <a:rPr lang="ko-KR" altLang="en-US" dirty="0"/>
              <a:t> </a:t>
            </a:r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주관적 새로움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누구나 이전 기술로 만들 수 </a:t>
            </a:r>
            <a:r>
              <a:rPr lang="en-US" altLang="ko-KR" dirty="0"/>
              <a:t>O? -&gt; </a:t>
            </a:r>
            <a:r>
              <a:rPr lang="ko-KR" altLang="en-US" dirty="0"/>
              <a:t>진보성 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ko-KR" altLang="en-US" dirty="0"/>
              <a:t>이전 기술로 만들어 낼 수도</a:t>
            </a:r>
            <a:r>
              <a:rPr lang="en-US" altLang="ko-KR" dirty="0"/>
              <a:t>? </a:t>
            </a:r>
            <a:r>
              <a:rPr lang="ko-KR" altLang="en-US" dirty="0"/>
              <a:t>없을 수도</a:t>
            </a:r>
            <a:r>
              <a:rPr lang="en-US" altLang="ko-KR" dirty="0"/>
              <a:t>? -&gt; </a:t>
            </a:r>
            <a:r>
              <a:rPr lang="ko-KR" altLang="en-US" dirty="0"/>
              <a:t>진보성 </a:t>
            </a:r>
            <a:r>
              <a:rPr lang="en-US" altLang="ko-KR" dirty="0"/>
              <a:t>O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93EE47E-AD6C-21E4-4023-867150D582A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특허</a:t>
            </a:r>
            <a:r>
              <a:rPr lang="en-US" altLang="ko-KR" dirty="0"/>
              <a:t> </a:t>
            </a:r>
            <a:r>
              <a:rPr lang="ko-KR" altLang="en-US" dirty="0"/>
              <a:t>방식주의</a:t>
            </a:r>
            <a:r>
              <a:rPr lang="en-US" altLang="ko-KR" dirty="0"/>
              <a:t>, </a:t>
            </a:r>
            <a:r>
              <a:rPr lang="ko-KR" altLang="en-US" dirty="0"/>
              <a:t>선출원주의</a:t>
            </a:r>
            <a:r>
              <a:rPr lang="en-US" altLang="ko-KR" dirty="0"/>
              <a:t>, </a:t>
            </a:r>
            <a:r>
              <a:rPr lang="ko-KR" altLang="en-US" dirty="0"/>
              <a:t>출원일후 </a:t>
            </a:r>
            <a:r>
              <a:rPr lang="en-US" altLang="ko-KR" dirty="0"/>
              <a:t>20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신규성 </a:t>
            </a:r>
            <a:r>
              <a:rPr lang="en-US" altLang="ko-KR" dirty="0"/>
              <a:t>// </a:t>
            </a:r>
            <a:r>
              <a:rPr lang="ko-KR" altLang="en-US" dirty="0"/>
              <a:t>저작권 </a:t>
            </a:r>
            <a:r>
              <a:rPr lang="en-US" altLang="ko-KR" dirty="0"/>
              <a:t>: </a:t>
            </a:r>
            <a:r>
              <a:rPr lang="ko-KR" altLang="en-US" dirty="0"/>
              <a:t>무방식주의</a:t>
            </a:r>
            <a:r>
              <a:rPr lang="en-US" altLang="ko-KR" dirty="0"/>
              <a:t>, </a:t>
            </a:r>
            <a:r>
              <a:rPr lang="ko-KR" altLang="en-US" dirty="0"/>
              <a:t>저작자 생</a:t>
            </a:r>
            <a:r>
              <a:rPr lang="en-US" altLang="ko-KR" dirty="0"/>
              <a:t>+</a:t>
            </a:r>
            <a:r>
              <a:rPr lang="ko-KR" altLang="en-US" dirty="0"/>
              <a:t>사</a:t>
            </a:r>
            <a:r>
              <a:rPr lang="en-US" altLang="ko-KR" dirty="0"/>
              <a:t>50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독창성</a:t>
            </a:r>
            <a:endParaRPr lang="en-US" altLang="ko-KR" dirty="0"/>
          </a:p>
          <a:p>
            <a:r>
              <a:rPr lang="ko-KR" altLang="en-US" dirty="0" err="1"/>
              <a:t>특</a:t>
            </a:r>
            <a:r>
              <a:rPr lang="en-US" altLang="ko-KR" dirty="0"/>
              <a:t>vs</a:t>
            </a:r>
            <a:r>
              <a:rPr lang="ko-KR" altLang="en-US" dirty="0"/>
              <a:t>포 </a:t>
            </a:r>
            <a:r>
              <a:rPr lang="en-US" altLang="ko-KR" dirty="0"/>
              <a:t>: </a:t>
            </a:r>
            <a:r>
              <a:rPr lang="ko-KR" altLang="en-US" dirty="0"/>
              <a:t>특장</a:t>
            </a:r>
            <a:r>
              <a:rPr lang="en-US" altLang="ko-KR" dirty="0"/>
              <a:t>:(</a:t>
            </a:r>
            <a:r>
              <a:rPr lang="ko-KR" altLang="en-US" dirty="0"/>
              <a:t>발명가치</a:t>
            </a:r>
            <a:r>
              <a:rPr lang="en-US" altLang="ko-KR" dirty="0"/>
              <a:t>→</a:t>
            </a:r>
            <a:r>
              <a:rPr lang="ko-KR" altLang="en-US" dirty="0"/>
              <a:t>보상</a:t>
            </a:r>
            <a:r>
              <a:rPr lang="en-US" altLang="ko-KR" dirty="0"/>
              <a:t>)</a:t>
            </a:r>
            <a:r>
              <a:rPr lang="ko-KR" altLang="en-US" dirty="0"/>
              <a:t>불일치</a:t>
            </a:r>
            <a:r>
              <a:rPr lang="en-US" altLang="ko-KR" dirty="0"/>
              <a:t>. </a:t>
            </a:r>
            <a:r>
              <a:rPr lang="ko-KR" altLang="en-US" dirty="0"/>
              <a:t>발명비용</a:t>
            </a:r>
            <a:r>
              <a:rPr lang="en-US" altLang="ko-KR" dirty="0"/>
              <a:t>→</a:t>
            </a:r>
            <a:r>
              <a:rPr lang="ko-KR" altLang="en-US" dirty="0"/>
              <a:t>이용자</a:t>
            </a:r>
            <a:r>
              <a:rPr lang="en-US" altLang="ko-KR" dirty="0"/>
              <a:t>//</a:t>
            </a:r>
            <a:r>
              <a:rPr lang="ko-KR" altLang="en-US" dirty="0"/>
              <a:t>특단 </a:t>
            </a:r>
            <a:r>
              <a:rPr lang="en-US" altLang="ko-KR" dirty="0"/>
              <a:t>: </a:t>
            </a:r>
            <a:r>
              <a:rPr lang="ko-KR" altLang="en-US" dirty="0"/>
              <a:t>복잡</a:t>
            </a:r>
            <a:r>
              <a:rPr lang="en-US" altLang="ko-KR" dirty="0"/>
              <a:t>,</a:t>
            </a:r>
            <a:r>
              <a:rPr lang="ko-KR" altLang="en-US" dirty="0"/>
              <a:t>높은 특허 </a:t>
            </a:r>
            <a:r>
              <a:rPr lang="ko-KR" altLang="en-US" dirty="0" err="1"/>
              <a:t>출원비</a:t>
            </a:r>
            <a:br>
              <a:rPr lang="en-US" altLang="ko-KR" dirty="0"/>
            </a:br>
            <a:r>
              <a:rPr lang="ko-KR" altLang="en-US" dirty="0"/>
              <a:t>포장</a:t>
            </a:r>
            <a:r>
              <a:rPr lang="en-US" altLang="ko-KR" dirty="0"/>
              <a:t>:(</a:t>
            </a:r>
            <a:r>
              <a:rPr lang="ko-KR" altLang="en-US" dirty="0"/>
              <a:t>상가</a:t>
            </a:r>
            <a:r>
              <a:rPr lang="en-US" altLang="ko-KR" dirty="0"/>
              <a:t>X. but,</a:t>
            </a:r>
            <a:r>
              <a:rPr lang="ko-KR" altLang="en-US" dirty="0"/>
              <a:t>사가</a:t>
            </a:r>
            <a:r>
              <a:rPr lang="en-US" altLang="ko-KR" dirty="0"/>
              <a:t>O </a:t>
            </a:r>
            <a:r>
              <a:rPr lang="ko-KR" altLang="en-US" dirty="0"/>
              <a:t>기술</a:t>
            </a:r>
            <a:r>
              <a:rPr lang="en-US" altLang="ko-KR" dirty="0"/>
              <a:t>). </a:t>
            </a:r>
            <a:r>
              <a:rPr lang="ko-KR" altLang="en-US" dirty="0"/>
              <a:t>보상</a:t>
            </a:r>
            <a:r>
              <a:rPr lang="en-US" altLang="ko-KR" dirty="0"/>
              <a:t>→</a:t>
            </a:r>
            <a:r>
              <a:rPr lang="ko-KR" altLang="en-US" dirty="0"/>
              <a:t>혁신가치 연동</a:t>
            </a:r>
            <a:r>
              <a:rPr lang="en-US" altLang="ko-KR" dirty="0"/>
              <a:t>//</a:t>
            </a:r>
            <a:r>
              <a:rPr lang="ko-KR" altLang="en-US" dirty="0" err="1"/>
              <a:t>포단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중앙집중화</a:t>
            </a:r>
            <a:r>
              <a:rPr lang="en-US" altLang="ko-KR" dirty="0"/>
              <a:t>//</a:t>
            </a:r>
            <a:r>
              <a:rPr lang="ko-KR" altLang="en-US" dirty="0" err="1"/>
              <a:t>공통단점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중복투자</a:t>
            </a:r>
            <a:r>
              <a:rPr lang="en-US" altLang="ko-KR" dirty="0"/>
              <a:t>,</a:t>
            </a:r>
            <a:r>
              <a:rPr lang="ko-KR" altLang="en-US" dirty="0"/>
              <a:t>사후보상</a:t>
            </a:r>
            <a:endParaRPr lang="en-US" altLang="ko-KR" dirty="0"/>
          </a:p>
          <a:p>
            <a:r>
              <a:rPr lang="ko-KR" altLang="en-US" dirty="0"/>
              <a:t>특허명세서 </a:t>
            </a:r>
            <a:r>
              <a:rPr lang="en-US" altLang="ko-KR" dirty="0"/>
              <a:t>: </a:t>
            </a:r>
            <a:r>
              <a:rPr lang="ko-KR" altLang="en-US" dirty="0"/>
              <a:t>심사청구</a:t>
            </a:r>
            <a:r>
              <a:rPr lang="en-US" altLang="ko-KR" dirty="0"/>
              <a:t>,</a:t>
            </a:r>
            <a:r>
              <a:rPr lang="ko-KR" altLang="en-US" dirty="0"/>
              <a:t>우선권</a:t>
            </a:r>
            <a:r>
              <a:rPr lang="en-US" altLang="ko-KR" dirty="0"/>
              <a:t>.</a:t>
            </a:r>
            <a:r>
              <a:rPr lang="ko-KR" altLang="en-US" dirty="0"/>
              <a:t>청구항</a:t>
            </a:r>
            <a:r>
              <a:rPr lang="en-US" altLang="ko-KR" dirty="0"/>
              <a:t>,</a:t>
            </a:r>
            <a:r>
              <a:rPr lang="ko-KR" altLang="en-US" dirty="0"/>
              <a:t>선행기술조사문서</a:t>
            </a:r>
            <a:r>
              <a:rPr lang="en-US" altLang="ko-KR" dirty="0"/>
              <a:t>,</a:t>
            </a:r>
            <a:r>
              <a:rPr lang="ko-KR" altLang="en-US" dirty="0"/>
              <a:t>타입</a:t>
            </a:r>
            <a:r>
              <a:rPr lang="en-US" altLang="ko-KR" dirty="0"/>
              <a:t>2</a:t>
            </a:r>
            <a:r>
              <a:rPr lang="ko-KR" altLang="en-US" dirty="0"/>
              <a:t>에러</a:t>
            </a:r>
            <a:endParaRPr lang="en-US" altLang="ko-KR" dirty="0"/>
          </a:p>
          <a:p>
            <a:r>
              <a:rPr lang="ko-KR" altLang="en-US" dirty="0"/>
              <a:t>특허의 요선 </a:t>
            </a:r>
            <a:r>
              <a:rPr lang="en-US" altLang="ko-KR" dirty="0"/>
              <a:t>: </a:t>
            </a:r>
            <a:r>
              <a:rPr lang="ko-KR" altLang="en-US" dirty="0"/>
              <a:t>산업상 이용가능성</a:t>
            </a:r>
            <a:r>
              <a:rPr lang="en-US" altLang="ko-KR" dirty="0"/>
              <a:t>, </a:t>
            </a:r>
            <a:r>
              <a:rPr lang="ko-KR" altLang="en-US" dirty="0"/>
              <a:t>신규성</a:t>
            </a:r>
            <a:r>
              <a:rPr lang="en-US" altLang="ko-KR" dirty="0"/>
              <a:t>, </a:t>
            </a:r>
            <a:r>
              <a:rPr lang="ko-KR" altLang="en-US" dirty="0"/>
              <a:t>진보성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9B8C021-6D15-2656-52E3-09E843812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008" y="1712640"/>
            <a:ext cx="3168352" cy="126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60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051EED5-CCF2-2977-6C4F-4815BF7CC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FCA3E3-7565-0C7B-4937-1EEE695C6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특허권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47F64E-DC6F-EFFA-DB53-381A1449DC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C34B3A1-957C-DE3F-9C80-1C85FCAF65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특허권 보장의 쟁점 </a:t>
            </a:r>
            <a:r>
              <a:rPr lang="en-US" altLang="ko-KR" dirty="0"/>
              <a:t>: </a:t>
            </a:r>
            <a:r>
              <a:rPr lang="ko-KR" altLang="en-US" dirty="0"/>
              <a:t>유인</a:t>
            </a:r>
            <a:r>
              <a:rPr lang="en-US" altLang="ko-KR" dirty="0"/>
              <a:t>, DWL,</a:t>
            </a:r>
            <a:r>
              <a:rPr lang="ko-KR" altLang="en-US" dirty="0"/>
              <a:t> 중복투자 </a:t>
            </a:r>
            <a:r>
              <a:rPr lang="en-US" altLang="ko-KR" dirty="0"/>
              <a:t>-&gt;</a:t>
            </a:r>
            <a:r>
              <a:rPr lang="ko-KR" altLang="en-US" dirty="0"/>
              <a:t> 얼마나 오래</a:t>
            </a:r>
            <a:r>
              <a:rPr lang="en-US" altLang="ko-KR" dirty="0"/>
              <a:t>, </a:t>
            </a:r>
            <a:r>
              <a:rPr lang="ko-KR" altLang="en-US" dirty="0"/>
              <a:t>넓게</a:t>
            </a:r>
            <a:r>
              <a:rPr lang="en-US" altLang="ko-KR" dirty="0"/>
              <a:t> </a:t>
            </a:r>
            <a:r>
              <a:rPr lang="ko-KR" altLang="en-US" dirty="0"/>
              <a:t>인정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사회후생을 극대화하기 위한 특허권의 기간은 기술의 특성에 따라 다르다</a:t>
            </a:r>
            <a:endParaRPr lang="en-US" altLang="ko-KR" dirty="0"/>
          </a:p>
          <a:p>
            <a:pPr lvl="1"/>
            <a:r>
              <a:rPr lang="en-US" altLang="ko-KR" dirty="0"/>
              <a:t>Minor innovation</a:t>
            </a:r>
            <a:r>
              <a:rPr lang="ko-KR" altLang="en-US" dirty="0"/>
              <a:t>의 최적 특허기간 보장</a:t>
            </a:r>
            <a:endParaRPr lang="en-US" altLang="ko-KR" dirty="0"/>
          </a:p>
          <a:p>
            <a:pPr lvl="2"/>
            <a:r>
              <a:rPr lang="en-US" altLang="ko-KR" dirty="0"/>
              <a:t>0) </a:t>
            </a:r>
            <a:r>
              <a:rPr lang="ko-KR" altLang="en-US" dirty="0"/>
              <a:t>시장에서 </a:t>
            </a:r>
            <a:r>
              <a:rPr lang="en-US" altLang="ko-KR" dirty="0"/>
              <a:t>p0</a:t>
            </a:r>
            <a:r>
              <a:rPr lang="ko-KR" altLang="en-US" dirty="0"/>
              <a:t>로 가격형성</a:t>
            </a:r>
            <a:br>
              <a:rPr lang="en-US" altLang="ko-KR" dirty="0"/>
            </a:br>
            <a:r>
              <a:rPr lang="en-US" altLang="ko-KR" dirty="0"/>
              <a:t>1) mc0-&gt;mc1</a:t>
            </a:r>
            <a:r>
              <a:rPr lang="ko-KR" altLang="en-US" dirty="0"/>
              <a:t>으로 비용감소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공정혁신 기업의 수요 </a:t>
            </a:r>
            <a:r>
              <a:rPr lang="en-US" altLang="ko-KR" dirty="0"/>
              <a:t>: </a:t>
            </a:r>
            <a:r>
              <a:rPr lang="ko-KR" altLang="en-US" dirty="0"/>
              <a:t>파랑 </a:t>
            </a:r>
            <a:r>
              <a:rPr lang="en-US" altLang="ko-KR" dirty="0"/>
              <a:t>-&gt; </a:t>
            </a:r>
            <a:r>
              <a:rPr lang="ko-KR" altLang="en-US" dirty="0"/>
              <a:t>초록</a:t>
            </a:r>
            <a:br>
              <a:rPr lang="en-US" altLang="ko-KR" dirty="0"/>
            </a:br>
            <a:r>
              <a:rPr lang="ko-KR" altLang="en-US" dirty="0"/>
              <a:t>그러나 시장에서의 가격은 여전히 </a:t>
            </a:r>
            <a:r>
              <a:rPr lang="en-US" altLang="ko-KR" dirty="0"/>
              <a:t>p0</a:t>
            </a:r>
            <a:br>
              <a:rPr lang="en-US" altLang="ko-KR" dirty="0"/>
            </a:br>
            <a:r>
              <a:rPr lang="ko-KR" altLang="en-US" dirty="0"/>
              <a:t>이므로</a:t>
            </a:r>
            <a:r>
              <a:rPr lang="en-US" altLang="ko-KR" dirty="0"/>
              <a:t>, ABCD</a:t>
            </a:r>
            <a:r>
              <a:rPr lang="ko-KR" altLang="en-US" dirty="0"/>
              <a:t>의 독점 수익 발생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사회적으로 </a:t>
            </a:r>
            <a:r>
              <a:rPr lang="en-US" altLang="ko-KR" dirty="0"/>
              <a:t>CDF</a:t>
            </a:r>
            <a:r>
              <a:rPr lang="ko-KR" altLang="en-US" dirty="0"/>
              <a:t>만큼의 </a:t>
            </a:r>
            <a:r>
              <a:rPr lang="en-US" altLang="ko-KR" dirty="0"/>
              <a:t>DWL </a:t>
            </a:r>
            <a:r>
              <a:rPr lang="ko-KR" altLang="en-US" dirty="0"/>
              <a:t>발생</a:t>
            </a:r>
            <a:endParaRPr lang="en-US" altLang="ko-KR" dirty="0"/>
          </a:p>
          <a:p>
            <a:pPr lvl="2"/>
            <a:r>
              <a:rPr lang="ko-KR" altLang="en-US" dirty="0"/>
              <a:t>결론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만일 수요가 탄력적</a:t>
            </a:r>
            <a:r>
              <a:rPr lang="en-US" altLang="ko-KR" dirty="0"/>
              <a:t>(D2)?-&gt;DWL </a:t>
            </a:r>
            <a:r>
              <a:rPr lang="ko-KR" altLang="en-US" dirty="0"/>
              <a:t>커짐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특허의 적정기간 </a:t>
            </a:r>
            <a:r>
              <a:rPr lang="ko-KR" altLang="en-US" dirty="0" err="1"/>
              <a:t>짧</a:t>
            </a:r>
            <a:r>
              <a:rPr lang="ko-KR" altLang="en-US" dirty="0"/>
              <a:t> </a:t>
            </a:r>
            <a:r>
              <a:rPr lang="en-US" altLang="ko-KR" dirty="0"/>
              <a:t>good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혁신이 용이</a:t>
            </a:r>
            <a:r>
              <a:rPr lang="en-US" altLang="ko-KR" dirty="0"/>
              <a:t>/</a:t>
            </a:r>
            <a:r>
              <a:rPr lang="ko-KR" altLang="en-US" dirty="0"/>
              <a:t>발명 가치 클수록 특허 기간 단축이 </a:t>
            </a:r>
            <a:r>
              <a:rPr lang="ko-KR" altLang="en-US" dirty="0" err="1"/>
              <a:t>바람직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마이너일 때만</a:t>
            </a:r>
            <a:r>
              <a:rPr lang="en-US" altLang="ko-KR" dirty="0"/>
              <a:t>. </a:t>
            </a:r>
            <a:r>
              <a:rPr lang="ko-KR" altLang="en-US" dirty="0"/>
              <a:t>마이너는 유용할수록 독점시장에서 </a:t>
            </a:r>
            <a:r>
              <a:rPr lang="en-US" altLang="ko-KR" dirty="0"/>
              <a:t>DWL</a:t>
            </a:r>
            <a:r>
              <a:rPr lang="ko-KR" altLang="en-US" dirty="0"/>
              <a:t>가 커짐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Major</a:t>
            </a:r>
            <a:r>
              <a:rPr lang="ko-KR" altLang="en-US" dirty="0"/>
              <a:t> </a:t>
            </a:r>
            <a:r>
              <a:rPr lang="en-US" altLang="ko-KR" dirty="0"/>
              <a:t>innovation</a:t>
            </a:r>
            <a:r>
              <a:rPr lang="ko-KR" altLang="en-US" dirty="0"/>
              <a:t>의 최적 특허기간 보장</a:t>
            </a:r>
            <a:endParaRPr lang="en-US" altLang="ko-KR" dirty="0"/>
          </a:p>
          <a:p>
            <a:pPr lvl="2"/>
            <a:r>
              <a:rPr lang="en-US" altLang="ko-KR" dirty="0"/>
              <a:t>0) </a:t>
            </a:r>
            <a:r>
              <a:rPr lang="ko-KR" altLang="en-US" dirty="0"/>
              <a:t>시장에서 </a:t>
            </a:r>
            <a:r>
              <a:rPr lang="en-US" altLang="ko-KR" dirty="0"/>
              <a:t>p0</a:t>
            </a:r>
            <a:r>
              <a:rPr lang="ko-KR" altLang="en-US" dirty="0"/>
              <a:t>로 가격형성</a:t>
            </a:r>
            <a:br>
              <a:rPr lang="en-US" altLang="ko-KR" dirty="0"/>
            </a:br>
            <a:r>
              <a:rPr lang="en-US" altLang="ko-KR" dirty="0"/>
              <a:t>1) mc0-&gt;mc1</a:t>
            </a:r>
            <a:r>
              <a:rPr lang="ko-KR" altLang="en-US" dirty="0"/>
              <a:t>으로 비용감소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제품생산은 </a:t>
            </a:r>
            <a:r>
              <a:rPr lang="en-US" altLang="ko-KR" dirty="0"/>
              <a:t>MC1 = MR</a:t>
            </a:r>
            <a:r>
              <a:rPr lang="ko-KR" altLang="en-US" dirty="0"/>
              <a:t>인 </a:t>
            </a:r>
            <a:r>
              <a:rPr lang="en-US" altLang="ko-KR" dirty="0" err="1"/>
              <a:t>Qm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가격은 </a:t>
            </a:r>
            <a:r>
              <a:rPr lang="en-US" altLang="ko-KR" dirty="0"/>
              <a:t>P(</a:t>
            </a:r>
            <a:r>
              <a:rPr lang="en-US" altLang="ko-KR" dirty="0" err="1"/>
              <a:t>Qm</a:t>
            </a:r>
            <a:r>
              <a:rPr lang="en-US" altLang="ko-KR" dirty="0"/>
              <a:t>) = p2</a:t>
            </a:r>
            <a:r>
              <a:rPr lang="ko-KR" altLang="en-US" dirty="0"/>
              <a:t>로 받음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독점이익 </a:t>
            </a:r>
            <a:r>
              <a:rPr lang="en-US" altLang="ko-KR" dirty="0"/>
              <a:t>p2cp1e </a:t>
            </a:r>
            <a:r>
              <a:rPr lang="ko-KR" altLang="en-US" dirty="0"/>
              <a:t>발생</a:t>
            </a:r>
            <a:r>
              <a:rPr lang="en-US" altLang="ko-KR" dirty="0"/>
              <a:t>, </a:t>
            </a:r>
            <a:r>
              <a:rPr lang="en-US" altLang="ko-KR" dirty="0" err="1"/>
              <a:t>cde</a:t>
            </a:r>
            <a:r>
              <a:rPr lang="ko-KR" altLang="en-US" dirty="0"/>
              <a:t>의 </a:t>
            </a:r>
            <a:r>
              <a:rPr lang="en-US" altLang="ko-KR" dirty="0"/>
              <a:t>DWL </a:t>
            </a:r>
            <a:r>
              <a:rPr lang="ko-KR" altLang="en-US" dirty="0"/>
              <a:t>발생</a:t>
            </a:r>
            <a:endParaRPr lang="en-US" altLang="ko-KR" dirty="0"/>
          </a:p>
          <a:p>
            <a:pPr lvl="2"/>
            <a:r>
              <a:rPr lang="ko-KR" altLang="en-US" dirty="0"/>
              <a:t>발명의 중요성</a:t>
            </a:r>
            <a:r>
              <a:rPr lang="en-US" altLang="ko-KR" dirty="0"/>
              <a:t>(|P0-P1|)</a:t>
            </a:r>
            <a:r>
              <a:rPr lang="ko-KR" altLang="en-US" dirty="0"/>
              <a:t>이 증가할수록 적정</a:t>
            </a:r>
            <a:br>
              <a:rPr lang="en-US" altLang="ko-KR" dirty="0"/>
            </a:br>
            <a:r>
              <a:rPr lang="ko-KR" altLang="en-US" dirty="0"/>
              <a:t>특허기간 </a:t>
            </a:r>
            <a:r>
              <a:rPr lang="ko-KR" altLang="en-US" dirty="0" err="1"/>
              <a:t>길어질수도</a:t>
            </a:r>
            <a:endParaRPr lang="en-US" altLang="ko-KR" dirty="0"/>
          </a:p>
          <a:p>
            <a:pPr lvl="3"/>
            <a:r>
              <a:rPr lang="ko-KR" altLang="en-US" dirty="0"/>
              <a:t>즉</a:t>
            </a:r>
            <a:r>
              <a:rPr lang="en-US" altLang="ko-KR" dirty="0"/>
              <a:t>, (MC0 -&gt; MC1 vs MC1 -&gt; MC2) :</a:t>
            </a:r>
            <a:br>
              <a:rPr lang="en-US" altLang="ko-KR" dirty="0"/>
            </a:br>
            <a:r>
              <a:rPr lang="ko-KR" altLang="en-US" dirty="0"/>
              <a:t>보다</a:t>
            </a:r>
            <a:r>
              <a:rPr lang="en-US" altLang="ko-KR" dirty="0"/>
              <a:t> </a:t>
            </a:r>
            <a:r>
              <a:rPr lang="ko-KR" altLang="en-US" dirty="0"/>
              <a:t>혁신적 발명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-&gt; Δ</a:t>
            </a:r>
            <a:r>
              <a:rPr lang="ko-KR" altLang="en-US" dirty="0"/>
              <a:t>사회후생 </a:t>
            </a:r>
            <a:r>
              <a:rPr lang="en-US" altLang="ko-KR" dirty="0"/>
              <a:t>&gt; ΔDWL</a:t>
            </a:r>
          </a:p>
          <a:p>
            <a:pPr lvl="2"/>
            <a:r>
              <a:rPr lang="ko-KR" altLang="en-US" dirty="0"/>
              <a:t>결론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대규모 혁신 </a:t>
            </a:r>
            <a:r>
              <a:rPr lang="en-US" altLang="ko-KR" dirty="0"/>
              <a:t>-&gt; </a:t>
            </a:r>
            <a:r>
              <a:rPr lang="ko-KR" altLang="en-US" dirty="0"/>
              <a:t>가격인하</a:t>
            </a:r>
            <a:r>
              <a:rPr lang="en-US" altLang="ko-KR" dirty="0"/>
              <a:t>; </a:t>
            </a:r>
            <a:r>
              <a:rPr lang="ko-KR" altLang="en-US" dirty="0"/>
              <a:t>소규모 혁신 </a:t>
            </a:r>
            <a:r>
              <a:rPr lang="en-US" altLang="ko-KR" dirty="0"/>
              <a:t>-&gt; </a:t>
            </a:r>
            <a:r>
              <a:rPr lang="ko-KR" altLang="en-US" dirty="0"/>
              <a:t>가격인하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ko-KR" altLang="en-US" dirty="0"/>
              <a:t>대규모 혁신의 경우 특정 상황에서 적정 특허기간이 무한대 가능</a:t>
            </a:r>
            <a:endParaRPr lang="en-US" altLang="ko-KR" dirty="0"/>
          </a:p>
          <a:p>
            <a:r>
              <a:rPr lang="ko-KR" altLang="en-US" dirty="0"/>
              <a:t>최적 특허의 범위</a:t>
            </a:r>
            <a:endParaRPr lang="en-US" altLang="ko-KR" dirty="0"/>
          </a:p>
          <a:p>
            <a:pPr lvl="1"/>
            <a:r>
              <a:rPr lang="ko-KR" altLang="en-US" dirty="0"/>
              <a:t>특허의 범위 </a:t>
            </a:r>
            <a:r>
              <a:rPr lang="en-US" altLang="ko-KR" dirty="0"/>
              <a:t>: 1) </a:t>
            </a:r>
            <a:r>
              <a:rPr lang="ko-KR" altLang="en-US" dirty="0"/>
              <a:t>제품이 얼마나 유사한지</a:t>
            </a:r>
            <a:r>
              <a:rPr lang="en-US" altLang="ko-KR" dirty="0"/>
              <a:t>? 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침해</a:t>
            </a:r>
            <a:r>
              <a:rPr lang="en-US" altLang="ko-KR" dirty="0"/>
              <a:t>X, </a:t>
            </a:r>
            <a:r>
              <a:rPr lang="ko-KR" altLang="en-US" dirty="0"/>
              <a:t>대체상품을</a:t>
            </a:r>
            <a:r>
              <a:rPr lang="en-US" altLang="ko-KR" dirty="0"/>
              <a:t> </a:t>
            </a:r>
            <a:r>
              <a:rPr lang="ko-KR" altLang="en-US" dirty="0"/>
              <a:t>개발하기 위해 </a:t>
            </a:r>
            <a:br>
              <a:rPr lang="en-US" altLang="ko-KR" dirty="0"/>
            </a:br>
            <a:r>
              <a:rPr lang="ko-KR" altLang="en-US" dirty="0"/>
              <a:t>얼마나 많은 비용 들어가는지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제품</a:t>
            </a:r>
            <a:r>
              <a:rPr lang="en-US" altLang="ko-KR" dirty="0"/>
              <a:t>A : </a:t>
            </a:r>
            <a:r>
              <a:rPr lang="ko-KR" altLang="en-US" dirty="0"/>
              <a:t>특허범위</a:t>
            </a:r>
            <a:r>
              <a:rPr lang="en-US" altLang="ko-KR" dirty="0"/>
              <a:t> </a:t>
            </a:r>
            <a:r>
              <a:rPr lang="ko-KR" altLang="en-US" dirty="0"/>
              <a:t>좁게</a:t>
            </a:r>
            <a:r>
              <a:rPr lang="en-US" altLang="ko-KR" dirty="0"/>
              <a:t>, </a:t>
            </a:r>
            <a:r>
              <a:rPr lang="ko-KR" altLang="en-US" dirty="0"/>
              <a:t>큰 진보성 요구</a:t>
            </a:r>
            <a:endParaRPr lang="en-US" altLang="ko-KR" dirty="0"/>
          </a:p>
          <a:p>
            <a:pPr lvl="2"/>
            <a:r>
              <a:rPr lang="ko-KR" altLang="en-US" dirty="0" err="1"/>
              <a:t>안쪽원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특허의 권리보호범위</a:t>
            </a:r>
            <a:r>
              <a:rPr lang="en-US" altLang="ko-KR" dirty="0"/>
              <a:t>, </a:t>
            </a:r>
            <a:r>
              <a:rPr lang="ko-KR" altLang="en-US" dirty="0"/>
              <a:t>특허 침해한 대체상품 포함</a:t>
            </a:r>
            <a:endParaRPr lang="en-US" altLang="ko-KR" dirty="0"/>
          </a:p>
          <a:p>
            <a:pPr lvl="2"/>
            <a:r>
              <a:rPr lang="ko-KR" altLang="en-US" dirty="0" err="1"/>
              <a:t>바깥원</a:t>
            </a:r>
            <a:r>
              <a:rPr lang="ko-KR" altLang="en-US" dirty="0"/>
              <a:t> </a:t>
            </a:r>
            <a:r>
              <a:rPr lang="en-US" altLang="ko-KR" dirty="0"/>
              <a:t>= A</a:t>
            </a:r>
            <a:r>
              <a:rPr lang="ko-KR" altLang="en-US" dirty="0"/>
              <a:t>제품과 유사한 선행기술</a:t>
            </a:r>
            <a:r>
              <a:rPr lang="en-US" altLang="ko-KR" dirty="0"/>
              <a:t>, </a:t>
            </a:r>
            <a:r>
              <a:rPr lang="ko-KR" altLang="en-US" dirty="0"/>
              <a:t>진보성</a:t>
            </a:r>
            <a:r>
              <a:rPr lang="en-US" altLang="ko-KR" dirty="0"/>
              <a:t>X</a:t>
            </a:r>
            <a:r>
              <a:rPr lang="ko-KR" altLang="en-US" dirty="0"/>
              <a:t>인 대체상품</a:t>
            </a:r>
            <a:endParaRPr lang="en-US" altLang="ko-KR" dirty="0"/>
          </a:p>
          <a:p>
            <a:pPr lvl="1"/>
            <a:r>
              <a:rPr lang="ko-KR" altLang="en-US" dirty="0"/>
              <a:t>제품</a:t>
            </a:r>
            <a:r>
              <a:rPr lang="en-US" altLang="ko-KR" dirty="0"/>
              <a:t>B : </a:t>
            </a:r>
            <a:r>
              <a:rPr lang="ko-KR" altLang="en-US" dirty="0"/>
              <a:t>특허 넓게</a:t>
            </a:r>
            <a:r>
              <a:rPr lang="en-US" altLang="ko-KR" dirty="0"/>
              <a:t>, </a:t>
            </a:r>
            <a:r>
              <a:rPr lang="ko-KR" altLang="en-US" dirty="0"/>
              <a:t>낮은 진보성</a:t>
            </a:r>
            <a:endParaRPr lang="en-US" altLang="ko-KR" dirty="0"/>
          </a:p>
          <a:p>
            <a:pPr lvl="2"/>
            <a:r>
              <a:rPr lang="ko-KR" altLang="en-US" dirty="0"/>
              <a:t>안쪽 </a:t>
            </a:r>
            <a:r>
              <a:rPr lang="en-US" altLang="ko-KR" dirty="0"/>
              <a:t>: </a:t>
            </a:r>
            <a:r>
              <a:rPr lang="ko-KR" altLang="en-US" dirty="0"/>
              <a:t>선행기술 </a:t>
            </a:r>
            <a:r>
              <a:rPr lang="en-US" altLang="ko-KR" dirty="0"/>
              <a:t>-&gt; </a:t>
            </a:r>
            <a:r>
              <a:rPr lang="ko-KR" altLang="en-US" dirty="0" err="1"/>
              <a:t>특허성</a:t>
            </a:r>
            <a:r>
              <a:rPr lang="ko-KR" altLang="en-US" dirty="0"/>
              <a:t> 금지된 대체상품</a:t>
            </a:r>
            <a:r>
              <a:rPr lang="en-US" altLang="ko-KR" dirty="0"/>
              <a:t>, </a:t>
            </a:r>
            <a:r>
              <a:rPr lang="ko-KR" altLang="en-US" dirty="0"/>
              <a:t>바깥 </a:t>
            </a:r>
            <a:r>
              <a:rPr lang="en-US" altLang="ko-KR" dirty="0"/>
              <a:t>: </a:t>
            </a:r>
            <a:r>
              <a:rPr lang="ko-KR" altLang="en-US" dirty="0"/>
              <a:t>특허를 침해한 제품</a:t>
            </a:r>
            <a:endParaRPr lang="en-US" altLang="ko-KR" dirty="0"/>
          </a:p>
          <a:p>
            <a:pPr lvl="2"/>
            <a:r>
              <a:rPr lang="ko-KR" altLang="en-US" dirty="0"/>
              <a:t>차단특허</a:t>
            </a:r>
            <a:r>
              <a:rPr lang="en-US" altLang="ko-KR" dirty="0"/>
              <a:t>(blocking patent) </a:t>
            </a:r>
            <a:r>
              <a:rPr lang="ko-KR" altLang="en-US" dirty="0"/>
              <a:t>발생 가능성 있는 제품</a:t>
            </a:r>
            <a:r>
              <a:rPr lang="en-US" altLang="ko-KR" dirty="0"/>
              <a:t>(</a:t>
            </a:r>
            <a:r>
              <a:rPr lang="ko-KR" altLang="en-US" dirty="0"/>
              <a:t>특허</a:t>
            </a:r>
            <a:r>
              <a:rPr lang="en-US" altLang="ko-KR" dirty="0"/>
              <a:t>O. but, </a:t>
            </a:r>
            <a:r>
              <a:rPr lang="ko-KR" altLang="en-US" dirty="0"/>
              <a:t>특허침해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B</a:t>
            </a:r>
            <a:r>
              <a:rPr lang="ko-KR" altLang="en-US" dirty="0"/>
              <a:t>의 특허침해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-&gt; B</a:t>
            </a:r>
            <a:r>
              <a:rPr lang="ko-KR" altLang="en-US" dirty="0"/>
              <a:t>의 소유주로 인해 차단 </a:t>
            </a:r>
            <a:r>
              <a:rPr lang="en-US" altLang="ko-KR" dirty="0"/>
              <a:t>-&gt; B</a:t>
            </a:r>
            <a:r>
              <a:rPr lang="ko-KR" altLang="en-US" dirty="0"/>
              <a:t>로부터 라이선스 필요</a:t>
            </a:r>
            <a:endParaRPr lang="en-US" altLang="ko-KR" dirty="0"/>
          </a:p>
          <a:p>
            <a:pPr lvl="1"/>
            <a:r>
              <a:rPr lang="ko-KR" altLang="en-US" dirty="0"/>
              <a:t>메이저</a:t>
            </a:r>
            <a:r>
              <a:rPr lang="en-US" altLang="ko-KR" dirty="0"/>
              <a:t> -&gt; </a:t>
            </a:r>
            <a:r>
              <a:rPr lang="ko-KR" altLang="en-US" dirty="0"/>
              <a:t>레이저 순으로 기술 개발</a:t>
            </a:r>
            <a:r>
              <a:rPr lang="en-US" altLang="ko-KR" dirty="0"/>
              <a:t>; </a:t>
            </a:r>
            <a:r>
              <a:rPr lang="ko-KR" altLang="en-US" dirty="0"/>
              <a:t>메</a:t>
            </a:r>
            <a:r>
              <a:rPr lang="en-US" altLang="ko-KR" dirty="0"/>
              <a:t>-&gt;</a:t>
            </a:r>
            <a:r>
              <a:rPr lang="ko-KR" altLang="en-US" dirty="0"/>
              <a:t>레 한테 특허 소송</a:t>
            </a:r>
            <a:r>
              <a:rPr lang="en-US" altLang="ko-KR" dirty="0"/>
              <a:t>. </a:t>
            </a:r>
            <a:r>
              <a:rPr lang="ko-KR" altLang="en-US" dirty="0"/>
              <a:t>라이선스 합의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ko-KR" altLang="en-US" dirty="0"/>
              <a:t>메 </a:t>
            </a:r>
            <a:r>
              <a:rPr lang="en-US" altLang="ko-KR" dirty="0"/>
              <a:t>-&gt; </a:t>
            </a:r>
            <a:r>
              <a:rPr lang="ko-KR" altLang="en-US" dirty="0"/>
              <a:t>기술</a:t>
            </a:r>
            <a:r>
              <a:rPr lang="en-US" altLang="ko-KR" dirty="0"/>
              <a:t>B, </a:t>
            </a:r>
            <a:r>
              <a:rPr lang="ko-KR" altLang="en-US" dirty="0"/>
              <a:t>레 </a:t>
            </a:r>
            <a:r>
              <a:rPr lang="en-US" altLang="ko-KR" dirty="0"/>
              <a:t>-&gt; </a:t>
            </a:r>
            <a:r>
              <a:rPr lang="ko-KR" altLang="en-US" dirty="0"/>
              <a:t>기술</a:t>
            </a:r>
            <a:r>
              <a:rPr lang="en-US" altLang="ko-KR" dirty="0"/>
              <a:t> A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2C8A9E-1238-A5E1-7CAF-D9CD576890B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특허권 보장 쟁점 </a:t>
            </a:r>
            <a:r>
              <a:rPr lang="en-US" altLang="ko-KR" dirty="0"/>
              <a:t>: </a:t>
            </a:r>
            <a:r>
              <a:rPr lang="ko-KR" altLang="en-US" dirty="0"/>
              <a:t>얼마나 길게</a:t>
            </a:r>
            <a:r>
              <a:rPr lang="en-US" altLang="ko-KR" dirty="0"/>
              <a:t>/</a:t>
            </a:r>
            <a:r>
              <a:rPr lang="ko-KR" altLang="en-US" dirty="0"/>
              <a:t>넓게 인정</a:t>
            </a:r>
            <a:r>
              <a:rPr lang="en-US" altLang="ko-KR" dirty="0"/>
              <a:t>? → </a:t>
            </a:r>
            <a:r>
              <a:rPr lang="ko-KR" altLang="en-US" dirty="0"/>
              <a:t>최적기간은 기술 특성에 따라 다르다</a:t>
            </a:r>
            <a:endParaRPr lang="en-US" altLang="ko-KR" dirty="0"/>
          </a:p>
          <a:p>
            <a:r>
              <a:rPr lang="en-US" altLang="ko-KR" dirty="0"/>
              <a:t>Minor/major IV</a:t>
            </a:r>
            <a:r>
              <a:rPr lang="ko-KR" altLang="en-US" dirty="0"/>
              <a:t>의                                                                        </a:t>
            </a:r>
            <a:r>
              <a:rPr lang="en-US" altLang="ko-KR" dirty="0"/>
              <a:t>- </a:t>
            </a:r>
            <a:r>
              <a:rPr lang="ko-KR" altLang="en-US" dirty="0"/>
              <a:t>최적특허</a:t>
            </a:r>
            <a:r>
              <a:rPr lang="en-US" altLang="ko-KR" dirty="0"/>
              <a:t> </a:t>
            </a:r>
            <a:r>
              <a:rPr lang="ko-KR" altLang="en-US" dirty="0"/>
              <a:t>범위</a:t>
            </a:r>
            <a:br>
              <a:rPr lang="en-US" altLang="ko-KR" dirty="0"/>
            </a:br>
            <a:r>
              <a:rPr lang="ko-KR" altLang="en-US" dirty="0" err="1"/>
              <a:t>최적특허기간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F149987-552B-8C8D-D6CD-836D2023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67"/>
          <a:stretch/>
        </p:blipFill>
        <p:spPr>
          <a:xfrm>
            <a:off x="4363447" y="956556"/>
            <a:ext cx="2449928" cy="169218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8A20261-FF77-91E4-60E4-C947ACB56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337" y="3008784"/>
            <a:ext cx="2079383" cy="17641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E04278-F7F2-9F25-DC11-917730B89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399" y="5241032"/>
            <a:ext cx="2304255" cy="10885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49F9760-EBD6-19A6-A627-B555CBE49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337" y="8801966"/>
            <a:ext cx="1728192" cy="8164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4F3B97D-4AD4-9F6A-23BD-ED9553C14A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67"/>
          <a:stretch/>
        </p:blipFill>
        <p:spPr>
          <a:xfrm>
            <a:off x="1412776" y="8444824"/>
            <a:ext cx="1678774" cy="115954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DCB805A-987F-9676-F6E1-906890C88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271" y="8444824"/>
            <a:ext cx="1424864" cy="120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032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DCD6E31-204B-81FB-DB18-EFA9B6EAF1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75C0251-50C2-0D66-11CA-5B287DCD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특허권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329B55-C58D-025F-E433-5FC36BBC0F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4A3D8A9-F155-72D3-B456-9B3260922C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이윤의 구조화 </a:t>
            </a:r>
            <a:r>
              <a:rPr lang="en-US" altLang="ko-KR" dirty="0"/>
              <a:t>: </a:t>
            </a:r>
            <a:r>
              <a:rPr lang="ko-KR" altLang="en-US" dirty="0"/>
              <a:t>특허의 길이와 범위</a:t>
            </a:r>
            <a:endParaRPr lang="en-US" altLang="ko-KR" dirty="0"/>
          </a:p>
          <a:p>
            <a:pPr lvl="1"/>
            <a:r>
              <a:rPr lang="ko-KR" altLang="en-US" dirty="0"/>
              <a:t>특허의 최적 기간 </a:t>
            </a:r>
            <a:r>
              <a:rPr lang="en-US" altLang="ko-KR" dirty="0"/>
              <a:t>: </a:t>
            </a:r>
            <a:r>
              <a:rPr lang="ko-KR" altLang="en-US" dirty="0"/>
              <a:t>후속 기술들이 이전 기술에 영향</a:t>
            </a:r>
            <a:r>
              <a:rPr lang="en-US" altLang="ko-KR" dirty="0"/>
              <a:t>; </a:t>
            </a:r>
            <a:r>
              <a:rPr lang="ko-KR" altLang="en-US" dirty="0"/>
              <a:t>발명가의</a:t>
            </a:r>
            <a:br>
              <a:rPr lang="en-US" altLang="ko-KR" dirty="0"/>
            </a:br>
            <a:r>
              <a:rPr lang="ko-KR" altLang="en-US" dirty="0"/>
              <a:t> 이익 𝜆</a:t>
            </a:r>
            <a:r>
              <a:rPr lang="en-US" altLang="ko-KR" dirty="0"/>
              <a:t>, </a:t>
            </a:r>
            <a:r>
              <a:rPr lang="ko-KR" altLang="en-US" dirty="0"/>
              <a:t>시간선호율 </a:t>
            </a:r>
            <a:r>
              <a:rPr lang="en-US" altLang="ko-KR" dirty="0"/>
              <a:t>r, </a:t>
            </a:r>
            <a:r>
              <a:rPr lang="ko-KR" altLang="en-US" dirty="0"/>
              <a:t>비용 </a:t>
            </a:r>
            <a:r>
              <a:rPr lang="en-US" altLang="ko-KR" dirty="0"/>
              <a:t>c</a:t>
            </a:r>
            <a:r>
              <a:rPr lang="ko-KR" altLang="en-US" dirty="0"/>
              <a:t>에 대해 </a:t>
            </a:r>
            <a:r>
              <a:rPr lang="en-US" altLang="ko-KR" dirty="0"/>
              <a:t>-&gt; </a:t>
            </a:r>
            <a:r>
              <a:rPr lang="ko-KR" altLang="en-US" dirty="0"/>
              <a:t>기술의 현재가치</a:t>
            </a:r>
            <a:r>
              <a:rPr lang="en-US" altLang="ko-KR" dirty="0"/>
              <a:t>= </a:t>
            </a:r>
            <a:r>
              <a:rPr lang="ko-KR" altLang="en-US" dirty="0"/>
              <a:t>𝜆</a:t>
            </a:r>
            <a:r>
              <a:rPr lang="en-US" altLang="ko-KR" dirty="0"/>
              <a:t>/</a:t>
            </a:r>
            <a:r>
              <a:rPr lang="ko-KR" altLang="en-US" dirty="0"/>
              <a:t>𝑟</a:t>
            </a:r>
            <a:br>
              <a:rPr lang="en-US" altLang="ko-KR" dirty="0"/>
            </a:br>
            <a:r>
              <a:rPr lang="en-US" altLang="ko-KR" dirty="0"/>
              <a:t> -&gt; r &lt;1, </a:t>
            </a:r>
            <a:r>
              <a:rPr lang="ko-KR" altLang="en-US" dirty="0"/>
              <a:t>𝜆 </a:t>
            </a:r>
            <a:r>
              <a:rPr lang="en-US" altLang="ko-KR" dirty="0"/>
              <a:t>&lt; </a:t>
            </a:r>
            <a:r>
              <a:rPr lang="ko-KR" altLang="en-US" dirty="0"/>
              <a:t>𝐶 이면 </a:t>
            </a:r>
            <a:r>
              <a:rPr lang="en-US" altLang="ko-KR" dirty="0"/>
              <a:t>SV &gt; C</a:t>
            </a:r>
            <a:r>
              <a:rPr lang="ko-KR" altLang="en-US" dirty="0"/>
              <a:t>여도 기술혁신 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후속 기술이 특허침해</a:t>
            </a:r>
            <a:r>
              <a:rPr lang="en-US" altLang="ko-KR" dirty="0"/>
              <a:t>O </a:t>
            </a:r>
            <a:r>
              <a:rPr lang="ko-KR" altLang="en-US" dirty="0"/>
              <a:t>정도로 넓은 특허 왜</a:t>
            </a:r>
            <a:r>
              <a:rPr lang="en-US" altLang="ko-KR" dirty="0"/>
              <a:t>? </a:t>
            </a:r>
            <a:r>
              <a:rPr lang="ko-KR" altLang="en-US" dirty="0" err="1"/>
              <a:t>초기발명가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 err="1"/>
              <a:t>라이센싱</a:t>
            </a:r>
            <a:r>
              <a:rPr lang="en-US" altLang="ko-KR" dirty="0"/>
              <a:t>. </a:t>
            </a:r>
            <a:r>
              <a:rPr lang="ko-KR" altLang="en-US" dirty="0"/>
              <a:t>이윤 나눔</a:t>
            </a:r>
            <a:endParaRPr lang="en-US" altLang="ko-KR" dirty="0"/>
          </a:p>
          <a:p>
            <a:pPr lvl="1"/>
            <a:r>
              <a:rPr lang="ko-KR" altLang="en-US" dirty="0"/>
              <a:t>누적적 기술 </a:t>
            </a:r>
            <a:r>
              <a:rPr lang="en-US" altLang="ko-KR" dirty="0"/>
              <a:t>: </a:t>
            </a:r>
            <a:r>
              <a:rPr lang="ko-KR" altLang="en-US" dirty="0"/>
              <a:t>축적</a:t>
            </a:r>
            <a:r>
              <a:rPr lang="en-US" altLang="ko-KR" dirty="0"/>
              <a:t>-&gt;</a:t>
            </a:r>
            <a:r>
              <a:rPr lang="ko-KR" altLang="en-US" dirty="0"/>
              <a:t>기술 발전</a:t>
            </a:r>
            <a:r>
              <a:rPr lang="en-US" altLang="ko-KR" dirty="0"/>
              <a:t>(</a:t>
            </a:r>
            <a:r>
              <a:rPr lang="ko-KR" altLang="en-US" dirty="0"/>
              <a:t>전자</a:t>
            </a:r>
            <a:r>
              <a:rPr lang="en-US" altLang="ko-KR" dirty="0"/>
              <a:t>/IT..); </a:t>
            </a:r>
            <a:r>
              <a:rPr lang="ko-KR" altLang="en-US" dirty="0"/>
              <a:t>독립적 기술 </a:t>
            </a:r>
            <a:r>
              <a:rPr lang="en-US" altLang="ko-KR" dirty="0"/>
              <a:t>: </a:t>
            </a:r>
            <a:r>
              <a:rPr lang="ko-KR" altLang="en-US" dirty="0"/>
              <a:t>각 기술 독립적</a:t>
            </a:r>
            <a:r>
              <a:rPr lang="en-US" altLang="ko-KR" dirty="0"/>
              <a:t>/</a:t>
            </a:r>
            <a:r>
              <a:rPr lang="ko-KR" altLang="en-US" dirty="0" err="1"/>
              <a:t>완결적</a:t>
            </a:r>
            <a:r>
              <a:rPr lang="en-US" altLang="ko-KR" dirty="0"/>
              <a:t>,(</a:t>
            </a:r>
            <a:r>
              <a:rPr lang="ko-KR" altLang="en-US" dirty="0"/>
              <a:t>화학</a:t>
            </a:r>
            <a:r>
              <a:rPr lang="en-US" altLang="ko-KR" dirty="0"/>
              <a:t>/</a:t>
            </a:r>
            <a:r>
              <a:rPr lang="ko-KR" altLang="en-US" dirty="0"/>
              <a:t>제약</a:t>
            </a:r>
            <a:r>
              <a:rPr lang="en-US" altLang="ko-KR" dirty="0"/>
              <a:t>/</a:t>
            </a:r>
            <a:r>
              <a:rPr lang="ko-KR" altLang="en-US" dirty="0"/>
              <a:t>생명공학</a:t>
            </a:r>
            <a:r>
              <a:rPr lang="en-US" altLang="ko-KR" dirty="0"/>
              <a:t>) -&gt; (</a:t>
            </a:r>
            <a:r>
              <a:rPr lang="ko-KR" altLang="en-US" dirty="0"/>
              <a:t>누적적</a:t>
            </a:r>
            <a:r>
              <a:rPr lang="en-US" altLang="ko-KR" dirty="0"/>
              <a:t>)</a:t>
            </a:r>
            <a:r>
              <a:rPr lang="ko-KR" altLang="en-US" dirty="0"/>
              <a:t>처음 개발</a:t>
            </a:r>
            <a:r>
              <a:rPr lang="en-US" altLang="ko-KR" dirty="0"/>
              <a:t>? -&gt; </a:t>
            </a:r>
            <a:r>
              <a:rPr lang="ko-KR" altLang="en-US" dirty="0"/>
              <a:t>범위 ↑</a:t>
            </a:r>
            <a:r>
              <a:rPr lang="en-US" altLang="ko-KR" dirty="0"/>
              <a:t>,</a:t>
            </a:r>
            <a:r>
              <a:rPr lang="ko-KR" altLang="en-US" dirty="0"/>
              <a:t>강한 특허</a:t>
            </a:r>
            <a:r>
              <a:rPr lang="en-US" altLang="ko-KR" dirty="0"/>
              <a:t>; </a:t>
            </a:r>
            <a:r>
              <a:rPr lang="ko-KR" altLang="en-US" dirty="0"/>
              <a:t>후속 연구가 불이익 상쇄</a:t>
            </a:r>
            <a:r>
              <a:rPr lang="en-US" altLang="ko-KR" dirty="0"/>
              <a:t>, </a:t>
            </a:r>
            <a:r>
              <a:rPr lang="ko-KR" altLang="en-US" dirty="0"/>
              <a:t>전반적 기술촉진</a:t>
            </a:r>
            <a:endParaRPr lang="en-US" altLang="ko-KR" dirty="0"/>
          </a:p>
          <a:p>
            <a:r>
              <a:rPr lang="en-US" altLang="ko-KR" dirty="0"/>
              <a:t>Patent race : Optimal Number of firm</a:t>
            </a:r>
          </a:p>
          <a:p>
            <a:pPr lvl="1"/>
            <a:r>
              <a:rPr lang="en-US" altLang="ko-KR" dirty="0"/>
              <a:t>Patent</a:t>
            </a:r>
            <a:r>
              <a:rPr lang="ko-KR" altLang="en-US" dirty="0"/>
              <a:t> </a:t>
            </a:r>
            <a:r>
              <a:rPr lang="en-US" altLang="ko-KR" dirty="0"/>
              <a:t>race : </a:t>
            </a:r>
            <a:r>
              <a:rPr lang="ko-KR" altLang="en-US" dirty="0"/>
              <a:t>최적</a:t>
            </a:r>
            <a:r>
              <a:rPr lang="en-US" altLang="ko-KR" dirty="0"/>
              <a:t> </a:t>
            </a:r>
            <a:r>
              <a:rPr lang="ko-KR" altLang="en-US" dirty="0"/>
              <a:t>투자</a:t>
            </a:r>
            <a:r>
              <a:rPr lang="en-US" altLang="ko-KR" dirty="0"/>
              <a:t>/</a:t>
            </a:r>
            <a:r>
              <a:rPr lang="ko-KR" altLang="en-US" dirty="0"/>
              <a:t>연구</a:t>
            </a:r>
            <a:r>
              <a:rPr lang="en-US" altLang="ko-KR" dirty="0"/>
              <a:t>? </a:t>
            </a:r>
            <a:r>
              <a:rPr lang="ko-KR" altLang="en-US" dirty="0"/>
              <a:t>얼마나 많은 기업 참여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 (</a:t>
            </a:r>
            <a:r>
              <a:rPr lang="ko-KR" altLang="en-US" dirty="0"/>
              <a:t>중복투자</a:t>
            </a:r>
            <a:r>
              <a:rPr lang="en-US" altLang="ko-KR" dirty="0"/>
              <a:t>X, </a:t>
            </a:r>
            <a:r>
              <a:rPr lang="ko-KR" altLang="en-US" dirty="0"/>
              <a:t>적정 참여자 수</a:t>
            </a:r>
            <a:r>
              <a:rPr lang="en-US" altLang="ko-KR" dirty="0"/>
              <a:t>?)</a:t>
            </a:r>
          </a:p>
          <a:p>
            <a:pPr lvl="2"/>
            <a:r>
              <a:rPr lang="en-US" altLang="ko-KR" dirty="0"/>
              <a:t>v=</a:t>
            </a:r>
            <a:r>
              <a:rPr lang="ko-KR" altLang="en-US" dirty="0"/>
              <a:t>목표</a:t>
            </a:r>
            <a:r>
              <a:rPr lang="en-US" altLang="ko-KR" dirty="0"/>
              <a:t> </a:t>
            </a:r>
            <a:r>
              <a:rPr lang="ko-KR" altLang="en-US" dirty="0"/>
              <a:t>달성에 따른 보상</a:t>
            </a:r>
            <a:r>
              <a:rPr lang="en-US" altLang="ko-KR" dirty="0"/>
              <a:t>/</a:t>
            </a:r>
            <a:r>
              <a:rPr lang="ko-KR" altLang="en-US" dirty="0"/>
              <a:t>가치</a:t>
            </a:r>
            <a:r>
              <a:rPr lang="en-US" altLang="ko-KR" dirty="0"/>
              <a:t>, c = </a:t>
            </a:r>
            <a:r>
              <a:rPr lang="ko-KR" altLang="en-US" dirty="0"/>
              <a:t>연구비용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p = </a:t>
            </a:r>
            <a:r>
              <a:rPr lang="ko-KR" altLang="en-US" dirty="0"/>
              <a:t>개별연구의 실패확률</a:t>
            </a:r>
            <a:r>
              <a:rPr lang="en-US" altLang="ko-KR" dirty="0"/>
              <a:t>; -&gt; </a:t>
            </a:r>
            <a:r>
              <a:rPr lang="ko-KR" altLang="en-US" dirty="0"/>
              <a:t>아이디어의</a:t>
            </a:r>
            <a:r>
              <a:rPr lang="en-US" altLang="ko-KR" dirty="0"/>
              <a:t> </a:t>
            </a:r>
            <a:r>
              <a:rPr lang="ko-KR" altLang="en-US" dirty="0"/>
              <a:t>성공확률 </a:t>
            </a:r>
            <a:r>
              <a:rPr lang="en-US" altLang="ko-KR" dirty="0"/>
              <a:t>=</a:t>
            </a:r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n</a:t>
            </a:r>
            <a:r>
              <a:rPr lang="ko-KR" altLang="en-US" dirty="0"/>
              <a:t>에 대해 기업의 기대 이윤 </a:t>
            </a:r>
            <a:r>
              <a:rPr lang="en-US" altLang="ko-KR" dirty="0"/>
              <a:t>= </a:t>
            </a:r>
            <a:r>
              <a:rPr lang="el-GR" altLang="ko-KR" dirty="0"/>
              <a:t>(1</a:t>
            </a:r>
            <a:r>
              <a:rPr lang="en-US" altLang="ko-KR" dirty="0"/>
              <a:t>/</a:t>
            </a:r>
            <a:r>
              <a:rPr lang="ko-KR" altLang="el-GR" dirty="0"/>
              <a:t>𝑛</a:t>
            </a:r>
            <a:r>
              <a:rPr lang="el-GR" altLang="ko-KR" dirty="0"/>
              <a:t>)Π</a:t>
            </a:r>
            <a:r>
              <a:rPr lang="ko-KR" altLang="el-GR" dirty="0"/>
              <a:t>𝑃</a:t>
            </a:r>
            <a:r>
              <a:rPr lang="el-GR" altLang="ko-KR" dirty="0"/>
              <a:t>(</a:t>
            </a:r>
            <a:r>
              <a:rPr lang="ko-KR" altLang="el-GR" dirty="0"/>
              <a:t>𝑛</a:t>
            </a:r>
            <a:r>
              <a:rPr lang="el-GR" altLang="ko-KR" dirty="0"/>
              <a:t>)</a:t>
            </a:r>
            <a:r>
              <a:rPr lang="en-US" altLang="ko-KR" dirty="0"/>
              <a:t>; </a:t>
            </a:r>
            <a:r>
              <a:rPr lang="ko-KR" altLang="en-US" dirty="0"/>
              <a:t>추가 기업이 이윤</a:t>
            </a:r>
            <a:r>
              <a:rPr lang="en-US" altLang="ko-KR" dirty="0"/>
              <a:t>X </a:t>
            </a:r>
            <a:r>
              <a:rPr lang="ko-KR" altLang="en-US" dirty="0"/>
              <a:t>까지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균형상태에서 참여자의 기대이윤 </a:t>
            </a:r>
            <a:r>
              <a:rPr lang="en-US" altLang="ko-KR" dirty="0"/>
              <a:t>= 0 -&gt; ne(</a:t>
            </a:r>
            <a:r>
              <a:rPr lang="ko-KR" altLang="en-US" dirty="0"/>
              <a:t>균형상태의 참여자수</a:t>
            </a:r>
            <a:r>
              <a:rPr lang="en-US" altLang="ko-KR" dirty="0"/>
              <a:t>)</a:t>
            </a:r>
            <a:r>
              <a:rPr lang="ko-KR" altLang="en-US" dirty="0"/>
              <a:t>를 조정 </a:t>
            </a:r>
            <a:endParaRPr lang="en-US" altLang="ko-KR" dirty="0"/>
          </a:p>
          <a:p>
            <a:pPr lvl="2"/>
            <a:r>
              <a:rPr lang="ko-KR" altLang="en-US" dirty="0"/>
              <a:t>균형상태의 기업 수는 사회적 최적</a:t>
            </a:r>
            <a:r>
              <a:rPr lang="en-US" altLang="ko-KR" dirty="0"/>
              <a:t> X :  n</a:t>
            </a:r>
            <a:r>
              <a:rPr lang="ko-KR" altLang="en-US" dirty="0"/>
              <a:t>번째 참여자가 기여하는 사회적가치</a:t>
            </a:r>
            <a:br>
              <a:rPr lang="en-US" altLang="ko-KR" dirty="0"/>
            </a:br>
            <a:r>
              <a:rPr lang="en-US" altLang="ko-KR" dirty="0"/>
              <a:t>	                </a:t>
            </a:r>
            <a:r>
              <a:rPr lang="ko-KR" altLang="en-US" dirty="0"/>
              <a:t>에 대해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n*</a:t>
            </a:r>
            <a:r>
              <a:rPr lang="ko-KR" altLang="en-US" dirty="0"/>
              <a:t>에서 </a:t>
            </a:r>
            <a:r>
              <a:rPr lang="en-US" altLang="ko-KR" dirty="0"/>
              <a:t>(</a:t>
            </a:r>
            <a:r>
              <a:rPr lang="ko-KR" altLang="en-US" dirty="0"/>
              <a:t>추가 참가자에 의한 </a:t>
            </a:r>
            <a:r>
              <a:rPr lang="en-US" altLang="ko-KR" dirty="0"/>
              <a:t>SW </a:t>
            </a:r>
            <a:r>
              <a:rPr lang="ko-KR" altLang="en-US" dirty="0"/>
              <a:t>증가분</a:t>
            </a:r>
            <a:r>
              <a:rPr lang="en-US" altLang="ko-KR" dirty="0"/>
              <a:t>) = C. but, n* </a:t>
            </a:r>
            <a:r>
              <a:rPr lang="ko-KR" altLang="en-US" dirty="0"/>
              <a:t>이후에선 </a:t>
            </a:r>
            <a:r>
              <a:rPr lang="en-US" altLang="ko-KR" dirty="0"/>
              <a:t>(</a:t>
            </a:r>
            <a:r>
              <a:rPr lang="ko-KR" altLang="en-US" dirty="0"/>
              <a:t>추가 참가자에 의한 </a:t>
            </a:r>
            <a:r>
              <a:rPr lang="en-US" altLang="ko-KR" dirty="0"/>
              <a:t>SW </a:t>
            </a:r>
            <a:r>
              <a:rPr lang="ko-KR" altLang="en-US" dirty="0"/>
              <a:t>증가분</a:t>
            </a:r>
            <a:r>
              <a:rPr lang="en-US" altLang="ko-KR" dirty="0"/>
              <a:t>) != C;</a:t>
            </a:r>
          </a:p>
          <a:p>
            <a:pPr lvl="2"/>
            <a:r>
              <a:rPr lang="ko-KR" altLang="en-US" dirty="0"/>
              <a:t>최적 참가자 수 </a:t>
            </a:r>
            <a:r>
              <a:rPr lang="en-US" altLang="ko-KR" dirty="0"/>
              <a:t>n* : P(n)S</a:t>
            </a:r>
            <a:r>
              <a:rPr lang="ko-KR" altLang="en-US" dirty="0"/>
              <a:t>와 </a:t>
            </a:r>
            <a:r>
              <a:rPr lang="en-US" altLang="ko-KR" dirty="0" err="1"/>
              <a:t>cn</a:t>
            </a:r>
            <a:r>
              <a:rPr lang="ko-KR" altLang="en-US" dirty="0"/>
              <a:t>의 차이가 극대화</a:t>
            </a:r>
            <a:r>
              <a:rPr lang="en-US" altLang="ko-KR" dirty="0"/>
              <a:t>. -&gt; </a:t>
            </a:r>
            <a:r>
              <a:rPr lang="ko-KR" altLang="en-US" dirty="0"/>
              <a:t>𝑷</a:t>
            </a:r>
            <a:r>
              <a:rPr lang="en-US" altLang="ko-KR" dirty="0"/>
              <a:t>(</a:t>
            </a:r>
            <a:r>
              <a:rPr lang="ko-KR" altLang="en-US" dirty="0"/>
              <a:t>𝒏∗</a:t>
            </a:r>
            <a:r>
              <a:rPr lang="en-US" altLang="ko-KR" dirty="0"/>
              <a:t>)</a:t>
            </a:r>
            <a:r>
              <a:rPr lang="ko-KR" altLang="en-US" dirty="0"/>
              <a:t> 𝚷 </a:t>
            </a:r>
            <a:r>
              <a:rPr lang="en-US" altLang="ko-KR" dirty="0"/>
              <a:t>= </a:t>
            </a:r>
            <a:r>
              <a:rPr lang="ko-KR" altLang="en-US" dirty="0"/>
              <a:t>𝒄𝒏∗ 에서 결정</a:t>
            </a:r>
            <a:endParaRPr lang="en-US" altLang="ko-KR" dirty="0"/>
          </a:p>
          <a:p>
            <a:r>
              <a:rPr lang="ko-KR" altLang="en-US" dirty="0"/>
              <a:t>특허소송과</a:t>
            </a:r>
            <a:r>
              <a:rPr lang="en-US" altLang="ko-KR" dirty="0"/>
              <a:t> </a:t>
            </a:r>
            <a:r>
              <a:rPr lang="ko-KR" altLang="en-US" dirty="0"/>
              <a:t>특허 풀</a:t>
            </a:r>
            <a:endParaRPr lang="en-US" altLang="ko-KR" dirty="0"/>
          </a:p>
          <a:p>
            <a:pPr lvl="1"/>
            <a:r>
              <a:rPr lang="en-US" altLang="ko-KR" dirty="0"/>
              <a:t>Patent trolls(NPE) : </a:t>
            </a:r>
            <a:r>
              <a:rPr lang="ko-KR" altLang="en-US" dirty="0"/>
              <a:t>제품</a:t>
            </a:r>
            <a:r>
              <a:rPr lang="en-US" altLang="ko-KR" dirty="0"/>
              <a:t>/</a:t>
            </a:r>
            <a:r>
              <a:rPr lang="ko-KR" altLang="en-US" dirty="0"/>
              <a:t>서비스 생산</a:t>
            </a:r>
            <a:r>
              <a:rPr lang="en-US" altLang="ko-KR" dirty="0"/>
              <a:t>X. </a:t>
            </a:r>
            <a:r>
              <a:rPr lang="ko-KR" altLang="en-US" dirty="0"/>
              <a:t>특허권</a:t>
            </a:r>
            <a:r>
              <a:rPr lang="en-US" altLang="ko-KR" dirty="0"/>
              <a:t> </a:t>
            </a:r>
            <a:r>
              <a:rPr lang="ko-KR" altLang="en-US" dirty="0"/>
              <a:t>침해 소송으로 이익 기업</a:t>
            </a:r>
            <a:endParaRPr lang="en-US" altLang="ko-KR" dirty="0"/>
          </a:p>
          <a:p>
            <a:pPr lvl="2"/>
            <a:r>
              <a:rPr lang="ko-KR" altLang="en-US" dirty="0"/>
              <a:t>잠수함 특허 </a:t>
            </a:r>
            <a:r>
              <a:rPr lang="en-US" altLang="ko-KR" dirty="0"/>
              <a:t>-&gt; </a:t>
            </a:r>
            <a:r>
              <a:rPr lang="ko-KR" altLang="en-US" dirty="0"/>
              <a:t>블로킹 특허</a:t>
            </a:r>
            <a:r>
              <a:rPr lang="en-US" altLang="ko-KR" dirty="0"/>
              <a:t>(</a:t>
            </a:r>
            <a:r>
              <a:rPr lang="ko-KR" altLang="en-US" dirty="0"/>
              <a:t>기술에</a:t>
            </a:r>
            <a:r>
              <a:rPr lang="en-US" altLang="ko-KR" dirty="0"/>
              <a:t> </a:t>
            </a:r>
            <a:r>
              <a:rPr lang="ko-KR" altLang="en-US" dirty="0"/>
              <a:t>필수적인 선행특허 확보</a:t>
            </a:r>
            <a:r>
              <a:rPr lang="en-US" altLang="ko-KR" dirty="0"/>
              <a:t>, </a:t>
            </a:r>
            <a:r>
              <a:rPr lang="ko-KR" altLang="en-US" dirty="0"/>
              <a:t>후발주자 시장진입</a:t>
            </a:r>
            <a:r>
              <a:rPr lang="en-US" altLang="ko-KR" dirty="0"/>
              <a:t>X) -&gt; hold</a:t>
            </a:r>
            <a:r>
              <a:rPr lang="ko-KR" altLang="en-US" dirty="0"/>
              <a:t> </a:t>
            </a:r>
            <a:r>
              <a:rPr lang="en-US" altLang="ko-KR" dirty="0"/>
              <a:t>up </a:t>
            </a:r>
            <a:r>
              <a:rPr lang="ko-KR" altLang="en-US" dirty="0"/>
              <a:t>전략</a:t>
            </a:r>
            <a:r>
              <a:rPr lang="en-US" altLang="ko-KR" dirty="0"/>
              <a:t> : </a:t>
            </a:r>
            <a:r>
              <a:rPr lang="ko-KR" altLang="en-US" dirty="0"/>
              <a:t>상대방을</a:t>
            </a:r>
            <a:r>
              <a:rPr lang="en-US" altLang="ko-KR" dirty="0"/>
              <a:t> </a:t>
            </a:r>
            <a:r>
              <a:rPr lang="ko-KR" altLang="en-US" dirty="0"/>
              <a:t>꼼짝</a:t>
            </a:r>
            <a:r>
              <a:rPr lang="en-US" altLang="ko-KR" dirty="0"/>
              <a:t>X.</a:t>
            </a:r>
            <a:r>
              <a:rPr lang="ko-KR" altLang="en-US" dirty="0"/>
              <a:t>협상력</a:t>
            </a:r>
            <a:r>
              <a:rPr lang="en-US" altLang="ko-KR" dirty="0"/>
              <a:t> </a:t>
            </a:r>
            <a:r>
              <a:rPr lang="ko-KR" altLang="en-US" dirty="0"/>
              <a:t>↑ </a:t>
            </a:r>
            <a:r>
              <a:rPr lang="en-US" altLang="ko-KR" dirty="0"/>
              <a:t>-&gt; </a:t>
            </a:r>
            <a:r>
              <a:rPr lang="ko-KR" altLang="en-US" dirty="0"/>
              <a:t>제조기업의 </a:t>
            </a:r>
            <a:r>
              <a:rPr lang="en-US" altLang="ko-KR" dirty="0"/>
              <a:t>patent Thicket </a:t>
            </a:r>
            <a:r>
              <a:rPr lang="ko-KR" altLang="en-US" dirty="0"/>
              <a:t>형성 </a:t>
            </a:r>
            <a:r>
              <a:rPr lang="en-US" altLang="ko-KR" dirty="0"/>
              <a:t>: </a:t>
            </a:r>
            <a:r>
              <a:rPr lang="ko-KR" altLang="en-US" dirty="0"/>
              <a:t>특허괴물의 공격 대비</a:t>
            </a:r>
            <a:r>
              <a:rPr lang="en-US" altLang="ko-KR" dirty="0"/>
              <a:t>, </a:t>
            </a:r>
            <a:r>
              <a:rPr lang="ko-KR" altLang="en-US" dirty="0"/>
              <a:t>한 기술을 수십개의 특허로 분할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문제점 </a:t>
            </a:r>
            <a:r>
              <a:rPr lang="en-US" altLang="ko-KR" dirty="0"/>
              <a:t>: </a:t>
            </a:r>
            <a:r>
              <a:rPr lang="ko-KR" altLang="en-US" dirty="0"/>
              <a:t>혁신 유인 저해</a:t>
            </a:r>
            <a:r>
              <a:rPr lang="en-US" altLang="ko-KR" dirty="0"/>
              <a:t>, </a:t>
            </a:r>
            <a:r>
              <a:rPr lang="ko-KR" altLang="en-US" dirty="0"/>
              <a:t>중복투자</a:t>
            </a:r>
            <a:r>
              <a:rPr lang="en-US" altLang="ko-KR" dirty="0"/>
              <a:t>, </a:t>
            </a:r>
            <a:r>
              <a:rPr lang="ko-KR" altLang="en-US" dirty="0"/>
              <a:t>높은 거래비용</a:t>
            </a:r>
            <a:r>
              <a:rPr lang="en-US" altLang="ko-KR" dirty="0"/>
              <a:t>(</a:t>
            </a:r>
            <a:r>
              <a:rPr lang="ko-KR" altLang="en-US" dirty="0"/>
              <a:t>복잡한</a:t>
            </a:r>
            <a:r>
              <a:rPr lang="en-US" altLang="ko-KR" dirty="0"/>
              <a:t> </a:t>
            </a:r>
            <a:r>
              <a:rPr lang="ko-KR" altLang="en-US" dirty="0"/>
              <a:t>기술에서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Patent pool : </a:t>
            </a:r>
            <a:r>
              <a:rPr lang="ko-KR" altLang="en-US" dirty="0"/>
              <a:t>다수 </a:t>
            </a:r>
            <a:r>
              <a:rPr lang="ko-KR" altLang="en-US" dirty="0" err="1"/>
              <a:t>특허자</a:t>
            </a:r>
            <a:r>
              <a:rPr lang="en-US" altLang="ko-KR" dirty="0"/>
              <a:t>-&gt;</a:t>
            </a:r>
            <a:r>
              <a:rPr lang="ko-KR" altLang="en-US" dirty="0"/>
              <a:t>보완적 기능 특허들을 패키지로 묶어 관리</a:t>
            </a:r>
            <a:r>
              <a:rPr lang="en-US" altLang="ko-KR" dirty="0"/>
              <a:t>/</a:t>
            </a:r>
            <a:r>
              <a:rPr lang="ko-KR" altLang="en-US" dirty="0" err="1"/>
              <a:t>라이센싱</a:t>
            </a:r>
            <a:br>
              <a:rPr lang="en-US" altLang="ko-KR" dirty="0"/>
            </a:br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 err="1"/>
              <a:t>특괴</a:t>
            </a:r>
            <a:r>
              <a:rPr lang="ko-KR" altLang="en-US" dirty="0"/>
              <a:t> 소송</a:t>
            </a:r>
            <a:r>
              <a:rPr lang="en-US" altLang="ko-KR" dirty="0"/>
              <a:t>X, </a:t>
            </a:r>
            <a:r>
              <a:rPr lang="ko-KR" altLang="en-US" dirty="0"/>
              <a:t>거래비용↓</a:t>
            </a:r>
            <a:r>
              <a:rPr lang="en-US" altLang="ko-KR" dirty="0"/>
              <a:t>; </a:t>
            </a:r>
            <a:r>
              <a:rPr lang="ko-KR" altLang="en-US" dirty="0"/>
              <a:t>방법 </a:t>
            </a:r>
            <a:r>
              <a:rPr lang="en-US" altLang="ko-KR" dirty="0"/>
              <a:t>: </a:t>
            </a:r>
            <a:r>
              <a:rPr lang="ko-KR" altLang="en-US" dirty="0"/>
              <a:t>보완기술 패키징 </a:t>
            </a:r>
            <a:r>
              <a:rPr lang="en-US" altLang="ko-KR" dirty="0"/>
              <a:t>-&gt; </a:t>
            </a:r>
            <a:r>
              <a:rPr lang="ko-KR" altLang="en-US" dirty="0"/>
              <a:t>독립법인 </a:t>
            </a:r>
            <a:r>
              <a:rPr lang="en-US" altLang="ko-KR" dirty="0"/>
              <a:t>-&gt; </a:t>
            </a:r>
            <a:r>
              <a:rPr lang="ko-KR" altLang="en-US" dirty="0"/>
              <a:t>로열티</a:t>
            </a:r>
            <a:endParaRPr lang="en-US" altLang="ko-KR" dirty="0"/>
          </a:p>
          <a:p>
            <a:pPr lvl="1"/>
            <a:r>
              <a:rPr lang="en-US" altLang="ko-KR" dirty="0"/>
              <a:t>Patent pooling</a:t>
            </a:r>
            <a:r>
              <a:rPr lang="ko-KR" altLang="en-US" dirty="0"/>
              <a:t>은 </a:t>
            </a:r>
            <a:r>
              <a:rPr lang="ko-KR" altLang="en-US" dirty="0" err="1"/>
              <a:t>바람직한가</a:t>
            </a:r>
            <a:r>
              <a:rPr lang="en-US" altLang="ko-KR" dirty="0"/>
              <a:t>? : </a:t>
            </a:r>
            <a:r>
              <a:rPr lang="ko-KR" altLang="en-US" dirty="0" err="1"/>
              <a:t>특허풀</a:t>
            </a:r>
            <a:r>
              <a:rPr lang="ko-KR" altLang="en-US" dirty="0"/>
              <a:t> 허용 핵심 조건 </a:t>
            </a:r>
            <a:r>
              <a:rPr lang="en-US" altLang="ko-KR" dirty="0"/>
              <a:t>= </a:t>
            </a:r>
            <a:r>
              <a:rPr lang="ko-KR" altLang="en-US" dirty="0"/>
              <a:t>보완적 기술</a:t>
            </a:r>
            <a:r>
              <a:rPr lang="en-US" altLang="ko-KR" dirty="0"/>
              <a:t>(</a:t>
            </a:r>
            <a:r>
              <a:rPr lang="ko-KR" altLang="en-US" dirty="0"/>
              <a:t>대체적</a:t>
            </a:r>
            <a:r>
              <a:rPr lang="en-US" altLang="ko-KR" dirty="0"/>
              <a:t>X)</a:t>
            </a:r>
          </a:p>
          <a:p>
            <a:pPr lvl="2"/>
            <a:r>
              <a:rPr lang="ko-KR" altLang="en-US" dirty="0"/>
              <a:t>대체적</a:t>
            </a:r>
            <a:r>
              <a:rPr lang="en-US" altLang="ko-KR" dirty="0"/>
              <a:t> </a:t>
            </a:r>
            <a:r>
              <a:rPr lang="ko-KR" altLang="en-US" dirty="0"/>
              <a:t>풀 </a:t>
            </a:r>
            <a:r>
              <a:rPr lang="ko-KR" altLang="en-US" dirty="0" err="1"/>
              <a:t>구성시</a:t>
            </a:r>
            <a:r>
              <a:rPr lang="ko-KR" altLang="en-US" dirty="0"/>
              <a:t> 시장경쟁↓</a:t>
            </a:r>
            <a:r>
              <a:rPr lang="en-US" altLang="ko-KR" dirty="0"/>
              <a:t>. </a:t>
            </a:r>
            <a:r>
              <a:rPr lang="ko-KR" altLang="en-US" dirty="0"/>
              <a:t>반면 보완적 풀은 경쟁</a:t>
            </a:r>
            <a:br>
              <a:rPr lang="en-US" altLang="ko-KR" dirty="0"/>
            </a:br>
            <a:r>
              <a:rPr lang="ko-KR" altLang="en-US" dirty="0"/>
              <a:t>보다 </a:t>
            </a:r>
            <a:r>
              <a:rPr lang="ko-KR" altLang="en-US" dirty="0" err="1"/>
              <a:t>풀링이</a:t>
            </a:r>
            <a:r>
              <a:rPr lang="ko-KR" altLang="en-US" dirty="0"/>
              <a:t> </a:t>
            </a:r>
            <a:r>
              <a:rPr lang="en-US" altLang="ko-KR" dirty="0"/>
              <a:t>good.</a:t>
            </a:r>
          </a:p>
          <a:p>
            <a:pPr lvl="2"/>
            <a:r>
              <a:rPr lang="ko-KR" altLang="en-US" dirty="0"/>
              <a:t>담합 가격 </a:t>
            </a:r>
            <a:r>
              <a:rPr lang="en-US" altLang="ko-KR" dirty="0"/>
              <a:t>p=1/2, </a:t>
            </a:r>
            <a:r>
              <a:rPr lang="ko-KR" altLang="en-US" dirty="0"/>
              <a:t>각 기업은 </a:t>
            </a:r>
            <a:r>
              <a:rPr lang="en-US" altLang="ko-KR" dirty="0"/>
              <a:t>p=1/4. But, </a:t>
            </a:r>
            <a:r>
              <a:rPr lang="ko-KR" altLang="en-US" dirty="0" err="1"/>
              <a:t>경쟁시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ko-KR" altLang="en-US" dirty="0"/>
              <a:t>기업</a:t>
            </a:r>
            <a:r>
              <a:rPr lang="en-US" altLang="ko-KR" dirty="0"/>
              <a:t>1</a:t>
            </a:r>
            <a:r>
              <a:rPr lang="ko-KR" altLang="en-US" dirty="0"/>
              <a:t>이 </a:t>
            </a:r>
            <a:r>
              <a:rPr lang="en-US" altLang="ko-KR" dirty="0"/>
              <a:t>p=1/4 </a:t>
            </a:r>
            <a:r>
              <a:rPr lang="ko-KR" altLang="en-US" dirty="0" err="1"/>
              <a:t>책정시</a:t>
            </a:r>
            <a:r>
              <a:rPr lang="ko-KR" altLang="en-US" dirty="0"/>
              <a:t> 기업</a:t>
            </a:r>
            <a:r>
              <a:rPr lang="en-US" altLang="ko-KR" dirty="0"/>
              <a:t>2 </a:t>
            </a:r>
            <a:r>
              <a:rPr lang="ko-KR" altLang="en-US" dirty="0"/>
              <a:t>잔여수요 </a:t>
            </a:r>
            <a:r>
              <a:rPr lang="en-US" altLang="ko-KR" dirty="0"/>
              <a:t>: W(z)= 3/4-z;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기업</a:t>
            </a:r>
            <a:r>
              <a:rPr lang="en-US" altLang="ko-KR" dirty="0"/>
              <a:t>2:p=</a:t>
            </a:r>
            <a:r>
              <a:rPr lang="ko-KR" altLang="en-US" dirty="0"/>
              <a:t> ⅜</a:t>
            </a:r>
            <a:r>
              <a:rPr lang="en-US" altLang="ko-KR" dirty="0"/>
              <a:t>-&gt;</a:t>
            </a:r>
            <a:r>
              <a:rPr lang="ko-KR" altLang="en-US" dirty="0"/>
              <a:t>이윤</a:t>
            </a:r>
            <a:r>
              <a:rPr lang="en-US" altLang="ko-KR" dirty="0"/>
              <a:t>=</a:t>
            </a:r>
            <a:r>
              <a:rPr lang="ko-KR" altLang="en-US" dirty="0"/>
              <a:t>⅜</a:t>
            </a:r>
            <a:r>
              <a:rPr lang="en-US" altLang="ko-KR" dirty="0"/>
              <a:t>*</a:t>
            </a:r>
            <a:r>
              <a:rPr lang="ko-KR" altLang="en-US" dirty="0"/>
              <a:t>⅜</a:t>
            </a:r>
            <a:r>
              <a:rPr lang="en-US" altLang="ko-KR" dirty="0"/>
              <a:t>)&gt; (</a:t>
            </a:r>
            <a:r>
              <a:rPr lang="ko-KR" altLang="en-US" dirty="0"/>
              <a:t>각자</a:t>
            </a:r>
            <a:r>
              <a:rPr lang="en-US" altLang="ko-KR" dirty="0"/>
              <a:t>p=¼-&gt;</a:t>
            </a:r>
            <a:r>
              <a:rPr lang="ko-KR" altLang="en-US" dirty="0"/>
              <a:t>이윤</a:t>
            </a:r>
            <a:r>
              <a:rPr lang="en-US" altLang="ko-KR" dirty="0"/>
              <a:t>=¼*½)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기업 </a:t>
            </a:r>
            <a:r>
              <a:rPr lang="en-US" altLang="ko-KR" dirty="0"/>
              <a:t>1,2 </a:t>
            </a:r>
            <a:r>
              <a:rPr lang="ko-KR" altLang="en-US" dirty="0"/>
              <a:t>쿠르노 경쟁 </a:t>
            </a:r>
            <a:r>
              <a:rPr lang="ko-KR" altLang="en-US" dirty="0" err="1"/>
              <a:t>하게됨</a:t>
            </a:r>
            <a:r>
              <a:rPr lang="en-US" altLang="ko-KR" dirty="0"/>
              <a:t>.  P1=P2=</a:t>
            </a:r>
            <a:r>
              <a:rPr lang="ko-KR" altLang="en-US" dirty="0"/>
              <a:t>⅓</a:t>
            </a:r>
            <a:r>
              <a:rPr lang="en-US" altLang="ko-KR" dirty="0"/>
              <a:t>. </a:t>
            </a:r>
            <a:r>
              <a:rPr lang="ko-KR" altLang="en-US" dirty="0"/>
              <a:t>총 가격</a:t>
            </a:r>
            <a:br>
              <a:rPr lang="en-US" altLang="ko-KR" dirty="0"/>
            </a:br>
            <a:r>
              <a:rPr lang="en-US" altLang="ko-KR" dirty="0"/>
              <a:t>p1+p2=</a:t>
            </a:r>
            <a:r>
              <a:rPr lang="ko-KR" altLang="en-US" dirty="0"/>
              <a:t>⅔ </a:t>
            </a:r>
            <a:r>
              <a:rPr lang="en-US" altLang="ko-KR" dirty="0"/>
              <a:t>&gt; </a:t>
            </a:r>
            <a:r>
              <a:rPr lang="ko-KR" altLang="en-US" dirty="0"/>
              <a:t>이윤극대화 가격 </a:t>
            </a:r>
            <a:r>
              <a:rPr lang="en-US" altLang="ko-KR" dirty="0"/>
              <a:t>½. </a:t>
            </a:r>
            <a:r>
              <a:rPr lang="ko-KR" altLang="en-US" dirty="0" err="1"/>
              <a:t>풀링이</a:t>
            </a:r>
            <a:r>
              <a:rPr lang="ko-KR" altLang="en-US" dirty="0"/>
              <a:t> </a:t>
            </a:r>
            <a:r>
              <a:rPr lang="en-US" altLang="ko-KR" dirty="0"/>
              <a:t>SW </a:t>
            </a:r>
            <a:r>
              <a:rPr lang="ko-KR" altLang="en-US" dirty="0"/>
              <a:t>더 높음</a:t>
            </a:r>
            <a:endParaRPr lang="en-US" altLang="ko-KR" dirty="0"/>
          </a:p>
          <a:p>
            <a:pPr lvl="1"/>
            <a:r>
              <a:rPr lang="en-US" altLang="ko-KR" dirty="0"/>
              <a:t>Patent</a:t>
            </a:r>
            <a:r>
              <a:rPr lang="ko-KR" altLang="en-US" dirty="0"/>
              <a:t> </a:t>
            </a:r>
            <a:r>
              <a:rPr lang="en-US" altLang="ko-KR" dirty="0"/>
              <a:t>pool</a:t>
            </a:r>
            <a:r>
              <a:rPr lang="ko-KR" altLang="en-US" dirty="0"/>
              <a:t>의 장점</a:t>
            </a:r>
            <a:r>
              <a:rPr lang="en-US" altLang="ko-KR" dirty="0"/>
              <a:t>/</a:t>
            </a:r>
            <a:r>
              <a:rPr lang="ko-KR" altLang="en-US" dirty="0"/>
              <a:t>단점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거래비용 ↓</a:t>
            </a:r>
            <a:r>
              <a:rPr lang="en-US" altLang="ko-KR" dirty="0"/>
              <a:t>, </a:t>
            </a:r>
            <a:r>
              <a:rPr lang="ko-KR" altLang="en-US" dirty="0"/>
              <a:t>단일가격 </a:t>
            </a:r>
            <a:r>
              <a:rPr lang="en-US" altLang="ko-KR" dirty="0"/>
              <a:t>O</a:t>
            </a:r>
            <a:br>
              <a:rPr lang="en-US" altLang="ko-KR" dirty="0"/>
            </a:br>
            <a:r>
              <a:rPr lang="ko-KR" altLang="en-US" dirty="0"/>
              <a:t>단점</a:t>
            </a:r>
            <a:r>
              <a:rPr lang="en-US" altLang="ko-KR" dirty="0"/>
              <a:t> : </a:t>
            </a:r>
            <a:r>
              <a:rPr lang="ko-KR" altLang="en-US" dirty="0"/>
              <a:t>담합가능성</a:t>
            </a:r>
            <a:r>
              <a:rPr lang="en-US" altLang="ko-KR" dirty="0"/>
              <a:t>. </a:t>
            </a:r>
            <a:r>
              <a:rPr lang="ko-KR" altLang="en-US" dirty="0"/>
              <a:t>비회원에 대한 진입장벽</a:t>
            </a:r>
            <a:r>
              <a:rPr lang="en-US" altLang="ko-KR" dirty="0"/>
              <a:t>(FRAND</a:t>
            </a:r>
            <a:r>
              <a:rPr lang="ko-KR" altLang="en-US" dirty="0"/>
              <a:t>규정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CD850C-739F-900C-C92B-396919FCBA4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이윤의 구조화 </a:t>
            </a:r>
            <a:r>
              <a:rPr lang="en-US" altLang="ko-KR" dirty="0"/>
              <a:t>: r &lt;1, </a:t>
            </a:r>
            <a:r>
              <a:rPr lang="ko-KR" altLang="en-US" dirty="0"/>
              <a:t>𝜆 </a:t>
            </a:r>
            <a:r>
              <a:rPr lang="en-US" altLang="ko-KR" dirty="0"/>
              <a:t>&lt; </a:t>
            </a:r>
            <a:r>
              <a:rPr lang="ko-KR" altLang="en-US" dirty="0"/>
              <a:t>𝐶 이면 </a:t>
            </a:r>
            <a:r>
              <a:rPr lang="en-US" altLang="ko-KR" dirty="0"/>
              <a:t>SV &gt; C</a:t>
            </a:r>
            <a:r>
              <a:rPr lang="ko-KR" altLang="en-US" dirty="0"/>
              <a:t>여도 기술혁신 </a:t>
            </a:r>
            <a:r>
              <a:rPr lang="en-US" altLang="ko-KR" dirty="0"/>
              <a:t>X → </a:t>
            </a:r>
            <a:r>
              <a:rPr lang="ko-KR" altLang="en-US" dirty="0"/>
              <a:t>후속기술이 특허침해</a:t>
            </a:r>
            <a:r>
              <a:rPr lang="en-US" altLang="ko-KR" dirty="0"/>
              <a:t>O.</a:t>
            </a:r>
            <a:r>
              <a:rPr lang="ko-KR" altLang="en-US" dirty="0"/>
              <a:t> 넓은 특허</a:t>
            </a:r>
            <a:r>
              <a:rPr lang="en-US" altLang="ko-KR" dirty="0"/>
              <a:t>(</a:t>
            </a:r>
            <a:r>
              <a:rPr lang="ko-KR" altLang="en-US" dirty="0"/>
              <a:t>누적적 기술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Patent race :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1E06A96-C412-BD55-20B8-D2705AA33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265" y="3149177"/>
            <a:ext cx="720080" cy="20408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C314B63-ED13-60EE-1C1A-41DC2721E34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56728" y="2936776"/>
            <a:ext cx="928555" cy="2234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0D6C17-5298-B9E7-811E-B83D6D9C190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15149" y="1889192"/>
            <a:ext cx="1656183" cy="114717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0F75799-2EED-1198-6110-06C58650118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88840" y="3739080"/>
            <a:ext cx="1080120" cy="15430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20D95D3-9789-C650-78B2-F5BA7067F2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970" y="3925743"/>
            <a:ext cx="2009030" cy="10105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1E1467F-E0C3-95DE-C770-11790EEF71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6451" y="705513"/>
            <a:ext cx="1376924" cy="92891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BDE0883-2810-6DBF-5AFF-9C16C59E86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2847" y="6243017"/>
            <a:ext cx="1651501" cy="19143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F98DDCD-209F-4EC1-17B4-CB23A51DBA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6821" y="8422415"/>
            <a:ext cx="1376924" cy="92891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6A99E07-995A-432C-3E8F-115E117C22F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015" y="8784827"/>
            <a:ext cx="1228689" cy="85106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5C942AC-6391-048F-2A4A-8937D8D6F4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40768" y="8561378"/>
            <a:ext cx="928555" cy="2234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78D2F0F-A9D0-A834-8E65-174DDCD5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552" y="8797607"/>
            <a:ext cx="720080" cy="20408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6491337-7476-9721-1258-ED85423BB4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0095" y="9036209"/>
            <a:ext cx="2009030" cy="10105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03DD32E-64CB-6E93-6C39-CA317F379A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8382" y="9271209"/>
            <a:ext cx="1228690" cy="21017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3D3BB91-5596-00F9-A799-745D99A473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5465" y="8773210"/>
            <a:ext cx="1376923" cy="107633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51CC2FD-5589-053A-9E3E-1028074697AF}"/>
              </a:ext>
            </a:extLst>
          </p:cNvPr>
          <p:cNvSpPr txBox="1"/>
          <p:nvPr/>
        </p:nvSpPr>
        <p:spPr>
          <a:xfrm>
            <a:off x="2954151" y="8430731"/>
            <a:ext cx="2218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Patent trolls, </a:t>
            </a:r>
            <a:r>
              <a:rPr lang="ko-KR" altLang="en-US" sz="900" dirty="0"/>
              <a:t>잠수함 특허</a:t>
            </a:r>
            <a:r>
              <a:rPr lang="en-US" altLang="ko-KR" sz="900" dirty="0"/>
              <a:t>, </a:t>
            </a:r>
            <a:r>
              <a:rPr lang="ko-KR" altLang="en-US" sz="900" dirty="0"/>
              <a:t>블로킹 특허</a:t>
            </a:r>
            <a:endParaRPr lang="en-US" altLang="ko-KR" sz="900" dirty="0"/>
          </a:p>
          <a:p>
            <a:r>
              <a:rPr lang="ko-KR" altLang="en-US" sz="900" dirty="0"/>
              <a:t> </a:t>
            </a:r>
            <a:r>
              <a:rPr lang="en-US" altLang="ko-KR" sz="900" dirty="0"/>
              <a:t>→ patent</a:t>
            </a:r>
            <a:r>
              <a:rPr lang="ko-KR" altLang="en-US" sz="900" dirty="0"/>
              <a:t> </a:t>
            </a:r>
            <a:r>
              <a:rPr lang="en-US" altLang="ko-KR" sz="900" dirty="0"/>
              <a:t>pool; </a:t>
            </a:r>
            <a:r>
              <a:rPr lang="ko-KR" altLang="en-US" sz="900" dirty="0" err="1"/>
              <a:t>바람직</a:t>
            </a:r>
            <a:r>
              <a:rPr lang="en-US" altLang="ko-KR" sz="900" dirty="0"/>
              <a:t>? If </a:t>
            </a:r>
            <a:r>
              <a:rPr lang="ko-KR" altLang="en-US" sz="900" dirty="0"/>
              <a:t>보완적</a:t>
            </a:r>
            <a:r>
              <a:rPr lang="en-US" altLang="ko-KR" sz="900" dirty="0"/>
              <a:t> </a:t>
            </a:r>
            <a:r>
              <a:rPr lang="ko-KR" altLang="en-US" sz="900" dirty="0"/>
              <a:t>기술</a:t>
            </a:r>
          </a:p>
        </p:txBody>
      </p:sp>
    </p:spTree>
    <p:extLst>
      <p:ext uri="{BB962C8B-B14F-4D97-AF65-F5344CB8AC3E}">
        <p14:creationId xmlns:p14="http://schemas.microsoft.com/office/powerpoint/2010/main" val="2047989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6B3D1E-E528-DFEE-DD75-21FAAA4FC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37AF0BD-FC3F-99D9-B8B4-94B9DC3B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포상제도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F1C8E3-BB20-2F6B-28C0-F1A2A47B5D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D7909CA-B53D-E96F-A3BB-B85C56B6C4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포상의 인센티브 메커니즘</a:t>
            </a:r>
            <a:endParaRPr lang="en-US" altLang="ko-KR" dirty="0"/>
          </a:p>
          <a:p>
            <a:pPr lvl="1"/>
            <a:r>
              <a:rPr lang="ko-KR" altLang="en-US" dirty="0"/>
              <a:t>목표포상 </a:t>
            </a:r>
            <a:r>
              <a:rPr lang="en-US" altLang="ko-KR" dirty="0"/>
              <a:t>: </a:t>
            </a:r>
            <a:r>
              <a:rPr lang="ko-KR" altLang="en-US" dirty="0"/>
              <a:t>잘 알려진 수요 충족 시키는 경우</a:t>
            </a:r>
            <a:br>
              <a:rPr lang="en-US" altLang="ko-KR" dirty="0"/>
            </a:br>
            <a:r>
              <a:rPr lang="ko-KR" altLang="en-US" dirty="0" err="1"/>
              <a:t>블루스카이</a:t>
            </a:r>
            <a:r>
              <a:rPr lang="ko-KR" altLang="en-US" dirty="0"/>
              <a:t> 포상 </a:t>
            </a:r>
            <a:r>
              <a:rPr lang="en-US" altLang="ko-KR" dirty="0"/>
              <a:t>: </a:t>
            </a:r>
            <a:r>
              <a:rPr lang="ko-KR" altLang="en-US" dirty="0"/>
              <a:t>발명자 희소 아이디어 보상</a:t>
            </a:r>
            <a:endParaRPr lang="en-US" altLang="ko-KR" dirty="0"/>
          </a:p>
          <a:p>
            <a:r>
              <a:rPr lang="ko-KR" altLang="en-US" dirty="0"/>
              <a:t>포상과 지적재산권 비교</a:t>
            </a:r>
            <a:endParaRPr lang="en-US" altLang="ko-KR" dirty="0"/>
          </a:p>
          <a:p>
            <a:pPr lvl="1"/>
            <a:r>
              <a:rPr lang="ko-KR" altLang="en-US" dirty="0"/>
              <a:t>포상이 발명의 가치와 연결 </a:t>
            </a:r>
            <a:r>
              <a:rPr lang="en-US" altLang="ko-KR" dirty="0"/>
              <a:t>-&gt; </a:t>
            </a:r>
            <a:r>
              <a:rPr lang="ko-KR" altLang="en-US" dirty="0"/>
              <a:t>포상제도</a:t>
            </a:r>
            <a:br>
              <a:rPr lang="en-US" altLang="ko-KR" dirty="0"/>
            </a:br>
            <a:r>
              <a:rPr lang="ko-KR" altLang="en-US" dirty="0"/>
              <a:t>포상이</a:t>
            </a:r>
            <a:r>
              <a:rPr lang="en-US" altLang="ko-KR" dirty="0"/>
              <a:t> </a:t>
            </a:r>
            <a:r>
              <a:rPr lang="ko-KR" altLang="en-US" dirty="0"/>
              <a:t>발명 가치와 연결</a:t>
            </a:r>
            <a:r>
              <a:rPr lang="en-US" altLang="ko-KR" dirty="0"/>
              <a:t>X -&gt; </a:t>
            </a:r>
            <a:r>
              <a:rPr lang="ko-KR" altLang="en-US" dirty="0"/>
              <a:t>특허</a:t>
            </a:r>
            <a:br>
              <a:rPr lang="en-US" altLang="ko-KR" dirty="0"/>
            </a:br>
            <a:r>
              <a:rPr lang="ko-KR" altLang="en-US" dirty="0"/>
              <a:t>후원자 </a:t>
            </a:r>
            <a:r>
              <a:rPr lang="en-US" altLang="ko-KR" dirty="0"/>
              <a:t>: </a:t>
            </a:r>
            <a:r>
              <a:rPr lang="ko-KR" altLang="en-US" dirty="0"/>
              <a:t>잠재적</a:t>
            </a:r>
            <a:r>
              <a:rPr lang="en-US" altLang="ko-KR" dirty="0"/>
              <a:t> </a:t>
            </a:r>
            <a:r>
              <a:rPr lang="ko-KR" altLang="en-US" dirty="0"/>
              <a:t>발명자간 경쟁설정 </a:t>
            </a:r>
            <a:r>
              <a:rPr lang="en-US" altLang="ko-KR" dirty="0"/>
              <a:t>O?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포상제도</a:t>
            </a:r>
            <a:r>
              <a:rPr lang="en-US" altLang="ko-KR" dirty="0"/>
              <a:t>. But, </a:t>
            </a:r>
            <a:r>
              <a:rPr lang="ko-KR" altLang="en-US" dirty="0"/>
              <a:t>중복투자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 err="1"/>
              <a:t>포상등</a:t>
            </a:r>
            <a:r>
              <a:rPr lang="ko-KR" altLang="en-US" dirty="0"/>
              <a:t> 경쟁입찰에서의 전략</a:t>
            </a:r>
            <a:endParaRPr lang="en-US" altLang="ko-KR" dirty="0"/>
          </a:p>
          <a:p>
            <a:pPr lvl="1"/>
            <a:r>
              <a:rPr lang="ko-KR" altLang="en-US" dirty="0" err="1"/>
              <a:t>비크리</a:t>
            </a:r>
            <a:r>
              <a:rPr lang="en-US" altLang="ko-KR" dirty="0"/>
              <a:t> </a:t>
            </a:r>
            <a:r>
              <a:rPr lang="ko-KR" altLang="en-US" dirty="0"/>
              <a:t>옥션</a:t>
            </a:r>
            <a:r>
              <a:rPr lang="en-US" altLang="ko-KR" dirty="0"/>
              <a:t>(2</a:t>
            </a:r>
            <a:r>
              <a:rPr lang="ko-KR" altLang="en-US" dirty="0"/>
              <a:t>등가격제</a:t>
            </a:r>
            <a:r>
              <a:rPr lang="en-US" altLang="ko-KR" dirty="0"/>
              <a:t>) : </a:t>
            </a:r>
            <a:r>
              <a:rPr lang="ko-KR" altLang="en-US" dirty="0"/>
              <a:t>낙찰자는 자신이 제시한 최고 금액이 아닌 두번째로 높은 가격에 낙찰됨</a:t>
            </a:r>
            <a:r>
              <a:rPr lang="en-US" altLang="ko-KR" dirty="0"/>
              <a:t> (A</a:t>
            </a:r>
            <a:r>
              <a:rPr lang="ko-KR" altLang="en-US" dirty="0"/>
              <a:t>가 </a:t>
            </a:r>
            <a:r>
              <a:rPr lang="en-US" altLang="ko-KR" dirty="0"/>
              <a:t>100</a:t>
            </a:r>
            <a:r>
              <a:rPr lang="ko-KR" altLang="en-US" dirty="0"/>
              <a:t>억</a:t>
            </a:r>
            <a:r>
              <a:rPr lang="en-US" altLang="ko-KR" dirty="0"/>
              <a:t>, B</a:t>
            </a:r>
            <a:r>
              <a:rPr lang="ko-KR" altLang="en-US" dirty="0"/>
              <a:t>가 </a:t>
            </a:r>
            <a:r>
              <a:rPr lang="en-US" altLang="ko-KR" dirty="0"/>
              <a:t>99</a:t>
            </a:r>
            <a:r>
              <a:rPr lang="ko-KR" altLang="en-US" dirty="0"/>
              <a:t>억 </a:t>
            </a:r>
            <a:r>
              <a:rPr lang="en-US" altLang="ko-KR" dirty="0"/>
              <a:t>-&gt; A</a:t>
            </a:r>
            <a:r>
              <a:rPr lang="ko-KR" altLang="en-US" dirty="0"/>
              <a:t>가 낙찰</a:t>
            </a:r>
            <a:r>
              <a:rPr lang="en-US" altLang="ko-KR" dirty="0"/>
              <a:t>, 99</a:t>
            </a:r>
            <a:r>
              <a:rPr lang="ko-KR" altLang="en-US" dirty="0"/>
              <a:t>억 지불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 err="1"/>
              <a:t>비크리</a:t>
            </a:r>
            <a:r>
              <a:rPr lang="ko-KR" altLang="en-US" dirty="0"/>
              <a:t> 옥션에서 최선의 전략 </a:t>
            </a:r>
            <a:r>
              <a:rPr lang="en-US" altLang="ko-KR" dirty="0"/>
              <a:t>= True value </a:t>
            </a:r>
            <a:r>
              <a:rPr lang="ko-KR" altLang="en-US" dirty="0"/>
              <a:t>노출 </a:t>
            </a:r>
            <a:r>
              <a:rPr lang="en-US" altLang="ko-KR" dirty="0"/>
              <a:t>:</a:t>
            </a:r>
          </a:p>
          <a:p>
            <a:pPr lvl="3"/>
            <a:r>
              <a:rPr lang="ko-KR" altLang="en-US" dirty="0" err="1"/>
              <a:t>트루</a:t>
            </a:r>
            <a:r>
              <a:rPr lang="ko-KR" altLang="en-US" dirty="0"/>
              <a:t> </a:t>
            </a:r>
            <a:r>
              <a:rPr lang="ko-KR" altLang="en-US" dirty="0" err="1"/>
              <a:t>밸류보다</a:t>
            </a:r>
            <a:r>
              <a:rPr lang="ko-KR" altLang="en-US" dirty="0"/>
              <a:t> 높게 </a:t>
            </a:r>
            <a:r>
              <a:rPr lang="en-US" altLang="ko-KR" dirty="0"/>
              <a:t>: A=105, B=110 -&gt; A</a:t>
            </a:r>
            <a:r>
              <a:rPr lang="ko-KR" altLang="en-US" dirty="0"/>
              <a:t>가 </a:t>
            </a:r>
            <a:r>
              <a:rPr lang="en-US" altLang="ko-KR" dirty="0"/>
              <a:t>105</a:t>
            </a:r>
            <a:r>
              <a:rPr lang="ko-KR" altLang="en-US" dirty="0"/>
              <a:t>에 낙찰 </a:t>
            </a:r>
            <a:r>
              <a:rPr lang="en-US" altLang="ko-KR" dirty="0"/>
              <a:t>(</a:t>
            </a:r>
            <a:r>
              <a:rPr lang="ko-KR" altLang="en-US" dirty="0"/>
              <a:t>하지만</a:t>
            </a:r>
            <a:r>
              <a:rPr lang="en-US" altLang="ko-KR" dirty="0"/>
              <a:t> </a:t>
            </a:r>
            <a:r>
              <a:rPr lang="ko-KR" altLang="en-US" dirty="0" err="1"/>
              <a:t>트루밸류</a:t>
            </a:r>
            <a:r>
              <a:rPr lang="ko-KR" altLang="en-US" dirty="0"/>
              <a:t> </a:t>
            </a:r>
            <a:r>
              <a:rPr lang="en-US" altLang="ko-KR" dirty="0"/>
              <a:t>&lt; </a:t>
            </a:r>
            <a:r>
              <a:rPr lang="ko-KR" altLang="en-US" dirty="0"/>
              <a:t>낙찰가 이므로 손해</a:t>
            </a:r>
            <a:r>
              <a:rPr lang="en-US" altLang="ko-KR" dirty="0"/>
              <a:t>. = </a:t>
            </a:r>
            <a:r>
              <a:rPr lang="ko-KR" altLang="en-US" dirty="0"/>
              <a:t>승자의 저주</a:t>
            </a:r>
            <a:r>
              <a:rPr lang="en-US" altLang="ko-KR" dirty="0"/>
              <a:t>)</a:t>
            </a:r>
          </a:p>
          <a:p>
            <a:pPr lvl="3"/>
            <a:r>
              <a:rPr lang="ko-KR" altLang="en-US" dirty="0" err="1"/>
              <a:t>트루</a:t>
            </a:r>
            <a:r>
              <a:rPr lang="ko-KR" altLang="en-US" dirty="0"/>
              <a:t> </a:t>
            </a:r>
            <a:r>
              <a:rPr lang="ko-KR" altLang="en-US" dirty="0" err="1"/>
              <a:t>밸류보다</a:t>
            </a:r>
            <a:r>
              <a:rPr lang="ko-KR" altLang="en-US" dirty="0"/>
              <a:t> 낮게 </a:t>
            </a:r>
            <a:r>
              <a:rPr lang="en-US" altLang="ko-KR" dirty="0"/>
              <a:t>: A=95, B=97 -&gt; B</a:t>
            </a:r>
            <a:r>
              <a:rPr lang="ko-KR" altLang="en-US" dirty="0"/>
              <a:t>가</a:t>
            </a:r>
            <a:r>
              <a:rPr lang="en-US" altLang="ko-KR" dirty="0"/>
              <a:t> 95</a:t>
            </a:r>
            <a:r>
              <a:rPr lang="ko-KR" altLang="en-US" dirty="0"/>
              <a:t>에 낙찰</a:t>
            </a:r>
            <a:r>
              <a:rPr lang="en-US" altLang="ko-KR" dirty="0"/>
              <a:t>, A </a:t>
            </a:r>
            <a:r>
              <a:rPr lang="ko-KR" altLang="en-US" dirty="0"/>
              <a:t>낙찰기회 박탈</a:t>
            </a:r>
            <a:endParaRPr lang="en-US" altLang="ko-KR" dirty="0"/>
          </a:p>
          <a:p>
            <a:pPr lvl="3"/>
            <a:r>
              <a:rPr lang="ko-KR" altLang="en-US" dirty="0"/>
              <a:t>따라서 </a:t>
            </a:r>
            <a:r>
              <a:rPr lang="ko-KR" altLang="en-US" dirty="0" err="1"/>
              <a:t>트루밸류를</a:t>
            </a:r>
            <a:r>
              <a:rPr lang="ko-KR" altLang="en-US" dirty="0"/>
              <a:t> 정직하게 쓰는 것이 입찰자에게 가장 유리 단</a:t>
            </a:r>
            <a:r>
              <a:rPr lang="en-US" altLang="ko-KR" dirty="0"/>
              <a:t>, </a:t>
            </a:r>
            <a:r>
              <a:rPr lang="ko-KR" altLang="en-US" dirty="0"/>
              <a:t>현실에선 담합 문제</a:t>
            </a:r>
            <a:endParaRPr lang="en-US" altLang="ko-KR" dirty="0"/>
          </a:p>
          <a:p>
            <a:pPr lvl="1"/>
            <a:r>
              <a:rPr lang="ko-KR" altLang="en-US" dirty="0"/>
              <a:t>시제품 경쟁 전략 </a:t>
            </a:r>
            <a:r>
              <a:rPr lang="en-US" altLang="ko-KR" dirty="0"/>
              <a:t>: </a:t>
            </a:r>
            <a:r>
              <a:rPr lang="ko-KR" altLang="en-US" dirty="0"/>
              <a:t>정부가 목표를 제시</a:t>
            </a:r>
            <a:r>
              <a:rPr lang="en-US" altLang="ko-KR" dirty="0"/>
              <a:t>, </a:t>
            </a:r>
            <a:r>
              <a:rPr lang="ko-KR" altLang="en-US" dirty="0"/>
              <a:t>기업이 달성을 위한 시제품 제작</a:t>
            </a:r>
            <a:r>
              <a:rPr lang="en-US" altLang="ko-KR" dirty="0"/>
              <a:t> -&gt; </a:t>
            </a:r>
            <a:r>
              <a:rPr lang="ko-KR" altLang="en-US" dirty="0"/>
              <a:t>총 개발비용을 한번에 지급</a:t>
            </a:r>
            <a:r>
              <a:rPr lang="en-US" altLang="ko-KR" dirty="0"/>
              <a:t>X, </a:t>
            </a:r>
            <a:r>
              <a:rPr lang="ko-KR" altLang="en-US" dirty="0"/>
              <a:t>프로젝트 상황 단계별로 분할지급 </a:t>
            </a:r>
            <a:r>
              <a:rPr lang="en-US" altLang="ko-KR" dirty="0"/>
              <a:t>-&gt; </a:t>
            </a:r>
            <a:r>
              <a:rPr lang="ko-KR" altLang="en-US" dirty="0"/>
              <a:t>도덕적 해이</a:t>
            </a:r>
            <a:r>
              <a:rPr lang="en-US" altLang="ko-KR" dirty="0"/>
              <a:t>, </a:t>
            </a:r>
            <a:r>
              <a:rPr lang="ko-KR" altLang="en-US" dirty="0"/>
              <a:t>비대칭 정보 완화</a:t>
            </a:r>
            <a:endParaRPr lang="en-US" altLang="ko-KR" dirty="0"/>
          </a:p>
          <a:p>
            <a:r>
              <a:rPr lang="ko-KR" altLang="en-US" dirty="0" err="1"/>
              <a:t>매칭펀드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어떻게 연구자</a:t>
            </a:r>
            <a:r>
              <a:rPr lang="en-US" altLang="ko-KR" dirty="0"/>
              <a:t>-</a:t>
            </a:r>
            <a:r>
              <a:rPr lang="ko-KR" altLang="en-US" dirty="0"/>
              <a:t>정부간 비대칭정보로 인한 도덕적 해이 감소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기본 가정 </a:t>
            </a:r>
            <a:r>
              <a:rPr lang="en-US" altLang="ko-KR" dirty="0"/>
              <a:t>: </a:t>
            </a:r>
            <a:r>
              <a:rPr lang="ko-KR" altLang="en-US" dirty="0"/>
              <a:t>연구 </a:t>
            </a:r>
            <a:r>
              <a:rPr lang="ko-KR" altLang="en-US" dirty="0" err="1"/>
              <a:t>개발시</a:t>
            </a:r>
            <a:r>
              <a:rPr lang="ko-KR" altLang="en-US" dirty="0"/>
              <a:t> 예상되는 </a:t>
            </a:r>
            <a:br>
              <a:rPr lang="en-US" altLang="ko-KR" dirty="0"/>
            </a:br>
            <a:r>
              <a:rPr lang="ko-KR" altLang="en-US" dirty="0"/>
              <a:t>사적이윤</a:t>
            </a:r>
            <a:r>
              <a:rPr lang="en-US" altLang="ko-KR" dirty="0"/>
              <a:t>(</a:t>
            </a:r>
            <a:r>
              <a:rPr lang="el-GR" altLang="ko-KR" dirty="0"/>
              <a:t>π</a:t>
            </a:r>
            <a:r>
              <a:rPr lang="en-US" altLang="ko-KR" dirty="0"/>
              <a:t>Vt), </a:t>
            </a:r>
            <a:r>
              <a:rPr lang="ko-KR" altLang="en-US" dirty="0"/>
              <a:t>비용 </a:t>
            </a:r>
            <a:r>
              <a:rPr lang="en-US" altLang="ko-KR" dirty="0"/>
              <a:t>C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기업은 </a:t>
            </a:r>
            <a:r>
              <a:rPr lang="en-US" altLang="ko-KR" dirty="0"/>
              <a:t>πVt &gt; C</a:t>
            </a:r>
            <a:br>
              <a:rPr lang="en-US" altLang="ko-KR" dirty="0"/>
            </a:br>
            <a:r>
              <a:rPr lang="ko-KR" altLang="en-US" dirty="0"/>
              <a:t>일 때 프로젝트 수행할 유인 존재</a:t>
            </a:r>
            <a:endParaRPr lang="en-US" altLang="ko-KR" dirty="0"/>
          </a:p>
          <a:p>
            <a:pPr lvl="1"/>
            <a:r>
              <a:rPr lang="ko-KR" altLang="en-US" dirty="0"/>
              <a:t>정부보조금</a:t>
            </a:r>
            <a:r>
              <a:rPr lang="en-US" altLang="ko-KR" dirty="0"/>
              <a:t>(S)</a:t>
            </a:r>
            <a:r>
              <a:rPr lang="ko-KR" altLang="en-US" dirty="0"/>
              <a:t>만 있을 경우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기업은 </a:t>
            </a:r>
            <a:r>
              <a:rPr lang="el-GR" altLang="ko-KR" dirty="0"/>
              <a:t>π</a:t>
            </a:r>
            <a:r>
              <a:rPr lang="en-US" altLang="ko-KR" dirty="0"/>
              <a:t>Vt + S &gt; C</a:t>
            </a:r>
            <a:r>
              <a:rPr lang="ko-KR" altLang="en-US" dirty="0" err="1"/>
              <a:t>일때</a:t>
            </a:r>
            <a:r>
              <a:rPr lang="ko-KR" altLang="en-US" dirty="0"/>
              <a:t> 프로젝트 수행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→</a:t>
            </a:r>
            <a:r>
              <a:rPr lang="ko-KR" altLang="en-US" dirty="0"/>
              <a:t>이때 </a:t>
            </a:r>
            <a:r>
              <a:rPr lang="el-GR" altLang="ko-KR" dirty="0"/>
              <a:t>π</a:t>
            </a:r>
            <a:r>
              <a:rPr lang="en-US" altLang="ko-KR" dirty="0"/>
              <a:t>Vt &lt; C</a:t>
            </a:r>
            <a:r>
              <a:rPr lang="ko-KR" altLang="en-US" dirty="0" err="1"/>
              <a:t>일때</a:t>
            </a:r>
            <a:r>
              <a:rPr lang="ko-KR" altLang="en-US" dirty="0"/>
              <a:t> 하지 않을 </a:t>
            </a:r>
            <a:br>
              <a:rPr lang="en-US" altLang="ko-KR" dirty="0"/>
            </a:br>
            <a:r>
              <a:rPr lang="ko-KR" altLang="en-US" dirty="0" err="1"/>
              <a:t>연구중</a:t>
            </a:r>
            <a:r>
              <a:rPr lang="ko-KR" altLang="en-US" dirty="0"/>
              <a:t> </a:t>
            </a:r>
            <a:r>
              <a:rPr lang="el-GR" altLang="ko-KR" dirty="0"/>
              <a:t>π</a:t>
            </a:r>
            <a:r>
              <a:rPr lang="en-US" altLang="ko-KR" dirty="0" err="1"/>
              <a:t>Vt+S</a:t>
            </a:r>
            <a:r>
              <a:rPr lang="en-US" altLang="ko-KR" dirty="0"/>
              <a:t> &gt; C</a:t>
            </a:r>
            <a:r>
              <a:rPr lang="ko-KR" altLang="en-US" dirty="0"/>
              <a:t>를 만족하는 연구 포함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사회적 가치</a:t>
            </a:r>
            <a:r>
              <a:rPr lang="en-US" altLang="ko-KR" dirty="0"/>
              <a:t>(V) </a:t>
            </a:r>
            <a:r>
              <a:rPr lang="ko-KR" altLang="en-US" dirty="0"/>
              <a:t>낮지만 보조금</a:t>
            </a:r>
            <a:r>
              <a:rPr lang="en-US" altLang="ko-KR" dirty="0"/>
              <a:t>(S)</a:t>
            </a:r>
            <a:r>
              <a:rPr lang="ko-KR" altLang="en-US" dirty="0"/>
              <a:t>때문에 </a:t>
            </a:r>
            <a:br>
              <a:rPr lang="en-US" altLang="ko-KR" dirty="0"/>
            </a:br>
            <a:r>
              <a:rPr lang="ko-KR" altLang="en-US" dirty="0"/>
              <a:t>이윤 나는 것 처럼 보이는 연구 포함 가능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단순 보조금 도덕적 해이</a:t>
            </a:r>
            <a:endParaRPr lang="en-US" altLang="ko-KR" dirty="0"/>
          </a:p>
          <a:p>
            <a:pPr lvl="1"/>
            <a:r>
              <a:rPr lang="ko-KR" altLang="en-US" dirty="0" err="1"/>
              <a:t>매칭펀드</a:t>
            </a:r>
            <a:r>
              <a:rPr lang="en-US" altLang="ko-KR" dirty="0"/>
              <a:t>(M)</a:t>
            </a:r>
            <a:r>
              <a:rPr lang="ko-KR" altLang="en-US" dirty="0"/>
              <a:t> 도입 </a:t>
            </a:r>
            <a:r>
              <a:rPr lang="en-US" altLang="ko-KR" dirty="0"/>
              <a:t>: </a:t>
            </a:r>
            <a:r>
              <a:rPr lang="ko-KR" altLang="en-US" dirty="0"/>
              <a:t>보조금</a:t>
            </a:r>
            <a:r>
              <a:rPr lang="en-US" altLang="ko-KR" dirty="0"/>
              <a:t>S</a:t>
            </a:r>
            <a:r>
              <a:rPr lang="ko-KR" altLang="en-US" dirty="0"/>
              <a:t>와 함께 </a:t>
            </a:r>
            <a:r>
              <a:rPr lang="en-US" altLang="ko-KR" dirty="0"/>
              <a:t>M</a:t>
            </a:r>
            <a:r>
              <a:rPr lang="ko-KR" altLang="en-US" dirty="0"/>
              <a:t>을 </a:t>
            </a:r>
            <a:br>
              <a:rPr lang="en-US" altLang="ko-KR" dirty="0"/>
            </a:br>
            <a:r>
              <a:rPr lang="ko-KR" altLang="en-US" dirty="0"/>
              <a:t>스스로 투입 요구</a:t>
            </a:r>
            <a:r>
              <a:rPr lang="en-US" altLang="ko-KR" dirty="0"/>
              <a:t>. </a:t>
            </a:r>
            <a:r>
              <a:rPr lang="ko-KR" altLang="en-US" dirty="0"/>
              <a:t>총 연구비 </a:t>
            </a:r>
            <a:r>
              <a:rPr lang="en-US" altLang="ko-KR" dirty="0"/>
              <a:t>TC</a:t>
            </a:r>
            <a:r>
              <a:rPr lang="ko-KR" altLang="en-US" dirty="0"/>
              <a:t>에 대해</a:t>
            </a:r>
            <a:r>
              <a:rPr lang="en-US" altLang="ko-KR" dirty="0"/>
              <a:t> S+M = TC, </a:t>
            </a:r>
            <a:r>
              <a:rPr lang="ko-KR" altLang="en-US" dirty="0"/>
              <a:t>이제</a:t>
            </a:r>
            <a:r>
              <a:rPr lang="en-US" altLang="ko-KR" dirty="0"/>
              <a:t> </a:t>
            </a:r>
            <a:r>
              <a:rPr lang="ko-KR" altLang="en-US" dirty="0"/>
              <a:t>기업은 </a:t>
            </a:r>
            <a:r>
              <a:rPr lang="el-GR" altLang="ko-KR" dirty="0"/>
              <a:t>π</a:t>
            </a:r>
            <a:r>
              <a:rPr lang="en-US" altLang="ko-KR" dirty="0"/>
              <a:t>Vt + S &gt; C</a:t>
            </a:r>
            <a:r>
              <a:rPr lang="ko-KR" altLang="en-US" dirty="0"/>
              <a:t> 충당하면서 </a:t>
            </a:r>
            <a:r>
              <a:rPr lang="en-US" altLang="ko-KR" dirty="0"/>
              <a:t>M</a:t>
            </a:r>
            <a:r>
              <a:rPr lang="ko-KR" altLang="en-US" dirty="0"/>
              <a:t>보다 </a:t>
            </a:r>
            <a:r>
              <a:rPr lang="ko-KR" altLang="en-US" dirty="0" err="1"/>
              <a:t>커야함</a:t>
            </a:r>
            <a:r>
              <a:rPr lang="en-US" altLang="ko-KR" dirty="0"/>
              <a:t>, </a:t>
            </a:r>
            <a:r>
              <a:rPr lang="el-GR" altLang="ko-KR" dirty="0"/>
              <a:t>(π</a:t>
            </a:r>
            <a:r>
              <a:rPr lang="en-US" altLang="ko-KR" dirty="0"/>
              <a:t>Vt + S - TC) + (TC - M) - S &gt; 0 -&gt; </a:t>
            </a:r>
            <a:r>
              <a:rPr lang="el-GR" altLang="ko-KR" dirty="0"/>
              <a:t>π</a:t>
            </a:r>
            <a:r>
              <a:rPr lang="en-US" altLang="ko-KR" dirty="0"/>
              <a:t>Vt + S - M &gt; 0. </a:t>
            </a:r>
            <a:r>
              <a:rPr lang="ko-KR" altLang="en-US" dirty="0"/>
              <a:t>따라서 기업은 </a:t>
            </a:r>
            <a:r>
              <a:rPr lang="el-GR" altLang="ko-KR" dirty="0"/>
              <a:t>π</a:t>
            </a:r>
            <a:r>
              <a:rPr lang="en-US" altLang="ko-KR" dirty="0"/>
              <a:t>Vt + S &gt; M</a:t>
            </a:r>
            <a:r>
              <a:rPr lang="ko-KR" altLang="en-US" dirty="0"/>
              <a:t>에서 연구를 할 유인 생김</a:t>
            </a:r>
            <a:endParaRPr lang="en-US" altLang="ko-KR" dirty="0"/>
          </a:p>
          <a:p>
            <a:pPr lvl="2"/>
            <a:r>
              <a:rPr lang="ko-KR" altLang="en-US" dirty="0"/>
              <a:t>기업이 </a:t>
            </a:r>
            <a:r>
              <a:rPr lang="ko-KR" altLang="en-US" dirty="0" err="1"/>
              <a:t>내야할</a:t>
            </a:r>
            <a:r>
              <a:rPr lang="ko-KR" altLang="en-US" dirty="0"/>
              <a:t> </a:t>
            </a:r>
            <a:r>
              <a:rPr lang="en-US" altLang="ko-KR" dirty="0"/>
              <a:t>M</a:t>
            </a:r>
            <a:r>
              <a:rPr lang="ko-KR" altLang="en-US" dirty="0"/>
              <a:t>이 커질수록 연구를 수행할 최소한의 수익 </a:t>
            </a:r>
            <a:r>
              <a:rPr lang="el-GR" altLang="ko-KR" dirty="0"/>
              <a:t>π</a:t>
            </a:r>
            <a:r>
              <a:rPr lang="en-US" altLang="ko-KR" dirty="0"/>
              <a:t>Vt</a:t>
            </a:r>
            <a:r>
              <a:rPr lang="ko-KR" altLang="en-US" dirty="0"/>
              <a:t>가 높아짐 </a:t>
            </a:r>
            <a:r>
              <a:rPr lang="en-US" altLang="ko-KR" dirty="0"/>
              <a:t>-&gt;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l-GR" altLang="ko-KR" dirty="0"/>
              <a:t>π</a:t>
            </a:r>
            <a:r>
              <a:rPr lang="en-US" altLang="ko-KR" dirty="0"/>
              <a:t>Vt</a:t>
            </a:r>
            <a:r>
              <a:rPr lang="ko-KR" altLang="en-US" dirty="0"/>
              <a:t>는 곧</a:t>
            </a:r>
            <a:r>
              <a:rPr lang="en-US" altLang="ko-KR" dirty="0"/>
              <a:t>, V</a:t>
            </a:r>
            <a:r>
              <a:rPr lang="ko-KR" altLang="en-US" dirty="0"/>
              <a:t>가 낮은 연구는 포기</a:t>
            </a:r>
            <a:r>
              <a:rPr lang="en-US" altLang="ko-KR" dirty="0"/>
              <a:t>; </a:t>
            </a:r>
            <a:r>
              <a:rPr lang="ko-KR" altLang="en-US" dirty="0" err="1"/>
              <a:t>매칭펀드가</a:t>
            </a:r>
            <a:r>
              <a:rPr lang="ko-KR" altLang="en-US" dirty="0"/>
              <a:t> 자체적 필터</a:t>
            </a:r>
            <a:r>
              <a:rPr lang="en-US" altLang="ko-KR" dirty="0"/>
              <a:t> </a:t>
            </a:r>
            <a:r>
              <a:rPr lang="ko-KR" altLang="en-US" dirty="0"/>
              <a:t>작용 </a:t>
            </a:r>
            <a:r>
              <a:rPr lang="en-US" altLang="ko-KR" dirty="0"/>
              <a:t>-&gt; </a:t>
            </a:r>
            <a:r>
              <a:rPr lang="ko-KR" altLang="en-US" dirty="0"/>
              <a:t>도덕적 해이 감소</a:t>
            </a:r>
            <a:r>
              <a:rPr lang="en-US" altLang="ko-KR" dirty="0"/>
              <a:t>(</a:t>
            </a:r>
            <a:r>
              <a:rPr lang="ko-KR" altLang="en-US" dirty="0"/>
              <a:t>투자에 </a:t>
            </a:r>
            <a:r>
              <a:rPr lang="en-US" altLang="ko-KR" dirty="0"/>
              <a:t>commitment)</a:t>
            </a:r>
          </a:p>
          <a:p>
            <a:pPr lvl="2"/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도덕적</a:t>
            </a:r>
            <a:r>
              <a:rPr lang="en-US" altLang="ko-KR" dirty="0"/>
              <a:t> </a:t>
            </a:r>
            <a:r>
              <a:rPr lang="ko-KR" altLang="en-US" dirty="0"/>
              <a:t>해이를 완전히 없앨 수 없음 </a:t>
            </a:r>
            <a:r>
              <a:rPr lang="en-US" altLang="ko-KR" dirty="0"/>
              <a:t>M </a:t>
            </a:r>
            <a:r>
              <a:rPr lang="ko-KR" altLang="en-US" dirty="0"/>
              <a:t>비율 </a:t>
            </a:r>
            <a:r>
              <a:rPr lang="en-US" altLang="ko-KR" dirty="0"/>
              <a:t>100%</a:t>
            </a:r>
            <a:r>
              <a:rPr lang="ko-KR" altLang="en-US" dirty="0"/>
              <a:t>면 정부지원 무의미</a:t>
            </a:r>
            <a:r>
              <a:rPr lang="en-US" altLang="ko-KR" dirty="0"/>
              <a:t>. M </a:t>
            </a:r>
            <a:r>
              <a:rPr lang="ko-KR" altLang="en-US" dirty="0"/>
              <a:t>비율 </a:t>
            </a:r>
            <a:r>
              <a:rPr lang="en-US" altLang="ko-KR" dirty="0"/>
              <a:t>50%</a:t>
            </a:r>
            <a:r>
              <a:rPr lang="ko-KR" altLang="en-US" dirty="0"/>
              <a:t>면 정부에서 실패하거나 성공하거나 둘 중 하나라서 </a:t>
            </a:r>
            <a:r>
              <a:rPr lang="en-US" altLang="ko-KR" dirty="0"/>
              <a:t>OK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552688-1638-C69C-50AB-F0C0B8E1D25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포상 </a:t>
            </a:r>
            <a:r>
              <a:rPr lang="en-US" altLang="ko-KR" dirty="0"/>
              <a:t>vs </a:t>
            </a:r>
            <a:r>
              <a:rPr lang="ko-KR" altLang="en-US" dirty="0"/>
              <a:t>특허 </a:t>
            </a:r>
            <a:r>
              <a:rPr lang="en-US" altLang="ko-KR" dirty="0"/>
              <a:t>: (</a:t>
            </a:r>
            <a:r>
              <a:rPr lang="ko-KR" altLang="en-US" dirty="0"/>
              <a:t>보상</a:t>
            </a:r>
            <a:r>
              <a:rPr lang="en-US" altLang="ko-KR" dirty="0"/>
              <a:t>→</a:t>
            </a:r>
            <a:r>
              <a:rPr lang="ko-KR" altLang="en-US" dirty="0"/>
              <a:t>발명가치 연결</a:t>
            </a:r>
            <a:r>
              <a:rPr lang="en-US" altLang="ko-KR" dirty="0"/>
              <a:t>O) → </a:t>
            </a:r>
            <a:r>
              <a:rPr lang="ko-KR" altLang="en-US" dirty="0"/>
              <a:t>포상</a:t>
            </a:r>
            <a:r>
              <a:rPr lang="en-US" altLang="ko-KR" dirty="0"/>
              <a:t>, (</a:t>
            </a:r>
            <a:r>
              <a:rPr lang="ko-KR" altLang="en-US" dirty="0"/>
              <a:t>보상</a:t>
            </a:r>
            <a:r>
              <a:rPr lang="en-US" altLang="ko-KR" dirty="0"/>
              <a:t>→</a:t>
            </a:r>
            <a:r>
              <a:rPr lang="ko-KR" altLang="en-US" dirty="0"/>
              <a:t>발명가치 연결</a:t>
            </a:r>
            <a:r>
              <a:rPr lang="en-US" altLang="ko-KR" dirty="0"/>
              <a:t>X) → </a:t>
            </a:r>
            <a:r>
              <a:rPr lang="ko-KR" altLang="en-US" dirty="0"/>
              <a:t>특허</a:t>
            </a:r>
            <a:endParaRPr lang="en-US" altLang="ko-KR" dirty="0"/>
          </a:p>
          <a:p>
            <a:r>
              <a:rPr lang="ko-KR" altLang="en-US" dirty="0" err="1"/>
              <a:t>비크리옥션</a:t>
            </a:r>
            <a:r>
              <a:rPr lang="en-US" altLang="ko-KR" dirty="0"/>
              <a:t>:2</a:t>
            </a:r>
            <a:r>
              <a:rPr lang="ko-KR" altLang="en-US" dirty="0"/>
              <a:t>번째 높은 금액 낙찰</a:t>
            </a:r>
            <a:r>
              <a:rPr lang="en-US" altLang="ko-KR" dirty="0"/>
              <a:t>: </a:t>
            </a:r>
            <a:r>
              <a:rPr lang="ko-KR" altLang="en-US" dirty="0"/>
              <a:t>최선전략 </a:t>
            </a:r>
            <a:r>
              <a:rPr lang="en-US" altLang="ko-KR" dirty="0"/>
              <a:t>True value </a:t>
            </a:r>
            <a:r>
              <a:rPr lang="ko-KR" altLang="en-US" dirty="0"/>
              <a:t>노출</a:t>
            </a:r>
            <a:r>
              <a:rPr lang="en-US" altLang="ko-KR" dirty="0"/>
              <a:t>(but, </a:t>
            </a:r>
            <a:r>
              <a:rPr lang="ko-KR" altLang="en-US" dirty="0"/>
              <a:t>현실 담합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TV</a:t>
            </a:r>
            <a:r>
              <a:rPr lang="ko-KR" altLang="en-US" dirty="0"/>
              <a:t>보다</a:t>
            </a:r>
            <a:r>
              <a:rPr lang="en-US" altLang="ko-KR" dirty="0"/>
              <a:t> </a:t>
            </a:r>
            <a:r>
              <a:rPr lang="ko-KR" altLang="en-US" dirty="0" err="1"/>
              <a:t>높</a:t>
            </a:r>
            <a:r>
              <a:rPr lang="en-US" altLang="ko-KR" dirty="0"/>
              <a:t>:(A:110vsB:105) → A</a:t>
            </a:r>
            <a:r>
              <a:rPr lang="ko-KR" altLang="en-US" dirty="0"/>
              <a:t>낙찰</a:t>
            </a:r>
            <a:r>
              <a:rPr lang="en-US" altLang="ko-KR" dirty="0"/>
              <a:t>. But, TV&lt;</a:t>
            </a:r>
            <a:r>
              <a:rPr lang="ko-KR" altLang="en-US" dirty="0"/>
              <a:t>낙찰가</a:t>
            </a:r>
            <a:r>
              <a:rPr lang="en-US" altLang="ko-KR" dirty="0"/>
              <a:t> → </a:t>
            </a:r>
            <a:r>
              <a:rPr lang="ko-KR" altLang="en-US" dirty="0"/>
              <a:t>손해 </a:t>
            </a:r>
            <a:r>
              <a:rPr lang="en-US" altLang="ko-KR" dirty="0"/>
              <a:t>: </a:t>
            </a:r>
            <a:r>
              <a:rPr lang="ko-KR" altLang="en-US" dirty="0"/>
              <a:t>승자의 저주</a:t>
            </a:r>
            <a:br>
              <a:rPr lang="en-US" altLang="ko-KR" dirty="0"/>
            </a:br>
            <a:r>
              <a:rPr lang="en-US" altLang="ko-KR" dirty="0"/>
              <a:t>TV</a:t>
            </a:r>
            <a:r>
              <a:rPr lang="ko-KR" altLang="en-US" dirty="0"/>
              <a:t>보다</a:t>
            </a:r>
            <a:r>
              <a:rPr lang="en-US" altLang="ko-KR" dirty="0"/>
              <a:t> </a:t>
            </a:r>
            <a:r>
              <a:rPr lang="ko-KR" altLang="en-US" dirty="0"/>
              <a:t>낮</a:t>
            </a:r>
            <a:r>
              <a:rPr lang="en-US" altLang="ko-KR" dirty="0"/>
              <a:t>:(A:95vsB:97) → B</a:t>
            </a:r>
            <a:r>
              <a:rPr lang="ko-KR" altLang="en-US" dirty="0"/>
              <a:t>낙찰</a:t>
            </a:r>
            <a:r>
              <a:rPr lang="en-US" altLang="ko-KR" dirty="0"/>
              <a:t>. A</a:t>
            </a:r>
            <a:r>
              <a:rPr lang="ko-KR" altLang="en-US" dirty="0"/>
              <a:t>는 낙찰기회 </a:t>
            </a:r>
            <a:r>
              <a:rPr lang="en-US" altLang="ko-KR" dirty="0"/>
              <a:t>X</a:t>
            </a:r>
          </a:p>
          <a:p>
            <a:r>
              <a:rPr lang="ko-KR" altLang="en-US" dirty="0" err="1"/>
              <a:t>매칭펀드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l-GR" altLang="ko-KR" dirty="0"/>
              <a:t>π</a:t>
            </a:r>
            <a:r>
              <a:rPr lang="en-US" altLang="ko-KR" dirty="0"/>
              <a:t>Vt &gt;C 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en-US" dirty="0"/>
              <a:t>기업 연구 </a:t>
            </a:r>
            <a:r>
              <a:rPr lang="en-US" altLang="ko-KR" dirty="0"/>
              <a:t>: S</a:t>
            </a:r>
            <a:r>
              <a:rPr lang="ko-KR" altLang="en-US" dirty="0"/>
              <a:t>만 </a:t>
            </a:r>
            <a:r>
              <a:rPr lang="en-US" altLang="ko-KR" dirty="0"/>
              <a:t>: </a:t>
            </a:r>
            <a:r>
              <a:rPr lang="el-GR" altLang="ko-KR" dirty="0"/>
              <a:t>π</a:t>
            </a:r>
            <a:r>
              <a:rPr lang="en-US" altLang="ko-KR" dirty="0" err="1"/>
              <a:t>Vt+S</a:t>
            </a:r>
            <a:r>
              <a:rPr lang="en-US" altLang="ko-KR" dirty="0"/>
              <a:t>&gt;C </a:t>
            </a:r>
            <a:r>
              <a:rPr lang="ko-KR" altLang="en-US" dirty="0"/>
              <a:t>연구</a:t>
            </a:r>
            <a:r>
              <a:rPr lang="en-US" altLang="ko-KR" dirty="0"/>
              <a:t>. But, </a:t>
            </a:r>
            <a:r>
              <a:rPr lang="el-GR" altLang="ko-KR" dirty="0"/>
              <a:t>π</a:t>
            </a:r>
            <a:r>
              <a:rPr lang="en-US" altLang="ko-KR" dirty="0"/>
              <a:t>Vt&lt;C &amp; </a:t>
            </a:r>
            <a:r>
              <a:rPr lang="el-GR" altLang="ko-KR" dirty="0"/>
              <a:t>π</a:t>
            </a:r>
            <a:r>
              <a:rPr lang="en-US" altLang="ko-KR" dirty="0" err="1"/>
              <a:t>Vt+S</a:t>
            </a:r>
            <a:r>
              <a:rPr lang="en-US" altLang="ko-KR" dirty="0"/>
              <a:t>&gt;C </a:t>
            </a:r>
            <a:r>
              <a:rPr lang="ko-KR" altLang="en-US" dirty="0"/>
              <a:t>동시</a:t>
            </a:r>
            <a:r>
              <a:rPr lang="en-US" altLang="ko-KR" dirty="0"/>
              <a:t> </a:t>
            </a:r>
            <a:r>
              <a:rPr lang="ko-KR" altLang="en-US" dirty="0"/>
              <a:t>만족 중 </a:t>
            </a:r>
            <a:r>
              <a:rPr lang="en-US" altLang="ko-KR" dirty="0"/>
              <a:t>V↓↓ </a:t>
            </a:r>
            <a:r>
              <a:rPr lang="ko-KR" altLang="en-US" dirty="0"/>
              <a:t>기술</a:t>
            </a:r>
            <a:r>
              <a:rPr lang="en-US" altLang="ko-KR" dirty="0"/>
              <a:t>:MH</a:t>
            </a:r>
            <a:br>
              <a:rPr lang="en-US" altLang="ko-KR" dirty="0"/>
            </a:br>
            <a:r>
              <a:rPr lang="en-US" altLang="ko-KR" dirty="0"/>
              <a:t>M</a:t>
            </a:r>
            <a:r>
              <a:rPr lang="ko-KR" altLang="en-US" dirty="0"/>
              <a:t>도입 </a:t>
            </a:r>
            <a:r>
              <a:rPr lang="en-US" altLang="ko-KR" dirty="0"/>
              <a:t>: </a:t>
            </a:r>
            <a:r>
              <a:rPr lang="el-GR" altLang="ko-KR" dirty="0"/>
              <a:t>π</a:t>
            </a:r>
            <a:r>
              <a:rPr lang="en-US" altLang="ko-KR" dirty="0"/>
              <a:t>Vt &gt;M</a:t>
            </a:r>
            <a:r>
              <a:rPr lang="ko-KR" altLang="en-US" dirty="0"/>
              <a:t>에서 연구유인</a:t>
            </a:r>
            <a:r>
              <a:rPr lang="en-US" altLang="ko-KR" dirty="0"/>
              <a:t>. M↑→</a:t>
            </a:r>
            <a:r>
              <a:rPr lang="ko-KR" altLang="en-US" dirty="0"/>
              <a:t>가치</a:t>
            </a:r>
            <a:r>
              <a:rPr lang="en-US" altLang="ko-KR" dirty="0"/>
              <a:t>↓V</a:t>
            </a:r>
            <a:r>
              <a:rPr lang="ko-KR" altLang="en-US" dirty="0"/>
              <a:t>연구 포기 </a:t>
            </a:r>
            <a:r>
              <a:rPr lang="en-US" altLang="ko-KR" dirty="0"/>
              <a:t>→ MH</a:t>
            </a:r>
            <a:r>
              <a:rPr lang="ko-KR" altLang="en-US" dirty="0"/>
              <a:t>감소</a:t>
            </a:r>
            <a:r>
              <a:rPr lang="en-US" altLang="ko-KR" dirty="0"/>
              <a:t>. </a:t>
            </a:r>
            <a:r>
              <a:rPr lang="ko-KR" altLang="en-US" dirty="0"/>
              <a:t>단 </a:t>
            </a:r>
            <a:r>
              <a:rPr lang="en-US" altLang="ko-KR" dirty="0"/>
              <a:t>M=100% X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ED9D590-1039-5ABC-D42C-FFC21C446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391" y="704528"/>
            <a:ext cx="2313284" cy="17807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E5B6C1F-0DF1-49BB-531C-33B4E7EF0D9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49080" y="4592960"/>
            <a:ext cx="2651595" cy="1966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E22BEB-5CC2-E51C-5708-F3CF89702224}"/>
              </a:ext>
            </a:extLst>
          </p:cNvPr>
          <p:cNvSpPr txBox="1"/>
          <p:nvPr/>
        </p:nvSpPr>
        <p:spPr>
          <a:xfrm>
            <a:off x="4749995" y="519425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/>
              <a:t>(S</a:t>
            </a:r>
            <a:r>
              <a:rPr lang="ko-KR" altLang="en-US" sz="700" dirty="0"/>
              <a:t>만 </a:t>
            </a:r>
            <a:r>
              <a:rPr lang="en-US" altLang="ko-KR" sz="700" dirty="0"/>
              <a:t>O)</a:t>
            </a:r>
          </a:p>
          <a:p>
            <a:r>
              <a:rPr lang="en-US" altLang="ko-KR" sz="700" dirty="0"/>
              <a:t>MH</a:t>
            </a:r>
            <a:r>
              <a:rPr lang="ko-KR" altLang="en-US" sz="700" dirty="0"/>
              <a:t> 영역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8E709-5635-97C5-814C-975EAAF5BAA8}"/>
              </a:ext>
            </a:extLst>
          </p:cNvPr>
          <p:cNvSpPr txBox="1"/>
          <p:nvPr/>
        </p:nvSpPr>
        <p:spPr>
          <a:xfrm>
            <a:off x="4518991" y="4886473"/>
            <a:ext cx="7553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/>
              <a:t>(M</a:t>
            </a:r>
            <a:r>
              <a:rPr lang="ko-KR" altLang="en-US" sz="700" dirty="0"/>
              <a:t>도입 후</a:t>
            </a:r>
            <a:r>
              <a:rPr lang="en-US" altLang="ko-KR" sz="700" dirty="0"/>
              <a:t>)</a:t>
            </a:r>
          </a:p>
          <a:p>
            <a:r>
              <a:rPr lang="en-US" altLang="ko-KR" sz="700" dirty="0"/>
              <a:t>MH</a:t>
            </a:r>
            <a:r>
              <a:rPr lang="ko-KR" altLang="en-US" sz="700" dirty="0"/>
              <a:t> 방지 영역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2E3D1-00FA-58E9-0B4C-2B20EA0920AF}"/>
              </a:ext>
            </a:extLst>
          </p:cNvPr>
          <p:cNvSpPr txBox="1"/>
          <p:nvPr/>
        </p:nvSpPr>
        <p:spPr>
          <a:xfrm>
            <a:off x="5178132" y="5415256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추가적으로</a:t>
            </a:r>
            <a:endParaRPr lang="en-US" altLang="ko-KR" sz="700" dirty="0"/>
          </a:p>
          <a:p>
            <a:r>
              <a:rPr lang="ko-KR" altLang="en-US" sz="700" dirty="0"/>
              <a:t>가능 영역</a:t>
            </a:r>
            <a:endParaRPr lang="en-US" altLang="ko-KR" sz="7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B59C0D-2458-7E4C-5671-6483B4CBDF50}"/>
              </a:ext>
            </a:extLst>
          </p:cNvPr>
          <p:cNvSpPr txBox="1"/>
          <p:nvPr/>
        </p:nvSpPr>
        <p:spPr>
          <a:xfrm>
            <a:off x="5179300" y="6140842"/>
            <a:ext cx="6078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안 할 영역</a:t>
            </a:r>
            <a:endParaRPr lang="en-US" altLang="ko-KR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74CAF8-A0BA-3179-D2DF-6C6170BB2823}"/>
              </a:ext>
            </a:extLst>
          </p:cNvPr>
          <p:cNvSpPr txBox="1"/>
          <p:nvPr/>
        </p:nvSpPr>
        <p:spPr>
          <a:xfrm>
            <a:off x="5625245" y="5759903"/>
            <a:ext cx="6976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원래 할 영역</a:t>
            </a:r>
            <a:endParaRPr lang="en-US" altLang="ko-KR" sz="7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DC7E586-DFFC-5E2B-075D-59306870E88D}"/>
              </a:ext>
            </a:extLst>
          </p:cNvPr>
          <p:cNvCxnSpPr>
            <a:cxnSpLocks/>
          </p:cNvCxnSpPr>
          <p:nvPr/>
        </p:nvCxnSpPr>
        <p:spPr>
          <a:xfrm flipV="1">
            <a:off x="4562111" y="5444142"/>
            <a:ext cx="307049" cy="7329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D29E0DE-3DFD-91D6-7E74-5701B5F7732D}"/>
              </a:ext>
            </a:extLst>
          </p:cNvPr>
          <p:cNvCxnSpPr>
            <a:cxnSpLocks/>
          </p:cNvCxnSpPr>
          <p:nvPr/>
        </p:nvCxnSpPr>
        <p:spPr>
          <a:xfrm flipV="1">
            <a:off x="4562111" y="5135948"/>
            <a:ext cx="104466" cy="67469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62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682AB08-3D6A-9231-30B7-1FFB0CA47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4C8C4A0-6FF3-3C2C-DA14-B1F6152D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표준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C0315D-545C-3B18-8D90-55456FA68B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DFB6C3B-BB57-3CBC-2AB9-C7460482FE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표준의 정의 </a:t>
            </a:r>
            <a:r>
              <a:rPr lang="en-US" altLang="ko-KR" dirty="0"/>
              <a:t>: </a:t>
            </a:r>
            <a:r>
              <a:rPr lang="ko-KR" altLang="en-US" dirty="0"/>
              <a:t>제품</a:t>
            </a:r>
            <a:r>
              <a:rPr lang="en-US" altLang="ko-KR" dirty="0"/>
              <a:t>/</a:t>
            </a:r>
            <a:r>
              <a:rPr lang="ko-KR" altLang="en-US" dirty="0"/>
              <a:t>생산 공정의 공통적 특성에 대한 정의</a:t>
            </a:r>
            <a:endParaRPr lang="en-US" altLang="ko-KR" dirty="0"/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/>
              <a:t>편의성 증대</a:t>
            </a:r>
            <a:r>
              <a:rPr lang="en-US" altLang="ko-KR" dirty="0"/>
              <a:t>(</a:t>
            </a:r>
            <a:r>
              <a:rPr lang="ko-KR" altLang="en-US" dirty="0"/>
              <a:t>표준 </a:t>
            </a:r>
            <a:r>
              <a:rPr lang="en-US" altLang="ko-KR" dirty="0"/>
              <a:t>O?-&gt;</a:t>
            </a:r>
            <a:r>
              <a:rPr lang="ko-KR" altLang="en-US" dirty="0"/>
              <a:t>소비자</a:t>
            </a:r>
            <a:r>
              <a:rPr lang="en-US" altLang="ko-KR" dirty="0"/>
              <a:t> </a:t>
            </a:r>
            <a:r>
              <a:rPr lang="ko-KR" altLang="en-US" dirty="0"/>
              <a:t>고민</a:t>
            </a:r>
            <a:r>
              <a:rPr lang="en-US" altLang="ko-KR" dirty="0"/>
              <a:t>X), </a:t>
            </a:r>
            <a:r>
              <a:rPr lang="ko-KR" altLang="en-US" dirty="0"/>
              <a:t>비용절감 및 효율성 극대화</a:t>
            </a:r>
            <a:r>
              <a:rPr lang="en-US" altLang="ko-KR" dirty="0"/>
              <a:t>(</a:t>
            </a:r>
            <a:r>
              <a:rPr lang="ko-KR" altLang="en-US" dirty="0"/>
              <a:t>다 규격 불편함</a:t>
            </a:r>
            <a:r>
              <a:rPr lang="en-US" altLang="ko-KR" dirty="0"/>
              <a:t>X, </a:t>
            </a:r>
            <a:r>
              <a:rPr lang="ko-KR" altLang="en-US" dirty="0"/>
              <a:t>획일화된 하나의 형태로 통일</a:t>
            </a:r>
            <a:r>
              <a:rPr lang="en-US" altLang="ko-KR" dirty="0"/>
              <a:t> -&gt; </a:t>
            </a:r>
            <a:r>
              <a:rPr lang="ko-KR" altLang="en-US" dirty="0"/>
              <a:t>효율성↑</a:t>
            </a:r>
            <a:r>
              <a:rPr lang="en-US" altLang="ko-KR" dirty="0"/>
              <a:t>, </a:t>
            </a:r>
            <a:r>
              <a:rPr lang="ko-KR" altLang="en-US" dirty="0"/>
              <a:t>사회적 유용성 증대</a:t>
            </a:r>
            <a:endParaRPr lang="en-US" altLang="ko-KR" dirty="0"/>
          </a:p>
          <a:p>
            <a:pPr lvl="1"/>
            <a:r>
              <a:rPr lang="ko-KR" altLang="en-US" dirty="0"/>
              <a:t>특징</a:t>
            </a:r>
            <a:r>
              <a:rPr lang="en-US" altLang="ko-KR" dirty="0"/>
              <a:t> : </a:t>
            </a:r>
            <a:r>
              <a:rPr lang="ko-KR" altLang="en-US" dirty="0"/>
              <a:t>다양성 포기</a:t>
            </a:r>
            <a:r>
              <a:rPr lang="en-US" altLang="ko-KR" dirty="0"/>
              <a:t>, </a:t>
            </a:r>
            <a:r>
              <a:rPr lang="ko-KR" altLang="en-US" dirty="0"/>
              <a:t>대량 생산 체제 핵심</a:t>
            </a:r>
            <a:r>
              <a:rPr lang="en-US" altLang="ko-KR" dirty="0"/>
              <a:t>(</a:t>
            </a:r>
            <a:r>
              <a:rPr lang="ko-KR" altLang="en-US" dirty="0"/>
              <a:t>효율성↑</a:t>
            </a:r>
            <a:r>
              <a:rPr lang="en-US" altLang="ko-KR" dirty="0"/>
              <a:t>,</a:t>
            </a:r>
            <a:r>
              <a:rPr lang="ko-KR" altLang="en-US" dirty="0"/>
              <a:t>규모의 경제</a:t>
            </a:r>
            <a:r>
              <a:rPr lang="en-US" altLang="ko-KR" dirty="0"/>
              <a:t>), </a:t>
            </a:r>
            <a:r>
              <a:rPr lang="ko-KR" altLang="en-US" dirty="0"/>
              <a:t>경제적 필요성 및 부</a:t>
            </a:r>
            <a:endParaRPr lang="en-US" altLang="ko-KR" dirty="0"/>
          </a:p>
          <a:p>
            <a:r>
              <a:rPr lang="ko-KR" altLang="en-US" dirty="0"/>
              <a:t>표준의 종류</a:t>
            </a:r>
            <a:endParaRPr lang="en-US" altLang="ko-KR" dirty="0"/>
          </a:p>
          <a:p>
            <a:pPr lvl="1"/>
            <a:r>
              <a:rPr lang="ko-KR" altLang="en-US" dirty="0"/>
              <a:t>국가표준</a:t>
            </a:r>
            <a:r>
              <a:rPr lang="en-US" altLang="ko-KR" dirty="0"/>
              <a:t>, </a:t>
            </a:r>
            <a:r>
              <a:rPr lang="ko-KR" altLang="en-US" dirty="0"/>
              <a:t>지역표준</a:t>
            </a:r>
            <a:r>
              <a:rPr lang="en-US" altLang="ko-KR" dirty="0"/>
              <a:t>(</a:t>
            </a:r>
            <a:r>
              <a:rPr lang="ko-KR" altLang="en-US" dirty="0"/>
              <a:t>지역 내 여러 국가 협의</a:t>
            </a:r>
            <a:r>
              <a:rPr lang="en-US" altLang="ko-KR" dirty="0"/>
              <a:t>), </a:t>
            </a:r>
            <a:r>
              <a:rPr lang="ko-KR" altLang="en-US" dirty="0"/>
              <a:t>국제표준</a:t>
            </a:r>
            <a:r>
              <a:rPr lang="en-US" altLang="ko-KR" dirty="0"/>
              <a:t>(ISO)</a:t>
            </a:r>
          </a:p>
          <a:p>
            <a:r>
              <a:rPr lang="ko-KR" altLang="en-US" dirty="0"/>
              <a:t>표준의 순기능</a:t>
            </a:r>
            <a:r>
              <a:rPr lang="en-US" altLang="ko-KR" dirty="0"/>
              <a:t>, </a:t>
            </a:r>
            <a:r>
              <a:rPr lang="ko-KR" altLang="en-US" dirty="0"/>
              <a:t>역기능</a:t>
            </a:r>
            <a:endParaRPr lang="en-US" altLang="ko-KR" dirty="0"/>
          </a:p>
          <a:p>
            <a:pPr lvl="1"/>
            <a:r>
              <a:rPr lang="ko-KR" altLang="en-US" dirty="0"/>
              <a:t>순기능 </a:t>
            </a:r>
            <a:r>
              <a:rPr lang="en-US" altLang="ko-KR" dirty="0"/>
              <a:t>: </a:t>
            </a:r>
            <a:r>
              <a:rPr lang="ko-KR" altLang="en-US" dirty="0"/>
              <a:t>정보 비대칭성 해결 </a:t>
            </a:r>
            <a:r>
              <a:rPr lang="en-US" altLang="ko-KR" dirty="0"/>
              <a:t>-&gt; </a:t>
            </a:r>
            <a:r>
              <a:rPr lang="ko-KR" altLang="en-US" dirty="0"/>
              <a:t>도덕적 해이</a:t>
            </a:r>
            <a:r>
              <a:rPr lang="en-US" altLang="ko-KR" dirty="0"/>
              <a:t>/</a:t>
            </a:r>
            <a:r>
              <a:rPr lang="ko-KR" altLang="en-US" dirty="0"/>
              <a:t>역선택 해결</a:t>
            </a:r>
            <a:endParaRPr lang="en-US" altLang="ko-KR" dirty="0"/>
          </a:p>
          <a:p>
            <a:pPr lvl="2"/>
            <a:r>
              <a:rPr lang="ko-KR" altLang="en-US" dirty="0"/>
              <a:t>레몬마켓</a:t>
            </a:r>
            <a:r>
              <a:rPr lang="en-US" altLang="ko-KR" dirty="0"/>
              <a:t>? </a:t>
            </a:r>
            <a:r>
              <a:rPr lang="ko-KR" altLang="en-US" dirty="0"/>
              <a:t>정부 품질인증</a:t>
            </a:r>
            <a:r>
              <a:rPr lang="en-US" altLang="ko-KR" dirty="0"/>
              <a:t>?(</a:t>
            </a:r>
            <a:r>
              <a:rPr lang="ko-KR" altLang="en-US" dirty="0"/>
              <a:t>품질 표준화</a:t>
            </a:r>
            <a:r>
              <a:rPr lang="en-US" altLang="ko-KR" dirty="0"/>
              <a:t>, </a:t>
            </a:r>
            <a:r>
              <a:rPr lang="ko-KR" altLang="en-US" dirty="0"/>
              <a:t>최소한의 품질 보증</a:t>
            </a:r>
            <a:r>
              <a:rPr lang="en-US" altLang="ko-KR" dirty="0"/>
              <a:t>) -&gt; </a:t>
            </a:r>
            <a:r>
              <a:rPr lang="ko-KR" altLang="en-US" dirty="0"/>
              <a:t>가격 결정 합리적</a:t>
            </a:r>
            <a:r>
              <a:rPr lang="en-US" altLang="ko-KR" dirty="0"/>
              <a:t>. </a:t>
            </a:r>
            <a:r>
              <a:rPr lang="ko-KR" altLang="en-US" dirty="0"/>
              <a:t>시장실패 방지</a:t>
            </a:r>
            <a:r>
              <a:rPr lang="en-US" altLang="ko-KR" dirty="0"/>
              <a:t>. </a:t>
            </a:r>
          </a:p>
          <a:p>
            <a:pPr lvl="2"/>
            <a:r>
              <a:rPr lang="ko-KR" altLang="en-US" dirty="0"/>
              <a:t>거래비용</a:t>
            </a:r>
            <a:r>
              <a:rPr lang="en-US" altLang="ko-KR" dirty="0"/>
              <a:t>/</a:t>
            </a:r>
            <a:r>
              <a:rPr lang="ko-KR" altLang="en-US" dirty="0"/>
              <a:t>탐색비용 감소 </a:t>
            </a:r>
            <a:r>
              <a:rPr lang="en-US" altLang="ko-KR" dirty="0"/>
              <a:t>: </a:t>
            </a:r>
            <a:r>
              <a:rPr lang="ko-KR" altLang="en-US" dirty="0"/>
              <a:t>검증</a:t>
            </a:r>
            <a:r>
              <a:rPr lang="en-US" altLang="ko-KR" dirty="0"/>
              <a:t>X</a:t>
            </a:r>
            <a:r>
              <a:rPr lang="ko-KR" altLang="en-US" dirty="0"/>
              <a:t>에 대한 불안감 해소</a:t>
            </a:r>
            <a:endParaRPr lang="en-US" altLang="ko-KR" dirty="0"/>
          </a:p>
          <a:p>
            <a:pPr lvl="2"/>
            <a:r>
              <a:rPr lang="ko-KR" altLang="en-US" dirty="0"/>
              <a:t>복합기술제품에 유용 </a:t>
            </a:r>
            <a:r>
              <a:rPr lang="en-US" altLang="ko-KR" dirty="0"/>
              <a:t>: </a:t>
            </a:r>
            <a:r>
              <a:rPr lang="ko-KR" altLang="en-US" dirty="0"/>
              <a:t>기술이 전체적으로 호환됨이 중요 </a:t>
            </a:r>
            <a:r>
              <a:rPr lang="en-US" altLang="ko-KR" dirty="0"/>
              <a:t>-&gt; </a:t>
            </a:r>
            <a:r>
              <a:rPr lang="ko-KR" altLang="en-US" dirty="0"/>
              <a:t>기업</a:t>
            </a:r>
            <a:r>
              <a:rPr lang="en-US" altLang="ko-KR" dirty="0"/>
              <a:t>/</a:t>
            </a:r>
            <a:r>
              <a:rPr lang="ko-KR" altLang="en-US" dirty="0"/>
              <a:t>기관간 필수적이고 근본적인 기술들의 표준화가 필수적</a:t>
            </a:r>
            <a:endParaRPr lang="en-US" altLang="ko-KR" dirty="0"/>
          </a:p>
          <a:p>
            <a:pPr lvl="2"/>
            <a:r>
              <a:rPr lang="ko-KR" altLang="en-US" dirty="0"/>
              <a:t>기업의 전환비용↑</a:t>
            </a:r>
            <a:r>
              <a:rPr lang="en-US" altLang="ko-KR" dirty="0"/>
              <a:t>-&gt;</a:t>
            </a:r>
            <a:r>
              <a:rPr lang="ko-KR" altLang="en-US" dirty="0"/>
              <a:t>소비자봉쇄전략</a:t>
            </a:r>
            <a:r>
              <a:rPr lang="en-US" altLang="ko-KR" dirty="0"/>
              <a:t>(lock in : </a:t>
            </a:r>
            <a:r>
              <a:rPr lang="ko-KR" altLang="en-US" dirty="0"/>
              <a:t>호환</a:t>
            </a:r>
            <a:r>
              <a:rPr lang="en-US" altLang="ko-KR" dirty="0"/>
              <a:t>X </a:t>
            </a:r>
            <a:r>
              <a:rPr lang="ko-KR" altLang="en-US" dirty="0"/>
              <a:t>되게끔</a:t>
            </a:r>
            <a:r>
              <a:rPr lang="en-US" altLang="ko-KR" dirty="0"/>
              <a:t>. </a:t>
            </a:r>
            <a:r>
              <a:rPr lang="ko-KR" altLang="en-US" dirty="0"/>
              <a:t>애플 충전단자</a:t>
            </a:r>
            <a:r>
              <a:rPr lang="en-US" altLang="ko-KR" dirty="0"/>
              <a:t>)</a:t>
            </a:r>
            <a:r>
              <a:rPr lang="ko-KR" altLang="en-US" dirty="0"/>
              <a:t> 약화</a:t>
            </a:r>
            <a:endParaRPr lang="en-US" altLang="ko-KR" dirty="0"/>
          </a:p>
          <a:p>
            <a:pPr lvl="2"/>
            <a:r>
              <a:rPr lang="ko-KR" altLang="en-US" dirty="0"/>
              <a:t>네거티브</a:t>
            </a:r>
            <a:r>
              <a:rPr lang="en-US" altLang="ko-KR" dirty="0"/>
              <a:t>(</a:t>
            </a:r>
            <a:r>
              <a:rPr lang="ko-KR" altLang="en-US" dirty="0"/>
              <a:t>일정 기준 성정</a:t>
            </a:r>
            <a:r>
              <a:rPr lang="en-US" altLang="ko-KR" dirty="0"/>
              <a:t>. </a:t>
            </a:r>
            <a:r>
              <a:rPr lang="ko-KR" altLang="en-US" dirty="0"/>
              <a:t>다양성 포함</a:t>
            </a:r>
            <a:r>
              <a:rPr lang="en-US" altLang="ko-KR" dirty="0"/>
              <a:t>. </a:t>
            </a:r>
            <a:r>
              <a:rPr lang="ko-KR" altLang="en-US" dirty="0"/>
              <a:t>명확성 ↓</a:t>
            </a:r>
            <a:r>
              <a:rPr lang="en-US" altLang="ko-KR" dirty="0"/>
              <a:t>) </a:t>
            </a:r>
            <a:r>
              <a:rPr lang="ko-KR" altLang="en-US" dirty="0"/>
              <a:t>방식은 생산자 자율성 ↑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ko-KR" altLang="en-US" dirty="0"/>
              <a:t>포지티브 </a:t>
            </a:r>
            <a:r>
              <a:rPr lang="en-US" altLang="ko-KR" dirty="0"/>
              <a:t>-&gt; </a:t>
            </a:r>
            <a:r>
              <a:rPr lang="ko-KR" altLang="en-US" dirty="0"/>
              <a:t>모든 규정 열거</a:t>
            </a:r>
            <a:r>
              <a:rPr lang="en-US" altLang="ko-KR" dirty="0"/>
              <a:t>. </a:t>
            </a:r>
            <a:r>
              <a:rPr lang="ko-KR" altLang="en-US" dirty="0"/>
              <a:t>제품</a:t>
            </a:r>
            <a:r>
              <a:rPr lang="en-US" altLang="ko-KR" dirty="0"/>
              <a:t>/</a:t>
            </a:r>
            <a:r>
              <a:rPr lang="ko-KR" altLang="en-US" dirty="0"/>
              <a:t>기술 </a:t>
            </a:r>
            <a:r>
              <a:rPr lang="ko-KR" altLang="en-US" dirty="0" err="1"/>
              <a:t>개발시</a:t>
            </a:r>
            <a:r>
              <a:rPr lang="ko-KR" altLang="en-US" dirty="0"/>
              <a:t> 지속적 규정 변경</a:t>
            </a:r>
            <a:r>
              <a:rPr lang="en-US" altLang="ko-KR" dirty="0"/>
              <a:t>. </a:t>
            </a:r>
            <a:r>
              <a:rPr lang="ko-KR" altLang="en-US" dirty="0"/>
              <a:t>리스트</a:t>
            </a:r>
            <a:r>
              <a:rPr lang="en-US" altLang="ko-KR" dirty="0"/>
              <a:t>X?-&gt;</a:t>
            </a:r>
            <a:r>
              <a:rPr lang="ko-KR" altLang="en-US" dirty="0"/>
              <a:t>규정</a:t>
            </a:r>
            <a:r>
              <a:rPr lang="en-US" altLang="ko-KR" dirty="0"/>
              <a:t> </a:t>
            </a:r>
            <a:r>
              <a:rPr lang="ko-KR" altLang="en-US" dirty="0"/>
              <a:t>안 따라도 됨</a:t>
            </a:r>
            <a:endParaRPr lang="en-US" altLang="ko-KR" dirty="0"/>
          </a:p>
          <a:p>
            <a:pPr lvl="1"/>
            <a:r>
              <a:rPr lang="ko-KR" altLang="en-US" dirty="0"/>
              <a:t>역기능 </a:t>
            </a:r>
            <a:r>
              <a:rPr lang="en-US" altLang="ko-KR" dirty="0"/>
              <a:t>:</a:t>
            </a:r>
          </a:p>
          <a:p>
            <a:pPr lvl="2"/>
            <a:r>
              <a:rPr lang="ko-KR" altLang="en-US" dirty="0"/>
              <a:t>표준 채택기술 </a:t>
            </a:r>
            <a:r>
              <a:rPr lang="en-US" altLang="ko-KR" dirty="0"/>
              <a:t>: </a:t>
            </a:r>
            <a:r>
              <a:rPr lang="ko-KR" altLang="en-US" dirty="0"/>
              <a:t>기업이 지대 추구 </a:t>
            </a:r>
            <a:r>
              <a:rPr lang="en-US" altLang="ko-KR" dirty="0"/>
              <a:t>(</a:t>
            </a:r>
            <a:r>
              <a:rPr lang="ko-KR" altLang="en-US" dirty="0"/>
              <a:t>표준화 편익 내부화 </a:t>
            </a:r>
            <a:r>
              <a:rPr lang="en-US" altLang="ko-KR" dirty="0"/>
              <a:t>: </a:t>
            </a:r>
            <a:r>
              <a:rPr lang="ko-KR" altLang="en-US" dirty="0"/>
              <a:t>높은 라이센스 조건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FRAND(Fair, Reasonable, And Non Discriminatory) </a:t>
            </a:r>
            <a:r>
              <a:rPr lang="ko-KR" altLang="en-US" dirty="0"/>
              <a:t>규정 위반 가능성</a:t>
            </a:r>
            <a:endParaRPr lang="en-US" altLang="ko-KR" dirty="0"/>
          </a:p>
          <a:p>
            <a:pPr lvl="2"/>
            <a:r>
              <a:rPr lang="ko-KR" altLang="en-US" dirty="0"/>
              <a:t>로비 가능성 </a:t>
            </a:r>
            <a:r>
              <a:rPr lang="en-US" altLang="ko-KR" dirty="0"/>
              <a:t>: </a:t>
            </a:r>
            <a:r>
              <a:rPr lang="ko-KR" altLang="en-US" dirty="0"/>
              <a:t>최적 수준보다 높은 비용에서 표준 책정</a:t>
            </a:r>
            <a:endParaRPr lang="en-US" altLang="ko-KR" dirty="0"/>
          </a:p>
          <a:p>
            <a:pPr lvl="2"/>
            <a:r>
              <a:rPr lang="ko-KR" altLang="en-US" dirty="0"/>
              <a:t>경쟁 ↓</a:t>
            </a:r>
            <a:r>
              <a:rPr lang="en-US" altLang="ko-KR" dirty="0"/>
              <a:t>, </a:t>
            </a:r>
            <a:r>
              <a:rPr lang="ko-KR" altLang="en-US" dirty="0"/>
              <a:t>다양성 감소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8D50FC-C640-30AB-47EC-A8797617A7D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표준</a:t>
            </a:r>
            <a:r>
              <a:rPr lang="en-US" altLang="ko-KR" dirty="0"/>
              <a:t> : </a:t>
            </a:r>
            <a:r>
              <a:rPr lang="ko-KR" altLang="en-US" dirty="0"/>
              <a:t>제품</a:t>
            </a:r>
            <a:r>
              <a:rPr lang="en-US" altLang="ko-KR" dirty="0"/>
              <a:t>/</a:t>
            </a:r>
            <a:r>
              <a:rPr lang="ko-KR" altLang="en-US" dirty="0"/>
              <a:t>생산 공정의 공통특성에 대한 정의 </a:t>
            </a:r>
            <a:r>
              <a:rPr lang="en-US" altLang="ko-KR" dirty="0"/>
              <a:t>: </a:t>
            </a:r>
            <a:r>
              <a:rPr lang="ko-KR" altLang="en-US" dirty="0"/>
              <a:t>다양성</a:t>
            </a:r>
            <a:r>
              <a:rPr lang="en-US" altLang="ko-KR" dirty="0"/>
              <a:t>↓, </a:t>
            </a:r>
            <a:r>
              <a:rPr lang="ko-KR" altLang="en-US" dirty="0"/>
              <a:t>대량생산 핵심</a:t>
            </a:r>
            <a:r>
              <a:rPr lang="en-US" altLang="ko-KR" dirty="0"/>
              <a:t>(</a:t>
            </a:r>
            <a:r>
              <a:rPr lang="ko-KR" altLang="en-US" dirty="0"/>
              <a:t>효율성↑</a:t>
            </a:r>
            <a:r>
              <a:rPr lang="en-US" altLang="ko-KR" dirty="0"/>
              <a:t>,</a:t>
            </a:r>
            <a:r>
              <a:rPr lang="ko-KR" altLang="en-US" dirty="0"/>
              <a:t>규모의 경제</a:t>
            </a:r>
            <a:r>
              <a:rPr lang="en-US" altLang="ko-KR" dirty="0"/>
              <a:t>), </a:t>
            </a:r>
            <a:r>
              <a:rPr lang="ko-KR" altLang="en-US" dirty="0"/>
              <a:t>경제적필요</a:t>
            </a:r>
            <a:r>
              <a:rPr lang="en-US" altLang="ko-KR" dirty="0"/>
              <a:t>&amp;</a:t>
            </a:r>
            <a:r>
              <a:rPr lang="ko-KR" altLang="en-US" dirty="0"/>
              <a:t>부</a:t>
            </a:r>
            <a:endParaRPr lang="en-US" altLang="ko-KR" dirty="0"/>
          </a:p>
          <a:p>
            <a:r>
              <a:rPr lang="ko-KR" altLang="en-US" dirty="0"/>
              <a:t>표준 순기능</a:t>
            </a:r>
            <a:r>
              <a:rPr lang="en-US" altLang="ko-KR" dirty="0"/>
              <a:t>:</a:t>
            </a:r>
            <a:r>
              <a:rPr lang="ko-KR" altLang="en-US" dirty="0"/>
              <a:t>정보비대칭성 해결 </a:t>
            </a:r>
            <a:r>
              <a:rPr lang="en-US" altLang="ko-KR" dirty="0"/>
              <a:t>→ MH/</a:t>
            </a:r>
            <a:r>
              <a:rPr lang="ko-KR" altLang="en-US" dirty="0"/>
              <a:t>역선택 해결</a:t>
            </a:r>
            <a:r>
              <a:rPr lang="en-US" altLang="ko-KR" dirty="0"/>
              <a:t>, </a:t>
            </a:r>
            <a:r>
              <a:rPr lang="ko-KR" altLang="en-US" dirty="0"/>
              <a:t>거래비용</a:t>
            </a:r>
            <a:r>
              <a:rPr lang="en-US" altLang="ko-KR" dirty="0"/>
              <a:t>/</a:t>
            </a:r>
            <a:r>
              <a:rPr lang="ko-KR" altLang="en-US" dirty="0"/>
              <a:t>탐색비용 </a:t>
            </a:r>
            <a:r>
              <a:rPr lang="en-US" altLang="ko-KR" dirty="0"/>
              <a:t>↓,</a:t>
            </a:r>
            <a:r>
              <a:rPr lang="ko-KR" altLang="en-US" dirty="0"/>
              <a:t> 복합기술 유용</a:t>
            </a:r>
            <a:r>
              <a:rPr lang="en-US" altLang="ko-KR" dirty="0"/>
              <a:t>, </a:t>
            </a:r>
            <a:r>
              <a:rPr lang="en-US" altLang="ko-KR" dirty="0" err="1"/>
              <a:t>lockin</a:t>
            </a:r>
            <a:r>
              <a:rPr lang="en-US" altLang="ko-KR" dirty="0"/>
              <a:t> </a:t>
            </a:r>
            <a:r>
              <a:rPr lang="ko-KR" altLang="en-US" dirty="0"/>
              <a:t>전략 약화</a:t>
            </a:r>
            <a:endParaRPr lang="en-US" altLang="ko-KR" dirty="0"/>
          </a:p>
          <a:p>
            <a:r>
              <a:rPr lang="ko-KR" altLang="en-US" dirty="0"/>
              <a:t>표준 역기능 </a:t>
            </a:r>
            <a:r>
              <a:rPr lang="en-US" altLang="ko-KR" dirty="0"/>
              <a:t>: </a:t>
            </a:r>
            <a:r>
              <a:rPr lang="ko-KR" altLang="en-US" dirty="0"/>
              <a:t>채택</a:t>
            </a:r>
            <a:r>
              <a:rPr lang="en-US" altLang="ko-KR" dirty="0"/>
              <a:t>→</a:t>
            </a:r>
            <a:r>
              <a:rPr lang="ko-KR" altLang="en-US" dirty="0"/>
              <a:t>기업 지대추구</a:t>
            </a:r>
            <a:r>
              <a:rPr lang="en-US" altLang="ko-KR" dirty="0"/>
              <a:t>(</a:t>
            </a:r>
            <a:r>
              <a:rPr lang="ko-KR" altLang="en-US" dirty="0" err="1"/>
              <a:t>높</a:t>
            </a:r>
            <a:r>
              <a:rPr lang="ko-KR" altLang="en-US" dirty="0"/>
              <a:t> 라이선스</a:t>
            </a:r>
            <a:r>
              <a:rPr lang="en-US" altLang="ko-KR" dirty="0"/>
              <a:t>), FRAND</a:t>
            </a:r>
            <a:r>
              <a:rPr lang="ko-KR" altLang="en-US" dirty="0"/>
              <a:t>위반 </a:t>
            </a:r>
            <a:r>
              <a:rPr lang="en-US" altLang="ko-KR" dirty="0"/>
              <a:t>O. </a:t>
            </a:r>
            <a:r>
              <a:rPr lang="ko-KR" altLang="en-US" dirty="0"/>
              <a:t>로비</a:t>
            </a:r>
            <a:r>
              <a:rPr lang="en-US" altLang="ko-KR" dirty="0"/>
              <a:t>→</a:t>
            </a:r>
            <a:r>
              <a:rPr lang="ko-KR" altLang="en-US" dirty="0"/>
              <a:t>최적보다 높은 비용</a:t>
            </a:r>
            <a:r>
              <a:rPr lang="en-US" altLang="ko-KR" dirty="0"/>
              <a:t>, </a:t>
            </a:r>
            <a:r>
              <a:rPr lang="ko-KR" altLang="en-US" dirty="0"/>
              <a:t>경쟁 </a:t>
            </a:r>
            <a:r>
              <a:rPr lang="en-US" altLang="ko-KR" dirty="0"/>
              <a:t>↓,</a:t>
            </a:r>
            <a:r>
              <a:rPr lang="ko-KR" altLang="en-US" dirty="0"/>
              <a:t>다양성</a:t>
            </a:r>
            <a:r>
              <a:rPr lang="en-US" altLang="ko-KR" dirty="0"/>
              <a:t> ↓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8412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E2BE84E-DD6F-EB0E-C7F3-14C96A71C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BEB4065-E06F-EE76-0C8F-EA98E4AFC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기술과 금융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5519DA-B108-97E3-77ED-7A5442C4C6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437B565-BD4B-2620-2F60-4DA3D0E745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벤처캐피탈의</a:t>
            </a:r>
            <a:r>
              <a:rPr lang="ko-KR" altLang="en-US" dirty="0"/>
              <a:t> 정의</a:t>
            </a:r>
            <a:endParaRPr lang="en-US" altLang="ko-KR" dirty="0"/>
          </a:p>
          <a:p>
            <a:pPr lvl="1"/>
            <a:r>
              <a:rPr lang="ko-KR" altLang="en-US" dirty="0"/>
              <a:t>벤처 기업 </a:t>
            </a:r>
            <a:r>
              <a:rPr lang="en-US" altLang="ko-KR" dirty="0"/>
              <a:t>: </a:t>
            </a:r>
            <a:r>
              <a:rPr lang="ko-KR" altLang="en-US" dirty="0"/>
              <a:t>신기술 개발</a:t>
            </a:r>
            <a:r>
              <a:rPr lang="en-US" altLang="ko-KR" dirty="0"/>
              <a:t>-&gt;</a:t>
            </a:r>
            <a:r>
              <a:rPr lang="ko-KR" altLang="en-US" dirty="0"/>
              <a:t>경제적 수익</a:t>
            </a:r>
            <a:r>
              <a:rPr lang="en-US" altLang="ko-KR" dirty="0"/>
              <a:t>; </a:t>
            </a:r>
            <a:r>
              <a:rPr lang="ko-KR" altLang="en-US" dirty="0"/>
              <a:t>지배적 기업에게 도전적</a:t>
            </a:r>
            <a:r>
              <a:rPr lang="en-US" altLang="ko-KR" dirty="0"/>
              <a:t> &amp; </a:t>
            </a:r>
            <a:r>
              <a:rPr lang="ko-KR" altLang="en-US" dirty="0"/>
              <a:t>실패위험↑</a:t>
            </a:r>
            <a:br>
              <a:rPr lang="en-US" altLang="ko-KR" dirty="0"/>
            </a:br>
            <a:r>
              <a:rPr lang="ko-KR" altLang="en-US" dirty="0"/>
              <a:t>벤처 캐피탈</a:t>
            </a:r>
            <a:r>
              <a:rPr lang="en-US" altLang="ko-KR" dirty="0"/>
              <a:t>(VC):</a:t>
            </a:r>
            <a:r>
              <a:rPr lang="ko-KR" altLang="en-US" dirty="0"/>
              <a:t>벤처투자</a:t>
            </a:r>
            <a:r>
              <a:rPr lang="en-US" altLang="ko-KR" dirty="0"/>
              <a:t>-&gt;</a:t>
            </a:r>
            <a:r>
              <a:rPr lang="ko-KR" altLang="en-US" dirty="0"/>
              <a:t>수익</a:t>
            </a:r>
            <a:r>
              <a:rPr lang="en-US" altLang="ko-KR" dirty="0"/>
              <a:t>; </a:t>
            </a:r>
            <a:r>
              <a:rPr lang="ko-KR" altLang="en-US" dirty="0"/>
              <a:t>벤처 펀드 조성</a:t>
            </a:r>
            <a:r>
              <a:rPr lang="en-US" altLang="ko-KR" dirty="0"/>
              <a:t>; </a:t>
            </a:r>
            <a:r>
              <a:rPr lang="ko-KR" altLang="en-US" dirty="0"/>
              <a:t>제안서 포함</a:t>
            </a:r>
            <a:r>
              <a:rPr lang="en-US" altLang="ko-KR" dirty="0"/>
              <a:t>,</a:t>
            </a:r>
            <a:r>
              <a:rPr lang="ko-KR" altLang="en-US" dirty="0"/>
              <a:t> 벤처기업 면밀히 평가</a:t>
            </a:r>
            <a:endParaRPr lang="en-US" altLang="ko-KR" dirty="0"/>
          </a:p>
          <a:p>
            <a:pPr lvl="2"/>
            <a:r>
              <a:rPr lang="ko-KR" altLang="en-US" dirty="0"/>
              <a:t>투자</a:t>
            </a:r>
            <a:r>
              <a:rPr lang="en-US" altLang="ko-KR" dirty="0"/>
              <a:t> </a:t>
            </a:r>
            <a:r>
              <a:rPr lang="ko-KR" altLang="en-US" dirty="0"/>
              <a:t>방식 </a:t>
            </a:r>
            <a:r>
              <a:rPr lang="en-US" altLang="ko-KR" dirty="0"/>
              <a:t>: VC-&gt;</a:t>
            </a:r>
            <a:r>
              <a:rPr lang="ko-KR" altLang="en-US" dirty="0"/>
              <a:t>투자 시</a:t>
            </a:r>
            <a:r>
              <a:rPr lang="en-US" altLang="ko-KR" dirty="0"/>
              <a:t> </a:t>
            </a:r>
            <a:r>
              <a:rPr lang="ko-KR" altLang="en-US" dirty="0"/>
              <a:t>지분 인수</a:t>
            </a:r>
            <a:r>
              <a:rPr lang="en-US" altLang="ko-KR" dirty="0"/>
              <a:t>; </a:t>
            </a:r>
            <a:r>
              <a:rPr lang="ko-KR" altLang="en-US" dirty="0"/>
              <a:t>벤처 망</a:t>
            </a:r>
            <a:r>
              <a:rPr lang="en-US" altLang="ko-KR" dirty="0"/>
              <a:t>?-&gt;</a:t>
            </a:r>
            <a:r>
              <a:rPr lang="ko-KR" altLang="en-US" dirty="0"/>
              <a:t>투자금</a:t>
            </a:r>
            <a:r>
              <a:rPr lang="en-US" altLang="ko-KR" dirty="0"/>
              <a:t>X or</a:t>
            </a:r>
            <a:r>
              <a:rPr lang="ko-KR" altLang="en-US" dirty="0"/>
              <a:t> 벤처 성</a:t>
            </a:r>
            <a:r>
              <a:rPr lang="en-US" altLang="ko-KR" dirty="0"/>
              <a:t>?-&gt; VC</a:t>
            </a:r>
            <a:r>
              <a:rPr lang="ko-KR" altLang="en-US" dirty="0"/>
              <a:t>의 지분</a:t>
            </a:r>
            <a:r>
              <a:rPr lang="en-US" altLang="ko-KR" dirty="0"/>
              <a:t> </a:t>
            </a:r>
            <a:r>
              <a:rPr lang="ko-KR" altLang="en-US" dirty="0"/>
              <a:t>매각 </a:t>
            </a:r>
            <a:r>
              <a:rPr lang="en-US" altLang="ko-KR" dirty="0"/>
              <a:t>-&gt; </a:t>
            </a:r>
            <a:r>
              <a:rPr lang="ko-KR" altLang="en-US" dirty="0"/>
              <a:t>실현 이익 분배</a:t>
            </a:r>
            <a:r>
              <a:rPr lang="en-US" altLang="ko-KR" dirty="0"/>
              <a:t>; </a:t>
            </a:r>
          </a:p>
          <a:p>
            <a:pPr lvl="1"/>
            <a:r>
              <a:rPr lang="ko-KR" altLang="en-US" dirty="0"/>
              <a:t>벤처 펀드의 성격</a:t>
            </a:r>
            <a:endParaRPr lang="en-US" altLang="ko-KR" dirty="0"/>
          </a:p>
          <a:p>
            <a:pPr lvl="2"/>
            <a:r>
              <a:rPr lang="ko-KR" altLang="en-US" dirty="0"/>
              <a:t>투자자금의 조성기간이 존재 </a:t>
            </a:r>
            <a:r>
              <a:rPr lang="en-US" altLang="ko-KR" dirty="0"/>
              <a:t>: VC</a:t>
            </a:r>
            <a:r>
              <a:rPr lang="ko-KR" altLang="en-US" dirty="0"/>
              <a:t> 펀드 조성 </a:t>
            </a:r>
            <a:r>
              <a:rPr lang="en-US" altLang="ko-KR" dirty="0"/>
              <a:t>-&gt; </a:t>
            </a:r>
            <a:r>
              <a:rPr lang="ko-KR" altLang="en-US" dirty="0"/>
              <a:t>목표금액 설정</a:t>
            </a:r>
            <a:r>
              <a:rPr lang="en-US" altLang="ko-KR" dirty="0"/>
              <a:t>, </a:t>
            </a:r>
            <a:r>
              <a:rPr lang="ko-KR" altLang="en-US" dirty="0"/>
              <a:t>투자자 공모 </a:t>
            </a:r>
            <a:r>
              <a:rPr lang="en-US" altLang="ko-KR" dirty="0"/>
              <a:t>-&gt; </a:t>
            </a:r>
            <a:r>
              <a:rPr lang="ko-KR" altLang="en-US" dirty="0"/>
              <a:t>펀드 조성기간</a:t>
            </a:r>
            <a:r>
              <a:rPr lang="en-US" altLang="ko-KR" dirty="0"/>
              <a:t>X? </a:t>
            </a:r>
            <a:r>
              <a:rPr lang="ko-KR" altLang="en-US" dirty="0"/>
              <a:t>펀드 투자 증가</a:t>
            </a:r>
            <a:r>
              <a:rPr lang="en-US" altLang="ko-KR" dirty="0"/>
              <a:t>X(</a:t>
            </a:r>
            <a:r>
              <a:rPr lang="ko-KR" altLang="en-US" dirty="0"/>
              <a:t>형성시간</a:t>
            </a:r>
            <a:r>
              <a:rPr lang="en-US" altLang="ko-KR" dirty="0"/>
              <a:t>O).</a:t>
            </a:r>
          </a:p>
          <a:p>
            <a:pPr lvl="2"/>
            <a:r>
              <a:rPr lang="ko-KR" altLang="en-US" dirty="0"/>
              <a:t>자체회수성</a:t>
            </a:r>
            <a:r>
              <a:rPr lang="en-US" altLang="ko-KR" dirty="0"/>
              <a:t> : </a:t>
            </a:r>
            <a:r>
              <a:rPr lang="ko-KR" altLang="en-US" dirty="0"/>
              <a:t>투자 자금 회수 </a:t>
            </a:r>
            <a:r>
              <a:rPr lang="en-US" altLang="ko-KR" dirty="0"/>
              <a:t>-&gt; </a:t>
            </a:r>
            <a:r>
              <a:rPr lang="ko-KR" altLang="en-US" dirty="0"/>
              <a:t>재투자</a:t>
            </a:r>
            <a:r>
              <a:rPr lang="en-US" altLang="ko-KR" dirty="0"/>
              <a:t>X; </a:t>
            </a:r>
            <a:r>
              <a:rPr lang="ko-KR" altLang="en-US" dirty="0"/>
              <a:t>주식</a:t>
            </a:r>
            <a:r>
              <a:rPr lang="en-US" altLang="ko-KR" dirty="0"/>
              <a:t>/</a:t>
            </a:r>
            <a:r>
              <a:rPr lang="ko-KR" altLang="en-US" dirty="0"/>
              <a:t>현금 </a:t>
            </a:r>
            <a:r>
              <a:rPr lang="en-US" altLang="ko-KR" dirty="0"/>
              <a:t>-&gt; </a:t>
            </a:r>
            <a:r>
              <a:rPr lang="ko-KR" altLang="en-US" dirty="0"/>
              <a:t>투자자 이익실현</a:t>
            </a:r>
            <a:r>
              <a:rPr lang="en-US" altLang="ko-KR" dirty="0"/>
              <a:t>(but, </a:t>
            </a:r>
            <a:r>
              <a:rPr lang="ko-KR" altLang="en-US" dirty="0"/>
              <a:t>유망</a:t>
            </a:r>
            <a:r>
              <a:rPr lang="en-US" altLang="ko-KR" dirty="0"/>
              <a:t>? </a:t>
            </a:r>
            <a:r>
              <a:rPr lang="ko-KR" altLang="en-US" dirty="0"/>
              <a:t>일부만 이익실현</a:t>
            </a:r>
            <a:r>
              <a:rPr lang="en-US" altLang="ko-KR" dirty="0"/>
              <a:t>; if </a:t>
            </a:r>
            <a:r>
              <a:rPr lang="ko-KR" altLang="en-US" dirty="0"/>
              <a:t>허락</a:t>
            </a:r>
            <a:r>
              <a:rPr lang="en-US" altLang="ko-KR" dirty="0"/>
              <a:t>? Then</a:t>
            </a:r>
            <a:r>
              <a:rPr lang="ko-KR" altLang="en-US" dirty="0"/>
              <a:t> 재투자</a:t>
            </a:r>
            <a:r>
              <a:rPr lang="en-US" altLang="ko-KR" dirty="0"/>
              <a:t>O. but, </a:t>
            </a:r>
            <a:r>
              <a:rPr lang="ko-KR" altLang="en-US" dirty="0"/>
              <a:t>대부분 해체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은행과 역선택</a:t>
            </a:r>
            <a:r>
              <a:rPr lang="en-US" altLang="ko-KR" dirty="0"/>
              <a:t>(</a:t>
            </a:r>
            <a:r>
              <a:rPr lang="en-US" altLang="ko-KR" dirty="0" err="1"/>
              <a:t>stiglitz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weiss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은행</a:t>
            </a:r>
            <a:r>
              <a:rPr lang="en-US" altLang="ko-KR" dirty="0"/>
              <a:t>-&gt;</a:t>
            </a:r>
            <a:r>
              <a:rPr lang="ko-KR" altLang="en-US" dirty="0"/>
              <a:t>원금</a:t>
            </a:r>
            <a:r>
              <a:rPr lang="en-US" altLang="ko-KR" dirty="0"/>
              <a:t>+</a:t>
            </a:r>
            <a:r>
              <a:rPr lang="ko-KR" altLang="en-US" dirty="0"/>
              <a:t>이자</a:t>
            </a:r>
            <a:r>
              <a:rPr lang="en-US" altLang="ko-KR" dirty="0"/>
              <a:t>, VC-&gt;</a:t>
            </a:r>
            <a:r>
              <a:rPr lang="ko-KR" altLang="en-US" dirty="0"/>
              <a:t>지분</a:t>
            </a:r>
            <a:r>
              <a:rPr lang="en-US" altLang="ko-KR" dirty="0"/>
              <a:t>.</a:t>
            </a:r>
            <a:r>
              <a:rPr lang="ko-KR" altLang="en-US" dirty="0"/>
              <a:t> 망</a:t>
            </a:r>
            <a:r>
              <a:rPr lang="en-US" altLang="ko-KR" dirty="0"/>
              <a:t>?-&gt;</a:t>
            </a:r>
            <a:r>
              <a:rPr lang="ko-KR" altLang="en-US" dirty="0"/>
              <a:t>투자금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en-US" altLang="ko-KR" dirty="0"/>
              <a:t>if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은행</a:t>
            </a:r>
            <a:r>
              <a:rPr lang="en-US" altLang="ko-KR" dirty="0"/>
              <a:t>-&gt;</a:t>
            </a:r>
            <a:r>
              <a:rPr lang="ko-KR" altLang="en-US" dirty="0"/>
              <a:t>기업</a:t>
            </a:r>
            <a:r>
              <a:rPr lang="en-US" altLang="ko-KR" dirty="0"/>
              <a:t> </a:t>
            </a:r>
            <a:r>
              <a:rPr lang="ko-KR" altLang="en-US" dirty="0"/>
              <a:t>차별성 인식</a:t>
            </a:r>
            <a:r>
              <a:rPr lang="en-US" altLang="ko-KR" dirty="0"/>
              <a:t>X) &amp; (</a:t>
            </a:r>
            <a:r>
              <a:rPr lang="ko-KR" altLang="en-US" dirty="0"/>
              <a:t>단일</a:t>
            </a:r>
            <a:r>
              <a:rPr lang="en-US" altLang="ko-KR" dirty="0"/>
              <a:t>)</a:t>
            </a:r>
            <a:r>
              <a:rPr lang="ko-KR" altLang="en-US" dirty="0"/>
              <a:t>이자율↑</a:t>
            </a:r>
            <a:r>
              <a:rPr lang="en-US" altLang="ko-KR" dirty="0"/>
              <a:t>? </a:t>
            </a:r>
            <a:br>
              <a:rPr lang="en-US" altLang="ko-KR" dirty="0"/>
            </a:br>
            <a:r>
              <a:rPr lang="en-US" altLang="ko-KR" dirty="0"/>
              <a:t>Then,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유망</a:t>
            </a:r>
            <a:r>
              <a:rPr lang="en-US" altLang="ko-KR" dirty="0"/>
              <a:t>-&gt;VC/</a:t>
            </a:r>
            <a:r>
              <a:rPr lang="ko-KR" altLang="en-US" dirty="0" err="1"/>
              <a:t>타은행</a:t>
            </a:r>
            <a:r>
              <a:rPr lang="en-US" altLang="ko-KR" dirty="0"/>
              <a:t>;</a:t>
            </a:r>
            <a:r>
              <a:rPr lang="ko-KR" altLang="en-US" dirty="0"/>
              <a:t> 부실</a:t>
            </a:r>
            <a:r>
              <a:rPr lang="en-US" altLang="ko-KR" dirty="0"/>
              <a:t>-&gt;</a:t>
            </a:r>
            <a:r>
              <a:rPr lang="ko-KR" altLang="en-US" dirty="0"/>
              <a:t>깐깐한 </a:t>
            </a:r>
            <a:r>
              <a:rPr lang="en-US" altLang="ko-KR" dirty="0"/>
              <a:t>VC</a:t>
            </a:r>
            <a:r>
              <a:rPr lang="ko-KR" altLang="en-US" dirty="0"/>
              <a:t>보다 은행</a:t>
            </a:r>
            <a:r>
              <a:rPr lang="en-US" altLang="ko-KR" dirty="0"/>
              <a:t>) -&gt;</a:t>
            </a:r>
            <a:r>
              <a:rPr lang="ko-KR" altLang="en-US" dirty="0"/>
              <a:t>역선택 </a:t>
            </a:r>
            <a:r>
              <a:rPr lang="en-US" altLang="ko-KR" dirty="0"/>
              <a:t>: </a:t>
            </a:r>
            <a:r>
              <a:rPr lang="ko-KR" altLang="en-US" dirty="0"/>
              <a:t>부실만 채권시장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총</a:t>
            </a:r>
            <a:r>
              <a:rPr lang="en-US" altLang="ko-KR" dirty="0"/>
              <a:t> </a:t>
            </a:r>
            <a:r>
              <a:rPr lang="ko-KR" altLang="en-US" dirty="0"/>
              <a:t>대출액을 제한해 제한된 자금을 위한 경쟁 필요</a:t>
            </a:r>
            <a:endParaRPr lang="en-US" altLang="ko-KR" dirty="0"/>
          </a:p>
          <a:p>
            <a:r>
              <a:rPr lang="ko-KR" altLang="en-US" dirty="0" err="1"/>
              <a:t>벤처캐피탈</a:t>
            </a:r>
            <a:r>
              <a:rPr lang="ko-KR" altLang="en-US" dirty="0"/>
              <a:t> 시장의 경기 </a:t>
            </a:r>
            <a:r>
              <a:rPr lang="ko-KR" altLang="en-US" dirty="0" err="1"/>
              <a:t>순응성</a:t>
            </a:r>
            <a:endParaRPr lang="en-US" altLang="ko-KR" dirty="0"/>
          </a:p>
          <a:p>
            <a:pPr lvl="1"/>
            <a:r>
              <a:rPr lang="ko-KR" altLang="en-US" dirty="0"/>
              <a:t>경기 </a:t>
            </a:r>
            <a:r>
              <a:rPr lang="ko-KR" altLang="en-US" dirty="0" err="1"/>
              <a:t>순응성</a:t>
            </a:r>
            <a:r>
              <a:rPr lang="en-US" altLang="ko-KR" dirty="0"/>
              <a:t>(pro-cyclicality) : </a:t>
            </a:r>
            <a:r>
              <a:rPr lang="ko-KR" altLang="en-US" dirty="0"/>
              <a:t>호경기</a:t>
            </a:r>
            <a:r>
              <a:rPr lang="en-US" altLang="ko-KR" dirty="0"/>
              <a:t>-&gt;</a:t>
            </a:r>
            <a:r>
              <a:rPr lang="ko-KR" altLang="en-US" dirty="0"/>
              <a:t>투자↑</a:t>
            </a:r>
            <a:r>
              <a:rPr lang="en-US" altLang="ko-KR" dirty="0"/>
              <a:t>,</a:t>
            </a:r>
            <a:r>
              <a:rPr lang="ko-KR" altLang="en-US" dirty="0"/>
              <a:t>불경기</a:t>
            </a:r>
            <a:r>
              <a:rPr lang="en-US" altLang="ko-KR" dirty="0"/>
              <a:t>-&gt;</a:t>
            </a:r>
            <a:r>
              <a:rPr lang="ko-KR" altLang="en-US" dirty="0"/>
              <a:t>투자↓</a:t>
            </a:r>
            <a:endParaRPr lang="en-US" altLang="ko-KR" dirty="0"/>
          </a:p>
          <a:p>
            <a:pPr lvl="2"/>
            <a:r>
              <a:rPr lang="ko-KR" altLang="en-US" dirty="0"/>
              <a:t>호황기 </a:t>
            </a:r>
            <a:r>
              <a:rPr lang="en-US" altLang="ko-KR" dirty="0"/>
              <a:t>: </a:t>
            </a:r>
            <a:r>
              <a:rPr lang="ko-KR" altLang="en-US" dirty="0"/>
              <a:t>많은 투자</a:t>
            </a:r>
            <a:r>
              <a:rPr lang="en-US" altLang="ko-KR" dirty="0"/>
              <a:t> -&gt; (VC) </a:t>
            </a:r>
            <a:r>
              <a:rPr lang="ko-KR" altLang="en-US" dirty="0"/>
              <a:t>투자</a:t>
            </a:r>
            <a:r>
              <a:rPr lang="en-US" altLang="ko-KR" dirty="0"/>
              <a:t> </a:t>
            </a:r>
            <a:r>
              <a:rPr lang="ko-KR" altLang="en-US" dirty="0"/>
              <a:t>기업 리스트에 돈 넣고도</a:t>
            </a:r>
            <a:br>
              <a:rPr lang="en-US" altLang="ko-KR" dirty="0"/>
            </a:br>
            <a:r>
              <a:rPr lang="ko-KR" altLang="en-US" dirty="0"/>
              <a:t> 남음 </a:t>
            </a:r>
            <a:r>
              <a:rPr lang="en-US" altLang="ko-KR" dirty="0"/>
              <a:t>-&gt; </a:t>
            </a:r>
            <a:r>
              <a:rPr lang="ko-KR" altLang="en-US" dirty="0"/>
              <a:t>리스트 후순위</a:t>
            </a:r>
            <a:r>
              <a:rPr lang="en-US" altLang="ko-KR" dirty="0"/>
              <a:t> </a:t>
            </a:r>
            <a:r>
              <a:rPr lang="ko-KR" altLang="en-US" dirty="0"/>
              <a:t>기업</a:t>
            </a:r>
            <a:r>
              <a:rPr lang="en-US" altLang="ko-KR" dirty="0"/>
              <a:t>(</a:t>
            </a:r>
            <a:r>
              <a:rPr lang="ko-KR" altLang="en-US" dirty="0"/>
              <a:t>불량 포함</a:t>
            </a:r>
            <a:r>
              <a:rPr lang="en-US" altLang="ko-KR" dirty="0"/>
              <a:t>)</a:t>
            </a:r>
            <a:r>
              <a:rPr lang="ko-KR" altLang="en-US" dirty="0"/>
              <a:t> 투자</a:t>
            </a:r>
            <a:r>
              <a:rPr lang="en-US" altLang="ko-KR" dirty="0"/>
              <a:t> -&gt; </a:t>
            </a:r>
            <a:r>
              <a:rPr lang="ko-KR" altLang="en-US" dirty="0"/>
              <a:t>리스크↑</a:t>
            </a:r>
            <a:br>
              <a:rPr lang="en-US" altLang="ko-KR" dirty="0"/>
            </a:br>
            <a:r>
              <a:rPr lang="en-US" altLang="ko-KR" dirty="0"/>
              <a:t> (</a:t>
            </a:r>
            <a:r>
              <a:rPr lang="ko-KR" altLang="en-US" dirty="0"/>
              <a:t>기업</a:t>
            </a:r>
            <a:r>
              <a:rPr lang="en-US" altLang="ko-KR" dirty="0"/>
              <a:t>) </a:t>
            </a:r>
            <a:r>
              <a:rPr lang="ko-KR" altLang="en-US" dirty="0"/>
              <a:t>호경기</a:t>
            </a:r>
            <a:r>
              <a:rPr lang="en-US" altLang="ko-KR" dirty="0"/>
              <a:t>-&gt; </a:t>
            </a:r>
            <a:r>
              <a:rPr lang="ko-KR" altLang="en-US" dirty="0"/>
              <a:t>자금 수요자 우위</a:t>
            </a:r>
            <a:r>
              <a:rPr lang="en-US" altLang="ko-KR" dirty="0"/>
              <a:t>(</a:t>
            </a:r>
            <a:r>
              <a:rPr lang="ko-KR" altLang="en-US" dirty="0"/>
              <a:t>지분↓</a:t>
            </a:r>
            <a:r>
              <a:rPr lang="en-US" altLang="ko-KR" dirty="0"/>
              <a:t>,</a:t>
            </a:r>
            <a:r>
              <a:rPr lang="ko-KR" altLang="en-US" dirty="0"/>
              <a:t>금리↓</a:t>
            </a:r>
            <a:r>
              <a:rPr lang="en-US" altLang="ko-KR" dirty="0"/>
              <a:t>)-&gt;</a:t>
            </a:r>
            <a:r>
              <a:rPr lang="ko-KR" altLang="en-US" dirty="0"/>
              <a:t>경기과열</a:t>
            </a:r>
            <a:endParaRPr lang="en-US" altLang="ko-KR" dirty="0"/>
          </a:p>
          <a:p>
            <a:pPr lvl="2"/>
            <a:r>
              <a:rPr lang="ko-KR" altLang="en-US" dirty="0"/>
              <a:t>불황</a:t>
            </a:r>
            <a:r>
              <a:rPr lang="en-US" altLang="ko-KR" dirty="0"/>
              <a:t>:</a:t>
            </a:r>
            <a:r>
              <a:rPr lang="ko-KR" altLang="en-US" dirty="0"/>
              <a:t>적은 투자</a:t>
            </a:r>
            <a:r>
              <a:rPr lang="en-US" altLang="ko-KR" dirty="0"/>
              <a:t>-&gt;(VC)</a:t>
            </a:r>
            <a:r>
              <a:rPr lang="ko-KR" altLang="en-US" dirty="0"/>
              <a:t>리스트 못</a:t>
            </a:r>
            <a:r>
              <a:rPr lang="en-US" altLang="ko-KR" dirty="0"/>
              <a:t>(</a:t>
            </a:r>
            <a:r>
              <a:rPr lang="ko-KR" altLang="en-US" dirty="0"/>
              <a:t>우량만</a:t>
            </a:r>
            <a:r>
              <a:rPr lang="en-US" altLang="ko-KR" dirty="0"/>
              <a:t>)-&gt;</a:t>
            </a:r>
            <a:r>
              <a:rPr lang="ko-KR" altLang="en-US" dirty="0"/>
              <a:t>공급자 우위</a:t>
            </a:r>
            <a:r>
              <a:rPr lang="en-US" altLang="ko-KR" dirty="0"/>
              <a:t>, </a:t>
            </a:r>
            <a:r>
              <a:rPr lang="ko-KR" altLang="en-US" dirty="0"/>
              <a:t>벤처 불리</a:t>
            </a:r>
            <a:r>
              <a:rPr lang="en-US" altLang="ko-KR" dirty="0"/>
              <a:t>-&gt; </a:t>
            </a:r>
            <a:r>
              <a:rPr lang="ko-KR" altLang="en-US" dirty="0" err="1"/>
              <a:t>경기과침체</a:t>
            </a:r>
            <a:endParaRPr lang="en-US" altLang="ko-KR" dirty="0"/>
          </a:p>
          <a:p>
            <a:pPr lvl="2"/>
            <a:r>
              <a:rPr lang="ko-KR" altLang="en-US" dirty="0"/>
              <a:t>∴ </a:t>
            </a:r>
            <a:r>
              <a:rPr lang="en-US" altLang="ko-KR" dirty="0"/>
              <a:t>VC/</a:t>
            </a:r>
            <a:r>
              <a:rPr lang="ko-KR" altLang="en-US" dirty="0"/>
              <a:t>은행이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ko-KR" altLang="en-US" dirty="0" err="1"/>
              <a:t>리스크↓대신</a:t>
            </a:r>
            <a:r>
              <a:rPr lang="ko-KR" altLang="en-US" dirty="0"/>
              <a:t> 변동성↑</a:t>
            </a:r>
            <a:r>
              <a:rPr lang="en-US" altLang="ko-KR" dirty="0"/>
              <a:t>.(=pro-cyclical</a:t>
            </a:r>
            <a:r>
              <a:rPr lang="ko-KR" altLang="en-US" dirty="0"/>
              <a:t>↔</a:t>
            </a:r>
            <a:r>
              <a:rPr lang="en-US" altLang="ko-KR" dirty="0"/>
              <a:t>counter-</a:t>
            </a:r>
            <a:r>
              <a:rPr lang="en-US" altLang="ko-KR" dirty="0" err="1"/>
              <a:t>cycicla</a:t>
            </a:r>
            <a:r>
              <a:rPr lang="en-US" altLang="ko-KR" dirty="0"/>
              <a:t> : </a:t>
            </a:r>
            <a:r>
              <a:rPr lang="ko-KR" altLang="en-US" dirty="0"/>
              <a:t>호↓</a:t>
            </a:r>
            <a:r>
              <a:rPr lang="en-US" altLang="ko-KR" dirty="0"/>
              <a:t>,</a:t>
            </a:r>
            <a:r>
              <a:rPr lang="ko-KR" altLang="en-US" dirty="0"/>
              <a:t>불↑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투자공급과 </a:t>
            </a:r>
            <a:r>
              <a:rPr lang="ko-KR" altLang="en-US" dirty="0" err="1"/>
              <a:t>경기순응성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단기투자공급 경직적</a:t>
            </a:r>
            <a:r>
              <a:rPr lang="en-US" altLang="ko-KR" dirty="0"/>
              <a:t>, Q1-&gt;Q2 X. R1-&gt;R3. </a:t>
            </a:r>
            <a:r>
              <a:rPr lang="ko-KR" altLang="en-US" dirty="0"/>
              <a:t>경기과열심화</a:t>
            </a:r>
            <a:endParaRPr lang="en-US" altLang="ko-KR" dirty="0"/>
          </a:p>
          <a:p>
            <a:r>
              <a:rPr lang="ko-KR" altLang="en-US" dirty="0"/>
              <a:t>소프트 예산제약과 기업 </a:t>
            </a:r>
            <a:r>
              <a:rPr lang="en-US" altLang="ko-KR" dirty="0"/>
              <a:t>R&amp;D</a:t>
            </a:r>
          </a:p>
          <a:p>
            <a:pPr lvl="1"/>
            <a:r>
              <a:rPr lang="ko-KR" altLang="en-US" dirty="0"/>
              <a:t>소프트 예산제약</a:t>
            </a:r>
            <a:r>
              <a:rPr lang="en-US" altLang="ko-KR" dirty="0"/>
              <a:t>(SBC) : </a:t>
            </a:r>
            <a:r>
              <a:rPr lang="ko-KR" altLang="en-US" dirty="0"/>
              <a:t>자금조달 용이</a:t>
            </a:r>
            <a:r>
              <a:rPr lang="en-US" altLang="ko-KR" dirty="0"/>
              <a:t>, </a:t>
            </a:r>
            <a:r>
              <a:rPr lang="ko-KR" altLang="en-US" dirty="0"/>
              <a:t>돈 쉽게 빌림</a:t>
            </a:r>
            <a:r>
              <a:rPr lang="en-US" altLang="ko-KR" dirty="0"/>
              <a:t> or </a:t>
            </a:r>
            <a:r>
              <a:rPr lang="ko-KR" altLang="en-US" dirty="0" err="1"/>
              <a:t>현금충분</a:t>
            </a:r>
            <a:r>
              <a:rPr lang="en-US" altLang="ko-KR" dirty="0"/>
              <a:t>. SBC-&gt;</a:t>
            </a:r>
            <a:r>
              <a:rPr lang="ko-KR" altLang="en-US" dirty="0"/>
              <a:t>급진</a:t>
            </a:r>
            <a:r>
              <a:rPr lang="en-US" altLang="ko-KR" dirty="0"/>
              <a:t>/</a:t>
            </a:r>
            <a:r>
              <a:rPr lang="ko-KR" altLang="en-US" dirty="0"/>
              <a:t>장기</a:t>
            </a:r>
            <a:r>
              <a:rPr lang="en-US" altLang="ko-KR" dirty="0"/>
              <a:t>, HBC-&gt;</a:t>
            </a:r>
            <a:r>
              <a:rPr lang="ko-KR" altLang="en-US" dirty="0"/>
              <a:t>안전</a:t>
            </a:r>
            <a:r>
              <a:rPr lang="en-US" altLang="ko-KR" dirty="0"/>
              <a:t>,</a:t>
            </a:r>
            <a:r>
              <a:rPr lang="ko-KR" altLang="en-US" dirty="0"/>
              <a:t>확실</a:t>
            </a:r>
            <a:r>
              <a:rPr lang="en-US" altLang="ko-KR" dirty="0"/>
              <a:t>(</a:t>
            </a:r>
            <a:r>
              <a:rPr lang="ko-KR" altLang="en-US" dirty="0"/>
              <a:t>점진</a:t>
            </a:r>
            <a:r>
              <a:rPr lang="en-US" altLang="ko-KR" dirty="0"/>
              <a:t>/</a:t>
            </a:r>
            <a:r>
              <a:rPr lang="ko-KR" altLang="en-US" dirty="0"/>
              <a:t>단기</a:t>
            </a:r>
            <a:r>
              <a:rPr lang="en-US" altLang="ko-KR" dirty="0"/>
              <a:t>);</a:t>
            </a:r>
          </a:p>
          <a:p>
            <a:pPr lvl="1"/>
            <a:r>
              <a:rPr lang="ko-KR" altLang="en-US" dirty="0"/>
              <a:t>대기업</a:t>
            </a:r>
            <a:r>
              <a:rPr lang="en-US" altLang="ko-KR" dirty="0"/>
              <a:t>(SBC)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불황기</a:t>
            </a:r>
            <a:r>
              <a:rPr lang="en-US" altLang="ko-KR" dirty="0"/>
              <a:t> -&gt; VC/</a:t>
            </a:r>
            <a:r>
              <a:rPr lang="ko-KR" altLang="en-US" dirty="0"/>
              <a:t>은행 쉽게 빌려줌 </a:t>
            </a:r>
            <a:r>
              <a:rPr lang="en-US" altLang="ko-KR" dirty="0"/>
              <a:t>-&gt; R&amp;D</a:t>
            </a:r>
            <a:r>
              <a:rPr lang="ko-KR" altLang="en-US" dirty="0"/>
              <a:t>↑ </a:t>
            </a:r>
            <a:r>
              <a:rPr lang="en-US" altLang="ko-KR" dirty="0"/>
              <a:t>-&gt; (</a:t>
            </a:r>
            <a:r>
              <a:rPr lang="ko-KR" altLang="en-US" dirty="0"/>
              <a:t>불경기 후</a:t>
            </a:r>
            <a:r>
              <a:rPr lang="en-US" altLang="ko-KR" dirty="0"/>
              <a:t>)</a:t>
            </a:r>
            <a:r>
              <a:rPr lang="ko-KR" altLang="en-US" dirty="0"/>
              <a:t>새 제품 출시 </a:t>
            </a:r>
            <a:r>
              <a:rPr lang="en-US" altLang="ko-KR" dirty="0"/>
              <a:t>-&gt; </a:t>
            </a:r>
            <a:r>
              <a:rPr lang="ko-KR" altLang="en-US" dirty="0"/>
              <a:t>시장 독점</a:t>
            </a:r>
            <a:r>
              <a:rPr lang="en-US" altLang="ko-KR" dirty="0"/>
              <a:t> &amp; (</a:t>
            </a:r>
            <a:r>
              <a:rPr lang="ko-KR" altLang="en-US" dirty="0"/>
              <a:t>중소벤처</a:t>
            </a:r>
            <a:r>
              <a:rPr lang="en-US" altLang="ko-KR" dirty="0"/>
              <a:t>-&gt;</a:t>
            </a:r>
            <a:r>
              <a:rPr lang="ko-KR" altLang="en-US" dirty="0"/>
              <a:t>퇴출</a:t>
            </a:r>
            <a:r>
              <a:rPr lang="en-US" altLang="ko-KR" dirty="0"/>
              <a:t>) -&gt; </a:t>
            </a:r>
            <a:r>
              <a:rPr lang="ko-KR" altLang="en-US" dirty="0"/>
              <a:t>시장지배력 양극화 </a:t>
            </a:r>
            <a:endParaRPr lang="en-US" altLang="ko-KR" dirty="0"/>
          </a:p>
          <a:p>
            <a:r>
              <a:rPr lang="ko-KR" altLang="en-US" dirty="0"/>
              <a:t>정부의 역할 </a:t>
            </a:r>
            <a:r>
              <a:rPr lang="en-US" altLang="ko-KR" dirty="0"/>
              <a:t>: </a:t>
            </a:r>
            <a:r>
              <a:rPr lang="ko-KR" altLang="en-US" dirty="0"/>
              <a:t>개입과 실패</a:t>
            </a:r>
            <a:r>
              <a:rPr lang="en-US" altLang="ko-KR" dirty="0"/>
              <a:t>, </a:t>
            </a:r>
            <a:r>
              <a:rPr lang="ko-KR" altLang="en-US" dirty="0"/>
              <a:t>대안</a:t>
            </a:r>
            <a:endParaRPr lang="en-US" altLang="ko-KR" dirty="0"/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</a:t>
            </a:r>
            <a:r>
              <a:rPr lang="ko-KR" altLang="en-US" dirty="0" err="1"/>
              <a:t>경기순응성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시장실패</a:t>
            </a:r>
            <a:r>
              <a:rPr lang="en-US" altLang="ko-KR" dirty="0"/>
              <a:t>. </a:t>
            </a:r>
            <a:r>
              <a:rPr lang="ko-KR" altLang="en-US" dirty="0"/>
              <a:t>특히</a:t>
            </a:r>
            <a:r>
              <a:rPr lang="en-US" altLang="ko-KR" dirty="0"/>
              <a:t> </a:t>
            </a:r>
            <a:r>
              <a:rPr lang="ko-KR" altLang="en-US" dirty="0"/>
              <a:t>불황기에 리스크↑</a:t>
            </a:r>
            <a:r>
              <a:rPr lang="en-US" altLang="ko-KR" dirty="0"/>
              <a:t>,</a:t>
            </a:r>
            <a:r>
              <a:rPr lang="ko-KR" altLang="en-US" dirty="0"/>
              <a:t>사회 </a:t>
            </a:r>
            <a:r>
              <a:rPr lang="ko-KR" altLang="en-US" dirty="0" err="1"/>
              <a:t>기대효과↑인</a:t>
            </a:r>
            <a:r>
              <a:rPr lang="ko-KR" altLang="en-US" dirty="0"/>
              <a:t> 기술 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ko-KR" altLang="en-US" dirty="0"/>
              <a:t>기술혁신 저해</a:t>
            </a:r>
            <a:r>
              <a:rPr lang="en-US" altLang="ko-KR" dirty="0"/>
              <a:t>,</a:t>
            </a:r>
            <a:r>
              <a:rPr lang="ko-KR" altLang="en-US" dirty="0"/>
              <a:t> 유망 기업 자금</a:t>
            </a:r>
            <a:r>
              <a:rPr lang="en-US" altLang="ko-KR" dirty="0"/>
              <a:t>/</a:t>
            </a:r>
            <a:r>
              <a:rPr lang="ko-KR" altLang="en-US" dirty="0"/>
              <a:t>도산</a:t>
            </a:r>
            <a:r>
              <a:rPr lang="en-US" altLang="ko-KR" dirty="0"/>
              <a:t>-&gt;</a:t>
            </a:r>
            <a:r>
              <a:rPr lang="ko-KR" altLang="en-US" dirty="0"/>
              <a:t>사회후생↓ </a:t>
            </a:r>
            <a:r>
              <a:rPr lang="en-US" altLang="ko-KR" dirty="0"/>
              <a:t>&amp; </a:t>
            </a:r>
            <a:r>
              <a:rPr lang="ko-KR" altLang="en-US" dirty="0"/>
              <a:t>독점</a:t>
            </a:r>
            <a:r>
              <a:rPr lang="en-US" altLang="ko-KR" dirty="0"/>
              <a:t>-&gt;</a:t>
            </a:r>
            <a:r>
              <a:rPr lang="ko-KR" altLang="en-US" dirty="0"/>
              <a:t>높은 가격부담</a:t>
            </a:r>
            <a:r>
              <a:rPr lang="en-US" altLang="ko-KR" dirty="0"/>
              <a:t>,</a:t>
            </a:r>
            <a:r>
              <a:rPr lang="ko-KR" altLang="en-US" dirty="0"/>
              <a:t>선택폭↓</a:t>
            </a:r>
            <a:endParaRPr lang="en-US" altLang="ko-KR" dirty="0"/>
          </a:p>
          <a:p>
            <a:pPr lvl="1"/>
            <a:r>
              <a:rPr lang="ko-KR" altLang="en-US" dirty="0"/>
              <a:t>바람직한 개입 </a:t>
            </a:r>
            <a:r>
              <a:rPr lang="en-US" altLang="ko-KR" dirty="0"/>
              <a:t>: </a:t>
            </a:r>
            <a:r>
              <a:rPr lang="ko-KR" altLang="en-US" dirty="0"/>
              <a:t>정부가 불황기에 펀드 조성 </a:t>
            </a:r>
            <a:r>
              <a:rPr lang="en-US" altLang="ko-KR" dirty="0"/>
              <a:t>-&gt; </a:t>
            </a:r>
            <a:r>
              <a:rPr lang="ko-KR" altLang="en-US" dirty="0"/>
              <a:t>민간</a:t>
            </a:r>
            <a:r>
              <a:rPr lang="en-US" altLang="ko-KR" dirty="0"/>
              <a:t>VC </a:t>
            </a:r>
            <a:r>
              <a:rPr lang="ko-KR" altLang="en-US" dirty="0"/>
              <a:t>운용 </a:t>
            </a:r>
            <a:r>
              <a:rPr lang="en-US" altLang="ko-KR" dirty="0"/>
              <a:t>+</a:t>
            </a:r>
            <a:r>
              <a:rPr lang="ko-KR" altLang="en-US" dirty="0"/>
              <a:t> 벤처기업의 자금 필요 환경 조성</a:t>
            </a:r>
            <a:r>
              <a:rPr lang="en-US" altLang="ko-KR" dirty="0"/>
              <a:t>(</a:t>
            </a:r>
            <a:r>
              <a:rPr lang="ko-KR" altLang="en-US" dirty="0"/>
              <a:t>수요</a:t>
            </a:r>
            <a:r>
              <a:rPr lang="en-US" altLang="ko-KR" dirty="0"/>
              <a:t>X </a:t>
            </a:r>
            <a:r>
              <a:rPr lang="ko-KR" altLang="en-US" dirty="0"/>
              <a:t>산업</a:t>
            </a:r>
            <a:r>
              <a:rPr lang="en-US" altLang="ko-KR" dirty="0"/>
              <a:t>?-&gt;</a:t>
            </a:r>
            <a:r>
              <a:rPr lang="ko-KR" altLang="en-US" dirty="0"/>
              <a:t>부실기업 혜택</a:t>
            </a:r>
            <a:r>
              <a:rPr lang="en-US" altLang="ko-KR" dirty="0"/>
              <a:t>, </a:t>
            </a:r>
            <a:r>
              <a:rPr lang="ko-KR" altLang="en-US" dirty="0"/>
              <a:t>비효율</a:t>
            </a:r>
            <a:r>
              <a:rPr lang="en-US" altLang="ko-KR" dirty="0"/>
              <a:t>); </a:t>
            </a:r>
            <a:r>
              <a:rPr lang="ko-KR" altLang="en-US" dirty="0"/>
              <a:t>전략적 육성 산업 수요 창출 </a:t>
            </a:r>
            <a:r>
              <a:rPr lang="en-US" altLang="ko-KR" dirty="0"/>
              <a:t>-&gt; </a:t>
            </a:r>
            <a:r>
              <a:rPr lang="ko-KR" altLang="en-US" dirty="0"/>
              <a:t>자금부족시 </a:t>
            </a:r>
            <a:r>
              <a:rPr lang="en-US" altLang="ko-KR" dirty="0"/>
              <a:t>VC</a:t>
            </a:r>
            <a:r>
              <a:rPr lang="ko-KR" altLang="en-US" dirty="0"/>
              <a:t>에게 펀드 조성 지원</a:t>
            </a:r>
            <a:r>
              <a:rPr lang="en-US" altLang="ko-KR" dirty="0"/>
              <a:t>. </a:t>
            </a:r>
            <a:r>
              <a:rPr lang="ko-KR" altLang="en-US" dirty="0"/>
              <a:t>간접적 자금지원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B638E8-FDC0-3C53-544C-52D6BB13D84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VC</a:t>
            </a:r>
            <a:r>
              <a:rPr lang="ko-KR" altLang="en-US" dirty="0"/>
              <a:t>투자 방식</a:t>
            </a:r>
            <a:r>
              <a:rPr lang="en-US" altLang="ko-KR" dirty="0"/>
              <a:t>(</a:t>
            </a:r>
            <a:r>
              <a:rPr lang="ko-KR" altLang="en-US" dirty="0"/>
              <a:t>벤처펀드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VC→</a:t>
            </a:r>
            <a:r>
              <a:rPr lang="ko-KR" altLang="en-US" dirty="0" err="1"/>
              <a:t>투자시</a:t>
            </a:r>
            <a:r>
              <a:rPr lang="en-US" altLang="ko-KR" dirty="0"/>
              <a:t> </a:t>
            </a:r>
            <a:r>
              <a:rPr lang="ko-KR" altLang="en-US" dirty="0"/>
              <a:t>지분인수</a:t>
            </a:r>
            <a:r>
              <a:rPr lang="en-US" altLang="ko-KR" dirty="0"/>
              <a:t>. </a:t>
            </a:r>
            <a:r>
              <a:rPr lang="ko-KR" altLang="en-US" dirty="0"/>
              <a:t>벤처 성</a:t>
            </a:r>
            <a:r>
              <a:rPr lang="en-US" altLang="ko-KR" dirty="0"/>
              <a:t>?-&gt;VC</a:t>
            </a:r>
            <a:r>
              <a:rPr lang="ko-KR" altLang="en-US" dirty="0"/>
              <a:t>지분매각</a:t>
            </a:r>
            <a:r>
              <a:rPr lang="en-US" altLang="ko-KR" dirty="0"/>
              <a:t>→</a:t>
            </a:r>
            <a:r>
              <a:rPr lang="ko-KR" altLang="en-US" dirty="0"/>
              <a:t>이익분배</a:t>
            </a:r>
            <a:endParaRPr lang="en-US" altLang="ko-KR" dirty="0"/>
          </a:p>
          <a:p>
            <a:r>
              <a:rPr lang="ko-KR" altLang="en-US" dirty="0" err="1"/>
              <a:t>벤펀</a:t>
            </a:r>
            <a:r>
              <a:rPr lang="ko-KR" altLang="en-US" dirty="0"/>
              <a:t> 성격 </a:t>
            </a:r>
            <a:r>
              <a:rPr lang="en-US" altLang="ko-KR" dirty="0"/>
              <a:t>: 1) </a:t>
            </a:r>
            <a:r>
              <a:rPr lang="ko-KR" altLang="en-US" dirty="0"/>
              <a:t>투자금의 조성시간 </a:t>
            </a:r>
            <a:r>
              <a:rPr lang="en-US" altLang="ko-KR" dirty="0"/>
              <a:t>2) </a:t>
            </a:r>
            <a:r>
              <a:rPr lang="ko-KR" altLang="en-US" dirty="0"/>
              <a:t>자체회수성</a:t>
            </a:r>
            <a:r>
              <a:rPr lang="en-US" altLang="ko-KR" dirty="0"/>
              <a:t>(</a:t>
            </a:r>
            <a:r>
              <a:rPr lang="ko-KR" altLang="en-US" dirty="0"/>
              <a:t>재투자</a:t>
            </a:r>
            <a:r>
              <a:rPr lang="en-US" altLang="ko-KR" dirty="0"/>
              <a:t>X) 3) </a:t>
            </a:r>
            <a:r>
              <a:rPr lang="ko-KR" altLang="en-US" dirty="0"/>
              <a:t>은행 역선택 </a:t>
            </a:r>
            <a:r>
              <a:rPr lang="en-US" altLang="ko-KR" dirty="0"/>
              <a:t>: </a:t>
            </a:r>
            <a:r>
              <a:rPr lang="ko-KR" altLang="en-US" dirty="0"/>
              <a:t>기업차별성</a:t>
            </a:r>
            <a:r>
              <a:rPr lang="en-US" altLang="ko-KR" dirty="0"/>
              <a:t> </a:t>
            </a:r>
            <a:r>
              <a:rPr lang="ko-KR" altLang="en-US" dirty="0"/>
              <a:t>인식 </a:t>
            </a:r>
            <a:r>
              <a:rPr lang="en-US" altLang="ko-KR" dirty="0"/>
              <a:t>X, </a:t>
            </a:r>
            <a:r>
              <a:rPr lang="ko-KR" altLang="en-US" dirty="0"/>
              <a:t>이자율</a:t>
            </a:r>
            <a:r>
              <a:rPr lang="en-US" altLang="ko-KR" dirty="0"/>
              <a:t>↑?</a:t>
            </a:r>
            <a:br>
              <a:rPr lang="en-US" altLang="ko-KR" dirty="0"/>
            </a:br>
            <a:r>
              <a:rPr lang="ko-KR" altLang="en-US" dirty="0"/>
              <a:t>유망</a:t>
            </a:r>
            <a:r>
              <a:rPr lang="en-US" altLang="ko-KR" dirty="0"/>
              <a:t>→VC/</a:t>
            </a:r>
            <a:r>
              <a:rPr lang="ko-KR" altLang="en-US" dirty="0" err="1"/>
              <a:t>타은행</a:t>
            </a:r>
            <a:r>
              <a:rPr lang="en-US" altLang="ko-KR" dirty="0"/>
              <a:t>, </a:t>
            </a:r>
            <a:r>
              <a:rPr lang="ko-KR" altLang="en-US" dirty="0"/>
              <a:t>부실</a:t>
            </a:r>
            <a:r>
              <a:rPr lang="en-US" altLang="ko-KR" dirty="0"/>
              <a:t>→</a:t>
            </a:r>
            <a:r>
              <a:rPr lang="ko-KR" altLang="en-US" dirty="0"/>
              <a:t>은행</a:t>
            </a:r>
            <a:r>
              <a:rPr lang="en-US" altLang="ko-KR" dirty="0"/>
              <a:t>(VC</a:t>
            </a:r>
            <a:r>
              <a:rPr lang="ko-KR" altLang="en-US" dirty="0"/>
              <a:t>보다 </a:t>
            </a:r>
            <a:r>
              <a:rPr lang="ko-KR" altLang="en-US" dirty="0" err="1"/>
              <a:t>대출쉽</a:t>
            </a:r>
            <a:r>
              <a:rPr lang="en-US" altLang="ko-KR" dirty="0"/>
              <a:t>)//</a:t>
            </a:r>
            <a:r>
              <a:rPr lang="ko-KR" altLang="en-US" dirty="0"/>
              <a:t>역선택 </a:t>
            </a:r>
            <a:r>
              <a:rPr lang="en-US" altLang="ko-KR" dirty="0"/>
              <a:t>: </a:t>
            </a:r>
            <a:r>
              <a:rPr lang="ko-KR" altLang="en-US" dirty="0"/>
              <a:t>부실만 채권시장</a:t>
            </a:r>
            <a:r>
              <a:rPr lang="en-US" altLang="ko-KR" dirty="0"/>
              <a:t>.→</a:t>
            </a:r>
            <a:r>
              <a:rPr lang="ko-KR" altLang="en-US" dirty="0"/>
              <a:t>총 </a:t>
            </a:r>
            <a:r>
              <a:rPr lang="ko-KR" altLang="en-US" dirty="0" err="1"/>
              <a:t>대출액</a:t>
            </a:r>
            <a:r>
              <a:rPr lang="ko-KR" altLang="en-US" dirty="0"/>
              <a:t> 제한</a:t>
            </a:r>
            <a:r>
              <a:rPr lang="en-US" altLang="ko-KR" dirty="0"/>
              <a:t>, </a:t>
            </a:r>
            <a:r>
              <a:rPr lang="ko-KR" altLang="en-US" dirty="0"/>
              <a:t>자금 경쟁 필요</a:t>
            </a:r>
            <a:endParaRPr lang="en-US" altLang="ko-KR" dirty="0"/>
          </a:p>
          <a:p>
            <a:r>
              <a:rPr lang="ko-KR" altLang="en-US" dirty="0" err="1"/>
              <a:t>경기순응성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호경</a:t>
            </a:r>
            <a:r>
              <a:rPr lang="en-US" altLang="ko-KR" dirty="0"/>
              <a:t> : </a:t>
            </a:r>
            <a:r>
              <a:rPr lang="ko-KR" altLang="en-US" dirty="0"/>
              <a:t>투자</a:t>
            </a:r>
            <a:r>
              <a:rPr lang="en-US" altLang="ko-KR" dirty="0"/>
              <a:t>↑→</a:t>
            </a:r>
            <a:r>
              <a:rPr lang="ko-KR" altLang="en-US" dirty="0"/>
              <a:t>리스크</a:t>
            </a:r>
            <a:r>
              <a:rPr lang="en-US" altLang="ko-KR" dirty="0"/>
              <a:t>↑</a:t>
            </a:r>
            <a:r>
              <a:rPr lang="ko-KR" altLang="en-US" dirty="0"/>
              <a:t>기업투자</a:t>
            </a:r>
            <a:r>
              <a:rPr lang="en-US" altLang="ko-KR" dirty="0"/>
              <a:t>(</a:t>
            </a:r>
            <a:r>
              <a:rPr lang="ko-KR" altLang="en-US" dirty="0"/>
              <a:t>불량</a:t>
            </a:r>
            <a:r>
              <a:rPr lang="en-US" altLang="ko-KR" dirty="0"/>
              <a:t>)→</a:t>
            </a:r>
            <a:r>
              <a:rPr lang="ko-KR" altLang="en-US" dirty="0"/>
              <a:t>자금 수요자 우위 </a:t>
            </a:r>
            <a:r>
              <a:rPr lang="en-US" altLang="ko-KR" dirty="0"/>
              <a:t>→ </a:t>
            </a:r>
            <a:r>
              <a:rPr lang="ko-KR" altLang="en-US" dirty="0"/>
              <a:t>경기과열</a:t>
            </a:r>
            <a:br>
              <a:rPr lang="en-US" altLang="ko-KR" dirty="0"/>
            </a:br>
            <a:r>
              <a:rPr lang="ko-KR" altLang="en-US" dirty="0"/>
              <a:t>불경 </a:t>
            </a:r>
            <a:r>
              <a:rPr lang="en-US" altLang="ko-KR" dirty="0"/>
              <a:t>: </a:t>
            </a:r>
            <a:r>
              <a:rPr lang="ko-KR" altLang="en-US" dirty="0"/>
              <a:t>투자</a:t>
            </a:r>
            <a:r>
              <a:rPr lang="en-US" altLang="ko-KR" dirty="0"/>
              <a:t>↓→</a:t>
            </a:r>
            <a:r>
              <a:rPr lang="ko-KR" altLang="en-US" dirty="0"/>
              <a:t>리스크</a:t>
            </a:r>
            <a:r>
              <a:rPr lang="en-US" altLang="ko-KR" dirty="0"/>
              <a:t>↓</a:t>
            </a:r>
            <a:r>
              <a:rPr lang="ko-KR" altLang="en-US" dirty="0"/>
              <a:t>기업투자</a:t>
            </a:r>
            <a:r>
              <a:rPr lang="en-US" altLang="ko-KR" dirty="0"/>
              <a:t>→</a:t>
            </a:r>
            <a:r>
              <a:rPr lang="ko-KR" altLang="en-US" dirty="0"/>
              <a:t>자금 공급자 우위 </a:t>
            </a:r>
            <a:r>
              <a:rPr lang="en-US" altLang="ko-KR" dirty="0"/>
              <a:t>→ </a:t>
            </a:r>
            <a:r>
              <a:rPr lang="ko-KR" altLang="en-US" dirty="0"/>
              <a:t>경기 </a:t>
            </a:r>
            <a:r>
              <a:rPr lang="ko-KR" altLang="en-US" dirty="0" err="1"/>
              <a:t>과침체</a:t>
            </a:r>
            <a:endParaRPr lang="en-US" altLang="ko-KR" dirty="0"/>
          </a:p>
          <a:p>
            <a:r>
              <a:rPr lang="en-US" altLang="ko-KR" dirty="0"/>
              <a:t>SBC</a:t>
            </a:r>
            <a:r>
              <a:rPr lang="ko-KR" altLang="en-US" dirty="0"/>
              <a:t>와 대기업 </a:t>
            </a:r>
            <a:r>
              <a:rPr lang="en-US" altLang="ko-KR" dirty="0"/>
              <a:t>: </a:t>
            </a:r>
            <a:r>
              <a:rPr lang="ko-KR" altLang="en-US" dirty="0"/>
              <a:t>불황</a:t>
            </a:r>
            <a:r>
              <a:rPr lang="en-US" altLang="ko-KR" dirty="0"/>
              <a:t>→VC/</a:t>
            </a:r>
            <a:r>
              <a:rPr lang="ko-KR" altLang="en-US" dirty="0"/>
              <a:t>은행 대출</a:t>
            </a:r>
            <a:r>
              <a:rPr lang="en-US" altLang="ko-KR" dirty="0"/>
              <a:t>→ (</a:t>
            </a:r>
            <a:r>
              <a:rPr lang="ko-KR" altLang="en-US" dirty="0"/>
              <a:t>이후</a:t>
            </a:r>
            <a:r>
              <a:rPr lang="en-US" altLang="ko-KR" dirty="0"/>
              <a:t>)</a:t>
            </a:r>
            <a:r>
              <a:rPr lang="ko-KR" altLang="en-US" dirty="0" err="1"/>
              <a:t>새제품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/>
              <a:t>독점</a:t>
            </a:r>
            <a:r>
              <a:rPr lang="en-US" altLang="ko-KR" dirty="0"/>
              <a:t>&amp;</a:t>
            </a:r>
            <a:r>
              <a:rPr lang="ko-KR" altLang="en-US" dirty="0"/>
              <a:t>중소벤처 시장퇴출</a:t>
            </a:r>
            <a:endParaRPr lang="en-US" altLang="ko-KR" dirty="0"/>
          </a:p>
          <a:p>
            <a:r>
              <a:rPr lang="ko-KR" altLang="en-US" dirty="0"/>
              <a:t>정부역할 </a:t>
            </a:r>
            <a:r>
              <a:rPr lang="en-US" altLang="ko-KR" dirty="0"/>
              <a:t>: </a:t>
            </a:r>
            <a:r>
              <a:rPr lang="ko-KR" altLang="en-US" dirty="0"/>
              <a:t>정부 불황기에 펀드 조성 </a:t>
            </a:r>
            <a:r>
              <a:rPr lang="en-US" altLang="ko-KR" dirty="0"/>
              <a:t>→ </a:t>
            </a:r>
            <a:r>
              <a:rPr lang="ko-KR" altLang="en-US" dirty="0"/>
              <a:t>민간</a:t>
            </a:r>
            <a:r>
              <a:rPr lang="en-US" altLang="ko-KR" dirty="0"/>
              <a:t>VC</a:t>
            </a:r>
            <a:r>
              <a:rPr lang="ko-KR" altLang="en-US" dirty="0"/>
              <a:t>운용</a:t>
            </a:r>
            <a:r>
              <a:rPr lang="en-US" altLang="ko-KR" dirty="0"/>
              <a:t>+</a:t>
            </a:r>
            <a:r>
              <a:rPr lang="ko-KR" altLang="en-US" dirty="0"/>
              <a:t>벤처기업 자금 조성 환경 조성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FAAFC8-A077-0062-FAFC-1B5F2888196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72655" y="3224808"/>
            <a:ext cx="116605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42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F208569-AA39-DB4A-F4C3-15FB381AB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DF6C552-8904-4CB7-C02D-13B61571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기경 총정리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C7AA6C6-67B1-16B0-3934-FE236211F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6" y="560511"/>
            <a:ext cx="6768750" cy="9274631"/>
          </a:xfrm>
        </p:spPr>
        <p:txBody>
          <a:bodyPr/>
          <a:lstStyle/>
          <a:p>
            <a:r>
              <a:rPr lang="ko-KR" altLang="en-US" dirty="0"/>
              <a:t>비대칭 정보</a:t>
            </a:r>
            <a:r>
              <a:rPr lang="en-US" altLang="ko-KR" dirty="0"/>
              <a:t>, </a:t>
            </a:r>
            <a:r>
              <a:rPr lang="ko-KR" altLang="en-US" dirty="0"/>
              <a:t>유인설계의 문제</a:t>
            </a:r>
            <a:endParaRPr lang="en-US" altLang="ko-KR" dirty="0"/>
          </a:p>
          <a:p>
            <a:pPr lvl="1"/>
            <a:r>
              <a:rPr lang="ko-KR" altLang="en-US" dirty="0"/>
              <a:t>리스크 </a:t>
            </a:r>
            <a:r>
              <a:rPr lang="en-US" altLang="ko-KR" dirty="0"/>
              <a:t>→ </a:t>
            </a:r>
            <a:r>
              <a:rPr lang="ko-KR" altLang="en-US" dirty="0" err="1"/>
              <a:t>헷징</a:t>
            </a:r>
            <a:r>
              <a:rPr lang="en-US" altLang="ko-KR" dirty="0"/>
              <a:t>, </a:t>
            </a:r>
            <a:r>
              <a:rPr lang="ko-KR" altLang="en-US" dirty="0"/>
              <a:t>위험 분산</a:t>
            </a:r>
            <a:r>
              <a:rPr lang="en-US" altLang="ko-KR" dirty="0"/>
              <a:t>//</a:t>
            </a:r>
            <a:r>
              <a:rPr lang="ko-KR" altLang="en-US" dirty="0"/>
              <a:t>불확실성 </a:t>
            </a:r>
            <a:r>
              <a:rPr lang="en-US" altLang="ko-KR" dirty="0"/>
              <a:t>→ </a:t>
            </a:r>
            <a:r>
              <a:rPr lang="ko-KR" altLang="en-US" dirty="0" err="1"/>
              <a:t>풀링</a:t>
            </a:r>
            <a:r>
              <a:rPr lang="en-US" altLang="ko-KR" dirty="0"/>
              <a:t>, </a:t>
            </a:r>
            <a:r>
              <a:rPr lang="ko-KR" altLang="en-US" dirty="0"/>
              <a:t>단일가격</a:t>
            </a:r>
            <a:r>
              <a:rPr lang="en-US" altLang="ko-KR" dirty="0"/>
              <a:t>/</a:t>
            </a:r>
            <a:r>
              <a:rPr lang="ko-KR" altLang="en-US" dirty="0"/>
              <a:t>정책 </a:t>
            </a:r>
            <a:r>
              <a:rPr lang="en-US" altLang="ko-KR" dirty="0"/>
              <a:t>→ </a:t>
            </a:r>
            <a:r>
              <a:rPr lang="ko-KR" altLang="en-US" dirty="0"/>
              <a:t>평균적 해소</a:t>
            </a:r>
            <a:r>
              <a:rPr lang="en-US" altLang="ko-KR" dirty="0"/>
              <a:t>; </a:t>
            </a:r>
            <a:r>
              <a:rPr lang="ko-KR" altLang="en-US" dirty="0"/>
              <a:t>수요의 </a:t>
            </a:r>
            <a:r>
              <a:rPr lang="ko-KR" altLang="en-US" dirty="0" err="1"/>
              <a:t>풀링</a:t>
            </a:r>
            <a:r>
              <a:rPr lang="en-US" altLang="ko-KR" dirty="0"/>
              <a:t>=(</a:t>
            </a:r>
            <a:r>
              <a:rPr lang="ko-KR" altLang="en-US" dirty="0"/>
              <a:t>이질적</a:t>
            </a:r>
            <a:r>
              <a:rPr lang="en-US" altLang="ko-KR" dirty="0"/>
              <a:t>?→</a:t>
            </a:r>
            <a:r>
              <a:rPr lang="ko-KR" altLang="en-US" dirty="0"/>
              <a:t>보완적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보험시장에서</a:t>
            </a:r>
            <a:r>
              <a:rPr lang="en-US" altLang="ko-KR" dirty="0"/>
              <a:t> </a:t>
            </a:r>
            <a:r>
              <a:rPr lang="ko-KR" altLang="en-US" dirty="0"/>
              <a:t>도덕적 해이 </a:t>
            </a:r>
            <a:r>
              <a:rPr lang="en-US" altLang="ko-KR" dirty="0"/>
              <a:t>: MH = </a:t>
            </a:r>
            <a:r>
              <a:rPr lang="ko-KR" altLang="en-US" dirty="0"/>
              <a:t>착취</a:t>
            </a:r>
            <a:r>
              <a:rPr lang="en-US" altLang="ko-KR" dirty="0"/>
              <a:t> : </a:t>
            </a:r>
            <a:r>
              <a:rPr lang="ko-KR" altLang="en-US" dirty="0" err="1"/>
              <a:t>정많</a:t>
            </a:r>
            <a:r>
              <a:rPr lang="en-US" altLang="ko-KR" dirty="0"/>
              <a:t>→</a:t>
            </a:r>
            <a:r>
              <a:rPr lang="ko-KR" altLang="en-US" dirty="0" err="1"/>
              <a:t>정없</a:t>
            </a:r>
            <a:r>
              <a:rPr lang="en-US" altLang="ko-KR" dirty="0"/>
              <a:t>. </a:t>
            </a:r>
            <a:r>
              <a:rPr lang="ko-KR" altLang="en-US" dirty="0"/>
              <a:t>해결</a:t>
            </a:r>
            <a:r>
              <a:rPr lang="en-US" altLang="ko-KR" dirty="0"/>
              <a:t>? </a:t>
            </a:r>
            <a:r>
              <a:rPr lang="ko-KR" altLang="en-US" dirty="0"/>
              <a:t>가입자도 피해 일부 부담</a:t>
            </a:r>
            <a:endParaRPr lang="en-US" altLang="ko-KR" dirty="0"/>
          </a:p>
          <a:p>
            <a:pPr lvl="1"/>
            <a:r>
              <a:rPr lang="ko-KR" altLang="en-US" dirty="0"/>
              <a:t>유인설계문제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재</a:t>
            </a:r>
            <a:r>
              <a:rPr lang="en-US" altLang="ko-KR" dirty="0"/>
              <a:t>→</a:t>
            </a:r>
            <a:r>
              <a:rPr lang="ko-KR" altLang="en-US" dirty="0"/>
              <a:t>고정 </a:t>
            </a:r>
            <a:r>
              <a:rPr lang="en-US" altLang="ko-KR" dirty="0"/>
              <a:t>0.8, E(</a:t>
            </a:r>
            <a:r>
              <a:rPr lang="el-GR" altLang="ko-KR" dirty="0"/>
              <a:t>π</a:t>
            </a:r>
            <a:r>
              <a:rPr lang="en-US" altLang="ko-KR" dirty="0"/>
              <a:t>)=(2 * ½+ 4 * 1½) -0.8 = 2.2</a:t>
            </a:r>
            <a:br>
              <a:rPr lang="en-US" altLang="ko-KR" dirty="0"/>
            </a:br>
            <a:r>
              <a:rPr lang="en-US" altLang="ko-KR" dirty="0"/>
              <a:t>2) [</a:t>
            </a:r>
            <a:r>
              <a:rPr lang="el-GR" altLang="ko-KR" dirty="0"/>
              <a:t>π</a:t>
            </a:r>
            <a:r>
              <a:rPr lang="en-US" altLang="ko-KR" dirty="0"/>
              <a:t>=8→w=2.4 &amp; </a:t>
            </a:r>
            <a:r>
              <a:rPr lang="el-GR" altLang="ko-KR" dirty="0"/>
              <a:t>π</a:t>
            </a:r>
            <a:r>
              <a:rPr lang="en-US" altLang="ko-KR" dirty="0"/>
              <a:t>=2or4 → w=0.4] → E(w)=0.9, E(</a:t>
            </a:r>
            <a:r>
              <a:rPr lang="el-GR" altLang="ko-KR" dirty="0"/>
              <a:t>π</a:t>
            </a:r>
            <a:r>
              <a:rPr lang="en-US" altLang="ko-KR" dirty="0"/>
              <a:t>)=1.6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el-GR" altLang="ko-KR" dirty="0"/>
              <a:t>π</a:t>
            </a:r>
            <a:r>
              <a:rPr lang="en-US" altLang="ko-KR" dirty="0"/>
              <a:t>&gt;3→w=(</a:t>
            </a:r>
            <a:r>
              <a:rPr lang="el-GR" altLang="ko-KR" dirty="0"/>
              <a:t>π</a:t>
            </a:r>
            <a:r>
              <a:rPr lang="en-US" altLang="ko-KR" dirty="0"/>
              <a:t>-3)*0.4 or</a:t>
            </a:r>
            <a:r>
              <a:rPr lang="ko-KR" altLang="en-US" dirty="0"/>
              <a:t> </a:t>
            </a:r>
            <a:r>
              <a:rPr lang="el-GR" altLang="ko-KR" dirty="0"/>
              <a:t>π</a:t>
            </a:r>
            <a:r>
              <a:rPr lang="ko-KR" altLang="en-US" dirty="0"/>
              <a:t>≤</a:t>
            </a:r>
            <a:r>
              <a:rPr lang="en-US" altLang="ko-KR" dirty="0"/>
              <a:t>3 → w=0</a:t>
            </a:r>
          </a:p>
          <a:p>
            <a:r>
              <a:rPr lang="ko-KR" altLang="en-US" dirty="0"/>
              <a:t>완비정보 하에 쿠르노 경쟁</a:t>
            </a:r>
            <a:endParaRPr lang="en-US" altLang="ko-KR" dirty="0"/>
          </a:p>
          <a:p>
            <a:pPr lvl="1"/>
            <a:r>
              <a:rPr lang="ko-KR" altLang="en-US" dirty="0"/>
              <a:t>쿠르노</a:t>
            </a:r>
            <a:r>
              <a:rPr lang="en-US" altLang="ko-KR" dirty="0"/>
              <a:t>→</a:t>
            </a:r>
            <a:r>
              <a:rPr lang="ko-KR" altLang="en-US" dirty="0"/>
              <a:t>수량경쟁</a:t>
            </a:r>
            <a:r>
              <a:rPr lang="en-US" altLang="ko-KR" dirty="0"/>
              <a:t>(</a:t>
            </a:r>
            <a:r>
              <a:rPr lang="ko-KR" altLang="en-US" dirty="0"/>
              <a:t>비가격경쟁</a:t>
            </a:r>
            <a:r>
              <a:rPr lang="en-US" altLang="ko-KR" dirty="0"/>
              <a:t>, R&amp;D)</a:t>
            </a:r>
          </a:p>
          <a:p>
            <a:pPr lvl="1"/>
            <a:r>
              <a:rPr lang="ko-KR" altLang="en-US" dirty="0"/>
              <a:t>전대 </a:t>
            </a:r>
            <a:r>
              <a:rPr lang="en-US" altLang="ko-KR" dirty="0"/>
              <a:t>: </a:t>
            </a:r>
            <a:r>
              <a:rPr lang="ko-KR" altLang="en-US" dirty="0"/>
              <a:t>상대생산</a:t>
            </a:r>
            <a:r>
              <a:rPr lang="en-US" altLang="ko-KR" dirty="0"/>
              <a:t>↑→</a:t>
            </a:r>
            <a:r>
              <a:rPr lang="ko-KR" altLang="en-US" dirty="0" err="1"/>
              <a:t>내생산</a:t>
            </a:r>
            <a:r>
              <a:rPr lang="en-US" altLang="ko-KR" dirty="0"/>
              <a:t>↓ </a:t>
            </a:r>
            <a:r>
              <a:rPr lang="ko-KR" altLang="en-US" dirty="0"/>
              <a:t>가 최적판단</a:t>
            </a:r>
            <a:br>
              <a:rPr lang="en-US" altLang="ko-KR" dirty="0"/>
            </a:br>
            <a:r>
              <a:rPr lang="ko-KR" altLang="en-US" dirty="0"/>
              <a:t>전보</a:t>
            </a:r>
            <a:r>
              <a:rPr lang="en-US" altLang="ko-KR" dirty="0"/>
              <a:t> : </a:t>
            </a:r>
            <a:r>
              <a:rPr lang="ko-KR" altLang="en-US" dirty="0"/>
              <a:t>상대생산</a:t>
            </a:r>
            <a:r>
              <a:rPr lang="en-US" altLang="ko-KR" dirty="0"/>
              <a:t>↓→</a:t>
            </a:r>
            <a:r>
              <a:rPr lang="ko-KR" altLang="en-US" dirty="0" err="1"/>
              <a:t>내생산</a:t>
            </a:r>
            <a:r>
              <a:rPr lang="en-US" altLang="ko-KR" dirty="0"/>
              <a:t>↑ </a:t>
            </a:r>
            <a:r>
              <a:rPr lang="ko-KR" altLang="en-US" dirty="0"/>
              <a:t>가 최적판단</a:t>
            </a:r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r>
              <a:rPr lang="ko-KR" altLang="en-US" dirty="0"/>
              <a:t>비대칭 </a:t>
            </a:r>
            <a:r>
              <a:rPr lang="ko-KR" altLang="en-US" dirty="0" err="1"/>
              <a:t>정보하</a:t>
            </a:r>
            <a:r>
              <a:rPr lang="ko-KR" altLang="en-US" dirty="0"/>
              <a:t> 쿠르노 경쟁</a:t>
            </a:r>
            <a:endParaRPr lang="en-US" altLang="ko-KR" dirty="0"/>
          </a:p>
          <a:p>
            <a:pPr lvl="1"/>
            <a:r>
              <a:rPr lang="en-US" altLang="ko-KR" dirty="0"/>
              <a:t>L/H</a:t>
            </a:r>
            <a:r>
              <a:rPr lang="ko-KR" altLang="en-US" dirty="0"/>
              <a:t>타입 </a:t>
            </a:r>
            <a:r>
              <a:rPr lang="en-US" altLang="ko-KR" dirty="0"/>
              <a:t>: </a:t>
            </a:r>
            <a:r>
              <a:rPr lang="ko-KR" altLang="en-US" dirty="0"/>
              <a:t>기업</a:t>
            </a:r>
            <a:r>
              <a:rPr lang="en-US" altLang="ko-KR" dirty="0"/>
              <a:t>2</a:t>
            </a:r>
            <a:r>
              <a:rPr lang="ko-KR" altLang="en-US" dirty="0"/>
              <a:t>가 </a:t>
            </a:r>
            <a:r>
              <a:rPr lang="en-US" altLang="ko-KR" dirty="0"/>
              <a:t>C1=CL/CH</a:t>
            </a:r>
            <a:r>
              <a:rPr lang="ko-KR" altLang="en-US" dirty="0"/>
              <a:t>인 경우보다 더</a:t>
            </a:r>
            <a:r>
              <a:rPr lang="en-US" altLang="ko-KR" dirty="0"/>
              <a:t>/</a:t>
            </a:r>
            <a:r>
              <a:rPr lang="ko-KR" altLang="en-US" dirty="0"/>
              <a:t>덜 생산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완비정보 산출량보다 덜</a:t>
            </a:r>
            <a:r>
              <a:rPr lang="en-US" altLang="ko-KR" dirty="0"/>
              <a:t>/</a:t>
            </a:r>
            <a:r>
              <a:rPr lang="ko-KR" altLang="en-US" dirty="0"/>
              <a:t>더 생산</a:t>
            </a:r>
            <a:r>
              <a:rPr lang="en-US" altLang="ko-KR" dirty="0"/>
              <a:t>, </a:t>
            </a:r>
            <a:r>
              <a:rPr lang="ko-KR" altLang="en-US" dirty="0"/>
              <a:t>효율적</a:t>
            </a:r>
            <a:r>
              <a:rPr lang="en-US" altLang="ko-KR" dirty="0"/>
              <a:t>/</a:t>
            </a:r>
            <a:r>
              <a:rPr lang="ko-KR" altLang="en-US" dirty="0"/>
              <a:t>비효율적 기업 손해</a:t>
            </a:r>
            <a:r>
              <a:rPr lang="en-US" altLang="ko-KR" dirty="0"/>
              <a:t>/</a:t>
            </a:r>
            <a:r>
              <a:rPr lang="ko-KR" altLang="en-US" dirty="0"/>
              <a:t>이득</a:t>
            </a:r>
            <a:br>
              <a:rPr lang="en-US" altLang="ko-KR" dirty="0"/>
            </a:br>
            <a:r>
              <a:rPr lang="ko-KR" altLang="en-US" dirty="0"/>
              <a:t>결론 </a:t>
            </a:r>
            <a:r>
              <a:rPr lang="en-US" altLang="ko-KR" dirty="0"/>
              <a:t>: H</a:t>
            </a:r>
            <a:r>
              <a:rPr lang="ko-KR" altLang="en-US" dirty="0"/>
              <a:t>타입의 존재 가능성 때문에 </a:t>
            </a:r>
            <a:r>
              <a:rPr lang="en-US" altLang="ko-KR" dirty="0"/>
              <a:t>L</a:t>
            </a:r>
            <a:r>
              <a:rPr lang="ko-KR" altLang="en-US" dirty="0"/>
              <a:t>타입은</a:t>
            </a:r>
            <a:r>
              <a:rPr lang="en-US" altLang="ko-KR" dirty="0"/>
              <a:t> </a:t>
            </a:r>
            <a:r>
              <a:rPr lang="ko-KR" altLang="en-US" dirty="0" err="1"/>
              <a:t>완비정보하</a:t>
            </a:r>
            <a:r>
              <a:rPr lang="ko-KR" altLang="en-US" dirty="0"/>
              <a:t> 손해</a:t>
            </a:r>
            <a:r>
              <a:rPr lang="en-US" altLang="ko-KR" dirty="0"/>
              <a:t>; H</a:t>
            </a:r>
            <a:r>
              <a:rPr lang="ko-KR" altLang="en-US" dirty="0"/>
              <a:t>는 </a:t>
            </a:r>
            <a:r>
              <a:rPr lang="en-US" altLang="ko-KR" dirty="0"/>
              <a:t>L</a:t>
            </a:r>
            <a:r>
              <a:rPr lang="ko-KR" altLang="en-US" dirty="0"/>
              <a:t>때문에 완비정보보다 이득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시장구조와 기술혁신</a:t>
            </a:r>
            <a:endParaRPr lang="en-US" altLang="ko-KR" dirty="0"/>
          </a:p>
          <a:p>
            <a:pPr lvl="1"/>
            <a:r>
              <a:rPr lang="en-US" altLang="ko-KR" dirty="0"/>
              <a:t>Major/minor Innovation : (</a:t>
            </a:r>
            <a:r>
              <a:rPr lang="ko-KR" altLang="en-US" dirty="0"/>
              <a:t>생산단가</a:t>
            </a:r>
            <a:r>
              <a:rPr lang="en-US" altLang="ko-KR" dirty="0"/>
              <a:t>↓→</a:t>
            </a:r>
            <a:r>
              <a:rPr lang="ko-KR" altLang="en-US" dirty="0"/>
              <a:t>가격</a:t>
            </a:r>
            <a:r>
              <a:rPr lang="en-US" altLang="ko-KR" dirty="0"/>
              <a:t>↓/↓X)→(</a:t>
            </a:r>
            <a:r>
              <a:rPr lang="ko-KR" altLang="en-US" dirty="0"/>
              <a:t>수요</a:t>
            </a:r>
            <a:r>
              <a:rPr lang="en-US" altLang="ko-KR" dirty="0"/>
              <a:t>↑/↑X→</a:t>
            </a:r>
            <a:r>
              <a:rPr lang="ko-KR" altLang="en-US" dirty="0"/>
              <a:t>소비자</a:t>
            </a:r>
            <a:r>
              <a:rPr lang="en-US" altLang="ko-KR" dirty="0"/>
              <a:t>/</a:t>
            </a:r>
            <a:r>
              <a:rPr lang="ko-KR" altLang="en-US" dirty="0"/>
              <a:t>생산자 이득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제품혁신 </a:t>
            </a:r>
            <a:r>
              <a:rPr lang="en-US" altLang="ko-KR" dirty="0"/>
              <a:t>: </a:t>
            </a:r>
            <a:r>
              <a:rPr lang="ko-KR" altLang="en-US" dirty="0" err="1"/>
              <a:t>새제품</a:t>
            </a:r>
            <a:r>
              <a:rPr lang="en-US" altLang="ko-KR" dirty="0"/>
              <a:t>;</a:t>
            </a:r>
            <a:r>
              <a:rPr lang="ko-KR" altLang="en-US" dirty="0"/>
              <a:t> 대체효과 </a:t>
            </a:r>
            <a:r>
              <a:rPr lang="en-US" altLang="ko-KR" dirty="0"/>
              <a:t>: substitution(=</a:t>
            </a:r>
            <a:r>
              <a:rPr lang="ko-KR" altLang="en-US" dirty="0"/>
              <a:t>경쟁사 소비 대체</a:t>
            </a:r>
            <a:r>
              <a:rPr lang="en-US" altLang="ko-KR" dirty="0"/>
              <a:t>), replace effect(=</a:t>
            </a:r>
            <a:r>
              <a:rPr lang="ko-KR" altLang="en-US" dirty="0"/>
              <a:t>자사 제품 대체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시장구조와 연구개발투자의 상관관계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 err="1"/>
              <a:t>프리라이딩</a:t>
            </a:r>
            <a:r>
              <a:rPr lang="ko-KR" altLang="en-US" dirty="0"/>
              <a:t> 문제 </a:t>
            </a:r>
            <a:r>
              <a:rPr lang="en-US" altLang="ko-KR" dirty="0"/>
              <a:t>: β &lt; 0.5 → </a:t>
            </a:r>
            <a:r>
              <a:rPr lang="ko-KR" altLang="en-US" dirty="0"/>
              <a:t>상대방이 </a:t>
            </a:r>
            <a:r>
              <a:rPr lang="en-US" altLang="ko-KR" dirty="0" err="1"/>
              <a:t>RnD</a:t>
            </a:r>
            <a:r>
              <a:rPr lang="en-US" altLang="ko-KR" dirty="0"/>
              <a:t> </a:t>
            </a:r>
            <a:r>
              <a:rPr lang="ko-KR" altLang="en-US" dirty="0"/>
              <a:t>투자</a:t>
            </a:r>
            <a:r>
              <a:rPr lang="en-US" altLang="ko-KR" dirty="0"/>
              <a:t>→ </a:t>
            </a:r>
            <a:r>
              <a:rPr lang="ko-KR" altLang="en-US" dirty="0"/>
              <a:t>내게 돌아오는 </a:t>
            </a:r>
            <a:r>
              <a:rPr lang="en-US" altLang="ko-KR" dirty="0"/>
              <a:t>spill over </a:t>
            </a:r>
            <a:r>
              <a:rPr lang="ko-KR" altLang="en-US" dirty="0"/>
              <a:t>↓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나는 </a:t>
            </a:r>
            <a:r>
              <a:rPr lang="en-US" altLang="ko-KR" dirty="0" err="1"/>
              <a:t>RnD</a:t>
            </a:r>
            <a:r>
              <a:rPr lang="ko-KR" altLang="en-US" dirty="0"/>
              <a:t>를 줄이고 상대방에게 </a:t>
            </a:r>
            <a:r>
              <a:rPr lang="ko-KR" altLang="en-US" dirty="0" err="1"/>
              <a:t>무임승차할</a:t>
            </a:r>
            <a:r>
              <a:rPr lang="ko-KR" altLang="en-US" dirty="0"/>
              <a:t> 유인 </a:t>
            </a:r>
            <a:r>
              <a:rPr lang="en-US" altLang="ko-KR" dirty="0"/>
              <a:t>O → RJV</a:t>
            </a:r>
          </a:p>
          <a:p>
            <a:r>
              <a:rPr lang="ko-KR" altLang="en-US" dirty="0"/>
              <a:t>기업간 연구개발 협력</a:t>
            </a:r>
            <a:r>
              <a:rPr lang="en-US" altLang="ko-KR" dirty="0"/>
              <a:t>/</a:t>
            </a:r>
            <a:r>
              <a:rPr lang="ko-KR" altLang="en-US" dirty="0"/>
              <a:t>산학 공동협력</a:t>
            </a:r>
            <a:endParaRPr lang="en-US" altLang="ko-KR" dirty="0"/>
          </a:p>
          <a:p>
            <a:pPr lvl="1"/>
            <a:r>
              <a:rPr lang="ko-KR" altLang="en-US" dirty="0"/>
              <a:t>전대</a:t>
            </a:r>
            <a:r>
              <a:rPr lang="en-US" altLang="ko-KR" dirty="0"/>
              <a:t>/</a:t>
            </a:r>
            <a:r>
              <a:rPr lang="ko-KR" altLang="en-US" dirty="0"/>
              <a:t>전보 </a:t>
            </a:r>
            <a:r>
              <a:rPr lang="en-US" altLang="ko-KR" dirty="0"/>
              <a:t>: </a:t>
            </a:r>
            <a:r>
              <a:rPr lang="ko-KR" altLang="en-US" dirty="0" err="1"/>
              <a:t>한기업</a:t>
            </a:r>
            <a:r>
              <a:rPr lang="en-US" altLang="ko-KR" dirty="0"/>
              <a:t>→</a:t>
            </a:r>
            <a:r>
              <a:rPr lang="ko-KR" altLang="en-US" dirty="0"/>
              <a:t>타기업 최적 전략 부정</a:t>
            </a:r>
            <a:r>
              <a:rPr lang="en-US" altLang="ko-KR" dirty="0"/>
              <a:t>/</a:t>
            </a:r>
            <a:r>
              <a:rPr lang="ko-KR" altLang="en-US" dirty="0"/>
              <a:t>긍정적</a:t>
            </a:r>
            <a:r>
              <a:rPr lang="en-US" altLang="ko-KR" dirty="0"/>
              <a:t>. </a:t>
            </a:r>
            <a:r>
              <a:rPr lang="ko-KR" altLang="en-US" dirty="0"/>
              <a:t>서로 행동 상쇄</a:t>
            </a:r>
            <a:r>
              <a:rPr lang="en-US" altLang="ko-KR" dirty="0"/>
              <a:t>/</a:t>
            </a:r>
            <a:r>
              <a:rPr lang="ko-KR" altLang="en-US" dirty="0"/>
              <a:t>강화</a:t>
            </a:r>
            <a:endParaRPr lang="en-US" altLang="ko-KR" dirty="0"/>
          </a:p>
          <a:p>
            <a:pPr lvl="1"/>
            <a:r>
              <a:rPr lang="en-US" altLang="ko-KR" dirty="0"/>
              <a:t>Bayh-dole</a:t>
            </a:r>
            <a:r>
              <a:rPr lang="ko-KR" altLang="en-US" dirty="0"/>
              <a:t> </a:t>
            </a:r>
            <a:r>
              <a:rPr lang="en-US" altLang="ko-KR" dirty="0"/>
              <a:t>act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80s</a:t>
            </a:r>
            <a:r>
              <a:rPr lang="ko-KR" altLang="en-US" dirty="0"/>
              <a:t> 미국</a:t>
            </a:r>
            <a:r>
              <a:rPr lang="en-US" altLang="ko-KR" dirty="0"/>
              <a:t>, </a:t>
            </a:r>
            <a:r>
              <a:rPr lang="ko-KR" altLang="en-US" dirty="0"/>
              <a:t>정부 지원 연구</a:t>
            </a:r>
            <a:r>
              <a:rPr lang="en-US" altLang="ko-KR" dirty="0"/>
              <a:t>? -&gt; </a:t>
            </a:r>
            <a:r>
              <a:rPr lang="ko-KR" altLang="en-US" dirty="0"/>
              <a:t>특허의 소유권 </a:t>
            </a:r>
            <a:r>
              <a:rPr lang="en-US" altLang="ko-KR" dirty="0"/>
              <a:t>O</a:t>
            </a:r>
          </a:p>
          <a:p>
            <a:pPr lvl="2"/>
            <a:r>
              <a:rPr lang="ko-KR" altLang="en-US" dirty="0"/>
              <a:t>소유권 이전</a:t>
            </a:r>
            <a:r>
              <a:rPr lang="en-US" altLang="ko-KR" dirty="0"/>
              <a:t>, </a:t>
            </a:r>
            <a:r>
              <a:rPr lang="ko-KR" altLang="en-US" dirty="0"/>
              <a:t>상업화 유인</a:t>
            </a:r>
            <a:r>
              <a:rPr lang="en-US" altLang="ko-KR" dirty="0"/>
              <a:t>, </a:t>
            </a:r>
            <a:r>
              <a:rPr lang="ko-KR" altLang="en-US" dirty="0"/>
              <a:t>산학협력단 활성화</a:t>
            </a:r>
            <a:endParaRPr lang="en-US" altLang="ko-KR" dirty="0"/>
          </a:p>
          <a:p>
            <a:r>
              <a:rPr lang="ko-KR" altLang="en-US" dirty="0"/>
              <a:t>지적재산권</a:t>
            </a:r>
            <a:endParaRPr lang="en-US" altLang="ko-KR" dirty="0"/>
          </a:p>
          <a:p>
            <a:pPr lvl="1"/>
            <a:r>
              <a:rPr lang="ko-KR" altLang="en-US" dirty="0"/>
              <a:t>특허</a:t>
            </a:r>
            <a:r>
              <a:rPr lang="en-US" altLang="ko-KR" dirty="0"/>
              <a:t> </a:t>
            </a:r>
            <a:r>
              <a:rPr lang="ko-KR" altLang="en-US" dirty="0"/>
              <a:t>방식주의</a:t>
            </a:r>
            <a:r>
              <a:rPr lang="en-US" altLang="ko-KR" dirty="0"/>
              <a:t>, </a:t>
            </a:r>
            <a:r>
              <a:rPr lang="ko-KR" altLang="en-US" dirty="0"/>
              <a:t>선출원주의</a:t>
            </a:r>
            <a:r>
              <a:rPr lang="en-US" altLang="ko-KR" dirty="0"/>
              <a:t>, </a:t>
            </a:r>
            <a:r>
              <a:rPr lang="ko-KR" altLang="en-US" dirty="0"/>
              <a:t>출원일후 </a:t>
            </a:r>
            <a:r>
              <a:rPr lang="en-US" altLang="ko-KR" dirty="0"/>
              <a:t>20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신규성</a:t>
            </a:r>
            <a:br>
              <a:rPr lang="en-US" altLang="ko-KR" dirty="0"/>
            </a:br>
            <a:r>
              <a:rPr lang="ko-KR" altLang="en-US" dirty="0"/>
              <a:t>저작권 </a:t>
            </a:r>
            <a:r>
              <a:rPr lang="en-US" altLang="ko-KR" dirty="0"/>
              <a:t>: </a:t>
            </a:r>
            <a:r>
              <a:rPr lang="ko-KR" altLang="en-US" dirty="0"/>
              <a:t>무방식주의</a:t>
            </a:r>
            <a:r>
              <a:rPr lang="en-US" altLang="ko-KR" dirty="0"/>
              <a:t>, </a:t>
            </a:r>
            <a:r>
              <a:rPr lang="ko-KR" altLang="en-US" dirty="0"/>
              <a:t>저작자 생</a:t>
            </a:r>
            <a:r>
              <a:rPr lang="en-US" altLang="ko-KR" dirty="0"/>
              <a:t>+</a:t>
            </a:r>
            <a:r>
              <a:rPr lang="ko-KR" altLang="en-US" dirty="0"/>
              <a:t>사</a:t>
            </a:r>
            <a:r>
              <a:rPr lang="en-US" altLang="ko-KR" dirty="0"/>
              <a:t>50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독창성</a:t>
            </a:r>
            <a:endParaRPr lang="en-US" altLang="ko-KR" dirty="0"/>
          </a:p>
          <a:p>
            <a:pPr lvl="1"/>
            <a:r>
              <a:rPr lang="ko-KR" altLang="en-US" dirty="0" err="1"/>
              <a:t>특</a:t>
            </a:r>
            <a:r>
              <a:rPr lang="en-US" altLang="ko-KR" dirty="0"/>
              <a:t>vs</a:t>
            </a:r>
            <a:r>
              <a:rPr lang="ko-KR" altLang="en-US" dirty="0"/>
              <a:t>포 </a:t>
            </a:r>
            <a:r>
              <a:rPr lang="en-US" altLang="ko-KR" dirty="0"/>
              <a:t>: </a:t>
            </a:r>
            <a:r>
              <a:rPr lang="ko-KR" altLang="en-US" dirty="0"/>
              <a:t>특장</a:t>
            </a:r>
            <a:r>
              <a:rPr lang="en-US" altLang="ko-KR" dirty="0"/>
              <a:t>:(</a:t>
            </a:r>
            <a:r>
              <a:rPr lang="ko-KR" altLang="en-US" dirty="0"/>
              <a:t>발명가치</a:t>
            </a:r>
            <a:r>
              <a:rPr lang="en-US" altLang="ko-KR" dirty="0"/>
              <a:t>→</a:t>
            </a:r>
            <a:r>
              <a:rPr lang="ko-KR" altLang="en-US" dirty="0"/>
              <a:t>보상</a:t>
            </a:r>
            <a:r>
              <a:rPr lang="en-US" altLang="ko-KR" dirty="0"/>
              <a:t>)</a:t>
            </a:r>
            <a:r>
              <a:rPr lang="ko-KR" altLang="en-US" dirty="0"/>
              <a:t>불일치</a:t>
            </a:r>
            <a:r>
              <a:rPr lang="en-US" altLang="ko-KR" dirty="0"/>
              <a:t>. </a:t>
            </a:r>
            <a:r>
              <a:rPr lang="ko-KR" altLang="en-US" dirty="0"/>
              <a:t>발명비용</a:t>
            </a:r>
            <a:r>
              <a:rPr lang="en-US" altLang="ko-KR" dirty="0"/>
              <a:t>→</a:t>
            </a:r>
            <a:r>
              <a:rPr lang="ko-KR" altLang="en-US" dirty="0"/>
              <a:t>이용자</a:t>
            </a:r>
            <a:r>
              <a:rPr lang="en-US" altLang="ko-KR" dirty="0"/>
              <a:t>//</a:t>
            </a:r>
            <a:r>
              <a:rPr lang="ko-KR" altLang="en-US" dirty="0"/>
              <a:t>특단 </a:t>
            </a:r>
            <a:r>
              <a:rPr lang="en-US" altLang="ko-KR" dirty="0"/>
              <a:t>: </a:t>
            </a:r>
            <a:r>
              <a:rPr lang="ko-KR" altLang="en-US" dirty="0"/>
              <a:t>복잡</a:t>
            </a:r>
            <a:r>
              <a:rPr lang="en-US" altLang="ko-KR" dirty="0"/>
              <a:t>,</a:t>
            </a:r>
            <a:r>
              <a:rPr lang="ko-KR" altLang="en-US" dirty="0"/>
              <a:t>높은 특허 </a:t>
            </a:r>
            <a:r>
              <a:rPr lang="ko-KR" altLang="en-US" dirty="0" err="1"/>
              <a:t>출원비</a:t>
            </a:r>
            <a:br>
              <a:rPr lang="en-US" altLang="ko-KR" dirty="0"/>
            </a:br>
            <a:r>
              <a:rPr lang="ko-KR" altLang="en-US" dirty="0"/>
              <a:t>포장</a:t>
            </a:r>
            <a:r>
              <a:rPr lang="en-US" altLang="ko-KR" dirty="0"/>
              <a:t>:(</a:t>
            </a:r>
            <a:r>
              <a:rPr lang="ko-KR" altLang="en-US" dirty="0"/>
              <a:t>상가</a:t>
            </a:r>
            <a:r>
              <a:rPr lang="en-US" altLang="ko-KR" dirty="0"/>
              <a:t>X. but,</a:t>
            </a:r>
            <a:r>
              <a:rPr lang="ko-KR" altLang="en-US" dirty="0"/>
              <a:t>사가</a:t>
            </a:r>
            <a:r>
              <a:rPr lang="en-US" altLang="ko-KR" dirty="0"/>
              <a:t>O </a:t>
            </a:r>
            <a:r>
              <a:rPr lang="ko-KR" altLang="en-US" dirty="0"/>
              <a:t>기술</a:t>
            </a:r>
            <a:r>
              <a:rPr lang="en-US" altLang="ko-KR" dirty="0"/>
              <a:t>). </a:t>
            </a:r>
            <a:r>
              <a:rPr lang="ko-KR" altLang="en-US" dirty="0"/>
              <a:t>보상</a:t>
            </a:r>
            <a:r>
              <a:rPr lang="en-US" altLang="ko-KR" dirty="0"/>
              <a:t>→</a:t>
            </a:r>
            <a:r>
              <a:rPr lang="ko-KR" altLang="en-US" dirty="0"/>
              <a:t>혁신가치 연동</a:t>
            </a:r>
            <a:r>
              <a:rPr lang="en-US" altLang="ko-KR" dirty="0"/>
              <a:t>//</a:t>
            </a:r>
            <a:r>
              <a:rPr lang="ko-KR" altLang="en-US" dirty="0" err="1"/>
              <a:t>포단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중앙집중화</a:t>
            </a:r>
            <a:r>
              <a:rPr lang="en-US" altLang="ko-KR" dirty="0"/>
              <a:t>//</a:t>
            </a:r>
            <a:r>
              <a:rPr lang="ko-KR" altLang="en-US" dirty="0" err="1"/>
              <a:t>공통단점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중복투자</a:t>
            </a:r>
            <a:r>
              <a:rPr lang="en-US" altLang="ko-KR" dirty="0"/>
              <a:t>,</a:t>
            </a:r>
            <a:r>
              <a:rPr lang="ko-KR" altLang="en-US" dirty="0"/>
              <a:t>사후보상</a:t>
            </a:r>
            <a:endParaRPr lang="en-US" altLang="ko-KR" dirty="0"/>
          </a:p>
          <a:p>
            <a:pPr lvl="1"/>
            <a:r>
              <a:rPr lang="ko-KR" altLang="en-US" dirty="0"/>
              <a:t>특허명세서 </a:t>
            </a:r>
            <a:r>
              <a:rPr lang="en-US" altLang="ko-KR" dirty="0"/>
              <a:t>: </a:t>
            </a:r>
            <a:r>
              <a:rPr lang="ko-KR" altLang="en-US" dirty="0"/>
              <a:t>심사청구</a:t>
            </a:r>
            <a:r>
              <a:rPr lang="en-US" altLang="ko-KR" dirty="0"/>
              <a:t>,</a:t>
            </a:r>
            <a:r>
              <a:rPr lang="ko-KR" altLang="en-US" dirty="0"/>
              <a:t>우선권</a:t>
            </a:r>
            <a:r>
              <a:rPr lang="en-US" altLang="ko-KR" dirty="0"/>
              <a:t>.</a:t>
            </a:r>
            <a:r>
              <a:rPr lang="ko-KR" altLang="en-US" dirty="0"/>
              <a:t>청구항</a:t>
            </a:r>
            <a:r>
              <a:rPr lang="en-US" altLang="ko-KR" dirty="0"/>
              <a:t>,</a:t>
            </a:r>
            <a:r>
              <a:rPr lang="ko-KR" altLang="en-US" dirty="0"/>
              <a:t>선행기술조사문서</a:t>
            </a:r>
            <a:r>
              <a:rPr lang="en-US" altLang="ko-KR" dirty="0"/>
              <a:t>,</a:t>
            </a:r>
            <a:r>
              <a:rPr lang="ko-KR" altLang="en-US" dirty="0"/>
              <a:t>타입</a:t>
            </a:r>
            <a:r>
              <a:rPr lang="en-US" altLang="ko-KR" dirty="0"/>
              <a:t>2</a:t>
            </a:r>
            <a:r>
              <a:rPr lang="ko-KR" altLang="en-US" dirty="0"/>
              <a:t>에러</a:t>
            </a:r>
            <a:endParaRPr lang="en-US" altLang="ko-KR" dirty="0"/>
          </a:p>
          <a:p>
            <a:pPr lvl="1"/>
            <a:r>
              <a:rPr lang="ko-KR" altLang="en-US" dirty="0"/>
              <a:t>특허의 요선 </a:t>
            </a:r>
            <a:r>
              <a:rPr lang="en-US" altLang="ko-KR" dirty="0"/>
              <a:t>: </a:t>
            </a:r>
            <a:r>
              <a:rPr lang="ko-KR" altLang="en-US" dirty="0"/>
              <a:t>산업상 이용가능성</a:t>
            </a:r>
            <a:r>
              <a:rPr lang="en-US" altLang="ko-KR" dirty="0"/>
              <a:t>, </a:t>
            </a:r>
            <a:r>
              <a:rPr lang="ko-KR" altLang="en-US" dirty="0"/>
              <a:t>신규성</a:t>
            </a:r>
            <a:r>
              <a:rPr lang="en-US" altLang="ko-KR" dirty="0"/>
              <a:t>, </a:t>
            </a:r>
            <a:r>
              <a:rPr lang="ko-KR" altLang="en-US" dirty="0"/>
              <a:t>진보성</a:t>
            </a:r>
            <a:endParaRPr lang="en-US" altLang="ko-KR" dirty="0"/>
          </a:p>
          <a:p>
            <a:r>
              <a:rPr lang="ko-KR" altLang="en-US" dirty="0"/>
              <a:t>특허권</a:t>
            </a:r>
            <a:endParaRPr lang="en-US" altLang="ko-KR" dirty="0"/>
          </a:p>
          <a:p>
            <a:pPr lvl="1"/>
            <a:r>
              <a:rPr lang="ko-KR" altLang="en-US" dirty="0"/>
              <a:t>특허권 보장 쟁점 </a:t>
            </a:r>
            <a:r>
              <a:rPr lang="en-US" altLang="ko-KR" dirty="0"/>
              <a:t>: </a:t>
            </a:r>
            <a:r>
              <a:rPr lang="ko-KR" altLang="en-US" dirty="0"/>
              <a:t>얼마나 길게</a:t>
            </a:r>
            <a:r>
              <a:rPr lang="en-US" altLang="ko-KR" dirty="0"/>
              <a:t>/</a:t>
            </a:r>
            <a:r>
              <a:rPr lang="ko-KR" altLang="en-US" dirty="0"/>
              <a:t>넓게 인정</a:t>
            </a:r>
            <a:r>
              <a:rPr lang="en-US" altLang="ko-KR" dirty="0"/>
              <a:t>? → </a:t>
            </a:r>
            <a:r>
              <a:rPr lang="ko-KR" altLang="en-US" dirty="0"/>
              <a:t>최적기간은 기술 특성에 따라 다르다</a:t>
            </a:r>
            <a:endParaRPr lang="en-US" altLang="ko-KR" dirty="0"/>
          </a:p>
          <a:p>
            <a:pPr lvl="1"/>
            <a:r>
              <a:rPr lang="en-US" altLang="ko-KR" dirty="0"/>
              <a:t>Minor/major IV</a:t>
            </a:r>
            <a:r>
              <a:rPr lang="ko-KR" altLang="en-US" dirty="0"/>
              <a:t>의                                                                        </a:t>
            </a:r>
            <a:r>
              <a:rPr lang="en-US" altLang="ko-KR" dirty="0"/>
              <a:t>- </a:t>
            </a:r>
            <a:r>
              <a:rPr lang="ko-KR" altLang="en-US" dirty="0"/>
              <a:t>최적특허</a:t>
            </a:r>
            <a:r>
              <a:rPr lang="en-US" altLang="ko-KR" dirty="0"/>
              <a:t> </a:t>
            </a:r>
            <a:r>
              <a:rPr lang="ko-KR" altLang="en-US" dirty="0"/>
              <a:t>범위</a:t>
            </a:r>
            <a:br>
              <a:rPr lang="en-US" altLang="ko-KR" dirty="0"/>
            </a:br>
            <a:r>
              <a:rPr lang="ko-KR" altLang="en-US" dirty="0" err="1"/>
              <a:t>최적특허기간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BAD9903-6B54-0E6B-3522-3015E2438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093" y="1280592"/>
            <a:ext cx="1368152" cy="6499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DFF793-A047-9D8B-AACD-2575E56DC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944" y="1905518"/>
            <a:ext cx="1814232" cy="1279944"/>
          </a:xfrm>
          <a:prstGeom prst="rect">
            <a:avLst/>
          </a:prstGeom>
        </p:spPr>
      </p:pic>
      <p:pic>
        <p:nvPicPr>
          <p:cNvPr id="9" name="그림 8" descr="텍스트, 친필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14B4209-B6C3-E113-6E28-37C92D23F5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460" y="1930545"/>
            <a:ext cx="1931914" cy="1319784"/>
          </a:xfrm>
          <a:prstGeom prst="rect">
            <a:avLst/>
          </a:prstGeom>
        </p:spPr>
      </p:pic>
      <p:pic>
        <p:nvPicPr>
          <p:cNvPr id="10" name="그림 9" descr="라인, 도표, 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3C1F61F-3C1A-D1C5-F655-3592E6AE8E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10"/>
          <a:stretch>
            <a:fillRect/>
          </a:stretch>
        </p:blipFill>
        <p:spPr>
          <a:xfrm>
            <a:off x="5908449" y="4177557"/>
            <a:ext cx="875485" cy="785720"/>
          </a:xfrm>
          <a:prstGeom prst="rect">
            <a:avLst/>
          </a:prstGeom>
        </p:spPr>
      </p:pic>
      <p:pic>
        <p:nvPicPr>
          <p:cNvPr id="11" name="그림 10" descr="라인, 도표, 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1868CA0-C09D-B989-FBA3-3FAC0F40F9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0"/>
          <a:stretch>
            <a:fillRect/>
          </a:stretch>
        </p:blipFill>
        <p:spPr>
          <a:xfrm>
            <a:off x="5908449" y="3391837"/>
            <a:ext cx="875485" cy="785720"/>
          </a:xfrm>
          <a:prstGeom prst="rect">
            <a:avLst/>
          </a:prstGeom>
        </p:spPr>
      </p:pic>
      <p:pic>
        <p:nvPicPr>
          <p:cNvPr id="12" name="그림 11" descr="도표, 라인, 그래프, 평행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AE0BEAC-FE84-FF10-0DDB-5247554E620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072" y="5748996"/>
            <a:ext cx="2694099" cy="9776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EEDD84-C75F-2664-33A5-147A3C38068F}"/>
              </a:ext>
            </a:extLst>
          </p:cNvPr>
          <p:cNvSpPr txBox="1"/>
          <p:nvPr/>
        </p:nvSpPr>
        <p:spPr>
          <a:xfrm>
            <a:off x="4925794" y="5307287"/>
            <a:ext cx="184537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ym typeface="Wingdings" panose="05000000000000000000" pitchFamily="2" charset="2"/>
              </a:rPr>
              <a:t>살색</a:t>
            </a:r>
            <a:r>
              <a:rPr lang="en-US" altLang="ko-KR" sz="900" dirty="0">
                <a:sym typeface="Wingdings" panose="05000000000000000000" pitchFamily="2" charset="2"/>
              </a:rPr>
              <a:t> = </a:t>
            </a:r>
            <a:r>
              <a:rPr lang="ko-KR" altLang="en-US" sz="900" dirty="0">
                <a:sym typeface="Wingdings" panose="05000000000000000000" pitchFamily="2" charset="2"/>
              </a:rPr>
              <a:t>독점기업 초가이윤</a:t>
            </a:r>
            <a:r>
              <a:rPr lang="en-US" altLang="ko-KR" sz="900" dirty="0">
                <a:sym typeface="Wingdings" panose="05000000000000000000" pitchFamily="2" charset="2"/>
              </a:rPr>
              <a:t>;</a:t>
            </a:r>
            <a:br>
              <a:rPr lang="en-US" altLang="ko-KR" sz="900" dirty="0">
                <a:sym typeface="Wingdings" panose="05000000000000000000" pitchFamily="2" charset="2"/>
              </a:rPr>
            </a:br>
            <a:r>
              <a:rPr lang="ko-KR" altLang="en-US" sz="900" dirty="0">
                <a:sym typeface="Wingdings" panose="05000000000000000000" pitchFamily="2" charset="2"/>
              </a:rPr>
              <a:t>경쟁 </a:t>
            </a:r>
            <a:r>
              <a:rPr lang="en-US" altLang="ko-KR" sz="900" dirty="0">
                <a:sym typeface="Wingdings" panose="05000000000000000000" pitchFamily="2" charset="2"/>
              </a:rPr>
              <a:t>: </a:t>
            </a:r>
            <a:r>
              <a:rPr lang="ko-KR" altLang="en-US" sz="900" dirty="0">
                <a:sym typeface="Wingdings" panose="05000000000000000000" pitchFamily="2" charset="2"/>
              </a:rPr>
              <a:t>순이익 </a:t>
            </a:r>
            <a:r>
              <a:rPr lang="en-US" altLang="ko-KR" sz="900" dirty="0">
                <a:sym typeface="Wingdings" panose="05000000000000000000" pitchFamily="2" charset="2"/>
              </a:rPr>
              <a:t>= </a:t>
            </a:r>
            <a:r>
              <a:rPr lang="ko-KR" altLang="en-US" sz="900" dirty="0">
                <a:sym typeface="Wingdings" panose="05000000000000000000" pitchFamily="2" charset="2"/>
              </a:rPr>
              <a:t>살색 </a:t>
            </a:r>
            <a:r>
              <a:rPr lang="en-US" altLang="ko-KR" sz="900" dirty="0">
                <a:sym typeface="Wingdings" panose="05000000000000000000" pitchFamily="2" charset="2"/>
              </a:rPr>
              <a:t>– </a:t>
            </a:r>
            <a:r>
              <a:rPr lang="ko-KR" altLang="en-US" sz="900" dirty="0">
                <a:sym typeface="Wingdings" panose="05000000000000000000" pitchFamily="2" charset="2"/>
              </a:rPr>
              <a:t>노랑</a:t>
            </a:r>
            <a:r>
              <a:rPr lang="en-US" altLang="ko-KR" sz="900" dirty="0">
                <a:sym typeface="Wingdings" panose="05000000000000000000" pitchFamily="2" charset="2"/>
              </a:rPr>
              <a:t>; </a:t>
            </a:r>
            <a:br>
              <a:rPr lang="en-US" altLang="ko-KR" sz="900" dirty="0">
                <a:sym typeface="Wingdings" panose="05000000000000000000" pitchFamily="2" charset="2"/>
              </a:rPr>
            </a:br>
            <a:r>
              <a:rPr lang="ko-KR" altLang="en-US" sz="900" dirty="0">
                <a:sym typeface="Wingdings" panose="05000000000000000000" pitchFamily="2" charset="2"/>
              </a:rPr>
              <a:t>독점으로 인해 노랑의 영역 대체</a:t>
            </a:r>
            <a:endParaRPr lang="en-US" altLang="ko-KR" sz="9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4DD564E-64CE-EC7F-0BC1-30BB663DEC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561" y="8313786"/>
            <a:ext cx="2061568" cy="9739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CCDA622-61E1-FB0F-2CD6-7009C74CF5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4167"/>
          <a:stretch/>
        </p:blipFill>
        <p:spPr>
          <a:xfrm>
            <a:off x="1492481" y="8078829"/>
            <a:ext cx="1678774" cy="115954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CB6075A-39EA-E940-8F24-5058890332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2976" y="8078829"/>
            <a:ext cx="1424864" cy="120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79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52E99-260A-77FB-DD72-C6698721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FD798C5-7501-DCA1-0C05-002813300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1CB406C-4490-375E-AA7F-9659E1B4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기경 총정리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9EDF92A-3B61-F6B5-F291-4C9DCC534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6" y="560511"/>
            <a:ext cx="6768750" cy="9274631"/>
          </a:xfrm>
        </p:spPr>
        <p:txBody>
          <a:bodyPr/>
          <a:lstStyle/>
          <a:p>
            <a:r>
              <a:rPr lang="ko-KR" altLang="en-US" dirty="0"/>
              <a:t>특허권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이윤의 구조화 </a:t>
            </a:r>
            <a:r>
              <a:rPr lang="en-US" altLang="ko-KR" dirty="0"/>
              <a:t>: r &lt;1, </a:t>
            </a:r>
            <a:r>
              <a:rPr lang="ko-KR" altLang="en-US" dirty="0"/>
              <a:t>𝜆 </a:t>
            </a:r>
            <a:r>
              <a:rPr lang="en-US" altLang="ko-KR" dirty="0"/>
              <a:t>&lt; </a:t>
            </a:r>
            <a:r>
              <a:rPr lang="ko-KR" altLang="en-US" dirty="0"/>
              <a:t>𝐶 이면 </a:t>
            </a:r>
            <a:r>
              <a:rPr lang="en-US" altLang="ko-KR" dirty="0"/>
              <a:t>SV &gt; C</a:t>
            </a:r>
            <a:r>
              <a:rPr lang="ko-KR" altLang="en-US" dirty="0"/>
              <a:t>여도 기술혁신 </a:t>
            </a:r>
            <a:r>
              <a:rPr lang="en-US" altLang="ko-KR" dirty="0"/>
              <a:t>X 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후속기술이 특허침해</a:t>
            </a:r>
            <a:r>
              <a:rPr lang="en-US" altLang="ko-KR" dirty="0"/>
              <a:t>O.</a:t>
            </a:r>
            <a:r>
              <a:rPr lang="ko-KR" altLang="en-US" dirty="0"/>
              <a:t> 넓은 특허</a:t>
            </a:r>
            <a:r>
              <a:rPr lang="en-US" altLang="ko-KR" dirty="0"/>
              <a:t>(</a:t>
            </a:r>
            <a:r>
              <a:rPr lang="ko-KR" altLang="en-US" dirty="0"/>
              <a:t>누적적 기술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Patent race :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포상제도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포상 </a:t>
            </a:r>
            <a:r>
              <a:rPr lang="en-US" altLang="ko-KR" dirty="0"/>
              <a:t>vs </a:t>
            </a:r>
            <a:r>
              <a:rPr lang="ko-KR" altLang="en-US" dirty="0"/>
              <a:t>특허 </a:t>
            </a:r>
            <a:r>
              <a:rPr lang="en-US" altLang="ko-KR" dirty="0"/>
              <a:t>: (</a:t>
            </a:r>
            <a:r>
              <a:rPr lang="ko-KR" altLang="en-US" dirty="0"/>
              <a:t>보상</a:t>
            </a:r>
            <a:r>
              <a:rPr lang="en-US" altLang="ko-KR" dirty="0"/>
              <a:t>→</a:t>
            </a:r>
            <a:r>
              <a:rPr lang="ko-KR" altLang="en-US" dirty="0"/>
              <a:t>발명가치 연결</a:t>
            </a:r>
            <a:r>
              <a:rPr lang="en-US" altLang="ko-KR" dirty="0"/>
              <a:t>O) → </a:t>
            </a:r>
            <a:r>
              <a:rPr lang="ko-KR" altLang="en-US" dirty="0"/>
              <a:t>포상</a:t>
            </a:r>
            <a:r>
              <a:rPr lang="en-US" altLang="ko-KR" dirty="0"/>
              <a:t>, (</a:t>
            </a:r>
            <a:r>
              <a:rPr lang="ko-KR" altLang="en-US" dirty="0"/>
              <a:t>보상</a:t>
            </a:r>
            <a:r>
              <a:rPr lang="en-US" altLang="ko-KR" dirty="0"/>
              <a:t>→</a:t>
            </a:r>
            <a:r>
              <a:rPr lang="ko-KR" altLang="en-US" dirty="0"/>
              <a:t>발명가치 연결</a:t>
            </a:r>
            <a:r>
              <a:rPr lang="en-US" altLang="ko-KR" dirty="0"/>
              <a:t>X) → </a:t>
            </a:r>
            <a:r>
              <a:rPr lang="ko-KR" altLang="en-US" dirty="0"/>
              <a:t>특허</a:t>
            </a:r>
            <a:endParaRPr lang="en-US" altLang="ko-KR" dirty="0"/>
          </a:p>
          <a:p>
            <a:pPr lvl="1"/>
            <a:r>
              <a:rPr lang="ko-KR" altLang="en-US" dirty="0" err="1"/>
              <a:t>비크리옥션</a:t>
            </a:r>
            <a:r>
              <a:rPr lang="en-US" altLang="ko-KR" dirty="0"/>
              <a:t>:2</a:t>
            </a:r>
            <a:r>
              <a:rPr lang="ko-KR" altLang="en-US" dirty="0"/>
              <a:t>번째 높은 금액 낙찰</a:t>
            </a:r>
            <a:r>
              <a:rPr lang="en-US" altLang="ko-KR" dirty="0"/>
              <a:t>: </a:t>
            </a:r>
            <a:r>
              <a:rPr lang="ko-KR" altLang="en-US" dirty="0"/>
              <a:t>최선전략 </a:t>
            </a:r>
            <a:r>
              <a:rPr lang="en-US" altLang="ko-KR" dirty="0"/>
              <a:t>True value </a:t>
            </a:r>
            <a:r>
              <a:rPr lang="ko-KR" altLang="en-US" dirty="0"/>
              <a:t>노출</a:t>
            </a:r>
            <a:r>
              <a:rPr lang="en-US" altLang="ko-KR" dirty="0"/>
              <a:t>(but, </a:t>
            </a:r>
            <a:r>
              <a:rPr lang="ko-KR" altLang="en-US" dirty="0"/>
              <a:t>현실 담합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TV</a:t>
            </a:r>
            <a:r>
              <a:rPr lang="ko-KR" altLang="en-US" dirty="0"/>
              <a:t>보다</a:t>
            </a:r>
            <a:r>
              <a:rPr lang="en-US" altLang="ko-KR" dirty="0"/>
              <a:t> </a:t>
            </a:r>
            <a:r>
              <a:rPr lang="ko-KR" altLang="en-US" dirty="0" err="1"/>
              <a:t>높</a:t>
            </a:r>
            <a:r>
              <a:rPr lang="en-US" altLang="ko-KR" dirty="0"/>
              <a:t>:(A:110vsB:105) → A</a:t>
            </a:r>
            <a:r>
              <a:rPr lang="ko-KR" altLang="en-US" dirty="0"/>
              <a:t>낙찰</a:t>
            </a:r>
            <a:r>
              <a:rPr lang="en-US" altLang="ko-KR" dirty="0"/>
              <a:t>. But, TV&lt;</a:t>
            </a:r>
            <a:r>
              <a:rPr lang="ko-KR" altLang="en-US" dirty="0"/>
              <a:t>낙찰가</a:t>
            </a:r>
            <a:r>
              <a:rPr lang="en-US" altLang="ko-KR" dirty="0"/>
              <a:t> → </a:t>
            </a:r>
            <a:r>
              <a:rPr lang="ko-KR" altLang="en-US" dirty="0"/>
              <a:t>손해 </a:t>
            </a:r>
            <a:r>
              <a:rPr lang="en-US" altLang="ko-KR" dirty="0"/>
              <a:t>: </a:t>
            </a:r>
            <a:r>
              <a:rPr lang="ko-KR" altLang="en-US" dirty="0"/>
              <a:t>승자의 저주</a:t>
            </a:r>
            <a:br>
              <a:rPr lang="en-US" altLang="ko-KR" dirty="0"/>
            </a:br>
            <a:r>
              <a:rPr lang="en-US" altLang="ko-KR" dirty="0"/>
              <a:t>TV</a:t>
            </a:r>
            <a:r>
              <a:rPr lang="ko-KR" altLang="en-US" dirty="0"/>
              <a:t>보다</a:t>
            </a:r>
            <a:r>
              <a:rPr lang="en-US" altLang="ko-KR" dirty="0"/>
              <a:t> </a:t>
            </a:r>
            <a:r>
              <a:rPr lang="ko-KR" altLang="en-US" dirty="0"/>
              <a:t>낮</a:t>
            </a:r>
            <a:r>
              <a:rPr lang="en-US" altLang="ko-KR" dirty="0"/>
              <a:t>:(A:95vsB:97) → B</a:t>
            </a:r>
            <a:r>
              <a:rPr lang="ko-KR" altLang="en-US" dirty="0"/>
              <a:t>낙찰</a:t>
            </a:r>
            <a:r>
              <a:rPr lang="en-US" altLang="ko-KR" dirty="0"/>
              <a:t>. A</a:t>
            </a:r>
            <a:r>
              <a:rPr lang="ko-KR" altLang="en-US" dirty="0"/>
              <a:t>는 낙찰기회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 err="1"/>
              <a:t>매칭펀드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l-GR" altLang="ko-KR" dirty="0"/>
              <a:t>π</a:t>
            </a:r>
            <a:r>
              <a:rPr lang="en-US" altLang="ko-KR" dirty="0"/>
              <a:t>Vt &gt;C→</a:t>
            </a:r>
            <a:r>
              <a:rPr lang="ko-KR" altLang="en-US" dirty="0"/>
              <a:t>기업 연구 </a:t>
            </a:r>
            <a:r>
              <a:rPr lang="en-US" altLang="ko-KR" dirty="0"/>
              <a:t>: S</a:t>
            </a:r>
            <a:r>
              <a:rPr lang="ko-KR" altLang="en-US" dirty="0"/>
              <a:t>만 </a:t>
            </a:r>
            <a:r>
              <a:rPr lang="en-US" altLang="ko-KR" dirty="0"/>
              <a:t>: </a:t>
            </a:r>
            <a:r>
              <a:rPr lang="el-GR" altLang="ko-KR" dirty="0"/>
              <a:t>π</a:t>
            </a:r>
            <a:r>
              <a:rPr lang="en-US" altLang="ko-KR" dirty="0" err="1"/>
              <a:t>Vt+S</a:t>
            </a:r>
            <a:r>
              <a:rPr lang="en-US" altLang="ko-KR" dirty="0"/>
              <a:t>&gt;C </a:t>
            </a:r>
            <a:r>
              <a:rPr lang="ko-KR" altLang="en-US" dirty="0"/>
              <a:t>연구</a:t>
            </a:r>
            <a:r>
              <a:rPr lang="en-US" altLang="ko-KR" dirty="0"/>
              <a:t>. But, </a:t>
            </a:r>
            <a:r>
              <a:rPr lang="el-GR" altLang="ko-KR" dirty="0"/>
              <a:t>π</a:t>
            </a:r>
            <a:r>
              <a:rPr lang="en-US" altLang="ko-KR" dirty="0"/>
              <a:t>Vt&lt;C &amp; </a:t>
            </a:r>
            <a:r>
              <a:rPr lang="el-GR" altLang="ko-KR" dirty="0"/>
              <a:t>π</a:t>
            </a:r>
            <a:r>
              <a:rPr lang="en-US" altLang="ko-KR" dirty="0" err="1"/>
              <a:t>Vt+S</a:t>
            </a:r>
            <a:r>
              <a:rPr lang="en-US" altLang="ko-KR" dirty="0"/>
              <a:t>&gt;C </a:t>
            </a:r>
            <a:r>
              <a:rPr lang="ko-KR" altLang="en-US" dirty="0"/>
              <a:t>동시</a:t>
            </a:r>
            <a:r>
              <a:rPr lang="en-US" altLang="ko-KR" dirty="0"/>
              <a:t> </a:t>
            </a:r>
            <a:r>
              <a:rPr lang="ko-KR" altLang="en-US" dirty="0"/>
              <a:t>만족 중 </a:t>
            </a:r>
            <a:r>
              <a:rPr lang="en-US" altLang="ko-KR" dirty="0"/>
              <a:t>V↓↓ </a:t>
            </a:r>
            <a:r>
              <a:rPr lang="ko-KR" altLang="en-US" dirty="0"/>
              <a:t>기술</a:t>
            </a:r>
            <a:r>
              <a:rPr lang="en-US" altLang="ko-KR" dirty="0"/>
              <a:t>:MH</a:t>
            </a:r>
            <a:br>
              <a:rPr lang="en-US" altLang="ko-KR" dirty="0"/>
            </a:br>
            <a:r>
              <a:rPr lang="en-US" altLang="ko-KR" dirty="0"/>
              <a:t>M</a:t>
            </a:r>
            <a:r>
              <a:rPr lang="ko-KR" altLang="en-US" dirty="0"/>
              <a:t>도입 </a:t>
            </a:r>
            <a:r>
              <a:rPr lang="en-US" altLang="ko-KR" dirty="0"/>
              <a:t>: </a:t>
            </a:r>
            <a:r>
              <a:rPr lang="el-GR" altLang="ko-KR" dirty="0"/>
              <a:t>π</a:t>
            </a:r>
            <a:r>
              <a:rPr lang="en-US" altLang="ko-KR" dirty="0"/>
              <a:t>Vt &gt;M</a:t>
            </a:r>
            <a:r>
              <a:rPr lang="ko-KR" altLang="en-US" dirty="0"/>
              <a:t>에서 연구유인</a:t>
            </a:r>
            <a:r>
              <a:rPr lang="en-US" altLang="ko-KR" dirty="0"/>
              <a:t>. M↑→</a:t>
            </a:r>
            <a:r>
              <a:rPr lang="ko-KR" altLang="en-US" dirty="0"/>
              <a:t>가치</a:t>
            </a:r>
            <a:r>
              <a:rPr lang="en-US" altLang="ko-KR" dirty="0"/>
              <a:t>↓V</a:t>
            </a:r>
            <a:r>
              <a:rPr lang="ko-KR" altLang="en-US" dirty="0"/>
              <a:t>연구 포기 </a:t>
            </a:r>
            <a:r>
              <a:rPr lang="en-US" altLang="ko-KR" dirty="0"/>
              <a:t>→ MH</a:t>
            </a:r>
            <a:r>
              <a:rPr lang="ko-KR" altLang="en-US" dirty="0"/>
              <a:t>감소</a:t>
            </a:r>
            <a:r>
              <a:rPr lang="en-US" altLang="ko-KR" dirty="0"/>
              <a:t>. </a:t>
            </a:r>
            <a:r>
              <a:rPr lang="ko-KR" altLang="en-US" dirty="0"/>
              <a:t>단 </a:t>
            </a:r>
            <a:r>
              <a:rPr lang="en-US" altLang="ko-KR" dirty="0"/>
              <a:t>M=100% X</a:t>
            </a:r>
          </a:p>
          <a:p>
            <a:r>
              <a:rPr lang="ko-KR" altLang="en-US" dirty="0"/>
              <a:t>표준</a:t>
            </a:r>
            <a:r>
              <a:rPr lang="en-US" altLang="ko-KR" dirty="0"/>
              <a:t> : </a:t>
            </a:r>
            <a:r>
              <a:rPr lang="ko-KR" altLang="en-US" dirty="0"/>
              <a:t>제품</a:t>
            </a:r>
            <a:r>
              <a:rPr lang="en-US" altLang="ko-KR" dirty="0"/>
              <a:t>/</a:t>
            </a:r>
            <a:r>
              <a:rPr lang="ko-KR" altLang="en-US" dirty="0"/>
              <a:t>생산 공정의 공통특성에 대한 정의</a:t>
            </a:r>
            <a:endParaRPr lang="en-US" altLang="ko-KR" dirty="0"/>
          </a:p>
          <a:p>
            <a:pPr lvl="1"/>
            <a:r>
              <a:rPr lang="ko-KR" altLang="en-US" dirty="0"/>
              <a:t>다양성</a:t>
            </a:r>
            <a:r>
              <a:rPr lang="en-US" altLang="ko-KR" dirty="0"/>
              <a:t>↓, </a:t>
            </a:r>
            <a:r>
              <a:rPr lang="ko-KR" altLang="en-US" dirty="0"/>
              <a:t>대량생산 핵심</a:t>
            </a:r>
            <a:r>
              <a:rPr lang="en-US" altLang="ko-KR" dirty="0"/>
              <a:t>(</a:t>
            </a:r>
            <a:r>
              <a:rPr lang="ko-KR" altLang="en-US" dirty="0"/>
              <a:t>효율성↑</a:t>
            </a:r>
            <a:r>
              <a:rPr lang="en-US" altLang="ko-KR" dirty="0"/>
              <a:t>,</a:t>
            </a:r>
            <a:r>
              <a:rPr lang="ko-KR" altLang="en-US" dirty="0"/>
              <a:t>규모의 경제</a:t>
            </a:r>
            <a:r>
              <a:rPr lang="en-US" altLang="ko-KR" dirty="0"/>
              <a:t>), </a:t>
            </a:r>
            <a:r>
              <a:rPr lang="ko-KR" altLang="en-US" dirty="0"/>
              <a:t>경제적필요</a:t>
            </a:r>
            <a:r>
              <a:rPr lang="en-US" altLang="ko-KR" dirty="0"/>
              <a:t>&amp;</a:t>
            </a:r>
            <a:r>
              <a:rPr lang="ko-KR" altLang="en-US" dirty="0"/>
              <a:t>부</a:t>
            </a:r>
            <a:endParaRPr lang="en-US" altLang="ko-KR" dirty="0"/>
          </a:p>
          <a:p>
            <a:pPr lvl="1"/>
            <a:r>
              <a:rPr lang="ko-KR" altLang="en-US" dirty="0"/>
              <a:t>표준 순기능</a:t>
            </a:r>
            <a:r>
              <a:rPr lang="en-US" altLang="ko-KR" dirty="0"/>
              <a:t>:</a:t>
            </a:r>
            <a:r>
              <a:rPr lang="ko-KR" altLang="en-US" dirty="0"/>
              <a:t>정보비대칭성 해결 </a:t>
            </a:r>
            <a:r>
              <a:rPr lang="en-US" altLang="ko-KR" dirty="0"/>
              <a:t>→ MH/</a:t>
            </a:r>
            <a:r>
              <a:rPr lang="ko-KR" altLang="en-US" dirty="0"/>
              <a:t>역선택 해결</a:t>
            </a:r>
            <a:r>
              <a:rPr lang="en-US" altLang="ko-KR" dirty="0"/>
              <a:t>, </a:t>
            </a:r>
            <a:r>
              <a:rPr lang="ko-KR" altLang="en-US" dirty="0"/>
              <a:t>거래비용</a:t>
            </a:r>
            <a:r>
              <a:rPr lang="en-US" altLang="ko-KR" dirty="0"/>
              <a:t>/</a:t>
            </a:r>
            <a:r>
              <a:rPr lang="ko-KR" altLang="en-US" dirty="0"/>
              <a:t>탐색비용 </a:t>
            </a:r>
            <a:r>
              <a:rPr lang="en-US" altLang="ko-KR" dirty="0"/>
              <a:t>↓,</a:t>
            </a:r>
            <a:r>
              <a:rPr lang="ko-KR" altLang="en-US" dirty="0"/>
              <a:t> 복합기술 유용</a:t>
            </a:r>
            <a:r>
              <a:rPr lang="en-US" altLang="ko-KR" dirty="0"/>
              <a:t>, </a:t>
            </a:r>
            <a:r>
              <a:rPr lang="en-US" altLang="ko-KR" dirty="0" err="1"/>
              <a:t>lockin</a:t>
            </a:r>
            <a:r>
              <a:rPr lang="en-US" altLang="ko-KR" dirty="0"/>
              <a:t> </a:t>
            </a:r>
            <a:r>
              <a:rPr lang="ko-KR" altLang="en-US" dirty="0"/>
              <a:t>전략 약화</a:t>
            </a:r>
            <a:endParaRPr lang="en-US" altLang="ko-KR" dirty="0"/>
          </a:p>
          <a:p>
            <a:pPr lvl="1"/>
            <a:r>
              <a:rPr lang="ko-KR" altLang="en-US" dirty="0"/>
              <a:t>표준 역기능 </a:t>
            </a:r>
            <a:r>
              <a:rPr lang="en-US" altLang="ko-KR" dirty="0"/>
              <a:t>: </a:t>
            </a:r>
            <a:r>
              <a:rPr lang="ko-KR" altLang="en-US" dirty="0"/>
              <a:t>채택</a:t>
            </a:r>
            <a:r>
              <a:rPr lang="en-US" altLang="ko-KR" dirty="0"/>
              <a:t>→</a:t>
            </a:r>
            <a:r>
              <a:rPr lang="ko-KR" altLang="en-US" dirty="0"/>
              <a:t>기업 지대추구</a:t>
            </a:r>
            <a:r>
              <a:rPr lang="en-US" altLang="ko-KR" dirty="0"/>
              <a:t>(</a:t>
            </a:r>
            <a:r>
              <a:rPr lang="ko-KR" altLang="en-US" dirty="0" err="1"/>
              <a:t>높</a:t>
            </a:r>
            <a:r>
              <a:rPr lang="ko-KR" altLang="en-US" dirty="0"/>
              <a:t> </a:t>
            </a:r>
            <a:r>
              <a:rPr lang="ko-KR" altLang="en-US" dirty="0" err="1"/>
              <a:t>라선</a:t>
            </a:r>
            <a:r>
              <a:rPr lang="en-US" altLang="ko-KR" dirty="0"/>
              <a:t>), FRAND</a:t>
            </a:r>
            <a:r>
              <a:rPr lang="ko-KR" altLang="en-US" dirty="0"/>
              <a:t>위반 </a:t>
            </a:r>
            <a:r>
              <a:rPr lang="en-US" altLang="ko-KR" dirty="0"/>
              <a:t>O. </a:t>
            </a:r>
            <a:r>
              <a:rPr lang="ko-KR" altLang="en-US" dirty="0"/>
              <a:t>로비</a:t>
            </a:r>
            <a:r>
              <a:rPr lang="en-US" altLang="ko-KR" dirty="0"/>
              <a:t>→</a:t>
            </a:r>
            <a:r>
              <a:rPr lang="ko-KR" altLang="en-US" dirty="0"/>
              <a:t>최적보다 높은 비용</a:t>
            </a:r>
            <a:r>
              <a:rPr lang="en-US" altLang="ko-KR" dirty="0"/>
              <a:t>, </a:t>
            </a:r>
            <a:r>
              <a:rPr lang="ko-KR" altLang="en-US" dirty="0"/>
              <a:t>경쟁 </a:t>
            </a:r>
            <a:r>
              <a:rPr lang="en-US" altLang="ko-KR" dirty="0"/>
              <a:t>↓,</a:t>
            </a:r>
            <a:r>
              <a:rPr lang="ko-KR" altLang="en-US" dirty="0"/>
              <a:t>다양성</a:t>
            </a:r>
            <a:r>
              <a:rPr lang="en-US" altLang="ko-KR" dirty="0"/>
              <a:t> ↓</a:t>
            </a:r>
            <a:endParaRPr lang="ko-KR" altLang="en-US" dirty="0"/>
          </a:p>
          <a:p>
            <a:r>
              <a:rPr lang="ko-KR" altLang="en-US" dirty="0"/>
              <a:t>기술과 금융</a:t>
            </a:r>
            <a:endParaRPr lang="en-US" altLang="ko-KR" dirty="0"/>
          </a:p>
          <a:p>
            <a:pPr lvl="1"/>
            <a:r>
              <a:rPr lang="en-US" altLang="ko-KR" dirty="0"/>
              <a:t>VC</a:t>
            </a:r>
            <a:r>
              <a:rPr lang="ko-KR" altLang="en-US" dirty="0"/>
              <a:t>투자 방식</a:t>
            </a:r>
            <a:r>
              <a:rPr lang="en-US" altLang="ko-KR" dirty="0"/>
              <a:t>(</a:t>
            </a:r>
            <a:r>
              <a:rPr lang="ko-KR" altLang="en-US" dirty="0"/>
              <a:t>벤처펀드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VC→</a:t>
            </a:r>
            <a:r>
              <a:rPr lang="ko-KR" altLang="en-US" dirty="0" err="1"/>
              <a:t>투자시</a:t>
            </a:r>
            <a:r>
              <a:rPr lang="en-US" altLang="ko-KR" dirty="0"/>
              <a:t> </a:t>
            </a:r>
            <a:r>
              <a:rPr lang="ko-KR" altLang="en-US" dirty="0"/>
              <a:t>지분인수</a:t>
            </a:r>
            <a:r>
              <a:rPr lang="en-US" altLang="ko-KR" dirty="0"/>
              <a:t>. </a:t>
            </a:r>
            <a:r>
              <a:rPr lang="ko-KR" altLang="en-US" dirty="0"/>
              <a:t>벤처 성</a:t>
            </a:r>
            <a:r>
              <a:rPr lang="en-US" altLang="ko-KR" dirty="0"/>
              <a:t>?-&gt;VC</a:t>
            </a:r>
            <a:r>
              <a:rPr lang="ko-KR" altLang="en-US" dirty="0"/>
              <a:t>지분매각</a:t>
            </a:r>
            <a:r>
              <a:rPr lang="en-US" altLang="ko-KR" dirty="0"/>
              <a:t>→</a:t>
            </a:r>
            <a:r>
              <a:rPr lang="ko-KR" altLang="en-US" dirty="0"/>
              <a:t>이익분배</a:t>
            </a:r>
            <a:endParaRPr lang="en-US" altLang="ko-KR" dirty="0"/>
          </a:p>
          <a:p>
            <a:pPr lvl="1"/>
            <a:r>
              <a:rPr lang="ko-KR" altLang="en-US" dirty="0" err="1"/>
              <a:t>벤펀</a:t>
            </a:r>
            <a:r>
              <a:rPr lang="ko-KR" altLang="en-US" dirty="0"/>
              <a:t> 성격 </a:t>
            </a:r>
            <a:r>
              <a:rPr lang="en-US" altLang="ko-KR" dirty="0"/>
              <a:t>: 1) </a:t>
            </a:r>
            <a:r>
              <a:rPr lang="ko-KR" altLang="en-US" dirty="0"/>
              <a:t>투자금의 조성시간 </a:t>
            </a:r>
            <a:r>
              <a:rPr lang="en-US" altLang="ko-KR" dirty="0"/>
              <a:t>2) </a:t>
            </a:r>
            <a:r>
              <a:rPr lang="ko-KR" altLang="en-US" dirty="0"/>
              <a:t>자체회수성</a:t>
            </a:r>
            <a:r>
              <a:rPr lang="en-US" altLang="ko-KR" dirty="0"/>
              <a:t>(</a:t>
            </a:r>
            <a:r>
              <a:rPr lang="ko-KR" altLang="en-US" dirty="0"/>
              <a:t>재투자</a:t>
            </a:r>
            <a:r>
              <a:rPr lang="en-US" altLang="ko-KR" dirty="0"/>
              <a:t>X) 3) </a:t>
            </a:r>
            <a:r>
              <a:rPr lang="ko-KR" altLang="en-US" dirty="0"/>
              <a:t>은행 역선택 </a:t>
            </a:r>
            <a:r>
              <a:rPr lang="en-US" altLang="ko-KR" dirty="0"/>
              <a:t>: </a:t>
            </a:r>
            <a:r>
              <a:rPr lang="ko-KR" altLang="en-US" dirty="0"/>
              <a:t>기업차별성</a:t>
            </a:r>
            <a:r>
              <a:rPr lang="en-US" altLang="ko-KR" dirty="0"/>
              <a:t> </a:t>
            </a:r>
            <a:r>
              <a:rPr lang="ko-KR" altLang="en-US" dirty="0"/>
              <a:t>인식 </a:t>
            </a:r>
            <a:r>
              <a:rPr lang="en-US" altLang="ko-KR" dirty="0"/>
              <a:t>X, </a:t>
            </a:r>
            <a:r>
              <a:rPr lang="ko-KR" altLang="en-US" dirty="0"/>
              <a:t>이자율</a:t>
            </a:r>
            <a:r>
              <a:rPr lang="en-US" altLang="ko-KR" dirty="0"/>
              <a:t>↑?</a:t>
            </a:r>
            <a:br>
              <a:rPr lang="en-US" altLang="ko-KR" dirty="0"/>
            </a:br>
            <a:r>
              <a:rPr lang="ko-KR" altLang="en-US" dirty="0"/>
              <a:t>유망</a:t>
            </a:r>
            <a:r>
              <a:rPr lang="en-US" altLang="ko-KR" dirty="0"/>
              <a:t>→VC/</a:t>
            </a:r>
            <a:r>
              <a:rPr lang="ko-KR" altLang="en-US" dirty="0" err="1"/>
              <a:t>타은행</a:t>
            </a:r>
            <a:r>
              <a:rPr lang="en-US" altLang="ko-KR" dirty="0"/>
              <a:t>, </a:t>
            </a:r>
            <a:r>
              <a:rPr lang="ko-KR" altLang="en-US" dirty="0"/>
              <a:t>부실</a:t>
            </a:r>
            <a:r>
              <a:rPr lang="en-US" altLang="ko-KR" dirty="0"/>
              <a:t>→</a:t>
            </a:r>
            <a:r>
              <a:rPr lang="ko-KR" altLang="en-US" dirty="0"/>
              <a:t>은행</a:t>
            </a:r>
            <a:r>
              <a:rPr lang="en-US" altLang="ko-KR" dirty="0"/>
              <a:t>(VC</a:t>
            </a:r>
            <a:r>
              <a:rPr lang="ko-KR" altLang="en-US" dirty="0"/>
              <a:t>보다 </a:t>
            </a:r>
            <a:r>
              <a:rPr lang="ko-KR" altLang="en-US" dirty="0" err="1"/>
              <a:t>대출쉽</a:t>
            </a:r>
            <a:r>
              <a:rPr lang="en-US" altLang="ko-KR" dirty="0"/>
              <a:t>)//</a:t>
            </a:r>
            <a:r>
              <a:rPr lang="ko-KR" altLang="en-US" dirty="0"/>
              <a:t>역선택 </a:t>
            </a:r>
            <a:r>
              <a:rPr lang="en-US" altLang="ko-KR" dirty="0"/>
              <a:t>: </a:t>
            </a:r>
            <a:r>
              <a:rPr lang="ko-KR" altLang="en-US" dirty="0"/>
              <a:t>부실만 채권시장</a:t>
            </a:r>
            <a:r>
              <a:rPr lang="en-US" altLang="ko-KR" dirty="0"/>
              <a:t>.→</a:t>
            </a:r>
            <a:r>
              <a:rPr lang="ko-KR" altLang="en-US" dirty="0"/>
              <a:t>총 </a:t>
            </a:r>
            <a:r>
              <a:rPr lang="ko-KR" altLang="en-US" dirty="0" err="1"/>
              <a:t>대출액</a:t>
            </a:r>
            <a:r>
              <a:rPr lang="ko-KR" altLang="en-US" dirty="0"/>
              <a:t> 제한</a:t>
            </a:r>
            <a:r>
              <a:rPr lang="en-US" altLang="ko-KR" dirty="0"/>
              <a:t>, </a:t>
            </a:r>
            <a:r>
              <a:rPr lang="ko-KR" altLang="en-US" dirty="0"/>
              <a:t>자금 경쟁 필요</a:t>
            </a:r>
            <a:endParaRPr lang="en-US" altLang="ko-KR" dirty="0"/>
          </a:p>
          <a:p>
            <a:pPr lvl="1"/>
            <a:r>
              <a:rPr lang="ko-KR" altLang="en-US" dirty="0" err="1"/>
              <a:t>경기순응성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호경</a:t>
            </a:r>
            <a:r>
              <a:rPr lang="en-US" altLang="ko-KR" dirty="0"/>
              <a:t> : </a:t>
            </a:r>
            <a:r>
              <a:rPr lang="ko-KR" altLang="en-US" dirty="0"/>
              <a:t>투자</a:t>
            </a:r>
            <a:r>
              <a:rPr lang="en-US" altLang="ko-KR" dirty="0"/>
              <a:t>↑→</a:t>
            </a:r>
            <a:r>
              <a:rPr lang="ko-KR" altLang="en-US" dirty="0"/>
              <a:t>리스크</a:t>
            </a:r>
            <a:r>
              <a:rPr lang="en-US" altLang="ko-KR" dirty="0"/>
              <a:t>↑</a:t>
            </a:r>
            <a:r>
              <a:rPr lang="ko-KR" altLang="en-US" dirty="0"/>
              <a:t>기업투자</a:t>
            </a:r>
            <a:r>
              <a:rPr lang="en-US" altLang="ko-KR" dirty="0"/>
              <a:t>(</a:t>
            </a:r>
            <a:r>
              <a:rPr lang="ko-KR" altLang="en-US" dirty="0"/>
              <a:t>불량</a:t>
            </a:r>
            <a:r>
              <a:rPr lang="en-US" altLang="ko-KR" dirty="0"/>
              <a:t>)→</a:t>
            </a:r>
            <a:r>
              <a:rPr lang="ko-KR" altLang="en-US" dirty="0"/>
              <a:t>자금 수요자 우위 </a:t>
            </a:r>
            <a:r>
              <a:rPr lang="en-US" altLang="ko-KR" dirty="0"/>
              <a:t>→ </a:t>
            </a:r>
            <a:r>
              <a:rPr lang="ko-KR" altLang="en-US" dirty="0"/>
              <a:t>경기과열</a:t>
            </a:r>
            <a:br>
              <a:rPr lang="en-US" altLang="ko-KR" dirty="0"/>
            </a:br>
            <a:r>
              <a:rPr lang="ko-KR" altLang="en-US" dirty="0"/>
              <a:t>불경 </a:t>
            </a:r>
            <a:r>
              <a:rPr lang="en-US" altLang="ko-KR" dirty="0"/>
              <a:t>: </a:t>
            </a:r>
            <a:r>
              <a:rPr lang="ko-KR" altLang="en-US" dirty="0"/>
              <a:t>투자</a:t>
            </a:r>
            <a:r>
              <a:rPr lang="en-US" altLang="ko-KR" dirty="0"/>
              <a:t>↓→</a:t>
            </a:r>
            <a:r>
              <a:rPr lang="ko-KR" altLang="en-US" dirty="0"/>
              <a:t>리스크</a:t>
            </a:r>
            <a:r>
              <a:rPr lang="en-US" altLang="ko-KR" dirty="0"/>
              <a:t>↓</a:t>
            </a:r>
            <a:r>
              <a:rPr lang="ko-KR" altLang="en-US" dirty="0"/>
              <a:t>기업투자</a:t>
            </a:r>
            <a:r>
              <a:rPr lang="en-US" altLang="ko-KR" dirty="0"/>
              <a:t>→</a:t>
            </a:r>
            <a:r>
              <a:rPr lang="ko-KR" altLang="en-US" dirty="0"/>
              <a:t>자금 공급자 우위 </a:t>
            </a:r>
            <a:r>
              <a:rPr lang="en-US" altLang="ko-KR" dirty="0"/>
              <a:t>→ </a:t>
            </a:r>
            <a:r>
              <a:rPr lang="ko-KR" altLang="en-US" dirty="0"/>
              <a:t>경기 </a:t>
            </a:r>
            <a:r>
              <a:rPr lang="ko-KR" altLang="en-US" dirty="0" err="1"/>
              <a:t>과침체</a:t>
            </a:r>
            <a:endParaRPr lang="en-US" altLang="ko-KR" dirty="0"/>
          </a:p>
          <a:p>
            <a:pPr lvl="1"/>
            <a:r>
              <a:rPr lang="en-US" altLang="ko-KR" dirty="0"/>
              <a:t>SBC</a:t>
            </a:r>
            <a:r>
              <a:rPr lang="ko-KR" altLang="en-US" dirty="0"/>
              <a:t>와 대기업 </a:t>
            </a:r>
            <a:r>
              <a:rPr lang="en-US" altLang="ko-KR" dirty="0"/>
              <a:t>: </a:t>
            </a:r>
            <a:r>
              <a:rPr lang="ko-KR" altLang="en-US" dirty="0"/>
              <a:t>불황</a:t>
            </a:r>
            <a:r>
              <a:rPr lang="en-US" altLang="ko-KR" dirty="0"/>
              <a:t>→VC/</a:t>
            </a:r>
            <a:r>
              <a:rPr lang="ko-KR" altLang="en-US" dirty="0"/>
              <a:t>은행 대출</a:t>
            </a:r>
            <a:r>
              <a:rPr lang="en-US" altLang="ko-KR" dirty="0"/>
              <a:t>→ (</a:t>
            </a:r>
            <a:r>
              <a:rPr lang="ko-KR" altLang="en-US" dirty="0"/>
              <a:t>이후</a:t>
            </a:r>
            <a:r>
              <a:rPr lang="en-US" altLang="ko-KR" dirty="0"/>
              <a:t>)</a:t>
            </a:r>
            <a:r>
              <a:rPr lang="ko-KR" altLang="en-US" dirty="0" err="1"/>
              <a:t>새제품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/>
              <a:t>독점</a:t>
            </a:r>
            <a:r>
              <a:rPr lang="en-US" altLang="ko-KR" dirty="0"/>
              <a:t>&amp;</a:t>
            </a:r>
            <a:r>
              <a:rPr lang="ko-KR" altLang="en-US" dirty="0"/>
              <a:t>중소벤처 시장퇴출</a:t>
            </a:r>
            <a:endParaRPr lang="en-US" altLang="ko-KR" dirty="0"/>
          </a:p>
          <a:p>
            <a:pPr lvl="1"/>
            <a:r>
              <a:rPr lang="ko-KR" altLang="en-US" dirty="0"/>
              <a:t>정부역할 </a:t>
            </a:r>
            <a:r>
              <a:rPr lang="en-US" altLang="ko-KR" dirty="0"/>
              <a:t>: </a:t>
            </a:r>
            <a:r>
              <a:rPr lang="ko-KR" altLang="en-US" dirty="0"/>
              <a:t>정부 불황기에 펀드 조성 </a:t>
            </a:r>
            <a:r>
              <a:rPr lang="en-US" altLang="ko-KR" dirty="0"/>
              <a:t>→ </a:t>
            </a:r>
            <a:r>
              <a:rPr lang="ko-KR" altLang="en-US" dirty="0"/>
              <a:t>민간</a:t>
            </a:r>
            <a:r>
              <a:rPr lang="en-US" altLang="ko-KR" dirty="0"/>
              <a:t>VC</a:t>
            </a:r>
            <a:r>
              <a:rPr lang="ko-KR" altLang="en-US" dirty="0"/>
              <a:t>운용</a:t>
            </a:r>
            <a:r>
              <a:rPr lang="en-US" altLang="ko-KR" dirty="0"/>
              <a:t>+</a:t>
            </a:r>
            <a:r>
              <a:rPr lang="ko-KR" altLang="en-US" dirty="0"/>
              <a:t>벤처기업 자금 조성 환경 조성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579F13-49DC-7B6D-2D92-89CCF8F46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983" y="997275"/>
            <a:ext cx="1160409" cy="7828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D8BDC2-5F76-E277-ACCA-AE86AE5C290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0190" y="1345941"/>
            <a:ext cx="1035483" cy="71723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E2ED971-FEEE-4C10-ED13-96EDAF2483B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94441" y="1195945"/>
            <a:ext cx="782545" cy="18831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292C65E-491E-B8A0-674F-33B3A65CC7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1498" y="1380709"/>
            <a:ext cx="606849" cy="17199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A7E00D3-01FE-19C6-94B1-4FF0EC0205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1498" y="1619394"/>
            <a:ext cx="1693117" cy="8516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AB497EE-F1B1-69D7-49EE-DAAE5B629D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4312" y="1774090"/>
            <a:ext cx="1035486" cy="17712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83C3B03-0400-A959-B01B-F29F99BBB5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5716" y="935155"/>
            <a:ext cx="1160408" cy="90708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ED35DF9-344B-CA54-9631-4EB0352EA4E5}"/>
              </a:ext>
            </a:extLst>
          </p:cNvPr>
          <p:cNvSpPr txBox="1"/>
          <p:nvPr/>
        </p:nvSpPr>
        <p:spPr>
          <a:xfrm>
            <a:off x="4691392" y="565823"/>
            <a:ext cx="2203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Patent trolls, </a:t>
            </a:r>
            <a:r>
              <a:rPr lang="ko-KR" altLang="en-US" sz="900" dirty="0"/>
              <a:t>잠수함 특허</a:t>
            </a:r>
            <a:r>
              <a:rPr lang="en-US" altLang="ko-KR" sz="900" dirty="0"/>
              <a:t>, </a:t>
            </a:r>
            <a:r>
              <a:rPr lang="ko-KR" altLang="en-US" sz="900" dirty="0"/>
              <a:t>블로킹 특허</a:t>
            </a:r>
            <a:endParaRPr lang="en-US" altLang="ko-KR" sz="900" dirty="0"/>
          </a:p>
          <a:p>
            <a:r>
              <a:rPr lang="ko-KR" altLang="en-US" sz="900" dirty="0"/>
              <a:t> </a:t>
            </a:r>
            <a:r>
              <a:rPr lang="en-US" altLang="ko-KR" sz="900" dirty="0"/>
              <a:t>→ patent</a:t>
            </a:r>
            <a:r>
              <a:rPr lang="ko-KR" altLang="en-US" sz="900" dirty="0"/>
              <a:t> </a:t>
            </a:r>
            <a:r>
              <a:rPr lang="en-US" altLang="ko-KR" sz="900" dirty="0"/>
              <a:t>pool; </a:t>
            </a:r>
            <a:r>
              <a:rPr lang="ko-KR" altLang="en-US" sz="900" dirty="0" err="1"/>
              <a:t>바람직</a:t>
            </a:r>
            <a:r>
              <a:rPr lang="en-US" altLang="ko-KR" sz="900" dirty="0"/>
              <a:t>? If </a:t>
            </a:r>
            <a:r>
              <a:rPr lang="ko-KR" altLang="en-US" sz="900" dirty="0"/>
              <a:t>보완적</a:t>
            </a:r>
            <a:r>
              <a:rPr lang="en-US" altLang="ko-KR" sz="900" dirty="0"/>
              <a:t> </a:t>
            </a:r>
            <a:r>
              <a:rPr lang="ko-KR" altLang="en-US" sz="900" dirty="0"/>
              <a:t>기술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641B878C-ED58-E368-8D5C-3DF83C1AE3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192" y="1951212"/>
            <a:ext cx="1521260" cy="112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4123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27780</TotalTime>
  <Words>5611</Words>
  <Application>Microsoft Office PowerPoint</Application>
  <PresentationFormat>A4 용지(210x297mm)</PresentationFormat>
  <Paragraphs>321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Wingdings</vt:lpstr>
      <vt:lpstr>Arial</vt:lpstr>
      <vt:lpstr>맑은 고딕</vt:lpstr>
      <vt:lpstr>디자인 사용자 지정</vt:lpstr>
      <vt:lpstr>비대칭 정보, 유인설계의 문제</vt:lpstr>
      <vt:lpstr>완비정보 하에 쿠르노 경쟁</vt:lpstr>
      <vt:lpstr>비대칭정보하 쿠르노 경쟁/시장구조와 기술혁신</vt:lpstr>
      <vt:lpstr>시장구조와 연구개발투자의 상관관계 / 기업간 연구개발 협력/산학 공동협력</vt:lpstr>
      <vt:lpstr>지적재산권</vt:lpstr>
      <vt:lpstr>특허권</vt:lpstr>
      <vt:lpstr>특허권(계속)</vt:lpstr>
      <vt:lpstr>포상제도</vt:lpstr>
      <vt:lpstr>표준</vt:lpstr>
      <vt:lpstr>기술과 금융</vt:lpstr>
      <vt:lpstr>기경 총정리</vt:lpstr>
      <vt:lpstr>기경 총정리(계속)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600</cp:revision>
  <dcterms:created xsi:type="dcterms:W3CDTF">2021-05-24T07:27:04Z</dcterms:created>
  <dcterms:modified xsi:type="dcterms:W3CDTF">2025-06-07T18:35:21Z</dcterms:modified>
</cp:coreProperties>
</file>