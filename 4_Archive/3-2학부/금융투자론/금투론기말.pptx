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98" r:id="rId2"/>
    <p:sldId id="301" r:id="rId3"/>
    <p:sldId id="302" r:id="rId4"/>
    <p:sldId id="299" r:id="rId5"/>
    <p:sldId id="300" r:id="rId6"/>
    <p:sldId id="304" r:id="rId7"/>
    <p:sldId id="305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4" autoAdjust="0"/>
    <p:restoredTop sz="96234" autoAdjust="0"/>
  </p:normalViewPr>
  <p:slideViewPr>
    <p:cSldViewPr>
      <p:cViewPr>
        <p:scale>
          <a:sx n="100" d="100"/>
          <a:sy n="100" d="100"/>
        </p:scale>
        <p:origin x="1896" y="-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3D416FF-E9ED-0552-F5F2-206C5DEED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1D52C4-6682-1AB8-47F6-B7C4A8A1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주식가격 결정 모형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2A9798-0A7D-A36E-5FE3-4F73EB707C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7803D50-2C0F-19B8-2A9F-98D0548878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주식의 리스크</a:t>
            </a:r>
            <a:endParaRPr lang="en-US" altLang="ko-KR" dirty="0"/>
          </a:p>
          <a:p>
            <a:pPr lvl="1"/>
            <a:r>
              <a:rPr lang="en-US" altLang="ko-KR" dirty="0"/>
              <a:t>Market risk : </a:t>
            </a:r>
            <a:r>
              <a:rPr lang="ko-KR" altLang="en-US" dirty="0"/>
              <a:t>가치변동</a:t>
            </a:r>
            <a:r>
              <a:rPr lang="en-US" altLang="ko-KR" dirty="0"/>
              <a:t>, Credit risk : </a:t>
            </a:r>
            <a:r>
              <a:rPr lang="ko-KR" altLang="en-US" dirty="0"/>
              <a:t>파산가능성</a:t>
            </a:r>
            <a:r>
              <a:rPr lang="en-US" altLang="ko-KR" dirty="0"/>
              <a:t>, Liquidity risk : </a:t>
            </a:r>
            <a:r>
              <a:rPr lang="ko-KR" altLang="en-US" dirty="0"/>
              <a:t>유동성 부족</a:t>
            </a:r>
            <a:endParaRPr lang="en-US" altLang="ko-KR" dirty="0"/>
          </a:p>
          <a:p>
            <a:r>
              <a:rPr lang="en-US" altLang="ko-KR" dirty="0"/>
              <a:t>Dividend discount model : </a:t>
            </a:r>
            <a:r>
              <a:rPr lang="ko-KR" altLang="en-US" dirty="0"/>
              <a:t>배당을</a:t>
            </a:r>
            <a:r>
              <a:rPr lang="en-US" altLang="ko-KR" dirty="0"/>
              <a:t> </a:t>
            </a:r>
            <a:r>
              <a:rPr lang="ko-KR" altLang="en-US" dirty="0"/>
              <a:t>미래 현금흐름으로</a:t>
            </a:r>
            <a:endParaRPr lang="en-US" altLang="ko-KR" dirty="0"/>
          </a:p>
          <a:p>
            <a:pPr lvl="1"/>
            <a:r>
              <a:rPr lang="en-US" altLang="ko-KR" dirty="0"/>
              <a:t>V0 : </a:t>
            </a:r>
            <a:r>
              <a:rPr lang="ko-KR" altLang="en-US" dirty="0"/>
              <a:t>현재가치</a:t>
            </a:r>
            <a:r>
              <a:rPr lang="en-US" altLang="ko-KR" dirty="0"/>
              <a:t>, Dt = t</a:t>
            </a:r>
            <a:r>
              <a:rPr lang="ko-KR" altLang="en-US" dirty="0"/>
              <a:t>에서 배당</a:t>
            </a:r>
            <a:r>
              <a:rPr lang="en-US" altLang="ko-KR" dirty="0"/>
              <a:t>, k = </a:t>
            </a:r>
            <a:r>
              <a:rPr lang="ko-KR" altLang="en-US" dirty="0" err="1"/>
              <a:t>할인률</a:t>
            </a:r>
            <a:endParaRPr lang="en-US" altLang="ko-KR" dirty="0"/>
          </a:p>
          <a:p>
            <a:pPr lvl="1"/>
            <a:r>
              <a:rPr lang="ko-KR" altLang="en-US" dirty="0"/>
              <a:t>배당성장률 </a:t>
            </a:r>
            <a:r>
              <a:rPr lang="en-US" altLang="ko-KR" dirty="0"/>
              <a:t>g</a:t>
            </a:r>
            <a:r>
              <a:rPr lang="ko-KR" altLang="en-US" dirty="0"/>
              <a:t>에 대한 </a:t>
            </a:r>
            <a:r>
              <a:rPr lang="en-US" altLang="ko-KR" dirty="0"/>
              <a:t>DDM </a:t>
            </a:r>
            <a:r>
              <a:rPr lang="ko-KR" altLang="en-US" dirty="0"/>
              <a:t>공식</a:t>
            </a:r>
            <a:r>
              <a:rPr lang="en-US" altLang="ko-KR" dirty="0"/>
              <a:t>(Gordon model)(k&gt;g</a:t>
            </a:r>
            <a:r>
              <a:rPr lang="ko-KR" altLang="en-US" dirty="0"/>
              <a:t> 가정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할인률</a:t>
            </a:r>
            <a:r>
              <a:rPr lang="en-US" altLang="ko-KR" dirty="0"/>
              <a:t>(k) </a:t>
            </a:r>
            <a:r>
              <a:rPr lang="ko-KR" altLang="en-US" dirty="0"/>
              <a:t>추정방식</a:t>
            </a:r>
            <a:endParaRPr lang="en-US" altLang="ko-KR" dirty="0"/>
          </a:p>
          <a:p>
            <a:pPr lvl="1"/>
            <a:r>
              <a:rPr lang="en-US" altLang="ko-KR" dirty="0"/>
              <a:t>1) CAPM : k = (</a:t>
            </a:r>
            <a:r>
              <a:rPr lang="ko-KR" altLang="en-US" dirty="0"/>
              <a:t>위험자산 기대수익률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= (</a:t>
            </a:r>
            <a:r>
              <a:rPr lang="ko-KR" altLang="en-US" dirty="0"/>
              <a:t>무위험수익률</a:t>
            </a:r>
            <a:r>
              <a:rPr lang="en-US" altLang="ko-KR" dirty="0"/>
              <a:t>) + (</a:t>
            </a:r>
            <a:r>
              <a:rPr lang="ko-KR" altLang="en-US" dirty="0"/>
              <a:t>위험 프리미엄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E(</a:t>
            </a:r>
            <a:r>
              <a:rPr lang="en-US" altLang="ko-KR" dirty="0" err="1"/>
              <a:t>ri</a:t>
            </a:r>
            <a:r>
              <a:rPr lang="en-US" altLang="ko-KR" dirty="0"/>
              <a:t>) =</a:t>
            </a:r>
            <a:r>
              <a:rPr lang="ko-KR" altLang="en-US" dirty="0"/>
              <a:t>개별위험자산</a:t>
            </a:r>
            <a:r>
              <a:rPr lang="en-US" altLang="ko-KR" dirty="0" err="1"/>
              <a:t>i</a:t>
            </a:r>
            <a:r>
              <a:rPr lang="ko-KR" altLang="en-US" dirty="0"/>
              <a:t> 기대수익률</a:t>
            </a:r>
            <a:r>
              <a:rPr lang="en-US" altLang="ko-KR" dirty="0"/>
              <a:t> rf : </a:t>
            </a:r>
            <a:r>
              <a:rPr lang="ko-KR" altLang="en-US" dirty="0"/>
              <a:t>국채</a:t>
            </a:r>
            <a:r>
              <a:rPr lang="en-US" altLang="ko-KR" dirty="0"/>
              <a:t>(</a:t>
            </a:r>
            <a:r>
              <a:rPr lang="ko-KR" altLang="en-US" dirty="0"/>
              <a:t>무위험자산</a:t>
            </a:r>
            <a:r>
              <a:rPr lang="en-US" altLang="ko-KR" dirty="0"/>
              <a:t>) </a:t>
            </a:r>
            <a:r>
              <a:rPr lang="ko-KR" altLang="en-US" dirty="0"/>
              <a:t>수익률</a:t>
            </a:r>
            <a:br>
              <a:rPr lang="en-US" altLang="ko-KR" dirty="0"/>
            </a:br>
            <a:r>
              <a:rPr lang="en-US" altLang="ko-KR" dirty="0"/>
              <a:t>E(rm) : </a:t>
            </a:r>
            <a:r>
              <a:rPr lang="ko-KR" altLang="en-US" dirty="0" err="1"/>
              <a:t>시장포폴</a:t>
            </a:r>
            <a:r>
              <a:rPr lang="en-US" altLang="ko-KR" dirty="0"/>
              <a:t>(</a:t>
            </a:r>
            <a:r>
              <a:rPr lang="ko-KR" altLang="en-US" dirty="0"/>
              <a:t>위험자산</a:t>
            </a:r>
            <a:r>
              <a:rPr lang="en-US" altLang="ko-KR" dirty="0"/>
              <a:t>)</a:t>
            </a:r>
            <a:r>
              <a:rPr lang="ko-KR" altLang="en-US" dirty="0"/>
              <a:t> 기대수익률</a:t>
            </a:r>
            <a:r>
              <a:rPr lang="en-US" altLang="ko-KR" dirty="0"/>
              <a:t>;    β</a:t>
            </a:r>
            <a:r>
              <a:rPr lang="en-US" altLang="ko-KR" dirty="0" err="1"/>
              <a:t>i</a:t>
            </a:r>
            <a:r>
              <a:rPr lang="en-US" altLang="ko-KR" dirty="0"/>
              <a:t> : </a:t>
            </a:r>
            <a:r>
              <a:rPr lang="ko-KR" altLang="en-US" dirty="0"/>
              <a:t>개별위험자산 </a:t>
            </a:r>
            <a:r>
              <a:rPr lang="en-US" altLang="ko-KR" dirty="0" err="1"/>
              <a:t>i</a:t>
            </a:r>
            <a:r>
              <a:rPr lang="ko-KR" altLang="en-US" dirty="0"/>
              <a:t>의 베타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배당성장모형</a:t>
            </a:r>
            <a:endParaRPr lang="en-US" altLang="ko-KR" dirty="0"/>
          </a:p>
          <a:p>
            <a:pPr lvl="2"/>
            <a:r>
              <a:rPr lang="en-US" altLang="ko-KR" b="1" dirty="0"/>
              <a:t>k = </a:t>
            </a:r>
            <a:r>
              <a:rPr lang="ko-KR" altLang="en-US" dirty="0"/>
              <a:t>배당수익률 </a:t>
            </a:r>
            <a:r>
              <a:rPr lang="en-US" altLang="ko-KR" dirty="0"/>
              <a:t>+ </a:t>
            </a:r>
            <a:r>
              <a:rPr lang="ko-KR" altLang="en-US" dirty="0"/>
              <a:t>배당성장률 </a:t>
            </a:r>
            <a:r>
              <a:rPr lang="en-US" altLang="ko-KR" dirty="0"/>
              <a:t>= </a:t>
            </a:r>
            <a:r>
              <a:rPr lang="en-US" altLang="ko-KR" b="1" dirty="0"/>
              <a:t>d1/P0 +g = d1/P0 + b*ROE(Return on equity)</a:t>
            </a:r>
            <a:br>
              <a:rPr lang="en-US" altLang="ko-KR" dirty="0"/>
            </a:br>
            <a:r>
              <a:rPr lang="ko-KR" altLang="en-US" dirty="0"/>
              <a:t>순이익</a:t>
            </a:r>
            <a:r>
              <a:rPr lang="en-US" altLang="ko-KR" dirty="0"/>
              <a:t> = </a:t>
            </a:r>
            <a:r>
              <a:rPr lang="ko-KR" altLang="en-US" dirty="0"/>
              <a:t>배당금</a:t>
            </a:r>
            <a:r>
              <a:rPr lang="en-US" altLang="ko-KR" dirty="0"/>
              <a:t>+</a:t>
            </a:r>
            <a:r>
              <a:rPr lang="ko-KR" altLang="en-US" dirty="0"/>
              <a:t>내부유보금</a:t>
            </a:r>
            <a:r>
              <a:rPr lang="en-US" altLang="ko-KR" dirty="0"/>
              <a:t>; 0 &lt;= b(=</a:t>
            </a:r>
            <a:r>
              <a:rPr lang="ko-KR" altLang="en-US" dirty="0"/>
              <a:t>내부유보금</a:t>
            </a:r>
            <a:r>
              <a:rPr lang="en-US" altLang="ko-KR" dirty="0"/>
              <a:t>/</a:t>
            </a:r>
            <a:r>
              <a:rPr lang="ko-KR" altLang="en-US" dirty="0"/>
              <a:t>순이익</a:t>
            </a:r>
            <a:r>
              <a:rPr lang="en-US" altLang="ko-KR" dirty="0"/>
              <a:t>) &lt;= 1</a:t>
            </a:r>
          </a:p>
          <a:p>
            <a:r>
              <a:rPr lang="en-US" altLang="ko-KR" dirty="0"/>
              <a:t>Partitioning value </a:t>
            </a:r>
          </a:p>
          <a:p>
            <a:pPr lvl="1"/>
            <a:r>
              <a:rPr lang="en-US" altLang="ko-KR" b="1" dirty="0"/>
              <a:t>V0</a:t>
            </a:r>
            <a:r>
              <a:rPr lang="en-US" altLang="ko-KR" dirty="0"/>
              <a:t>(</a:t>
            </a:r>
            <a:r>
              <a:rPr lang="ko-KR" altLang="en-US" dirty="0"/>
              <a:t>성장 포함 가치</a:t>
            </a:r>
            <a:r>
              <a:rPr lang="en-US" altLang="ko-KR" dirty="0"/>
              <a:t>) </a:t>
            </a:r>
            <a:r>
              <a:rPr lang="en-US" altLang="ko-KR" b="1" dirty="0"/>
              <a:t>= NGV</a:t>
            </a:r>
            <a:r>
              <a:rPr lang="en-US" altLang="ko-KR" dirty="0"/>
              <a:t>(</a:t>
            </a:r>
            <a:r>
              <a:rPr lang="ko-KR" altLang="en-US" dirty="0"/>
              <a:t>성장 뺀 가치</a:t>
            </a:r>
            <a:r>
              <a:rPr lang="en-US" altLang="ko-KR" b="1" dirty="0"/>
              <a:t>)  + PVGO</a:t>
            </a:r>
            <a:r>
              <a:rPr lang="en-US" altLang="ko-KR" dirty="0"/>
              <a:t>(</a:t>
            </a:r>
            <a:r>
              <a:rPr lang="ko-KR" altLang="en-US" dirty="0"/>
              <a:t>성장 기회의 평가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multi-stage</a:t>
            </a:r>
            <a:r>
              <a:rPr lang="ko-KR" altLang="en-US" dirty="0"/>
              <a:t> </a:t>
            </a:r>
            <a:r>
              <a:rPr lang="en-US" altLang="ko-KR" dirty="0"/>
              <a:t>growth</a:t>
            </a:r>
          </a:p>
          <a:p>
            <a:pPr lvl="1"/>
            <a:r>
              <a:rPr lang="ko-KR" altLang="en-US" dirty="0"/>
              <a:t>성장주기 </a:t>
            </a:r>
            <a:r>
              <a:rPr lang="en-US" altLang="ko-KR" dirty="0"/>
              <a:t>: </a:t>
            </a:r>
            <a:r>
              <a:rPr lang="ko-KR" altLang="en-US" dirty="0"/>
              <a:t>초기</a:t>
            </a:r>
            <a:r>
              <a:rPr lang="en-US" altLang="ko-KR" dirty="0"/>
              <a:t>(</a:t>
            </a:r>
            <a:r>
              <a:rPr lang="ko-KR" altLang="en-US" dirty="0"/>
              <a:t>기업성장 </a:t>
            </a:r>
            <a:r>
              <a:rPr lang="en-US" altLang="ko-KR" dirty="0"/>
              <a:t>&gt; </a:t>
            </a:r>
            <a:r>
              <a:rPr lang="ko-KR" altLang="en-US" dirty="0"/>
              <a:t>경제성장</a:t>
            </a:r>
            <a:r>
              <a:rPr lang="en-US" altLang="ko-KR" dirty="0"/>
              <a:t>)-&gt; </a:t>
            </a:r>
            <a:r>
              <a:rPr lang="ko-KR" altLang="en-US" dirty="0"/>
              <a:t>성숙</a:t>
            </a:r>
            <a:r>
              <a:rPr lang="en-US" altLang="ko-KR" dirty="0"/>
              <a:t>(</a:t>
            </a:r>
            <a:r>
              <a:rPr lang="ko-KR" altLang="en-US" dirty="0"/>
              <a:t>기성 ≒ 경성</a:t>
            </a:r>
            <a:r>
              <a:rPr lang="en-US" altLang="ko-KR" dirty="0"/>
              <a:t>) -&gt; </a:t>
            </a:r>
            <a:r>
              <a:rPr lang="ko-KR" altLang="en-US" dirty="0"/>
              <a:t>마지막</a:t>
            </a:r>
            <a:r>
              <a:rPr lang="en-US" altLang="ko-KR" dirty="0"/>
              <a:t>(</a:t>
            </a:r>
            <a:r>
              <a:rPr lang="ko-KR" altLang="en-US" dirty="0"/>
              <a:t>기성 </a:t>
            </a:r>
            <a:r>
              <a:rPr lang="en-US" altLang="ko-KR" dirty="0"/>
              <a:t>&lt;</a:t>
            </a:r>
            <a:r>
              <a:rPr lang="ko-KR" altLang="en-US" dirty="0"/>
              <a:t>경성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Ex) </a:t>
            </a:r>
            <a:r>
              <a:rPr lang="ko-KR" altLang="en-US" dirty="0"/>
              <a:t>기업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3</a:t>
            </a:r>
            <a:r>
              <a:rPr lang="ko-KR" altLang="en-US" dirty="0" err="1"/>
              <a:t>년동안</a:t>
            </a:r>
            <a:r>
              <a:rPr lang="ko-KR" altLang="en-US" dirty="0"/>
              <a:t> 배당이 매년</a:t>
            </a:r>
            <a:r>
              <a:rPr lang="en-US" altLang="ko-KR" dirty="0"/>
              <a:t>30%</a:t>
            </a:r>
            <a:r>
              <a:rPr lang="ko-KR" altLang="en-US" dirty="0"/>
              <a:t>씩 성장</a:t>
            </a:r>
            <a:r>
              <a:rPr lang="en-US" altLang="ko-KR" dirty="0"/>
              <a:t>(</a:t>
            </a:r>
            <a:r>
              <a:rPr lang="en-US" altLang="ko-KR" dirty="0" err="1"/>
              <a:t>gs</a:t>
            </a:r>
            <a:r>
              <a:rPr lang="en-US" altLang="ko-KR" dirty="0"/>
              <a:t>=0.3), </a:t>
            </a:r>
            <a:r>
              <a:rPr lang="ko-KR" altLang="en-US" dirty="0"/>
              <a:t>이후엔 </a:t>
            </a:r>
            <a:r>
              <a:rPr lang="en-US" altLang="ko-KR" dirty="0"/>
              <a:t>10%</a:t>
            </a:r>
            <a:r>
              <a:rPr lang="ko-KR" altLang="en-US" dirty="0"/>
              <a:t>성장률</a:t>
            </a:r>
            <a:r>
              <a:rPr lang="en-US" altLang="ko-KR" dirty="0"/>
              <a:t>(</a:t>
            </a:r>
            <a:r>
              <a:rPr lang="en-US" altLang="ko-KR" dirty="0" err="1"/>
              <a:t>gs</a:t>
            </a:r>
            <a:r>
              <a:rPr lang="en-US" altLang="ko-KR" dirty="0"/>
              <a:t>=0.1)</a:t>
            </a:r>
          </a:p>
          <a:p>
            <a:pPr lvl="2"/>
            <a:r>
              <a:rPr lang="en-US" altLang="ko-KR" dirty="0"/>
              <a:t>1) </a:t>
            </a:r>
            <a:r>
              <a:rPr lang="ko-KR" altLang="en-US" dirty="0"/>
              <a:t>성장기</a:t>
            </a:r>
            <a:r>
              <a:rPr lang="en-US" altLang="ko-KR" dirty="0"/>
              <a:t>(</a:t>
            </a:r>
            <a:r>
              <a:rPr lang="en-US" altLang="ko-KR" dirty="0" err="1"/>
              <a:t>gs</a:t>
            </a:r>
            <a:r>
              <a:rPr lang="en-US" altLang="ko-KR" dirty="0"/>
              <a:t>=0.3) : 3</a:t>
            </a:r>
            <a:r>
              <a:rPr lang="ko-KR" altLang="en-US" dirty="0" err="1"/>
              <a:t>년동안의</a:t>
            </a:r>
            <a:r>
              <a:rPr lang="ko-KR" altLang="en-US" dirty="0"/>
              <a:t> 배당금의 </a:t>
            </a:r>
            <a:br>
              <a:rPr lang="en-US" altLang="ko-KR" dirty="0"/>
            </a:br>
            <a:r>
              <a:rPr lang="ko-KR" altLang="en-US" dirty="0"/>
              <a:t>현재가치를 구함 </a:t>
            </a:r>
            <a:r>
              <a:rPr lang="en-US" altLang="ko-KR" dirty="0"/>
              <a:t>-&gt; </a:t>
            </a:r>
            <a:r>
              <a:rPr lang="ko-KR" altLang="en-US" dirty="0"/>
              <a:t>성장기동안 배당금의</a:t>
            </a:r>
            <a:br>
              <a:rPr lang="en-US" altLang="ko-KR" dirty="0"/>
            </a:br>
            <a:r>
              <a:rPr lang="ko-KR" altLang="en-US" dirty="0"/>
              <a:t>현재가치 합 </a:t>
            </a:r>
            <a:r>
              <a:rPr lang="en-US" altLang="ko-KR" dirty="0"/>
              <a:t>= 6.89</a:t>
            </a:r>
          </a:p>
          <a:p>
            <a:pPr lvl="2"/>
            <a:r>
              <a:rPr lang="en-US" altLang="ko-KR" dirty="0"/>
              <a:t>2) </a:t>
            </a:r>
            <a:r>
              <a:rPr lang="ko-KR" altLang="en-US" dirty="0"/>
              <a:t>성숙기</a:t>
            </a:r>
            <a:r>
              <a:rPr lang="en-US" altLang="ko-KR" dirty="0"/>
              <a:t>(</a:t>
            </a:r>
            <a:r>
              <a:rPr lang="en-US" altLang="ko-KR" dirty="0" err="1"/>
              <a:t>gs</a:t>
            </a:r>
            <a:r>
              <a:rPr lang="en-US" altLang="ko-KR" dirty="0"/>
              <a:t>=0.1)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t4~t</a:t>
            </a:r>
            <a:r>
              <a:rPr lang="ko-KR" altLang="en-US" dirty="0"/>
              <a:t>∞동안 배당금의</a:t>
            </a:r>
            <a:r>
              <a:rPr lang="en-US" altLang="ko-KR" dirty="0"/>
              <a:t> </a:t>
            </a:r>
            <a:r>
              <a:rPr lang="ko-KR" altLang="en-US" dirty="0"/>
              <a:t>현재가치 합 </a:t>
            </a:r>
            <a:r>
              <a:rPr lang="en-US" altLang="ko-KR" dirty="0"/>
              <a:t>: </a:t>
            </a:r>
          </a:p>
          <a:p>
            <a:pPr lvl="2"/>
            <a:r>
              <a:rPr lang="en-US" altLang="ko-KR" dirty="0"/>
              <a:t>1)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2) : 6.89+46.97= 53.86</a:t>
            </a:r>
          </a:p>
          <a:p>
            <a:r>
              <a:rPr lang="ko-KR" altLang="en-US" dirty="0"/>
              <a:t>비교평가</a:t>
            </a:r>
            <a:endParaRPr lang="en-US" altLang="ko-KR" dirty="0"/>
          </a:p>
          <a:p>
            <a:pPr lvl="1"/>
            <a:r>
              <a:rPr lang="ko-KR" altLang="en-US" dirty="0"/>
              <a:t>경쟁기업 시장가격 기초</a:t>
            </a:r>
            <a:br>
              <a:rPr lang="en-US" altLang="ko-KR" dirty="0"/>
            </a:br>
            <a:r>
              <a:rPr lang="en-US" altLang="ko-KR" dirty="0"/>
              <a:t>-&gt;</a:t>
            </a:r>
            <a:r>
              <a:rPr lang="ko-KR" altLang="en-US" dirty="0"/>
              <a:t>주식가치 산출</a:t>
            </a:r>
            <a:endParaRPr lang="en-US" altLang="ko-KR" dirty="0"/>
          </a:p>
          <a:p>
            <a:r>
              <a:rPr lang="en-US" altLang="ko-KR" dirty="0"/>
              <a:t>PER(Price Earning Ratio) : P(</a:t>
            </a:r>
            <a:r>
              <a:rPr lang="ko-KR" altLang="en-US" dirty="0"/>
              <a:t>주가</a:t>
            </a:r>
            <a:r>
              <a:rPr lang="en-US" altLang="ko-KR" dirty="0"/>
              <a:t>)/EPS(</a:t>
            </a:r>
            <a:r>
              <a:rPr lang="ko-KR" altLang="en-US" dirty="0"/>
              <a:t>주당순이익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PER</a:t>
            </a:r>
            <a:r>
              <a:rPr lang="ko-KR" altLang="en-US" dirty="0"/>
              <a:t>과 </a:t>
            </a:r>
            <a:r>
              <a:rPr lang="en-US" altLang="ko-KR" dirty="0"/>
              <a:t>growth opportunity</a:t>
            </a:r>
            <a:br>
              <a:rPr lang="en-US" altLang="ko-KR" dirty="0"/>
            </a:br>
            <a:r>
              <a:rPr lang="en-US" altLang="ko-KR" dirty="0"/>
              <a:t>: PVGO&gt;0 -&gt; PER</a:t>
            </a:r>
            <a:r>
              <a:rPr lang="ko-KR" altLang="en-US" dirty="0"/>
              <a:t> 상승</a:t>
            </a:r>
            <a:endParaRPr lang="en-US" altLang="ko-KR" dirty="0"/>
          </a:p>
          <a:p>
            <a:pPr lvl="1"/>
            <a:r>
              <a:rPr lang="en-US" altLang="ko-KR" dirty="0"/>
              <a:t>PER</a:t>
            </a:r>
            <a:r>
              <a:rPr lang="ko-KR" altLang="en-US" dirty="0"/>
              <a:t>과 </a:t>
            </a:r>
            <a:r>
              <a:rPr lang="en-US" altLang="ko-KR" dirty="0"/>
              <a:t>ROE : PER</a:t>
            </a:r>
            <a:r>
              <a:rPr lang="ko-KR" altLang="en-US" dirty="0"/>
              <a:t>↑</a:t>
            </a:r>
            <a:r>
              <a:rPr lang="en-US" altLang="ko-KR" dirty="0"/>
              <a:t>&lt;-ROE</a:t>
            </a:r>
            <a:r>
              <a:rPr lang="ko-KR" altLang="en-US" dirty="0"/>
              <a:t>↑</a:t>
            </a:r>
            <a:r>
              <a:rPr lang="en-US" altLang="ko-KR" dirty="0"/>
              <a:t>&lt;-b</a:t>
            </a:r>
            <a:r>
              <a:rPr lang="ko-KR" altLang="en-US" dirty="0"/>
              <a:t>↑</a:t>
            </a:r>
            <a:r>
              <a:rPr lang="en-US" altLang="ko-KR" dirty="0"/>
              <a:t>&amp;ROE&gt;k </a:t>
            </a:r>
            <a:r>
              <a:rPr lang="ko-KR" altLang="en-US" dirty="0"/>
              <a:t>만족</a:t>
            </a:r>
            <a:endParaRPr lang="en-US" altLang="ko-KR" dirty="0"/>
          </a:p>
          <a:p>
            <a:pPr lvl="1"/>
            <a:r>
              <a:rPr lang="en-US" altLang="ko-KR" dirty="0"/>
              <a:t>PBR </a:t>
            </a:r>
            <a:r>
              <a:rPr lang="ko-KR" altLang="en-US" dirty="0"/>
              <a:t>모형 </a:t>
            </a:r>
            <a:r>
              <a:rPr lang="en-US" altLang="ko-KR" dirty="0"/>
              <a:t>: PBR = P(</a:t>
            </a:r>
            <a:r>
              <a:rPr lang="ko-KR" altLang="en-US" dirty="0"/>
              <a:t>주가</a:t>
            </a:r>
            <a:r>
              <a:rPr lang="en-US" altLang="ko-KR" dirty="0"/>
              <a:t>)/BPS(</a:t>
            </a:r>
            <a:r>
              <a:rPr lang="ko-KR" altLang="en-US" dirty="0"/>
              <a:t>주당 순자산가치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 err="1"/>
              <a:t>주당순자산가치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순자산가치</a:t>
            </a:r>
            <a:r>
              <a:rPr lang="en-US" altLang="ko-KR" dirty="0"/>
              <a:t>/</a:t>
            </a:r>
            <a:r>
              <a:rPr lang="ko-KR" altLang="en-US" dirty="0"/>
              <a:t>주식 수</a:t>
            </a:r>
            <a:br>
              <a:rPr lang="en-US" altLang="ko-KR" dirty="0"/>
            </a:br>
            <a:r>
              <a:rPr lang="ko-KR" altLang="en-US" dirty="0"/>
              <a:t>청산가치와 비교해 시장평가가 적절한지</a:t>
            </a:r>
            <a:r>
              <a:rPr lang="en-US" altLang="ko-KR" dirty="0"/>
              <a:t>?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02C571-5268-B906-6956-E9448A6332D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2CB38A2-DC4B-F450-6F6C-F9FF58A21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002" y="1136576"/>
            <a:ext cx="1412425" cy="2880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9B73B8-DC6C-1C8A-389C-3685262C5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75" y="1448632"/>
            <a:ext cx="968230" cy="2880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8912868-27C7-BAEA-CB45-2D7614A94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497" y="2227674"/>
            <a:ext cx="1136562" cy="1798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37949E9-E7CD-5E42-DB8B-642854D68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898" y="3404126"/>
            <a:ext cx="936104" cy="32577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A4612FB-0798-F8A0-8364-DE7B6B980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7113" y="4400715"/>
            <a:ext cx="2364088" cy="53254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254FBB-D960-2B1A-B5F0-E4C206A73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5047" y="6130681"/>
            <a:ext cx="1421586" cy="57532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6D47DF6-630F-7048-1095-2E5E553554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1308" y="6362055"/>
            <a:ext cx="1340683" cy="36479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40E640A-2B05-E8DB-7D4E-89F8598EB2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661" y="6713310"/>
            <a:ext cx="669580" cy="36479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8EEEA29-0649-4A08-624E-1F3CE2AA0B9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995" t="23429" b="8216"/>
          <a:stretch/>
        </p:blipFill>
        <p:spPr>
          <a:xfrm>
            <a:off x="3283192" y="5364721"/>
            <a:ext cx="2095083" cy="7586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D3D937B-1555-C58E-3BBB-81CE08105F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8455" y="4948881"/>
            <a:ext cx="1506604" cy="41584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F2111E-3C6E-84A0-952A-A7AE776C2E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5964" y="7140989"/>
            <a:ext cx="1062311" cy="45631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D21E779-84D2-A160-3B51-2205E2CF45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9565" y="7110523"/>
            <a:ext cx="1332519" cy="56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2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3C22C0-2108-6811-6E52-F0BD87359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1053286-6628-8F68-E527-9390AF4D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선물계약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D6921B-0AB2-B917-7AE1-839D4C2010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02E386-99CA-32DC-8EB7-F67AA1F8B2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선물</a:t>
            </a:r>
            <a:r>
              <a:rPr lang="en-US" altLang="ko-KR" dirty="0"/>
              <a:t>(Futures)</a:t>
            </a:r>
            <a:r>
              <a:rPr lang="ko-KR" altLang="en-US" dirty="0"/>
              <a:t>과 선도계약</a:t>
            </a:r>
            <a:r>
              <a:rPr lang="en-US" altLang="ko-KR" dirty="0"/>
              <a:t>(Forwards)</a:t>
            </a:r>
          </a:p>
          <a:p>
            <a:pPr lvl="1"/>
            <a:r>
              <a:rPr lang="ko-KR" altLang="en-US" dirty="0"/>
              <a:t>선도계약 </a:t>
            </a:r>
            <a:r>
              <a:rPr lang="en-US" altLang="ko-KR" dirty="0"/>
              <a:t>: </a:t>
            </a:r>
            <a:r>
              <a:rPr lang="ko-KR" altLang="en-US" dirty="0"/>
              <a:t>선물의 원형</a:t>
            </a:r>
            <a:r>
              <a:rPr lang="en-US" altLang="ko-KR" dirty="0"/>
              <a:t>, </a:t>
            </a:r>
            <a:r>
              <a:rPr lang="ko-KR" altLang="en-US" dirty="0"/>
              <a:t>미래 시점의 거래를 현재에 거래</a:t>
            </a:r>
            <a:r>
              <a:rPr lang="en-US" altLang="ko-KR" dirty="0"/>
              <a:t>. </a:t>
            </a:r>
            <a:r>
              <a:rPr lang="ko-KR" altLang="en-US" dirty="0"/>
              <a:t>계약이 당사자간</a:t>
            </a:r>
            <a:r>
              <a:rPr lang="en-US" altLang="ko-KR" dirty="0"/>
              <a:t> </a:t>
            </a:r>
            <a:r>
              <a:rPr lang="ko-KR" altLang="en-US" dirty="0"/>
              <a:t>맞춤형</a:t>
            </a:r>
            <a:endParaRPr lang="en-US" altLang="ko-KR" dirty="0"/>
          </a:p>
          <a:p>
            <a:pPr lvl="1"/>
            <a:r>
              <a:rPr lang="ko-KR" altLang="en-US" dirty="0"/>
              <a:t>선물계약</a:t>
            </a:r>
            <a:r>
              <a:rPr lang="en-US" altLang="ko-KR" dirty="0"/>
              <a:t>: </a:t>
            </a:r>
            <a:r>
              <a:rPr lang="ko-KR" altLang="en-US" dirty="0"/>
              <a:t>미래에 </a:t>
            </a:r>
            <a:r>
              <a:rPr lang="en-US" altLang="ko-KR" dirty="0"/>
              <a:t>(</a:t>
            </a:r>
            <a:r>
              <a:rPr lang="ko-KR" altLang="en-US" dirty="0"/>
              <a:t>만기</a:t>
            </a:r>
            <a:r>
              <a:rPr lang="en-US" altLang="ko-KR" dirty="0"/>
              <a:t>)</a:t>
            </a:r>
            <a:r>
              <a:rPr lang="ko-KR" altLang="en-US" dirty="0"/>
              <a:t> 기초자산 </a:t>
            </a:r>
            <a:r>
              <a:rPr lang="en-US" altLang="ko-KR" dirty="0"/>
              <a:t>-&gt;</a:t>
            </a:r>
            <a:r>
              <a:rPr lang="ko-KR" altLang="en-US" dirty="0"/>
              <a:t> 정해진 가격으로 판매</a:t>
            </a:r>
            <a:r>
              <a:rPr lang="en-US" altLang="ko-KR" dirty="0"/>
              <a:t>/</a:t>
            </a:r>
            <a:r>
              <a:rPr lang="ko-KR" altLang="en-US" dirty="0"/>
              <a:t>구매 약속</a:t>
            </a:r>
            <a:r>
              <a:rPr lang="en-US" altLang="ko-KR" dirty="0"/>
              <a:t>,</a:t>
            </a:r>
            <a:r>
              <a:rPr lang="ko-KR" altLang="en-US" dirty="0"/>
              <a:t> 표준화된 계약</a:t>
            </a:r>
            <a:endParaRPr lang="en-US" altLang="ko-KR" dirty="0"/>
          </a:p>
          <a:p>
            <a:pPr lvl="2"/>
            <a:r>
              <a:rPr lang="ko-KR" altLang="en-US" dirty="0"/>
              <a:t>정형화 </a:t>
            </a:r>
            <a:r>
              <a:rPr lang="en-US" altLang="ko-KR" dirty="0"/>
              <a:t>-&gt; </a:t>
            </a:r>
            <a:r>
              <a:rPr lang="ko-KR" altLang="en-US" dirty="0"/>
              <a:t>유동성</a:t>
            </a:r>
            <a:r>
              <a:rPr lang="en-US" altLang="ko-KR" dirty="0"/>
              <a:t>(</a:t>
            </a:r>
            <a:r>
              <a:rPr lang="ko-KR" altLang="en-US" dirty="0"/>
              <a:t>거래비용 ↓</a:t>
            </a:r>
            <a:r>
              <a:rPr lang="en-US" altLang="ko-KR" dirty="0"/>
              <a:t>), </a:t>
            </a:r>
            <a:r>
              <a:rPr lang="ko-KR" altLang="en-US" dirty="0"/>
              <a:t>시가평가 가능</a:t>
            </a:r>
            <a:r>
              <a:rPr lang="en-US" altLang="ko-KR" dirty="0"/>
              <a:t>, </a:t>
            </a:r>
            <a:r>
              <a:rPr lang="ko-KR" altLang="en-US" dirty="0"/>
              <a:t>거래소</a:t>
            </a:r>
            <a:r>
              <a:rPr lang="en-US" altLang="ko-KR" dirty="0"/>
              <a:t>-&gt;</a:t>
            </a:r>
            <a:r>
              <a:rPr lang="ko-KR" altLang="en-US" dirty="0"/>
              <a:t>신용위험 ↓</a:t>
            </a:r>
            <a:endParaRPr lang="en-US" altLang="ko-KR" dirty="0"/>
          </a:p>
          <a:p>
            <a:pPr lvl="2"/>
            <a:r>
              <a:rPr lang="ko-KR" altLang="en-US" dirty="0"/>
              <a:t>선물의 의무</a:t>
            </a:r>
            <a:r>
              <a:rPr lang="en-US" altLang="ko-KR" dirty="0"/>
              <a:t> </a:t>
            </a:r>
            <a:r>
              <a:rPr lang="ko-KR" altLang="en-US" dirty="0"/>
              <a:t>성격 </a:t>
            </a:r>
            <a:r>
              <a:rPr lang="en-US" altLang="ko-KR" dirty="0"/>
              <a:t>: </a:t>
            </a:r>
            <a:r>
              <a:rPr lang="ko-KR" altLang="en-US" dirty="0"/>
              <a:t>만기 </a:t>
            </a:r>
            <a:r>
              <a:rPr lang="en-US" altLang="ko-KR" dirty="0"/>
              <a:t>-&gt; </a:t>
            </a:r>
            <a:r>
              <a:rPr lang="ko-KR" altLang="en-US" dirty="0"/>
              <a:t>계약에 맞춰 실제로 사고 팜</a:t>
            </a:r>
            <a:r>
              <a:rPr lang="en-US" altLang="ko-KR" dirty="0"/>
              <a:t>; </a:t>
            </a:r>
            <a:r>
              <a:rPr lang="ko-KR" altLang="en-US" dirty="0"/>
              <a:t>가격은 현재</a:t>
            </a:r>
            <a:r>
              <a:rPr lang="en-US" altLang="ko-KR" dirty="0"/>
              <a:t>, </a:t>
            </a:r>
            <a:r>
              <a:rPr lang="ko-KR" altLang="en-US" dirty="0"/>
              <a:t>결제는 만기</a:t>
            </a:r>
            <a:endParaRPr lang="en-US" altLang="ko-KR" dirty="0"/>
          </a:p>
          <a:p>
            <a:r>
              <a:rPr lang="en-US" altLang="ko-KR" dirty="0"/>
              <a:t>Basis, basis</a:t>
            </a:r>
            <a:r>
              <a:rPr lang="ko-KR" altLang="en-US" dirty="0"/>
              <a:t> </a:t>
            </a:r>
            <a:r>
              <a:rPr lang="en-US" altLang="ko-KR" dirty="0"/>
              <a:t>risk</a:t>
            </a:r>
          </a:p>
          <a:p>
            <a:pPr lvl="1"/>
            <a:r>
              <a:rPr lang="en-US" altLang="ko-KR" dirty="0"/>
              <a:t>Basis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선물가격</a:t>
            </a:r>
            <a:r>
              <a:rPr lang="en-US" altLang="ko-KR" dirty="0"/>
              <a:t>(=future price) - </a:t>
            </a:r>
            <a:r>
              <a:rPr lang="ko-KR" altLang="en-US" dirty="0"/>
              <a:t>현물가격</a:t>
            </a:r>
            <a:r>
              <a:rPr lang="en-US" altLang="ko-KR" dirty="0"/>
              <a:t>(=spot price)</a:t>
            </a:r>
            <a:br>
              <a:rPr lang="en-US" altLang="ko-KR" dirty="0"/>
            </a:br>
            <a:r>
              <a:rPr lang="en-US" altLang="ko-KR" dirty="0"/>
              <a:t>F &gt; S -&gt; contango(</a:t>
            </a:r>
            <a:r>
              <a:rPr lang="ko-KR" altLang="en-US" dirty="0"/>
              <a:t>정상시장</a:t>
            </a:r>
            <a:r>
              <a:rPr lang="en-US" altLang="ko-KR" dirty="0"/>
              <a:t>), F &lt; S -&gt; backwardation(</a:t>
            </a:r>
            <a:r>
              <a:rPr lang="ko-KR" altLang="en-US" dirty="0"/>
              <a:t>역조시장</a:t>
            </a:r>
            <a:r>
              <a:rPr lang="en-US" altLang="ko-KR" dirty="0"/>
              <a:t>,</a:t>
            </a:r>
            <a:r>
              <a:rPr lang="ko-KR" altLang="en-US" dirty="0"/>
              <a:t>기초자산 전망↓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Basis risk : basis</a:t>
            </a:r>
            <a:r>
              <a:rPr lang="ko-KR" altLang="en-US" dirty="0"/>
              <a:t>가 예상과 다르게 움직임 </a:t>
            </a:r>
            <a:r>
              <a:rPr lang="en-US" altLang="ko-KR" dirty="0"/>
              <a:t>-&gt; </a:t>
            </a:r>
            <a:r>
              <a:rPr lang="ko-KR" altLang="en-US" dirty="0"/>
              <a:t>완벽히 </a:t>
            </a:r>
            <a:r>
              <a:rPr lang="ko-KR" altLang="en-US" dirty="0" err="1"/>
              <a:t>헷징했더라도</a:t>
            </a:r>
            <a:r>
              <a:rPr lang="ko-KR" altLang="en-US" dirty="0"/>
              <a:t> </a:t>
            </a:r>
            <a:r>
              <a:rPr lang="en-US" altLang="ko-KR" dirty="0"/>
              <a:t>basis risk?-&gt;</a:t>
            </a:r>
            <a:r>
              <a:rPr lang="ko-KR" altLang="en-US" dirty="0"/>
              <a:t>손해</a:t>
            </a:r>
            <a:endParaRPr lang="en-US" altLang="ko-KR" dirty="0"/>
          </a:p>
          <a:p>
            <a:r>
              <a:rPr lang="ko-KR" altLang="en-US" dirty="0"/>
              <a:t>롱</a:t>
            </a:r>
            <a:r>
              <a:rPr lang="en-US" altLang="ko-KR" dirty="0"/>
              <a:t>, </a:t>
            </a:r>
            <a:r>
              <a:rPr lang="ko-KR" altLang="en-US" dirty="0"/>
              <a:t>숏 포지션에서 수익</a:t>
            </a:r>
            <a:endParaRPr lang="en-US" altLang="ko-KR" dirty="0"/>
          </a:p>
          <a:p>
            <a:pPr lvl="1"/>
            <a:r>
              <a:rPr lang="ko-KR" altLang="en-US" dirty="0" err="1"/>
              <a:t>롱포지션</a:t>
            </a:r>
            <a:r>
              <a:rPr lang="ko-KR" altLang="en-US" dirty="0"/>
              <a:t> 수익 </a:t>
            </a:r>
            <a:r>
              <a:rPr lang="en-US" altLang="ko-KR" dirty="0"/>
              <a:t>: </a:t>
            </a:r>
            <a:r>
              <a:rPr lang="ko-KR" altLang="en-US" dirty="0"/>
              <a:t>만기가격 </a:t>
            </a:r>
            <a:r>
              <a:rPr lang="en-US" altLang="ko-KR" dirty="0"/>
              <a:t>&gt; </a:t>
            </a:r>
            <a:r>
              <a:rPr lang="ko-KR" altLang="en-US" dirty="0"/>
              <a:t>현재가격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숏 수익 </a:t>
            </a:r>
            <a:r>
              <a:rPr lang="en-US" altLang="ko-KR" dirty="0"/>
              <a:t>: </a:t>
            </a:r>
            <a:r>
              <a:rPr lang="ko-KR" altLang="en-US" dirty="0"/>
              <a:t>만기가 </a:t>
            </a:r>
            <a:r>
              <a:rPr lang="en-US" altLang="ko-KR" dirty="0"/>
              <a:t>&lt; </a:t>
            </a:r>
            <a:r>
              <a:rPr lang="ko-KR" altLang="en-US" dirty="0"/>
              <a:t>현재가</a:t>
            </a:r>
            <a:r>
              <a:rPr lang="en-US" altLang="ko-KR" dirty="0"/>
              <a:t> (</a:t>
            </a:r>
            <a:r>
              <a:rPr lang="ko-KR" altLang="en-US" dirty="0"/>
              <a:t>선물거래는 </a:t>
            </a:r>
            <a:br>
              <a:rPr lang="en-US" altLang="ko-KR" dirty="0"/>
            </a:br>
            <a:r>
              <a:rPr lang="ko-KR" altLang="en-US" dirty="0"/>
              <a:t>제로섬 게임</a:t>
            </a:r>
            <a:r>
              <a:rPr lang="en-US" altLang="ko-KR" dirty="0"/>
              <a:t> : </a:t>
            </a:r>
            <a:r>
              <a:rPr lang="ko-KR" altLang="en-US" dirty="0"/>
              <a:t>내 이익</a:t>
            </a:r>
            <a:r>
              <a:rPr lang="en-US" altLang="ko-KR" dirty="0"/>
              <a:t>=</a:t>
            </a:r>
            <a:r>
              <a:rPr lang="ko-KR" altLang="en-US" dirty="0"/>
              <a:t>반대 포지션</a:t>
            </a:r>
            <a:r>
              <a:rPr lang="en-US" altLang="ko-KR" dirty="0"/>
              <a:t> </a:t>
            </a:r>
            <a:r>
              <a:rPr lang="ko-KR" altLang="en-US" dirty="0"/>
              <a:t>손실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거래 메커니즘</a:t>
            </a:r>
            <a:endParaRPr lang="en-US" altLang="ko-KR" dirty="0"/>
          </a:p>
          <a:p>
            <a:pPr lvl="1"/>
            <a:r>
              <a:rPr lang="ko-KR" altLang="en-US" dirty="0"/>
              <a:t>증거금 </a:t>
            </a:r>
            <a:r>
              <a:rPr lang="en-US" altLang="ko-KR" dirty="0"/>
              <a:t>: </a:t>
            </a:r>
            <a:r>
              <a:rPr lang="ko-KR" altLang="en-US" dirty="0"/>
              <a:t>선물 </a:t>
            </a:r>
            <a:r>
              <a:rPr lang="ko-KR" altLang="en-US" dirty="0" err="1"/>
              <a:t>거래시</a:t>
            </a:r>
            <a:r>
              <a:rPr lang="ko-KR" altLang="en-US" dirty="0"/>
              <a:t> 계약 보증을 위해 계좌</a:t>
            </a:r>
            <a:br>
              <a:rPr lang="en-US" altLang="ko-KR" dirty="0"/>
            </a:br>
            <a:r>
              <a:rPr lang="ko-KR" altLang="en-US" dirty="0"/>
              <a:t>에 예치 해야 하는 일정 금액</a:t>
            </a:r>
            <a:r>
              <a:rPr lang="en-US" altLang="ko-KR" dirty="0"/>
              <a:t>. </a:t>
            </a:r>
            <a:r>
              <a:rPr lang="ko-KR" altLang="en-US" dirty="0"/>
              <a:t>체결을 위한 </a:t>
            </a:r>
            <a:br>
              <a:rPr lang="en-US" altLang="ko-KR" dirty="0"/>
            </a:br>
            <a:r>
              <a:rPr lang="ko-KR" altLang="en-US" dirty="0"/>
              <a:t>개시 증거금 </a:t>
            </a:r>
            <a:r>
              <a:rPr lang="en-US" altLang="ko-KR" dirty="0"/>
              <a:t>vs</a:t>
            </a:r>
            <a:r>
              <a:rPr lang="ko-KR" altLang="en-US" dirty="0"/>
              <a:t> 유지를 위한 유지증거금</a:t>
            </a:r>
            <a:endParaRPr lang="en-US" altLang="ko-KR" dirty="0"/>
          </a:p>
          <a:p>
            <a:pPr lvl="1"/>
            <a:r>
              <a:rPr lang="ko-KR" altLang="en-US" dirty="0"/>
              <a:t>마진 콜 </a:t>
            </a:r>
            <a:r>
              <a:rPr lang="en-US" altLang="ko-KR" dirty="0"/>
              <a:t>: </a:t>
            </a:r>
            <a:r>
              <a:rPr lang="ko-KR" altLang="en-US" dirty="0"/>
              <a:t>매일 시가평가 후 계좌 잔고가 </a:t>
            </a:r>
            <a:br>
              <a:rPr lang="en-US" altLang="ko-KR" dirty="0"/>
            </a:br>
            <a:r>
              <a:rPr lang="ko-KR" altLang="en-US" dirty="0"/>
              <a:t>유지 증거금 아래로 떨어지면 거래소에서 </a:t>
            </a:r>
            <a:br>
              <a:rPr lang="en-US" altLang="ko-KR" dirty="0"/>
            </a:br>
            <a:r>
              <a:rPr lang="ko-KR" altLang="en-US" dirty="0"/>
              <a:t>투자자에게 부족분을 내라고 요구</a:t>
            </a:r>
            <a:endParaRPr lang="en-US" altLang="ko-KR" dirty="0"/>
          </a:p>
          <a:p>
            <a:pPr lvl="1"/>
            <a:r>
              <a:rPr lang="ko-KR" altLang="en-US" dirty="0"/>
              <a:t>레버리지 </a:t>
            </a:r>
            <a:r>
              <a:rPr lang="en-US" altLang="ko-KR" dirty="0"/>
              <a:t>: </a:t>
            </a:r>
            <a:r>
              <a:rPr lang="ko-KR" altLang="en-US" dirty="0"/>
              <a:t>전체계약 </a:t>
            </a:r>
            <a:r>
              <a:rPr lang="ko-KR" altLang="en-US" dirty="0" err="1"/>
              <a:t>금액중</a:t>
            </a:r>
            <a:r>
              <a:rPr lang="ko-KR" altLang="en-US" dirty="0"/>
              <a:t> 일부인 증거금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계약 전체 규모 거래 </a:t>
            </a:r>
            <a:r>
              <a:rPr lang="en-US" altLang="ko-KR" dirty="0"/>
              <a:t>OK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 err="1"/>
              <a:t>청산소</a:t>
            </a:r>
            <a:r>
              <a:rPr lang="en-US" altLang="ko-KR" dirty="0"/>
              <a:t>(clearing house)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매일 시가평가 </a:t>
            </a:r>
            <a:r>
              <a:rPr lang="en-US" altLang="ko-KR" dirty="0"/>
              <a:t>-&gt; </a:t>
            </a:r>
            <a:r>
              <a:rPr lang="ko-KR" altLang="en-US" dirty="0"/>
              <a:t>모든 계약 손익 계산</a:t>
            </a:r>
            <a:r>
              <a:rPr lang="en-US" altLang="ko-KR" dirty="0"/>
              <a:t>. -&gt; </a:t>
            </a:r>
            <a:r>
              <a:rPr lang="ko-KR" altLang="en-US" dirty="0"/>
              <a:t>증거금 청산</a:t>
            </a:r>
            <a:r>
              <a:rPr lang="en-US" altLang="ko-KR" dirty="0"/>
              <a:t>(</a:t>
            </a:r>
            <a:r>
              <a:rPr lang="ko-KR" altLang="en-US" dirty="0" err="1"/>
              <a:t>부족시</a:t>
            </a:r>
            <a:r>
              <a:rPr lang="ko-KR" altLang="en-US" dirty="0"/>
              <a:t> 마진 콜</a:t>
            </a:r>
            <a:r>
              <a:rPr lang="en-US" altLang="ko-KR" dirty="0"/>
              <a:t>, </a:t>
            </a:r>
            <a:r>
              <a:rPr lang="ko-KR" altLang="en-US" dirty="0"/>
              <a:t>남으면 반환</a:t>
            </a:r>
            <a:r>
              <a:rPr lang="en-US" altLang="ko-KR" dirty="0"/>
              <a:t>) -&gt; </a:t>
            </a:r>
            <a:r>
              <a:rPr lang="ko-KR" altLang="en-US" dirty="0"/>
              <a:t>투자자가 </a:t>
            </a:r>
            <a:r>
              <a:rPr lang="ko-KR" altLang="en-US" dirty="0" err="1"/>
              <a:t>마진콜</a:t>
            </a:r>
            <a:r>
              <a:rPr lang="ko-KR" altLang="en-US" dirty="0"/>
              <a:t> 응답 </a:t>
            </a:r>
            <a:r>
              <a:rPr lang="en-US" altLang="ko-KR" dirty="0"/>
              <a:t>X? </a:t>
            </a:r>
            <a:r>
              <a:rPr lang="ko-KR" altLang="en-US" dirty="0"/>
              <a:t>청산소가</a:t>
            </a:r>
            <a:r>
              <a:rPr lang="en-US" altLang="ko-KR" dirty="0"/>
              <a:t> </a:t>
            </a:r>
            <a:r>
              <a:rPr lang="ko-KR" altLang="en-US" dirty="0"/>
              <a:t>해당 포지션을 강제로 청산</a:t>
            </a:r>
            <a:r>
              <a:rPr lang="en-US" altLang="ko-KR" dirty="0"/>
              <a:t> -&gt; </a:t>
            </a:r>
            <a:r>
              <a:rPr lang="ko-KR" altLang="en-US" dirty="0"/>
              <a:t>그럼에도 발생하는 손실은 </a:t>
            </a:r>
            <a:r>
              <a:rPr lang="ko-KR" altLang="en-US" dirty="0" err="1"/>
              <a:t>청산소</a:t>
            </a:r>
            <a:r>
              <a:rPr lang="ko-KR" altLang="en-US" dirty="0"/>
              <a:t> 부담</a:t>
            </a:r>
            <a:endParaRPr lang="en-US" altLang="ko-KR" dirty="0"/>
          </a:p>
          <a:p>
            <a:pPr lvl="1"/>
            <a:r>
              <a:rPr lang="en-US" altLang="ko-KR" dirty="0"/>
              <a:t>Open interest(</a:t>
            </a:r>
            <a:r>
              <a:rPr lang="ko-KR" altLang="en-US" dirty="0"/>
              <a:t>미결제 계약</a:t>
            </a:r>
            <a:r>
              <a:rPr lang="en-US" altLang="ko-KR" dirty="0"/>
              <a:t>) : </a:t>
            </a:r>
            <a:r>
              <a:rPr lang="ko-KR" altLang="en-US" dirty="0"/>
              <a:t>만기</a:t>
            </a:r>
            <a:r>
              <a:rPr lang="en-US" altLang="ko-KR" dirty="0"/>
              <a:t>X</a:t>
            </a:r>
            <a:r>
              <a:rPr lang="ko-KR" altLang="en-US" dirty="0"/>
              <a:t>나</a:t>
            </a:r>
            <a:r>
              <a:rPr lang="en-US" altLang="ko-KR" dirty="0"/>
              <a:t>, </a:t>
            </a:r>
            <a:r>
              <a:rPr lang="ko-KR" altLang="en-US" dirty="0"/>
              <a:t>청산되지 않은 선물 계약의 총 수</a:t>
            </a:r>
            <a:r>
              <a:rPr lang="en-US" altLang="ko-KR" dirty="0"/>
              <a:t>. </a:t>
            </a:r>
            <a:r>
              <a:rPr lang="ko-KR" altLang="en-US" dirty="0"/>
              <a:t>롱</a:t>
            </a:r>
            <a:r>
              <a:rPr lang="en-US" altLang="ko-KR" dirty="0"/>
              <a:t>/</a:t>
            </a:r>
            <a:r>
              <a:rPr lang="ko-KR" altLang="en-US" dirty="0"/>
              <a:t>숏 중 미해 한방향을 예상</a:t>
            </a:r>
            <a:r>
              <a:rPr lang="en-US" altLang="ko-KR" dirty="0"/>
              <a:t>. </a:t>
            </a:r>
            <a:r>
              <a:rPr lang="ko-KR" altLang="en-US" dirty="0"/>
              <a:t>많을수록 변동성↑ </a:t>
            </a:r>
            <a:r>
              <a:rPr lang="en-US" altLang="ko-KR" dirty="0"/>
              <a:t>-&gt; </a:t>
            </a:r>
            <a:r>
              <a:rPr lang="ko-KR" altLang="en-US" dirty="0"/>
              <a:t>일종의 </a:t>
            </a:r>
            <a:r>
              <a:rPr lang="en-US" altLang="ko-KR" dirty="0"/>
              <a:t>speculation(</a:t>
            </a:r>
            <a:r>
              <a:rPr lang="ko-KR" altLang="en-US" dirty="0"/>
              <a:t>자기포지션 오픈</a:t>
            </a:r>
            <a:r>
              <a:rPr lang="en-US" altLang="ko-KR" dirty="0"/>
              <a:t>);</a:t>
            </a:r>
            <a:br>
              <a:rPr lang="en-US" altLang="ko-KR" dirty="0"/>
            </a:br>
            <a:r>
              <a:rPr lang="ko-KR" altLang="en-US" dirty="0"/>
              <a:t>대부분 계약은 장이 끝나면 청산</a:t>
            </a:r>
            <a:r>
              <a:rPr lang="en-US" altLang="ko-KR" dirty="0"/>
              <a:t>. </a:t>
            </a:r>
            <a:r>
              <a:rPr lang="ko-KR" altLang="en-US" dirty="0"/>
              <a:t>거래를 마칠 땐 반대거래로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ko-KR" altLang="en-US" dirty="0" err="1"/>
              <a:t>만듬</a:t>
            </a:r>
            <a:r>
              <a:rPr lang="en-US" altLang="ko-KR" dirty="0"/>
              <a:t>. (</a:t>
            </a:r>
            <a:r>
              <a:rPr lang="ko-KR" altLang="en-US" dirty="0"/>
              <a:t>시장 닫혀도 사건사고는 </a:t>
            </a:r>
            <a:r>
              <a:rPr lang="ko-KR" altLang="en-US" dirty="0" err="1"/>
              <a:t>일어남</a:t>
            </a:r>
            <a:r>
              <a:rPr lang="en-US" altLang="ko-KR" dirty="0"/>
              <a:t>).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매우 투기적</a:t>
            </a:r>
            <a:r>
              <a:rPr lang="en-US" altLang="ko-KR" dirty="0"/>
              <a:t>? -&gt; open </a:t>
            </a:r>
            <a:r>
              <a:rPr lang="ko-KR" altLang="en-US" dirty="0"/>
              <a:t>포지션으로</a:t>
            </a:r>
            <a:r>
              <a:rPr lang="en-US" altLang="ko-KR" dirty="0"/>
              <a:t>. </a:t>
            </a:r>
            <a:r>
              <a:rPr lang="ko-KR" altLang="en-US" dirty="0"/>
              <a:t>전선화로 시간 구애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시장참여자와 거래전략 </a:t>
            </a:r>
            <a:r>
              <a:rPr lang="en-US" altLang="ko-KR" dirty="0"/>
              <a:t>: Speculators : </a:t>
            </a:r>
            <a:r>
              <a:rPr lang="ko-KR" altLang="en-US" dirty="0"/>
              <a:t>시장 예상과 반대</a:t>
            </a:r>
            <a:r>
              <a:rPr lang="en-US" altLang="ko-KR" dirty="0"/>
              <a:t>, </a:t>
            </a:r>
            <a:r>
              <a:rPr lang="ko-KR" altLang="en-US" dirty="0"/>
              <a:t>현물포지션</a:t>
            </a:r>
            <a:r>
              <a:rPr lang="en-US" altLang="ko-KR" dirty="0"/>
              <a:t>X. Hedgers : </a:t>
            </a:r>
            <a:r>
              <a:rPr lang="ko-KR" altLang="en-US" dirty="0"/>
              <a:t>실수요자</a:t>
            </a:r>
            <a:r>
              <a:rPr lang="en-US" altLang="ko-KR" dirty="0"/>
              <a:t>, </a:t>
            </a:r>
            <a:r>
              <a:rPr lang="ko-KR" altLang="en-US" dirty="0"/>
              <a:t>자산가치가 </a:t>
            </a:r>
            <a:r>
              <a:rPr lang="en-US" altLang="ko-KR" dirty="0"/>
              <a:t>X</a:t>
            </a:r>
            <a:r>
              <a:rPr lang="ko-KR" altLang="en-US" dirty="0"/>
              <a:t>면 좋겠음</a:t>
            </a:r>
            <a:r>
              <a:rPr lang="en-US" altLang="ko-KR" dirty="0"/>
              <a:t>. </a:t>
            </a:r>
            <a:r>
              <a:rPr lang="ko-KR" altLang="en-US" dirty="0"/>
              <a:t>현물 삼</a:t>
            </a:r>
            <a:r>
              <a:rPr lang="en-US" altLang="ko-KR" dirty="0"/>
              <a:t>,</a:t>
            </a:r>
            <a:r>
              <a:rPr lang="ko-KR" altLang="en-US" dirty="0"/>
              <a:t> 선물 팜</a:t>
            </a:r>
            <a:r>
              <a:rPr lang="en-US" altLang="ko-KR" dirty="0"/>
              <a:t>-&gt; </a:t>
            </a:r>
            <a:r>
              <a:rPr lang="ko-KR" altLang="en-US" dirty="0"/>
              <a:t>서로가 각 수요를 </a:t>
            </a:r>
            <a:r>
              <a:rPr lang="ko-KR" altLang="en-US" dirty="0" err="1"/>
              <a:t>받아줌</a:t>
            </a:r>
            <a:endParaRPr lang="en-US" altLang="ko-KR" dirty="0"/>
          </a:p>
          <a:p>
            <a:r>
              <a:rPr lang="ko-KR" altLang="en-US" dirty="0"/>
              <a:t>선물가격 결정원리 </a:t>
            </a:r>
            <a:r>
              <a:rPr lang="en-US" altLang="ko-KR" dirty="0"/>
              <a:t>(Spot-future parity theorem)</a:t>
            </a:r>
          </a:p>
          <a:p>
            <a:pPr lvl="1"/>
            <a:r>
              <a:rPr lang="ko-KR" altLang="en-US" dirty="0"/>
              <a:t>선</a:t>
            </a:r>
            <a:r>
              <a:rPr lang="en-US" altLang="ko-KR" dirty="0"/>
              <a:t>-</a:t>
            </a:r>
            <a:r>
              <a:rPr lang="ko-KR" altLang="en-US" dirty="0"/>
              <a:t>현물 간 </a:t>
            </a:r>
            <a:r>
              <a:rPr lang="en-US" altLang="ko-KR" dirty="0"/>
              <a:t>arbitrage</a:t>
            </a:r>
            <a:r>
              <a:rPr lang="ko-KR" altLang="en-US" dirty="0"/>
              <a:t>가 없는 균형관계</a:t>
            </a:r>
            <a:r>
              <a:rPr lang="en-US" altLang="ko-KR" dirty="0"/>
              <a:t>. </a:t>
            </a:r>
            <a:r>
              <a:rPr lang="ko-KR" altLang="en-US" dirty="0"/>
              <a:t>적정 선물</a:t>
            </a:r>
            <a:br>
              <a:rPr lang="en-US" altLang="ko-KR" dirty="0"/>
            </a:br>
            <a:r>
              <a:rPr lang="ko-KR" altLang="en-US" dirty="0"/>
              <a:t>가격 평가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기초자산 </a:t>
            </a:r>
            <a:r>
              <a:rPr lang="en-US" altLang="ko-KR" dirty="0"/>
              <a:t>-&gt; </a:t>
            </a:r>
            <a:r>
              <a:rPr lang="ko-KR" altLang="en-US" dirty="0"/>
              <a:t>현재 시점 구매 후 미래까지 보유</a:t>
            </a:r>
            <a:br>
              <a:rPr lang="en-US" altLang="ko-KR" dirty="0"/>
            </a:br>
            <a:r>
              <a:rPr lang="en-US" altLang="ko-KR" dirty="0"/>
              <a:t>2)  </a:t>
            </a:r>
            <a:r>
              <a:rPr lang="ko-KR" altLang="en-US" dirty="0"/>
              <a:t>미래 시점에 기초자산을 인도받기로 한</a:t>
            </a:r>
            <a:br>
              <a:rPr lang="en-US" altLang="ko-KR" dirty="0"/>
            </a:br>
            <a:r>
              <a:rPr lang="ko-KR" altLang="en-US" dirty="0"/>
              <a:t>선물 계약 </a:t>
            </a:r>
            <a:r>
              <a:rPr lang="en-US" altLang="ko-KR" dirty="0"/>
              <a:t>-&gt; </a:t>
            </a:r>
            <a:r>
              <a:rPr lang="ko-KR" altLang="en-US" dirty="0"/>
              <a:t>현재시점에 매수</a:t>
            </a:r>
            <a:br>
              <a:rPr lang="en-US" altLang="ko-KR" dirty="0"/>
            </a:br>
            <a:r>
              <a:rPr lang="en-US" altLang="ko-KR" dirty="0"/>
              <a:t>1), 2)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최종 경과가 동일 해야함 에서 출발</a:t>
            </a:r>
            <a:br>
              <a:rPr lang="en-US" altLang="ko-KR" dirty="0"/>
            </a:br>
            <a:r>
              <a:rPr lang="en-US" altLang="ko-KR" dirty="0"/>
              <a:t>-&gt; (</a:t>
            </a:r>
            <a:r>
              <a:rPr lang="ko-KR" altLang="en-US" dirty="0"/>
              <a:t>선물</a:t>
            </a:r>
            <a:r>
              <a:rPr lang="en-US" altLang="ko-KR" dirty="0"/>
              <a:t>) = (</a:t>
            </a:r>
            <a:r>
              <a:rPr lang="ko-KR" altLang="en-US" dirty="0"/>
              <a:t>현물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+ (</a:t>
            </a:r>
            <a:r>
              <a:rPr lang="ko-KR" altLang="en-US" dirty="0"/>
              <a:t>보관비용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 (</a:t>
            </a:r>
            <a:r>
              <a:rPr lang="ko-KR" altLang="en-US" dirty="0"/>
              <a:t>보유수익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A6AECE-8084-005B-F415-2A9CC8DB607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3F03FE-4C7C-FF65-9E1E-FE7F01655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096" y="2576736"/>
            <a:ext cx="2448272" cy="869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8A3D27A-381B-00EC-4F37-32102180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105" y="3584848"/>
            <a:ext cx="2448272" cy="12387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3DFB49-41A8-D419-14C1-332281129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221" y="6609184"/>
            <a:ext cx="2062359" cy="148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3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5CC839F-EFB8-0A28-F351-803493BB9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EFDC041-1793-FB49-5E95-FF97FF2B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선물계약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B0668F-0168-C65E-757D-0BFEAC4A62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32FAA44-8A17-0E17-FB2D-E9D22A7D54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스프레드</a:t>
            </a:r>
            <a:r>
              <a:rPr lang="en-US" altLang="ko-KR" dirty="0"/>
              <a:t>(</a:t>
            </a:r>
            <a:r>
              <a:rPr lang="ko-KR" altLang="en-US" dirty="0"/>
              <a:t>만기수익률 차이</a:t>
            </a:r>
            <a:r>
              <a:rPr lang="en-US" altLang="ko-KR" dirty="0"/>
              <a:t>)</a:t>
            </a:r>
            <a:r>
              <a:rPr lang="ko-KR" altLang="en-US" dirty="0"/>
              <a:t>가 있을 경우 관계</a:t>
            </a:r>
            <a:endParaRPr lang="en-US" altLang="ko-KR" dirty="0"/>
          </a:p>
          <a:p>
            <a:pPr lvl="1"/>
            <a:r>
              <a:rPr lang="en-US" altLang="ko-KR" dirty="0"/>
              <a:t>Rf &gt; d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만기가 길수록 선물가격 높음</a:t>
            </a:r>
            <a:r>
              <a:rPr lang="en-US" altLang="ko-KR" dirty="0"/>
              <a:t>; </a:t>
            </a:r>
            <a:r>
              <a:rPr lang="ko-KR" altLang="en-US" dirty="0"/>
              <a:t>배당수익</a:t>
            </a:r>
            <a:r>
              <a:rPr lang="en-US" altLang="ko-KR" dirty="0"/>
              <a:t>(d) X : </a:t>
            </a:r>
            <a:br>
              <a:rPr lang="en-US" altLang="ko-KR" dirty="0"/>
            </a:br>
            <a:r>
              <a:rPr lang="ko-KR" altLang="en-US" dirty="0"/>
              <a:t>일부 품목은 </a:t>
            </a:r>
            <a:r>
              <a:rPr lang="en-US" altLang="ko-KR" dirty="0"/>
              <a:t>storage cost -&gt; F1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S0(1+rf+c)^T1</a:t>
            </a:r>
            <a:r>
              <a:rPr lang="ko-KR" altLang="en-US" dirty="0"/>
              <a:t>의 형태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외환 선물거래시 가격</a:t>
            </a:r>
            <a:r>
              <a:rPr lang="en-US" altLang="ko-KR" dirty="0"/>
              <a:t>(</a:t>
            </a:r>
            <a:r>
              <a:rPr lang="ko-KR" altLang="en-US" dirty="0"/>
              <a:t>파운드</a:t>
            </a:r>
            <a:r>
              <a:rPr lang="en-US" altLang="ko-KR" dirty="0"/>
              <a:t>/</a:t>
            </a:r>
            <a:r>
              <a:rPr lang="ko-KR" altLang="en-US" dirty="0"/>
              <a:t>달러 경우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금융시장에서의 일물일가 법칙</a:t>
            </a:r>
            <a:br>
              <a:rPr lang="en-US" altLang="ko-KR" dirty="0"/>
            </a:br>
            <a:r>
              <a:rPr lang="en-US" altLang="ko-KR" dirty="0"/>
              <a:t>F0=</a:t>
            </a:r>
            <a:r>
              <a:rPr lang="ko-KR" altLang="en-US" dirty="0"/>
              <a:t>현시점 선물환율</a:t>
            </a:r>
            <a:r>
              <a:rPr lang="en-US" altLang="ko-KR" dirty="0"/>
              <a:t>, E0=</a:t>
            </a:r>
            <a:r>
              <a:rPr lang="ko-KR" altLang="en-US" dirty="0"/>
              <a:t>현시점 환율</a:t>
            </a:r>
            <a:endParaRPr lang="en-US" altLang="ko-KR" dirty="0"/>
          </a:p>
          <a:p>
            <a:r>
              <a:rPr lang="ko-KR" altLang="en-US" dirty="0"/>
              <a:t>외환거래시 리스크 </a:t>
            </a:r>
            <a:r>
              <a:rPr lang="ko-KR" altLang="en-US" dirty="0" err="1"/>
              <a:t>헷징</a:t>
            </a:r>
            <a:endParaRPr lang="en-US" altLang="ko-KR" dirty="0"/>
          </a:p>
          <a:p>
            <a:pPr lvl="1"/>
            <a:r>
              <a:rPr lang="en-US" altLang="ko-KR" dirty="0"/>
              <a:t>US </a:t>
            </a:r>
            <a:r>
              <a:rPr lang="ko-KR" altLang="en-US" dirty="0"/>
              <a:t>수출업자 대금 </a:t>
            </a:r>
            <a:r>
              <a:rPr lang="en-US" altLang="ko-KR" dirty="0"/>
              <a:t>£2,000,000</a:t>
            </a:r>
            <a:r>
              <a:rPr lang="ko-KR" altLang="en-US" dirty="0"/>
              <a:t> 받음</a:t>
            </a:r>
            <a:r>
              <a:rPr lang="en-US" altLang="ko-KR" dirty="0"/>
              <a:t>. </a:t>
            </a:r>
            <a:r>
              <a:rPr lang="ko-KR" altLang="en-US" dirty="0"/>
              <a:t>한 계약당 가치는 </a:t>
            </a:r>
            <a:r>
              <a:rPr lang="en-US" altLang="ko-KR" dirty="0"/>
              <a:t>$625,000. </a:t>
            </a:r>
            <a:br>
              <a:rPr lang="en-US" altLang="ko-KR" dirty="0"/>
            </a:br>
            <a:r>
              <a:rPr lang="ko-KR" altLang="en-US" dirty="0"/>
              <a:t>현 선물환율 </a:t>
            </a:r>
            <a:r>
              <a:rPr lang="en-US" altLang="ko-KR" dirty="0"/>
              <a:t>$2/£1 -&gt; </a:t>
            </a:r>
            <a:r>
              <a:rPr lang="ko-KR" altLang="en-US" dirty="0"/>
              <a:t>만기 선물환율 </a:t>
            </a:r>
            <a:r>
              <a:rPr lang="en-US" altLang="ko-KR" dirty="0"/>
              <a:t>$1.9/£1</a:t>
            </a:r>
          </a:p>
          <a:p>
            <a:pPr lvl="2"/>
            <a:r>
              <a:rPr lang="ko-KR" altLang="en-US" dirty="0"/>
              <a:t>수출자는 </a:t>
            </a:r>
            <a:r>
              <a:rPr lang="en-US" altLang="ko-KR" dirty="0"/>
              <a:t>2,000,000(</a:t>
            </a:r>
            <a:r>
              <a:rPr lang="ko-KR" altLang="en-US" dirty="0"/>
              <a:t>파</a:t>
            </a:r>
            <a:r>
              <a:rPr lang="en-US" altLang="ko-KR" dirty="0"/>
              <a:t>) * 0.1(</a:t>
            </a:r>
            <a:r>
              <a:rPr lang="ko-KR" altLang="en-US" dirty="0"/>
              <a:t>달</a:t>
            </a:r>
            <a:r>
              <a:rPr lang="en-US" altLang="ko-KR" dirty="0"/>
              <a:t>/</a:t>
            </a:r>
            <a:r>
              <a:rPr lang="ko-KR" altLang="en-US" dirty="0"/>
              <a:t>파</a:t>
            </a:r>
            <a:r>
              <a:rPr lang="en-US" altLang="ko-KR" dirty="0"/>
              <a:t>) = 200,000(</a:t>
            </a:r>
            <a:r>
              <a:rPr lang="ko-KR" altLang="en-US" dirty="0"/>
              <a:t>달</a:t>
            </a:r>
            <a:r>
              <a:rPr lang="en-US" altLang="ko-KR" dirty="0"/>
              <a:t>) </a:t>
            </a:r>
            <a:r>
              <a:rPr lang="ko-KR" altLang="en-US" dirty="0"/>
              <a:t>만큼의</a:t>
            </a:r>
            <a:r>
              <a:rPr lang="en-US" altLang="ko-KR" dirty="0"/>
              <a:t> </a:t>
            </a:r>
            <a:r>
              <a:rPr lang="ko-KR" altLang="en-US" dirty="0"/>
              <a:t>손실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완벽한 </a:t>
            </a:r>
            <a:r>
              <a:rPr lang="ko-KR" altLang="en-US" dirty="0" err="1"/>
              <a:t>헷지를</a:t>
            </a:r>
            <a:r>
              <a:rPr lang="ko-KR" altLang="en-US" dirty="0"/>
              <a:t> 위해선 현물포지션 만큼 선물포지션을 </a:t>
            </a:r>
            <a:r>
              <a:rPr lang="ko-KR" altLang="en-US" dirty="0" err="1"/>
              <a:t>가져야함</a:t>
            </a:r>
            <a:endParaRPr lang="en-US" altLang="ko-KR" dirty="0"/>
          </a:p>
          <a:p>
            <a:pPr lvl="2"/>
            <a:r>
              <a:rPr lang="ko-KR" altLang="en-US" dirty="0"/>
              <a:t>따라서</a:t>
            </a:r>
            <a:r>
              <a:rPr lang="en-US" altLang="ko-KR" dirty="0"/>
              <a:t> 200,000(</a:t>
            </a:r>
            <a:r>
              <a:rPr lang="ko-KR" altLang="en-US" dirty="0"/>
              <a:t>달</a:t>
            </a:r>
            <a:r>
              <a:rPr lang="en-US" altLang="ko-KR" dirty="0"/>
              <a:t>)/6,250(</a:t>
            </a:r>
            <a:r>
              <a:rPr lang="ko-KR" altLang="en-US" dirty="0"/>
              <a:t>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= 32</a:t>
            </a:r>
            <a:r>
              <a:rPr lang="ko-KR" altLang="en-US" dirty="0"/>
              <a:t>개</a:t>
            </a:r>
            <a:r>
              <a:rPr lang="en-US" altLang="ko-KR" dirty="0"/>
              <a:t>. 32</a:t>
            </a:r>
            <a:r>
              <a:rPr lang="ko-KR" altLang="en-US" dirty="0"/>
              <a:t>개의 계약에 대한 </a:t>
            </a:r>
            <a:br>
              <a:rPr lang="en-US" altLang="ko-KR" dirty="0"/>
            </a:br>
            <a:r>
              <a:rPr lang="ko-KR" altLang="en-US" dirty="0" err="1"/>
              <a:t>헷징을</a:t>
            </a:r>
            <a:r>
              <a:rPr lang="ko-KR" altLang="en-US" dirty="0"/>
              <a:t> 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주식 지수 선물계약</a:t>
            </a:r>
            <a:r>
              <a:rPr lang="en-US" altLang="ko-KR" dirty="0"/>
              <a:t>, </a:t>
            </a:r>
            <a:r>
              <a:rPr lang="ko-KR" altLang="en-US" dirty="0"/>
              <a:t>선물을 이용한 합성포지션</a:t>
            </a:r>
            <a:endParaRPr lang="en-US" altLang="ko-KR" dirty="0"/>
          </a:p>
          <a:p>
            <a:pPr lvl="1"/>
            <a:r>
              <a:rPr lang="ko-KR" altLang="en-US" dirty="0"/>
              <a:t>지수선물 장점 </a:t>
            </a:r>
            <a:r>
              <a:rPr lang="en-US" altLang="ko-KR" dirty="0"/>
              <a:t>: </a:t>
            </a:r>
            <a:r>
              <a:rPr lang="ko-KR" altLang="en-US" dirty="0"/>
              <a:t>거래비용↓</a:t>
            </a:r>
            <a:r>
              <a:rPr lang="en-US" altLang="ko-KR" dirty="0"/>
              <a:t>, </a:t>
            </a:r>
            <a:r>
              <a:rPr lang="ko-KR" altLang="en-US" dirty="0" err="1"/>
              <a:t>대응시</a:t>
            </a:r>
            <a:r>
              <a:rPr lang="ko-KR" altLang="en-US" dirty="0"/>
              <a:t> 시간적으로 쉬움</a:t>
            </a:r>
            <a:r>
              <a:rPr lang="en-US" altLang="ko-KR" dirty="0"/>
              <a:t>, </a:t>
            </a:r>
            <a:r>
              <a:rPr lang="ko-KR" altLang="en-US" dirty="0" err="1"/>
              <a:t>포폴</a:t>
            </a:r>
            <a:r>
              <a:rPr lang="ko-KR" altLang="en-US" dirty="0"/>
              <a:t> 구성 시간↓</a:t>
            </a:r>
            <a:endParaRPr lang="en-US" altLang="ko-KR" dirty="0"/>
          </a:p>
          <a:p>
            <a:pPr lvl="1"/>
            <a:r>
              <a:rPr lang="ko-KR" altLang="en-US" dirty="0"/>
              <a:t>현물을 보유</a:t>
            </a:r>
            <a:r>
              <a:rPr lang="en-US" altLang="ko-KR" dirty="0"/>
              <a:t>/</a:t>
            </a:r>
            <a:r>
              <a:rPr lang="ko-KR" altLang="en-US" dirty="0"/>
              <a:t>공매도 대신 선물 계약으로 효과를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pPr lvl="2"/>
            <a:r>
              <a:rPr lang="ko-KR" altLang="en-US" dirty="0"/>
              <a:t>국채</a:t>
            </a:r>
            <a:r>
              <a:rPr lang="en-US" altLang="ko-KR" dirty="0"/>
              <a:t>(</a:t>
            </a:r>
            <a:r>
              <a:rPr lang="ko-KR" altLang="en-US" dirty="0"/>
              <a:t>안전자산</a:t>
            </a:r>
            <a:r>
              <a:rPr lang="en-US" altLang="ko-KR" dirty="0"/>
              <a:t>)</a:t>
            </a:r>
            <a:r>
              <a:rPr lang="ko-KR" altLang="en-US" dirty="0"/>
              <a:t>을 보유</a:t>
            </a:r>
            <a:r>
              <a:rPr lang="en-US" altLang="ko-KR" dirty="0"/>
              <a:t>, </a:t>
            </a:r>
            <a:r>
              <a:rPr lang="ko-KR" altLang="en-US" dirty="0"/>
              <a:t>지수선물 시장이 </a:t>
            </a:r>
            <a:r>
              <a:rPr lang="en-US" altLang="ko-KR" dirty="0"/>
              <a:t>(</a:t>
            </a:r>
            <a:r>
              <a:rPr lang="ko-KR" altLang="en-US" dirty="0"/>
              <a:t>호황 </a:t>
            </a:r>
            <a:r>
              <a:rPr lang="en-US" altLang="ko-KR" dirty="0"/>
              <a:t>-&gt; </a:t>
            </a:r>
            <a:r>
              <a:rPr lang="ko-KR" altLang="en-US" dirty="0"/>
              <a:t>선물 롱</a:t>
            </a:r>
            <a:r>
              <a:rPr lang="en-US" altLang="ko-KR" dirty="0"/>
              <a:t>), (</a:t>
            </a:r>
            <a:r>
              <a:rPr lang="ko-KR" altLang="en-US" dirty="0"/>
              <a:t>불황 </a:t>
            </a:r>
            <a:r>
              <a:rPr lang="en-US" altLang="ko-KR" dirty="0"/>
              <a:t>-&gt; </a:t>
            </a:r>
            <a:r>
              <a:rPr lang="ko-KR" altLang="en-US" dirty="0"/>
              <a:t>선물 숏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체계적 위험의 </a:t>
            </a:r>
            <a:r>
              <a:rPr lang="ko-KR" altLang="en-US" dirty="0" err="1"/>
              <a:t>헷징</a:t>
            </a:r>
            <a:endParaRPr lang="en-US" altLang="ko-KR" dirty="0"/>
          </a:p>
          <a:p>
            <a:pPr lvl="1"/>
            <a:r>
              <a:rPr lang="en-US" altLang="ko-KR" dirty="0"/>
              <a:t>β</a:t>
            </a:r>
            <a:r>
              <a:rPr lang="en-US" altLang="ko-KR" dirty="0" err="1"/>
              <a:t>i</a:t>
            </a:r>
            <a:r>
              <a:rPr lang="en-US" altLang="ko-KR" dirty="0"/>
              <a:t> -&gt; </a:t>
            </a:r>
            <a:r>
              <a:rPr lang="en-US" altLang="ko-KR" dirty="0" err="1"/>
              <a:t>i</a:t>
            </a:r>
            <a:r>
              <a:rPr lang="ko-KR" altLang="en-US" dirty="0"/>
              <a:t>번째 위험자산의 시장민감도</a:t>
            </a:r>
            <a:r>
              <a:rPr lang="en-US" altLang="ko-KR" dirty="0"/>
              <a:t>(</a:t>
            </a:r>
            <a:r>
              <a:rPr lang="ko-KR" altLang="en-US" dirty="0"/>
              <a:t>변동성</a:t>
            </a:r>
            <a:r>
              <a:rPr lang="en-US" altLang="ko-KR" dirty="0"/>
              <a:t>); </a:t>
            </a:r>
            <a:r>
              <a:rPr lang="ko-KR" altLang="en-US" dirty="0"/>
              <a:t>베타 </a:t>
            </a:r>
            <a:r>
              <a:rPr lang="en-US" altLang="ko-KR" dirty="0"/>
              <a:t>= 0.8, S&amp;P500 : 1000-&gt;975(-2.5%)</a:t>
            </a:r>
            <a:br>
              <a:rPr lang="en-US" altLang="ko-KR" dirty="0"/>
            </a:br>
            <a:r>
              <a:rPr lang="ko-KR" altLang="en-US" dirty="0" err="1"/>
              <a:t>포폴</a:t>
            </a:r>
            <a:r>
              <a:rPr lang="ko-KR" altLang="en-US" dirty="0"/>
              <a:t> 가치 </a:t>
            </a:r>
            <a:r>
              <a:rPr lang="en-US" altLang="ko-KR" dirty="0"/>
              <a:t>= 30,000,000</a:t>
            </a:r>
            <a:r>
              <a:rPr lang="ko-KR" altLang="en-US" dirty="0"/>
              <a:t>달러</a:t>
            </a:r>
            <a:endParaRPr lang="en-US" altLang="ko-KR" dirty="0"/>
          </a:p>
          <a:p>
            <a:pPr lvl="2"/>
            <a:r>
              <a:rPr lang="ko-KR" altLang="en-US" dirty="0" err="1"/>
              <a:t>포폴</a:t>
            </a:r>
            <a:r>
              <a:rPr lang="ko-KR" altLang="en-US" dirty="0"/>
              <a:t> 가치 감소분 </a:t>
            </a:r>
            <a:r>
              <a:rPr lang="en-US" altLang="ko-KR" dirty="0"/>
              <a:t>: 30,000,000(</a:t>
            </a:r>
            <a:r>
              <a:rPr lang="ko-KR" altLang="en-US" dirty="0"/>
              <a:t>달</a:t>
            </a:r>
            <a:r>
              <a:rPr lang="en-US" altLang="ko-KR" dirty="0"/>
              <a:t>) * 0.02 = 600,000(</a:t>
            </a:r>
            <a:r>
              <a:rPr lang="ko-KR" altLang="en-US" dirty="0"/>
              <a:t>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선물 계약 </a:t>
            </a:r>
            <a:r>
              <a:rPr lang="en-US" altLang="ko-KR" dirty="0"/>
              <a:t>1</a:t>
            </a:r>
            <a:r>
              <a:rPr lang="ko-KR" altLang="en-US" dirty="0"/>
              <a:t>개의 수익 </a:t>
            </a:r>
            <a:r>
              <a:rPr lang="en-US" altLang="ko-KR" dirty="0"/>
              <a:t>: 1000(=S&amp;P 500 </a:t>
            </a:r>
            <a:r>
              <a:rPr lang="ko-KR" altLang="en-US" dirty="0"/>
              <a:t>지수</a:t>
            </a:r>
            <a:r>
              <a:rPr lang="en-US" altLang="ko-KR" dirty="0"/>
              <a:t>) * $250(=</a:t>
            </a:r>
            <a:r>
              <a:rPr lang="ko-KR" altLang="en-US" dirty="0" err="1"/>
              <a:t>멀티플라이어</a:t>
            </a:r>
            <a:r>
              <a:rPr lang="en-US" altLang="ko-KR" dirty="0"/>
              <a:t>) </a:t>
            </a:r>
            <a:br>
              <a:rPr lang="en-US" altLang="ko-KR" dirty="0"/>
            </a:br>
            <a:r>
              <a:rPr lang="en-US" altLang="ko-KR" dirty="0"/>
              <a:t>* 0.025(=2.5%) = $6250 (</a:t>
            </a:r>
            <a:r>
              <a:rPr lang="ko-KR" altLang="en-US" dirty="0" err="1"/>
              <a:t>멀티플라이어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지수</a:t>
            </a:r>
            <a:r>
              <a:rPr lang="en-US" altLang="ko-KR" dirty="0"/>
              <a:t>1</a:t>
            </a:r>
            <a:r>
              <a:rPr lang="ko-KR" altLang="en-US" dirty="0"/>
              <a:t>단위 변화 시 화폐가치 변화 분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따라서 </a:t>
            </a:r>
            <a:r>
              <a:rPr lang="en-US" altLang="ko-KR" dirty="0"/>
              <a:t>$600,000/$6250 = 96 </a:t>
            </a:r>
            <a:r>
              <a:rPr lang="ko-KR" altLang="en-US" dirty="0"/>
              <a:t>계약에 대해 숏을 해야함</a:t>
            </a:r>
            <a:endParaRPr lang="en-US" altLang="ko-KR" dirty="0"/>
          </a:p>
          <a:p>
            <a:r>
              <a:rPr lang="ko-KR" altLang="en-US" dirty="0"/>
              <a:t>이자율 위험에 대한 </a:t>
            </a:r>
            <a:r>
              <a:rPr lang="ko-KR" altLang="en-US" dirty="0" err="1"/>
              <a:t>헷징</a:t>
            </a:r>
            <a:endParaRPr lang="en-US" altLang="ko-KR" dirty="0"/>
          </a:p>
          <a:p>
            <a:pPr lvl="1"/>
            <a:r>
              <a:rPr lang="ko-KR" altLang="en-US" dirty="0" err="1"/>
              <a:t>포폴</a:t>
            </a:r>
            <a:r>
              <a:rPr lang="ko-KR" altLang="en-US" dirty="0"/>
              <a:t> 가치 </a:t>
            </a:r>
            <a:r>
              <a:rPr lang="en-US" altLang="ko-KR" dirty="0"/>
              <a:t>: 10,000,000(</a:t>
            </a:r>
            <a:r>
              <a:rPr lang="ko-KR" altLang="en-US" dirty="0"/>
              <a:t>달</a:t>
            </a:r>
            <a:r>
              <a:rPr lang="en-US" altLang="ko-KR" dirty="0"/>
              <a:t>), </a:t>
            </a:r>
            <a:r>
              <a:rPr lang="ko-KR" altLang="en-US" dirty="0"/>
              <a:t>수정</a:t>
            </a:r>
            <a:r>
              <a:rPr lang="en-US" altLang="ko-KR" dirty="0"/>
              <a:t> </a:t>
            </a:r>
            <a:r>
              <a:rPr lang="ko-KR" altLang="en-US" dirty="0" err="1"/>
              <a:t>듀레이션</a:t>
            </a:r>
            <a:r>
              <a:rPr lang="ko-KR" altLang="en-US" dirty="0"/>
              <a:t> </a:t>
            </a:r>
            <a:r>
              <a:rPr lang="en-US" altLang="ko-KR" dirty="0"/>
              <a:t>: 9, 10 basis point</a:t>
            </a:r>
            <a:r>
              <a:rPr lang="ko-KR" altLang="en-US" dirty="0"/>
              <a:t>당 이자율 상승 </a:t>
            </a:r>
            <a:r>
              <a:rPr lang="en-US" altLang="ko-KR" dirty="0"/>
              <a:t>= 0.1%</a:t>
            </a:r>
            <a:br>
              <a:rPr lang="en-US" altLang="ko-KR" dirty="0"/>
            </a:br>
            <a:r>
              <a:rPr lang="ko-KR" altLang="en-US" dirty="0"/>
              <a:t>국채선물</a:t>
            </a:r>
            <a:r>
              <a:rPr lang="en-US" altLang="ko-KR" dirty="0"/>
              <a:t>(t-bond 10y) </a:t>
            </a:r>
            <a:r>
              <a:rPr lang="ko-KR" altLang="en-US" dirty="0" err="1"/>
              <a:t>멀티플라이어</a:t>
            </a:r>
            <a:r>
              <a:rPr lang="ko-KR" altLang="en-US" dirty="0"/>
              <a:t> </a:t>
            </a:r>
            <a:r>
              <a:rPr lang="en-US" altLang="ko-KR" dirty="0"/>
              <a:t>= 1000, </a:t>
            </a:r>
            <a:r>
              <a:rPr lang="ko-KR" altLang="en-US" dirty="0"/>
              <a:t>국채선물가격 </a:t>
            </a:r>
            <a:r>
              <a:rPr lang="en-US" altLang="ko-KR" dirty="0"/>
              <a:t>: 90-&gt;89.1</a:t>
            </a:r>
          </a:p>
          <a:p>
            <a:pPr lvl="2"/>
            <a:r>
              <a:rPr lang="en-US" altLang="ko-KR" dirty="0"/>
              <a:t>1 basis point</a:t>
            </a:r>
            <a:r>
              <a:rPr lang="ko-KR" altLang="en-US" dirty="0"/>
              <a:t>당 </a:t>
            </a:r>
            <a:r>
              <a:rPr lang="ko-KR" altLang="en-US" dirty="0" err="1"/>
              <a:t>포폴</a:t>
            </a:r>
            <a:r>
              <a:rPr lang="ko-KR" altLang="en-US" dirty="0"/>
              <a:t> 가격 변동 </a:t>
            </a:r>
            <a:r>
              <a:rPr lang="en-US" altLang="ko-KR" dirty="0"/>
              <a:t>: $10,000,000 * 9 * 0.01 / 10 = $9000.</a:t>
            </a:r>
            <a:br>
              <a:rPr lang="en-US" altLang="ko-KR" dirty="0"/>
            </a:br>
            <a:r>
              <a:rPr lang="en-US" altLang="ko-KR" dirty="0"/>
              <a:t>1 bp</a:t>
            </a:r>
            <a:r>
              <a:rPr lang="ko-KR" altLang="en-US" dirty="0"/>
              <a:t>당 </a:t>
            </a:r>
            <a:r>
              <a:rPr lang="ko-KR" altLang="en-US" dirty="0" err="1"/>
              <a:t>헷지</a:t>
            </a:r>
            <a:r>
              <a:rPr lang="ko-KR" altLang="en-US" dirty="0"/>
              <a:t> 수단의 가격 변동 </a:t>
            </a:r>
            <a:r>
              <a:rPr lang="en-US" altLang="ko-KR" dirty="0"/>
              <a:t>: 1000 * $90 = $900, $900/10(per</a:t>
            </a:r>
            <a:r>
              <a:rPr lang="ko-KR" altLang="en-US" dirty="0"/>
              <a:t> </a:t>
            </a:r>
            <a:r>
              <a:rPr lang="en-US" altLang="ko-KR" dirty="0"/>
              <a:t>bp) = $90</a:t>
            </a:r>
            <a:br>
              <a:rPr lang="en-US" altLang="ko-KR" dirty="0"/>
            </a:br>
            <a:r>
              <a:rPr lang="ko-KR" altLang="en-US" dirty="0"/>
              <a:t>따라서</a:t>
            </a:r>
            <a:r>
              <a:rPr lang="en-US" altLang="ko-KR" dirty="0"/>
              <a:t> 100</a:t>
            </a:r>
            <a:r>
              <a:rPr lang="ko-KR" altLang="en-US" dirty="0"/>
              <a:t>개의 </a:t>
            </a:r>
            <a:r>
              <a:rPr lang="en-US" altLang="ko-KR" dirty="0"/>
              <a:t>T-bond </a:t>
            </a:r>
            <a:r>
              <a:rPr lang="ko-KR" altLang="en-US" dirty="0"/>
              <a:t>계약을 해야함</a:t>
            </a:r>
            <a:endParaRPr lang="en-US" altLang="ko-KR" dirty="0"/>
          </a:p>
          <a:p>
            <a:r>
              <a:rPr lang="ko-KR" altLang="en-US" dirty="0"/>
              <a:t>상품에 대한 선물계약</a:t>
            </a:r>
            <a:endParaRPr lang="en-US" altLang="ko-KR" dirty="0"/>
          </a:p>
          <a:p>
            <a:pPr lvl="1"/>
            <a:r>
              <a:rPr lang="en-US" altLang="ko-KR" dirty="0"/>
              <a:t>F0 = </a:t>
            </a:r>
            <a:r>
              <a:rPr lang="ko-KR" altLang="en-US" dirty="0"/>
              <a:t>선물 가격</a:t>
            </a:r>
            <a:r>
              <a:rPr lang="en-US" altLang="ko-KR" dirty="0"/>
              <a:t>, P0 = </a:t>
            </a:r>
            <a:r>
              <a:rPr lang="ko-KR" altLang="en-US" dirty="0"/>
              <a:t>자산의</a:t>
            </a:r>
            <a:r>
              <a:rPr lang="en-US" altLang="ko-KR" dirty="0"/>
              <a:t> </a:t>
            </a:r>
            <a:r>
              <a:rPr lang="ko-KR" altLang="en-US" dirty="0"/>
              <a:t>현금가치</a:t>
            </a:r>
            <a:r>
              <a:rPr lang="en-US" altLang="ko-KR" dirty="0"/>
              <a:t>, C = </a:t>
            </a:r>
            <a:r>
              <a:rPr lang="ko-KR" altLang="en-US" dirty="0"/>
              <a:t>보관비용</a:t>
            </a:r>
            <a:endParaRPr lang="en-US" altLang="ko-KR" dirty="0"/>
          </a:p>
          <a:p>
            <a:pPr lvl="2"/>
            <a:r>
              <a:rPr lang="ko-KR" altLang="en-US" dirty="0"/>
              <a:t>수익이 </a:t>
            </a:r>
            <a:r>
              <a:rPr lang="ko-KR" altLang="en-US" dirty="0" err="1"/>
              <a:t>발생해야하나</a:t>
            </a:r>
            <a:r>
              <a:rPr lang="en-US" altLang="ko-KR" dirty="0"/>
              <a:t>, </a:t>
            </a:r>
            <a:r>
              <a:rPr lang="ko-KR" altLang="en-US" dirty="0"/>
              <a:t>오히려 비용 발생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F82078-A55F-AE26-5B4F-4301728F7C2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F2B435-DE0A-22EE-7A1D-B8F085860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208" y="632520"/>
            <a:ext cx="1457356" cy="6480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3FFB642-03BF-4A6A-BCDE-5677A0C11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00" y="1280592"/>
            <a:ext cx="1583397" cy="6480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C46167-4C90-15D4-9C74-D3CF0C5C7C7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7072" y="1313756"/>
            <a:ext cx="1224136" cy="5097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2687C41-45A4-091E-71D3-2B4790F16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047" y="3008784"/>
            <a:ext cx="2883115" cy="4704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8B51DC3-1FDE-96E9-98FD-021AC397C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924" y="6681192"/>
            <a:ext cx="1282642" cy="71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3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A3E0346-6898-2E02-CB74-2631C2FDF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69F2F31-FF52-846C-5692-05C735A7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옵션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F6129C-80ED-49DF-665C-CBA35CE71A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79248B5-B58C-B7A4-C513-BFBAF963E3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콜의 </a:t>
            </a:r>
            <a:r>
              <a:rPr lang="ko-KR" altLang="en-US" dirty="0" err="1"/>
              <a:t>만기시</a:t>
            </a:r>
            <a:r>
              <a:rPr lang="ko-KR" altLang="en-US" dirty="0"/>
              <a:t> 손익과 순이익</a:t>
            </a:r>
            <a:endParaRPr lang="en-US" altLang="ko-KR" dirty="0"/>
          </a:p>
          <a:p>
            <a:pPr lvl="1"/>
            <a:r>
              <a:rPr lang="en-US" altLang="ko-KR" dirty="0"/>
              <a:t>ST = </a:t>
            </a:r>
            <a:r>
              <a:rPr lang="ko-KR" altLang="en-US" dirty="0" err="1"/>
              <a:t>만기시</a:t>
            </a:r>
            <a:r>
              <a:rPr lang="ko-KR" altLang="en-US" dirty="0"/>
              <a:t> 주식가격</a:t>
            </a:r>
            <a:r>
              <a:rPr lang="en-US" altLang="ko-KR" dirty="0"/>
              <a:t>; X = </a:t>
            </a:r>
            <a:r>
              <a:rPr lang="ko-KR" altLang="en-US" dirty="0"/>
              <a:t>행사가격</a:t>
            </a:r>
            <a:r>
              <a:rPr lang="en-US" altLang="ko-KR" dirty="0"/>
              <a:t>(</a:t>
            </a:r>
            <a:r>
              <a:rPr lang="en-US" altLang="ko-KR" dirty="0" err="1"/>
              <a:t>Exersise</a:t>
            </a:r>
            <a:r>
              <a:rPr lang="en-US" altLang="ko-KR" dirty="0"/>
              <a:t> Price)</a:t>
            </a:r>
          </a:p>
          <a:p>
            <a:pPr lvl="1"/>
            <a:r>
              <a:rPr lang="ko-KR" altLang="en-US" dirty="0"/>
              <a:t>콜 매수자의 손익 </a:t>
            </a:r>
            <a:r>
              <a:rPr lang="en-US" altLang="ko-KR" dirty="0"/>
              <a:t>= </a:t>
            </a:r>
            <a:r>
              <a:rPr lang="ko-KR" altLang="en-US" dirty="0"/>
              <a:t>옵션 가치</a:t>
            </a:r>
            <a:r>
              <a:rPr lang="en-US" altLang="ko-KR" dirty="0"/>
              <a:t>; (</a:t>
            </a:r>
            <a:r>
              <a:rPr lang="ko-KR" altLang="en-US" dirty="0"/>
              <a:t>위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ST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(ST - X), ST &lt;= X -&gt; 0</a:t>
            </a:r>
            <a:br>
              <a:rPr lang="en-US" altLang="ko-KR" dirty="0"/>
            </a:br>
            <a:r>
              <a:rPr lang="ko-KR" altLang="en-US" dirty="0"/>
              <a:t>순이익 </a:t>
            </a:r>
            <a:r>
              <a:rPr lang="en-US" altLang="ko-KR" dirty="0"/>
              <a:t>= </a:t>
            </a:r>
            <a:r>
              <a:rPr lang="ko-KR" altLang="en-US" dirty="0"/>
              <a:t>손익 </a:t>
            </a:r>
            <a:r>
              <a:rPr lang="en-US" altLang="ko-KR" dirty="0"/>
              <a:t>- </a:t>
            </a:r>
            <a:r>
              <a:rPr lang="ko-KR" altLang="en-US" dirty="0"/>
              <a:t>프리미엄</a:t>
            </a:r>
            <a:endParaRPr lang="en-US" altLang="ko-KR" dirty="0"/>
          </a:p>
          <a:p>
            <a:pPr lvl="1"/>
            <a:r>
              <a:rPr lang="ko-KR" altLang="en-US" dirty="0"/>
              <a:t>콜의 매도자의 손익 </a:t>
            </a:r>
            <a:r>
              <a:rPr lang="en-US" altLang="ko-KR" dirty="0"/>
              <a:t>= </a:t>
            </a:r>
            <a:r>
              <a:rPr lang="ko-KR" altLang="en-US" dirty="0"/>
              <a:t>프리미엄</a:t>
            </a:r>
            <a:r>
              <a:rPr lang="en-US" altLang="ko-KR" dirty="0"/>
              <a:t>; (</a:t>
            </a:r>
            <a:r>
              <a:rPr lang="ko-KR" altLang="en-US" dirty="0"/>
              <a:t>아래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ST &gt; X -&gt; -(ST-X), ST &lt;=X -&gt; 0</a:t>
            </a:r>
            <a:br>
              <a:rPr lang="en-US" altLang="ko-KR" dirty="0"/>
            </a:br>
            <a:r>
              <a:rPr lang="ko-KR" altLang="en-US" dirty="0"/>
              <a:t>순수익</a:t>
            </a:r>
            <a:r>
              <a:rPr lang="en-US" altLang="ko-KR" dirty="0"/>
              <a:t> = </a:t>
            </a:r>
            <a:r>
              <a:rPr lang="ko-KR" altLang="en-US" dirty="0"/>
              <a:t>손익</a:t>
            </a:r>
            <a:r>
              <a:rPr lang="en-US" altLang="ko-KR" dirty="0"/>
              <a:t>(</a:t>
            </a:r>
            <a:r>
              <a:rPr lang="ko-KR" altLang="en-US" dirty="0"/>
              <a:t>상대방 행사</a:t>
            </a:r>
            <a:r>
              <a:rPr lang="en-US" altLang="ko-KR" dirty="0"/>
              <a:t>)+</a:t>
            </a:r>
            <a:r>
              <a:rPr lang="ko-KR" altLang="en-US" dirty="0"/>
              <a:t>프리미엄</a:t>
            </a:r>
            <a:endParaRPr lang="en-US" altLang="ko-KR" dirty="0"/>
          </a:p>
          <a:p>
            <a:r>
              <a:rPr lang="ko-KR" altLang="en-US" dirty="0" err="1"/>
              <a:t>풋의</a:t>
            </a:r>
            <a:r>
              <a:rPr lang="ko-KR" altLang="en-US" dirty="0"/>
              <a:t> </a:t>
            </a:r>
            <a:r>
              <a:rPr lang="ko-KR" altLang="en-US" dirty="0" err="1"/>
              <a:t>만기시</a:t>
            </a:r>
            <a:r>
              <a:rPr lang="ko-KR" altLang="en-US" dirty="0"/>
              <a:t> 손익과 순수익</a:t>
            </a:r>
            <a:endParaRPr lang="en-US" altLang="ko-KR" dirty="0"/>
          </a:p>
          <a:p>
            <a:pPr lvl="1"/>
            <a:r>
              <a:rPr lang="ko-KR" altLang="en-US" dirty="0"/>
              <a:t>매수자의 손익 </a:t>
            </a:r>
            <a:r>
              <a:rPr lang="en-US" altLang="ko-KR" dirty="0"/>
              <a:t>: ST</a:t>
            </a:r>
            <a:r>
              <a:rPr lang="ko-KR" altLang="en-US" dirty="0"/>
              <a:t> </a:t>
            </a:r>
            <a:r>
              <a:rPr lang="en-US" altLang="ko-KR" dirty="0"/>
              <a:t>&gt;=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0, ST &lt; X -&gt; (X-ST) (</a:t>
            </a:r>
            <a:r>
              <a:rPr lang="ko-KR" altLang="en-US" dirty="0"/>
              <a:t>위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순수익</a:t>
            </a:r>
            <a:r>
              <a:rPr lang="en-US" altLang="ko-KR" dirty="0"/>
              <a:t> = </a:t>
            </a:r>
            <a:r>
              <a:rPr lang="ko-KR" altLang="en-US" dirty="0"/>
              <a:t>손익 </a:t>
            </a:r>
            <a:r>
              <a:rPr lang="en-US" altLang="ko-KR" dirty="0"/>
              <a:t>- </a:t>
            </a:r>
            <a:r>
              <a:rPr lang="ko-KR" altLang="en-US" dirty="0"/>
              <a:t>프리미엄</a:t>
            </a:r>
            <a:endParaRPr lang="en-US" altLang="ko-KR" dirty="0"/>
          </a:p>
          <a:p>
            <a:pPr lvl="1"/>
            <a:r>
              <a:rPr lang="ko-KR" altLang="en-US" dirty="0"/>
              <a:t>매도자의 손익 </a:t>
            </a:r>
            <a:r>
              <a:rPr lang="en-US" altLang="ko-KR" dirty="0"/>
              <a:t>: ST</a:t>
            </a:r>
            <a:r>
              <a:rPr lang="ko-KR" altLang="en-US" dirty="0"/>
              <a:t> </a:t>
            </a:r>
            <a:r>
              <a:rPr lang="en-US" altLang="ko-KR" dirty="0"/>
              <a:t>&gt;=</a:t>
            </a:r>
            <a:r>
              <a:rPr lang="ko-KR" altLang="en-US" dirty="0"/>
              <a:t> </a:t>
            </a:r>
            <a:r>
              <a:rPr lang="en-US" altLang="ko-KR" dirty="0"/>
              <a:t>0 -&gt;</a:t>
            </a:r>
            <a:r>
              <a:rPr lang="ko-KR" altLang="en-US" dirty="0"/>
              <a:t> </a:t>
            </a:r>
            <a:r>
              <a:rPr lang="en-US" altLang="ko-KR" dirty="0"/>
              <a:t>0, ST &lt; X -&gt; -(X-ST) </a:t>
            </a:r>
            <a:br>
              <a:rPr lang="en-US" altLang="ko-KR" dirty="0"/>
            </a:br>
            <a:r>
              <a:rPr lang="ko-KR" altLang="en-US" dirty="0"/>
              <a:t>순수익</a:t>
            </a:r>
            <a:r>
              <a:rPr lang="en-US" altLang="ko-KR" dirty="0"/>
              <a:t> = </a:t>
            </a:r>
            <a:r>
              <a:rPr lang="ko-KR" altLang="en-US" dirty="0"/>
              <a:t>손익 </a:t>
            </a:r>
            <a:r>
              <a:rPr lang="en-US" altLang="ko-KR" dirty="0"/>
              <a:t>+ </a:t>
            </a:r>
            <a:r>
              <a:rPr lang="ko-KR" altLang="en-US" dirty="0"/>
              <a:t>프리미엄</a:t>
            </a:r>
            <a:r>
              <a:rPr lang="en-US" altLang="ko-KR" dirty="0"/>
              <a:t> (</a:t>
            </a:r>
            <a:r>
              <a:rPr lang="ko-KR" altLang="en-US" dirty="0"/>
              <a:t>아래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옵션과 주식</a:t>
            </a:r>
            <a:r>
              <a:rPr lang="en-US" altLang="ko-KR" dirty="0"/>
              <a:t>(</a:t>
            </a:r>
            <a:r>
              <a:rPr lang="ko-KR" altLang="en-US" dirty="0"/>
              <a:t>현물</a:t>
            </a:r>
            <a:r>
              <a:rPr lang="en-US" altLang="ko-KR" dirty="0"/>
              <a:t>) </a:t>
            </a:r>
            <a:r>
              <a:rPr lang="ko-KR" altLang="en-US" dirty="0"/>
              <a:t>비교</a:t>
            </a:r>
            <a:endParaRPr lang="en-US" altLang="ko-KR" dirty="0"/>
          </a:p>
          <a:p>
            <a:pPr lvl="1"/>
            <a:r>
              <a:rPr lang="ko-KR" altLang="en-US" dirty="0"/>
              <a:t>보유액 </a:t>
            </a:r>
            <a:r>
              <a:rPr lang="en-US" altLang="ko-KR" dirty="0"/>
              <a:t>10000$, </a:t>
            </a:r>
            <a:r>
              <a:rPr lang="ko-KR" altLang="en-US" dirty="0"/>
              <a:t>주가 </a:t>
            </a:r>
            <a:r>
              <a:rPr lang="en-US" altLang="ko-KR" dirty="0"/>
              <a:t>100$, </a:t>
            </a:r>
            <a:r>
              <a:rPr lang="ko-KR" altLang="en-US" dirty="0"/>
              <a:t>오른다고 가정</a:t>
            </a:r>
            <a:r>
              <a:rPr lang="en-US" altLang="ko-KR" dirty="0"/>
              <a:t>. </a:t>
            </a:r>
            <a:r>
              <a:rPr lang="ko-KR" altLang="en-US" dirty="0"/>
              <a:t>현물</a:t>
            </a:r>
            <a:r>
              <a:rPr lang="en-US" altLang="ko-KR" dirty="0"/>
              <a:t>? </a:t>
            </a:r>
            <a:r>
              <a:rPr lang="ko-KR" altLang="en-US" dirty="0"/>
              <a:t>콜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옵션은 계약당 </a:t>
            </a:r>
            <a:r>
              <a:rPr lang="en-US" altLang="ko-KR" dirty="0"/>
              <a:t>10</a:t>
            </a:r>
            <a:r>
              <a:rPr lang="ko-KR" altLang="en-US" dirty="0"/>
              <a:t>달러</a:t>
            </a:r>
            <a:r>
              <a:rPr lang="en-US" altLang="ko-KR" dirty="0"/>
              <a:t>, </a:t>
            </a:r>
            <a:r>
              <a:rPr lang="ko-KR" altLang="en-US" dirty="0"/>
              <a:t>계약사이즈 </a:t>
            </a:r>
            <a:r>
              <a:rPr lang="en-US" altLang="ko-KR" dirty="0"/>
              <a:t>100</a:t>
            </a:r>
            <a:r>
              <a:rPr lang="ko-KR" altLang="en-US" dirty="0"/>
              <a:t>주</a:t>
            </a:r>
            <a:endParaRPr lang="en-US" altLang="ko-KR" dirty="0"/>
          </a:p>
          <a:p>
            <a:pPr lvl="2"/>
            <a:r>
              <a:rPr lang="en-US" altLang="ko-KR" dirty="0"/>
              <a:t>A) 100</a:t>
            </a:r>
            <a:r>
              <a:rPr lang="ko-KR" altLang="en-US" dirty="0"/>
              <a:t>주를 삼</a:t>
            </a:r>
            <a:br>
              <a:rPr lang="en-US" altLang="ko-KR" dirty="0"/>
            </a:br>
            <a:r>
              <a:rPr lang="en-US" altLang="ko-KR" dirty="0"/>
              <a:t>B) </a:t>
            </a:r>
            <a:r>
              <a:rPr lang="ko-KR" altLang="en-US" dirty="0" err="1"/>
              <a:t>콜옵션</a:t>
            </a:r>
            <a:r>
              <a:rPr lang="ko-KR" altLang="en-US" dirty="0"/>
              <a:t> </a:t>
            </a:r>
            <a:r>
              <a:rPr lang="en-US" altLang="ko-KR" dirty="0"/>
              <a:t>1000</a:t>
            </a:r>
            <a:r>
              <a:rPr lang="ko-KR" altLang="en-US" dirty="0"/>
              <a:t>개 계약</a:t>
            </a:r>
            <a:r>
              <a:rPr lang="en-US" altLang="ko-KR" dirty="0"/>
              <a:t>(10</a:t>
            </a:r>
            <a:r>
              <a:rPr lang="ko-KR" altLang="en-US" dirty="0"/>
              <a:t>만주 살 수 있는 기회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C) </a:t>
            </a:r>
            <a:r>
              <a:rPr lang="ko-KR" altLang="en-US" dirty="0" err="1"/>
              <a:t>콜옵션</a:t>
            </a:r>
            <a:r>
              <a:rPr lang="ko-KR" altLang="en-US" dirty="0"/>
              <a:t> </a:t>
            </a:r>
            <a:r>
              <a:rPr lang="en-US" altLang="ko-KR" dirty="0"/>
              <a:t>100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나머지 </a:t>
            </a:r>
            <a:r>
              <a:rPr lang="en-US" altLang="ko-KR" dirty="0"/>
              <a:t>9000$</a:t>
            </a:r>
            <a:r>
              <a:rPr lang="ko-KR" altLang="en-US" dirty="0"/>
              <a:t>은 </a:t>
            </a:r>
            <a:r>
              <a:rPr lang="en-US" altLang="ko-KR" dirty="0"/>
              <a:t>3% </a:t>
            </a:r>
            <a:r>
              <a:rPr lang="ko-KR" altLang="en-US" dirty="0"/>
              <a:t>국채</a:t>
            </a:r>
            <a:endParaRPr lang="en-US" altLang="ko-KR" dirty="0"/>
          </a:p>
          <a:p>
            <a:pPr lvl="2"/>
            <a:r>
              <a:rPr lang="ko-KR" altLang="en-US" dirty="0"/>
              <a:t>주가가 </a:t>
            </a:r>
            <a:r>
              <a:rPr lang="en-US" altLang="ko-KR" dirty="0"/>
              <a:t>100-&gt;120</a:t>
            </a:r>
            <a:r>
              <a:rPr lang="ko-KR" altLang="en-US" dirty="0"/>
              <a:t>으로 상승할 경우 손익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A : 12000$, B : 20000$, C : 11270$</a:t>
            </a:r>
          </a:p>
          <a:p>
            <a:pPr lvl="3"/>
            <a:r>
              <a:rPr lang="en-US" altLang="ko-KR" dirty="0"/>
              <a:t>B</a:t>
            </a:r>
            <a:r>
              <a:rPr lang="ko-KR" altLang="en-US" dirty="0"/>
              <a:t>가 레버리지 효과 가장 큼</a:t>
            </a:r>
            <a:endParaRPr lang="en-US" altLang="ko-KR" dirty="0"/>
          </a:p>
          <a:p>
            <a:pPr lvl="3"/>
            <a:r>
              <a:rPr lang="en-US" altLang="ko-KR" dirty="0"/>
              <a:t>C</a:t>
            </a:r>
            <a:r>
              <a:rPr lang="ko-KR" altLang="en-US" dirty="0"/>
              <a:t>는 안전자산이 보험역할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-10000+9270 = -730</a:t>
            </a:r>
            <a:r>
              <a:rPr lang="ko-KR" altLang="en-US" dirty="0"/>
              <a:t>이</a:t>
            </a:r>
            <a:br>
              <a:rPr lang="en-US" altLang="ko-KR" dirty="0"/>
            </a:br>
            <a:r>
              <a:rPr lang="ko-KR" altLang="en-US" dirty="0"/>
              <a:t>최대 </a:t>
            </a:r>
            <a:r>
              <a:rPr lang="ko-KR" altLang="en-US" dirty="0" err="1"/>
              <a:t>손실폭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60B951-04B8-E3C2-3F0E-CD7363F3BD1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0E4B4E-FB3B-7542-1543-DB1200A18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691" y="603195"/>
            <a:ext cx="1832186" cy="8808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35A792-E679-1E52-F5E3-507261F61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91" y="1496616"/>
            <a:ext cx="1832186" cy="8074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59F8F5D-FCA0-93F0-6FB3-D15521CFD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272" y="2295896"/>
            <a:ext cx="1951477" cy="10801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1FE8489-C5A0-C631-2F23-4A215EB43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690" y="3404910"/>
            <a:ext cx="1832187" cy="126907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034FE30-4283-94F4-7CC8-145E1607C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2385" y="4673981"/>
            <a:ext cx="3026492" cy="158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0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70A76BC-1056-4838-790F-72EA4D511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81F1DDD-D52E-9E02-5851-549B7C8B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Two-party option strategies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9BF697-5C87-1411-BB55-F442B01FDB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28D9758-1112-4F91-330C-537D2340CD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Protective put</a:t>
            </a:r>
          </a:p>
          <a:p>
            <a:pPr lvl="1"/>
            <a:r>
              <a:rPr lang="ko-KR" altLang="en-US" dirty="0"/>
              <a:t>현물 </a:t>
            </a:r>
            <a:r>
              <a:rPr lang="en-US" altLang="ko-KR" dirty="0"/>
              <a:t>+ </a:t>
            </a:r>
            <a:r>
              <a:rPr lang="ko-KR" altLang="en-US" dirty="0" err="1"/>
              <a:t>풋옵션을</a:t>
            </a:r>
            <a:r>
              <a:rPr lang="ko-KR" altLang="en-US" dirty="0"/>
              <a:t> 섞어서 구매</a:t>
            </a:r>
            <a:r>
              <a:rPr lang="en-US" altLang="ko-KR" dirty="0"/>
              <a:t>(</a:t>
            </a:r>
            <a:r>
              <a:rPr lang="ko-KR" altLang="en-US" dirty="0"/>
              <a:t>현물의 </a:t>
            </a:r>
            <a:br>
              <a:rPr lang="en-US" altLang="ko-KR" dirty="0"/>
            </a:br>
            <a:r>
              <a:rPr lang="en-US" altLang="ko-KR" dirty="0"/>
              <a:t>downside risk </a:t>
            </a:r>
            <a:r>
              <a:rPr lang="ko-KR" altLang="en-US" dirty="0"/>
              <a:t>감소</a:t>
            </a:r>
            <a:r>
              <a:rPr lang="en-US" altLang="ko-KR" dirty="0"/>
              <a:t>, </a:t>
            </a:r>
            <a:r>
              <a:rPr lang="ko-KR" altLang="en-US" dirty="0"/>
              <a:t>위험에 대비해 </a:t>
            </a:r>
            <a:r>
              <a:rPr lang="ko-KR" altLang="en-US" dirty="0" err="1"/>
              <a:t>풋옵션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손실을 제약하는 성질</a:t>
            </a:r>
            <a:r>
              <a:rPr lang="en-US" altLang="ko-KR" dirty="0"/>
              <a:t>, </a:t>
            </a:r>
            <a:r>
              <a:rPr lang="ko-KR" altLang="en-US" dirty="0"/>
              <a:t>투기</a:t>
            </a:r>
            <a:r>
              <a:rPr lang="en-US" altLang="ko-KR" dirty="0"/>
              <a:t>X. </a:t>
            </a:r>
            <a:r>
              <a:rPr lang="ko-KR" altLang="en-US" dirty="0"/>
              <a:t>리스크 관리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Covered Call</a:t>
            </a:r>
          </a:p>
          <a:p>
            <a:pPr lvl="1"/>
            <a:r>
              <a:rPr lang="ko-KR" altLang="en-US" dirty="0"/>
              <a:t>현물을</a:t>
            </a:r>
            <a:r>
              <a:rPr lang="en-US" altLang="ko-KR" dirty="0"/>
              <a:t> hold, </a:t>
            </a:r>
            <a:r>
              <a:rPr lang="ko-KR" altLang="en-US" dirty="0" err="1"/>
              <a:t>크리고</a:t>
            </a:r>
            <a:r>
              <a:rPr lang="en-US" altLang="ko-KR" dirty="0"/>
              <a:t> </a:t>
            </a:r>
            <a:r>
              <a:rPr lang="ko-KR" altLang="en-US" dirty="0"/>
              <a:t>콜옵션을 매도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현상유지 </a:t>
            </a:r>
            <a:r>
              <a:rPr lang="en-US" altLang="ko-KR" dirty="0"/>
              <a:t>or </a:t>
            </a:r>
            <a:r>
              <a:rPr lang="ko-KR" altLang="en-US" dirty="0"/>
              <a:t>약간의 상승세 예상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초기 투자비용 일부를</a:t>
            </a:r>
            <a:r>
              <a:rPr lang="en-US" altLang="ko-KR" dirty="0"/>
              <a:t> </a:t>
            </a:r>
            <a:r>
              <a:rPr lang="ko-KR" altLang="en-US" dirty="0" err="1"/>
              <a:t>콜옵션</a:t>
            </a:r>
            <a:r>
              <a:rPr lang="ko-KR" altLang="en-US" dirty="0"/>
              <a:t> 프리미엄으로 </a:t>
            </a:r>
            <a:br>
              <a:rPr lang="en-US" altLang="ko-KR" dirty="0"/>
            </a:br>
            <a:r>
              <a:rPr lang="ko-KR" altLang="en-US" dirty="0"/>
              <a:t>충당</a:t>
            </a:r>
            <a:r>
              <a:rPr lang="en-US" altLang="ko-KR" dirty="0"/>
              <a:t> ; </a:t>
            </a:r>
            <a:r>
              <a:rPr lang="ko-KR" altLang="en-US" dirty="0"/>
              <a:t>매도가격의 목표치 설정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미래 얼마에 </a:t>
            </a:r>
            <a:r>
              <a:rPr lang="en-US" altLang="ko-KR" dirty="0"/>
              <a:t>sold? -&gt;</a:t>
            </a:r>
            <a:r>
              <a:rPr lang="ko-KR" altLang="en-US" dirty="0"/>
              <a:t> </a:t>
            </a:r>
            <a:r>
              <a:rPr lang="ko-KR" altLang="en-US" dirty="0" err="1"/>
              <a:t>커버드콜</a:t>
            </a:r>
            <a:r>
              <a:rPr lang="ko-KR" altLang="en-US" dirty="0"/>
              <a:t> 유용</a:t>
            </a:r>
            <a:br>
              <a:rPr lang="en-US" altLang="ko-KR" dirty="0"/>
            </a:br>
            <a:r>
              <a:rPr lang="en-US" altLang="ko-KR" dirty="0"/>
              <a:t>downside risk </a:t>
            </a:r>
            <a:r>
              <a:rPr lang="ko-KR" altLang="en-US" dirty="0"/>
              <a:t>감소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완전해소</a:t>
            </a:r>
            <a:r>
              <a:rPr lang="en-US" altLang="ko-KR" dirty="0"/>
              <a:t>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Straddle</a:t>
            </a:r>
          </a:p>
          <a:p>
            <a:pPr lvl="1"/>
            <a:r>
              <a:rPr lang="ko-KR" altLang="en-US" dirty="0"/>
              <a:t>행사가격 </a:t>
            </a:r>
            <a:r>
              <a:rPr lang="en-US" altLang="ko-KR" dirty="0"/>
              <a:t>&amp; </a:t>
            </a:r>
            <a:r>
              <a:rPr lang="ko-KR" altLang="en-US" dirty="0"/>
              <a:t>만기가 같은 콜과 </a:t>
            </a:r>
            <a:r>
              <a:rPr lang="ko-KR" altLang="en-US" dirty="0" err="1"/>
              <a:t>풋을</a:t>
            </a:r>
            <a:r>
              <a:rPr lang="ko-KR" altLang="en-US" dirty="0"/>
              <a:t> 동시에 구매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사느냐</a:t>
            </a:r>
            <a:r>
              <a:rPr lang="en-US" altLang="ko-KR" dirty="0"/>
              <a:t>, </a:t>
            </a:r>
            <a:r>
              <a:rPr lang="ko-KR" altLang="en-US" dirty="0" err="1"/>
              <a:t>파느냐에</a:t>
            </a:r>
            <a:r>
              <a:rPr lang="ko-KR" altLang="en-US" dirty="0"/>
              <a:t> 따라 </a:t>
            </a:r>
            <a:r>
              <a:rPr lang="ko-KR" altLang="en-US" dirty="0" err="1"/>
              <a:t>롱스트래들</a:t>
            </a:r>
            <a:r>
              <a:rPr lang="en-US" altLang="ko-KR" dirty="0"/>
              <a:t>, </a:t>
            </a:r>
            <a:r>
              <a:rPr lang="ko-KR" altLang="en-US" dirty="0" err="1"/>
              <a:t>숏스트래들</a:t>
            </a:r>
            <a:r>
              <a:rPr lang="en-US" altLang="ko-KR" dirty="0"/>
              <a:t>)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변동성에 대한 투자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Spreads</a:t>
            </a:r>
          </a:p>
          <a:p>
            <a:pPr lvl="1"/>
            <a:r>
              <a:rPr lang="ko-KR" altLang="en-US" dirty="0"/>
              <a:t>서로 다른 행사가격 및 만기인 콜</a:t>
            </a:r>
            <a:r>
              <a:rPr lang="en-US" altLang="ko-KR" dirty="0"/>
              <a:t>/</a:t>
            </a:r>
            <a:r>
              <a:rPr lang="ko-KR" altLang="en-US" dirty="0" err="1"/>
              <a:t>풋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하나는 사고 하나는 판매</a:t>
            </a:r>
            <a:endParaRPr lang="en-US" altLang="ko-KR" dirty="0"/>
          </a:p>
          <a:p>
            <a:pPr lvl="2"/>
            <a:r>
              <a:rPr lang="en-US" altLang="ko-KR" dirty="0"/>
              <a:t>X1 = </a:t>
            </a:r>
            <a:r>
              <a:rPr lang="ko-KR" altLang="en-US" dirty="0"/>
              <a:t>구매한</a:t>
            </a:r>
            <a:r>
              <a:rPr lang="en-US" altLang="ko-KR" dirty="0"/>
              <a:t> </a:t>
            </a:r>
            <a:r>
              <a:rPr lang="ko-KR" altLang="en-US" dirty="0"/>
              <a:t>콜의 </a:t>
            </a:r>
            <a:r>
              <a:rPr lang="ko-KR" altLang="en-US" dirty="0" err="1"/>
              <a:t>행가가격</a:t>
            </a:r>
            <a:br>
              <a:rPr lang="en-US" altLang="ko-KR" dirty="0"/>
            </a:br>
            <a:r>
              <a:rPr lang="en-US" altLang="ko-KR" dirty="0"/>
              <a:t>X2 = </a:t>
            </a:r>
            <a:r>
              <a:rPr lang="ko-KR" altLang="en-US" dirty="0"/>
              <a:t>판매한</a:t>
            </a:r>
            <a:r>
              <a:rPr lang="en-US" altLang="ko-KR" dirty="0"/>
              <a:t> </a:t>
            </a:r>
            <a:r>
              <a:rPr lang="ko-KR" altLang="en-US" dirty="0"/>
              <a:t>콜의 행사가격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AAD25C-9FF2-E22B-9E3A-EA7E891F1B9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0D23ED-0084-1E12-A6CC-F5F3DD21E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031" y="595108"/>
            <a:ext cx="2386344" cy="9015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7AB6EDD-DA73-E1D3-1661-3032E2750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533" y="2648744"/>
            <a:ext cx="2063548" cy="8875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9A4C5E2-7237-8AA3-4463-B8772DB8B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453" y="1496616"/>
            <a:ext cx="2206160" cy="14163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BF0C391-771D-748E-9527-80E7BF282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4865" y="4292696"/>
            <a:ext cx="1824886" cy="9261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712F0F7-A0FC-FC19-222F-643322A2B5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699" y="3463038"/>
            <a:ext cx="2219676" cy="175578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FC46F45-9E83-833D-3303-4342BF2D5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4865" y="6177918"/>
            <a:ext cx="1285992" cy="105635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BDC12B4-4EF3-86F2-0093-7058B3DFBD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660" y="5210952"/>
            <a:ext cx="2170498" cy="178204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3F01E40-0CB9-FB8A-97AC-924DDF9281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9081" y="7083455"/>
            <a:ext cx="1745838" cy="94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8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CBCC98-822D-C655-CA39-2F6BA49F3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9A6B73F-41ED-D10D-9B2C-A803EB76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스왑</a:t>
            </a:r>
            <a:r>
              <a:rPr lang="en-US" altLang="ko-KR" dirty="0"/>
              <a:t>/</a:t>
            </a:r>
            <a:r>
              <a:rPr lang="ko-KR" altLang="en-US" dirty="0"/>
              <a:t>투자 성과 평가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1D6BF7-C387-6468-4BD5-9BA0ADC92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24" y="560512"/>
            <a:ext cx="756469" cy="756084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0E5A733-6A23-5378-89F0-3C53D1DBF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8720" y="560512"/>
            <a:ext cx="5904655" cy="7560840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스왑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비교우위를 통해 서로간 이익 되는 계약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각 비교우위가 있는 시장에서 자금 조달 </a:t>
            </a:r>
            <a:r>
              <a:rPr lang="en-US" altLang="ko-KR" dirty="0"/>
              <a:t>-&gt; </a:t>
            </a:r>
            <a:r>
              <a:rPr lang="ko-KR" altLang="en-US" dirty="0"/>
              <a:t>이자</a:t>
            </a:r>
            <a:r>
              <a:rPr lang="en-US" altLang="ko-KR" dirty="0"/>
              <a:t>/</a:t>
            </a:r>
            <a:r>
              <a:rPr lang="ko-KR" altLang="en-US" dirty="0"/>
              <a:t>원금 교환</a:t>
            </a:r>
            <a:r>
              <a:rPr lang="en-US" altLang="ko-KR" dirty="0"/>
              <a:t>,</a:t>
            </a:r>
            <a:r>
              <a:rPr lang="ko-KR" altLang="en-US" dirty="0"/>
              <a:t> 자금조달 비용↓</a:t>
            </a:r>
            <a:endParaRPr lang="en-US" altLang="ko-KR" dirty="0"/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AAA,BBB</a:t>
            </a:r>
            <a:r>
              <a:rPr lang="ko-KR" altLang="en-US" dirty="0"/>
              <a:t>간 금리차이</a:t>
            </a:r>
            <a:r>
              <a:rPr lang="en-US" altLang="ko-KR" dirty="0"/>
              <a:t>(GAP) -&gt; AAA</a:t>
            </a:r>
            <a:r>
              <a:rPr lang="ko-KR" altLang="en-US" dirty="0"/>
              <a:t>는 고정</a:t>
            </a:r>
            <a:r>
              <a:rPr lang="en-US" altLang="ko-KR" dirty="0"/>
              <a:t>, BBB</a:t>
            </a:r>
            <a:r>
              <a:rPr lang="ko-KR" altLang="en-US" dirty="0"/>
              <a:t>는 변동 금리 상대 우위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비교우위 시장에서 자금 조달 </a:t>
            </a:r>
            <a:r>
              <a:rPr lang="en-US" altLang="ko-KR" dirty="0"/>
              <a:t>-&gt; </a:t>
            </a:r>
            <a:r>
              <a:rPr lang="ko-KR" altLang="en-US" dirty="0"/>
              <a:t>이자 교환</a:t>
            </a:r>
            <a:endParaRPr lang="en-US" altLang="ko-KR" dirty="0"/>
          </a:p>
          <a:p>
            <a:r>
              <a:rPr lang="ko-KR" altLang="en-US" dirty="0"/>
              <a:t>포워드 계약의 포트폴리오로서 </a:t>
            </a:r>
            <a:r>
              <a:rPr lang="ko-KR" altLang="en-US" dirty="0" err="1"/>
              <a:t>스왑</a:t>
            </a:r>
            <a:endParaRPr lang="en-US" altLang="ko-KR" dirty="0"/>
          </a:p>
          <a:p>
            <a:pPr lvl="1"/>
            <a:r>
              <a:rPr lang="ko-KR" altLang="en-US" dirty="0" err="1"/>
              <a:t>스왑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여러 포워드가 한 </a:t>
            </a:r>
            <a:r>
              <a:rPr lang="ko-KR" altLang="en-US" dirty="0" err="1"/>
              <a:t>포폴에</a:t>
            </a:r>
            <a:r>
              <a:rPr lang="en-US" altLang="ko-KR" dirty="0"/>
              <a:t>; </a:t>
            </a:r>
            <a:r>
              <a:rPr lang="ko-KR" altLang="en-US" dirty="0"/>
              <a:t>서로 다른 만기 포워드 </a:t>
            </a:r>
            <a:r>
              <a:rPr lang="en-US" altLang="ko-KR" dirty="0"/>
              <a:t>-&gt; </a:t>
            </a:r>
            <a:r>
              <a:rPr lang="ko-KR" altLang="en-US" dirty="0"/>
              <a:t>동일 행사가격으로 만듦</a:t>
            </a:r>
            <a:endParaRPr lang="en-US" altLang="ko-KR" dirty="0"/>
          </a:p>
          <a:p>
            <a:r>
              <a:rPr lang="ko-KR" altLang="en-US" dirty="0"/>
              <a:t>이자율 </a:t>
            </a:r>
            <a:r>
              <a:rPr lang="ko-KR" altLang="en-US" dirty="0" err="1"/>
              <a:t>스왑과</a:t>
            </a:r>
            <a:r>
              <a:rPr lang="ko-KR" altLang="en-US" dirty="0"/>
              <a:t> </a:t>
            </a:r>
            <a:r>
              <a:rPr lang="ko-KR" altLang="en-US" dirty="0" err="1"/>
              <a:t>통화스왑</a:t>
            </a:r>
            <a:endParaRPr lang="en-US" altLang="ko-KR" dirty="0"/>
          </a:p>
          <a:p>
            <a:pPr lvl="1"/>
            <a:r>
              <a:rPr lang="ko-KR" altLang="en-US" dirty="0"/>
              <a:t>이자율 </a:t>
            </a:r>
            <a:r>
              <a:rPr lang="ko-KR" altLang="en-US" dirty="0" err="1"/>
              <a:t>스왑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고정금리 이자 ↔ 변동금리 이자</a:t>
            </a:r>
            <a:r>
              <a:rPr lang="en-US" altLang="ko-KR" dirty="0"/>
              <a:t>; </a:t>
            </a:r>
            <a:r>
              <a:rPr lang="ko-KR" altLang="en-US" dirty="0"/>
              <a:t>원금 교환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최종적으로 </a:t>
            </a:r>
            <a:r>
              <a:rPr lang="en-US" altLang="ko-KR" dirty="0"/>
              <a:t>AAA</a:t>
            </a:r>
            <a:r>
              <a:rPr lang="ko-KR" altLang="en-US" dirty="0"/>
              <a:t>는 리보 </a:t>
            </a:r>
            <a:r>
              <a:rPr lang="en-US" altLang="ko-KR" dirty="0"/>
              <a:t>0.05% </a:t>
            </a:r>
            <a:r>
              <a:rPr lang="ko-KR" altLang="en-US" dirty="0"/>
              <a:t>지급 </a:t>
            </a:r>
            <a:r>
              <a:rPr lang="en-US" altLang="ko-KR" dirty="0"/>
              <a:t>&amp; BBB</a:t>
            </a:r>
            <a:r>
              <a:rPr lang="ko-KR" altLang="en-US" dirty="0"/>
              <a:t>는 고정 </a:t>
            </a:r>
            <a:br>
              <a:rPr lang="en-US" altLang="ko-KR" dirty="0"/>
            </a:br>
            <a:r>
              <a:rPr lang="en-US" altLang="ko-KR" dirty="0"/>
              <a:t>4.95%. </a:t>
            </a:r>
            <a:r>
              <a:rPr lang="ko-KR" altLang="en-US" dirty="0"/>
              <a:t>각각 직접 조달보다</a:t>
            </a:r>
            <a:r>
              <a:rPr lang="en-US" altLang="ko-KR" dirty="0"/>
              <a:t> -0.25% </a:t>
            </a:r>
            <a:r>
              <a:rPr lang="ko-KR" altLang="en-US" dirty="0"/>
              <a:t>이득</a:t>
            </a:r>
            <a:endParaRPr lang="en-US" altLang="ko-KR" dirty="0"/>
          </a:p>
          <a:p>
            <a:pPr lvl="1"/>
            <a:r>
              <a:rPr lang="ko-KR" altLang="en-US" dirty="0"/>
              <a:t>통화 </a:t>
            </a:r>
            <a:r>
              <a:rPr lang="ko-KR" altLang="en-US" dirty="0" err="1"/>
              <a:t>스왑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통화간 원금</a:t>
            </a:r>
            <a:r>
              <a:rPr lang="en-US" altLang="ko-KR" dirty="0"/>
              <a:t>+</a:t>
            </a:r>
            <a:r>
              <a:rPr lang="ko-KR" altLang="en-US" dirty="0"/>
              <a:t>이자 교환</a:t>
            </a:r>
            <a:r>
              <a:rPr lang="en-US" altLang="ko-KR" dirty="0"/>
              <a:t>, </a:t>
            </a:r>
            <a:r>
              <a:rPr lang="ko-KR" altLang="en-US" dirty="0" err="1"/>
              <a:t>계약시</a:t>
            </a:r>
            <a:r>
              <a:rPr lang="ko-KR" altLang="en-US" dirty="0"/>
              <a:t> 원금교환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만기에 </a:t>
            </a:r>
            <a:r>
              <a:rPr lang="ko-KR" altLang="en-US" dirty="0" err="1"/>
              <a:t>재교환</a:t>
            </a:r>
            <a:r>
              <a:rPr lang="ko-KR" altLang="en-US" dirty="0"/>
              <a:t> 특징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자국 시장 등 비교우위가 있는 시장</a:t>
            </a:r>
            <a:r>
              <a:rPr lang="en-US" altLang="ko-KR" dirty="0"/>
              <a:t> </a:t>
            </a:r>
            <a:r>
              <a:rPr lang="ko-KR" altLang="en-US" dirty="0"/>
              <a:t>에서 유리한 </a:t>
            </a:r>
            <a:br>
              <a:rPr lang="en-US" altLang="ko-KR" dirty="0"/>
            </a:br>
            <a:r>
              <a:rPr lang="ko-KR" altLang="en-US" dirty="0"/>
              <a:t>조건으로 자금 조달</a:t>
            </a:r>
            <a:r>
              <a:rPr lang="en-US" altLang="ko-KR" dirty="0"/>
              <a:t> -&gt; </a:t>
            </a:r>
            <a:r>
              <a:rPr lang="ko-KR" altLang="en-US" dirty="0" err="1"/>
              <a:t>스왑을</a:t>
            </a:r>
            <a:r>
              <a:rPr lang="ko-KR" altLang="en-US" dirty="0"/>
              <a:t> 통해 타 통화로 </a:t>
            </a:r>
            <a:br>
              <a:rPr lang="en-US" altLang="ko-KR" dirty="0"/>
            </a:br>
            <a:r>
              <a:rPr lang="ko-KR" altLang="en-US" dirty="0"/>
              <a:t>자금을</a:t>
            </a:r>
            <a:r>
              <a:rPr lang="en-US" altLang="ko-KR" dirty="0"/>
              <a:t> </a:t>
            </a:r>
            <a:r>
              <a:rPr lang="ko-KR" altLang="en-US" dirty="0"/>
              <a:t>조달하는 효과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스왑</a:t>
            </a:r>
            <a:r>
              <a:rPr lang="ko-KR" altLang="en-US" dirty="0"/>
              <a:t> 계약의 가치평가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계약 기간동안 교환될 미래 현금</a:t>
            </a:r>
            <a:r>
              <a:rPr lang="en-US" altLang="ko-KR" dirty="0"/>
              <a:t> </a:t>
            </a:r>
            <a:r>
              <a:rPr lang="ko-KR" altLang="en-US" dirty="0"/>
              <a:t>흐름의 </a:t>
            </a:r>
            <a:br>
              <a:rPr lang="en-US" altLang="ko-KR" dirty="0"/>
            </a:br>
            <a:r>
              <a:rPr lang="ko-KR" altLang="en-US" dirty="0"/>
              <a:t>현재가치 차이</a:t>
            </a:r>
            <a:endParaRPr lang="en-US" altLang="ko-KR" dirty="0"/>
          </a:p>
          <a:p>
            <a:pPr lvl="2"/>
            <a:r>
              <a:rPr lang="ko-KR" altLang="en-US" dirty="0"/>
              <a:t>고정 현재가치 합 </a:t>
            </a:r>
            <a:r>
              <a:rPr lang="en-US" altLang="ko-KR" dirty="0"/>
              <a:t>= 98.xx, </a:t>
            </a:r>
            <a:r>
              <a:rPr lang="ko-KR" altLang="en-US" dirty="0"/>
              <a:t>변동 </a:t>
            </a:r>
            <a:r>
              <a:rPr lang="en-US" altLang="ko-KR" dirty="0"/>
              <a:t>FV</a:t>
            </a:r>
            <a:r>
              <a:rPr lang="ko-KR" altLang="en-US" dirty="0"/>
              <a:t> 합 </a:t>
            </a:r>
            <a:r>
              <a:rPr lang="en-US" altLang="ko-KR" dirty="0"/>
              <a:t>= </a:t>
            </a:r>
            <a:br>
              <a:rPr lang="en-US" altLang="ko-KR" dirty="0"/>
            </a:br>
            <a:r>
              <a:rPr lang="en-US" altLang="ko-KR" dirty="0"/>
              <a:t>102.xxx -&gt; </a:t>
            </a:r>
            <a:r>
              <a:rPr lang="ko-KR" altLang="en-US" dirty="0"/>
              <a:t>현재 </a:t>
            </a:r>
            <a:r>
              <a:rPr lang="ko-KR" altLang="en-US" dirty="0" err="1"/>
              <a:t>스왑</a:t>
            </a:r>
            <a:r>
              <a:rPr lang="ko-KR" altLang="en-US" dirty="0"/>
              <a:t> 가치 </a:t>
            </a:r>
            <a:r>
              <a:rPr lang="en-US" altLang="ko-KR" dirty="0"/>
              <a:t>-&gt; -4.267</a:t>
            </a:r>
          </a:p>
          <a:p>
            <a:pPr lvl="2"/>
            <a:r>
              <a:rPr lang="ko-KR" altLang="en-US" dirty="0"/>
              <a:t>계약 시점엔 </a:t>
            </a:r>
            <a:r>
              <a:rPr lang="en-US" altLang="ko-KR" dirty="0"/>
              <a:t>0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시장 변동으로 발생</a:t>
            </a:r>
            <a:endParaRPr lang="en-US" altLang="ko-KR" dirty="0"/>
          </a:p>
          <a:p>
            <a:r>
              <a:rPr lang="ko-KR" altLang="en-US" dirty="0"/>
              <a:t>투자 성과 평가 </a:t>
            </a:r>
            <a:r>
              <a:rPr lang="en-US" altLang="ko-KR" dirty="0"/>
              <a:t>: </a:t>
            </a:r>
            <a:r>
              <a:rPr lang="ko-KR" altLang="en-US" dirty="0"/>
              <a:t>수익률 계산</a:t>
            </a:r>
            <a:endParaRPr lang="en-US" altLang="ko-KR" dirty="0"/>
          </a:p>
          <a:p>
            <a:pPr lvl="1"/>
            <a:r>
              <a:rPr lang="en-US" altLang="ko-KR" dirty="0"/>
              <a:t>Time-weighted return :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기간 수익률의 기하평균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Dollor</a:t>
            </a:r>
            <a:r>
              <a:rPr lang="en-US" altLang="ko-KR" dirty="0"/>
              <a:t>-weighted Return : </a:t>
            </a:r>
            <a:r>
              <a:rPr lang="ko-KR" altLang="en-US" dirty="0" err="1"/>
              <a:t>기간중</a:t>
            </a:r>
            <a:r>
              <a:rPr lang="ko-KR" altLang="en-US" dirty="0"/>
              <a:t> 발생한 모든 현금</a:t>
            </a:r>
            <a:br>
              <a:rPr lang="en-US" altLang="ko-KR" dirty="0"/>
            </a:br>
            <a:r>
              <a:rPr lang="ko-KR" altLang="en-US" dirty="0"/>
              <a:t>흐름을 고려한 내부수익률</a:t>
            </a:r>
            <a:endParaRPr lang="en-US" altLang="ko-KR" dirty="0"/>
          </a:p>
          <a:p>
            <a:pPr lvl="2"/>
            <a:r>
              <a:rPr lang="en-US" altLang="ko-KR" dirty="0"/>
              <a:t>0 : $50</a:t>
            </a:r>
            <a:r>
              <a:rPr lang="ko-KR" altLang="en-US" dirty="0"/>
              <a:t>주식구매</a:t>
            </a:r>
            <a:r>
              <a:rPr lang="en-US" altLang="ko-KR" dirty="0"/>
              <a:t>; 1: $53</a:t>
            </a:r>
            <a:r>
              <a:rPr lang="ko-KR" altLang="en-US" dirty="0"/>
              <a:t>구매</a:t>
            </a:r>
            <a:r>
              <a:rPr lang="en-US" altLang="ko-KR" dirty="0"/>
              <a:t>,$2</a:t>
            </a:r>
            <a:r>
              <a:rPr lang="ko-KR" altLang="en-US" dirty="0"/>
              <a:t>배당</a:t>
            </a:r>
            <a:r>
              <a:rPr lang="en-US" altLang="ko-KR" dirty="0"/>
              <a:t>2: $4</a:t>
            </a:r>
            <a:r>
              <a:rPr lang="ko-KR" altLang="en-US" dirty="0"/>
              <a:t>배당</a:t>
            </a:r>
            <a:r>
              <a:rPr lang="en-US" altLang="ko-KR" dirty="0"/>
              <a:t>,</a:t>
            </a:r>
            <a:r>
              <a:rPr lang="ko-KR" altLang="en-US" dirty="0"/>
              <a:t>각 주 </a:t>
            </a:r>
            <a:r>
              <a:rPr lang="en-US" altLang="ko-KR" dirty="0"/>
              <a:t>$54</a:t>
            </a:r>
            <a:r>
              <a:rPr lang="ko-KR" altLang="en-US" dirty="0"/>
              <a:t>에 </a:t>
            </a:r>
            <a:r>
              <a:rPr lang="ko-KR" altLang="en-US" dirty="0" err="1"/>
              <a:t>처분시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</a:p>
          <a:p>
            <a:r>
              <a:rPr lang="ko-KR" altLang="en-US" dirty="0"/>
              <a:t>위험 조정 성과 지표</a:t>
            </a:r>
            <a:r>
              <a:rPr lang="en-US" altLang="ko-KR" dirty="0"/>
              <a:t>(Risk-Adjusted Performance Measures)</a:t>
            </a:r>
          </a:p>
          <a:p>
            <a:pPr lvl="1"/>
            <a:r>
              <a:rPr lang="en-US" altLang="ko-KR" dirty="0"/>
              <a:t>Sharp ratio :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서로 다른 시장간 직접 비교</a:t>
            </a:r>
            <a:r>
              <a:rPr lang="en-US" altLang="ko-KR" dirty="0"/>
              <a:t> </a:t>
            </a:r>
            <a:r>
              <a:rPr lang="ko-KR" altLang="en-US" dirty="0"/>
              <a:t>어렵</a:t>
            </a:r>
            <a:endParaRPr lang="en-US" altLang="ko-KR" dirty="0"/>
          </a:p>
          <a:p>
            <a:pPr lvl="1"/>
            <a:r>
              <a:rPr lang="en-US" altLang="ko-KR" dirty="0"/>
              <a:t>Treynor measure :</a:t>
            </a:r>
          </a:p>
          <a:p>
            <a:pPr marL="392112" lvl="2" indent="0">
              <a:buNone/>
            </a:pPr>
            <a:br>
              <a:rPr lang="en-US" altLang="ko-KR" dirty="0"/>
            </a:b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Information</a:t>
            </a:r>
            <a:r>
              <a:rPr lang="ko-KR" altLang="en-US" dirty="0"/>
              <a:t> </a:t>
            </a:r>
            <a:r>
              <a:rPr lang="en-US" altLang="ko-KR" dirty="0"/>
              <a:t>Ratio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젠슨의</a:t>
            </a:r>
            <a:r>
              <a:rPr lang="ko-KR" altLang="en-US" dirty="0"/>
              <a:t> </a:t>
            </a:r>
            <a:r>
              <a:rPr lang="ko-KR" altLang="en-US" dirty="0" err="1"/>
              <a:t>알파값을</a:t>
            </a:r>
            <a:r>
              <a:rPr lang="ko-KR" altLang="en-US" dirty="0"/>
              <a:t> </a:t>
            </a:r>
            <a:r>
              <a:rPr lang="ko-KR" altLang="en-US" dirty="0" err="1"/>
              <a:t>포폴의</a:t>
            </a:r>
            <a:r>
              <a:rPr lang="ko-KR" altLang="en-US" dirty="0"/>
              <a:t> 비체계적</a:t>
            </a:r>
            <a:br>
              <a:rPr lang="en-US" altLang="ko-KR" dirty="0"/>
            </a:br>
            <a:r>
              <a:rPr lang="ko-KR" altLang="en-US" dirty="0"/>
              <a:t>위험</a:t>
            </a:r>
            <a:r>
              <a:rPr lang="en-US" altLang="ko-KR" dirty="0"/>
              <a:t>(nonsystematic risk)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나눈 값</a:t>
            </a:r>
            <a:r>
              <a:rPr lang="en-US" altLang="ko-KR" dirty="0"/>
              <a:t>. </a:t>
            </a:r>
            <a:r>
              <a:rPr lang="ko-KR" altLang="en-US" dirty="0"/>
              <a:t>위험 단위당 추가수익</a:t>
            </a:r>
            <a:r>
              <a:rPr lang="en-US" altLang="ko-KR" dirty="0"/>
              <a:t>(</a:t>
            </a:r>
            <a:r>
              <a:rPr lang="ko-KR" altLang="en-US" dirty="0"/>
              <a:t>알파</a:t>
            </a:r>
            <a:r>
              <a:rPr lang="en-US" altLang="ko-KR" dirty="0"/>
              <a:t>) </a:t>
            </a:r>
            <a:r>
              <a:rPr lang="ko-KR" altLang="en-US" dirty="0"/>
              <a:t>측정</a:t>
            </a:r>
            <a:r>
              <a:rPr lang="en-US" altLang="ko-KR" dirty="0"/>
              <a:t>. </a:t>
            </a:r>
            <a:r>
              <a:rPr lang="ko-KR" altLang="en-US" dirty="0"/>
              <a:t>다변화가 잘될수록 정보비율↑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E8609E-BDEF-0F0B-4DD1-11C733D7227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903AFCB-974E-6F89-4768-7F9227A6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588" y="2065381"/>
            <a:ext cx="2350799" cy="144016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6D00BFF-63DD-2AD9-BBDC-6866C73BB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46" y="1396849"/>
            <a:ext cx="1750503" cy="32537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BA0F3A4-E12E-E539-5265-8700DDD99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765" y="3541545"/>
            <a:ext cx="2333929" cy="141145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FB15131-9E9A-16A3-82BE-A7D2C4848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649" y="5004573"/>
            <a:ext cx="2592353" cy="52313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6481593-677E-0143-396C-D7E1C3D0FF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2765" y="5527708"/>
            <a:ext cx="993026" cy="11916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C2A0BB8-4171-B88D-AEA4-86085F00DA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649" y="5718879"/>
            <a:ext cx="993026" cy="23170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C9EC87D-72E4-6499-3CF3-243D296F7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4839" t="38170" b="-2"/>
          <a:stretch/>
        </p:blipFill>
        <p:spPr>
          <a:xfrm>
            <a:off x="5485236" y="5914686"/>
            <a:ext cx="928087" cy="359379"/>
          </a:xfrm>
          <a:prstGeom prst="rect">
            <a:avLst/>
          </a:prstGeom>
        </p:spPr>
      </p:pic>
      <p:pic>
        <p:nvPicPr>
          <p:cNvPr id="142" name="그림 141">
            <a:extLst>
              <a:ext uri="{FF2B5EF4-FFF2-40B4-BE49-F238E27FC236}">
                <a16:creationId xmlns:a16="http://schemas.microsoft.com/office/drawing/2014/main" id="{FBAA1663-F65B-AF67-B28F-072A3FFA13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522" y="6274065"/>
            <a:ext cx="957602" cy="672293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551884D3-728B-030E-638B-D264BB883BA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0150"/>
          <a:stretch/>
        </p:blipFill>
        <p:spPr>
          <a:xfrm>
            <a:off x="4730878" y="6286291"/>
            <a:ext cx="1181594" cy="672294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6198BA5B-7E85-283A-00EE-0EDB82E75594}"/>
              </a:ext>
            </a:extLst>
          </p:cNvPr>
          <p:cNvSpPr txBox="1"/>
          <p:nvPr/>
        </p:nvSpPr>
        <p:spPr>
          <a:xfrm>
            <a:off x="2435624" y="6757302"/>
            <a:ext cx="162416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- Jensen's Measure :</a:t>
            </a:r>
            <a:endParaRPr lang="en-US" altLang="ko-KR" sz="900" dirty="0"/>
          </a:p>
          <a:p>
            <a:r>
              <a:rPr lang="ko-KR" altLang="en-US" sz="900" dirty="0"/>
              <a:t>실제 </a:t>
            </a:r>
            <a:r>
              <a:rPr lang="ko-KR" altLang="en-US" sz="900" dirty="0" err="1"/>
              <a:t>포폴</a:t>
            </a:r>
            <a:r>
              <a:rPr lang="ko-KR" altLang="en-US" sz="900" dirty="0"/>
              <a:t> 수익률에서</a:t>
            </a:r>
            <a:endParaRPr lang="en-US" altLang="ko-KR" sz="900" dirty="0"/>
          </a:p>
          <a:p>
            <a:r>
              <a:rPr lang="en-US" altLang="ko-KR" sz="900" dirty="0"/>
              <a:t>CAPM</a:t>
            </a:r>
            <a:r>
              <a:rPr lang="ko-KR" altLang="en-US" sz="900" dirty="0"/>
              <a:t>에서의 적정</a:t>
            </a:r>
            <a:r>
              <a:rPr lang="en-US" altLang="ko-KR" sz="900" dirty="0"/>
              <a:t> </a:t>
            </a:r>
            <a:r>
              <a:rPr lang="ko-KR" altLang="en-US" sz="900" dirty="0"/>
              <a:t>수익률을</a:t>
            </a:r>
            <a:endParaRPr lang="en-US" altLang="ko-KR" sz="900" dirty="0"/>
          </a:p>
          <a:p>
            <a:r>
              <a:rPr lang="ko-KR" altLang="en-US" sz="900" dirty="0"/>
              <a:t> 차감</a:t>
            </a:r>
            <a:r>
              <a:rPr lang="en-US" altLang="ko-KR" sz="900" dirty="0"/>
              <a:t>, CAPM </a:t>
            </a:r>
            <a:r>
              <a:rPr lang="ko-KR" altLang="en-US" sz="900" dirty="0"/>
              <a:t>모델 기준으로</a:t>
            </a:r>
            <a:endParaRPr lang="en-US" altLang="ko-KR" sz="900" dirty="0"/>
          </a:p>
          <a:p>
            <a:r>
              <a:rPr lang="ko-KR" altLang="en-US" sz="900" dirty="0"/>
              <a:t>성과 평가</a:t>
            </a:r>
            <a:endParaRPr lang="en-US" altLang="ko-KR" sz="900" dirty="0"/>
          </a:p>
        </p:txBody>
      </p:sp>
      <p:pic>
        <p:nvPicPr>
          <p:cNvPr id="146" name="그림 145">
            <a:extLst>
              <a:ext uri="{FF2B5EF4-FFF2-40B4-BE49-F238E27FC236}">
                <a16:creationId xmlns:a16="http://schemas.microsoft.com/office/drawing/2014/main" id="{4BA5BA04-6283-F5E6-E15E-E62034E94D1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2500"/>
          <a:stretch/>
        </p:blipFill>
        <p:spPr>
          <a:xfrm>
            <a:off x="989935" y="6950303"/>
            <a:ext cx="1403965" cy="675019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F99B0579-016A-3074-965D-A8A159A20AC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2892"/>
          <a:stretch/>
        </p:blipFill>
        <p:spPr>
          <a:xfrm>
            <a:off x="5020936" y="6972652"/>
            <a:ext cx="1301180" cy="5387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A1B9745-ED50-9C31-CA4C-C78F993B966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636" t="10065" r="49999" b="74956"/>
          <a:stretch/>
        </p:blipFill>
        <p:spPr>
          <a:xfrm>
            <a:off x="3996693" y="6995696"/>
            <a:ext cx="1024243" cy="189977"/>
          </a:xfrm>
          <a:prstGeom prst="rect">
            <a:avLst/>
          </a:prstGeom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8FC05C59-8FA5-9A07-6BA5-19276AD9AE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9152" y="7608408"/>
            <a:ext cx="1512168" cy="14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0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245823C-18B7-710A-F9A3-09E6A519D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E5B9E4D-B7CE-33AA-1574-A2368C44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금투기말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E67BE6-F5FF-6454-298F-D091E39CB7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57347C3-AEEB-6DB2-46FB-272F522662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CAPM K </a:t>
                </a:r>
                <a:r>
                  <a:rPr lang="ko-KR" altLang="en-US" dirty="0"/>
                  <a:t>측정</a:t>
                </a:r>
                <a:r>
                  <a:rPr lang="en-US" altLang="ko-KR" dirty="0"/>
                  <a:t> : K=rf + </a:t>
                </a:r>
                <a:r>
                  <a:rPr lang="el-GR" altLang="ko-KR" dirty="0"/>
                  <a:t>β</a:t>
                </a:r>
                <a:r>
                  <a:rPr lang="en-US" altLang="ko-KR" dirty="0"/>
                  <a:t>(E(rm)-rf)</a:t>
                </a:r>
              </a:p>
              <a:p>
                <a:r>
                  <a:rPr lang="en-US" altLang="ko-KR" dirty="0"/>
                  <a:t>DDM: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r>
                  <a:rPr lang="ko-KR" altLang="en-US" dirty="0" err="1"/>
                  <a:t>풋옵션</a:t>
                </a:r>
                <a:r>
                  <a:rPr lang="ko-KR" altLang="en-US" dirty="0"/>
                  <a:t> 매수자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주가 </a:t>
                </a:r>
                <a:r>
                  <a:rPr lang="en-US" altLang="ko-KR" dirty="0"/>
                  <a:t>↓</a:t>
                </a:r>
                <a:r>
                  <a:rPr lang="ko-KR" altLang="en-US" dirty="0"/>
                  <a:t>시 이익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최대이익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주가</a:t>
                </a:r>
                <a:r>
                  <a:rPr lang="en-US" altLang="ko-KR" dirty="0"/>
                  <a:t>=0; </a:t>
                </a:r>
              </a:p>
              <a:p>
                <a:pPr lvl="1"/>
                <a:r>
                  <a:rPr lang="en-US" altLang="ko-KR" dirty="0"/>
                  <a:t>(</a:t>
                </a:r>
                <a:r>
                  <a:rPr lang="ko-KR" altLang="en-US" dirty="0"/>
                  <a:t>최대이익</a:t>
                </a:r>
                <a:r>
                  <a:rPr lang="en-US" altLang="ko-KR" dirty="0"/>
                  <a:t>) = [(</a:t>
                </a:r>
                <a:r>
                  <a:rPr lang="ko-KR" altLang="en-US" dirty="0"/>
                  <a:t>행사가격</a:t>
                </a:r>
                <a:r>
                  <a:rPr lang="en-US" altLang="ko-KR" dirty="0"/>
                  <a:t>)-(</a:t>
                </a:r>
                <a:r>
                  <a:rPr lang="ko-KR" altLang="en-US" dirty="0"/>
                  <a:t>프리미엄</a:t>
                </a:r>
                <a:r>
                  <a:rPr lang="en-US" altLang="ko-KR" dirty="0"/>
                  <a:t>)]*(</a:t>
                </a:r>
                <a:r>
                  <a:rPr lang="ko-KR" altLang="en-US" dirty="0"/>
                  <a:t>계약단위</a:t>
                </a:r>
                <a:r>
                  <a:rPr lang="en-US" altLang="ko-KR" dirty="0"/>
                  <a:t>=100)</a:t>
                </a:r>
              </a:p>
              <a:p>
                <a:r>
                  <a:rPr lang="ko-KR" altLang="en-US" dirty="0"/>
                  <a:t>옵션가격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주당가격</a:t>
                </a:r>
                <a:r>
                  <a:rPr lang="en-US" altLang="ko-KR" dirty="0"/>
                  <a:t>. But, </a:t>
                </a:r>
                <a:r>
                  <a:rPr lang="ko-KR" altLang="en-US" dirty="0"/>
                  <a:t>계약단위</a:t>
                </a:r>
                <a:r>
                  <a:rPr lang="en-US" altLang="ko-KR" dirty="0"/>
                  <a:t>→100</a:t>
                </a:r>
                <a:r>
                  <a:rPr lang="ko-KR" altLang="en-US" dirty="0"/>
                  <a:t>주로 표준화</a:t>
                </a:r>
                <a:endParaRPr lang="en-US" altLang="ko-KR" dirty="0"/>
              </a:p>
              <a:p>
                <a:r>
                  <a:rPr lang="en-US" altLang="ko-KR" dirty="0"/>
                  <a:t>Call-put parity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ko-KR" dirty="0"/>
                  <a:t>; </a:t>
                </a:r>
              </a:p>
              <a:p>
                <a:pPr lvl="1"/>
                <a:r>
                  <a:rPr lang="en-US" altLang="ko-KR" dirty="0"/>
                  <a:t>p=</a:t>
                </a:r>
                <a:r>
                  <a:rPr lang="ko-KR" altLang="en-US" dirty="0" err="1"/>
                  <a:t>풋리미엄</a:t>
                </a:r>
                <a:r>
                  <a:rPr lang="en-US" altLang="ko-KR" dirty="0"/>
                  <a:t>, c=</a:t>
                </a:r>
                <a:r>
                  <a:rPr lang="ko-KR" altLang="en-US" dirty="0" err="1"/>
                  <a:t>콜프리</a:t>
                </a:r>
                <a:r>
                  <a:rPr lang="en-US" altLang="ko-KR" dirty="0"/>
                  <a:t>, S0=</a:t>
                </a:r>
                <a:r>
                  <a:rPr lang="ko-KR" altLang="en-US" dirty="0"/>
                  <a:t>기초자산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현물가격</a:t>
                </a:r>
                <a:r>
                  <a:rPr lang="en-US" altLang="ko-KR" dirty="0"/>
                  <a:t>, X=</a:t>
                </a:r>
                <a:r>
                  <a:rPr lang="ko-KR" altLang="en-US" dirty="0"/>
                  <a:t>행사가격</a:t>
                </a:r>
                <a:endParaRPr lang="en-US" altLang="ko-KR" dirty="0"/>
              </a:p>
              <a:p>
                <a:r>
                  <a:rPr lang="ko-KR" altLang="en-US" dirty="0"/>
                  <a:t>선물 매수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매도 포지션시 손익 </a:t>
                </a:r>
                <a:r>
                  <a:rPr lang="en-US" altLang="ko-KR" dirty="0"/>
                  <a:t>: </a:t>
                </a:r>
              </a:p>
              <a:p>
                <a:pPr lvl="1"/>
                <a:r>
                  <a:rPr lang="en-US" altLang="ko-KR" dirty="0"/>
                  <a:t>(</a:t>
                </a:r>
                <a:r>
                  <a:rPr lang="ko-KR" altLang="en-US" dirty="0"/>
                  <a:t>매수손익</a:t>
                </a:r>
                <a:r>
                  <a:rPr lang="en-US" altLang="ko-KR" dirty="0"/>
                  <a:t>)=[(</a:t>
                </a:r>
                <a:r>
                  <a:rPr lang="ko-KR" altLang="en-US" dirty="0" err="1"/>
                  <a:t>만기현물가</a:t>
                </a:r>
                <a:r>
                  <a:rPr lang="en-US" altLang="ko-KR" dirty="0"/>
                  <a:t>)-(</a:t>
                </a:r>
                <a:r>
                  <a:rPr lang="ko-KR" altLang="en-US" dirty="0" err="1"/>
                  <a:t>선물현물가</a:t>
                </a:r>
                <a:r>
                  <a:rPr lang="en-US" altLang="ko-KR" dirty="0"/>
                  <a:t>)]*(</a:t>
                </a:r>
                <a:r>
                  <a:rPr lang="ko-KR" altLang="en-US" dirty="0"/>
                  <a:t>계약크기</a:t>
                </a:r>
                <a:r>
                  <a:rPr lang="en-US" altLang="ko-KR" dirty="0"/>
                  <a:t>); 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ko-KR" altLang="en-US" dirty="0"/>
                  <a:t>매도손익</a:t>
                </a:r>
                <a:r>
                  <a:rPr lang="en-US" altLang="ko-KR" dirty="0"/>
                  <a:t>)=[(</a:t>
                </a:r>
                <a:r>
                  <a:rPr lang="ko-KR" altLang="en-US" dirty="0" err="1"/>
                  <a:t>선물현물가</a:t>
                </a:r>
                <a:r>
                  <a:rPr lang="en-US" altLang="ko-KR" dirty="0"/>
                  <a:t>)-(</a:t>
                </a:r>
                <a:r>
                  <a:rPr lang="ko-KR" altLang="en-US" dirty="0" err="1"/>
                  <a:t>만기현물가</a:t>
                </a:r>
                <a:r>
                  <a:rPr lang="en-US" altLang="ko-KR" dirty="0"/>
                  <a:t>)]*(</a:t>
                </a:r>
                <a:r>
                  <a:rPr lang="ko-KR" altLang="en-US" dirty="0"/>
                  <a:t>계약크기</a:t>
                </a:r>
                <a:r>
                  <a:rPr lang="en-US" altLang="ko-KR" dirty="0"/>
                  <a:t>); </a:t>
                </a:r>
              </a:p>
              <a:p>
                <a:r>
                  <a:rPr lang="en-US" altLang="ko-KR" dirty="0"/>
                  <a:t>Interest rate parity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, </a:t>
                </a:r>
              </a:p>
              <a:p>
                <a:pPr lvl="1"/>
                <a:r>
                  <a:rPr lang="en-US" altLang="ko-KR" dirty="0"/>
                  <a:t>F0/S0 : </a:t>
                </a:r>
                <a:r>
                  <a:rPr lang="ko-KR" altLang="en-US" dirty="0"/>
                  <a:t>선물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현물 환율</a:t>
                </a:r>
                <a:r>
                  <a:rPr lang="en-US" altLang="ko-KR" dirty="0"/>
                  <a:t>. </a:t>
                </a:r>
                <a:r>
                  <a:rPr lang="en-US" altLang="ko-KR" dirty="0" err="1"/>
                  <a:t>rA</a:t>
                </a:r>
                <a:r>
                  <a:rPr lang="en-US" altLang="ko-KR" dirty="0"/>
                  <a:t> : </a:t>
                </a:r>
                <a:r>
                  <a:rPr lang="ko-KR" altLang="en-US" dirty="0"/>
                  <a:t>가격표시통화국 이자율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rB</a:t>
                </a:r>
                <a:r>
                  <a:rPr lang="en-US" altLang="ko-KR" dirty="0"/>
                  <a:t> : </a:t>
                </a:r>
                <a:r>
                  <a:rPr lang="ko-KR" altLang="en-US" dirty="0"/>
                  <a:t>기준통화국 이자율</a:t>
                </a:r>
                <a:endParaRPr lang="en-US" altLang="ko-KR" dirty="0"/>
              </a:p>
              <a:p>
                <a:r>
                  <a:rPr lang="ko-KR" altLang="en-US" dirty="0"/>
                  <a:t>환율 차익거래 전략 </a:t>
                </a:r>
                <a:r>
                  <a:rPr lang="en-US" altLang="ko-KR" dirty="0"/>
                  <a:t>: </a:t>
                </a:r>
              </a:p>
              <a:p>
                <a:pPr lvl="1"/>
                <a:r>
                  <a:rPr lang="en-US" altLang="ko-KR" dirty="0"/>
                  <a:t>[(</a:t>
                </a:r>
                <a:r>
                  <a:rPr lang="ko-KR" altLang="en-US" dirty="0" err="1"/>
                  <a:t>총수익</a:t>
                </a:r>
                <a:r>
                  <a:rPr lang="en-US" altLang="ko-KR" dirty="0"/>
                  <a:t>)=(</a:t>
                </a:r>
                <a:r>
                  <a:rPr lang="ko-KR" altLang="en-US" dirty="0"/>
                  <a:t>투자한 통화 수익</a:t>
                </a:r>
                <a:r>
                  <a:rPr lang="en-US" altLang="ko-KR" dirty="0"/>
                  <a:t>)*(</a:t>
                </a:r>
                <a:r>
                  <a:rPr lang="ko-KR" altLang="en-US" dirty="0"/>
                  <a:t>선물환율</a:t>
                </a:r>
                <a:r>
                  <a:rPr lang="en-US" altLang="ko-KR" dirty="0"/>
                  <a:t>)]-[(</a:t>
                </a:r>
                <a:r>
                  <a:rPr lang="ko-KR" altLang="en-US" dirty="0"/>
                  <a:t>총비용</a:t>
                </a:r>
                <a:r>
                  <a:rPr lang="en-US" altLang="ko-KR" dirty="0"/>
                  <a:t>)=(</a:t>
                </a:r>
                <a:r>
                  <a:rPr lang="ko-KR" altLang="en-US" dirty="0"/>
                  <a:t>빌린 통화 원금</a:t>
                </a:r>
                <a:r>
                  <a:rPr lang="en-US" altLang="ko-KR" dirty="0"/>
                  <a:t>+</a:t>
                </a:r>
                <a:r>
                  <a:rPr lang="ko-KR" altLang="en-US" dirty="0"/>
                  <a:t>이자</a:t>
                </a:r>
                <a:r>
                  <a:rPr lang="en-US" altLang="ko-KR" dirty="0"/>
                  <a:t>)]</a:t>
                </a:r>
              </a:p>
              <a:p>
                <a:r>
                  <a:rPr lang="ko-KR" altLang="en-US" dirty="0"/>
                  <a:t>채권 </a:t>
                </a:r>
                <a:r>
                  <a:rPr lang="ko-KR" altLang="en-US" dirty="0" err="1"/>
                  <a:t>포폴</a:t>
                </a:r>
                <a:r>
                  <a:rPr lang="ko-KR" altLang="en-US" dirty="0"/>
                  <a:t> 해지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1) </a:t>
                </a:r>
                <a:r>
                  <a:rPr lang="ko-KR" altLang="en-US" dirty="0"/>
                  <a:t>금리변화시 채권 </a:t>
                </a:r>
                <a:r>
                  <a:rPr lang="ko-KR" altLang="en-US" dirty="0" err="1"/>
                  <a:t>포폴</a:t>
                </a:r>
                <a:r>
                  <a:rPr lang="ko-KR" altLang="en-US" dirty="0"/>
                  <a:t> 가치 변화 </a:t>
                </a:r>
                <a:r>
                  <a:rPr lang="en-US" altLang="ko-KR" dirty="0"/>
                  <a:t>→ 2) </a:t>
                </a:r>
                <a:r>
                  <a:rPr lang="ko-KR" altLang="en-US" dirty="0"/>
                  <a:t>선물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계약당 이익 </a:t>
                </a:r>
                <a:r>
                  <a:rPr lang="en-US" altLang="ko-KR" dirty="0"/>
                  <a:t>→ 3)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계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약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1)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2)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1) = (</a:t>
                </a:r>
                <a:r>
                  <a:rPr lang="ko-KR" altLang="en-US" dirty="0"/>
                  <a:t>액면가</a:t>
                </a:r>
                <a:r>
                  <a:rPr lang="en-US" altLang="ko-KR" dirty="0"/>
                  <a:t>)-(</a:t>
                </a:r>
                <a:r>
                  <a:rPr lang="ko-KR" altLang="en-US" dirty="0"/>
                  <a:t>현재가</a:t>
                </a:r>
                <a:r>
                  <a:rPr lang="en-US" altLang="ko-KR" dirty="0"/>
                  <a:t>). PV=(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이자의 현재가치</a:t>
                </a:r>
                <a:r>
                  <a:rPr lang="en-US" altLang="ko-KR" dirty="0"/>
                  <a:t>)+(</a:t>
                </a:r>
                <a:r>
                  <a:rPr lang="ko-KR" altLang="en-US" dirty="0"/>
                  <a:t>원금 현재가치</a:t>
                </a:r>
                <a:r>
                  <a:rPr lang="en-US" altLang="ko-KR" dirty="0"/>
                  <a:t>))</a:t>
                </a:r>
              </a:p>
              <a:p>
                <a:pPr lvl="2"/>
                <a:r>
                  <a:rPr lang="en-US" altLang="ko-KR" dirty="0"/>
                  <a:t>2) = [(</a:t>
                </a:r>
                <a:r>
                  <a:rPr lang="ko-KR" altLang="en-US" dirty="0"/>
                  <a:t>채권 </a:t>
                </a:r>
                <a:r>
                  <a:rPr lang="ko-KR" altLang="en-US" dirty="0" err="1"/>
                  <a:t>표면할인률</a:t>
                </a:r>
                <a:r>
                  <a:rPr lang="ko-KR" altLang="en-US" dirty="0"/>
                  <a:t> 현가</a:t>
                </a:r>
                <a:r>
                  <a:rPr lang="en-US" altLang="ko-KR" dirty="0"/>
                  <a:t>)-(</a:t>
                </a:r>
                <a:r>
                  <a:rPr lang="ko-KR" altLang="en-US" dirty="0"/>
                  <a:t>채권 </a:t>
                </a:r>
                <a:r>
                  <a:rPr lang="ko-KR" altLang="en-US" dirty="0" err="1"/>
                  <a:t>시장할인률</a:t>
                </a:r>
                <a:r>
                  <a:rPr lang="ko-KR" altLang="en-US" dirty="0"/>
                  <a:t> 현가</a:t>
                </a:r>
                <a:r>
                  <a:rPr lang="en-US" altLang="ko-KR" dirty="0"/>
                  <a:t>)]*100(=</a:t>
                </a:r>
                <a:r>
                  <a:rPr lang="ko-KR" altLang="en-US" dirty="0" err="1"/>
                  <a:t>표준계약수</a:t>
                </a:r>
                <a:r>
                  <a:rPr lang="en-US" altLang="ko-KR" dirty="0"/>
                  <a:t>)</a:t>
                </a:r>
              </a:p>
              <a:p>
                <a:r>
                  <a:rPr lang="ko-KR" altLang="en-US" dirty="0"/>
                  <a:t>베타가 있을 때 </a:t>
                </a:r>
                <a:r>
                  <a:rPr lang="ko-KR" altLang="en-US" dirty="0" err="1"/>
                  <a:t>포폴</a:t>
                </a:r>
                <a:r>
                  <a:rPr lang="ko-KR" altLang="en-US" dirty="0"/>
                  <a:t> 예상 손익 및 </a:t>
                </a:r>
                <a:r>
                  <a:rPr lang="ko-KR" altLang="en-US" dirty="0" err="1"/>
                  <a:t>헷징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(</a:t>
                </a:r>
                <a:r>
                  <a:rPr lang="ko-KR" altLang="en-US" dirty="0" err="1"/>
                  <a:t>포폴</a:t>
                </a:r>
                <a:r>
                  <a:rPr lang="ko-KR" altLang="en-US" dirty="0"/>
                  <a:t> 수익률 변화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 β</a:t>
                </a:r>
                <a:r>
                  <a:rPr lang="ko-KR" altLang="en-US" dirty="0"/>
                  <a:t>​</a:t>
                </a:r>
                <a:r>
                  <a:rPr lang="en-US" altLang="ko-KR" dirty="0"/>
                  <a:t>×(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/>
                  <a:t>) X0,1</a:t>
                </a:r>
                <a:r>
                  <a:rPr lang="ko-KR" altLang="en-US" dirty="0"/>
                  <a:t>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시점</a:t>
                </a:r>
                <a:r>
                  <a:rPr lang="en-US" altLang="ko-KR" dirty="0"/>
                  <a:t>,1</a:t>
                </a:r>
                <a:r>
                  <a:rPr lang="ko-KR" altLang="en-US" dirty="0"/>
                  <a:t>시점 주가지수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매도할 계약 수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포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수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익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변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화</m:t>
                        </m:r>
                        <m:r>
                          <m:rPr>
                            <m:nor/>
                          </m:rPr>
                          <a:rPr lang="en-US" altLang="ko-KR" dirty="0"/>
                          <m:t>×</m:t>
                        </m:r>
                        <m:r>
                          <a:rPr lang="ko-KR" altLang="en-US" i="1" dirty="0" smtClean="0">
                            <a:latin typeface="Cambria Math" panose="02040503050406030204" pitchFamily="18" charset="0"/>
                          </a:rPr>
                          <m:t>원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금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dirty="0"/>
                          <m:t>지수변화량</m:t>
                        </m:r>
                        <m:r>
                          <m:rPr>
                            <m:nor/>
                          </m:rPr>
                          <a:rPr lang="en-US" altLang="ko-KR" dirty="0"/>
                          <m:t>×</m:t>
                        </m:r>
                        <m:r>
                          <m:rPr>
                            <m:nor/>
                          </m:rPr>
                          <a:rPr lang="ko-KR" altLang="en-US" dirty="0"/>
                          <m:t>승수</m:t>
                        </m:r>
                        <m:r>
                          <m:rPr>
                            <m:nor/>
                          </m:rPr>
                          <a:rPr lang="en-US" altLang="ko-KR" dirty="0"/>
                          <m:t>(=$250)​</m:t>
                        </m:r>
                        <m:r>
                          <m:rPr>
                            <m:nor/>
                          </m:rPr>
                          <a:rPr lang="ko-KR" altLang="en-US" dirty="0"/>
                          <m:t>​</m:t>
                        </m:r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57347C3-AEEB-6DB2-46FB-272F52266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CC9C9F-47F0-D50A-BDE5-6EBA6DA769B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25F9E9-E490-15A1-976F-C425F9A48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264" y="848544"/>
            <a:ext cx="793021" cy="432048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E63C2765-B442-1837-BD93-4FE11A1CF4BA}"/>
              </a:ext>
            </a:extLst>
          </p:cNvPr>
          <p:cNvSpPr/>
          <p:nvPr/>
        </p:nvSpPr>
        <p:spPr>
          <a:xfrm>
            <a:off x="2399164" y="6897216"/>
            <a:ext cx="633183" cy="44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은행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1B06773-76C5-3320-B1B4-AEE39FA1B52A}"/>
              </a:ext>
            </a:extLst>
          </p:cNvPr>
          <p:cNvSpPr/>
          <p:nvPr/>
        </p:nvSpPr>
        <p:spPr>
          <a:xfrm>
            <a:off x="3331849" y="6890299"/>
            <a:ext cx="633184" cy="44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기업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2A2B8AE-CF40-7A56-7B71-751818D3B905}"/>
              </a:ext>
            </a:extLst>
          </p:cNvPr>
          <p:cNvSpPr/>
          <p:nvPr/>
        </p:nvSpPr>
        <p:spPr>
          <a:xfrm>
            <a:off x="4264536" y="6874707"/>
            <a:ext cx="820648" cy="44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채권자</a:t>
            </a: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C89353B4-567C-7CB1-6120-6279781C02F3}"/>
              </a:ext>
            </a:extLst>
          </p:cNvPr>
          <p:cNvCxnSpPr>
            <a:cxnSpLocks/>
            <a:stCxn id="8" idx="7"/>
            <a:endCxn id="9" idx="1"/>
          </p:cNvCxnSpPr>
          <p:nvPr/>
        </p:nvCxnSpPr>
        <p:spPr>
          <a:xfrm rot="5400000" flipH="1" flipV="1">
            <a:off x="3178640" y="6716984"/>
            <a:ext cx="6917" cy="484958"/>
          </a:xfrm>
          <a:prstGeom prst="curvedConnector3">
            <a:avLst>
              <a:gd name="adj1" fmla="val 2702328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EFAFA658-DBFB-388A-2711-907DF528EBA7}"/>
              </a:ext>
            </a:extLst>
          </p:cNvPr>
          <p:cNvCxnSpPr>
            <a:cxnSpLocks/>
            <a:stCxn id="9" idx="3"/>
            <a:endCxn id="8" idx="5"/>
          </p:cNvCxnSpPr>
          <p:nvPr/>
        </p:nvCxnSpPr>
        <p:spPr>
          <a:xfrm rot="5400000">
            <a:off x="3178640" y="7034238"/>
            <a:ext cx="6917" cy="484958"/>
          </a:xfrm>
          <a:prstGeom prst="curvedConnector3">
            <a:avLst>
              <a:gd name="adj1" fmla="val 204137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B3FB58D6-5110-5F3D-995C-272451C0FD23}"/>
              </a:ext>
            </a:extLst>
          </p:cNvPr>
          <p:cNvCxnSpPr>
            <a:cxnSpLocks/>
            <a:stCxn id="9" idx="7"/>
            <a:endCxn id="10" idx="1"/>
          </p:cNvCxnSpPr>
          <p:nvPr/>
        </p:nvCxnSpPr>
        <p:spPr>
          <a:xfrm rot="5400000" flipH="1" flipV="1">
            <a:off x="4120715" y="6692002"/>
            <a:ext cx="15592" cy="512412"/>
          </a:xfrm>
          <a:prstGeom prst="curvedConnector3">
            <a:avLst>
              <a:gd name="adj1" fmla="val 101011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11D58D7-4C8D-F9FB-25E8-0F8BD8CB7B9E}"/>
              </a:ext>
            </a:extLst>
          </p:cNvPr>
          <p:cNvSpPr txBox="1"/>
          <p:nvPr/>
        </p:nvSpPr>
        <p:spPr>
          <a:xfrm>
            <a:off x="2956779" y="640221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1)</a:t>
            </a:r>
          </a:p>
          <a:p>
            <a:r>
              <a:rPr lang="en-US" altLang="ko-KR" sz="900" dirty="0"/>
              <a:t>+60000</a:t>
            </a:r>
            <a:endParaRPr lang="ko-KR" altLang="en-US" sz="9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6DB9AD-3EF9-044D-0930-BC266B4AADF0}"/>
              </a:ext>
            </a:extLst>
          </p:cNvPr>
          <p:cNvSpPr txBox="1"/>
          <p:nvPr/>
        </p:nvSpPr>
        <p:spPr>
          <a:xfrm>
            <a:off x="3897507" y="642451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기존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-60000</a:t>
            </a:r>
            <a:endParaRPr lang="ko-KR" alt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E77EDA-FFBB-84D8-B7C4-87F28E7D88BA}"/>
              </a:ext>
            </a:extLst>
          </p:cNvPr>
          <p:cNvSpPr txBox="1"/>
          <p:nvPr/>
        </p:nvSpPr>
        <p:spPr>
          <a:xfrm>
            <a:off x="2996156" y="7516098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LIBOR : </a:t>
            </a:r>
          </a:p>
          <a:p>
            <a:r>
              <a:rPr lang="en-US" altLang="ko-KR" sz="900" dirty="0"/>
              <a:t>2)</a:t>
            </a:r>
            <a:endParaRPr lang="ko-KR" alt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200415-2771-6F49-5809-DDC1923DA9F1}"/>
              </a:ext>
            </a:extLst>
          </p:cNvPr>
          <p:cNvSpPr txBox="1"/>
          <p:nvPr/>
        </p:nvSpPr>
        <p:spPr>
          <a:xfrm>
            <a:off x="3427795" y="7450393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5% → </a:t>
            </a:r>
            <a:r>
              <a:rPr lang="ko-KR" altLang="en-US" sz="900" dirty="0"/>
              <a:t>유리</a:t>
            </a:r>
            <a:r>
              <a:rPr lang="en-US" altLang="ko-KR" sz="900" dirty="0"/>
              <a:t>, -50000</a:t>
            </a:r>
          </a:p>
          <a:p>
            <a:r>
              <a:rPr lang="en-US" altLang="ko-KR" sz="900" dirty="0"/>
              <a:t>8% → </a:t>
            </a:r>
            <a:r>
              <a:rPr lang="ko-KR" altLang="en-US" sz="900" dirty="0"/>
              <a:t>불리</a:t>
            </a:r>
            <a:r>
              <a:rPr lang="en-US" altLang="ko-KR" sz="900" dirty="0"/>
              <a:t>, -80000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2061621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34117</TotalTime>
  <Words>2189</Words>
  <Application>Microsoft Office PowerPoint</Application>
  <PresentationFormat>A4 용지(210x297mm)</PresentationFormat>
  <Paragraphs>161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Cambria Math</vt:lpstr>
      <vt:lpstr>Wingdings</vt:lpstr>
      <vt:lpstr>디자인 사용자 지정</vt:lpstr>
      <vt:lpstr>주식가격 결정 모형</vt:lpstr>
      <vt:lpstr>선물계약</vt:lpstr>
      <vt:lpstr>선물계약(계속)</vt:lpstr>
      <vt:lpstr>옵션</vt:lpstr>
      <vt:lpstr>Two-party option strategies</vt:lpstr>
      <vt:lpstr>스왑/투자 성과 평가</vt:lpstr>
      <vt:lpstr>금투기말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594</cp:revision>
  <dcterms:created xsi:type="dcterms:W3CDTF">2021-05-24T07:27:04Z</dcterms:created>
  <dcterms:modified xsi:type="dcterms:W3CDTF">2025-06-07T17:31:07Z</dcterms:modified>
</cp:coreProperties>
</file>