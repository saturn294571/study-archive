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85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94" autoAdjust="0"/>
    <p:restoredTop sz="96234" autoAdjust="0"/>
  </p:normalViewPr>
  <p:slideViewPr>
    <p:cSldViewPr>
      <p:cViewPr varScale="1">
        <p:scale>
          <a:sx n="76" d="100"/>
          <a:sy n="76" d="100"/>
        </p:scale>
        <p:origin x="2419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2025-08-15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2025-08-15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914C08E-C1D2-70A6-CC64-061FE09671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9F77CB5-6F95-1A3E-0877-F9E6779D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투자와 투자 방식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5AD6CE-DFEF-7228-511B-9FD4684BF0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7CA36F-FF0B-BEB1-D17F-90178F15E57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투자의 정의</a:t>
            </a:r>
          </a:p>
          <a:p>
            <a:pPr lvl="1"/>
            <a:r>
              <a:rPr lang="ko-KR" altLang="en-US" dirty="0"/>
              <a:t>투자는 현재와 미래를 연결하는 행위이며</a:t>
            </a:r>
            <a:r>
              <a:rPr lang="en-US" altLang="ko-KR" dirty="0"/>
              <a:t>, </a:t>
            </a:r>
            <a:r>
              <a:rPr lang="ko-KR" altLang="en-US" dirty="0"/>
              <a:t>핵심은 **현재 시점에서 돈이나 자원 등을 미래의 수익을 예상하고 약정</a:t>
            </a:r>
            <a:r>
              <a:rPr lang="en-US" altLang="ko-KR" dirty="0"/>
              <a:t>(Commitment)**</a:t>
            </a:r>
            <a:r>
              <a:rPr lang="ko-KR" altLang="en-US" dirty="0"/>
              <a:t>하는 것입니다</a:t>
            </a:r>
          </a:p>
          <a:p>
            <a:pPr lvl="1"/>
            <a:r>
              <a:rPr lang="ko-KR" altLang="en-US" dirty="0"/>
              <a:t>현재 시점의 약속은 확정적이지만 불확실한 미래에 대한 결정</a:t>
            </a:r>
            <a:endParaRPr lang="en-US" altLang="ko-KR" dirty="0"/>
          </a:p>
          <a:p>
            <a:r>
              <a:rPr lang="ko-KR" altLang="en-US" dirty="0"/>
              <a:t>자산의 종류</a:t>
            </a:r>
            <a:endParaRPr lang="en-US" altLang="ko-KR" dirty="0"/>
          </a:p>
          <a:p>
            <a:pPr lvl="1"/>
            <a:r>
              <a:rPr lang="ko-KR" altLang="en-US" dirty="0">
                <a:effectLst/>
              </a:rPr>
              <a:t>자산은 크게 실물 자산과 금융 자산으로 나눌 수 있다</a:t>
            </a:r>
            <a:endParaRPr lang="en-US" altLang="ko-KR" dirty="0">
              <a:effectLst/>
            </a:endParaRPr>
          </a:p>
          <a:p>
            <a:pPr lvl="2"/>
            <a:r>
              <a:rPr lang="ko-KR" altLang="en-US" dirty="0">
                <a:effectLst/>
              </a:rPr>
              <a:t>실물 자산은 유형 자산과 무형 자산을 포함하며</a:t>
            </a:r>
            <a:r>
              <a:rPr lang="en-US" altLang="ko-KR" dirty="0">
                <a:effectLst/>
              </a:rPr>
              <a:t>, </a:t>
            </a:r>
            <a:r>
              <a:rPr lang="ko-KR" altLang="en-US" dirty="0">
                <a:effectLst/>
              </a:rPr>
              <a:t>실제 생산 활동에 활용됩니다</a:t>
            </a:r>
            <a:endParaRPr lang="en-US" altLang="ko-KR" dirty="0">
              <a:effectLst/>
            </a:endParaRPr>
          </a:p>
          <a:p>
            <a:pPr lvl="2"/>
            <a:r>
              <a:rPr lang="ko-KR" altLang="en-US" dirty="0">
                <a:effectLst/>
              </a:rPr>
              <a:t>금융 자산은 실물 자산에 대한 청구권</a:t>
            </a:r>
            <a:r>
              <a:rPr lang="en-US" altLang="ko-KR" dirty="0">
                <a:effectLst/>
              </a:rPr>
              <a:t>(Claim on Real Assets)</a:t>
            </a:r>
            <a:r>
              <a:rPr lang="ko-KR" altLang="en-US" dirty="0">
                <a:effectLst/>
              </a:rPr>
              <a:t>의 형태이며</a:t>
            </a:r>
            <a:r>
              <a:rPr lang="en-US" altLang="ko-KR" dirty="0">
                <a:effectLst/>
              </a:rPr>
              <a:t>, </a:t>
            </a:r>
            <a:r>
              <a:rPr lang="ko-KR" altLang="en-US" dirty="0">
                <a:effectLst/>
              </a:rPr>
              <a:t>주식이 대표적인 예시</a:t>
            </a:r>
            <a:endParaRPr lang="en-US" altLang="ko-KR" dirty="0">
              <a:effectLst/>
            </a:endParaRPr>
          </a:p>
          <a:p>
            <a:pPr lvl="3"/>
            <a:r>
              <a:rPr lang="ko-KR" altLang="en-US" dirty="0">
                <a:effectLst/>
              </a:rPr>
              <a:t>금융 자산은 직접적 생산 관여 </a:t>
            </a:r>
            <a:r>
              <a:rPr lang="en-US" altLang="ko-KR" dirty="0">
                <a:effectLst/>
              </a:rPr>
              <a:t>X, </a:t>
            </a:r>
            <a:r>
              <a:rPr lang="ko-KR" altLang="en-US" dirty="0">
                <a:effectLst/>
              </a:rPr>
              <a:t>자산 거래를 활발</a:t>
            </a:r>
            <a:r>
              <a:rPr lang="en-US" altLang="ko-KR" dirty="0">
                <a:effectLst/>
              </a:rPr>
              <a:t>, </a:t>
            </a:r>
            <a:r>
              <a:rPr lang="ko-KR" altLang="en-US" dirty="0">
                <a:effectLst/>
              </a:rPr>
              <a:t>거래 비용을 낮추는 역할</a:t>
            </a:r>
            <a:endParaRPr lang="en-US" altLang="ko-KR" dirty="0">
              <a:effectLst/>
            </a:endParaRPr>
          </a:p>
          <a:p>
            <a:pPr lvl="3"/>
            <a:r>
              <a:rPr lang="ko-KR" altLang="en-US" dirty="0"/>
              <a:t>금융 자산의 발달 </a:t>
            </a:r>
            <a:r>
              <a:rPr lang="en-US" altLang="ko-KR" dirty="0"/>
              <a:t>:</a:t>
            </a:r>
            <a:r>
              <a:rPr lang="ko-KR" altLang="en-US" dirty="0"/>
              <a:t> 물물교환 경제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화폐 경제로 발전</a:t>
            </a:r>
            <a:r>
              <a:rPr lang="en-US" altLang="ko-KR" dirty="0"/>
              <a:t>. </a:t>
            </a:r>
            <a:r>
              <a:rPr lang="ko-KR" altLang="en-US" dirty="0"/>
              <a:t>경제 효율성을 ↑↑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투자 방식</a:t>
            </a:r>
            <a:endParaRPr lang="en-US" altLang="ko-KR" dirty="0"/>
          </a:p>
          <a:p>
            <a:pPr lvl="1"/>
            <a:r>
              <a:rPr lang="ko-KR" altLang="en-US" dirty="0" err="1">
                <a:effectLst/>
              </a:rPr>
              <a:t>탑다운</a:t>
            </a:r>
            <a:r>
              <a:rPr lang="ko-KR" altLang="en-US" dirty="0">
                <a:effectLst/>
              </a:rPr>
              <a:t> 방식</a:t>
            </a:r>
            <a:r>
              <a:rPr lang="en-US" altLang="ko-KR" dirty="0">
                <a:effectLst/>
              </a:rPr>
              <a:t>: </a:t>
            </a:r>
            <a:br>
              <a:rPr lang="en-US" altLang="ko-KR" dirty="0">
                <a:effectLst/>
              </a:rPr>
            </a:br>
            <a:r>
              <a:rPr lang="ko-KR" altLang="en-US" dirty="0">
                <a:effectLst/>
              </a:rPr>
              <a:t>거시 경제 상황 및 산업 동향을 먼저 분석하고</a:t>
            </a:r>
            <a:r>
              <a:rPr lang="en-US" altLang="ko-KR" dirty="0">
                <a:effectLst/>
              </a:rPr>
              <a:t>, </a:t>
            </a:r>
            <a:r>
              <a:rPr lang="ko-KR" altLang="en-US" dirty="0">
                <a:effectLst/>
              </a:rPr>
              <a:t>투자 대상을 </a:t>
            </a:r>
            <a:r>
              <a:rPr lang="ko-KR" altLang="en-US" dirty="0" err="1">
                <a:effectLst/>
              </a:rPr>
              <a:t>좁혀나감</a:t>
            </a:r>
            <a:endParaRPr lang="en-US" altLang="ko-KR" dirty="0"/>
          </a:p>
          <a:p>
            <a:pPr lvl="1"/>
            <a:r>
              <a:rPr lang="ko-KR" altLang="en-US" dirty="0" err="1">
                <a:effectLst/>
              </a:rPr>
              <a:t>바텀업</a:t>
            </a:r>
            <a:r>
              <a:rPr lang="ko-KR" altLang="en-US" dirty="0">
                <a:effectLst/>
              </a:rPr>
              <a:t> 방식</a:t>
            </a:r>
            <a:r>
              <a:rPr lang="en-US" altLang="ko-KR" dirty="0">
                <a:effectLst/>
              </a:rPr>
              <a:t>: </a:t>
            </a:r>
            <a:br>
              <a:rPr lang="en-US" altLang="ko-KR" dirty="0">
                <a:effectLst/>
              </a:rPr>
            </a:br>
            <a:r>
              <a:rPr lang="ko-KR" altLang="en-US" dirty="0">
                <a:effectLst/>
              </a:rPr>
              <a:t>개별 기업의 가치를 분석하여 저평가된 기업을 발굴하는 데 초점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D4A45F6-92D8-F9B0-0838-B8A530901E9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EF465BA-48DE-E348-567C-D0D5EA53E2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622402"/>
              </p:ext>
            </p:extLst>
          </p:nvPr>
        </p:nvGraphicFramePr>
        <p:xfrm>
          <a:off x="2033970" y="2864768"/>
          <a:ext cx="4158209" cy="1352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485056915"/>
                    </a:ext>
                  </a:extLst>
                </a:gridCol>
                <a:gridCol w="1780974">
                  <a:extLst>
                    <a:ext uri="{9D8B030D-6E8A-4147-A177-3AD203B41FA5}">
                      <a16:colId xmlns:a16="http://schemas.microsoft.com/office/drawing/2014/main" val="2592598394"/>
                    </a:ext>
                  </a:extLst>
                </a:gridCol>
                <a:gridCol w="1801171">
                  <a:extLst>
                    <a:ext uri="{9D8B030D-6E8A-4147-A177-3AD203B41FA5}">
                      <a16:colId xmlns:a16="http://schemas.microsoft.com/office/drawing/2014/main" val="3870027461"/>
                    </a:ext>
                  </a:extLst>
                </a:gridCol>
              </a:tblGrid>
              <a:tr h="2549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실물자산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금융자산</a:t>
                      </a:r>
                      <a:endParaRPr lang="en-US" altLang="ko-K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175489"/>
                  </a:ext>
                </a:extLst>
              </a:tr>
              <a:tr h="2549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유동성</a:t>
                      </a:r>
                      <a:endParaRPr lang="en-US" altLang="ko-K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낮음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거래비용 큼</a:t>
                      </a:r>
                      <a:r>
                        <a:rPr lang="en-US" altLang="ko-KR" sz="900" dirty="0"/>
                        <a:t>, 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 err="1"/>
                        <a:t>사고팔기</a:t>
                      </a:r>
                      <a:r>
                        <a:rPr lang="ko-KR" altLang="en-US" sz="900" dirty="0"/>
                        <a:t> 불편함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높음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쉽게 현금화 가능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거래 수수료 낮음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주식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158590"/>
                  </a:ext>
                </a:extLst>
              </a:tr>
              <a:tr h="2549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가치 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하락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effectLst/>
                        </a:rPr>
                        <a:t>시간 경과에 따라 가치 하락 </a:t>
                      </a:r>
                      <a:r>
                        <a:rPr lang="en-US" altLang="ko-KR" sz="900" dirty="0">
                          <a:effectLst/>
                        </a:rPr>
                        <a:t>(</a:t>
                      </a:r>
                      <a:r>
                        <a:rPr lang="ko-KR" altLang="en-US" sz="900" dirty="0">
                          <a:effectLst/>
                        </a:rPr>
                        <a:t>감가상각</a:t>
                      </a:r>
                      <a:r>
                        <a:rPr lang="en-US" altLang="ko-KR" sz="900" dirty="0">
                          <a:effectLst/>
                        </a:rPr>
                        <a:t>) </a:t>
                      </a:r>
                      <a:r>
                        <a:rPr lang="ko-KR" altLang="en-US" sz="900" dirty="0">
                          <a:effectLst/>
                        </a:rPr>
                        <a:t>가능성 높음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effectLst/>
                        </a:rPr>
                        <a:t>감가상각이 거의 진행되지 않음 </a:t>
                      </a:r>
                      <a:r>
                        <a:rPr lang="en-US" altLang="ko-KR" sz="900" dirty="0">
                          <a:effectLst/>
                        </a:rPr>
                        <a:t>(</a:t>
                      </a:r>
                      <a:r>
                        <a:rPr lang="ko-KR" altLang="en-US" sz="900" dirty="0">
                          <a:effectLst/>
                        </a:rPr>
                        <a:t>주식</a:t>
                      </a:r>
                      <a:r>
                        <a:rPr lang="en-US" altLang="ko-KR" sz="900" dirty="0">
                          <a:effectLst/>
                        </a:rPr>
                        <a:t>, </a:t>
                      </a:r>
                      <a:r>
                        <a:rPr lang="ko-KR" altLang="en-US" sz="900" dirty="0">
                          <a:effectLst/>
                        </a:rPr>
                        <a:t>채권</a:t>
                      </a:r>
                      <a:r>
                        <a:rPr lang="en-US" altLang="ko-KR" sz="900" dirty="0">
                          <a:effectLst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9158896"/>
                  </a:ext>
                </a:extLst>
              </a:tr>
              <a:tr h="2549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분할 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가능성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effectLst/>
                        </a:rPr>
                        <a:t>분할 어려움</a:t>
                      </a:r>
                      <a:r>
                        <a:rPr lang="en-US" altLang="ko-KR" sz="900" dirty="0">
                          <a:effectLst/>
                        </a:rPr>
                        <a:t>, </a:t>
                      </a:r>
                      <a:r>
                        <a:rPr lang="ko-KR" altLang="en-US" sz="900" dirty="0">
                          <a:effectLst/>
                        </a:rPr>
                        <a:t>거래 불편함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effectLst/>
                        </a:rPr>
                        <a:t>분할 가능 </a:t>
                      </a:r>
                      <a:r>
                        <a:rPr lang="en-US" altLang="ko-KR" sz="900" dirty="0">
                          <a:effectLst/>
                        </a:rPr>
                        <a:t>(</a:t>
                      </a:r>
                      <a:r>
                        <a:rPr lang="ko-KR" altLang="en-US" sz="900" dirty="0">
                          <a:effectLst/>
                        </a:rPr>
                        <a:t>주식</a:t>
                      </a:r>
                      <a:r>
                        <a:rPr lang="en-US" altLang="ko-KR" sz="900" dirty="0">
                          <a:effectLst/>
                        </a:rPr>
                        <a:t>), </a:t>
                      </a:r>
                      <a:r>
                        <a:rPr lang="ko-KR" altLang="en-US" sz="900" dirty="0">
                          <a:effectLst/>
                        </a:rPr>
                        <a:t>채권은 금융기관 통해 소액 투자 가능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630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07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9FD8B7E-41B0-C4DF-C596-682D5B180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5BE630C-82B9-2882-58FA-4725F4BC8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금융시장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C40721-1141-AB2F-C1BD-5D444C686C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F391697-4985-0D2C-F202-30F5FF2E88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채권시장</a:t>
            </a:r>
            <a:endParaRPr lang="en-US" altLang="ko-KR" dirty="0"/>
          </a:p>
          <a:p>
            <a:pPr lvl="1"/>
            <a:r>
              <a:rPr lang="ko-KR" altLang="en-US" dirty="0"/>
              <a:t>미국 국채 </a:t>
            </a:r>
            <a:r>
              <a:rPr lang="en-US" altLang="ko-KR" dirty="0"/>
              <a:t>: </a:t>
            </a:r>
            <a:r>
              <a:rPr lang="ko-KR" altLang="en-US" dirty="0" err="1"/>
              <a:t>트레져리</a:t>
            </a:r>
            <a:r>
              <a:rPr lang="ko-KR" altLang="en-US" dirty="0"/>
              <a:t> 빌</a:t>
            </a:r>
            <a:r>
              <a:rPr lang="en-US" altLang="ko-KR" dirty="0"/>
              <a:t>(</a:t>
            </a:r>
            <a:r>
              <a:rPr lang="ko-KR" altLang="en-US" dirty="0"/>
              <a:t>단기</a:t>
            </a:r>
            <a:r>
              <a:rPr lang="en-US" altLang="ko-KR" dirty="0"/>
              <a:t>), </a:t>
            </a:r>
            <a:r>
              <a:rPr lang="ko-KR" altLang="en-US" dirty="0" err="1"/>
              <a:t>트레져리</a:t>
            </a:r>
            <a:r>
              <a:rPr lang="ko-KR" altLang="en-US" dirty="0"/>
              <a:t> 노트</a:t>
            </a:r>
            <a:r>
              <a:rPr lang="en-US" altLang="ko-KR" dirty="0"/>
              <a:t>(</a:t>
            </a:r>
            <a:r>
              <a:rPr lang="ko-KR" altLang="en-US" dirty="0"/>
              <a:t>중기</a:t>
            </a:r>
            <a:r>
              <a:rPr lang="en-US" altLang="ko-KR" dirty="0"/>
              <a:t>), </a:t>
            </a:r>
            <a:r>
              <a:rPr lang="ko-KR" altLang="en-US" dirty="0" err="1"/>
              <a:t>트레저리</a:t>
            </a:r>
            <a:r>
              <a:rPr lang="ko-KR" altLang="en-US" dirty="0"/>
              <a:t> 본드</a:t>
            </a:r>
            <a:r>
              <a:rPr lang="en-US" altLang="ko-KR" dirty="0"/>
              <a:t>(</a:t>
            </a:r>
            <a:r>
              <a:rPr lang="ko-KR" altLang="en-US" dirty="0"/>
              <a:t>장기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물가연동국채</a:t>
            </a:r>
            <a:r>
              <a:rPr lang="en-US" altLang="ko-KR" dirty="0"/>
              <a:t>(TIPS) : </a:t>
            </a:r>
            <a:r>
              <a:rPr lang="ko-KR" altLang="en-US" dirty="0"/>
              <a:t>물가상승에 따라 수익률 변동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실질 수익률 보장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연방정부기관채권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주택담보관련 기관의 채권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주담채</a:t>
            </a:r>
            <a:r>
              <a:rPr lang="ko-KR" altLang="en-US" dirty="0">
                <a:sym typeface="Wingdings" panose="05000000000000000000" pitchFamily="2" charset="2"/>
              </a:rPr>
              <a:t> 유동화 수단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국제 채권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유로채권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미 외지역의 달러발행</a:t>
            </a:r>
            <a:r>
              <a:rPr lang="en-US" altLang="ko-KR" dirty="0">
                <a:sym typeface="Wingdings" panose="05000000000000000000" pitchFamily="2" charset="2"/>
              </a:rPr>
              <a:t>), </a:t>
            </a:r>
            <a:r>
              <a:rPr lang="ko-KR" altLang="en-US" dirty="0">
                <a:sym typeface="Wingdings" panose="05000000000000000000" pitchFamily="2" charset="2"/>
              </a:rPr>
              <a:t>외국채권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지방정부 채권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이자소득에 대해 연방 소득세 면제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회사채 </a:t>
            </a:r>
            <a:r>
              <a:rPr lang="en-US" altLang="ko-KR" dirty="0"/>
              <a:t>: </a:t>
            </a:r>
            <a:r>
              <a:rPr lang="ko-KR" altLang="en-US" dirty="0"/>
              <a:t>민간기업 발행</a:t>
            </a:r>
            <a:r>
              <a:rPr lang="en-US" altLang="ko-KR" dirty="0"/>
              <a:t>. </a:t>
            </a:r>
            <a:r>
              <a:rPr lang="ko-KR" altLang="en-US" dirty="0"/>
              <a:t>국채보다 높은 리스크</a:t>
            </a:r>
            <a:r>
              <a:rPr lang="en-US" altLang="ko-KR" dirty="0"/>
              <a:t>, </a:t>
            </a:r>
            <a:r>
              <a:rPr lang="ko-KR" altLang="en-US" dirty="0"/>
              <a:t>수익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 err="1"/>
              <a:t>콜옵션</a:t>
            </a:r>
            <a:r>
              <a:rPr lang="en-US" altLang="ko-KR" dirty="0"/>
              <a:t>(</a:t>
            </a:r>
            <a:r>
              <a:rPr lang="ko-KR" altLang="en-US" dirty="0"/>
              <a:t>발행자가 만기 전 상환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전환권</a:t>
            </a:r>
            <a:r>
              <a:rPr lang="en-US" altLang="ko-KR" dirty="0"/>
              <a:t>(</a:t>
            </a:r>
            <a:r>
              <a:rPr lang="ko-KR" altLang="en-US" dirty="0"/>
              <a:t>채권을 주식으로 전환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주택 저당 증권 </a:t>
            </a:r>
            <a:r>
              <a:rPr lang="en-US" altLang="ko-KR" dirty="0"/>
              <a:t>: </a:t>
            </a:r>
            <a:r>
              <a:rPr lang="ko-KR" altLang="en-US" dirty="0" err="1"/>
              <a:t>주담대</a:t>
            </a:r>
            <a:r>
              <a:rPr lang="ko-KR" altLang="en-US" dirty="0"/>
              <a:t> 풀을 기초 자산으로 발행</a:t>
            </a:r>
            <a:r>
              <a:rPr lang="en-US" altLang="ko-KR" dirty="0"/>
              <a:t>. </a:t>
            </a:r>
            <a:r>
              <a:rPr lang="ko-KR" altLang="en-US" dirty="0"/>
              <a:t>주택소유자의 원리금 상환액이 투자자에게 이전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주식시장</a:t>
            </a:r>
            <a:endParaRPr lang="en-US" altLang="ko-KR" dirty="0"/>
          </a:p>
          <a:p>
            <a:pPr lvl="1"/>
            <a:r>
              <a:rPr lang="ko-KR" altLang="en-US" dirty="0"/>
              <a:t>주식 </a:t>
            </a:r>
            <a:r>
              <a:rPr lang="en-US" altLang="ko-KR" dirty="0"/>
              <a:t>= </a:t>
            </a:r>
            <a:r>
              <a:rPr lang="ko-KR" altLang="en-US" dirty="0"/>
              <a:t>기업의 소유권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 err="1"/>
              <a:t>보통주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잔여청구권</a:t>
            </a:r>
            <a:r>
              <a:rPr lang="en-US" altLang="ko-KR" dirty="0"/>
              <a:t>. </a:t>
            </a:r>
            <a:r>
              <a:rPr lang="ko-KR" altLang="en-US" dirty="0"/>
              <a:t>유한책임</a:t>
            </a:r>
            <a:r>
              <a:rPr lang="en-US" altLang="ko-KR" dirty="0"/>
              <a:t>. </a:t>
            </a:r>
            <a:r>
              <a:rPr lang="ko-KR" altLang="en-US" dirty="0"/>
              <a:t>경영참여권</a:t>
            </a:r>
            <a:br>
              <a:rPr lang="en-US" altLang="ko-KR" dirty="0"/>
            </a:br>
            <a:r>
              <a:rPr lang="ko-KR" altLang="en-US" dirty="0"/>
              <a:t>우선주 </a:t>
            </a:r>
            <a:r>
              <a:rPr lang="en-US" altLang="ko-KR" dirty="0"/>
              <a:t>= </a:t>
            </a:r>
            <a:r>
              <a:rPr lang="ko-KR" altLang="en-US" dirty="0"/>
              <a:t>영구적 성격</a:t>
            </a:r>
            <a:r>
              <a:rPr lang="en-US" altLang="ko-KR" dirty="0"/>
              <a:t>. </a:t>
            </a:r>
            <a:r>
              <a:rPr lang="ko-KR" altLang="en-US" dirty="0"/>
              <a:t>고정배당</a:t>
            </a:r>
            <a:r>
              <a:rPr lang="en-US" altLang="ko-KR" dirty="0"/>
              <a:t>. </a:t>
            </a:r>
            <a:r>
              <a:rPr lang="ko-KR" altLang="en-US" dirty="0"/>
              <a:t>배당에 대한 </a:t>
            </a:r>
            <a:r>
              <a:rPr lang="ko-KR" altLang="en-US" dirty="0" err="1"/>
              <a:t>우선원</a:t>
            </a:r>
            <a:endParaRPr lang="en-US" altLang="ko-KR" dirty="0"/>
          </a:p>
          <a:p>
            <a:pPr lvl="1"/>
            <a:r>
              <a:rPr lang="ko-KR" altLang="en-US" dirty="0"/>
              <a:t>미국 주식예탁증서</a:t>
            </a:r>
            <a:r>
              <a:rPr lang="en-US" altLang="ko-KR" dirty="0"/>
              <a:t>: </a:t>
            </a:r>
            <a:r>
              <a:rPr lang="ko-KR" altLang="en-US" dirty="0"/>
              <a:t>외국 기업의 주식을 대표해 미국 시장에서 거래되는 증서</a:t>
            </a:r>
            <a:endParaRPr lang="en-US" altLang="ko-KR" dirty="0"/>
          </a:p>
          <a:p>
            <a:pPr lvl="1"/>
            <a:r>
              <a:rPr lang="ko-KR" altLang="en-US" dirty="0"/>
              <a:t>주가지수</a:t>
            </a:r>
            <a:endParaRPr lang="en-US" altLang="ko-KR" dirty="0"/>
          </a:p>
          <a:p>
            <a:pPr lvl="2"/>
            <a:r>
              <a:rPr lang="ko-KR" altLang="en-US" dirty="0"/>
              <a:t>다우존스 산업평균지수</a:t>
            </a:r>
            <a:r>
              <a:rPr lang="en-US" altLang="ko-KR" dirty="0"/>
              <a:t>(DJIA) : 30</a:t>
            </a:r>
            <a:r>
              <a:rPr lang="ko-KR" altLang="en-US" dirty="0"/>
              <a:t>대 우량기업 가중</a:t>
            </a:r>
            <a:endParaRPr lang="en-US" altLang="ko-KR" dirty="0"/>
          </a:p>
          <a:p>
            <a:pPr lvl="2"/>
            <a:r>
              <a:rPr lang="en-US" altLang="ko-KR" dirty="0"/>
              <a:t>S&amp;P 500 : 500</a:t>
            </a:r>
            <a:r>
              <a:rPr lang="ko-KR" altLang="en-US" dirty="0"/>
              <a:t>대 기업</a:t>
            </a:r>
            <a:r>
              <a:rPr lang="en-US" altLang="ko-KR" dirty="0"/>
              <a:t>. </a:t>
            </a:r>
            <a:r>
              <a:rPr lang="ko-KR" altLang="en-US" dirty="0" err="1"/>
              <a:t>시총</a:t>
            </a:r>
            <a:r>
              <a:rPr lang="ko-KR" altLang="en-US" dirty="0"/>
              <a:t> 가중</a:t>
            </a:r>
            <a:endParaRPr lang="en-US" altLang="ko-KR" dirty="0"/>
          </a:p>
          <a:p>
            <a:pPr lvl="2"/>
            <a:r>
              <a:rPr lang="ko-KR" altLang="en-US" dirty="0"/>
              <a:t>그 외에도 나스닥</a:t>
            </a:r>
            <a:r>
              <a:rPr lang="en-US" altLang="ko-KR" dirty="0"/>
              <a:t>, </a:t>
            </a:r>
            <a:r>
              <a:rPr lang="ko-KR" altLang="en-US" dirty="0" err="1"/>
              <a:t>월셔</a:t>
            </a:r>
            <a:r>
              <a:rPr lang="ko-KR" altLang="en-US" dirty="0"/>
              <a:t> </a:t>
            </a:r>
            <a:r>
              <a:rPr lang="en-US" altLang="ko-KR" dirty="0"/>
              <a:t>5000, </a:t>
            </a:r>
            <a:r>
              <a:rPr lang="ko-KR" altLang="en-US" dirty="0" err="1"/>
              <a:t>닛케이</a:t>
            </a:r>
            <a:r>
              <a:rPr lang="en-US" altLang="ko-KR" dirty="0"/>
              <a:t>, FTSE ,DAX, </a:t>
            </a:r>
            <a:r>
              <a:rPr lang="ko-KR" altLang="en-US" dirty="0"/>
              <a:t>코스피 등</a:t>
            </a:r>
            <a:endParaRPr lang="en-US" altLang="ko-KR" dirty="0"/>
          </a:p>
          <a:p>
            <a:pPr lvl="2"/>
            <a:r>
              <a:rPr lang="ko-KR" altLang="en-US" dirty="0"/>
              <a:t>주가지수 선정 방식 </a:t>
            </a:r>
            <a:r>
              <a:rPr lang="en-US" altLang="ko-KR" dirty="0"/>
              <a:t>: </a:t>
            </a:r>
            <a:r>
              <a:rPr lang="ko-KR" altLang="en-US" dirty="0"/>
              <a:t>주가 가중</a:t>
            </a:r>
            <a:r>
              <a:rPr lang="en-US" altLang="ko-KR" dirty="0"/>
              <a:t>, </a:t>
            </a:r>
            <a:r>
              <a:rPr lang="ko-KR" altLang="en-US" dirty="0" err="1"/>
              <a:t>시총</a:t>
            </a:r>
            <a:r>
              <a:rPr lang="ko-KR" altLang="en-US" dirty="0"/>
              <a:t> 가중방식</a:t>
            </a:r>
            <a:endParaRPr lang="en-US" altLang="ko-KR" dirty="0"/>
          </a:p>
          <a:p>
            <a:r>
              <a:rPr lang="ko-KR" altLang="en-US" dirty="0"/>
              <a:t>파생상품 시장</a:t>
            </a:r>
            <a:endParaRPr lang="en-US" altLang="ko-KR" dirty="0"/>
          </a:p>
          <a:p>
            <a:pPr lvl="1"/>
            <a:r>
              <a:rPr lang="ko-KR" altLang="en-US" dirty="0" err="1"/>
              <a:t>몹션</a:t>
            </a:r>
            <a:r>
              <a:rPr lang="en-US" altLang="ko-KR" dirty="0"/>
              <a:t>(option)</a:t>
            </a:r>
          </a:p>
          <a:p>
            <a:pPr lvl="2"/>
            <a:r>
              <a:rPr lang="ko-KR" altLang="en-US" dirty="0"/>
              <a:t>콜 옵션 </a:t>
            </a:r>
            <a:r>
              <a:rPr lang="en-US" altLang="ko-KR" dirty="0"/>
              <a:t>: </a:t>
            </a:r>
            <a:r>
              <a:rPr lang="ko-KR" altLang="en-US" dirty="0"/>
              <a:t>특정 자산을 행사가격에 미래 시점에 살 수 있는 권리</a:t>
            </a:r>
            <a:r>
              <a:rPr lang="en-US" altLang="ko-KR" dirty="0"/>
              <a:t>;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가격이 높을수록 가치 하락</a:t>
            </a:r>
            <a:endParaRPr lang="en-US" altLang="ko-KR" dirty="0"/>
          </a:p>
          <a:p>
            <a:pPr lvl="2"/>
            <a:r>
              <a:rPr lang="ko-KR" altLang="en-US" dirty="0" err="1"/>
              <a:t>풋</a:t>
            </a:r>
            <a:r>
              <a:rPr lang="ko-KR" altLang="en-US" dirty="0"/>
              <a:t> 옵션 </a:t>
            </a:r>
            <a:r>
              <a:rPr lang="en-US" altLang="ko-KR" dirty="0"/>
              <a:t>: </a:t>
            </a:r>
            <a:r>
              <a:rPr lang="ko-KR" altLang="en-US" dirty="0"/>
              <a:t>자산을 행사사격에 미래 시점에 팔 수 있는 권리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/>
              <a:t>행사 가격이 높을수록 가치 증대</a:t>
            </a:r>
            <a:endParaRPr lang="en-US" altLang="ko-KR" dirty="0"/>
          </a:p>
          <a:p>
            <a:pPr lvl="2"/>
            <a:r>
              <a:rPr lang="ko-KR" altLang="en-US" dirty="0"/>
              <a:t>권리를 얻기 위해 옵션 프리미엄 지급</a:t>
            </a:r>
            <a:endParaRPr lang="en-US" altLang="ko-KR" dirty="0"/>
          </a:p>
          <a:p>
            <a:pPr lvl="3"/>
            <a:r>
              <a:rPr lang="ko-KR" altLang="en-US" dirty="0">
                <a:sym typeface="Wingdings" panose="05000000000000000000" pitchFamily="2" charset="2"/>
              </a:rPr>
              <a:t>불리할 경우 권리행사를 포기해 손실을 프리미엄으로 제한</a:t>
            </a:r>
            <a:endParaRPr lang="en-US" altLang="ko-KR" dirty="0"/>
          </a:p>
          <a:p>
            <a:pPr lvl="1"/>
            <a:r>
              <a:rPr lang="ko-KR" altLang="en-US" dirty="0"/>
              <a:t>선물</a:t>
            </a:r>
            <a:r>
              <a:rPr lang="en-US" altLang="ko-KR" dirty="0"/>
              <a:t>(Future) : </a:t>
            </a:r>
            <a:r>
              <a:rPr lang="ko-KR" altLang="en-US" dirty="0"/>
              <a:t>특정</a:t>
            </a:r>
            <a:r>
              <a:rPr lang="en-US" altLang="ko-KR" dirty="0"/>
              <a:t> </a:t>
            </a:r>
            <a:r>
              <a:rPr lang="ko-KR" altLang="en-US" dirty="0"/>
              <a:t>자산을 합의된 선물 가격으로 만기일에 인도 할</a:t>
            </a:r>
            <a:r>
              <a:rPr lang="en-US" altLang="ko-KR" dirty="0"/>
              <a:t>/</a:t>
            </a:r>
            <a:r>
              <a:rPr lang="ko-KR" altLang="en-US" dirty="0"/>
              <a:t>받을 의무의 계약</a:t>
            </a:r>
            <a:endParaRPr lang="en-US" altLang="ko-KR" dirty="0"/>
          </a:p>
          <a:p>
            <a:pPr lvl="2"/>
            <a:r>
              <a:rPr lang="ko-KR" altLang="en-US" dirty="0"/>
              <a:t>매수</a:t>
            </a:r>
            <a:r>
              <a:rPr lang="en-US" altLang="ko-KR" dirty="0"/>
              <a:t>(long)</a:t>
            </a:r>
            <a:r>
              <a:rPr lang="ko-KR" altLang="en-US" dirty="0"/>
              <a:t>포지션 </a:t>
            </a:r>
            <a:r>
              <a:rPr lang="en-US" altLang="ko-KR" dirty="0"/>
              <a:t>: </a:t>
            </a:r>
            <a:r>
              <a:rPr lang="ko-KR" altLang="en-US" dirty="0"/>
              <a:t>만기일에 자산을 인도받을 의무</a:t>
            </a:r>
            <a:endParaRPr lang="en-US" altLang="ko-KR" dirty="0"/>
          </a:p>
          <a:p>
            <a:pPr lvl="2"/>
            <a:r>
              <a:rPr lang="ko-KR" altLang="en-US" dirty="0"/>
              <a:t>매도</a:t>
            </a:r>
            <a:r>
              <a:rPr lang="en-US" altLang="ko-KR" dirty="0"/>
              <a:t>(short)</a:t>
            </a:r>
            <a:r>
              <a:rPr lang="ko-KR" altLang="en-US" dirty="0"/>
              <a:t>포지션 </a:t>
            </a:r>
            <a:r>
              <a:rPr lang="en-US" altLang="ko-KR" dirty="0"/>
              <a:t>: </a:t>
            </a:r>
            <a:r>
              <a:rPr lang="ko-KR" altLang="en-US" dirty="0"/>
              <a:t>만기일에 자산을 인도할 의무</a:t>
            </a:r>
            <a:endParaRPr lang="en-US" altLang="ko-KR" dirty="0"/>
          </a:p>
          <a:p>
            <a:pPr lvl="2"/>
            <a:r>
              <a:rPr lang="ko-KR" altLang="en-US" dirty="0"/>
              <a:t>낮은 증거금</a:t>
            </a:r>
            <a:r>
              <a:rPr lang="en-US" altLang="ko-KR" dirty="0"/>
              <a:t>(margin)</a:t>
            </a:r>
            <a:r>
              <a:rPr lang="ko-KR" altLang="en-US" dirty="0"/>
              <a:t>만으로 계약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레버리지 효과 </a:t>
            </a:r>
            <a:r>
              <a:rPr lang="en-US" altLang="ko-KR" dirty="0">
                <a:sym typeface="Wingdings" panose="05000000000000000000" pitchFamily="2" charset="2"/>
              </a:rPr>
              <a:t>but, </a:t>
            </a:r>
            <a:r>
              <a:rPr lang="ko-KR" altLang="en-US" dirty="0" err="1">
                <a:sym typeface="Wingdings" panose="05000000000000000000" pitchFamily="2" charset="2"/>
              </a:rPr>
              <a:t>불리할경우</a:t>
            </a:r>
            <a:r>
              <a:rPr lang="ko-KR" altLang="en-US" dirty="0">
                <a:sym typeface="Wingdings" panose="05000000000000000000" pitchFamily="2" charset="2"/>
              </a:rPr>
              <a:t> 손실이 무제한으로 증대</a:t>
            </a:r>
            <a:r>
              <a:rPr lang="en-US" altLang="ko-KR" dirty="0">
                <a:sym typeface="Wingdings" panose="05000000000000000000" pitchFamily="2" charset="2"/>
              </a:rPr>
              <a:t>. </a:t>
            </a:r>
            <a:r>
              <a:rPr lang="ko-KR" altLang="en-US" dirty="0">
                <a:sym typeface="Wingdings" panose="05000000000000000000" pitchFamily="2" charset="2"/>
              </a:rPr>
              <a:t>선물은 </a:t>
            </a:r>
            <a:r>
              <a:rPr lang="ko-KR" altLang="en-US" dirty="0" err="1">
                <a:sym typeface="Wingdings" panose="05000000000000000000" pitchFamily="2" charset="2"/>
              </a:rPr>
              <a:t>만기시</a:t>
            </a:r>
            <a:r>
              <a:rPr lang="ko-KR" altLang="en-US" dirty="0">
                <a:sym typeface="Wingdings" panose="05000000000000000000" pitchFamily="2" charset="2"/>
              </a:rPr>
              <a:t> 의무적으로 이행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85F37E-471F-E3EC-7DC3-A4E22063FCE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1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34F3A2C-A344-1F40-5C38-0ECD6EE46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2B69070-DBCB-1693-8447-E94A6CF2B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수익과 리스크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07478-731A-B30C-EF4A-5C02FFFB8A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196A8EB-92AE-11E2-7E1E-8624C271AF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금융에 대한 원칙</a:t>
            </a:r>
            <a:endParaRPr lang="en-US" altLang="ko-KR" dirty="0"/>
          </a:p>
          <a:p>
            <a:pPr lvl="1"/>
            <a:r>
              <a:rPr lang="ko-KR" altLang="en-US" dirty="0"/>
              <a:t>금융은 평가에 대한 것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1. </a:t>
            </a:r>
            <a:r>
              <a:rPr lang="ko-KR" altLang="en-US" dirty="0"/>
              <a:t>시간에 대한 가치 </a:t>
            </a:r>
            <a:r>
              <a:rPr lang="en-US" altLang="ko-KR" dirty="0"/>
              <a:t>= </a:t>
            </a:r>
            <a:r>
              <a:rPr lang="ko-KR" altLang="en-US" dirty="0" err="1"/>
              <a:t>할인률</a:t>
            </a:r>
            <a:endParaRPr lang="en-US" altLang="ko-KR" dirty="0"/>
          </a:p>
          <a:p>
            <a:pPr lvl="2"/>
            <a:r>
              <a:rPr lang="en-US" altLang="ko-KR" dirty="0"/>
              <a:t>2. </a:t>
            </a:r>
            <a:r>
              <a:rPr lang="ko-KR" altLang="en-US" dirty="0"/>
              <a:t>리스크와 수익</a:t>
            </a:r>
            <a:endParaRPr lang="en-US" altLang="ko-KR" dirty="0"/>
          </a:p>
          <a:p>
            <a:pPr lvl="3"/>
            <a:r>
              <a:rPr lang="ko-KR" altLang="en-US" dirty="0"/>
              <a:t>요구수익률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내가 받아야 할 최소 수익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위험에 대한 성향이 결정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r>
              <a:rPr lang="ko-KR" altLang="en-US" dirty="0">
                <a:sym typeface="Wingdings" panose="05000000000000000000" pitchFamily="2" charset="2"/>
              </a:rPr>
              <a:t>위험선호자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변동성 </a:t>
            </a:r>
            <a:r>
              <a:rPr lang="en-US" altLang="ko-KR" dirty="0">
                <a:sym typeface="Wingdings" panose="05000000000000000000" pitchFamily="2" charset="2"/>
              </a:rPr>
              <a:t>OK, </a:t>
            </a:r>
            <a:r>
              <a:rPr lang="ko-KR" altLang="en-US" dirty="0">
                <a:sym typeface="Wingdings" panose="05000000000000000000" pitchFamily="2" charset="2"/>
              </a:rPr>
              <a:t>같은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위험치에 낮은 보상요구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미래수익의 현재 가치 ↑</a:t>
            </a:r>
            <a:endParaRPr lang="en-US" altLang="ko-KR" dirty="0">
              <a:sym typeface="Wingdings" panose="05000000000000000000" pitchFamily="2" charset="2"/>
            </a:endParaRPr>
          </a:p>
          <a:p>
            <a:pPr lvl="3"/>
            <a:r>
              <a:rPr lang="ko-KR" altLang="en-US" dirty="0">
                <a:sym typeface="Wingdings" panose="05000000000000000000" pitchFamily="2" charset="2"/>
              </a:rPr>
              <a:t>위험회피자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변동성 </a:t>
            </a:r>
            <a:r>
              <a:rPr lang="en-US" altLang="ko-KR" dirty="0">
                <a:sym typeface="Wingdings" panose="05000000000000000000" pitchFamily="2" charset="2"/>
              </a:rPr>
              <a:t>X, </a:t>
            </a:r>
            <a:r>
              <a:rPr lang="ko-KR" altLang="en-US" dirty="0">
                <a:sym typeface="Wingdings" panose="05000000000000000000" pitchFamily="2" charset="2"/>
              </a:rPr>
              <a:t>위험치에 대해 높은 보상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미래수익 현재가치 낮게 평가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요구수익률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최소수익률 형성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r>
              <a:rPr lang="ko-KR" altLang="en-US" dirty="0" err="1">
                <a:sym typeface="Wingdings" panose="05000000000000000000" pitchFamily="2" charset="2"/>
              </a:rPr>
              <a:t>기회비용으로서의</a:t>
            </a:r>
            <a:r>
              <a:rPr lang="ko-KR" altLang="en-US" dirty="0">
                <a:sym typeface="Wingdings" panose="05000000000000000000" pitchFamily="2" charset="2"/>
              </a:rPr>
              <a:t> 수익 </a:t>
            </a:r>
            <a:r>
              <a:rPr lang="en-US" altLang="ko-KR" dirty="0">
                <a:sym typeface="Wingdings" panose="05000000000000000000" pitchFamily="2" charset="2"/>
              </a:rPr>
              <a:t>+ </a:t>
            </a:r>
            <a:r>
              <a:rPr lang="ko-KR" altLang="en-US" dirty="0" err="1">
                <a:sym typeface="Wingdings" panose="05000000000000000000" pitchFamily="2" charset="2"/>
              </a:rPr>
              <a:t>자본조달비용으로서의</a:t>
            </a:r>
            <a:r>
              <a:rPr lang="ko-KR" altLang="en-US" dirty="0">
                <a:sym typeface="Wingdings" panose="05000000000000000000" pitchFamily="2" charset="2"/>
              </a:rPr>
              <a:t> 수익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요구수익률의 구성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통계학과 수익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평균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수익률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분산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리스크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공분산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상품간 상관관계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여러 자산 </a:t>
            </a:r>
            <a:r>
              <a:rPr lang="ko-KR" altLang="en-US" dirty="0" err="1">
                <a:sym typeface="Wingdings" panose="05000000000000000000" pitchFamily="2" charset="2"/>
              </a:rPr>
              <a:t>조합시</a:t>
            </a:r>
            <a:r>
              <a:rPr lang="ko-KR" altLang="en-US" dirty="0">
                <a:sym typeface="Wingdings" panose="05000000000000000000" pitchFamily="2" charset="2"/>
              </a:rPr>
              <a:t> 변동성 하락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연간수익의 계산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기하평균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수익률이 누적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산술평균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과대평가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사용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확률에 따른 자산의 분산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공분산 측정 </a:t>
            </a:r>
            <a:r>
              <a:rPr lang="en-US" altLang="ko-KR" dirty="0">
                <a:sym typeface="Wingdings" panose="05000000000000000000" pitchFamily="2" charset="2"/>
              </a:rPr>
              <a:t>(p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호황일 확률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593F6D-2355-9C90-BA53-E31A6FFF49D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" name="그림 9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8A370EF-3DFB-E461-11BA-A24FFD8BC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952" y="2576736"/>
            <a:ext cx="3744416" cy="155199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0EC0717-3288-B91A-3F04-35BAC1FB9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848" y="5663650"/>
            <a:ext cx="3896732" cy="461389"/>
          </a:xfrm>
          <a:prstGeom prst="rect">
            <a:avLst/>
          </a:prstGeom>
        </p:spPr>
      </p:pic>
      <p:pic>
        <p:nvPicPr>
          <p:cNvPr id="18" name="그림 17" descr="텍스트, 폰트, 타이포그래피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11BE911-3BD5-578B-F473-0CF258E5C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848" y="6265735"/>
            <a:ext cx="3149566" cy="63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08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198D76B-5ACC-C213-FB1E-976123EFF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1B4D271-B8F7-2DB1-EA73-8ECA4AEC0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현재가치의 측정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054D00-7250-5356-3155-6157368A54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C46E06A-E569-70A9-D2E4-0DD3D2004E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err="1"/>
              <a:t>피셔모델</a:t>
            </a:r>
            <a:endParaRPr lang="en-US" altLang="ko-KR" dirty="0"/>
          </a:p>
          <a:p>
            <a:pPr lvl="1"/>
            <a:r>
              <a:rPr lang="ko-KR" altLang="en-US" dirty="0"/>
              <a:t>현재 소득과 미래 소득을 어떻게 </a:t>
            </a:r>
            <a:r>
              <a:rPr lang="ko-KR" altLang="en-US" dirty="0" err="1"/>
              <a:t>배분하는게</a:t>
            </a:r>
            <a:r>
              <a:rPr lang="ko-KR" altLang="en-US" dirty="0"/>
              <a:t> 효용이 극대화되나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W = Y0 + Y1/(1+r)</a:t>
            </a:r>
          </a:p>
          <a:p>
            <a:r>
              <a:rPr lang="ko-KR" altLang="en-US" dirty="0"/>
              <a:t>현재가치의 계산</a:t>
            </a:r>
            <a:endParaRPr lang="en-US" altLang="ko-KR" dirty="0"/>
          </a:p>
          <a:p>
            <a:pPr lvl="1"/>
            <a:r>
              <a:rPr lang="ko-KR" altLang="en-US" dirty="0"/>
              <a:t>현재가치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복리 계산의 </a:t>
            </a:r>
            <a:r>
              <a:rPr lang="ko-KR" altLang="en-US" dirty="0" err="1">
                <a:sym typeface="Wingdings" panose="05000000000000000000" pitchFamily="2" charset="2"/>
              </a:rPr>
              <a:t>역연산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VT = V0(1+r)^T  V0 = VT(1+r)^T</a:t>
            </a:r>
          </a:p>
          <a:p>
            <a:pPr lvl="1"/>
            <a:r>
              <a:rPr lang="en-US" altLang="ko-KR" dirty="0"/>
              <a:t>C := </a:t>
            </a:r>
            <a:r>
              <a:rPr lang="ko-KR" altLang="en-US" dirty="0"/>
              <a:t>현금흐름</a:t>
            </a:r>
            <a:r>
              <a:rPr lang="en-US" altLang="ko-KR" dirty="0"/>
              <a:t>, r := </a:t>
            </a:r>
            <a:r>
              <a:rPr lang="ko-KR" altLang="en-US" dirty="0"/>
              <a:t>이자율</a:t>
            </a:r>
            <a:r>
              <a:rPr lang="en-US" altLang="ko-KR" dirty="0"/>
              <a:t> </a:t>
            </a:r>
            <a:r>
              <a:rPr lang="ko-KR" altLang="en-US" dirty="0"/>
              <a:t>일 때 현재가치 계산</a:t>
            </a:r>
            <a:endParaRPr lang="en-US" altLang="ko-KR" dirty="0"/>
          </a:p>
          <a:p>
            <a:r>
              <a:rPr lang="ko-KR" altLang="en-US" dirty="0"/>
              <a:t>영구채의 현재가치 계산</a:t>
            </a:r>
            <a:endParaRPr lang="en-US" altLang="ko-KR" dirty="0"/>
          </a:p>
          <a:p>
            <a:pPr lvl="1"/>
            <a:r>
              <a:rPr lang="en-US" altLang="ko-KR" dirty="0"/>
              <a:t>C := coupon(</a:t>
            </a:r>
            <a:r>
              <a:rPr lang="ko-KR" altLang="en-US" dirty="0"/>
              <a:t>채권이자</a:t>
            </a:r>
            <a:r>
              <a:rPr lang="en-US" altLang="ko-KR" dirty="0"/>
              <a:t>) </a:t>
            </a:r>
            <a:r>
              <a:rPr lang="ko-KR" altLang="en-US" dirty="0"/>
              <a:t>일 때 현재가치의 계산</a:t>
            </a:r>
            <a:endParaRPr lang="en-US" altLang="ko-KR" dirty="0"/>
          </a:p>
          <a:p>
            <a:pPr lvl="2"/>
            <a:r>
              <a:rPr lang="ko-KR" altLang="en-US" dirty="0"/>
              <a:t> 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 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미래 수익이 일정 속도</a:t>
            </a:r>
            <a:r>
              <a:rPr lang="en-US" altLang="ko-KR" dirty="0"/>
              <a:t>(g)</a:t>
            </a:r>
            <a:r>
              <a:rPr lang="ko-KR" altLang="en-US" dirty="0"/>
              <a:t>만큼 증가하는 </a:t>
            </a:r>
            <a:r>
              <a:rPr lang="ko-KR" altLang="en-US" dirty="0" err="1"/>
              <a:t>영구채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BAFDE57-4997-2662-F7E3-8F498B21801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폰트, 도표, 화이트, 텍스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ABA85AC-9520-CB49-7785-52DAF4252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144" y="1302223"/>
            <a:ext cx="1605900" cy="964849"/>
          </a:xfrm>
          <a:prstGeom prst="rect">
            <a:avLst/>
          </a:prstGeom>
        </p:spPr>
      </p:pic>
      <p:pic>
        <p:nvPicPr>
          <p:cNvPr id="10" name="그림 9" descr="텍스트, 폰트, 라인, 친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35CC726-7285-3381-79CF-A80039325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848" y="2648744"/>
            <a:ext cx="2664296" cy="624643"/>
          </a:xfrm>
          <a:prstGeom prst="rect">
            <a:avLst/>
          </a:prstGeom>
        </p:spPr>
      </p:pic>
      <p:pic>
        <p:nvPicPr>
          <p:cNvPr id="12" name="그림 11" descr="텍스트, 폰트, 스크린샷, 대수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14D352D-E853-3F88-6FD4-4978F19E23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848" y="3345395"/>
            <a:ext cx="2030933" cy="1160533"/>
          </a:xfrm>
          <a:prstGeom prst="rect">
            <a:avLst/>
          </a:prstGeom>
        </p:spPr>
      </p:pic>
      <p:pic>
        <p:nvPicPr>
          <p:cNvPr id="14" name="그림 13" descr="텍스트, 폰트, 라인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1106EE3-39D6-6E0B-5506-ADCCD74195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865" y="4886849"/>
            <a:ext cx="2865645" cy="858239"/>
          </a:xfrm>
          <a:prstGeom prst="rect">
            <a:avLst/>
          </a:prstGeom>
        </p:spPr>
      </p:pic>
      <p:pic>
        <p:nvPicPr>
          <p:cNvPr id="16" name="그림 15" descr="텍스트, 폰트, 스크린샷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1083CCD-BBF3-DBB9-A208-5B98640917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865" y="5770932"/>
            <a:ext cx="2664295" cy="91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44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7DCC134-8500-E647-EC75-B24A22DD4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3893571-4E69-E1D5-0C0C-5A9F8E21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채권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C4F614-74F4-A9D2-3698-E6158B29E8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73EB14B-C33D-5D3B-1632-0A1083EC4A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채권시장</a:t>
            </a:r>
            <a:endParaRPr lang="en-US" altLang="ko-KR" dirty="0"/>
          </a:p>
          <a:p>
            <a:pPr lvl="1"/>
            <a:r>
              <a:rPr lang="ko-KR" altLang="en-US" dirty="0"/>
              <a:t>채권 </a:t>
            </a:r>
            <a:r>
              <a:rPr lang="en-US" altLang="ko-KR" dirty="0"/>
              <a:t>: </a:t>
            </a:r>
            <a:r>
              <a:rPr lang="ko-KR" altLang="en-US" dirty="0"/>
              <a:t>미래 현금흐름이 정해진 청구권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고정소득증권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 err="1">
                <a:sym typeface="Wingdings" panose="05000000000000000000" pitchFamily="2" charset="2"/>
              </a:rPr>
              <a:t>이표채</a:t>
            </a:r>
            <a:r>
              <a:rPr lang="en-US" altLang="ko-KR" dirty="0">
                <a:sym typeface="Wingdings" panose="05000000000000000000" pitchFamily="2" charset="2"/>
              </a:rPr>
              <a:t>(coupon bond), </a:t>
            </a:r>
            <a:r>
              <a:rPr lang="ko-KR" altLang="en-US" dirty="0">
                <a:sym typeface="Wingdings" panose="05000000000000000000" pitchFamily="2" charset="2"/>
              </a:rPr>
              <a:t>할인채</a:t>
            </a:r>
            <a:r>
              <a:rPr lang="en-US" altLang="ko-KR" dirty="0">
                <a:sym typeface="Wingdings" panose="05000000000000000000" pitchFamily="2" charset="2"/>
              </a:rPr>
              <a:t>(discount bond), </a:t>
            </a:r>
            <a:r>
              <a:rPr lang="ko-KR" altLang="en-US" dirty="0" err="1">
                <a:sym typeface="Wingdings" panose="05000000000000000000" pitchFamily="2" charset="2"/>
              </a:rPr>
              <a:t>영구채</a:t>
            </a:r>
            <a:r>
              <a:rPr lang="en-US" altLang="ko-KR" dirty="0">
                <a:sym typeface="Wingdings" panose="05000000000000000000" pitchFamily="2" charset="2"/>
              </a:rPr>
              <a:t>(perpetual bond)</a:t>
            </a:r>
            <a:r>
              <a:rPr lang="ko-KR" altLang="en-US" dirty="0">
                <a:sym typeface="Wingdings" panose="05000000000000000000" pitchFamily="2" charset="2"/>
              </a:rPr>
              <a:t>로 구분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채권 보유에 따르는 위험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이자율 위험</a:t>
            </a:r>
            <a:r>
              <a:rPr lang="en-US" altLang="ko-KR" dirty="0">
                <a:sym typeface="Wingdings" panose="05000000000000000000" pitchFamily="2" charset="2"/>
              </a:rPr>
              <a:t> : </a:t>
            </a:r>
            <a:r>
              <a:rPr lang="ko-KR" altLang="en-US" dirty="0">
                <a:sym typeface="Wingdings" panose="05000000000000000000" pitchFamily="2" charset="2"/>
              </a:rPr>
              <a:t>이자율 상승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채권 가격 하락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채무불이행위험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회사채의 경우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인플레위험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물가상승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채권 가격 </a:t>
            </a:r>
            <a:r>
              <a:rPr lang="en-US" altLang="ko-KR" dirty="0">
                <a:sym typeface="Wingdings" panose="05000000000000000000" pitchFamily="2" charset="2"/>
              </a:rPr>
              <a:t>+ </a:t>
            </a:r>
            <a:r>
              <a:rPr lang="ko-KR" altLang="en-US" dirty="0">
                <a:sym typeface="Wingdings" panose="05000000000000000000" pitchFamily="2" charset="2"/>
              </a:rPr>
              <a:t>이자 실질가치 하락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재투자위험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 err="1">
                <a:sym typeface="Wingdings" panose="05000000000000000000" pitchFamily="2" charset="2"/>
              </a:rPr>
              <a:t>이표채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수익률보다 재투자 때 겪는 이자율이 높냐</a:t>
            </a:r>
            <a:r>
              <a:rPr lang="en-US" altLang="ko-KR" dirty="0">
                <a:sym typeface="Wingdings" panose="05000000000000000000" pitchFamily="2" charset="2"/>
              </a:rPr>
              <a:t>? </a:t>
            </a:r>
            <a:r>
              <a:rPr lang="ko-KR" altLang="en-US" dirty="0">
                <a:sym typeface="Wingdings" panose="05000000000000000000" pitchFamily="2" charset="2"/>
              </a:rPr>
              <a:t>낮냐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유동성위험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유동성 가능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중도상환위험 </a:t>
            </a:r>
            <a:r>
              <a:rPr lang="en-US" altLang="ko-KR" dirty="0">
                <a:sym typeface="Wingdings" panose="05000000000000000000" pitchFamily="2" charset="2"/>
              </a:rPr>
              <a:t>: callable bond; </a:t>
            </a:r>
            <a:r>
              <a:rPr lang="ko-KR" altLang="en-US" dirty="0">
                <a:sym typeface="Wingdings" panose="05000000000000000000" pitchFamily="2" charset="2"/>
              </a:rPr>
              <a:t>조기상환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금리 하락시점일때</a:t>
            </a:r>
            <a:r>
              <a:rPr lang="en-US" altLang="ko-KR" dirty="0">
                <a:sym typeface="Wingdings" panose="05000000000000000000" pitchFamily="2" charset="2"/>
              </a:rPr>
              <a:t>?  </a:t>
            </a:r>
            <a:r>
              <a:rPr lang="ko-KR" altLang="en-US" dirty="0">
                <a:sym typeface="Wingdings" panose="05000000000000000000" pitchFamily="2" charset="2"/>
              </a:rPr>
              <a:t>수익 악화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채권의 가격 결정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채권 가격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=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총 이자</a:t>
            </a:r>
            <a:r>
              <a:rPr lang="en-US" altLang="ko-KR" dirty="0">
                <a:sym typeface="Wingdings" panose="05000000000000000000" pitchFamily="2" charset="2"/>
              </a:rPr>
              <a:t>(coupon)</a:t>
            </a:r>
            <a:r>
              <a:rPr lang="ko-KR" altLang="en-US" dirty="0">
                <a:sym typeface="Wingdings" panose="05000000000000000000" pitchFamily="2" charset="2"/>
              </a:rPr>
              <a:t>의 현재가치</a:t>
            </a:r>
            <a:r>
              <a:rPr lang="en-US" altLang="ko-KR" dirty="0">
                <a:sym typeface="Wingdings" panose="05000000000000000000" pitchFamily="2" charset="2"/>
              </a:rPr>
              <a:t>)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+ (</a:t>
            </a:r>
            <a:r>
              <a:rPr lang="ko-KR" altLang="en-US" dirty="0">
                <a:sym typeface="Wingdings" panose="05000000000000000000" pitchFamily="2" charset="2"/>
              </a:rPr>
              <a:t>만기 액면금액</a:t>
            </a:r>
            <a:r>
              <a:rPr lang="en-US" altLang="ko-KR" dirty="0">
                <a:sym typeface="Wingdings" panose="05000000000000000000" pitchFamily="2" charset="2"/>
              </a:rPr>
              <a:t>(par/face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value)</a:t>
            </a:r>
            <a:r>
              <a:rPr lang="ko-KR" altLang="en-US" dirty="0">
                <a:sym typeface="Wingdings" panose="05000000000000000000" pitchFamily="2" charset="2"/>
              </a:rPr>
              <a:t>의 현재가치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채권가격과 이자율의 관계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이자율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채권의 미래 이자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액면 금액을 할인</a:t>
            </a:r>
            <a:r>
              <a:rPr lang="en-US" altLang="ko-KR" dirty="0">
                <a:sym typeface="Wingdings" panose="05000000000000000000" pitchFamily="2" charset="2"/>
              </a:rPr>
              <a:t>;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이자율 ↑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↓</a:t>
            </a:r>
            <a:r>
              <a:rPr lang="en-US" altLang="ko-KR" dirty="0">
                <a:sym typeface="Wingdings" panose="05000000000000000000" pitchFamily="2" charset="2"/>
              </a:rPr>
              <a:t>) </a:t>
            </a:r>
            <a:r>
              <a:rPr lang="ko-KR" altLang="en-US" dirty="0">
                <a:sym typeface="Wingdings" panose="05000000000000000000" pitchFamily="2" charset="2"/>
              </a:rPr>
              <a:t>채권 가격 ↓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↑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채권의 종류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할인채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할인해서 발행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이자 지급 없이 만기에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액면금액 상환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투자수익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채권가격 상승시에 발생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만기에 가까워질 수록 가치가 액면금액으로 수렴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STRIPS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Stripping(</a:t>
            </a:r>
            <a:r>
              <a:rPr lang="ko-KR" altLang="en-US" dirty="0">
                <a:sym typeface="Wingdings" panose="05000000000000000000" pitchFamily="2" charset="2"/>
              </a:rPr>
              <a:t>분리</a:t>
            </a:r>
            <a:r>
              <a:rPr lang="en-US" altLang="ko-KR" dirty="0">
                <a:sym typeface="Wingdings" panose="05000000000000000000" pitchFamily="2" charset="2"/>
              </a:rPr>
              <a:t>) : </a:t>
            </a:r>
            <a:r>
              <a:rPr lang="ko-KR" altLang="en-US" dirty="0" err="1">
                <a:sym typeface="Wingdings" panose="05000000000000000000" pitchFamily="2" charset="2"/>
              </a:rPr>
              <a:t>이표채를</a:t>
            </a:r>
            <a:r>
              <a:rPr lang="ko-KR" altLang="en-US" dirty="0">
                <a:sym typeface="Wingdings" panose="05000000000000000000" pitchFamily="2" charset="2"/>
              </a:rPr>
              <a:t> 이자 </a:t>
            </a:r>
            <a:r>
              <a:rPr lang="en-US" altLang="ko-KR" dirty="0">
                <a:sym typeface="Wingdings" panose="05000000000000000000" pitchFamily="2" charset="2"/>
              </a:rPr>
              <a:t>+ </a:t>
            </a:r>
            <a:r>
              <a:rPr lang="ko-KR" altLang="en-US" dirty="0">
                <a:sym typeface="Wingdings" panose="05000000000000000000" pitchFamily="2" charset="2"/>
              </a:rPr>
              <a:t>액면금액으로 분리해 할인채로 거래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Reconstituting(</a:t>
            </a:r>
            <a:r>
              <a:rPr lang="ko-KR" altLang="en-US" dirty="0">
                <a:sym typeface="Wingdings" panose="05000000000000000000" pitchFamily="2" charset="2"/>
              </a:rPr>
              <a:t>재결합</a:t>
            </a:r>
            <a:r>
              <a:rPr lang="en-US" altLang="ko-KR" dirty="0">
                <a:sym typeface="Wingdings" panose="05000000000000000000" pitchFamily="2" charset="2"/>
              </a:rPr>
              <a:t>) : </a:t>
            </a:r>
            <a:r>
              <a:rPr lang="ko-KR" altLang="en-US" dirty="0">
                <a:sym typeface="Wingdings" panose="05000000000000000000" pitchFamily="2" charset="2"/>
              </a:rPr>
              <a:t>할인채로 </a:t>
            </a:r>
            <a:r>
              <a:rPr lang="ko-KR" altLang="en-US" dirty="0" err="1">
                <a:sym typeface="Wingdings" panose="05000000000000000000" pitchFamily="2" charset="2"/>
              </a:rPr>
              <a:t>포폴을</a:t>
            </a:r>
            <a:r>
              <a:rPr lang="ko-KR" altLang="en-US" dirty="0">
                <a:sym typeface="Wingdings" panose="05000000000000000000" pitchFamily="2" charset="2"/>
              </a:rPr>
              <a:t> 구성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이표채로</a:t>
            </a:r>
            <a:r>
              <a:rPr lang="ko-KR" altLang="en-US" dirty="0">
                <a:sym typeface="Wingdings" panose="05000000000000000000" pitchFamily="2" charset="2"/>
              </a:rPr>
              <a:t> 거래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 err="1">
                <a:sym typeface="Wingdings" panose="05000000000000000000" pitchFamily="2" charset="2"/>
              </a:rPr>
              <a:t>이표채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매기 이자 지급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 err="1">
                <a:sym typeface="Wingdings" panose="05000000000000000000" pitchFamily="2" charset="2"/>
              </a:rPr>
              <a:t>만기시</a:t>
            </a:r>
            <a:r>
              <a:rPr lang="ko-KR" altLang="en-US" dirty="0">
                <a:sym typeface="Wingdings" panose="05000000000000000000" pitchFamily="2" charset="2"/>
              </a:rPr>
              <a:t> 액면</a:t>
            </a:r>
            <a:r>
              <a:rPr lang="en-US" altLang="ko-KR" dirty="0">
                <a:sym typeface="Wingdings" panose="05000000000000000000" pitchFamily="2" charset="2"/>
              </a:rPr>
              <a:t>+</a:t>
            </a:r>
            <a:r>
              <a:rPr lang="ko-KR" altLang="en-US" dirty="0">
                <a:sym typeface="Wingdings" panose="05000000000000000000" pitchFamily="2" charset="2"/>
              </a:rPr>
              <a:t>이자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 err="1">
                <a:sym typeface="Wingdings" panose="05000000000000000000" pitchFamily="2" charset="2"/>
              </a:rPr>
              <a:t>영구채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영구적으로 이자만 지급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주식</a:t>
            </a:r>
            <a:r>
              <a:rPr lang="en-US" altLang="ko-KR" dirty="0">
                <a:sym typeface="Wingdings" panose="05000000000000000000" pitchFamily="2" charset="2"/>
              </a:rPr>
              <a:t>+</a:t>
            </a:r>
            <a:r>
              <a:rPr lang="ko-KR" altLang="en-US" dirty="0">
                <a:sym typeface="Wingdings" panose="05000000000000000000" pitchFamily="2" charset="2"/>
              </a:rPr>
              <a:t>채권의 특성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3A8719-E285-22F8-CF36-E81D4C7F253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4E4F12F-F688-81A1-F8CC-9F843A38B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679" y="2432719"/>
            <a:ext cx="1190623" cy="100737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3F4E7CB-934D-7852-65D8-347A2B3FF5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8055"/>
          <a:stretch/>
        </p:blipFill>
        <p:spPr>
          <a:xfrm>
            <a:off x="5229200" y="3440092"/>
            <a:ext cx="1389582" cy="1342344"/>
          </a:xfrm>
          <a:prstGeom prst="rect">
            <a:avLst/>
          </a:prstGeom>
        </p:spPr>
      </p:pic>
      <p:pic>
        <p:nvPicPr>
          <p:cNvPr id="16" name="그림 15" descr="폰트, 텍스트, 라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448CDBF-FC83-F7D8-6C47-C31DEB3656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984" y="4160912"/>
            <a:ext cx="1281508" cy="405150"/>
          </a:xfrm>
          <a:prstGeom prst="rect">
            <a:avLst/>
          </a:prstGeom>
        </p:spPr>
      </p:pic>
      <p:pic>
        <p:nvPicPr>
          <p:cNvPr id="18" name="그림 17" descr="텍스트, 폰트, 라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FBFBD28-BBEA-7F96-B441-C5AF221C3C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0579" y="5789809"/>
            <a:ext cx="3789040" cy="800672"/>
          </a:xfrm>
          <a:prstGeom prst="rect">
            <a:avLst/>
          </a:prstGeom>
        </p:spPr>
      </p:pic>
      <p:pic>
        <p:nvPicPr>
          <p:cNvPr id="20" name="그림 19" descr="텍스트, 폰트, 라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7DA8FB-4E93-42BA-311D-939689C375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483" y="6955580"/>
            <a:ext cx="1845616" cy="800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C4B78A-B4D4-52A7-9ECB-BD1D69B97E46}"/>
              </a:ext>
            </a:extLst>
          </p:cNvPr>
          <p:cNvSpPr txBox="1"/>
          <p:nvPr/>
        </p:nvSpPr>
        <p:spPr>
          <a:xfrm>
            <a:off x="4240079" y="6985672"/>
            <a:ext cx="217719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등가수익률</a:t>
            </a:r>
            <a:r>
              <a:rPr lang="en-US" altLang="ko-KR" sz="1000" dirty="0"/>
              <a:t>(bond</a:t>
            </a:r>
            <a:r>
              <a:rPr lang="ko-KR" altLang="en-US" sz="1000" dirty="0"/>
              <a:t> </a:t>
            </a:r>
            <a:r>
              <a:rPr lang="en-US" altLang="ko-KR" sz="1000" dirty="0"/>
              <a:t>Equivalent</a:t>
            </a:r>
            <a:r>
              <a:rPr lang="ko-KR" altLang="en-US" sz="1000" dirty="0"/>
              <a:t> </a:t>
            </a:r>
            <a:r>
              <a:rPr lang="en-US" altLang="ko-KR" sz="1000" dirty="0"/>
              <a:t>Yield)</a:t>
            </a:r>
            <a:br>
              <a:rPr lang="en-US" altLang="ko-KR" sz="1000" dirty="0"/>
            </a:br>
            <a:r>
              <a:rPr lang="en-US" altLang="ko-KR" sz="1000" dirty="0">
                <a:sym typeface="Wingdings" panose="05000000000000000000" pitchFamily="2" charset="2"/>
              </a:rPr>
              <a:t> r * </a:t>
            </a:r>
            <a:r>
              <a:rPr lang="ko-KR" altLang="en-US" sz="1000" dirty="0">
                <a:sym typeface="Wingdings" panose="05000000000000000000" pitchFamily="2" charset="2"/>
              </a:rPr>
              <a:t>연간지급횟수</a:t>
            </a:r>
            <a:br>
              <a:rPr lang="en-US" altLang="ko-KR" sz="1000" dirty="0">
                <a:sym typeface="Wingdings" panose="05000000000000000000" pitchFamily="2" charset="2"/>
              </a:rPr>
            </a:br>
            <a:r>
              <a:rPr lang="ko-KR" altLang="en-US" sz="1000" dirty="0">
                <a:sym typeface="Wingdings" panose="05000000000000000000" pitchFamily="2" charset="2"/>
              </a:rPr>
              <a:t>실효수익률</a:t>
            </a:r>
            <a:r>
              <a:rPr lang="en-US" altLang="ko-KR" sz="1000" dirty="0">
                <a:sym typeface="Wingdings" panose="05000000000000000000" pitchFamily="2" charset="2"/>
              </a:rPr>
              <a:t>(Effective Annual Yield)</a:t>
            </a:r>
            <a:br>
              <a:rPr lang="en-US" altLang="ko-KR" sz="1000" dirty="0">
                <a:sym typeface="Wingdings" panose="05000000000000000000" pitchFamily="2" charset="2"/>
              </a:rPr>
            </a:br>
            <a:r>
              <a:rPr lang="en-US" altLang="ko-KR" sz="1000" dirty="0">
                <a:sym typeface="Wingdings" panose="05000000000000000000" pitchFamily="2" charset="2"/>
              </a:rPr>
              <a:t> (1+r)^2 -1</a:t>
            </a:r>
            <a:br>
              <a:rPr lang="en-US" altLang="ko-KR" sz="1000" dirty="0">
                <a:sym typeface="Wingdings" panose="05000000000000000000" pitchFamily="2" charset="2"/>
              </a:rPr>
            </a:br>
            <a:r>
              <a:rPr lang="ko-KR" altLang="en-US" sz="1000" dirty="0">
                <a:sym typeface="Wingdings" panose="05000000000000000000" pitchFamily="2" charset="2"/>
              </a:rPr>
              <a:t>현재수익률</a:t>
            </a:r>
            <a:r>
              <a:rPr lang="en-US" altLang="ko-KR" sz="1000" dirty="0">
                <a:sym typeface="Wingdings" panose="05000000000000000000" pitchFamily="2" charset="2"/>
              </a:rPr>
              <a:t>(Current Yield)</a:t>
            </a:r>
            <a:br>
              <a:rPr lang="en-US" altLang="ko-KR" sz="1000" dirty="0">
                <a:sym typeface="Wingdings" panose="05000000000000000000" pitchFamily="2" charset="2"/>
              </a:rPr>
            </a:br>
            <a:r>
              <a:rPr lang="en-US" altLang="ko-KR" sz="1000" dirty="0">
                <a:sym typeface="Wingdings" panose="05000000000000000000" pitchFamily="2" charset="2"/>
              </a:rPr>
              <a:t> C/P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3586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CC1DA91-352B-E34D-8DC0-4016448EB1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47BC55D-05AD-0FD6-E7D9-08B072523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채권수익률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DC5D51-80CC-B873-0B87-25C6A399CB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FEA7121-0244-679D-422E-D7136898BF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만기수익률</a:t>
            </a:r>
            <a:endParaRPr lang="en-US" altLang="ko-KR" dirty="0"/>
          </a:p>
          <a:p>
            <a:pPr lvl="1"/>
            <a:r>
              <a:rPr lang="ko-KR" altLang="en-US" dirty="0"/>
              <a:t>만기수익률</a:t>
            </a:r>
            <a:r>
              <a:rPr lang="en-US" altLang="ko-KR" dirty="0"/>
              <a:t>(r)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채권의 미래 현금 흐름을 </a:t>
            </a:r>
            <a:r>
              <a:rPr lang="ko-KR" altLang="en-US" dirty="0">
                <a:sym typeface="Wingdings" panose="05000000000000000000" pitchFamily="2" charset="2"/>
              </a:rPr>
              <a:t>현재가치로 할인하는데 적용하는 이자율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만기까지 </a:t>
            </a:r>
            <a:r>
              <a:rPr lang="ko-KR" altLang="en-US" dirty="0" err="1">
                <a:sym typeface="Wingdings" panose="05000000000000000000" pitchFamily="2" charset="2"/>
              </a:rPr>
              <a:t>보유시</a:t>
            </a:r>
            <a:r>
              <a:rPr lang="ko-KR" altLang="en-US" dirty="0">
                <a:sym typeface="Wingdings" panose="05000000000000000000" pitchFamily="2" charset="2"/>
              </a:rPr>
              <a:t> 연평균투자수익률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보유기간수익률</a:t>
            </a:r>
            <a:r>
              <a:rPr lang="en-US" altLang="ko-KR" dirty="0">
                <a:sym typeface="Wingdings" panose="05000000000000000000" pitchFamily="2" charset="2"/>
              </a:rPr>
              <a:t>(HPR)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HPR = [ I + ( P1 – P0 )] / P0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I  </a:t>
            </a:r>
            <a:r>
              <a:rPr lang="ko-KR" altLang="en-US" dirty="0">
                <a:sym typeface="Wingdings" panose="05000000000000000000" pitchFamily="2" charset="2"/>
              </a:rPr>
              <a:t>이자 지급</a:t>
            </a:r>
            <a:r>
              <a:rPr lang="en-US" altLang="ko-KR" dirty="0">
                <a:sym typeface="Wingdings" panose="05000000000000000000" pitchFamily="2" charset="2"/>
              </a:rPr>
              <a:t>; P1  </a:t>
            </a:r>
            <a:r>
              <a:rPr lang="ko-KR" altLang="en-US" dirty="0">
                <a:sym typeface="Wingdings" panose="05000000000000000000" pitchFamily="2" charset="2"/>
              </a:rPr>
              <a:t>판매가격</a:t>
            </a:r>
            <a:r>
              <a:rPr lang="en-US" altLang="ko-KR" dirty="0">
                <a:sym typeface="Wingdings" panose="05000000000000000000" pitchFamily="2" charset="2"/>
              </a:rPr>
              <a:t>; P0  </a:t>
            </a:r>
            <a:r>
              <a:rPr lang="ko-KR" altLang="en-US" dirty="0">
                <a:sym typeface="Wingdings" panose="05000000000000000000" pitchFamily="2" charset="2"/>
              </a:rPr>
              <a:t>구매 가격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HPR  </a:t>
            </a:r>
            <a:r>
              <a:rPr lang="ko-KR" altLang="en-US" dirty="0">
                <a:sym typeface="Wingdings" panose="05000000000000000000" pitchFamily="2" charset="2"/>
              </a:rPr>
              <a:t>미래 이자의 예상치에 따라 변동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이자율 기간구조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미래 이자율 및 인플레에 대한 시장의 기대 도출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수익률 곡선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수익률곡선이 우상향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미래 단기이자율 상승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경기확장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장단기 금리 역전현상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경기가 정상적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장기 </a:t>
            </a:r>
            <a:r>
              <a:rPr lang="en-US" altLang="ko-KR" dirty="0">
                <a:sym typeface="Wingdings" panose="05000000000000000000" pitchFamily="2" charset="2"/>
              </a:rPr>
              <a:t>&gt; </a:t>
            </a:r>
            <a:r>
              <a:rPr lang="ko-KR" altLang="en-US" dirty="0">
                <a:sym typeface="Wingdings" panose="05000000000000000000" pitchFamily="2" charset="2"/>
              </a:rPr>
              <a:t>단기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but, </a:t>
            </a:r>
            <a:r>
              <a:rPr lang="ko-KR" altLang="en-US" dirty="0">
                <a:sym typeface="Wingdings" panose="05000000000000000000" pitchFamily="2" charset="2"/>
              </a:rPr>
              <a:t>단기</a:t>
            </a:r>
            <a:r>
              <a:rPr lang="en-US" altLang="ko-KR" dirty="0">
                <a:sym typeface="Wingdings" panose="05000000000000000000" pitchFamily="2" charset="2"/>
              </a:rPr>
              <a:t> &gt; </a:t>
            </a:r>
            <a:r>
              <a:rPr lang="ko-KR" altLang="en-US" dirty="0">
                <a:sym typeface="Wingdings" panose="05000000000000000000" pitchFamily="2" charset="2"/>
              </a:rPr>
              <a:t>장기일 경우 경기침체의 강도가 심화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FA34265-7131-486E-3891-39871037510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폰트, 라인, 텍스트, 타이포그래피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D470EE0-5447-8A2B-FE84-701013794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3075" y="992560"/>
            <a:ext cx="1574333" cy="472092"/>
          </a:xfrm>
          <a:prstGeom prst="rect">
            <a:avLst/>
          </a:prstGeom>
        </p:spPr>
      </p:pic>
      <p:pic>
        <p:nvPicPr>
          <p:cNvPr id="10" name="그림 9" descr="텍스트, 스크린샷, 라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5C109E5-A8BE-25FF-BEDE-88C9772D6B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843" y="1464652"/>
            <a:ext cx="4176464" cy="2509334"/>
          </a:xfrm>
          <a:prstGeom prst="rect">
            <a:avLst/>
          </a:prstGeom>
        </p:spPr>
      </p:pic>
      <p:pic>
        <p:nvPicPr>
          <p:cNvPr id="12" name="그림 11" descr="텍스트, 스크린샷, 라인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F34859A-AC72-D73D-F5F8-54A827F04B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224" y="5097016"/>
            <a:ext cx="1278999" cy="114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18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733A752-308D-0DED-18E5-822FD69E80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F30EFA7-5801-B27C-380B-AFD1F595C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0E1BC4-66EE-B483-A2F4-BD4B81211D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B9DAC94-CC16-7530-79ED-7342CC54FF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할인채 </a:t>
            </a:r>
            <a:r>
              <a:rPr lang="en-US" altLang="ko-KR" dirty="0">
                <a:sym typeface="Wingdings" panose="05000000000000000000" pitchFamily="2" charset="2"/>
              </a:rPr>
              <a:t> </a:t>
            </a:r>
            <a:r>
              <a:rPr lang="ko-KR" altLang="en-US" dirty="0" err="1">
                <a:sym typeface="Wingdings" panose="05000000000000000000" pitchFamily="2" charset="2"/>
              </a:rPr>
              <a:t>이표채간</a:t>
            </a:r>
            <a:r>
              <a:rPr lang="ko-KR" altLang="en-US" dirty="0">
                <a:sym typeface="Wingdings" panose="05000000000000000000" pitchFamily="2" charset="2"/>
              </a:rPr>
              <a:t> 전환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 err="1">
                <a:sym typeface="Wingdings" panose="05000000000000000000" pitchFamily="2" charset="2"/>
              </a:rPr>
              <a:t>무위험</a:t>
            </a:r>
            <a:r>
              <a:rPr lang="ko-KR" altLang="en-US" dirty="0">
                <a:sym typeface="Wingdings" panose="05000000000000000000" pitchFamily="2" charset="2"/>
              </a:rPr>
              <a:t> 재정거래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채권가격 관련 정리들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채권가격은 이자율의 움직임과 반대방향으로 변동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 동일한 이자율 변동 </a:t>
            </a:r>
            <a:r>
              <a:rPr lang="en-US" altLang="ko-KR" dirty="0">
                <a:sym typeface="Wingdings" panose="05000000000000000000" pitchFamily="2" charset="2"/>
              </a:rPr>
              <a:t>  </a:t>
            </a:r>
            <a:r>
              <a:rPr lang="ko-KR" altLang="en-US" dirty="0">
                <a:sym typeface="Wingdings" panose="05000000000000000000" pitchFamily="2" charset="2"/>
              </a:rPr>
              <a:t>장기채권의 가격 변동 </a:t>
            </a:r>
            <a:r>
              <a:rPr lang="en-US" altLang="ko-KR" dirty="0">
                <a:sym typeface="Wingdings" panose="05000000000000000000" pitchFamily="2" charset="2"/>
              </a:rPr>
              <a:t>&gt; </a:t>
            </a:r>
            <a:r>
              <a:rPr lang="ko-KR" altLang="en-US" dirty="0">
                <a:sym typeface="Wingdings" panose="05000000000000000000" pitchFamily="2" charset="2"/>
              </a:rPr>
              <a:t> 단기 채권의 가격변동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이자율  변동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채권가격 변동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잔존만기에 따라 체감적으로 증가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비례적으로 증가하지 않음</a:t>
            </a:r>
            <a:r>
              <a:rPr lang="en-US" altLang="ko-KR" dirty="0">
                <a:sym typeface="Wingdings" panose="05000000000000000000" pitchFamily="2" charset="2"/>
              </a:rPr>
              <a:t>):  </a:t>
            </a:r>
            <a:r>
              <a:rPr lang="ko-KR" altLang="en-US" dirty="0">
                <a:sym typeface="Wingdings" panose="05000000000000000000" pitchFamily="2" charset="2"/>
              </a:rPr>
              <a:t>이자율 리스크는 채권 만기의 변화율보다 작음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동일한 이자율 변동에 대해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채권 가격의 하락과 상승폭은 비대칭적</a:t>
            </a:r>
            <a:r>
              <a:rPr lang="en-US" altLang="ko-KR" dirty="0">
                <a:sym typeface="Wingdings" panose="05000000000000000000" pitchFamily="2" charset="2"/>
              </a:rPr>
              <a:t>(asymmetric): </a:t>
            </a:r>
          </a:p>
          <a:p>
            <a:pPr lvl="1"/>
            <a:r>
              <a:rPr lang="ko-KR" altLang="en-US" dirty="0" err="1">
                <a:sym typeface="Wingdings" panose="05000000000000000000" pitchFamily="2" charset="2"/>
              </a:rPr>
              <a:t>이표율이</a:t>
            </a:r>
            <a:r>
              <a:rPr lang="ko-KR" altLang="en-US" dirty="0">
                <a:sym typeface="Wingdings" panose="05000000000000000000" pitchFamily="2" charset="2"/>
              </a:rPr>
              <a:t> 높음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이자율 변동에 대한 채권가격의 </a:t>
            </a:r>
            <a:r>
              <a:rPr lang="ko-KR" altLang="en-US" dirty="0" err="1">
                <a:sym typeface="Wingdings" panose="05000000000000000000" pitchFamily="2" charset="2"/>
              </a:rPr>
              <a:t>변동율</a:t>
            </a:r>
            <a:r>
              <a:rPr lang="ko-KR" altLang="en-US" dirty="0">
                <a:sym typeface="Wingdings" panose="05000000000000000000" pitchFamily="2" charset="2"/>
              </a:rPr>
              <a:t> 작음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14D746-DAEF-74A8-3C52-813D86F67C2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B9995E1-BA40-ADF3-E65C-F05F8C0D8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775" y="818785"/>
            <a:ext cx="2634238" cy="1825009"/>
          </a:xfrm>
          <a:prstGeom prst="rect">
            <a:avLst/>
          </a:prstGeom>
        </p:spPr>
      </p:pic>
      <p:pic>
        <p:nvPicPr>
          <p:cNvPr id="10" name="그림 9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D4474EC-A6ED-9D4D-62EB-3B51BB030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057" y="746777"/>
            <a:ext cx="2790880" cy="1879153"/>
          </a:xfrm>
          <a:prstGeom prst="rect">
            <a:avLst/>
          </a:prstGeom>
        </p:spPr>
      </p:pic>
      <p:pic>
        <p:nvPicPr>
          <p:cNvPr id="12" name="그림 11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35A072F-A0F8-40DE-80DA-8FAF6BB911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222"/>
          <a:stretch/>
        </p:blipFill>
        <p:spPr>
          <a:xfrm>
            <a:off x="3887244" y="2810183"/>
            <a:ext cx="2926131" cy="1807145"/>
          </a:xfrm>
          <a:prstGeom prst="rect">
            <a:avLst/>
          </a:prstGeom>
        </p:spPr>
      </p:pic>
      <p:pic>
        <p:nvPicPr>
          <p:cNvPr id="14" name="그림 13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AF5B0D2-AE02-6229-21E8-09948AB0D7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777" y="2623159"/>
            <a:ext cx="2520280" cy="1841416"/>
          </a:xfrm>
          <a:prstGeom prst="rect">
            <a:avLst/>
          </a:prstGeom>
        </p:spPr>
      </p:pic>
      <p:pic>
        <p:nvPicPr>
          <p:cNvPr id="16" name="그림 15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86397FE-A646-DEE4-547F-6C1DF0215B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774" y="4819446"/>
            <a:ext cx="2641669" cy="1707775"/>
          </a:xfrm>
          <a:prstGeom prst="rect">
            <a:avLst/>
          </a:prstGeom>
        </p:spPr>
      </p:pic>
      <p:pic>
        <p:nvPicPr>
          <p:cNvPr id="18" name="그림 17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2FD03BD-A0C8-2D5D-06E6-A0E88A035E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776" y="4819447"/>
            <a:ext cx="2676924" cy="17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45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F52D0B0-9F0C-9F61-297B-EEE92342A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BFDB366-F458-472C-0E19-6697C33EA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이자율 기간구조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C61262-BEA9-E813-A16B-DDE5BEBB0F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5EF7153-98ED-0116-6CDD-38F759B994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수익률 곡선과 미래 이자율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수익률곡선은 미래</a:t>
            </a:r>
            <a:br>
              <a:rPr lang="en-US" altLang="ko-KR" dirty="0"/>
            </a:br>
            <a:r>
              <a:rPr lang="ko-KR" altLang="en-US" dirty="0"/>
              <a:t>단기이자율에 대한</a:t>
            </a:r>
            <a:br>
              <a:rPr lang="en-US" altLang="ko-KR" dirty="0"/>
            </a:br>
            <a:r>
              <a:rPr lang="ko-KR" altLang="en-US" dirty="0"/>
              <a:t>시장의 예상을 반영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176213" lvl="1" indent="0">
              <a:buNone/>
            </a:pPr>
            <a:endParaRPr lang="en-US" altLang="ko-KR" dirty="0"/>
          </a:p>
          <a:p>
            <a:r>
              <a:rPr lang="ko-KR" altLang="en-US" dirty="0"/>
              <a:t>국채수익률</a:t>
            </a:r>
            <a:endParaRPr lang="en-US" altLang="ko-KR" dirty="0"/>
          </a:p>
          <a:p>
            <a:pPr lvl="1"/>
            <a:r>
              <a:rPr lang="ko-KR" altLang="en-US" dirty="0"/>
              <a:t> </a:t>
            </a:r>
            <a:r>
              <a:rPr lang="en-US" altLang="ko-KR" dirty="0"/>
              <a:t>  2006</a:t>
            </a:r>
            <a:r>
              <a:rPr lang="ko-KR" altLang="en-US" dirty="0"/>
              <a:t>년</a:t>
            </a:r>
            <a:r>
              <a:rPr lang="en-US" altLang="ko-KR" dirty="0"/>
              <a:t>		2005</a:t>
            </a:r>
            <a:r>
              <a:rPr lang="ko-KR" altLang="en-US" dirty="0"/>
              <a:t>년</a:t>
            </a:r>
            <a:r>
              <a:rPr lang="en-US" altLang="ko-KR" dirty="0"/>
              <a:t> 	       2000</a:t>
            </a:r>
            <a:r>
              <a:rPr lang="ko-KR" altLang="en-US" dirty="0"/>
              <a:t>년</a:t>
            </a:r>
            <a:r>
              <a:rPr lang="en-US" altLang="ko-KR" dirty="0"/>
              <a:t> 	                1989</a:t>
            </a:r>
            <a:r>
              <a:rPr lang="ko-KR" altLang="en-US" dirty="0"/>
              <a:t>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경기 침체 돌입 시 그래프</a:t>
            </a:r>
            <a:endParaRPr lang="en-US" altLang="ko-KR" dirty="0"/>
          </a:p>
          <a:p>
            <a:pPr lvl="2"/>
            <a:r>
              <a:rPr lang="ko-KR" altLang="en-US" dirty="0"/>
              <a:t>단기채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장기채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인플레 압력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국채수익 하락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같은 상황이나 부정적 인식은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지속 기간이 다를 수 있다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 err="1"/>
              <a:t>이표채를</a:t>
            </a:r>
            <a:r>
              <a:rPr lang="ko-KR" altLang="en-US" dirty="0"/>
              <a:t> 할인채로 평가</a:t>
            </a:r>
            <a:endParaRPr lang="en-US" altLang="ko-KR" dirty="0"/>
          </a:p>
          <a:p>
            <a:pPr lvl="1"/>
            <a:r>
              <a:rPr lang="ko-KR" altLang="en-US" dirty="0"/>
              <a:t>액면가 </a:t>
            </a:r>
            <a:r>
              <a:rPr lang="en-US" altLang="ko-KR" dirty="0"/>
              <a:t>1000</a:t>
            </a:r>
            <a:r>
              <a:rPr lang="ko-KR" altLang="en-US" dirty="0"/>
              <a:t>달러 기준</a:t>
            </a:r>
            <a:r>
              <a:rPr lang="en-US" altLang="ko-KR" dirty="0"/>
              <a:t> </a:t>
            </a:r>
            <a:r>
              <a:rPr lang="ko-KR" altLang="en-US" dirty="0"/>
              <a:t>할인채의 </a:t>
            </a:r>
            <a:r>
              <a:rPr lang="ko-KR" altLang="en-US" dirty="0" err="1"/>
              <a:t>할인률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3D2174-BD56-D827-7474-D08D528F6E8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텍스트, 폰트, 스크린샷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6C70A81-851C-F064-F744-FECC1FEBB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983" y="776536"/>
            <a:ext cx="3519392" cy="1656184"/>
          </a:xfrm>
          <a:prstGeom prst="rect">
            <a:avLst/>
          </a:prstGeom>
        </p:spPr>
      </p:pic>
      <p:pic>
        <p:nvPicPr>
          <p:cNvPr id="10" name="그림 9" descr="텍스트, 도표, 라인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23F2C5F-5E8D-1D61-AE43-C83D1AF04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795" y="2864768"/>
            <a:ext cx="5040560" cy="1536335"/>
          </a:xfrm>
          <a:prstGeom prst="rect">
            <a:avLst/>
          </a:prstGeom>
        </p:spPr>
      </p:pic>
      <p:pic>
        <p:nvPicPr>
          <p:cNvPr id="12" name="그림 11" descr="텍스트, 라인, 스크린샷, 직사각형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DC69D2C-378F-53E2-CCB9-9A8B4617C4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016" y="4401103"/>
            <a:ext cx="2412267" cy="1270146"/>
          </a:xfrm>
          <a:prstGeom prst="rect">
            <a:avLst/>
          </a:prstGeom>
        </p:spPr>
      </p:pic>
      <p:pic>
        <p:nvPicPr>
          <p:cNvPr id="16" name="그림 15" descr="텍스트, 폰트, 스크린샷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113419C-46D3-C90F-2382-473FF50DD4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182" y="5889104"/>
            <a:ext cx="2466874" cy="1270146"/>
          </a:xfrm>
          <a:prstGeom prst="rect">
            <a:avLst/>
          </a:prstGeom>
        </p:spPr>
      </p:pic>
      <p:pic>
        <p:nvPicPr>
          <p:cNvPr id="18" name="그림 17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9F9E188-AE97-C6C9-D6AE-5AC0F504E6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064" y="5937439"/>
            <a:ext cx="2527685" cy="127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971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C7031C7-4A55-B7FF-AD11-17A71F8883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5DA124C-ACC1-E9E0-DE7A-F0CEAE3D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확실성하의 수익률 곡선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941B19F-92F6-4B4B-8F94-364393D10E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51A81B5-E399-3AF2-7934-3F58341F4A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확실성하의 수익률곡선과 미래이자율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년간 투자한다고 할 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만기 </a:t>
            </a:r>
            <a:r>
              <a:rPr lang="en-US" altLang="ko-KR" dirty="0"/>
              <a:t>2</a:t>
            </a:r>
            <a:r>
              <a:rPr lang="ko-KR" altLang="en-US" dirty="0"/>
              <a:t>년 채권을 한번 사서 만기까지 보유 </a:t>
            </a:r>
            <a:br>
              <a:rPr lang="en-US" altLang="ko-KR" dirty="0"/>
            </a:br>
            <a:r>
              <a:rPr lang="en-US" altLang="ko-KR" dirty="0"/>
              <a:t>(buy and hold)</a:t>
            </a:r>
            <a:br>
              <a:rPr lang="en-US" altLang="ko-KR" dirty="0"/>
            </a:br>
            <a:r>
              <a:rPr lang="en-US" altLang="ko-KR" dirty="0"/>
              <a:t>2) 1</a:t>
            </a:r>
            <a:r>
              <a:rPr lang="ko-KR" altLang="en-US" dirty="0"/>
              <a:t>년 짜리로 분할해서 투자 </a:t>
            </a:r>
            <a:r>
              <a:rPr lang="en-US" altLang="ko-KR" dirty="0"/>
              <a:t>(rollover)</a:t>
            </a:r>
          </a:p>
          <a:p>
            <a:pPr lvl="1"/>
            <a:r>
              <a:rPr lang="ko-KR" altLang="en-US" dirty="0"/>
              <a:t>단기이자율 상승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수익률 곡선 우상향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단기이자율 하락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수익률 곡선 우하향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/>
              <a:t>선도이자율</a:t>
            </a:r>
            <a:r>
              <a:rPr lang="en-US" altLang="ko-KR" dirty="0"/>
              <a:t>(forward rates)</a:t>
            </a:r>
          </a:p>
          <a:p>
            <a:pPr lvl="1"/>
            <a:r>
              <a:rPr lang="ko-KR" altLang="en-US" dirty="0"/>
              <a:t>미래 단기이자율의 예상치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유가증권의 내재수익률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미래 이자율의 예상치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r1</a:t>
            </a:r>
            <a:r>
              <a:rPr lang="ko-KR" altLang="en-US" dirty="0">
                <a:sym typeface="Wingdings" panose="05000000000000000000" pitchFamily="2" charset="2"/>
              </a:rPr>
              <a:t>이 확정된 시점에서</a:t>
            </a:r>
            <a:r>
              <a:rPr lang="en-US" altLang="ko-KR" dirty="0">
                <a:sym typeface="Wingdings" panose="05000000000000000000" pitchFamily="2" charset="2"/>
              </a:rPr>
              <a:t> r2</a:t>
            </a:r>
            <a:r>
              <a:rPr lang="ko-KR" altLang="en-US" dirty="0">
                <a:sym typeface="Wingdings" panose="05000000000000000000" pitchFamily="2" charset="2"/>
              </a:rPr>
              <a:t>를 예측가능</a:t>
            </a:r>
            <a:r>
              <a:rPr lang="en-US" altLang="ko-KR" dirty="0">
                <a:sym typeface="Wingdings" panose="05000000000000000000" pitchFamily="2" charset="2"/>
              </a:rPr>
              <a:t>?  </a:t>
            </a:r>
            <a:r>
              <a:rPr lang="ko-KR" altLang="en-US" dirty="0">
                <a:sym typeface="Wingdings" panose="05000000000000000000" pitchFamily="2" charset="2"/>
              </a:rPr>
              <a:t>예측</a:t>
            </a:r>
            <a:r>
              <a:rPr lang="en-US" altLang="ko-KR" dirty="0">
                <a:sym typeface="Wingdings" panose="05000000000000000000" pitchFamily="2" charset="2"/>
              </a:rPr>
              <a:t>O, </a:t>
            </a:r>
            <a:r>
              <a:rPr lang="ko-KR" altLang="en-US" dirty="0">
                <a:sym typeface="Wingdings" panose="05000000000000000000" pitchFamily="2" charset="2"/>
              </a:rPr>
              <a:t>오차</a:t>
            </a:r>
            <a:r>
              <a:rPr lang="en-US" altLang="ko-KR" dirty="0">
                <a:sym typeface="Wingdings" panose="05000000000000000000" pitchFamily="2" charset="2"/>
              </a:rPr>
              <a:t>O;  </a:t>
            </a:r>
            <a:r>
              <a:rPr lang="ko-KR" altLang="en-US" dirty="0">
                <a:sym typeface="Wingdings" panose="05000000000000000000" pitchFamily="2" charset="2"/>
              </a:rPr>
              <a:t>현재시점의 미래이자 예측치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선도이자율 </a:t>
            </a:r>
            <a:r>
              <a:rPr lang="en-US" altLang="ko-KR" dirty="0" err="1"/>
              <a:t>ifj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i</a:t>
            </a:r>
            <a:r>
              <a:rPr lang="en-US" altLang="ko-KR" dirty="0">
                <a:sym typeface="Wingdings" panose="05000000000000000000" pitchFamily="2" charset="2"/>
              </a:rPr>
              <a:t> := </a:t>
            </a:r>
            <a:r>
              <a:rPr lang="ko-KR" altLang="en-US" dirty="0">
                <a:sym typeface="Wingdings" panose="05000000000000000000" pitchFamily="2" charset="2"/>
              </a:rPr>
              <a:t>미래 시점까지 남은 기간</a:t>
            </a:r>
            <a:r>
              <a:rPr lang="en-US" altLang="ko-KR" dirty="0">
                <a:sym typeface="Wingdings" panose="05000000000000000000" pitchFamily="2" charset="2"/>
              </a:rPr>
              <a:t>; j := </a:t>
            </a:r>
            <a:r>
              <a:rPr lang="ko-KR" altLang="en-US" dirty="0">
                <a:sym typeface="Wingdings" panose="05000000000000000000" pitchFamily="2" charset="2"/>
              </a:rPr>
              <a:t>만기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Ex) 1f2  1</a:t>
            </a:r>
            <a:r>
              <a:rPr lang="ko-KR" altLang="en-US" dirty="0" err="1">
                <a:sym typeface="Wingdings" panose="05000000000000000000" pitchFamily="2" charset="2"/>
              </a:rPr>
              <a:t>년후</a:t>
            </a:r>
            <a:r>
              <a:rPr lang="ko-KR" altLang="en-US" dirty="0">
                <a:sym typeface="Wingdings" panose="05000000000000000000" pitchFamily="2" charset="2"/>
              </a:rPr>
              <a:t> 발행될 </a:t>
            </a: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 err="1">
                <a:sym typeface="Wingdings" panose="05000000000000000000" pitchFamily="2" charset="2"/>
              </a:rPr>
              <a:t>년만기</a:t>
            </a:r>
            <a:r>
              <a:rPr lang="ko-KR" altLang="en-US" dirty="0">
                <a:sym typeface="Wingdings" panose="05000000000000000000" pitchFamily="2" charset="2"/>
              </a:rPr>
              <a:t> 채권의 내재수익률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/>
              <a:t>수익률 곡선 우상향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미래 단기이자 </a:t>
            </a:r>
            <a:r>
              <a:rPr lang="en-US" altLang="ko-KR" dirty="0">
                <a:sym typeface="Wingdings" panose="05000000000000000000" pitchFamily="2" charset="2"/>
              </a:rPr>
              <a:t>&gt; </a:t>
            </a:r>
            <a:r>
              <a:rPr lang="ko-KR" altLang="en-US" dirty="0">
                <a:sym typeface="Wingdings" panose="05000000000000000000" pitchFamily="2" charset="2"/>
              </a:rPr>
              <a:t>현재 이자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수익률 곡선 수평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미래 단기이자 </a:t>
            </a:r>
            <a:r>
              <a:rPr lang="en-US" altLang="ko-KR" dirty="0">
                <a:sym typeface="Wingdings" panose="05000000000000000000" pitchFamily="2" charset="2"/>
              </a:rPr>
              <a:t>== </a:t>
            </a:r>
            <a:r>
              <a:rPr lang="ko-KR" altLang="en-US" dirty="0">
                <a:sym typeface="Wingdings" panose="05000000000000000000" pitchFamily="2" charset="2"/>
              </a:rPr>
              <a:t>현재 이자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수익률곡선이 우하향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미래 단기이자 </a:t>
            </a:r>
            <a:r>
              <a:rPr lang="en-US" altLang="ko-KR" dirty="0">
                <a:sym typeface="Wingdings" panose="05000000000000000000" pitchFamily="2" charset="2"/>
              </a:rPr>
              <a:t>&lt; </a:t>
            </a:r>
            <a:r>
              <a:rPr lang="ko-KR" altLang="en-US" dirty="0">
                <a:sym typeface="Wingdings" panose="05000000000000000000" pitchFamily="2" charset="2"/>
              </a:rPr>
              <a:t>현재 이자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선도 이자율의 일반화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균형조건 </a:t>
            </a:r>
            <a:r>
              <a:rPr lang="en-US" altLang="ko-KR" dirty="0">
                <a:sym typeface="Wingdings" panose="05000000000000000000" pitchFamily="2" charset="2"/>
              </a:rPr>
              <a:t>: 1</a:t>
            </a:r>
            <a:r>
              <a:rPr lang="ko-KR" altLang="en-US" dirty="0" err="1">
                <a:sym typeface="Wingdings" panose="05000000000000000000" pitchFamily="2" charset="2"/>
              </a:rPr>
              <a:t>년후</a:t>
            </a:r>
            <a:r>
              <a:rPr lang="ko-KR" altLang="en-US" dirty="0">
                <a:sym typeface="Wingdings" panose="05000000000000000000" pitchFamily="2" charset="2"/>
              </a:rPr>
              <a:t> 발행되는 </a:t>
            </a: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 err="1">
                <a:sym typeface="Wingdings" panose="05000000000000000000" pitchFamily="2" charset="2"/>
              </a:rPr>
              <a:t>년만기</a:t>
            </a:r>
            <a:r>
              <a:rPr lang="ko-KR" altLang="en-US" dirty="0">
                <a:sym typeface="Wingdings" panose="05000000000000000000" pitchFamily="2" charset="2"/>
              </a:rPr>
              <a:t> 채권을 </a:t>
            </a:r>
            <a:r>
              <a:rPr lang="en-US" altLang="ko-KR" dirty="0">
                <a:sym typeface="Wingdings" panose="05000000000000000000" pitchFamily="2" charset="2"/>
              </a:rPr>
              <a:t>rollover ==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 err="1">
                <a:sym typeface="Wingdings" panose="05000000000000000000" pitchFamily="2" charset="2"/>
              </a:rPr>
              <a:t>년후</a:t>
            </a:r>
            <a:r>
              <a:rPr lang="ko-KR" altLang="en-US" dirty="0">
                <a:sym typeface="Wingdings" panose="05000000000000000000" pitchFamily="2" charset="2"/>
              </a:rPr>
              <a:t> 발행되는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 err="1">
                <a:sym typeface="Wingdings" panose="05000000000000000000" pitchFamily="2" charset="2"/>
              </a:rPr>
              <a:t>년만기</a:t>
            </a:r>
            <a:r>
              <a:rPr lang="ko-KR" altLang="en-US" dirty="0">
                <a:sym typeface="Wingdings" panose="05000000000000000000" pitchFamily="2" charset="2"/>
              </a:rPr>
              <a:t> 채권 투자 후 다시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년 만기 채권에 </a:t>
            </a:r>
            <a:r>
              <a:rPr lang="en-US" altLang="ko-KR" dirty="0">
                <a:sym typeface="Wingdings" panose="05000000000000000000" pitchFamily="2" charset="2"/>
              </a:rPr>
              <a:t>rollover </a:t>
            </a:r>
            <a:r>
              <a:rPr lang="ko-KR" altLang="en-US" dirty="0">
                <a:sym typeface="Wingdings" panose="05000000000000000000" pitchFamily="2" charset="2"/>
              </a:rPr>
              <a:t>하는 것과 동일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A4F13A-F085-3863-3F6D-5500066201D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텍스트, 폰트, 친필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CBE423C-2E12-9D58-1C04-F754D5C504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112" y="649954"/>
            <a:ext cx="2376264" cy="835444"/>
          </a:xfrm>
          <a:prstGeom prst="rect">
            <a:avLst/>
          </a:prstGeom>
        </p:spPr>
      </p:pic>
      <p:pic>
        <p:nvPicPr>
          <p:cNvPr id="10" name="그림 9" descr="텍스트, 폰트, 친필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86B94C9-BAD9-BBCE-F3FB-626D579B9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793" y="1515918"/>
            <a:ext cx="2376264" cy="503039"/>
          </a:xfrm>
          <a:prstGeom prst="rect">
            <a:avLst/>
          </a:prstGeom>
        </p:spPr>
      </p:pic>
      <p:pic>
        <p:nvPicPr>
          <p:cNvPr id="12" name="그림 11" descr="폰트, 친필, 번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31EAAB8-BF26-F959-E0B0-C488632E71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192" y="3339169"/>
            <a:ext cx="1444849" cy="510309"/>
          </a:xfrm>
          <a:prstGeom prst="rect">
            <a:avLst/>
          </a:prstGeom>
        </p:spPr>
      </p:pic>
      <p:pic>
        <p:nvPicPr>
          <p:cNvPr id="14" name="그림 13" descr="텍스트, 폰트, 친필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98DE3D4-9756-E66D-2A96-C9554AA920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37" y="4448944"/>
            <a:ext cx="3746389" cy="229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846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D0D520F-5EEF-EB6F-2F17-7B73D76D29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71357A0-0BA0-12C7-ED1C-D2C9057B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확실성하의 수익률곡선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31C8F1-C43F-2CAD-F135-8D5185C710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CBBDAD1-9E41-9291-2898-8D04558403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Lock-in loan rates (</a:t>
            </a:r>
            <a:r>
              <a:rPr lang="ko-KR" altLang="en-US" dirty="0"/>
              <a:t>미래 차입이자율의 확정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1) </a:t>
            </a:r>
            <a:r>
              <a:rPr lang="ko-KR" altLang="en-US" dirty="0"/>
              <a:t>할인채</a:t>
            </a:r>
            <a:r>
              <a:rPr lang="en-US" altLang="ko-KR" dirty="0"/>
              <a:t>(</a:t>
            </a:r>
            <a:r>
              <a:rPr lang="ko-KR" altLang="en-US" dirty="0"/>
              <a:t>액면금액 </a:t>
            </a:r>
            <a:r>
              <a:rPr lang="en-US" altLang="ko-KR" dirty="0"/>
              <a:t>1000)</a:t>
            </a:r>
            <a:r>
              <a:rPr lang="ko-KR" altLang="en-US" dirty="0"/>
              <a:t>을 이용해 </a:t>
            </a:r>
            <a:r>
              <a:rPr lang="en-US" altLang="ko-KR" dirty="0"/>
              <a:t>1</a:t>
            </a:r>
            <a:r>
              <a:rPr lang="ko-KR" altLang="en-US" dirty="0" err="1"/>
              <a:t>년후</a:t>
            </a:r>
            <a:r>
              <a:rPr lang="ko-KR" altLang="en-US" dirty="0"/>
              <a:t> 차입할 </a:t>
            </a:r>
            <a:r>
              <a:rPr lang="en-US" altLang="ko-KR" dirty="0"/>
              <a:t>1</a:t>
            </a:r>
            <a:r>
              <a:rPr lang="ko-KR" altLang="en-US" dirty="0"/>
              <a:t>년 만기 대출 이자율 계산</a:t>
            </a:r>
            <a:endParaRPr lang="en-US" altLang="ko-KR" dirty="0"/>
          </a:p>
          <a:p>
            <a:pPr lvl="2"/>
            <a:r>
              <a:rPr lang="ko-KR" altLang="en-US" dirty="0"/>
              <a:t>만기</a:t>
            </a:r>
            <a:r>
              <a:rPr lang="en-US" altLang="ko-KR" dirty="0"/>
              <a:t> 1</a:t>
            </a:r>
            <a:r>
              <a:rPr lang="ko-KR" altLang="en-US" dirty="0"/>
              <a:t>년 </a:t>
            </a:r>
            <a:r>
              <a:rPr lang="en-US" altLang="ko-KR" dirty="0"/>
              <a:t>= 952.38 </a:t>
            </a:r>
            <a:r>
              <a:rPr lang="en-US" altLang="ko-KR" dirty="0">
                <a:sym typeface="Wingdings" panose="05000000000000000000" pitchFamily="2" charset="2"/>
              </a:rPr>
              <a:t> 1000/(1+y1)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=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952.38,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y1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=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0.05;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만기 </a:t>
            </a: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년 </a:t>
            </a:r>
            <a:r>
              <a:rPr lang="en-US" altLang="ko-KR" dirty="0">
                <a:sym typeface="Wingdings" panose="05000000000000000000" pitchFamily="2" charset="2"/>
              </a:rPr>
              <a:t>= 890  y2 = 0.06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선도이자율 계산</a:t>
            </a:r>
            <a:r>
              <a:rPr lang="en-US" altLang="ko-KR" dirty="0">
                <a:sym typeface="Wingdings" panose="05000000000000000000" pitchFamily="2" charset="2"/>
              </a:rPr>
              <a:t>; 1f1 = 0.0701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2) </a:t>
            </a:r>
            <a:r>
              <a:rPr lang="ko-KR" altLang="en-US" dirty="0">
                <a:sym typeface="Wingdings" panose="05000000000000000000" pitchFamily="2" charset="2"/>
              </a:rPr>
              <a:t>채권거래</a:t>
            </a:r>
            <a:r>
              <a:rPr lang="en-US" altLang="ko-KR" dirty="0">
                <a:sym typeface="Wingdings" panose="05000000000000000000" pitchFamily="2" charset="2"/>
              </a:rPr>
              <a:t>(1</a:t>
            </a:r>
            <a:r>
              <a:rPr lang="ko-KR" altLang="en-US" dirty="0" err="1">
                <a:sym typeface="Wingdings" panose="05000000000000000000" pitchFamily="2" charset="2"/>
              </a:rPr>
              <a:t>년만기</a:t>
            </a:r>
            <a:r>
              <a:rPr lang="ko-KR" altLang="en-US" dirty="0">
                <a:sym typeface="Wingdings" panose="05000000000000000000" pitchFamily="2" charset="2"/>
              </a:rPr>
              <a:t> 할인채 매입 </a:t>
            </a:r>
            <a:r>
              <a:rPr lang="en-US" altLang="ko-KR" dirty="0">
                <a:sym typeface="Wingdings" panose="05000000000000000000" pitchFamily="2" charset="2"/>
              </a:rPr>
              <a:t>+ 2</a:t>
            </a:r>
            <a:r>
              <a:rPr lang="ko-KR" altLang="en-US" dirty="0" err="1">
                <a:sym typeface="Wingdings" panose="05000000000000000000" pitchFamily="2" charset="2"/>
              </a:rPr>
              <a:t>년만기</a:t>
            </a:r>
            <a:r>
              <a:rPr lang="ko-KR" altLang="en-US" dirty="0">
                <a:sym typeface="Wingdings" panose="05000000000000000000" pitchFamily="2" charset="2"/>
              </a:rPr>
              <a:t> 채권 공매도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를 통해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 err="1">
                <a:sym typeface="Wingdings" panose="05000000000000000000" pitchFamily="2" charset="2"/>
              </a:rPr>
              <a:t>년후</a:t>
            </a:r>
            <a:r>
              <a:rPr lang="ko-KR" altLang="en-US" dirty="0">
                <a:sym typeface="Wingdings" panose="05000000000000000000" pitchFamily="2" charset="2"/>
              </a:rPr>
              <a:t> 차입할 대출이자율 확정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/>
              <a:t>1</a:t>
            </a:r>
            <a:r>
              <a:rPr lang="ko-KR" altLang="en-US" dirty="0" err="1"/>
              <a:t>년후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 err="1"/>
              <a:t>년만기</a:t>
            </a:r>
            <a:r>
              <a:rPr lang="ko-KR" altLang="en-US" dirty="0"/>
              <a:t> </a:t>
            </a:r>
            <a:r>
              <a:rPr lang="ko-KR" altLang="en-US" dirty="0" err="1"/>
              <a:t>차입시</a:t>
            </a:r>
            <a:br>
              <a:rPr lang="en-US" altLang="ko-KR" dirty="0"/>
            </a:br>
            <a:r>
              <a:rPr lang="ko-KR" altLang="en-US" dirty="0"/>
              <a:t>상환원리금 </a:t>
            </a:r>
            <a:r>
              <a:rPr lang="en-US" altLang="ko-KR" dirty="0"/>
              <a:t>=</a:t>
            </a:r>
            <a:br>
              <a:rPr lang="en-US" altLang="ko-KR" dirty="0"/>
            </a:br>
            <a:r>
              <a:rPr lang="en-US" altLang="ko-KR" dirty="0"/>
              <a:t>1000 * (1+r2)</a:t>
            </a:r>
            <a:br>
              <a:rPr lang="en-US" altLang="ko-KR" dirty="0"/>
            </a:br>
            <a:r>
              <a:rPr lang="en-US" altLang="ko-KR" dirty="0"/>
              <a:t>= 1070.1;</a:t>
            </a:r>
            <a:br>
              <a:rPr lang="en-US" altLang="ko-KR" dirty="0"/>
            </a:br>
            <a:r>
              <a:rPr lang="ko-KR" altLang="en-US" dirty="0"/>
              <a:t>미래 대출이자율</a:t>
            </a:r>
            <a:r>
              <a:rPr lang="en-US" altLang="ko-KR" dirty="0"/>
              <a:t>(r2)</a:t>
            </a:r>
            <a:br>
              <a:rPr lang="en-US" altLang="ko-KR" dirty="0"/>
            </a:b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7.01%</a:t>
            </a:r>
            <a:r>
              <a:rPr lang="ko-KR" altLang="en-US" dirty="0"/>
              <a:t>로 확정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선도이자율과 동일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현시점에서 선도이자율로 고정 </a:t>
            </a:r>
            <a:r>
              <a:rPr lang="en-US" altLang="ko-KR" dirty="0">
                <a:sym typeface="Wingdings" panose="05000000000000000000" pitchFamily="2" charset="2"/>
              </a:rPr>
              <a:t> (</a:t>
            </a:r>
            <a:r>
              <a:rPr lang="ko-KR" altLang="en-US" dirty="0">
                <a:sym typeface="Wingdings" panose="05000000000000000000" pitchFamily="2" charset="2"/>
              </a:rPr>
              <a:t>미래 단기이자율 </a:t>
            </a:r>
            <a:r>
              <a:rPr lang="en-US" altLang="ko-KR" dirty="0">
                <a:sym typeface="Wingdings" panose="05000000000000000000" pitchFamily="2" charset="2"/>
              </a:rPr>
              <a:t>== </a:t>
            </a:r>
            <a:r>
              <a:rPr lang="ko-KR" altLang="en-US" dirty="0">
                <a:sym typeface="Wingdings" panose="05000000000000000000" pitchFamily="2" charset="2"/>
              </a:rPr>
              <a:t>현재 선도이자율</a:t>
            </a:r>
            <a:r>
              <a:rPr lang="en-US" altLang="ko-KR" dirty="0">
                <a:sym typeface="Wingdings" panose="05000000000000000000" pitchFamily="2" charset="2"/>
              </a:rPr>
              <a:t>) X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선도계약 </a:t>
            </a:r>
            <a:r>
              <a:rPr lang="en-US" altLang="ko-KR" dirty="0">
                <a:sym typeface="Wingdings" panose="05000000000000000000" pitchFamily="2" charset="2"/>
              </a:rPr>
              <a:t>(forward contracts)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년 후 </a:t>
            </a: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년 만기 할인채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액면가 </a:t>
            </a:r>
            <a:r>
              <a:rPr lang="en-US" altLang="ko-KR" dirty="0">
                <a:sym typeface="Wingdings" panose="05000000000000000000" pitchFamily="2" charset="2"/>
              </a:rPr>
              <a:t>1000)</a:t>
            </a:r>
            <a:r>
              <a:rPr lang="ko-KR" altLang="en-US" dirty="0">
                <a:sym typeface="Wingdings" panose="05000000000000000000" pitchFamily="2" charset="2"/>
              </a:rPr>
              <a:t>를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매입하는 선도계약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7DEB1C-EB04-D5FB-F3F5-9AEDF00CA11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43FA77C-B5B4-1A56-A240-3FBC958AF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898499"/>
              </p:ext>
            </p:extLst>
          </p:nvPr>
        </p:nvGraphicFramePr>
        <p:xfrm>
          <a:off x="3539231" y="1784648"/>
          <a:ext cx="324036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726">
                  <a:extLst>
                    <a:ext uri="{9D8B030D-6E8A-4147-A177-3AD203B41FA5}">
                      <a16:colId xmlns:a16="http://schemas.microsoft.com/office/drawing/2014/main" val="2416003901"/>
                    </a:ext>
                  </a:extLst>
                </a:gridCol>
                <a:gridCol w="714489">
                  <a:extLst>
                    <a:ext uri="{9D8B030D-6E8A-4147-A177-3AD203B41FA5}">
                      <a16:colId xmlns:a16="http://schemas.microsoft.com/office/drawing/2014/main" val="2967381935"/>
                    </a:ext>
                  </a:extLst>
                </a:gridCol>
                <a:gridCol w="759055">
                  <a:extLst>
                    <a:ext uri="{9D8B030D-6E8A-4147-A177-3AD203B41FA5}">
                      <a16:colId xmlns:a16="http://schemas.microsoft.com/office/drawing/2014/main" val="2960460252"/>
                    </a:ext>
                  </a:extLst>
                </a:gridCol>
                <a:gridCol w="810090">
                  <a:extLst>
                    <a:ext uri="{9D8B030D-6E8A-4147-A177-3AD203B41FA5}">
                      <a16:colId xmlns:a16="http://schemas.microsoft.com/office/drawing/2014/main" val="4194455799"/>
                    </a:ext>
                  </a:extLst>
                </a:gridCol>
              </a:tblGrid>
              <a:tr h="2000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t=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0067086"/>
                  </a:ext>
                </a:extLst>
              </a:tr>
              <a:tr h="2679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Buy 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/>
                        <a:t>(1Y bond)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-952.38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1000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41083"/>
                  </a:ext>
                </a:extLst>
              </a:tr>
              <a:tr h="2679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Short sell </a:t>
                      </a:r>
                      <a:br>
                        <a:rPr lang="en-US" altLang="ko-KR" sz="1000" dirty="0"/>
                      </a:br>
                      <a:r>
                        <a:rPr lang="en-US" altLang="ko-KR" sz="1000" dirty="0"/>
                        <a:t>(2Y bond)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890 * 1.0701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-1000 * 1.0701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869633"/>
                  </a:ext>
                </a:extLst>
              </a:tr>
              <a:tr h="20009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Cash flow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1000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-1070.10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530825"/>
                  </a:ext>
                </a:extLst>
              </a:tr>
            </a:tbl>
          </a:graphicData>
        </a:graphic>
      </p:graphicFrame>
      <p:pic>
        <p:nvPicPr>
          <p:cNvPr id="10" name="그림 9" descr="텍스트, 폰트, 친필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DAB9099-B066-715C-C42B-C543855849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345" y="3440832"/>
            <a:ext cx="1982439" cy="103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41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362DFED-799F-382A-557D-DE8A72A67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03C7401-CD47-1B4C-0A05-2D935D80B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불확실성하의 수익률곡선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CC8558-5A1D-30E2-35DB-1E492FC3DC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74CC90F-2874-9DB3-5184-0163EC93B9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기간구조에 대한 이해</a:t>
            </a:r>
            <a:endParaRPr lang="en-US" altLang="ko-KR" dirty="0"/>
          </a:p>
          <a:p>
            <a:pPr lvl="1"/>
            <a:r>
              <a:rPr lang="ko-KR" altLang="en-US" dirty="0"/>
              <a:t>기간이 </a:t>
            </a:r>
            <a:r>
              <a:rPr lang="ko-KR" altLang="en-US" dirty="0" err="1"/>
              <a:t>길어짐에</a:t>
            </a:r>
            <a:r>
              <a:rPr lang="ko-KR" altLang="en-US" dirty="0"/>
              <a:t> 따라 위험이 생김</a:t>
            </a:r>
            <a:endParaRPr lang="en-US" altLang="ko-KR" dirty="0"/>
          </a:p>
          <a:p>
            <a:pPr lvl="1"/>
            <a:r>
              <a:rPr lang="ko-KR" altLang="en-US" dirty="0"/>
              <a:t>유동성이 떨어짐에 따라 보상받길 원함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이자율이 높아짐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 err="1">
                <a:sym typeface="Wingdings" panose="05000000000000000000" pitchFamily="2" charset="2"/>
              </a:rPr>
              <a:t>수익커브</a:t>
            </a:r>
            <a:r>
              <a:rPr lang="ko-KR" altLang="en-US" dirty="0">
                <a:sym typeface="Wingdings" panose="05000000000000000000" pitchFamily="2" charset="2"/>
              </a:rPr>
              <a:t> 우상향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경기성장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>
                <a:sym typeface="Wingdings" panose="05000000000000000000" pitchFamily="2" charset="2"/>
              </a:rPr>
              <a:t>우하향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경기침체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 err="1"/>
              <a:t>불확실성하에서의</a:t>
            </a:r>
            <a:r>
              <a:rPr lang="ko-KR" altLang="en-US" dirty="0"/>
              <a:t> 이자수익률</a:t>
            </a:r>
            <a:endParaRPr lang="en-US" altLang="ko-KR" dirty="0"/>
          </a:p>
          <a:p>
            <a:pPr lvl="1"/>
            <a:r>
              <a:rPr lang="ko-KR" altLang="en-US" dirty="0"/>
              <a:t>현재 이자율 </a:t>
            </a:r>
            <a:r>
              <a:rPr lang="en-US" altLang="ko-KR" dirty="0"/>
              <a:t>r1</a:t>
            </a:r>
            <a:r>
              <a:rPr lang="ko-KR" altLang="en-US" dirty="0"/>
              <a:t> </a:t>
            </a:r>
            <a:r>
              <a:rPr lang="en-US" altLang="ko-KR" dirty="0"/>
              <a:t>=5%, E(r2) = 6%</a:t>
            </a:r>
            <a:r>
              <a:rPr lang="ko-KR" altLang="en-US" dirty="0"/>
              <a:t>에서</a:t>
            </a:r>
            <a:r>
              <a:rPr lang="en-US" altLang="ko-KR" dirty="0"/>
              <a:t>, 2</a:t>
            </a:r>
            <a:r>
              <a:rPr lang="ko-KR" altLang="en-US" dirty="0" err="1"/>
              <a:t>년만기</a:t>
            </a:r>
            <a:r>
              <a:rPr lang="ko-KR" altLang="en-US" dirty="0"/>
              <a:t> 할인채의 가격은 </a:t>
            </a:r>
            <a:r>
              <a:rPr lang="en-US" altLang="ko-KR" dirty="0"/>
              <a:t>1000/(1.05*1.06) = 898.47 </a:t>
            </a:r>
            <a:r>
              <a:rPr lang="en-US" altLang="ko-KR" dirty="0">
                <a:sym typeface="Wingdings" panose="05000000000000000000" pitchFamily="2" charset="2"/>
              </a:rPr>
              <a:t> 1+n</a:t>
            </a:r>
            <a:r>
              <a:rPr lang="ko-KR" altLang="en-US" dirty="0">
                <a:sym typeface="Wingdings" panose="05000000000000000000" pitchFamily="2" charset="2"/>
              </a:rPr>
              <a:t>년은 </a:t>
            </a:r>
            <a:r>
              <a:rPr lang="ko-KR" altLang="en-US" dirty="0" err="1">
                <a:sym typeface="Wingdings" panose="05000000000000000000" pitchFamily="2" charset="2"/>
              </a:rPr>
              <a:t>오차값이</a:t>
            </a:r>
            <a:r>
              <a:rPr lang="ko-KR" altLang="en-US" dirty="0">
                <a:sym typeface="Wingdings" panose="05000000000000000000" pitchFamily="2" charset="2"/>
              </a:rPr>
              <a:t> 있음</a:t>
            </a:r>
            <a:r>
              <a:rPr lang="en-US" altLang="ko-KR" dirty="0">
                <a:sym typeface="Wingdings" panose="05000000000000000000" pitchFamily="2" charset="2"/>
              </a:rPr>
              <a:t>; 1</a:t>
            </a:r>
            <a:r>
              <a:rPr lang="ko-KR" altLang="en-US" dirty="0" err="1">
                <a:sym typeface="Wingdings" panose="05000000000000000000" pitchFamily="2" charset="2"/>
              </a:rPr>
              <a:t>년만기는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1000/1.05 = 952.38</a:t>
            </a:r>
            <a:r>
              <a:rPr lang="ko-KR" altLang="en-US" dirty="0">
                <a:sym typeface="Wingdings" panose="05000000000000000000" pitchFamily="2" charset="2"/>
              </a:rPr>
              <a:t>로 확정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년간 </a:t>
            </a:r>
            <a:r>
              <a:rPr lang="ko-KR" altLang="en-US" dirty="0" err="1">
                <a:sym typeface="Wingdings" panose="05000000000000000000" pitchFamily="2" charset="2"/>
              </a:rPr>
              <a:t>투자시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2</a:t>
            </a:r>
            <a:r>
              <a:rPr lang="ko-KR" altLang="en-US" dirty="0">
                <a:sym typeface="Wingdings" panose="05000000000000000000" pitchFamily="2" charset="2"/>
              </a:rPr>
              <a:t>가지 선택지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1) 2</a:t>
            </a:r>
            <a:r>
              <a:rPr lang="ko-KR" altLang="en-US" dirty="0" err="1">
                <a:sym typeface="Wingdings" panose="05000000000000000000" pitchFamily="2" charset="2"/>
              </a:rPr>
              <a:t>년짜리를</a:t>
            </a:r>
            <a:r>
              <a:rPr lang="ko-KR" altLang="en-US" dirty="0">
                <a:sym typeface="Wingdings" panose="05000000000000000000" pitchFamily="2" charset="2"/>
              </a:rPr>
              <a:t> 투자해서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년 후 </a:t>
            </a:r>
            <a:r>
              <a:rPr lang="ko-KR" altLang="en-US" dirty="0" err="1">
                <a:sym typeface="Wingdings" panose="05000000000000000000" pitchFamily="2" charset="2"/>
              </a:rPr>
              <a:t>팔아버림</a:t>
            </a:r>
            <a:r>
              <a:rPr lang="en-US" altLang="ko-KR" dirty="0">
                <a:sym typeface="Wingdings" panose="05000000000000000000" pitchFamily="2" charset="2"/>
              </a:rPr>
              <a:t>; 1</a:t>
            </a:r>
            <a:r>
              <a:rPr lang="ko-KR" altLang="en-US" dirty="0" err="1">
                <a:sym typeface="Wingdings" panose="05000000000000000000" pitchFamily="2" charset="2"/>
              </a:rPr>
              <a:t>년후</a:t>
            </a:r>
            <a:r>
              <a:rPr lang="ko-KR" altLang="en-US" dirty="0">
                <a:sym typeface="Wingdings" panose="05000000000000000000" pitchFamily="2" charset="2"/>
              </a:rPr>
              <a:t> 수익은 </a:t>
            </a:r>
            <a:r>
              <a:rPr lang="en-US" altLang="ko-KR" dirty="0">
                <a:sym typeface="Wingdings" panose="05000000000000000000" pitchFamily="2" charset="2"/>
              </a:rPr>
              <a:t>1000/1.06 = 943.4</a:t>
            </a:r>
            <a:r>
              <a:rPr lang="ko-KR" altLang="en-US" dirty="0">
                <a:sym typeface="Wingdings" panose="05000000000000000000" pitchFamily="2" charset="2"/>
              </a:rPr>
              <a:t>에서</a:t>
            </a:r>
            <a:r>
              <a:rPr lang="en-US" altLang="ko-KR" dirty="0">
                <a:sym typeface="Wingdings" panose="05000000000000000000" pitchFamily="2" charset="2"/>
              </a:rPr>
              <a:t>,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예상수익률 </a:t>
            </a:r>
            <a:r>
              <a:rPr lang="en-US" altLang="ko-KR" dirty="0">
                <a:sym typeface="Wingdings" panose="05000000000000000000" pitchFamily="2" charset="2"/>
              </a:rPr>
              <a:t> (943.4-898.47)/898.47 = 5%  E(r2)</a:t>
            </a:r>
            <a:r>
              <a:rPr lang="ko-KR" altLang="en-US" dirty="0">
                <a:sym typeface="Wingdings" panose="05000000000000000000" pitchFamily="2" charset="2"/>
              </a:rPr>
              <a:t>가 확정</a:t>
            </a:r>
            <a:r>
              <a:rPr lang="en-US" altLang="ko-KR" dirty="0">
                <a:sym typeface="Wingdings" panose="05000000000000000000" pitchFamily="2" charset="2"/>
              </a:rPr>
              <a:t>X, 5%</a:t>
            </a:r>
            <a:r>
              <a:rPr lang="ko-KR" altLang="en-US" dirty="0">
                <a:sym typeface="Wingdings" panose="05000000000000000000" pitchFamily="2" charset="2"/>
              </a:rPr>
              <a:t>도 확정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2) 1</a:t>
            </a:r>
            <a:r>
              <a:rPr lang="ko-KR" altLang="en-US" dirty="0" err="1">
                <a:sym typeface="Wingdings" panose="05000000000000000000" pitchFamily="2" charset="2"/>
              </a:rPr>
              <a:t>년짜리를</a:t>
            </a:r>
            <a:r>
              <a:rPr lang="ko-KR" altLang="en-US" dirty="0">
                <a:sym typeface="Wingdings" panose="05000000000000000000" pitchFamily="2" charset="2"/>
              </a:rPr>
              <a:t> 투자해서 만기까지 보유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수익률 </a:t>
            </a:r>
            <a:r>
              <a:rPr lang="en-US" altLang="ko-KR" dirty="0">
                <a:sym typeface="Wingdings" panose="05000000000000000000" pitchFamily="2" charset="2"/>
              </a:rPr>
              <a:t>= 5% = (1000 – 952.38)/952.38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채권을 장기적으로 들고 있을 수록 투자자는 리스크 프리미엄을 요구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단기간 투자자의 미래 가격에 대한 불확실의 보상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1B48063-0C7D-FEAF-29A2-D0AEE439159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546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C855137-BE86-EED8-D344-E29EFF8AC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F1C0DAC-96DF-7628-17EA-D9995200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이자율 기간구조에 관한 이론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7829E4-716B-1650-4346-DF6CA5AB13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BA71322-A590-DB31-DA04-AAE71522B4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가정</a:t>
            </a:r>
            <a:endParaRPr lang="en-US" altLang="ko-KR" dirty="0"/>
          </a:p>
          <a:p>
            <a:pPr lvl="1"/>
            <a:r>
              <a:rPr lang="ko-KR" altLang="en-US" dirty="0"/>
              <a:t>위험 중립적</a:t>
            </a:r>
            <a:r>
              <a:rPr lang="en-US" altLang="ko-KR" dirty="0"/>
              <a:t>; </a:t>
            </a:r>
            <a:r>
              <a:rPr lang="ko-KR" altLang="en-US" dirty="0"/>
              <a:t>장기채와 단기채는 완전대체재</a:t>
            </a:r>
            <a:r>
              <a:rPr lang="en-US" altLang="ko-KR" dirty="0"/>
              <a:t>; rollover</a:t>
            </a:r>
            <a:r>
              <a:rPr lang="ko-KR" altLang="en-US" dirty="0"/>
              <a:t> 방식은 </a:t>
            </a:r>
            <a:r>
              <a:rPr lang="en-US" altLang="ko-KR" dirty="0"/>
              <a:t>buy and hold</a:t>
            </a:r>
            <a:r>
              <a:rPr lang="ko-KR" altLang="en-US" dirty="0"/>
              <a:t>와 동일</a:t>
            </a:r>
            <a:endParaRPr lang="en-US" altLang="ko-KR" dirty="0"/>
          </a:p>
          <a:p>
            <a:r>
              <a:rPr lang="ko-KR" altLang="en-US" dirty="0"/>
              <a:t>기대가설이론</a:t>
            </a:r>
            <a:endParaRPr lang="en-US" altLang="ko-KR" dirty="0"/>
          </a:p>
          <a:p>
            <a:pPr lvl="1"/>
            <a:r>
              <a:rPr lang="ko-KR" altLang="en-US" dirty="0"/>
              <a:t>현재 채권의 만기수익률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미래 이자율에 대한 투자자들의 예상을 그대로 반영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 </a:t>
            </a:r>
            <a:r>
              <a:rPr lang="en-US" altLang="ko-KR" dirty="0"/>
              <a:t>			   </a:t>
            </a:r>
            <a:r>
              <a:rPr lang="ko-KR" altLang="en-US" dirty="0"/>
              <a:t>효율적 시장 </a:t>
            </a:r>
            <a:r>
              <a:rPr lang="en-US" altLang="ko-KR" dirty="0">
                <a:sym typeface="Wingdings" panose="05000000000000000000" pitchFamily="2" charset="2"/>
              </a:rPr>
              <a:t> unbiased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수익률 곡선과 미래 현물이자율</a:t>
            </a:r>
            <a:br>
              <a:rPr lang="en-US" altLang="ko-KR" dirty="0"/>
            </a:br>
            <a:r>
              <a:rPr lang="ko-KR" altLang="en-US" dirty="0"/>
              <a:t>에 대한 투자자의 기대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유동성 선호 이론</a:t>
            </a:r>
            <a:endParaRPr lang="en-US" altLang="ko-KR" dirty="0"/>
          </a:p>
          <a:p>
            <a:pPr lvl="1"/>
            <a:r>
              <a:rPr lang="ko-KR" altLang="en-US" dirty="0"/>
              <a:t>불확실한 시간에 대한 보상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추가 수익률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유동성 프리미엄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시장 주류는 단기투자자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가정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위험 회피적 투자자</a:t>
            </a:r>
            <a:r>
              <a:rPr lang="en-US" altLang="ko-KR" dirty="0">
                <a:sym typeface="Wingdings" panose="05000000000000000000" pitchFamily="2" charset="2"/>
              </a:rPr>
              <a:t>; </a:t>
            </a:r>
            <a:r>
              <a:rPr lang="ko-KR" altLang="en-US" dirty="0" err="1">
                <a:sym typeface="Wingdings" panose="05000000000000000000" pitchFamily="2" charset="2"/>
              </a:rPr>
              <a:t>장기채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–</a:t>
            </a:r>
            <a:r>
              <a:rPr lang="ko-KR" altLang="en-US" dirty="0">
                <a:sym typeface="Wingdings" panose="05000000000000000000" pitchFamily="2" charset="2"/>
              </a:rPr>
              <a:t> 단기채는 대체재</a:t>
            </a:r>
            <a:r>
              <a:rPr lang="en-US" altLang="ko-KR" dirty="0">
                <a:sym typeface="Wingdings" panose="05000000000000000000" pitchFamily="2" charset="2"/>
              </a:rPr>
              <a:t>;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투자자들이 단기투자를 선호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장기투자에는 프리미엄 요구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장기 채권이 더 위험하므로</a:t>
            </a:r>
            <a:r>
              <a:rPr lang="en-US" altLang="ko-KR" dirty="0">
                <a:sym typeface="Wingdings" panose="05000000000000000000" pitchFamily="2" charset="2"/>
              </a:rPr>
              <a:t>, (n-1)f1 &gt; E(</a:t>
            </a:r>
            <a:r>
              <a:rPr lang="en-US" altLang="ko-KR" dirty="0" err="1">
                <a:sym typeface="Wingdings" panose="05000000000000000000" pitchFamily="2" charset="2"/>
              </a:rPr>
              <a:t>rn</a:t>
            </a:r>
            <a:r>
              <a:rPr lang="en-US" altLang="ko-KR" dirty="0">
                <a:sym typeface="Wingdings" panose="05000000000000000000" pitchFamily="2" charset="2"/>
              </a:rPr>
              <a:t>); </a:t>
            </a:r>
            <a:r>
              <a:rPr lang="ko-KR" altLang="en-US" dirty="0">
                <a:sym typeface="Wingdings" panose="05000000000000000000" pitchFamily="2" charset="2"/>
              </a:rPr>
              <a:t>여기서 초과분이 유동성 프리미엄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유동성 프리미엄 하에 </a:t>
            </a:r>
            <a:r>
              <a:rPr lang="ko-KR" altLang="en-US" dirty="0" err="1">
                <a:sym typeface="Wingdings" panose="05000000000000000000" pitchFamily="2" charset="2"/>
              </a:rPr>
              <a:t>우상향하는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수익커브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(r1=5%, E(</a:t>
            </a:r>
            <a:r>
              <a:rPr lang="en-US" altLang="ko-KR" dirty="0" err="1">
                <a:sym typeface="Wingdings" panose="05000000000000000000" pitchFamily="2" charset="2"/>
              </a:rPr>
              <a:t>ri</a:t>
            </a:r>
            <a:r>
              <a:rPr lang="en-US" altLang="ko-KR" dirty="0">
                <a:sym typeface="Wingdings" panose="05000000000000000000" pitchFamily="2" charset="2"/>
              </a:rPr>
              <a:t>)=5%)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A906E7-DCC7-9456-1DAD-F329D09C5B5A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66FE0C-3765-20B4-95CE-C75018363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679" y="1496616"/>
            <a:ext cx="2484698" cy="185772"/>
          </a:xfrm>
          <a:prstGeom prst="rect">
            <a:avLst/>
          </a:prstGeom>
        </p:spPr>
      </p:pic>
      <p:pic>
        <p:nvPicPr>
          <p:cNvPr id="10" name="그림 9" descr="텍스트, 폰트, 친필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CF31E3D-18BF-C54E-6B25-CA43D34BE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2041" y="1784648"/>
            <a:ext cx="4290144" cy="750190"/>
          </a:xfrm>
          <a:prstGeom prst="rect">
            <a:avLst/>
          </a:prstGeom>
        </p:spPr>
      </p:pic>
      <p:pic>
        <p:nvPicPr>
          <p:cNvPr id="12" name="그림 11" descr="텍스트, 스크린샷, 라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F91BEF3-B08F-0E32-278C-0F8040104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9040" y="2618492"/>
            <a:ext cx="2557409" cy="147502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7BCF032-7B92-157B-D8E9-A91C47FD07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600" y="5385048"/>
            <a:ext cx="3473624" cy="161128"/>
          </a:xfrm>
          <a:prstGeom prst="rect">
            <a:avLst/>
          </a:prstGeom>
        </p:spPr>
      </p:pic>
      <p:pic>
        <p:nvPicPr>
          <p:cNvPr id="16" name="그림 15" descr="텍스트, 폰트, 스크린샷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20A92E3-8CC9-62FF-DCCB-1F73647868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471" y="5961112"/>
            <a:ext cx="2383642" cy="1063065"/>
          </a:xfrm>
          <a:prstGeom prst="rect">
            <a:avLst/>
          </a:prstGeom>
        </p:spPr>
      </p:pic>
      <p:pic>
        <p:nvPicPr>
          <p:cNvPr id="18" name="그림 17" descr="텍스트, 라인, 도표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37A8523-AB8F-878E-859C-91978B1E56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829" y="6825208"/>
            <a:ext cx="3092846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06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F576033-54E0-0C3D-06FC-3DD905B2B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1EE1A1D-97F4-976A-59D2-9D8F56D7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이자율 기간구조에 관한 이론 </a:t>
            </a:r>
            <a:r>
              <a:rPr lang="en-US" altLang="ko-KR" dirty="0"/>
              <a:t>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3C1D29-9832-AB00-4D4D-9DE63A2563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8A21242-FC77-D4AC-E45B-861112896FE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시장분할이론</a:t>
            </a:r>
            <a:endParaRPr lang="en-US" altLang="ko-KR" dirty="0"/>
          </a:p>
          <a:p>
            <a:pPr lvl="1"/>
            <a:r>
              <a:rPr lang="ko-KR" altLang="en-US" dirty="0"/>
              <a:t>채권시장 이자율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만기 별 서로 다른 수요와 공급에 의함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 err="1">
                <a:sym typeface="Wingdings" panose="05000000000000000000" pitchFamily="2" charset="2"/>
              </a:rPr>
              <a:t>장기채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수요 적으므로 가격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이자율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이 높음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수익률곡선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불완전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가정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시장참여자의 서로 다른 채권 선호도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장기채는 단기채의 대체재가 아니다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문제점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만기가 다른 채권의 이자율이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서로 같이 변동함을 설명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재정거래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만기별로 독립적인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>
                <a:sym typeface="Wingdings" panose="05000000000000000000" pitchFamily="2" charset="2"/>
              </a:rPr>
              <a:t>상이한 수익률 수익률곡선은 존재 </a:t>
            </a:r>
            <a:r>
              <a:rPr lang="en-US" altLang="ko-KR" dirty="0">
                <a:sym typeface="Wingdings" panose="05000000000000000000" pitchFamily="2" charset="2"/>
              </a:rPr>
              <a:t>X</a:t>
            </a:r>
          </a:p>
          <a:p>
            <a:r>
              <a:rPr lang="ko-KR" altLang="en-US" dirty="0"/>
              <a:t>선호영역 이론</a:t>
            </a:r>
            <a:endParaRPr lang="en-US" altLang="ko-KR" dirty="0"/>
          </a:p>
          <a:p>
            <a:pPr lvl="1"/>
            <a:r>
              <a:rPr lang="ko-KR" altLang="en-US" dirty="0"/>
              <a:t>투자자별 선호하는 특정 만기 존재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다른 </a:t>
            </a:r>
            <a:r>
              <a:rPr lang="ko-KR" altLang="en-US" dirty="0" err="1">
                <a:sym typeface="Wingdings" panose="05000000000000000000" pitchFamily="2" charset="2"/>
              </a:rPr>
              <a:t>영역애</a:t>
            </a:r>
            <a:r>
              <a:rPr lang="ko-KR" altLang="en-US" dirty="0">
                <a:sym typeface="Wingdings" panose="05000000000000000000" pitchFamily="2" charset="2"/>
              </a:rPr>
              <a:t> 대한 보상</a:t>
            </a:r>
            <a:r>
              <a:rPr lang="en-US" altLang="ko-KR" dirty="0">
                <a:sym typeface="Wingdings" panose="05000000000000000000" pitchFamily="2" charset="2"/>
              </a:rPr>
              <a:t>?  </a:t>
            </a:r>
            <a:r>
              <a:rPr lang="ko-KR" altLang="en-US" dirty="0">
                <a:sym typeface="Wingdings" panose="05000000000000000000" pitchFamily="2" charset="2"/>
              </a:rPr>
              <a:t>투자 </a:t>
            </a:r>
            <a:r>
              <a:rPr lang="en-US" altLang="ko-KR" dirty="0">
                <a:sym typeface="Wingdings" panose="05000000000000000000" pitchFamily="2" charset="2"/>
              </a:rPr>
              <a:t>OK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기대이론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유동성 프리미엄 이론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시장분할 이론의 절충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채권수익률의 위험구조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채권의 발행조건</a:t>
            </a:r>
            <a:r>
              <a:rPr lang="en-US" altLang="ko-KR" dirty="0">
                <a:sym typeface="Wingdings" panose="05000000000000000000" pitchFamily="2" charset="2"/>
              </a:rPr>
              <a:t>/ </a:t>
            </a:r>
            <a:r>
              <a:rPr lang="ko-KR" altLang="en-US" dirty="0">
                <a:sym typeface="Wingdings" panose="05000000000000000000" pitchFamily="2" charset="2"/>
              </a:rPr>
              <a:t>발행자의 신용도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채권 수익률의 차이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채권수익률의 위험구조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822A9C-733F-1343-8163-34EA1BA0CE0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텍스트, 도표, 라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6217A25-0EA2-C038-A792-BB6087334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088" y="2144688"/>
            <a:ext cx="1974498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142423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29356</TotalTime>
  <Words>1943</Words>
  <Application>Microsoft Office PowerPoint</Application>
  <PresentationFormat>A4 용지(210x297mm)</PresentationFormat>
  <Paragraphs>316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Wingdings</vt:lpstr>
      <vt:lpstr>디자인 사용자 지정</vt:lpstr>
      <vt:lpstr>투자와 투자 방식</vt:lpstr>
      <vt:lpstr>금융시장</vt:lpstr>
      <vt:lpstr>수익과 리스크</vt:lpstr>
      <vt:lpstr>현재가치의 측정</vt:lpstr>
      <vt:lpstr>채권</vt:lpstr>
      <vt:lpstr>채권수익률</vt:lpstr>
      <vt:lpstr>PowerPoint 프레젠테이션</vt:lpstr>
      <vt:lpstr>이자율 기간구조</vt:lpstr>
      <vt:lpstr>확실성하의 수익률 곡선</vt:lpstr>
      <vt:lpstr>확실성하의 수익률곡선 (계속)</vt:lpstr>
      <vt:lpstr>불확실성하의 수익률곡선</vt:lpstr>
      <vt:lpstr>이자율 기간구조에 관한 이론</vt:lpstr>
      <vt:lpstr>이자율 기간구조에 관한 이론 (계속)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554</cp:revision>
  <dcterms:created xsi:type="dcterms:W3CDTF">2021-05-24T07:27:04Z</dcterms:created>
  <dcterms:modified xsi:type="dcterms:W3CDTF">2025-08-15T04:04:21Z</dcterms:modified>
</cp:coreProperties>
</file>