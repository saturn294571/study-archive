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 varScale="1">
        <p:scale>
          <a:sx n="76" d="100"/>
          <a:sy n="76" d="100"/>
        </p:scale>
        <p:origin x="244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4218DA7-6A67-FBF4-233C-8B7BEDB94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AB5550F-5F9E-8953-3111-1A5445459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경제민주화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D2FD72-61D5-1EBF-CDD5-80D4BC459F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E7EE98B-AFD7-0629-4886-203DE446D7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헌법과 경제민주화</a:t>
            </a:r>
            <a:endParaRPr lang="en-US" altLang="ko-KR" dirty="0"/>
          </a:p>
          <a:p>
            <a:pPr lvl="1"/>
            <a:r>
              <a:rPr lang="ko-KR" altLang="en-US" dirty="0"/>
              <a:t>민주적 시장경제 </a:t>
            </a:r>
            <a:r>
              <a:rPr lang="en-US" altLang="ko-KR" dirty="0"/>
              <a:t>: </a:t>
            </a:r>
            <a:r>
              <a:rPr lang="ko-KR" altLang="en-US" dirty="0"/>
              <a:t>경제 </a:t>
            </a:r>
            <a:r>
              <a:rPr lang="en-US" altLang="ko-KR" dirty="0"/>
              <a:t>→ </a:t>
            </a:r>
            <a:r>
              <a:rPr lang="ko-KR" altLang="en-US" dirty="0"/>
              <a:t>효율성의 가치</a:t>
            </a:r>
            <a:r>
              <a:rPr lang="en-US" altLang="ko-KR" dirty="0"/>
              <a:t>; </a:t>
            </a:r>
            <a:r>
              <a:rPr lang="ko-KR" altLang="en-US" dirty="0"/>
              <a:t>민주주의 </a:t>
            </a:r>
            <a:r>
              <a:rPr lang="en-US" altLang="ko-KR" dirty="0"/>
              <a:t>→ </a:t>
            </a:r>
            <a:r>
              <a:rPr lang="ko-KR" altLang="en-US" dirty="0"/>
              <a:t>배분적 정의</a:t>
            </a:r>
            <a:br>
              <a:rPr lang="en-US" altLang="ko-KR" dirty="0"/>
            </a:br>
            <a:r>
              <a:rPr lang="ko-KR" altLang="en-US" dirty="0"/>
              <a:t>민주적 시장경제 </a:t>
            </a:r>
            <a:r>
              <a:rPr lang="en-US" altLang="ko-KR" dirty="0"/>
              <a:t>→ </a:t>
            </a:r>
            <a:r>
              <a:rPr lang="ko-KR" altLang="en-US" dirty="0"/>
              <a:t>정부가 시장원리를 훼손 </a:t>
            </a:r>
            <a:r>
              <a:rPr lang="en-US" altLang="ko-KR" dirty="0"/>
              <a:t>X</a:t>
            </a:r>
            <a:r>
              <a:rPr lang="ko-KR" altLang="en-US" dirty="0"/>
              <a:t>인 범위 내에서 개입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민주적 통제 결합하는 적극적 해석</a:t>
            </a:r>
            <a:r>
              <a:rPr lang="en-US" altLang="ko-KR" dirty="0"/>
              <a:t> &amp; </a:t>
            </a:r>
            <a:r>
              <a:rPr lang="ko-KR" altLang="en-US" dirty="0"/>
              <a:t>시장에 대한 긍정적 해석의 결합에 기초하는 소극적 해석</a:t>
            </a:r>
            <a:endParaRPr lang="en-US" altLang="ko-KR" dirty="0"/>
          </a:p>
          <a:p>
            <a:pPr lvl="1"/>
            <a:r>
              <a:rPr lang="ko-KR" altLang="en-US" dirty="0"/>
              <a:t>공정한 시장경제 </a:t>
            </a:r>
            <a:r>
              <a:rPr lang="en-US" altLang="ko-KR" dirty="0"/>
              <a:t>&amp; </a:t>
            </a:r>
            <a:r>
              <a:rPr lang="ko-KR" altLang="en-US" dirty="0"/>
              <a:t>안정적 시장</a:t>
            </a:r>
            <a:r>
              <a:rPr lang="en-US" altLang="ko-KR" dirty="0"/>
              <a:t>, </a:t>
            </a:r>
            <a:r>
              <a:rPr lang="ko-KR" altLang="en-US" dirty="0"/>
              <a:t>적정한 소득분배</a:t>
            </a:r>
            <a:endParaRPr lang="en-US" altLang="ko-KR" dirty="0"/>
          </a:p>
          <a:p>
            <a:r>
              <a:rPr lang="ko-KR" altLang="en-US" dirty="0"/>
              <a:t>사민주의</a:t>
            </a:r>
            <a:endParaRPr lang="en-US" altLang="ko-KR" dirty="0"/>
          </a:p>
          <a:p>
            <a:pPr lvl="1"/>
            <a:r>
              <a:rPr lang="ko-KR" altLang="en-US" dirty="0"/>
              <a:t>사민주의 </a:t>
            </a:r>
            <a:r>
              <a:rPr lang="en-US" altLang="ko-KR" dirty="0"/>
              <a:t>: </a:t>
            </a:r>
            <a:r>
              <a:rPr lang="ko-KR" altLang="en-US" dirty="0"/>
              <a:t>시장권력 상품화 </a:t>
            </a:r>
            <a:r>
              <a:rPr lang="en-US" altLang="ko-KR" dirty="0"/>
              <a:t>→ </a:t>
            </a:r>
            <a:r>
              <a:rPr lang="ko-KR" altLang="en-US" dirty="0"/>
              <a:t>민주적 통제</a:t>
            </a:r>
            <a:endParaRPr lang="en-US" altLang="ko-KR" dirty="0"/>
          </a:p>
          <a:p>
            <a:pPr lvl="1"/>
            <a:r>
              <a:rPr lang="ko-KR" altLang="en-US" dirty="0"/>
              <a:t>노동력의 탈상품화 </a:t>
            </a:r>
            <a:r>
              <a:rPr lang="en-US" altLang="ko-KR" dirty="0"/>
              <a:t>: </a:t>
            </a:r>
            <a:r>
              <a:rPr lang="ko-KR" altLang="en-US" dirty="0"/>
              <a:t>개인</a:t>
            </a:r>
            <a:r>
              <a:rPr lang="en-US" altLang="ko-KR" dirty="0"/>
              <a:t>/</a:t>
            </a:r>
            <a:r>
              <a:rPr lang="ko-KR" altLang="en-US" dirty="0"/>
              <a:t>가족이 시장 참여와 관계</a:t>
            </a:r>
            <a:r>
              <a:rPr lang="en-US" altLang="ko-KR" dirty="0"/>
              <a:t>X → </a:t>
            </a:r>
            <a:r>
              <a:rPr lang="ko-KR" altLang="en-US" dirty="0"/>
              <a:t>사회적으로</a:t>
            </a:r>
            <a:r>
              <a:rPr lang="en-US" altLang="ko-KR" dirty="0"/>
              <a:t> </a:t>
            </a:r>
            <a:r>
              <a:rPr lang="ko-KR" altLang="en-US" dirty="0"/>
              <a:t>수용할만한 수준의 생활</a:t>
            </a:r>
            <a:endParaRPr lang="en-US" altLang="ko-KR" dirty="0"/>
          </a:p>
          <a:p>
            <a:r>
              <a:rPr lang="ko-KR" altLang="en-US" dirty="0" err="1"/>
              <a:t>촘스키와</a:t>
            </a:r>
            <a:r>
              <a:rPr lang="ko-KR" altLang="en-US" dirty="0"/>
              <a:t> </a:t>
            </a:r>
            <a:r>
              <a:rPr lang="ko-KR" altLang="en-US" dirty="0" err="1"/>
              <a:t>스티글리츠</a:t>
            </a:r>
            <a:endParaRPr lang="en-US" altLang="ko-KR" dirty="0"/>
          </a:p>
          <a:p>
            <a:pPr lvl="1"/>
            <a:r>
              <a:rPr lang="ko-KR" altLang="en-US" dirty="0"/>
              <a:t>변화를 위한 조정방식 </a:t>
            </a:r>
            <a:r>
              <a:rPr lang="en-US" altLang="ko-KR" dirty="0"/>
              <a:t>: </a:t>
            </a:r>
            <a:r>
              <a:rPr lang="ko-KR" altLang="en-US" dirty="0"/>
              <a:t>상향식</a:t>
            </a:r>
            <a:r>
              <a:rPr lang="en-US" altLang="ko-KR" dirty="0"/>
              <a:t>(bottom up);     </a:t>
            </a:r>
            <a:r>
              <a:rPr lang="ko-KR" altLang="en-US" dirty="0"/>
              <a:t>금융에 대한 사회화</a:t>
            </a:r>
            <a:br>
              <a:rPr lang="en-US" altLang="ko-KR" dirty="0"/>
            </a:br>
            <a:r>
              <a:rPr lang="ko-KR" altLang="en-US" dirty="0"/>
              <a:t>웰빙과 삶의 질을 측정 </a:t>
            </a:r>
            <a:r>
              <a:rPr lang="en-US" altLang="ko-KR" dirty="0"/>
              <a:t>→ </a:t>
            </a:r>
            <a:r>
              <a:rPr lang="ko-KR" altLang="en-US" dirty="0"/>
              <a:t>수요</a:t>
            </a:r>
            <a:r>
              <a:rPr lang="en-US" altLang="ko-KR" dirty="0"/>
              <a:t>/</a:t>
            </a:r>
            <a:r>
              <a:rPr lang="ko-KR" altLang="en-US" dirty="0"/>
              <a:t>생산의 새로운 패턴</a:t>
            </a:r>
            <a:endParaRPr lang="en-US" altLang="ko-KR" dirty="0"/>
          </a:p>
          <a:p>
            <a:pPr lvl="1"/>
            <a:r>
              <a:rPr lang="ko-KR" altLang="en-US" dirty="0"/>
              <a:t>보이지 않는 손의 허상</a:t>
            </a:r>
            <a:endParaRPr lang="en-US" altLang="ko-KR" dirty="0"/>
          </a:p>
          <a:p>
            <a:r>
              <a:rPr lang="en-US" altLang="ko-KR" dirty="0"/>
              <a:t>2008 </a:t>
            </a:r>
            <a:r>
              <a:rPr lang="ko-KR" altLang="en-US" dirty="0"/>
              <a:t>이후 세계경제 침체의 진단 및 처방</a:t>
            </a:r>
            <a:endParaRPr lang="en-US" altLang="ko-KR" dirty="0"/>
          </a:p>
          <a:p>
            <a:pPr lvl="1"/>
            <a:r>
              <a:rPr lang="ko-KR" altLang="en-US" dirty="0"/>
              <a:t>왜 예측</a:t>
            </a:r>
            <a:r>
              <a:rPr lang="en-US" altLang="ko-KR" dirty="0"/>
              <a:t>X? → </a:t>
            </a:r>
            <a:r>
              <a:rPr lang="ko-KR" altLang="en-US" dirty="0"/>
              <a:t>위기가</a:t>
            </a:r>
            <a:r>
              <a:rPr lang="en-US" altLang="ko-KR" dirty="0"/>
              <a:t> </a:t>
            </a:r>
            <a:r>
              <a:rPr lang="ko-KR" altLang="en-US" dirty="0"/>
              <a:t>기존 경제개념과 모듈</a:t>
            </a:r>
            <a:r>
              <a:rPr lang="en-US" altLang="ko-KR" dirty="0"/>
              <a:t>, </a:t>
            </a:r>
            <a:r>
              <a:rPr lang="ko-KR" altLang="en-US" dirty="0"/>
              <a:t>정책의 핵심을 강타함 </a:t>
            </a:r>
            <a:r>
              <a:rPr lang="en-US" altLang="ko-KR" dirty="0"/>
              <a:t>→ </a:t>
            </a:r>
            <a:r>
              <a:rPr lang="ko-KR" altLang="en-US" dirty="0"/>
              <a:t>기존 정책과 이론이 문제가 있었음 </a:t>
            </a:r>
            <a:endParaRPr lang="en-US" altLang="ko-KR" dirty="0"/>
          </a:p>
          <a:p>
            <a:pPr lvl="1"/>
            <a:r>
              <a:rPr lang="ko-KR" altLang="en-US" dirty="0" err="1"/>
              <a:t>포스트케인지언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효율적 금융시장이론에 의한 금융시스템의 탈규제가 문제</a:t>
            </a:r>
            <a:endParaRPr lang="en-US" altLang="ko-KR" dirty="0"/>
          </a:p>
          <a:p>
            <a:pPr lvl="1"/>
            <a:r>
              <a:rPr lang="ko-KR" altLang="en-US" dirty="0" err="1"/>
              <a:t>라잔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미 사회 분배구조 악화 </a:t>
            </a:r>
            <a:r>
              <a:rPr lang="en-US" altLang="ko-KR" dirty="0"/>
              <a:t>→ </a:t>
            </a:r>
            <a:r>
              <a:rPr lang="ko-KR" altLang="en-US" dirty="0"/>
              <a:t>위기</a:t>
            </a:r>
            <a:r>
              <a:rPr lang="en-US" altLang="ko-KR" dirty="0"/>
              <a:t>; </a:t>
            </a:r>
            <a:r>
              <a:rPr lang="en-US" altLang="ko-KR" dirty="0" err="1"/>
              <a:t>IMF,World</a:t>
            </a:r>
            <a:r>
              <a:rPr lang="en-US" altLang="ko-KR" dirty="0"/>
              <a:t> bank : </a:t>
            </a:r>
            <a:r>
              <a:rPr lang="ko-KR" altLang="en-US" dirty="0"/>
              <a:t>노동소득분배율 하락</a:t>
            </a:r>
            <a:r>
              <a:rPr lang="en-US" altLang="ko-KR" dirty="0"/>
              <a:t> &amp; </a:t>
            </a:r>
            <a:r>
              <a:rPr lang="ko-KR" altLang="en-US" dirty="0"/>
              <a:t>소득불평등 확대 </a:t>
            </a:r>
            <a:r>
              <a:rPr lang="en-US" altLang="ko-KR" dirty="0"/>
              <a:t>→ </a:t>
            </a:r>
            <a:r>
              <a:rPr lang="ko-KR" altLang="en-US" dirty="0"/>
              <a:t>사회정치적 통합 </a:t>
            </a:r>
            <a:r>
              <a:rPr lang="en-US" altLang="ko-KR" dirty="0"/>
              <a:t>&amp; </a:t>
            </a:r>
            <a:r>
              <a:rPr lang="ko-KR" altLang="en-US" dirty="0"/>
              <a:t>지속가능 성장 저해</a:t>
            </a:r>
            <a:endParaRPr lang="en-US" altLang="ko-KR" dirty="0"/>
          </a:p>
          <a:p>
            <a:pPr lvl="1"/>
            <a:r>
              <a:rPr lang="ko-KR" altLang="en-US" dirty="0" err="1"/>
              <a:t>스티글리츠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재정 자동안정화장치 악화 </a:t>
            </a:r>
            <a:r>
              <a:rPr lang="en-US" altLang="ko-KR" dirty="0"/>
              <a:t>→ </a:t>
            </a:r>
            <a:r>
              <a:rPr lang="ko-KR" altLang="en-US" dirty="0"/>
              <a:t>조세체계 </a:t>
            </a:r>
            <a:r>
              <a:rPr lang="ko-KR" altLang="en-US" dirty="0" err="1"/>
              <a:t>누진성</a:t>
            </a:r>
            <a:r>
              <a:rPr lang="ko-KR" altLang="en-US" dirty="0"/>
              <a:t> 제고 </a:t>
            </a:r>
            <a:r>
              <a:rPr lang="en-US" altLang="ko-KR" dirty="0"/>
              <a:t>&amp; </a:t>
            </a:r>
            <a:r>
              <a:rPr lang="ko-KR" altLang="en-US" dirty="0"/>
              <a:t>사회안전망 확충</a:t>
            </a:r>
            <a:endParaRPr lang="en-US" altLang="ko-KR" dirty="0"/>
          </a:p>
          <a:p>
            <a:pPr lvl="1"/>
            <a:r>
              <a:rPr lang="ko-KR" altLang="en-US" dirty="0"/>
              <a:t>재정정책의 승수효과 커짐 </a:t>
            </a:r>
            <a:r>
              <a:rPr lang="en-US" altLang="ko-KR" dirty="0"/>
              <a:t>→ </a:t>
            </a:r>
            <a:r>
              <a:rPr lang="ko-KR" altLang="en-US" dirty="0"/>
              <a:t>재정정책 필요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55559B-A8C8-8350-C9ED-B6648391360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946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6E0D438-8F48-0717-F4D3-F5C6DA94E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8273873-EEEA-7AE6-E7F5-54C272E9F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민주주의와 시장경제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7F34DC-0234-E832-BE42-6E7D61B48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6030002-4C29-9F22-96A2-E90687ECAD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자본주의</a:t>
            </a:r>
            <a:r>
              <a:rPr lang="en-US" altLang="ko-KR" dirty="0"/>
              <a:t>-</a:t>
            </a:r>
            <a:r>
              <a:rPr lang="ko-KR" altLang="en-US" dirty="0"/>
              <a:t>민주주의</a:t>
            </a:r>
            <a:endParaRPr lang="en-US" altLang="ko-KR" dirty="0"/>
          </a:p>
          <a:p>
            <a:pPr lvl="1"/>
            <a:r>
              <a:rPr lang="ko-KR" altLang="en-US" dirty="0"/>
              <a:t>민주적 조정 시장경제론</a:t>
            </a:r>
            <a:r>
              <a:rPr lang="en-US" altLang="ko-KR" dirty="0"/>
              <a:t>, </a:t>
            </a:r>
            <a:r>
              <a:rPr lang="ko-KR" altLang="en-US" dirty="0"/>
              <a:t>민주적 자본주의의 길</a:t>
            </a:r>
            <a:endParaRPr lang="en-US" altLang="ko-KR" dirty="0"/>
          </a:p>
          <a:p>
            <a:r>
              <a:rPr lang="ko-KR" altLang="en-US" dirty="0"/>
              <a:t>공유지의 비극</a:t>
            </a:r>
            <a:r>
              <a:rPr lang="en-US" altLang="ko-KR" dirty="0"/>
              <a:t>, </a:t>
            </a:r>
            <a:r>
              <a:rPr lang="ko-KR" altLang="en-US" dirty="0"/>
              <a:t>사유지의 비극</a:t>
            </a:r>
            <a:endParaRPr lang="en-US" altLang="ko-KR" dirty="0"/>
          </a:p>
          <a:p>
            <a:pPr lvl="1"/>
            <a:r>
              <a:rPr lang="ko-KR" altLang="en-US" dirty="0"/>
              <a:t>생산수단의 소유방식 </a:t>
            </a:r>
            <a:r>
              <a:rPr lang="en-US" altLang="ko-KR" dirty="0"/>
              <a:t>: </a:t>
            </a:r>
            <a:r>
              <a:rPr lang="ko-KR" altLang="en-US" dirty="0" err="1"/>
              <a:t>경제추제</a:t>
            </a:r>
            <a:r>
              <a:rPr lang="ko-KR" altLang="en-US" dirty="0"/>
              <a:t> 행동 상호조정 </a:t>
            </a:r>
            <a:r>
              <a:rPr lang="en-US" altLang="ko-KR" dirty="0"/>
              <a:t>→ </a:t>
            </a:r>
            <a:r>
              <a:rPr lang="ko-KR" altLang="en-US" dirty="0"/>
              <a:t>경제체제 성격</a:t>
            </a:r>
            <a:r>
              <a:rPr lang="en-US" altLang="ko-KR" dirty="0"/>
              <a:t>/</a:t>
            </a:r>
            <a:r>
              <a:rPr lang="ko-KR" altLang="en-US" dirty="0"/>
              <a:t>작동 방식 결정</a:t>
            </a:r>
            <a:endParaRPr lang="en-US" altLang="ko-KR" dirty="0"/>
          </a:p>
          <a:p>
            <a:pPr lvl="1"/>
            <a:r>
              <a:rPr lang="ko-KR" altLang="en-US" dirty="0"/>
              <a:t>공유지의 비극 </a:t>
            </a:r>
            <a:r>
              <a:rPr lang="en-US" altLang="ko-KR" dirty="0"/>
              <a:t>: </a:t>
            </a:r>
            <a:r>
              <a:rPr lang="ko-KR" altLang="en-US" dirty="0"/>
              <a:t>합리적 사적 이익 추구 </a:t>
            </a:r>
            <a:r>
              <a:rPr lang="en-US" altLang="ko-KR" dirty="0"/>
              <a:t>→ </a:t>
            </a:r>
            <a:r>
              <a:rPr lang="ko-KR" altLang="en-US" dirty="0"/>
              <a:t>전체에겐 비합리적 결과 </a:t>
            </a:r>
            <a:r>
              <a:rPr lang="en-US" altLang="ko-KR" dirty="0"/>
              <a:t>: </a:t>
            </a:r>
            <a:r>
              <a:rPr lang="ko-KR" altLang="en-US" dirty="0"/>
              <a:t>구성의 오류</a:t>
            </a:r>
            <a:endParaRPr lang="en-US" altLang="ko-KR" dirty="0"/>
          </a:p>
          <a:p>
            <a:pPr lvl="1"/>
            <a:r>
              <a:rPr lang="ko-KR" altLang="en-US" dirty="0"/>
              <a:t>사유지의 비극 </a:t>
            </a:r>
            <a:r>
              <a:rPr lang="en-US" altLang="ko-KR" dirty="0"/>
              <a:t>: </a:t>
            </a:r>
            <a:r>
              <a:rPr lang="ko-KR" altLang="en-US" dirty="0"/>
              <a:t>생산수단의 자유방임 자본제적 이용 </a:t>
            </a:r>
            <a:r>
              <a:rPr lang="en-US" altLang="ko-KR" dirty="0"/>
              <a:t>→ </a:t>
            </a:r>
            <a:r>
              <a:rPr lang="ko-KR" altLang="en-US" dirty="0"/>
              <a:t>경제위기 초래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공유</a:t>
            </a:r>
            <a:r>
              <a:rPr lang="en-US" altLang="ko-KR" dirty="0"/>
              <a:t>-</a:t>
            </a:r>
            <a:r>
              <a:rPr lang="ko-KR" altLang="en-US" dirty="0"/>
              <a:t>협력</a:t>
            </a:r>
            <a:r>
              <a:rPr lang="en-US" altLang="ko-KR" dirty="0"/>
              <a:t>-</a:t>
            </a:r>
            <a:r>
              <a:rPr lang="ko-KR" altLang="en-US" dirty="0"/>
              <a:t>연대 차단</a:t>
            </a:r>
            <a:endParaRPr lang="en-US" altLang="ko-KR" dirty="0"/>
          </a:p>
          <a:p>
            <a:r>
              <a:rPr lang="ko-KR" altLang="en-US" dirty="0"/>
              <a:t>경제민주화의 대안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02E229-F81F-9B4F-C565-A10D1D98AB8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D581848-373F-5398-E330-66CFB37AE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46139"/>
              </p:ext>
            </p:extLst>
          </p:nvPr>
        </p:nvGraphicFramePr>
        <p:xfrm>
          <a:off x="1664805" y="2360712"/>
          <a:ext cx="3960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147">
                  <a:extLst>
                    <a:ext uri="{9D8B030D-6E8A-4147-A177-3AD203B41FA5}">
                      <a16:colId xmlns:a16="http://schemas.microsoft.com/office/drawing/2014/main" val="2670173618"/>
                    </a:ext>
                  </a:extLst>
                </a:gridCol>
                <a:gridCol w="2628293">
                  <a:extLst>
                    <a:ext uri="{9D8B030D-6E8A-4147-A177-3AD203B41FA5}">
                      <a16:colId xmlns:a16="http://schemas.microsoft.com/office/drawing/2014/main" val="669087752"/>
                    </a:ext>
                  </a:extLst>
                </a:gridCol>
              </a:tblGrid>
              <a:tr h="2419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자유시장 자본주의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공유지 사유화 </a:t>
                      </a:r>
                      <a:r>
                        <a:rPr lang="en-US" altLang="ko-KR" sz="1000" dirty="0"/>
                        <a:t>= </a:t>
                      </a:r>
                      <a:r>
                        <a:rPr lang="ko-KR" altLang="en-US" sz="1000" dirty="0"/>
                        <a:t>자본화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시장적 조정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662614"/>
                  </a:ext>
                </a:extLst>
              </a:tr>
              <a:tr h="2419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국가사회주의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공유지의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국가 소유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296919"/>
                  </a:ext>
                </a:extLst>
              </a:tr>
              <a:tr h="2419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시장사회주의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공유지의 평등한 소유 </a:t>
                      </a:r>
                      <a:r>
                        <a:rPr lang="en-US" altLang="ko-KR" sz="1000" dirty="0"/>
                        <a:t>+ </a:t>
                      </a:r>
                      <a:r>
                        <a:rPr lang="ko-KR" altLang="en-US" sz="1000" dirty="0"/>
                        <a:t>시장적 조정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063139"/>
                  </a:ext>
                </a:extLst>
              </a:tr>
              <a:tr h="2419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소공동체주의</a:t>
                      </a:r>
                      <a:endParaRPr lang="en-US" altLang="ko-K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공동체 자치관리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사회적 경제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360795"/>
                  </a:ext>
                </a:extLst>
              </a:tr>
              <a:tr h="2419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사민주의</a:t>
                      </a:r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국유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사유 혼재 자본주의 혼합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613964"/>
                  </a:ext>
                </a:extLst>
              </a:tr>
              <a:tr h="2419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사민주의</a:t>
                      </a:r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사적 자본권의 민주적 통제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점진적 사회화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19789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4584876-9A8F-A360-05F3-61F8894E3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940501"/>
              </p:ext>
            </p:extLst>
          </p:nvPr>
        </p:nvGraphicFramePr>
        <p:xfrm>
          <a:off x="1664804" y="3895760"/>
          <a:ext cx="5004555" cy="1624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158">
                  <a:extLst>
                    <a:ext uri="{9D8B030D-6E8A-4147-A177-3AD203B41FA5}">
                      <a16:colId xmlns:a16="http://schemas.microsoft.com/office/drawing/2014/main" val="88375620"/>
                    </a:ext>
                  </a:extLst>
                </a:gridCol>
                <a:gridCol w="991013">
                  <a:extLst>
                    <a:ext uri="{9D8B030D-6E8A-4147-A177-3AD203B41FA5}">
                      <a16:colId xmlns:a16="http://schemas.microsoft.com/office/drawing/2014/main" val="1781599688"/>
                    </a:ext>
                  </a:extLst>
                </a:gridCol>
                <a:gridCol w="1042185">
                  <a:extLst>
                    <a:ext uri="{9D8B030D-6E8A-4147-A177-3AD203B41FA5}">
                      <a16:colId xmlns:a16="http://schemas.microsoft.com/office/drawing/2014/main" val="455945021"/>
                    </a:ext>
                  </a:extLst>
                </a:gridCol>
                <a:gridCol w="1800199">
                  <a:extLst>
                    <a:ext uri="{9D8B030D-6E8A-4147-A177-3AD203B41FA5}">
                      <a16:colId xmlns:a16="http://schemas.microsoft.com/office/drawing/2014/main" val="3743253750"/>
                    </a:ext>
                  </a:extLst>
                </a:gridCol>
              </a:tblGrid>
              <a:tr h="535343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단절 대안 </a:t>
                      </a:r>
                      <a:r>
                        <a:rPr lang="en-US" altLang="ko-KR" sz="1000" dirty="0"/>
                        <a:t>= 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국가사회주의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시장사회주의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틈새 대안 </a:t>
                      </a:r>
                      <a:r>
                        <a:rPr lang="en-US" altLang="ko-KR" sz="1000" dirty="0"/>
                        <a:t>= 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공동체 자치관리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공생 대안 </a:t>
                      </a:r>
                      <a:r>
                        <a:rPr lang="en-US" altLang="ko-KR" sz="1000" dirty="0"/>
                        <a:t>= 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국유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사유 혼합자본주의</a:t>
                      </a:r>
                      <a:r>
                        <a:rPr lang="en-US" altLang="ko-KR" sz="1000" dirty="0"/>
                        <a:t>; </a:t>
                      </a:r>
                      <a:r>
                        <a:rPr lang="ko-KR" altLang="en-US" sz="1000" dirty="0"/>
                        <a:t>자본통제권의 사회화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570232"/>
                  </a:ext>
                </a:extLst>
              </a:tr>
              <a:tr h="2831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사상적 전통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혁명적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사회주의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아나키즘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사민주의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66136"/>
                  </a:ext>
                </a:extLst>
              </a:tr>
              <a:tr h="361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국가에 대한 전략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국가 공격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국가 밖에서 대안 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국가의 이용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국가영역에서 투쟁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955819"/>
                  </a:ext>
                </a:extLst>
              </a:tr>
              <a:tr h="2831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자본가 계급 전략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부르주아 대적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부르주아 무시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부르주아 협력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237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82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885849B-CD69-B4EB-6357-F2BA4A7D9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CB52D79-CDEE-C08B-2891-3DC95083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후생경제학의 정책수단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70ED10-C945-84FA-8091-678DF29C5E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E3AF95E-3F23-F413-605C-0BB2B29A0B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정부지출의 당위성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시장실패 보완</a:t>
            </a:r>
            <a:r>
              <a:rPr lang="en-US" altLang="ko-KR" dirty="0"/>
              <a:t>(</a:t>
            </a:r>
            <a:r>
              <a:rPr lang="ko-KR" altLang="en-US" dirty="0"/>
              <a:t>공공재</a:t>
            </a:r>
            <a:r>
              <a:rPr lang="en-US" altLang="ko-KR" dirty="0"/>
              <a:t>,</a:t>
            </a:r>
            <a:r>
              <a:rPr lang="ko-KR" altLang="en-US" dirty="0" err="1"/>
              <a:t>외부성</a:t>
            </a:r>
            <a:r>
              <a:rPr lang="en-US" altLang="ko-KR" dirty="0"/>
              <a:t>,</a:t>
            </a:r>
            <a:r>
              <a:rPr lang="ko-KR" altLang="en-US" dirty="0"/>
              <a:t>불확실성</a:t>
            </a:r>
            <a:r>
              <a:rPr lang="en-US" altLang="ko-KR" dirty="0"/>
              <a:t>)	    2) </a:t>
            </a:r>
            <a:r>
              <a:rPr lang="ko-KR" altLang="en-US" dirty="0"/>
              <a:t>소득재분배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 err="1"/>
              <a:t>가치재</a:t>
            </a:r>
            <a:r>
              <a:rPr lang="ko-KR" altLang="en-US" dirty="0"/>
              <a:t> 공급</a:t>
            </a:r>
            <a:r>
              <a:rPr lang="en-US" altLang="ko-KR" dirty="0"/>
              <a:t>(</a:t>
            </a:r>
            <a:r>
              <a:rPr lang="ko-KR" altLang="en-US" dirty="0"/>
              <a:t>개인의 스스로의 후생에 대한 판단에 개입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정부지출의 경제적 효과 </a:t>
            </a:r>
            <a:r>
              <a:rPr lang="en-US" altLang="ko-KR" dirty="0"/>
              <a:t>: </a:t>
            </a:r>
            <a:r>
              <a:rPr lang="ko-KR" altLang="en-US" dirty="0"/>
              <a:t>자원배분 측면</a:t>
            </a:r>
            <a:endParaRPr lang="en-US" altLang="ko-KR" dirty="0"/>
          </a:p>
          <a:p>
            <a:pPr lvl="1"/>
            <a:r>
              <a:rPr lang="ko-KR" altLang="en-US" dirty="0"/>
              <a:t>자원배분에서 정부지출 효과 평가</a:t>
            </a:r>
            <a:r>
              <a:rPr lang="en-US" altLang="ko-KR" dirty="0"/>
              <a:t>? → </a:t>
            </a:r>
            <a:r>
              <a:rPr lang="ko-KR" altLang="en-US" dirty="0"/>
              <a:t>정부지출이 경제에서 재화</a:t>
            </a:r>
            <a:r>
              <a:rPr lang="en-US" altLang="ko-KR" dirty="0"/>
              <a:t>/</a:t>
            </a:r>
            <a:r>
              <a:rPr lang="ko-KR" altLang="en-US" dirty="0"/>
              <a:t>서비스의 양과 구성비율에 미치는 영향 알아냄</a:t>
            </a:r>
            <a:endParaRPr lang="en-US" altLang="ko-KR" dirty="0"/>
          </a:p>
          <a:p>
            <a:pPr lvl="1"/>
            <a:r>
              <a:rPr lang="ko-KR" altLang="en-US" dirty="0"/>
              <a:t>정부지출의 종류</a:t>
            </a:r>
            <a:endParaRPr lang="en-US" altLang="ko-KR" dirty="0"/>
          </a:p>
          <a:p>
            <a:pPr lvl="2"/>
            <a:r>
              <a:rPr lang="en-US" altLang="ko-KR" dirty="0"/>
              <a:t>1) </a:t>
            </a:r>
            <a:r>
              <a:rPr lang="ko-KR" altLang="en-US" dirty="0"/>
              <a:t>정부가 재화</a:t>
            </a:r>
            <a:r>
              <a:rPr lang="en-US" altLang="ko-KR" dirty="0"/>
              <a:t>/</a:t>
            </a:r>
            <a:r>
              <a:rPr lang="ko-KR" altLang="en-US" dirty="0"/>
              <a:t>서비스를 구입하기 위한 지출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민간부문에 대한 이전지출</a:t>
            </a:r>
            <a:endParaRPr lang="en-US" altLang="ko-KR" dirty="0"/>
          </a:p>
          <a:p>
            <a:pPr lvl="2"/>
            <a:r>
              <a:rPr lang="ko-KR" altLang="en-US" dirty="0"/>
              <a:t>정부가 재화</a:t>
            </a:r>
            <a:r>
              <a:rPr lang="en-US" altLang="ko-KR" dirty="0"/>
              <a:t>/</a:t>
            </a:r>
            <a:r>
              <a:rPr lang="ko-KR" altLang="en-US" dirty="0"/>
              <a:t>서비스 사용</a:t>
            </a:r>
            <a:r>
              <a:rPr lang="en-US" altLang="ko-KR" dirty="0"/>
              <a:t> → </a:t>
            </a:r>
            <a:r>
              <a:rPr lang="ko-KR" altLang="en-US" dirty="0"/>
              <a:t>그만큼 민간부문 줄어듦</a:t>
            </a:r>
            <a:endParaRPr lang="en-US" altLang="ko-KR" dirty="0"/>
          </a:p>
          <a:p>
            <a:r>
              <a:rPr lang="ko-KR" altLang="en-US" dirty="0"/>
              <a:t>재화</a:t>
            </a:r>
            <a:r>
              <a:rPr lang="en-US" altLang="ko-KR" dirty="0"/>
              <a:t>/</a:t>
            </a:r>
            <a:r>
              <a:rPr lang="ko-KR" altLang="en-US" dirty="0"/>
              <a:t>서비스에 대한 지출의 효과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정부부문 생산 증가 </a:t>
            </a:r>
            <a:r>
              <a:rPr lang="en-US" altLang="ko-KR" dirty="0"/>
              <a:t>→ </a:t>
            </a:r>
            <a:r>
              <a:rPr lang="ko-KR" altLang="en-US" dirty="0"/>
              <a:t>효율성↓</a:t>
            </a:r>
            <a:r>
              <a:rPr lang="en-US" altLang="ko-KR" dirty="0"/>
              <a:t>X) : R → S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정부부문 생산 증가 </a:t>
            </a:r>
            <a:r>
              <a:rPr lang="en-US" altLang="ko-KR" dirty="0"/>
              <a:t>→ </a:t>
            </a:r>
            <a:r>
              <a:rPr lang="ko-KR" altLang="en-US" dirty="0"/>
              <a:t>효율성↓</a:t>
            </a:r>
            <a:r>
              <a:rPr lang="en-US" altLang="ko-KR" dirty="0"/>
              <a:t>O) : R → T</a:t>
            </a:r>
          </a:p>
          <a:p>
            <a:r>
              <a:rPr lang="ko-KR" altLang="en-US" dirty="0"/>
              <a:t>이전지출의 효과</a:t>
            </a:r>
            <a:endParaRPr lang="en-US" altLang="ko-KR" dirty="0"/>
          </a:p>
          <a:p>
            <a:pPr lvl="1"/>
            <a:r>
              <a:rPr lang="ko-KR" altLang="en-US" dirty="0"/>
              <a:t>이전지출 </a:t>
            </a:r>
            <a:r>
              <a:rPr lang="en-US" altLang="ko-KR" dirty="0"/>
              <a:t>: </a:t>
            </a:r>
            <a:r>
              <a:rPr lang="ko-KR" altLang="en-US" dirty="0"/>
              <a:t>개인에게 소득을 이전 </a:t>
            </a:r>
            <a:r>
              <a:rPr lang="ko-KR" altLang="en-US" dirty="0" err="1"/>
              <a:t>시켜줌</a:t>
            </a:r>
            <a:r>
              <a:rPr lang="en-US" altLang="ko-KR" dirty="0"/>
              <a:t>, </a:t>
            </a:r>
            <a:r>
              <a:rPr lang="ko-KR" altLang="en-US" dirty="0"/>
              <a:t>재화</a:t>
            </a:r>
            <a:r>
              <a:rPr lang="en-US" altLang="ko-KR" dirty="0"/>
              <a:t>/</a:t>
            </a:r>
            <a:r>
              <a:rPr lang="ko-KR" altLang="en-US" dirty="0"/>
              <a:t>서비스 구매 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소득보조</a:t>
            </a:r>
            <a:r>
              <a:rPr lang="en-US" altLang="ko-KR" dirty="0"/>
              <a:t>, </a:t>
            </a:r>
            <a:r>
              <a:rPr lang="ko-KR" altLang="en-US" dirty="0"/>
              <a:t>가격보조</a:t>
            </a:r>
            <a:r>
              <a:rPr lang="en-US" altLang="ko-KR" dirty="0"/>
              <a:t>, </a:t>
            </a:r>
            <a:r>
              <a:rPr lang="ko-KR" altLang="en-US" dirty="0"/>
              <a:t>현물보조</a:t>
            </a:r>
            <a:endParaRPr lang="en-US" altLang="ko-KR" dirty="0"/>
          </a:p>
          <a:p>
            <a:pPr lvl="1"/>
            <a:r>
              <a:rPr lang="ko-KR" altLang="en-US" dirty="0"/>
              <a:t>소득보조 </a:t>
            </a:r>
            <a:r>
              <a:rPr lang="en-US" altLang="ko-KR" dirty="0"/>
              <a:t>: </a:t>
            </a:r>
            <a:r>
              <a:rPr lang="ko-KR" altLang="en-US" dirty="0"/>
              <a:t>소득효과만</a:t>
            </a:r>
            <a:r>
              <a:rPr lang="en-US" altLang="ko-KR" dirty="0"/>
              <a:t> </a:t>
            </a:r>
            <a:r>
              <a:rPr lang="ko-KR" altLang="en-US" dirty="0"/>
              <a:t>발생 </a:t>
            </a:r>
            <a:r>
              <a:rPr lang="en-US" altLang="ko-KR" dirty="0"/>
              <a:t>(</a:t>
            </a:r>
            <a:r>
              <a:rPr lang="ko-KR" altLang="en-US" dirty="0"/>
              <a:t>효율성의 상실</a:t>
            </a:r>
            <a:r>
              <a:rPr lang="en-US" altLang="ko-KR" dirty="0"/>
              <a:t>X)</a:t>
            </a:r>
          </a:p>
          <a:p>
            <a:pPr lvl="2"/>
            <a:r>
              <a:rPr lang="ko-KR" altLang="en-US" dirty="0"/>
              <a:t>예산선 </a:t>
            </a:r>
            <a:r>
              <a:rPr lang="en-US" altLang="ko-KR" dirty="0"/>
              <a:t>: AB → CD; </a:t>
            </a:r>
            <a:r>
              <a:rPr lang="ko-KR" altLang="en-US" dirty="0"/>
              <a:t>소비자</a:t>
            </a:r>
            <a:r>
              <a:rPr lang="en-US" altLang="ko-KR" dirty="0"/>
              <a:t> </a:t>
            </a:r>
            <a:r>
              <a:rPr lang="ko-KR" altLang="en-US" dirty="0"/>
              <a:t>선택 변화 </a:t>
            </a:r>
            <a:r>
              <a:rPr lang="en-US" altLang="ko-KR" dirty="0"/>
              <a:t>: E→E'</a:t>
            </a:r>
            <a:br>
              <a:rPr lang="en-US" altLang="ko-KR" dirty="0"/>
            </a:br>
            <a:r>
              <a:rPr lang="ko-KR" altLang="en-US" dirty="0"/>
              <a:t>소비자의</a:t>
            </a:r>
            <a:r>
              <a:rPr lang="en-US" altLang="ko-KR" dirty="0"/>
              <a:t> </a:t>
            </a:r>
            <a:r>
              <a:rPr lang="ko-KR" altLang="en-US" dirty="0"/>
              <a:t>식품 소비 증가 </a:t>
            </a:r>
            <a:r>
              <a:rPr lang="en-US" altLang="ko-KR" dirty="0"/>
              <a:t>: FF'</a:t>
            </a:r>
          </a:p>
          <a:p>
            <a:pPr lvl="1"/>
            <a:r>
              <a:rPr lang="ko-KR" altLang="en-US" dirty="0"/>
              <a:t>가격보조</a:t>
            </a:r>
            <a:r>
              <a:rPr lang="en-US" altLang="ko-KR" dirty="0"/>
              <a:t> : </a:t>
            </a:r>
            <a:r>
              <a:rPr lang="ko-KR" altLang="en-US" dirty="0"/>
              <a:t>소득효과</a:t>
            </a:r>
            <a:r>
              <a:rPr lang="en-US" altLang="ko-KR" dirty="0"/>
              <a:t>+</a:t>
            </a:r>
            <a:r>
              <a:rPr lang="ko-KR" altLang="en-US" dirty="0"/>
              <a:t>대체효과</a:t>
            </a:r>
            <a:r>
              <a:rPr lang="en-US" altLang="ko-KR" dirty="0"/>
              <a:t>; </a:t>
            </a:r>
          </a:p>
          <a:p>
            <a:pPr lvl="2"/>
            <a:r>
              <a:rPr lang="ko-KR" altLang="en-US" dirty="0"/>
              <a:t>예산선 </a:t>
            </a:r>
            <a:r>
              <a:rPr lang="en-US" altLang="ko-KR" dirty="0"/>
              <a:t>: AB→AJ; </a:t>
            </a:r>
            <a:r>
              <a:rPr lang="ko-KR" altLang="en-US" dirty="0"/>
              <a:t>소비자 선택</a:t>
            </a:r>
            <a:r>
              <a:rPr lang="en-US" altLang="ko-KR" dirty="0"/>
              <a:t>: G;</a:t>
            </a:r>
            <a:br>
              <a:rPr lang="en-US" altLang="ko-KR" dirty="0"/>
            </a:br>
            <a:r>
              <a:rPr lang="ko-KR" altLang="en-US" dirty="0" err="1"/>
              <a:t>가격보조하</a:t>
            </a:r>
            <a:r>
              <a:rPr lang="ko-KR" altLang="en-US" dirty="0"/>
              <a:t> 보조금 크기 </a:t>
            </a:r>
            <a:r>
              <a:rPr lang="en-US" altLang="ko-KR" dirty="0"/>
              <a:t>: NG</a:t>
            </a:r>
          </a:p>
          <a:p>
            <a:pPr lvl="2"/>
            <a:r>
              <a:rPr lang="ko-KR" altLang="en-US" dirty="0"/>
              <a:t>더 많은 식품소비 가능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G, G'</a:t>
            </a:r>
            <a:r>
              <a:rPr lang="ko-KR" altLang="en-US" dirty="0"/>
              <a:t>은 동일 무차별 곡선상 </a:t>
            </a:r>
            <a:r>
              <a:rPr lang="en-US" altLang="ko-KR" dirty="0"/>
              <a:t>→ NM</a:t>
            </a:r>
            <a:r>
              <a:rPr lang="ko-KR" altLang="en-US" dirty="0"/>
              <a:t>만큼의</a:t>
            </a:r>
            <a:br>
              <a:rPr lang="en-US" altLang="ko-KR" dirty="0"/>
            </a:br>
            <a:r>
              <a:rPr lang="ko-KR" altLang="en-US" dirty="0"/>
              <a:t>소득보조와 동일효과</a:t>
            </a:r>
            <a:endParaRPr lang="en-US" altLang="ko-KR" dirty="0"/>
          </a:p>
          <a:p>
            <a:pPr lvl="2"/>
            <a:r>
              <a:rPr lang="ko-KR" altLang="en-US" dirty="0"/>
              <a:t>동일한</a:t>
            </a:r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ko-KR" altLang="en-US" dirty="0"/>
              <a:t>를 위해 필요한 재원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가격보조 </a:t>
            </a:r>
            <a:r>
              <a:rPr lang="en-US" altLang="ko-KR" dirty="0"/>
              <a:t>= NG, </a:t>
            </a:r>
            <a:r>
              <a:rPr lang="ko-KR" altLang="en-US" dirty="0"/>
              <a:t>소득보조</a:t>
            </a:r>
            <a:r>
              <a:rPr lang="en-US" altLang="ko-KR" dirty="0"/>
              <a:t> = NM</a:t>
            </a:r>
          </a:p>
          <a:p>
            <a:pPr lvl="1"/>
            <a:r>
              <a:rPr lang="ko-KR" altLang="en-US" dirty="0"/>
              <a:t>특수한</a:t>
            </a:r>
            <a:r>
              <a:rPr lang="en-US" altLang="ko-KR" dirty="0"/>
              <a:t> </a:t>
            </a:r>
            <a:r>
              <a:rPr lang="ko-KR" altLang="en-US" dirty="0"/>
              <a:t>현물보조</a:t>
            </a:r>
            <a:endParaRPr lang="en-US" altLang="ko-KR" dirty="0"/>
          </a:p>
          <a:p>
            <a:pPr lvl="2"/>
            <a:r>
              <a:rPr lang="ko-KR" altLang="en-US" dirty="0"/>
              <a:t>예산선 </a:t>
            </a:r>
            <a:r>
              <a:rPr lang="en-US" altLang="ko-KR" dirty="0"/>
              <a:t>: RS → RTUS; </a:t>
            </a:r>
            <a:r>
              <a:rPr lang="ko-KR" altLang="en-US" dirty="0"/>
              <a:t>소비자 선택 </a:t>
            </a:r>
            <a:r>
              <a:rPr lang="en-US" altLang="ko-KR" dirty="0"/>
              <a:t>: E→T</a:t>
            </a:r>
            <a:br>
              <a:rPr lang="en-US" altLang="ko-KR" dirty="0"/>
            </a:br>
            <a:r>
              <a:rPr lang="ko-KR" altLang="en-US" dirty="0"/>
              <a:t>현물보조</a:t>
            </a:r>
            <a:r>
              <a:rPr lang="en-US" altLang="ko-KR" dirty="0"/>
              <a:t> </a:t>
            </a:r>
            <a:r>
              <a:rPr lang="ko-KR" altLang="en-US" dirty="0"/>
              <a:t>이후 주택서비스 소비량이 </a:t>
            </a:r>
            <a:r>
              <a:rPr lang="en-US" altLang="ko-KR" dirty="0"/>
              <a:t>H → </a:t>
            </a:r>
            <a:r>
              <a:rPr lang="en-US" altLang="ko-KR" dirty="0" err="1"/>
              <a:t>Hbar</a:t>
            </a:r>
            <a:br>
              <a:rPr lang="en-US" altLang="ko-KR" dirty="0"/>
            </a:br>
            <a:r>
              <a:rPr lang="ko-KR" altLang="en-US" dirty="0"/>
              <a:t>로 감소</a:t>
            </a:r>
            <a:endParaRPr lang="en-US" altLang="ko-KR" dirty="0"/>
          </a:p>
          <a:p>
            <a:pPr lvl="2"/>
            <a:r>
              <a:rPr lang="en-US" altLang="ko-KR" dirty="0" err="1"/>
              <a:t>Ohbar</a:t>
            </a:r>
            <a:r>
              <a:rPr lang="ko-KR" altLang="en-US" dirty="0"/>
              <a:t>만큼의 개인의 예산이 줄어들지 않음</a:t>
            </a:r>
            <a:br>
              <a:rPr lang="en-US" altLang="ko-KR" dirty="0"/>
            </a:br>
            <a:r>
              <a:rPr lang="ko-KR" altLang="en-US" dirty="0"/>
              <a:t>임대 </a:t>
            </a:r>
            <a:r>
              <a:rPr lang="en-US" altLang="ko-KR" dirty="0"/>
              <a:t>O</a:t>
            </a:r>
            <a:r>
              <a:rPr lang="ko-KR" altLang="en-US" dirty="0"/>
              <a:t> </a:t>
            </a:r>
            <a:r>
              <a:rPr lang="en-US" altLang="ko-KR" dirty="0"/>
              <a:t>→ R~T, </a:t>
            </a:r>
            <a:r>
              <a:rPr lang="ko-KR" altLang="en-US" dirty="0"/>
              <a:t>임대</a:t>
            </a:r>
            <a:r>
              <a:rPr lang="en-US" altLang="ko-KR" dirty="0"/>
              <a:t> X → U~S</a:t>
            </a:r>
          </a:p>
          <a:p>
            <a:r>
              <a:rPr lang="ko-KR" altLang="en-US" dirty="0"/>
              <a:t>소득분배 측면 </a:t>
            </a:r>
            <a:r>
              <a:rPr lang="en-US" altLang="ko-KR" dirty="0"/>
              <a:t>: </a:t>
            </a:r>
            <a:r>
              <a:rPr lang="ko-KR" altLang="en-US" dirty="0"/>
              <a:t>분배적 효과 </a:t>
            </a:r>
            <a:r>
              <a:rPr lang="en-US" altLang="ko-KR" dirty="0"/>
              <a:t>&amp; </a:t>
            </a:r>
            <a:r>
              <a:rPr lang="ko-KR" altLang="en-US" dirty="0"/>
              <a:t>사례</a:t>
            </a:r>
            <a:endParaRPr lang="en-US" altLang="ko-KR" dirty="0"/>
          </a:p>
          <a:p>
            <a:pPr lvl="1"/>
            <a:r>
              <a:rPr lang="ko-KR" altLang="en-US" dirty="0"/>
              <a:t>주택보조금 지급 </a:t>
            </a:r>
            <a:r>
              <a:rPr lang="en-US" altLang="ko-KR" dirty="0"/>
              <a:t>→ </a:t>
            </a:r>
            <a:r>
              <a:rPr lang="ko-KR" altLang="en-US" dirty="0"/>
              <a:t>수요곡선 우측 이동</a:t>
            </a:r>
          </a:p>
          <a:p>
            <a:pPr lvl="1"/>
            <a:r>
              <a:rPr lang="ko-KR" altLang="en-US" dirty="0"/>
              <a:t>공급 신축적</a:t>
            </a:r>
            <a:r>
              <a:rPr lang="en-US" altLang="ko-KR" dirty="0"/>
              <a:t>X : </a:t>
            </a:r>
            <a:r>
              <a:rPr lang="ko-KR" altLang="en-US" dirty="0"/>
              <a:t>주택 약간↑</a:t>
            </a:r>
            <a:r>
              <a:rPr lang="en-US" altLang="ko-KR" dirty="0"/>
              <a:t>, </a:t>
            </a:r>
            <a:r>
              <a:rPr lang="ko-KR" altLang="en-US" dirty="0"/>
              <a:t>가격↑↑ </a:t>
            </a:r>
            <a:r>
              <a:rPr lang="en-US" altLang="ko-KR" dirty="0"/>
              <a:t>(</a:t>
            </a:r>
            <a:r>
              <a:rPr lang="ko-KR" altLang="en-US" dirty="0"/>
              <a:t>단기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공급 신축적</a:t>
            </a:r>
            <a:r>
              <a:rPr lang="en-US" altLang="ko-KR" dirty="0"/>
              <a:t>O : </a:t>
            </a:r>
            <a:r>
              <a:rPr lang="ko-KR" altLang="en-US" dirty="0"/>
              <a:t>모두 실질적 혜택 </a:t>
            </a:r>
            <a:r>
              <a:rPr lang="en-US" altLang="ko-KR" dirty="0"/>
              <a:t>(</a:t>
            </a:r>
            <a:r>
              <a:rPr lang="ko-KR" altLang="en-US" dirty="0"/>
              <a:t>장기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F98D58-A321-FEDD-36DB-ECE95485FF7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55F490-719F-3242-D5E8-3A501BADE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184" y="2452635"/>
            <a:ext cx="1716311" cy="10913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50B05B5-BB37-C7F3-4E12-0350D3826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211" y="3800872"/>
            <a:ext cx="1412025" cy="10679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C0563C-D7EF-EF9C-EA59-F75288E1F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320" y="4892526"/>
            <a:ext cx="1412025" cy="120650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3DF3B5B-E1EB-CC6E-BCC6-9B1C1B038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320" y="6094695"/>
            <a:ext cx="1402334" cy="9688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99396D0-6EB7-1CBB-7D99-2884C79C37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264"/>
          <a:stretch/>
        </p:blipFill>
        <p:spPr>
          <a:xfrm>
            <a:off x="4365104" y="7063512"/>
            <a:ext cx="2479649" cy="107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9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B742C00-3A5F-2BD9-48EB-2F8066E38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76BE1A-4496-4926-F291-B8E4F900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정책평가 방법 </a:t>
            </a:r>
            <a:r>
              <a:rPr lang="en-US" altLang="ko-KR" dirty="0"/>
              <a:t>: </a:t>
            </a:r>
            <a:r>
              <a:rPr lang="ko-KR" altLang="en-US" dirty="0"/>
              <a:t>비용편익분석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664B5F-2878-6671-FD4D-F4337DF1B5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13A4815-79F3-A8B6-7A64-C4ABFBA26B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민간부문 비용편익분석</a:t>
            </a:r>
            <a:endParaRPr lang="en-US" altLang="ko-KR" dirty="0"/>
          </a:p>
          <a:p>
            <a:pPr lvl="1"/>
            <a:r>
              <a:rPr lang="ko-KR" altLang="en-US" dirty="0"/>
              <a:t>현재가치법 </a:t>
            </a:r>
            <a:r>
              <a:rPr lang="en-US" altLang="ko-KR" dirty="0"/>
              <a:t>: </a:t>
            </a:r>
          </a:p>
          <a:p>
            <a:pPr lvl="1"/>
            <a:r>
              <a:rPr lang="ko-KR" altLang="en-US" dirty="0"/>
              <a:t>내부수익률법 </a:t>
            </a:r>
            <a:r>
              <a:rPr lang="en-US" altLang="ko-KR" dirty="0"/>
              <a:t>: </a:t>
            </a:r>
          </a:p>
          <a:p>
            <a:pPr marL="392112" lvl="2" indent="0">
              <a:buNone/>
            </a:pPr>
            <a:r>
              <a:rPr lang="en-US" altLang="ko-KR" dirty="0"/>
              <a:t>ρ*(</a:t>
            </a:r>
            <a:r>
              <a:rPr lang="ko-KR" altLang="en-US" dirty="0"/>
              <a:t>내부수익률</a:t>
            </a:r>
            <a:r>
              <a:rPr lang="en-US" altLang="ko-KR" dirty="0"/>
              <a:t>) </a:t>
            </a:r>
            <a:r>
              <a:rPr lang="ko-KR" altLang="en-US" dirty="0"/>
              <a:t>가 </a:t>
            </a:r>
            <a:r>
              <a:rPr lang="en-US" altLang="ko-KR" dirty="0"/>
              <a:t>r(</a:t>
            </a:r>
            <a:r>
              <a:rPr lang="ko-KR" altLang="en-US" dirty="0" err="1"/>
              <a:t>할인률</a:t>
            </a:r>
            <a:r>
              <a:rPr lang="en-US" altLang="ko-KR" dirty="0"/>
              <a:t>)</a:t>
            </a:r>
            <a:r>
              <a:rPr lang="ko-KR" altLang="en-US" dirty="0"/>
              <a:t>보다 크면 채택</a:t>
            </a:r>
            <a:r>
              <a:rPr lang="en-US" altLang="ko-KR" dirty="0"/>
              <a:t> or </a:t>
            </a:r>
            <a:r>
              <a:rPr lang="ko-KR" altLang="en-US" dirty="0"/>
              <a:t>기각</a:t>
            </a:r>
            <a:r>
              <a:rPr lang="en-US" altLang="ko-KR" dirty="0"/>
              <a:t>	- </a:t>
            </a:r>
            <a:r>
              <a:rPr lang="ko-KR" altLang="en-US" dirty="0"/>
              <a:t>편익</a:t>
            </a:r>
            <a:r>
              <a:rPr lang="en-US" altLang="ko-KR" dirty="0"/>
              <a:t>-</a:t>
            </a:r>
            <a:r>
              <a:rPr lang="ko-KR" altLang="en-US" dirty="0"/>
              <a:t>비용비율법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공공부문 비용편익분석</a:t>
            </a:r>
            <a:endParaRPr lang="en-US" altLang="ko-KR" dirty="0"/>
          </a:p>
          <a:p>
            <a:pPr lvl="1"/>
            <a:r>
              <a:rPr lang="ko-KR" altLang="en-US" dirty="0"/>
              <a:t>실질적 편익 </a:t>
            </a:r>
            <a:r>
              <a:rPr lang="en-US" altLang="ko-KR" dirty="0"/>
              <a:t>: </a:t>
            </a:r>
            <a:r>
              <a:rPr lang="ko-KR" altLang="en-US" dirty="0"/>
              <a:t>공공사업의 수혜자가 얻는 실질적 혜택</a:t>
            </a:r>
            <a:br>
              <a:rPr lang="en-US" altLang="ko-KR" dirty="0"/>
            </a:br>
            <a:r>
              <a:rPr lang="ko-KR" altLang="en-US" dirty="0"/>
              <a:t>금전적 편익 공공사업</a:t>
            </a:r>
            <a:r>
              <a:rPr lang="en-US" altLang="ko-KR" dirty="0"/>
              <a:t>→ </a:t>
            </a:r>
            <a:r>
              <a:rPr lang="ko-KR" altLang="en-US" dirty="0"/>
              <a:t>상대가격구조 변화 </a:t>
            </a:r>
            <a:r>
              <a:rPr lang="en-US" altLang="ko-KR" dirty="0"/>
              <a:t>→ </a:t>
            </a:r>
            <a:r>
              <a:rPr lang="ko-KR" altLang="en-US" dirty="0"/>
              <a:t>누군가의 금전상 이득</a:t>
            </a:r>
            <a:endParaRPr lang="en-US" altLang="ko-KR" dirty="0"/>
          </a:p>
          <a:p>
            <a:r>
              <a:rPr lang="ko-KR" altLang="en-US" dirty="0"/>
              <a:t>편익</a:t>
            </a:r>
            <a:r>
              <a:rPr lang="en-US" altLang="ko-KR" dirty="0"/>
              <a:t>/</a:t>
            </a:r>
            <a:r>
              <a:rPr lang="ko-KR" altLang="en-US" dirty="0"/>
              <a:t>비용 평가기준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시장가격 </a:t>
            </a:r>
            <a:r>
              <a:rPr lang="en-US" altLang="ko-KR" dirty="0"/>
              <a:t>: </a:t>
            </a:r>
            <a:r>
              <a:rPr lang="ko-KR" altLang="en-US" dirty="0"/>
              <a:t>불완전경쟁 시가 </a:t>
            </a:r>
            <a:r>
              <a:rPr lang="en-US" altLang="ko-KR" dirty="0"/>
              <a:t>→ </a:t>
            </a:r>
            <a:r>
              <a:rPr lang="ko-KR" altLang="en-US" dirty="0"/>
              <a:t>사회적 기회비용 반영 애매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잠재가격 </a:t>
            </a:r>
            <a:r>
              <a:rPr lang="en-US" altLang="ko-KR" dirty="0"/>
              <a:t>: if </a:t>
            </a:r>
            <a:r>
              <a:rPr lang="ko-KR" altLang="en-US" dirty="0"/>
              <a:t>불완전경쟁</a:t>
            </a:r>
            <a:r>
              <a:rPr lang="en-US" altLang="ko-KR" dirty="0"/>
              <a:t>, then (</a:t>
            </a:r>
            <a:r>
              <a:rPr lang="ko-KR" altLang="en-US" dirty="0"/>
              <a:t>자원의 기회비용 </a:t>
            </a:r>
            <a:r>
              <a:rPr lang="en-US" altLang="ko-KR" dirty="0"/>
              <a:t>= </a:t>
            </a:r>
            <a:r>
              <a:rPr lang="ko-KR" altLang="en-US" dirty="0"/>
              <a:t>잠재가격</a:t>
            </a:r>
            <a:r>
              <a:rPr lang="en-US" altLang="ko-KR" dirty="0"/>
              <a:t>); </a:t>
            </a:r>
            <a:r>
              <a:rPr lang="ko-KR" altLang="en-US" dirty="0"/>
              <a:t>비용</a:t>
            </a:r>
            <a:r>
              <a:rPr lang="en-US" altLang="ko-KR" dirty="0"/>
              <a:t>,</a:t>
            </a:r>
            <a:r>
              <a:rPr lang="ko-KR" altLang="en-US" dirty="0"/>
              <a:t>편익 도출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조정된 시장가격 </a:t>
            </a:r>
            <a:r>
              <a:rPr lang="en-US" altLang="ko-KR" dirty="0"/>
              <a:t>: if </a:t>
            </a:r>
            <a:r>
              <a:rPr lang="ko-KR" altLang="en-US" dirty="0"/>
              <a:t>잠재가격</a:t>
            </a:r>
            <a:r>
              <a:rPr lang="en-US" altLang="ko-KR" dirty="0"/>
              <a:t>&amp;</a:t>
            </a:r>
            <a:r>
              <a:rPr lang="ko-KR" altLang="en-US" dirty="0"/>
              <a:t>시장가격 부적절</a:t>
            </a:r>
            <a:r>
              <a:rPr lang="en-US" altLang="ko-KR" dirty="0"/>
              <a:t>, then </a:t>
            </a:r>
            <a:r>
              <a:rPr lang="ko-KR" altLang="en-US" dirty="0"/>
              <a:t>조정된 시장가격</a:t>
            </a:r>
            <a:endParaRPr lang="en-US" altLang="ko-KR" dirty="0"/>
          </a:p>
          <a:p>
            <a:r>
              <a:rPr lang="ko-KR" altLang="en-US" dirty="0"/>
              <a:t>특수한 상황에서 편익과 비용 평가</a:t>
            </a:r>
            <a:endParaRPr lang="en-US" altLang="ko-KR" dirty="0"/>
          </a:p>
          <a:p>
            <a:pPr lvl="1"/>
            <a:r>
              <a:rPr lang="ko-KR" altLang="en-US" dirty="0"/>
              <a:t>시장가격이 </a:t>
            </a:r>
            <a:r>
              <a:rPr lang="ko-KR" altLang="en-US" dirty="0" err="1"/>
              <a:t>변화하는경우</a:t>
            </a:r>
            <a:endParaRPr lang="en-US" altLang="ko-KR" dirty="0"/>
          </a:p>
          <a:p>
            <a:pPr lvl="2"/>
            <a:r>
              <a:rPr lang="ko-KR" altLang="en-US" dirty="0"/>
              <a:t>소비자편익 증가 </a:t>
            </a:r>
            <a:r>
              <a:rPr lang="en-US" altLang="ko-KR" dirty="0"/>
              <a:t>= </a:t>
            </a:r>
            <a:r>
              <a:rPr lang="ko-KR" altLang="en-US" dirty="0"/>
              <a:t>늘어난 소비자잉여 </a:t>
            </a:r>
            <a:r>
              <a:rPr lang="en-US" altLang="ko-KR" dirty="0"/>
              <a:t>(P0P1AB)</a:t>
            </a:r>
          </a:p>
          <a:p>
            <a:pPr lvl="1"/>
            <a:r>
              <a:rPr lang="ko-KR" altLang="en-US" dirty="0"/>
              <a:t>시장에서</a:t>
            </a:r>
            <a:r>
              <a:rPr lang="en-US" altLang="ko-KR" dirty="0"/>
              <a:t> </a:t>
            </a:r>
            <a:r>
              <a:rPr lang="ko-KR" altLang="en-US" dirty="0"/>
              <a:t>거래되지 않는 것의 평가</a:t>
            </a:r>
            <a:endParaRPr lang="en-US" altLang="ko-KR" dirty="0"/>
          </a:p>
          <a:p>
            <a:pPr lvl="2"/>
            <a:r>
              <a:rPr lang="ko-KR" altLang="en-US" dirty="0"/>
              <a:t>시간의 가치 </a:t>
            </a:r>
            <a:r>
              <a:rPr lang="en-US" altLang="ko-KR" dirty="0"/>
              <a:t>: </a:t>
            </a:r>
            <a:r>
              <a:rPr lang="ko-KR" altLang="en-US" dirty="0"/>
              <a:t>고속철도</a:t>
            </a:r>
            <a:r>
              <a:rPr lang="en-US" altLang="ko-KR" dirty="0"/>
              <a:t>→</a:t>
            </a:r>
            <a:r>
              <a:rPr lang="ko-KR" altLang="en-US" dirty="0"/>
              <a:t>시간의 가치</a:t>
            </a:r>
            <a:r>
              <a:rPr lang="en-US" altLang="ko-KR" dirty="0"/>
              <a:t>? → </a:t>
            </a:r>
            <a:r>
              <a:rPr lang="ko-KR" altLang="en-US" dirty="0"/>
              <a:t>편익 분석 </a:t>
            </a:r>
            <a:r>
              <a:rPr lang="en-US" altLang="ko-KR" dirty="0"/>
              <a:t>O</a:t>
            </a:r>
          </a:p>
          <a:p>
            <a:pPr lvl="3"/>
            <a:r>
              <a:rPr lang="ko-KR" altLang="en-US" dirty="0"/>
              <a:t>단순소비자선택 모형 </a:t>
            </a:r>
            <a:r>
              <a:rPr lang="en-US" altLang="ko-KR" dirty="0"/>
              <a:t>: (</a:t>
            </a:r>
            <a:r>
              <a:rPr lang="ko-KR" altLang="en-US" dirty="0"/>
              <a:t>여가의 주관적 가치 </a:t>
            </a:r>
            <a:r>
              <a:rPr lang="en-US" altLang="ko-KR" dirty="0"/>
              <a:t>= </a:t>
            </a:r>
            <a:r>
              <a:rPr lang="ko-KR" altLang="en-US" dirty="0"/>
              <a:t>추가로 일했을 때 버는 소득</a:t>
            </a:r>
            <a:r>
              <a:rPr lang="en-US" altLang="ko-KR" dirty="0"/>
              <a:t>) </a:t>
            </a:r>
            <a:r>
              <a:rPr lang="ko-KR" altLang="en-US" dirty="0"/>
              <a:t>까지 일함</a:t>
            </a:r>
            <a:endParaRPr lang="en-US" altLang="ko-KR" dirty="0"/>
          </a:p>
          <a:p>
            <a:pPr lvl="2"/>
            <a:r>
              <a:rPr lang="ko-KR" altLang="en-US" dirty="0"/>
              <a:t>생명의 가치 </a:t>
            </a:r>
            <a:r>
              <a:rPr lang="en-US" altLang="ko-KR" dirty="0"/>
              <a:t>: </a:t>
            </a:r>
            <a:r>
              <a:rPr lang="ko-KR" altLang="en-US" dirty="0"/>
              <a:t>공공사업 </a:t>
            </a:r>
            <a:r>
              <a:rPr lang="en-US" altLang="ko-KR" dirty="0"/>
              <a:t>→ </a:t>
            </a:r>
            <a:r>
              <a:rPr lang="ko-KR" altLang="en-US" dirty="0" err="1"/>
              <a:t>생명구함</a:t>
            </a:r>
            <a:r>
              <a:rPr lang="en-US" altLang="ko-KR" dirty="0"/>
              <a:t>? → </a:t>
            </a:r>
            <a:r>
              <a:rPr lang="ko-KR" altLang="en-US" dirty="0"/>
              <a:t>생명가치 계산필요 </a:t>
            </a:r>
            <a:r>
              <a:rPr lang="en-US" altLang="ko-KR" dirty="0"/>
              <a:t>(</a:t>
            </a:r>
            <a:r>
              <a:rPr lang="ko-KR" altLang="en-US" dirty="0"/>
              <a:t>또는 건강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/>
              <a:t>통계적 생명의 가치 </a:t>
            </a:r>
            <a:r>
              <a:rPr lang="en-US" altLang="ko-KR" dirty="0"/>
              <a:t>: </a:t>
            </a:r>
            <a:r>
              <a:rPr lang="ko-KR" altLang="en-US" dirty="0"/>
              <a:t>일정 돈의 가치와 사망확률 감소가 맞바꿔질 수 있다는 사실</a:t>
            </a:r>
            <a:endParaRPr lang="en-US" altLang="ko-KR" dirty="0"/>
          </a:p>
          <a:p>
            <a:pPr lvl="3"/>
            <a:r>
              <a:rPr lang="ko-KR" altLang="en-US" dirty="0"/>
              <a:t>인적자본 접근법 </a:t>
            </a:r>
            <a:r>
              <a:rPr lang="en-US" altLang="ko-KR" dirty="0"/>
              <a:t>: </a:t>
            </a:r>
            <a:r>
              <a:rPr lang="ko-KR" altLang="en-US" dirty="0"/>
              <a:t>죽음으로 상실된 소득 </a:t>
            </a:r>
            <a:r>
              <a:rPr lang="en-US" altLang="ko-KR" dirty="0"/>
              <a:t>→ </a:t>
            </a:r>
            <a:r>
              <a:rPr lang="ko-KR" altLang="en-US" dirty="0"/>
              <a:t>생명가치 과소평가</a:t>
            </a:r>
            <a:r>
              <a:rPr lang="en-US" altLang="ko-KR" dirty="0"/>
              <a:t>, </a:t>
            </a:r>
            <a:r>
              <a:rPr lang="ko-KR" altLang="en-US" dirty="0"/>
              <a:t>노동참여 </a:t>
            </a:r>
            <a:r>
              <a:rPr lang="en-US" altLang="ko-KR" dirty="0"/>
              <a:t>X </a:t>
            </a:r>
            <a:r>
              <a:rPr lang="ko-KR" altLang="en-US" dirty="0"/>
              <a:t>사람들 문제</a:t>
            </a:r>
            <a:br>
              <a:rPr lang="en-US" altLang="ko-KR" dirty="0"/>
            </a:br>
            <a:r>
              <a:rPr lang="ko-KR" altLang="en-US" dirty="0"/>
              <a:t>지불의사 접근법 </a:t>
            </a:r>
            <a:r>
              <a:rPr lang="en-US" altLang="ko-KR" dirty="0"/>
              <a:t>: </a:t>
            </a:r>
            <a:r>
              <a:rPr lang="ko-KR" altLang="en-US" dirty="0"/>
              <a:t>안정성 증대대한 지불의사 금액</a:t>
            </a:r>
            <a:r>
              <a:rPr lang="en-US" altLang="ko-KR" dirty="0"/>
              <a:t>? → </a:t>
            </a:r>
            <a:r>
              <a:rPr lang="ko-KR" altLang="en-US" dirty="0" err="1"/>
              <a:t>현시된</a:t>
            </a:r>
            <a:r>
              <a:rPr lang="ko-KR" altLang="en-US" dirty="0"/>
              <a:t> 선호</a:t>
            </a:r>
            <a:endParaRPr lang="en-US" altLang="ko-KR" dirty="0"/>
          </a:p>
          <a:p>
            <a:pPr lvl="3"/>
            <a:r>
              <a:rPr lang="ko-KR" altLang="en-US" dirty="0"/>
              <a:t>보상임금격차 </a:t>
            </a:r>
            <a:r>
              <a:rPr lang="en-US" altLang="ko-KR" dirty="0"/>
              <a:t>: </a:t>
            </a:r>
            <a:r>
              <a:rPr lang="ko-KR" altLang="en-US" dirty="0"/>
              <a:t>사망확률이 높은 직종에 더 많은 임금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w : </a:t>
            </a:r>
            <a:r>
              <a:rPr lang="ko-KR" altLang="en-US" dirty="0"/>
              <a:t>임금률</a:t>
            </a:r>
            <a:r>
              <a:rPr lang="en-US" altLang="ko-KR" dirty="0"/>
              <a:t>, k:</a:t>
            </a:r>
            <a:r>
              <a:rPr lang="ko-KR" altLang="en-US" dirty="0" err="1"/>
              <a:t>직종과관련된</a:t>
            </a:r>
            <a:r>
              <a:rPr lang="ko-KR" altLang="en-US" dirty="0"/>
              <a:t> 사망위험</a:t>
            </a:r>
            <a:r>
              <a:rPr lang="en-US" altLang="ko-KR" dirty="0"/>
              <a:t>, xi:</a:t>
            </a:r>
            <a:r>
              <a:rPr lang="ko-KR" altLang="en-US" dirty="0" err="1"/>
              <a:t>그외다른요소</a:t>
            </a:r>
            <a:br>
              <a:rPr lang="en-US" altLang="ko-KR" dirty="0"/>
            </a:br>
            <a:r>
              <a:rPr lang="ko-KR" altLang="en-US" dirty="0" err="1"/>
              <a:t>베타값이</a:t>
            </a:r>
            <a:r>
              <a:rPr lang="ko-KR" altLang="en-US" dirty="0"/>
              <a:t> 보상임금 격차와 밀접</a:t>
            </a:r>
            <a:r>
              <a:rPr lang="en-US" altLang="ko-KR" dirty="0"/>
              <a:t>; </a:t>
            </a:r>
            <a:r>
              <a:rPr lang="ko-KR" altLang="en-US" dirty="0"/>
              <a:t>위험을 </a:t>
            </a:r>
            <a:r>
              <a:rPr lang="ko-KR" altLang="en-US" dirty="0" err="1"/>
              <a:t>잘모르거나</a:t>
            </a:r>
            <a:r>
              <a:rPr lang="ko-KR" altLang="en-US" dirty="0"/>
              <a:t> 무시 </a:t>
            </a:r>
            <a:r>
              <a:rPr lang="en-US" altLang="ko-KR" dirty="0"/>
              <a:t>→ </a:t>
            </a:r>
            <a:r>
              <a:rPr lang="ko-KR" altLang="en-US" dirty="0"/>
              <a:t>생명 과소평가</a:t>
            </a:r>
            <a:endParaRPr lang="en-US" altLang="ko-KR" dirty="0"/>
          </a:p>
          <a:p>
            <a:pPr lvl="2"/>
            <a:r>
              <a:rPr lang="ko-KR" altLang="en-US" dirty="0"/>
              <a:t>기타 무형적 편익 </a:t>
            </a:r>
            <a:r>
              <a:rPr lang="en-US" altLang="ko-KR" dirty="0"/>
              <a:t>: </a:t>
            </a:r>
            <a:r>
              <a:rPr lang="ko-KR" altLang="en-US" dirty="0"/>
              <a:t>우주탐사</a:t>
            </a:r>
            <a:r>
              <a:rPr lang="en-US" altLang="ko-KR" dirty="0"/>
              <a:t>→</a:t>
            </a:r>
            <a:r>
              <a:rPr lang="ko-KR" altLang="en-US" dirty="0"/>
              <a:t>국위선양 </a:t>
            </a:r>
            <a:r>
              <a:rPr lang="en-US" altLang="ko-KR" dirty="0"/>
              <a:t>; </a:t>
            </a:r>
            <a:r>
              <a:rPr lang="ko-KR" altLang="en-US" dirty="0"/>
              <a:t>방위사업</a:t>
            </a:r>
            <a:r>
              <a:rPr lang="en-US" altLang="ko-KR" dirty="0"/>
              <a:t>→ </a:t>
            </a:r>
            <a:r>
              <a:rPr lang="ko-KR" altLang="en-US" dirty="0"/>
              <a:t>군사력 증강</a:t>
            </a:r>
            <a:endParaRPr lang="en-US" altLang="ko-KR" dirty="0"/>
          </a:p>
          <a:p>
            <a:pPr lvl="2"/>
            <a:r>
              <a:rPr lang="ko-KR" altLang="en-US" dirty="0"/>
              <a:t>비용효율성분석 </a:t>
            </a:r>
            <a:r>
              <a:rPr lang="en-US" altLang="ko-KR" dirty="0"/>
              <a:t>: </a:t>
            </a:r>
            <a:r>
              <a:rPr lang="ko-KR" altLang="en-US" dirty="0"/>
              <a:t>공공사업의 목표</a:t>
            </a:r>
            <a:r>
              <a:rPr lang="en-US" altLang="ko-KR" dirty="0"/>
              <a:t>? </a:t>
            </a:r>
            <a:r>
              <a:rPr lang="ko-KR" altLang="en-US" dirty="0"/>
              <a:t>주어진 것 간주 </a:t>
            </a:r>
            <a:r>
              <a:rPr lang="en-US" altLang="ko-KR" dirty="0"/>
              <a:t>→ </a:t>
            </a:r>
            <a:r>
              <a:rPr lang="ko-KR" altLang="en-US" dirty="0"/>
              <a:t>가장 </a:t>
            </a:r>
            <a:r>
              <a:rPr lang="ko-KR" altLang="en-US" dirty="0" err="1"/>
              <a:t>적은비용</a:t>
            </a:r>
            <a:r>
              <a:rPr lang="ko-KR" altLang="en-US" dirty="0"/>
              <a:t> 달성 대안</a:t>
            </a:r>
            <a:br>
              <a:rPr lang="en-US" altLang="ko-KR" dirty="0"/>
            </a:br>
            <a:r>
              <a:rPr lang="en-US" altLang="ko-KR" dirty="0"/>
              <a:t>(BC</a:t>
            </a:r>
            <a:r>
              <a:rPr lang="ko-KR" altLang="en-US" dirty="0"/>
              <a:t>분석 </a:t>
            </a:r>
            <a:r>
              <a:rPr lang="en-US" altLang="ko-KR" dirty="0"/>
              <a:t>: </a:t>
            </a:r>
            <a:r>
              <a:rPr lang="ko-KR" altLang="en-US" dirty="0"/>
              <a:t>비용</a:t>
            </a:r>
            <a:r>
              <a:rPr lang="en-US" altLang="ko-KR" dirty="0"/>
              <a:t>-</a:t>
            </a:r>
            <a:r>
              <a:rPr lang="ko-KR" altLang="en-US" dirty="0"/>
              <a:t>수익 </a:t>
            </a:r>
            <a:r>
              <a:rPr lang="en-US" altLang="ko-KR" dirty="0"/>
              <a:t>&gt;0 → ok ; </a:t>
            </a:r>
            <a:r>
              <a:rPr lang="ko-KR" altLang="en-US" dirty="0"/>
              <a:t>비용효율성 </a:t>
            </a:r>
            <a:r>
              <a:rPr lang="en-US" altLang="ko-KR" dirty="0"/>
              <a:t>: </a:t>
            </a:r>
            <a:r>
              <a:rPr lang="ko-KR" altLang="en-US" dirty="0"/>
              <a:t>프로젝트 가장 적은 비용으로</a:t>
            </a:r>
            <a:r>
              <a:rPr lang="en-US" altLang="ko-KR" dirty="0"/>
              <a:t>?)</a:t>
            </a:r>
          </a:p>
          <a:p>
            <a:r>
              <a:rPr lang="ko-KR" altLang="en-US" dirty="0"/>
              <a:t>사회적 </a:t>
            </a:r>
            <a:r>
              <a:rPr lang="ko-KR" altLang="en-US" dirty="0" err="1"/>
              <a:t>할인률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민간부문 투자의 </a:t>
            </a:r>
            <a:r>
              <a:rPr lang="ko-KR" altLang="en-US" dirty="0" err="1"/>
              <a:t>세전</a:t>
            </a:r>
            <a:r>
              <a:rPr lang="ko-KR" altLang="en-US" dirty="0"/>
              <a:t> 수익률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소비자이자율</a:t>
            </a:r>
            <a:r>
              <a:rPr lang="en-US" altLang="ko-KR" dirty="0"/>
              <a:t> : </a:t>
            </a:r>
            <a:r>
              <a:rPr lang="ko-KR" altLang="en-US" dirty="0"/>
              <a:t>소비에 쓰였을 자금</a:t>
            </a:r>
            <a:r>
              <a:rPr lang="en-US" altLang="ko-KR" dirty="0"/>
              <a:t> → </a:t>
            </a:r>
            <a:r>
              <a:rPr lang="ko-KR" altLang="en-US" dirty="0"/>
              <a:t>공공사업</a:t>
            </a:r>
            <a:r>
              <a:rPr lang="en-US" altLang="ko-KR" dirty="0"/>
              <a:t>?; </a:t>
            </a:r>
            <a:r>
              <a:rPr lang="ko-KR" altLang="en-US" dirty="0" err="1"/>
              <a:t>할인률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소비자 </a:t>
            </a:r>
            <a:r>
              <a:rPr lang="ko-KR" altLang="en-US" dirty="0" err="1"/>
              <a:t>시간성호율</a:t>
            </a:r>
            <a:endParaRPr lang="en-US" altLang="ko-KR" dirty="0"/>
          </a:p>
          <a:p>
            <a:r>
              <a:rPr lang="ko-KR" altLang="en-US" dirty="0"/>
              <a:t>위험성 문제</a:t>
            </a:r>
            <a:endParaRPr lang="en-US" altLang="ko-KR" dirty="0"/>
          </a:p>
          <a:p>
            <a:pPr lvl="1"/>
            <a:r>
              <a:rPr lang="ko-KR" altLang="en-US" dirty="0" err="1"/>
              <a:t>스티글리츠</a:t>
            </a:r>
            <a:r>
              <a:rPr lang="ko-KR" altLang="en-US" dirty="0"/>
              <a:t> </a:t>
            </a:r>
            <a:r>
              <a:rPr lang="en-US" altLang="ko-KR" dirty="0"/>
              <a:t>: (</a:t>
            </a:r>
            <a:r>
              <a:rPr lang="ko-KR" altLang="en-US" dirty="0" err="1"/>
              <a:t>할인률</a:t>
            </a:r>
            <a:r>
              <a:rPr lang="en-US" altLang="ko-KR" dirty="0"/>
              <a:t> → </a:t>
            </a:r>
            <a:r>
              <a:rPr lang="ko-KR" altLang="en-US" dirty="0"/>
              <a:t>위험성 조정</a:t>
            </a:r>
            <a:r>
              <a:rPr lang="en-US" altLang="ko-KR" dirty="0"/>
              <a:t>) → </a:t>
            </a:r>
            <a:r>
              <a:rPr lang="ko-KR" altLang="en-US" dirty="0" err="1"/>
              <a:t>바람직</a:t>
            </a:r>
            <a:r>
              <a:rPr lang="ko-KR" altLang="en-US" dirty="0"/>
              <a:t> </a:t>
            </a:r>
            <a:r>
              <a:rPr lang="en-US" altLang="ko-KR" dirty="0"/>
              <a:t>X ; </a:t>
            </a:r>
            <a:r>
              <a:rPr lang="ko-KR" altLang="en-US" dirty="0" err="1"/>
              <a:t>할인률</a:t>
            </a:r>
            <a:r>
              <a:rPr lang="en-US" altLang="ko-KR" dirty="0"/>
              <a:t> = </a:t>
            </a:r>
            <a:r>
              <a:rPr lang="ko-KR" altLang="en-US" dirty="0"/>
              <a:t>미래가치</a:t>
            </a:r>
            <a:r>
              <a:rPr lang="en-US" altLang="ko-KR" dirty="0"/>
              <a:t>→</a:t>
            </a:r>
            <a:r>
              <a:rPr lang="ko-KR" altLang="en-US" dirty="0"/>
              <a:t>현재가치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 err="1"/>
              <a:t>할인률</a:t>
            </a:r>
            <a:r>
              <a:rPr lang="ko-KR" altLang="en-US" dirty="0"/>
              <a:t> </a:t>
            </a:r>
            <a:r>
              <a:rPr lang="en-US" altLang="ko-KR" dirty="0"/>
              <a:t>!= </a:t>
            </a:r>
            <a:r>
              <a:rPr lang="ko-KR" altLang="en-US" dirty="0"/>
              <a:t>위험성 조정</a:t>
            </a:r>
            <a:endParaRPr lang="en-US" altLang="ko-KR" dirty="0"/>
          </a:p>
          <a:p>
            <a:pPr lvl="1"/>
            <a:r>
              <a:rPr lang="ko-KR" altLang="en-US" dirty="0" err="1"/>
              <a:t>확실대등액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불확실한 편익</a:t>
            </a:r>
            <a:r>
              <a:rPr lang="en-US" altLang="ko-KR" dirty="0"/>
              <a:t>/</a:t>
            </a:r>
            <a:r>
              <a:rPr lang="ko-KR" altLang="en-US" dirty="0"/>
              <a:t>비용 </a:t>
            </a:r>
            <a:r>
              <a:rPr lang="en-US" altLang="ko-KR" dirty="0"/>
              <a:t>→ </a:t>
            </a:r>
            <a:r>
              <a:rPr lang="ko-KR" altLang="en-US" dirty="0"/>
              <a:t>동일한 효용의 </a:t>
            </a:r>
            <a:br>
              <a:rPr lang="en-US" altLang="ko-KR" dirty="0"/>
            </a:br>
            <a:r>
              <a:rPr lang="ko-KR" altLang="en-US" dirty="0"/>
              <a:t>확실한 편익</a:t>
            </a:r>
            <a:r>
              <a:rPr lang="en-US" altLang="ko-KR" dirty="0"/>
              <a:t>/</a:t>
            </a:r>
            <a:r>
              <a:rPr lang="ko-KR" altLang="en-US" dirty="0"/>
              <a:t>비용</a:t>
            </a:r>
            <a:endParaRPr lang="en-US" altLang="ko-KR" dirty="0"/>
          </a:p>
          <a:p>
            <a:pPr lvl="2"/>
            <a:r>
              <a:rPr lang="ko-KR" altLang="en-US" dirty="0"/>
              <a:t>확률분포를 정확히</a:t>
            </a:r>
            <a:r>
              <a:rPr lang="en-US" altLang="ko-KR" dirty="0"/>
              <a:t>X → </a:t>
            </a:r>
            <a:r>
              <a:rPr lang="ko-KR" altLang="en-US" dirty="0"/>
              <a:t>리스크 정확히 파악</a:t>
            </a:r>
            <a:r>
              <a:rPr lang="en-US" altLang="ko-KR" dirty="0"/>
              <a:t>X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6D914B-3C6D-618A-3478-4A9A2AB4C90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F2DDE64-3B67-4BE5-64E0-3DD059286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912" y="763315"/>
            <a:ext cx="2520280" cy="2513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BA096D-1A92-589F-6E7D-3876CEC72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928" y="1014645"/>
            <a:ext cx="2451207" cy="25212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B220A3-D2E9-2495-FFFF-1E952401F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675" y="1448417"/>
            <a:ext cx="770378" cy="25212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ABCFE81-7CA0-B953-BF92-770E1CCC5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192" y="2864398"/>
            <a:ext cx="1582914" cy="1219775"/>
          </a:xfrm>
          <a:prstGeom prst="rect">
            <a:avLst/>
          </a:prstGeom>
        </p:spPr>
      </p:pic>
      <p:pic>
        <p:nvPicPr>
          <p:cNvPr id="22" name="그림 21" descr="라인, 그래프, 도표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E17995-9B36-3CD1-FBA7-80EC7B45CA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45" b="16434"/>
          <a:stretch/>
        </p:blipFill>
        <p:spPr>
          <a:xfrm>
            <a:off x="5411158" y="7189607"/>
            <a:ext cx="1114186" cy="93174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10EC12A-B617-8653-B2C9-8EB39C3F61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6065" y="5025008"/>
            <a:ext cx="1519279" cy="14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3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BF8515C-20AE-112B-9C61-B2C5CEE56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685944E-BFFB-065B-6956-FEB03DDFC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부동산경제학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207991-EDB4-69EC-4C0D-2DE2F5E615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BCC2D2D-B7CF-373B-8E6B-D9D791B69E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시장경제와 부동산</a:t>
            </a:r>
            <a:endParaRPr lang="en-US" altLang="ko-KR" dirty="0"/>
          </a:p>
          <a:p>
            <a:pPr lvl="1"/>
            <a:r>
              <a:rPr lang="ko-KR" altLang="en-US" dirty="0"/>
              <a:t>공급이 </a:t>
            </a:r>
            <a:r>
              <a:rPr lang="ko-KR" altLang="en-US" dirty="0" err="1"/>
              <a:t>비탄력적인</a:t>
            </a:r>
            <a:r>
              <a:rPr lang="ko-KR" altLang="en-US" dirty="0"/>
              <a:t> 경우 주택가격 변동</a:t>
            </a:r>
            <a:r>
              <a:rPr lang="en-US" altLang="ko-KR" dirty="0"/>
              <a:t>(</a:t>
            </a:r>
            <a:r>
              <a:rPr lang="ko-KR" altLang="en-US" dirty="0"/>
              <a:t>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주택구입에 대한 거래세의 효과</a:t>
            </a:r>
            <a:r>
              <a:rPr lang="en-US" altLang="ko-KR" dirty="0"/>
              <a:t>(</a:t>
            </a:r>
            <a:r>
              <a:rPr lang="ko-KR" altLang="en-US" dirty="0"/>
              <a:t>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임대인 구매자가 부담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 err="1"/>
              <a:t>완경에서</a:t>
            </a:r>
            <a:r>
              <a:rPr lang="ko-KR" altLang="en-US" dirty="0"/>
              <a:t> 구입에 대한 거래세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수요곡선</a:t>
            </a:r>
            <a:r>
              <a:rPr lang="en-US" altLang="ko-KR" dirty="0"/>
              <a:t>(D0 →D1)</a:t>
            </a:r>
            <a:r>
              <a:rPr lang="ko-KR" altLang="en-US" dirty="0"/>
              <a:t>으로 하락</a:t>
            </a:r>
            <a:endParaRPr lang="en-US" altLang="ko-KR" dirty="0"/>
          </a:p>
          <a:p>
            <a:r>
              <a:rPr lang="ko-KR" altLang="en-US" dirty="0"/>
              <a:t>부동산 임대료 결정모형</a:t>
            </a:r>
            <a:endParaRPr lang="en-US" altLang="ko-KR" dirty="0"/>
          </a:p>
          <a:p>
            <a:pPr lvl="1"/>
            <a:r>
              <a:rPr lang="ko-KR" altLang="en-US" dirty="0"/>
              <a:t>토지서비스의 한계생산물</a:t>
            </a:r>
            <a:r>
              <a:rPr lang="en-US" altLang="ko-KR" dirty="0"/>
              <a:t>(MP)</a:t>
            </a:r>
            <a:r>
              <a:rPr lang="ko-KR" altLang="en-US" dirty="0"/>
              <a:t>곡선과 </a:t>
            </a:r>
            <a:br>
              <a:rPr lang="en-US" altLang="ko-KR" dirty="0"/>
            </a:br>
            <a:r>
              <a:rPr lang="ko-KR" altLang="en-US" dirty="0"/>
              <a:t>한계생산물가치</a:t>
            </a:r>
            <a:r>
              <a:rPr lang="en-US" altLang="ko-KR" dirty="0"/>
              <a:t>(VMP)</a:t>
            </a:r>
            <a:r>
              <a:rPr lang="ko-KR" altLang="en-US" dirty="0"/>
              <a:t>곡선</a:t>
            </a:r>
            <a:r>
              <a:rPr lang="en-US" altLang="ko-KR" dirty="0"/>
              <a:t>(</a:t>
            </a:r>
            <a:r>
              <a:rPr lang="ko-KR" altLang="en-US" dirty="0"/>
              <a:t>좌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토지의 </a:t>
            </a:r>
            <a:r>
              <a:rPr lang="en-US" altLang="ko-KR" dirty="0"/>
              <a:t>VMP → </a:t>
            </a:r>
            <a:r>
              <a:rPr lang="ko-KR" altLang="en-US" dirty="0"/>
              <a:t>수요곡선</a:t>
            </a:r>
            <a:endParaRPr lang="en-US" altLang="ko-KR" dirty="0"/>
          </a:p>
          <a:p>
            <a:pPr lvl="2"/>
            <a:r>
              <a:rPr lang="en-US" altLang="ko-KR" dirty="0"/>
              <a:t>P* → P0</a:t>
            </a:r>
            <a:r>
              <a:rPr lang="ko-KR" altLang="en-US" dirty="0"/>
              <a:t>로 가격하락시 초과수요</a:t>
            </a:r>
            <a:endParaRPr lang="en-US" altLang="ko-KR" dirty="0"/>
          </a:p>
          <a:p>
            <a:pPr lvl="1"/>
            <a:r>
              <a:rPr lang="ko-KR" altLang="en-US" dirty="0"/>
              <a:t>사회발전에 따른 장기적 지대 상승</a:t>
            </a:r>
            <a:r>
              <a:rPr lang="en-US" altLang="ko-KR" dirty="0"/>
              <a:t>(</a:t>
            </a:r>
            <a:r>
              <a:rPr lang="ko-KR" altLang="en-US" dirty="0"/>
              <a:t>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주거용 토지라고 가정 </a:t>
            </a:r>
            <a:r>
              <a:rPr lang="en-US" altLang="ko-KR" dirty="0"/>
              <a:t>→ (</a:t>
            </a:r>
            <a:r>
              <a:rPr lang="ko-KR" altLang="en-US" dirty="0" err="1"/>
              <a:t>기존임야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주거용</a:t>
            </a:r>
            <a:r>
              <a:rPr lang="en-US" altLang="ko-KR" dirty="0"/>
              <a:t>) → </a:t>
            </a:r>
            <a:r>
              <a:rPr lang="ko-KR" altLang="en-US" dirty="0"/>
              <a:t>우상향 가능</a:t>
            </a:r>
            <a:endParaRPr lang="en-US" altLang="ko-KR" dirty="0"/>
          </a:p>
          <a:p>
            <a:pPr lvl="1"/>
            <a:r>
              <a:rPr lang="ko-KR" altLang="en-US" dirty="0"/>
              <a:t>중고령층의 주택 소비에 대한 가성</a:t>
            </a:r>
            <a:endParaRPr lang="en-US" altLang="ko-KR" dirty="0"/>
          </a:p>
          <a:p>
            <a:pPr lvl="2"/>
            <a:r>
              <a:rPr lang="ko-KR" altLang="en-US" dirty="0"/>
              <a:t>생애주기가설 </a:t>
            </a:r>
            <a:r>
              <a:rPr lang="en-US" altLang="ko-KR" dirty="0"/>
              <a:t>: </a:t>
            </a:r>
            <a:r>
              <a:rPr lang="ko-KR" altLang="en-US" dirty="0"/>
              <a:t>은퇴 후 소비 평탄화 </a:t>
            </a:r>
            <a:r>
              <a:rPr lang="en-US" altLang="ko-KR" dirty="0"/>
              <a:t>→ </a:t>
            </a:r>
            <a:r>
              <a:rPr lang="ko-KR" altLang="en-US" dirty="0"/>
              <a:t>주택처분</a:t>
            </a:r>
            <a:br>
              <a:rPr lang="en-US" altLang="ko-KR" dirty="0"/>
            </a:br>
            <a:r>
              <a:rPr lang="ko-KR" altLang="en-US" dirty="0"/>
              <a:t>상속동기가설 </a:t>
            </a:r>
            <a:r>
              <a:rPr lang="en-US" altLang="ko-KR" dirty="0"/>
              <a:t>: </a:t>
            </a:r>
            <a:r>
              <a:rPr lang="ko-KR" altLang="en-US" dirty="0"/>
              <a:t>덜 부유 자녀 </a:t>
            </a:r>
            <a:r>
              <a:rPr lang="en-US" altLang="ko-KR" dirty="0"/>
              <a:t>→ </a:t>
            </a:r>
            <a:r>
              <a:rPr lang="ko-KR" altLang="en-US" dirty="0"/>
              <a:t>자산 물려줌 </a:t>
            </a:r>
            <a:r>
              <a:rPr lang="en-US" altLang="ko-KR" dirty="0"/>
              <a:t>→ </a:t>
            </a:r>
            <a:r>
              <a:rPr lang="ko-KR" altLang="en-US" dirty="0"/>
              <a:t>처분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ko-KR" altLang="en-US" dirty="0"/>
              <a:t>예비적 저축가설 </a:t>
            </a:r>
            <a:r>
              <a:rPr lang="en-US" altLang="ko-KR" dirty="0"/>
              <a:t>: </a:t>
            </a:r>
            <a:r>
              <a:rPr lang="ko-KR" altLang="en-US" dirty="0"/>
              <a:t>주택 </a:t>
            </a:r>
            <a:r>
              <a:rPr lang="en-US" altLang="ko-KR" dirty="0"/>
              <a:t>= </a:t>
            </a:r>
            <a:r>
              <a:rPr lang="ko-KR" altLang="en-US" dirty="0"/>
              <a:t>자가보험</a:t>
            </a:r>
            <a:r>
              <a:rPr lang="en-US" altLang="ko-KR" dirty="0"/>
              <a:t>, </a:t>
            </a:r>
            <a:r>
              <a:rPr lang="ko-KR" altLang="en-US" dirty="0"/>
              <a:t>미래를 정확히 예측</a:t>
            </a:r>
            <a:r>
              <a:rPr lang="en-US" altLang="ko-KR" dirty="0"/>
              <a:t>X→</a:t>
            </a:r>
            <a:r>
              <a:rPr lang="ko-KR" altLang="en-US" dirty="0"/>
              <a:t>저축</a:t>
            </a:r>
            <a:r>
              <a:rPr lang="en-US" altLang="ko-KR" dirty="0"/>
              <a:t>, </a:t>
            </a:r>
            <a:r>
              <a:rPr lang="ko-KR" altLang="en-US" dirty="0"/>
              <a:t>소비 평탄화 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ko-KR" altLang="en-US" dirty="0"/>
              <a:t>심리적</a:t>
            </a:r>
            <a:r>
              <a:rPr lang="en-US" altLang="ko-KR" dirty="0"/>
              <a:t> </a:t>
            </a:r>
            <a:r>
              <a:rPr lang="ko-KR" altLang="en-US" dirty="0"/>
              <a:t>회계모형 </a:t>
            </a:r>
            <a:r>
              <a:rPr lang="en-US" altLang="ko-KR" dirty="0"/>
              <a:t>: </a:t>
            </a:r>
            <a:r>
              <a:rPr lang="ko-KR" altLang="en-US" dirty="0"/>
              <a:t>금융자산과 비대체적</a:t>
            </a:r>
            <a:r>
              <a:rPr lang="en-US" altLang="ko-KR" dirty="0"/>
              <a:t>. </a:t>
            </a:r>
            <a:r>
              <a:rPr lang="ko-KR" altLang="en-US" dirty="0"/>
              <a:t>특수</a:t>
            </a:r>
            <a:r>
              <a:rPr lang="en-US" altLang="ko-KR" dirty="0"/>
              <a:t>X</a:t>
            </a:r>
            <a:r>
              <a:rPr lang="ko-KR" altLang="en-US" dirty="0"/>
              <a:t>면 주택</a:t>
            </a:r>
            <a:r>
              <a:rPr lang="en-US" altLang="ko-KR" dirty="0"/>
              <a:t>,</a:t>
            </a:r>
            <a:r>
              <a:rPr lang="ko-KR" altLang="en-US" dirty="0" err="1"/>
              <a:t>연금같은</a:t>
            </a:r>
            <a:r>
              <a:rPr lang="ko-KR" altLang="en-US" dirty="0"/>
              <a:t> 자산계정 소비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임대료규제의 장</a:t>
            </a:r>
            <a:r>
              <a:rPr lang="en-US" altLang="ko-KR" dirty="0"/>
              <a:t>-</a:t>
            </a:r>
            <a:r>
              <a:rPr lang="ko-KR" altLang="en-US" dirty="0"/>
              <a:t>단기 효과</a:t>
            </a:r>
            <a:endParaRPr lang="en-US" altLang="ko-KR" dirty="0"/>
          </a:p>
          <a:p>
            <a:pPr lvl="2"/>
            <a:r>
              <a:rPr lang="en-US" altLang="ko-KR" dirty="0"/>
              <a:t>(P* → P')</a:t>
            </a:r>
            <a:r>
              <a:rPr lang="ko-KR" altLang="en-US" dirty="0"/>
              <a:t>으로 규제 </a:t>
            </a:r>
            <a:r>
              <a:rPr lang="en-US" altLang="ko-KR" dirty="0"/>
              <a:t>→ </a:t>
            </a:r>
            <a:r>
              <a:rPr lang="ko-KR" altLang="en-US" dirty="0"/>
              <a:t>초과수요</a:t>
            </a:r>
            <a:br>
              <a:rPr lang="en-US" altLang="ko-KR" dirty="0"/>
            </a:br>
            <a:r>
              <a:rPr lang="ko-KR" altLang="en-US" dirty="0"/>
              <a:t>장기적으로 공급 감소</a:t>
            </a:r>
            <a:endParaRPr lang="en-US" altLang="ko-KR" dirty="0"/>
          </a:p>
          <a:p>
            <a:pPr lvl="2"/>
            <a:r>
              <a:rPr lang="ko-KR" altLang="en-US" dirty="0"/>
              <a:t>장기 </a:t>
            </a:r>
            <a:r>
              <a:rPr lang="en-US" altLang="ko-KR" dirty="0"/>
              <a:t>: BEE'</a:t>
            </a:r>
            <a:r>
              <a:rPr lang="ko-KR" altLang="en-US" dirty="0"/>
              <a:t>만큼의 </a:t>
            </a:r>
            <a:r>
              <a:rPr lang="en-US" altLang="ko-KR" dirty="0"/>
              <a:t>DWL</a:t>
            </a:r>
          </a:p>
          <a:p>
            <a:r>
              <a:rPr lang="ko-KR" altLang="en-US" dirty="0"/>
              <a:t>부동산 자산 가격 결정모형</a:t>
            </a:r>
            <a:endParaRPr lang="en-US" altLang="ko-KR" dirty="0"/>
          </a:p>
          <a:p>
            <a:pPr lvl="1"/>
            <a:r>
              <a:rPr lang="ko-KR" altLang="en-US" dirty="0"/>
              <a:t>장래 도입될 것으로 미리 발표된 조세의 효과</a:t>
            </a:r>
            <a:endParaRPr lang="en-US" altLang="ko-KR" dirty="0"/>
          </a:p>
          <a:p>
            <a:pPr lvl="2"/>
            <a:r>
              <a:rPr lang="ko-KR" altLang="en-US" dirty="0"/>
              <a:t>조세부담의 </a:t>
            </a:r>
            <a:r>
              <a:rPr lang="en-US" altLang="ko-KR" dirty="0"/>
              <a:t>capitalization : </a:t>
            </a:r>
            <a:br>
              <a:rPr lang="en-US" altLang="ko-KR" dirty="0"/>
            </a:br>
            <a:r>
              <a:rPr lang="en-US" altLang="ko-KR" dirty="0"/>
              <a:t>4</a:t>
            </a:r>
            <a:r>
              <a:rPr lang="ko-KR" altLang="en-US" dirty="0"/>
              <a:t>기</a:t>
            </a:r>
            <a:r>
              <a:rPr lang="en-US" altLang="ko-KR" dirty="0"/>
              <a:t> </a:t>
            </a:r>
            <a:r>
              <a:rPr lang="ko-KR" altLang="en-US" dirty="0"/>
              <a:t>이후 임대료 인하 발표</a:t>
            </a:r>
            <a:r>
              <a:rPr lang="en-US" altLang="ko-KR" dirty="0"/>
              <a:t> → </a:t>
            </a:r>
            <a:r>
              <a:rPr lang="ko-KR" altLang="en-US" dirty="0"/>
              <a:t>현재 </a:t>
            </a:r>
            <a:r>
              <a:rPr lang="en-US" altLang="ko-KR" dirty="0"/>
              <a:t>1</a:t>
            </a:r>
            <a:r>
              <a:rPr lang="ko-KR" altLang="en-US" dirty="0"/>
              <a:t>기의 가격 영향</a:t>
            </a:r>
            <a:endParaRPr lang="en-US" altLang="ko-KR" dirty="0"/>
          </a:p>
          <a:p>
            <a:pPr lvl="2"/>
            <a:r>
              <a:rPr lang="en-US" altLang="ko-KR" dirty="0"/>
              <a:t>1) </a:t>
            </a:r>
            <a:r>
              <a:rPr lang="ko-KR" altLang="en-US" dirty="0"/>
              <a:t>모든 기간에서 임대료</a:t>
            </a:r>
            <a:r>
              <a:rPr lang="en-US" altLang="ko-KR" dirty="0"/>
              <a:t>(R) </a:t>
            </a:r>
            <a:r>
              <a:rPr lang="ko-KR" altLang="en-US" dirty="0"/>
              <a:t>일정</a:t>
            </a:r>
            <a:r>
              <a:rPr lang="en-US" altLang="ko-KR" dirty="0"/>
              <a:t>, </a:t>
            </a:r>
            <a:r>
              <a:rPr lang="ko-KR" altLang="en-US" dirty="0"/>
              <a:t>현재 부동산 가치</a:t>
            </a:r>
            <a:r>
              <a:rPr lang="en-US" altLang="ko-KR" dirty="0"/>
              <a:t>(V)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임대료</a:t>
            </a:r>
            <a:r>
              <a:rPr lang="en-US" altLang="ko-KR" dirty="0"/>
              <a:t>(R)</a:t>
            </a:r>
            <a:r>
              <a:rPr lang="ko-KR" altLang="en-US" dirty="0"/>
              <a:t>이 매 기</a:t>
            </a:r>
            <a:r>
              <a:rPr lang="en-US" altLang="ko-KR" dirty="0"/>
              <a:t>g% </a:t>
            </a:r>
            <a:r>
              <a:rPr lang="ko-KR" altLang="en-US" dirty="0"/>
              <a:t>증가 시 현재 부동산 내재가치</a:t>
            </a:r>
            <a:r>
              <a:rPr lang="en-US" altLang="ko-KR" dirty="0"/>
              <a:t>(V)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자산가격</a:t>
            </a:r>
            <a:r>
              <a:rPr lang="en-US" altLang="ko-KR" dirty="0"/>
              <a:t>(P)</a:t>
            </a:r>
            <a:r>
              <a:rPr lang="ko-KR" altLang="en-US" dirty="0"/>
              <a:t>에 </a:t>
            </a:r>
            <a:r>
              <a:rPr lang="en-US" altLang="ko-KR" dirty="0"/>
              <a:t>t% </a:t>
            </a:r>
            <a:r>
              <a:rPr lang="ko-KR" altLang="en-US" dirty="0"/>
              <a:t>재산세 부과</a:t>
            </a:r>
            <a:r>
              <a:rPr lang="en-US" altLang="ko-KR" dirty="0"/>
              <a:t>, </a:t>
            </a:r>
            <a:r>
              <a:rPr lang="ko-KR" altLang="en-US" dirty="0"/>
              <a:t>가격의 </a:t>
            </a:r>
            <a:r>
              <a:rPr lang="en-US" altLang="ko-KR" dirty="0"/>
              <a:t>b% </a:t>
            </a:r>
            <a:r>
              <a:rPr lang="ko-KR" altLang="en-US" dirty="0"/>
              <a:t>만큼의 공공서비스에 대한 지출 증가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부동산시장과 나라경제</a:t>
            </a:r>
            <a:endParaRPr lang="en-US" altLang="ko-KR" dirty="0"/>
          </a:p>
          <a:p>
            <a:pPr lvl="1"/>
            <a:r>
              <a:rPr lang="en-US" altLang="ko-KR" dirty="0"/>
              <a:t>MBS : mortgage-backed securities : </a:t>
            </a:r>
            <a:r>
              <a:rPr lang="ko-KR" altLang="en-US" dirty="0"/>
              <a:t>담보</a:t>
            </a:r>
            <a:r>
              <a:rPr lang="en-US" altLang="ko-KR" dirty="0"/>
              <a:t>→</a:t>
            </a:r>
            <a:r>
              <a:rPr lang="ko-KR" altLang="en-US" dirty="0"/>
              <a:t>채권</a:t>
            </a:r>
            <a:r>
              <a:rPr lang="en-US" altLang="ko-KR" dirty="0"/>
              <a:t>, </a:t>
            </a:r>
            <a:r>
              <a:rPr lang="ko-KR" altLang="en-US" dirty="0"/>
              <a:t>금융시장 </a:t>
            </a:r>
            <a:r>
              <a:rPr lang="en-US" altLang="ko-KR" dirty="0"/>
              <a:t>→ </a:t>
            </a:r>
            <a:r>
              <a:rPr lang="ko-KR" altLang="en-US" dirty="0"/>
              <a:t>상품으로 활용</a:t>
            </a:r>
            <a:endParaRPr lang="en-US" altLang="ko-KR" dirty="0"/>
          </a:p>
          <a:p>
            <a:pPr lvl="1"/>
            <a:r>
              <a:rPr lang="ko-KR" altLang="en-US" dirty="0"/>
              <a:t>주택연금 구조 </a:t>
            </a:r>
            <a:r>
              <a:rPr lang="en-US" altLang="ko-KR" dirty="0"/>
              <a:t>: </a:t>
            </a:r>
            <a:r>
              <a:rPr lang="ko-KR" altLang="en-US" dirty="0"/>
              <a:t>가입자 보증신청 </a:t>
            </a:r>
            <a:r>
              <a:rPr lang="en-US" altLang="ko-KR" dirty="0"/>
              <a:t>→ </a:t>
            </a:r>
            <a:r>
              <a:rPr lang="ko-KR" altLang="en-US" dirty="0"/>
              <a:t>주택금융공사</a:t>
            </a:r>
            <a:r>
              <a:rPr lang="en-US" altLang="ko-KR" dirty="0"/>
              <a:t> </a:t>
            </a:r>
            <a:r>
              <a:rPr lang="ko-KR" altLang="en-US" dirty="0"/>
              <a:t>심사 </a:t>
            </a:r>
            <a:r>
              <a:rPr lang="en-US" altLang="ko-KR" dirty="0"/>
              <a:t>→ </a:t>
            </a:r>
            <a:r>
              <a:rPr lang="ko-KR" altLang="en-US" dirty="0"/>
              <a:t>금융기관에 보증서 발급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가입자에게 대출실행</a:t>
            </a:r>
            <a:r>
              <a:rPr lang="en-US" altLang="ko-KR" dirty="0"/>
              <a:t>(</a:t>
            </a:r>
            <a:r>
              <a:rPr lang="ko-KR" altLang="en-US" dirty="0"/>
              <a:t>주택연금대출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E827A9-9EF7-8545-DFAF-B52807EF811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14B0220-7504-56CA-EE9E-F13C17CA8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105" y="632520"/>
            <a:ext cx="1253718" cy="101709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660752A-91E5-EC3F-F2C4-3A253205E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765" y="632520"/>
            <a:ext cx="1151068" cy="101709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34606CE-CC60-CA9D-1F3C-71A92E1A6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64" y="1784648"/>
            <a:ext cx="1775180" cy="101709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AC679FA-5567-E1E6-5F28-47FE22567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834" y="1784648"/>
            <a:ext cx="1187665" cy="101709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FA2F9B3-8CBE-5237-B555-3BA7E241F9D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5177"/>
          <a:stretch/>
        </p:blipFill>
        <p:spPr>
          <a:xfrm>
            <a:off x="4128194" y="4160912"/>
            <a:ext cx="1317030" cy="101709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0FF6126-B6C4-B183-30F7-CA4DE01BF8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4261" r="916"/>
          <a:stretch/>
        </p:blipFill>
        <p:spPr>
          <a:xfrm>
            <a:off x="5390347" y="4160912"/>
            <a:ext cx="1317030" cy="101709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B6D0A12-863D-1374-F9DB-7BC988478B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5185" y="5178008"/>
            <a:ext cx="1707080" cy="85511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CACA0A6-5363-77BC-8094-BCDBE703D6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4864" y="5988080"/>
            <a:ext cx="2857194" cy="33441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3FBA931-6D48-E012-13C8-A1B85A5654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0327" y="6925670"/>
            <a:ext cx="2443074" cy="29625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EE01FDA-4F1E-C866-35AC-6D3D52B373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9532" y="6467607"/>
            <a:ext cx="2581636" cy="29625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645C1B9-DF16-D051-6895-554A44D9D6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2532" y="6925670"/>
            <a:ext cx="785305" cy="29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4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F328CC-169D-E764-1715-B3270ADCF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6AC45EC-9479-7B0B-F35B-53B97735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37C2EF-494D-1585-BD05-501997650C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2FCB197-606C-E799-090E-50C584487F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환경정책의 편익과 비용</a:t>
            </a:r>
            <a:endParaRPr lang="en-US" altLang="ko-KR" dirty="0"/>
          </a:p>
          <a:p>
            <a:pPr lvl="1"/>
            <a:r>
              <a:rPr lang="ko-KR" altLang="en-US" dirty="0"/>
              <a:t>지불의사 접근법 </a:t>
            </a:r>
            <a:r>
              <a:rPr lang="en-US" altLang="ko-KR" dirty="0"/>
              <a:t>: </a:t>
            </a:r>
            <a:r>
              <a:rPr lang="ko-KR" altLang="en-US" dirty="0"/>
              <a:t>환경개선을 위해 일정한 금액을 지불할 용의를 가짐</a:t>
            </a:r>
            <a:r>
              <a:rPr lang="en-US" altLang="ko-KR" dirty="0"/>
              <a:t>(</a:t>
            </a:r>
            <a:r>
              <a:rPr lang="ko-KR" altLang="en-US" dirty="0"/>
              <a:t>수요곡선 </a:t>
            </a:r>
            <a:r>
              <a:rPr lang="en-US" altLang="ko-KR" dirty="0"/>
              <a:t>= WTP </a:t>
            </a:r>
            <a:r>
              <a:rPr lang="ko-KR" altLang="en-US" dirty="0"/>
              <a:t>그 자체</a:t>
            </a:r>
            <a:r>
              <a:rPr lang="en-US" altLang="ko-KR" dirty="0"/>
              <a:t>); </a:t>
            </a:r>
            <a:r>
              <a:rPr lang="ko-KR" altLang="en-US" dirty="0"/>
              <a:t>상품 가격 </a:t>
            </a:r>
            <a:r>
              <a:rPr lang="en-US" altLang="ko-KR" dirty="0"/>
              <a:t>P, </a:t>
            </a:r>
            <a:r>
              <a:rPr lang="ko-KR" altLang="en-US" dirty="0"/>
              <a:t>환경 질 </a:t>
            </a:r>
            <a:r>
              <a:rPr lang="en-US" altLang="ko-KR" dirty="0"/>
              <a:t>S, </a:t>
            </a:r>
            <a:r>
              <a:rPr lang="ko-KR" altLang="en-US" dirty="0"/>
              <a:t>주어진</a:t>
            </a:r>
            <a:r>
              <a:rPr lang="en-US" altLang="ko-KR" dirty="0"/>
              <a:t> </a:t>
            </a:r>
            <a:r>
              <a:rPr lang="ko-KR" altLang="en-US" dirty="0"/>
              <a:t>효용 </a:t>
            </a:r>
            <a:r>
              <a:rPr lang="en-US" altLang="ko-KR" dirty="0" err="1"/>
              <a:t>U_bar</a:t>
            </a:r>
            <a:r>
              <a:rPr lang="en-US" altLang="ko-KR" dirty="0"/>
              <a:t>, </a:t>
            </a:r>
            <a:r>
              <a:rPr lang="ko-KR" altLang="en-US" dirty="0"/>
              <a:t>개선의</a:t>
            </a:r>
            <a:r>
              <a:rPr lang="en-US" altLang="ko-KR" dirty="0"/>
              <a:t> WTP </a:t>
            </a:r>
            <a:r>
              <a:rPr lang="ko-KR" altLang="en-US" dirty="0" err="1"/>
              <a:t>세타에</a:t>
            </a:r>
            <a:r>
              <a:rPr lang="ko-KR" altLang="en-US" dirty="0"/>
              <a:t> 대해</a:t>
            </a:r>
            <a:r>
              <a:rPr lang="en-US" altLang="ko-KR" dirty="0"/>
              <a:t>,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회피행위 접근법 </a:t>
            </a:r>
            <a:r>
              <a:rPr lang="en-US" altLang="ko-KR" dirty="0"/>
              <a:t>: </a:t>
            </a:r>
            <a:r>
              <a:rPr lang="ko-KR" altLang="en-US" dirty="0"/>
              <a:t>위험회피를 위해 얼마나 지출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 err="1"/>
              <a:t>헤도닉</a:t>
            </a:r>
            <a:r>
              <a:rPr lang="ko-KR" altLang="en-US" dirty="0"/>
              <a:t> 가격 접근법 </a:t>
            </a:r>
            <a:r>
              <a:rPr lang="en-US" altLang="ko-KR" dirty="0"/>
              <a:t>: </a:t>
            </a:r>
            <a:r>
              <a:rPr lang="ko-KR" altLang="en-US" dirty="0"/>
              <a:t>어떤 주택의 가격은 그것이 가지는 여러 특성의 가치로 분해 가능 </a:t>
            </a:r>
            <a:r>
              <a:rPr lang="en-US" altLang="ko-KR" dirty="0"/>
              <a:t>→ </a:t>
            </a:r>
            <a:r>
              <a:rPr lang="ko-KR" altLang="en-US" dirty="0" err="1"/>
              <a:t>헤도닉</a:t>
            </a:r>
            <a:r>
              <a:rPr lang="ko-KR" altLang="en-US" dirty="0"/>
              <a:t> 가격 </a:t>
            </a:r>
            <a:r>
              <a:rPr lang="en-US" altLang="ko-KR" dirty="0"/>
              <a:t>; </a:t>
            </a:r>
            <a:r>
              <a:rPr lang="ko-KR" altLang="en-US" dirty="0"/>
              <a:t>환경 질을 대표하는 변수들 </a:t>
            </a:r>
            <a:r>
              <a:rPr lang="en-US" altLang="ko-KR" dirty="0"/>
              <a:t>→ </a:t>
            </a:r>
            <a:r>
              <a:rPr lang="ko-KR" altLang="en-US" dirty="0"/>
              <a:t>가격상승폭을 편익으로 간주</a:t>
            </a:r>
            <a:endParaRPr lang="en-US" altLang="ko-KR" dirty="0"/>
          </a:p>
          <a:p>
            <a:pPr lvl="1"/>
            <a:r>
              <a:rPr lang="ko-KR" altLang="en-US" dirty="0"/>
              <a:t>조건부평가법 </a:t>
            </a:r>
            <a:r>
              <a:rPr lang="en-US" altLang="ko-KR" dirty="0"/>
              <a:t>: </a:t>
            </a:r>
            <a:r>
              <a:rPr lang="ko-KR" altLang="en-US" dirty="0"/>
              <a:t>환경 개선 가능성 제시 </a:t>
            </a:r>
            <a:r>
              <a:rPr lang="en-US" altLang="ko-KR" dirty="0"/>
              <a:t>→ </a:t>
            </a:r>
            <a:r>
              <a:rPr lang="ko-KR" altLang="en-US" dirty="0"/>
              <a:t>평가</a:t>
            </a:r>
            <a:r>
              <a:rPr lang="en-US" altLang="ko-KR" dirty="0"/>
              <a:t>; </a:t>
            </a:r>
            <a:r>
              <a:rPr lang="ko-KR" altLang="en-US" dirty="0"/>
              <a:t>설문을 통해 금액에 대한 정보 추출</a:t>
            </a:r>
            <a:endParaRPr lang="en-US" altLang="ko-KR" dirty="0"/>
          </a:p>
          <a:p>
            <a:pPr lvl="2"/>
            <a:r>
              <a:rPr lang="ko-KR" altLang="en-US" dirty="0"/>
              <a:t>존재가치 </a:t>
            </a:r>
            <a:r>
              <a:rPr lang="en-US" altLang="ko-KR" dirty="0"/>
              <a:t>: </a:t>
            </a:r>
            <a:r>
              <a:rPr lang="ko-KR" altLang="en-US" dirty="0"/>
              <a:t>존재함만으로 가치를 갖는 것</a:t>
            </a:r>
            <a:r>
              <a:rPr lang="en-US" altLang="ko-KR" dirty="0"/>
              <a:t>(</a:t>
            </a:r>
            <a:r>
              <a:rPr lang="ko-KR" altLang="en-US" dirty="0"/>
              <a:t>숲에 사는 천연기념물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비판 </a:t>
            </a:r>
            <a:r>
              <a:rPr lang="en-US" altLang="ko-KR" dirty="0"/>
              <a:t>: </a:t>
            </a:r>
            <a:r>
              <a:rPr lang="ko-KR" altLang="en-US" dirty="0"/>
              <a:t>일반적으로 </a:t>
            </a:r>
            <a:r>
              <a:rPr lang="ko-KR" altLang="en-US" dirty="0" err="1"/>
              <a:t>현시된</a:t>
            </a:r>
            <a:r>
              <a:rPr lang="ko-KR" altLang="en-US" dirty="0"/>
              <a:t> 선호</a:t>
            </a:r>
            <a:r>
              <a:rPr lang="en-US" altLang="ko-KR" dirty="0"/>
              <a:t>(</a:t>
            </a:r>
            <a:r>
              <a:rPr lang="ko-KR" altLang="en-US" dirty="0"/>
              <a:t>가치부여</a:t>
            </a:r>
            <a:r>
              <a:rPr lang="en-US" altLang="ko-KR" dirty="0"/>
              <a:t>→</a:t>
            </a:r>
            <a:r>
              <a:rPr lang="ko-KR" altLang="en-US" dirty="0"/>
              <a:t>행위에 반영</a:t>
            </a:r>
            <a:r>
              <a:rPr lang="en-US" altLang="ko-KR" dirty="0"/>
              <a:t>)</a:t>
            </a:r>
            <a:r>
              <a:rPr lang="ko-KR" altLang="en-US" dirty="0"/>
              <a:t>를 통해 결론 도출 선호 </a:t>
            </a:r>
            <a:r>
              <a:rPr lang="en-US" altLang="ko-KR" dirty="0"/>
              <a:t>→ </a:t>
            </a:r>
            <a:r>
              <a:rPr lang="ko-KR" altLang="en-US" dirty="0"/>
              <a:t>조건부평가법에 대해 부정적</a:t>
            </a:r>
            <a:br>
              <a:rPr lang="en-US" altLang="ko-KR" dirty="0"/>
            </a:br>
            <a:r>
              <a:rPr lang="ko-KR" altLang="en-US" dirty="0"/>
              <a:t>응답효과 </a:t>
            </a:r>
            <a:r>
              <a:rPr lang="en-US" altLang="ko-KR" dirty="0"/>
              <a:t>: </a:t>
            </a:r>
            <a:r>
              <a:rPr lang="ko-KR" altLang="en-US" dirty="0"/>
              <a:t>질문의 표현</a:t>
            </a:r>
            <a:r>
              <a:rPr lang="en-US" altLang="ko-KR" dirty="0"/>
              <a:t>/</a:t>
            </a:r>
            <a:r>
              <a:rPr lang="ko-KR" altLang="en-US" dirty="0"/>
              <a:t>순서를 바꾸면 응답 달라짐</a:t>
            </a:r>
            <a:r>
              <a:rPr lang="en-US" altLang="ko-KR" dirty="0"/>
              <a:t>; </a:t>
            </a:r>
            <a:r>
              <a:rPr lang="ko-KR" altLang="en-US" dirty="0"/>
              <a:t>행태경제학 </a:t>
            </a:r>
            <a:r>
              <a:rPr lang="en-US" altLang="ko-KR" dirty="0"/>
              <a:t>: WTA &gt; WTP</a:t>
            </a:r>
          </a:p>
          <a:p>
            <a:pPr lvl="1"/>
            <a:r>
              <a:rPr lang="ko-KR" altLang="en-US" dirty="0"/>
              <a:t>환경정책과</a:t>
            </a:r>
            <a:r>
              <a:rPr lang="en-US" altLang="ko-KR" dirty="0"/>
              <a:t> </a:t>
            </a:r>
            <a:r>
              <a:rPr lang="ko-KR" altLang="en-US" dirty="0"/>
              <a:t>관련된 비용 </a:t>
            </a:r>
            <a:r>
              <a:rPr lang="en-US" altLang="ko-KR" dirty="0"/>
              <a:t>: </a:t>
            </a:r>
            <a:r>
              <a:rPr lang="ko-KR" altLang="en-US" dirty="0"/>
              <a:t>준수비용 </a:t>
            </a:r>
            <a:r>
              <a:rPr lang="en-US" altLang="ko-KR" dirty="0"/>
              <a:t>= </a:t>
            </a:r>
            <a:r>
              <a:rPr lang="ko-KR" altLang="en-US" dirty="0"/>
              <a:t>기업</a:t>
            </a:r>
            <a:r>
              <a:rPr lang="en-US" altLang="ko-KR" dirty="0"/>
              <a:t>/</a:t>
            </a:r>
            <a:r>
              <a:rPr lang="ko-KR" altLang="en-US" dirty="0"/>
              <a:t>개인이 규제 준수 비용</a:t>
            </a:r>
            <a:endParaRPr lang="en-US" altLang="ko-KR" dirty="0"/>
          </a:p>
          <a:p>
            <a:pPr lvl="2"/>
            <a:r>
              <a:rPr lang="ko-KR" altLang="en-US" dirty="0"/>
              <a:t>기업 </a:t>
            </a:r>
            <a:r>
              <a:rPr lang="en-US" altLang="ko-KR" dirty="0"/>
              <a:t>: </a:t>
            </a:r>
            <a:r>
              <a:rPr lang="ko-KR" altLang="en-US" dirty="0"/>
              <a:t>투자위축 가능성</a:t>
            </a:r>
            <a:r>
              <a:rPr lang="en-US" altLang="ko-KR" dirty="0"/>
              <a:t>; </a:t>
            </a:r>
            <a:r>
              <a:rPr lang="ko-KR" altLang="en-US" dirty="0"/>
              <a:t>개인 </a:t>
            </a:r>
            <a:r>
              <a:rPr lang="en-US" altLang="ko-KR" dirty="0"/>
              <a:t>: </a:t>
            </a:r>
            <a:r>
              <a:rPr lang="ko-KR" altLang="en-US" dirty="0"/>
              <a:t>실질소득 감소 </a:t>
            </a:r>
            <a:r>
              <a:rPr lang="en-US" altLang="ko-KR" dirty="0"/>
              <a:t>or </a:t>
            </a:r>
            <a:r>
              <a:rPr lang="ko-KR" altLang="en-US" dirty="0"/>
              <a:t>고용기회 축소</a:t>
            </a:r>
          </a:p>
          <a:p>
            <a:r>
              <a:rPr lang="ko-KR" altLang="en-US" dirty="0"/>
              <a:t>환경정책의 기본 방향</a:t>
            </a:r>
            <a:endParaRPr lang="en-US" altLang="ko-KR" dirty="0"/>
          </a:p>
          <a:p>
            <a:pPr lvl="1"/>
            <a:r>
              <a:rPr lang="ko-KR" altLang="en-US" dirty="0"/>
              <a:t>시장활용방식</a:t>
            </a:r>
            <a:r>
              <a:rPr lang="en-US" altLang="ko-KR" dirty="0"/>
              <a:t>(</a:t>
            </a:r>
            <a:r>
              <a:rPr lang="ko-KR" altLang="en-US" dirty="0" err="1"/>
              <a:t>환경세</a:t>
            </a:r>
            <a:r>
              <a:rPr lang="en-US" altLang="ko-KR" dirty="0"/>
              <a:t>/</a:t>
            </a:r>
            <a:r>
              <a:rPr lang="ko-KR" altLang="en-US" dirty="0" err="1"/>
              <a:t>배출권</a:t>
            </a:r>
            <a:r>
              <a:rPr lang="ko-KR" altLang="en-US" dirty="0"/>
              <a:t> 거래</a:t>
            </a:r>
            <a:r>
              <a:rPr lang="en-US" altLang="ko-KR" dirty="0"/>
              <a:t>) vs </a:t>
            </a:r>
            <a:r>
              <a:rPr lang="ko-KR" altLang="en-US" dirty="0"/>
              <a:t>직접통제방식</a:t>
            </a:r>
            <a:endParaRPr lang="en-US" altLang="ko-KR" dirty="0"/>
          </a:p>
          <a:p>
            <a:pPr lvl="2"/>
            <a:r>
              <a:rPr lang="ko-KR" altLang="en-US" dirty="0"/>
              <a:t>시장활용 </a:t>
            </a:r>
            <a:r>
              <a:rPr lang="en-US" altLang="ko-KR" dirty="0"/>
              <a:t>: </a:t>
            </a:r>
            <a:r>
              <a:rPr lang="ko-KR" altLang="en-US" dirty="0"/>
              <a:t>정책 유연</a:t>
            </a:r>
            <a:r>
              <a:rPr lang="en-US" altLang="ko-KR" dirty="0"/>
              <a:t>, </a:t>
            </a:r>
            <a:r>
              <a:rPr lang="ko-KR" altLang="en-US" dirty="0"/>
              <a:t>효율적 달성</a:t>
            </a:r>
            <a:endParaRPr lang="en-US" altLang="ko-KR" dirty="0"/>
          </a:p>
          <a:p>
            <a:pPr lvl="2"/>
            <a:r>
              <a:rPr lang="ko-KR" altLang="en-US" dirty="0"/>
              <a:t>직접통제 </a:t>
            </a:r>
            <a:r>
              <a:rPr lang="en-US" altLang="ko-KR" dirty="0"/>
              <a:t>: </a:t>
            </a:r>
            <a:r>
              <a:rPr lang="ko-KR" altLang="en-US" dirty="0"/>
              <a:t>정치인</a:t>
            </a:r>
            <a:r>
              <a:rPr lang="en-US" altLang="ko-KR" dirty="0"/>
              <a:t>(</a:t>
            </a:r>
            <a:r>
              <a:rPr lang="ko-KR" altLang="en-US" dirty="0"/>
              <a:t>비용 은닉 쉬움</a:t>
            </a:r>
            <a:r>
              <a:rPr lang="en-US" altLang="ko-KR" dirty="0"/>
              <a:t>. </a:t>
            </a:r>
            <a:r>
              <a:rPr lang="ko-KR" altLang="en-US" dirty="0"/>
              <a:t>확실한 효과</a:t>
            </a:r>
            <a:r>
              <a:rPr lang="en-US" altLang="ko-KR" dirty="0"/>
              <a:t>)/</a:t>
            </a:r>
            <a:r>
              <a:rPr lang="ko-KR" altLang="en-US" dirty="0"/>
              <a:t>관료</a:t>
            </a:r>
            <a:r>
              <a:rPr lang="en-US" altLang="ko-KR" dirty="0"/>
              <a:t>(</a:t>
            </a:r>
            <a:r>
              <a:rPr lang="ko-KR" altLang="en-US" dirty="0"/>
              <a:t>시장활용 </a:t>
            </a:r>
            <a:r>
              <a:rPr lang="ko-KR" altLang="en-US" dirty="0" err="1"/>
              <a:t>익숙</a:t>
            </a:r>
            <a:r>
              <a:rPr lang="en-US" altLang="ko-KR" dirty="0"/>
              <a:t>X, </a:t>
            </a:r>
            <a:r>
              <a:rPr lang="ko-KR" altLang="en-US" dirty="0"/>
              <a:t>관료재량↓</a:t>
            </a:r>
            <a:r>
              <a:rPr lang="en-US" altLang="ko-KR" dirty="0"/>
              <a:t>/</a:t>
            </a:r>
            <a:r>
              <a:rPr lang="ko-KR" altLang="en-US" dirty="0"/>
              <a:t>환경단체</a:t>
            </a:r>
            <a:r>
              <a:rPr lang="en-US" altLang="ko-KR" dirty="0"/>
              <a:t>(</a:t>
            </a:r>
            <a:r>
              <a:rPr lang="ko-KR" altLang="en-US" dirty="0" err="1"/>
              <a:t>환경세</a:t>
            </a:r>
            <a:r>
              <a:rPr lang="en-US" altLang="ko-KR" dirty="0"/>
              <a:t>,</a:t>
            </a:r>
            <a:r>
              <a:rPr lang="ko-KR" altLang="en-US" dirty="0" err="1"/>
              <a:t>배출권</a:t>
            </a:r>
            <a:r>
              <a:rPr lang="en-US" altLang="ko-KR" dirty="0"/>
              <a:t>= </a:t>
            </a:r>
            <a:r>
              <a:rPr lang="ko-KR" altLang="en-US" dirty="0"/>
              <a:t>면죄부</a:t>
            </a:r>
            <a:r>
              <a:rPr lang="en-US" altLang="ko-KR" dirty="0"/>
              <a:t>?) /</a:t>
            </a:r>
            <a:r>
              <a:rPr lang="ko-KR" altLang="en-US" dirty="0"/>
              <a:t>기업</a:t>
            </a:r>
            <a:r>
              <a:rPr lang="en-US" altLang="ko-KR" dirty="0"/>
              <a:t>(</a:t>
            </a:r>
            <a:r>
              <a:rPr lang="ko-KR" altLang="en-US" dirty="0"/>
              <a:t>더 적은 준수비용</a:t>
            </a:r>
            <a:r>
              <a:rPr lang="en-US" altLang="ko-KR" dirty="0"/>
              <a:t>)</a:t>
            </a:r>
            <a:r>
              <a:rPr lang="ko-KR" altLang="en-US" dirty="0"/>
              <a:t> 선호</a:t>
            </a:r>
            <a:endParaRPr lang="en-US" altLang="ko-KR" dirty="0"/>
          </a:p>
          <a:p>
            <a:pPr lvl="1"/>
            <a:r>
              <a:rPr lang="ko-KR" altLang="en-US" dirty="0" err="1"/>
              <a:t>환경세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 err="1"/>
              <a:t>배출권</a:t>
            </a:r>
            <a:endParaRPr lang="en-US" altLang="ko-KR" dirty="0"/>
          </a:p>
          <a:p>
            <a:pPr lvl="2"/>
            <a:r>
              <a:rPr lang="ko-KR" altLang="en-US" dirty="0" err="1"/>
              <a:t>환경세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재정수입</a:t>
            </a:r>
            <a:r>
              <a:rPr lang="en-US" altLang="ko-KR" dirty="0"/>
              <a:t>(</a:t>
            </a:r>
            <a:r>
              <a:rPr lang="ko-KR" altLang="en-US" dirty="0"/>
              <a:t>이중배당금</a:t>
            </a:r>
            <a:r>
              <a:rPr lang="en-US" altLang="ko-KR" dirty="0"/>
              <a:t>); </a:t>
            </a:r>
            <a:r>
              <a:rPr lang="ko-KR" altLang="en-US" dirty="0" err="1"/>
              <a:t>배출권</a:t>
            </a:r>
            <a:r>
              <a:rPr lang="en-US" altLang="ko-KR" dirty="0"/>
              <a:t>→</a:t>
            </a:r>
            <a:r>
              <a:rPr lang="ko-KR" altLang="en-US" dirty="0"/>
              <a:t>시장</a:t>
            </a:r>
            <a:r>
              <a:rPr lang="en-US" altLang="ko-KR" dirty="0"/>
              <a:t>; </a:t>
            </a:r>
            <a:r>
              <a:rPr lang="ko-KR" altLang="en-US" dirty="0" err="1"/>
              <a:t>배출자</a:t>
            </a:r>
            <a:r>
              <a:rPr lang="en-US" altLang="ko-KR" dirty="0"/>
              <a:t>→</a:t>
            </a:r>
            <a:r>
              <a:rPr lang="ko-KR" altLang="en-US" dirty="0"/>
              <a:t>대가지불</a:t>
            </a:r>
            <a:r>
              <a:rPr lang="en-US" altLang="ko-KR" dirty="0"/>
              <a:t>(</a:t>
            </a:r>
            <a:r>
              <a:rPr lang="ko-KR" altLang="en-US" dirty="0"/>
              <a:t>오염자지불원칙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 err="1"/>
              <a:t>배출권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배출량 직접통제 가능</a:t>
            </a:r>
            <a:r>
              <a:rPr lang="en-US" altLang="ko-KR" dirty="0"/>
              <a:t>; </a:t>
            </a:r>
            <a:r>
              <a:rPr lang="ko-KR" altLang="en-US" dirty="0"/>
              <a:t>경제성장</a:t>
            </a:r>
            <a:r>
              <a:rPr lang="en-US" altLang="ko-KR" dirty="0"/>
              <a:t>&amp;</a:t>
            </a:r>
            <a:r>
              <a:rPr lang="ko-KR" altLang="en-US" dirty="0"/>
              <a:t>물가성장 상황에 대처</a:t>
            </a:r>
            <a:endParaRPr lang="en-US" altLang="ko-KR" dirty="0"/>
          </a:p>
          <a:p>
            <a:pPr lvl="2"/>
            <a:r>
              <a:rPr lang="ko-KR" altLang="en-US" dirty="0" err="1"/>
              <a:t>환경세</a:t>
            </a:r>
            <a:r>
              <a:rPr lang="en-US" altLang="ko-KR" dirty="0"/>
              <a:t>&lt;</a:t>
            </a:r>
            <a:r>
              <a:rPr lang="ko-KR" altLang="en-US" dirty="0" err="1"/>
              <a:t>배출권인</a:t>
            </a:r>
            <a:r>
              <a:rPr lang="ko-KR" altLang="en-US" dirty="0"/>
              <a:t> 이유 </a:t>
            </a:r>
            <a:r>
              <a:rPr lang="en-US" altLang="ko-KR" dirty="0"/>
              <a:t>: </a:t>
            </a:r>
            <a:r>
              <a:rPr lang="ko-KR" altLang="en-US" dirty="0" err="1"/>
              <a:t>배출권</a:t>
            </a:r>
            <a:r>
              <a:rPr lang="en-US" altLang="ko-KR" dirty="0"/>
              <a:t>→</a:t>
            </a:r>
            <a:r>
              <a:rPr lang="ko-KR" altLang="en-US" dirty="0"/>
              <a:t>관련비용 명백</a:t>
            </a:r>
            <a:r>
              <a:rPr lang="en-US" altLang="ko-KR" dirty="0"/>
              <a:t>X, </a:t>
            </a:r>
            <a:r>
              <a:rPr lang="ko-KR" altLang="en-US" dirty="0" err="1"/>
              <a:t>환경세</a:t>
            </a:r>
            <a:r>
              <a:rPr lang="en-US" altLang="ko-KR" dirty="0"/>
              <a:t>→</a:t>
            </a:r>
            <a:r>
              <a:rPr lang="ko-KR" altLang="en-US" dirty="0"/>
              <a:t>간접적</a:t>
            </a:r>
            <a:r>
              <a:rPr lang="en-US" altLang="ko-KR" dirty="0"/>
              <a:t> but, </a:t>
            </a:r>
            <a:r>
              <a:rPr lang="ko-KR" altLang="en-US" dirty="0" err="1"/>
              <a:t>배출권</a:t>
            </a:r>
            <a:r>
              <a:rPr lang="en-US" altLang="ko-KR" dirty="0"/>
              <a:t>→</a:t>
            </a:r>
            <a:r>
              <a:rPr lang="ko-KR" altLang="en-US" dirty="0"/>
              <a:t>직접적</a:t>
            </a:r>
            <a:r>
              <a:rPr lang="en-US" altLang="ko-KR" dirty="0"/>
              <a:t>; </a:t>
            </a:r>
            <a:r>
              <a:rPr lang="ko-KR" altLang="en-US" dirty="0"/>
              <a:t>기업 </a:t>
            </a:r>
            <a:r>
              <a:rPr lang="en-US" altLang="ko-KR" dirty="0"/>
              <a:t>: </a:t>
            </a:r>
            <a:r>
              <a:rPr lang="ko-KR" altLang="en-US" dirty="0" err="1"/>
              <a:t>배출권</a:t>
            </a:r>
            <a:r>
              <a:rPr lang="ko-KR" altLang="en-US" dirty="0"/>
              <a:t> 구입시만 비용</a:t>
            </a:r>
            <a:r>
              <a:rPr lang="en-US" altLang="ko-KR" dirty="0"/>
              <a:t>; but, </a:t>
            </a:r>
            <a:r>
              <a:rPr lang="ko-KR" altLang="en-US" dirty="0"/>
              <a:t>네</a:t>
            </a:r>
            <a:r>
              <a:rPr lang="en-US" altLang="ko-KR" dirty="0"/>
              <a:t>,</a:t>
            </a:r>
            <a:r>
              <a:rPr lang="ko-KR" altLang="en-US" dirty="0"/>
              <a:t>덴</a:t>
            </a:r>
            <a:r>
              <a:rPr lang="en-US" altLang="ko-KR" dirty="0"/>
              <a:t>,</a:t>
            </a:r>
            <a:r>
              <a:rPr lang="ko-KR" altLang="en-US" dirty="0"/>
              <a:t>노</a:t>
            </a:r>
            <a:r>
              <a:rPr lang="en-US" altLang="ko-KR" dirty="0"/>
              <a:t>,</a:t>
            </a:r>
            <a:r>
              <a:rPr lang="ko-KR" altLang="en-US" dirty="0" err="1"/>
              <a:t>스</a:t>
            </a:r>
            <a:r>
              <a:rPr lang="en-US" altLang="ko-KR" dirty="0"/>
              <a:t>.</a:t>
            </a:r>
            <a:r>
              <a:rPr lang="ko-KR" altLang="en-US" dirty="0"/>
              <a:t>핀 에서 </a:t>
            </a:r>
            <a:r>
              <a:rPr lang="ko-KR" altLang="en-US" dirty="0" err="1"/>
              <a:t>탄소세</a:t>
            </a:r>
            <a:r>
              <a:rPr lang="en-US" altLang="ko-KR" dirty="0"/>
              <a:t>(CO2</a:t>
            </a:r>
            <a:r>
              <a:rPr lang="ko-KR" altLang="en-US" dirty="0"/>
              <a:t> 많은 제품에 추가적 관세</a:t>
            </a:r>
            <a:r>
              <a:rPr lang="en-US" altLang="ko-KR" dirty="0"/>
              <a:t>)</a:t>
            </a:r>
            <a:r>
              <a:rPr lang="ko-KR" altLang="en-US" dirty="0"/>
              <a:t> 부과</a:t>
            </a:r>
          </a:p>
          <a:p>
            <a:r>
              <a:rPr lang="ko-KR" altLang="en-US" dirty="0"/>
              <a:t>환경정책의 분배적 측면</a:t>
            </a:r>
            <a:endParaRPr lang="en-US" altLang="ko-KR" dirty="0"/>
          </a:p>
          <a:p>
            <a:pPr lvl="1"/>
            <a:r>
              <a:rPr lang="ko-KR" altLang="en-US" dirty="0"/>
              <a:t>환경정책의 혜택</a:t>
            </a:r>
            <a:r>
              <a:rPr lang="en-US" altLang="ko-KR" dirty="0"/>
              <a:t>/</a:t>
            </a:r>
            <a:r>
              <a:rPr lang="ko-KR" altLang="en-US" dirty="0"/>
              <a:t>비용 </a:t>
            </a:r>
            <a:r>
              <a:rPr lang="en-US" altLang="ko-KR" dirty="0"/>
              <a:t>→ </a:t>
            </a:r>
            <a:r>
              <a:rPr lang="ko-KR" altLang="en-US" dirty="0"/>
              <a:t>소득계층간 어떻게 분배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혜택은 주로 상류</a:t>
            </a:r>
            <a:r>
              <a:rPr lang="en-US" altLang="ko-KR" dirty="0"/>
              <a:t>, </a:t>
            </a:r>
            <a:r>
              <a:rPr lang="ko-KR" altLang="en-US" dirty="0"/>
              <a:t>비용은 주로 저소득층</a:t>
            </a:r>
            <a:r>
              <a:rPr lang="en-US" altLang="ko-KR" dirty="0"/>
              <a:t>(</a:t>
            </a:r>
            <a:r>
              <a:rPr lang="ko-KR" altLang="en-US" dirty="0"/>
              <a:t>휘발유세 </a:t>
            </a:r>
            <a:r>
              <a:rPr lang="en-US" altLang="ko-KR" dirty="0"/>
              <a:t>→ </a:t>
            </a:r>
            <a:r>
              <a:rPr lang="ko-KR" altLang="en-US" dirty="0"/>
              <a:t>역진적</a:t>
            </a:r>
            <a:r>
              <a:rPr lang="en-US" altLang="ko-KR" dirty="0"/>
              <a:t>) ; </a:t>
            </a:r>
            <a:r>
              <a:rPr lang="ko-KR" altLang="en-US" dirty="0"/>
              <a:t>특정 산업위축</a:t>
            </a:r>
            <a:endParaRPr lang="en-US" altLang="ko-KR" dirty="0"/>
          </a:p>
          <a:p>
            <a:pPr lvl="2"/>
            <a:r>
              <a:rPr lang="ko-KR" altLang="en-US" dirty="0"/>
              <a:t>로빈슨 </a:t>
            </a:r>
            <a:r>
              <a:rPr lang="en-US" altLang="ko-KR" dirty="0"/>
              <a:t>: </a:t>
            </a:r>
            <a:r>
              <a:rPr lang="ko-KR" altLang="en-US" dirty="0"/>
              <a:t>공해방지정책</a:t>
            </a:r>
            <a:r>
              <a:rPr lang="en-US" altLang="ko-KR" dirty="0"/>
              <a:t>→</a:t>
            </a:r>
            <a:r>
              <a:rPr lang="ko-KR" altLang="en-US" dirty="0"/>
              <a:t>소득감소비율 </a:t>
            </a:r>
            <a:r>
              <a:rPr lang="en-US" altLang="ko-KR" dirty="0"/>
              <a:t>: </a:t>
            </a:r>
            <a:r>
              <a:rPr lang="ko-KR" altLang="en-US" dirty="0"/>
              <a:t>고소득층이 낮다</a:t>
            </a:r>
            <a:r>
              <a:rPr lang="en-US" altLang="ko-KR" dirty="0"/>
              <a:t>; </a:t>
            </a:r>
            <a:r>
              <a:rPr lang="ko-KR" altLang="en-US" dirty="0"/>
              <a:t>저소득 부담 경감 필요</a:t>
            </a:r>
          </a:p>
          <a:p>
            <a:r>
              <a:rPr lang="ko-KR" altLang="en-US" dirty="0"/>
              <a:t>경제성장과 국제무역</a:t>
            </a:r>
            <a:endParaRPr lang="en-US" altLang="ko-KR" dirty="0"/>
          </a:p>
          <a:p>
            <a:pPr lvl="1"/>
            <a:r>
              <a:rPr lang="ko-KR" altLang="en-US" dirty="0"/>
              <a:t>포터가설 </a:t>
            </a:r>
            <a:r>
              <a:rPr lang="en-US" altLang="ko-KR" dirty="0"/>
              <a:t>: </a:t>
            </a:r>
            <a:r>
              <a:rPr lang="ko-KR" altLang="en-US" dirty="0"/>
              <a:t>환경규제 </a:t>
            </a:r>
            <a:r>
              <a:rPr lang="en-US" altLang="ko-KR" dirty="0"/>
              <a:t>→ </a:t>
            </a:r>
            <a:r>
              <a:rPr lang="ko-KR" altLang="en-US" dirty="0"/>
              <a:t>기업경쟁력</a:t>
            </a:r>
            <a:r>
              <a:rPr lang="en-US" altLang="ko-KR" dirty="0"/>
              <a:t>; </a:t>
            </a:r>
            <a:r>
              <a:rPr lang="ko-KR" altLang="en-US" dirty="0"/>
              <a:t>적절한 환경규제 </a:t>
            </a:r>
            <a:r>
              <a:rPr lang="en-US" altLang="ko-KR" dirty="0"/>
              <a:t>→ </a:t>
            </a:r>
            <a:r>
              <a:rPr lang="ko-KR" altLang="en-US" dirty="0"/>
              <a:t>기술혁신 </a:t>
            </a:r>
            <a:r>
              <a:rPr lang="en-US" altLang="ko-KR" dirty="0"/>
              <a:t>→ </a:t>
            </a:r>
            <a:r>
              <a:rPr lang="ko-KR" altLang="en-US" dirty="0"/>
              <a:t>생산성 향상</a:t>
            </a:r>
            <a:br>
              <a:rPr lang="en-US" altLang="ko-KR" dirty="0"/>
            </a:br>
            <a:r>
              <a:rPr lang="en-US" altLang="ko-KR" dirty="0"/>
              <a:t>but, (</a:t>
            </a:r>
            <a:r>
              <a:rPr lang="ko-KR" altLang="en-US" dirty="0"/>
              <a:t>환경규제 </a:t>
            </a:r>
            <a:r>
              <a:rPr lang="en-US" altLang="ko-KR" dirty="0"/>
              <a:t>→ </a:t>
            </a:r>
            <a:r>
              <a:rPr lang="ko-KR" altLang="en-US" dirty="0"/>
              <a:t>국제경쟁력</a:t>
            </a:r>
            <a:r>
              <a:rPr lang="en-US" altLang="ko-KR" dirty="0"/>
              <a:t>?) → </a:t>
            </a:r>
            <a:r>
              <a:rPr lang="ko-KR" altLang="en-US" dirty="0"/>
              <a:t>실증분석을 통해서</a:t>
            </a:r>
          </a:p>
          <a:p>
            <a:r>
              <a:rPr lang="ko-KR" altLang="en-US" dirty="0"/>
              <a:t>국제적 차원의 환경정책</a:t>
            </a:r>
            <a:endParaRPr lang="en-US" altLang="ko-KR" dirty="0"/>
          </a:p>
          <a:p>
            <a:pPr lvl="1"/>
            <a:r>
              <a:rPr lang="ko-KR" altLang="en-US" dirty="0"/>
              <a:t>교토의정서 </a:t>
            </a:r>
            <a:r>
              <a:rPr lang="en-US" altLang="ko-KR" dirty="0"/>
              <a:t>: </a:t>
            </a:r>
            <a:r>
              <a:rPr lang="ko-KR" altLang="en-US" dirty="0"/>
              <a:t>온실가스 배출</a:t>
            </a:r>
            <a:r>
              <a:rPr lang="en-US" altLang="ko-KR" dirty="0"/>
              <a:t>→</a:t>
            </a:r>
            <a:r>
              <a:rPr lang="ko-KR" altLang="en-US" dirty="0"/>
              <a:t>국가전략 수립</a:t>
            </a:r>
            <a:r>
              <a:rPr lang="en-US" altLang="ko-KR" dirty="0"/>
              <a:t>→ </a:t>
            </a:r>
            <a:r>
              <a:rPr lang="ko-KR" altLang="en-US" dirty="0"/>
              <a:t>통계자료 및 정책 이행국가보고서</a:t>
            </a:r>
            <a:br>
              <a:rPr lang="en-US" altLang="ko-KR" dirty="0"/>
            </a:br>
            <a:r>
              <a:rPr lang="ko-KR" altLang="en-US" dirty="0" err="1"/>
              <a:t>배출권</a:t>
            </a:r>
            <a:r>
              <a:rPr lang="ko-KR" altLang="en-US" dirty="0"/>
              <a:t> 거래제도</a:t>
            </a:r>
            <a:r>
              <a:rPr lang="en-US" altLang="ko-KR" dirty="0"/>
              <a:t>, </a:t>
            </a:r>
            <a:r>
              <a:rPr lang="ko-KR" altLang="en-US" dirty="0"/>
              <a:t>공동이행제도</a:t>
            </a:r>
            <a:r>
              <a:rPr lang="en-US" altLang="ko-KR" dirty="0"/>
              <a:t>, </a:t>
            </a:r>
            <a:r>
              <a:rPr lang="ko-KR" altLang="en-US" dirty="0"/>
              <a:t>청정개발체제</a:t>
            </a:r>
            <a:endParaRPr lang="en-US" altLang="ko-KR" dirty="0"/>
          </a:p>
          <a:p>
            <a:pPr lvl="1"/>
            <a:r>
              <a:rPr lang="ko-KR" altLang="en-US" dirty="0"/>
              <a:t>파리협정 </a:t>
            </a:r>
            <a:r>
              <a:rPr lang="en-US" altLang="ko-KR" dirty="0"/>
              <a:t>: </a:t>
            </a:r>
            <a:r>
              <a:rPr lang="ko-KR" altLang="en-US" dirty="0"/>
              <a:t>지평온도상승</a:t>
            </a:r>
            <a:r>
              <a:rPr lang="en-US" altLang="ko-KR" dirty="0"/>
              <a:t>2º</a:t>
            </a:r>
            <a:r>
              <a:rPr lang="ko-KR" altLang="en-US" dirty="0"/>
              <a:t>↓</a:t>
            </a:r>
            <a:r>
              <a:rPr lang="en-US" altLang="ko-KR" dirty="0"/>
              <a:t>; 1.5º</a:t>
            </a:r>
            <a:r>
              <a:rPr lang="ko-KR" altLang="en-US" dirty="0"/>
              <a:t>↓로 노력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A4728E-E6CE-F55E-3DE0-0550AC33AA8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D76F04D-14F0-5E44-6904-F841263E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2" t="78345" r="16541" b="3218"/>
          <a:stretch/>
        </p:blipFill>
        <p:spPr>
          <a:xfrm>
            <a:off x="2889824" y="1147519"/>
            <a:ext cx="1910045" cy="1959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CB3AAE8-24C3-447A-85EA-7C92623355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270" r="1650" b="81563"/>
          <a:stretch/>
        </p:blipFill>
        <p:spPr>
          <a:xfrm>
            <a:off x="1875511" y="1149136"/>
            <a:ext cx="941540" cy="19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0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3B5C09-0E7C-221A-6C92-4AFD64DE7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6524008-0BA5-2CC4-3166-EDB73F76E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재분배 정책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762B22-E332-C70E-B664-141436585C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EFCBF54-1C62-F843-8B04-08B09C3447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재분배 정책의 찬반</a:t>
            </a:r>
            <a:endParaRPr lang="en-US" altLang="ko-KR" dirty="0"/>
          </a:p>
          <a:p>
            <a:pPr lvl="1"/>
            <a:r>
              <a:rPr lang="ko-KR" altLang="en-US" dirty="0"/>
              <a:t>재분배 정책 찬성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윤리적 관점 </a:t>
            </a:r>
            <a:r>
              <a:rPr lang="en-US" altLang="ko-KR" dirty="0"/>
              <a:t>: (</a:t>
            </a:r>
            <a:r>
              <a:rPr lang="ko-KR" altLang="en-US" dirty="0"/>
              <a:t>평등주의</a:t>
            </a:r>
            <a:r>
              <a:rPr lang="en-US" altLang="ko-KR" dirty="0"/>
              <a:t>)</a:t>
            </a:r>
            <a:r>
              <a:rPr lang="ko-KR" altLang="en-US" dirty="0"/>
              <a:t>현실분배 평등</a:t>
            </a:r>
            <a:r>
              <a:rPr lang="en-US" altLang="ko-KR" dirty="0"/>
              <a:t>X?→</a:t>
            </a:r>
            <a:r>
              <a:rPr lang="ko-KR" altLang="en-US" dirty="0"/>
              <a:t>시정</a:t>
            </a:r>
            <a:r>
              <a:rPr lang="en-US" altLang="ko-KR" dirty="0"/>
              <a:t> </a:t>
            </a:r>
            <a:r>
              <a:rPr lang="ko-KR" altLang="en-US" dirty="0"/>
              <a:t>노력 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공리주의</a:t>
            </a:r>
            <a:r>
              <a:rPr lang="en-US" altLang="ko-KR" dirty="0"/>
              <a:t>)</a:t>
            </a:r>
            <a:r>
              <a:rPr lang="ko-KR" altLang="en-US" dirty="0"/>
              <a:t>재분배</a:t>
            </a:r>
            <a:r>
              <a:rPr lang="en-US" altLang="ko-KR" dirty="0"/>
              <a:t>→</a:t>
            </a:r>
            <a:r>
              <a:rPr lang="ko-KR" altLang="en-US" dirty="0"/>
              <a:t>사회전체 후생 증대 가능</a:t>
            </a:r>
            <a:br>
              <a:rPr lang="en-US" altLang="ko-KR" dirty="0"/>
            </a:br>
            <a:r>
              <a:rPr lang="ko-KR" altLang="en-US" dirty="0" err="1"/>
              <a:t>공공재로서의</a:t>
            </a:r>
            <a:r>
              <a:rPr lang="ko-KR" altLang="en-US" dirty="0"/>
              <a:t> 공평한 분배 </a:t>
            </a:r>
            <a:r>
              <a:rPr lang="en-US" altLang="ko-KR" dirty="0"/>
              <a:t>: (</a:t>
            </a:r>
            <a:r>
              <a:rPr lang="ko-KR" altLang="en-US" dirty="0" err="1"/>
              <a:t>더로우</a:t>
            </a:r>
            <a:r>
              <a:rPr lang="en-US" altLang="ko-KR" dirty="0"/>
              <a:t>)</a:t>
            </a:r>
            <a:r>
              <a:rPr lang="ko-KR" altLang="en-US" dirty="0"/>
              <a:t>재분배</a:t>
            </a:r>
            <a:r>
              <a:rPr lang="en-US" altLang="ko-KR" dirty="0"/>
              <a:t>→</a:t>
            </a:r>
            <a:r>
              <a:rPr lang="ko-KR" altLang="en-US" dirty="0"/>
              <a:t>사회적이득</a:t>
            </a:r>
            <a:r>
              <a:rPr lang="en-US" altLang="ko-KR" dirty="0"/>
              <a:t>(</a:t>
            </a:r>
            <a:r>
              <a:rPr lang="ko-KR" altLang="en-US" dirty="0"/>
              <a:t>범죄↓</a:t>
            </a:r>
            <a:r>
              <a:rPr lang="en-US" altLang="ko-KR" dirty="0"/>
              <a:t>,</a:t>
            </a:r>
            <a:r>
              <a:rPr lang="ko-KR" altLang="en-US" dirty="0"/>
              <a:t>안정성↑</a:t>
            </a:r>
            <a:r>
              <a:rPr lang="en-US" altLang="ko-KR" dirty="0"/>
              <a:t>) = </a:t>
            </a:r>
            <a:r>
              <a:rPr lang="ko-KR" altLang="en-US" dirty="0"/>
              <a:t>공공재</a:t>
            </a:r>
            <a:br>
              <a:rPr lang="en-US" altLang="ko-KR" dirty="0"/>
            </a:br>
            <a:r>
              <a:rPr lang="ko-KR" altLang="en-US" dirty="0" err="1"/>
              <a:t>사회보험으로서의</a:t>
            </a:r>
            <a:r>
              <a:rPr lang="ko-KR" altLang="en-US" dirty="0"/>
              <a:t> 재분배 </a:t>
            </a:r>
            <a:r>
              <a:rPr lang="en-US" altLang="ko-KR" dirty="0"/>
              <a:t>: </a:t>
            </a:r>
            <a:r>
              <a:rPr lang="ko-KR" altLang="en-US" dirty="0"/>
              <a:t>의도치 않은 빈곤 </a:t>
            </a:r>
            <a:r>
              <a:rPr lang="en-US" altLang="ko-KR" dirty="0"/>
              <a:t>→ </a:t>
            </a:r>
            <a:r>
              <a:rPr lang="ko-KR" altLang="en-US" dirty="0"/>
              <a:t>사회적 안전장치</a:t>
            </a:r>
            <a:br>
              <a:rPr lang="en-US" altLang="ko-KR" dirty="0"/>
            </a:br>
            <a:r>
              <a:rPr lang="ko-KR" altLang="en-US" dirty="0"/>
              <a:t>정치적 관점 </a:t>
            </a:r>
            <a:r>
              <a:rPr lang="en-US" altLang="ko-KR" dirty="0"/>
              <a:t>: (</a:t>
            </a:r>
            <a:r>
              <a:rPr lang="ko-KR" altLang="en-US" dirty="0"/>
              <a:t>부</a:t>
            </a:r>
            <a:r>
              <a:rPr lang="en-US" altLang="ko-KR" dirty="0"/>
              <a:t>→</a:t>
            </a:r>
            <a:r>
              <a:rPr lang="ko-KR" altLang="en-US" dirty="0"/>
              <a:t>소수</a:t>
            </a:r>
            <a:r>
              <a:rPr lang="en-US" altLang="ko-KR" dirty="0"/>
              <a:t>?) → (</a:t>
            </a:r>
            <a:r>
              <a:rPr lang="ko-KR" altLang="en-US" dirty="0"/>
              <a:t>권력</a:t>
            </a:r>
            <a:r>
              <a:rPr lang="en-US" altLang="ko-KR" dirty="0"/>
              <a:t>→</a:t>
            </a:r>
            <a:r>
              <a:rPr lang="ko-KR" altLang="en-US" dirty="0"/>
              <a:t>소수</a:t>
            </a:r>
            <a:r>
              <a:rPr lang="en-US" altLang="ko-KR" dirty="0"/>
              <a:t>); </a:t>
            </a:r>
            <a:r>
              <a:rPr lang="ko-KR" altLang="en-US" dirty="0"/>
              <a:t>권력의 집중 방지</a:t>
            </a:r>
            <a:endParaRPr lang="en-US" altLang="ko-KR" dirty="0"/>
          </a:p>
          <a:p>
            <a:pPr lvl="1"/>
            <a:r>
              <a:rPr lang="ko-KR" altLang="en-US" dirty="0"/>
              <a:t>재분배 정책 반대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윤리적 관점 </a:t>
            </a:r>
            <a:r>
              <a:rPr lang="en-US" altLang="ko-KR" dirty="0"/>
              <a:t>: (</a:t>
            </a:r>
            <a:r>
              <a:rPr lang="ko-KR" altLang="en-US" dirty="0" err="1"/>
              <a:t>자유론자</a:t>
            </a:r>
            <a:r>
              <a:rPr lang="en-US" altLang="ko-KR" dirty="0"/>
              <a:t>)</a:t>
            </a:r>
            <a:r>
              <a:rPr lang="ko-KR" altLang="en-US" dirty="0"/>
              <a:t>재분배를 위한 정부 개입 </a:t>
            </a:r>
            <a:r>
              <a:rPr lang="en-US" altLang="ko-KR" dirty="0"/>
              <a:t>→ </a:t>
            </a:r>
            <a:r>
              <a:rPr lang="ko-KR" altLang="en-US" dirty="0"/>
              <a:t>개인 권리 침해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효율성에 대한 부정적 영향 </a:t>
            </a:r>
            <a:r>
              <a:rPr lang="en-US" altLang="ko-KR" dirty="0"/>
              <a:t>: </a:t>
            </a:r>
            <a:r>
              <a:rPr lang="ko-KR" altLang="en-US" dirty="0"/>
              <a:t>급격한 누진세 </a:t>
            </a:r>
            <a:r>
              <a:rPr lang="en-US" altLang="ko-KR" dirty="0"/>
              <a:t>→ </a:t>
            </a:r>
            <a:r>
              <a:rPr lang="ko-KR" altLang="en-US" dirty="0"/>
              <a:t>더 적은 노동</a:t>
            </a:r>
            <a:r>
              <a:rPr lang="en-US" altLang="ko-KR" dirty="0"/>
              <a:t>/</a:t>
            </a:r>
            <a:r>
              <a:rPr lang="ko-KR" altLang="en-US" dirty="0"/>
              <a:t>저축</a:t>
            </a:r>
            <a:br>
              <a:rPr lang="en-US" altLang="ko-KR" dirty="0"/>
            </a:br>
            <a:r>
              <a:rPr lang="ko-KR" altLang="en-US" dirty="0"/>
              <a:t>정치적 현실 </a:t>
            </a:r>
            <a:r>
              <a:rPr lang="en-US" altLang="ko-KR" dirty="0"/>
              <a:t>: </a:t>
            </a:r>
            <a:r>
              <a:rPr lang="ko-KR" altLang="en-US" dirty="0"/>
              <a:t>이익집단 복잡 </a:t>
            </a:r>
            <a:r>
              <a:rPr lang="en-US" altLang="ko-KR" dirty="0"/>
              <a:t>→ </a:t>
            </a:r>
            <a:r>
              <a:rPr lang="ko-KR" altLang="en-US" dirty="0"/>
              <a:t>불공평한 재분배 가능</a:t>
            </a:r>
            <a:r>
              <a:rPr lang="en-US" altLang="ko-KR" dirty="0"/>
              <a:t>. </a:t>
            </a:r>
            <a:r>
              <a:rPr lang="ko-KR" altLang="en-US" dirty="0"/>
              <a:t>계층간 갈등 조장 가능</a:t>
            </a:r>
            <a:endParaRPr lang="en-US" altLang="ko-KR" dirty="0"/>
          </a:p>
          <a:p>
            <a:r>
              <a:rPr lang="ko-KR" altLang="en-US" dirty="0"/>
              <a:t>재분배 정책의 실례</a:t>
            </a:r>
            <a:endParaRPr lang="en-US" altLang="ko-KR" dirty="0"/>
          </a:p>
          <a:p>
            <a:pPr lvl="1"/>
            <a:r>
              <a:rPr lang="ko-KR" altLang="en-US" dirty="0"/>
              <a:t>일반적 조세제도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If </a:t>
            </a:r>
            <a:r>
              <a:rPr lang="ko-KR" altLang="en-US" dirty="0" err="1"/>
              <a:t>누진성</a:t>
            </a:r>
            <a:r>
              <a:rPr lang="en-US" altLang="ko-KR" dirty="0"/>
              <a:t>, then </a:t>
            </a:r>
            <a:r>
              <a:rPr lang="ko-KR" altLang="en-US" dirty="0"/>
              <a:t>조세 </a:t>
            </a:r>
            <a:r>
              <a:rPr lang="en-US" altLang="ko-KR" dirty="0"/>
              <a:t>→ </a:t>
            </a:r>
            <a:r>
              <a:rPr lang="ko-KR" altLang="en-US" dirty="0"/>
              <a:t>부</a:t>
            </a:r>
            <a:r>
              <a:rPr lang="en-US" altLang="ko-KR" dirty="0"/>
              <a:t>/</a:t>
            </a:r>
            <a:r>
              <a:rPr lang="ko-KR" altLang="en-US" dirty="0"/>
              <a:t>빈 간 처분가능소득 격차 감소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 err="1"/>
              <a:t>누진성</a:t>
            </a:r>
            <a:r>
              <a:rPr lang="ko-KR" altLang="en-US" dirty="0"/>
              <a:t>↑</a:t>
            </a:r>
            <a:r>
              <a:rPr lang="en-US" altLang="ko-KR" dirty="0"/>
              <a:t>? → </a:t>
            </a:r>
            <a:r>
              <a:rPr lang="ko-KR" altLang="en-US" dirty="0"/>
              <a:t>간접세↓</a:t>
            </a:r>
            <a:r>
              <a:rPr lang="en-US" altLang="ko-KR" dirty="0"/>
              <a:t>, </a:t>
            </a:r>
            <a:r>
              <a:rPr lang="ko-KR" altLang="en-US" dirty="0"/>
              <a:t>직접세↑</a:t>
            </a:r>
            <a:r>
              <a:rPr lang="en-US" altLang="ko-KR" dirty="0"/>
              <a:t>(</a:t>
            </a:r>
            <a:r>
              <a:rPr lang="ko-KR" altLang="en-US" dirty="0"/>
              <a:t>특히 소득세↑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사회복지제도 </a:t>
            </a:r>
            <a:r>
              <a:rPr lang="en-US" altLang="ko-KR" dirty="0"/>
              <a:t>: (</a:t>
            </a:r>
            <a:r>
              <a:rPr lang="ko-KR" altLang="en-US" dirty="0"/>
              <a:t>사회보험</a:t>
            </a:r>
            <a:r>
              <a:rPr lang="en-US" altLang="ko-KR" dirty="0"/>
              <a:t>)</a:t>
            </a:r>
            <a:r>
              <a:rPr lang="ko-KR" altLang="en-US" dirty="0"/>
              <a:t>보험료 </a:t>
            </a:r>
            <a:r>
              <a:rPr lang="en-US" altLang="ko-KR" dirty="0"/>
              <a:t>→ </a:t>
            </a:r>
            <a:r>
              <a:rPr lang="ko-KR" altLang="en-US" dirty="0"/>
              <a:t>위험시 급여 수령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소득 재분배 기능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공공부조</a:t>
            </a:r>
            <a:r>
              <a:rPr lang="en-US" altLang="ko-KR" dirty="0"/>
              <a:t>)</a:t>
            </a:r>
            <a:r>
              <a:rPr lang="ko-KR" altLang="en-US" dirty="0"/>
              <a:t>보험료</a:t>
            </a:r>
            <a:r>
              <a:rPr lang="en-US" altLang="ko-KR" dirty="0"/>
              <a:t>X, </a:t>
            </a:r>
            <a:r>
              <a:rPr lang="ko-KR" altLang="en-US" dirty="0"/>
              <a:t>정부의</a:t>
            </a:r>
            <a:r>
              <a:rPr lang="en-US" altLang="ko-KR" dirty="0"/>
              <a:t> </a:t>
            </a:r>
            <a:r>
              <a:rPr lang="ko-KR" altLang="en-US" dirty="0"/>
              <a:t>일방적 지원</a:t>
            </a:r>
            <a:r>
              <a:rPr lang="en-US" altLang="ko-KR" dirty="0"/>
              <a:t>. </a:t>
            </a:r>
            <a:r>
              <a:rPr lang="ko-KR" altLang="en-US" dirty="0"/>
              <a:t>기초생활보장제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최저생계비 </a:t>
            </a:r>
            <a:r>
              <a:rPr lang="ko-KR" altLang="en-US" dirty="0" err="1"/>
              <a:t>미만시</a:t>
            </a:r>
            <a:r>
              <a:rPr lang="ko-KR" altLang="en-US" dirty="0"/>
              <a:t> 보조</a:t>
            </a:r>
            <a:r>
              <a:rPr lang="en-US" altLang="ko-KR" dirty="0"/>
              <a:t>)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/>
            <a:r>
              <a:rPr lang="ko-KR" altLang="en-US" dirty="0"/>
              <a:t>음의 소득세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소득이 일정 수준 이하 </a:t>
            </a:r>
            <a:r>
              <a:rPr lang="en-US" altLang="ko-KR" dirty="0"/>
              <a:t>→ </a:t>
            </a:r>
            <a:r>
              <a:rPr lang="ko-KR" altLang="en-US" dirty="0"/>
              <a:t>정부가 세금 부과 대신 부족분 만큼 </a:t>
            </a:r>
            <a:br>
              <a:rPr lang="en-US" altLang="ko-KR" dirty="0"/>
            </a:br>
            <a:r>
              <a:rPr lang="ko-KR" altLang="en-US" dirty="0"/>
              <a:t>보조금</a:t>
            </a:r>
            <a:r>
              <a:rPr lang="en-US" altLang="ko-KR" dirty="0"/>
              <a:t>; </a:t>
            </a:r>
            <a:r>
              <a:rPr lang="ko-KR" altLang="en-US" dirty="0"/>
              <a:t>기초수당</a:t>
            </a:r>
            <a:r>
              <a:rPr lang="en-US" altLang="ko-KR" dirty="0"/>
              <a:t>(m), </a:t>
            </a:r>
            <a:r>
              <a:rPr lang="ko-KR" altLang="en-US" dirty="0"/>
              <a:t>한계세율</a:t>
            </a:r>
            <a:r>
              <a:rPr lang="en-US" altLang="ko-KR" dirty="0"/>
              <a:t>(t), </a:t>
            </a:r>
            <a:r>
              <a:rPr lang="ko-KR" altLang="en-US" dirty="0"/>
              <a:t>스스로 번 소득</a:t>
            </a:r>
            <a:r>
              <a:rPr lang="en-US" altLang="ko-KR" dirty="0"/>
              <a:t>(E)</a:t>
            </a:r>
            <a:r>
              <a:rPr lang="ko-KR" altLang="en-US" dirty="0"/>
              <a:t>에 대해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보조금</a:t>
            </a:r>
            <a:r>
              <a:rPr lang="en-US" altLang="ko-KR" dirty="0"/>
              <a:t>(S)</a:t>
            </a:r>
            <a:r>
              <a:rPr lang="ko-KR" altLang="en-US" dirty="0"/>
              <a:t>는</a:t>
            </a:r>
            <a:r>
              <a:rPr lang="en-US" altLang="ko-KR" dirty="0"/>
              <a:t>, S = m-</a:t>
            </a:r>
            <a:r>
              <a:rPr lang="en-US" altLang="ko-KR" dirty="0" err="1"/>
              <a:t>tE</a:t>
            </a:r>
            <a:r>
              <a:rPr lang="en-US" altLang="ko-KR" dirty="0"/>
              <a:t>; </a:t>
            </a:r>
            <a:r>
              <a:rPr lang="en-US" altLang="ko-KR" dirty="0" err="1"/>
              <a:t>t,m</a:t>
            </a:r>
            <a:r>
              <a:rPr lang="ko-KR" altLang="en-US" dirty="0"/>
              <a:t>이 결정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→</a:t>
            </a:r>
            <a:r>
              <a:rPr lang="ko-KR" altLang="en-US" dirty="0"/>
              <a:t> 혜택 중단점</a:t>
            </a:r>
            <a:r>
              <a:rPr lang="en-US" altLang="ko-KR" dirty="0"/>
              <a:t>(b), b = m/t;</a:t>
            </a:r>
          </a:p>
          <a:p>
            <a:pPr lvl="2"/>
            <a:r>
              <a:rPr lang="ko-KR" altLang="en-US" dirty="0"/>
              <a:t>한계세율이 거의 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→</a:t>
            </a:r>
            <a:r>
              <a:rPr lang="ko-KR" altLang="en-US" dirty="0"/>
              <a:t> </a:t>
            </a:r>
            <a:r>
              <a:rPr lang="ko-KR" altLang="en-US" dirty="0" err="1"/>
              <a:t>번돈</a:t>
            </a:r>
            <a:r>
              <a:rPr lang="ko-KR" altLang="en-US" dirty="0"/>
              <a:t> ≒ 정부지급액감소</a:t>
            </a:r>
            <a:br>
              <a:rPr lang="en-US" altLang="ko-KR" dirty="0"/>
            </a:br>
            <a:r>
              <a:rPr lang="ko-KR" altLang="en-US" dirty="0"/>
              <a:t>문제점 </a:t>
            </a:r>
            <a:r>
              <a:rPr lang="en-US" altLang="ko-KR" dirty="0"/>
              <a:t>: </a:t>
            </a:r>
            <a:r>
              <a:rPr lang="ko-KR" altLang="en-US" dirty="0"/>
              <a:t>재정부담</a:t>
            </a:r>
            <a:r>
              <a:rPr lang="en-US" altLang="ko-KR" dirty="0"/>
              <a:t>, </a:t>
            </a:r>
            <a:r>
              <a:rPr lang="ko-KR" altLang="en-US" dirty="0"/>
              <a:t>근로의욕 악영향</a:t>
            </a:r>
            <a:endParaRPr lang="en-US" altLang="ko-KR" dirty="0"/>
          </a:p>
          <a:p>
            <a:pPr lvl="1"/>
            <a:r>
              <a:rPr lang="ko-KR" altLang="en-US" dirty="0"/>
              <a:t>근로장려세제 </a:t>
            </a:r>
            <a:r>
              <a:rPr lang="en-US" altLang="ko-KR" dirty="0"/>
              <a:t>: </a:t>
            </a:r>
            <a:r>
              <a:rPr lang="ko-KR" altLang="en-US" dirty="0"/>
              <a:t>근로의욕↑ </a:t>
            </a:r>
            <a:r>
              <a:rPr lang="en-US" altLang="ko-KR" dirty="0"/>
              <a:t>→ </a:t>
            </a:r>
            <a:r>
              <a:rPr lang="ko-KR" altLang="en-US" dirty="0"/>
              <a:t>공공부조보다 </a:t>
            </a:r>
            <a:r>
              <a:rPr lang="en-US" altLang="ko-KR" dirty="0"/>
              <a:t>good</a:t>
            </a:r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최저생계</a:t>
            </a:r>
            <a:r>
              <a:rPr lang="en-US" altLang="ko-KR" dirty="0"/>
              <a:t> </a:t>
            </a:r>
            <a:r>
              <a:rPr lang="en-US" altLang="ko-KR" dirty="0" err="1"/>
              <a:t>m_bar</a:t>
            </a:r>
            <a:r>
              <a:rPr lang="ko-KR" altLang="en-US" dirty="0"/>
              <a:t> 공공부조</a:t>
            </a:r>
            <a:r>
              <a:rPr lang="en-US" altLang="ko-KR" dirty="0"/>
              <a:t>) </a:t>
            </a:r>
            <a:r>
              <a:rPr lang="ko-KR" altLang="en-US" dirty="0"/>
              <a:t>예산제약 </a:t>
            </a:r>
            <a:r>
              <a:rPr lang="en-US" altLang="ko-KR" dirty="0"/>
              <a:t>: </a:t>
            </a:r>
            <a:r>
              <a:rPr lang="ko-KR" altLang="en-US" dirty="0"/>
              <a:t>빨강</a:t>
            </a:r>
            <a:r>
              <a:rPr lang="en-US" altLang="ko-KR" dirty="0"/>
              <a:t>, </a:t>
            </a:r>
            <a:r>
              <a:rPr lang="ko-KR" altLang="en-US" dirty="0" err="1"/>
              <a:t>선택점</a:t>
            </a:r>
            <a:r>
              <a:rPr lang="ko-KR" altLang="en-US" dirty="0"/>
              <a:t> </a:t>
            </a:r>
            <a:r>
              <a:rPr lang="en-US" altLang="ko-KR" dirty="0"/>
              <a:t>: E→E', </a:t>
            </a:r>
            <a:br>
              <a:rPr lang="en-US" altLang="ko-KR" dirty="0"/>
            </a:br>
            <a:r>
              <a:rPr lang="ko-KR" altLang="en-US" dirty="0"/>
              <a:t>노동공급</a:t>
            </a:r>
            <a:r>
              <a:rPr lang="en-US" altLang="ko-KR" dirty="0"/>
              <a:t> : L*B → 0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근로장려세제</a:t>
            </a:r>
            <a:r>
              <a:rPr lang="en-US" altLang="ko-KR" dirty="0"/>
              <a:t>) </a:t>
            </a:r>
            <a:r>
              <a:rPr lang="ko-KR" altLang="en-US" dirty="0"/>
              <a:t>예산제약 </a:t>
            </a:r>
            <a:r>
              <a:rPr lang="en-US" altLang="ko-KR" dirty="0"/>
              <a:t>: </a:t>
            </a:r>
            <a:r>
              <a:rPr lang="ko-KR" altLang="en-US" dirty="0"/>
              <a:t>파랑</a:t>
            </a:r>
            <a:r>
              <a:rPr lang="en-US" altLang="ko-KR" dirty="0"/>
              <a:t>, </a:t>
            </a:r>
            <a:r>
              <a:rPr lang="ko-KR" altLang="en-US" dirty="0" err="1"/>
              <a:t>선택점</a:t>
            </a:r>
            <a:r>
              <a:rPr lang="ko-KR" altLang="en-US" dirty="0"/>
              <a:t> </a:t>
            </a:r>
            <a:r>
              <a:rPr lang="en-US" altLang="ko-KR" dirty="0"/>
              <a:t>: E→ E'',</a:t>
            </a:r>
            <a:br>
              <a:rPr lang="en-US" altLang="ko-KR" dirty="0"/>
            </a:br>
            <a:r>
              <a:rPr lang="ko-KR" altLang="en-US" dirty="0"/>
              <a:t>노동공급 </a:t>
            </a:r>
            <a:r>
              <a:rPr lang="en-US" altLang="ko-KR" dirty="0"/>
              <a:t>: (L*)B → (</a:t>
            </a:r>
            <a:r>
              <a:rPr lang="en-US" altLang="ko-KR" dirty="0" err="1"/>
              <a:t>L_hat</a:t>
            </a:r>
            <a:r>
              <a:rPr lang="en-US" altLang="ko-KR" dirty="0"/>
              <a:t>)B</a:t>
            </a:r>
          </a:p>
          <a:p>
            <a:pPr lvl="3"/>
            <a:r>
              <a:rPr lang="ko-KR" altLang="en-US" dirty="0" err="1"/>
              <a:t>근장세</a:t>
            </a:r>
            <a:r>
              <a:rPr lang="en-US" altLang="ko-KR" dirty="0"/>
              <a:t> : </a:t>
            </a:r>
            <a:r>
              <a:rPr lang="ko-KR" altLang="en-US" dirty="0"/>
              <a:t>노동량 </a:t>
            </a:r>
            <a:r>
              <a:rPr lang="ko-KR" altLang="en-US" dirty="0" err="1"/>
              <a:t>줄어들긴</a:t>
            </a:r>
            <a:r>
              <a:rPr lang="ko-KR" altLang="en-US" dirty="0"/>
              <a:t> 함</a:t>
            </a:r>
            <a:r>
              <a:rPr lang="en-US" altLang="ko-KR" dirty="0"/>
              <a:t>. But, </a:t>
            </a:r>
            <a:r>
              <a:rPr lang="ko-KR" altLang="en-US" dirty="0"/>
              <a:t>공공부조보단 아님</a:t>
            </a:r>
            <a:endParaRPr lang="en-US" altLang="ko-KR" dirty="0"/>
          </a:p>
          <a:p>
            <a:pPr lvl="1"/>
            <a:r>
              <a:rPr lang="ko-KR" altLang="en-US" dirty="0"/>
              <a:t>기본소득제 </a:t>
            </a:r>
            <a:r>
              <a:rPr lang="en-US" altLang="ko-KR" dirty="0"/>
              <a:t>: </a:t>
            </a:r>
            <a:r>
              <a:rPr lang="ko-KR" altLang="en-US" dirty="0"/>
              <a:t>모두 일정</a:t>
            </a:r>
            <a:r>
              <a:rPr lang="en-US" altLang="ko-KR" dirty="0"/>
              <a:t> </a:t>
            </a:r>
            <a:r>
              <a:rPr lang="ko-KR" altLang="en-US" dirty="0"/>
              <a:t>생활수준 </a:t>
            </a:r>
            <a:r>
              <a:rPr lang="en-US" altLang="ko-KR" dirty="0"/>
              <a:t>O.</a:t>
            </a:r>
            <a:br>
              <a:rPr lang="en-US" altLang="ko-KR" dirty="0"/>
            </a:br>
            <a:r>
              <a:rPr lang="en-US" altLang="ko-KR" dirty="0"/>
              <a:t>but, </a:t>
            </a:r>
            <a:r>
              <a:rPr lang="ko-KR" altLang="en-US" dirty="0"/>
              <a:t>근로의욕</a:t>
            </a:r>
            <a:r>
              <a:rPr lang="en-US" altLang="ko-KR" dirty="0"/>
              <a:t> </a:t>
            </a:r>
            <a:r>
              <a:rPr lang="ko-KR" altLang="en-US" dirty="0"/>
              <a:t>↓</a:t>
            </a:r>
            <a:r>
              <a:rPr lang="en-US" altLang="ko-KR" dirty="0"/>
              <a:t>,</a:t>
            </a:r>
            <a:r>
              <a:rPr lang="ko-KR" altLang="en-US" dirty="0"/>
              <a:t>재원 어렵</a:t>
            </a:r>
            <a:endParaRPr lang="en-US" altLang="ko-KR" dirty="0"/>
          </a:p>
          <a:p>
            <a:r>
              <a:rPr lang="ko-KR" altLang="en-US" dirty="0"/>
              <a:t>빈곤선의 결정</a:t>
            </a:r>
            <a:r>
              <a:rPr lang="en-US" altLang="ko-KR" dirty="0"/>
              <a:t> : </a:t>
            </a:r>
            <a:r>
              <a:rPr lang="ko-KR" altLang="en-US" dirty="0"/>
              <a:t>일정 소득수준 </a:t>
            </a:r>
            <a:r>
              <a:rPr lang="en-US" altLang="ko-KR" dirty="0"/>
              <a:t>→ </a:t>
            </a:r>
            <a:r>
              <a:rPr lang="ko-KR" altLang="en-US" dirty="0"/>
              <a:t>빈곤선 책정</a:t>
            </a:r>
            <a:endParaRPr lang="en-US" altLang="ko-KR" dirty="0"/>
          </a:p>
          <a:p>
            <a:pPr lvl="1"/>
            <a:r>
              <a:rPr lang="ko-KR" altLang="en-US" dirty="0"/>
              <a:t>절대적</a:t>
            </a:r>
            <a:r>
              <a:rPr lang="en-US" altLang="ko-KR" dirty="0"/>
              <a:t>,</a:t>
            </a:r>
            <a:r>
              <a:rPr lang="ko-KR" altLang="en-US" dirty="0"/>
              <a:t>객관적 기준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라운트리</a:t>
            </a:r>
            <a:r>
              <a:rPr lang="en-US" altLang="ko-KR" dirty="0"/>
              <a:t>) </a:t>
            </a:r>
            <a:r>
              <a:rPr lang="ko-KR" altLang="en-US" dirty="0"/>
              <a:t>최소한 생활 </a:t>
            </a:r>
            <a:r>
              <a:rPr lang="en-US" altLang="ko-KR" dirty="0"/>
              <a:t>→ </a:t>
            </a:r>
            <a:r>
              <a:rPr lang="ko-KR" altLang="en-US" dirty="0"/>
              <a:t>어떤 재화</a:t>
            </a:r>
            <a:r>
              <a:rPr lang="en-US" altLang="ko-KR" dirty="0"/>
              <a:t>/</a:t>
            </a:r>
            <a:r>
              <a:rPr lang="ko-KR" altLang="en-US" dirty="0"/>
              <a:t>서비스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문제점 </a:t>
            </a:r>
            <a:r>
              <a:rPr lang="en-US" altLang="ko-KR" dirty="0"/>
              <a:t>: </a:t>
            </a:r>
            <a:r>
              <a:rPr lang="ko-KR" altLang="en-US" dirty="0"/>
              <a:t>기본적 필요 </a:t>
            </a:r>
            <a:r>
              <a:rPr lang="en-US" altLang="ko-KR" dirty="0"/>
              <a:t>→ </a:t>
            </a:r>
            <a:r>
              <a:rPr lang="ko-KR" altLang="en-US" dirty="0"/>
              <a:t>구체적 무엇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미 사회보장청 </a:t>
            </a:r>
            <a:r>
              <a:rPr lang="en-US" altLang="ko-KR" dirty="0"/>
              <a:t>: </a:t>
            </a:r>
            <a:r>
              <a:rPr lang="ko-KR" altLang="en-US" dirty="0"/>
              <a:t>식품최저생계비 </a:t>
            </a:r>
            <a:r>
              <a:rPr lang="en-US" altLang="ko-KR" dirty="0"/>
              <a:t>* 3</a:t>
            </a:r>
          </a:p>
          <a:p>
            <a:pPr lvl="1"/>
            <a:r>
              <a:rPr lang="ko-KR" altLang="en-US" dirty="0"/>
              <a:t>상대적</a:t>
            </a:r>
            <a:r>
              <a:rPr lang="en-US" altLang="ko-KR" dirty="0"/>
              <a:t>,</a:t>
            </a:r>
            <a:r>
              <a:rPr lang="ko-KR" altLang="en-US" dirty="0"/>
              <a:t>객관적 기준</a:t>
            </a:r>
            <a:r>
              <a:rPr lang="en-US" altLang="ko-KR" dirty="0"/>
              <a:t>: </a:t>
            </a:r>
            <a:r>
              <a:rPr lang="ko-KR" altLang="en-US" dirty="0"/>
              <a:t>평균</a:t>
            </a:r>
            <a:r>
              <a:rPr lang="en-US" altLang="ko-KR" dirty="0"/>
              <a:t>/</a:t>
            </a:r>
            <a:r>
              <a:rPr lang="ko-KR" altLang="en-US" dirty="0"/>
              <a:t>중위 소득 일정 비율</a:t>
            </a:r>
            <a:endParaRPr lang="en-US" altLang="ko-KR" dirty="0"/>
          </a:p>
          <a:p>
            <a:pPr lvl="1"/>
            <a:r>
              <a:rPr lang="ko-KR" altLang="en-US" dirty="0"/>
              <a:t>주관적 기준 </a:t>
            </a:r>
            <a:r>
              <a:rPr lang="en-US" altLang="ko-KR" dirty="0"/>
              <a:t>: (</a:t>
            </a:r>
            <a:r>
              <a:rPr lang="ko-KR" altLang="en-US" dirty="0" err="1"/>
              <a:t>라이덴</a:t>
            </a:r>
            <a:r>
              <a:rPr lang="en-US" altLang="ko-KR" dirty="0"/>
              <a:t>) </a:t>
            </a:r>
            <a:r>
              <a:rPr lang="ko-KR" altLang="en-US" dirty="0"/>
              <a:t>설문조사 </a:t>
            </a:r>
            <a:r>
              <a:rPr lang="en-US" altLang="ko-KR" dirty="0"/>
              <a:t>→ </a:t>
            </a:r>
            <a:r>
              <a:rPr lang="ko-KR" altLang="en-US" dirty="0"/>
              <a:t>빈곤선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15B383-2073-1AC5-00DC-1C00B992D90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DFB648-C9CE-F52B-DA3C-B5C240665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5" y="3012815"/>
            <a:ext cx="1262126" cy="10966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2D4E415-1BE7-9821-9D4D-A99D49B6F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825" y="4105286"/>
            <a:ext cx="1262126" cy="100301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5E0C4D6-6A77-F2C5-CABA-C3B291A8F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934" y="5114513"/>
            <a:ext cx="1266754" cy="10030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95046A2-12C0-F4BA-16FD-4509F0135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289" y="6101073"/>
            <a:ext cx="2245912" cy="129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8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362354-D0EA-952A-C099-04B7335C0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FEC9FF2-C09A-3D28-5746-B1E31AF7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사회보험제도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F0FE07-DC9B-2186-CF6C-93931447A5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5FB6EAE-0B8E-14F2-8EA3-C2DC76C273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사회보험제도의 의미</a:t>
            </a:r>
            <a:endParaRPr lang="en-US" altLang="ko-KR" dirty="0"/>
          </a:p>
          <a:p>
            <a:pPr lvl="1"/>
            <a:r>
              <a:rPr lang="ko-KR" altLang="en-US" dirty="0"/>
              <a:t>역선택</a:t>
            </a:r>
            <a:r>
              <a:rPr lang="en-US" altLang="ko-KR" dirty="0"/>
              <a:t>, </a:t>
            </a:r>
            <a:r>
              <a:rPr lang="ko-KR" altLang="en-US" dirty="0"/>
              <a:t>도덕적해이 </a:t>
            </a:r>
            <a:r>
              <a:rPr lang="en-US" altLang="ko-KR" dirty="0"/>
              <a:t>→ </a:t>
            </a:r>
            <a:r>
              <a:rPr lang="ko-KR" altLang="en-US" dirty="0"/>
              <a:t>온정적 간섭주의</a:t>
            </a:r>
            <a:r>
              <a:rPr lang="en-US" altLang="ko-KR" dirty="0"/>
              <a:t>(=</a:t>
            </a:r>
            <a:r>
              <a:rPr lang="ko-KR" altLang="en-US" dirty="0"/>
              <a:t>근시안</a:t>
            </a:r>
            <a:r>
              <a:rPr lang="en-US" altLang="ko-KR" dirty="0"/>
              <a:t> → </a:t>
            </a:r>
            <a:r>
              <a:rPr lang="ko-KR" altLang="en-US" dirty="0"/>
              <a:t>위험 대비 소홀</a:t>
            </a:r>
            <a:r>
              <a:rPr lang="en-US" altLang="ko-KR" dirty="0"/>
              <a:t>), </a:t>
            </a:r>
            <a:r>
              <a:rPr lang="ko-KR" altLang="en-US" dirty="0"/>
              <a:t>상품평등주의</a:t>
            </a:r>
            <a:br>
              <a:rPr lang="en-US" altLang="ko-KR" dirty="0"/>
            </a:br>
            <a:r>
              <a:rPr lang="ko-KR" altLang="en-US" dirty="0"/>
              <a:t>사회보험 </a:t>
            </a:r>
            <a:r>
              <a:rPr lang="en-US" altLang="ko-KR" dirty="0"/>
              <a:t>→ </a:t>
            </a:r>
            <a:r>
              <a:rPr lang="ko-KR" altLang="en-US" dirty="0"/>
              <a:t>사회적 위험을 보험방식에 의해 대처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국민연금제도의 기본성격</a:t>
            </a:r>
            <a:endParaRPr lang="en-US" altLang="ko-KR" dirty="0"/>
          </a:p>
          <a:p>
            <a:pPr lvl="1"/>
            <a:r>
              <a:rPr lang="ko-KR" altLang="en-US" dirty="0"/>
              <a:t>중복세대 모형 </a:t>
            </a:r>
            <a:r>
              <a:rPr lang="en-US" altLang="ko-KR" dirty="0"/>
              <a:t>: </a:t>
            </a:r>
            <a:r>
              <a:rPr lang="ko-KR" altLang="en-US" dirty="0"/>
              <a:t>매 기 </a:t>
            </a:r>
            <a:r>
              <a:rPr lang="en-US" altLang="ko-KR" dirty="0"/>
              <a:t>n</a:t>
            </a:r>
            <a:r>
              <a:rPr lang="ko-KR" altLang="en-US" dirty="0"/>
              <a:t>명의 사람이 </a:t>
            </a:r>
            <a:r>
              <a:rPr lang="en-US" altLang="ko-KR" dirty="0"/>
              <a:t>2</a:t>
            </a:r>
            <a:r>
              <a:rPr lang="ko-KR" altLang="en-US" dirty="0"/>
              <a:t>단위 소비가능</a:t>
            </a:r>
            <a:r>
              <a:rPr lang="en-US" altLang="ko-KR" dirty="0"/>
              <a:t> </a:t>
            </a:r>
            <a:r>
              <a:rPr lang="ko-KR" altLang="en-US" dirty="0"/>
              <a:t>자원 갖고 태어남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젊</a:t>
            </a:r>
            <a:r>
              <a:rPr lang="en-US" altLang="ko-KR" dirty="0"/>
              <a:t>→</a:t>
            </a:r>
            <a:r>
              <a:rPr lang="ko-KR" altLang="en-US" dirty="0" err="1"/>
              <a:t>늙</a:t>
            </a:r>
            <a:r>
              <a:rPr lang="ko-KR" altLang="en-US" dirty="0"/>
              <a:t> </a:t>
            </a:r>
            <a:r>
              <a:rPr lang="en-US" altLang="ko-KR" dirty="0"/>
              <a:t>:1</a:t>
            </a:r>
            <a:r>
              <a:rPr lang="ko-KR" altLang="en-US" dirty="0"/>
              <a:t>단위 이전</a:t>
            </a:r>
            <a:r>
              <a:rPr lang="en-US" altLang="ko-KR" dirty="0"/>
              <a:t>, </a:t>
            </a:r>
            <a:r>
              <a:rPr lang="ko-KR" altLang="en-US" dirty="0" err="1"/>
              <a:t>다음기</a:t>
            </a:r>
            <a:r>
              <a:rPr lang="ko-KR" altLang="en-US" dirty="0"/>
              <a:t> 미 </a:t>
            </a:r>
            <a:r>
              <a:rPr lang="en-US" altLang="ko-KR" dirty="0"/>
              <a:t>→ </a:t>
            </a:r>
            <a:r>
              <a:rPr lang="ko-KR" altLang="en-US" dirty="0"/>
              <a:t>젊에게 </a:t>
            </a:r>
            <a:r>
              <a:rPr lang="en-US" altLang="ko-KR" dirty="0"/>
              <a:t>1</a:t>
            </a:r>
            <a:r>
              <a:rPr lang="ko-KR" altLang="en-US" dirty="0"/>
              <a:t>단위 자원 이전</a:t>
            </a:r>
            <a:r>
              <a:rPr lang="en-US" altLang="ko-KR" dirty="0"/>
              <a:t>. → </a:t>
            </a:r>
            <a:r>
              <a:rPr lang="ko-KR" altLang="en-US" dirty="0"/>
              <a:t>부과식에 적합</a:t>
            </a:r>
            <a:endParaRPr lang="en-US" altLang="ko-KR" dirty="0"/>
          </a:p>
          <a:p>
            <a:pPr lvl="1"/>
            <a:r>
              <a:rPr lang="ko-KR" altLang="en-US" dirty="0"/>
              <a:t>의의 </a:t>
            </a:r>
            <a:r>
              <a:rPr lang="en-US" altLang="ko-KR" dirty="0"/>
              <a:t>: 1) </a:t>
            </a:r>
            <a:r>
              <a:rPr lang="ko-KR" altLang="en-US" dirty="0"/>
              <a:t>재정수입달성</a:t>
            </a:r>
            <a:r>
              <a:rPr lang="en-US" altLang="ko-KR" dirty="0"/>
              <a:t>, 2) </a:t>
            </a:r>
            <a:r>
              <a:rPr lang="ko-KR" altLang="en-US" dirty="0"/>
              <a:t>시장실패 보완</a:t>
            </a:r>
            <a:r>
              <a:rPr lang="en-US" altLang="ko-KR" dirty="0"/>
              <a:t>, 3) </a:t>
            </a:r>
            <a:r>
              <a:rPr lang="ko-KR" altLang="en-US" dirty="0"/>
              <a:t>소득재분배</a:t>
            </a:r>
            <a:r>
              <a:rPr lang="en-US" altLang="ko-KR" dirty="0"/>
              <a:t>, 4) </a:t>
            </a:r>
            <a:r>
              <a:rPr lang="ko-KR" altLang="en-US" dirty="0"/>
              <a:t>온정적 간섭주의적 개입</a:t>
            </a:r>
            <a:endParaRPr lang="en-US" altLang="ko-KR" dirty="0"/>
          </a:p>
          <a:p>
            <a:pPr lvl="2"/>
            <a:r>
              <a:rPr lang="ko-KR" altLang="en-US" dirty="0"/>
              <a:t>소득재분배 </a:t>
            </a:r>
            <a:r>
              <a:rPr lang="en-US" altLang="ko-KR" dirty="0"/>
              <a:t>: </a:t>
            </a:r>
            <a:r>
              <a:rPr lang="ko-KR" altLang="en-US" dirty="0"/>
              <a:t>세대간 소득 재분배</a:t>
            </a:r>
            <a:r>
              <a:rPr lang="en-US" altLang="ko-KR" dirty="0"/>
              <a:t>. </a:t>
            </a:r>
            <a:r>
              <a:rPr lang="ko-KR" altLang="en-US" dirty="0"/>
              <a:t>어느정도</a:t>
            </a:r>
            <a:r>
              <a:rPr lang="en-US" altLang="ko-KR" dirty="0"/>
              <a:t>? → (</a:t>
            </a:r>
            <a:r>
              <a:rPr lang="ko-KR" altLang="en-US" dirty="0"/>
              <a:t>사회적 적합성 </a:t>
            </a:r>
            <a:r>
              <a:rPr lang="en-US" altLang="ko-KR" dirty="0"/>
              <a:t>vs </a:t>
            </a:r>
            <a:r>
              <a:rPr lang="ko-KR" altLang="en-US" dirty="0"/>
              <a:t>개인적 </a:t>
            </a:r>
            <a:r>
              <a:rPr lang="ko-KR" altLang="en-US" dirty="0" err="1"/>
              <a:t>공평성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국민연금와</a:t>
            </a:r>
            <a:r>
              <a:rPr lang="ko-KR" altLang="en-US" dirty="0"/>
              <a:t> 관련된 주요 쟁점</a:t>
            </a:r>
            <a:endParaRPr lang="en-US" altLang="ko-KR" dirty="0"/>
          </a:p>
          <a:p>
            <a:pPr lvl="1"/>
            <a:r>
              <a:rPr lang="ko-KR" altLang="en-US" dirty="0"/>
              <a:t>공적 해결방식의 필요 </a:t>
            </a:r>
            <a:r>
              <a:rPr lang="en-US" altLang="ko-KR" dirty="0"/>
              <a:t>: </a:t>
            </a:r>
            <a:r>
              <a:rPr lang="ko-KR" altLang="en-US" dirty="0"/>
              <a:t>규모의 경제</a:t>
            </a:r>
            <a:r>
              <a:rPr lang="en-US" altLang="ko-KR" dirty="0"/>
              <a:t>(=</a:t>
            </a:r>
            <a:r>
              <a:rPr lang="ko-KR" altLang="en-US" dirty="0"/>
              <a:t>많음</a:t>
            </a:r>
            <a:r>
              <a:rPr lang="en-US" altLang="ko-KR" dirty="0"/>
              <a:t>→</a:t>
            </a:r>
            <a:r>
              <a:rPr lang="ko-KR" altLang="en-US" dirty="0"/>
              <a:t>리스크↓</a:t>
            </a:r>
            <a:r>
              <a:rPr lang="en-US" altLang="ko-KR" dirty="0"/>
              <a:t>); </a:t>
            </a:r>
            <a:r>
              <a:rPr lang="ko-KR" altLang="en-US" dirty="0"/>
              <a:t>지급준비금↓ </a:t>
            </a:r>
            <a:r>
              <a:rPr lang="en-US" altLang="ko-KR" dirty="0"/>
              <a:t>→ </a:t>
            </a:r>
            <a:r>
              <a:rPr lang="ko-KR" altLang="en-US" dirty="0"/>
              <a:t>수익↑</a:t>
            </a:r>
            <a:endParaRPr lang="en-US" altLang="ko-KR" dirty="0"/>
          </a:p>
          <a:p>
            <a:pPr lvl="1"/>
            <a:r>
              <a:rPr lang="ko-KR" altLang="en-US" dirty="0"/>
              <a:t>적립식</a:t>
            </a:r>
            <a:r>
              <a:rPr lang="en-US" altLang="ko-KR" dirty="0"/>
              <a:t>,</a:t>
            </a:r>
            <a:r>
              <a:rPr lang="ko-KR" altLang="en-US" dirty="0" err="1"/>
              <a:t>부과식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적립식 </a:t>
            </a:r>
            <a:r>
              <a:rPr lang="en-US" altLang="ko-KR" dirty="0"/>
              <a:t>= </a:t>
            </a:r>
            <a:r>
              <a:rPr lang="ko-KR" altLang="en-US" dirty="0"/>
              <a:t>적립</a:t>
            </a:r>
            <a:r>
              <a:rPr lang="en-US" altLang="ko-KR" dirty="0"/>
              <a:t>→</a:t>
            </a:r>
            <a:r>
              <a:rPr lang="ko-KR" altLang="en-US" dirty="0"/>
              <a:t>기금</a:t>
            </a:r>
            <a:r>
              <a:rPr lang="en-US" altLang="ko-KR" dirty="0"/>
              <a:t>→</a:t>
            </a:r>
            <a:r>
              <a:rPr lang="ko-KR" altLang="en-US" dirty="0"/>
              <a:t>연금</a:t>
            </a:r>
            <a:r>
              <a:rPr lang="en-US" altLang="ko-KR" dirty="0"/>
              <a:t>; </a:t>
            </a:r>
            <a:r>
              <a:rPr lang="ko-KR" altLang="en-US" dirty="0" err="1"/>
              <a:t>부과식</a:t>
            </a:r>
            <a:r>
              <a:rPr lang="en-US" altLang="ko-KR" dirty="0"/>
              <a:t>:</a:t>
            </a:r>
            <a:r>
              <a:rPr lang="ko-KR" altLang="en-US" dirty="0"/>
              <a:t> 재직자 세금</a:t>
            </a:r>
            <a:r>
              <a:rPr lang="en-US" altLang="ko-KR" dirty="0"/>
              <a:t>→</a:t>
            </a:r>
            <a:r>
              <a:rPr lang="ko-KR" altLang="en-US" dirty="0"/>
              <a:t>은퇴자 연금</a:t>
            </a:r>
            <a:endParaRPr lang="en-US" altLang="ko-KR" dirty="0"/>
          </a:p>
          <a:p>
            <a:pPr lvl="2"/>
            <a:r>
              <a:rPr lang="ko-KR" altLang="en-US" dirty="0"/>
              <a:t>부과식의 균형 </a:t>
            </a:r>
            <a:r>
              <a:rPr lang="en-US" altLang="ko-KR" dirty="0"/>
              <a:t>: t=</a:t>
            </a:r>
            <a:r>
              <a:rPr lang="ko-KR" altLang="en-US" dirty="0"/>
              <a:t>보험료율</a:t>
            </a:r>
            <a:r>
              <a:rPr lang="en-US" altLang="ko-KR" dirty="0"/>
              <a:t>, </a:t>
            </a:r>
            <a:r>
              <a:rPr lang="en-US" altLang="ko-KR" dirty="0" err="1"/>
              <a:t>Nw</a:t>
            </a:r>
            <a:r>
              <a:rPr lang="en-US" altLang="ko-KR" dirty="0"/>
              <a:t>=</a:t>
            </a:r>
            <a:r>
              <a:rPr lang="ko-KR" altLang="en-US" dirty="0"/>
              <a:t>재직자수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Nb=</a:t>
            </a:r>
            <a:r>
              <a:rPr lang="ko-KR" altLang="en-US" dirty="0"/>
              <a:t>수령자수</a:t>
            </a:r>
            <a:r>
              <a:rPr lang="en-US" altLang="ko-KR" dirty="0"/>
              <a:t>,</a:t>
            </a:r>
            <a:r>
              <a:rPr lang="en-US" altLang="ko-KR" dirty="0" err="1"/>
              <a:t>W_bar</a:t>
            </a:r>
            <a:r>
              <a:rPr lang="en-US" altLang="ko-KR" dirty="0"/>
              <a:t>=</a:t>
            </a:r>
            <a:r>
              <a:rPr lang="ko-KR" altLang="en-US" dirty="0"/>
              <a:t>평균임금</a:t>
            </a:r>
            <a:r>
              <a:rPr lang="en-US" altLang="ko-KR" dirty="0"/>
              <a:t>,B=</a:t>
            </a:r>
            <a:r>
              <a:rPr lang="ko-KR" altLang="en-US" dirty="0"/>
              <a:t>평균연금</a:t>
            </a:r>
            <a:br>
              <a:rPr lang="en-US" altLang="ko-KR" dirty="0"/>
            </a:br>
            <a:r>
              <a:rPr lang="ko-KR" altLang="en-US" dirty="0"/>
              <a:t>부과방식</a:t>
            </a:r>
            <a:r>
              <a:rPr lang="en-US" altLang="ko-KR" dirty="0"/>
              <a:t>→</a:t>
            </a:r>
            <a:r>
              <a:rPr lang="ko-KR" altLang="en-US" dirty="0"/>
              <a:t>고령화</a:t>
            </a:r>
            <a:r>
              <a:rPr lang="en-US" altLang="ko-KR" dirty="0"/>
              <a:t> </a:t>
            </a:r>
            <a:r>
              <a:rPr lang="ko-KR" altLang="en-US" dirty="0"/>
              <a:t>대처</a:t>
            </a:r>
            <a:r>
              <a:rPr lang="en-US" altLang="ko-KR" dirty="0"/>
              <a:t>? →(</a:t>
            </a:r>
            <a:r>
              <a:rPr lang="ko-KR" altLang="en-US" dirty="0"/>
              <a:t>보험료↑</a:t>
            </a:r>
            <a:r>
              <a:rPr lang="en-US" altLang="ko-KR" dirty="0"/>
              <a:t>/</a:t>
            </a:r>
            <a:r>
              <a:rPr lang="ko-KR" altLang="en-US" dirty="0"/>
              <a:t>연금지급↓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목적세 부과 필요성 </a:t>
            </a:r>
            <a:r>
              <a:rPr lang="en-US" altLang="ko-KR" dirty="0"/>
              <a:t>: </a:t>
            </a:r>
            <a:r>
              <a:rPr lang="ko-KR" altLang="en-US" dirty="0"/>
              <a:t>연금</a:t>
            </a:r>
            <a:r>
              <a:rPr lang="en-US" altLang="ko-KR" dirty="0"/>
              <a:t>? → </a:t>
            </a:r>
            <a:r>
              <a:rPr lang="ko-KR" altLang="en-US" dirty="0"/>
              <a:t>목적세</a:t>
            </a:r>
            <a:r>
              <a:rPr lang="en-US" altLang="ko-KR" dirty="0"/>
              <a:t>. But, </a:t>
            </a:r>
            <a:r>
              <a:rPr lang="ko-KR" altLang="en-US" dirty="0"/>
              <a:t>보험료</a:t>
            </a:r>
            <a:r>
              <a:rPr lang="en-US" altLang="ko-KR" dirty="0"/>
              <a:t>/</a:t>
            </a:r>
            <a:r>
              <a:rPr lang="ko-KR" altLang="en-US" dirty="0"/>
              <a:t>사회보장세 </a:t>
            </a:r>
            <a:r>
              <a:rPr lang="en-US" altLang="ko-KR" dirty="0"/>
              <a:t>→ </a:t>
            </a:r>
            <a:r>
              <a:rPr lang="ko-KR" altLang="en-US" dirty="0"/>
              <a:t>역진적</a:t>
            </a:r>
            <a:endParaRPr lang="en-US" altLang="ko-KR" dirty="0"/>
          </a:p>
          <a:p>
            <a:r>
              <a:rPr lang="ko-KR" altLang="en-US" dirty="0"/>
              <a:t>국민연금의 경제적 효과</a:t>
            </a:r>
            <a:endParaRPr lang="en-US" altLang="ko-KR" dirty="0"/>
          </a:p>
          <a:p>
            <a:pPr lvl="1"/>
            <a:r>
              <a:rPr lang="ko-KR" altLang="en-US" dirty="0"/>
              <a:t>저축에 영향 </a:t>
            </a:r>
            <a:r>
              <a:rPr lang="en-US" altLang="ko-KR" dirty="0"/>
              <a:t>: (</a:t>
            </a:r>
            <a:r>
              <a:rPr lang="ko-KR" altLang="en-US" dirty="0"/>
              <a:t>재산대체효과</a:t>
            </a:r>
            <a:r>
              <a:rPr lang="en-US" altLang="ko-KR" dirty="0"/>
              <a:t>) </a:t>
            </a:r>
            <a:r>
              <a:rPr lang="ko-KR" altLang="en-US" dirty="0"/>
              <a:t>저축↓</a:t>
            </a:r>
            <a:r>
              <a:rPr lang="en-US" altLang="ko-KR" dirty="0"/>
              <a:t>, </a:t>
            </a:r>
            <a:r>
              <a:rPr lang="ko-KR" altLang="en-US" dirty="0"/>
              <a:t>은퇴효과</a:t>
            </a:r>
            <a:r>
              <a:rPr lang="en-US" altLang="ko-KR" dirty="0"/>
              <a:t>→</a:t>
            </a:r>
            <a:r>
              <a:rPr lang="ko-KR" altLang="en-US" dirty="0"/>
              <a:t>저축↑</a:t>
            </a:r>
            <a:r>
              <a:rPr lang="en-US" altLang="ko-KR" dirty="0"/>
              <a:t>, </a:t>
            </a:r>
            <a:r>
              <a:rPr lang="ko-KR" altLang="en-US" dirty="0"/>
              <a:t>상속효과</a:t>
            </a:r>
            <a:r>
              <a:rPr lang="en-US" altLang="ko-KR" dirty="0"/>
              <a:t>→</a:t>
            </a:r>
            <a:r>
              <a:rPr lang="ko-KR" altLang="en-US" dirty="0"/>
              <a:t>저축↑</a:t>
            </a:r>
            <a:br>
              <a:rPr lang="en-US" altLang="ko-KR" dirty="0"/>
            </a:br>
            <a:r>
              <a:rPr lang="ko-KR" altLang="en-US" dirty="0"/>
              <a:t>노동공급에 영향 </a:t>
            </a:r>
            <a:r>
              <a:rPr lang="en-US" altLang="ko-KR" dirty="0"/>
              <a:t>: (</a:t>
            </a:r>
            <a:r>
              <a:rPr lang="ko-KR" altLang="en-US" dirty="0"/>
              <a:t>소득효과</a:t>
            </a:r>
            <a:r>
              <a:rPr lang="en-US" altLang="ko-KR" dirty="0"/>
              <a:t>) </a:t>
            </a:r>
            <a:r>
              <a:rPr lang="ko-KR" altLang="en-US" dirty="0"/>
              <a:t>여가↑</a:t>
            </a:r>
            <a:r>
              <a:rPr lang="en-US" altLang="ko-KR" dirty="0"/>
              <a:t>,</a:t>
            </a:r>
            <a:r>
              <a:rPr lang="ko-KR" altLang="en-US" dirty="0"/>
              <a:t>노동↓</a:t>
            </a:r>
            <a:r>
              <a:rPr lang="en-US" altLang="ko-KR" dirty="0"/>
              <a:t>; </a:t>
            </a:r>
            <a:r>
              <a:rPr lang="ko-KR" altLang="en-US" dirty="0"/>
              <a:t>세금</a:t>
            </a:r>
            <a:r>
              <a:rPr lang="en-US" altLang="ko-KR" dirty="0"/>
              <a:t>&lt;</a:t>
            </a:r>
            <a:r>
              <a:rPr lang="ko-KR" altLang="en-US" dirty="0"/>
              <a:t>연금</a:t>
            </a:r>
            <a:r>
              <a:rPr lang="en-US" altLang="ko-KR" dirty="0"/>
              <a:t>? → </a:t>
            </a:r>
            <a:r>
              <a:rPr lang="ko-KR" altLang="en-US" dirty="0"/>
              <a:t>실질소득↑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대체효과</a:t>
            </a:r>
            <a:r>
              <a:rPr lang="en-US" altLang="ko-KR" dirty="0"/>
              <a:t>)</a:t>
            </a:r>
            <a:r>
              <a:rPr lang="ko-KR" altLang="en-US" dirty="0"/>
              <a:t>방향</a:t>
            </a:r>
            <a:r>
              <a:rPr lang="en-US" altLang="ko-KR" dirty="0"/>
              <a:t>?? : </a:t>
            </a:r>
            <a:r>
              <a:rPr lang="ko-KR" altLang="en-US" dirty="0"/>
              <a:t>조세부담</a:t>
            </a:r>
            <a:r>
              <a:rPr lang="en-US" altLang="ko-KR" dirty="0"/>
              <a:t>? → </a:t>
            </a:r>
            <a:r>
              <a:rPr lang="ko-KR" altLang="en-US" dirty="0"/>
              <a:t>대체효과</a:t>
            </a:r>
            <a:r>
              <a:rPr lang="en-US" altLang="ko-KR" dirty="0"/>
              <a:t>=</a:t>
            </a:r>
            <a:r>
              <a:rPr lang="ko-KR" altLang="en-US" dirty="0"/>
              <a:t>노동↓</a:t>
            </a:r>
            <a:r>
              <a:rPr lang="en-US" altLang="ko-KR" dirty="0"/>
              <a:t>, (</a:t>
            </a:r>
            <a:r>
              <a:rPr lang="ko-KR" altLang="en-US" dirty="0"/>
              <a:t>은퇴</a:t>
            </a:r>
            <a:r>
              <a:rPr lang="en-US" altLang="ko-KR" dirty="0"/>
              <a:t>→</a:t>
            </a:r>
            <a:r>
              <a:rPr lang="ko-KR" altLang="en-US" dirty="0"/>
              <a:t>연금</a:t>
            </a:r>
            <a:r>
              <a:rPr lang="en-US" altLang="ko-KR" dirty="0"/>
              <a:t>)?→</a:t>
            </a:r>
            <a:r>
              <a:rPr lang="ko-KR" altLang="en-US" dirty="0"/>
              <a:t>대체효과</a:t>
            </a:r>
            <a:r>
              <a:rPr lang="en-US" altLang="ko-KR" dirty="0"/>
              <a:t>=</a:t>
            </a:r>
            <a:r>
              <a:rPr lang="ko-KR" altLang="en-US" dirty="0"/>
              <a:t>노동↑</a:t>
            </a:r>
            <a:endParaRPr lang="en-US" altLang="ko-KR" dirty="0"/>
          </a:p>
          <a:p>
            <a:r>
              <a:rPr lang="ko-KR" altLang="en-US" dirty="0"/>
              <a:t>우리나라 국민연금제도</a:t>
            </a:r>
            <a:endParaRPr lang="en-US" altLang="ko-KR" dirty="0"/>
          </a:p>
          <a:p>
            <a:pPr lvl="1"/>
            <a:r>
              <a:rPr lang="ko-KR" altLang="en-US" dirty="0"/>
              <a:t>가입자</a:t>
            </a:r>
            <a:r>
              <a:rPr lang="en-US" altLang="ko-KR" dirty="0"/>
              <a:t>(=n, 18&lt;n&lt;60) : </a:t>
            </a:r>
            <a:r>
              <a:rPr lang="ko-KR" altLang="en-US" dirty="0"/>
              <a:t>사업장가입자</a:t>
            </a:r>
            <a:r>
              <a:rPr lang="en-US" altLang="ko-KR" dirty="0"/>
              <a:t>, </a:t>
            </a:r>
            <a:r>
              <a:rPr lang="ko-KR" altLang="en-US" dirty="0"/>
              <a:t>지역가입자</a:t>
            </a:r>
            <a:r>
              <a:rPr lang="en-US" altLang="ko-KR" dirty="0"/>
              <a:t>, </a:t>
            </a:r>
            <a:r>
              <a:rPr lang="ko-KR" altLang="en-US" dirty="0"/>
              <a:t>임의가입자</a:t>
            </a:r>
            <a:r>
              <a:rPr lang="en-US" altLang="ko-KR" dirty="0"/>
              <a:t>, </a:t>
            </a:r>
            <a:r>
              <a:rPr lang="ko-KR" altLang="en-US" dirty="0" err="1"/>
              <a:t>임의계속가입자</a:t>
            </a:r>
            <a:endParaRPr lang="en-US" altLang="ko-KR" dirty="0"/>
          </a:p>
          <a:p>
            <a:pPr lvl="1"/>
            <a:r>
              <a:rPr lang="ko-KR" altLang="en-US" dirty="0"/>
              <a:t>연금급여 </a:t>
            </a:r>
            <a:r>
              <a:rPr lang="en-US" altLang="ko-KR" dirty="0"/>
              <a:t>: (</a:t>
            </a:r>
            <a:r>
              <a:rPr lang="ko-KR" altLang="en-US" dirty="0"/>
              <a:t>노령연금</a:t>
            </a:r>
            <a:r>
              <a:rPr lang="en-US" altLang="ko-KR" dirty="0"/>
              <a:t>) </a:t>
            </a:r>
            <a:r>
              <a:rPr lang="ko-KR" altLang="en-US" dirty="0"/>
              <a:t>가입기간</a:t>
            </a:r>
            <a:r>
              <a:rPr lang="en-US" altLang="ko-KR" dirty="0"/>
              <a:t>&gt;10 &amp; </a:t>
            </a:r>
            <a:r>
              <a:rPr lang="ko-KR" altLang="en-US" dirty="0"/>
              <a:t>나이</a:t>
            </a:r>
            <a:r>
              <a:rPr lang="en-US" altLang="ko-KR" dirty="0"/>
              <a:t>=60;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기본연금액 공식</a:t>
            </a:r>
            <a:r>
              <a:rPr lang="en-US" altLang="ko-KR" dirty="0"/>
              <a:t>) A=</a:t>
            </a:r>
            <a:r>
              <a:rPr lang="ko-KR" altLang="en-US" dirty="0"/>
              <a:t>직전</a:t>
            </a:r>
            <a:r>
              <a:rPr lang="en-US" altLang="ko-KR" dirty="0"/>
              <a:t>3</a:t>
            </a:r>
            <a:r>
              <a:rPr lang="ko-KR" altLang="en-US" dirty="0"/>
              <a:t>년간 전체 가입자 월 평균 보수</a:t>
            </a:r>
            <a:r>
              <a:rPr lang="en-US" altLang="ko-KR" dirty="0"/>
              <a:t>, B=</a:t>
            </a:r>
            <a:r>
              <a:rPr lang="ko-KR" altLang="en-US" dirty="0"/>
              <a:t>가입자의 </a:t>
            </a:r>
            <a:r>
              <a:rPr lang="ko-KR" altLang="en-US" dirty="0" err="1"/>
              <a:t>가입기간중</a:t>
            </a:r>
            <a:r>
              <a:rPr lang="ko-KR" altLang="en-US" dirty="0"/>
              <a:t> 월 평균 보수</a:t>
            </a:r>
            <a:r>
              <a:rPr lang="en-US" altLang="ko-KR" dirty="0"/>
              <a:t>, y(=</a:t>
            </a:r>
            <a:r>
              <a:rPr lang="ko-KR" altLang="en-US" dirty="0"/>
              <a:t>가입연수</a:t>
            </a:r>
            <a:r>
              <a:rPr lang="en-US" altLang="ko-KR" dirty="0"/>
              <a:t>) &gt; 20, α=</a:t>
            </a:r>
            <a:r>
              <a:rPr lang="ko-KR" altLang="en-US" dirty="0"/>
              <a:t>개혁의 내용에 따라 조정되는 파라미터</a:t>
            </a:r>
            <a:r>
              <a:rPr lang="en-US" altLang="ko-KR" dirty="0"/>
              <a:t>, </a:t>
            </a:r>
            <a:r>
              <a:rPr lang="ko-KR" altLang="en-US" dirty="0"/>
              <a:t>재분배</a:t>
            </a:r>
            <a:endParaRPr lang="en-US" altLang="ko-KR" dirty="0"/>
          </a:p>
          <a:p>
            <a:r>
              <a:rPr lang="ko-KR" altLang="en-US" dirty="0"/>
              <a:t>건강보험제도의 기본성격</a:t>
            </a:r>
            <a:endParaRPr lang="en-US" altLang="ko-KR" dirty="0"/>
          </a:p>
          <a:p>
            <a:pPr lvl="1"/>
            <a:r>
              <a:rPr lang="ko-KR" altLang="en-US" dirty="0"/>
              <a:t>스스로</a:t>
            </a:r>
            <a:r>
              <a:rPr lang="en-US" altLang="ko-KR" dirty="0"/>
              <a:t>? → </a:t>
            </a:r>
            <a:r>
              <a:rPr lang="ko-KR" altLang="en-US" dirty="0"/>
              <a:t>보험 혜택 사각지대</a:t>
            </a:r>
            <a:r>
              <a:rPr lang="en-US" altLang="ko-KR" dirty="0"/>
              <a:t>O → </a:t>
            </a:r>
            <a:r>
              <a:rPr lang="ko-KR" altLang="en-US" dirty="0"/>
              <a:t>의료보장제도</a:t>
            </a:r>
            <a:endParaRPr lang="en-US" altLang="ko-KR" dirty="0"/>
          </a:p>
          <a:p>
            <a:pPr lvl="1"/>
            <a:r>
              <a:rPr lang="ko-KR" altLang="en-US" dirty="0"/>
              <a:t>유형 </a:t>
            </a:r>
            <a:r>
              <a:rPr lang="en-US" altLang="ko-KR" dirty="0"/>
              <a:t>: </a:t>
            </a:r>
            <a:r>
              <a:rPr lang="ko-KR" altLang="en-US" dirty="0"/>
              <a:t>민간보험방식</a:t>
            </a:r>
            <a:r>
              <a:rPr lang="en-US" altLang="ko-KR" dirty="0"/>
              <a:t>, </a:t>
            </a:r>
            <a:r>
              <a:rPr lang="ko-KR" altLang="en-US" dirty="0"/>
              <a:t>사회보험방식</a:t>
            </a:r>
            <a:r>
              <a:rPr lang="en-US" altLang="ko-KR" dirty="0"/>
              <a:t>(</a:t>
            </a:r>
            <a:r>
              <a:rPr lang="ko-KR" altLang="en-US" dirty="0"/>
              <a:t>공적의료보험</a:t>
            </a:r>
            <a:r>
              <a:rPr lang="en-US" altLang="ko-KR" dirty="0"/>
              <a:t>), </a:t>
            </a:r>
            <a:r>
              <a:rPr lang="ko-KR" altLang="en-US" dirty="0"/>
              <a:t>국민보건서비스방식</a:t>
            </a:r>
            <a:r>
              <a:rPr lang="en-US" altLang="ko-KR" dirty="0"/>
              <a:t>(</a:t>
            </a:r>
            <a:r>
              <a:rPr lang="ko-KR" altLang="en-US" dirty="0"/>
              <a:t>공적의료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우리나라 국민건강보험제도</a:t>
            </a:r>
            <a:endParaRPr lang="en-US" altLang="ko-KR" dirty="0"/>
          </a:p>
          <a:p>
            <a:pPr lvl="1"/>
            <a:r>
              <a:rPr lang="ko-KR" altLang="en-US" dirty="0"/>
              <a:t>의료급여</a:t>
            </a:r>
            <a:r>
              <a:rPr lang="en-US" altLang="ko-KR" dirty="0"/>
              <a:t>(</a:t>
            </a:r>
            <a:r>
              <a:rPr lang="ko-KR" altLang="en-US" dirty="0"/>
              <a:t>저소득층</a:t>
            </a:r>
            <a:r>
              <a:rPr lang="en-US" altLang="ko-KR" dirty="0"/>
              <a:t>→</a:t>
            </a:r>
            <a:r>
              <a:rPr lang="ko-KR" altLang="en-US" dirty="0"/>
              <a:t>정부 기본적 의료 서비스</a:t>
            </a:r>
            <a:r>
              <a:rPr lang="en-US" altLang="ko-KR" dirty="0"/>
              <a:t>), </a:t>
            </a:r>
            <a:r>
              <a:rPr lang="ko-KR" altLang="en-US" dirty="0" err="1"/>
              <a:t>저부담</a:t>
            </a:r>
            <a:r>
              <a:rPr lang="ko-KR" altLang="en-US" dirty="0"/>
              <a:t> 저급여</a:t>
            </a:r>
            <a:endParaRPr lang="en-US" altLang="ko-KR" dirty="0"/>
          </a:p>
          <a:p>
            <a:pPr lvl="1"/>
            <a:r>
              <a:rPr lang="ko-KR" altLang="en-US" dirty="0"/>
              <a:t>재정안정화를 위한 노력 </a:t>
            </a:r>
            <a:r>
              <a:rPr lang="en-US" altLang="ko-KR" dirty="0"/>
              <a:t>: </a:t>
            </a:r>
            <a:r>
              <a:rPr lang="ko-KR" altLang="en-US" dirty="0"/>
              <a:t>포괄수가제</a:t>
            </a:r>
            <a:r>
              <a:rPr lang="en-US" altLang="ko-KR" dirty="0"/>
              <a:t> → </a:t>
            </a:r>
            <a:r>
              <a:rPr lang="ko-KR" altLang="en-US" dirty="0"/>
              <a:t>과소진료문제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F1F5F1-9DAD-2AC3-544E-0CF1188153C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CFA6094-7A26-7914-58FA-A86750346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288" y="1208584"/>
            <a:ext cx="505939" cy="36004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0C21013-BA5A-4103-530F-6510C4847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284" y="2948987"/>
            <a:ext cx="1333943" cy="25907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EC146CD-7389-B3B1-50A3-89F9A6D1C2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001" b="9764"/>
          <a:stretch/>
        </p:blipFill>
        <p:spPr>
          <a:xfrm>
            <a:off x="5229200" y="3244062"/>
            <a:ext cx="1361955" cy="25907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4D2B983-96CE-3BA5-97F9-C6F299B25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710" y="5011455"/>
            <a:ext cx="1902189" cy="17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543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33490</TotalTime>
  <Words>2487</Words>
  <Application>Microsoft Office PowerPoint</Application>
  <PresentationFormat>A4 용지(210x297mm)</PresentationFormat>
  <Paragraphs>203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디자인 사용자 지정</vt:lpstr>
      <vt:lpstr>경제민주화</vt:lpstr>
      <vt:lpstr>민주주의와 시장경제</vt:lpstr>
      <vt:lpstr>후생경제학의 정책수단</vt:lpstr>
      <vt:lpstr>정책평가 방법 : 비용편익분석</vt:lpstr>
      <vt:lpstr>부동산경제학</vt:lpstr>
      <vt:lpstr>환경정책</vt:lpstr>
      <vt:lpstr>재분배 정책</vt:lpstr>
      <vt:lpstr>사회보험제도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598</cp:revision>
  <dcterms:created xsi:type="dcterms:W3CDTF">2021-05-24T07:27:04Z</dcterms:created>
  <dcterms:modified xsi:type="dcterms:W3CDTF">2025-06-11T10:02:47Z</dcterms:modified>
</cp:coreProperties>
</file>