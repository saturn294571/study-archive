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81" r:id="rId2"/>
    <p:sldId id="286" r:id="rId3"/>
    <p:sldId id="287" r:id="rId4"/>
    <p:sldId id="288" r:id="rId5"/>
    <p:sldId id="289" r:id="rId6"/>
    <p:sldId id="290" r:id="rId7"/>
    <p:sldId id="291" r:id="rId8"/>
    <p:sldId id="293" r:id="rId9"/>
    <p:sldId id="282" r:id="rId10"/>
    <p:sldId id="284" r:id="rId11"/>
    <p:sldId id="285" r:id="rId1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51" autoAdjust="0"/>
    <p:restoredTop sz="96234" autoAdjust="0"/>
  </p:normalViewPr>
  <p:slideViewPr>
    <p:cSldViewPr>
      <p:cViewPr varScale="1">
        <p:scale>
          <a:sx n="76" d="100"/>
          <a:sy n="76" d="100"/>
        </p:scale>
        <p:origin x="67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8F66E35-864E-B647-A2A4-BFF8735A5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65082B1-1D11-5C3A-E204-8E78D5BC0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후생경제학이란</a:t>
            </a:r>
            <a:r>
              <a:rPr lang="ko-KR" altLang="en-US" dirty="0"/>
              <a:t> 무엇인가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CBEB98-5C86-F88F-7260-84FC306158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AAB76BB-6206-6648-439C-18B1458F1B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사회후생의 평가 기준</a:t>
            </a:r>
            <a:endParaRPr lang="en-US" altLang="ko-KR" dirty="0"/>
          </a:p>
          <a:p>
            <a:pPr lvl="1"/>
            <a:r>
              <a:rPr lang="ko-KR" altLang="en-US" dirty="0"/>
              <a:t>효율성 </a:t>
            </a:r>
            <a:r>
              <a:rPr lang="en-US" altLang="ko-KR" dirty="0"/>
              <a:t>&amp; </a:t>
            </a:r>
            <a:r>
              <a:rPr lang="ko-KR" altLang="en-US" dirty="0" err="1"/>
              <a:t>공평성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경제적 상태 </a:t>
            </a:r>
            <a:r>
              <a:rPr lang="ko-KR" altLang="en-US" dirty="0" err="1"/>
              <a:t>바람직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자원배분 효율적 </a:t>
            </a:r>
            <a:r>
              <a:rPr lang="en-US" altLang="ko-KR" dirty="0">
                <a:sym typeface="Wingdings" panose="05000000000000000000" pitchFamily="2" charset="2"/>
              </a:rPr>
              <a:t>&amp; </a:t>
            </a:r>
            <a:r>
              <a:rPr lang="ko-KR" altLang="en-US" dirty="0">
                <a:sym typeface="Wingdings" panose="05000000000000000000" pitchFamily="2" charset="2"/>
              </a:rPr>
              <a:t>분배 공평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경제적 자원의 효율적 활용</a:t>
            </a:r>
            <a:endParaRPr lang="en-US" altLang="ko-KR" dirty="0"/>
          </a:p>
          <a:p>
            <a:pPr lvl="1"/>
            <a:r>
              <a:rPr lang="ko-KR" altLang="en-US" dirty="0"/>
              <a:t>분석의 기본 모형 </a:t>
            </a:r>
            <a:r>
              <a:rPr lang="en-US" altLang="ko-KR" dirty="0"/>
              <a:t>: 2 * 2 * 2 </a:t>
            </a:r>
            <a:r>
              <a:rPr lang="ko-KR" altLang="en-US" dirty="0"/>
              <a:t>생산경제</a:t>
            </a:r>
            <a:endParaRPr lang="en-US" altLang="ko-KR" dirty="0"/>
          </a:p>
          <a:p>
            <a:pPr lvl="2"/>
            <a:r>
              <a:rPr lang="ko-KR" altLang="en-US" dirty="0"/>
              <a:t>생산요소 </a:t>
            </a:r>
            <a:r>
              <a:rPr lang="en-US" altLang="ko-KR" dirty="0"/>
              <a:t>: </a:t>
            </a:r>
            <a:r>
              <a:rPr lang="ko-KR" altLang="en-US" dirty="0"/>
              <a:t>노동</a:t>
            </a:r>
            <a:r>
              <a:rPr lang="en-US" altLang="ko-KR" dirty="0"/>
              <a:t>-</a:t>
            </a:r>
            <a:r>
              <a:rPr lang="ko-KR" altLang="en-US" dirty="0"/>
              <a:t>자본 </a:t>
            </a:r>
            <a:r>
              <a:rPr lang="en-US" altLang="ko-KR" dirty="0"/>
              <a:t>	</a:t>
            </a:r>
            <a:r>
              <a:rPr lang="ko-KR" altLang="en-US" dirty="0"/>
              <a:t>상품 </a:t>
            </a:r>
            <a:r>
              <a:rPr lang="en-US" altLang="ko-KR" dirty="0"/>
              <a:t>: </a:t>
            </a:r>
            <a:r>
              <a:rPr lang="ko-KR" altLang="en-US" dirty="0"/>
              <a:t>쌀</a:t>
            </a:r>
            <a:r>
              <a:rPr lang="en-US" altLang="ko-KR" dirty="0"/>
              <a:t>-</a:t>
            </a:r>
            <a:r>
              <a:rPr lang="ko-KR" altLang="en-US" dirty="0"/>
              <a:t>옷</a:t>
            </a:r>
            <a:endParaRPr lang="en-US" altLang="ko-KR" dirty="0"/>
          </a:p>
          <a:p>
            <a:pPr lvl="1"/>
            <a:r>
              <a:rPr lang="ko-KR" altLang="en-US" dirty="0" err="1"/>
              <a:t>에지워스상자를</a:t>
            </a:r>
            <a:r>
              <a:rPr lang="ko-KR" altLang="en-US" dirty="0"/>
              <a:t> 활용한 도출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생산 효율성은 등량곡선이 접점에서 달성</a:t>
            </a:r>
            <a:endParaRPr lang="en-US" altLang="ko-KR" dirty="0"/>
          </a:p>
          <a:p>
            <a:pPr lvl="2"/>
            <a:r>
              <a:rPr lang="en-US" altLang="ko-KR" dirty="0"/>
              <a:t>Σ</a:t>
            </a:r>
            <a:r>
              <a:rPr lang="ko-KR" altLang="en-US" dirty="0"/>
              <a:t>등량곡선 접점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계약곡선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효율적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배분을 나타내는 점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의 집합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1) </a:t>
            </a:r>
            <a:r>
              <a:rPr lang="ko-KR" altLang="en-US" dirty="0">
                <a:sym typeface="Wingdings" panose="05000000000000000000" pitchFamily="2" charset="2"/>
              </a:rPr>
              <a:t>생산의 효율성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쌀 생산 한계기술대체율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RTSx</a:t>
            </a:r>
            <a:r>
              <a:rPr lang="en-US" altLang="ko-KR" dirty="0">
                <a:sym typeface="Wingdings" panose="05000000000000000000" pitchFamily="2" charset="2"/>
              </a:rPr>
              <a:t> L,K)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옷 생산 한계기술대체율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RTSy</a:t>
            </a:r>
            <a:r>
              <a:rPr lang="en-US" altLang="ko-KR" dirty="0">
                <a:sym typeface="Wingdings" panose="05000000000000000000" pitchFamily="2" charset="2"/>
              </a:rPr>
              <a:t> L,K)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(x</a:t>
            </a:r>
            <a:r>
              <a:rPr lang="ko-KR" altLang="en-US" dirty="0">
                <a:sym typeface="Wingdings" panose="05000000000000000000" pitchFamily="2" charset="2"/>
              </a:rPr>
              <a:t>재</a:t>
            </a:r>
            <a:r>
              <a:rPr lang="en-US" altLang="ko-KR" dirty="0">
                <a:sym typeface="Wingdings" panose="05000000000000000000" pitchFamily="2" charset="2"/>
              </a:rPr>
              <a:t>, y</a:t>
            </a:r>
            <a:r>
              <a:rPr lang="ko-KR" altLang="en-US" dirty="0">
                <a:sym typeface="Wingdings" panose="05000000000000000000" pitchFamily="2" charset="2"/>
              </a:rPr>
              <a:t>재 생산에 대한 두 등량곡선이 </a:t>
            </a:r>
            <a:r>
              <a:rPr lang="ko-KR" altLang="en-US" dirty="0" err="1">
                <a:sym typeface="Wingdings" panose="05000000000000000000" pitchFamily="2" charset="2"/>
              </a:rPr>
              <a:t>접해야함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en-US" altLang="ko-KR" dirty="0" err="1"/>
              <a:t>RTSx_L,K</a:t>
            </a:r>
            <a:r>
              <a:rPr lang="en-US" altLang="ko-KR" dirty="0"/>
              <a:t> = </a:t>
            </a:r>
            <a:r>
              <a:rPr lang="en-US" altLang="ko-KR" dirty="0" err="1"/>
              <a:t>RTSy_L,K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w/v = </a:t>
            </a:r>
            <a:r>
              <a:rPr lang="ko-KR" altLang="en-US" dirty="0"/>
              <a:t>상대가격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완경에선</a:t>
            </a:r>
            <a:r>
              <a:rPr lang="ko-KR" altLang="en-US" dirty="0"/>
              <a:t> 생산자가 같은 가격의 생산요소 구입</a:t>
            </a:r>
            <a:r>
              <a:rPr lang="en-US" altLang="ko-KR" dirty="0"/>
              <a:t>;     v = </a:t>
            </a:r>
            <a:r>
              <a:rPr lang="ko-KR" altLang="en-US" dirty="0"/>
              <a:t>자본의 가격</a:t>
            </a:r>
            <a:r>
              <a:rPr lang="en-US" altLang="ko-KR" dirty="0"/>
              <a:t> (</a:t>
            </a:r>
            <a:r>
              <a:rPr lang="ko-KR" altLang="en-US" dirty="0"/>
              <a:t>자본</a:t>
            </a:r>
            <a:r>
              <a:rPr lang="en-US" altLang="ko-KR" dirty="0"/>
              <a:t> </a:t>
            </a:r>
            <a:r>
              <a:rPr lang="ko-KR" altLang="en-US" dirty="0"/>
              <a:t>임대료</a:t>
            </a:r>
            <a:r>
              <a:rPr lang="en-US" altLang="ko-KR" dirty="0"/>
              <a:t>)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생산가능곡선</a:t>
            </a:r>
            <a:r>
              <a:rPr lang="en-US" altLang="ko-KR" dirty="0"/>
              <a:t>: </a:t>
            </a:r>
            <a:r>
              <a:rPr lang="ko-KR" altLang="en-US" dirty="0"/>
              <a:t>계약곡선상의 상품 묶음 조합을</a:t>
            </a:r>
            <a:br>
              <a:rPr lang="en-US" altLang="ko-KR" dirty="0"/>
            </a:br>
            <a:r>
              <a:rPr lang="en-US" altLang="ko-KR" dirty="0"/>
              <a:t>x-y </a:t>
            </a:r>
            <a:r>
              <a:rPr lang="ko-KR" altLang="en-US" dirty="0"/>
              <a:t>평면에 </a:t>
            </a:r>
            <a:r>
              <a:rPr lang="ko-KR" altLang="en-US" dirty="0" err="1"/>
              <a:t>옮겨놓음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계약곡선상 점들과</a:t>
            </a:r>
            <a:r>
              <a:rPr lang="en-US" altLang="ko-KR" dirty="0">
                <a:sym typeface="Wingdings" panose="05000000000000000000" pitchFamily="2" charset="2"/>
              </a:rPr>
              <a:t> 1:1 </a:t>
            </a:r>
            <a:r>
              <a:rPr lang="ko-KR" altLang="en-US" dirty="0">
                <a:sym typeface="Wingdings" panose="05000000000000000000" pitchFamily="2" charset="2"/>
              </a:rPr>
              <a:t>대응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2) </a:t>
            </a:r>
            <a:r>
              <a:rPr lang="ko-KR" altLang="en-US" dirty="0">
                <a:sym typeface="Wingdings" panose="05000000000000000000" pitchFamily="2" charset="2"/>
              </a:rPr>
              <a:t>교환의 효율성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두 사람에게 효율적으로 두 상품을 배분</a:t>
            </a:r>
            <a:r>
              <a:rPr lang="en-US" altLang="ko-KR" dirty="0"/>
              <a:t>;</a:t>
            </a:r>
          </a:p>
          <a:p>
            <a:pPr lvl="1"/>
            <a:r>
              <a:rPr lang="ko-KR" altLang="en-US" dirty="0"/>
              <a:t>생산가능곡선상의 점 </a:t>
            </a:r>
            <a:r>
              <a:rPr lang="en-US" altLang="ko-KR" dirty="0"/>
              <a:t>c' -&gt; </a:t>
            </a:r>
            <a:br>
              <a:rPr lang="en-US" altLang="ko-KR" dirty="0"/>
            </a:br>
            <a:r>
              <a:rPr lang="en-US" altLang="ko-KR" dirty="0"/>
              <a:t>xc</a:t>
            </a:r>
            <a:r>
              <a:rPr lang="ko-KR" altLang="en-US" dirty="0"/>
              <a:t>만큼 쌀</a:t>
            </a:r>
            <a:r>
              <a:rPr lang="en-US" altLang="ko-KR" dirty="0"/>
              <a:t>, </a:t>
            </a:r>
            <a:r>
              <a:rPr lang="en-US" altLang="ko-KR" dirty="0" err="1"/>
              <a:t>yc</a:t>
            </a:r>
            <a:r>
              <a:rPr lang="ko-KR" altLang="en-US" dirty="0"/>
              <a:t>만큼 옷을 </a:t>
            </a:r>
            <a:r>
              <a:rPr lang="en-US" altLang="ko-KR" dirty="0"/>
              <a:t>A,B</a:t>
            </a:r>
            <a:r>
              <a:rPr lang="ko-KR" altLang="en-US" dirty="0"/>
              <a:t>사이에 배분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교환의 효율성을 위한 조건</a:t>
            </a:r>
            <a:endParaRPr lang="en-US" altLang="ko-KR" dirty="0"/>
          </a:p>
          <a:p>
            <a:pPr lvl="2"/>
            <a:r>
              <a:rPr lang="en-US" altLang="ko-KR" dirty="0"/>
              <a:t>A</a:t>
            </a:r>
            <a:r>
              <a:rPr lang="ko-KR" altLang="en-US" dirty="0"/>
              <a:t>의 한계대체율</a:t>
            </a:r>
            <a:r>
              <a:rPr lang="en-US" altLang="ko-KR" dirty="0"/>
              <a:t>(MRS_A_X,Y) </a:t>
            </a:r>
            <a:br>
              <a:rPr lang="en-US" altLang="ko-KR" dirty="0"/>
            </a:br>
            <a:r>
              <a:rPr lang="en-US" altLang="ko-KR" dirty="0"/>
              <a:t>= B</a:t>
            </a:r>
            <a:r>
              <a:rPr lang="ko-KR" altLang="en-US" dirty="0"/>
              <a:t>의 한계대체율</a:t>
            </a:r>
            <a:r>
              <a:rPr lang="en-US" altLang="ko-KR" dirty="0"/>
              <a:t>(MRS_B_X,Y)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소비자 </a:t>
            </a:r>
            <a:r>
              <a:rPr lang="en-US" altLang="ko-KR" dirty="0"/>
              <a:t>A,B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소비에 대한 두 등량곡선이 </a:t>
            </a:r>
            <a:r>
              <a:rPr lang="ko-KR" altLang="en-US" dirty="0" err="1"/>
              <a:t>접해야함</a:t>
            </a:r>
            <a:r>
              <a:rPr lang="en-US" altLang="ko-KR" dirty="0"/>
              <a:t>)</a:t>
            </a:r>
          </a:p>
          <a:p>
            <a:pPr lvl="3"/>
            <a:r>
              <a:rPr lang="ko-KR" altLang="en-US" dirty="0" err="1"/>
              <a:t>완경에선</a:t>
            </a:r>
            <a:r>
              <a:rPr lang="ko-KR" altLang="en-US" dirty="0"/>
              <a:t> 소비자가 누구나 같은 가격 지불</a:t>
            </a:r>
          </a:p>
          <a:p>
            <a:r>
              <a:rPr lang="en-US" altLang="ko-KR" dirty="0"/>
              <a:t>3) </a:t>
            </a:r>
            <a:r>
              <a:rPr lang="ko-KR" altLang="en-US" dirty="0"/>
              <a:t>생산과 교환의 종합적 효율성</a:t>
            </a:r>
            <a:endParaRPr lang="en-US" altLang="ko-KR" dirty="0"/>
          </a:p>
          <a:p>
            <a:pPr lvl="1"/>
            <a:r>
              <a:rPr lang="el-GR" altLang="ko-KR" dirty="0"/>
              <a:t>Γ</a:t>
            </a:r>
            <a:r>
              <a:rPr lang="ko-KR" altLang="en-US" dirty="0"/>
              <a:t>점은 다음을 만족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A</a:t>
            </a:r>
            <a:r>
              <a:rPr lang="ko-KR" altLang="en-US" dirty="0"/>
              <a:t>의 한계대체율</a:t>
            </a:r>
            <a:r>
              <a:rPr lang="en-US" altLang="ko-KR" dirty="0"/>
              <a:t>= B</a:t>
            </a:r>
            <a:r>
              <a:rPr lang="ko-KR" altLang="en-US" dirty="0"/>
              <a:t>의 한계대체율</a:t>
            </a:r>
            <a:r>
              <a:rPr lang="en-US" altLang="ko-KR" dirty="0"/>
              <a:t>= </a:t>
            </a:r>
            <a:r>
              <a:rPr lang="ko-KR" altLang="en-US" dirty="0"/>
              <a:t>한계생산변환율</a:t>
            </a:r>
            <a:br>
              <a:rPr lang="en-US" altLang="ko-KR" dirty="0"/>
            </a:br>
            <a:r>
              <a:rPr lang="en-US" altLang="ko-KR" dirty="0"/>
              <a:t>(A</a:t>
            </a:r>
            <a:r>
              <a:rPr lang="ko-KR" altLang="en-US" dirty="0"/>
              <a:t> </a:t>
            </a:r>
            <a:r>
              <a:rPr lang="ko-KR" altLang="en-US" dirty="0" err="1"/>
              <a:t>등곡</a:t>
            </a:r>
            <a:r>
              <a:rPr lang="ko-KR" altLang="en-US" dirty="0"/>
              <a:t> 접선 기울기</a:t>
            </a:r>
            <a:r>
              <a:rPr lang="en-US" altLang="ko-KR" dirty="0"/>
              <a:t>) = (B </a:t>
            </a:r>
            <a:r>
              <a:rPr lang="ko-KR" altLang="en-US" dirty="0" err="1"/>
              <a:t>등곡</a:t>
            </a:r>
            <a:r>
              <a:rPr lang="ko-KR" altLang="en-US" dirty="0"/>
              <a:t> 접선 기울기</a:t>
            </a:r>
            <a:r>
              <a:rPr lang="en-US" altLang="ko-KR" dirty="0"/>
              <a:t>) = (</a:t>
            </a:r>
            <a:r>
              <a:rPr lang="ko-KR" altLang="en-US" dirty="0"/>
              <a:t>생가곡선 접선 기울기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한계생산변환률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각 재화의 한계비용 비율</a:t>
            </a:r>
            <a:endParaRPr lang="en-US" altLang="ko-KR" dirty="0"/>
          </a:p>
          <a:p>
            <a:pPr lvl="1"/>
            <a:r>
              <a:rPr lang="ko-KR" altLang="en-US" dirty="0"/>
              <a:t>소비자는</a:t>
            </a:r>
            <a:r>
              <a:rPr lang="en-US" altLang="ko-KR" dirty="0"/>
              <a:t> </a:t>
            </a:r>
            <a:r>
              <a:rPr lang="ko-KR" altLang="en-US" dirty="0"/>
              <a:t>효용극대화 </a:t>
            </a:r>
            <a:r>
              <a:rPr lang="en-US" altLang="ko-KR" dirty="0"/>
              <a:t>: 		  </a:t>
            </a:r>
            <a:r>
              <a:rPr lang="ko-KR" altLang="en-US" dirty="0"/>
              <a:t>완전경쟁에선 </a:t>
            </a:r>
            <a:r>
              <a:rPr lang="en-US" altLang="ko-KR" dirty="0"/>
              <a:t>P=MC, </a:t>
            </a:r>
            <a:r>
              <a:rPr lang="ko-KR" altLang="en-US" dirty="0"/>
              <a:t>종합적 효율성 충족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55EA3F-9596-EB73-22AA-19D43294FFA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도표, 라인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ED750E1-3F62-791C-482B-8D4994802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061" y="989398"/>
            <a:ext cx="2584314" cy="1656184"/>
          </a:xfrm>
          <a:prstGeom prst="rect">
            <a:avLst/>
          </a:prstGeom>
        </p:spPr>
      </p:pic>
      <p:pic>
        <p:nvPicPr>
          <p:cNvPr id="10" name="그림 9" descr="라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9623E0A-9938-3560-D50B-CDE48D35F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88" r="22619"/>
          <a:stretch/>
        </p:blipFill>
        <p:spPr>
          <a:xfrm>
            <a:off x="5341716" y="2624976"/>
            <a:ext cx="1471659" cy="1009071"/>
          </a:xfrm>
          <a:prstGeom prst="rect">
            <a:avLst/>
          </a:prstGeom>
        </p:spPr>
      </p:pic>
      <p:pic>
        <p:nvPicPr>
          <p:cNvPr id="13" name="그림 12" descr="도표, 라인, 그래프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E10912E-C0F9-916A-878C-4CFED25BE1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99" r="31525"/>
          <a:stretch/>
        </p:blipFill>
        <p:spPr>
          <a:xfrm>
            <a:off x="4697113" y="3966541"/>
            <a:ext cx="1648210" cy="1619197"/>
          </a:xfrm>
          <a:prstGeom prst="rect">
            <a:avLst/>
          </a:prstGeom>
        </p:spPr>
      </p:pic>
      <p:pic>
        <p:nvPicPr>
          <p:cNvPr id="15" name="그림 14" descr="폰트, 텍스트, 라인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5208C3D-72CE-7864-56EF-13E549C973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885" y="3296038"/>
            <a:ext cx="1974779" cy="27358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948C8B0-61A1-24D4-971C-10C5406D8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960" y="6334289"/>
            <a:ext cx="1575455" cy="19753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9" name="그림 18" descr="텍스트, 폰트, 화이트, 타이포그래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02BEC22-F792-3EAE-FA8F-3879D228CA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863" y="6291752"/>
            <a:ext cx="734355" cy="27358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3DA7A91-030F-762D-9CA6-7F6E30DC5E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105" y="7161787"/>
            <a:ext cx="1164169" cy="234168"/>
          </a:xfrm>
          <a:prstGeom prst="rect">
            <a:avLst/>
          </a:prstGeom>
        </p:spPr>
      </p:pic>
      <p:pic>
        <p:nvPicPr>
          <p:cNvPr id="23" name="그림 22" descr="폰트, 텍스트, 라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2F8AD06-3008-BCF6-121A-55F7E44B13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175" y="5613209"/>
            <a:ext cx="1800199" cy="31646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31379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0224BF-B93A-6804-4867-37E437479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57F4007-E33A-39A0-EAA5-7A82A0E31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후생경제학이란</a:t>
            </a:r>
            <a:r>
              <a:rPr lang="ko-KR" altLang="en-US" dirty="0"/>
              <a:t> 무엇인가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5F492C-574A-6E9B-C08A-C781FDC12D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2B53F1F-8C2A-5916-9EDB-2D857DA484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사회후생함수</a:t>
            </a:r>
            <a:endParaRPr lang="en-US" altLang="ko-KR" dirty="0"/>
          </a:p>
          <a:p>
            <a:pPr lvl="1"/>
            <a:r>
              <a:rPr lang="en-US" altLang="ko-KR" dirty="0"/>
              <a:t>SW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f(UA, UB)</a:t>
            </a:r>
            <a:br>
              <a:rPr lang="en-US" altLang="ko-KR" dirty="0"/>
            </a:br>
            <a:r>
              <a:rPr lang="ko-KR" altLang="en-US" dirty="0"/>
              <a:t>공리주의적 </a:t>
            </a:r>
            <a:r>
              <a:rPr lang="en-US" altLang="ko-KR" dirty="0"/>
              <a:t>: SW = UA+UB; </a:t>
            </a:r>
            <a:r>
              <a:rPr lang="ko-KR" altLang="en-US" dirty="0"/>
              <a:t>분배가</a:t>
            </a:r>
            <a:r>
              <a:rPr lang="en-US" altLang="ko-KR" dirty="0"/>
              <a:t> </a:t>
            </a:r>
            <a:r>
              <a:rPr lang="ko-KR" altLang="en-US" dirty="0"/>
              <a:t>어떻게</a:t>
            </a:r>
            <a:r>
              <a:rPr lang="en-US" altLang="ko-KR" dirty="0"/>
              <a:t>? </a:t>
            </a:r>
            <a:r>
              <a:rPr lang="ko-KR" altLang="en-US" dirty="0"/>
              <a:t>상관 </a:t>
            </a:r>
            <a:r>
              <a:rPr lang="en-US" altLang="ko-KR" dirty="0"/>
              <a:t>X. </a:t>
            </a:r>
            <a:r>
              <a:rPr lang="ko-KR" altLang="en-US" dirty="0"/>
              <a:t>개인 효용의 합</a:t>
            </a:r>
            <a:br>
              <a:rPr lang="en-US" altLang="ko-KR" dirty="0"/>
            </a:br>
            <a:r>
              <a:rPr lang="ko-KR" altLang="en-US" dirty="0"/>
              <a:t>평등주의적 </a:t>
            </a:r>
            <a:r>
              <a:rPr lang="en-US" altLang="ko-KR" dirty="0"/>
              <a:t>: </a:t>
            </a:r>
            <a:r>
              <a:rPr lang="ko-KR" altLang="en-US" dirty="0"/>
              <a:t>높은</a:t>
            </a:r>
            <a:r>
              <a:rPr lang="en-US" altLang="ko-KR" dirty="0"/>
              <a:t> </a:t>
            </a:r>
            <a:r>
              <a:rPr lang="ko-KR" altLang="en-US" dirty="0"/>
              <a:t>효용</a:t>
            </a:r>
            <a:r>
              <a:rPr lang="en-US" altLang="ko-KR" dirty="0"/>
              <a:t> -&gt; </a:t>
            </a:r>
            <a:r>
              <a:rPr lang="ko-KR" altLang="en-US" dirty="0"/>
              <a:t>낮은 가중치</a:t>
            </a:r>
            <a:r>
              <a:rPr lang="en-US" altLang="ko-KR" dirty="0"/>
              <a:t>; </a:t>
            </a:r>
            <a:r>
              <a:rPr lang="ko-KR" altLang="en-US" dirty="0"/>
              <a:t>원점에 대해 볼록한 함수</a:t>
            </a:r>
            <a:r>
              <a:rPr lang="en-US" altLang="ko-KR" dirty="0"/>
              <a:t>(1/x)</a:t>
            </a:r>
            <a:br>
              <a:rPr lang="en-US" altLang="ko-KR" dirty="0"/>
            </a:br>
            <a:r>
              <a:rPr lang="ko-KR" altLang="en-US" dirty="0" err="1"/>
              <a:t>롤즈적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최소극대화 원칙 </a:t>
            </a:r>
            <a:r>
              <a:rPr lang="en-US" altLang="ko-KR" dirty="0"/>
              <a:t>: </a:t>
            </a:r>
            <a:r>
              <a:rPr lang="ko-KR" altLang="en-US" dirty="0"/>
              <a:t>가장 못사는 사람 </a:t>
            </a:r>
            <a:r>
              <a:rPr lang="en-US" altLang="ko-KR" dirty="0"/>
              <a:t>-&gt; </a:t>
            </a:r>
            <a:r>
              <a:rPr lang="ko-KR" altLang="en-US" dirty="0"/>
              <a:t>가장 큰 생활수준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en-US" altLang="ko-KR" dirty="0"/>
              <a:t>SW = min(UA,UB);</a:t>
            </a:r>
            <a:r>
              <a:rPr lang="ko-KR" altLang="en-US" dirty="0"/>
              <a:t> </a:t>
            </a:r>
            <a:r>
              <a:rPr lang="en-US" altLang="ko-KR" dirty="0"/>
              <a:t>L</a:t>
            </a:r>
            <a:r>
              <a:rPr lang="ko-KR" altLang="en-US" dirty="0"/>
              <a:t>자 모양 </a:t>
            </a:r>
            <a:r>
              <a:rPr lang="ko-KR" altLang="en-US" dirty="0" err="1"/>
              <a:t>사회무차별곡선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가장 바람직한 배분 도출</a:t>
            </a:r>
            <a:endParaRPr lang="en-US" altLang="ko-KR" dirty="0"/>
          </a:p>
          <a:p>
            <a:pPr lvl="1"/>
            <a:r>
              <a:rPr lang="ko-KR" altLang="en-US" dirty="0"/>
              <a:t>효용 가능경계 위 </a:t>
            </a:r>
            <a:r>
              <a:rPr lang="en-US" altLang="ko-KR" dirty="0"/>
              <a:t>E</a:t>
            </a:r>
            <a:r>
              <a:rPr lang="ko-KR" altLang="en-US" dirty="0"/>
              <a:t>점에서 사회후생 극대화</a:t>
            </a:r>
            <a:endParaRPr lang="en-US" altLang="ko-KR" dirty="0"/>
          </a:p>
          <a:p>
            <a:pPr lvl="2"/>
            <a:r>
              <a:rPr lang="ko-KR" altLang="en-US" dirty="0"/>
              <a:t>분배에 대한 특정 가치판단을 포괄하는 사회 후생함수 </a:t>
            </a:r>
            <a:br>
              <a:rPr lang="en-US" altLang="ko-KR" dirty="0"/>
            </a:br>
            <a:r>
              <a:rPr lang="ko-KR" altLang="en-US" dirty="0"/>
              <a:t>도입</a:t>
            </a:r>
            <a:endParaRPr lang="en-US" altLang="ko-KR" dirty="0"/>
          </a:p>
          <a:p>
            <a:r>
              <a:rPr lang="ko-KR" altLang="en-US" dirty="0"/>
              <a:t>불가능성 정리</a:t>
            </a:r>
            <a:endParaRPr lang="en-US" altLang="ko-KR" dirty="0"/>
          </a:p>
          <a:p>
            <a:pPr lvl="1"/>
            <a:r>
              <a:rPr lang="ko-KR" altLang="en-US" dirty="0"/>
              <a:t>바람직한 성격을 모두 갖춘 사회후생함수 존재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사회적</a:t>
            </a:r>
            <a:r>
              <a:rPr lang="en-US" altLang="ko-KR" dirty="0"/>
              <a:t> </a:t>
            </a:r>
            <a:r>
              <a:rPr lang="ko-KR" altLang="en-US" dirty="0"/>
              <a:t>선호체계가 가져야 할 바람직한 성격</a:t>
            </a:r>
            <a:endParaRPr lang="en-US" altLang="ko-KR" dirty="0"/>
          </a:p>
          <a:p>
            <a:pPr lvl="2"/>
            <a:r>
              <a:rPr lang="ko-KR" altLang="en-US" dirty="0" err="1"/>
              <a:t>완비성</a:t>
            </a:r>
            <a:r>
              <a:rPr lang="en-US" altLang="ko-KR" dirty="0"/>
              <a:t>, </a:t>
            </a:r>
            <a:r>
              <a:rPr lang="ko-KR" altLang="en-US" dirty="0" err="1"/>
              <a:t>이행성</a:t>
            </a:r>
            <a:r>
              <a:rPr lang="ko-KR" altLang="en-US" dirty="0"/>
              <a:t> </a:t>
            </a:r>
            <a:r>
              <a:rPr lang="en-US" altLang="ko-KR" dirty="0"/>
              <a:t>: a&gt;b, b&gt;c -&gt; a&gt;c</a:t>
            </a:r>
            <a:r>
              <a:rPr lang="ko-KR" altLang="en-US" dirty="0"/>
              <a:t>를 선호</a:t>
            </a:r>
            <a:endParaRPr lang="en-US" altLang="ko-KR" dirty="0"/>
          </a:p>
          <a:p>
            <a:pPr lvl="2"/>
            <a:r>
              <a:rPr lang="ko-KR" altLang="en-US" dirty="0" err="1"/>
              <a:t>파래토</a:t>
            </a:r>
            <a:r>
              <a:rPr lang="ko-KR" altLang="en-US" dirty="0"/>
              <a:t> 원칙 </a:t>
            </a:r>
            <a:r>
              <a:rPr lang="en-US" altLang="ko-KR" dirty="0"/>
              <a:t>: </a:t>
            </a:r>
            <a:r>
              <a:rPr lang="ko-KR" altLang="en-US" dirty="0"/>
              <a:t>모두가 </a:t>
            </a:r>
            <a:r>
              <a:rPr lang="en-US" altLang="ko-KR" dirty="0"/>
              <a:t>a&gt;b</a:t>
            </a:r>
            <a:r>
              <a:rPr lang="ko-KR" altLang="en-US" dirty="0"/>
              <a:t>라면 사회도 </a:t>
            </a:r>
            <a:r>
              <a:rPr lang="en-US" altLang="ko-KR" dirty="0"/>
              <a:t>a&gt;b</a:t>
            </a:r>
          </a:p>
          <a:p>
            <a:pPr lvl="2"/>
            <a:r>
              <a:rPr lang="ko-KR" altLang="en-US" dirty="0"/>
              <a:t>비독재성 </a:t>
            </a:r>
            <a:r>
              <a:rPr lang="en-US" altLang="ko-KR" dirty="0"/>
              <a:t>: </a:t>
            </a:r>
            <a:r>
              <a:rPr lang="ko-KR" altLang="en-US" dirty="0"/>
              <a:t>어느 구성원의 선호 </a:t>
            </a:r>
            <a:r>
              <a:rPr lang="en-US" altLang="ko-KR" dirty="0"/>
              <a:t>-&gt; </a:t>
            </a:r>
            <a:r>
              <a:rPr lang="ko-KR" altLang="en-US" dirty="0"/>
              <a:t>전체 사회 선호 좌우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/>
              <a:t>제</a:t>
            </a:r>
            <a:r>
              <a:rPr lang="en-US" altLang="ko-KR" dirty="0"/>
              <a:t>3 </a:t>
            </a:r>
            <a:r>
              <a:rPr lang="ko-KR" altLang="en-US" dirty="0"/>
              <a:t>선택 가능성으로부터 독립 </a:t>
            </a:r>
            <a:r>
              <a:rPr lang="en-US" altLang="ko-KR" dirty="0"/>
              <a:t>: </a:t>
            </a:r>
            <a:r>
              <a:rPr lang="en-US" altLang="ko-KR" dirty="0" err="1"/>
              <a:t>a,b</a:t>
            </a:r>
            <a:r>
              <a:rPr lang="ko-KR" altLang="en-US" dirty="0"/>
              <a:t>간 사회적 상태 비교 </a:t>
            </a:r>
            <a:r>
              <a:rPr lang="en-US" altLang="ko-KR" dirty="0"/>
              <a:t>-&gt; </a:t>
            </a:r>
            <a:r>
              <a:rPr lang="ko-KR" altLang="en-US" dirty="0"/>
              <a:t>관련 없는 선택 </a:t>
            </a:r>
            <a:r>
              <a:rPr lang="en-US" altLang="ko-KR" dirty="0"/>
              <a:t>c</a:t>
            </a:r>
            <a:r>
              <a:rPr lang="ko-KR" altLang="en-US" dirty="0"/>
              <a:t>의 존재는 이 둘에게 영향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의의</a:t>
            </a:r>
            <a:r>
              <a:rPr lang="en-US" altLang="ko-KR" dirty="0"/>
              <a:t> : </a:t>
            </a:r>
            <a:r>
              <a:rPr lang="ko-KR" altLang="en-US" dirty="0"/>
              <a:t>완비</a:t>
            </a:r>
            <a:r>
              <a:rPr lang="en-US" altLang="ko-KR" dirty="0"/>
              <a:t>&amp;</a:t>
            </a:r>
            <a:r>
              <a:rPr lang="ko-KR" altLang="en-US" dirty="0"/>
              <a:t>이행</a:t>
            </a:r>
            <a:r>
              <a:rPr lang="en-US" altLang="ko-KR" dirty="0"/>
              <a:t>, </a:t>
            </a:r>
            <a:r>
              <a:rPr lang="ko-KR" altLang="en-US" dirty="0"/>
              <a:t>파레토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 </a:t>
            </a:r>
            <a:r>
              <a:rPr lang="ko-KR" altLang="en-US" dirty="0"/>
              <a:t>선가 독립 만족 </a:t>
            </a:r>
            <a:r>
              <a:rPr lang="en-US" altLang="ko-KR" dirty="0"/>
              <a:t>-&gt; </a:t>
            </a:r>
            <a:r>
              <a:rPr lang="ko-KR" altLang="en-US" dirty="0"/>
              <a:t>반드시 비독재성 위배</a:t>
            </a:r>
            <a:endParaRPr lang="en-US" altLang="ko-KR" dirty="0"/>
          </a:p>
          <a:p>
            <a:r>
              <a:rPr lang="ko-KR" altLang="en-US" dirty="0"/>
              <a:t>차선의 이론</a:t>
            </a:r>
            <a:endParaRPr lang="en-US" altLang="ko-KR" dirty="0"/>
          </a:p>
          <a:p>
            <a:pPr lvl="1"/>
            <a:r>
              <a:rPr lang="ko-KR" altLang="en-US" dirty="0"/>
              <a:t>하나 이상의 효율성 조건 위배</a:t>
            </a:r>
            <a:r>
              <a:rPr lang="en-US" altLang="ko-KR" dirty="0"/>
              <a:t> ?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충족된 효율성 조건의 수가 더 많음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사회 후생이 더 </a:t>
            </a:r>
            <a:r>
              <a:rPr lang="ko-KR" altLang="en-US" dirty="0" err="1"/>
              <a:t>커지는건</a:t>
            </a:r>
            <a:r>
              <a:rPr lang="ko-KR" altLang="en-US" dirty="0"/>
              <a:t> </a:t>
            </a:r>
            <a:r>
              <a:rPr lang="ko-KR" altLang="en-US" dirty="0" err="1"/>
              <a:t>아닐수도</a:t>
            </a:r>
            <a:endParaRPr lang="en-US" altLang="ko-KR" dirty="0"/>
          </a:p>
          <a:p>
            <a:pPr lvl="2"/>
            <a:r>
              <a:rPr lang="ko-KR" altLang="en-US" dirty="0"/>
              <a:t>차선의 이론 </a:t>
            </a:r>
            <a:r>
              <a:rPr lang="en-US" altLang="ko-KR" dirty="0"/>
              <a:t>: </a:t>
            </a:r>
            <a:r>
              <a:rPr lang="ko-KR" altLang="en-US" dirty="0" err="1"/>
              <a:t>점근적</a:t>
            </a:r>
            <a:r>
              <a:rPr lang="ko-KR" altLang="en-US" dirty="0"/>
              <a:t> 접근법 </a:t>
            </a:r>
            <a:r>
              <a:rPr lang="en-US" altLang="ko-KR" dirty="0"/>
              <a:t>-&gt; </a:t>
            </a:r>
            <a:r>
              <a:rPr lang="ko-KR" altLang="en-US" dirty="0"/>
              <a:t>예기치 않은 문제</a:t>
            </a:r>
            <a:r>
              <a:rPr lang="en-US" altLang="ko-KR" dirty="0"/>
              <a:t>O?</a:t>
            </a:r>
          </a:p>
          <a:p>
            <a:pPr lvl="1"/>
            <a:r>
              <a:rPr lang="en-US" altLang="ko-KR" dirty="0"/>
              <a:t>FG</a:t>
            </a:r>
            <a:r>
              <a:rPr lang="ko-KR" altLang="en-US" dirty="0"/>
              <a:t>의 제약</a:t>
            </a:r>
            <a:r>
              <a:rPr lang="en-US" altLang="ko-KR" dirty="0"/>
              <a:t>; H</a:t>
            </a:r>
            <a:r>
              <a:rPr lang="ko-KR" altLang="en-US" dirty="0"/>
              <a:t>점의 생산효율성 충족</a:t>
            </a:r>
            <a:r>
              <a:rPr lang="en-US" altLang="ko-KR" dirty="0"/>
              <a:t>? -&gt; </a:t>
            </a:r>
            <a:r>
              <a:rPr lang="ko-KR" altLang="en-US" dirty="0"/>
              <a:t>그러나</a:t>
            </a:r>
            <a:br>
              <a:rPr lang="en-US" altLang="ko-KR" dirty="0"/>
            </a:br>
            <a:r>
              <a:rPr lang="en-US" altLang="ko-KR" dirty="0"/>
              <a:t>I</a:t>
            </a:r>
            <a:r>
              <a:rPr lang="ko-KR" altLang="en-US" dirty="0"/>
              <a:t>점이 명백히 더 높은 사회후생수준</a:t>
            </a:r>
            <a:r>
              <a:rPr lang="en-US" altLang="ko-KR" dirty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B727B1-8C7C-6126-C56C-C44876AECCB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F72B53-4A78-004F-72EF-50AD7CE7C9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704"/>
          <a:stretch/>
        </p:blipFill>
        <p:spPr>
          <a:xfrm>
            <a:off x="6127813" y="584374"/>
            <a:ext cx="638230" cy="7996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01737B-CBBB-7A8B-21CE-02C2DCE87B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19" r="33303"/>
          <a:stretch/>
        </p:blipFill>
        <p:spPr>
          <a:xfrm>
            <a:off x="6107953" y="1496982"/>
            <a:ext cx="649737" cy="7996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B3FC360-D289-BCAA-EDD2-61829BDAB0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121"/>
          <a:stretch/>
        </p:blipFill>
        <p:spPr>
          <a:xfrm>
            <a:off x="5350818" y="1471620"/>
            <a:ext cx="649737" cy="7996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3644B9B-2868-B720-082D-5842785FE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017" y="2506594"/>
            <a:ext cx="1512168" cy="122283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AEC8A47-3A30-6577-0AEF-9DA46EAE4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184" y="5745088"/>
            <a:ext cx="1584759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575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60EA7A7-ADFC-0089-BB02-F18C51CDF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77EA107-1EC7-46A8-B886-3ECC2D028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생산요소의 고용량과 가격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6C085-7265-A149-8653-A6E012D403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828CC44-2FBB-D490-76DF-95BBA349DC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생산요소에 대한 수요 </a:t>
            </a:r>
            <a:r>
              <a:rPr lang="en-US" altLang="ko-KR" dirty="0"/>
              <a:t>- </a:t>
            </a:r>
            <a:r>
              <a:rPr lang="ko-KR" altLang="en-US" dirty="0"/>
              <a:t>파생수요</a:t>
            </a:r>
            <a:endParaRPr lang="en-US" altLang="ko-KR" dirty="0"/>
          </a:p>
          <a:p>
            <a:pPr lvl="1"/>
            <a:r>
              <a:rPr lang="ko-KR" altLang="en-US" dirty="0"/>
              <a:t>생산요소에 대한 수요 </a:t>
            </a:r>
            <a:r>
              <a:rPr lang="en-US" altLang="ko-KR" dirty="0"/>
              <a:t>-&gt; </a:t>
            </a:r>
            <a:r>
              <a:rPr lang="ko-KR" altLang="en-US" dirty="0"/>
              <a:t>상품의 수요에 파생되어 나오는 파생수요</a:t>
            </a:r>
            <a:endParaRPr lang="en-US" altLang="ko-KR" dirty="0"/>
          </a:p>
          <a:p>
            <a:pPr lvl="1"/>
            <a:r>
              <a:rPr lang="ko-KR" altLang="en-US" dirty="0"/>
              <a:t>생산요소 가격 하락 </a:t>
            </a:r>
            <a:r>
              <a:rPr lang="en-US" altLang="ko-KR" dirty="0"/>
              <a:t>-&gt; </a:t>
            </a:r>
            <a:r>
              <a:rPr lang="ko-KR" altLang="en-US" dirty="0"/>
              <a:t>수요량 증가</a:t>
            </a:r>
            <a:r>
              <a:rPr lang="en-US" altLang="ko-KR" dirty="0"/>
              <a:t>; </a:t>
            </a:r>
            <a:r>
              <a:rPr lang="ko-KR" altLang="en-US" dirty="0"/>
              <a:t>생산비용 절감</a:t>
            </a:r>
            <a:endParaRPr lang="en-US" altLang="ko-KR" dirty="0"/>
          </a:p>
          <a:p>
            <a:r>
              <a:rPr lang="ko-KR" altLang="en-US" dirty="0"/>
              <a:t>이윤극대화 </a:t>
            </a:r>
            <a:r>
              <a:rPr lang="en-US" altLang="ko-KR" dirty="0"/>
              <a:t>-&gt; </a:t>
            </a:r>
            <a:r>
              <a:rPr lang="ko-KR" altLang="en-US" dirty="0" err="1"/>
              <a:t>비용극소화의</a:t>
            </a:r>
            <a:r>
              <a:rPr lang="ko-KR" altLang="en-US" dirty="0"/>
              <a:t> 조건</a:t>
            </a:r>
            <a:endParaRPr lang="en-US" altLang="ko-KR" dirty="0"/>
          </a:p>
          <a:p>
            <a:pPr lvl="1"/>
            <a:r>
              <a:rPr lang="ko-KR" altLang="en-US" dirty="0" err="1"/>
              <a:t>이윤극대</a:t>
            </a:r>
            <a:r>
              <a:rPr lang="ko-KR" altLang="en-US" dirty="0"/>
              <a:t> 추구 기업 </a:t>
            </a:r>
            <a:r>
              <a:rPr lang="en-US" altLang="ko-KR" dirty="0"/>
              <a:t>-&gt; MC = MR</a:t>
            </a:r>
            <a:br>
              <a:rPr lang="en-US" altLang="ko-KR" dirty="0"/>
            </a:br>
            <a:r>
              <a:rPr lang="en-US" altLang="ko-KR" dirty="0" err="1"/>
              <a:t>ωi</a:t>
            </a:r>
            <a:r>
              <a:rPr lang="en-US" altLang="ko-KR" dirty="0"/>
              <a:t> / </a:t>
            </a:r>
            <a:r>
              <a:rPr lang="en-US" altLang="ko-KR" dirty="0" err="1"/>
              <a:t>Mpi</a:t>
            </a:r>
            <a:r>
              <a:rPr lang="ko-KR" altLang="en-US" dirty="0"/>
              <a:t>는 상품 </a:t>
            </a:r>
            <a:r>
              <a:rPr lang="en-US" altLang="ko-KR" dirty="0"/>
              <a:t>1</a:t>
            </a:r>
            <a:r>
              <a:rPr lang="ko-KR" altLang="en-US" dirty="0"/>
              <a:t>단위 추가 생산비용 </a:t>
            </a:r>
            <a:r>
              <a:rPr lang="en-US" altLang="ko-KR" dirty="0"/>
              <a:t>= MC</a:t>
            </a:r>
          </a:p>
          <a:p>
            <a:pPr lvl="2"/>
            <a:r>
              <a:rPr lang="ko-KR" altLang="en-US" dirty="0"/>
              <a:t>생산요소의 고용 최적</a:t>
            </a:r>
            <a:r>
              <a:rPr lang="en-US" altLang="ko-KR" dirty="0"/>
              <a:t>? : </a:t>
            </a:r>
            <a:r>
              <a:rPr lang="ko-KR" altLang="en-US" dirty="0"/>
              <a:t>생산요소 </a:t>
            </a:r>
            <a:r>
              <a:rPr lang="en-US" altLang="ko-KR" dirty="0"/>
              <a:t>1</a:t>
            </a:r>
            <a:r>
              <a:rPr lang="ko-KR" altLang="en-US" dirty="0"/>
              <a:t>단위 고용 비용 </a:t>
            </a:r>
            <a:r>
              <a:rPr lang="en-US" altLang="ko-KR" dirty="0"/>
              <a:t>= </a:t>
            </a:r>
            <a:r>
              <a:rPr lang="ko-KR" altLang="en-US" dirty="0"/>
              <a:t>그것의 수입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생산요소 가격</a:t>
            </a:r>
            <a:r>
              <a:rPr lang="en-US" altLang="ko-KR" dirty="0"/>
              <a:t>) = (</a:t>
            </a:r>
            <a:r>
              <a:rPr lang="ko-KR" altLang="en-US" dirty="0"/>
              <a:t>한계생산</a:t>
            </a:r>
            <a:r>
              <a:rPr lang="en-US" altLang="ko-KR" dirty="0"/>
              <a:t>)*(</a:t>
            </a:r>
            <a:r>
              <a:rPr lang="ko-KR" altLang="en-US" dirty="0"/>
              <a:t>한계수입</a:t>
            </a:r>
            <a:r>
              <a:rPr lang="en-US" altLang="ko-KR" dirty="0"/>
              <a:t>) </a:t>
            </a:r>
            <a:br>
              <a:rPr lang="en-US" altLang="ko-KR" dirty="0"/>
            </a:br>
            <a:r>
              <a:rPr lang="en-US" altLang="ko-KR" dirty="0"/>
              <a:t>= (</a:t>
            </a:r>
            <a:r>
              <a:rPr lang="ko-KR" altLang="en-US" dirty="0"/>
              <a:t>노동의 한계생산 가치</a:t>
            </a:r>
            <a:r>
              <a:rPr lang="en-US" altLang="ko-KR" dirty="0"/>
              <a:t>)(VMPL)</a:t>
            </a:r>
          </a:p>
          <a:p>
            <a:r>
              <a:rPr lang="ko-KR" altLang="en-US" dirty="0"/>
              <a:t>생산요소의 수요 </a:t>
            </a:r>
            <a:r>
              <a:rPr lang="en-US" altLang="ko-KR" dirty="0"/>
              <a:t>: </a:t>
            </a:r>
            <a:r>
              <a:rPr lang="ko-KR" altLang="en-US" dirty="0"/>
              <a:t>노동만</a:t>
            </a:r>
            <a:endParaRPr lang="en-US" altLang="ko-KR" dirty="0"/>
          </a:p>
          <a:p>
            <a:pPr lvl="1"/>
            <a:r>
              <a:rPr lang="ko-KR" altLang="en-US" dirty="0"/>
              <a:t>최적 고용수준 </a:t>
            </a:r>
            <a:r>
              <a:rPr lang="en-US" altLang="ko-KR" dirty="0"/>
              <a:t>: W=MPL*MR;</a:t>
            </a:r>
          </a:p>
          <a:p>
            <a:pPr lvl="2"/>
            <a:r>
              <a:rPr lang="ko-KR" altLang="en-US" dirty="0"/>
              <a:t>우하향 </a:t>
            </a:r>
            <a:r>
              <a:rPr lang="en-US" altLang="ko-KR" dirty="0"/>
              <a:t>VMPL : </a:t>
            </a:r>
            <a:r>
              <a:rPr lang="ko-KR" altLang="en-US" dirty="0"/>
              <a:t>한계생산체감</a:t>
            </a:r>
            <a:endParaRPr lang="en-US" altLang="ko-KR" dirty="0"/>
          </a:p>
          <a:p>
            <a:r>
              <a:rPr lang="ko-KR" altLang="en-US" dirty="0"/>
              <a:t>생산요소의 수요 </a:t>
            </a:r>
            <a:r>
              <a:rPr lang="en-US" altLang="ko-KR" dirty="0"/>
              <a:t>: </a:t>
            </a:r>
            <a:r>
              <a:rPr lang="ko-KR" altLang="en-US" dirty="0"/>
              <a:t>자본</a:t>
            </a:r>
            <a:r>
              <a:rPr lang="en-US" altLang="ko-KR" dirty="0"/>
              <a:t>, </a:t>
            </a:r>
            <a:r>
              <a:rPr lang="ko-KR" altLang="en-US" dirty="0"/>
              <a:t>노동</a:t>
            </a:r>
            <a:endParaRPr lang="en-US" altLang="ko-KR" dirty="0"/>
          </a:p>
          <a:p>
            <a:pPr lvl="1"/>
            <a:r>
              <a:rPr lang="en-US" altLang="ko-KR" dirty="0"/>
              <a:t>W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W'</a:t>
            </a:r>
            <a:r>
              <a:rPr lang="ko-KR" altLang="en-US" dirty="0"/>
              <a:t>으로 하락한 경우</a:t>
            </a:r>
            <a:r>
              <a:rPr lang="en-US" altLang="ko-KR" dirty="0"/>
              <a:t>:</a:t>
            </a:r>
          </a:p>
          <a:p>
            <a:pPr lvl="2"/>
            <a:r>
              <a:rPr lang="ko-KR" altLang="en-US" dirty="0"/>
              <a:t>요소대체효과 </a:t>
            </a:r>
            <a:r>
              <a:rPr lang="en-US" altLang="ko-KR" dirty="0"/>
              <a:t>: </a:t>
            </a:r>
            <a:r>
              <a:rPr lang="ko-KR" altLang="en-US" dirty="0"/>
              <a:t>자본을 더 </a:t>
            </a:r>
            <a:br>
              <a:rPr lang="en-US" altLang="ko-KR" dirty="0"/>
            </a:br>
            <a:r>
              <a:rPr lang="ko-KR" altLang="en-US" dirty="0"/>
              <a:t>싸진 노동으로 대체</a:t>
            </a:r>
            <a:endParaRPr lang="en-US" altLang="ko-KR" dirty="0"/>
          </a:p>
          <a:p>
            <a:pPr lvl="2"/>
            <a:r>
              <a:rPr lang="ko-KR" altLang="en-US" dirty="0"/>
              <a:t>산출효과 </a:t>
            </a:r>
            <a:r>
              <a:rPr lang="en-US" altLang="ko-KR" dirty="0"/>
              <a:t>: </a:t>
            </a:r>
            <a:r>
              <a:rPr lang="ko-KR" altLang="en-US" dirty="0"/>
              <a:t>한계비용 변화</a:t>
            </a:r>
            <a:br>
              <a:rPr lang="en-US" altLang="ko-KR" dirty="0"/>
            </a:br>
            <a:r>
              <a:rPr lang="en-US" altLang="ko-KR" dirty="0"/>
              <a:t>-&gt; Q1</a:t>
            </a:r>
            <a:r>
              <a:rPr lang="ko-KR" altLang="en-US" dirty="0"/>
              <a:t>에서</a:t>
            </a:r>
            <a:r>
              <a:rPr lang="en-US" altLang="ko-KR" dirty="0"/>
              <a:t> Q2</a:t>
            </a:r>
            <a:r>
              <a:rPr lang="ko-KR" altLang="en-US" dirty="0"/>
              <a:t>로 증가</a:t>
            </a:r>
            <a:endParaRPr lang="en-US" altLang="ko-KR" dirty="0"/>
          </a:p>
          <a:p>
            <a:pPr lvl="2"/>
            <a:r>
              <a:rPr lang="ko-KR" altLang="en-US" dirty="0"/>
              <a:t>노동은 </a:t>
            </a:r>
            <a:r>
              <a:rPr lang="en-US" altLang="ko-KR" dirty="0" err="1"/>
              <a:t>L_bar</a:t>
            </a:r>
            <a:r>
              <a:rPr lang="en-US" altLang="ko-KR" dirty="0"/>
              <a:t> -&gt; L' -&gt; L''</a:t>
            </a:r>
            <a:br>
              <a:rPr lang="en-US" altLang="ko-KR" dirty="0"/>
            </a:br>
            <a:r>
              <a:rPr lang="ko-KR" altLang="en-US" dirty="0"/>
              <a:t>자본은 </a:t>
            </a:r>
            <a:r>
              <a:rPr lang="en-US" altLang="ko-KR" dirty="0" err="1"/>
              <a:t>K_bar</a:t>
            </a:r>
            <a:r>
              <a:rPr lang="en-US" altLang="ko-KR" dirty="0"/>
              <a:t> -&gt; K''</a:t>
            </a:r>
            <a:r>
              <a:rPr lang="ko-KR" altLang="en-US" dirty="0"/>
              <a:t> 로 증가</a:t>
            </a:r>
            <a:endParaRPr lang="en-US" altLang="ko-KR" dirty="0"/>
          </a:p>
          <a:p>
            <a:r>
              <a:rPr lang="ko-KR" altLang="en-US" dirty="0"/>
              <a:t>노동에 대한 수요 </a:t>
            </a:r>
            <a:r>
              <a:rPr lang="en-US" altLang="ko-KR" dirty="0"/>
              <a:t>: </a:t>
            </a:r>
            <a:r>
              <a:rPr lang="ko-KR" altLang="en-US" dirty="0"/>
              <a:t>자본</a:t>
            </a:r>
            <a:r>
              <a:rPr lang="en-US" altLang="ko-KR" dirty="0"/>
              <a:t>,</a:t>
            </a:r>
            <a:r>
              <a:rPr lang="ko-KR" altLang="en-US" dirty="0"/>
              <a:t>노동</a:t>
            </a:r>
            <a:endParaRPr lang="en-US" altLang="ko-KR" dirty="0"/>
          </a:p>
          <a:p>
            <a:pPr lvl="1"/>
            <a:r>
              <a:rPr lang="ko-KR" altLang="en-US" dirty="0"/>
              <a:t>자본이 고정적 </a:t>
            </a:r>
            <a:r>
              <a:rPr lang="en-US" altLang="ko-KR" dirty="0"/>
              <a:t>: A-&gt;B, </a:t>
            </a:r>
            <a:r>
              <a:rPr lang="ko-KR" altLang="en-US" dirty="0"/>
              <a:t>자본이</a:t>
            </a:r>
            <a:r>
              <a:rPr lang="en-US" altLang="ko-KR" dirty="0"/>
              <a:t> </a:t>
            </a:r>
            <a:r>
              <a:rPr lang="ko-KR" altLang="en-US" dirty="0"/>
              <a:t>가변적 </a:t>
            </a:r>
            <a:r>
              <a:rPr lang="en-US" altLang="ko-KR" dirty="0"/>
              <a:t>: A-&gt;C</a:t>
            </a:r>
            <a:br>
              <a:rPr lang="en-US" altLang="ko-KR" dirty="0"/>
            </a:br>
            <a:r>
              <a:rPr lang="en-US" altLang="ko-KR" dirty="0"/>
              <a:t>A-&gt;B</a:t>
            </a:r>
            <a:r>
              <a:rPr lang="ko-KR" altLang="en-US" dirty="0"/>
              <a:t>는 단기적</a:t>
            </a:r>
            <a:r>
              <a:rPr lang="en-US" altLang="ko-KR" dirty="0"/>
              <a:t>, A-&gt;C</a:t>
            </a:r>
            <a:r>
              <a:rPr lang="ko-KR" altLang="en-US" dirty="0"/>
              <a:t>는 장기적 고용변화</a:t>
            </a:r>
            <a:endParaRPr lang="en-US" altLang="ko-KR" dirty="0"/>
          </a:p>
          <a:p>
            <a:r>
              <a:rPr lang="ko-KR" altLang="en-US" dirty="0"/>
              <a:t>개별기업 수요곡선의 </a:t>
            </a:r>
            <a:r>
              <a:rPr lang="ko-KR" altLang="en-US" dirty="0" err="1"/>
              <a:t>수평합</a:t>
            </a:r>
            <a:endParaRPr lang="en-US" altLang="ko-KR" dirty="0"/>
          </a:p>
          <a:p>
            <a:pPr lvl="1"/>
            <a:r>
              <a:rPr lang="ko-KR" altLang="en-US" dirty="0"/>
              <a:t>산출량 증가 </a:t>
            </a:r>
            <a:r>
              <a:rPr lang="en-US" altLang="ko-KR" dirty="0"/>
              <a:t>-&gt; </a:t>
            </a:r>
            <a:r>
              <a:rPr lang="ko-KR" altLang="en-US" dirty="0"/>
              <a:t>상품가격 하락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한계생산가치 하락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기업 노동수요 아래로 이동</a:t>
            </a:r>
            <a:r>
              <a:rPr lang="en-US" altLang="ko-KR" dirty="0"/>
              <a:t>(</a:t>
            </a:r>
            <a:r>
              <a:rPr lang="en-US" altLang="ko-KR" dirty="0" err="1"/>
              <a:t>d'd</a:t>
            </a:r>
            <a:r>
              <a:rPr lang="en-US" altLang="ko-KR" dirty="0"/>
              <a:t>')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시장 전체 노동수요</a:t>
            </a:r>
            <a:r>
              <a:rPr lang="en-US" altLang="ko-KR" dirty="0"/>
              <a:t> = L'M</a:t>
            </a:r>
          </a:p>
          <a:p>
            <a:pPr lvl="2"/>
            <a:r>
              <a:rPr lang="ko-KR" altLang="en-US" dirty="0"/>
              <a:t>기업 </a:t>
            </a:r>
            <a:r>
              <a:rPr lang="en-US" altLang="ko-KR" dirty="0"/>
              <a:t>: R-&gt;T, </a:t>
            </a:r>
            <a:r>
              <a:rPr lang="ko-KR" altLang="en-US" dirty="0"/>
              <a:t>시장</a:t>
            </a:r>
            <a:r>
              <a:rPr lang="en-US" altLang="ko-KR" dirty="0"/>
              <a:t>: U~V</a:t>
            </a:r>
          </a:p>
          <a:p>
            <a:pPr lvl="1"/>
            <a:r>
              <a:rPr lang="ko-KR" altLang="en-US" dirty="0"/>
              <a:t>생산요소에 대한 수요의 가탄 결정</a:t>
            </a:r>
            <a:endParaRPr lang="en-US" altLang="ko-KR" dirty="0"/>
          </a:p>
          <a:p>
            <a:pPr lvl="2"/>
            <a:r>
              <a:rPr lang="ko-KR" altLang="en-US" dirty="0"/>
              <a:t>다른 생산요소로 대체 쉬움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생산요소의 가탄 더 커짐</a:t>
            </a:r>
            <a:endParaRPr lang="en-US" altLang="ko-KR" dirty="0"/>
          </a:p>
          <a:p>
            <a:pPr lvl="2"/>
            <a:r>
              <a:rPr lang="ko-KR" altLang="en-US" dirty="0"/>
              <a:t>상품의 수요의 가탄이 크면 </a:t>
            </a:r>
            <a:r>
              <a:rPr lang="en-US" altLang="ko-KR" dirty="0"/>
              <a:t>-&gt; </a:t>
            </a:r>
            <a:r>
              <a:rPr lang="ko-KR" altLang="en-US" dirty="0"/>
              <a:t>생산요소의 가탄 더 커짐</a:t>
            </a:r>
            <a:endParaRPr lang="en-US" altLang="ko-KR" dirty="0"/>
          </a:p>
          <a:p>
            <a:pPr lvl="2"/>
            <a:r>
              <a:rPr lang="ko-KR" altLang="en-US" dirty="0"/>
              <a:t>다른 생산요소의 공급이 탄력적 </a:t>
            </a:r>
            <a:r>
              <a:rPr lang="en-US" altLang="ko-KR" dirty="0"/>
              <a:t>-&gt; </a:t>
            </a:r>
            <a:r>
              <a:rPr lang="ko-KR" altLang="en-US" dirty="0"/>
              <a:t>가탄 더 커짐</a:t>
            </a:r>
            <a:endParaRPr lang="en-US" altLang="ko-KR" dirty="0"/>
          </a:p>
          <a:p>
            <a:pPr lvl="2"/>
            <a:r>
              <a:rPr lang="ko-KR" altLang="en-US" dirty="0"/>
              <a:t>단기보다 장기에서 </a:t>
            </a:r>
            <a:r>
              <a:rPr lang="en-US" altLang="ko-KR" dirty="0"/>
              <a:t>-&gt; </a:t>
            </a:r>
            <a:r>
              <a:rPr lang="ko-KR" altLang="en-US" dirty="0"/>
              <a:t>가탄 더 커짐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358D375-3F64-4661-756A-6288E60862C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948F08-BF79-38B0-9620-5EF0AF450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116" y="1450528"/>
            <a:ext cx="1944216" cy="2981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144E2E5-C110-F4C7-0192-EAC861C98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994" y="2216696"/>
            <a:ext cx="1152128" cy="1555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CB4D5BE-6B4C-1314-48B2-1DBF284811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906" r="32649" b="2947"/>
          <a:stretch/>
        </p:blipFill>
        <p:spPr>
          <a:xfrm>
            <a:off x="3816207" y="2503969"/>
            <a:ext cx="1241812" cy="78056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412623B-F5CC-32AE-62C6-00ABE436A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7031" y="3266193"/>
            <a:ext cx="3096343" cy="160263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16C70A0-3394-A2D0-866A-D1A073FC88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168" y="4703300"/>
            <a:ext cx="1629427" cy="10493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B66933-4BF3-6A9A-3249-498D557B58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7766" y="5762783"/>
            <a:ext cx="2587090" cy="127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29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8E0C53C-A07C-CD05-BCCE-1EF9C41D2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8E39661-F7DF-06ED-6A34-75C0BDB27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생산요소의 고용량과 가격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3CF355-2763-C3A7-8DED-5E6EFB0D54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4A9B83A-5317-58AE-17E7-C86B0021F8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소득분배의 한계생산성 이론</a:t>
            </a:r>
            <a:endParaRPr lang="en-US" altLang="ko-KR" dirty="0"/>
          </a:p>
          <a:p>
            <a:pPr lvl="1"/>
            <a:r>
              <a:rPr lang="ko-KR" altLang="en-US" dirty="0"/>
              <a:t>가격은 생산요소의 한계생산가치와 밀접</a:t>
            </a:r>
            <a:br>
              <a:rPr lang="en-US" altLang="ko-KR" dirty="0"/>
            </a:br>
            <a:r>
              <a:rPr lang="en-US" altLang="ko-KR" dirty="0"/>
              <a:t>-&gt; w*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한계생산가치와 같음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각 생산요소는 생산에 기여한 가치만큼 </a:t>
            </a:r>
            <a:br>
              <a:rPr lang="en-US" altLang="ko-KR" dirty="0"/>
            </a:br>
            <a:r>
              <a:rPr lang="ko-KR" altLang="en-US" dirty="0"/>
              <a:t>보수</a:t>
            </a:r>
            <a:endParaRPr lang="en-US" altLang="ko-KR" dirty="0"/>
          </a:p>
          <a:p>
            <a:r>
              <a:rPr lang="ko-KR" altLang="en-US" dirty="0"/>
              <a:t>경제적 지대</a:t>
            </a:r>
            <a:endParaRPr lang="en-US" altLang="ko-KR" dirty="0"/>
          </a:p>
          <a:p>
            <a:pPr lvl="1"/>
            <a:r>
              <a:rPr lang="ko-KR" altLang="en-US" dirty="0"/>
              <a:t>지대 </a:t>
            </a:r>
            <a:r>
              <a:rPr lang="en-US" altLang="ko-KR" dirty="0"/>
              <a:t>: </a:t>
            </a:r>
            <a:r>
              <a:rPr lang="ko-KR" altLang="en-US" dirty="0"/>
              <a:t>토지와 같이 공급이 완전히 공급된 생산요소에</a:t>
            </a:r>
            <a:br>
              <a:rPr lang="en-US" altLang="ko-KR" dirty="0"/>
            </a:br>
            <a:r>
              <a:rPr lang="ko-KR" altLang="en-US" dirty="0"/>
              <a:t> 대해 지불되는 보수</a:t>
            </a:r>
            <a:endParaRPr lang="en-US" altLang="ko-KR" dirty="0"/>
          </a:p>
          <a:p>
            <a:pPr lvl="1"/>
            <a:r>
              <a:rPr lang="ko-KR" altLang="en-US" dirty="0"/>
              <a:t>경제적 지대 </a:t>
            </a:r>
            <a:r>
              <a:rPr lang="en-US" altLang="ko-KR" dirty="0"/>
              <a:t>: </a:t>
            </a:r>
            <a:r>
              <a:rPr lang="ko-KR" altLang="en-US" dirty="0"/>
              <a:t>어떤 생산요소의 공급이 비탄력적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추가로 지급되는 보수</a:t>
            </a:r>
            <a:endParaRPr lang="en-US" altLang="ko-KR" dirty="0"/>
          </a:p>
          <a:p>
            <a:pPr lvl="2"/>
            <a:r>
              <a:rPr lang="ko-KR" altLang="en-US" dirty="0"/>
              <a:t>장기적으로 공급이 탄력적이라면 사라짐</a:t>
            </a:r>
            <a:endParaRPr lang="en-US" altLang="ko-KR" dirty="0"/>
          </a:p>
          <a:p>
            <a:pPr lvl="2"/>
            <a:r>
              <a:rPr lang="ko-KR" altLang="en-US" dirty="0"/>
              <a:t>완전 비탄력적이라면 모든 수입은 경제적 지대</a:t>
            </a:r>
            <a:endParaRPr lang="en-US" altLang="ko-KR" dirty="0"/>
          </a:p>
          <a:p>
            <a:r>
              <a:rPr lang="ko-KR" altLang="en-US" dirty="0"/>
              <a:t>수요독점</a:t>
            </a:r>
            <a:endParaRPr lang="en-US" altLang="ko-KR" dirty="0"/>
          </a:p>
          <a:p>
            <a:pPr lvl="1"/>
            <a:r>
              <a:rPr lang="ko-KR" altLang="en-US" dirty="0"/>
              <a:t>특정 재화</a:t>
            </a:r>
            <a:r>
              <a:rPr lang="en-US" altLang="ko-KR" dirty="0"/>
              <a:t>/</a:t>
            </a:r>
            <a:r>
              <a:rPr lang="ko-KR" altLang="en-US" dirty="0"/>
              <a:t>생산요소의 구매자가 단 한 명 </a:t>
            </a:r>
            <a:br>
              <a:rPr lang="en-US" altLang="ko-KR" dirty="0"/>
            </a:br>
            <a:r>
              <a:rPr lang="en-US" altLang="ko-KR" dirty="0"/>
              <a:t>ex)</a:t>
            </a:r>
            <a:r>
              <a:rPr lang="ko-KR" altLang="en-US" dirty="0"/>
              <a:t> 방위</a:t>
            </a:r>
            <a:r>
              <a:rPr lang="en-US" altLang="ko-KR" dirty="0"/>
              <a:t>, 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원자력 기술</a:t>
            </a:r>
            <a:endParaRPr lang="en-US" altLang="ko-KR" dirty="0"/>
          </a:p>
          <a:p>
            <a:pPr lvl="2"/>
            <a:r>
              <a:rPr lang="ko-KR" altLang="en-US" dirty="0"/>
              <a:t>수요 독점적 착취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한계수입곡선</a:t>
            </a:r>
            <a:r>
              <a:rPr lang="en-US" altLang="ko-KR" dirty="0"/>
              <a:t>(MRP) = </a:t>
            </a:r>
            <a:r>
              <a:rPr lang="ko-KR" altLang="en-US" dirty="0"/>
              <a:t>한계요소비용곡선</a:t>
            </a:r>
            <a:r>
              <a:rPr lang="en-US" altLang="ko-KR" dirty="0"/>
              <a:t>(MFC);</a:t>
            </a:r>
            <a:br>
              <a:rPr lang="en-US" altLang="ko-KR" dirty="0"/>
            </a:br>
            <a:r>
              <a:rPr lang="ko-KR" altLang="en-US" dirty="0"/>
              <a:t>수요독점적 착취 </a:t>
            </a:r>
            <a:r>
              <a:rPr lang="en-US" altLang="ko-KR" dirty="0"/>
              <a:t>-&gt; </a:t>
            </a:r>
            <a:r>
              <a:rPr lang="en-US" altLang="ko-KR" dirty="0" err="1"/>
              <a:t>I,w_hat,H,F</a:t>
            </a:r>
            <a:r>
              <a:rPr lang="ko-KR" altLang="en-US" dirty="0"/>
              <a:t>의 면적</a:t>
            </a:r>
            <a:endParaRPr lang="en-US" altLang="ko-KR" dirty="0"/>
          </a:p>
          <a:p>
            <a:r>
              <a:rPr lang="ko-KR" altLang="en-US" dirty="0"/>
              <a:t>쌍방독점</a:t>
            </a:r>
            <a:endParaRPr lang="en-US" altLang="ko-KR" dirty="0"/>
          </a:p>
          <a:p>
            <a:pPr lvl="1"/>
            <a:r>
              <a:rPr lang="ko-KR" altLang="en-US" dirty="0"/>
              <a:t>노조</a:t>
            </a:r>
            <a:r>
              <a:rPr lang="en-US" altLang="ko-KR" dirty="0"/>
              <a:t>/</a:t>
            </a:r>
            <a:r>
              <a:rPr lang="ko-KR" altLang="en-US" dirty="0"/>
              <a:t>기업간 교섭능력에 따라 가격</a:t>
            </a:r>
            <a:r>
              <a:rPr lang="en-US" altLang="ko-KR" dirty="0"/>
              <a:t>/</a:t>
            </a:r>
            <a:r>
              <a:rPr lang="ko-KR" altLang="en-US" dirty="0"/>
              <a:t>거래량 결정</a:t>
            </a:r>
            <a:endParaRPr lang="en-US" altLang="ko-KR" dirty="0"/>
          </a:p>
          <a:p>
            <a:pPr lvl="1"/>
            <a:r>
              <a:rPr lang="ko-KR" altLang="en-US" dirty="0"/>
              <a:t>가격은 </a:t>
            </a:r>
            <a:r>
              <a:rPr lang="en-US" altLang="ko-KR" dirty="0"/>
              <a:t>(</a:t>
            </a:r>
            <a:r>
              <a:rPr lang="en-US" altLang="ko-KR" dirty="0" err="1"/>
              <a:t>P_bar,P_hat</a:t>
            </a:r>
            <a:r>
              <a:rPr lang="en-US" altLang="ko-KR" dirty="0"/>
              <a:t>), </a:t>
            </a:r>
            <a:r>
              <a:rPr lang="ko-KR" altLang="en-US" dirty="0"/>
              <a:t>거래량은</a:t>
            </a:r>
            <a:r>
              <a:rPr lang="en-US" altLang="ko-KR" dirty="0"/>
              <a:t> (</a:t>
            </a:r>
            <a:r>
              <a:rPr lang="en-US" altLang="ko-KR" dirty="0" err="1"/>
              <a:t>Q_bar,Q_hat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사이에서</a:t>
            </a:r>
            <a:r>
              <a:rPr lang="en-US" altLang="ko-KR" dirty="0"/>
              <a:t> </a:t>
            </a:r>
            <a:r>
              <a:rPr lang="ko-KR" altLang="en-US" dirty="0"/>
              <a:t>결정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r>
              <a:rPr lang="ko-KR" altLang="en-US" dirty="0"/>
              <a:t>생산요소간 대체탄력성</a:t>
            </a:r>
            <a:endParaRPr lang="en-US" altLang="ko-KR" dirty="0"/>
          </a:p>
          <a:p>
            <a:pPr lvl="1"/>
            <a:r>
              <a:rPr lang="ko-KR" altLang="en-US" dirty="0"/>
              <a:t>대탄 작음 </a:t>
            </a:r>
            <a:r>
              <a:rPr lang="en-US" altLang="ko-KR" dirty="0"/>
              <a:t>: </a:t>
            </a:r>
            <a:r>
              <a:rPr lang="ko-KR" altLang="en-US" dirty="0"/>
              <a:t>노동가격 상승 </a:t>
            </a:r>
            <a:r>
              <a:rPr lang="en-US" altLang="ko-KR" dirty="0"/>
              <a:t>-&gt; </a:t>
            </a:r>
            <a:r>
              <a:rPr lang="ko-KR" altLang="en-US" dirty="0"/>
              <a:t>자본 대체 쉽지 않다</a:t>
            </a:r>
            <a:endParaRPr lang="en-US" altLang="ko-KR" dirty="0"/>
          </a:p>
          <a:p>
            <a:pPr lvl="2"/>
            <a:r>
              <a:rPr lang="en-US" altLang="ko-KR" dirty="0"/>
              <a:t>w/v </a:t>
            </a:r>
            <a:r>
              <a:rPr lang="ko-KR" altLang="en-US" dirty="0"/>
              <a:t>상승은 노동의 상대적 몫 크게</a:t>
            </a:r>
            <a:endParaRPr lang="en-US" altLang="ko-KR" dirty="0"/>
          </a:p>
          <a:p>
            <a:pPr lvl="1"/>
            <a:r>
              <a:rPr lang="ko-KR" altLang="en-US" dirty="0"/>
              <a:t>대탄 큼 </a:t>
            </a:r>
            <a:r>
              <a:rPr lang="en-US" altLang="ko-KR" dirty="0"/>
              <a:t>: </a:t>
            </a:r>
            <a:r>
              <a:rPr lang="ko-KR" altLang="en-US" dirty="0"/>
              <a:t>노동가격 조금 상승 </a:t>
            </a:r>
            <a:r>
              <a:rPr lang="en-US" altLang="ko-KR" dirty="0"/>
              <a:t>-&gt; </a:t>
            </a:r>
            <a:r>
              <a:rPr lang="ko-KR" altLang="en-US" dirty="0"/>
              <a:t>자본 쉽게 대체</a:t>
            </a:r>
            <a:endParaRPr lang="en-US" altLang="ko-KR" dirty="0"/>
          </a:p>
          <a:p>
            <a:pPr lvl="2"/>
            <a:r>
              <a:rPr lang="en-US" altLang="ko-KR" dirty="0"/>
              <a:t>w/v</a:t>
            </a:r>
            <a:r>
              <a:rPr lang="ko-KR" altLang="en-US" dirty="0"/>
              <a:t>의 상승은 노동의 상대적 몫 작게</a:t>
            </a:r>
            <a:endParaRPr lang="en-US" altLang="ko-KR" dirty="0"/>
          </a:p>
          <a:p>
            <a:pPr lvl="1"/>
            <a:r>
              <a:rPr lang="ko-KR" altLang="en-US" dirty="0"/>
              <a:t>대체탄력성 </a:t>
            </a:r>
            <a:r>
              <a:rPr lang="en-US" altLang="ko-KR" dirty="0"/>
              <a:t>1 : </a:t>
            </a:r>
            <a:r>
              <a:rPr lang="ko-KR" altLang="en-US" dirty="0"/>
              <a:t>상대가격의 변화 </a:t>
            </a:r>
            <a:r>
              <a:rPr lang="en-US" altLang="ko-KR" dirty="0"/>
              <a:t>-&gt; </a:t>
            </a:r>
            <a:r>
              <a:rPr lang="ko-KR" altLang="en-US" dirty="0"/>
              <a:t>분배의 상대적 몫 변화 </a:t>
            </a:r>
            <a:r>
              <a:rPr lang="en-US" altLang="ko-KR" dirty="0"/>
              <a:t>X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E54C87-B837-C9B1-2775-A9762917035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185C8A-9BE7-6FCB-9EC0-3152E88EC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122" y="583391"/>
            <a:ext cx="2376264" cy="9994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4FB783B-A294-DB88-2A2A-FB0C5A42C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813" y="1582819"/>
            <a:ext cx="1699573" cy="128362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5CDDD3C-7263-13EF-B4B4-FBE9E843D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60" y="2864768"/>
            <a:ext cx="1699572" cy="145121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DEE70F6-872F-B46B-7F0A-67023BFEC2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29" y="4315978"/>
            <a:ext cx="2088232" cy="128714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F57C0F2-84B0-6854-C417-46E6A0A01F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562"/>
          <a:stretch/>
        </p:blipFill>
        <p:spPr>
          <a:xfrm>
            <a:off x="5156723" y="5765512"/>
            <a:ext cx="791062" cy="53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10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3F5CB6B-78C4-A7A2-8062-2E9CB38A9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3F64DF5-BC28-AA97-73FA-AE057CFBA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노동시장과 자본시장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11C821-3AF1-DEEE-B6E4-8D23F81069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313C32A-F7DB-4A5C-8CD3-53EC079383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노동의</a:t>
            </a:r>
            <a:r>
              <a:rPr lang="en-US" altLang="ko-KR" dirty="0"/>
              <a:t> </a:t>
            </a:r>
            <a:r>
              <a:rPr lang="ko-KR" altLang="en-US" dirty="0"/>
              <a:t>공급</a:t>
            </a:r>
            <a:endParaRPr lang="en-US" altLang="ko-KR" dirty="0"/>
          </a:p>
          <a:p>
            <a:pPr lvl="1"/>
            <a:r>
              <a:rPr lang="ko-KR" altLang="en-US" dirty="0"/>
              <a:t>효용극대화 모형 </a:t>
            </a:r>
            <a:r>
              <a:rPr lang="en-US" altLang="ko-KR" dirty="0"/>
              <a:t>: w0, w1 ... W3</a:t>
            </a:r>
            <a:r>
              <a:rPr lang="ko-KR" altLang="en-US" dirty="0"/>
              <a:t>에 따라 </a:t>
            </a:r>
            <a:br>
              <a:rPr lang="en-US" altLang="ko-KR" dirty="0"/>
            </a:br>
            <a:r>
              <a:rPr lang="ko-KR" altLang="en-US" dirty="0"/>
              <a:t>예산선 시계 방향 회전</a:t>
            </a:r>
            <a:endParaRPr lang="en-US" altLang="ko-KR" dirty="0"/>
          </a:p>
          <a:p>
            <a:pPr lvl="1"/>
            <a:r>
              <a:rPr lang="ko-KR" altLang="en-US" dirty="0"/>
              <a:t>효용극대화와 노동시간 결정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 err="1"/>
              <a:t>후굴공급곡선</a:t>
            </a:r>
            <a:r>
              <a:rPr lang="ko-KR" altLang="en-US" dirty="0"/>
              <a:t> </a:t>
            </a:r>
            <a:r>
              <a:rPr lang="en-US" altLang="ko-KR" dirty="0"/>
              <a:t>: w </a:t>
            </a:r>
            <a:r>
              <a:rPr lang="ko-KR" altLang="en-US" dirty="0"/>
              <a:t>일정수준 이상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임금률 상승이 노동 감소</a:t>
            </a:r>
            <a:endParaRPr lang="en-US" altLang="ko-KR" dirty="0"/>
          </a:p>
          <a:p>
            <a:pPr lvl="1"/>
            <a:r>
              <a:rPr lang="ko-KR" altLang="en-US" dirty="0"/>
              <a:t>노동의 시장공급곡선</a:t>
            </a:r>
            <a:endParaRPr lang="en-US" altLang="ko-KR" dirty="0"/>
          </a:p>
          <a:p>
            <a:pPr lvl="2"/>
            <a:r>
              <a:rPr lang="ko-KR" altLang="en-US" dirty="0"/>
              <a:t>개인 노동 공급의 </a:t>
            </a:r>
            <a:r>
              <a:rPr lang="ko-KR" altLang="en-US" dirty="0" err="1"/>
              <a:t>수평합</a:t>
            </a:r>
            <a:endParaRPr lang="en-US" altLang="ko-KR" dirty="0"/>
          </a:p>
          <a:p>
            <a:pPr lvl="2"/>
            <a:r>
              <a:rPr lang="ko-KR" altLang="en-US" dirty="0" err="1"/>
              <a:t>유보임금률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이 수준 이하 </a:t>
            </a:r>
            <a:r>
              <a:rPr lang="en-US" altLang="ko-KR" dirty="0"/>
              <a:t>-&gt; </a:t>
            </a:r>
            <a:r>
              <a:rPr lang="ko-KR" altLang="en-US" dirty="0"/>
              <a:t>참여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노동공급모형의 한계</a:t>
            </a:r>
            <a:endParaRPr lang="en-US" altLang="ko-KR" dirty="0"/>
          </a:p>
          <a:p>
            <a:pPr lvl="2"/>
            <a:r>
              <a:rPr lang="ko-KR" altLang="en-US" dirty="0"/>
              <a:t>노동시간 조절 </a:t>
            </a:r>
            <a:r>
              <a:rPr lang="en-US" altLang="ko-KR" dirty="0"/>
              <a:t>X(</a:t>
            </a:r>
            <a:r>
              <a:rPr lang="ko-KR" altLang="en-US" dirty="0"/>
              <a:t>장기적 </a:t>
            </a:r>
            <a:r>
              <a:rPr lang="en-US" altLang="ko-KR" dirty="0"/>
              <a:t>ok)</a:t>
            </a:r>
          </a:p>
          <a:p>
            <a:r>
              <a:rPr lang="ko-KR" altLang="en-US" dirty="0"/>
              <a:t>자본서비스에 대한 수요</a:t>
            </a:r>
            <a:endParaRPr lang="en-US" altLang="ko-KR" dirty="0"/>
          </a:p>
          <a:p>
            <a:pPr lvl="1"/>
            <a:r>
              <a:rPr lang="en-US" altLang="ko-KR" dirty="0"/>
              <a:t>V = </a:t>
            </a:r>
            <a:r>
              <a:rPr lang="en-US" altLang="ko-KR" dirty="0" err="1"/>
              <a:t>MPk</a:t>
            </a:r>
            <a:r>
              <a:rPr lang="en-US" altLang="ko-KR" dirty="0"/>
              <a:t> * P; </a:t>
            </a:r>
            <a:r>
              <a:rPr lang="ko-KR" altLang="en-US" dirty="0"/>
              <a:t>자본재의</a:t>
            </a:r>
            <a:r>
              <a:rPr lang="en-US" altLang="ko-KR" dirty="0"/>
              <a:t> </a:t>
            </a:r>
            <a:r>
              <a:rPr lang="ko-KR" altLang="en-US" dirty="0"/>
              <a:t>기회비용 </a:t>
            </a:r>
            <a:r>
              <a:rPr lang="en-US" altLang="ko-KR" dirty="0"/>
              <a:t>: </a:t>
            </a:r>
            <a:r>
              <a:rPr lang="ko-KR" altLang="en-US" dirty="0"/>
              <a:t>임대료 </a:t>
            </a:r>
            <a:r>
              <a:rPr lang="en-US" altLang="ko-KR" dirty="0"/>
              <a:t>= </a:t>
            </a:r>
            <a:r>
              <a:rPr lang="ko-KR" altLang="en-US" dirty="0"/>
              <a:t>감가상각 </a:t>
            </a:r>
            <a:r>
              <a:rPr lang="en-US" altLang="ko-KR" dirty="0"/>
              <a:t>+ </a:t>
            </a:r>
            <a:r>
              <a:rPr lang="ko-KR" altLang="en-US" dirty="0"/>
              <a:t>투입 자금의 이자</a:t>
            </a:r>
            <a:endParaRPr lang="en-US" altLang="ko-KR" dirty="0"/>
          </a:p>
          <a:p>
            <a:pPr lvl="2"/>
            <a:r>
              <a:rPr lang="en-US" altLang="ko-KR" dirty="0"/>
              <a:t>  		     </a:t>
            </a:r>
          </a:p>
          <a:p>
            <a:r>
              <a:rPr lang="ko-KR" altLang="en-US" dirty="0"/>
              <a:t>투자이론</a:t>
            </a:r>
            <a:endParaRPr lang="en-US" altLang="ko-KR" dirty="0"/>
          </a:p>
          <a:p>
            <a:pPr lvl="1"/>
            <a:r>
              <a:rPr lang="ko-KR" altLang="en-US" dirty="0"/>
              <a:t>현재가치</a:t>
            </a:r>
            <a:r>
              <a:rPr lang="en-US" altLang="ko-KR" dirty="0"/>
              <a:t> : PV = 1/(1+r)^n</a:t>
            </a:r>
          </a:p>
          <a:p>
            <a:pPr lvl="1"/>
            <a:r>
              <a:rPr lang="ko-KR" altLang="en-US" dirty="0"/>
              <a:t>현재가치법</a:t>
            </a:r>
            <a:r>
              <a:rPr lang="en-US" altLang="ko-KR" dirty="0"/>
              <a:t> : r</a:t>
            </a:r>
            <a:r>
              <a:rPr lang="ko-KR" altLang="en-US" dirty="0"/>
              <a:t>은 이자율</a:t>
            </a:r>
            <a:r>
              <a:rPr lang="en-US" altLang="ko-KR" dirty="0"/>
              <a:t>/</a:t>
            </a:r>
            <a:r>
              <a:rPr lang="ko-KR" altLang="en-US" dirty="0" err="1"/>
              <a:t>할인률</a:t>
            </a:r>
            <a:endParaRPr lang="en-US" altLang="ko-KR" dirty="0"/>
          </a:p>
          <a:p>
            <a:pPr lvl="1"/>
            <a:r>
              <a:rPr lang="ko-KR" altLang="en-US" dirty="0"/>
              <a:t>내부수익률법 </a:t>
            </a:r>
            <a:r>
              <a:rPr lang="en-US" altLang="ko-KR" dirty="0"/>
              <a:t>: </a:t>
            </a:r>
            <a:r>
              <a:rPr lang="ko-KR" altLang="en-US" dirty="0"/>
              <a:t>로에 대한 </a:t>
            </a:r>
            <a:r>
              <a:rPr lang="en-US" altLang="ko-KR" dirty="0"/>
              <a:t>n</a:t>
            </a:r>
            <a:r>
              <a:rPr lang="ko-KR" altLang="en-US" dirty="0"/>
              <a:t>차 방정식의 해 로</a:t>
            </a:r>
            <a:r>
              <a:rPr lang="en-US" altLang="ko-KR" dirty="0"/>
              <a:t>*</a:t>
            </a:r>
            <a:r>
              <a:rPr lang="ko-KR" altLang="en-US" dirty="0"/>
              <a:t> 보다</a:t>
            </a:r>
            <a:br>
              <a:rPr lang="en-US" altLang="ko-KR" dirty="0"/>
            </a:br>
            <a:r>
              <a:rPr lang="ko-KR" altLang="en-US" dirty="0"/>
              <a:t>크면 투자</a:t>
            </a:r>
            <a:r>
              <a:rPr lang="en-US" altLang="ko-KR" dirty="0"/>
              <a:t>, </a:t>
            </a:r>
            <a:r>
              <a:rPr lang="ko-KR" altLang="en-US" dirty="0"/>
              <a:t>작으면 투자 </a:t>
            </a:r>
            <a:r>
              <a:rPr lang="en-US" altLang="ko-KR" dirty="0"/>
              <a:t>X</a:t>
            </a:r>
          </a:p>
          <a:p>
            <a:r>
              <a:rPr lang="ko-KR" altLang="en-US" dirty="0"/>
              <a:t>시점간 자원배분의 모형</a:t>
            </a:r>
            <a:endParaRPr lang="en-US" altLang="ko-KR" dirty="0"/>
          </a:p>
          <a:p>
            <a:pPr lvl="1"/>
            <a:r>
              <a:rPr lang="ko-KR" altLang="en-US" dirty="0"/>
              <a:t>수익률 </a:t>
            </a:r>
            <a:r>
              <a:rPr lang="en-US" altLang="ko-KR" dirty="0"/>
              <a:t>: 		</a:t>
            </a:r>
            <a:r>
              <a:rPr lang="ko-KR" altLang="en-US" dirty="0"/>
              <a:t>두 시점간 상대가격 </a:t>
            </a:r>
            <a:r>
              <a:rPr lang="en-US" altLang="ko-KR" dirty="0"/>
              <a:t>: </a:t>
            </a:r>
          </a:p>
          <a:p>
            <a:pPr lvl="1"/>
            <a:r>
              <a:rPr lang="ko-KR" altLang="en-US" dirty="0"/>
              <a:t>현재소득을 전부 투자할 때 얻는 미래 소비 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691BF0-EE3B-91F9-871E-78D13980F6A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9010058-13A0-915F-8356-2E506CAD0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075" y="824520"/>
            <a:ext cx="1182448" cy="9361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CE5F829-DA3D-4F3E-57FB-85C31A7EC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202" y="607094"/>
            <a:ext cx="1149832" cy="13360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0B4EF3B-C905-433F-49A9-A7C2C570E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067" y="1832632"/>
            <a:ext cx="2412269" cy="123545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609F72B-872A-CA61-8EFC-8B270A5637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0848" y="3296816"/>
            <a:ext cx="1467049" cy="18913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F89A74C-55C1-EAE4-A405-1E34E7AB4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068" y="3728864"/>
            <a:ext cx="1454089" cy="49124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E0CFA75-58A9-DF1F-330C-7289ACF4CA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1954" y="3974487"/>
            <a:ext cx="1871421" cy="3346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B060E61-2285-8C7F-30C0-1C111FC9FA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4509" y="4808841"/>
            <a:ext cx="819725" cy="28831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361F2F9-D384-A5A6-FDC4-17AB7B1FE8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8942" y="4741988"/>
            <a:ext cx="899725" cy="28316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690B2DB-A2FF-9824-6F54-D5FE6F1C04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5105" y="5097158"/>
            <a:ext cx="899726" cy="34057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3180E01-3E81-4FEE-E2AE-059D352045B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30675" y="4340209"/>
            <a:ext cx="1115938" cy="111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96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3250BDA-D0F8-7817-0D74-CF6364AE9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8D15481-6ED1-735F-FCA7-AA3D46C8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일반균형이론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28D12E-F859-D207-2BB4-ECC18256A3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4EA88D5-61F1-29F4-F83F-D39498E619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일반균형의 의미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소비자 </a:t>
            </a:r>
            <a:r>
              <a:rPr lang="en-US" altLang="ko-KR" dirty="0"/>
              <a:t>-&gt; </a:t>
            </a:r>
            <a:r>
              <a:rPr lang="ko-KR" altLang="en-US" dirty="0"/>
              <a:t>예산제약하의 효용 극대화 되는 </a:t>
            </a:r>
            <a:r>
              <a:rPr lang="ko-KR" altLang="en-US" dirty="0" err="1"/>
              <a:t>상품묶음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소비자 </a:t>
            </a:r>
            <a:r>
              <a:rPr lang="en-US" altLang="ko-KR" dirty="0"/>
              <a:t>-&gt; </a:t>
            </a:r>
            <a:r>
              <a:rPr lang="ko-KR" altLang="en-US" dirty="0"/>
              <a:t>원하는 만큼 생산요소 공급 </a:t>
            </a:r>
            <a:r>
              <a:rPr lang="en-US" altLang="ko-KR" dirty="0"/>
              <a:t>3) </a:t>
            </a:r>
            <a:r>
              <a:rPr lang="ko-KR" altLang="en-US" dirty="0"/>
              <a:t>기업 </a:t>
            </a:r>
            <a:r>
              <a:rPr lang="en-US" altLang="ko-KR" dirty="0"/>
              <a:t>-&gt; </a:t>
            </a:r>
            <a:r>
              <a:rPr lang="ko-KR" altLang="en-US" dirty="0"/>
              <a:t>주어진 여건하 이윤 극대</a:t>
            </a:r>
            <a:br>
              <a:rPr lang="en-US" altLang="ko-KR" dirty="0"/>
            </a:br>
            <a:r>
              <a:rPr lang="en-US" altLang="ko-KR" dirty="0"/>
              <a:t>4) </a:t>
            </a:r>
            <a:r>
              <a:rPr lang="ko-KR" altLang="en-US" dirty="0"/>
              <a:t>가격체계하의 모든 상품</a:t>
            </a:r>
            <a:r>
              <a:rPr lang="en-US" altLang="ko-KR" dirty="0"/>
              <a:t>/</a:t>
            </a:r>
            <a:r>
              <a:rPr lang="ko-KR" altLang="en-US" dirty="0"/>
              <a:t>생산요소 시장에서 수요 공급 일치</a:t>
            </a:r>
            <a:endParaRPr lang="en-US" altLang="ko-KR" dirty="0"/>
          </a:p>
          <a:p>
            <a:r>
              <a:rPr lang="ko-KR" altLang="en-US" dirty="0"/>
              <a:t>순수교환경제에서의 일반균형</a:t>
            </a:r>
            <a:endParaRPr lang="en-US" altLang="ko-KR" dirty="0"/>
          </a:p>
          <a:p>
            <a:pPr lvl="1"/>
            <a:r>
              <a:rPr lang="ko-KR" altLang="en-US" dirty="0" err="1"/>
              <a:t>에지워스</a:t>
            </a:r>
            <a:r>
              <a:rPr lang="ko-KR" altLang="en-US" dirty="0"/>
              <a:t> 박스 </a:t>
            </a:r>
            <a:r>
              <a:rPr lang="en-US" altLang="ko-KR" dirty="0"/>
              <a:t>: </a:t>
            </a:r>
            <a:r>
              <a:rPr lang="ko-KR" altLang="en-US" dirty="0"/>
              <a:t>두 소비자는 </a:t>
            </a:r>
            <a:r>
              <a:rPr lang="ko-KR" altLang="en-US" dirty="0" err="1"/>
              <a:t>초기점</a:t>
            </a:r>
            <a:r>
              <a:rPr lang="ko-KR" altLang="en-US" dirty="0"/>
              <a:t> </a:t>
            </a:r>
            <a:r>
              <a:rPr lang="en-US" altLang="ko-KR" dirty="0"/>
              <a:t>I</a:t>
            </a:r>
            <a:r>
              <a:rPr lang="ko-KR" altLang="en-US" dirty="0"/>
              <a:t>에서 노랑색</a:t>
            </a:r>
            <a:br>
              <a:rPr lang="en-US" altLang="ko-KR" dirty="0"/>
            </a:br>
            <a:r>
              <a:rPr lang="ko-KR" altLang="en-US" dirty="0"/>
              <a:t>영역 어떤 점이든 최소 </a:t>
            </a:r>
            <a:r>
              <a:rPr lang="ko-KR" altLang="en-US" dirty="0" err="1"/>
              <a:t>한명</a:t>
            </a:r>
            <a:r>
              <a:rPr lang="ko-KR" altLang="en-US" dirty="0"/>
              <a:t> 이상 더 높은 효용</a:t>
            </a:r>
            <a:endParaRPr lang="en-US" altLang="ko-KR" dirty="0"/>
          </a:p>
          <a:p>
            <a:pPr lvl="1"/>
            <a:r>
              <a:rPr lang="ko-KR" altLang="en-US" dirty="0" err="1"/>
              <a:t>파래토</a:t>
            </a:r>
            <a:r>
              <a:rPr lang="ko-KR" altLang="en-US" dirty="0"/>
              <a:t> 효율성 </a:t>
            </a:r>
            <a:r>
              <a:rPr lang="en-US" altLang="ko-KR" dirty="0"/>
              <a:t>: </a:t>
            </a:r>
            <a:r>
              <a:rPr lang="ko-KR" altLang="en-US" dirty="0"/>
              <a:t>타인에게 손해 </a:t>
            </a:r>
            <a:r>
              <a:rPr lang="en-US" altLang="ko-KR" dirty="0"/>
              <a:t>X, </a:t>
            </a:r>
            <a:r>
              <a:rPr lang="ko-KR" altLang="en-US" dirty="0"/>
              <a:t>한</a:t>
            </a:r>
            <a:r>
              <a:rPr lang="en-US" altLang="ko-KR" dirty="0"/>
              <a:t> </a:t>
            </a:r>
            <a:r>
              <a:rPr lang="ko-KR" altLang="en-US" dirty="0"/>
              <a:t>사람에게 이득이 </a:t>
            </a:r>
            <a:br>
              <a:rPr lang="en-US" altLang="ko-KR" dirty="0"/>
            </a:br>
            <a:r>
              <a:rPr lang="ko-KR" altLang="en-US" dirty="0"/>
              <a:t>되는 개선이 불가한 배분상태</a:t>
            </a:r>
            <a:r>
              <a:rPr lang="en-US" altLang="ko-KR" dirty="0"/>
              <a:t>(</a:t>
            </a:r>
            <a:r>
              <a:rPr lang="ko-KR" altLang="en-US" dirty="0"/>
              <a:t>더이상 개선</a:t>
            </a:r>
            <a:r>
              <a:rPr lang="en-US" altLang="ko-KR" dirty="0"/>
              <a:t>X)</a:t>
            </a:r>
          </a:p>
          <a:p>
            <a:pPr lvl="1"/>
            <a:r>
              <a:rPr lang="ko-KR" altLang="en-US" dirty="0"/>
              <a:t>계약곡선 </a:t>
            </a:r>
            <a:r>
              <a:rPr lang="en-US" altLang="ko-KR" dirty="0"/>
              <a:t>: </a:t>
            </a:r>
            <a:r>
              <a:rPr lang="ko-KR" altLang="en-US" dirty="0" err="1"/>
              <a:t>파레토효율적</a:t>
            </a:r>
            <a:r>
              <a:rPr lang="ko-KR" altLang="en-US" dirty="0"/>
              <a:t> 배분점을 이은 선</a:t>
            </a:r>
            <a:endParaRPr lang="en-US" altLang="ko-KR" dirty="0"/>
          </a:p>
          <a:p>
            <a:pPr lvl="1"/>
            <a:r>
              <a:rPr lang="ko-KR" altLang="en-US" dirty="0"/>
              <a:t>모색과정 </a:t>
            </a:r>
            <a:r>
              <a:rPr lang="en-US" altLang="ko-KR" dirty="0"/>
              <a:t>: </a:t>
            </a:r>
            <a:r>
              <a:rPr lang="ko-KR" altLang="en-US" dirty="0"/>
              <a:t>상대가격 재조정</a:t>
            </a:r>
            <a:endParaRPr lang="en-US" altLang="ko-KR" dirty="0"/>
          </a:p>
          <a:p>
            <a:pPr lvl="2"/>
            <a:r>
              <a:rPr lang="en-US" altLang="ko-KR" dirty="0"/>
              <a:t>A : </a:t>
            </a:r>
            <a:r>
              <a:rPr lang="ko-KR" altLang="en-US" dirty="0"/>
              <a:t>초기보유보다 </a:t>
            </a:r>
            <a:r>
              <a:rPr lang="en-US" altLang="ko-KR" dirty="0"/>
              <a:t>y</a:t>
            </a:r>
            <a:r>
              <a:rPr lang="ko-KR" altLang="en-US" dirty="0"/>
              <a:t>의 초과수요</a:t>
            </a:r>
            <a:r>
              <a:rPr lang="en-US" altLang="ko-KR" dirty="0"/>
              <a:t>, x</a:t>
            </a:r>
            <a:r>
              <a:rPr lang="ko-KR" altLang="en-US" dirty="0"/>
              <a:t>의 초과공급</a:t>
            </a:r>
            <a:br>
              <a:rPr lang="en-US" altLang="ko-KR" dirty="0"/>
            </a:br>
            <a:r>
              <a:rPr lang="en-US" altLang="ko-KR" dirty="0"/>
              <a:t>B : </a:t>
            </a:r>
            <a:r>
              <a:rPr lang="ko-KR" altLang="en-US" dirty="0"/>
              <a:t>초기보유보다 </a:t>
            </a:r>
            <a:r>
              <a:rPr lang="en-US" altLang="ko-KR" dirty="0"/>
              <a:t>x</a:t>
            </a:r>
            <a:r>
              <a:rPr lang="ko-KR" altLang="en-US" dirty="0"/>
              <a:t>의 초과수요</a:t>
            </a:r>
            <a:r>
              <a:rPr lang="en-US" altLang="ko-KR" dirty="0"/>
              <a:t>, y</a:t>
            </a:r>
            <a:r>
              <a:rPr lang="ko-KR" altLang="en-US" dirty="0"/>
              <a:t>의 초과공급</a:t>
            </a:r>
            <a:endParaRPr lang="en-US" altLang="ko-KR" dirty="0"/>
          </a:p>
          <a:p>
            <a:pPr lvl="2"/>
            <a:r>
              <a:rPr lang="en-US" altLang="ko-KR" dirty="0" err="1"/>
              <a:t>Ya+Yb</a:t>
            </a:r>
            <a:r>
              <a:rPr lang="en-US" altLang="ko-KR" dirty="0"/>
              <a:t> &gt; </a:t>
            </a:r>
            <a:r>
              <a:rPr lang="en-US" altLang="ko-KR" dirty="0" err="1"/>
              <a:t>Y_bar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재에 대해 초과소비</a:t>
            </a:r>
            <a:br>
              <a:rPr lang="en-US" altLang="ko-KR" dirty="0"/>
            </a:br>
            <a:r>
              <a:rPr lang="en-US" altLang="ko-KR" dirty="0" err="1"/>
              <a:t>Xa+Xb</a:t>
            </a:r>
            <a:r>
              <a:rPr lang="en-US" altLang="ko-KR" dirty="0"/>
              <a:t> &lt; </a:t>
            </a:r>
            <a:r>
              <a:rPr lang="en-US" altLang="ko-KR" dirty="0" err="1"/>
              <a:t>X_bar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재에 대해 초과공급</a:t>
            </a:r>
            <a:endParaRPr lang="en-US" altLang="ko-KR" dirty="0"/>
          </a:p>
          <a:p>
            <a:pPr lvl="2"/>
            <a:r>
              <a:rPr lang="en-US" altLang="ko-KR" dirty="0"/>
              <a:t>X</a:t>
            </a:r>
            <a:r>
              <a:rPr lang="ko-KR" altLang="en-US" dirty="0"/>
              <a:t>재 가격 하락 </a:t>
            </a:r>
            <a:r>
              <a:rPr lang="en-US" altLang="ko-KR" dirty="0"/>
              <a:t>-&gt; </a:t>
            </a:r>
            <a:r>
              <a:rPr lang="ko-KR" altLang="en-US" dirty="0"/>
              <a:t>가격비율 완만</a:t>
            </a:r>
            <a:br>
              <a:rPr lang="en-US" altLang="ko-KR" dirty="0"/>
            </a:br>
            <a:r>
              <a:rPr lang="ko-KR" altLang="en-US" dirty="0"/>
              <a:t>따라서</a:t>
            </a:r>
            <a:r>
              <a:rPr lang="en-US" altLang="ko-KR" dirty="0"/>
              <a:t> Y</a:t>
            </a:r>
            <a:r>
              <a:rPr lang="ko-KR" altLang="en-US" dirty="0"/>
              <a:t>재 가격 상승</a:t>
            </a:r>
            <a:r>
              <a:rPr lang="en-US" altLang="ko-KR" dirty="0"/>
              <a:t>, X</a:t>
            </a:r>
            <a:r>
              <a:rPr lang="ko-KR" altLang="en-US" dirty="0"/>
              <a:t>재 초과공급</a:t>
            </a:r>
            <a:endParaRPr lang="en-US" altLang="ko-KR" dirty="0"/>
          </a:p>
          <a:p>
            <a:pPr lvl="1"/>
            <a:r>
              <a:rPr lang="ko-KR" altLang="en-US" dirty="0"/>
              <a:t>왈라스 균형 </a:t>
            </a:r>
            <a:r>
              <a:rPr lang="en-US" altLang="ko-KR" dirty="0"/>
              <a:t>: </a:t>
            </a:r>
            <a:r>
              <a:rPr lang="ko-KR" altLang="en-US" dirty="0"/>
              <a:t>모색과정의 결과</a:t>
            </a:r>
            <a:r>
              <a:rPr lang="en-US" altLang="ko-KR" dirty="0"/>
              <a:t>; </a:t>
            </a:r>
            <a:r>
              <a:rPr lang="ko-KR" altLang="en-US" dirty="0"/>
              <a:t>각 소비자의 효용 극대</a:t>
            </a:r>
            <a:br>
              <a:rPr lang="en-US" altLang="ko-KR" dirty="0"/>
            </a:br>
            <a:r>
              <a:rPr lang="ko-KR" altLang="en-US" dirty="0"/>
              <a:t>상품의 수요</a:t>
            </a:r>
            <a:r>
              <a:rPr lang="en-US" altLang="ko-KR" dirty="0"/>
              <a:t>/</a:t>
            </a:r>
            <a:r>
              <a:rPr lang="ko-KR" altLang="en-US" dirty="0"/>
              <a:t>공급 일치</a:t>
            </a:r>
            <a:endParaRPr lang="en-US" altLang="ko-KR" dirty="0"/>
          </a:p>
          <a:p>
            <a:pPr lvl="2"/>
            <a:r>
              <a:rPr lang="en-US" altLang="ko-KR" dirty="0"/>
              <a:t>(QA or QB) -&gt; 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파래토</a:t>
            </a:r>
            <a:r>
              <a:rPr lang="ko-KR" altLang="en-US" dirty="0"/>
              <a:t> 개선 </a:t>
            </a:r>
            <a:r>
              <a:rPr lang="en-US" altLang="ko-KR" dirty="0"/>
              <a:t>-&gt; </a:t>
            </a:r>
            <a:r>
              <a:rPr lang="ko-KR" altLang="en-US" dirty="0" err="1"/>
              <a:t>초과과부족</a:t>
            </a:r>
            <a:r>
              <a:rPr lang="ko-KR" altLang="en-US" dirty="0"/>
              <a:t> </a:t>
            </a:r>
            <a:r>
              <a:rPr lang="en-US" altLang="ko-KR" dirty="0"/>
              <a:t>X, </a:t>
            </a:r>
            <a:r>
              <a:rPr lang="ko-KR" altLang="en-US" dirty="0"/>
              <a:t>소비자들이</a:t>
            </a:r>
            <a:r>
              <a:rPr lang="en-US" altLang="ko-KR" dirty="0"/>
              <a:t> </a:t>
            </a:r>
            <a:r>
              <a:rPr lang="ko-KR" altLang="en-US" dirty="0"/>
              <a:t>균형점 찾아 소비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일반경쟁균형과 효율성</a:t>
            </a:r>
            <a:endParaRPr lang="en-US" altLang="ko-KR" dirty="0"/>
          </a:p>
          <a:p>
            <a:pPr lvl="1"/>
            <a:r>
              <a:rPr lang="ko-KR" altLang="en-US" dirty="0"/>
              <a:t>후생경제학 제 </a:t>
            </a:r>
            <a:r>
              <a:rPr lang="en-US" altLang="ko-KR" dirty="0"/>
              <a:t>1</a:t>
            </a:r>
            <a:r>
              <a:rPr lang="ko-KR" altLang="en-US" dirty="0"/>
              <a:t>정리 </a:t>
            </a:r>
            <a:r>
              <a:rPr lang="en-US" altLang="ko-KR" dirty="0"/>
              <a:t>: </a:t>
            </a:r>
            <a:r>
              <a:rPr lang="ko-KR" altLang="en-US" dirty="0"/>
              <a:t>모든 소비자의 선호체계가 강단조성</a:t>
            </a:r>
            <a:r>
              <a:rPr lang="en-US" altLang="ko-KR" dirty="0"/>
              <a:t>, </a:t>
            </a:r>
            <a:r>
              <a:rPr lang="ko-KR" altLang="en-US" dirty="0" err="1"/>
              <a:t>외부성</a:t>
            </a:r>
            <a:r>
              <a:rPr lang="ko-KR" altLang="en-US" dirty="0"/>
              <a:t> </a:t>
            </a:r>
            <a:r>
              <a:rPr lang="en-US" altLang="ko-KR" dirty="0"/>
              <a:t>X.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일반경쟁균형의 배분은 </a:t>
            </a:r>
            <a:r>
              <a:rPr lang="ko-KR" altLang="en-US" dirty="0" err="1"/>
              <a:t>파래토효율적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보이지 않는 손 현대적 해석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후생경제 제 </a:t>
            </a:r>
            <a:r>
              <a:rPr lang="en-US" altLang="ko-KR" dirty="0"/>
              <a:t>2</a:t>
            </a:r>
            <a:r>
              <a:rPr lang="ko-KR" altLang="en-US" dirty="0"/>
              <a:t>정리 </a:t>
            </a:r>
            <a:r>
              <a:rPr lang="en-US" altLang="ko-KR" dirty="0"/>
              <a:t>: </a:t>
            </a:r>
            <a:r>
              <a:rPr lang="ko-KR" altLang="en-US" dirty="0"/>
              <a:t>초기부존 적절 분배</a:t>
            </a:r>
            <a:r>
              <a:rPr lang="en-US" altLang="ko-KR" dirty="0"/>
              <a:t>, </a:t>
            </a:r>
            <a:r>
              <a:rPr lang="ko-KR" altLang="en-US" dirty="0"/>
              <a:t>모두의 선호가 </a:t>
            </a:r>
            <a:r>
              <a:rPr lang="ko-KR" altLang="en-US" dirty="0" err="1"/>
              <a:t>볼록성</a:t>
            </a:r>
            <a:r>
              <a:rPr lang="en-US" altLang="ko-KR" dirty="0"/>
              <a:t>O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파레토 효율적 배분</a:t>
            </a:r>
            <a:r>
              <a:rPr lang="en-US" altLang="ko-KR" dirty="0"/>
              <a:t>? :</a:t>
            </a:r>
            <a:r>
              <a:rPr lang="ko-KR" altLang="en-US" dirty="0"/>
              <a:t> 일반경쟁균형으로 실현</a:t>
            </a:r>
            <a:endParaRPr lang="en-US" altLang="ko-KR" dirty="0"/>
          </a:p>
          <a:p>
            <a:pPr lvl="2"/>
            <a:r>
              <a:rPr lang="en-US" altLang="ko-KR" dirty="0"/>
              <a:t>M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H : X, M -&gt;N : O</a:t>
            </a:r>
            <a:br>
              <a:rPr lang="en-US" altLang="ko-KR" dirty="0"/>
            </a:br>
            <a:r>
              <a:rPr lang="en-US" altLang="ko-KR" dirty="0"/>
              <a:t>M-&gt;R : </a:t>
            </a:r>
            <a:r>
              <a:rPr lang="ko-KR" altLang="en-US" dirty="0"/>
              <a:t>인위적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R -&gt;H : </a:t>
            </a:r>
            <a:r>
              <a:rPr lang="ko-KR" altLang="en-US" dirty="0"/>
              <a:t>자연적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7B463F-E6BA-84A0-CBF2-846E5A2BE6E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8297C31-31F5-7E8B-BCF7-ED084E62F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168" y="1280592"/>
            <a:ext cx="1717783" cy="129614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C5B6015-D991-C51D-70F5-E2A39F67C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168" y="2576736"/>
            <a:ext cx="1717783" cy="133199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2C32311-AD0D-0403-B580-42603D457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824" y="4448944"/>
            <a:ext cx="1843668" cy="136815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D7E1857-A2E5-175B-C993-2EBE03D94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2015" y="4448943"/>
            <a:ext cx="1843668" cy="137347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5DAA3D2-2479-F09E-7B58-E386EC6E7C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6724" y="6825208"/>
            <a:ext cx="1561161" cy="122413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52ABB5F-F67F-27E5-559C-D94E99AC25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7885" y="6825208"/>
            <a:ext cx="1592852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11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230F794-C852-3399-A59F-607C7301B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21E8F9F-8AFD-CB19-1100-E0D8B5049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0C27C0-C526-813F-F500-E03868E989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D4991B3-3C51-0D7F-5540-108C240515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시장의 실패와 자원배분</a:t>
            </a:r>
            <a:endParaRPr lang="en-US" altLang="ko-KR" dirty="0"/>
          </a:p>
          <a:p>
            <a:pPr lvl="1"/>
            <a:r>
              <a:rPr lang="ko-KR" altLang="en-US" dirty="0"/>
              <a:t>시장실패 요인 </a:t>
            </a:r>
            <a:r>
              <a:rPr lang="en-US" altLang="ko-KR" dirty="0"/>
              <a:t>: </a:t>
            </a:r>
            <a:r>
              <a:rPr lang="ko-KR" altLang="en-US" dirty="0"/>
              <a:t>불완전경쟁</a:t>
            </a:r>
            <a:r>
              <a:rPr lang="en-US" altLang="ko-KR" dirty="0"/>
              <a:t>(</a:t>
            </a:r>
            <a:r>
              <a:rPr lang="ko-KR" altLang="en-US" dirty="0"/>
              <a:t>자원배분효율 </a:t>
            </a:r>
            <a:r>
              <a:rPr lang="en-US" altLang="ko-KR" dirty="0"/>
              <a:t>-&gt; </a:t>
            </a:r>
            <a:r>
              <a:rPr lang="ko-KR" altLang="en-US" dirty="0"/>
              <a:t>완전경쟁</a:t>
            </a:r>
            <a:r>
              <a:rPr lang="en-US" altLang="ko-KR" dirty="0"/>
              <a:t>O), </a:t>
            </a:r>
            <a:br>
              <a:rPr lang="en-US" altLang="ko-KR" dirty="0"/>
            </a:br>
            <a:r>
              <a:rPr lang="ko-KR" altLang="en-US" dirty="0"/>
              <a:t>공공재</a:t>
            </a:r>
            <a:r>
              <a:rPr lang="en-US" altLang="ko-KR" dirty="0"/>
              <a:t>(</a:t>
            </a:r>
            <a:r>
              <a:rPr lang="ko-KR" altLang="en-US" dirty="0"/>
              <a:t>비경합성</a:t>
            </a:r>
            <a:r>
              <a:rPr lang="en-US" altLang="ko-KR" dirty="0"/>
              <a:t>+</a:t>
            </a:r>
            <a:r>
              <a:rPr lang="ko-KR" altLang="en-US" dirty="0" err="1"/>
              <a:t>비배재성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가격매기기</a:t>
            </a:r>
            <a:r>
              <a:rPr lang="en-US" altLang="ko-KR" dirty="0"/>
              <a:t>X),  </a:t>
            </a:r>
            <a:r>
              <a:rPr lang="ko-KR" altLang="en-US" dirty="0" err="1"/>
              <a:t>외부성</a:t>
            </a:r>
            <a:r>
              <a:rPr lang="en-US" altLang="ko-KR" dirty="0"/>
              <a:t>, </a:t>
            </a:r>
            <a:r>
              <a:rPr lang="ko-KR" altLang="en-US" dirty="0"/>
              <a:t>불확실성</a:t>
            </a:r>
            <a:r>
              <a:rPr lang="en-US" altLang="ko-KR" dirty="0"/>
              <a:t>, </a:t>
            </a:r>
            <a:r>
              <a:rPr lang="ko-KR" altLang="en-US" dirty="0"/>
              <a:t>불완전 정보</a:t>
            </a:r>
            <a:endParaRPr lang="en-US" altLang="ko-KR" dirty="0"/>
          </a:p>
          <a:p>
            <a:r>
              <a:rPr lang="ko-KR" altLang="en-US" dirty="0"/>
              <a:t>공공재의 문제</a:t>
            </a:r>
            <a:endParaRPr lang="en-US" altLang="ko-KR" dirty="0"/>
          </a:p>
          <a:p>
            <a:pPr lvl="1"/>
            <a:r>
              <a:rPr lang="ko-KR" altLang="en-US" dirty="0"/>
              <a:t>공공재는 개별자의 수요를 수직으로 더함</a:t>
            </a:r>
            <a:endParaRPr lang="en-US" altLang="ko-KR" dirty="0"/>
          </a:p>
          <a:p>
            <a:r>
              <a:rPr lang="ko-KR" altLang="en-US" dirty="0"/>
              <a:t>외부성과 환경오염문제</a:t>
            </a:r>
            <a:endParaRPr lang="en-US" altLang="ko-KR" dirty="0"/>
          </a:p>
          <a:p>
            <a:pPr lvl="1"/>
            <a:r>
              <a:rPr lang="ko-KR" altLang="en-US" dirty="0"/>
              <a:t>오염방출이 많을수록</a:t>
            </a:r>
            <a:r>
              <a:rPr lang="en-US" altLang="ko-KR" dirty="0"/>
              <a:t>,</a:t>
            </a:r>
            <a:r>
              <a:rPr lang="ko-KR" altLang="en-US" dirty="0"/>
              <a:t> 정부가 완화</a:t>
            </a:r>
            <a:br>
              <a:rPr lang="en-US" altLang="ko-KR" dirty="0"/>
            </a:br>
            <a:r>
              <a:rPr lang="ko-KR" altLang="en-US" dirty="0"/>
              <a:t>시킬수록 기업의 비용은 낮음</a:t>
            </a:r>
            <a:endParaRPr lang="en-US" altLang="ko-KR" dirty="0"/>
          </a:p>
          <a:p>
            <a:pPr lvl="1"/>
            <a:r>
              <a:rPr lang="en-US" altLang="ko-KR" dirty="0"/>
              <a:t>TCA = </a:t>
            </a:r>
            <a:r>
              <a:rPr lang="ko-KR" altLang="en-US" dirty="0"/>
              <a:t>사회구성원의 비용</a:t>
            </a:r>
            <a:br>
              <a:rPr lang="en-US" altLang="ko-KR" dirty="0"/>
            </a:br>
            <a:r>
              <a:rPr lang="en-US" altLang="ko-KR" dirty="0"/>
              <a:t>TCB = </a:t>
            </a:r>
            <a:r>
              <a:rPr lang="ko-KR" altLang="en-US" dirty="0"/>
              <a:t>기업의</a:t>
            </a:r>
            <a:r>
              <a:rPr lang="en-US" altLang="ko-KR" dirty="0"/>
              <a:t> </a:t>
            </a:r>
            <a:r>
              <a:rPr lang="ko-KR" altLang="en-US" dirty="0"/>
              <a:t>비용</a:t>
            </a:r>
            <a:r>
              <a:rPr lang="en-US" altLang="ko-KR" dirty="0"/>
              <a:t>(</a:t>
            </a:r>
            <a:r>
              <a:rPr lang="ko-KR" altLang="en-US" dirty="0"/>
              <a:t>우하향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적정 배출수준인 </a:t>
            </a:r>
            <a:r>
              <a:rPr lang="en-US" altLang="ko-KR" dirty="0" err="1"/>
              <a:t>q_bar</a:t>
            </a:r>
            <a:r>
              <a:rPr lang="ko-KR" altLang="en-US" dirty="0"/>
              <a:t>만큼</a:t>
            </a:r>
            <a:r>
              <a:rPr lang="en-US" altLang="ko-KR" dirty="0"/>
              <a:t> </a:t>
            </a:r>
            <a:r>
              <a:rPr lang="ko-KR" altLang="en-US" dirty="0"/>
              <a:t>정부가</a:t>
            </a:r>
            <a:br>
              <a:rPr lang="en-US" altLang="ko-KR" dirty="0"/>
            </a:br>
            <a:r>
              <a:rPr lang="ko-KR" altLang="en-US" dirty="0"/>
              <a:t>오염물질 배출규제를 해야 함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 err="1"/>
              <a:t>피구세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각각의 </a:t>
            </a:r>
            <a:r>
              <a:rPr lang="en-US" altLang="ko-KR" dirty="0"/>
              <a:t>TC</a:t>
            </a:r>
            <a:r>
              <a:rPr lang="ko-KR" altLang="en-US" dirty="0"/>
              <a:t>로 부터 도출된 </a:t>
            </a:r>
            <a:r>
              <a:rPr lang="en-US" altLang="ko-KR" dirty="0"/>
              <a:t>MC, </a:t>
            </a:r>
            <a:r>
              <a:rPr lang="en-US" altLang="ko-KR" dirty="0" err="1"/>
              <a:t>q_hat</a:t>
            </a:r>
            <a:r>
              <a:rPr lang="ko-KR" altLang="en-US" dirty="0"/>
              <a:t>이 가장 작은 한계비용</a:t>
            </a:r>
            <a:endParaRPr lang="en-US" altLang="ko-KR" dirty="0"/>
          </a:p>
          <a:p>
            <a:r>
              <a:rPr lang="ko-KR" altLang="en-US" dirty="0" err="1"/>
              <a:t>코우즈정리</a:t>
            </a:r>
            <a:endParaRPr lang="en-US" altLang="ko-KR" dirty="0"/>
          </a:p>
          <a:p>
            <a:pPr lvl="1"/>
            <a:r>
              <a:rPr lang="ko-KR" altLang="en-US" dirty="0"/>
              <a:t>정부개입</a:t>
            </a:r>
            <a:r>
              <a:rPr lang="en-US" altLang="ko-KR" dirty="0"/>
              <a:t>X, </a:t>
            </a:r>
            <a:r>
              <a:rPr lang="ko-KR" altLang="en-US" dirty="0"/>
              <a:t>이해당사자 자유 협상</a:t>
            </a:r>
            <a:r>
              <a:rPr lang="en-US" altLang="ko-KR" dirty="0"/>
              <a:t>?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효율적 자원 배분</a:t>
            </a:r>
            <a:endParaRPr lang="en-US" altLang="ko-KR" dirty="0"/>
          </a:p>
          <a:p>
            <a:pPr lvl="1"/>
            <a:r>
              <a:rPr lang="ko-KR" altLang="en-US" dirty="0"/>
              <a:t>현실적 제한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협상 </a:t>
            </a:r>
            <a:r>
              <a:rPr lang="en-US" altLang="ko-KR" dirty="0"/>
              <a:t>-&gt; </a:t>
            </a:r>
            <a:r>
              <a:rPr lang="ko-KR" altLang="en-US" dirty="0"/>
              <a:t>거래비용 클 수 있음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이해당사자 판별 어렵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당사자 숫자 매우 </a:t>
            </a:r>
            <a:r>
              <a:rPr lang="ko-KR" altLang="en-US" dirty="0" err="1"/>
              <a:t>많을수도</a:t>
            </a:r>
            <a:endParaRPr lang="en-US" altLang="ko-KR" dirty="0"/>
          </a:p>
          <a:p>
            <a:r>
              <a:rPr lang="ko-KR" altLang="en-US" dirty="0"/>
              <a:t>공유지의 비극</a:t>
            </a:r>
            <a:endParaRPr lang="en-US" altLang="ko-KR" dirty="0"/>
          </a:p>
          <a:p>
            <a:pPr lvl="1"/>
            <a:r>
              <a:rPr lang="ko-KR" altLang="en-US" dirty="0"/>
              <a:t>물고기의 수요</a:t>
            </a:r>
            <a:r>
              <a:rPr lang="en-US" altLang="ko-KR" dirty="0"/>
              <a:t>/</a:t>
            </a:r>
            <a:r>
              <a:rPr lang="ko-KR" altLang="en-US" dirty="0"/>
              <a:t>어획 비용 </a:t>
            </a:r>
            <a:br>
              <a:rPr lang="en-US" altLang="ko-KR" dirty="0"/>
            </a:br>
            <a:r>
              <a:rPr lang="en-US" altLang="ko-KR" dirty="0"/>
              <a:t>= PMC(</a:t>
            </a:r>
            <a:r>
              <a:rPr lang="ko-KR" altLang="en-US" dirty="0"/>
              <a:t>한계비용곡선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물고기</a:t>
            </a:r>
            <a:r>
              <a:rPr lang="en-US" altLang="ko-KR" dirty="0"/>
              <a:t> </a:t>
            </a:r>
            <a:r>
              <a:rPr lang="ko-KR" altLang="en-US" dirty="0"/>
              <a:t>잡음 </a:t>
            </a:r>
            <a:r>
              <a:rPr lang="en-US" altLang="ko-KR" dirty="0"/>
              <a:t>-&gt; </a:t>
            </a:r>
            <a:r>
              <a:rPr lang="ko-KR" altLang="en-US" dirty="0"/>
              <a:t>해로운 </a:t>
            </a:r>
            <a:r>
              <a:rPr lang="ko-KR" altLang="en-US" dirty="0" err="1"/>
              <a:t>외부성</a:t>
            </a:r>
            <a:r>
              <a:rPr lang="en-US" altLang="ko-KR" dirty="0"/>
              <a:t> </a:t>
            </a:r>
            <a:r>
              <a:rPr lang="ko-KR" altLang="en-US" dirty="0"/>
              <a:t>고려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= SMC(</a:t>
            </a:r>
            <a:r>
              <a:rPr lang="ko-KR" altLang="en-US" dirty="0"/>
              <a:t>사회적 한계비용곡선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SMC = SMD(=</a:t>
            </a:r>
            <a:r>
              <a:rPr lang="ko-KR" altLang="en-US" dirty="0"/>
              <a:t>사회적한계피해</a:t>
            </a:r>
            <a:r>
              <a:rPr lang="en-US" altLang="ko-KR" dirty="0"/>
              <a:t>)=+PMC</a:t>
            </a:r>
          </a:p>
          <a:p>
            <a:pPr lvl="1"/>
            <a:r>
              <a:rPr lang="ko-KR" altLang="en-US" dirty="0"/>
              <a:t>어부들은 </a:t>
            </a:r>
            <a:r>
              <a:rPr lang="en-US" altLang="ko-KR" dirty="0" err="1"/>
              <a:t>Q_bar</a:t>
            </a:r>
            <a:r>
              <a:rPr lang="ko-KR" altLang="en-US" dirty="0"/>
              <a:t>만큼 어획 바람</a:t>
            </a:r>
            <a:br>
              <a:rPr lang="en-US" altLang="ko-KR" dirty="0"/>
            </a:br>
            <a:r>
              <a:rPr lang="en-US" altLang="ko-KR" dirty="0"/>
              <a:t>but, </a:t>
            </a:r>
            <a:r>
              <a:rPr lang="ko-KR" altLang="en-US" dirty="0"/>
              <a:t>사회적</a:t>
            </a:r>
            <a:r>
              <a:rPr lang="en-US" altLang="ko-KR" dirty="0"/>
              <a:t> </a:t>
            </a:r>
            <a:r>
              <a:rPr lang="ko-KR" altLang="en-US" dirty="0"/>
              <a:t>적정수준 </a:t>
            </a:r>
            <a:r>
              <a:rPr lang="en-US" altLang="ko-KR" dirty="0"/>
              <a:t>= Q*</a:t>
            </a:r>
          </a:p>
          <a:p>
            <a:pPr lvl="2"/>
            <a:r>
              <a:rPr lang="ko-KR" altLang="en-US" dirty="0"/>
              <a:t>삼각형 </a:t>
            </a:r>
            <a:r>
              <a:rPr lang="en-US" altLang="ko-KR" dirty="0"/>
              <a:t>ABC</a:t>
            </a:r>
            <a:r>
              <a:rPr lang="ko-KR" altLang="en-US" dirty="0"/>
              <a:t>만큼 사회적 비용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EDFA55-C9E4-1AAF-1989-1C0F0EAB446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44AF398-585A-9692-2AB4-281CD76D6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392" y="1210281"/>
            <a:ext cx="1296144" cy="6538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CFC30F8-A455-A8CB-C31C-56CE6EB0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057" y="1859796"/>
            <a:ext cx="2870444" cy="134794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9DA6A5-9CAC-ABD7-5776-953F09F68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113" y="3487319"/>
            <a:ext cx="1877646" cy="140180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B070830-E887-075D-8DE8-932ADF91A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612" y="5016877"/>
            <a:ext cx="1771848" cy="146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960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B70C5D8-D8D0-26D9-6153-A39634F90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5DC1761-6FD1-468D-487D-EFDF6ACF9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후생평가의 기준과 사회후생함수</a:t>
            </a:r>
            <a:br>
              <a:rPr lang="en-US" altLang="ko-KR" dirty="0"/>
            </a:br>
            <a:r>
              <a:rPr lang="en-US" altLang="ko-KR" dirty="0"/>
              <a:t>/ </a:t>
            </a:r>
            <a:r>
              <a:rPr lang="ko-KR" altLang="en-US" dirty="0"/>
              <a:t>공공성과 공유경제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7C9B0E-07E9-9C3D-16B3-7E1E0DAA93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B27F1C7-AF62-C763-0EFA-CDD747961B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자원배분의 효율성</a:t>
            </a:r>
            <a:endParaRPr lang="en-US" altLang="ko-KR" dirty="0"/>
          </a:p>
          <a:p>
            <a:pPr lvl="1"/>
            <a:r>
              <a:rPr lang="ko-KR" altLang="en-US" dirty="0"/>
              <a:t>파레토 효율성 </a:t>
            </a:r>
            <a:r>
              <a:rPr lang="en-US" altLang="ko-KR" dirty="0"/>
              <a:t>: </a:t>
            </a:r>
            <a:r>
              <a:rPr lang="ko-KR" altLang="en-US" dirty="0"/>
              <a:t>누구라도 손해가 </a:t>
            </a:r>
            <a:r>
              <a:rPr lang="en-US" altLang="ko-KR" dirty="0"/>
              <a:t>X, </a:t>
            </a:r>
            <a:r>
              <a:rPr lang="ko-KR" altLang="en-US" dirty="0"/>
              <a:t>누구라도 이득이 되도록  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ko-KR" altLang="en-US" dirty="0"/>
              <a:t>파레토 개선 </a:t>
            </a:r>
            <a:r>
              <a:rPr lang="en-US" altLang="ko-KR" dirty="0"/>
              <a:t>: </a:t>
            </a:r>
            <a:r>
              <a:rPr lang="ko-KR" altLang="en-US" dirty="0" err="1"/>
              <a:t>손해보는사람</a:t>
            </a:r>
            <a:r>
              <a:rPr lang="ko-KR" altLang="en-US" dirty="0"/>
              <a:t> </a:t>
            </a:r>
            <a:r>
              <a:rPr lang="en-US" altLang="ko-KR" dirty="0"/>
              <a:t>X, </a:t>
            </a:r>
            <a:r>
              <a:rPr lang="ko-KR" altLang="en-US" dirty="0" err="1"/>
              <a:t>이득얻는</a:t>
            </a:r>
            <a:r>
              <a:rPr lang="ko-KR" altLang="en-US" dirty="0"/>
              <a:t> 사람 </a:t>
            </a:r>
            <a:r>
              <a:rPr lang="en-US" altLang="ko-KR" dirty="0"/>
              <a:t>O</a:t>
            </a:r>
          </a:p>
          <a:p>
            <a:r>
              <a:rPr lang="ko-KR" altLang="en-US" dirty="0"/>
              <a:t>분배의 </a:t>
            </a:r>
            <a:r>
              <a:rPr lang="ko-KR" altLang="en-US" dirty="0" err="1"/>
              <a:t>공평성</a:t>
            </a:r>
            <a:r>
              <a:rPr lang="en-US" altLang="ko-KR" dirty="0"/>
              <a:t> : </a:t>
            </a:r>
            <a:r>
              <a:rPr lang="ko-KR" altLang="en-US" dirty="0" err="1"/>
              <a:t>평등성</a:t>
            </a:r>
            <a:r>
              <a:rPr lang="en-US" altLang="ko-KR" dirty="0"/>
              <a:t>, </a:t>
            </a:r>
            <a:r>
              <a:rPr lang="ko-KR" altLang="en-US" dirty="0"/>
              <a:t>정당한 권리</a:t>
            </a:r>
            <a:r>
              <a:rPr lang="en-US" altLang="ko-KR" dirty="0"/>
              <a:t>, </a:t>
            </a:r>
            <a:r>
              <a:rPr lang="ko-KR" altLang="en-US" dirty="0"/>
              <a:t>공정성</a:t>
            </a:r>
            <a:r>
              <a:rPr lang="en-US" altLang="ko-KR" dirty="0"/>
              <a:t>, </a:t>
            </a:r>
            <a:r>
              <a:rPr lang="ko-KR" altLang="en-US" dirty="0"/>
              <a:t>받을만한 자격</a:t>
            </a:r>
            <a:endParaRPr lang="en-US" altLang="ko-KR" dirty="0"/>
          </a:p>
          <a:p>
            <a:r>
              <a:rPr lang="ko-KR" altLang="en-US" dirty="0"/>
              <a:t>보상의 원칙</a:t>
            </a:r>
            <a:endParaRPr lang="en-US" altLang="ko-KR" dirty="0"/>
          </a:p>
          <a:p>
            <a:pPr lvl="1"/>
            <a:r>
              <a:rPr lang="ko-KR" altLang="en-US" dirty="0" err="1"/>
              <a:t>파레토기준</a:t>
            </a:r>
            <a:r>
              <a:rPr lang="ko-KR" altLang="en-US" dirty="0"/>
              <a:t> </a:t>
            </a:r>
            <a:r>
              <a:rPr lang="en-US" altLang="ko-KR" dirty="0"/>
              <a:t>: S-&gt;S' , S-&gt; S'' ; S -&gt; S'''</a:t>
            </a:r>
            <a:r>
              <a:rPr lang="ko-KR" altLang="en-US" dirty="0"/>
              <a:t>은 </a:t>
            </a:r>
            <a:r>
              <a:rPr lang="ko-KR" altLang="en-US" dirty="0" err="1"/>
              <a:t>파레토에서</a:t>
            </a:r>
            <a:r>
              <a:rPr lang="ko-KR" altLang="en-US" dirty="0"/>
              <a:t> 판단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칼도</a:t>
            </a:r>
            <a:r>
              <a:rPr lang="en-US" altLang="ko-KR" dirty="0"/>
              <a:t> </a:t>
            </a:r>
            <a:r>
              <a:rPr lang="ko-KR" altLang="en-US" dirty="0"/>
              <a:t>기준 </a:t>
            </a:r>
            <a:r>
              <a:rPr lang="en-US" altLang="ko-KR" dirty="0"/>
              <a:t>: </a:t>
            </a:r>
            <a:r>
              <a:rPr lang="ko-KR" altLang="en-US" dirty="0"/>
              <a:t>변화 </a:t>
            </a:r>
            <a:r>
              <a:rPr lang="en-US" altLang="ko-KR" dirty="0"/>
              <a:t>-&gt; (</a:t>
            </a:r>
            <a:r>
              <a:rPr lang="ko-KR" altLang="en-US" dirty="0"/>
              <a:t>이득 </a:t>
            </a:r>
            <a:r>
              <a:rPr lang="en-US" altLang="ko-KR" dirty="0"/>
              <a:t>&gt; </a:t>
            </a:r>
            <a:r>
              <a:rPr lang="ko-KR" altLang="en-US" dirty="0"/>
              <a:t> 손실</a:t>
            </a:r>
            <a:r>
              <a:rPr lang="en-US" altLang="ko-KR" dirty="0"/>
              <a:t>) -&gt; </a:t>
            </a:r>
            <a:r>
              <a:rPr lang="ko-KR" altLang="en-US" dirty="0"/>
              <a:t>보상 </a:t>
            </a:r>
            <a:r>
              <a:rPr lang="en-US" altLang="ko-KR" dirty="0"/>
              <a:t>ok</a:t>
            </a:r>
            <a:r>
              <a:rPr lang="ko-KR" altLang="en-US" dirty="0"/>
              <a:t>일 때 개선</a:t>
            </a:r>
            <a:endParaRPr lang="en-US" altLang="ko-KR" dirty="0"/>
          </a:p>
          <a:p>
            <a:pPr lvl="2"/>
            <a:r>
              <a:rPr lang="en-US" altLang="ko-KR" dirty="0"/>
              <a:t>T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T'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칼도 개선</a:t>
            </a:r>
            <a:r>
              <a:rPr lang="en-US" altLang="ko-KR" dirty="0"/>
              <a:t>? : T-&gt;T'' = A</a:t>
            </a:r>
            <a:r>
              <a:rPr lang="ko-KR" altLang="en-US" dirty="0"/>
              <a:t>효용 증가</a:t>
            </a:r>
            <a:r>
              <a:rPr lang="en-US" altLang="ko-KR" dirty="0"/>
              <a:t>, B </a:t>
            </a:r>
            <a:r>
              <a:rPr lang="ko-KR" altLang="en-US" dirty="0"/>
              <a:t>불변</a:t>
            </a:r>
            <a:r>
              <a:rPr lang="en-US" altLang="ko-KR" dirty="0"/>
              <a:t> ; </a:t>
            </a:r>
            <a:br>
              <a:rPr lang="en-US" altLang="ko-KR" dirty="0"/>
            </a:br>
            <a:r>
              <a:rPr lang="en-US" altLang="ko-KR" dirty="0"/>
              <a:t>T'' -&gt; T'</a:t>
            </a:r>
            <a:r>
              <a:rPr lang="ko-KR" altLang="en-US" dirty="0"/>
              <a:t>일 때 </a:t>
            </a:r>
            <a:r>
              <a:rPr lang="en-US" altLang="ko-KR" dirty="0"/>
              <a:t>B</a:t>
            </a:r>
            <a:r>
              <a:rPr lang="ko-KR" altLang="en-US" dirty="0"/>
              <a:t>의 손실을 </a:t>
            </a:r>
            <a:r>
              <a:rPr lang="en-US" altLang="ko-KR" dirty="0"/>
              <a:t>A</a:t>
            </a:r>
            <a:r>
              <a:rPr lang="ko-KR" altLang="en-US" dirty="0"/>
              <a:t>가 보상을 해주고도 이득이 </a:t>
            </a:r>
            <a:br>
              <a:rPr lang="en-US" altLang="ko-KR" dirty="0"/>
            </a:br>
            <a:r>
              <a:rPr lang="ko-KR" altLang="en-US" dirty="0"/>
              <a:t>있다면 개선</a:t>
            </a:r>
            <a:endParaRPr lang="en-US" altLang="ko-KR" dirty="0"/>
          </a:p>
          <a:p>
            <a:pPr lvl="2"/>
            <a:r>
              <a:rPr lang="ko-KR" altLang="en-US" dirty="0"/>
              <a:t>효용가능경계 변화 </a:t>
            </a:r>
            <a:r>
              <a:rPr lang="en-US" altLang="ko-KR" dirty="0"/>
              <a:t>-&gt; </a:t>
            </a:r>
            <a:r>
              <a:rPr lang="ko-KR" altLang="en-US" dirty="0"/>
              <a:t>칼도 개선이면서 그 반대 방향</a:t>
            </a:r>
            <a:br>
              <a:rPr lang="en-US" altLang="ko-KR" dirty="0"/>
            </a:br>
            <a:r>
              <a:rPr lang="ko-KR" altLang="en-US" dirty="0"/>
              <a:t>으로도 개선 </a:t>
            </a:r>
            <a:r>
              <a:rPr lang="en-US" altLang="ko-KR" dirty="0"/>
              <a:t>OK</a:t>
            </a:r>
          </a:p>
          <a:p>
            <a:pPr lvl="1"/>
            <a:r>
              <a:rPr lang="ko-KR" altLang="en-US" dirty="0" err="1"/>
              <a:t>스키토브스키기준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칼도 개선</a:t>
            </a:r>
            <a:r>
              <a:rPr lang="en-US" altLang="ko-KR" dirty="0"/>
              <a:t> &amp;&amp; (</a:t>
            </a:r>
            <a:r>
              <a:rPr lang="ko-KR" altLang="en-US" dirty="0"/>
              <a:t>역방향 변화 </a:t>
            </a:r>
            <a:r>
              <a:rPr lang="en-US" altLang="ko-KR" dirty="0"/>
              <a:t>-&gt;</a:t>
            </a:r>
            <a:r>
              <a:rPr lang="ko-KR" altLang="en-US" dirty="0"/>
              <a:t>개선 </a:t>
            </a:r>
            <a:r>
              <a:rPr lang="en-US" altLang="ko-KR" dirty="0"/>
              <a:t>X)</a:t>
            </a:r>
          </a:p>
          <a:p>
            <a:pPr lvl="2"/>
            <a:r>
              <a:rPr lang="ko-KR" altLang="en-US" dirty="0" err="1"/>
              <a:t>재배분</a:t>
            </a:r>
            <a:r>
              <a:rPr lang="ko-KR" altLang="en-US" dirty="0"/>
              <a:t> 이후 </a:t>
            </a:r>
            <a:r>
              <a:rPr lang="en-US" altLang="ko-KR" dirty="0"/>
              <a:t>UPF -&gt; UPF';</a:t>
            </a:r>
            <a:r>
              <a:rPr lang="ko-KR" altLang="en-US" dirty="0"/>
              <a:t> </a:t>
            </a:r>
            <a:r>
              <a:rPr lang="en-US" altLang="ko-KR" dirty="0"/>
              <a:t>UPF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T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T'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칼도</a:t>
            </a:r>
            <a:r>
              <a:rPr lang="en-US" altLang="ko-KR" dirty="0"/>
              <a:t> </a:t>
            </a:r>
            <a:r>
              <a:rPr lang="ko-KR" altLang="en-US" dirty="0"/>
              <a:t>개선</a:t>
            </a:r>
            <a:br>
              <a:rPr lang="en-US" altLang="ko-KR" dirty="0"/>
            </a:br>
            <a:r>
              <a:rPr lang="en-US" altLang="ko-KR" dirty="0"/>
              <a:t>UPF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T'-&gt;T</a:t>
            </a:r>
            <a:r>
              <a:rPr lang="ko-KR" altLang="en-US" dirty="0"/>
              <a:t> 또한 칼도 개선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 err="1"/>
              <a:t>스키토브스키</a:t>
            </a:r>
            <a:r>
              <a:rPr lang="ko-KR" altLang="en-US" dirty="0"/>
              <a:t> 기준에서 판단 </a:t>
            </a:r>
            <a:r>
              <a:rPr lang="en-US" altLang="ko-KR" dirty="0"/>
              <a:t>X</a:t>
            </a:r>
          </a:p>
          <a:p>
            <a:pPr lvl="2"/>
            <a:r>
              <a:rPr lang="en-US" altLang="ko-KR" dirty="0"/>
              <a:t>T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T''</a:t>
            </a:r>
            <a:r>
              <a:rPr lang="ko-KR" altLang="en-US" dirty="0"/>
              <a:t> 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스키토브스키</a:t>
            </a:r>
            <a:r>
              <a:rPr lang="ko-KR" altLang="en-US" dirty="0"/>
              <a:t> 기준 개선</a:t>
            </a:r>
            <a:endParaRPr lang="en-US" altLang="ko-KR" dirty="0"/>
          </a:p>
          <a:p>
            <a:r>
              <a:rPr lang="ko-KR" altLang="en-US" dirty="0"/>
              <a:t>공공성 </a:t>
            </a:r>
            <a:r>
              <a:rPr lang="en-US" altLang="ko-KR" dirty="0"/>
              <a:t>: </a:t>
            </a:r>
            <a:r>
              <a:rPr lang="ko-KR" altLang="en-US" dirty="0"/>
              <a:t>공동체</a:t>
            </a:r>
            <a:r>
              <a:rPr lang="en-US" altLang="ko-KR" dirty="0"/>
              <a:t>, </a:t>
            </a:r>
            <a:r>
              <a:rPr lang="ko-KR" altLang="en-US" dirty="0"/>
              <a:t>공동에게 공개된 성질</a:t>
            </a:r>
            <a:r>
              <a:rPr lang="en-US" altLang="ko-KR" dirty="0"/>
              <a:t>, </a:t>
            </a:r>
            <a:r>
              <a:rPr lang="ko-KR" altLang="en-US" dirty="0"/>
              <a:t>시민의 삶 지속</a:t>
            </a:r>
            <a:endParaRPr lang="en-US" altLang="ko-KR" dirty="0"/>
          </a:p>
          <a:p>
            <a:pPr lvl="1"/>
            <a:r>
              <a:rPr lang="ko-KR" altLang="en-US" dirty="0"/>
              <a:t>전근대 공공성 </a:t>
            </a:r>
            <a:r>
              <a:rPr lang="en-US" altLang="ko-KR" dirty="0"/>
              <a:t>= </a:t>
            </a:r>
            <a:r>
              <a:rPr lang="ko-KR" altLang="en-US" dirty="0"/>
              <a:t>연대</a:t>
            </a:r>
            <a:r>
              <a:rPr lang="en-US" altLang="ko-KR" dirty="0"/>
              <a:t>,</a:t>
            </a:r>
            <a:r>
              <a:rPr lang="ko-KR" altLang="en-US" dirty="0"/>
              <a:t>관계</a:t>
            </a:r>
            <a:r>
              <a:rPr lang="en-US" altLang="ko-KR" dirty="0"/>
              <a:t>,</a:t>
            </a:r>
            <a:r>
              <a:rPr lang="ko-KR" altLang="en-US" dirty="0"/>
              <a:t>문화</a:t>
            </a:r>
            <a:r>
              <a:rPr lang="en-US" altLang="ko-KR" dirty="0"/>
              <a:t>,</a:t>
            </a:r>
            <a:r>
              <a:rPr lang="ko-KR" altLang="en-US" dirty="0"/>
              <a:t>관습</a:t>
            </a:r>
            <a:endParaRPr lang="en-US" altLang="ko-KR" dirty="0"/>
          </a:p>
          <a:p>
            <a:pPr lvl="1"/>
            <a:r>
              <a:rPr lang="ko-KR" altLang="en-US" dirty="0"/>
              <a:t>민주적 정통성 </a:t>
            </a:r>
            <a:r>
              <a:rPr lang="en-US" altLang="ko-KR" dirty="0"/>
              <a:t>: </a:t>
            </a:r>
            <a:r>
              <a:rPr lang="ko-KR" altLang="en-US" dirty="0"/>
              <a:t>모두 </a:t>
            </a:r>
            <a:r>
              <a:rPr lang="en-US" altLang="ko-KR" dirty="0"/>
              <a:t>-&gt; (</a:t>
            </a:r>
            <a:r>
              <a:rPr lang="ko-KR" altLang="en-US" dirty="0"/>
              <a:t>의사결정 과정 </a:t>
            </a:r>
            <a:r>
              <a:rPr lang="en-US" altLang="ko-KR" dirty="0"/>
              <a:t>: </a:t>
            </a:r>
            <a:r>
              <a:rPr lang="ko-KR" altLang="en-US" dirty="0"/>
              <a:t>배제 </a:t>
            </a:r>
            <a:r>
              <a:rPr lang="en-US" altLang="ko-KR" dirty="0"/>
              <a:t>X) (</a:t>
            </a:r>
            <a:r>
              <a:rPr lang="ko-KR" altLang="en-US" dirty="0"/>
              <a:t>비례대표제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민주적</a:t>
            </a:r>
            <a:r>
              <a:rPr lang="en-US" altLang="ko-KR" dirty="0"/>
              <a:t> </a:t>
            </a:r>
            <a:r>
              <a:rPr lang="ko-KR" altLang="en-US" dirty="0"/>
              <a:t>통제 </a:t>
            </a:r>
            <a:r>
              <a:rPr lang="en-US" altLang="ko-KR" dirty="0"/>
              <a:t>: </a:t>
            </a:r>
            <a:r>
              <a:rPr lang="ko-KR" altLang="en-US" dirty="0"/>
              <a:t>국가 </a:t>
            </a:r>
            <a:r>
              <a:rPr lang="en-US" altLang="ko-KR" dirty="0"/>
              <a:t>-&gt; </a:t>
            </a:r>
            <a:r>
              <a:rPr lang="ko-KR" altLang="en-US" dirty="0"/>
              <a:t>공공성</a:t>
            </a:r>
            <a:r>
              <a:rPr lang="en-US" altLang="ko-KR" dirty="0"/>
              <a:t>? : </a:t>
            </a:r>
            <a:r>
              <a:rPr lang="ko-KR" altLang="en-US" dirty="0"/>
              <a:t>시민감시</a:t>
            </a:r>
            <a:endParaRPr lang="en-US" altLang="ko-KR" dirty="0"/>
          </a:p>
          <a:p>
            <a:pPr lvl="1"/>
            <a:r>
              <a:rPr lang="ko-KR" altLang="en-US" dirty="0"/>
              <a:t>공공성의 의미 </a:t>
            </a:r>
            <a:r>
              <a:rPr lang="en-US" altLang="ko-KR" dirty="0"/>
              <a:t>: </a:t>
            </a:r>
            <a:r>
              <a:rPr lang="ko-KR" altLang="en-US" dirty="0"/>
              <a:t>공적인</a:t>
            </a:r>
            <a:r>
              <a:rPr lang="en-US" altLang="ko-KR" dirty="0"/>
              <a:t>(official), </a:t>
            </a:r>
            <a:r>
              <a:rPr lang="ko-KR" altLang="en-US" dirty="0"/>
              <a:t>공통적인</a:t>
            </a:r>
            <a:r>
              <a:rPr lang="en-US" altLang="ko-KR" dirty="0"/>
              <a:t>(common), </a:t>
            </a:r>
            <a:r>
              <a:rPr lang="ko-KR" altLang="en-US" dirty="0"/>
              <a:t>공개된</a:t>
            </a:r>
            <a:r>
              <a:rPr lang="en-US" altLang="ko-KR" dirty="0"/>
              <a:t>(open)</a:t>
            </a:r>
          </a:p>
          <a:p>
            <a:pPr lvl="1"/>
            <a:r>
              <a:rPr lang="ko-KR" altLang="en-US" dirty="0"/>
              <a:t>공공성의 역사 </a:t>
            </a:r>
            <a:r>
              <a:rPr lang="en-US" altLang="ko-KR" dirty="0"/>
              <a:t>: (</a:t>
            </a:r>
            <a:r>
              <a:rPr lang="ko-KR" altLang="en-US" dirty="0"/>
              <a:t>로마</a:t>
            </a:r>
            <a:r>
              <a:rPr lang="en-US" altLang="ko-KR" dirty="0"/>
              <a:t>) : res private, (</a:t>
            </a:r>
            <a:r>
              <a:rPr lang="ko-KR" altLang="en-US" dirty="0"/>
              <a:t>중세</a:t>
            </a:r>
            <a:r>
              <a:rPr lang="en-US" altLang="ko-KR" dirty="0"/>
              <a:t>) : </a:t>
            </a:r>
            <a:r>
              <a:rPr lang="ko-KR" altLang="en-US" dirty="0"/>
              <a:t>공공성</a:t>
            </a:r>
            <a:r>
              <a:rPr lang="en-US" altLang="ko-KR" dirty="0"/>
              <a:t>X : </a:t>
            </a:r>
            <a:r>
              <a:rPr lang="ko-KR" altLang="en-US" dirty="0"/>
              <a:t>영주 </a:t>
            </a:r>
            <a:r>
              <a:rPr lang="en-US" altLang="ko-KR" dirty="0"/>
              <a:t>- </a:t>
            </a:r>
            <a:r>
              <a:rPr lang="ko-KR" altLang="en-US" dirty="0"/>
              <a:t>농노 </a:t>
            </a:r>
            <a:r>
              <a:rPr lang="en-US" altLang="ko-KR" dirty="0"/>
              <a:t>: </a:t>
            </a:r>
            <a:r>
              <a:rPr lang="ko-KR" altLang="en-US" dirty="0"/>
              <a:t>봉토</a:t>
            </a:r>
            <a:r>
              <a:rPr lang="en-US" altLang="ko-KR" dirty="0"/>
              <a:t> </a:t>
            </a:r>
            <a:r>
              <a:rPr lang="ko-KR" altLang="en-US" dirty="0"/>
              <a:t>매개 계약</a:t>
            </a:r>
            <a:endParaRPr lang="en-US" altLang="ko-KR" dirty="0"/>
          </a:p>
          <a:p>
            <a:r>
              <a:rPr lang="ko-KR" altLang="en-US" dirty="0"/>
              <a:t>공유경제 </a:t>
            </a:r>
            <a:r>
              <a:rPr lang="en-US" altLang="ko-KR" dirty="0"/>
              <a:t>:</a:t>
            </a:r>
            <a:r>
              <a:rPr lang="ko-KR" altLang="en-US" dirty="0"/>
              <a:t> 소득격차 축소</a:t>
            </a:r>
            <a:r>
              <a:rPr lang="en-US" altLang="ko-KR" dirty="0"/>
              <a:t>, </a:t>
            </a:r>
            <a:r>
              <a:rPr lang="ko-KR" altLang="en-US" dirty="0" err="1"/>
              <a:t>글로별</a:t>
            </a:r>
            <a:r>
              <a:rPr lang="ko-KR" altLang="en-US" dirty="0"/>
              <a:t> 경제 민주화</a:t>
            </a:r>
            <a:r>
              <a:rPr lang="en-US" altLang="ko-KR" dirty="0"/>
              <a:t>, </a:t>
            </a:r>
            <a:r>
              <a:rPr lang="ko-KR" altLang="en-US" dirty="0"/>
              <a:t>지속가능사회</a:t>
            </a:r>
            <a:endParaRPr lang="en-US" altLang="ko-KR" dirty="0"/>
          </a:p>
          <a:p>
            <a:pPr lvl="1"/>
            <a:r>
              <a:rPr lang="ko-KR" altLang="en-US" dirty="0"/>
              <a:t>자본주의 쇠퇴 </a:t>
            </a:r>
            <a:r>
              <a:rPr lang="en-US" altLang="ko-KR" dirty="0"/>
              <a:t>: </a:t>
            </a:r>
            <a:r>
              <a:rPr lang="ko-KR" altLang="en-US" dirty="0"/>
              <a:t>인간 생활의 모든 측면 </a:t>
            </a:r>
            <a:r>
              <a:rPr lang="en-US" altLang="ko-KR" dirty="0"/>
              <a:t>-&gt; </a:t>
            </a:r>
            <a:r>
              <a:rPr lang="ko-KR" altLang="en-US" dirty="0"/>
              <a:t>상품</a:t>
            </a:r>
            <a:r>
              <a:rPr lang="en-US" altLang="ko-KR" dirty="0"/>
              <a:t>/</a:t>
            </a:r>
            <a:r>
              <a:rPr lang="ko-KR" altLang="en-US" dirty="0"/>
              <a:t>소유물로 전환</a:t>
            </a:r>
            <a:r>
              <a:rPr lang="en-US" altLang="ko-KR" dirty="0"/>
              <a:t>(</a:t>
            </a:r>
            <a:r>
              <a:rPr lang="ko-KR" altLang="en-US" dirty="0"/>
              <a:t>스미스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제로에 가까운 한계비용</a:t>
            </a:r>
            <a:r>
              <a:rPr lang="en-US" altLang="ko-KR" dirty="0"/>
              <a:t>(</a:t>
            </a:r>
            <a:r>
              <a:rPr lang="ko-KR" altLang="en-US" dirty="0"/>
              <a:t>세이</a:t>
            </a:r>
            <a:r>
              <a:rPr lang="en-US" altLang="ko-KR" dirty="0"/>
              <a:t>), </a:t>
            </a:r>
            <a:r>
              <a:rPr lang="ko-KR" altLang="en-US" dirty="0"/>
              <a:t>기술적실업</a:t>
            </a:r>
            <a:r>
              <a:rPr lang="en-US" altLang="ko-KR" dirty="0"/>
              <a:t>(</a:t>
            </a:r>
            <a:r>
              <a:rPr lang="ko-KR" altLang="en-US" dirty="0"/>
              <a:t>케인즈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감시 </a:t>
            </a:r>
            <a:r>
              <a:rPr lang="en-US" altLang="ko-KR" dirty="0"/>
              <a:t>: </a:t>
            </a:r>
            <a:r>
              <a:rPr lang="ko-KR" altLang="en-US" dirty="0" err="1"/>
              <a:t>숨을곳이</a:t>
            </a:r>
            <a:r>
              <a:rPr lang="ko-KR" altLang="en-US" dirty="0"/>
              <a:t> 없음</a:t>
            </a:r>
            <a:r>
              <a:rPr lang="en-US" altLang="ko-KR" dirty="0"/>
              <a:t> &amp;&amp; </a:t>
            </a:r>
            <a:r>
              <a:rPr lang="ko-KR" altLang="en-US" dirty="0"/>
              <a:t>신뢰를 진다는 죄책감과 수치심 때문에 규칙위반↓</a:t>
            </a:r>
            <a:endParaRPr lang="en-US" altLang="ko-KR" dirty="0"/>
          </a:p>
          <a:p>
            <a:pPr lvl="1"/>
            <a:r>
              <a:rPr lang="ko-KR" altLang="en-US" dirty="0"/>
              <a:t>효과적 공유사회에 필수적인 </a:t>
            </a:r>
            <a:r>
              <a:rPr lang="en-US" altLang="ko-KR" dirty="0"/>
              <a:t>7</a:t>
            </a:r>
            <a:r>
              <a:rPr lang="ko-KR" altLang="en-US" dirty="0"/>
              <a:t>원칙 </a:t>
            </a:r>
            <a:r>
              <a:rPr lang="en-US" altLang="ko-KR" dirty="0"/>
              <a:t>(</a:t>
            </a:r>
            <a:r>
              <a:rPr lang="ko-KR" altLang="en-US" dirty="0" err="1"/>
              <a:t>오스트롬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1) </a:t>
            </a:r>
            <a:r>
              <a:rPr lang="ko-KR" altLang="en-US" dirty="0"/>
              <a:t>누가 공유물을 전용할 수 있고 없는지 </a:t>
            </a:r>
            <a:r>
              <a:rPr lang="en-US" altLang="ko-KR" dirty="0"/>
              <a:t>'</a:t>
            </a:r>
            <a:r>
              <a:rPr lang="ko-KR" altLang="en-US" dirty="0"/>
              <a:t>분명하게 정의한 한계</a:t>
            </a:r>
            <a:r>
              <a:rPr lang="en-US" altLang="ko-KR" dirty="0"/>
              <a:t>'</a:t>
            </a:r>
            <a:r>
              <a:rPr lang="ko-KR" altLang="en-US" dirty="0"/>
              <a:t> 필요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투입요소와 결과를 제한할 전용 규칙 확립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민주적으로 그 규칙 결정</a:t>
            </a:r>
            <a:br>
              <a:rPr lang="en-US" altLang="ko-KR" dirty="0"/>
            </a:br>
            <a:r>
              <a:rPr lang="en-US" altLang="ko-KR" dirty="0"/>
              <a:t>4) </a:t>
            </a:r>
            <a:r>
              <a:rPr lang="ko-KR" altLang="en-US" dirty="0"/>
              <a:t>감시를 전용 당사자나 그들에게 책임질 수 있는 사람</a:t>
            </a:r>
            <a:br>
              <a:rPr lang="en-US" altLang="ko-KR" dirty="0"/>
            </a:br>
            <a:r>
              <a:rPr lang="en-US" altLang="ko-KR" dirty="0"/>
              <a:t>5) </a:t>
            </a:r>
            <a:r>
              <a:rPr lang="ko-KR" altLang="en-US" dirty="0"/>
              <a:t>규칙위반 </a:t>
            </a:r>
            <a:r>
              <a:rPr lang="en-US" altLang="ko-KR" dirty="0"/>
              <a:t>-&gt; </a:t>
            </a:r>
            <a:r>
              <a:rPr lang="ko-KR" altLang="en-US" dirty="0"/>
              <a:t>등급별 체계화 제재</a:t>
            </a:r>
            <a:br>
              <a:rPr lang="en-US" altLang="ko-KR" dirty="0"/>
            </a:br>
            <a:r>
              <a:rPr lang="en-US" altLang="ko-KR" dirty="0"/>
              <a:t>6) </a:t>
            </a:r>
            <a:r>
              <a:rPr lang="ko-KR" altLang="en-US" dirty="0"/>
              <a:t>갈등 </a:t>
            </a:r>
            <a:r>
              <a:rPr lang="en-US" altLang="ko-KR" dirty="0"/>
              <a:t>-&gt; </a:t>
            </a:r>
            <a:r>
              <a:rPr lang="ko-KR" altLang="en-US" dirty="0"/>
              <a:t>저비용의 사적 중재</a:t>
            </a:r>
            <a:br>
              <a:rPr lang="en-US" altLang="ko-KR" dirty="0"/>
            </a:br>
            <a:r>
              <a:rPr lang="en-US" altLang="ko-KR" dirty="0"/>
              <a:t>7) </a:t>
            </a:r>
            <a:r>
              <a:rPr lang="ko-KR" altLang="en-US" dirty="0"/>
              <a:t>규칙 </a:t>
            </a:r>
            <a:r>
              <a:rPr lang="en-US" altLang="ko-KR" dirty="0"/>
              <a:t>-&gt; </a:t>
            </a:r>
            <a:r>
              <a:rPr lang="ko-KR" altLang="en-US" dirty="0"/>
              <a:t>정부 </a:t>
            </a:r>
            <a:r>
              <a:rPr lang="ko-KR" altLang="en-US" dirty="0" err="1"/>
              <a:t>관활권에</a:t>
            </a:r>
            <a:r>
              <a:rPr lang="ko-KR" altLang="en-US" dirty="0"/>
              <a:t> 의해 합법성 승인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FCFEE8-93C2-F8DD-90AD-237D0463CE9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98A8DA-3ECB-398D-BA38-56F56C91F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422" y="555950"/>
            <a:ext cx="1363802" cy="113716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43913C3-8B59-193A-A394-B7818625B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771" y="1693114"/>
            <a:ext cx="1402453" cy="129614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9D18F1F-9714-689A-E090-AF3DA2787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626" y="3082226"/>
            <a:ext cx="1562598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3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3B9EFAE-34A9-BE21-D1E8-4CE595BB0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FEF81DE-E27D-DD3E-988E-D4D7CCAC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효율과 공평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5A3DE8-64B8-ED54-88BE-D0CA5D6C53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D72DDDF-FEB4-4C3C-AE7A-E66713C5D7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권리와 금력</a:t>
            </a:r>
            <a:r>
              <a:rPr lang="en-US" altLang="ko-KR" dirty="0"/>
              <a:t> : </a:t>
            </a:r>
            <a:r>
              <a:rPr lang="ko-KR" altLang="en-US" dirty="0">
                <a:sym typeface="Wingdings" panose="05000000000000000000" pitchFamily="2" charset="2"/>
              </a:rPr>
              <a:t>시장제도와 불평등의 상호관계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평등과 효율간 상충관계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효율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소비자의 합리적 선택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권리의 특징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권리 </a:t>
            </a:r>
            <a:r>
              <a:rPr lang="en-US" altLang="ko-KR" dirty="0">
                <a:sym typeface="Wingdings" panose="05000000000000000000" pitchFamily="2" charset="2"/>
              </a:rPr>
              <a:t>:= </a:t>
            </a:r>
            <a:r>
              <a:rPr lang="ko-KR" altLang="en-US" dirty="0">
                <a:sym typeface="Wingdings" panose="05000000000000000000" pitchFamily="2" charset="2"/>
              </a:rPr>
              <a:t>국민에게 주어진 보편적 자격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대가 없이도 획득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사용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과연</a:t>
            </a:r>
            <a:r>
              <a:rPr lang="en-US" altLang="ko-KR" dirty="0">
                <a:sym typeface="Wingdings" panose="05000000000000000000" pitchFamily="2" charset="2"/>
              </a:rPr>
              <a:t>? -&gt; </a:t>
            </a:r>
            <a:r>
              <a:rPr lang="ko-KR" altLang="en-US" dirty="0">
                <a:sym typeface="Wingdings" panose="05000000000000000000" pitchFamily="2" charset="2"/>
              </a:rPr>
              <a:t>조세가격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권리는 보편 분배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비교우위의 원칙</a:t>
            </a:r>
            <a:r>
              <a:rPr lang="en-US" altLang="ko-KR" dirty="0">
                <a:sym typeface="Wingdings" panose="05000000000000000000" pitchFamily="2" charset="2"/>
              </a:rPr>
              <a:t>X;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유인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보상 </a:t>
            </a:r>
            <a:r>
              <a:rPr lang="en-US" altLang="ko-KR" dirty="0">
                <a:sym typeface="Wingdings" panose="05000000000000000000" pitchFamily="2" charset="2"/>
              </a:rPr>
              <a:t>or </a:t>
            </a:r>
            <a:r>
              <a:rPr lang="ko-KR" altLang="en-US" dirty="0">
                <a:sym typeface="Wingdings" panose="05000000000000000000" pitchFamily="2" charset="2"/>
              </a:rPr>
              <a:t>벌칙으로 분배 </a:t>
            </a:r>
            <a:r>
              <a:rPr lang="en-US" altLang="ko-KR" dirty="0">
                <a:sym typeface="Wingdings" panose="05000000000000000000" pitchFamily="2" charset="2"/>
              </a:rPr>
              <a:t>X;</a:t>
            </a:r>
            <a:r>
              <a:rPr lang="ko-KR" altLang="en-US" dirty="0">
                <a:sym typeface="Wingdings" panose="05000000000000000000" pitchFamily="2" charset="2"/>
              </a:rPr>
              <a:t> 매매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공평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자유 대가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평등 강조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경제적 효율로 해석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권리가 존재하는 이유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자유주의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평등 선택</a:t>
            </a:r>
            <a:r>
              <a:rPr lang="en-US" altLang="ko-KR" dirty="0">
                <a:sym typeface="Wingdings" panose="05000000000000000000" pitchFamily="2" charset="2"/>
              </a:rPr>
              <a:t>? -&gt; </a:t>
            </a:r>
            <a:r>
              <a:rPr lang="ko-KR" altLang="en-US" dirty="0">
                <a:sym typeface="Wingdings" panose="05000000000000000000" pitchFamily="2" charset="2"/>
              </a:rPr>
              <a:t>평등을 원함</a:t>
            </a:r>
            <a:r>
              <a:rPr lang="en-US" altLang="ko-KR" dirty="0">
                <a:sym typeface="Wingdings" panose="05000000000000000000" pitchFamily="2" charset="2"/>
              </a:rPr>
              <a:t>X, </a:t>
            </a:r>
            <a:r>
              <a:rPr lang="ko-KR" altLang="en-US" dirty="0">
                <a:sym typeface="Wingdings" panose="05000000000000000000" pitchFamily="2" charset="2"/>
              </a:rPr>
              <a:t>규범에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의해 제약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제한된 정부를 원함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시장 간섭 근거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 err="1">
                <a:sym typeface="Wingdings" panose="05000000000000000000" pitchFamily="2" charset="2"/>
              </a:rPr>
              <a:t>외부성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 err="1">
                <a:sym typeface="Wingdings" panose="05000000000000000000" pitchFamily="2" charset="2"/>
              </a:rPr>
              <a:t>가치재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환경오염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다원주의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경제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성공적인 사회에 </a:t>
            </a:r>
            <a:r>
              <a:rPr lang="en-US" altLang="ko-KR" dirty="0">
                <a:sym typeface="Wingdings" panose="05000000000000000000" pitchFamily="2" charset="2"/>
              </a:rPr>
              <a:t>‘</a:t>
            </a:r>
            <a:r>
              <a:rPr lang="ko-KR" altLang="en-US" dirty="0">
                <a:sym typeface="Wingdings" panose="05000000000000000000" pitchFamily="2" charset="2"/>
              </a:rPr>
              <a:t>포함되어야</a:t>
            </a:r>
            <a:r>
              <a:rPr lang="en-US" altLang="ko-KR" dirty="0">
                <a:sym typeface="Wingdings" panose="05000000000000000000" pitchFamily="2" charset="2"/>
              </a:rPr>
              <a:t>‘</a:t>
            </a:r>
            <a:r>
              <a:rPr lang="ko-KR" altLang="en-US" dirty="0">
                <a:sym typeface="Wingdings" panose="05000000000000000000" pitchFamily="2" charset="2"/>
              </a:rPr>
              <a:t>하는 일부 조건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 err="1">
                <a:sym typeface="Wingdings" panose="05000000000000000000" pitchFamily="2" charset="2"/>
              </a:rPr>
              <a:t>karl</a:t>
            </a:r>
            <a:r>
              <a:rPr lang="en-US" altLang="ko-KR" dirty="0">
                <a:sym typeface="Wingdings" panose="05000000000000000000" pitchFamily="2" charset="2"/>
              </a:rPr>
              <a:t> Polanyi : </a:t>
            </a:r>
            <a:r>
              <a:rPr lang="ko-KR" altLang="en-US" dirty="0">
                <a:sym typeface="Wingdings" panose="05000000000000000000" pitchFamily="2" charset="2"/>
              </a:rPr>
              <a:t>시장사회 </a:t>
            </a:r>
            <a:r>
              <a:rPr lang="en-US" altLang="ko-KR" dirty="0">
                <a:sym typeface="Wingdings" panose="05000000000000000000" pitchFamily="2" charset="2"/>
              </a:rPr>
              <a:t>: ‘</a:t>
            </a:r>
            <a:r>
              <a:rPr lang="ko-KR" altLang="en-US" dirty="0">
                <a:sym typeface="Wingdings" panose="05000000000000000000" pitchFamily="2" charset="2"/>
              </a:rPr>
              <a:t>가격은 알지만 가치는 알지 못하는</a:t>
            </a:r>
            <a:r>
              <a:rPr lang="en-US" altLang="ko-KR" dirty="0">
                <a:sym typeface="Wingdings" panose="05000000000000000000" pitchFamily="2" charset="2"/>
              </a:rPr>
              <a:t>‘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민주주의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시장 대신 평등한 권리 작용</a:t>
            </a:r>
            <a:r>
              <a:rPr lang="en-US" altLang="ko-KR" dirty="0">
                <a:sym typeface="Wingdings" panose="05000000000000000000" pitchFamily="2" charset="2"/>
              </a:rPr>
              <a:t> -&gt; </a:t>
            </a:r>
            <a:r>
              <a:rPr lang="ko-KR" altLang="en-US" dirty="0">
                <a:sym typeface="Wingdings" panose="05000000000000000000" pitchFamily="2" charset="2"/>
              </a:rPr>
              <a:t>권리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금전 지배 </a:t>
            </a:r>
            <a:r>
              <a:rPr lang="en-US" altLang="ko-KR" dirty="0">
                <a:sym typeface="Wingdings" panose="05000000000000000000" pitchFamily="2" charset="2"/>
              </a:rPr>
              <a:t>X </a:t>
            </a:r>
            <a:r>
              <a:rPr lang="ko-KR" altLang="en-US" dirty="0">
                <a:sym typeface="Wingdings" panose="05000000000000000000" pitchFamily="2" charset="2"/>
              </a:rPr>
              <a:t>가치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시장 견제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인본주의</a:t>
            </a:r>
            <a:r>
              <a:rPr lang="en-US" altLang="ko-KR" dirty="0">
                <a:sym typeface="Wingdings" panose="05000000000000000000" pitchFamily="2" charset="2"/>
              </a:rPr>
              <a:t> :</a:t>
            </a:r>
            <a:r>
              <a:rPr lang="ko-KR" altLang="en-US" dirty="0">
                <a:sym typeface="Wingdings" panose="05000000000000000000" pitchFamily="2" charset="2"/>
              </a:rPr>
              <a:t>원초적 상태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기본적 자유 안에서의 평등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모든 구성원의 존엄성이 존중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인간다운 생존의 권리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금력에 의한 권리의 침해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금력 </a:t>
            </a:r>
            <a:r>
              <a:rPr lang="en-US" altLang="ko-KR" dirty="0">
                <a:sym typeface="Wingdings" panose="05000000000000000000" pitchFamily="2" charset="2"/>
              </a:rPr>
              <a:t>: 1</a:t>
            </a:r>
            <a:r>
              <a:rPr lang="ko-KR" altLang="en-US" dirty="0">
                <a:sym typeface="Wingdings" panose="05000000000000000000" pitchFamily="2" charset="2"/>
              </a:rPr>
              <a:t>인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표의 원칙을 위태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정치적 로비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금권과 정치권력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정치적 의사결정자에게 직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간접적으로 돈을 지불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시장의 이점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보상의 윤리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시장체제 지지</a:t>
            </a:r>
            <a:r>
              <a:rPr lang="en-US" altLang="ko-KR" dirty="0">
                <a:sym typeface="Wingdings" panose="05000000000000000000" pitchFamily="2" charset="2"/>
              </a:rPr>
              <a:t>? -&gt; </a:t>
            </a:r>
            <a:r>
              <a:rPr lang="ko-KR" altLang="en-US" dirty="0">
                <a:sym typeface="Wingdings" panose="05000000000000000000" pitchFamily="2" charset="2"/>
              </a:rPr>
              <a:t>사실 한계생산성에 의한 분배 필연적 정당 부정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노력에 의한 </a:t>
            </a:r>
            <a:r>
              <a:rPr lang="ko-KR" altLang="en-US" dirty="0" err="1">
                <a:sym typeface="Wingdings" panose="05000000000000000000" pitchFamily="2" charset="2"/>
              </a:rPr>
              <a:t>소득차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공평 간주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변화하는 판정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경제적 평등은 정치적 평등보다 더 어려움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빵 크기 평등 배분</a:t>
            </a:r>
            <a:r>
              <a:rPr lang="en-US" altLang="ko-KR" dirty="0">
                <a:sym typeface="Wingdings" panose="05000000000000000000" pitchFamily="2" charset="2"/>
              </a:rPr>
              <a:t>? -&gt; </a:t>
            </a:r>
            <a:r>
              <a:rPr lang="ko-KR" altLang="en-US" dirty="0">
                <a:sym typeface="Wingdings" panose="05000000000000000000" pitchFamily="2" charset="2"/>
              </a:rPr>
              <a:t>크기 줄어듦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효율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r>
              <a:rPr lang="ko-KR" altLang="en-US" dirty="0">
                <a:sym typeface="Wingdings" panose="05000000000000000000" pitchFamily="2" charset="2"/>
              </a:rPr>
              <a:t>평등 상충</a:t>
            </a:r>
            <a:r>
              <a:rPr lang="en-US" altLang="ko-KR" dirty="0">
                <a:sym typeface="Wingdings" panose="05000000000000000000" pitchFamily="2" charset="2"/>
              </a:rPr>
              <a:t> ; </a:t>
            </a:r>
            <a:r>
              <a:rPr lang="ko-KR" altLang="en-US" dirty="0">
                <a:sym typeface="Wingdings" panose="05000000000000000000" pitchFamily="2" charset="2"/>
              </a:rPr>
              <a:t>불평등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효율</a:t>
            </a:r>
            <a:r>
              <a:rPr lang="en-US" altLang="ko-KR" dirty="0">
                <a:sym typeface="Wingdings" panose="05000000000000000000" pitchFamily="2" charset="2"/>
              </a:rPr>
              <a:t>? : </a:t>
            </a:r>
            <a:r>
              <a:rPr lang="ko-KR" altLang="en-US" dirty="0">
                <a:sym typeface="Wingdings" panose="05000000000000000000" pitchFamily="2" charset="2"/>
              </a:rPr>
              <a:t>불평등은 어느정도 </a:t>
            </a:r>
            <a:r>
              <a:rPr lang="ko-KR" altLang="en-US" dirty="0" err="1">
                <a:sym typeface="Wingdings" panose="05000000000000000000" pitchFamily="2" charset="2"/>
              </a:rPr>
              <a:t>타장하다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소득의 불균형과 기회의 균등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교육격차 해소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효율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 err="1">
                <a:sym typeface="Wingdings" panose="05000000000000000000" pitchFamily="2" charset="2"/>
              </a:rPr>
              <a:t>공평성</a:t>
            </a:r>
            <a:r>
              <a:rPr lang="ko-KR" altLang="en-US" dirty="0">
                <a:sym typeface="Wingdings" panose="05000000000000000000" pitchFamily="2" charset="2"/>
              </a:rPr>
              <a:t> 동시 개선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효율적 경제의 평등 증대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효율을 얻기 위해 얼만큼의 평등 포기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구멍 뚫린 물통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부자 낸 돈 전부 빈자에게 전달 </a:t>
            </a:r>
            <a:r>
              <a:rPr lang="en-US" altLang="ko-KR" dirty="0">
                <a:sym typeface="Wingdings" panose="05000000000000000000" pitchFamily="2" charset="2"/>
              </a:rPr>
              <a:t>X (</a:t>
            </a:r>
            <a:r>
              <a:rPr lang="ko-KR" altLang="en-US" dirty="0">
                <a:sym typeface="Wingdings" panose="05000000000000000000" pitchFamily="2" charset="2"/>
              </a:rPr>
              <a:t>행정비용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근로노력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저축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투자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D31B95-6F53-3758-9C18-6A2DCE5ECC6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8213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0CFB249-5C6C-E4B2-D347-5A8A8D986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AA302F2-7133-FE78-2849-D79749EA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경제성장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22B9E8-26B1-8B18-CB57-209B6F00A5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C4B5876-2688-7696-E47B-6E6E9C7152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국내총생산</a:t>
            </a:r>
            <a:r>
              <a:rPr lang="en-US" altLang="ko-KR" dirty="0"/>
              <a:t>(GDP)</a:t>
            </a:r>
            <a:r>
              <a:rPr lang="ko-KR" altLang="en-US" dirty="0"/>
              <a:t>에 영향을 주는 정책 변수</a:t>
            </a:r>
            <a:endParaRPr lang="en-US" altLang="ko-KR" dirty="0"/>
          </a:p>
          <a:p>
            <a:pPr lvl="1"/>
            <a:r>
              <a:rPr lang="ko-KR" altLang="en-US" dirty="0"/>
              <a:t>기술수준</a:t>
            </a:r>
            <a:r>
              <a:rPr lang="en-US" altLang="ko-KR" dirty="0"/>
              <a:t>(A), </a:t>
            </a:r>
            <a:r>
              <a:rPr lang="ko-KR" altLang="en-US" dirty="0"/>
              <a:t>자본</a:t>
            </a:r>
            <a:r>
              <a:rPr lang="en-US" altLang="ko-KR" dirty="0"/>
              <a:t>(K), </a:t>
            </a:r>
            <a:r>
              <a:rPr lang="ko-KR" altLang="en-US" dirty="0"/>
              <a:t>노동</a:t>
            </a:r>
            <a:r>
              <a:rPr lang="en-US" altLang="ko-KR" dirty="0"/>
              <a:t>(L), </a:t>
            </a:r>
            <a:r>
              <a:rPr lang="ko-KR" altLang="en-US" dirty="0"/>
              <a:t>인적자본</a:t>
            </a:r>
            <a:r>
              <a:rPr lang="en-US" altLang="ko-KR" dirty="0"/>
              <a:t>(h), </a:t>
            </a:r>
            <a:r>
              <a:rPr lang="ko-KR" altLang="en-US" dirty="0"/>
              <a:t>사회자본</a:t>
            </a:r>
            <a:r>
              <a:rPr lang="en-US" altLang="ko-KR" dirty="0"/>
              <a:t>(S), α=</a:t>
            </a:r>
            <a:r>
              <a:rPr lang="ko-KR" altLang="en-US" dirty="0"/>
              <a:t>자본소득분배율</a:t>
            </a:r>
            <a:endParaRPr lang="en-US" altLang="ko-KR" dirty="0"/>
          </a:p>
          <a:p>
            <a:pPr lvl="1"/>
            <a:r>
              <a:rPr lang="ko-KR" altLang="en-US" dirty="0"/>
              <a:t>사회적 자본 </a:t>
            </a:r>
            <a:r>
              <a:rPr lang="en-US" altLang="ko-KR" dirty="0"/>
              <a:t>: </a:t>
            </a:r>
            <a:r>
              <a:rPr lang="ko-KR" altLang="en-US" dirty="0"/>
              <a:t>사회 구성원들이 협동할 수 있게 하는 자본 </a:t>
            </a:r>
            <a:r>
              <a:rPr lang="en-US" altLang="ko-KR" dirty="0"/>
              <a:t>ex) </a:t>
            </a:r>
            <a:r>
              <a:rPr lang="ko-KR" altLang="en-US" dirty="0"/>
              <a:t>신뢰</a:t>
            </a:r>
            <a:r>
              <a:rPr lang="en-US" altLang="ko-KR" dirty="0"/>
              <a:t>, </a:t>
            </a:r>
            <a:r>
              <a:rPr lang="ko-KR" altLang="en-US" dirty="0"/>
              <a:t>규범 등</a:t>
            </a:r>
            <a:endParaRPr lang="en-US" altLang="ko-KR" dirty="0"/>
          </a:p>
          <a:p>
            <a:r>
              <a:rPr lang="ko-KR" altLang="en-US" dirty="0"/>
              <a:t>자본</a:t>
            </a:r>
            <a:r>
              <a:rPr lang="en-US" altLang="ko-KR" dirty="0"/>
              <a:t>(K)</a:t>
            </a:r>
          </a:p>
          <a:p>
            <a:pPr lvl="1"/>
            <a:r>
              <a:rPr lang="ko-KR" altLang="en-US" dirty="0"/>
              <a:t>생산력 </a:t>
            </a:r>
            <a:r>
              <a:rPr lang="en-US" altLang="ko-KR" dirty="0"/>
              <a:t>O, </a:t>
            </a:r>
            <a:r>
              <a:rPr lang="ko-KR" altLang="en-US" dirty="0"/>
              <a:t>생산된 것</a:t>
            </a:r>
            <a:r>
              <a:rPr lang="en-US" altLang="ko-KR" dirty="0"/>
              <a:t>, </a:t>
            </a:r>
            <a:r>
              <a:rPr lang="ko-KR" altLang="en-US" dirty="0"/>
              <a:t>사용처 한정</a:t>
            </a:r>
            <a:r>
              <a:rPr lang="en-US" altLang="ko-KR" dirty="0"/>
              <a:t>, </a:t>
            </a:r>
            <a:r>
              <a:rPr lang="ko-KR" altLang="en-US" dirty="0"/>
              <a:t>수익 얻음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마모됨</a:t>
            </a:r>
            <a:r>
              <a:rPr lang="en-US" altLang="ko-KR" dirty="0"/>
              <a:t>. </a:t>
            </a:r>
            <a:r>
              <a:rPr lang="ko-KR" altLang="en-US" dirty="0"/>
              <a:t>자본의 한계생산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체감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Solow</a:t>
            </a:r>
            <a:r>
              <a:rPr lang="ko-KR" altLang="en-US" dirty="0">
                <a:sym typeface="Wingdings" panose="05000000000000000000" pitchFamily="2" charset="2"/>
              </a:rPr>
              <a:t>의 성장모형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정상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안정 상태 자본스톡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endParaRPr lang="en-US" altLang="ko-KR" dirty="0"/>
          </a:p>
          <a:p>
            <a:r>
              <a:rPr lang="ko-KR" altLang="en-US" dirty="0"/>
              <a:t>노동</a:t>
            </a:r>
            <a:r>
              <a:rPr lang="en-US" altLang="ko-KR" dirty="0"/>
              <a:t>(L)</a:t>
            </a:r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인당 소득증가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인구증가율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음의 상관관계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인구 증가</a:t>
            </a:r>
            <a:r>
              <a:rPr lang="en-US" altLang="ko-KR" dirty="0">
                <a:sym typeface="Wingdings" panose="05000000000000000000" pitchFamily="2" charset="2"/>
              </a:rPr>
              <a:t>-&gt; 1</a:t>
            </a:r>
            <a:r>
              <a:rPr lang="ko-KR" altLang="en-US" dirty="0">
                <a:sym typeface="Wingdings" panose="05000000000000000000" pitchFamily="2" charset="2"/>
              </a:rPr>
              <a:t>인당 자본에 미치는 </a:t>
            </a:r>
            <a:r>
              <a:rPr lang="en-US" altLang="ko-KR" dirty="0">
                <a:sym typeface="Wingdings" panose="05000000000000000000" pitchFamily="2" charset="2"/>
              </a:rPr>
              <a:t>(-)</a:t>
            </a:r>
            <a:r>
              <a:rPr lang="ko-KR" altLang="en-US" dirty="0">
                <a:sym typeface="Wingdings" panose="05000000000000000000" pitchFamily="2" charset="2"/>
              </a:rPr>
              <a:t>의 영향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 err="1">
                <a:sym typeface="Wingdings" panose="05000000000000000000" pitchFamily="2" charset="2"/>
              </a:rPr>
              <a:t>자본희석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인구증가율</a:t>
            </a:r>
            <a:r>
              <a:rPr lang="en-US" altLang="ko-KR" dirty="0">
                <a:sym typeface="Wingdings" panose="05000000000000000000" pitchFamily="2" charset="2"/>
              </a:rPr>
              <a:t>(n)</a:t>
            </a:r>
            <a:r>
              <a:rPr lang="ko-KR" altLang="en-US" dirty="0">
                <a:sym typeface="Wingdings" panose="05000000000000000000" pitchFamily="2" charset="2"/>
              </a:rPr>
              <a:t>이 높으면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인당 자본</a:t>
            </a:r>
            <a:r>
              <a:rPr lang="en-US" altLang="ko-KR" dirty="0">
                <a:sym typeface="Wingdings" panose="05000000000000000000" pitchFamily="2" charset="2"/>
              </a:rPr>
              <a:t>(k)</a:t>
            </a:r>
            <a:r>
              <a:rPr lang="ko-KR" altLang="en-US" dirty="0">
                <a:sym typeface="Wingdings" panose="05000000000000000000" pitchFamily="2" charset="2"/>
              </a:rPr>
              <a:t>이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빨리 희석 </a:t>
            </a:r>
            <a:r>
              <a:rPr lang="en-US" altLang="ko-KR" dirty="0">
                <a:sym typeface="Wingdings" panose="05000000000000000000" pitchFamily="2" charset="2"/>
              </a:rPr>
              <a:t>-&gt; 1</a:t>
            </a:r>
            <a:r>
              <a:rPr lang="ko-KR" altLang="en-US" dirty="0">
                <a:sym typeface="Wingdings" panose="05000000000000000000" pitchFamily="2" charset="2"/>
              </a:rPr>
              <a:t>인당 정상상태의 산출 하락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 err="1">
                <a:sym typeface="Wingdings" panose="05000000000000000000" pitchFamily="2" charset="2"/>
              </a:rPr>
              <a:t>멜서스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인구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내생변수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sym typeface="Wingdings" panose="05000000000000000000" pitchFamily="2" charset="2"/>
              </a:rPr>
              <a:t>솔로우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인구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외생변수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인적자본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노동의 다양한 질적 측면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영양상태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소득증가의 원인이자 결과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소득수준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건강상태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의 영향은 낮은 소득수준에서 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교육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인적자본 축적을 위한 투자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선진국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 err="1">
                <a:sym typeface="Wingdings" panose="05000000000000000000" pitchFamily="2" charset="2"/>
              </a:rPr>
              <a:t>국민소득중</a:t>
            </a:r>
            <a:r>
              <a:rPr lang="ko-KR" altLang="en-US" dirty="0">
                <a:sym typeface="Wingdings" panose="05000000000000000000" pitchFamily="2" charset="2"/>
              </a:rPr>
              <a:t> 인적자본 </a:t>
            </a:r>
            <a:r>
              <a:rPr lang="en-US" altLang="ko-KR" dirty="0">
                <a:sym typeface="Wingdings" panose="05000000000000000000" pitchFamily="2" charset="2"/>
              </a:rPr>
              <a:t>&gt; </a:t>
            </a:r>
            <a:r>
              <a:rPr lang="ko-KR" altLang="en-US" dirty="0">
                <a:sym typeface="Wingdings" panose="05000000000000000000" pitchFamily="2" charset="2"/>
              </a:rPr>
              <a:t>물적자본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교육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외부효과</a:t>
            </a:r>
            <a:r>
              <a:rPr lang="en-US" altLang="ko-KR" dirty="0">
                <a:sym typeface="Wingdings" panose="05000000000000000000" pitchFamily="2" charset="2"/>
              </a:rPr>
              <a:t>) : </a:t>
            </a:r>
            <a:r>
              <a:rPr lang="ko-KR" altLang="en-US" dirty="0">
                <a:sym typeface="Wingdings" panose="05000000000000000000" pitchFamily="2" charset="2"/>
              </a:rPr>
              <a:t>국가간 소득격차 중 인적자본 중요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생산성 </a:t>
            </a:r>
            <a:r>
              <a:rPr lang="en-US" altLang="ko-KR" dirty="0">
                <a:sym typeface="Wingdings" panose="05000000000000000000" pitchFamily="2" charset="2"/>
              </a:rPr>
              <a:t>:= </a:t>
            </a:r>
            <a:r>
              <a:rPr lang="ko-KR" altLang="en-US" dirty="0">
                <a:sym typeface="Wingdings" panose="05000000000000000000" pitchFamily="2" charset="2"/>
              </a:rPr>
              <a:t>산출량 중 생산요소의 투입을 고려하고 남는 부분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발전회계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산출량 증가율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생산성 증가율 </a:t>
            </a:r>
            <a:r>
              <a:rPr lang="en-US" altLang="ko-KR" dirty="0">
                <a:sym typeface="Wingdings" panose="05000000000000000000" pitchFamily="2" charset="2"/>
              </a:rPr>
              <a:t>+ </a:t>
            </a:r>
            <a:r>
              <a:rPr lang="ko-KR" altLang="en-US" dirty="0">
                <a:sym typeface="Wingdings" panose="05000000000000000000" pitchFamily="2" charset="2"/>
              </a:rPr>
              <a:t>생산요소 증가율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성장회계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시간에 걸친 생산성 증가 분석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기술진보 </a:t>
            </a:r>
            <a:r>
              <a:rPr lang="en-US" altLang="ko-KR" dirty="0">
                <a:sym typeface="Wingdings" panose="05000000000000000000" pitchFamily="2" charset="2"/>
              </a:rPr>
              <a:t>: A</a:t>
            </a:r>
            <a:r>
              <a:rPr lang="ko-KR" altLang="en-US" dirty="0">
                <a:sym typeface="Wingdings" panose="05000000000000000000" pitchFamily="2" charset="2"/>
              </a:rPr>
              <a:t>값의 변화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기술변화의 중요 측면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경제가 수확체감의 한계를 넘을 수 </a:t>
            </a:r>
            <a:r>
              <a:rPr lang="ko-KR" altLang="en-US" dirty="0" err="1">
                <a:sym typeface="Wingdings" panose="05000000000000000000" pitchFamily="2" charset="2"/>
              </a:rPr>
              <a:t>있게함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C67A1C-DFAB-229E-C616-541F4C8EA35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0FFA473-0DAF-0C95-F915-22A95420E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266" y="625594"/>
            <a:ext cx="1102623" cy="144016"/>
          </a:xfrm>
          <a:prstGeom prst="rect">
            <a:avLst/>
          </a:prstGeom>
        </p:spPr>
      </p:pic>
      <p:pic>
        <p:nvPicPr>
          <p:cNvPr id="12" name="그림 11" descr="라인, 그래프, 도표, 경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7C74E7E-1A40-D96C-B863-88D6093267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469" y="1257704"/>
            <a:ext cx="2036017" cy="1048246"/>
          </a:xfrm>
          <a:prstGeom prst="rect">
            <a:avLst/>
          </a:prstGeom>
        </p:spPr>
      </p:pic>
      <p:pic>
        <p:nvPicPr>
          <p:cNvPr id="14" name="그림 13" descr="텍스트, 폰트, 타이포그래피, 친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6AE220B-EEFD-CE20-B433-FC4909330C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526" y="2764369"/>
            <a:ext cx="2443902" cy="33788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F623EDC-C7E5-F051-B596-3FD8A1A7EE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516" y="4996514"/>
            <a:ext cx="1242137" cy="21602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B87C63-8316-BC38-D7D3-A9D48E7904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968" y="5505400"/>
            <a:ext cx="879049" cy="1676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9FE3F72-458B-9602-B83B-EF5EAB62B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136" y="1433485"/>
            <a:ext cx="1102624" cy="16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57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497851-5918-7716-1F12-0B57E55BA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BF76644-0F9E-5464-5556-39BC78707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EDF174-7551-71BF-005E-EC4415644F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95FD67D-47E2-315A-AC60-0F9D4B3F57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불평등 지표</a:t>
            </a:r>
            <a:endParaRPr lang="en-US" altLang="ko-KR" dirty="0"/>
          </a:p>
          <a:p>
            <a:pPr lvl="1"/>
            <a:r>
              <a:rPr lang="ko-KR" altLang="en-US" dirty="0" err="1"/>
              <a:t>지니계수</a:t>
            </a:r>
            <a:r>
              <a:rPr lang="en-US" altLang="ko-KR" dirty="0"/>
              <a:t>=η/(</a:t>
            </a:r>
            <a:r>
              <a:rPr lang="en-US" altLang="ko-KR" dirty="0" err="1"/>
              <a:t>η+θ</a:t>
            </a:r>
            <a:r>
              <a:rPr lang="en-US" altLang="ko-KR" dirty="0"/>
              <a:t>) ; </a:t>
            </a:r>
            <a:br>
              <a:rPr lang="en-US" altLang="ko-KR" dirty="0"/>
            </a:br>
            <a:r>
              <a:rPr lang="en-US" altLang="ko-KR" dirty="0"/>
              <a:t>5</a:t>
            </a:r>
            <a:r>
              <a:rPr lang="ko-KR" altLang="en-US" dirty="0"/>
              <a:t>분위배율 </a:t>
            </a:r>
            <a:r>
              <a:rPr lang="en-US" altLang="ko-KR" dirty="0"/>
              <a:t>=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상위</a:t>
            </a:r>
            <a:r>
              <a:rPr lang="en-US" altLang="ko-KR" dirty="0"/>
              <a:t>20% </a:t>
            </a:r>
            <a:r>
              <a:rPr lang="ko-KR" altLang="en-US" dirty="0"/>
              <a:t>소득점유비율</a:t>
            </a:r>
            <a:r>
              <a:rPr lang="en-US" altLang="ko-KR" dirty="0"/>
              <a:t>)/(</a:t>
            </a:r>
            <a:r>
              <a:rPr lang="ko-KR" altLang="en-US" dirty="0"/>
              <a:t>하위</a:t>
            </a:r>
            <a:r>
              <a:rPr lang="en-US" altLang="ko-KR" dirty="0"/>
              <a:t>20% </a:t>
            </a:r>
            <a:r>
              <a:rPr lang="ko-KR" altLang="en-US" dirty="0"/>
              <a:t>소득점유비율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성장과 분배의 관계</a:t>
            </a:r>
            <a:endParaRPr lang="en-US" altLang="ko-KR" dirty="0"/>
          </a:p>
          <a:p>
            <a:pPr lvl="1"/>
            <a:r>
              <a:rPr lang="en-US" altLang="ko-KR" dirty="0"/>
              <a:t>Simon </a:t>
            </a:r>
            <a:r>
              <a:rPr lang="en-US" altLang="ko-KR" dirty="0" err="1"/>
              <a:t>kuznets</a:t>
            </a:r>
            <a:r>
              <a:rPr lang="en-US" altLang="ko-KR" dirty="0"/>
              <a:t> </a:t>
            </a:r>
            <a:r>
              <a:rPr lang="ko-KR" altLang="en-US" dirty="0"/>
              <a:t>가설</a:t>
            </a:r>
            <a:endParaRPr lang="en-US" altLang="ko-KR" dirty="0"/>
          </a:p>
          <a:p>
            <a:pPr lvl="2"/>
            <a:r>
              <a:rPr lang="ko-KR" altLang="en-US" dirty="0"/>
              <a:t>경제성장 초기단계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: 1</a:t>
            </a:r>
            <a:r>
              <a:rPr lang="ko-KR" altLang="en-US" dirty="0">
                <a:sym typeface="Wingdings" panose="05000000000000000000" pitchFamily="2" charset="2"/>
              </a:rPr>
              <a:t>인당 국민소득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증가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경제성장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성숙기엔 소득불균형 완화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Harrod-Domar</a:t>
            </a:r>
            <a:r>
              <a:rPr lang="ko-KR" altLang="en-US" dirty="0">
                <a:sym typeface="Wingdings" panose="05000000000000000000" pitchFamily="2" charset="2"/>
              </a:rPr>
              <a:t>의 모형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소득분배 불평등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저축률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성장률 성장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Hollis Chenery : </a:t>
            </a:r>
            <a:r>
              <a:rPr lang="ko-KR" altLang="en-US" dirty="0">
                <a:sym typeface="Wingdings" panose="05000000000000000000" pitchFamily="2" charset="2"/>
              </a:rPr>
              <a:t>저개발국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빈곤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불평등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성장 저해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생산적 자산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빈민 재분배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불평등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성장에 유해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불평등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r>
              <a:rPr lang="ko-KR" altLang="en-US" dirty="0">
                <a:sym typeface="Wingdings" panose="05000000000000000000" pitchFamily="2" charset="2"/>
              </a:rPr>
              <a:t> 과도한 세금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재분배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성장 저해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소득분배 불평등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사회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정치적 불안정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투자위축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경제성장 저해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Piketty : </a:t>
            </a:r>
            <a:r>
              <a:rPr lang="ko-KR" altLang="en-US" dirty="0"/>
              <a:t>최고세율 인상 목적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세수증대 </a:t>
            </a:r>
            <a:r>
              <a:rPr lang="en-US" altLang="ko-KR" dirty="0">
                <a:sym typeface="Wingdings" panose="05000000000000000000" pitchFamily="2" charset="2"/>
              </a:rPr>
              <a:t>X, </a:t>
            </a:r>
            <a:r>
              <a:rPr lang="ko-KR" altLang="en-US" dirty="0">
                <a:sym typeface="Wingdings" panose="05000000000000000000" pitchFamily="2" charset="2"/>
              </a:rPr>
              <a:t>상위계층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소득증가 억제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분배개선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한국경제 특성과 소득주도성장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노동소득분배율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성장률이 같은 방향 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임금주도경제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/>
              <a:t>임금불평등 증가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가구소득의 불평등 증가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한국의 소득대비 부는 매우 높은 수준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자본소득분배율이 높아짐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불평등 악화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자산 불평등 분배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공평 기회 제약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인적자원 사용 저해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13CC79-B633-4971-657F-8AF0C0129D0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텍스트, 라인, 도표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B7C4A3D-4295-A4B0-2326-675B1EF07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144" y="625805"/>
            <a:ext cx="2088231" cy="1734907"/>
          </a:xfrm>
          <a:prstGeom prst="rect">
            <a:avLst/>
          </a:prstGeom>
        </p:spPr>
      </p:pic>
      <p:pic>
        <p:nvPicPr>
          <p:cNvPr id="10" name="그림 9" descr="라인, 도표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9873F1B-D7B0-C2D7-7911-C93B91B0D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968" y="1280592"/>
            <a:ext cx="1584176" cy="9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431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28424</TotalTime>
  <Words>2650</Words>
  <Application>Microsoft Office PowerPoint</Application>
  <PresentationFormat>A4 용지(210x297mm)</PresentationFormat>
  <Paragraphs>238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Wingdings</vt:lpstr>
      <vt:lpstr>디자인 사용자 지정</vt:lpstr>
      <vt:lpstr>후생경제학이란 무엇인가</vt:lpstr>
      <vt:lpstr>후생경제학이란 무엇인가 (계속)</vt:lpstr>
      <vt:lpstr>생산요소의 고용량과 가격</vt:lpstr>
      <vt:lpstr>생산요소의 고용량과 가격 (계속)</vt:lpstr>
      <vt:lpstr>노동시장과 자본시장</vt:lpstr>
      <vt:lpstr>일반균형이론</vt:lpstr>
      <vt:lpstr>시장실패</vt:lpstr>
      <vt:lpstr>후생평가의 기준과 사회후생함수 / 공공성과 공유경제</vt:lpstr>
      <vt:lpstr>효율과 공평</vt:lpstr>
      <vt:lpstr>경제성장</vt:lpstr>
      <vt:lpstr>분배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575</cp:revision>
  <dcterms:created xsi:type="dcterms:W3CDTF">2021-05-24T07:27:04Z</dcterms:created>
  <dcterms:modified xsi:type="dcterms:W3CDTF">2025-04-22T03:18:07Z</dcterms:modified>
</cp:coreProperties>
</file>