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88" r:id="rId2"/>
    <p:sldId id="289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51" autoAdjust="0"/>
    <p:restoredTop sz="96234" autoAdjust="0"/>
  </p:normalViewPr>
  <p:slideViewPr>
    <p:cSldViewPr>
      <p:cViewPr>
        <p:scale>
          <a:sx n="107" d="100"/>
          <a:sy n="107" d="100"/>
        </p:scale>
        <p:origin x="-667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2025-09-09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2025-09-09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622835-9E08-ED93-D8DE-70C0D15D1E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0D2C0DD-4176-CB03-D6D0-5B2C7680A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ED34BF-F417-F43A-AD55-6DEB580E0B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72F1816D-EA83-F62C-152B-FAF245620E9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Aa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altLang="ko-KR" sz="11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acc>
                              <m:accPr>
                                <m:chr m:val="̅"/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acc>
                              <m:accPr>
                                <m:chr m:val="̅"/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ko-KR" sz="1100" dirty="0"/>
              </a:p>
              <a:p>
                <a:r>
                  <a:rPr lang="en-US" altLang="ko-KR" dirty="0"/>
                  <a:t>Aa</a:t>
                </a:r>
              </a:p>
              <a:p>
                <a:pPr lvl="1"/>
                <a:r>
                  <a:rPr lang="en-US" altLang="ko-KR" dirty="0"/>
                  <a:t>1) COV(X,Y), 2) COV(X,Y) → 1) COV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&gt;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2)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COV</a:t>
                </a:r>
              </a:p>
              <a:p>
                <a:pPr lvl="2"/>
                <a:r>
                  <a:rPr lang="ko-KR" altLang="en-US" dirty="0"/>
                  <a:t>퍼진 정도에 따라 </a:t>
                </a:r>
                <a:r>
                  <a:rPr lang="en-US" altLang="ko-KR" dirty="0"/>
                  <a:t>COV</a:t>
                </a:r>
                <a:r>
                  <a:rPr lang="ko-KR" altLang="en-US" dirty="0"/>
                  <a:t>가 다르게 나옴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스케일링</a:t>
                </a:r>
                <a:r>
                  <a:rPr lang="en-US" altLang="ko-KR" dirty="0"/>
                  <a:t>; </a:t>
                </a: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𝐶𝑂𝑉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𝐶𝑂𝑅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; 1) COR &lt; 2) COR</a:t>
                </a:r>
              </a:p>
              <a:p>
                <a:r>
                  <a:rPr lang="en-US" altLang="ko-KR" dirty="0"/>
                  <a:t>Spearman's rank correlation, coefficient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), …,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 dirty="0"/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 dirty="0"/>
                  <a:t>의 </a:t>
                </a:r>
                <a:r>
                  <a:rPr lang="en-US" altLang="ko-KR" sz="1100" dirty="0"/>
                  <a:t>Rank,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 dirty="0"/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 dirty="0"/>
                  <a:t>의 </a:t>
                </a:r>
                <a:r>
                  <a:rPr lang="en-US" altLang="ko-KR" sz="1100" dirty="0"/>
                  <a:t>Rank;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ko-KR" altLang="en-US" sz="1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𝐶𝑂𝑅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1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1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sub>
                            </m:sSub>
                          </m:sub>
                        </m:sSub>
                      </m:den>
                    </m:f>
                  </m:oMath>
                </a14:m>
                <a:endParaRPr lang="ko-KR" altLang="en-US" dirty="0"/>
              </a:p>
              <a:p>
                <a:r>
                  <a:rPr lang="en-US" altLang="ko-KR" sz="1200" dirty="0"/>
                  <a:t>Kendal's Tau(τ)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, …,(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ko-KR" altLang="en-US" sz="12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altLang="ko-KR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ko-KR" altLang="en-US" dirty="0"/>
              </a:p>
              <a:p>
                <a:pPr lvl="1"/>
                <a:r>
                  <a:rPr lang="en-US" altLang="ko-KR" dirty="0"/>
                  <a:t>1) concordant pair 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&amp; </m:t>
                        </m:r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&amp; 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→ 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&gt;0)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2) discordant pair 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&amp;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&amp;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→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0)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Likelihood function vs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joint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PDF</a:t>
                </a:r>
              </a:p>
              <a:p>
                <a:pPr lvl="1"/>
                <a:endParaRPr lang="en-US" altLang="ko-KR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72F1816D-EA83-F62C-152B-FAF245620E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13" t="-1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DD88FA-D5DB-09F2-6252-4BC73BD24D1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077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B0BC1FB-ACB0-ABCE-72C3-896A6F723B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540D1F9-60EB-9FC1-1840-15C1786E8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628296-6800-BE33-5977-DF318575BA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360D7775-0580-5416-8E92-4D26A34DEC2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SSE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SAD</a:t>
                </a:r>
                <a:r>
                  <a:rPr lang="ko-KR" altLang="en-US" dirty="0"/>
                  <a:t>의 유도</a:t>
                </a:r>
                <a:endParaRPr lang="en-US" altLang="ko-KR" dirty="0"/>
              </a:p>
              <a:p>
                <a:pPr lvl="1"/>
                <a:r>
                  <a:rPr lang="en-US" altLang="ko-KR" i="1" dirty="0">
                    <a:latin typeface="Cambria Math" panose="02040503050406030204" pitchFamily="18" charset="0"/>
                  </a:rPr>
                  <a:t>SSE </a:t>
                </a:r>
                <a:r>
                  <a:rPr lang="ko-KR" altLang="en-US" i="1" dirty="0">
                    <a:latin typeface="Cambria Math" panose="02040503050406030204" pitchFamily="18" charset="0"/>
                  </a:rPr>
                  <a:t>수식 유도 </a:t>
                </a:r>
                <a:r>
                  <a:rPr lang="en-US" altLang="ko-KR" i="1" dirty="0">
                    <a:latin typeface="Cambria Math" panose="02040503050406030204" pitchFamily="18" charset="0"/>
                  </a:rPr>
                  <a:t>(</a:t>
                </a:r>
                <a:r>
                  <a:rPr lang="ko-KR" altLang="en-US" i="1" dirty="0">
                    <a:latin typeface="Cambria Math" panose="02040503050406030204" pitchFamily="18" charset="0"/>
                  </a:rPr>
                  <a:t>수학적으로 미가</a:t>
                </a:r>
                <a:r>
                  <a:rPr lang="en-US" altLang="ko-KR" i="1" dirty="0">
                    <a:latin typeface="Cambria Math" panose="02040503050406030204" pitchFamily="18" charset="0"/>
                  </a:rPr>
                  <a:t> good, </a:t>
                </a:r>
                <a:r>
                  <a:rPr lang="ko-KR" altLang="en-US" i="1" dirty="0">
                    <a:latin typeface="Cambria Math" panose="02040503050406030204" pitchFamily="18" charset="0"/>
                  </a:rPr>
                  <a:t>이상치엔 민감</a:t>
                </a:r>
                <a:r>
                  <a:rPr lang="en-US" altLang="ko-KR" i="1" dirty="0">
                    <a:latin typeface="Cambria Math" panose="02040503050406030204" pitchFamily="18" charset="0"/>
                  </a:rPr>
                  <a:t>(</a:t>
                </a:r>
                <a:r>
                  <a:rPr lang="ko-KR" altLang="en-US" i="1" dirty="0">
                    <a:latin typeface="Cambria Math" panose="02040503050406030204" pitchFamily="18" charset="0"/>
                  </a:rPr>
                  <a:t>오차를 제곱하기 때문</a:t>
                </a:r>
                <a:r>
                  <a:rPr lang="en-US" altLang="ko-KR" i="1" dirty="0">
                    <a:latin typeface="Cambria Math" panose="02040503050406030204" pitchFamily="18" charset="0"/>
                  </a:rPr>
                  <a:t>))</a:t>
                </a:r>
                <a:br>
                  <a:rPr lang="en-US" altLang="ko-KR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𝑆𝑆𝐸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br>
                  <a:rPr lang="en-US" altLang="ko-KR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𝑎𝑟𝑔𝑚𝑖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𝜕𝜇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=2</m:t>
                    </m:r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→</m:t>
                    </m:r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ko-KR" dirty="0"/>
              </a:p>
              <a:p>
                <a:pPr lvl="1"/>
                <a:r>
                  <a:rPr lang="en-US" altLang="ko-KR" i="1" dirty="0">
                    <a:latin typeface="Cambria Math" panose="02040503050406030204" pitchFamily="18" charset="0"/>
                  </a:rPr>
                  <a:t>SAD </a:t>
                </a:r>
                <a:r>
                  <a:rPr lang="ko-KR" altLang="en-US" i="1" dirty="0">
                    <a:latin typeface="Cambria Math" panose="02040503050406030204" pitchFamily="18" charset="0"/>
                  </a:rPr>
                  <a:t>수식 유도 </a:t>
                </a:r>
                <a:r>
                  <a:rPr lang="en-US" altLang="ko-KR" i="1" dirty="0">
                    <a:latin typeface="Cambria Math" panose="02040503050406030204" pitchFamily="18" charset="0"/>
                  </a:rPr>
                  <a:t>(</a:t>
                </a:r>
                <a:r>
                  <a:rPr lang="ko-KR" altLang="en-US" i="1" dirty="0">
                    <a:latin typeface="Cambria Math" panose="02040503050406030204" pitchFamily="18" charset="0"/>
                  </a:rPr>
                  <a:t>이상치에 대해 민감 </a:t>
                </a:r>
                <a:r>
                  <a:rPr lang="en-US" altLang="ko-KR" i="1" dirty="0">
                    <a:latin typeface="Cambria Math" panose="02040503050406030204" pitchFamily="18" charset="0"/>
                  </a:rPr>
                  <a:t>X, but, </a:t>
                </a:r>
                <a:r>
                  <a:rPr lang="ko-KR" altLang="en-US" i="1" dirty="0">
                    <a:latin typeface="Cambria Math" panose="02040503050406030204" pitchFamily="18" charset="0"/>
                  </a:rPr>
                  <a:t>미분불가능</a:t>
                </a:r>
                <a:r>
                  <a:rPr lang="en-US" altLang="ko-KR" i="1" dirty="0">
                    <a:latin typeface="Cambria Math" panose="02040503050406030204" pitchFamily="18" charset="0"/>
                  </a:rPr>
                  <a:t>)</a:t>
                </a:r>
                <a:br>
                  <a:rPr lang="en-US" altLang="ko-KR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𝑆𝐴𝐷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</m:nary>
                  </m:oMath>
                </a14:m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ko-KR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altLang="ko-KR" i="1">
                        <a:latin typeface="Cambria Math" panose="02040503050406030204" pitchFamily="18" charset="0"/>
                      </a:rPr>
                      <m:t>≤⋯≤</m:t>
                    </m:r>
                    <m:sSub>
                      <m:sSubPr>
                        <m:ctrlPr>
                          <a:rPr lang="fr-F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ko-KR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fr-FR" altLang="ko-KR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fr-FR" altLang="ko-KR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fr-FR" altLang="ko-KR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fr-F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ko-KR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fr-FR" altLang="ko-KR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fr-FR" altLang="ko-KR" i="1">
                        <a:latin typeface="Cambria Math" panose="02040503050406030204" pitchFamily="18" charset="0"/>
                      </a:rPr>
                      <m:t>≤⋯≤</m:t>
                    </m:r>
                    <m:sSub>
                      <m:sSubPr>
                        <m:ctrlPr>
                          <a:rPr lang="fr-F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ko-KR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ko-KR" i="0" smtClean="0">
                        <a:latin typeface="Cambria Math" panose="02040503050406030204" pitchFamily="18" charset="0"/>
                      </a:rPr>
                      <m:t>if</m:t>
                    </m:r>
                    <m:r>
                      <m:rPr>
                        <m:nor/>
                      </m:rPr>
                      <a:rPr lang="en-US" altLang="ko-KR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altLang="ko-KR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m:rPr>
                        <m:nor/>
                      </m:rPr>
                      <a:rPr lang="en-US" altLang="ko-KR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i="0" smtClean="0">
                        <a:latin typeface="Cambria Math" panose="02040503050406030204" pitchFamily="18" charset="0"/>
                      </a:rPr>
                      <m:t>even</m:t>
                    </m:r>
                    <m:r>
                      <m:rPr>
                        <m:nor/>
                      </m:rPr>
                      <a:rPr lang="en-US" altLang="ko-KR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ko-KR" i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ko-KR" i="0">
                        <a:latin typeface="Cambria Math" panose="02040503050406030204" pitchFamily="18" charset="0"/>
                      </a:rPr>
                      <m:t>if</m:t>
                    </m:r>
                    <m:r>
                      <m:rPr>
                        <m:nor/>
                      </m:rPr>
                      <a:rPr lang="en-US" altLang="ko-KR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i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altLang="ko-KR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i="0">
                        <a:latin typeface="Cambria Math" panose="02040503050406030204" pitchFamily="18" charset="0"/>
                      </a:rPr>
                      <m:t>is</m:t>
                    </m:r>
                    <m:r>
                      <m:rPr>
                        <m:nor/>
                      </m:rPr>
                      <a:rPr lang="en-US" altLang="ko-KR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i="0">
                        <a:latin typeface="Cambria Math" panose="02040503050406030204" pitchFamily="18" charset="0"/>
                      </a:rPr>
                      <m:t>odd</m:t>
                    </m:r>
                    <m:r>
                      <m:rPr>
                        <m:nor/>
                      </m:rPr>
                      <a:rPr lang="en-US" altLang="ko-KR" i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ko-KR" dirty="0"/>
              </a:p>
              <a:p>
                <a:r>
                  <a:rPr lang="ko-KR" altLang="en-US" dirty="0" err="1"/>
                  <a:t>열벡터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내적</a:t>
                </a:r>
                <a:r>
                  <a:rPr lang="en-US" altLang="ko-KR" dirty="0"/>
                  <a:t>, </a:t>
                </a:r>
                <a:r>
                  <a:rPr lang="ko-KR" altLang="en-US" dirty="0" err="1"/>
                  <a:t>정사영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1) </m:t>
                    </m:r>
                  </m:oMath>
                </a14:m>
                <a:br>
                  <a:rPr lang="en-US" altLang="ko-KR" b="0" dirty="0"/>
                </a:b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nor/>
                      </m:rPr>
                      <a:rPr lang="en-US" altLang="ko-KR" i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,⋅,</m:t>
                            </m:r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ko-KR" dirty="0"/>
              </a:p>
              <a:p>
                <a:pPr lvl="1"/>
                <a:endParaRPr lang="en-US" altLang="ko-KR" b="0" dirty="0"/>
              </a:p>
              <a:p>
                <a:pPr lvl="1"/>
                <a:br>
                  <a:rPr lang="en-US" altLang="ko-KR" b="0" dirty="0"/>
                </a:br>
                <a:endParaRPr lang="en-US" altLang="ko-KR" dirty="0"/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360D7775-0580-5416-8E92-4D26A34DEC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t="-12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E986818-EC3E-30B9-2A56-FBA028E8999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200514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27113</TotalTime>
  <Words>297</Words>
  <Application>Microsoft Office PowerPoint</Application>
  <PresentationFormat>A4 용지(210x297mm)</PresentationFormat>
  <Paragraphs>20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Cambria Math</vt:lpstr>
      <vt:lpstr>Wingdings</vt:lpstr>
      <vt:lpstr>디자인 사용자 지정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619</cp:revision>
  <dcterms:created xsi:type="dcterms:W3CDTF">2021-05-24T07:27:04Z</dcterms:created>
  <dcterms:modified xsi:type="dcterms:W3CDTF">2025-09-09T04:25:57Z</dcterms:modified>
</cp:coreProperties>
</file>