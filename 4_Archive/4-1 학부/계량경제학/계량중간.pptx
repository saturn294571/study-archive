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87" r:id="rId2"/>
    <p:sldId id="288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>
        <p:scale>
          <a:sx n="100" d="100"/>
          <a:sy n="100" d="100"/>
        </p:scale>
        <p:origin x="1930" y="-2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>
                <a:latin typeface="Cambria Math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>
                <a:latin typeface="Cambria Math" panose="02040503050406030204" pitchFamily="18" charset="0"/>
              </a:defRPr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>
                <a:latin typeface="Cambria Math" panose="02040503050406030204" pitchFamily="18" charset="0"/>
              </a:defRPr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>
                <a:latin typeface="Cambria Math" panose="02040503050406030204" pitchFamily="18" charset="0"/>
              </a:defRPr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>
                <a:latin typeface="Cambria Math" panose="02040503050406030204" pitchFamily="18" charset="0"/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  <a:latin typeface="Cambria Math" panose="02040503050406030204" pitchFamily="18" charset="0"/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>
                <a:latin typeface="Cambria Math" panose="02040503050406030204" pitchFamily="18" charset="0"/>
              </a:defRPr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>
                <a:latin typeface="Cambria Math" panose="02040503050406030204" pitchFamily="18" charset="0"/>
              </a:defRPr>
            </a:lvl3pPr>
            <a:lvl4pPr marL="714375" indent="-174625">
              <a:lnSpc>
                <a:spcPct val="100000"/>
              </a:lnSpc>
              <a:defRPr sz="900">
                <a:latin typeface="Cambria Math" panose="02040503050406030204" pitchFamily="18" charset="0"/>
              </a:defRPr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>
                <a:latin typeface="Cambria Math" panose="02040503050406030204" pitchFamily="18" charset="0"/>
              </a:defRPr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>
                <a:latin typeface="Cambria Math" panose="02040503050406030204" pitchFamily="18" charset="0"/>
              </a:defRPr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>
                <a:latin typeface="Cambria Math" panose="02040503050406030204" pitchFamily="18" charset="0"/>
              </a:defRPr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>
                <a:latin typeface="Cambria Math" panose="02040503050406030204" pitchFamily="18" charset="0"/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fld id="{771A75F8-F7CF-491B-B1E4-FC201F6C4E25}" type="datetimeFigureOut">
              <a:rPr lang="ko-KR" altLang="en-US" smtClean="0"/>
              <a:pPr/>
              <a:t>2025-09-12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fld id="{E742FEC1-B77B-495D-8A20-27D6315DED0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>
                <a:latin typeface="Cambria Math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>
                <a:latin typeface="Cambria Math" panose="02040503050406030204" pitchFamily="18" charset="0"/>
              </a:defRPr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>
                <a:latin typeface="Cambria Math" panose="02040503050406030204" pitchFamily="18" charset="0"/>
              </a:defRPr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>
                <a:latin typeface="Cambria Math" panose="02040503050406030204" pitchFamily="18" charset="0"/>
              </a:defRPr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>
                <a:latin typeface="Cambria Math" panose="02040503050406030204" pitchFamily="18" charset="0"/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latin typeface="Cambria Math" panose="02040503050406030204" pitchFamily="18" charset="0"/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>
                <a:latin typeface="Cambria Math" panose="02040503050406030204" pitchFamily="18" charset="0"/>
              </a:defRPr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>
                <a:latin typeface="Cambria Math" panose="02040503050406030204" pitchFamily="18" charset="0"/>
              </a:defRPr>
            </a:lvl3pPr>
            <a:lvl4pPr marL="714375" indent="-174625">
              <a:lnSpc>
                <a:spcPct val="100000"/>
              </a:lnSpc>
              <a:defRPr sz="900">
                <a:latin typeface="Cambria Math" panose="02040503050406030204" pitchFamily="18" charset="0"/>
              </a:defRPr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>
                <a:latin typeface="Cambria Math" panose="02040503050406030204" pitchFamily="18" charset="0"/>
              </a:defRPr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>
                <a:latin typeface="Cambria Math" panose="02040503050406030204" pitchFamily="18" charset="0"/>
              </a:defRPr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>
                <a:latin typeface="Cambria Math" panose="02040503050406030204" pitchFamily="18" charset="0"/>
              </a:defRPr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>
                <a:latin typeface="Cambria Math" panose="02040503050406030204" pitchFamily="18" charset="0"/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fld id="{771A75F8-F7CF-491B-B1E4-FC201F6C4E25}" type="datetimeFigureOut">
              <a:rPr lang="ko-KR" altLang="en-US" smtClean="0"/>
              <a:pPr/>
              <a:t>2025-09-12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>
            <a:lvl1pPr>
              <a:defRPr>
                <a:latin typeface="Cambria Math" panose="02040503050406030204" pitchFamily="18" charset="0"/>
              </a:defRPr>
            </a:lvl1pPr>
          </a:lstStyle>
          <a:p>
            <a:fld id="{E742FEC1-B77B-495D-8A20-27D6315DED0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>
                <a:latin typeface="Cambria Math" panose="02040503050406030204" pitchFamily="18" charset="0"/>
              </a:defRPr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>
                <a:latin typeface="Cambria Math" panose="02040503050406030204" pitchFamily="18" charset="0"/>
              </a:defRPr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>
                <a:latin typeface="Cambria Math" panose="02040503050406030204" pitchFamily="18" charset="0"/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latin typeface="Cambria Math" panose="02040503050406030204" pitchFamily="18" charset="0"/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>
                <a:latin typeface="Cambria Math" panose="02040503050406030204" pitchFamily="18" charset="0"/>
              </a:defRPr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>
                <a:latin typeface="Cambria Math" panose="02040503050406030204" pitchFamily="18" charset="0"/>
              </a:defRPr>
            </a:lvl3pPr>
            <a:lvl4pPr marL="714375" indent="-174625">
              <a:lnSpc>
                <a:spcPct val="100000"/>
              </a:lnSpc>
              <a:defRPr sz="900">
                <a:latin typeface="Cambria Math" panose="02040503050406030204" pitchFamily="18" charset="0"/>
              </a:defRPr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>
                <a:latin typeface="Cambria Math" panose="02040503050406030204" pitchFamily="18" charset="0"/>
              </a:defRPr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>
                <a:latin typeface="Cambria Math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6561FBA-A741-8080-A386-E9610775F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B7ED1A-9E7B-4320-0CE2-F58AEF87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표본평균과 표본분산의 도출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CBC88D-5FED-D418-1149-87BFE3BC01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90CE7DD-D529-249C-298C-F37E62E9372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>
                    <a:ea typeface="Cambria Math" panose="02040503050406030204" pitchFamily="18" charset="0"/>
                  </a:rPr>
                  <a:t>1. </a:t>
                </a:r>
                <a:r>
                  <a:rPr lang="ko-KR" altLang="en-US" dirty="0"/>
                  <a:t>모형의 설정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/>
                          <m:t>𝜇</m:t>
                        </m:r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i="1"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ko-KR" altLang="en-US" dirty="0"/>
                  <a:t>모평균 </a:t>
                </a:r>
                <a:r>
                  <a:rPr lang="en-US" altLang="ko-KR" dirty="0">
                    <a:ea typeface="Cambria Math" panose="02040503050406030204" pitchFamily="18" charset="0"/>
                  </a:rPr>
                  <a:t>→ </a:t>
                </a:r>
                <a:r>
                  <a:rPr lang="ko-KR" altLang="en-US" dirty="0"/>
                  <a:t>확률변수 </a:t>
                </a:r>
                <a:r>
                  <a:rPr lang="en-US" altLang="ko-KR" dirty="0" err="1">
                    <a:ea typeface="Cambria Math" panose="02040503050406030204" pitchFamily="18" charset="0"/>
                  </a:rPr>
                  <a:t>yi</a:t>
                </a:r>
                <a:r>
                  <a:rPr lang="ko-KR" altLang="en-US" dirty="0"/>
                  <a:t>가 취할 수 있는 모든 값의 평균이 </a:t>
                </a:r>
                <a:br>
                  <a:rPr lang="en-US" altLang="ko-KR" dirty="0">
                    <a:ea typeface="Cambria Math" panose="02040503050406030204" pitchFamily="18" charset="0"/>
                  </a:rPr>
                </a:br>
                <a:r>
                  <a:rPr lang="ko-KR" altLang="en-US" dirty="0"/>
                  <a:t> </a:t>
                </a:r>
                <a:r>
                  <a:rPr lang="en-US" altLang="ko-KR" dirty="0">
                    <a:ea typeface="Cambria Math" panose="02040503050406030204" pitchFamily="18" charset="0"/>
                  </a:rPr>
                  <a:t>μ</a:t>
                </a:r>
                <a:r>
                  <a:rPr lang="ko-KR" altLang="en-US" dirty="0"/>
                  <a:t> </a:t>
                </a:r>
                <a:r>
                  <a:rPr lang="en-US" altLang="ko-KR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ea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ko-KR" b="0" i="1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i="1" smtClean="0"/>
                      <m:t>𝜇</m:t>
                    </m:r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, </a:t>
                </a:r>
                <a:r>
                  <a:rPr lang="ko-KR" altLang="en-US" dirty="0" err="1"/>
                  <a:t>모분산</a:t>
                </a:r>
                <a:r>
                  <a:rPr lang="ko-KR" altLang="en-US" dirty="0"/>
                  <a:t> </a:t>
                </a:r>
                <a:r>
                  <a:rPr lang="en-US" altLang="ko-KR" dirty="0">
                    <a:ea typeface="Cambria Math" panose="02040503050406030204" pitchFamily="18" charset="0"/>
                  </a:rPr>
                  <a:t>→ </a:t>
                </a:r>
                <a:r>
                  <a:rPr lang="ko-KR" altLang="en-US" dirty="0"/>
                  <a:t>분산이 </a:t>
                </a:r>
                <a:r>
                  <a:rPr lang="el-GR" altLang="ko-KR" dirty="0">
                    <a:ea typeface="Cambria Math" panose="02040503050406030204" pitchFamily="18" charset="0"/>
                  </a:rPr>
                  <a:t>σ</a:t>
                </a:r>
                <a:r>
                  <a:rPr lang="en-US" altLang="ko-KR" dirty="0">
                    <a:ea typeface="Cambria Math" panose="02040503050406030204" pitchFamily="18" charset="0"/>
                  </a:rPr>
                  <a:t>²</a:t>
                </a:r>
                <a:r>
                  <a:rPr lang="ko-KR" altLang="en-US" dirty="0"/>
                  <a:t> </a:t>
                </a:r>
                <a:r>
                  <a:rPr lang="en-US" altLang="ko-KR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ea typeface="Cambria Math" panose="02040503050406030204" pitchFamily="18" charset="0"/>
                      </a:rPr>
                      <m:t>E</m:t>
                    </m:r>
                    <m:r>
                      <a:rPr lang="en-US" altLang="ko-KR"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/>
                          <m:t>𝜇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ea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ko-KR" i="1" smtClean="0"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smtClean="0"/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:r>
                  <a:rPr lang="ko-KR" altLang="en-US" dirty="0"/>
                  <a:t>이라고 할 때</a:t>
                </a:r>
                <a:r>
                  <a:rPr lang="en-US" altLang="ko-KR" dirty="0">
                    <a:ea typeface="Cambria Math" panose="02040503050406030204" pitchFamily="18" charset="0"/>
                  </a:rPr>
                  <a:t>, </a:t>
                </a:r>
                <a:r>
                  <a:rPr lang="ko-KR" altLang="en-US" dirty="0"/>
                  <a:t>다음을 모형으로</a:t>
                </a:r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n-US" altLang="ko-KR" dirty="0">
                    <a:ea typeface="Cambria Math" panose="02040503050406030204" pitchFamily="18" charset="0"/>
                  </a:rPr>
                  <a:t>Population Equation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i="1"/>
                      <m:t>𝜇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(=</m:t>
                    </m:r>
                    <m:r>
                      <a:rPr lang="ko-KR" altLang="en-US" i="1">
                        <a:ea typeface="Cambria Math" panose="02040503050406030204" pitchFamily="18" charset="0"/>
                      </a:rPr>
                      <m:t>잔</m:t>
                    </m:r>
                  </m:oMath>
                </a14:m>
                <a:r>
                  <a:rPr lang="ko-KR" altLang="en-US" dirty="0">
                    <a:ea typeface="Cambria Math" panose="02040503050406030204" pitchFamily="18" charset="0"/>
                  </a:rPr>
                  <a:t>차항</a:t>
                </a:r>
                <a:r>
                  <a:rPr lang="en-US" altLang="ko-KR" dirty="0">
                    <a:ea typeface="Cambria Math" panose="02040503050406030204" pitchFamily="18" charset="0"/>
                  </a:rPr>
                  <a:t>) (</a:t>
                </a:r>
                <a:r>
                  <a:rPr lang="en-US" altLang="ko-KR" dirty="0" err="1">
                    <a:ea typeface="Cambria Math" panose="02040503050406030204" pitchFamily="18" charset="0"/>
                  </a:rPr>
                  <a:t>i</a:t>
                </a:r>
                <a:r>
                  <a:rPr lang="en-US" altLang="ko-KR" dirty="0">
                    <a:ea typeface="Cambria Math" panose="02040503050406030204" pitchFamily="18" charset="0"/>
                  </a:rPr>
                  <a:t>=(1,2, … ,N); </a:t>
                </a:r>
                <a:r>
                  <a:rPr lang="ko-KR" altLang="en-US" dirty="0"/>
                  <a:t>고전적 가정</a:t>
                </a:r>
                <a:r>
                  <a:rPr lang="en-US" altLang="ko-KR" dirty="0">
                    <a:ea typeface="Cambria Math" panose="02040503050406030204" pitchFamily="18" charset="0"/>
                  </a:rPr>
                  <a:t>) with, </a:t>
                </a:r>
              </a:p>
              <a:p>
                <a:pPr lvl="3"/>
                <a:r>
                  <a:rPr lang="en-US" altLang="ko-KR" dirty="0">
                    <a:ea typeface="Cambria Math" panose="02040503050406030204" pitchFamily="18" charset="0"/>
                  </a:rPr>
                  <a:t>1)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=0. (∵</m:t>
                    </m:r>
                    <m:sSub>
                      <m:sSub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−</m:t>
                    </m:r>
                    <m:r>
                      <a:rPr lang="ko-KR" altLang="en-US" i="1"/>
                      <m:t>𝜇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/>
                          <m:t>𝜇</m:t>
                        </m:r>
                      </m:e>
                    </m:d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=0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br>
                  <a:rPr lang="en-US" altLang="ko-KR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2) </m:t>
                    </m:r>
                    <m:r>
                      <a:rPr lang="en-US" altLang="ko-KR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ea typeface="Cambria Math" panose="02040503050406030204" pitchFamily="18" charset="0"/>
                      </a:rPr>
                      <m:t>,∀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def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대입);</m:t>
                    </m:r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    3)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=0,∀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cov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def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대</m:t>
                    </m:r>
                  </m:oMath>
                </a14:m>
                <a:r>
                  <a:rPr lang="ko-KR" altLang="en-US" dirty="0">
                    <a:ea typeface="Cambria Math" panose="02040503050406030204" pitchFamily="18" charset="0"/>
                  </a:rPr>
                  <a:t>입</a:t>
                </a:r>
                <a:r>
                  <a:rPr lang="en-US" altLang="ko-KR" dirty="0">
                    <a:ea typeface="Cambria Math" panose="02040503050406030204" pitchFamily="18" charset="0"/>
                  </a:rPr>
                  <a:t>)</a:t>
                </a:r>
              </a:p>
              <a:p>
                <a:r>
                  <a:rPr lang="en-US" altLang="ko-KR" dirty="0">
                    <a:ea typeface="Cambria Math" panose="02040503050406030204" pitchFamily="18" charset="0"/>
                  </a:rPr>
                  <a:t>2. </a:t>
                </a:r>
                <a:r>
                  <a:rPr lang="ko-KR" altLang="en-US" dirty="0" err="1">
                    <a:ea typeface="Cambria Math" panose="02040503050406030204" pitchFamily="18" charset="0"/>
                  </a:rPr>
                  <a:t>최소제곱법</a:t>
                </a:r>
                <a:r>
                  <a:rPr lang="en-US" altLang="ko-KR" dirty="0">
                    <a:ea typeface="Cambria Math" panose="02040503050406030204" pitchFamily="18" charset="0"/>
                  </a:rPr>
                  <a:t>(OLS)</a:t>
                </a:r>
                <a:r>
                  <a:rPr lang="ko-KR" altLang="en-US" dirty="0">
                    <a:ea typeface="Cambria Math" panose="02040503050406030204" pitchFamily="18" charset="0"/>
                  </a:rPr>
                  <a:t> </a:t>
                </a:r>
                <a:r>
                  <a:rPr lang="en-US" altLang="ko-KR" dirty="0">
                    <a:ea typeface="Cambria Math" panose="02040503050406030204" pitchFamily="18" charset="0"/>
                  </a:rPr>
                  <a:t>: </a:t>
                </a:r>
                <a:r>
                  <a:rPr lang="ko-KR" altLang="en-US" dirty="0" err="1">
                    <a:ea typeface="Cambria Math" panose="02040503050406030204" pitchFamily="18" charset="0"/>
                  </a:rPr>
                  <a:t>잔차항의</a:t>
                </a:r>
                <a:r>
                  <a:rPr lang="ko-KR" altLang="en-US" dirty="0">
                    <a:ea typeface="Cambria Math" panose="02040503050406030204" pitchFamily="18" charset="0"/>
                  </a:rPr>
                  <a:t> 제곱의 합을 극소화 하는 방법 </a:t>
                </a:r>
                <a:r>
                  <a:rPr lang="en-US" altLang="ko-KR" dirty="0">
                    <a:ea typeface="Cambria Math" panose="02040503050406030204" pitchFamily="18" charset="0"/>
                  </a:rPr>
                  <a:t>(</a:t>
                </a:r>
                <a:r>
                  <a:rPr lang="el-GR" altLang="ko-KR" dirty="0">
                    <a:ea typeface="Cambria Math" panose="02040503050406030204" pitchFamily="18" charset="0"/>
                  </a:rPr>
                  <a:t>μ</a:t>
                </a:r>
                <a:r>
                  <a:rPr lang="ko-KR" altLang="en-US" dirty="0">
                    <a:ea typeface="Cambria Math" panose="02040503050406030204" pitchFamily="18" charset="0"/>
                  </a:rPr>
                  <a:t>추정 방식 중 하나</a:t>
                </a:r>
                <a:r>
                  <a:rPr lang="en-US" altLang="ko-KR" dirty="0">
                    <a:ea typeface="Cambria Math" panose="02040503050406030204" pitchFamily="18" charset="0"/>
                  </a:rPr>
                  <a:t>)</a:t>
                </a:r>
              </a:p>
              <a:p>
                <a:pPr lvl="1"/>
                <a:r>
                  <a:rPr lang="ko-KR" altLang="en-US" dirty="0">
                    <a:ea typeface="Cambria Math" panose="02040503050406030204" pitchFamily="18" charset="0"/>
                  </a:rPr>
                  <a:t>표</a:t>
                </a:r>
                <a14:m>
                  <m:oMath xmlns:m="http://schemas.openxmlformats.org/officeDocument/2006/math">
                    <m:r>
                      <a:rPr lang="ko-KR" altLang="en-US" i="1">
                        <a:ea typeface="Cambria Math" panose="02040503050406030204" pitchFamily="18" charset="0"/>
                      </a:rPr>
                      <m:t>본</m:t>
                    </m:r>
                    <m:r>
                      <a:rPr lang="ko-KR" altLang="en-US" i="1" smtClean="0">
                        <a:ea typeface="Cambria Math" panose="02040503050406030204" pitchFamily="18" charset="0"/>
                      </a:rPr>
                      <m:t>회</m:t>
                    </m:r>
                    <m:r>
                      <a:rPr lang="ko-KR" altLang="en-US" i="1">
                        <a:ea typeface="Cambria Math" panose="02040503050406030204" pitchFamily="18" charset="0"/>
                      </a:rPr>
                      <m:t>귀</m:t>
                    </m:r>
                    <m:r>
                      <a:rPr lang="ko-KR" altLang="en-US" i="1" smtClean="0">
                        <a:ea typeface="Cambria Math" panose="02040503050406030204" pitchFamily="18" charset="0"/>
                      </a:rPr>
                      <m:t>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acc>
                      <m:accPr>
                        <m:chr m:val="̂"/>
                        <m:ctrlPr>
                          <a:rPr lang="en-US" altLang="ko-KR" i="1"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real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life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smtClean="0">
                        <a:ea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LS</m:t>
                    </m:r>
                    <m:r>
                      <a:rPr lang="ko-KR" altLang="en-US" i="1">
                        <a:ea typeface="Cambria Math" panose="02040503050406030204" pitchFamily="18" charset="0"/>
                      </a:rPr>
                      <m:t>추</m:t>
                    </m:r>
                    <m:r>
                      <a:rPr lang="ko-KR" altLang="en-US" i="1" smtClean="0">
                        <a:ea typeface="Cambria Math" panose="02040503050406030204" pitchFamily="18" charset="0"/>
                      </a:rPr>
                      <m:t>정</m:t>
                    </m:r>
                    <m:r>
                      <a:rPr lang="ko-KR" altLang="en-US" i="1">
                        <a:ea typeface="Cambria Math" panose="02040503050406030204" pitchFamily="18" charset="0"/>
                      </a:rPr>
                      <m:t>량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ea typeface="Cambria Math" panose="02040503050406030204" pitchFamily="18" charset="0"/>
                      </a:rPr>
                      <m:t>유</m:t>
                    </m:r>
                    <m:r>
                      <a:rPr lang="ko-KR" altLang="en-US" i="1" smtClean="0">
                        <a:ea typeface="Cambria Math" panose="02040503050406030204" pitchFamily="18" charset="0"/>
                      </a:rPr>
                      <m:t>도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𝑚𝑖𝑛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with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respect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to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(F.O.C.)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𝑑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e>
                        </m:nary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den>
                    </m:f>
                    <m:r>
                      <a:rPr lang="en-US" altLang="ko-KR" i="1">
                        <a:ea typeface="Cambria Math" panose="02040503050406030204" pitchFamily="18" charset="0"/>
                      </a:rPr>
                      <m:t>=0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r>
                  <a:rPr lang="en-US" altLang="ko-KR" dirty="0">
                    <a:ea typeface="Cambria Math" panose="02040503050406030204" pitchFamily="18" charset="0"/>
                  </a:rPr>
                  <a:t>3. OLS </a:t>
                </a:r>
                <a:r>
                  <a:rPr lang="ko-KR" altLang="en-US" dirty="0" err="1">
                    <a:ea typeface="Cambria Math" panose="02040503050406030204" pitchFamily="18" charset="0"/>
                  </a:rPr>
                  <a:t>추정량의</a:t>
                </a:r>
                <a:r>
                  <a:rPr lang="ko-KR" altLang="en-US" dirty="0">
                    <a:ea typeface="Cambria Math" panose="02040503050406030204" pitchFamily="18" charset="0"/>
                  </a:rPr>
                  <a:t> 불변성</a:t>
                </a:r>
                <a:r>
                  <a:rPr lang="en-US" altLang="ko-KR" dirty="0">
                    <a:ea typeface="Cambria Math" panose="02040503050406030204" pitchFamily="18" charset="0"/>
                  </a:rPr>
                  <a:t>(unbiasedness) 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i="1" smtClean="0"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(</a:t>
                </a:r>
                <a:r>
                  <a:rPr lang="ko-KR" altLang="en-US" dirty="0" err="1">
                    <a:ea typeface="Cambria Math" panose="02040503050406030204" pitchFamily="18" charset="0"/>
                  </a:rPr>
                  <a:t>성립시</a:t>
                </a:r>
                <a:r>
                  <a:rPr lang="ko-KR" altLang="en-US" dirty="0">
                    <a:ea typeface="Cambria Math" panose="02040503050406030204" pitchFamily="18" charset="0"/>
                  </a:rPr>
                  <a:t> </a:t>
                </a:r>
                <a:r>
                  <a:rPr lang="en-US" altLang="ko-KR" dirty="0">
                    <a:ea typeface="Cambria Math" panose="02040503050406030204" pitchFamily="18" charset="0"/>
                  </a:rPr>
                  <a:t>unbiased estimator)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de-DE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altLang="ko-KR" i="1" smtClean="0"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de-DE" altLang="ko-KR" i="1" smtClean="0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altLang="ko-KR" i="1" smtClean="0"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*</m:t>
                    </m:r>
                    <m:r>
                      <a:rPr lang="de-DE" altLang="ko-KR" i="1" smtClean="0"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ea typeface="Cambria Math" panose="02040503050406030204" pitchFamily="18" charset="0"/>
                      </a:rPr>
                      <m:t>방</m:t>
                    </m:r>
                    <m:r>
                      <a:rPr lang="ko-KR" altLang="en-US" i="1" smtClean="0">
                        <a:ea typeface="Cambria Math" panose="02040503050406030204" pitchFamily="18" charset="0"/>
                      </a:rPr>
                      <m:t>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de-DE" altLang="ko-KR" i="1" smtClean="0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pop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방식)</m:t>
                    </m:r>
                    <m:r>
                      <a:rPr lang="de-DE" altLang="ko-KR" i="1" smtClean="0"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altLang="ko-KR" i="1" smtClean="0">
                        <a:ea typeface="Cambria Math" panose="02040503050406030204" pitchFamily="18" charset="0"/>
                      </a:rPr>
                      <m:t>μ</m:t>
                    </m:r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r>
                  <a:rPr lang="en-US" altLang="ko-KR" dirty="0">
                    <a:ea typeface="Cambria Math" panose="02040503050406030204" pitchFamily="18" charset="0"/>
                  </a:rPr>
                  <a:t>4. OLS </a:t>
                </a:r>
                <a:r>
                  <a:rPr lang="ko-KR" altLang="en-US" dirty="0" err="1">
                    <a:ea typeface="Cambria Math" panose="02040503050406030204" pitchFamily="18" charset="0"/>
                  </a:rPr>
                  <a:t>추정량의</a:t>
                </a:r>
                <a:r>
                  <a:rPr lang="ko-KR" altLang="en-US" dirty="0">
                    <a:ea typeface="Cambria Math" panose="02040503050406030204" pitchFamily="18" charset="0"/>
                  </a:rPr>
                  <a:t> 분산</a:t>
                </a:r>
                <a:r>
                  <a:rPr lang="en-US" altLang="ko-KR" dirty="0">
                    <a:ea typeface="Cambria Math" panose="02040503050406030204" pitchFamily="18" charset="0"/>
                  </a:rPr>
                  <a:t>+ </a:t>
                </a:r>
                <a:r>
                  <a:rPr lang="ko-KR" altLang="en-US" dirty="0"/>
                  <a:t>가정 </a:t>
                </a:r>
                <a:r>
                  <a:rPr lang="en-US" altLang="ko-KR" dirty="0"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=0,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b="0" i="1" smtClean="0"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i="1"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subHide m:val="on"/>
                                        <m:supHide m:val="on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i="1">
                                                <a:ea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d>
                      <m:dPr>
                        <m:ctrlPr>
                          <a:rPr lang="it-IT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altLang="ko-KR" i="1"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it-IT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altLang="ko-KR" i="1"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it-IT" altLang="ko-KR" i="1"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it-IT" altLang="ko-KR" i="1"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it-IT" altLang="ko-KR" i="1"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altLang="ko-KR" i="1"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it-IT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t-IT" altLang="ko-KR" i="1">
                            <a:ea typeface="Cambria Math" panose="02040503050406030204" pitchFamily="18" charset="0"/>
                          </a:rPr>
                          <m:t>,∀</m:t>
                        </m:r>
                        <m:r>
                          <a:rPr lang="it-IT" altLang="ko-KR" i="1"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r>
                  <a:rPr lang="en-US" altLang="ko-KR" dirty="0">
                    <a:ea typeface="Cambria Math" panose="02040503050406030204" pitchFamily="18" charset="0"/>
                  </a:rPr>
                  <a:t>5. </a:t>
                </a:r>
                <a:r>
                  <a:rPr lang="ko-KR" altLang="en-US" dirty="0"/>
                  <a:t>표본 분산의 평균</a:t>
                </a:r>
                <a:endParaRPr lang="en-US" altLang="ko-KR" dirty="0"/>
              </a:p>
              <a:p>
                <a:pPr lvl="1"/>
                <a:r>
                  <a:rPr lang="en-US" altLang="ko-KR" dirty="0">
                    <a:ea typeface="Cambria Math" panose="02040503050406030204" pitchFamily="18" charset="0"/>
                  </a:rPr>
                  <a:t>1) known </a:t>
                </a:r>
                <a:r>
                  <a:rPr lang="el-GR" altLang="ko-KR" dirty="0">
                    <a:ea typeface="Cambria Math" panose="02040503050406030204" pitchFamily="18" charset="0"/>
                  </a:rPr>
                  <a:t>μ</a:t>
                </a:r>
                <a:r>
                  <a:rPr lang="en-US" altLang="ko-KR" dirty="0">
                    <a:ea typeface="Cambria Math" panose="02040503050406030204" pitchFamily="18" charset="0"/>
                  </a:rPr>
                  <a:t>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br>
                  <a:rPr lang="en-US" altLang="ko-KR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altLang="ko-KR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recall </a:t>
                </a:r>
                <a14:m>
                  <m:oMath xmlns:m="http://schemas.openxmlformats.org/officeDocument/2006/math">
                    <m:r>
                      <a:rPr lang="en-US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&amp;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num>
                          <m:den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altLang="ko-KR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altLang="ko-KR" i="1" dirty="0">
                    <a:ea typeface="Cambria Math" panose="02040503050406030204" pitchFamily="18" charset="0"/>
                  </a:rPr>
                  <a:t>(pop e.q.)</a:t>
                </a:r>
                <a14:m>
                  <m:oMath xmlns:m="http://schemas.openxmlformats.org/officeDocument/2006/math">
                    <m:r>
                      <a:rPr lang="ko-KR" altLang="en-US" i="1" dirty="0"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ea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dirty="0">
                    <a:ea typeface="Cambria Math" panose="02040503050406030204" pitchFamily="18" charset="0"/>
                  </a:rPr>
                  <a:t>2) unknown </a:t>
                </a:r>
                <a:r>
                  <a:rPr lang="el-GR" altLang="ko-KR" dirty="0">
                    <a:ea typeface="Cambria Math" panose="02040503050406030204" pitchFamily="18" charset="0"/>
                  </a:rPr>
                  <a:t>μ</a:t>
                </a:r>
                <a:r>
                  <a:rPr lang="en-US" altLang="ko-KR" dirty="0">
                    <a:ea typeface="Cambria Math" panose="02040503050406030204" pitchFamily="18" charset="0"/>
                  </a:rPr>
                  <a:t>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br>
                  <a:rPr lang="en-US" altLang="ko-KR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i="1"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br>
                  <a:rPr lang="en-US" altLang="ko-KR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 smtClean="0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  <m:r>
                      <a:rPr lang="en-US" altLang="ko-KR" i="1"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i="1">
                                                <a:ea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altLang="ko-KR" i="1"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i="1">
                                                <a:ea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i="1"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i="1"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d>
                    <m:r>
                      <a:rPr lang="pt-BR" altLang="ko-KR" i="1">
                        <a:ea typeface="Cambria Math" panose="02040503050406030204" pitchFamily="18" charset="0"/>
                      </a:rPr>
                      <m:t>=</m:t>
                    </m:r>
                    <m:r>
                      <a:rPr lang="pt-BR" altLang="ko-KR" i="1"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  <m:acc>
                          <m:accPr>
                            <m:chr m:val="̂"/>
                            <m:ctrlPr>
                              <a:rPr lang="pt-B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pt-B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ko-KR" i="1"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pt-BR" altLang="ko-KR" i="1"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altLang="ko-KR" i="1"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  <m:r>
                      <a:rPr lang="pt-BR" altLang="ko-KR" i="1"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ko-KR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altLang="ko-KR" i="1"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>
                  <a:ea typeface="Cambria Math" panose="02040503050406030204" pitchFamily="18" charset="0"/>
                </a:endParaRPr>
              </a:p>
              <a:p>
                <a:r>
                  <a:rPr lang="en-US" altLang="ko-KR" dirty="0"/>
                  <a:t>6. </a:t>
                </a:r>
                <a:r>
                  <a:rPr lang="ko-KR" altLang="en-US" dirty="0"/>
                  <a:t>표본분산의 분산에 대한 추정</a:t>
                </a:r>
                <a:r>
                  <a:rPr lang="en-US" altLang="ko-KR" dirty="0"/>
                  <a:t> 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𝑌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=</m:t>
                    </m:r>
                    <m:r>
                      <a:rPr lang="en-US" altLang="ko-KR" i="1"/>
                      <m:t>𝜇</m:t>
                    </m:r>
                    <m:r>
                      <a:rPr lang="en-US" altLang="ko-KR" i="1"/>
                      <m:t>+</m:t>
                    </m:r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𝑒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,</m:t>
                    </m:r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𝑒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∼</m:t>
                    </m:r>
                    <m:r>
                      <a:rPr lang="en-US" altLang="ko-KR" i="1"/>
                      <m:t>𝑖𝑖𝑑</m:t>
                    </m:r>
                    <m:r>
                      <a:rPr lang="en-US" altLang="ko-KR" i="1"/>
                      <m:t> </m:t>
                    </m:r>
                    <m:r>
                      <a:rPr lang="en-US" altLang="ko-KR" i="1"/>
                      <m:t>𝑁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0,</m:t>
                        </m:r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i="1"/>
                      <m:t>,</m:t>
                    </m:r>
                    <m:r>
                      <a:rPr lang="en-US" altLang="ko-KR" i="1"/>
                      <m:t>𝐸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/>
                            </m:ctrlPr>
                          </m:accPr>
                          <m:e>
                            <m:r>
                              <a:rPr lang="en-US" altLang="ko-KR" i="1"/>
                              <m:t>𝑦</m:t>
                            </m:r>
                          </m:e>
                        </m:acc>
                      </m:e>
                    </m:d>
                    <m:r>
                      <a:rPr lang="en-US" altLang="ko-KR" i="1"/>
                      <m:t>=</m:t>
                    </m:r>
                    <m:r>
                      <a:rPr lang="en-US" altLang="ko-KR" i="1"/>
                      <m:t>𝜇</m:t>
                    </m:r>
                    <m:r>
                      <a:rPr lang="en-US" altLang="ko-KR" i="1"/>
                      <m:t>,</m:t>
                    </m:r>
                    <m:r>
                      <a:rPr lang="en-US" altLang="ko-KR" i="1"/>
                      <m:t>𝑉𝑎𝑟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/>
                            </m:ctrlPr>
                          </m:accPr>
                          <m:e>
                            <m:r>
                              <a:rPr lang="en-US" altLang="ko-KR" i="1"/>
                              <m:t>𝑦</m:t>
                            </m:r>
                          </m:e>
                        </m:acc>
                      </m:e>
                    </m:d>
                    <m:r>
                      <a:rPr lang="en-US" altLang="ko-KR" i="1"/>
                      <m:t>=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i="1"/>
                          <m:t>𝑛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y</a:t>
                </a:r>
                <a:r>
                  <a:rPr lang="ko-KR" altLang="en-US" dirty="0"/>
                  <a:t>의 분포</a:t>
                </a:r>
                <a:r>
                  <a:rPr lang="en-US" altLang="ko-KR" dirty="0"/>
                  <a:t>? 1) 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² is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known, 2) 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² is unknown </a:t>
                </a:r>
              </a:p>
              <a:p>
                <a:pPr lvl="2"/>
                <a:r>
                  <a:rPr lang="en-US" altLang="ko-KR" dirty="0"/>
                  <a:t>1) 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 is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known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i="1"/>
                      <m:t>𝑙𝑒𝑡</m:t>
                    </m:r>
                    <m:r>
                      <a:rPr lang="en-US" altLang="ko-KR" i="1"/>
                      <m:t> </m:t>
                    </m:r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𝑍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=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sSub>
                          <m:sSubPr>
                            <m:ctrlPr>
                              <a:rPr lang="en-US" altLang="ko-KR" i="1"/>
                            </m:ctrlPr>
                          </m:sSubPr>
                          <m:e>
                            <m:r>
                              <a:rPr lang="en-US" altLang="ko-KR" i="1"/>
                              <m:t>𝑒</m:t>
                            </m:r>
                          </m:e>
                          <m:sub>
                            <m:r>
                              <a:rPr lang="en-US" altLang="ko-KR" i="1"/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ko-KR" i="1"/>
                          <m:t>𝜎</m:t>
                        </m:r>
                      </m:den>
                    </m:f>
                    <m:r>
                      <a:rPr lang="en-US" altLang="ko-KR" i="1"/>
                      <m:t>∼</m:t>
                    </m:r>
                    <m:r>
                      <a:rPr lang="en-US" altLang="ko-KR" i="1"/>
                      <m:t>𝑁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0,1</m:t>
                        </m:r>
                      </m:e>
                    </m:d>
                    <m:r>
                      <a:rPr lang="en-US" altLang="ko-KR" i="1"/>
                      <m:t>; </m:t>
                    </m:r>
                    <m:sSubSup>
                      <m:sSubSupPr>
                        <m:ctrlPr>
                          <a:rPr lang="en-US" altLang="ko-KR" i="1"/>
                        </m:ctrlPr>
                      </m:sSubSupPr>
                      <m:e>
                        <m:r>
                          <a:rPr lang="en-US" altLang="ko-KR" i="1"/>
                          <m:t>𝑍</m:t>
                        </m:r>
                      </m:e>
                      <m:sub>
                        <m:r>
                          <a:rPr lang="en-US" altLang="ko-KR" i="1"/>
                          <m:t>1</m:t>
                        </m:r>
                      </m:sub>
                      <m:sup>
                        <m:r>
                          <a:rPr lang="en-US" altLang="ko-KR" i="1"/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∼</m:t>
                        </m:r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𝜒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i="1"/>
                      <m:t>+⋯+</m:t>
                    </m:r>
                    <m:sSubSup>
                      <m:sSubSupPr>
                        <m:ctrlPr>
                          <a:rPr lang="en-US" altLang="ko-KR" i="1"/>
                        </m:ctrlPr>
                      </m:sSubSupPr>
                      <m:e>
                        <m:r>
                          <a:rPr lang="en-US" altLang="ko-KR" i="1"/>
                          <m:t>𝑍</m:t>
                        </m:r>
                      </m:e>
                      <m:sub>
                        <m:r>
                          <a:rPr lang="en-US" altLang="ko-KR" i="1"/>
                          <m:t>𝑛</m:t>
                        </m:r>
                      </m:sub>
                      <m:sup>
                        <m:r>
                          <a:rPr lang="en-US" altLang="ko-KR" i="1"/>
                          <m:t>2</m:t>
                        </m:r>
                      </m:sup>
                    </m:sSubSup>
                    <m:r>
                      <a:rPr lang="en-US" altLang="ko-KR" i="1"/>
                      <m:t>→</m:t>
                    </m:r>
                    <m:nary>
                      <m:naryPr>
                        <m:chr m:val="∑"/>
                        <m:ctrlPr>
                          <a:rPr lang="en-US" altLang="ko-KR" i="1"/>
                        </m:ctrlPr>
                      </m:naryPr>
                      <m:sub>
                        <m:r>
                          <a:rPr lang="en-US" altLang="ko-KR" i="1"/>
                          <m:t>𝑖</m:t>
                        </m:r>
                        <m:r>
                          <a:rPr lang="en-US" altLang="ko-KR" i="1"/>
                          <m:t>=1</m:t>
                        </m:r>
                      </m:sub>
                      <m:sup>
                        <m:r>
                          <a:rPr lang="en-US" altLang="ko-KR" i="1"/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/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i="1"/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i="1"/>
                                        </m:ctrlPr>
                                      </m:sSubPr>
                                      <m:e>
                                        <m:r>
                                          <a:rPr lang="en-US" altLang="ko-KR" i="1"/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i="1"/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i="1"/>
                                        </m:ctrlPr>
                                      </m:sSubPr>
                                      <m:e>
                                        <m:r>
                                          <a:rPr lang="en-US" altLang="ko-KR" i="1"/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ko-KR" i="1"/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i="1"/>
                      <m:t>∼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𝜒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𝑛</m:t>
                        </m:r>
                      </m:e>
                    </m:d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/>
                      <m:t>=</m:t>
                    </m:r>
                    <m:nary>
                      <m:naryPr>
                        <m:chr m:val="∑"/>
                        <m:ctrlPr>
                          <a:rPr lang="en-US" altLang="ko-KR" i="1"/>
                        </m:ctrlPr>
                      </m:naryPr>
                      <m:sub>
                        <m:r>
                          <a:rPr lang="en-US" altLang="ko-KR" i="1"/>
                          <m:t>𝑖</m:t>
                        </m:r>
                        <m:r>
                          <a:rPr lang="en-US" altLang="ko-KR" i="1"/>
                          <m:t>=1</m:t>
                        </m:r>
                      </m:sub>
                      <m:sup>
                        <m:r>
                          <a:rPr lang="en-US" altLang="ko-KR" i="1"/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ko-KR" i="1"/>
                            </m:ctrlPr>
                          </m:sSubSupPr>
                          <m:e>
                            <m:r>
                              <a:rPr lang="en-US" altLang="ko-KR" i="1"/>
                              <m:t>𝑍</m:t>
                            </m:r>
                          </m:e>
                          <m:sub>
                            <m:r>
                              <a:rPr lang="en-US" altLang="ko-KR" i="1"/>
                              <m:t>𝑖</m:t>
                            </m:r>
                          </m:sub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ko-KR" i="1"/>
                      <m:t>∼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𝜒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𝑛</m:t>
                        </m:r>
                      </m:e>
                    </m:d>
                    <m:r>
                      <a:rPr lang="en-US" altLang="ko-KR" i="1"/>
                      <m:t>; </m:t>
                    </m:r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𝑒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=</m:t>
                    </m:r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𝑦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−</m:t>
                    </m:r>
                    <m:r>
                      <a:rPr lang="en-US" altLang="ko-KR" i="1"/>
                      <m:t>𝜇</m:t>
                    </m:r>
                    <m:r>
                      <a:rPr lang="en-US" altLang="ko-KR" i="1"/>
                      <m:t>→</m:t>
                    </m:r>
                    <m:acc>
                      <m:accPr>
                        <m:chr m:val="̂"/>
                        <m:ctrlPr>
                          <a:rPr lang="en-US" altLang="ko-KR" i="1"/>
                        </m:ctrlPr>
                      </m:accPr>
                      <m:e>
                        <m:sSub>
                          <m:sSubPr>
                            <m:ctrlPr>
                              <a:rPr lang="en-US" altLang="ko-KR" i="1"/>
                            </m:ctrlPr>
                          </m:sSubPr>
                          <m:e>
                            <m:r>
                              <a:rPr lang="en-US" altLang="ko-KR" i="1"/>
                              <m:t>𝑒</m:t>
                            </m:r>
                          </m:e>
                          <m:sub>
                            <m:r>
                              <a:rPr lang="en-US" altLang="ko-KR" i="1"/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i="1"/>
                      <m:t>=</m:t>
                    </m:r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𝑦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−</m:t>
                    </m:r>
                    <m:acc>
                      <m:accPr>
                        <m:chr m:val="̂"/>
                        <m:ctrlPr>
                          <a:rPr lang="en-US" altLang="ko-KR" i="1"/>
                        </m:ctrlPr>
                      </m:accPr>
                      <m:e>
                        <m:r>
                          <a:rPr lang="en-US" altLang="ko-KR" i="1"/>
                          <m:t>𝜇</m:t>
                        </m:r>
                      </m:e>
                    </m:acc>
                    <m:r>
                      <a:rPr lang="en-US" altLang="ko-KR" i="1"/>
                      <m:t>→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/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ko-KR" i="1"/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i="1"/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i="1"/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i="1"/>
                                          <m:t>e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i="1"/>
                                      <m:t>i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/>
                      <m:t>∼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𝜒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𝑛</m:t>
                        </m:r>
                        <m:r>
                          <a:rPr lang="en-US" altLang="ko-KR" i="1"/>
                          <m:t>−1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2)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 is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unknown: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/>
                        </m:ctrlPr>
                      </m:accPr>
                      <m:e>
                        <m:sSub>
                          <m:sSubPr>
                            <m:ctrlPr>
                              <a:rPr lang="en-US" altLang="ko-KR" i="1"/>
                            </m:ctrlPr>
                          </m:sSubPr>
                          <m:e>
                            <m:r>
                              <a:rPr lang="en-US" altLang="ko-KR" i="1"/>
                              <m:t> </m:t>
                            </m:r>
                            <m:r>
                              <a:rPr lang="en-US" altLang="ko-KR" i="1"/>
                              <m:t>𝑒</m:t>
                            </m:r>
                          </m:e>
                          <m:sub>
                            <m:r>
                              <a:rPr lang="en-US" altLang="ko-KR" i="1"/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i="1"/>
                      <m:t>=</m:t>
                    </m:r>
                    <m:sSub>
                      <m:sSubPr>
                        <m:ctrlPr>
                          <a:rPr lang="en-US" altLang="ko-KR" i="1"/>
                        </m:ctrlPr>
                      </m:sSubPr>
                      <m:e>
                        <m:r>
                          <a:rPr lang="en-US" altLang="ko-KR" i="1"/>
                          <m:t>𝑦</m:t>
                        </m:r>
                      </m:e>
                      <m:sub>
                        <m:r>
                          <a:rPr lang="en-US" altLang="ko-KR" i="1"/>
                          <m:t>𝑖</m:t>
                        </m:r>
                      </m:sub>
                    </m:sSub>
                    <m:r>
                      <a:rPr lang="en-US" altLang="ko-KR" i="1"/>
                      <m:t>−</m:t>
                    </m:r>
                    <m:acc>
                      <m:accPr>
                        <m:chr m:val="̂"/>
                        <m:ctrlPr>
                          <a:rPr lang="en-US" altLang="ko-KR" i="1"/>
                        </m:ctrlPr>
                      </m:accPr>
                      <m:e>
                        <m:r>
                          <a:rPr lang="en-US" altLang="ko-KR" i="1"/>
                          <m:t>𝜇</m:t>
                        </m:r>
                      </m:e>
                    </m:acc>
                    <m:r>
                      <a:rPr lang="en-US" altLang="ko-KR" i="1"/>
                      <m:t>,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/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US" altLang="ko-KR" i="1"/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i="1"/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i="1"/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/>
                                  <m:t>i</m:t>
                                </m:r>
                              </m:sub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/>
                      <m:t>∼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𝜒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𝑛</m:t>
                        </m:r>
                        <m:r>
                          <a:rPr lang="en-US" altLang="ko-KR" i="1"/>
                          <m:t>−1</m:t>
                        </m:r>
                      </m:e>
                    </m:d>
                    <m:r>
                      <a:rPr lang="en-US" altLang="ko-KR" i="1"/>
                      <m:t>; </m:t>
                    </m:r>
                    <m:acc>
                      <m:accPr>
                        <m:chr m:val="̂"/>
                        <m:ctrlPr>
                          <a:rPr lang="en-US" altLang="ko-KR" i="1"/>
                        </m:ctrlPr>
                      </m:accPr>
                      <m:e>
                        <m:sSubSup>
                          <m:sSubSupPr>
                            <m:ctrlPr>
                              <a:rPr lang="en-US" altLang="ko-KR" i="1"/>
                            </m:ctrlPr>
                          </m:sSubSupPr>
                          <m:e>
                            <m:r>
                              <a:rPr lang="en-US" altLang="ko-KR" i="1"/>
                              <m:t>𝑒</m:t>
                            </m:r>
                          </m:e>
                          <m:sub>
                            <m:r>
                              <a:rPr lang="en-US" altLang="ko-KR" i="1"/>
                              <m:t>𝑖</m:t>
                            </m:r>
                          </m:sub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bSup>
                      </m:e>
                    </m:acc>
                    <m:r>
                      <a:rPr lang="en-US" altLang="ko-KR" i="1"/>
                      <m:t>→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/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US" altLang="ko-KR" i="1"/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i="1"/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i="1"/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/>
                                  <m:t>i</m:t>
                                </m:r>
                              </m:sub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US" altLang="ko-KR" i="1"/>
                          <m:t>𝑛</m:t>
                        </m:r>
                        <m:r>
                          <a:rPr lang="en-US" altLang="ko-KR" i="1"/>
                          <m:t>−1</m:t>
                        </m:r>
                      </m:den>
                    </m:f>
                    <m:r>
                      <a:rPr lang="en-US" altLang="ko-KR" i="1"/>
                      <m:t>=</m:t>
                    </m:r>
                    <m:acc>
                      <m:accPr>
                        <m:chr m:val="̂"/>
                        <m:ctrlPr>
                          <a:rPr lang="en-US" altLang="ko-KR" i="1"/>
                        </m:ctrlPr>
                      </m:accPr>
                      <m:e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ko-KR" i="1"/>
                      <m:t>,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d>
                          <m:dPr>
                            <m:ctrlPr>
                              <a:rPr lang="en-US" altLang="ko-KR" i="1"/>
                            </m:ctrlPr>
                          </m:dPr>
                          <m:e>
                            <m:r>
                              <a:rPr lang="en-US" altLang="ko-KR" i="1"/>
                              <m:t>𝑛</m:t>
                            </m:r>
                            <m:r>
                              <a:rPr lang="en-US" altLang="ko-KR" i="1"/>
                              <m:t>−1</m:t>
                            </m:r>
                          </m:e>
                        </m:d>
                        <m:acc>
                          <m:accPr>
                            <m:chr m:val="̂"/>
                            <m:ctrlPr>
                              <a:rPr lang="en-US" altLang="ko-KR" i="1"/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ko-KR" i="1"/>
                                </m:ctrlPr>
                              </m:sSupPr>
                              <m:e>
                                <m:r>
                                  <a:rPr lang="en-US" altLang="ko-KR" i="1"/>
                                  <m:t>𝜎</m:t>
                                </m:r>
                              </m:e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p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/>
                      <m:t>∼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𝜒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𝑛</m:t>
                        </m:r>
                        <m:r>
                          <a:rPr lang="en-US" altLang="ko-KR" i="1"/>
                          <m:t>−1</m:t>
                        </m:r>
                      </m:e>
                    </m:d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/>
                      <m:t>𝐸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/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ko-KR" i="1"/>
                                </m:ctrlPr>
                              </m:sSupPr>
                              <m:e>
                                <m:r>
                                  <a:rPr lang="en-US" altLang="ko-KR" i="1"/>
                                  <m:t>𝜎</m:t>
                                </m:r>
                              </m:e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  <m:r>
                      <a:rPr lang="en-US" altLang="ko-KR" i="1"/>
                      <m:t>=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𝜎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r>
                      <a:rPr lang="en-US" altLang="ko-KR" i="1"/>
                      <m:t>,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𝜎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r>
                      <a:rPr lang="en-US" altLang="ko-KR" i="1"/>
                      <m:t>=?</m:t>
                    </m:r>
                    <m:r>
                      <a:rPr lang="en-US" altLang="ko-KR" i="1"/>
                      <m:t>      ∗∗</m:t>
                    </m:r>
                    <m:r>
                      <a:rPr lang="en-US" altLang="ko-KR" i="1"/>
                      <m:t>𝑁𝑜𝑡𝑒</m:t>
                    </m:r>
                    <m:r>
                      <a:rPr lang="en-US" altLang="ko-KR" i="1"/>
                      <m:t>: </m:t>
                    </m:r>
                    <m:r>
                      <a:rPr lang="en-US" altLang="ko-KR" i="1"/>
                      <m:t>𝑋</m:t>
                    </m:r>
                    <m:r>
                      <a:rPr lang="en-US" altLang="ko-KR" i="1"/>
                      <m:t>∼</m:t>
                    </m:r>
                    <m:sSup>
                      <m:sSupPr>
                        <m:ctrlPr>
                          <a:rPr lang="en-US" altLang="ko-KR" i="1"/>
                        </m:ctrlPr>
                      </m:sSupPr>
                      <m:e>
                        <m:r>
                          <a:rPr lang="en-US" altLang="ko-KR" i="1"/>
                          <m:t>𝜒</m:t>
                        </m:r>
                      </m:e>
                      <m:sup>
                        <m:r>
                          <a:rPr lang="en-US" altLang="ko-KR" i="1"/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𝑝</m:t>
                        </m:r>
                      </m:e>
                    </m:d>
                    <m:r>
                      <a:rPr lang="en-US" altLang="ko-KR" i="1"/>
                      <m:t>,</m:t>
                    </m:r>
                    <m:r>
                      <a:rPr lang="en-US" altLang="ko-KR" i="1"/>
                      <m:t>𝐸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𝑋</m:t>
                        </m:r>
                      </m:e>
                    </m:d>
                    <m:r>
                      <a:rPr lang="en-US" altLang="ko-KR" i="1"/>
                      <m:t>=</m:t>
                    </m:r>
                    <m:r>
                      <a:rPr lang="en-US" altLang="ko-KR" i="1"/>
                      <m:t>𝑝</m:t>
                    </m:r>
                    <m:r>
                      <a:rPr lang="en-US" altLang="ko-KR" i="1"/>
                      <m:t>,</m:t>
                    </m:r>
                    <m:r>
                      <a:rPr lang="en-US" altLang="ko-KR" i="1"/>
                      <m:t>𝑉𝑎𝑟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𝑋</m:t>
                        </m:r>
                      </m:e>
                    </m:d>
                    <m:r>
                      <a:rPr lang="en-US" altLang="ko-KR" i="1"/>
                      <m:t>=2</m:t>
                    </m:r>
                    <m:r>
                      <a:rPr lang="en-US" altLang="ko-KR" i="1"/>
                      <m:t>𝑝</m:t>
                    </m:r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/>
                      <m:t>𝐸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f>
                          <m:fPr>
                            <m:ctrlPr>
                              <a:rPr lang="en-US" altLang="ko-KR" i="1"/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ko-KR" i="1"/>
                                </m:ctrlPr>
                              </m:dPr>
                              <m:e>
                                <m:r>
                                  <a:rPr lang="en-US" altLang="ko-KR" i="1"/>
                                  <m:t>𝑛</m:t>
                                </m:r>
                                <m:r>
                                  <a:rPr lang="en-US" altLang="ko-KR" i="1"/>
                                  <m:t>−1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ko-KR" i="1"/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ko-KR" i="1"/>
                                    </m:ctrlPr>
                                  </m:sSupPr>
                                  <m:e>
                                    <m:r>
                                      <a:rPr lang="en-US" altLang="ko-KR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ko-KR" i="1"/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sSup>
                              <m:sSupPr>
                                <m:ctrlPr>
                                  <a:rPr lang="en-US" altLang="ko-KR" i="1"/>
                                </m:ctrlPr>
                              </m:sSupPr>
                              <m:e>
                                <m:r>
                                  <a:rPr lang="en-US" altLang="ko-KR" i="1"/>
                                  <m:t>𝜎</m:t>
                                </m:r>
                              </m:e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ko-KR" i="1"/>
                      <m:t>=</m:t>
                    </m:r>
                    <m:r>
                      <a:rPr lang="en-US" altLang="ko-KR" i="1"/>
                      <m:t>𝑛</m:t>
                    </m:r>
                    <m:r>
                      <a:rPr lang="en-US" altLang="ko-KR" i="1"/>
                      <m:t>−1,</m:t>
                    </m:r>
                    <m:r>
                      <a:rPr lang="en-US" altLang="ko-KR" i="1"/>
                      <m:t>𝐸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/>
                            </m:ctrlPr>
                          </m:acc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</m:acc>
                      </m:e>
                    </m:d>
                    <m:r>
                      <a:rPr lang="en-US" altLang="ko-KR" i="1"/>
                      <m:t>=</m:t>
                    </m:r>
                    <m:acc>
                      <m:accPr>
                        <m:chr m:val="̂"/>
                        <m:ctrlPr>
                          <a:rPr lang="en-US" altLang="ko-KR" i="1"/>
                        </m:ctrlPr>
                      </m:accPr>
                      <m:e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ko-KR" i="1"/>
                      <m:t>; </m:t>
                    </m:r>
                    <m:r>
                      <a:rPr lang="en-US" altLang="ko-KR" i="1"/>
                      <m:t>𝑉𝑎𝑟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f>
                          <m:fPr>
                            <m:ctrlPr>
                              <a:rPr lang="en-US" altLang="ko-KR" i="1"/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ko-KR" i="1"/>
                                </m:ctrlPr>
                              </m:dPr>
                              <m:e>
                                <m:r>
                                  <a:rPr lang="en-US" altLang="ko-KR" i="1"/>
                                  <m:t>𝑛</m:t>
                                </m:r>
                                <m:r>
                                  <a:rPr lang="en-US" altLang="ko-KR" i="1"/>
                                  <m:t>−1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ko-KR" i="1"/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ko-KR" i="1"/>
                                    </m:ctrlPr>
                                  </m:sSupPr>
                                  <m:e>
                                    <m:r>
                                      <a:rPr lang="en-US" altLang="ko-KR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ko-KR" i="1"/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sSup>
                              <m:sSupPr>
                                <m:ctrlPr>
                                  <a:rPr lang="en-US" altLang="ko-KR" i="1"/>
                                </m:ctrlPr>
                              </m:sSupPr>
                              <m:e>
                                <m:r>
                                  <a:rPr lang="en-US" altLang="ko-KR" i="1"/>
                                  <m:t>𝜎</m:t>
                                </m:r>
                              </m:e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ko-KR" i="1"/>
                      <m:t>=2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𝑛</m:t>
                        </m:r>
                        <m:r>
                          <a:rPr lang="en-US" altLang="ko-KR" i="1"/>
                          <m:t>−1</m:t>
                        </m:r>
                      </m:e>
                    </m:d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/>
                      <m:t>→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/>
                                </m:ctrlPr>
                              </m:dPr>
                              <m:e>
                                <m:r>
                                  <a:rPr lang="en-US" altLang="ko-KR" i="1"/>
                                  <m:t>𝑛</m:t>
                                </m:r>
                                <m:r>
                                  <a:rPr lang="en-US" altLang="ko-KR" i="1"/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4</m:t>
                            </m:r>
                          </m:sup>
                        </m:sSup>
                      </m:den>
                    </m:f>
                    <m:r>
                      <a:rPr lang="en-US" altLang="ko-KR" i="1"/>
                      <m:t>𝑉𝑎𝑟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/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ko-KR" i="1"/>
                                </m:ctrlPr>
                              </m:sSupPr>
                              <m:e>
                                <m:r>
                                  <a:rPr lang="en-US" altLang="ko-KR" i="1"/>
                                  <m:t>𝜎</m:t>
                                </m:r>
                              </m:e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  <m:r>
                      <a:rPr lang="en-US" altLang="ko-KR" i="1"/>
                      <m:t>=2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r>
                          <a:rPr lang="en-US" altLang="ko-KR" i="1"/>
                          <m:t>𝑛</m:t>
                        </m:r>
                        <m:r>
                          <a:rPr lang="en-US" altLang="ko-KR" i="1"/>
                          <m:t>−1</m:t>
                        </m:r>
                      </m:e>
                    </m:d>
                    <m:r>
                      <a:rPr lang="en-US" altLang="ko-KR" i="1"/>
                      <m:t>,</m:t>
                    </m:r>
                    <m:r>
                      <a:rPr lang="en-US" altLang="ko-KR" i="1"/>
                      <m:t>𝑣𝑎𝑟</m:t>
                    </m:r>
                    <m:d>
                      <m:dPr>
                        <m:ctrlPr>
                          <a:rPr lang="en-US" altLang="ko-KR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i="1"/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ko-KR" i="1"/>
                                </m:ctrlPr>
                              </m:sSupPr>
                              <m:e>
                                <m:r>
                                  <a:rPr lang="en-US" altLang="ko-KR" i="1"/>
                                  <m:t>𝜎</m:t>
                                </m:r>
                              </m:e>
                              <m:sup>
                                <m:r>
                                  <a:rPr lang="en-US" altLang="ko-KR" i="1"/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d>
                    <m:r>
                      <a:rPr lang="en-US" altLang="ko-KR" i="1"/>
                      <m:t>=</m:t>
                    </m:r>
                    <m:f>
                      <m:fPr>
                        <m:ctrlPr>
                          <a:rPr lang="en-US" altLang="ko-KR" i="1"/>
                        </m:ctrlPr>
                      </m:fPr>
                      <m:num>
                        <m:r>
                          <a:rPr lang="en-US" altLang="ko-KR" i="1"/>
                          <m:t>2</m:t>
                        </m:r>
                        <m:sSup>
                          <m:sSupPr>
                            <m:ctrlPr>
                              <a:rPr lang="en-US" altLang="ko-KR" i="1"/>
                            </m:ctrlPr>
                          </m:sSupPr>
                          <m:e>
                            <m:r>
                              <a:rPr lang="en-US" altLang="ko-KR" i="1"/>
                              <m:t>𝜎</m:t>
                            </m:r>
                          </m:e>
                          <m:sup>
                            <m:r>
                              <a:rPr lang="en-US" altLang="ko-KR" i="1"/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ko-KR" i="1"/>
                          <m:t>𝑛</m:t>
                        </m:r>
                        <m:r>
                          <a:rPr lang="en-US" altLang="ko-KR" i="1"/>
                          <m:t>−1</m:t>
                        </m:r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90CE7DD-D529-249C-298C-F37E62E93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6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AF550C-4DBD-1062-8ADC-320A90427EE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AC9E6-9229-A928-7E19-1B2FE08972BC}"/>
              </a:ext>
            </a:extLst>
          </p:cNvPr>
          <p:cNvSpPr txBox="1"/>
          <p:nvPr/>
        </p:nvSpPr>
        <p:spPr>
          <a:xfrm>
            <a:off x="4073250" y="2864768"/>
            <a:ext cx="28472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Repeated sampling </a:t>
            </a:r>
            <a:r>
              <a:rPr lang="ko-KR" altLang="en-US" sz="900" dirty="0"/>
              <a:t>에서 평균적으로 </a:t>
            </a:r>
            <a:r>
              <a:rPr lang="en-US" altLang="ko-KR" sz="900" dirty="0"/>
              <a:t>θ</a:t>
            </a:r>
            <a:r>
              <a:rPr lang="ko-KR" altLang="en-US" sz="900" dirty="0"/>
              <a:t>의 값을 준다</a:t>
            </a:r>
          </a:p>
        </p:txBody>
      </p:sp>
    </p:spTree>
    <p:extLst>
      <p:ext uri="{BB962C8B-B14F-4D97-AF65-F5344CB8AC3E}">
        <p14:creationId xmlns:p14="http://schemas.microsoft.com/office/powerpoint/2010/main" val="22299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9E4137D-0E66-84F8-F491-F6E3C62F4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CDCAF4-BB31-3ECE-7EC7-DEF345E2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확률분포이론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15841D-61BF-7ABE-2B37-82A0F8B7F3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0D34EB7-2893-A5AF-8E73-6A0502E545D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1. </a:t>
                </a:r>
                <a:r>
                  <a:rPr lang="ko-KR" altLang="en-US" dirty="0"/>
                  <a:t>균일 분포</a:t>
                </a:r>
                <a:r>
                  <a:rPr lang="en-US" altLang="ko-KR" dirty="0"/>
                  <a:t> : </a:t>
                </a:r>
                <a:r>
                  <a:rPr lang="en-US" altLang="ko-KR" dirty="0" err="1"/>
                  <a:t>r.v.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X→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[</a:t>
                </a:r>
                <a:r>
                  <a:rPr lang="en-US" altLang="ko-KR" dirty="0" err="1"/>
                  <a:t>a,b</a:t>
                </a:r>
                <a:r>
                  <a:rPr lang="en-US" altLang="ko-KR" dirty="0"/>
                  <a:t>]</a:t>
                </a:r>
                <a:r>
                  <a:rPr lang="ko-KR" altLang="en-US" dirty="0"/>
                  <a:t>에서 일정 확률을 가지고 있을  때 </a:t>
                </a:r>
                <a:r>
                  <a:rPr lang="en-US" altLang="ko-KR" dirty="0"/>
                  <a:t>X~U(</a:t>
                </a:r>
                <a:r>
                  <a:rPr lang="en-US" altLang="ko-KR" dirty="0" err="1"/>
                  <a:t>a,b</a:t>
                </a:r>
                <a:r>
                  <a:rPr lang="en-US" altLang="ko-KR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 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;0 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i="0"/>
                          <m:t>otherwise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dirty="0"/>
                  <a:t>2. </a:t>
                </a:r>
                <a:r>
                  <a:rPr lang="ko-KR" altLang="en-US" dirty="0"/>
                  <a:t>정규분포 </a:t>
                </a:r>
                <a:r>
                  <a:rPr lang="en-US" altLang="ko-KR" dirty="0"/>
                  <a:t>: </a:t>
                </a:r>
                <a:r>
                  <a:rPr lang="en-US" altLang="ko-KR" dirty="0" err="1"/>
                  <a:t>r.v.</a:t>
                </a:r>
                <a:r>
                  <a:rPr lang="en-US" altLang="ko-KR" dirty="0"/>
                  <a:t> X → </a:t>
                </a:r>
                <a:r>
                  <a:rPr lang="ko-KR" altLang="en-US" dirty="0"/>
                  <a:t>정규분포를 따른다 </a:t>
                </a:r>
                <a:r>
                  <a:rPr lang="en-US" altLang="ko-KR" dirty="0"/>
                  <a:t>: X~N(</a:t>
                </a:r>
                <a:r>
                  <a:rPr lang="el-GR" altLang="ko-KR" dirty="0"/>
                  <a:t>μ</a:t>
                </a:r>
                <a:r>
                  <a:rPr lang="en-US" altLang="ko-KR" dirty="0"/>
                  <a:t>,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²)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ko-KR" dirty="0"/>
                  <a:t>; X~N(</a:t>
                </a:r>
                <a:r>
                  <a:rPr lang="el-GR" altLang="ko-KR" dirty="0"/>
                  <a:t>μ</a:t>
                </a:r>
                <a:r>
                  <a:rPr lang="en-US" altLang="ko-KR" dirty="0"/>
                  <a:t>,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²)→ </a:t>
                </a:r>
                <a:r>
                  <a:rPr lang="en-US" altLang="ko-KR" dirty="0" err="1"/>
                  <a:t>aX+b~N</a:t>
                </a:r>
                <a:r>
                  <a:rPr lang="en-US" altLang="ko-KR" dirty="0"/>
                  <a:t>(a</a:t>
                </a:r>
                <a:r>
                  <a:rPr lang="el-GR" altLang="ko-KR" dirty="0"/>
                  <a:t>μ</a:t>
                </a:r>
                <a:r>
                  <a:rPr lang="en-US" altLang="ko-KR" dirty="0"/>
                  <a:t>+b,a²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²)</a:t>
                </a:r>
              </a:p>
              <a:p>
                <a:pPr lvl="2"/>
                <a:r>
                  <a:rPr lang="ko-KR" altLang="en-US" dirty="0"/>
                  <a:t>표준정규분포 </a:t>
                </a:r>
                <a:r>
                  <a:rPr lang="en-US" altLang="ko-KR" dirty="0"/>
                  <a:t>: X~N(</a:t>
                </a:r>
                <a:r>
                  <a:rPr lang="el-GR" altLang="ko-KR" dirty="0"/>
                  <a:t>μ</a:t>
                </a:r>
                <a:r>
                  <a:rPr lang="en-US" altLang="ko-KR" dirty="0"/>
                  <a:t>,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²) → Z=(X-</a:t>
                </a:r>
                <a:r>
                  <a:rPr lang="el-GR" altLang="ko-KR" dirty="0"/>
                  <a:t>μ</a:t>
                </a:r>
                <a:r>
                  <a:rPr lang="en-US" altLang="ko-KR" dirty="0"/>
                  <a:t>)/</a:t>
                </a:r>
                <a:r>
                  <a:rPr lang="el-GR" altLang="ko-KR" dirty="0"/>
                  <a:t>σ</a:t>
                </a:r>
                <a:r>
                  <a:rPr lang="en-US" altLang="ko-KR" dirty="0"/>
                  <a:t> ~ N(0,1);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𝐶𝐷𝐹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=0, 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3. χ² </a:t>
                </a:r>
                <a:r>
                  <a:rPr lang="ko-KR" altLang="en-US" dirty="0"/>
                  <a:t>분포</a:t>
                </a:r>
                <a:r>
                  <a:rPr lang="en-US" altLang="ko-KR" dirty="0"/>
                  <a:t>(</a:t>
                </a:r>
                <a:r>
                  <a:rPr lang="ko-KR" altLang="en-US" dirty="0" err="1"/>
                  <a:t>카이제곱분포</a:t>
                </a:r>
                <a:r>
                  <a:rPr lang="en-US" altLang="ko-KR" dirty="0"/>
                  <a:t>) : Z~N(0,1)→Z²~χ²(1) (1→</a:t>
                </a:r>
                <a:r>
                  <a:rPr lang="ko-KR" altLang="en-US" dirty="0"/>
                  <a:t>자유도</a:t>
                </a:r>
                <a:r>
                  <a:rPr lang="en-US" altLang="ko-KR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altLang="ko-KR" i="1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pt-BR" altLang="ko-KR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𝑖𝑖𝑑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pt-BR" altLang="ko-KR" i="1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altLang="ko-KR" i="1">
                        <a:latin typeface="Cambria Math" panose="02040503050406030204" pitchFamily="18" charset="0"/>
                      </a:rPr>
                      <m:t>+⋯</m:t>
                    </m:r>
                    <m:sSubSup>
                      <m:sSubSup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altLang="ko-KR" i="1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altLang="ko-KR" dirty="0"/>
                  <a:t>E(X) = p, Var(X) = 2p</a:t>
                </a:r>
              </a:p>
              <a:p>
                <a:r>
                  <a:rPr lang="en-US" altLang="ko-KR" dirty="0"/>
                  <a:t>4. t-</a:t>
                </a:r>
                <a:r>
                  <a:rPr lang="ko-KR" altLang="en-US" dirty="0"/>
                  <a:t>분포 </a:t>
                </a:r>
                <a:r>
                  <a:rPr lang="en-US" altLang="ko-KR" dirty="0"/>
                  <a:t>: </a:t>
                </a:r>
                <a:r>
                  <a:rPr lang="en-US" altLang="ko-KR" dirty="0" err="1"/>
                  <a:t>r.v.</a:t>
                </a:r>
                <a:r>
                  <a:rPr lang="en-US" altLang="ko-KR" dirty="0"/>
                  <a:t> Z ~ N(0,1), </a:t>
                </a:r>
                <a:r>
                  <a:rPr lang="en-US" altLang="ko-KR" dirty="0" err="1"/>
                  <a:t>r.v.</a:t>
                </a:r>
                <a:r>
                  <a:rPr lang="en-US" altLang="ko-KR" dirty="0"/>
                  <a:t> </a:t>
                </a:r>
                <a:r>
                  <a:rPr lang="en-US" altLang="ko-KR" dirty="0" err="1"/>
                  <a:t>V~χ</a:t>
                </a:r>
                <a:r>
                  <a:rPr lang="en-US" altLang="ko-KR" dirty="0"/>
                  <a:t>(ν)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m:rPr>
                                <m:lit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~ </m:t>
                    </m:r>
                  </m:oMath>
                </a14:m>
                <a:r>
                  <a:rPr lang="en-US" altLang="ko-KR" dirty="0"/>
                  <a:t>t-</a:t>
                </a:r>
                <a:r>
                  <a:rPr lang="ko-KR" altLang="en-US" dirty="0"/>
                  <a:t>분포</a:t>
                </a:r>
                <a:r>
                  <a:rPr lang="en-US" altLang="ko-KR" dirty="0"/>
                  <a:t>;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𝜈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&gt;2</m:t>
                        </m:r>
                      </m:e>
                    </m:d>
                  </m:oMath>
                </a14:m>
                <a:r>
                  <a:rPr lang="en-US" altLang="ko-KR" dirty="0"/>
                  <a:t>; if ν→</a:t>
                </a:r>
                <a:r>
                  <a:rPr lang="ko-KR" altLang="en-US" dirty="0"/>
                  <a:t>∞</a:t>
                </a:r>
                <a:r>
                  <a:rPr lang="en-US" altLang="ko-KR" dirty="0"/>
                  <a:t>,(t-</a:t>
                </a:r>
                <a:r>
                  <a:rPr lang="ko-KR" altLang="en-US" dirty="0"/>
                  <a:t>분포</a:t>
                </a:r>
                <a:r>
                  <a:rPr lang="en-US" altLang="ko-KR" dirty="0"/>
                  <a:t>) →N(0,1)</a:t>
                </a:r>
                <a:br>
                  <a:rPr lang="en-US" altLang="ko-KR" dirty="0"/>
                </a:br>
                <a:r>
                  <a:rPr lang="en-US" altLang="ko-KR" dirty="0"/>
                  <a:t>Var &gt;1 → S.N.</a:t>
                </a:r>
                <a:r>
                  <a:rPr lang="ko-KR" altLang="en-US" dirty="0"/>
                  <a:t>과 비교 시 더 큰 불확실성</a:t>
                </a:r>
                <a:endParaRPr lang="en-US" altLang="ko-KR" dirty="0"/>
              </a:p>
              <a:p>
                <a:r>
                  <a:rPr lang="en-US" altLang="ko-KR" dirty="0"/>
                  <a:t>5. F-</a:t>
                </a:r>
                <a:r>
                  <a:rPr lang="ko-KR" altLang="en-US" dirty="0"/>
                  <a:t>분포 </a:t>
                </a:r>
                <a:r>
                  <a:rPr lang="en-US" altLang="ko-KR" dirty="0"/>
                  <a:t>: let A,B → independent</a:t>
                </a:r>
                <a:r>
                  <a:rPr lang="ko-KR" altLang="en-US" dirty="0"/>
                  <a:t> </a:t>
                </a:r>
                <a:r>
                  <a:rPr lang="en-US" altLang="ko-KR" dirty="0" err="1"/>
                  <a:t>r.v.</a:t>
                </a:r>
                <a:r>
                  <a:rPr lang="en-US" altLang="ko-KR" dirty="0"/>
                  <a:t>,  </a:t>
                </a:r>
                <a14:m>
                  <m:oMath xmlns:m="http://schemas.openxmlformats.org/officeDocument/2006/math">
                    <m:r>
                      <a:rPr lang="pt-BR" altLang="ko-KR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altLang="ko-KR" i="1" smtClean="0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lit/>
                          </m:rPr>
                          <a:rPr lang="pt-BR" altLang="ko-KR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pt-B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lit/>
                          </m:rPr>
                          <a:rPr lang="pt-BR" altLang="ko-KR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pt-B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pt-BR" altLang="ko-KR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altLang="ko-KR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5. </a:t>
                </a:r>
                <a:r>
                  <a:rPr lang="ko-KR" altLang="en-US" dirty="0"/>
                  <a:t>중심극한정리</a:t>
                </a:r>
                <a:r>
                  <a:rPr lang="en-US" altLang="ko-KR" dirty="0"/>
                  <a:t>(CLT; Central limit theorem)</a:t>
                </a:r>
              </a:p>
              <a:p>
                <a:pPr lvl="1"/>
                <a:r>
                  <a:rPr lang="ko-KR" altLang="en-US" dirty="0" err="1"/>
                  <a:t>분포수렴</a:t>
                </a:r>
                <a:r>
                  <a:rPr lang="en-US" altLang="ko-KR" dirty="0"/>
                  <a:t>(convergence in distribution)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. 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/>
                  <a:t>의 분포로 수렴한다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: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i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∀</a:t>
                </a:r>
                <a:r>
                  <a:rPr lang="en-US" altLang="ko-KR" dirty="0"/>
                  <a:t>(x | Fx</a:t>
                </a:r>
                <a:r>
                  <a:rPr lang="ko-KR" altLang="en-US" dirty="0"/>
                  <a:t>가 연속</a:t>
                </a:r>
                <a:r>
                  <a:rPr lang="en-US" altLang="ko-KR" dirty="0"/>
                  <a:t>).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, CDF</a:t>
                </a:r>
                <a:r>
                  <a:rPr lang="ko-KR" altLang="en-US" dirty="0"/>
                  <a:t> 수렴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 분포 수렴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𝐶𝐿𝑇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,⋯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iid</a:t>
                </a:r>
                <a:r>
                  <a:rPr lang="en-US" altLang="ko-KR" dirty="0"/>
                  <a:t> </a:t>
                </a:r>
                <a:r>
                  <a:rPr lang="en-US" altLang="ko-KR" dirty="0" err="1"/>
                  <a:t>r.v.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dirty="0"/>
                  <a:t> 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0D34EB7-2893-A5AF-8E73-6A0502E545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A1C4DA-B22F-5831-26F5-14DD60BBE47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D3373-CE17-154D-11BC-9A88C07B958B}"/>
              </a:ext>
            </a:extLst>
          </p:cNvPr>
          <p:cNvSpPr txBox="1"/>
          <p:nvPr/>
        </p:nvSpPr>
        <p:spPr>
          <a:xfrm>
            <a:off x="2180497" y="4693588"/>
            <a:ext cx="2535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d</a:t>
            </a:r>
            <a:endParaRPr lang="ko-KR" alt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7EF84-504B-E0BC-F5D5-CEC7B19B2293}"/>
              </a:ext>
            </a:extLst>
          </p:cNvPr>
          <p:cNvSpPr txBox="1"/>
          <p:nvPr/>
        </p:nvSpPr>
        <p:spPr>
          <a:xfrm>
            <a:off x="6093296" y="4938192"/>
            <a:ext cx="2535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d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5E516-E906-C78B-5C22-A0B6575BFC57}"/>
              </a:ext>
            </a:extLst>
          </p:cNvPr>
          <p:cNvSpPr txBox="1"/>
          <p:nvPr/>
        </p:nvSpPr>
        <p:spPr>
          <a:xfrm>
            <a:off x="5862474" y="2792760"/>
            <a:ext cx="9509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en-US" altLang="ko-KR" sz="900" dirty="0" err="1"/>
              <a:t>iid</a:t>
            </a:r>
            <a:r>
              <a:rPr lang="en-US" altLang="ko-KR" sz="900" dirty="0"/>
              <a:t>=identically</a:t>
            </a:r>
          </a:p>
          <a:p>
            <a:r>
              <a:rPr lang="en-US" altLang="ko-KR" sz="900" dirty="0"/>
              <a:t>Independent</a:t>
            </a:r>
          </a:p>
          <a:p>
            <a:r>
              <a:rPr lang="en-US" altLang="ko-KR" sz="900" dirty="0"/>
              <a:t> distributed)</a:t>
            </a:r>
            <a:endParaRPr lang="ko-KR" alt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2730F1-7F4F-143C-39C6-6030C9A88253}"/>
                  </a:ext>
                </a:extLst>
              </p:cNvPr>
              <p:cNvSpPr txBox="1"/>
              <p:nvPr/>
            </p:nvSpPr>
            <p:spPr>
              <a:xfrm>
                <a:off x="5522442" y="1036149"/>
                <a:ext cx="1335558" cy="511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ko-KR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sz="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sz="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ko-KR" sz="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ko-KR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sz="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altLang="ko-KR" sz="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altLang="ko-KR" sz="6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ko-KR" altLang="en-US" sz="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2730F1-7F4F-143C-39C6-6030C9A88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442" y="1036149"/>
                <a:ext cx="1335558" cy="511166"/>
              </a:xfrm>
              <a:prstGeom prst="rect">
                <a:avLst/>
              </a:prstGeom>
              <a:blipFill>
                <a:blip r:embed="rId3"/>
                <a:stretch>
                  <a:fillRect t="-70238" b="-10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23F71B-F78A-FD31-B034-68FCC41352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7" y="534120"/>
            <a:ext cx="1179145" cy="819703"/>
          </a:xfrm>
          <a:prstGeom prst="rect">
            <a:avLst/>
          </a:prstGeom>
        </p:spPr>
      </p:pic>
      <p:pic>
        <p:nvPicPr>
          <p:cNvPr id="16" name="그림 15" descr="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72C7A1-755C-14FB-0AD8-5D6CDFA45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6" y="1352975"/>
            <a:ext cx="1179146" cy="709936"/>
          </a:xfrm>
          <a:prstGeom prst="rect">
            <a:avLst/>
          </a:prstGeom>
        </p:spPr>
      </p:pic>
      <p:pic>
        <p:nvPicPr>
          <p:cNvPr id="18" name="그림 17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6E4C2F-5708-F2FB-F5FD-A888F89C32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0" y="2053287"/>
            <a:ext cx="1315737" cy="986803"/>
          </a:xfrm>
          <a:prstGeom prst="rect">
            <a:avLst/>
          </a:prstGeom>
        </p:spPr>
      </p:pic>
      <p:pic>
        <p:nvPicPr>
          <p:cNvPr id="20" name="그림 19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07965E-53AA-1A25-B0C4-0EED722E06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2" y="3095234"/>
            <a:ext cx="1282349" cy="872186"/>
          </a:xfrm>
          <a:prstGeom prst="rect">
            <a:avLst/>
          </a:prstGeom>
        </p:spPr>
      </p:pic>
      <p:pic>
        <p:nvPicPr>
          <p:cNvPr id="22" name="그림 21" descr="라인, 다채로움, 예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95D09F-D8E1-5487-2622-0B3802BA78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0" y="4039428"/>
            <a:ext cx="1446221" cy="10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9151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28145</TotalTime>
  <Words>966</Words>
  <Application>Microsoft Office PowerPoint</Application>
  <PresentationFormat>A4 용지(210x297mm)</PresentationFormat>
  <Paragraphs>55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Cambria Math</vt:lpstr>
      <vt:lpstr>Wingdings</vt:lpstr>
      <vt:lpstr>디자인 사용자 지정</vt:lpstr>
      <vt:lpstr>표본평균과 표본분산의 도출</vt:lpstr>
      <vt:lpstr>확률분포이론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651</cp:revision>
  <dcterms:created xsi:type="dcterms:W3CDTF">2021-05-24T07:27:04Z</dcterms:created>
  <dcterms:modified xsi:type="dcterms:W3CDTF">2025-09-12T05:58:57Z</dcterms:modified>
</cp:coreProperties>
</file>