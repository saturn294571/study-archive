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285" r:id="rId2"/>
    <p:sldId id="286" r:id="rId3"/>
    <p:sldId id="287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51" autoAdjust="0"/>
    <p:restoredTop sz="96234" autoAdjust="0"/>
  </p:normalViewPr>
  <p:slideViewPr>
    <p:cSldViewPr>
      <p:cViewPr varScale="1">
        <p:scale>
          <a:sx n="76" d="100"/>
          <a:sy n="76" d="100"/>
        </p:scale>
        <p:origin x="2448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3B312-57A8-47C3-BA4B-2C813ABC4C95}" type="datetimeFigureOut">
              <a:rPr lang="ko-KR" altLang="en-US" smtClean="0"/>
              <a:t>2025-07-27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EB649-B1DB-48B2-96AD-31D5AB3F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9D012-466D-4393-B88A-B81ADB90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93A83-36FC-4C7D-BDF4-1CC35989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C4600-5751-48C6-AC23-B11FF485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F582-2BBE-4520-9136-34434075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244F-145C-4D20-83D4-E8FDC985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코넬식 노트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5A52A8-2805-42DC-9A4A-36BF99DF2F7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35C1085-EC86-4500-A95F-EC02D30EB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9B82232-86F7-46BF-B25E-C1E6ACEBBC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560512"/>
            <a:ext cx="1296144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9D62C66A-A8F3-42B7-A09D-E7FA729E26C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560512"/>
            <a:ext cx="5400599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>
                <a:solidFill>
                  <a:srgbClr val="0070C0"/>
                </a:solidFill>
              </a:defRPr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6D795C-2771-4725-82A8-B114B1B4190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4" name="날짜 개체 틀 4">
            <a:extLst>
              <a:ext uri="{FF2B5EF4-FFF2-40B4-BE49-F238E27FC236}">
                <a16:creationId xmlns:a16="http://schemas.microsoft.com/office/drawing/2014/main" id="{91ABAAB3-A3F0-4DFF-BF41-441F35F9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2025-07-27</a:t>
            </a:fld>
            <a:endParaRPr lang="ko-KR" altLang="en-US" dirty="0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E1FB95C-C14A-4C28-A50A-3449766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449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FBEC3BA-1878-4EC1-9EE4-BB3AA272808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740C1CF8-2810-4B8B-9E67-840108284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944F807-3964-4082-822B-5E53CDCD8B3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344488"/>
            <a:ext cx="1296144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8" name="내용 개체 틀 3">
            <a:extLst>
              <a:ext uri="{FF2B5EF4-FFF2-40B4-BE49-F238E27FC236}">
                <a16:creationId xmlns:a16="http://schemas.microsoft.com/office/drawing/2014/main" id="{41D3E48A-F8B6-48E4-8BCD-B5A863191DE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344488"/>
            <a:ext cx="5400599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3BFED26C-166F-4DBC-8358-65449225F96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0" name="날짜 개체 틀 4">
            <a:extLst>
              <a:ext uri="{FF2B5EF4-FFF2-40B4-BE49-F238E27FC236}">
                <a16:creationId xmlns:a16="http://schemas.microsoft.com/office/drawing/2014/main" id="{8098F897-D130-4A85-926C-912EAB1A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2025-07-27</a:t>
            </a:fld>
            <a:endParaRPr lang="ko-KR" altLang="en-US" dirty="0"/>
          </a:p>
        </p:txBody>
      </p:sp>
      <p:sp>
        <p:nvSpPr>
          <p:cNvPr id="31" name="슬라이드 번호 개체 틀 6">
            <a:extLst>
              <a:ext uri="{FF2B5EF4-FFF2-40B4-BE49-F238E27FC236}">
                <a16:creationId xmlns:a16="http://schemas.microsoft.com/office/drawing/2014/main" id="{871FA819-0CC0-477C-BA85-64603295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415A8630-4555-49FF-95EA-19025017722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24" y="4376936"/>
            <a:ext cx="1296144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3" name="내용 개체 틀 3">
            <a:extLst>
              <a:ext uri="{FF2B5EF4-FFF2-40B4-BE49-F238E27FC236}">
                <a16:creationId xmlns:a16="http://schemas.microsoft.com/office/drawing/2014/main" id="{401078D4-13E2-4A15-A24E-D6ED5A3416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412776" y="4376936"/>
            <a:ext cx="5400599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36C1BE20-27A2-4680-B99C-77FF72519C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24" y="4088904"/>
            <a:ext cx="6768753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35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1CE3-26B0-4207-BAD4-1041574E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5FBA2-4936-4706-95C3-FAFA6A7E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C197-B0BD-436B-9980-EE59CBD7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C08F-0304-4F96-B877-0B06C4B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8234A-EDA6-43E8-AE6C-3CF677CA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8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6F35-AC99-4BF8-A397-0C1E1B4F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29E579-ECC7-4C64-9EB8-D640165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058974-E397-415A-A6C5-25F209F6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C53FD-3472-4366-8E73-7C38B1A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7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833BB0-4D29-49DC-A1FE-7E66598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A96632-B0B8-401E-AC60-AEF38408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7D2F-5D24-4FF6-9CD1-8553975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7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7DC2-9736-4DB8-86D5-0677DFF9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B6482-CF33-47BC-832B-7D18B209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720F2-9210-4195-98B9-0E2CBCAAB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17417-E261-4ECB-8D35-6E59164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5D919-E2FD-413A-8928-E0C3985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7E8C6-6C26-4B84-BB1D-47019112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4CC0-196A-4FF3-BA7A-2A838BC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334584-9C2E-4FB4-B223-147590AA6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A644-9209-46E1-8503-E03E899F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D5566-58C8-4D6E-950D-81773B0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681FE-25FC-424A-A5C2-B8558CD8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D9E155-E9CA-4BDD-ADAC-D743596E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54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4B4C-8380-4ECE-A3C6-32F34249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AE434-937A-4C07-B3EA-1C1EAB35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29F06-0D5F-4146-B5FF-E0AAFF1A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5C82C-F88C-4F7F-91C3-F46031C3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03FCB-B458-4F60-AF20-667E832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7FC31D-270D-481C-B55E-E09DB06F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FEBD54-0F8B-435E-A784-7973F627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8C272-27C0-467E-8B2F-8060E69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9F6D-897D-4DD0-BAAA-38252242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E28EA-6ACB-498F-A385-71929DA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BE23EC-F7A8-48CF-830D-AA10C56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A2647-8522-4C16-9847-3E5362E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E217D-506C-41EC-8074-70FE9F35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75F8-F7CF-491B-B1E4-FC201F6C4E25}" type="datetimeFigureOut">
              <a:rPr lang="ko-KR" altLang="en-US" smtClean="0"/>
              <a:t>2025-07-27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12B2E-566A-4965-92DB-6F8EB3F9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EB1A7-DDFB-4F87-8544-6EA57915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4" r:id="rId3"/>
    <p:sldLayoutId id="2147483675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02A76DE-91DA-41AE-0EDB-D12D3A6A9B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A102597-342D-DEEE-8A48-EB5BC3EF0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챕터</a:t>
            </a:r>
            <a:r>
              <a:rPr lang="en-US" altLang="ko-KR" dirty="0"/>
              <a:t>2 </a:t>
            </a:r>
            <a:r>
              <a:rPr lang="ko-KR" altLang="en-US" dirty="0"/>
              <a:t>지능적 에이전트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DBA7FB0-43F1-0027-6DF1-D5DADE1009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A1BEB8F-85A7-4F86-26BF-E6430393680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에이전트</a:t>
            </a:r>
            <a:r>
              <a:rPr lang="en-US" altLang="ko-KR" dirty="0"/>
              <a:t> : </a:t>
            </a:r>
            <a:r>
              <a:rPr lang="ko-KR" altLang="en-US" dirty="0"/>
              <a:t>자신의 환경을 지각</a:t>
            </a:r>
            <a:r>
              <a:rPr lang="en-US" altLang="ko-KR" dirty="0"/>
              <a:t>, </a:t>
            </a:r>
            <a:r>
              <a:rPr lang="ko-KR" altLang="en-US" dirty="0"/>
              <a:t>환경안에서 행동을 취하는 것</a:t>
            </a:r>
            <a:endParaRPr lang="en-US" altLang="ko-KR" dirty="0"/>
          </a:p>
          <a:p>
            <a:pPr lvl="1"/>
            <a:r>
              <a:rPr lang="ko-KR" altLang="en-US" dirty="0"/>
              <a:t>에이전트 함수 </a:t>
            </a:r>
            <a:r>
              <a:rPr lang="en-US" altLang="ko-KR" dirty="0"/>
              <a:t>: </a:t>
            </a:r>
            <a:r>
              <a:rPr lang="ko-KR" altLang="en-US" dirty="0"/>
              <a:t>임의의 지각열에 대한 반응으로 에이전트가 취할 동작 지정</a:t>
            </a:r>
            <a:endParaRPr lang="en-US" altLang="ko-KR" dirty="0"/>
          </a:p>
          <a:p>
            <a:r>
              <a:rPr lang="ko-KR" altLang="en-US" dirty="0"/>
              <a:t>성과측정 </a:t>
            </a:r>
            <a:r>
              <a:rPr lang="en-US" altLang="ko-KR" dirty="0"/>
              <a:t>: </a:t>
            </a:r>
            <a:r>
              <a:rPr lang="ko-KR" altLang="en-US" dirty="0"/>
              <a:t>환경 내에서의 에이전트 행동 평가</a:t>
            </a:r>
            <a:endParaRPr lang="en-US" altLang="ko-KR" dirty="0"/>
          </a:p>
          <a:p>
            <a:pPr lvl="1"/>
            <a:r>
              <a:rPr lang="ko-KR" altLang="en-US" dirty="0"/>
              <a:t>합리적 에이전트 </a:t>
            </a:r>
            <a:r>
              <a:rPr lang="en-US" altLang="ko-KR" dirty="0"/>
              <a:t>: </a:t>
            </a:r>
            <a:r>
              <a:rPr lang="ko-KR" altLang="en-US" dirty="0"/>
              <a:t>지금까지의 지각열을 기반</a:t>
            </a:r>
            <a:r>
              <a:rPr lang="en-US" altLang="ko-KR" dirty="0"/>
              <a:t>, </a:t>
            </a:r>
            <a:r>
              <a:rPr lang="ko-KR" altLang="en-US" dirty="0"/>
              <a:t>성과측정의 </a:t>
            </a:r>
            <a:r>
              <a:rPr lang="ko-KR" altLang="en-US" dirty="0" err="1"/>
              <a:t>기댓값을</a:t>
            </a:r>
            <a:r>
              <a:rPr lang="ko-KR" altLang="en-US" dirty="0"/>
              <a:t> 최대화</a:t>
            </a:r>
            <a:endParaRPr lang="en-US" altLang="ko-KR" dirty="0"/>
          </a:p>
          <a:p>
            <a:r>
              <a:rPr lang="ko-KR" altLang="en-US" dirty="0"/>
              <a:t>과제환경</a:t>
            </a:r>
            <a:endParaRPr lang="en-US" altLang="ko-KR" dirty="0"/>
          </a:p>
          <a:p>
            <a:pPr lvl="1"/>
            <a:r>
              <a:rPr lang="ko-KR" altLang="en-US" dirty="0"/>
              <a:t>완전</a:t>
            </a:r>
            <a:r>
              <a:rPr lang="en-US" altLang="ko-KR" dirty="0"/>
              <a:t>/</a:t>
            </a:r>
            <a:r>
              <a:rPr lang="ko-KR" altLang="en-US" dirty="0"/>
              <a:t>부분 관찰 가능</a:t>
            </a:r>
            <a:r>
              <a:rPr lang="en-US" altLang="ko-KR" dirty="0"/>
              <a:t>; </a:t>
            </a:r>
            <a:r>
              <a:rPr lang="ko-KR" altLang="en-US" dirty="0"/>
              <a:t>단일</a:t>
            </a:r>
            <a:r>
              <a:rPr lang="en-US" altLang="ko-KR" dirty="0"/>
              <a:t>/</a:t>
            </a:r>
            <a:r>
              <a:rPr lang="ko-KR" altLang="en-US" dirty="0"/>
              <a:t>다중 에이전트</a:t>
            </a:r>
            <a:r>
              <a:rPr lang="en-US" altLang="ko-KR" dirty="0"/>
              <a:t>; </a:t>
            </a:r>
            <a:r>
              <a:rPr lang="ko-KR" altLang="en-US" dirty="0"/>
              <a:t>결정론</a:t>
            </a:r>
            <a:r>
              <a:rPr lang="en-US" altLang="ko-KR" dirty="0"/>
              <a:t>/</a:t>
            </a:r>
            <a:r>
              <a:rPr lang="ko-KR" altLang="en-US" dirty="0"/>
              <a:t>확률론적</a:t>
            </a:r>
            <a:r>
              <a:rPr lang="en-US" altLang="ko-KR" dirty="0"/>
              <a:t>; </a:t>
            </a:r>
            <a:r>
              <a:rPr lang="ko-KR" altLang="en-US" dirty="0"/>
              <a:t>일화적</a:t>
            </a:r>
            <a:r>
              <a:rPr lang="en-US" altLang="ko-KR" dirty="0"/>
              <a:t>/</a:t>
            </a:r>
            <a:r>
              <a:rPr lang="ko-KR" altLang="en-US" dirty="0"/>
              <a:t>순차적</a:t>
            </a:r>
            <a:r>
              <a:rPr lang="en-US" altLang="ko-KR" dirty="0"/>
              <a:t>; </a:t>
            </a:r>
            <a:br>
              <a:rPr lang="en-US" altLang="ko-KR" dirty="0"/>
            </a:br>
            <a:r>
              <a:rPr lang="ko-KR" altLang="en-US" dirty="0"/>
              <a:t>정적</a:t>
            </a:r>
            <a:r>
              <a:rPr lang="en-US" altLang="ko-KR" dirty="0"/>
              <a:t>/</a:t>
            </a:r>
            <a:r>
              <a:rPr lang="ko-KR" altLang="en-US" dirty="0"/>
              <a:t>동적</a:t>
            </a:r>
            <a:r>
              <a:rPr lang="en-US" altLang="ko-KR" dirty="0"/>
              <a:t>; </a:t>
            </a:r>
            <a:r>
              <a:rPr lang="ko-KR" altLang="en-US" dirty="0"/>
              <a:t>이산적</a:t>
            </a:r>
            <a:r>
              <a:rPr lang="en-US" altLang="ko-KR" dirty="0"/>
              <a:t>/</a:t>
            </a:r>
            <a:r>
              <a:rPr lang="ko-KR" altLang="en-US" dirty="0"/>
              <a:t>연속적</a:t>
            </a:r>
            <a:endParaRPr lang="en-US" altLang="ko-KR" dirty="0"/>
          </a:p>
          <a:p>
            <a:r>
              <a:rPr lang="ko-KR" altLang="en-US" dirty="0"/>
              <a:t>에이전트 프로그램</a:t>
            </a:r>
            <a:endParaRPr lang="en-US" altLang="ko-KR" dirty="0"/>
          </a:p>
          <a:p>
            <a:pPr lvl="1"/>
            <a:r>
              <a:rPr lang="ko-KR" altLang="en-US" dirty="0"/>
              <a:t>에이전트 함수 구현</a:t>
            </a:r>
            <a:r>
              <a:rPr lang="en-US" altLang="ko-KR" dirty="0"/>
              <a:t>. </a:t>
            </a:r>
            <a:r>
              <a:rPr lang="ko-KR" altLang="en-US" dirty="0"/>
              <a:t>명시적으로 주어진</a:t>
            </a:r>
            <a:r>
              <a:rPr lang="en-US" altLang="ko-KR" dirty="0"/>
              <a:t>, </a:t>
            </a:r>
            <a:r>
              <a:rPr lang="ko-KR" altLang="en-US" dirty="0"/>
              <a:t>의사 결정에서 쓰이는 정보의 종류를 반영</a:t>
            </a:r>
            <a:r>
              <a:rPr lang="en-US" altLang="ko-KR" dirty="0"/>
              <a:t>. </a:t>
            </a:r>
            <a:r>
              <a:rPr lang="ko-KR" altLang="en-US" dirty="0"/>
              <a:t>다양한 기본 에이전트 프로그램 설계 존재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각 설계는 효율성</a:t>
            </a:r>
            <a:r>
              <a:rPr lang="en-US" altLang="ko-KR" dirty="0"/>
              <a:t>/</a:t>
            </a:r>
            <a:r>
              <a:rPr lang="ko-KR" altLang="en-US" dirty="0"/>
              <a:t>간결성</a:t>
            </a:r>
            <a:r>
              <a:rPr lang="en-US" altLang="ko-KR" dirty="0"/>
              <a:t>/</a:t>
            </a:r>
            <a:r>
              <a:rPr lang="ko-KR" altLang="en-US" dirty="0"/>
              <a:t>유연성 상이 </a:t>
            </a:r>
            <a:r>
              <a:rPr lang="en-US" altLang="ko-KR" dirty="0"/>
              <a:t>→ </a:t>
            </a:r>
            <a:r>
              <a:rPr lang="ko-KR" altLang="en-US" dirty="0" err="1"/>
              <a:t>어떤게</a:t>
            </a:r>
            <a:r>
              <a:rPr lang="ko-KR" altLang="en-US" dirty="0"/>
              <a:t> 적절</a:t>
            </a:r>
            <a:r>
              <a:rPr lang="en-US" altLang="ko-KR" dirty="0"/>
              <a:t>? </a:t>
            </a:r>
            <a:r>
              <a:rPr lang="ko-KR" altLang="en-US" dirty="0"/>
              <a:t>환경에 따라 다르다</a:t>
            </a:r>
            <a:endParaRPr lang="en-US" altLang="ko-KR" dirty="0"/>
          </a:p>
          <a:p>
            <a:r>
              <a:rPr lang="ko-KR" altLang="en-US" dirty="0"/>
              <a:t>에이전트 종류 </a:t>
            </a:r>
            <a:r>
              <a:rPr lang="en-US" altLang="ko-KR" dirty="0"/>
              <a:t>→ </a:t>
            </a:r>
            <a:r>
              <a:rPr lang="ko-KR" altLang="en-US" dirty="0"/>
              <a:t>모든 에이전트는 학습을 통해 성과 개선</a:t>
            </a:r>
            <a:r>
              <a:rPr lang="en-US" altLang="ko-KR" dirty="0"/>
              <a:t>O</a:t>
            </a:r>
          </a:p>
          <a:p>
            <a:pPr lvl="1"/>
            <a:r>
              <a:rPr lang="ko-KR" altLang="en-US" dirty="0"/>
              <a:t>단순 반사 에이전트 </a:t>
            </a:r>
            <a:r>
              <a:rPr lang="en-US" altLang="ko-KR" dirty="0"/>
              <a:t>: </a:t>
            </a:r>
            <a:r>
              <a:rPr lang="ko-KR" altLang="en-US" dirty="0"/>
              <a:t>지각에 직접 반응</a:t>
            </a:r>
            <a:endParaRPr lang="en-US" altLang="ko-KR" dirty="0"/>
          </a:p>
          <a:p>
            <a:pPr lvl="1"/>
            <a:r>
              <a:rPr lang="ko-KR" altLang="en-US" dirty="0"/>
              <a:t>모형 기반 반사 에이전트 </a:t>
            </a:r>
            <a:r>
              <a:rPr lang="en-US" altLang="ko-KR" dirty="0"/>
              <a:t>: </a:t>
            </a:r>
            <a:r>
              <a:rPr lang="ko-KR" altLang="en-US" dirty="0"/>
              <a:t>현재 지각으로 명확히 알기 어려운 세계의 측면들을 추적하는 내부 상태 유지</a:t>
            </a:r>
            <a:endParaRPr lang="en-US" altLang="ko-KR" dirty="0"/>
          </a:p>
          <a:p>
            <a:pPr lvl="1"/>
            <a:r>
              <a:rPr lang="ko-KR" altLang="en-US" dirty="0"/>
              <a:t>목표 기반 에이전트 </a:t>
            </a:r>
            <a:r>
              <a:rPr lang="en-US" altLang="ko-KR" dirty="0"/>
              <a:t>: </a:t>
            </a:r>
            <a:r>
              <a:rPr lang="ko-KR" altLang="en-US" dirty="0"/>
              <a:t>목표 달성 위해 행동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효용 기반 에이전트 </a:t>
            </a:r>
            <a:r>
              <a:rPr lang="en-US" altLang="ko-KR" dirty="0"/>
              <a:t>: </a:t>
            </a:r>
            <a:r>
              <a:rPr lang="ko-KR" altLang="en-US" dirty="0"/>
              <a:t>기대효용</a:t>
            </a:r>
            <a:r>
              <a:rPr lang="en-US" altLang="ko-KR" dirty="0"/>
              <a:t>/</a:t>
            </a:r>
            <a:r>
              <a:rPr lang="ko-KR" altLang="en-US" dirty="0"/>
              <a:t>행복도를 최대화 위해 활동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1AA1130-6182-E532-8F5A-DB9FE65C2E6A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76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652672F-9B17-B120-DB35-A2C3ACAB8A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D91216E-E1A2-B972-4703-7B323DFDB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챕터</a:t>
            </a:r>
            <a:r>
              <a:rPr lang="en-US" altLang="ko-KR" dirty="0"/>
              <a:t>3 </a:t>
            </a:r>
            <a:r>
              <a:rPr lang="ko-KR" altLang="en-US" dirty="0"/>
              <a:t>검색을 통한 문제해결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E661B7-0022-4705-C358-E7A1B7E8AD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FB2910B-74D7-81F5-D59E-200896000E3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검색</a:t>
            </a:r>
            <a:endParaRPr lang="en-US" altLang="ko-KR" dirty="0"/>
          </a:p>
          <a:p>
            <a:pPr lvl="1"/>
            <a:r>
              <a:rPr lang="ko-KR" altLang="en-US" dirty="0"/>
              <a:t>에이전트가 결정론적</a:t>
            </a:r>
            <a:r>
              <a:rPr lang="en-US" altLang="ko-KR" dirty="0"/>
              <a:t>, </a:t>
            </a:r>
            <a:r>
              <a:rPr lang="ko-KR" altLang="en-US" dirty="0"/>
              <a:t>관찰</a:t>
            </a:r>
            <a:r>
              <a:rPr lang="en-US" altLang="ko-KR" dirty="0"/>
              <a:t>O. </a:t>
            </a:r>
            <a:r>
              <a:rPr lang="ko-KR" altLang="en-US" dirty="0"/>
              <a:t>정적이고 완전히 알려진 환경안에서 동작을 선택 시 사용할만한 방법 </a:t>
            </a:r>
            <a:r>
              <a:rPr lang="en-US" altLang="ko-KR" dirty="0"/>
              <a:t>→ </a:t>
            </a:r>
            <a:r>
              <a:rPr lang="ko-KR" altLang="en-US" dirty="0"/>
              <a:t>에이전트는 자신의 목표 달성을 위한 일련의 동작 구축 </a:t>
            </a:r>
            <a:r>
              <a:rPr lang="en-US" altLang="ko-KR" dirty="0"/>
              <a:t>= </a:t>
            </a:r>
            <a:r>
              <a:rPr lang="ko-KR" altLang="en-US" dirty="0"/>
              <a:t>검색</a:t>
            </a:r>
            <a:endParaRPr lang="en-US" altLang="ko-KR" dirty="0"/>
          </a:p>
          <a:p>
            <a:r>
              <a:rPr lang="ko-KR" altLang="en-US" dirty="0"/>
              <a:t>문제와 목표</a:t>
            </a:r>
            <a:endParaRPr lang="en-US" altLang="ko-KR" dirty="0"/>
          </a:p>
          <a:p>
            <a:pPr lvl="1"/>
            <a:r>
              <a:rPr lang="ko-KR" altLang="en-US" dirty="0"/>
              <a:t>에이전트가 해법의 검색 시작</a:t>
            </a:r>
            <a:r>
              <a:rPr lang="en-US" altLang="ko-KR" dirty="0"/>
              <a:t> ← </a:t>
            </a:r>
            <a:r>
              <a:rPr lang="ko-KR" altLang="en-US" dirty="0"/>
              <a:t>목표가 정해짐</a:t>
            </a:r>
            <a:r>
              <a:rPr lang="en-US" altLang="ko-KR" dirty="0"/>
              <a:t>. </a:t>
            </a:r>
            <a:r>
              <a:rPr lang="ko-KR" altLang="en-US" dirty="0"/>
              <a:t>잘 정의된 문제가 형식화 되어야 함</a:t>
            </a:r>
            <a:endParaRPr lang="en-US" altLang="ko-KR" dirty="0"/>
          </a:p>
          <a:p>
            <a:r>
              <a:rPr lang="ko-KR" altLang="en-US" dirty="0"/>
              <a:t>문제의 구성</a:t>
            </a:r>
            <a:endParaRPr lang="en-US" altLang="ko-KR" dirty="0"/>
          </a:p>
          <a:p>
            <a:pPr lvl="1"/>
            <a:r>
              <a:rPr lang="ko-KR" altLang="en-US" dirty="0"/>
              <a:t>초기상태</a:t>
            </a:r>
            <a:r>
              <a:rPr lang="en-US" altLang="ko-KR" dirty="0"/>
              <a:t>, </a:t>
            </a:r>
            <a:r>
              <a:rPr lang="ko-KR" altLang="en-US" dirty="0"/>
              <a:t>동작의 집합</a:t>
            </a:r>
            <a:r>
              <a:rPr lang="en-US" altLang="ko-KR" dirty="0"/>
              <a:t>, </a:t>
            </a:r>
            <a:r>
              <a:rPr lang="ko-KR" altLang="en-US" dirty="0"/>
              <a:t>동작의 결과를 서술하는 전이모형</a:t>
            </a:r>
            <a:r>
              <a:rPr lang="en-US" altLang="ko-KR" dirty="0"/>
              <a:t>, </a:t>
            </a:r>
            <a:r>
              <a:rPr lang="ko-KR" altLang="en-US" dirty="0"/>
              <a:t>목표 판정함수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경로 비용 함수 구성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문제의 환경 </a:t>
            </a:r>
            <a:r>
              <a:rPr lang="en-US" altLang="ko-KR" dirty="0"/>
              <a:t>→ </a:t>
            </a:r>
            <a:r>
              <a:rPr lang="ko-KR" altLang="en-US" dirty="0"/>
              <a:t>상태공간 표현 </a:t>
            </a:r>
            <a:r>
              <a:rPr lang="en-US" altLang="ko-KR" dirty="0"/>
              <a:t>: </a:t>
            </a:r>
            <a:r>
              <a:rPr lang="ko-KR" altLang="en-US" dirty="0"/>
              <a:t>상태공간에서 초기</a:t>
            </a:r>
            <a:r>
              <a:rPr lang="en-US" altLang="ko-KR" dirty="0"/>
              <a:t>→</a:t>
            </a:r>
            <a:r>
              <a:rPr lang="ko-KR" altLang="en-US" dirty="0"/>
              <a:t>목표 상태로 가는 경로 </a:t>
            </a:r>
            <a:r>
              <a:rPr lang="en-US" altLang="ko-KR" dirty="0"/>
              <a:t>= </a:t>
            </a:r>
            <a:r>
              <a:rPr lang="ko-KR" altLang="en-US" dirty="0"/>
              <a:t>해답</a:t>
            </a:r>
            <a:endParaRPr lang="en-US" altLang="ko-KR" dirty="0"/>
          </a:p>
          <a:p>
            <a:r>
              <a:rPr lang="ko-KR" altLang="en-US" dirty="0"/>
              <a:t>검색 알고리즘 </a:t>
            </a:r>
            <a:r>
              <a:rPr lang="en-US" altLang="ko-KR" dirty="0"/>
              <a:t>:</a:t>
            </a:r>
            <a:r>
              <a:rPr lang="ko-KR" altLang="en-US" dirty="0"/>
              <a:t> 상태와 동작들을 원자적으로 취급</a:t>
            </a:r>
            <a:r>
              <a:rPr lang="en-US" altLang="ko-KR" dirty="0"/>
              <a:t> → </a:t>
            </a:r>
            <a:r>
              <a:rPr lang="ko-KR" altLang="en-US" dirty="0"/>
              <a:t>상태</a:t>
            </a:r>
            <a:r>
              <a:rPr lang="en-US" altLang="ko-KR" dirty="0"/>
              <a:t>/</a:t>
            </a:r>
            <a:r>
              <a:rPr lang="ko-KR" altLang="en-US" dirty="0"/>
              <a:t>동작 안의 내부구조 무시</a:t>
            </a:r>
            <a:endParaRPr lang="en-US" altLang="ko-KR" dirty="0"/>
          </a:p>
          <a:p>
            <a:pPr lvl="1"/>
            <a:r>
              <a:rPr lang="ko-KR" altLang="en-US" dirty="0"/>
              <a:t>범용 </a:t>
            </a:r>
            <a:r>
              <a:rPr lang="en-US" altLang="ko-KR" dirty="0"/>
              <a:t>Tree-Search </a:t>
            </a:r>
            <a:r>
              <a:rPr lang="ko-KR" altLang="en-US" dirty="0"/>
              <a:t>알고리즘 </a:t>
            </a:r>
            <a:r>
              <a:rPr lang="en-US" altLang="ko-KR" dirty="0"/>
              <a:t>: </a:t>
            </a:r>
            <a:r>
              <a:rPr lang="ko-KR" altLang="en-US" dirty="0"/>
              <a:t>모든 가능 경로 고려해 해답 찾는다</a:t>
            </a:r>
            <a:r>
              <a:rPr lang="en-US" altLang="ko-KR" dirty="0"/>
              <a:t>. </a:t>
            </a:r>
            <a:r>
              <a:rPr lang="ko-KR" altLang="en-US" dirty="0"/>
              <a:t>하지만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Graph Search </a:t>
            </a:r>
            <a:r>
              <a:rPr lang="ko-KR" altLang="en-US" dirty="0"/>
              <a:t>알고리즘은 중복 경로의 고려를 피함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검색 알고리즘의 품질 평가 </a:t>
            </a:r>
            <a:r>
              <a:rPr lang="en-US" altLang="ko-KR" dirty="0"/>
              <a:t>: </a:t>
            </a:r>
            <a:r>
              <a:rPr lang="ko-KR" altLang="en-US" dirty="0"/>
              <a:t>완결성</a:t>
            </a:r>
            <a:r>
              <a:rPr lang="en-US" altLang="ko-KR" dirty="0"/>
              <a:t>, </a:t>
            </a:r>
            <a:r>
              <a:rPr lang="ko-KR" altLang="en-US" dirty="0" err="1"/>
              <a:t>최적성</a:t>
            </a:r>
            <a:r>
              <a:rPr lang="en-US" altLang="ko-KR" dirty="0"/>
              <a:t>, </a:t>
            </a:r>
            <a:r>
              <a:rPr lang="ko-KR" altLang="en-US" dirty="0"/>
              <a:t>시간 복잡도</a:t>
            </a:r>
            <a:r>
              <a:rPr lang="en-US" altLang="ko-KR" dirty="0"/>
              <a:t>, </a:t>
            </a:r>
            <a:r>
              <a:rPr lang="ko-KR" altLang="en-US" dirty="0"/>
              <a:t>공간 복잡도</a:t>
            </a:r>
            <a:r>
              <a:rPr lang="en-US" altLang="ko-KR" dirty="0"/>
              <a:t>;</a:t>
            </a:r>
            <a:br>
              <a:rPr lang="en-US" altLang="ko-KR" dirty="0"/>
            </a:br>
            <a:r>
              <a:rPr lang="ko-KR" altLang="en-US" dirty="0"/>
              <a:t>복잡도</a:t>
            </a:r>
            <a:r>
              <a:rPr lang="en-US" altLang="ko-KR" dirty="0"/>
              <a:t> : </a:t>
            </a:r>
            <a:r>
              <a:rPr lang="ko-KR" altLang="en-US" dirty="0"/>
              <a:t>상태 공간의 분기 계수  </a:t>
            </a:r>
            <a:r>
              <a:rPr lang="en-US" altLang="ko-KR" dirty="0"/>
              <a:t>b</a:t>
            </a:r>
            <a:r>
              <a:rPr lang="ko-KR" altLang="en-US" dirty="0"/>
              <a:t>와 가장 얕은 해답의 깊이 </a:t>
            </a:r>
            <a:r>
              <a:rPr lang="en-US" altLang="ko-KR" dirty="0"/>
              <a:t>d</a:t>
            </a:r>
            <a:r>
              <a:rPr lang="ko-KR" altLang="en-US" dirty="0"/>
              <a:t>에 의존</a:t>
            </a:r>
            <a:endParaRPr lang="en-US" altLang="ko-KR" dirty="0"/>
          </a:p>
          <a:p>
            <a:r>
              <a:rPr lang="ko-KR" altLang="en-US" dirty="0"/>
              <a:t>정보 없는 검색 방법 </a:t>
            </a:r>
            <a:r>
              <a:rPr lang="en-US" altLang="ko-KR" dirty="0"/>
              <a:t>: </a:t>
            </a:r>
            <a:r>
              <a:rPr lang="ko-KR" altLang="en-US" dirty="0"/>
              <a:t>문제의 정의에만 접근 </a:t>
            </a:r>
            <a:r>
              <a:rPr lang="en-US" altLang="ko-KR" dirty="0"/>
              <a:t>O</a:t>
            </a:r>
          </a:p>
          <a:p>
            <a:pPr lvl="1"/>
            <a:r>
              <a:rPr lang="ko-KR" altLang="en-US" dirty="0"/>
              <a:t>너비 우선 검색 </a:t>
            </a:r>
            <a:r>
              <a:rPr lang="en-US" altLang="ko-KR" dirty="0"/>
              <a:t>: </a:t>
            </a:r>
            <a:r>
              <a:rPr lang="ko-KR" altLang="en-US" dirty="0"/>
              <a:t>가장 얕은 노드 먼저 확장</a:t>
            </a:r>
            <a:r>
              <a:rPr lang="en-US" altLang="ko-KR" dirty="0"/>
              <a:t>. </a:t>
            </a:r>
            <a:r>
              <a:rPr lang="ko-KR" altLang="en-US" dirty="0" err="1"/>
              <a:t>완결적</a:t>
            </a:r>
            <a:r>
              <a:rPr lang="en-US" altLang="ko-KR" dirty="0"/>
              <a:t>. </a:t>
            </a:r>
            <a:r>
              <a:rPr lang="ko-KR" altLang="en-US" dirty="0"/>
              <a:t>단계비용이 일정</a:t>
            </a:r>
            <a:r>
              <a:rPr lang="en-US" altLang="ko-KR" dirty="0"/>
              <a:t>? → </a:t>
            </a:r>
            <a:r>
              <a:rPr lang="ko-KR" altLang="en-US" dirty="0"/>
              <a:t>최적</a:t>
            </a:r>
            <a:r>
              <a:rPr lang="en-US" altLang="ko-KR" dirty="0"/>
              <a:t>. But,</a:t>
            </a:r>
            <a:br>
              <a:rPr lang="en-US" altLang="ko-KR" dirty="0"/>
            </a:br>
            <a:r>
              <a:rPr lang="ko-KR" altLang="en-US" dirty="0"/>
              <a:t>공간</a:t>
            </a:r>
            <a:r>
              <a:rPr lang="en-US" altLang="ko-KR" dirty="0"/>
              <a:t> </a:t>
            </a:r>
            <a:r>
              <a:rPr lang="ko-KR" altLang="en-US" dirty="0"/>
              <a:t>복잡도가 지수적</a:t>
            </a:r>
            <a:endParaRPr lang="en-US" altLang="ko-KR" dirty="0"/>
          </a:p>
          <a:p>
            <a:pPr lvl="1"/>
            <a:r>
              <a:rPr lang="ko-KR" altLang="en-US" dirty="0"/>
              <a:t>균일 비용 검색 </a:t>
            </a:r>
            <a:r>
              <a:rPr lang="en-US" altLang="ko-KR" dirty="0"/>
              <a:t>: </a:t>
            </a:r>
            <a:r>
              <a:rPr lang="ko-KR" altLang="en-US" dirty="0"/>
              <a:t>경로</a:t>
            </a:r>
            <a:r>
              <a:rPr lang="en-US" altLang="ko-KR" dirty="0"/>
              <a:t> </a:t>
            </a:r>
            <a:r>
              <a:rPr lang="ko-KR" altLang="en-US" dirty="0"/>
              <a:t>비용</a:t>
            </a:r>
            <a:r>
              <a:rPr lang="en-US" altLang="ko-KR" dirty="0"/>
              <a:t> g(n)</a:t>
            </a:r>
            <a:r>
              <a:rPr lang="ko-KR" altLang="en-US" dirty="0"/>
              <a:t> 가장 낮은 노드 확장</a:t>
            </a:r>
            <a:r>
              <a:rPr lang="en-US" altLang="ko-KR" dirty="0"/>
              <a:t>. </a:t>
            </a:r>
            <a:r>
              <a:rPr lang="ko-KR" altLang="en-US" dirty="0"/>
              <a:t>일반적 단계 비용에 대해 최적</a:t>
            </a:r>
            <a:endParaRPr lang="en-US" altLang="ko-KR" dirty="0"/>
          </a:p>
          <a:p>
            <a:pPr lvl="1"/>
            <a:r>
              <a:rPr lang="ko-KR" altLang="en-US" dirty="0"/>
              <a:t>깊이 우선 검색 </a:t>
            </a:r>
            <a:r>
              <a:rPr lang="en-US" altLang="ko-KR" dirty="0"/>
              <a:t>: </a:t>
            </a:r>
            <a:r>
              <a:rPr lang="ko-KR" altLang="en-US" dirty="0"/>
              <a:t>아직 확장</a:t>
            </a:r>
            <a:r>
              <a:rPr lang="en-US" altLang="ko-KR" dirty="0"/>
              <a:t>X</a:t>
            </a:r>
            <a:r>
              <a:rPr lang="ko-KR" altLang="en-US" dirty="0"/>
              <a:t>인 가장 깊은 노드 확장</a:t>
            </a:r>
            <a:r>
              <a:rPr lang="en-US" altLang="ko-KR" dirty="0"/>
              <a:t>. </a:t>
            </a:r>
            <a:r>
              <a:rPr lang="ko-KR" altLang="en-US" dirty="0" err="1"/>
              <a:t>완결적</a:t>
            </a:r>
            <a:r>
              <a:rPr lang="en-US" altLang="ko-KR" dirty="0"/>
              <a:t>X, </a:t>
            </a:r>
            <a:r>
              <a:rPr lang="ko-KR" altLang="en-US" dirty="0"/>
              <a:t>최적</a:t>
            </a:r>
            <a:r>
              <a:rPr lang="en-US" altLang="ko-KR" dirty="0"/>
              <a:t>X. but, </a:t>
            </a:r>
            <a:br>
              <a:rPr lang="en-US" altLang="ko-KR" dirty="0"/>
            </a:br>
            <a:r>
              <a:rPr lang="ko-KR" altLang="en-US" dirty="0" err="1"/>
              <a:t>공간복잡도가</a:t>
            </a:r>
            <a:r>
              <a:rPr lang="ko-KR" altLang="en-US" dirty="0"/>
              <a:t> 선형</a:t>
            </a:r>
            <a:r>
              <a:rPr lang="en-US" altLang="ko-KR" dirty="0"/>
              <a:t>. </a:t>
            </a:r>
            <a:r>
              <a:rPr lang="ko-KR" altLang="en-US" dirty="0"/>
              <a:t>깊이 제한 검색 </a:t>
            </a:r>
            <a:r>
              <a:rPr lang="en-US" altLang="ko-KR" dirty="0"/>
              <a:t>→ </a:t>
            </a:r>
            <a:r>
              <a:rPr lang="ko-KR" altLang="en-US" dirty="0"/>
              <a:t>깊이 한계를 추가</a:t>
            </a:r>
            <a:endParaRPr lang="en-US" altLang="ko-KR" dirty="0"/>
          </a:p>
          <a:p>
            <a:pPr lvl="1"/>
            <a:r>
              <a:rPr lang="ko-KR" altLang="en-US" dirty="0"/>
              <a:t>반복 심화 검색 </a:t>
            </a:r>
            <a:r>
              <a:rPr lang="en-US" altLang="ko-KR" dirty="0"/>
              <a:t>: </a:t>
            </a:r>
            <a:r>
              <a:rPr lang="ko-KR" altLang="en-US" dirty="0"/>
              <a:t>목표가 나올 때 까지 깊이 한계 추가</a:t>
            </a:r>
            <a:r>
              <a:rPr lang="en-US" altLang="ko-KR" dirty="0"/>
              <a:t>. </a:t>
            </a:r>
            <a:r>
              <a:rPr lang="ko-KR" altLang="en-US" dirty="0"/>
              <a:t>깊이 우선 탐색 호출</a:t>
            </a:r>
            <a:r>
              <a:rPr lang="en-US" altLang="ko-KR" dirty="0"/>
              <a:t>. </a:t>
            </a:r>
            <a:r>
              <a:rPr lang="ko-KR" altLang="en-US" dirty="0" err="1"/>
              <a:t>완결적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단계비용이 일정 </a:t>
            </a:r>
            <a:r>
              <a:rPr lang="en-US" altLang="ko-KR" dirty="0"/>
              <a:t>→ </a:t>
            </a:r>
            <a:r>
              <a:rPr lang="ko-KR" altLang="en-US" dirty="0"/>
              <a:t>최적</a:t>
            </a:r>
            <a:r>
              <a:rPr lang="en-US" altLang="ko-KR" dirty="0"/>
              <a:t>. </a:t>
            </a:r>
            <a:r>
              <a:rPr lang="ko-KR" altLang="en-US" dirty="0"/>
              <a:t>시간 복잡도 너비 우선검색과 유사</a:t>
            </a:r>
            <a:r>
              <a:rPr lang="en-US" altLang="ko-KR" dirty="0"/>
              <a:t>. </a:t>
            </a:r>
            <a:r>
              <a:rPr lang="ko-KR" altLang="en-US" dirty="0" err="1"/>
              <a:t>공간복잡도</a:t>
            </a:r>
            <a:r>
              <a:rPr lang="ko-KR" altLang="en-US" dirty="0"/>
              <a:t> 선형</a:t>
            </a:r>
            <a:endParaRPr lang="en-US" altLang="ko-KR" dirty="0"/>
          </a:p>
          <a:p>
            <a:pPr lvl="1"/>
            <a:r>
              <a:rPr lang="ko-KR" altLang="en-US" dirty="0"/>
              <a:t>양방향 검색 </a:t>
            </a:r>
            <a:r>
              <a:rPr lang="en-US" altLang="ko-KR" dirty="0"/>
              <a:t>: </a:t>
            </a:r>
            <a:r>
              <a:rPr lang="ko-KR" altLang="en-US" dirty="0"/>
              <a:t>시간 복잡도를 크게</a:t>
            </a:r>
            <a:r>
              <a:rPr lang="en-US" altLang="ko-KR" dirty="0"/>
              <a:t>↓O. but, </a:t>
            </a:r>
            <a:r>
              <a:rPr lang="ko-KR" altLang="en-US" dirty="0"/>
              <a:t>항상 적용</a:t>
            </a:r>
            <a:r>
              <a:rPr lang="en-US" altLang="ko-KR" dirty="0"/>
              <a:t>X. </a:t>
            </a:r>
            <a:r>
              <a:rPr lang="ko-KR" altLang="en-US" dirty="0"/>
              <a:t>공간이</a:t>
            </a:r>
            <a:r>
              <a:rPr lang="en-US" altLang="ko-KR" dirty="0"/>
              <a:t> </a:t>
            </a:r>
            <a:r>
              <a:rPr lang="ko-KR" altLang="en-US" dirty="0"/>
              <a:t>너무 많이 필요</a:t>
            </a:r>
            <a:endParaRPr lang="en-US" altLang="ko-KR" dirty="0"/>
          </a:p>
          <a:p>
            <a:r>
              <a:rPr lang="ko-KR" altLang="en-US" dirty="0"/>
              <a:t>정보 있는 검색 방법 </a:t>
            </a:r>
            <a:r>
              <a:rPr lang="en-US" altLang="ko-KR" dirty="0"/>
              <a:t>: n</a:t>
            </a:r>
            <a:r>
              <a:rPr lang="ko-KR" altLang="en-US" dirty="0"/>
              <a:t>에서</a:t>
            </a:r>
            <a:r>
              <a:rPr lang="en-US" altLang="ko-KR" dirty="0"/>
              <a:t> </a:t>
            </a:r>
            <a:r>
              <a:rPr lang="ko-KR" altLang="en-US" dirty="0"/>
              <a:t>해답으로 비용을 추정하는 </a:t>
            </a:r>
            <a:r>
              <a:rPr lang="ko-KR" altLang="en-US" dirty="0" err="1"/>
              <a:t>발견법적</a:t>
            </a:r>
            <a:r>
              <a:rPr lang="ko-KR" altLang="en-US" dirty="0"/>
              <a:t> 함수 </a:t>
            </a:r>
            <a:r>
              <a:rPr lang="en-US" altLang="ko-KR" dirty="0"/>
              <a:t>h(n)</a:t>
            </a:r>
            <a:r>
              <a:rPr lang="ko-KR" altLang="en-US" dirty="0"/>
              <a:t>에 접근</a:t>
            </a:r>
            <a:r>
              <a:rPr lang="en-US" altLang="ko-KR" dirty="0"/>
              <a:t>O</a:t>
            </a:r>
          </a:p>
          <a:p>
            <a:pPr lvl="1"/>
            <a:r>
              <a:rPr lang="ko-KR" altLang="en-US" dirty="0"/>
              <a:t>최선</a:t>
            </a:r>
            <a:r>
              <a:rPr lang="en-US" altLang="ko-KR" dirty="0"/>
              <a:t> </a:t>
            </a:r>
            <a:r>
              <a:rPr lang="ko-KR" altLang="en-US" dirty="0"/>
              <a:t>우선 검색 알고리즘 </a:t>
            </a:r>
            <a:r>
              <a:rPr lang="en-US" altLang="ko-KR" dirty="0"/>
              <a:t>: </a:t>
            </a:r>
            <a:r>
              <a:rPr lang="ko-KR" altLang="en-US" dirty="0"/>
              <a:t>평가 함수에 기초</a:t>
            </a:r>
            <a:r>
              <a:rPr lang="en-US" altLang="ko-KR" dirty="0"/>
              <a:t>. </a:t>
            </a:r>
            <a:r>
              <a:rPr lang="ko-KR" altLang="en-US" dirty="0"/>
              <a:t>노드 선택</a:t>
            </a:r>
            <a:endParaRPr lang="en-US" altLang="ko-KR" dirty="0"/>
          </a:p>
          <a:p>
            <a:pPr lvl="1"/>
            <a:r>
              <a:rPr lang="ko-KR" altLang="en-US" dirty="0"/>
              <a:t>탐욕적 최선 우선 검색 </a:t>
            </a:r>
            <a:r>
              <a:rPr lang="en-US" altLang="ko-KR" dirty="0"/>
              <a:t>: h(n)</a:t>
            </a:r>
            <a:r>
              <a:rPr lang="ko-KR" altLang="en-US" dirty="0"/>
              <a:t>이 최소인 노드 확장</a:t>
            </a:r>
            <a:r>
              <a:rPr lang="en-US" altLang="ko-KR" dirty="0"/>
              <a:t>. </a:t>
            </a:r>
            <a:r>
              <a:rPr lang="ko-KR" altLang="en-US" dirty="0"/>
              <a:t>최적은</a:t>
            </a:r>
            <a:r>
              <a:rPr lang="en-US" altLang="ko-KR" dirty="0"/>
              <a:t>X, </a:t>
            </a:r>
            <a:r>
              <a:rPr lang="ko-KR" altLang="en-US" dirty="0"/>
              <a:t>효율적인</a:t>
            </a:r>
            <a:r>
              <a:rPr lang="en-US" altLang="ko-KR" dirty="0"/>
              <a:t> </a:t>
            </a:r>
            <a:r>
              <a:rPr lang="ko-KR" altLang="en-US" dirty="0"/>
              <a:t>경우</a:t>
            </a:r>
            <a:r>
              <a:rPr lang="en-US" altLang="ko-KR" dirty="0"/>
              <a:t>O</a:t>
            </a:r>
          </a:p>
          <a:p>
            <a:pPr lvl="1"/>
            <a:r>
              <a:rPr lang="en-US" altLang="ko-KR" dirty="0"/>
              <a:t>A* </a:t>
            </a:r>
            <a:r>
              <a:rPr lang="ko-KR" altLang="en-US" dirty="0"/>
              <a:t>검색 </a:t>
            </a:r>
            <a:r>
              <a:rPr lang="en-US" altLang="ko-KR" dirty="0"/>
              <a:t>: f(n)=g(n)+h(n)</a:t>
            </a:r>
            <a:r>
              <a:rPr lang="ko-KR" altLang="en-US" dirty="0"/>
              <a:t>이 최소인 노드 확장</a:t>
            </a:r>
            <a:r>
              <a:rPr lang="en-US" altLang="ko-KR" dirty="0"/>
              <a:t>. A*</a:t>
            </a:r>
            <a:r>
              <a:rPr lang="ko-KR" altLang="en-US" dirty="0"/>
              <a:t>는 </a:t>
            </a:r>
            <a:r>
              <a:rPr lang="en-US" altLang="ko-KR" dirty="0"/>
              <a:t>h(n)</a:t>
            </a:r>
            <a:r>
              <a:rPr lang="ko-KR" altLang="en-US" dirty="0"/>
              <a:t>이 허용</a:t>
            </a:r>
            <a:r>
              <a:rPr lang="en-US" altLang="ko-KR" dirty="0"/>
              <a:t>O(</a:t>
            </a:r>
            <a:r>
              <a:rPr lang="ko-KR" altLang="en-US" dirty="0"/>
              <a:t>트리 탐색</a:t>
            </a:r>
            <a:r>
              <a:rPr lang="en-US" altLang="ko-KR" dirty="0"/>
              <a:t>), </a:t>
            </a:r>
            <a:r>
              <a:rPr lang="ko-KR" altLang="en-US" dirty="0"/>
              <a:t>혹은 </a:t>
            </a:r>
            <a:br>
              <a:rPr lang="en-US" altLang="ko-KR" dirty="0"/>
            </a:br>
            <a:r>
              <a:rPr lang="ko-KR" altLang="en-US" dirty="0"/>
              <a:t>일관적일 때</a:t>
            </a:r>
            <a:r>
              <a:rPr lang="en-US" altLang="ko-KR" dirty="0"/>
              <a:t>(</a:t>
            </a:r>
            <a:r>
              <a:rPr lang="ko-KR" altLang="en-US" dirty="0"/>
              <a:t>그래프 탐색</a:t>
            </a:r>
            <a:r>
              <a:rPr lang="en-US" altLang="ko-KR" dirty="0"/>
              <a:t>) </a:t>
            </a:r>
            <a:r>
              <a:rPr lang="ko-KR" altLang="en-US" dirty="0" err="1"/>
              <a:t>완결적</a:t>
            </a:r>
            <a:r>
              <a:rPr lang="en-US" altLang="ko-KR" dirty="0"/>
              <a:t>, </a:t>
            </a:r>
            <a:r>
              <a:rPr lang="ko-KR" altLang="en-US" dirty="0"/>
              <a:t>최적이다</a:t>
            </a:r>
            <a:r>
              <a:rPr lang="en-US" altLang="ko-KR" dirty="0"/>
              <a:t>. But, </a:t>
            </a:r>
            <a:r>
              <a:rPr lang="ko-KR" altLang="en-US" dirty="0" err="1"/>
              <a:t>공간복잡도는</a:t>
            </a:r>
            <a:r>
              <a:rPr lang="ko-KR" altLang="en-US" dirty="0"/>
              <a:t> 비실용적</a:t>
            </a:r>
            <a:endParaRPr lang="en-US" altLang="ko-KR" dirty="0"/>
          </a:p>
          <a:p>
            <a:pPr lvl="1"/>
            <a:r>
              <a:rPr lang="en-US" altLang="ko-KR" dirty="0"/>
              <a:t>RBFS(</a:t>
            </a:r>
            <a:r>
              <a:rPr lang="ko-KR" altLang="en-US" dirty="0"/>
              <a:t>재귀적 우선 검색</a:t>
            </a:r>
            <a:r>
              <a:rPr lang="en-US" altLang="ko-KR" dirty="0"/>
              <a:t>), SMA(</a:t>
            </a:r>
            <a:r>
              <a:rPr lang="ko-KR" altLang="en-US" dirty="0"/>
              <a:t>단순화된 메모리 제한 검색</a:t>
            </a:r>
            <a:r>
              <a:rPr lang="en-US" altLang="ko-KR" dirty="0"/>
              <a:t>) : </a:t>
            </a:r>
            <a:r>
              <a:rPr lang="ko-KR" altLang="en-US" dirty="0"/>
              <a:t>안정적</a:t>
            </a:r>
            <a:r>
              <a:rPr lang="en-US" altLang="ko-KR" dirty="0"/>
              <a:t>, </a:t>
            </a:r>
            <a:r>
              <a:rPr lang="ko-KR" altLang="en-US" dirty="0" err="1"/>
              <a:t>최적성</a:t>
            </a:r>
            <a:r>
              <a:rPr lang="en-US" altLang="ko-KR" dirty="0"/>
              <a:t>O,</a:t>
            </a:r>
            <a:br>
              <a:rPr lang="en-US" altLang="ko-KR" dirty="0"/>
            </a:br>
            <a:r>
              <a:rPr lang="ko-KR" altLang="en-US" dirty="0"/>
              <a:t>제한된 메모리 사용</a:t>
            </a:r>
            <a:r>
              <a:rPr lang="en-US" altLang="ko-KR" dirty="0"/>
              <a:t>. </a:t>
            </a:r>
            <a:r>
              <a:rPr lang="ko-KR" altLang="en-US" dirty="0"/>
              <a:t>시간</a:t>
            </a:r>
            <a:r>
              <a:rPr lang="en-US" altLang="ko-KR" dirty="0"/>
              <a:t>↑↑</a:t>
            </a:r>
            <a:r>
              <a:rPr lang="ko-KR" altLang="en-US" dirty="0"/>
              <a:t> </a:t>
            </a:r>
            <a:r>
              <a:rPr lang="en-US" altLang="ko-KR" dirty="0"/>
              <a:t>→</a:t>
            </a:r>
            <a:r>
              <a:rPr lang="ko-KR" altLang="en-US" dirty="0"/>
              <a:t> </a:t>
            </a:r>
            <a:r>
              <a:rPr lang="en-US" altLang="ko-KR" dirty="0"/>
              <a:t>A*</a:t>
            </a:r>
            <a:r>
              <a:rPr lang="ko-KR" altLang="en-US" dirty="0"/>
              <a:t> 가 메모리 부족 땜에 풀지 못한 문제들 풀 수 </a:t>
            </a:r>
            <a:r>
              <a:rPr lang="en-US" altLang="ko-KR" dirty="0"/>
              <a:t>O</a:t>
            </a:r>
          </a:p>
          <a:p>
            <a:r>
              <a:rPr lang="ko-KR" altLang="en-US" dirty="0" err="1"/>
              <a:t>발견법적</a:t>
            </a:r>
            <a:r>
              <a:rPr lang="ko-KR" altLang="en-US" dirty="0"/>
              <a:t> 검색 알고리즘의 성능 </a:t>
            </a:r>
            <a:r>
              <a:rPr lang="en-US" altLang="ko-KR" dirty="0"/>
              <a:t>: </a:t>
            </a:r>
            <a:r>
              <a:rPr lang="ko-KR" altLang="en-US" dirty="0" err="1"/>
              <a:t>발견법적</a:t>
            </a:r>
            <a:r>
              <a:rPr lang="ko-KR" altLang="en-US" dirty="0"/>
              <a:t> 함수의 품질에 의존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문제의 정의 환화</a:t>
            </a:r>
            <a:r>
              <a:rPr lang="en-US" altLang="ko-KR" dirty="0"/>
              <a:t>, </a:t>
            </a:r>
            <a:r>
              <a:rPr lang="ko-KR" altLang="en-US" dirty="0"/>
              <a:t>부분 문제의 해답 비용들을 미리 계산해 패턴 </a:t>
            </a:r>
            <a:r>
              <a:rPr lang="en-US" altLang="ko-KR" dirty="0"/>
              <a:t>DB</a:t>
            </a:r>
            <a:r>
              <a:rPr lang="ko-KR" altLang="en-US" dirty="0"/>
              <a:t>에 저장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문제 부류에서의 경험으로 부터 배움 으로 좋은 </a:t>
            </a:r>
            <a:r>
              <a:rPr lang="ko-KR" altLang="en-US" dirty="0" err="1"/>
              <a:t>발견법적</a:t>
            </a:r>
            <a:r>
              <a:rPr lang="ko-KR" altLang="en-US" dirty="0"/>
              <a:t> 함수 구축할 수 </a:t>
            </a:r>
            <a:r>
              <a:rPr lang="en-US" altLang="ko-KR" dirty="0"/>
              <a:t>O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E7D2DED-A196-2D3B-D472-BEDA52D06D96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ko-KR" altLang="en-US" dirty="0"/>
              <a:t>값이 알려지지 않은 직접적 옵션이 여러 개 </a:t>
            </a:r>
            <a:r>
              <a:rPr lang="en-US" altLang="ko-KR" dirty="0"/>
              <a:t>O→ </a:t>
            </a:r>
            <a:r>
              <a:rPr lang="ko-KR" altLang="en-US" dirty="0"/>
              <a:t>에이전트는 궁극적으로 값이 알려진 상태로 이어지는 향후 동작들을 먼저 조사 </a:t>
            </a:r>
            <a:r>
              <a:rPr lang="en-US" altLang="ko-KR" dirty="0"/>
              <a:t>→ </a:t>
            </a:r>
            <a:r>
              <a:rPr lang="ko-KR" altLang="en-US" dirty="0"/>
              <a:t>다음 동작 결정</a:t>
            </a:r>
            <a:r>
              <a:rPr lang="en-US" altLang="ko-KR" dirty="0"/>
              <a:t>O</a:t>
            </a:r>
          </a:p>
          <a:p>
            <a:r>
              <a:rPr lang="ko-KR" altLang="en-US" dirty="0"/>
              <a:t>환경이</a:t>
            </a:r>
            <a:r>
              <a:rPr lang="en-US" altLang="ko-KR" dirty="0"/>
              <a:t> </a:t>
            </a:r>
            <a:r>
              <a:rPr lang="ko-KR" altLang="en-US" dirty="0"/>
              <a:t>관찰가능</a:t>
            </a:r>
            <a:r>
              <a:rPr lang="en-US" altLang="ko-KR" dirty="0"/>
              <a:t>. </a:t>
            </a:r>
            <a:r>
              <a:rPr lang="ko-KR" altLang="en-US" dirty="0"/>
              <a:t>이산적</a:t>
            </a:r>
            <a:r>
              <a:rPr lang="en-US" altLang="ko-KR" dirty="0"/>
              <a:t>, </a:t>
            </a:r>
            <a:r>
              <a:rPr lang="ko-KR" altLang="en-US" dirty="0"/>
              <a:t>기지</a:t>
            </a:r>
            <a:r>
              <a:rPr lang="en-US" altLang="ko-KR" dirty="0"/>
              <a:t>(Known, </a:t>
            </a:r>
            <a:r>
              <a:rPr lang="ko-KR" altLang="en-US" dirty="0"/>
              <a:t>동작의 결과로 도달하는 상태들을 암</a:t>
            </a:r>
            <a:r>
              <a:rPr lang="en-US" altLang="ko-KR" dirty="0"/>
              <a:t>), </a:t>
            </a:r>
            <a:r>
              <a:rPr lang="ko-KR" altLang="en-US" dirty="0"/>
              <a:t>결정론적</a:t>
            </a:r>
            <a:r>
              <a:rPr lang="en-US" altLang="ko-KR" dirty="0"/>
              <a:t>(</a:t>
            </a:r>
            <a:r>
              <a:rPr lang="ko-KR" altLang="en-US" dirty="0"/>
              <a:t>각 동작의 결과들은 </a:t>
            </a:r>
            <a:r>
              <a:rPr lang="en-US" altLang="ko-KR" dirty="0"/>
              <a:t>1</a:t>
            </a:r>
            <a:r>
              <a:rPr lang="ko-KR" altLang="en-US" dirty="0"/>
              <a:t>개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→ </a:t>
            </a:r>
            <a:r>
              <a:rPr lang="ko-KR" altLang="en-US" dirty="0"/>
              <a:t>임의의 문제에 대한 해답은 동작들의 고정된 </a:t>
            </a:r>
            <a:r>
              <a:rPr lang="ko-KR" altLang="en-US" dirty="0" err="1"/>
              <a:t>순차열</a:t>
            </a:r>
            <a:r>
              <a:rPr lang="en-US" altLang="ko-KR" dirty="0"/>
              <a:t>(</a:t>
            </a:r>
            <a:r>
              <a:rPr lang="ko-KR" altLang="en-US" dirty="0"/>
              <a:t>고정 </a:t>
            </a:r>
            <a:r>
              <a:rPr lang="ko-KR" altLang="en-US" dirty="0" err="1"/>
              <a:t>동작열</a:t>
            </a:r>
            <a:r>
              <a:rPr lang="en-US" altLang="ko-KR" dirty="0"/>
              <a:t>) 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155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97F123B-2C01-2C36-EAFB-146050A555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6A67AA3-9AE9-FB2F-ECD4-CE0FE818D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챕터</a:t>
            </a:r>
            <a:r>
              <a:rPr lang="en-US" altLang="ko-KR" dirty="0"/>
              <a:t>4 </a:t>
            </a:r>
            <a:r>
              <a:rPr lang="ko-KR" altLang="en-US" dirty="0"/>
              <a:t>고급 검색 기법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0F8619-A39E-C261-7F82-6231F44E6A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2D7F783-64D8-9F7E-A9E9-F92C5EE61CC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챕터 핵심 </a:t>
            </a:r>
            <a:r>
              <a:rPr lang="en-US" altLang="ko-KR" dirty="0"/>
              <a:t>: </a:t>
            </a:r>
            <a:r>
              <a:rPr lang="ko-KR" altLang="en-US" dirty="0"/>
              <a:t>관찰</a:t>
            </a:r>
            <a:r>
              <a:rPr lang="en-US" altLang="ko-KR" dirty="0"/>
              <a:t>O, </a:t>
            </a:r>
            <a:r>
              <a:rPr lang="ko-KR" altLang="en-US" dirty="0"/>
              <a:t>결정론적</a:t>
            </a:r>
            <a:r>
              <a:rPr lang="en-US" altLang="ko-KR" dirty="0"/>
              <a:t>, </a:t>
            </a:r>
            <a:r>
              <a:rPr lang="ko-KR" altLang="en-US" dirty="0"/>
              <a:t>이산적 환경에서 목표로의 최단경로를 찾는 </a:t>
            </a:r>
            <a:r>
              <a:rPr lang="en-US" altLang="ko-KR" dirty="0"/>
              <a:t>'</a:t>
            </a:r>
            <a:r>
              <a:rPr lang="ko-KR" altLang="en-US" dirty="0"/>
              <a:t>고전적</a:t>
            </a:r>
            <a:r>
              <a:rPr lang="en-US" altLang="ko-KR" dirty="0"/>
              <a:t>'</a:t>
            </a:r>
            <a:r>
              <a:rPr lang="ko-KR" altLang="en-US" dirty="0"/>
              <a:t>방법을 벗어난 문제들을 위한 검색 알고리즘</a:t>
            </a:r>
            <a:endParaRPr lang="en-US" altLang="ko-KR" dirty="0"/>
          </a:p>
          <a:p>
            <a:r>
              <a:rPr lang="ko-KR" altLang="en-US" dirty="0"/>
              <a:t>국소 검색 </a:t>
            </a:r>
            <a:r>
              <a:rPr lang="en-US" altLang="ko-KR" dirty="0"/>
              <a:t>: </a:t>
            </a:r>
            <a:r>
              <a:rPr lang="ko-KR" altLang="en-US" dirty="0"/>
              <a:t>언덕 오르기 같은 완전 상태 형식화에 대해 작동</a:t>
            </a:r>
            <a:r>
              <a:rPr lang="en-US" altLang="ko-KR" dirty="0"/>
              <a:t>. </a:t>
            </a:r>
            <a:r>
              <a:rPr lang="ko-KR" altLang="en-US" dirty="0"/>
              <a:t>메모리엔 적은 노드</a:t>
            </a:r>
            <a:r>
              <a:rPr lang="en-US" altLang="ko-KR" dirty="0"/>
              <a:t>O</a:t>
            </a:r>
          </a:p>
          <a:p>
            <a:pPr lvl="1"/>
            <a:r>
              <a:rPr lang="ko-KR" altLang="en-US" dirty="0"/>
              <a:t>모의</a:t>
            </a:r>
            <a:r>
              <a:rPr lang="en-US" altLang="ko-KR" dirty="0"/>
              <a:t> </a:t>
            </a:r>
            <a:r>
              <a:rPr lang="ko-KR" altLang="en-US" dirty="0"/>
              <a:t>정련 </a:t>
            </a:r>
            <a:r>
              <a:rPr lang="en-US" altLang="ko-KR" dirty="0"/>
              <a:t>: </a:t>
            </a:r>
            <a:r>
              <a:rPr lang="ko-KR" altLang="en-US" dirty="0"/>
              <a:t>적절한 냉각 일정이 주어진다면 최적해를 돌려준다</a:t>
            </a:r>
            <a:endParaRPr lang="en-US" altLang="ko-KR" dirty="0"/>
          </a:p>
          <a:p>
            <a:r>
              <a:rPr lang="ko-KR" altLang="en-US" dirty="0"/>
              <a:t>연속공간 문제에서 국소 검색 방법</a:t>
            </a:r>
            <a:endParaRPr lang="en-US" altLang="ko-KR" dirty="0"/>
          </a:p>
          <a:p>
            <a:pPr lvl="1"/>
            <a:r>
              <a:rPr lang="ko-KR" altLang="en-US" dirty="0"/>
              <a:t>선형계획법</a:t>
            </a:r>
            <a:r>
              <a:rPr lang="en-US" altLang="ko-KR" dirty="0"/>
              <a:t>, </a:t>
            </a:r>
            <a:r>
              <a:rPr lang="ko-KR" altLang="en-US" dirty="0" err="1"/>
              <a:t>볼록최적화</a:t>
            </a:r>
            <a:r>
              <a:rPr lang="ko-KR" altLang="en-US" dirty="0"/>
              <a:t> 문제 </a:t>
            </a:r>
            <a:r>
              <a:rPr lang="en-US" altLang="ko-KR" dirty="0"/>
              <a:t>: </a:t>
            </a:r>
            <a:r>
              <a:rPr lang="ko-KR" altLang="en-US" dirty="0"/>
              <a:t>상태공간의 형태와 목적함수의 성격에 일정한 제약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실제 응용에서 다항식 시간 알고리즘 가능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유전 알고리즘 </a:t>
            </a:r>
            <a:r>
              <a:rPr lang="en-US" altLang="ko-KR" dirty="0"/>
              <a:t>: </a:t>
            </a:r>
            <a:r>
              <a:rPr lang="ko-KR" altLang="en-US" dirty="0"/>
              <a:t>많은 상태들로 이루어진 군집이 유지되는 환경에 대한 확률론적 언덕 오르기 검색 알고리즘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새 상태는 변이와 교차에 의해 생성</a:t>
            </a:r>
            <a:r>
              <a:rPr lang="en-US" altLang="ko-KR" dirty="0"/>
              <a:t>. </a:t>
            </a:r>
            <a:r>
              <a:rPr lang="ko-KR" altLang="en-US" dirty="0"/>
              <a:t>교차는 군집의 두 상태의 쌍을 결합하는 효과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비결정론적</a:t>
            </a:r>
            <a:r>
              <a:rPr lang="ko-KR" altLang="en-US" dirty="0"/>
              <a:t> 환경 </a:t>
            </a:r>
            <a:r>
              <a:rPr lang="en-US" altLang="ko-KR" dirty="0"/>
              <a:t>: </a:t>
            </a:r>
            <a:r>
              <a:rPr lang="ko-KR" altLang="en-US" dirty="0"/>
              <a:t>에이전트가 </a:t>
            </a:r>
            <a:r>
              <a:rPr lang="en-US" altLang="ko-KR" dirty="0"/>
              <a:t>And-Or </a:t>
            </a:r>
            <a:r>
              <a:rPr lang="ko-KR" altLang="en-US" dirty="0"/>
              <a:t>검색</a:t>
            </a:r>
            <a:r>
              <a:rPr lang="en-US" altLang="ko-KR" dirty="0"/>
              <a:t>→ </a:t>
            </a:r>
            <a:r>
              <a:rPr lang="ko-KR" altLang="en-US" dirty="0" err="1"/>
              <a:t>실행중</a:t>
            </a:r>
            <a:r>
              <a:rPr lang="ko-KR" altLang="en-US" dirty="0"/>
              <a:t> 어떤 결과가 발생하더라도 목표에 도달</a:t>
            </a:r>
            <a:r>
              <a:rPr lang="en-US" altLang="ko-KR" dirty="0"/>
              <a:t>O</a:t>
            </a:r>
            <a:r>
              <a:rPr lang="ko-KR" altLang="en-US" dirty="0"/>
              <a:t>인 우발적 계획 생성</a:t>
            </a:r>
            <a:r>
              <a:rPr lang="en-US" altLang="ko-KR" dirty="0"/>
              <a:t>O</a:t>
            </a:r>
          </a:p>
          <a:p>
            <a:r>
              <a:rPr lang="ko-KR" altLang="en-US" dirty="0"/>
              <a:t>믿음 상태 </a:t>
            </a:r>
            <a:r>
              <a:rPr lang="en-US" altLang="ko-KR" dirty="0"/>
              <a:t>: </a:t>
            </a:r>
            <a:r>
              <a:rPr lang="ko-KR" altLang="en-US" dirty="0"/>
              <a:t>부분 관찰 가능 환경에서 에이전트가 처할 수 있는 일단의 상태들</a:t>
            </a:r>
            <a:endParaRPr lang="en-US" altLang="ko-KR" dirty="0"/>
          </a:p>
          <a:p>
            <a:r>
              <a:rPr lang="ko-KR" altLang="en-US" dirty="0"/>
              <a:t>무감지기 문제 </a:t>
            </a:r>
            <a:r>
              <a:rPr lang="en-US" altLang="ko-KR" dirty="0"/>
              <a:t>: </a:t>
            </a:r>
            <a:r>
              <a:rPr lang="ko-KR" altLang="en-US" dirty="0"/>
              <a:t>표준 검색 알고리즘을 믿음 상태에 직접 적용</a:t>
            </a:r>
            <a:r>
              <a:rPr lang="en-US" altLang="ko-KR" dirty="0"/>
              <a:t>. </a:t>
            </a:r>
          </a:p>
          <a:p>
            <a:pPr lvl="1"/>
            <a:r>
              <a:rPr lang="ko-KR" altLang="en-US" dirty="0"/>
              <a:t>믿음 상태 </a:t>
            </a:r>
            <a:r>
              <a:rPr lang="en-US" altLang="ko-KR" dirty="0"/>
              <a:t>and-or </a:t>
            </a:r>
            <a:r>
              <a:rPr lang="ko-KR" altLang="en-US" dirty="0"/>
              <a:t>검색으론 일반적인 부분 관찰 가능 문제를 풀 수 </a:t>
            </a:r>
            <a:r>
              <a:rPr lang="en-US" altLang="ko-KR" dirty="0"/>
              <a:t>O. </a:t>
            </a:r>
            <a:br>
              <a:rPr lang="en-US" altLang="ko-KR" dirty="0"/>
            </a:br>
            <a:r>
              <a:rPr lang="ko-KR" altLang="en-US" dirty="0"/>
              <a:t>믿음 상태 안에서 해답을 상태별로 구축하는 점진적 알고리즘이 더 효율적 경우</a:t>
            </a:r>
            <a:r>
              <a:rPr lang="en-US" altLang="ko-KR" dirty="0"/>
              <a:t>↑↑</a:t>
            </a:r>
          </a:p>
          <a:p>
            <a:r>
              <a:rPr lang="ko-KR" altLang="en-US" dirty="0"/>
              <a:t>탐험 문제 </a:t>
            </a:r>
            <a:r>
              <a:rPr lang="en-US" altLang="ko-KR" dirty="0"/>
              <a:t>: </a:t>
            </a:r>
            <a:r>
              <a:rPr lang="ko-KR" altLang="en-US" dirty="0"/>
              <a:t>환경에서 어떤 상태</a:t>
            </a:r>
            <a:r>
              <a:rPr lang="en-US" altLang="ko-KR" dirty="0"/>
              <a:t>/</a:t>
            </a:r>
            <a:r>
              <a:rPr lang="ko-KR" altLang="en-US" dirty="0"/>
              <a:t>동작이 </a:t>
            </a:r>
            <a:r>
              <a:rPr lang="en-US" altLang="ko-KR" dirty="0"/>
              <a:t>O </a:t>
            </a:r>
            <a:r>
              <a:rPr lang="ko-KR" altLang="en-US" dirty="0"/>
              <a:t>인지</a:t>
            </a:r>
            <a:r>
              <a:rPr lang="en-US" altLang="ko-KR" dirty="0"/>
              <a:t> </a:t>
            </a:r>
            <a:r>
              <a:rPr lang="ko-KR" altLang="en-US" dirty="0"/>
              <a:t>에이전트가 전혀 모를 때 발생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온라인 검색 에이전트 </a:t>
            </a:r>
            <a:r>
              <a:rPr lang="en-US" altLang="ko-KR" dirty="0"/>
              <a:t>: </a:t>
            </a:r>
            <a:r>
              <a:rPr lang="ko-KR" altLang="en-US" dirty="0"/>
              <a:t>안전하게 탐색</a:t>
            </a:r>
            <a:r>
              <a:rPr lang="en-US" altLang="ko-KR" dirty="0"/>
              <a:t>O </a:t>
            </a:r>
            <a:r>
              <a:rPr lang="ko-KR" altLang="en-US" dirty="0"/>
              <a:t>환경에서 에이전트는 지도 구축</a:t>
            </a:r>
            <a:r>
              <a:rPr lang="en-US" altLang="ko-KR" dirty="0"/>
              <a:t>, </a:t>
            </a:r>
            <a:r>
              <a:rPr lang="ko-KR" altLang="en-US" dirty="0"/>
              <a:t>목표 찾을 수 있다</a:t>
            </a:r>
            <a:r>
              <a:rPr lang="en-US" altLang="ko-KR" dirty="0"/>
              <a:t>(</a:t>
            </a:r>
            <a:r>
              <a:rPr lang="ko-KR" altLang="en-US" dirty="0"/>
              <a:t>목표를 찾을 수 있을 때</a:t>
            </a:r>
            <a:r>
              <a:rPr lang="en-US" altLang="ko-KR" dirty="0"/>
              <a:t>).</a:t>
            </a:r>
            <a:br>
              <a:rPr lang="en-US" altLang="ko-KR" dirty="0"/>
            </a:br>
            <a:r>
              <a:rPr lang="ko-KR" altLang="en-US" dirty="0"/>
              <a:t>경험에 의한 </a:t>
            </a:r>
            <a:r>
              <a:rPr lang="ko-KR" altLang="en-US" dirty="0" err="1"/>
              <a:t>발견법적</a:t>
            </a:r>
            <a:r>
              <a:rPr lang="ko-KR" altLang="en-US" dirty="0"/>
              <a:t> 추정치의 갱신은 극솟값을 탈출하는 효과적 방법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730E752-B01F-B4E3-8949-028FCDB0D36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9597305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27052</TotalTime>
  <Words>914</Words>
  <Application>Microsoft Office PowerPoint</Application>
  <PresentationFormat>A4 용지(210x297mm)</PresentationFormat>
  <Paragraphs>54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Wingdings</vt:lpstr>
      <vt:lpstr>디자인 사용자 지정</vt:lpstr>
      <vt:lpstr>챕터2 지능적 에이전트</vt:lpstr>
      <vt:lpstr>챕터3 검색을 통한 문제해결</vt:lpstr>
      <vt:lpstr>챕터4 고급 검색 기법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13640</dc:creator>
  <cp:lastModifiedBy>노동주</cp:lastModifiedBy>
  <cp:revision>637</cp:revision>
  <dcterms:created xsi:type="dcterms:W3CDTF">2021-05-24T07:27:04Z</dcterms:created>
  <dcterms:modified xsi:type="dcterms:W3CDTF">2025-07-27T08:17:15Z</dcterms:modified>
</cp:coreProperties>
</file>