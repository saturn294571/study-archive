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301" r:id="rId2"/>
    <p:sldId id="302" r:id="rId3"/>
    <p:sldId id="292" r:id="rId4"/>
    <p:sldId id="294" r:id="rId5"/>
    <p:sldId id="293" r:id="rId6"/>
    <p:sldId id="295" r:id="rId7"/>
    <p:sldId id="303" r:id="rId8"/>
    <p:sldId id="296" r:id="rId9"/>
    <p:sldId id="304" r:id="rId10"/>
    <p:sldId id="305" r:id="rId11"/>
    <p:sldId id="297" r:id="rId12"/>
    <p:sldId id="299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58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CCEA20-C6A6-65B8-4BCB-F071FE8DD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442564-3B68-021B-D8E1-F5F2E194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기수 정렬 알고리즘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DA51D2-7574-FF6C-9222-814D79A9E3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9568340-A580-CB1E-61D4-78BB0D77AF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기수 정렬</a:t>
            </a:r>
            <a:r>
              <a:rPr lang="en-US" altLang="ko-KR" dirty="0"/>
              <a:t>(Radix Sort)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숫자를 부분적으로 비교하여 정렬</a:t>
            </a:r>
            <a:endParaRPr lang="en-US" altLang="ko-KR" dirty="0"/>
          </a:p>
          <a:p>
            <a:pPr lvl="1"/>
            <a:r>
              <a:rPr lang="ko-KR" altLang="en-US" dirty="0"/>
              <a:t>기</a:t>
            </a:r>
            <a:r>
              <a:rPr lang="en-US" altLang="ko-KR" dirty="0"/>
              <a:t>(Radix)</a:t>
            </a:r>
            <a:r>
              <a:rPr lang="ko-KR" altLang="en-US" dirty="0"/>
              <a:t>는 특정 진수를 나타냄 </a:t>
            </a:r>
            <a:r>
              <a:rPr lang="en-US" altLang="ko-KR" dirty="0"/>
              <a:t>: 10</a:t>
            </a:r>
            <a:r>
              <a:rPr lang="ko-KR" altLang="en-US" dirty="0"/>
              <a:t>진수의 기는 </a:t>
            </a:r>
            <a:r>
              <a:rPr lang="en-US" altLang="ko-KR" dirty="0"/>
              <a:t>0,1,…,9; 2</a:t>
            </a:r>
            <a:r>
              <a:rPr lang="ko-KR" altLang="en-US" dirty="0"/>
              <a:t>진수는 </a:t>
            </a:r>
            <a:r>
              <a:rPr lang="en-US" altLang="ko-KR" dirty="0"/>
              <a:t>0,1 (</a:t>
            </a:r>
            <a:r>
              <a:rPr lang="ko-KR" altLang="en-US" dirty="0"/>
              <a:t>문자는 </a:t>
            </a:r>
            <a:r>
              <a:rPr lang="en-US" altLang="ko-KR" dirty="0"/>
              <a:t>128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제한된 범위 내 숫자에 대해 각 자릿수 별로 정렬하는 알고리즘</a:t>
            </a:r>
            <a:endParaRPr lang="en-US" altLang="ko-KR" dirty="0"/>
          </a:p>
          <a:p>
            <a:pPr lvl="1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어느 비교 정렬 알고리즘보다 빠르다 </a:t>
            </a:r>
            <a:r>
              <a:rPr lang="en-US" altLang="ko-KR" dirty="0"/>
              <a:t>O(n)</a:t>
            </a:r>
          </a:p>
          <a:p>
            <a:pPr lvl="1"/>
            <a:r>
              <a:rPr lang="ko-KR" altLang="en-US" dirty="0"/>
              <a:t>안정성 </a:t>
            </a:r>
            <a:r>
              <a:rPr lang="en-US" altLang="ko-KR" dirty="0"/>
              <a:t>: </a:t>
            </a:r>
            <a:r>
              <a:rPr lang="ko-KR" altLang="en-US" dirty="0"/>
              <a:t>중복 숫자</a:t>
            </a:r>
            <a:r>
              <a:rPr lang="en-US" altLang="ko-KR" dirty="0"/>
              <a:t>O? → if</a:t>
            </a:r>
            <a:r>
              <a:rPr lang="ko-KR" altLang="en-US" dirty="0"/>
              <a:t> 정렬 후 중복 숫자 순서 </a:t>
            </a:r>
            <a:r>
              <a:rPr lang="en-US" altLang="ko-KR" dirty="0"/>
              <a:t>== </a:t>
            </a:r>
            <a:r>
              <a:rPr lang="ko-KR" altLang="en-US" dirty="0"/>
              <a:t>입력</a:t>
            </a:r>
            <a:r>
              <a:rPr lang="en-US" altLang="ko-KR" dirty="0"/>
              <a:t>(</a:t>
            </a:r>
            <a:r>
              <a:rPr lang="ko-KR" altLang="en-US" dirty="0"/>
              <a:t>정렬 전</a:t>
            </a:r>
            <a:r>
              <a:rPr lang="en-US" altLang="ko-KR" dirty="0"/>
              <a:t>)</a:t>
            </a:r>
            <a:r>
              <a:rPr lang="ko-KR" altLang="en-US" dirty="0"/>
              <a:t> 중복 숫자 순서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then </a:t>
            </a:r>
            <a:r>
              <a:rPr lang="ko-KR" altLang="en-US" dirty="0"/>
              <a:t>정렬 알고리즘 </a:t>
            </a:r>
            <a:r>
              <a:rPr lang="en-US" altLang="ko-KR" dirty="0"/>
              <a:t>→ </a:t>
            </a:r>
            <a:r>
              <a:rPr lang="ko-KR" altLang="en-US" dirty="0"/>
              <a:t>안정성</a:t>
            </a:r>
            <a:r>
              <a:rPr lang="en-US" altLang="ko-KR" dirty="0"/>
              <a:t>O</a:t>
            </a:r>
          </a:p>
          <a:p>
            <a:pPr lvl="1"/>
            <a:r>
              <a:rPr lang="en-US" altLang="ko-KR" dirty="0"/>
              <a:t>LSD(least significant digit) </a:t>
            </a:r>
            <a:r>
              <a:rPr lang="ko-KR" altLang="en-US" dirty="0" err="1"/>
              <a:t>기수정렬</a:t>
            </a:r>
            <a:r>
              <a:rPr lang="ko-KR" altLang="en-US" dirty="0"/>
              <a:t> </a:t>
            </a:r>
            <a:r>
              <a:rPr lang="en-US" altLang="ko-KR" dirty="0"/>
              <a:t>:1→k</a:t>
            </a:r>
            <a:r>
              <a:rPr lang="ko-KR" altLang="en-US" dirty="0"/>
              <a:t>자리 </a:t>
            </a:r>
            <a:r>
              <a:rPr lang="en-US" altLang="ko-KR" dirty="0"/>
              <a:t>vs</a:t>
            </a:r>
            <a:r>
              <a:rPr lang="ko-KR" altLang="en-US" dirty="0"/>
              <a:t> </a:t>
            </a:r>
            <a:r>
              <a:rPr lang="en-US" altLang="ko-KR" dirty="0"/>
              <a:t>MSD(most …)</a:t>
            </a:r>
            <a:r>
              <a:rPr lang="ko-KR" altLang="en-US" dirty="0"/>
              <a:t> </a:t>
            </a:r>
            <a:r>
              <a:rPr lang="ko-KR" altLang="en-US" dirty="0" err="1"/>
              <a:t>기수정렬</a:t>
            </a:r>
            <a:r>
              <a:rPr lang="ko-KR" altLang="en-US" dirty="0"/>
              <a:t> </a:t>
            </a:r>
            <a:r>
              <a:rPr lang="en-US" altLang="ko-KR" dirty="0"/>
              <a:t>: k→1</a:t>
            </a:r>
            <a:r>
              <a:rPr lang="ko-KR" altLang="en-US" dirty="0"/>
              <a:t>자리</a:t>
            </a:r>
            <a:endParaRPr lang="en-US" altLang="ko-KR" dirty="0"/>
          </a:p>
          <a:p>
            <a:r>
              <a:rPr lang="ko-KR" altLang="en-US" dirty="0"/>
              <a:t>구현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시간 복잡도</a:t>
            </a:r>
            <a:endParaRPr lang="en-US" altLang="ko-KR" dirty="0"/>
          </a:p>
          <a:p>
            <a:pPr lvl="1"/>
            <a:r>
              <a:rPr lang="ko-KR" altLang="en-US" dirty="0"/>
              <a:t>입력숫자의 최대 자릿수 </a:t>
            </a:r>
            <a:r>
              <a:rPr lang="en-US" altLang="ko-KR" dirty="0"/>
              <a:t>d, </a:t>
            </a:r>
            <a:r>
              <a:rPr lang="ko-KR" altLang="en-US" dirty="0"/>
              <a:t>분류 가짓수</a:t>
            </a:r>
            <a:r>
              <a:rPr lang="en-US" altLang="ko-KR" dirty="0"/>
              <a:t> r, </a:t>
            </a:r>
            <a:r>
              <a:rPr lang="ko-KR" altLang="en-US" dirty="0"/>
              <a:t>입력</a:t>
            </a:r>
            <a:r>
              <a:rPr lang="en-US" altLang="ko-KR" dirty="0"/>
              <a:t> </a:t>
            </a:r>
            <a:r>
              <a:rPr lang="ko-KR" altLang="en-US" dirty="0"/>
              <a:t>숫자 수</a:t>
            </a:r>
            <a:r>
              <a:rPr lang="en-US" altLang="ko-KR" dirty="0"/>
              <a:t> n →  for </a:t>
            </a:r>
            <a:r>
              <a:rPr lang="ko-KR" altLang="en-US" dirty="0"/>
              <a:t>루프가 </a:t>
            </a:r>
            <a:r>
              <a:rPr lang="en-US" altLang="ko-KR" dirty="0"/>
              <a:t>d</a:t>
            </a:r>
            <a:r>
              <a:rPr lang="ko-KR" altLang="en-US" dirty="0"/>
              <a:t>번 반복</a:t>
            </a:r>
            <a:endParaRPr lang="en-US" altLang="ko-KR" dirty="0"/>
          </a:p>
          <a:p>
            <a:pPr lvl="2"/>
            <a:r>
              <a:rPr lang="ko-KR" altLang="en-US" dirty="0"/>
              <a:t>한 루프 내에서 </a:t>
            </a:r>
            <a:r>
              <a:rPr lang="en-US" altLang="ko-KR" dirty="0"/>
              <a:t>n</a:t>
            </a:r>
            <a:r>
              <a:rPr lang="ko-KR" altLang="en-US" dirty="0"/>
              <a:t>개 숫자의 </a:t>
            </a:r>
            <a:r>
              <a:rPr lang="en-US" altLang="ko-KR" dirty="0" err="1"/>
              <a:t>i</a:t>
            </a:r>
            <a:r>
              <a:rPr lang="ko-KR" altLang="en-US" dirty="0"/>
              <a:t>자리 수를 읽어 </a:t>
            </a:r>
            <a:r>
              <a:rPr lang="en-US" altLang="ko-KR" dirty="0"/>
              <a:t>r</a:t>
            </a:r>
            <a:r>
              <a:rPr lang="ko-KR" altLang="en-US" dirty="0"/>
              <a:t>개로 분류해 개수를 세고</a:t>
            </a:r>
            <a:r>
              <a:rPr lang="en-US" altLang="ko-KR" dirty="0"/>
              <a:t>, </a:t>
            </a:r>
            <a:r>
              <a:rPr lang="ko-KR" altLang="en-US" dirty="0"/>
              <a:t>그 결과에 따라 숫자가 이동 </a:t>
            </a:r>
            <a:r>
              <a:rPr lang="en-US" altLang="ko-KR" dirty="0"/>
              <a:t>→ O(</a:t>
            </a:r>
            <a:r>
              <a:rPr lang="en-US" altLang="ko-KR" dirty="0" err="1"/>
              <a:t>n+r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ko-KR" altLang="en-US" dirty="0" err="1"/>
              <a:t>시간복잡도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이것이 </a:t>
            </a:r>
            <a:r>
              <a:rPr lang="en-US" altLang="ko-KR" dirty="0"/>
              <a:t>d</a:t>
            </a:r>
            <a:r>
              <a:rPr lang="ko-KR" altLang="en-US" dirty="0"/>
              <a:t>번 반복되므로 </a:t>
            </a:r>
            <a:r>
              <a:rPr lang="en-US" altLang="ko-KR" dirty="0"/>
              <a:t>O(d(</a:t>
            </a:r>
            <a:r>
              <a:rPr lang="en-US" altLang="ko-KR" dirty="0" err="1"/>
              <a:t>n+r</a:t>
            </a:r>
            <a:r>
              <a:rPr lang="en-US" altLang="ko-KR" dirty="0"/>
              <a:t>)) </a:t>
            </a:r>
            <a:r>
              <a:rPr lang="ko-KR" altLang="en-US" dirty="0" err="1"/>
              <a:t>시복</a:t>
            </a:r>
            <a:r>
              <a:rPr lang="en-US" altLang="ko-KR" dirty="0"/>
              <a:t>.(d&lt;(r or n) → </a:t>
            </a:r>
            <a:r>
              <a:rPr lang="ko-KR" altLang="en-US" dirty="0" err="1"/>
              <a:t>시복은</a:t>
            </a:r>
            <a:r>
              <a:rPr lang="ko-KR" altLang="en-US" dirty="0"/>
              <a:t> </a:t>
            </a:r>
            <a:r>
              <a:rPr lang="en-US" altLang="ko-KR" dirty="0"/>
              <a:t>O(n))</a:t>
            </a:r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496D12-BF1E-E976-9338-DA50A380479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ABE172-2D15-846C-6467-74D3323C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328" b="34478"/>
          <a:stretch>
            <a:fillRect/>
          </a:stretch>
        </p:blipFill>
        <p:spPr>
          <a:xfrm>
            <a:off x="1537358" y="2308844"/>
            <a:ext cx="2035658" cy="29536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7869E45-214C-18B7-0AF0-B1FEA789B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878"/>
          <a:stretch>
            <a:fillRect/>
          </a:stretch>
        </p:blipFill>
        <p:spPr>
          <a:xfrm>
            <a:off x="3587862" y="2320403"/>
            <a:ext cx="3197089" cy="144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44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05D908D-2E2D-B7EC-7EF9-7601C5F8C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14DDC7-3447-BF5A-DE5E-0DC89BB6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 정렬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7E833D-F34A-1AAC-5EEF-2257E65928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C67C857-9A31-F12D-B15A-0C21F7CA77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내부정렬과</a:t>
            </a:r>
            <a:r>
              <a:rPr lang="ko-KR" altLang="en-US" dirty="0"/>
              <a:t> </a:t>
            </a:r>
            <a:r>
              <a:rPr lang="ko-KR" altLang="en-US" dirty="0" err="1"/>
              <a:t>외부정렬</a:t>
            </a:r>
            <a:endParaRPr lang="en-US" altLang="ko-KR" dirty="0"/>
          </a:p>
          <a:p>
            <a:pPr lvl="1"/>
            <a:r>
              <a:rPr lang="ko-KR" altLang="en-US" dirty="0" err="1"/>
              <a:t>내부정렬</a:t>
            </a:r>
            <a:r>
              <a:rPr lang="en-US" altLang="ko-KR" dirty="0"/>
              <a:t> : </a:t>
            </a:r>
            <a:r>
              <a:rPr lang="ko-KR" altLang="en-US" dirty="0"/>
              <a:t>입력이</a:t>
            </a:r>
            <a:r>
              <a:rPr lang="en-US" altLang="ko-KR" dirty="0"/>
              <a:t> </a:t>
            </a:r>
            <a:r>
              <a:rPr lang="ko-KR" altLang="en-US" dirty="0" err="1"/>
              <a:t>주기억</a:t>
            </a:r>
            <a:r>
              <a:rPr lang="ko-KR" altLang="en-US" dirty="0"/>
              <a:t> 장치에 있는 상태에서 정렬이 수행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 err="1"/>
              <a:t>외부정렬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입력 크기가 커서 읽기</a:t>
            </a:r>
            <a:r>
              <a:rPr lang="en-US" altLang="ko-KR" dirty="0"/>
              <a:t>/</a:t>
            </a:r>
            <a:r>
              <a:rPr lang="ko-KR" altLang="en-US" dirty="0"/>
              <a:t>쓰기가 오래 걸리는 보조기억장치에 입력을 저장할 수 밖에 없는 상태에서 수행</a:t>
            </a:r>
            <a:endParaRPr lang="en-US" altLang="ko-KR" dirty="0"/>
          </a:p>
          <a:p>
            <a:r>
              <a:rPr lang="ko-KR" altLang="en-US" dirty="0"/>
              <a:t>원리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입력을 분할해 </a:t>
            </a:r>
            <a:r>
              <a:rPr lang="ko-KR" altLang="en-US" dirty="0" err="1"/>
              <a:t>주기억</a:t>
            </a:r>
            <a:r>
              <a:rPr lang="ko-KR" altLang="en-US" dirty="0"/>
              <a:t> 장치에 수용할 만큼의 데이터만 </a:t>
            </a:r>
            <a:r>
              <a:rPr lang="ko-KR" altLang="en-US" dirty="0" err="1"/>
              <a:t>내부정렬</a:t>
            </a:r>
            <a:r>
              <a:rPr lang="ko-KR" altLang="en-US" dirty="0"/>
              <a:t> 수행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그 결과를 보조기억 장치에 일단 다시 저장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정렬된 블록들을 </a:t>
            </a:r>
            <a:r>
              <a:rPr lang="en-US" altLang="ko-KR" dirty="0"/>
              <a:t>1</a:t>
            </a:r>
            <a:r>
              <a:rPr lang="ko-KR" altLang="en-US" dirty="0"/>
              <a:t>개의 큰 블록으로 합침 </a:t>
            </a:r>
            <a:r>
              <a:rPr lang="en-US" altLang="ko-KR" dirty="0"/>
              <a:t>(</a:t>
            </a:r>
            <a:r>
              <a:rPr lang="ko-KR" altLang="en-US" dirty="0"/>
              <a:t>반복적인 </a:t>
            </a:r>
            <a:r>
              <a:rPr lang="en-US" altLang="ko-KR" dirty="0"/>
              <a:t>merge</a:t>
            </a:r>
            <a:r>
              <a:rPr lang="ko-KR" altLang="en-US" dirty="0"/>
              <a:t>로 이뤄짐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블록들을 부분적으로 메모리로 읽어 합병 후 부분적으로 하드</a:t>
            </a:r>
            <a:r>
              <a:rPr lang="en-US" altLang="ko-KR" dirty="0"/>
              <a:t>/SSD</a:t>
            </a:r>
            <a:r>
              <a:rPr lang="ko-KR" altLang="en-US" dirty="0"/>
              <a:t>에 쓰는 과정 반복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ex) 100GB → 1GB</a:t>
            </a:r>
            <a:r>
              <a:rPr lang="ko-KR" altLang="en-US" dirty="0"/>
              <a:t>씩 </a:t>
            </a:r>
            <a:r>
              <a:rPr lang="ko-KR" altLang="en-US" dirty="0" err="1"/>
              <a:t>주기억</a:t>
            </a:r>
            <a:r>
              <a:rPr lang="ko-KR" altLang="en-US" dirty="0"/>
              <a:t> 장치로 읽음 </a:t>
            </a:r>
            <a:r>
              <a:rPr lang="en-US" altLang="ko-KR" dirty="0"/>
              <a:t>→ </a:t>
            </a:r>
            <a:r>
              <a:rPr lang="ko-KR" altLang="en-US" dirty="0" err="1"/>
              <a:t>퀵정렬</a:t>
            </a:r>
            <a:r>
              <a:rPr lang="ko-KR" altLang="en-US" dirty="0"/>
              <a:t> 과 같은 </a:t>
            </a:r>
            <a:r>
              <a:rPr lang="ko-KR" altLang="en-US" dirty="0" err="1"/>
              <a:t>내부정렬로</a:t>
            </a:r>
            <a:r>
              <a:rPr lang="ko-KR" altLang="en-US" dirty="0"/>
              <a:t> 정렬 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다른 보조기억 장치 저장 </a:t>
            </a:r>
            <a:r>
              <a:rPr lang="en-US" altLang="ko-KR" dirty="0"/>
              <a:t>→ </a:t>
            </a:r>
            <a:r>
              <a:rPr lang="ko-KR" altLang="en-US" dirty="0"/>
              <a:t>블록 </a:t>
            </a:r>
            <a:r>
              <a:rPr lang="en-US" altLang="ko-KR" dirty="0"/>
              <a:t>100</a:t>
            </a:r>
            <a:r>
              <a:rPr lang="ko-KR" altLang="en-US" dirty="0"/>
              <a:t>개를 </a:t>
            </a:r>
            <a:r>
              <a:rPr lang="en-US" altLang="ko-KR" dirty="0"/>
              <a:t>50</a:t>
            </a:r>
            <a:r>
              <a:rPr lang="ko-KR" altLang="en-US" dirty="0"/>
              <a:t>번 </a:t>
            </a:r>
            <a:r>
              <a:rPr lang="ko-KR" altLang="en-US" dirty="0" err="1"/>
              <a:t>합병시</a:t>
            </a:r>
            <a:r>
              <a:rPr lang="ko-KR" altLang="en-US" dirty="0"/>
              <a:t> </a:t>
            </a:r>
            <a:r>
              <a:rPr lang="en-US" altLang="ko-KR" dirty="0"/>
              <a:t>2gb 50</a:t>
            </a:r>
            <a:r>
              <a:rPr lang="ko-KR" altLang="en-US" dirty="0"/>
              <a:t>개 </a:t>
            </a:r>
            <a:br>
              <a:rPr lang="en-US" altLang="ko-KR" dirty="0"/>
            </a:br>
            <a:r>
              <a:rPr lang="en-US" altLang="ko-KR" dirty="0"/>
              <a:t>→ 2gb 50</a:t>
            </a:r>
            <a:r>
              <a:rPr lang="ko-KR" altLang="en-US" dirty="0"/>
              <a:t>개를 </a:t>
            </a:r>
            <a:r>
              <a:rPr lang="en-US" altLang="ko-KR" dirty="0"/>
              <a:t>4gb 25</a:t>
            </a:r>
            <a:r>
              <a:rPr lang="ko-KR" altLang="en-US" dirty="0"/>
              <a:t>개 </a:t>
            </a:r>
            <a:r>
              <a:rPr lang="en-US" altLang="ko-KR" dirty="0"/>
              <a:t>→ … → 100gb 1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/>
              <a:t>블록크기는 </a:t>
            </a:r>
            <a:r>
              <a:rPr lang="en-US" altLang="ko-KR" dirty="0"/>
              <a:t>2</a:t>
            </a:r>
            <a:r>
              <a:rPr lang="ko-KR" altLang="en-US" dirty="0"/>
              <a:t>배</a:t>
            </a:r>
            <a:r>
              <a:rPr lang="en-US" altLang="ko-KR" dirty="0"/>
              <a:t>, </a:t>
            </a:r>
            <a:r>
              <a:rPr lang="ko-KR" altLang="en-US" dirty="0"/>
              <a:t>개수는 </a:t>
            </a:r>
            <a:r>
              <a:rPr lang="en-US" altLang="ko-KR" dirty="0"/>
              <a:t>½</a:t>
            </a:r>
            <a:r>
              <a:rPr lang="ko-KR" altLang="en-US" dirty="0"/>
              <a:t>배를 반복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유의점 </a:t>
            </a:r>
            <a:r>
              <a:rPr lang="en-US" altLang="ko-KR" dirty="0"/>
              <a:t>: </a:t>
            </a:r>
            <a:r>
              <a:rPr lang="ko-KR" altLang="en-US" dirty="0"/>
              <a:t>보조기억장치에서의 </a:t>
            </a:r>
            <a:r>
              <a:rPr lang="en-US" altLang="ko-KR" dirty="0"/>
              <a:t>I/O</a:t>
            </a:r>
            <a:r>
              <a:rPr lang="ko-KR" altLang="en-US" dirty="0"/>
              <a:t>를 최소화함이 가장 중요</a:t>
            </a:r>
            <a:endParaRPr lang="en-US" altLang="ko-KR" dirty="0"/>
          </a:p>
          <a:p>
            <a:r>
              <a:rPr lang="ko-KR" altLang="en-US" dirty="0"/>
              <a:t>의사코드 </a:t>
            </a:r>
            <a:r>
              <a:rPr lang="en-US" altLang="ko-KR" dirty="0" err="1"/>
              <a:t>ExternalSort</a:t>
            </a:r>
            <a:r>
              <a:rPr lang="en-US" altLang="ko-KR" dirty="0"/>
              <a:t> : </a:t>
            </a:r>
            <a:r>
              <a:rPr lang="ko-KR" altLang="en-US" dirty="0"/>
              <a:t>메모리용량 </a:t>
            </a:r>
            <a:r>
              <a:rPr lang="en-US" altLang="ko-KR" dirty="0"/>
              <a:t>M, </a:t>
            </a:r>
            <a:r>
              <a:rPr lang="ko-KR" altLang="en-US" dirty="0"/>
              <a:t>보조기억장치 </a:t>
            </a:r>
            <a:r>
              <a:rPr lang="en-US" altLang="ko-KR" dirty="0"/>
              <a:t>HDD(</a:t>
            </a:r>
            <a:r>
              <a:rPr lang="ko-KR" altLang="en-US" dirty="0"/>
              <a:t>여러 개 존재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Input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입력이 저장된 입력 </a:t>
            </a:r>
            <a:r>
              <a:rPr lang="en-US" altLang="ko-KR" dirty="0"/>
              <a:t>HDD, output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정렬된 데이터가 저장된 출력 </a:t>
            </a:r>
            <a:r>
              <a:rPr lang="en-US" altLang="ko-KR" dirty="0"/>
              <a:t>HDD</a:t>
            </a:r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입력을 </a:t>
            </a:r>
            <a:r>
              <a:rPr lang="en-US" altLang="ko-KR" dirty="0"/>
              <a:t>M</a:t>
            </a:r>
            <a:r>
              <a:rPr lang="ko-KR" altLang="en-US" dirty="0"/>
              <a:t>만큼 메모리로 읽어 </a:t>
            </a:r>
            <a:r>
              <a:rPr lang="ko-KR" altLang="en-US" dirty="0" err="1"/>
              <a:t>내부정렬</a:t>
            </a:r>
            <a:r>
              <a:rPr lang="en-US" altLang="ko-KR" dirty="0"/>
              <a:t> </a:t>
            </a:r>
            <a:r>
              <a:rPr lang="ko-KR" altLang="en-US" dirty="0"/>
              <a:t>후 별도의 </a:t>
            </a:r>
            <a:r>
              <a:rPr lang="en-US" altLang="ko-KR" dirty="0"/>
              <a:t>HDD</a:t>
            </a:r>
            <a:r>
              <a:rPr lang="ko-KR" altLang="en-US" dirty="0"/>
              <a:t>에 저장</a:t>
            </a:r>
            <a:r>
              <a:rPr lang="en-US" altLang="ko-KR" dirty="0"/>
              <a:t>, </a:t>
            </a:r>
            <a:r>
              <a:rPr lang="ko-KR" altLang="en-US" dirty="0"/>
              <a:t>입</a:t>
            </a:r>
            <a:r>
              <a:rPr lang="en-US" altLang="ko-KR" dirty="0"/>
              <a:t>HDD=</a:t>
            </a:r>
            <a:r>
              <a:rPr lang="ko-KR" altLang="en-US" dirty="0"/>
              <a:t>출</a:t>
            </a:r>
            <a:r>
              <a:rPr lang="en-US" altLang="ko-KR" dirty="0"/>
              <a:t>HDD</a:t>
            </a:r>
            <a:br>
              <a:rPr lang="en-US" altLang="ko-KR" dirty="0"/>
            </a:br>
            <a:r>
              <a:rPr lang="en-US" altLang="ko-KR" dirty="0"/>
              <a:t>2) while ((</a:t>
            </a:r>
            <a:r>
              <a:rPr lang="ko-KR" altLang="en-US" dirty="0"/>
              <a:t>입</a:t>
            </a:r>
            <a:r>
              <a:rPr lang="en-US" altLang="ko-KR" dirty="0"/>
              <a:t>HDD </a:t>
            </a:r>
            <a:r>
              <a:rPr lang="ko-KR" altLang="en-US" dirty="0"/>
              <a:t>저장 </a:t>
            </a:r>
            <a:r>
              <a:rPr lang="ko-KR" altLang="en-US" dirty="0" err="1"/>
              <a:t>블록수</a:t>
            </a:r>
            <a:r>
              <a:rPr lang="en-US" altLang="ko-KR" dirty="0"/>
              <a:t>) &gt; 1) :</a:t>
            </a:r>
            <a:br>
              <a:rPr lang="en-US" altLang="ko-KR" dirty="0"/>
            </a:br>
            <a:r>
              <a:rPr lang="en-US" altLang="ko-KR" dirty="0"/>
              <a:t>    3) </a:t>
            </a:r>
            <a:r>
              <a:rPr lang="ko-KR" altLang="en-US" dirty="0"/>
              <a:t>입</a:t>
            </a:r>
            <a:r>
              <a:rPr lang="en-US" altLang="ko-KR" dirty="0"/>
              <a:t>HDD</a:t>
            </a:r>
            <a:r>
              <a:rPr lang="ko-KR" altLang="en-US" dirty="0"/>
              <a:t>에 저장된 블록 </a:t>
            </a:r>
            <a:r>
              <a:rPr lang="en-US" altLang="ko-KR" dirty="0"/>
              <a:t>2</a:t>
            </a:r>
            <a:r>
              <a:rPr lang="ko-KR" altLang="en-US" dirty="0"/>
              <a:t>개씩 선택</a:t>
            </a:r>
            <a:r>
              <a:rPr lang="en-US" altLang="ko-KR" dirty="0"/>
              <a:t>,</a:t>
            </a:r>
            <a:r>
              <a:rPr lang="ko-KR" altLang="en-US" dirty="0"/>
              <a:t> 각 블록에서 데이터를 부분적으로 </a:t>
            </a:r>
            <a:r>
              <a:rPr lang="en-US" altLang="ko-KR" dirty="0"/>
              <a:t>HDD</a:t>
            </a:r>
            <a:r>
              <a:rPr lang="ko-KR" altLang="en-US" dirty="0"/>
              <a:t>에 </a:t>
            </a:r>
            <a:br>
              <a:rPr lang="en-US" altLang="ko-KR" dirty="0"/>
            </a:br>
            <a:r>
              <a:rPr lang="en-US" altLang="ko-KR" dirty="0"/>
              <a:t>    </a:t>
            </a:r>
            <a:r>
              <a:rPr lang="ko-KR" altLang="en-US" dirty="0"/>
              <a:t>읽어서 합병</a:t>
            </a:r>
            <a:r>
              <a:rPr lang="en-US" altLang="ko-KR" dirty="0"/>
              <a:t>. </a:t>
            </a:r>
            <a:r>
              <a:rPr lang="ko-KR" altLang="en-US" dirty="0"/>
              <a:t>합병 결과는 출</a:t>
            </a:r>
            <a:r>
              <a:rPr lang="en-US" altLang="ko-KR" dirty="0"/>
              <a:t>HDD</a:t>
            </a:r>
            <a:r>
              <a:rPr lang="ko-KR" altLang="en-US" dirty="0"/>
              <a:t>에 저장 </a:t>
            </a:r>
            <a:r>
              <a:rPr lang="en-US" altLang="ko-KR" dirty="0"/>
              <a:t>((</a:t>
            </a:r>
            <a:r>
              <a:rPr lang="ko-KR" altLang="en-US" dirty="0"/>
              <a:t>입</a:t>
            </a:r>
            <a:r>
              <a:rPr lang="en-US" altLang="ko-KR" dirty="0"/>
              <a:t>HDD </a:t>
            </a:r>
            <a:r>
              <a:rPr lang="ko-KR" altLang="en-US" dirty="0"/>
              <a:t>저장 블록 수</a:t>
            </a:r>
            <a:r>
              <a:rPr lang="en-US" altLang="ko-KR" dirty="0"/>
              <a:t>) = (</a:t>
            </a:r>
            <a:r>
              <a:rPr lang="ko-KR" altLang="en-US" dirty="0"/>
              <a:t>홀수</a:t>
            </a:r>
            <a:r>
              <a:rPr lang="en-US" altLang="ko-KR" dirty="0"/>
              <a:t>) </a:t>
            </a:r>
            <a:r>
              <a:rPr lang="ko-KR" altLang="en-US" dirty="0"/>
              <a:t>면 </a:t>
            </a:r>
            <a:br>
              <a:rPr lang="en-US" altLang="ko-KR" dirty="0"/>
            </a:br>
            <a:r>
              <a:rPr lang="en-US" altLang="ko-KR" dirty="0"/>
              <a:t>    </a:t>
            </a:r>
            <a:r>
              <a:rPr lang="ko-KR" altLang="en-US" dirty="0"/>
              <a:t>마지막 블록은 그대로 출</a:t>
            </a:r>
            <a:r>
              <a:rPr lang="en-US" altLang="ko-KR" dirty="0"/>
              <a:t>HDD</a:t>
            </a:r>
            <a:r>
              <a:rPr lang="ko-KR" altLang="en-US" dirty="0"/>
              <a:t>에 저장</a:t>
            </a:r>
            <a:br>
              <a:rPr lang="en-US" altLang="ko-KR" dirty="0"/>
            </a:br>
            <a:r>
              <a:rPr lang="en-US" altLang="ko-KR" dirty="0"/>
              <a:t>    4) </a:t>
            </a:r>
            <a:r>
              <a:rPr lang="ko-KR" altLang="en-US" dirty="0"/>
              <a:t>입</a:t>
            </a:r>
            <a:r>
              <a:rPr lang="en-US" altLang="ko-KR" dirty="0"/>
              <a:t>HDD, </a:t>
            </a:r>
            <a:r>
              <a:rPr lang="ko-KR" altLang="en-US" dirty="0"/>
              <a:t>출</a:t>
            </a:r>
            <a:r>
              <a:rPr lang="en-US" altLang="ko-KR" dirty="0"/>
              <a:t>HDD </a:t>
            </a:r>
            <a:r>
              <a:rPr lang="ko-KR" altLang="en-US" dirty="0"/>
              <a:t>역할</a:t>
            </a:r>
            <a:r>
              <a:rPr lang="en-US" altLang="ko-KR" dirty="0"/>
              <a:t> </a:t>
            </a:r>
            <a:r>
              <a:rPr lang="ko-KR" altLang="en-US" dirty="0"/>
              <a:t>서로 바꿈</a:t>
            </a:r>
            <a:br>
              <a:rPr lang="en-US" altLang="ko-KR" dirty="0"/>
            </a:br>
            <a:r>
              <a:rPr lang="en-US" altLang="ko-KR" dirty="0"/>
              <a:t>5)</a:t>
            </a:r>
            <a:r>
              <a:rPr lang="ko-KR" altLang="en-US" dirty="0"/>
              <a:t> </a:t>
            </a:r>
            <a:r>
              <a:rPr lang="en-US" altLang="ko-KR" dirty="0"/>
              <a:t>return</a:t>
            </a:r>
            <a:r>
              <a:rPr lang="ko-KR" altLang="en-US" dirty="0"/>
              <a:t> 출</a:t>
            </a:r>
            <a:r>
              <a:rPr lang="en-US" altLang="ko-KR" dirty="0"/>
              <a:t>HDD</a:t>
            </a:r>
          </a:p>
          <a:p>
            <a:pPr lvl="2"/>
            <a:r>
              <a:rPr lang="ko-KR" altLang="en-US" dirty="0"/>
              <a:t>수행과정</a:t>
            </a:r>
            <a:r>
              <a:rPr lang="en-US" altLang="ko-KR" dirty="0"/>
              <a:t>(128GB </a:t>
            </a:r>
            <a:r>
              <a:rPr lang="ko-KR" altLang="en-US" dirty="0"/>
              <a:t>입</a:t>
            </a:r>
            <a:r>
              <a:rPr lang="en-US" altLang="ko-KR" dirty="0"/>
              <a:t>, 1GB</a:t>
            </a:r>
            <a:r>
              <a:rPr lang="ko-KR" altLang="en-US" dirty="0"/>
              <a:t> 메모리</a:t>
            </a:r>
            <a:r>
              <a:rPr lang="en-US" altLang="ko-KR" dirty="0"/>
              <a:t>) : </a:t>
            </a:r>
            <a:br>
              <a:rPr lang="en-US" altLang="ko-KR" dirty="0"/>
            </a:br>
            <a:r>
              <a:rPr lang="ko-KR" altLang="en-US" dirty="0"/>
              <a:t>정렬된 </a:t>
            </a:r>
            <a:r>
              <a:rPr lang="en-US" altLang="ko-KR" dirty="0"/>
              <a:t>1GB 128</a:t>
            </a:r>
            <a:r>
              <a:rPr lang="ko-KR" altLang="en-US" dirty="0"/>
              <a:t>개 별도 </a:t>
            </a:r>
            <a:r>
              <a:rPr lang="en-US" altLang="ko-KR" dirty="0"/>
              <a:t>HDD </a:t>
            </a:r>
            <a:r>
              <a:rPr lang="ko-KR" altLang="en-US" dirty="0"/>
              <a:t>저장 </a:t>
            </a:r>
            <a:r>
              <a:rPr lang="en-US" altLang="ko-KR" dirty="0"/>
              <a:t>→ </a:t>
            </a:r>
            <a:r>
              <a:rPr lang="ko-KR" altLang="en-US" dirty="0"/>
              <a:t>정렬된 </a:t>
            </a:r>
            <a:r>
              <a:rPr lang="en-US" altLang="ko-KR" dirty="0"/>
              <a:t>2GB 64</a:t>
            </a:r>
            <a:r>
              <a:rPr lang="ko-KR" altLang="en-US" dirty="0"/>
              <a:t>개 출</a:t>
            </a:r>
            <a:r>
              <a:rPr lang="en-US" altLang="ko-KR" dirty="0"/>
              <a:t>HDD</a:t>
            </a:r>
            <a:r>
              <a:rPr lang="ko-KR" altLang="en-US" dirty="0"/>
              <a:t>에 저장 </a:t>
            </a:r>
            <a:r>
              <a:rPr lang="en-US" altLang="ko-KR" dirty="0"/>
              <a:t>→</a:t>
            </a:r>
            <a:br>
              <a:rPr lang="en-US" altLang="ko-KR" dirty="0"/>
            </a:br>
            <a:r>
              <a:rPr lang="ko-KR" altLang="en-US" dirty="0"/>
              <a:t>정렬 </a:t>
            </a:r>
            <a:r>
              <a:rPr lang="en-US" altLang="ko-KR" dirty="0"/>
              <a:t>4GB 32</a:t>
            </a:r>
            <a:r>
              <a:rPr lang="ko-KR" altLang="en-US" dirty="0"/>
              <a:t>개 출</a:t>
            </a:r>
            <a:r>
              <a:rPr lang="en-US" altLang="ko-KR" dirty="0"/>
              <a:t>HDD </a:t>
            </a:r>
            <a:r>
              <a:rPr lang="ko-KR" altLang="en-US" dirty="0"/>
              <a:t>저장 </a:t>
            </a:r>
            <a:r>
              <a:rPr lang="en-US" altLang="ko-KR" dirty="0"/>
              <a:t>→ … → </a:t>
            </a:r>
            <a:r>
              <a:rPr lang="ko-KR" altLang="en-US" dirty="0"/>
              <a:t>정렬된 </a:t>
            </a:r>
            <a:r>
              <a:rPr lang="en-US" altLang="ko-KR" dirty="0"/>
              <a:t>128GB </a:t>
            </a:r>
            <a:r>
              <a:rPr lang="ko-KR" altLang="en-US" dirty="0"/>
              <a:t>블록</a:t>
            </a:r>
            <a:r>
              <a:rPr lang="en-US" altLang="ko-KR" dirty="0"/>
              <a:t> 1</a:t>
            </a:r>
            <a:r>
              <a:rPr lang="ko-KR" altLang="en-US" dirty="0"/>
              <a:t>개 출</a:t>
            </a:r>
            <a:r>
              <a:rPr lang="en-US" altLang="ko-KR" dirty="0"/>
              <a:t>HDD</a:t>
            </a:r>
            <a:r>
              <a:rPr lang="ko-KR" altLang="en-US" dirty="0"/>
              <a:t>저장</a:t>
            </a:r>
            <a:r>
              <a:rPr lang="en-US" altLang="ko-KR" dirty="0"/>
              <a:t> → </a:t>
            </a:r>
            <a:r>
              <a:rPr lang="ko-KR" altLang="en-US" dirty="0"/>
              <a:t>리턴</a:t>
            </a:r>
            <a:endParaRPr lang="en-US" altLang="ko-KR" dirty="0"/>
          </a:p>
          <a:p>
            <a:r>
              <a:rPr lang="ko-KR" altLang="en-US" dirty="0" err="1"/>
              <a:t>시간복잡도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전체 데이터를 몇 번 처리</a:t>
            </a:r>
            <a:r>
              <a:rPr lang="en-US" altLang="ko-KR" dirty="0"/>
              <a:t>(</a:t>
            </a:r>
            <a:r>
              <a:rPr lang="ko-KR" altLang="en-US" dirty="0" err="1"/>
              <a:t>읽</a:t>
            </a:r>
            <a:r>
              <a:rPr lang="en-US" altLang="ko-KR" dirty="0"/>
              <a:t>/</a:t>
            </a:r>
            <a:r>
              <a:rPr lang="ko-KR" altLang="en-US" dirty="0" err="1"/>
              <a:t>쓰</a:t>
            </a:r>
            <a:r>
              <a:rPr lang="en-US" altLang="ko-KR" dirty="0"/>
              <a:t>) </a:t>
            </a:r>
            <a:r>
              <a:rPr lang="ko-KR" altLang="en-US" dirty="0" err="1"/>
              <a:t>했는지로</a:t>
            </a:r>
            <a:r>
              <a:rPr lang="ko-KR" altLang="en-US" dirty="0"/>
              <a:t> 측정</a:t>
            </a:r>
            <a:endParaRPr lang="en-US" altLang="ko-KR" dirty="0"/>
          </a:p>
          <a:p>
            <a:pPr lvl="1"/>
            <a:r>
              <a:rPr lang="ko-KR" altLang="en-US" dirty="0" err="1"/>
              <a:t>외부정렬에선</a:t>
            </a:r>
            <a:r>
              <a:rPr lang="ko-KR" altLang="en-US" dirty="0"/>
              <a:t> </a:t>
            </a:r>
            <a:r>
              <a:rPr lang="en-US" altLang="ko-KR" dirty="0"/>
              <a:t>3)</a:t>
            </a:r>
            <a:r>
              <a:rPr lang="ko-KR" altLang="en-US" dirty="0"/>
              <a:t>에서 전체 데이터를 입</a:t>
            </a:r>
            <a:r>
              <a:rPr lang="en-US" altLang="ko-KR" dirty="0"/>
              <a:t>HDD</a:t>
            </a:r>
            <a:r>
              <a:rPr lang="ko-KR" altLang="en-US" dirty="0"/>
              <a:t>에서 읽고 합병해 출</a:t>
            </a:r>
            <a:r>
              <a:rPr lang="en-US" altLang="ko-KR" dirty="0"/>
              <a:t>HDD</a:t>
            </a:r>
            <a:r>
              <a:rPr lang="ko-KR" altLang="en-US" dirty="0"/>
              <a:t>에 저장 즉</a:t>
            </a:r>
            <a:r>
              <a:rPr lang="en-US" altLang="ko-KR" dirty="0"/>
              <a:t>,1pass</a:t>
            </a:r>
            <a:br>
              <a:rPr lang="en-US" altLang="ko-KR" dirty="0"/>
            </a:br>
            <a:r>
              <a:rPr lang="en-US" altLang="ko-KR" dirty="0"/>
              <a:t>(pass</a:t>
            </a:r>
            <a:r>
              <a:rPr lang="ko-KR" altLang="en-US" dirty="0"/>
              <a:t>는 전체 데이터 </a:t>
            </a:r>
            <a:r>
              <a:rPr lang="ko-KR" altLang="en-US" dirty="0" err="1"/>
              <a:t>읽</a:t>
            </a:r>
            <a:r>
              <a:rPr lang="en-US" altLang="ko-KR" dirty="0"/>
              <a:t>/</a:t>
            </a:r>
            <a:r>
              <a:rPr lang="ko-KR" altLang="en-US" dirty="0" err="1"/>
              <a:t>쓰</a:t>
            </a:r>
            <a:r>
              <a:rPr lang="en-US" altLang="ko-KR" dirty="0"/>
              <a:t>) → </a:t>
            </a:r>
            <a:r>
              <a:rPr lang="ko-KR" altLang="en-US" dirty="0"/>
              <a:t>따라서 </a:t>
            </a:r>
            <a:r>
              <a:rPr lang="en-US" altLang="ko-KR" dirty="0"/>
              <a:t>while</a:t>
            </a:r>
            <a:r>
              <a:rPr lang="ko-KR" altLang="en-US" dirty="0"/>
              <a:t>루프 수행 횟수가 곧 전체의 </a:t>
            </a:r>
            <a:r>
              <a:rPr lang="ko-KR" altLang="en-US" dirty="0" err="1"/>
              <a:t>시복</a:t>
            </a:r>
            <a:endParaRPr lang="en-US" altLang="ko-KR" dirty="0"/>
          </a:p>
          <a:p>
            <a:pPr lvl="1"/>
            <a:r>
              <a:rPr lang="ko-KR" altLang="en-US" dirty="0"/>
              <a:t>입력 </a:t>
            </a:r>
            <a:r>
              <a:rPr lang="en-US" altLang="ko-KR" dirty="0"/>
              <a:t>N, </a:t>
            </a:r>
            <a:r>
              <a:rPr lang="ko-KR" altLang="en-US" dirty="0"/>
              <a:t>메모리 </a:t>
            </a:r>
            <a:r>
              <a:rPr lang="en-US" altLang="ko-KR" dirty="0"/>
              <a:t>M</a:t>
            </a:r>
            <a:r>
              <a:rPr lang="ko-KR" altLang="en-US" dirty="0"/>
              <a:t>에 대해</a:t>
            </a:r>
            <a:r>
              <a:rPr lang="en-US" altLang="ko-KR" dirty="0"/>
              <a:t>, 3)</a:t>
            </a:r>
            <a:r>
              <a:rPr lang="ko-KR" altLang="en-US" dirty="0"/>
              <a:t>이 수행될 때 마다 블록 크기가 </a:t>
            </a:r>
            <a:r>
              <a:rPr lang="en-US" altLang="ko-KR" dirty="0"/>
              <a:t>2M, 4M, … , (2^k)M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04C8F4-C7F1-7A4D-57F3-D924782E08B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538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4416E83-AFB1-9FAA-2940-0C8DFCF30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732894-AC20-9F58-7218-69AE19E9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80DB43-0288-29CE-843D-9137113765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69A9CC7-75E3-B8E1-9A34-C958ADF6B2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트리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하나 이상의 노드로 구성된 유한집합</a:t>
            </a:r>
            <a:r>
              <a:rPr lang="en-US" altLang="ko-KR" dirty="0"/>
              <a:t>. </a:t>
            </a:r>
            <a:r>
              <a:rPr lang="ko-KR" altLang="en-US" dirty="0"/>
              <a:t>다음 조건을 만족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특별히 지정된 노드인 </a:t>
            </a:r>
            <a:r>
              <a:rPr lang="en-US" altLang="ko-KR" dirty="0"/>
              <a:t>'</a:t>
            </a:r>
            <a:r>
              <a:rPr lang="ko-KR" altLang="en-US" dirty="0"/>
              <a:t>루트</a:t>
            </a:r>
            <a:r>
              <a:rPr lang="en-US" altLang="ko-KR" dirty="0"/>
              <a:t>'</a:t>
            </a:r>
            <a:r>
              <a:rPr lang="ko-KR" altLang="en-US" dirty="0"/>
              <a:t> 존재</a:t>
            </a:r>
            <a:r>
              <a:rPr lang="en-US" altLang="ko-KR" dirty="0"/>
              <a:t>. 2) </a:t>
            </a:r>
            <a:r>
              <a:rPr lang="ko-KR" altLang="en-US" dirty="0"/>
              <a:t>나머지 노드들은 다시 각각 트리이면서 연결되지 않는 </a:t>
            </a:r>
            <a:r>
              <a:rPr lang="en-US" altLang="ko-KR" dirty="0"/>
              <a:t>T1, T2 , … Tn </a:t>
            </a:r>
            <a:r>
              <a:rPr lang="ko-KR" altLang="en-US" dirty="0"/>
              <a:t>으로 나누어진다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T1 … Tn</a:t>
            </a:r>
            <a:r>
              <a:rPr lang="ko-KR" altLang="en-US" dirty="0"/>
              <a:t>을 루트의 </a:t>
            </a:r>
            <a:r>
              <a:rPr lang="en-US" altLang="ko-KR" dirty="0"/>
              <a:t>'</a:t>
            </a:r>
            <a:r>
              <a:rPr lang="ko-KR" altLang="en-US" dirty="0" err="1"/>
              <a:t>서브트리</a:t>
            </a:r>
            <a:r>
              <a:rPr lang="en-US" altLang="ko-KR" dirty="0"/>
              <a:t>'</a:t>
            </a:r>
          </a:p>
          <a:p>
            <a:pPr lvl="1"/>
            <a:r>
              <a:rPr lang="ko-KR" altLang="en-US" dirty="0"/>
              <a:t>용어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b="1" dirty="0"/>
              <a:t>루트</a:t>
            </a:r>
            <a:r>
              <a:rPr lang="en-US" altLang="ko-KR" dirty="0"/>
              <a:t> : </a:t>
            </a:r>
            <a:r>
              <a:rPr lang="ko-KR" altLang="en-US" dirty="0"/>
              <a:t>그래프의 </a:t>
            </a:r>
            <a:r>
              <a:rPr lang="ko-KR" altLang="en-US" dirty="0" err="1"/>
              <a:t>시작노드</a:t>
            </a:r>
            <a:r>
              <a:rPr lang="en-US" altLang="ko-KR" dirty="0"/>
              <a:t>. </a:t>
            </a:r>
            <a:r>
              <a:rPr lang="ko-KR" altLang="en-US" dirty="0"/>
              <a:t>트리의 가장 높은 곳</a:t>
            </a:r>
            <a:r>
              <a:rPr lang="en-US" altLang="ko-KR" dirty="0"/>
              <a:t>;  </a:t>
            </a:r>
            <a:r>
              <a:rPr lang="ko-KR" altLang="en-US" b="1" dirty="0"/>
              <a:t>차수</a:t>
            </a:r>
            <a:r>
              <a:rPr lang="en-US" altLang="ko-KR" dirty="0"/>
              <a:t> : </a:t>
            </a:r>
            <a:r>
              <a:rPr lang="ko-KR" altLang="en-US" dirty="0"/>
              <a:t>노드가 가진 가지의 수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b="1" dirty="0"/>
              <a:t>잎</a:t>
            </a:r>
            <a:r>
              <a:rPr lang="en-US" altLang="ko-KR" b="1" dirty="0"/>
              <a:t>(leaf) </a:t>
            </a:r>
            <a:r>
              <a:rPr lang="ko-KR" altLang="en-US" b="1" dirty="0"/>
              <a:t>노드 </a:t>
            </a:r>
            <a:r>
              <a:rPr lang="en-US" altLang="ko-KR" dirty="0"/>
              <a:t>: </a:t>
            </a:r>
            <a:r>
              <a:rPr lang="ko-KR" altLang="en-US" dirty="0"/>
              <a:t>차수가</a:t>
            </a:r>
            <a:r>
              <a:rPr lang="en-US" altLang="ko-KR" dirty="0"/>
              <a:t> 0</a:t>
            </a:r>
            <a:r>
              <a:rPr lang="ko-KR" altLang="en-US" dirty="0"/>
              <a:t>인 말단 노드</a:t>
            </a:r>
            <a:r>
              <a:rPr lang="en-US" altLang="ko-KR" dirty="0"/>
              <a:t> ; </a:t>
            </a:r>
            <a:r>
              <a:rPr lang="ko-KR" altLang="en-US" b="1" dirty="0"/>
              <a:t>중간 노드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루트</a:t>
            </a:r>
            <a:r>
              <a:rPr lang="en-US" altLang="ko-KR" dirty="0"/>
              <a:t>X </a:t>
            </a:r>
            <a:r>
              <a:rPr lang="ko-KR" altLang="en-US" dirty="0"/>
              <a:t>면서 </a:t>
            </a:r>
            <a:r>
              <a:rPr lang="ko-KR" altLang="en-US" dirty="0" err="1"/>
              <a:t>잎노드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인 노드들</a:t>
            </a:r>
            <a:br>
              <a:rPr lang="en-US" altLang="ko-KR" dirty="0"/>
            </a:br>
            <a:r>
              <a:rPr lang="ko-KR" altLang="en-US" b="1" dirty="0" err="1"/>
              <a:t>자식노드</a:t>
            </a:r>
            <a:r>
              <a:rPr lang="en-US" altLang="ko-KR" dirty="0"/>
              <a:t> : </a:t>
            </a:r>
            <a:r>
              <a:rPr lang="ko-KR" altLang="en-US" dirty="0"/>
              <a:t>한 노드의 서브 트리의 루트 노드들</a:t>
            </a:r>
            <a:r>
              <a:rPr lang="en-US" altLang="ko-KR" dirty="0"/>
              <a:t>; </a:t>
            </a:r>
            <a:r>
              <a:rPr lang="ko-KR" altLang="en-US" b="1" dirty="0" err="1"/>
              <a:t>부모노드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자식노드의</a:t>
            </a:r>
            <a:r>
              <a:rPr lang="en-US" altLang="ko-KR" dirty="0"/>
              <a:t> </a:t>
            </a:r>
            <a:r>
              <a:rPr lang="ko-KR" altLang="en-US" dirty="0"/>
              <a:t>반대 개념</a:t>
            </a:r>
            <a:br>
              <a:rPr lang="en-US" altLang="ko-KR" dirty="0"/>
            </a:br>
            <a:r>
              <a:rPr lang="ko-KR" altLang="en-US" b="1" dirty="0"/>
              <a:t>형제 노드 </a:t>
            </a:r>
            <a:r>
              <a:rPr lang="en-US" altLang="ko-KR" dirty="0"/>
              <a:t>: </a:t>
            </a:r>
            <a:r>
              <a:rPr lang="ko-KR" altLang="en-US" dirty="0"/>
              <a:t>동일 </a:t>
            </a:r>
            <a:r>
              <a:rPr lang="ko-KR" altLang="en-US" dirty="0" err="1"/>
              <a:t>부모노드</a:t>
            </a:r>
            <a:r>
              <a:rPr lang="ko-KR" altLang="en-US" dirty="0"/>
              <a:t> 가지는 노드</a:t>
            </a:r>
            <a:r>
              <a:rPr lang="en-US" altLang="ko-KR" dirty="0"/>
              <a:t>; </a:t>
            </a:r>
            <a:r>
              <a:rPr lang="ko-KR" altLang="en-US" b="1" dirty="0"/>
              <a:t>조상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루트 </a:t>
            </a:r>
            <a:r>
              <a:rPr lang="en-US" altLang="ko-KR" dirty="0"/>
              <a:t>→ </a:t>
            </a:r>
            <a:r>
              <a:rPr lang="ko-KR" altLang="en-US" dirty="0"/>
              <a:t>해당 노드까지의 경로상 모든 노드</a:t>
            </a:r>
            <a:r>
              <a:rPr lang="en-US" altLang="ko-KR" dirty="0"/>
              <a:t>; </a:t>
            </a:r>
            <a:r>
              <a:rPr lang="ko-KR" altLang="en-US" b="1" dirty="0"/>
              <a:t>자손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/>
              <a:t>노드 </a:t>
            </a:r>
            <a:r>
              <a:rPr lang="en-US" altLang="ko-KR" dirty="0"/>
              <a:t>→ </a:t>
            </a:r>
            <a:r>
              <a:rPr lang="ko-KR" altLang="en-US" dirty="0"/>
              <a:t>잎 노드까지의 경로상 모든 노드들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b="1" dirty="0"/>
              <a:t>레벨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루트 </a:t>
            </a:r>
            <a:r>
              <a:rPr lang="en-US" altLang="ko-KR" dirty="0"/>
              <a:t>= 0 </a:t>
            </a:r>
            <a:r>
              <a:rPr lang="ko-KR" altLang="en-US" dirty="0"/>
              <a:t>레벨 놓고 자손으로 내려갈수록 </a:t>
            </a:r>
            <a:r>
              <a:rPr lang="en-US" altLang="ko-KR" dirty="0"/>
              <a:t>+1. if </a:t>
            </a:r>
            <a:r>
              <a:rPr lang="ko-KR" altLang="en-US" dirty="0"/>
              <a:t>어떤 노드 레벨</a:t>
            </a:r>
            <a:r>
              <a:rPr lang="en-US" altLang="ko-KR" dirty="0"/>
              <a:t>=p→</a:t>
            </a:r>
            <a:r>
              <a:rPr lang="ko-KR" altLang="en-US" dirty="0"/>
              <a:t>자식</a:t>
            </a:r>
            <a:r>
              <a:rPr lang="en-US" altLang="ko-KR" dirty="0"/>
              <a:t>=p+1</a:t>
            </a:r>
            <a:br>
              <a:rPr lang="en-US" altLang="ko-KR" dirty="0"/>
            </a:br>
            <a:r>
              <a:rPr lang="ko-KR" altLang="en-US" b="1" dirty="0"/>
              <a:t>높이</a:t>
            </a:r>
            <a:r>
              <a:rPr lang="en-US" altLang="ko-KR" b="1" dirty="0"/>
              <a:t>(=</a:t>
            </a:r>
            <a:r>
              <a:rPr lang="ko-KR" altLang="en-US" b="1" dirty="0"/>
              <a:t>깊이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트리에서 노드가</a:t>
            </a:r>
            <a:r>
              <a:rPr lang="en-US" altLang="ko-KR" dirty="0"/>
              <a:t> </a:t>
            </a:r>
            <a:r>
              <a:rPr lang="ko-KR" altLang="en-US" dirty="0" err="1"/>
              <a:t>가질수</a:t>
            </a:r>
            <a:r>
              <a:rPr lang="ko-KR" altLang="en-US" dirty="0"/>
              <a:t> 있는 최대 레벨</a:t>
            </a:r>
            <a:r>
              <a:rPr lang="en-US" altLang="ko-KR" dirty="0"/>
              <a:t>;</a:t>
            </a:r>
            <a:r>
              <a:rPr lang="en-US" altLang="ko-KR" b="1" dirty="0"/>
              <a:t> </a:t>
            </a:r>
            <a:r>
              <a:rPr lang="ko-KR" altLang="en-US" b="1" dirty="0"/>
              <a:t>숲 </a:t>
            </a:r>
            <a:r>
              <a:rPr lang="en-US" altLang="ko-KR" dirty="0"/>
              <a:t>= </a:t>
            </a:r>
            <a:r>
              <a:rPr lang="ko-KR" altLang="en-US" dirty="0"/>
              <a:t>서로</a:t>
            </a:r>
            <a:r>
              <a:rPr lang="en-US" altLang="ko-KR" dirty="0"/>
              <a:t> </a:t>
            </a:r>
            <a:r>
              <a:rPr lang="ko-KR" altLang="en-US" dirty="0"/>
              <a:t>연결되지 않는 트리들의 집합</a:t>
            </a:r>
            <a:r>
              <a:rPr lang="en-US" altLang="ko-KR" dirty="0"/>
              <a:t>. </a:t>
            </a:r>
            <a:r>
              <a:rPr lang="ko-KR" altLang="en-US" dirty="0"/>
              <a:t>루트를 제거 </a:t>
            </a:r>
            <a:r>
              <a:rPr lang="en-US" altLang="ko-KR" dirty="0"/>
              <a:t>→ </a:t>
            </a:r>
            <a:r>
              <a:rPr lang="ko-KR" altLang="en-US" dirty="0"/>
              <a:t>숲을 얻음</a:t>
            </a:r>
            <a:endParaRPr lang="en-US" altLang="ko-KR" dirty="0"/>
          </a:p>
          <a:p>
            <a:pPr lvl="1"/>
            <a:r>
              <a:rPr lang="ko-KR" altLang="en-US" dirty="0"/>
              <a:t>특징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정리</a:t>
            </a:r>
            <a:r>
              <a:rPr lang="en-US" altLang="ko-KR" dirty="0"/>
              <a:t>1) n</a:t>
            </a:r>
            <a:r>
              <a:rPr lang="ko-KR" altLang="en-US" dirty="0"/>
              <a:t>개의 노드 트리 </a:t>
            </a:r>
            <a:r>
              <a:rPr lang="en-US" altLang="ko-KR" dirty="0"/>
              <a:t>→ n-1</a:t>
            </a:r>
            <a:r>
              <a:rPr lang="ko-KR" altLang="en-US" dirty="0"/>
              <a:t>개의 연결선</a:t>
            </a:r>
            <a:br>
              <a:rPr lang="en-US" altLang="ko-KR" dirty="0"/>
            </a:br>
            <a:r>
              <a:rPr lang="ko-KR" altLang="en-US" dirty="0"/>
              <a:t>정리</a:t>
            </a:r>
            <a:r>
              <a:rPr lang="en-US" altLang="ko-KR" dirty="0"/>
              <a:t>2) </a:t>
            </a:r>
            <a:r>
              <a:rPr lang="ko-KR" altLang="en-US" dirty="0"/>
              <a:t>그래프 </a:t>
            </a:r>
            <a:r>
              <a:rPr lang="en-US" altLang="ko-KR" dirty="0"/>
              <a:t>G=(V,E)</a:t>
            </a:r>
            <a:r>
              <a:rPr lang="ko-KR" altLang="en-US" dirty="0"/>
              <a:t>에서 </a:t>
            </a:r>
            <a:r>
              <a:rPr lang="en-US" altLang="ko-KR" dirty="0"/>
              <a:t>|V|=n, |E|=m </a:t>
            </a:r>
            <a:r>
              <a:rPr lang="ko-KR" altLang="en-US" dirty="0" err="1"/>
              <a:t>일때</a:t>
            </a:r>
            <a:r>
              <a:rPr lang="ko-KR" altLang="en-US" dirty="0"/>
              <a:t> 다음은 모두 동치</a:t>
            </a:r>
            <a:br>
              <a:rPr lang="en-US" altLang="ko-KR" dirty="0"/>
            </a:br>
            <a:r>
              <a:rPr lang="en-US" altLang="ko-KR" dirty="0"/>
              <a:t>2-1)G</a:t>
            </a:r>
            <a:r>
              <a:rPr lang="ko-KR" altLang="en-US" dirty="0"/>
              <a:t>는 트리</a:t>
            </a:r>
            <a:r>
              <a:rPr lang="en-US" altLang="ko-KR" dirty="0"/>
              <a:t>; 2-2) G</a:t>
            </a:r>
            <a:r>
              <a:rPr lang="ko-KR" altLang="en-US" dirty="0"/>
              <a:t>는 연결됨</a:t>
            </a:r>
            <a:r>
              <a:rPr lang="en-US" altLang="ko-KR" dirty="0"/>
              <a:t>. m=n-1; 2-3)G</a:t>
            </a:r>
            <a:r>
              <a:rPr lang="ko-KR" altLang="en-US" dirty="0"/>
              <a:t>는 연결됨</a:t>
            </a:r>
            <a:r>
              <a:rPr lang="en-US" altLang="ko-KR" dirty="0"/>
              <a:t>, </a:t>
            </a:r>
            <a:r>
              <a:rPr lang="ko-KR" altLang="en-US" dirty="0"/>
              <a:t>어느 한 연결선제거</a:t>
            </a:r>
            <a:r>
              <a:rPr lang="en-US" altLang="ko-KR" dirty="0"/>
              <a:t>?→</a:t>
            </a:r>
            <a:r>
              <a:rPr lang="ko-KR" altLang="en-US" dirty="0"/>
              <a:t>연결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2-4) G</a:t>
            </a:r>
            <a:r>
              <a:rPr lang="ko-KR" altLang="en-US" dirty="0"/>
              <a:t>는 사이클</a:t>
            </a:r>
            <a:r>
              <a:rPr lang="en-US" altLang="ko-KR" dirty="0"/>
              <a:t> </a:t>
            </a:r>
            <a:r>
              <a:rPr lang="ko-KR" altLang="en-US" dirty="0"/>
              <a:t>가지지</a:t>
            </a:r>
            <a:r>
              <a:rPr lang="en-US" altLang="ko-KR" dirty="0"/>
              <a:t>X, m=n-1;</a:t>
            </a:r>
            <a:r>
              <a:rPr lang="ko-KR" altLang="en-US" dirty="0"/>
              <a:t> </a:t>
            </a:r>
            <a:r>
              <a:rPr lang="en-US" altLang="ko-KR" dirty="0"/>
              <a:t>2-5) G</a:t>
            </a:r>
            <a:r>
              <a:rPr lang="ko-KR" altLang="en-US" dirty="0"/>
              <a:t>에 어느 한 연결선 첨가</a:t>
            </a:r>
            <a:r>
              <a:rPr lang="en-US" altLang="ko-KR" dirty="0"/>
              <a:t>? → </a:t>
            </a:r>
            <a:r>
              <a:rPr lang="ko-KR" altLang="en-US" dirty="0"/>
              <a:t>사이클</a:t>
            </a:r>
            <a:r>
              <a:rPr lang="en-US" altLang="ko-KR" dirty="0"/>
              <a:t> O</a:t>
            </a:r>
          </a:p>
          <a:p>
            <a:r>
              <a:rPr lang="ko-KR" altLang="en-US" dirty="0" err="1"/>
              <a:t>방향트리</a:t>
            </a:r>
            <a:endParaRPr lang="en-US" altLang="ko-KR" dirty="0"/>
          </a:p>
          <a:p>
            <a:pPr lvl="1"/>
            <a:r>
              <a:rPr lang="ko-KR" altLang="en-US" dirty="0"/>
              <a:t>정의</a:t>
            </a:r>
            <a:r>
              <a:rPr lang="en-US" altLang="ko-KR" dirty="0"/>
              <a:t> : </a:t>
            </a:r>
            <a:r>
              <a:rPr lang="ko-KR" altLang="en-US" dirty="0"/>
              <a:t>방향</a:t>
            </a:r>
            <a:r>
              <a:rPr lang="en-US" altLang="ko-KR" dirty="0"/>
              <a:t> O, </a:t>
            </a:r>
            <a:r>
              <a:rPr lang="ko-KR" altLang="en-US" dirty="0" err="1"/>
              <a:t>순서화된</a:t>
            </a:r>
            <a:r>
              <a:rPr lang="ko-KR" altLang="en-US" dirty="0"/>
              <a:t> 트리</a:t>
            </a:r>
            <a:r>
              <a:rPr lang="en-US" altLang="ko-KR" dirty="0"/>
              <a:t>? → </a:t>
            </a:r>
            <a:r>
              <a:rPr lang="ko-KR" altLang="en-US" dirty="0"/>
              <a:t>다음 성질을 만족하는 방향 그래프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 err="1"/>
              <a:t>선행자</a:t>
            </a:r>
            <a:r>
              <a:rPr lang="en-US" altLang="ko-KR" dirty="0"/>
              <a:t>X</a:t>
            </a:r>
            <a:r>
              <a:rPr lang="ko-KR" altLang="en-US" dirty="0"/>
              <a:t>인 </a:t>
            </a:r>
            <a:r>
              <a:rPr lang="ko-KR" altLang="en-US" dirty="0" err="1"/>
              <a:t>루트노드</a:t>
            </a:r>
            <a:r>
              <a:rPr lang="ko-KR" altLang="en-US" dirty="0"/>
              <a:t> </a:t>
            </a:r>
            <a:r>
              <a:rPr lang="en-US" altLang="ko-KR" dirty="0"/>
              <a:t>O; </a:t>
            </a:r>
            <a:r>
              <a:rPr lang="ko-KR" altLang="en-US" dirty="0"/>
              <a:t>루트 </a:t>
            </a:r>
            <a:r>
              <a:rPr lang="en-US" altLang="ko-KR" dirty="0"/>
              <a:t>→ </a:t>
            </a:r>
            <a:r>
              <a:rPr lang="ko-KR" altLang="en-US" dirty="0"/>
              <a:t>모든 노드의</a:t>
            </a:r>
            <a:r>
              <a:rPr lang="en-US" altLang="ko-KR" dirty="0"/>
              <a:t> </a:t>
            </a:r>
            <a:r>
              <a:rPr lang="ko-KR" altLang="en-US" dirty="0"/>
              <a:t>경로 </a:t>
            </a:r>
            <a:r>
              <a:rPr lang="en-US" altLang="ko-KR" dirty="0"/>
              <a:t>O;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루트</a:t>
            </a:r>
            <a:r>
              <a:rPr lang="en-US" altLang="ko-KR" dirty="0"/>
              <a:t>X </a:t>
            </a:r>
            <a:r>
              <a:rPr lang="ko-KR" altLang="en-US" dirty="0"/>
              <a:t>노드 </a:t>
            </a:r>
            <a:r>
              <a:rPr lang="en-US" altLang="ko-KR" dirty="0"/>
              <a:t>→ 1</a:t>
            </a:r>
            <a:r>
              <a:rPr lang="ko-KR" altLang="en-US" dirty="0"/>
              <a:t>개의 선행자만</a:t>
            </a:r>
            <a:r>
              <a:rPr lang="en-US" altLang="ko-KR" dirty="0"/>
              <a:t>O; 3) </a:t>
            </a:r>
            <a:r>
              <a:rPr lang="ko-KR" altLang="en-US" dirty="0"/>
              <a:t>각 노드의 </a:t>
            </a:r>
            <a:r>
              <a:rPr lang="ko-KR" altLang="en-US" dirty="0" err="1"/>
              <a:t>후속자</a:t>
            </a:r>
            <a:r>
              <a:rPr lang="en-US" altLang="ko-KR" dirty="0"/>
              <a:t> → </a:t>
            </a:r>
            <a:r>
              <a:rPr lang="ko-KR" altLang="en-US" dirty="0"/>
              <a:t>왼쪽부터 순서화</a:t>
            </a:r>
            <a:endParaRPr lang="en-US" altLang="ko-KR" dirty="0"/>
          </a:p>
          <a:p>
            <a:pPr lvl="2"/>
            <a:r>
              <a:rPr lang="ko-KR" altLang="en-US" dirty="0"/>
              <a:t>트리의 루트는 가장 위에</a:t>
            </a:r>
            <a:r>
              <a:rPr lang="en-US" altLang="ko-KR" dirty="0"/>
              <a:t>; </a:t>
            </a:r>
            <a:r>
              <a:rPr lang="ko-KR" altLang="en-US" dirty="0"/>
              <a:t>아크</a:t>
            </a:r>
            <a:r>
              <a:rPr lang="en-US" altLang="ko-KR" dirty="0"/>
              <a:t>(</a:t>
            </a:r>
            <a:r>
              <a:rPr lang="ko-KR" altLang="en-US" dirty="0"/>
              <a:t>연결선</a:t>
            </a:r>
            <a:r>
              <a:rPr lang="en-US" altLang="ko-KR" dirty="0"/>
              <a:t>)</a:t>
            </a:r>
            <a:r>
              <a:rPr lang="ko-KR" altLang="en-US" dirty="0"/>
              <a:t>은 그 밑을 방향으로</a:t>
            </a:r>
            <a:endParaRPr lang="en-US" altLang="ko-KR" dirty="0"/>
          </a:p>
          <a:p>
            <a:r>
              <a:rPr lang="ko-KR" altLang="en-US" dirty="0"/>
              <a:t>응용 분야</a:t>
            </a:r>
            <a:endParaRPr lang="en-US" altLang="ko-KR" dirty="0"/>
          </a:p>
          <a:p>
            <a:pPr lvl="1"/>
            <a:r>
              <a:rPr lang="ko-KR" altLang="en-US" dirty="0"/>
              <a:t>최적화 문제</a:t>
            </a:r>
            <a:r>
              <a:rPr lang="en-US" altLang="ko-KR" dirty="0"/>
              <a:t>, </a:t>
            </a:r>
            <a:r>
              <a:rPr lang="ko-KR" altLang="en-US" dirty="0"/>
              <a:t>언어간 번역</a:t>
            </a:r>
            <a:r>
              <a:rPr lang="en-US" altLang="ko-KR" dirty="0"/>
              <a:t>/</a:t>
            </a:r>
            <a:r>
              <a:rPr lang="ko-KR" altLang="en-US" dirty="0"/>
              <a:t>언어학</a:t>
            </a:r>
            <a:r>
              <a:rPr lang="en-US" altLang="ko-KR" dirty="0"/>
              <a:t>, </a:t>
            </a:r>
            <a:r>
              <a:rPr lang="ko-KR" altLang="en-US" dirty="0"/>
              <a:t>알고리즘</a:t>
            </a:r>
            <a:r>
              <a:rPr lang="en-US" altLang="ko-KR" dirty="0"/>
              <a:t>(</a:t>
            </a:r>
            <a:r>
              <a:rPr lang="ko-KR" altLang="en-US" dirty="0"/>
              <a:t>구조</a:t>
            </a:r>
            <a:r>
              <a:rPr lang="en-US" altLang="ko-KR" dirty="0"/>
              <a:t>,</a:t>
            </a:r>
            <a:r>
              <a:rPr lang="ko-KR" altLang="en-US" dirty="0"/>
              <a:t>정렬</a:t>
            </a:r>
            <a:r>
              <a:rPr lang="en-US" altLang="ko-KR" dirty="0"/>
              <a:t>), </a:t>
            </a:r>
            <a:r>
              <a:rPr lang="ko-KR" altLang="en-US" dirty="0"/>
              <a:t>자료탐색</a:t>
            </a:r>
            <a:r>
              <a:rPr lang="en-US" altLang="ko-KR" dirty="0"/>
              <a:t>/</a:t>
            </a:r>
            <a:r>
              <a:rPr lang="ko-KR" altLang="en-US" dirty="0"/>
              <a:t>정렬</a:t>
            </a:r>
            <a:r>
              <a:rPr lang="en-US" altLang="ko-KR" dirty="0"/>
              <a:t>/DB</a:t>
            </a:r>
            <a:r>
              <a:rPr lang="ko-KR" altLang="en-US" dirty="0"/>
              <a:t>구성</a:t>
            </a:r>
            <a:r>
              <a:rPr lang="en-US" altLang="ko-KR" dirty="0"/>
              <a:t>, </a:t>
            </a:r>
            <a:r>
              <a:rPr lang="ko-KR" altLang="en-US" dirty="0"/>
              <a:t>분자구조식 설계</a:t>
            </a:r>
            <a:r>
              <a:rPr lang="en-US" altLang="ko-KR" dirty="0"/>
              <a:t>/</a:t>
            </a:r>
            <a:r>
              <a:rPr lang="ko-KR" altLang="en-US" dirty="0"/>
              <a:t>화학결합 표시</a:t>
            </a:r>
            <a:r>
              <a:rPr lang="en-US" altLang="ko-KR" dirty="0"/>
              <a:t>/</a:t>
            </a:r>
            <a:r>
              <a:rPr lang="ko-KR" altLang="en-US" dirty="0"/>
              <a:t>유전학</a:t>
            </a:r>
            <a:r>
              <a:rPr lang="en-US" altLang="ko-KR" dirty="0"/>
              <a:t>, </a:t>
            </a:r>
            <a:r>
              <a:rPr lang="ko-KR" altLang="en-US" dirty="0"/>
              <a:t>사회과학</a:t>
            </a:r>
            <a:r>
              <a:rPr lang="en-US" altLang="ko-KR" dirty="0"/>
              <a:t>(</a:t>
            </a:r>
            <a:r>
              <a:rPr lang="ko-KR" altLang="en-US" dirty="0"/>
              <a:t>조직 구조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 err="1"/>
              <a:t>이진트리</a:t>
            </a:r>
            <a:r>
              <a:rPr lang="en-US" altLang="ko-KR" dirty="0"/>
              <a:t>(binary tree)</a:t>
            </a:r>
            <a:r>
              <a:rPr lang="ko-KR" altLang="en-US" dirty="0"/>
              <a:t>의 종류</a:t>
            </a:r>
            <a:endParaRPr lang="en-US" altLang="ko-KR" dirty="0"/>
          </a:p>
          <a:p>
            <a:pPr lvl="1"/>
            <a:r>
              <a:rPr lang="en-US" altLang="ko-KR" dirty="0"/>
              <a:t>n-</a:t>
            </a:r>
            <a:r>
              <a:rPr lang="ko-KR" altLang="en-US" dirty="0"/>
              <a:t>트리 </a:t>
            </a:r>
            <a:r>
              <a:rPr lang="en-US" altLang="ko-KR" dirty="0"/>
              <a:t>: </a:t>
            </a:r>
            <a:r>
              <a:rPr lang="ko-KR" altLang="en-US" dirty="0"/>
              <a:t>중간 노드들이 최대 </a:t>
            </a:r>
            <a:r>
              <a:rPr lang="en-US" altLang="ko-KR" dirty="0"/>
              <a:t>n</a:t>
            </a:r>
            <a:r>
              <a:rPr lang="ko-KR" altLang="en-US" dirty="0"/>
              <a:t>개 자식 노드</a:t>
            </a:r>
            <a:r>
              <a:rPr lang="en-US" altLang="ko-KR" dirty="0"/>
              <a:t>O; n=2 → </a:t>
            </a:r>
            <a:r>
              <a:rPr lang="ko-KR" altLang="en-US" dirty="0"/>
              <a:t>이진 트리</a:t>
            </a:r>
            <a:br>
              <a:rPr lang="en-US" altLang="ko-KR" dirty="0"/>
            </a:br>
            <a:r>
              <a:rPr lang="ko-KR" altLang="en-US" dirty="0"/>
              <a:t>이진 트리 </a:t>
            </a:r>
            <a:r>
              <a:rPr lang="en-US" altLang="ko-KR" dirty="0"/>
              <a:t>: </a:t>
            </a:r>
            <a:r>
              <a:rPr lang="ko-KR" altLang="en-US" dirty="0"/>
              <a:t>노드들의 유한집합</a:t>
            </a:r>
            <a:r>
              <a:rPr lang="en-US" altLang="ko-KR" dirty="0"/>
              <a:t>. (</a:t>
            </a:r>
            <a:r>
              <a:rPr lang="ko-KR" altLang="en-US" dirty="0"/>
              <a:t>공집합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or (</a:t>
            </a:r>
            <a:r>
              <a:rPr lang="ko-KR" altLang="en-US" dirty="0"/>
              <a:t>루트 </a:t>
            </a:r>
            <a:r>
              <a:rPr lang="en-US" altLang="ko-KR" dirty="0"/>
              <a:t>+ </a:t>
            </a:r>
            <a:r>
              <a:rPr lang="ko-KR" altLang="en-US" dirty="0" err="1"/>
              <a:t>왼서브트리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오른서브트리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사향</a:t>
            </a:r>
            <a:r>
              <a:rPr lang="en-US" altLang="ko-KR" dirty="0"/>
              <a:t>(skewed)</a:t>
            </a:r>
            <a:r>
              <a:rPr lang="ko-KR" altLang="en-US" dirty="0"/>
              <a:t> 이진 트리 </a:t>
            </a:r>
            <a:r>
              <a:rPr lang="en-US" altLang="ko-KR" dirty="0"/>
              <a:t>: </a:t>
            </a:r>
            <a:r>
              <a:rPr lang="ko-KR" altLang="en-US" dirty="0"/>
              <a:t>왼</a:t>
            </a:r>
            <a:r>
              <a:rPr lang="en-US" altLang="ko-KR" dirty="0"/>
              <a:t>/</a:t>
            </a:r>
            <a:r>
              <a:rPr lang="ko-KR" altLang="en-US" dirty="0"/>
              <a:t>오른 방향으로 </a:t>
            </a:r>
            <a:r>
              <a:rPr lang="ko-KR" altLang="en-US" dirty="0" err="1"/>
              <a:t>편항된</a:t>
            </a:r>
            <a:r>
              <a:rPr lang="ko-KR" altLang="en-US" dirty="0"/>
              <a:t> 트리</a:t>
            </a:r>
            <a:br>
              <a:rPr lang="en-US" altLang="ko-KR" dirty="0"/>
            </a:br>
            <a:r>
              <a:rPr lang="ko-KR" altLang="en-US" dirty="0"/>
              <a:t>완전 이진 트리 </a:t>
            </a:r>
            <a:r>
              <a:rPr lang="en-US" altLang="ko-KR" dirty="0"/>
              <a:t>: </a:t>
            </a:r>
            <a:r>
              <a:rPr lang="ko-KR" altLang="en-US" dirty="0"/>
              <a:t>높이 </a:t>
            </a:r>
            <a:r>
              <a:rPr lang="en-US" altLang="ko-KR" dirty="0"/>
              <a:t>k → </a:t>
            </a:r>
            <a:r>
              <a:rPr lang="ko-KR" altLang="en-US" dirty="0"/>
              <a:t>레벨 </a:t>
            </a:r>
            <a:r>
              <a:rPr lang="en-US" altLang="ko-KR" dirty="0"/>
              <a:t>1~k-1</a:t>
            </a:r>
            <a:r>
              <a:rPr lang="ko-KR" altLang="en-US" dirty="0"/>
              <a:t>까지 모두 차 있고 레벨</a:t>
            </a:r>
            <a:r>
              <a:rPr lang="en-US" altLang="ko-KR" dirty="0"/>
              <a:t>k </a:t>
            </a:r>
            <a:r>
              <a:rPr lang="ko-KR" altLang="en-US" dirty="0"/>
              <a:t>에선 왼쪽부터 차례로</a:t>
            </a:r>
            <a:br>
              <a:rPr lang="en-US" altLang="ko-KR" dirty="0"/>
            </a:br>
            <a:r>
              <a:rPr lang="ko-KR" altLang="en-US" dirty="0"/>
              <a:t>포화 이진 트리 </a:t>
            </a:r>
            <a:r>
              <a:rPr lang="en-US" altLang="ko-KR" dirty="0"/>
              <a:t>: </a:t>
            </a:r>
            <a:r>
              <a:rPr lang="ko-KR" altLang="en-US" dirty="0"/>
              <a:t>잎</a:t>
            </a:r>
            <a:r>
              <a:rPr lang="en-US" altLang="ko-KR" dirty="0"/>
              <a:t>X </a:t>
            </a:r>
            <a:r>
              <a:rPr lang="ko-KR" altLang="en-US" dirty="0"/>
              <a:t>노드 </a:t>
            </a:r>
            <a:r>
              <a:rPr lang="en-US" altLang="ko-KR" dirty="0"/>
              <a:t>→ 2</a:t>
            </a:r>
            <a:r>
              <a:rPr lang="ko-KR" altLang="en-US" dirty="0"/>
              <a:t>개 </a:t>
            </a:r>
            <a:r>
              <a:rPr lang="ko-KR" altLang="en-US" dirty="0" err="1"/>
              <a:t>자식노드</a:t>
            </a:r>
            <a:r>
              <a:rPr lang="ko-KR" altLang="en-US" dirty="0"/>
              <a:t> </a:t>
            </a:r>
            <a:r>
              <a:rPr lang="en-US" altLang="ko-KR" dirty="0"/>
              <a:t>O. </a:t>
            </a:r>
            <a:r>
              <a:rPr lang="ko-KR" altLang="en-US" dirty="0"/>
              <a:t>트리 높이 일정</a:t>
            </a:r>
            <a:r>
              <a:rPr lang="en-US" altLang="ko-KR" dirty="0"/>
              <a:t>. </a:t>
            </a:r>
            <a:r>
              <a:rPr lang="ko-KR" altLang="en-US" dirty="0" err="1"/>
              <a:t>완전이진에서</a:t>
            </a:r>
            <a:r>
              <a:rPr lang="ko-KR" altLang="en-US" dirty="0"/>
              <a:t> </a:t>
            </a:r>
            <a:r>
              <a:rPr lang="ko-KR" altLang="en-US" dirty="0" err="1"/>
              <a:t>꽉참</a:t>
            </a:r>
            <a:endParaRPr lang="en-US" altLang="ko-KR" dirty="0"/>
          </a:p>
          <a:p>
            <a:pPr lvl="1"/>
            <a:r>
              <a:rPr lang="ko-KR" altLang="en-US" dirty="0"/>
              <a:t>관련 정리 </a:t>
            </a:r>
            <a:r>
              <a:rPr lang="en-US" altLang="ko-KR" dirty="0"/>
              <a:t>: 1) </a:t>
            </a:r>
            <a:r>
              <a:rPr lang="ko-KR" altLang="en-US" dirty="0"/>
              <a:t>레벨 </a:t>
            </a:r>
            <a:r>
              <a:rPr lang="en-US" altLang="ko-KR" dirty="0" err="1"/>
              <a:t>i</a:t>
            </a:r>
            <a:r>
              <a:rPr lang="en-US" altLang="ko-KR" dirty="0"/>
              <a:t> → </a:t>
            </a:r>
            <a:r>
              <a:rPr lang="ko-KR" altLang="en-US" dirty="0"/>
              <a:t>최대 노드 </a:t>
            </a:r>
            <a:r>
              <a:rPr lang="en-US" altLang="ko-KR" dirty="0"/>
              <a:t>= 2^i; </a:t>
            </a:r>
            <a:r>
              <a:rPr lang="ko-KR" altLang="en-US" dirty="0"/>
              <a:t>높이 </a:t>
            </a:r>
            <a:r>
              <a:rPr lang="en-US" altLang="ko-KR" dirty="0"/>
              <a:t>k→ </a:t>
            </a:r>
            <a:r>
              <a:rPr lang="ko-KR" altLang="en-US" dirty="0"/>
              <a:t>최대 노드 </a:t>
            </a:r>
            <a:r>
              <a:rPr lang="en-US" altLang="ko-KR" dirty="0"/>
              <a:t>= 2^(k+1) - 1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잎 노드 수 </a:t>
            </a:r>
            <a:r>
              <a:rPr lang="en-US" altLang="ko-KR" dirty="0"/>
              <a:t>= n0, </a:t>
            </a:r>
            <a:r>
              <a:rPr lang="ko-KR" altLang="en-US" dirty="0"/>
              <a:t>차수</a:t>
            </a:r>
            <a:r>
              <a:rPr lang="en-US" altLang="ko-KR" dirty="0"/>
              <a:t>=2 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노드 수 </a:t>
            </a:r>
            <a:r>
              <a:rPr lang="en-US" altLang="ko-KR" dirty="0"/>
              <a:t>= n2; n0 = n2+1 </a:t>
            </a:r>
            <a:r>
              <a:rPr lang="ko-KR" altLang="en-US" dirty="0"/>
              <a:t>성립</a:t>
            </a:r>
            <a:endParaRPr lang="en-US" altLang="ko-KR" dirty="0"/>
          </a:p>
          <a:p>
            <a:r>
              <a:rPr lang="ko-KR" altLang="en-US" dirty="0"/>
              <a:t>배열 및 연결리스트에 의한 </a:t>
            </a:r>
            <a:r>
              <a:rPr lang="ko-KR" altLang="en-US" dirty="0" err="1"/>
              <a:t>이진트리</a:t>
            </a:r>
            <a:r>
              <a:rPr lang="ko-KR" altLang="en-US" dirty="0"/>
              <a:t> 표현법</a:t>
            </a:r>
            <a:endParaRPr lang="en-US" altLang="ko-KR" dirty="0"/>
          </a:p>
          <a:p>
            <a:pPr lvl="1"/>
            <a:r>
              <a:rPr lang="ko-KR" altLang="en-US" dirty="0"/>
              <a:t>배열 구현 </a:t>
            </a:r>
            <a:r>
              <a:rPr lang="en-US" altLang="ko-KR" dirty="0"/>
              <a:t>: </a:t>
            </a:r>
            <a:r>
              <a:rPr lang="ko-KR" altLang="en-US" dirty="0"/>
              <a:t>트리</a:t>
            </a:r>
            <a:r>
              <a:rPr lang="en-US" altLang="ko-KR" dirty="0"/>
              <a:t> </a:t>
            </a:r>
            <a:r>
              <a:rPr lang="ko-KR" altLang="en-US" dirty="0"/>
              <a:t>중간에 새 노드 삽입 </a:t>
            </a:r>
            <a:r>
              <a:rPr lang="en-US" altLang="ko-KR" dirty="0"/>
              <a:t>or </a:t>
            </a:r>
            <a:r>
              <a:rPr lang="ko-KR" altLang="en-US" dirty="0"/>
              <a:t>기존 노드 삭제 시 비효율적</a:t>
            </a:r>
            <a:endParaRPr lang="en-US" altLang="ko-KR" dirty="0"/>
          </a:p>
          <a:p>
            <a:pPr lvl="1"/>
            <a:r>
              <a:rPr lang="ko-KR" altLang="en-US" dirty="0"/>
              <a:t>연결 리스트 구현 </a:t>
            </a:r>
            <a:r>
              <a:rPr lang="en-US" altLang="ko-KR" dirty="0"/>
              <a:t>: </a:t>
            </a:r>
            <a:r>
              <a:rPr lang="ko-KR" altLang="en-US" dirty="0"/>
              <a:t>노드 </a:t>
            </a:r>
            <a:r>
              <a:rPr lang="en-US" altLang="ko-KR" dirty="0"/>
              <a:t>= </a:t>
            </a:r>
            <a:r>
              <a:rPr lang="ko-KR" altLang="en-US" dirty="0"/>
              <a:t>데이터 저장</a:t>
            </a:r>
            <a:r>
              <a:rPr lang="en-US" altLang="ko-KR" dirty="0"/>
              <a:t>(</a:t>
            </a:r>
            <a:r>
              <a:rPr lang="ko-KR" altLang="en-US" dirty="0"/>
              <a:t>중간</a:t>
            </a:r>
            <a:r>
              <a:rPr lang="en-US" altLang="ko-KR" dirty="0"/>
              <a:t>)</a:t>
            </a:r>
            <a:r>
              <a:rPr lang="ko-KR" altLang="en-US" dirty="0"/>
              <a:t> 부분</a:t>
            </a:r>
            <a:r>
              <a:rPr lang="en-US" altLang="ko-KR" dirty="0"/>
              <a:t>, </a:t>
            </a:r>
            <a:r>
              <a:rPr lang="ko-KR" altLang="en-US" dirty="0"/>
              <a:t>왼 자식 포인터</a:t>
            </a:r>
            <a:r>
              <a:rPr lang="en-US" altLang="ko-KR" dirty="0"/>
              <a:t>, </a:t>
            </a:r>
            <a:r>
              <a:rPr lang="ko-KR" altLang="en-US" dirty="0"/>
              <a:t>오른 자식 포인터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237CA-B525-652A-9015-ED11A4E99D2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12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EFE11F2-12E3-5BB1-A6AC-DFD5F9C12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BE37398-B0C9-1F89-1A61-6F4FE87BD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힙</a:t>
            </a:r>
            <a:r>
              <a:rPr lang="en-US" altLang="ko-KR" dirty="0"/>
              <a:t> </a:t>
            </a:r>
            <a:r>
              <a:rPr lang="ko-KR" altLang="en-US" dirty="0"/>
              <a:t>정렬</a:t>
            </a:r>
            <a:r>
              <a:rPr lang="en-US" altLang="ko-KR" dirty="0"/>
              <a:t>(</a:t>
            </a:r>
            <a:r>
              <a:rPr lang="ko-KR" altLang="en-US" dirty="0"/>
              <a:t>트리 응용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67217F-266F-83AA-CC95-9ED484D913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B845E7F-59F6-3758-195C-5D00B784D9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Heap : </a:t>
            </a:r>
            <a:r>
              <a:rPr lang="ko-KR" altLang="en-US" dirty="0"/>
              <a:t>우선순위</a:t>
            </a:r>
            <a:r>
              <a:rPr lang="en-US" altLang="ko-KR" dirty="0"/>
              <a:t> </a:t>
            </a:r>
            <a:r>
              <a:rPr lang="ko-KR" altLang="en-US" dirty="0"/>
              <a:t>큐를 구현하는 가장 기본적인 자료구조</a:t>
            </a:r>
            <a:endParaRPr lang="en-US" altLang="ko-KR" dirty="0"/>
          </a:p>
          <a:p>
            <a:pPr lvl="1"/>
            <a:r>
              <a:rPr lang="ko-KR" altLang="en-US" dirty="0"/>
              <a:t>우선순위 큐 </a:t>
            </a:r>
            <a:r>
              <a:rPr lang="en-US" altLang="ko-KR" dirty="0"/>
              <a:t>: </a:t>
            </a:r>
            <a:r>
              <a:rPr lang="ko-KR" altLang="en-US" dirty="0" err="1"/>
              <a:t>가장높은</a:t>
            </a:r>
            <a:r>
              <a:rPr lang="en-US" altLang="ko-KR" dirty="0"/>
              <a:t> </a:t>
            </a:r>
            <a:r>
              <a:rPr lang="ko-KR" altLang="en-US" dirty="0"/>
              <a:t>우선순위의 자료 </a:t>
            </a:r>
            <a:r>
              <a:rPr lang="en-US" altLang="ko-KR" dirty="0"/>
              <a:t>→ </a:t>
            </a:r>
            <a:r>
              <a:rPr lang="ko-KR" altLang="en-US" dirty="0"/>
              <a:t>접근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r>
              <a:rPr lang="en-US" altLang="ko-KR" dirty="0"/>
              <a:t>; </a:t>
            </a:r>
            <a:r>
              <a:rPr lang="ko-KR" altLang="en-US" dirty="0"/>
              <a:t>임의의 우선순위의 자료 삽입</a:t>
            </a:r>
            <a:br>
              <a:rPr lang="en-US" altLang="ko-KR" dirty="0"/>
            </a:br>
            <a:r>
              <a:rPr lang="ko-KR" altLang="en-US" dirty="0"/>
              <a:t>스택</a:t>
            </a:r>
            <a:r>
              <a:rPr lang="en-US" altLang="ko-KR" dirty="0"/>
              <a:t> : </a:t>
            </a:r>
            <a:r>
              <a:rPr lang="ko-KR" altLang="en-US" dirty="0"/>
              <a:t>최근</a:t>
            </a:r>
            <a:r>
              <a:rPr lang="en-US" altLang="ko-KR" dirty="0"/>
              <a:t> </a:t>
            </a:r>
            <a:r>
              <a:rPr lang="ko-KR" altLang="en-US" dirty="0"/>
              <a:t>삽입 데이터 </a:t>
            </a:r>
            <a:r>
              <a:rPr lang="en-US" altLang="ko-KR" dirty="0"/>
              <a:t>→ </a:t>
            </a:r>
            <a:r>
              <a:rPr lang="ko-KR" altLang="en-US" dirty="0"/>
              <a:t>더 </a:t>
            </a:r>
            <a:r>
              <a:rPr lang="ko-KR" altLang="en-US" dirty="0" err="1"/>
              <a:t>높</a:t>
            </a:r>
            <a:r>
              <a:rPr lang="ko-KR" altLang="en-US" dirty="0"/>
              <a:t> 우선순위</a:t>
            </a:r>
            <a:r>
              <a:rPr lang="en-US" altLang="ko-KR" dirty="0"/>
              <a:t>; </a:t>
            </a:r>
            <a:r>
              <a:rPr lang="ko-KR" altLang="en-US" dirty="0"/>
              <a:t>큐 </a:t>
            </a:r>
            <a:r>
              <a:rPr lang="en-US" altLang="ko-KR" dirty="0"/>
              <a:t>: </a:t>
            </a:r>
            <a:r>
              <a:rPr lang="ko-KR" altLang="en-US" dirty="0"/>
              <a:t>먼저</a:t>
            </a:r>
            <a:r>
              <a:rPr lang="en-US" altLang="ko-KR" dirty="0"/>
              <a:t> </a:t>
            </a:r>
            <a:r>
              <a:rPr lang="ko-KR" altLang="en-US" dirty="0"/>
              <a:t>삽입 데이터 </a:t>
            </a:r>
            <a:r>
              <a:rPr lang="en-US" altLang="ko-KR" dirty="0"/>
              <a:t>→ </a:t>
            </a:r>
            <a:r>
              <a:rPr lang="ko-KR" altLang="en-US" dirty="0" err="1"/>
              <a:t>높</a:t>
            </a:r>
            <a:r>
              <a:rPr lang="ko-KR" altLang="en-US" dirty="0"/>
              <a:t> 우선순위</a:t>
            </a:r>
            <a:endParaRPr lang="en-US" altLang="ko-KR" dirty="0"/>
          </a:p>
          <a:p>
            <a:pPr lvl="2"/>
            <a:r>
              <a:rPr lang="en-US" altLang="ko-KR" dirty="0"/>
              <a:t>Heap </a:t>
            </a:r>
            <a:r>
              <a:rPr lang="ko-KR" altLang="en-US" dirty="0"/>
              <a:t>필요성 </a:t>
            </a:r>
            <a:r>
              <a:rPr lang="en-US" altLang="ko-KR" dirty="0"/>
              <a:t>:  </a:t>
            </a:r>
            <a:r>
              <a:rPr lang="ko-KR" altLang="en-US" dirty="0"/>
              <a:t>삽입 데이터가 고유 유선순위</a:t>
            </a:r>
            <a:r>
              <a:rPr lang="en-US" altLang="ko-KR" dirty="0"/>
              <a:t>? → </a:t>
            </a:r>
            <a:r>
              <a:rPr lang="ko-KR" altLang="en-US" dirty="0"/>
              <a:t>스택</a:t>
            </a:r>
            <a:r>
              <a:rPr lang="en-US" altLang="ko-KR" dirty="0"/>
              <a:t>/</a:t>
            </a:r>
            <a:r>
              <a:rPr lang="ko-KR" altLang="en-US" dirty="0"/>
              <a:t>큐 면 기존 항목을 재정렬 해야함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정리 </a:t>
            </a:r>
            <a:r>
              <a:rPr lang="en-US" altLang="ko-KR" dirty="0"/>
              <a:t>: 1) heap</a:t>
            </a:r>
            <a:r>
              <a:rPr lang="ko-KR" altLang="en-US" dirty="0"/>
              <a:t>은 </a:t>
            </a:r>
            <a:r>
              <a:rPr lang="en-US" altLang="ko-KR" dirty="0"/>
              <a:t>heap</a:t>
            </a:r>
            <a:r>
              <a:rPr lang="ko-KR" altLang="en-US" dirty="0"/>
              <a:t>조건을 만족하는 </a:t>
            </a:r>
            <a:r>
              <a:rPr lang="ko-KR" altLang="en-US" dirty="0" err="1"/>
              <a:t>완전이진트리</a:t>
            </a:r>
            <a:r>
              <a:rPr lang="en-US" altLang="ko-KR" dirty="0"/>
              <a:t>; 2) </a:t>
            </a:r>
            <a:r>
              <a:rPr lang="ko-KR" altLang="en-US" dirty="0" err="1"/>
              <a:t>부모노드는</a:t>
            </a:r>
            <a:r>
              <a:rPr lang="ko-KR" altLang="en-US" dirty="0"/>
              <a:t> </a:t>
            </a:r>
            <a:r>
              <a:rPr lang="ko-KR" altLang="en-US" dirty="0" err="1"/>
              <a:t>자식노드보다</a:t>
            </a:r>
            <a:r>
              <a:rPr lang="ko-KR" altLang="en-US" dirty="0"/>
              <a:t> 항상 높은 우선순위</a:t>
            </a:r>
            <a:r>
              <a:rPr lang="en-US" altLang="ko-KR" dirty="0"/>
              <a:t>O, </a:t>
            </a:r>
            <a:r>
              <a:rPr lang="ko-KR" altLang="en-US" dirty="0"/>
              <a:t>루트 </a:t>
            </a:r>
            <a:r>
              <a:rPr lang="en-US" altLang="ko-KR" dirty="0"/>
              <a:t>→ </a:t>
            </a:r>
            <a:r>
              <a:rPr lang="ko-KR" altLang="en-US" dirty="0"/>
              <a:t>가장 </a:t>
            </a:r>
            <a:r>
              <a:rPr lang="ko-KR" altLang="en-US" dirty="0" err="1"/>
              <a:t>높</a:t>
            </a:r>
            <a:r>
              <a:rPr lang="ko-KR" altLang="en-US" dirty="0"/>
              <a:t> 우선순위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3)</a:t>
            </a:r>
            <a:r>
              <a:rPr lang="ko-KR" altLang="en-US" dirty="0" err="1"/>
              <a:t>노드값은</a:t>
            </a:r>
            <a:r>
              <a:rPr lang="ko-KR" altLang="en-US" dirty="0"/>
              <a:t> 우선순위 </a:t>
            </a:r>
            <a:r>
              <a:rPr lang="ko-KR" altLang="en-US" dirty="0" err="1"/>
              <a:t>라고함</a:t>
            </a:r>
            <a:endParaRPr lang="en-US" altLang="ko-KR" dirty="0"/>
          </a:p>
          <a:p>
            <a:r>
              <a:rPr lang="en-US" altLang="ko-KR" dirty="0"/>
              <a:t>Binary Heap : </a:t>
            </a:r>
            <a:r>
              <a:rPr lang="ko-KR" altLang="en-US" dirty="0" err="1"/>
              <a:t>완전이진트리</a:t>
            </a:r>
            <a:r>
              <a:rPr lang="en-US" altLang="ko-KR" dirty="0"/>
              <a:t>; </a:t>
            </a:r>
            <a:r>
              <a:rPr lang="ko-KR" altLang="en-US" dirty="0"/>
              <a:t>부모 우선순위 </a:t>
            </a:r>
            <a:r>
              <a:rPr lang="en-US" altLang="ko-KR" dirty="0"/>
              <a:t>&gt; </a:t>
            </a:r>
            <a:r>
              <a:rPr lang="ko-KR" altLang="en-US" dirty="0"/>
              <a:t>자식 우선순위</a:t>
            </a:r>
            <a:endParaRPr lang="en-US" altLang="ko-KR" dirty="0"/>
          </a:p>
          <a:p>
            <a:pPr lvl="1"/>
            <a:r>
              <a:rPr lang="ko-KR" altLang="en-US" dirty="0"/>
              <a:t>완전 이진 트리</a:t>
            </a:r>
            <a:r>
              <a:rPr lang="en-US" altLang="ko-KR" dirty="0"/>
              <a:t> : </a:t>
            </a:r>
            <a:r>
              <a:rPr lang="ko-KR" altLang="en-US" dirty="0"/>
              <a:t>트리</a:t>
            </a:r>
            <a:r>
              <a:rPr lang="en-US" altLang="ko-KR" dirty="0"/>
              <a:t> </a:t>
            </a:r>
            <a:r>
              <a:rPr lang="ko-KR" altLang="en-US" dirty="0"/>
              <a:t>노드가 위</a:t>
            </a:r>
            <a:r>
              <a:rPr lang="en-US" altLang="ko-KR" dirty="0"/>
              <a:t>→</a:t>
            </a:r>
            <a:r>
              <a:rPr lang="ko-KR" altLang="en-US" dirty="0"/>
              <a:t>아래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 err="1"/>
              <a:t>같</a:t>
            </a:r>
            <a:r>
              <a:rPr lang="ko-KR" altLang="en-US" dirty="0"/>
              <a:t> 레벨</a:t>
            </a:r>
            <a:r>
              <a:rPr lang="en-US" altLang="ko-KR" dirty="0"/>
              <a:t>? </a:t>
            </a:r>
            <a:r>
              <a:rPr lang="ko-KR" altLang="en-US" dirty="0"/>
              <a:t>왼</a:t>
            </a:r>
            <a:r>
              <a:rPr lang="en-US" altLang="ko-KR" dirty="0"/>
              <a:t>→</a:t>
            </a:r>
            <a:r>
              <a:rPr lang="ko-KR" altLang="en-US" dirty="0"/>
              <a:t>오른 으로 </a:t>
            </a:r>
            <a:r>
              <a:rPr lang="ko-KR" altLang="en-US" dirty="0" err="1"/>
              <a:t>채워짐</a:t>
            </a:r>
            <a:endParaRPr lang="en-US" altLang="ko-KR" dirty="0"/>
          </a:p>
          <a:p>
            <a:pPr lvl="1"/>
            <a:r>
              <a:rPr lang="ko-KR" altLang="en-US" dirty="0" err="1"/>
              <a:t>이진힙을</a:t>
            </a:r>
            <a:r>
              <a:rPr lang="ko-KR" altLang="en-US" dirty="0"/>
              <a:t> 통한 예시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a : </a:t>
            </a:r>
            <a:r>
              <a:rPr lang="ko-KR" altLang="en-US" dirty="0" err="1"/>
              <a:t>완전이진트리</a:t>
            </a:r>
            <a:r>
              <a:rPr lang="ko-KR" altLang="en-US" dirty="0"/>
              <a:t> </a:t>
            </a:r>
            <a:r>
              <a:rPr lang="en-US" altLang="ko-KR" dirty="0"/>
              <a:t>X → </a:t>
            </a:r>
            <a:r>
              <a:rPr lang="ko-KR" altLang="en-US" dirty="0" err="1"/>
              <a:t>힙</a:t>
            </a:r>
            <a:r>
              <a:rPr lang="en-US" altLang="ko-KR" dirty="0"/>
              <a:t>X; b:</a:t>
            </a:r>
            <a:r>
              <a:rPr lang="ko-KR" altLang="en-US" dirty="0"/>
              <a:t> 부모</a:t>
            </a:r>
            <a:r>
              <a:rPr lang="en-US" altLang="ko-KR" dirty="0"/>
              <a:t>&gt;</a:t>
            </a:r>
            <a:r>
              <a:rPr lang="ko-KR" altLang="en-US" dirty="0"/>
              <a:t>자식 </a:t>
            </a:r>
            <a:r>
              <a:rPr lang="en-US" altLang="ko-KR" dirty="0"/>
              <a:t>&amp;&amp; </a:t>
            </a:r>
            <a:r>
              <a:rPr lang="ko-KR" altLang="en-US" dirty="0"/>
              <a:t>자식 </a:t>
            </a:r>
            <a:r>
              <a:rPr lang="en-US" altLang="ko-KR" dirty="0"/>
              <a:t>&gt; </a:t>
            </a:r>
            <a:r>
              <a:rPr lang="ko-KR" altLang="en-US" dirty="0"/>
              <a:t>부모 혼재</a:t>
            </a:r>
            <a:r>
              <a:rPr lang="en-US" altLang="ko-KR" dirty="0"/>
              <a:t>; </a:t>
            </a:r>
            <a:r>
              <a:rPr lang="ko-KR" altLang="en-US" dirty="0" err="1"/>
              <a:t>힙속성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c : </a:t>
            </a:r>
            <a:r>
              <a:rPr lang="ko-KR" altLang="en-US" dirty="0" err="1"/>
              <a:t>완전이진트리</a:t>
            </a:r>
            <a:r>
              <a:rPr lang="ko-KR" altLang="en-US" dirty="0"/>
              <a:t> </a:t>
            </a:r>
            <a:r>
              <a:rPr lang="en-US" altLang="ko-KR" dirty="0"/>
              <a:t>&amp;&amp; </a:t>
            </a:r>
            <a:r>
              <a:rPr lang="ko-KR" altLang="en-US" dirty="0"/>
              <a:t>항상 부모</a:t>
            </a:r>
            <a:r>
              <a:rPr lang="en-US" altLang="ko-KR" dirty="0"/>
              <a:t>&lt;</a:t>
            </a:r>
            <a:r>
              <a:rPr lang="ko-KR" altLang="en-US" dirty="0"/>
              <a:t>자식 성립</a:t>
            </a:r>
            <a:r>
              <a:rPr lang="en-US" altLang="ko-KR" dirty="0"/>
              <a:t>; → </a:t>
            </a:r>
            <a:r>
              <a:rPr lang="ko-KR" altLang="en-US" dirty="0"/>
              <a:t>이진</a:t>
            </a:r>
            <a:r>
              <a:rPr lang="en-US" altLang="ko-KR" dirty="0"/>
              <a:t> </a:t>
            </a:r>
            <a:r>
              <a:rPr lang="ko-KR" altLang="en-US" dirty="0" err="1"/>
              <a:t>힙</a:t>
            </a:r>
            <a:endParaRPr lang="en-US" altLang="ko-KR" dirty="0"/>
          </a:p>
          <a:p>
            <a:r>
              <a:rPr lang="ko-KR" altLang="en-US" dirty="0"/>
              <a:t>배열에 이진 </a:t>
            </a:r>
            <a:r>
              <a:rPr lang="ko-KR" altLang="en-US" dirty="0" err="1"/>
              <a:t>힙</a:t>
            </a:r>
            <a:r>
              <a:rPr lang="ko-KR" altLang="en-US" dirty="0"/>
              <a:t> 저장하기</a:t>
            </a:r>
            <a:endParaRPr lang="en-US" altLang="ko-KR" dirty="0"/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</a:t>
            </a:r>
            <a:r>
              <a:rPr lang="ko-KR" altLang="en-US" dirty="0"/>
              <a:t>트리임에도 내부적으론 선형리스트</a:t>
            </a:r>
            <a:r>
              <a:rPr lang="en-US" altLang="ko-KR" dirty="0"/>
              <a:t>(</a:t>
            </a:r>
            <a:r>
              <a:rPr lang="ko-KR" altLang="en-US" dirty="0"/>
              <a:t>순차</a:t>
            </a:r>
            <a:r>
              <a:rPr lang="en-US" altLang="ko-KR" dirty="0"/>
              <a:t>/</a:t>
            </a:r>
            <a:r>
              <a:rPr lang="ko-KR" altLang="en-US" dirty="0"/>
              <a:t>연결</a:t>
            </a:r>
            <a:r>
              <a:rPr lang="en-US" altLang="ko-KR" dirty="0"/>
              <a:t>) </a:t>
            </a:r>
            <a:r>
              <a:rPr lang="ko-KR" altLang="en-US" dirty="0"/>
              <a:t>형태 저장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 err="1"/>
              <a:t>완전이진트리</a:t>
            </a:r>
            <a:r>
              <a:rPr lang="ko-KR" altLang="en-US" dirty="0"/>
              <a:t> 특성</a:t>
            </a:r>
            <a:r>
              <a:rPr lang="en-US" altLang="ko-KR" dirty="0"/>
              <a:t>(</a:t>
            </a:r>
            <a:r>
              <a:rPr lang="ko-KR" altLang="en-US" dirty="0"/>
              <a:t>위</a:t>
            </a:r>
            <a:r>
              <a:rPr lang="en-US" altLang="ko-KR" dirty="0"/>
              <a:t>→</a:t>
            </a:r>
            <a:r>
              <a:rPr lang="ko-KR" altLang="en-US" dirty="0"/>
              <a:t>아래 </a:t>
            </a:r>
            <a:r>
              <a:rPr lang="en-US" altLang="ko-KR" dirty="0"/>
              <a:t>&amp; </a:t>
            </a:r>
            <a:r>
              <a:rPr lang="ko-KR" altLang="en-US" dirty="0"/>
              <a:t>왼</a:t>
            </a:r>
            <a:r>
              <a:rPr lang="en-US" altLang="ko-KR" dirty="0"/>
              <a:t>→</a:t>
            </a:r>
            <a:r>
              <a:rPr lang="ko-KR" altLang="en-US" dirty="0"/>
              <a:t>오른</a:t>
            </a:r>
            <a:r>
              <a:rPr lang="en-US" altLang="ko-KR" dirty="0"/>
              <a:t>)</a:t>
            </a:r>
            <a:r>
              <a:rPr lang="ko-KR" altLang="en-US" dirty="0"/>
              <a:t>에 따라 배열 삽입</a:t>
            </a:r>
            <a:endParaRPr lang="en-US" altLang="ko-KR" dirty="0"/>
          </a:p>
          <a:p>
            <a:pPr lvl="2"/>
            <a:r>
              <a:rPr lang="ko-KR" altLang="en-US" dirty="0"/>
              <a:t>인덱스 </a:t>
            </a:r>
            <a:r>
              <a:rPr lang="en-US" altLang="ko-KR" dirty="0"/>
              <a:t>0 </a:t>
            </a:r>
            <a:r>
              <a:rPr lang="ko-KR" altLang="en-US" dirty="0"/>
              <a:t>사용</a:t>
            </a:r>
            <a:r>
              <a:rPr lang="en-US" altLang="ko-KR" dirty="0"/>
              <a:t>X </a:t>
            </a:r>
            <a:r>
              <a:rPr lang="ko-KR" altLang="en-US" dirty="0"/>
              <a:t>이유</a:t>
            </a:r>
            <a:r>
              <a:rPr lang="en-US" altLang="ko-KR" dirty="0"/>
              <a:t>? : </a:t>
            </a:r>
            <a:r>
              <a:rPr lang="ko-KR" altLang="en-US" dirty="0"/>
              <a:t>노드간 관계 계산 공식이 </a:t>
            </a:r>
            <a:br>
              <a:rPr lang="en-US" altLang="ko-KR" dirty="0"/>
            </a:br>
            <a:r>
              <a:rPr lang="ko-KR" altLang="en-US" dirty="0"/>
              <a:t>숫자</a:t>
            </a:r>
            <a:r>
              <a:rPr lang="en-US" altLang="ko-KR" dirty="0"/>
              <a:t> 0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특징에 의해 적용되기 불편함</a:t>
            </a:r>
            <a:endParaRPr lang="en-US" altLang="ko-KR" dirty="0"/>
          </a:p>
          <a:p>
            <a:pPr lvl="2"/>
            <a:r>
              <a:rPr lang="ko-KR" altLang="en-US" dirty="0"/>
              <a:t>부모</a:t>
            </a:r>
            <a:r>
              <a:rPr lang="en-US" altLang="ko-KR" dirty="0"/>
              <a:t>/</a:t>
            </a:r>
            <a:r>
              <a:rPr lang="ko-KR" altLang="en-US" dirty="0"/>
              <a:t>자식 노드 인덱스 계산 공식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 err="1"/>
              <a:t>i</a:t>
            </a:r>
            <a:r>
              <a:rPr lang="ko-KR" altLang="en-US" dirty="0"/>
              <a:t>인덱스 노드에 대해</a:t>
            </a:r>
            <a:r>
              <a:rPr lang="en-US" altLang="ko-KR" dirty="0"/>
              <a:t>, </a:t>
            </a:r>
            <a:r>
              <a:rPr lang="ko-KR" altLang="en-US" dirty="0"/>
              <a:t>왼 자식 </a:t>
            </a:r>
            <a:r>
              <a:rPr lang="ko-KR" altLang="en-US" dirty="0" err="1"/>
              <a:t>인덱</a:t>
            </a:r>
            <a:r>
              <a:rPr lang="ko-KR" altLang="en-US" dirty="0"/>
              <a:t> </a:t>
            </a:r>
            <a:r>
              <a:rPr lang="en-US" altLang="ko-KR" dirty="0"/>
              <a:t>= 2i, </a:t>
            </a:r>
            <a:br>
              <a:rPr lang="en-US" altLang="ko-KR" dirty="0"/>
            </a:br>
            <a:r>
              <a:rPr lang="ko-KR" altLang="en-US" dirty="0"/>
              <a:t>오른 자식 </a:t>
            </a:r>
            <a:r>
              <a:rPr lang="ko-KR" altLang="en-US" dirty="0" err="1"/>
              <a:t>인덱</a:t>
            </a:r>
            <a:r>
              <a:rPr lang="ko-KR" altLang="en-US" dirty="0"/>
              <a:t> </a:t>
            </a:r>
            <a:r>
              <a:rPr lang="en-US" altLang="ko-KR" dirty="0"/>
              <a:t>= 2i + 1, </a:t>
            </a:r>
            <a:r>
              <a:rPr lang="ko-KR" altLang="en-US" dirty="0"/>
              <a:t>부모 </a:t>
            </a:r>
            <a:r>
              <a:rPr lang="ko-KR" altLang="en-US" dirty="0" err="1"/>
              <a:t>인덱</a:t>
            </a:r>
            <a:r>
              <a:rPr lang="ko-KR" altLang="en-US" dirty="0"/>
              <a:t> </a:t>
            </a:r>
            <a:r>
              <a:rPr lang="en-US" altLang="ko-KR" dirty="0"/>
              <a:t>= floor(</a:t>
            </a:r>
            <a:r>
              <a:rPr lang="en-US" altLang="ko-KR" dirty="0" err="1"/>
              <a:t>i</a:t>
            </a:r>
            <a:r>
              <a:rPr lang="en-US" altLang="ko-KR" dirty="0"/>
              <a:t>/2) (</a:t>
            </a:r>
            <a:r>
              <a:rPr lang="en-US" altLang="ko-KR" dirty="0" err="1"/>
              <a:t>i</a:t>
            </a:r>
            <a:r>
              <a:rPr lang="en-US" altLang="ko-KR" dirty="0"/>
              <a:t>/2 </a:t>
            </a:r>
            <a:r>
              <a:rPr lang="ko-KR" altLang="en-US" dirty="0"/>
              <a:t>를 내림연산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Max heap, Min heap : Max/Min heap : </a:t>
            </a:r>
            <a:r>
              <a:rPr lang="ko-KR" altLang="en-US" dirty="0"/>
              <a:t>값</a:t>
            </a:r>
            <a:r>
              <a:rPr lang="en-US" altLang="ko-KR" dirty="0"/>
              <a:t>↑/</a:t>
            </a:r>
            <a:r>
              <a:rPr lang="ko-KR" altLang="en-US" dirty="0"/>
              <a:t>↓</a:t>
            </a:r>
            <a:r>
              <a:rPr lang="en-US" altLang="ko-KR" dirty="0"/>
              <a:t>→</a:t>
            </a:r>
            <a:r>
              <a:rPr lang="ko-KR" altLang="en-US" dirty="0"/>
              <a:t>우선순위</a:t>
            </a:r>
            <a:r>
              <a:rPr lang="en-US" altLang="ko-KR" dirty="0"/>
              <a:t>↑; </a:t>
            </a:r>
            <a:r>
              <a:rPr lang="ko-KR" altLang="en-US" dirty="0"/>
              <a:t>루트</a:t>
            </a:r>
            <a:r>
              <a:rPr lang="en-US" altLang="ko-KR" dirty="0"/>
              <a:t>→</a:t>
            </a:r>
            <a:r>
              <a:rPr lang="ko-KR" altLang="en-US" dirty="0"/>
              <a:t>가장 큰</a:t>
            </a:r>
            <a:r>
              <a:rPr lang="en-US" altLang="ko-KR" dirty="0"/>
              <a:t>/</a:t>
            </a:r>
            <a:r>
              <a:rPr lang="ko-KR" altLang="en-US" dirty="0"/>
              <a:t>작은 값</a:t>
            </a:r>
            <a:r>
              <a:rPr lang="en-US" altLang="ko-KR" dirty="0"/>
              <a:t>;</a:t>
            </a:r>
          </a:p>
          <a:p>
            <a:r>
              <a:rPr lang="ko-KR" altLang="en-US" dirty="0" err="1"/>
              <a:t>힙</a:t>
            </a:r>
            <a:r>
              <a:rPr lang="ko-KR" altLang="en-US" dirty="0"/>
              <a:t> 연산 </a:t>
            </a:r>
            <a:r>
              <a:rPr lang="en-US" altLang="ko-KR" dirty="0"/>
              <a:t>: </a:t>
            </a:r>
            <a:r>
              <a:rPr lang="ko-KR" altLang="en-US" dirty="0"/>
              <a:t>삭제</a:t>
            </a:r>
            <a:r>
              <a:rPr lang="en-US" altLang="ko-KR" dirty="0"/>
              <a:t>(down heap), </a:t>
            </a:r>
            <a:r>
              <a:rPr lang="ko-KR" altLang="en-US" dirty="0"/>
              <a:t>삽입</a:t>
            </a:r>
            <a:r>
              <a:rPr lang="en-US" altLang="ko-KR" dirty="0"/>
              <a:t>(up heap)</a:t>
            </a:r>
          </a:p>
          <a:p>
            <a:pPr lvl="1"/>
            <a:r>
              <a:rPr lang="en-US" altLang="ko-KR" dirty="0"/>
              <a:t>Down</a:t>
            </a:r>
            <a:r>
              <a:rPr lang="ko-KR" altLang="en-US" dirty="0"/>
              <a:t> </a:t>
            </a:r>
            <a:r>
              <a:rPr lang="en-US" altLang="ko-KR" dirty="0"/>
              <a:t>heap : 1) </a:t>
            </a:r>
            <a:r>
              <a:rPr lang="ko-KR" altLang="en-US" dirty="0" err="1"/>
              <a:t>힙의</a:t>
            </a:r>
            <a:r>
              <a:rPr lang="ko-KR" altLang="en-US" dirty="0"/>
              <a:t> 마지막 노드</a:t>
            </a:r>
            <a:r>
              <a:rPr lang="en-US" altLang="ko-KR" dirty="0"/>
              <a:t>(</a:t>
            </a:r>
            <a:r>
              <a:rPr lang="ko-KR" altLang="en-US" dirty="0"/>
              <a:t>리스트 마지막 항목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루트</a:t>
            </a:r>
            <a:r>
              <a:rPr lang="en-US" altLang="ko-KR" dirty="0"/>
              <a:t>; 2) </a:t>
            </a:r>
            <a:r>
              <a:rPr lang="ko-KR" altLang="en-US" dirty="0" err="1"/>
              <a:t>힙크기</a:t>
            </a:r>
            <a:r>
              <a:rPr lang="ko-KR" altLang="en-US" dirty="0"/>
              <a:t> </a:t>
            </a:r>
            <a:r>
              <a:rPr lang="en-US" altLang="ko-KR" dirty="0"/>
              <a:t>+= -1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루트부터 내려가면서 현재 노드 </a:t>
            </a:r>
            <a:r>
              <a:rPr lang="en-US" altLang="ko-KR" dirty="0"/>
              <a:t>vs </a:t>
            </a:r>
            <a:r>
              <a:rPr lang="ko-KR" altLang="en-US" dirty="0"/>
              <a:t>자식 중</a:t>
            </a:r>
            <a:r>
              <a:rPr lang="en-US" altLang="ko-KR" dirty="0"/>
              <a:t> </a:t>
            </a:r>
            <a:r>
              <a:rPr lang="ko-KR" altLang="en-US" dirty="0"/>
              <a:t>더 우선순위 </a:t>
            </a:r>
            <a:r>
              <a:rPr lang="ko-KR" altLang="en-US" dirty="0" err="1"/>
              <a:t>높</a:t>
            </a:r>
            <a:r>
              <a:rPr lang="ko-KR" altLang="en-US" dirty="0"/>
              <a:t> 자식과 비교</a:t>
            </a:r>
            <a:br>
              <a:rPr lang="en-US" altLang="ko-KR" dirty="0"/>
            </a:br>
            <a:r>
              <a:rPr lang="en-US" altLang="ko-KR" dirty="0"/>
              <a:t>4) </a:t>
            </a:r>
            <a:r>
              <a:rPr lang="ko-KR" altLang="en-US" dirty="0"/>
              <a:t>부모</a:t>
            </a:r>
            <a:r>
              <a:rPr lang="en-US" altLang="ko-KR" dirty="0"/>
              <a:t> &lt; </a:t>
            </a:r>
            <a:r>
              <a:rPr lang="ko-KR" altLang="en-US" dirty="0"/>
              <a:t>자식 우선순위 </a:t>
            </a:r>
            <a:r>
              <a:rPr lang="en-US" altLang="ko-KR" dirty="0"/>
              <a:t>→ </a:t>
            </a:r>
            <a:r>
              <a:rPr lang="ko-KR" altLang="en-US" dirty="0"/>
              <a:t>자리바꿈</a:t>
            </a:r>
            <a:r>
              <a:rPr lang="en-US" altLang="ko-KR" dirty="0"/>
              <a:t>; 5) </a:t>
            </a:r>
            <a:r>
              <a:rPr lang="ko-KR" altLang="en-US" dirty="0" err="1"/>
              <a:t>힙속성</a:t>
            </a:r>
            <a:r>
              <a:rPr lang="ko-KR" altLang="en-US" dirty="0"/>
              <a:t> 만족될 때 까지 반복</a:t>
            </a:r>
            <a:endParaRPr lang="en-US" altLang="ko-KR" dirty="0"/>
          </a:p>
          <a:p>
            <a:pPr lvl="1"/>
            <a:r>
              <a:rPr lang="en-US" altLang="ko-KR" dirty="0"/>
              <a:t>Up heap : 1) </a:t>
            </a:r>
            <a:r>
              <a:rPr lang="ko-KR" altLang="en-US" dirty="0"/>
              <a:t>완전</a:t>
            </a:r>
            <a:r>
              <a:rPr lang="en-US" altLang="ko-KR" dirty="0"/>
              <a:t> </a:t>
            </a:r>
            <a:r>
              <a:rPr lang="ko-KR" altLang="en-US" dirty="0" err="1"/>
              <a:t>이진트리</a:t>
            </a:r>
            <a:r>
              <a:rPr lang="ko-KR" altLang="en-US" dirty="0"/>
              <a:t> 마지막 빈공간에 삽입</a:t>
            </a:r>
            <a:r>
              <a:rPr lang="en-US" altLang="ko-KR" dirty="0"/>
              <a:t>(</a:t>
            </a:r>
            <a:r>
              <a:rPr lang="ko-KR" altLang="en-US" dirty="0"/>
              <a:t>리스트 맨 </a:t>
            </a:r>
            <a:r>
              <a:rPr lang="ko-KR" altLang="en-US" dirty="0" err="1"/>
              <a:t>뒷</a:t>
            </a:r>
            <a:r>
              <a:rPr lang="ko-KR" altLang="en-US" dirty="0"/>
              <a:t> 항목</a:t>
            </a:r>
            <a:r>
              <a:rPr lang="en-US" altLang="ko-KR" dirty="0"/>
              <a:t>) 2) </a:t>
            </a:r>
            <a:r>
              <a:rPr lang="ko-KR" altLang="en-US" dirty="0" err="1"/>
              <a:t>현노드값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부모 </a:t>
            </a:r>
            <a:r>
              <a:rPr lang="ko-KR" altLang="en-US" dirty="0" err="1"/>
              <a:t>노드값</a:t>
            </a:r>
            <a:r>
              <a:rPr lang="ko-KR" altLang="en-US" dirty="0"/>
              <a:t> 비교 </a:t>
            </a:r>
            <a:r>
              <a:rPr lang="en-US" altLang="ko-KR" dirty="0"/>
              <a:t>3) </a:t>
            </a:r>
            <a:r>
              <a:rPr lang="ko-KR" altLang="en-US" dirty="0"/>
              <a:t>부모</a:t>
            </a:r>
            <a:r>
              <a:rPr lang="en-US" altLang="ko-KR" dirty="0"/>
              <a:t> </a:t>
            </a:r>
            <a:r>
              <a:rPr lang="ko-KR" altLang="en-US" dirty="0"/>
              <a:t>우선 </a:t>
            </a:r>
            <a:r>
              <a:rPr lang="en-US" altLang="ko-KR" dirty="0"/>
              <a:t>&lt; </a:t>
            </a:r>
            <a:r>
              <a:rPr lang="ko-KR" altLang="en-US" dirty="0"/>
              <a:t>자식 우선 </a:t>
            </a:r>
            <a:r>
              <a:rPr lang="en-US" altLang="ko-KR" dirty="0"/>
              <a:t>?-&gt; </a:t>
            </a:r>
            <a:r>
              <a:rPr lang="ko-KR" altLang="en-US" dirty="0"/>
              <a:t>위치 교환 </a:t>
            </a:r>
            <a:r>
              <a:rPr lang="en-US" altLang="ko-KR" dirty="0"/>
              <a:t>4) </a:t>
            </a:r>
            <a:r>
              <a:rPr lang="ko-KR" altLang="en-US" dirty="0" err="1"/>
              <a:t>힙속성</a:t>
            </a:r>
            <a:r>
              <a:rPr lang="en-US" altLang="ko-KR" dirty="0"/>
              <a:t> </a:t>
            </a:r>
            <a:r>
              <a:rPr lang="ko-KR" altLang="en-US" dirty="0"/>
              <a:t>만족까지 반복</a:t>
            </a:r>
            <a:endParaRPr lang="en-US" altLang="ko-KR" dirty="0"/>
          </a:p>
          <a:p>
            <a:r>
              <a:rPr lang="ko-KR" altLang="en-US" dirty="0" err="1"/>
              <a:t>힙</a:t>
            </a:r>
            <a:r>
              <a:rPr lang="ko-KR" altLang="en-US" dirty="0"/>
              <a:t> 정렬</a:t>
            </a:r>
            <a:r>
              <a:rPr lang="en-US" altLang="ko-KR" dirty="0"/>
              <a:t>(heap sort) : </a:t>
            </a:r>
            <a:r>
              <a:rPr lang="ko-KR" altLang="en-US" dirty="0" err="1"/>
              <a:t>힙</a:t>
            </a:r>
            <a:r>
              <a:rPr lang="ko-KR" altLang="en-US" dirty="0"/>
              <a:t> 활용해 데이터 정렬</a:t>
            </a:r>
            <a:r>
              <a:rPr lang="en-US" altLang="ko-KR" dirty="0"/>
              <a:t>, </a:t>
            </a:r>
            <a:r>
              <a:rPr lang="ko-KR" altLang="en-US" dirty="0"/>
              <a:t>루트가 가장 크거나 작음을 활용</a:t>
            </a:r>
            <a:endParaRPr lang="en-US" altLang="ko-KR" dirty="0"/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1) </a:t>
            </a:r>
            <a:r>
              <a:rPr lang="ko-KR" altLang="en-US" dirty="0"/>
              <a:t>초기 </a:t>
            </a:r>
            <a:r>
              <a:rPr lang="ko-KR" altLang="en-US" dirty="0" err="1"/>
              <a:t>힙</a:t>
            </a:r>
            <a:r>
              <a:rPr lang="ko-KR" altLang="en-US" dirty="0"/>
              <a:t> 구성 </a:t>
            </a:r>
            <a:r>
              <a:rPr lang="en-US" altLang="ko-KR" dirty="0"/>
              <a:t>: </a:t>
            </a:r>
            <a:r>
              <a:rPr lang="ko-KR" altLang="en-US" dirty="0"/>
              <a:t>정렬 데이터로 </a:t>
            </a:r>
            <a:r>
              <a:rPr lang="en-US" altLang="ko-KR" dirty="0"/>
              <a:t>heap</a:t>
            </a:r>
            <a:r>
              <a:rPr lang="ko-KR" altLang="en-US" dirty="0"/>
              <a:t>을 구성</a:t>
            </a:r>
            <a:r>
              <a:rPr lang="en-US" altLang="ko-KR" dirty="0"/>
              <a:t> 2) : </a:t>
            </a:r>
            <a:r>
              <a:rPr lang="ko-KR" altLang="en-US" dirty="0"/>
              <a:t>루트</a:t>
            </a:r>
            <a:r>
              <a:rPr lang="en-US" altLang="ko-KR" dirty="0"/>
              <a:t> </a:t>
            </a:r>
            <a:r>
              <a:rPr lang="ko-KR" altLang="en-US" dirty="0"/>
              <a:t>추출 및 재구성 반복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루트와</a:t>
            </a:r>
            <a:r>
              <a:rPr lang="en-US" altLang="ko-KR" dirty="0"/>
              <a:t> </a:t>
            </a:r>
            <a:r>
              <a:rPr lang="ko-KR" altLang="en-US" dirty="0"/>
              <a:t>마지막 노드 교환</a:t>
            </a:r>
            <a:r>
              <a:rPr lang="en-US" altLang="ko-KR" dirty="0"/>
              <a:t>(</a:t>
            </a:r>
            <a:r>
              <a:rPr lang="ko-KR" altLang="en-US" dirty="0"/>
              <a:t>루트를 빼서 정렬 공간 끝에 저장</a:t>
            </a:r>
            <a:r>
              <a:rPr lang="en-US" altLang="ko-KR" dirty="0"/>
              <a:t>. </a:t>
            </a:r>
            <a:r>
              <a:rPr lang="ko-KR" altLang="en-US" dirty="0"/>
              <a:t>기존배열 활용 위함</a:t>
            </a:r>
            <a:r>
              <a:rPr lang="en-US" altLang="ko-KR" dirty="0"/>
              <a:t>) → </a:t>
            </a:r>
            <a:br>
              <a:rPr lang="en-US" altLang="ko-KR" dirty="0"/>
            </a:br>
            <a:r>
              <a:rPr lang="ko-KR" altLang="en-US" dirty="0" err="1"/>
              <a:t>힙크기</a:t>
            </a:r>
            <a:r>
              <a:rPr lang="ko-KR" altLang="en-US" dirty="0"/>
              <a:t> </a:t>
            </a:r>
            <a:r>
              <a:rPr lang="en-US" altLang="ko-KR" dirty="0"/>
              <a:t>+= -1 → </a:t>
            </a:r>
            <a:r>
              <a:rPr lang="ko-KR" altLang="en-US" dirty="0"/>
              <a:t>다운</a:t>
            </a:r>
            <a:r>
              <a:rPr lang="en-US" altLang="ko-KR" dirty="0"/>
              <a:t> </a:t>
            </a:r>
            <a:r>
              <a:rPr lang="ko-KR" altLang="en-US" dirty="0" err="1"/>
              <a:t>힙으로</a:t>
            </a:r>
            <a:r>
              <a:rPr lang="ko-KR" altLang="en-US" dirty="0"/>
              <a:t> </a:t>
            </a:r>
            <a:r>
              <a:rPr lang="ko-KR" altLang="en-US" dirty="0" err="1"/>
              <a:t>힙</a:t>
            </a:r>
            <a:r>
              <a:rPr lang="ko-KR" altLang="en-US" dirty="0"/>
              <a:t> 속성 다시 만족</a:t>
            </a:r>
            <a:r>
              <a:rPr lang="en-US" altLang="ko-KR" dirty="0"/>
              <a:t> → </a:t>
            </a:r>
            <a:r>
              <a:rPr lang="ko-KR" altLang="en-US" dirty="0" err="1"/>
              <a:t>힙</a:t>
            </a:r>
            <a:r>
              <a:rPr lang="en-US" altLang="ko-KR" dirty="0"/>
              <a:t> </a:t>
            </a:r>
            <a:r>
              <a:rPr lang="ko-KR" altLang="en-US" dirty="0"/>
              <a:t>크기 </a:t>
            </a:r>
            <a:r>
              <a:rPr lang="en-US" altLang="ko-KR" dirty="0"/>
              <a:t>= 1 </a:t>
            </a:r>
            <a:r>
              <a:rPr lang="ko-KR" altLang="en-US" dirty="0"/>
              <a:t>까지</a:t>
            </a:r>
            <a:r>
              <a:rPr lang="en-US" altLang="ko-KR" dirty="0"/>
              <a:t> </a:t>
            </a:r>
            <a:r>
              <a:rPr lang="ko-KR" altLang="en-US" dirty="0"/>
              <a:t>반복</a:t>
            </a:r>
            <a:endParaRPr lang="en-US" altLang="ko-KR" dirty="0"/>
          </a:p>
          <a:p>
            <a:pPr lvl="1"/>
            <a:r>
              <a:rPr lang="ko-KR" altLang="en-US" dirty="0"/>
              <a:t>시간 복잡도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초기</a:t>
            </a:r>
            <a:r>
              <a:rPr lang="en-US" altLang="ko-KR" dirty="0"/>
              <a:t> </a:t>
            </a:r>
            <a:r>
              <a:rPr lang="ko-KR" altLang="en-US" dirty="0" err="1"/>
              <a:t>힙</a:t>
            </a:r>
            <a:r>
              <a:rPr lang="ko-KR" altLang="en-US" dirty="0"/>
              <a:t> 구성 </a:t>
            </a:r>
            <a:r>
              <a:rPr lang="en-US" altLang="ko-KR" dirty="0"/>
              <a:t>: O(n); 2) </a:t>
            </a:r>
            <a:r>
              <a:rPr lang="ko-KR" altLang="en-US" dirty="0"/>
              <a:t>변수 초기화시 </a:t>
            </a:r>
            <a:r>
              <a:rPr lang="en-US" altLang="ko-KR" dirty="0"/>
              <a:t>O(1), 3) </a:t>
            </a:r>
            <a:r>
              <a:rPr lang="ko-KR" altLang="en-US" dirty="0"/>
              <a:t>반복추출 및 </a:t>
            </a:r>
            <a:r>
              <a:rPr lang="ko-KR" altLang="en-US" dirty="0" err="1"/>
              <a:t>다운힙</a:t>
            </a:r>
            <a:r>
              <a:rPr lang="ko-KR" altLang="en-US" dirty="0"/>
              <a:t> </a:t>
            </a:r>
            <a:r>
              <a:rPr lang="en-US" altLang="ko-KR" dirty="0"/>
              <a:t>: for</a:t>
            </a:r>
            <a:r>
              <a:rPr lang="ko-KR" altLang="en-US" dirty="0"/>
              <a:t> 루프는 </a:t>
            </a:r>
            <a:br>
              <a:rPr lang="en-US" altLang="ko-KR" dirty="0"/>
            </a:br>
            <a:r>
              <a:rPr lang="en-US" altLang="ko-KR" dirty="0"/>
              <a:t>N-1</a:t>
            </a:r>
            <a:r>
              <a:rPr lang="ko-KR" altLang="en-US" dirty="0"/>
              <a:t>번</a:t>
            </a:r>
            <a:r>
              <a:rPr lang="en-US" altLang="ko-KR" dirty="0"/>
              <a:t>, </a:t>
            </a:r>
            <a:r>
              <a:rPr lang="ko-KR" altLang="en-US" dirty="0"/>
              <a:t>루프 내부는 </a:t>
            </a:r>
            <a:r>
              <a:rPr lang="en-US" altLang="ko-KR" dirty="0"/>
              <a:t>O(1); down</a:t>
            </a:r>
            <a:r>
              <a:rPr lang="ko-KR" altLang="en-US" dirty="0"/>
              <a:t> </a:t>
            </a:r>
            <a:r>
              <a:rPr lang="en-US" altLang="ko-KR" dirty="0"/>
              <a:t>heap</a:t>
            </a:r>
            <a:r>
              <a:rPr lang="ko-KR" altLang="en-US" dirty="0"/>
              <a:t> 최악의 경우 </a:t>
            </a:r>
            <a:r>
              <a:rPr lang="ko-KR" altLang="en-US" dirty="0" err="1"/>
              <a:t>힙의</a:t>
            </a:r>
            <a:r>
              <a:rPr lang="ko-KR" altLang="en-US" dirty="0"/>
              <a:t> 깊이</a:t>
            </a:r>
            <a:r>
              <a:rPr lang="en-US" altLang="ko-KR" dirty="0"/>
              <a:t> log2(n)</a:t>
            </a:r>
            <a:r>
              <a:rPr lang="ko-KR" altLang="en-US" dirty="0"/>
              <a:t>만큼 반복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ko-KR" altLang="en-US" dirty="0" err="1"/>
              <a:t>시복은</a:t>
            </a:r>
            <a:r>
              <a:rPr lang="ko-KR" altLang="en-US" dirty="0"/>
              <a:t> </a:t>
            </a:r>
            <a:r>
              <a:rPr lang="en-US" altLang="ko-KR" dirty="0"/>
              <a:t>O(</a:t>
            </a:r>
            <a:r>
              <a:rPr lang="en-US" altLang="ko-KR" dirty="0" err="1"/>
              <a:t>nlogn</a:t>
            </a:r>
            <a:r>
              <a:rPr lang="en-US" altLang="ko-KR" dirty="0"/>
              <a:t>);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</a:t>
            </a:r>
            <a:r>
              <a:rPr lang="en-US" altLang="ko-KR" dirty="0"/>
              <a:t>1),</a:t>
            </a:r>
            <a:r>
              <a:rPr lang="ko-KR" altLang="en-US" dirty="0"/>
              <a:t> </a:t>
            </a:r>
            <a:r>
              <a:rPr lang="en-US" altLang="ko-KR" dirty="0"/>
              <a:t>2), 3)</a:t>
            </a:r>
            <a:r>
              <a:rPr lang="ko-KR" altLang="en-US" dirty="0"/>
              <a:t> 에 따라서 가장 큰 </a:t>
            </a:r>
            <a:r>
              <a:rPr lang="ko-KR" altLang="en-US" dirty="0" err="1"/>
              <a:t>시복만</a:t>
            </a:r>
            <a:r>
              <a:rPr lang="ko-KR" altLang="en-US" dirty="0"/>
              <a:t> 남음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전체 </a:t>
            </a:r>
            <a:r>
              <a:rPr lang="en-US" altLang="ko-KR" dirty="0"/>
              <a:t>= O(n) + O(n-1) * O(</a:t>
            </a:r>
            <a:r>
              <a:rPr lang="en-US" altLang="ko-KR" dirty="0" err="1"/>
              <a:t>logn</a:t>
            </a:r>
            <a:r>
              <a:rPr lang="en-US" altLang="ko-KR" dirty="0"/>
              <a:t>) = O(</a:t>
            </a:r>
            <a:r>
              <a:rPr lang="en-US" altLang="ko-KR" dirty="0" err="1"/>
              <a:t>nlogn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719EE5-6562-B7FF-79A8-30EEC2C9862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4746EB-C5FC-BDEE-B744-A94E61A77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51" y="2288704"/>
            <a:ext cx="1872209" cy="5651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A47A29-FF40-0DCF-F053-B2C0766D68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59" t="1880" r="2793" b="1880"/>
          <a:stretch>
            <a:fillRect/>
          </a:stretch>
        </p:blipFill>
        <p:spPr>
          <a:xfrm>
            <a:off x="5163143" y="3440832"/>
            <a:ext cx="1636587" cy="109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40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25AA5A0-4608-0707-1199-D838936CF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9ACCE6C-8738-FCE7-E524-0BFBF48D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E6D327-4F97-2FFD-27B7-4ABC96CE6E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A2335C2-8477-8966-AD38-65C208EFF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그래프</a:t>
            </a:r>
            <a:endParaRPr lang="en-US" altLang="ko-KR" dirty="0"/>
          </a:p>
          <a:p>
            <a:pPr lvl="1"/>
            <a:r>
              <a:rPr lang="ko-KR" altLang="en-US" b="1" dirty="0"/>
              <a:t>정의</a:t>
            </a:r>
            <a:r>
              <a:rPr lang="ko-KR" altLang="en-US" dirty="0"/>
              <a:t> </a:t>
            </a:r>
            <a:r>
              <a:rPr lang="en-US" altLang="ko-KR" dirty="0"/>
              <a:t>: G=(V,E)</a:t>
            </a:r>
            <a:r>
              <a:rPr lang="ko-KR" altLang="en-US" dirty="0"/>
              <a:t>는 유한개의 정점</a:t>
            </a:r>
            <a:r>
              <a:rPr lang="en-US" altLang="ko-KR" dirty="0"/>
              <a:t>(=</a:t>
            </a:r>
            <a:r>
              <a:rPr lang="ko-KR" altLang="en-US" dirty="0"/>
              <a:t>노드</a:t>
            </a:r>
            <a:r>
              <a:rPr lang="en-US" altLang="ko-KR" dirty="0"/>
              <a:t>)</a:t>
            </a:r>
            <a:r>
              <a:rPr lang="ko-KR" altLang="en-US" dirty="0"/>
              <a:t>들의 집합</a:t>
            </a:r>
            <a:r>
              <a:rPr lang="en-US" altLang="ko-KR" dirty="0"/>
              <a:t>V</a:t>
            </a:r>
            <a:r>
              <a:rPr lang="ko-KR" altLang="en-US" dirty="0"/>
              <a:t>와 정점의</a:t>
            </a:r>
            <a:r>
              <a:rPr lang="en-US" altLang="ko-KR" dirty="0"/>
              <a:t> </a:t>
            </a:r>
            <a:r>
              <a:rPr lang="ko-KR" altLang="en-US" dirty="0"/>
              <a:t>쌍인 연결선의 집합</a:t>
            </a:r>
            <a:r>
              <a:rPr lang="en-US" altLang="ko-KR" dirty="0"/>
              <a:t>E</a:t>
            </a:r>
            <a:r>
              <a:rPr lang="ko-KR" altLang="en-US" dirty="0"/>
              <a:t>로 구성됨 </a:t>
            </a:r>
            <a:r>
              <a:rPr lang="en-US" altLang="ko-KR" dirty="0"/>
              <a:t>ex) G(V,</a:t>
            </a:r>
            <a:r>
              <a:rPr lang="ko-KR" altLang="en-US" dirty="0"/>
              <a:t> </a:t>
            </a:r>
            <a:r>
              <a:rPr lang="en-US" altLang="ko-KR" dirty="0"/>
              <a:t>E), V={1,2,3,4},</a:t>
            </a:r>
            <a:r>
              <a:rPr lang="ko-KR" altLang="en-US" dirty="0"/>
              <a:t> </a:t>
            </a:r>
            <a:r>
              <a:rPr lang="en-US" altLang="ko-KR" dirty="0"/>
              <a:t>E={(1,2),(2,3),(2,4)}</a:t>
            </a:r>
          </a:p>
          <a:p>
            <a:pPr lvl="1"/>
            <a:r>
              <a:rPr lang="ko-KR" altLang="en-US" dirty="0"/>
              <a:t>용어 </a:t>
            </a:r>
            <a:r>
              <a:rPr lang="en-US" altLang="ko-KR" dirty="0"/>
              <a:t>: </a:t>
            </a:r>
            <a:r>
              <a:rPr lang="ko-KR" altLang="en-US" b="1" dirty="0"/>
              <a:t>방향그래프</a:t>
            </a:r>
            <a:r>
              <a:rPr lang="en-US" altLang="ko-KR" dirty="0"/>
              <a:t> : </a:t>
            </a:r>
            <a:r>
              <a:rPr lang="ko-KR" altLang="en-US" dirty="0"/>
              <a:t>방향</a:t>
            </a:r>
            <a:r>
              <a:rPr lang="en-US" altLang="ko-KR" dirty="0"/>
              <a:t>O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연결선 </a:t>
            </a:r>
            <a:r>
              <a:rPr lang="en-US" altLang="ko-KR" dirty="0"/>
              <a:t>= </a:t>
            </a:r>
            <a:r>
              <a:rPr lang="ko-KR" altLang="en-US" dirty="0"/>
              <a:t>화살표 ↔ 무방향그래프</a:t>
            </a:r>
            <a:br>
              <a:rPr lang="en-US" altLang="ko-KR" dirty="0"/>
            </a:br>
            <a:r>
              <a:rPr lang="ko-KR" altLang="en-US" b="1" dirty="0"/>
              <a:t>경로</a:t>
            </a:r>
            <a:r>
              <a:rPr lang="en-US" altLang="ko-KR" dirty="0"/>
              <a:t> : </a:t>
            </a:r>
            <a:r>
              <a:rPr lang="ko-KR" altLang="en-US" dirty="0"/>
              <a:t>모든</a:t>
            </a:r>
            <a:r>
              <a:rPr lang="en-US" altLang="ko-KR" dirty="0"/>
              <a:t> 1</a:t>
            </a:r>
            <a:r>
              <a:rPr lang="ko-KR" altLang="en-US" dirty="0"/>
              <a:t>≤</a:t>
            </a:r>
            <a:r>
              <a:rPr lang="en-US" altLang="ko-KR" dirty="0" err="1"/>
              <a:t>i</a:t>
            </a:r>
            <a:r>
              <a:rPr lang="en-US" altLang="ko-KR" dirty="0"/>
              <a:t>&lt;k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대해</a:t>
            </a:r>
            <a:r>
              <a:rPr lang="en-US" altLang="ko-KR" dirty="0"/>
              <a:t>, </a:t>
            </a:r>
            <a:r>
              <a:rPr lang="ko-KR" altLang="en-US" dirty="0"/>
              <a:t>연결선</a:t>
            </a:r>
            <a:r>
              <a:rPr lang="en-US" altLang="ko-KR" dirty="0"/>
              <a:t>(vi, vi+1) </a:t>
            </a:r>
            <a:r>
              <a:rPr lang="ko-KR" altLang="en-US" dirty="0"/>
              <a:t>가 존재</a:t>
            </a:r>
            <a:r>
              <a:rPr lang="en-US" altLang="ko-KR" dirty="0"/>
              <a:t>  → </a:t>
            </a:r>
            <a:r>
              <a:rPr lang="ko-KR" altLang="en-US" dirty="0"/>
              <a:t>정점들의 열</a:t>
            </a:r>
            <a:r>
              <a:rPr lang="en-US" altLang="ko-KR" dirty="0"/>
              <a:t>(sequence) (v1,v2, … </a:t>
            </a:r>
            <a:r>
              <a:rPr lang="en-US" altLang="ko-KR" dirty="0" err="1"/>
              <a:t>vk</a:t>
            </a:r>
            <a:r>
              <a:rPr lang="en-US" altLang="ko-KR" dirty="0"/>
              <a:t>)</a:t>
            </a:r>
            <a:r>
              <a:rPr lang="ko-KR" altLang="en-US" dirty="0"/>
              <a:t>에 대해 </a:t>
            </a:r>
            <a:r>
              <a:rPr lang="en-US" altLang="ko-KR" dirty="0"/>
              <a:t>(vk,vk+1)</a:t>
            </a:r>
            <a:r>
              <a:rPr lang="ko-KR" altLang="en-US" dirty="0"/>
              <a:t>∈</a:t>
            </a:r>
            <a:r>
              <a:rPr lang="en-US" altLang="ko-KR" dirty="0"/>
              <a:t>Ek</a:t>
            </a:r>
            <a:r>
              <a:rPr lang="ko-KR" altLang="en-US" dirty="0"/>
              <a:t> 를 말함</a:t>
            </a:r>
            <a:r>
              <a:rPr lang="en-US" altLang="ko-KR" dirty="0"/>
              <a:t>; K </a:t>
            </a:r>
            <a:r>
              <a:rPr lang="ko-KR" altLang="en-US" dirty="0"/>
              <a:t>≥</a:t>
            </a:r>
            <a:r>
              <a:rPr lang="en-US" altLang="ko-KR" dirty="0"/>
              <a:t>1, </a:t>
            </a:r>
            <a:r>
              <a:rPr lang="ko-KR" altLang="en-US" dirty="0"/>
              <a:t>경로</a:t>
            </a:r>
            <a:r>
              <a:rPr lang="en-US" altLang="ko-KR" dirty="0"/>
              <a:t> </a:t>
            </a:r>
            <a:r>
              <a:rPr lang="ko-KR" altLang="en-US" dirty="0"/>
              <a:t>길이는 </a:t>
            </a:r>
            <a:r>
              <a:rPr lang="en-US" altLang="ko-KR" dirty="0"/>
              <a:t>k-1</a:t>
            </a:r>
            <a:br>
              <a:rPr lang="en-US" altLang="ko-KR" dirty="0"/>
            </a:br>
            <a:r>
              <a:rPr lang="ko-KR" altLang="en-US" b="1" dirty="0"/>
              <a:t>단순경로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같은 </a:t>
            </a:r>
            <a:r>
              <a:rPr lang="ko-KR" altLang="en-US" dirty="0" err="1"/>
              <a:t>엣지를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번 포함</a:t>
            </a:r>
            <a:r>
              <a:rPr lang="en-US" altLang="ko-KR" dirty="0"/>
              <a:t>X </a:t>
            </a:r>
            <a:r>
              <a:rPr lang="ko-KR" altLang="en-US" dirty="0"/>
              <a:t>경로</a:t>
            </a:r>
            <a:r>
              <a:rPr lang="en-US" altLang="ko-KR" dirty="0"/>
              <a:t>; </a:t>
            </a:r>
            <a:r>
              <a:rPr lang="ko-KR" altLang="en-US" b="1" dirty="0"/>
              <a:t>기본경로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같은 정점을 </a:t>
            </a:r>
            <a:r>
              <a:rPr lang="en-US" altLang="ko-KR" dirty="0"/>
              <a:t>2</a:t>
            </a:r>
            <a:r>
              <a:rPr lang="ko-KR" altLang="en-US" dirty="0"/>
              <a:t>번 만나지</a:t>
            </a:r>
            <a:r>
              <a:rPr lang="en-US" altLang="ko-KR" dirty="0"/>
              <a:t>X </a:t>
            </a:r>
            <a:r>
              <a:rPr lang="ko-KR" altLang="en-US" dirty="0"/>
              <a:t>경로</a:t>
            </a:r>
            <a:br>
              <a:rPr lang="en-US" altLang="ko-KR" dirty="0"/>
            </a:br>
            <a:r>
              <a:rPr lang="ko-KR" altLang="en-US" b="1" dirty="0"/>
              <a:t>사이클</a:t>
            </a:r>
            <a:r>
              <a:rPr lang="en-US" altLang="ko-KR" b="1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경로 </a:t>
            </a:r>
            <a:r>
              <a:rPr lang="en-US" altLang="ko-KR" dirty="0"/>
              <a:t>(v1, v2, … , </a:t>
            </a:r>
            <a:r>
              <a:rPr lang="en-US" altLang="ko-KR" dirty="0" err="1"/>
              <a:t>vn</a:t>
            </a:r>
            <a:r>
              <a:rPr lang="en-US" altLang="ko-KR" dirty="0"/>
              <a:t>) </a:t>
            </a:r>
            <a:r>
              <a:rPr lang="ko-KR" altLang="en-US" dirty="0"/>
              <a:t>에서 종점 </a:t>
            </a:r>
            <a:r>
              <a:rPr lang="en-US" altLang="ko-KR" dirty="0" err="1"/>
              <a:t>vn</a:t>
            </a:r>
            <a:r>
              <a:rPr lang="ko-KR" altLang="en-US" dirty="0"/>
              <a:t>과 시점 </a:t>
            </a:r>
            <a:r>
              <a:rPr lang="en-US" altLang="ko-KR" dirty="0"/>
              <a:t>v1</a:t>
            </a:r>
            <a:r>
              <a:rPr lang="ko-KR" altLang="en-US" dirty="0"/>
              <a:t>이 같은 경우</a:t>
            </a:r>
            <a:br>
              <a:rPr lang="en-US" altLang="ko-KR" dirty="0"/>
            </a:br>
            <a:r>
              <a:rPr lang="ko-KR" altLang="en-US" b="1" dirty="0"/>
              <a:t>단순사이클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같은</a:t>
            </a:r>
            <a:r>
              <a:rPr lang="en-US" altLang="ko-KR" dirty="0"/>
              <a:t> </a:t>
            </a:r>
            <a:r>
              <a:rPr lang="ko-KR" altLang="en-US" dirty="0" err="1"/>
              <a:t>엣지</a:t>
            </a:r>
            <a:r>
              <a:rPr lang="ko-KR" altLang="en-US" dirty="0"/>
              <a:t> 중복 방문</a:t>
            </a:r>
            <a:r>
              <a:rPr lang="en-US" altLang="ko-KR" dirty="0"/>
              <a:t>X, </a:t>
            </a:r>
            <a:r>
              <a:rPr lang="ko-KR" altLang="en-US" b="1" dirty="0"/>
              <a:t>기본사이클</a:t>
            </a:r>
            <a:r>
              <a:rPr lang="en-US" altLang="ko-KR" dirty="0"/>
              <a:t>: </a:t>
            </a:r>
            <a:r>
              <a:rPr lang="ko-KR" altLang="en-US" dirty="0"/>
              <a:t>시점 제외</a:t>
            </a:r>
            <a:r>
              <a:rPr lang="en-US" altLang="ko-KR" dirty="0"/>
              <a:t>, </a:t>
            </a:r>
            <a:r>
              <a:rPr lang="ko-KR" altLang="en-US" dirty="0"/>
              <a:t>어떤 정점도 중복 방문</a:t>
            </a:r>
            <a:r>
              <a:rPr lang="en-US" altLang="ko-KR" dirty="0"/>
              <a:t>X </a:t>
            </a:r>
            <a:br>
              <a:rPr lang="en-US" altLang="ko-KR" dirty="0"/>
            </a:br>
            <a:r>
              <a:rPr lang="ko-KR" altLang="en-US" b="1" dirty="0"/>
              <a:t>연결선</a:t>
            </a:r>
            <a:r>
              <a:rPr lang="ko-KR" altLang="en-US" dirty="0"/>
              <a:t> </a:t>
            </a:r>
            <a:r>
              <a:rPr lang="en-US" altLang="ko-KR" dirty="0"/>
              <a:t>: G=(V,E)</a:t>
            </a:r>
            <a:r>
              <a:rPr lang="ko-KR" altLang="en-US" dirty="0"/>
              <a:t>에서의 순서쌍 </a:t>
            </a:r>
            <a:r>
              <a:rPr lang="en-US" altLang="ko-KR" dirty="0"/>
              <a:t>E;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u,v</a:t>
            </a:r>
            <a:r>
              <a:rPr lang="en-US" altLang="ko-KR" dirty="0"/>
              <a:t>)</a:t>
            </a:r>
            <a:r>
              <a:rPr lang="ko-KR" altLang="en-US" dirty="0"/>
              <a:t>∈</a:t>
            </a:r>
            <a:r>
              <a:rPr lang="en-US" altLang="ko-KR" dirty="0"/>
              <a:t>E </a:t>
            </a:r>
            <a:r>
              <a:rPr lang="ko-KR" altLang="en-US" dirty="0"/>
              <a:t>에서</a:t>
            </a:r>
            <a:r>
              <a:rPr lang="en-US" altLang="ko-KR" dirty="0"/>
              <a:t>, e=(</a:t>
            </a:r>
            <a:r>
              <a:rPr lang="en-US" altLang="ko-KR" dirty="0" err="1"/>
              <a:t>u,v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 err="1"/>
              <a:t>u,v</a:t>
            </a:r>
            <a:r>
              <a:rPr lang="ko-KR" altLang="en-US" dirty="0"/>
              <a:t>에 대해 </a:t>
            </a:r>
            <a:r>
              <a:rPr lang="ko-KR" altLang="en-US" b="1" dirty="0"/>
              <a:t>접했다</a:t>
            </a:r>
            <a:r>
              <a:rPr lang="en-US" altLang="ko-KR" dirty="0"/>
              <a:t>(</a:t>
            </a:r>
            <a:r>
              <a:rPr lang="en-US" altLang="ko-KR" dirty="0" err="1"/>
              <a:t>indident</a:t>
            </a:r>
            <a:r>
              <a:rPr lang="en-US" altLang="ko-KR" dirty="0"/>
              <a:t>)</a:t>
            </a:r>
            <a:r>
              <a:rPr lang="ko-KR" altLang="en-US" dirty="0"/>
              <a:t>고 하고 </a:t>
            </a:r>
            <a:r>
              <a:rPr lang="en-US" altLang="ko-KR" dirty="0" err="1"/>
              <a:t>u,v</a:t>
            </a:r>
            <a:r>
              <a:rPr lang="ko-KR" altLang="en-US" dirty="0"/>
              <a:t>는 서로 </a:t>
            </a:r>
            <a:r>
              <a:rPr lang="ko-KR" altLang="en-US" b="1" dirty="0"/>
              <a:t>인접했다</a:t>
            </a:r>
            <a:r>
              <a:rPr lang="en-US" altLang="ko-KR" dirty="0"/>
              <a:t>(adjacent)</a:t>
            </a:r>
            <a:r>
              <a:rPr lang="ko-KR" altLang="en-US" dirty="0"/>
              <a:t>고</a:t>
            </a:r>
            <a:r>
              <a:rPr lang="en-US" altLang="ko-KR" dirty="0"/>
              <a:t> </a:t>
            </a:r>
            <a:r>
              <a:rPr lang="ko-KR" altLang="en-US" dirty="0"/>
              <a:t>표현</a:t>
            </a:r>
            <a:br>
              <a:rPr lang="en-US" altLang="ko-KR" dirty="0"/>
            </a:br>
            <a:r>
              <a:rPr lang="ko-KR" altLang="en-US" dirty="0"/>
              <a:t>차수</a:t>
            </a:r>
            <a:r>
              <a:rPr lang="en-US" altLang="ko-KR" dirty="0"/>
              <a:t> : G=(V,E)</a:t>
            </a:r>
            <a:r>
              <a:rPr lang="ko-KR" altLang="en-US" dirty="0"/>
              <a:t>의 정점 </a:t>
            </a:r>
            <a:r>
              <a:rPr lang="en-US" altLang="ko-KR" dirty="0"/>
              <a:t>v</a:t>
            </a:r>
            <a:r>
              <a:rPr lang="ko-KR" altLang="en-US" dirty="0"/>
              <a:t>에 대해 </a:t>
            </a:r>
            <a:r>
              <a:rPr lang="en-US" altLang="ko-KR" dirty="0"/>
              <a:t>v</a:t>
            </a:r>
            <a:r>
              <a:rPr lang="ko-KR" altLang="en-US" dirty="0"/>
              <a:t>의 차수 </a:t>
            </a:r>
            <a:r>
              <a:rPr lang="en-US" altLang="ko-KR" dirty="0"/>
              <a:t>d(v)</a:t>
            </a:r>
            <a:r>
              <a:rPr lang="ko-KR" altLang="en-US" dirty="0"/>
              <a:t>는 </a:t>
            </a:r>
            <a:r>
              <a:rPr lang="en-US" altLang="ko-KR" dirty="0"/>
              <a:t>v</a:t>
            </a:r>
            <a:r>
              <a:rPr lang="ko-KR" altLang="en-US" dirty="0"/>
              <a:t>에 인접하는 연결선의 개수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자기 자신으로의 </a:t>
            </a:r>
            <a:r>
              <a:rPr lang="ko-KR" altLang="en-US" dirty="0" err="1"/>
              <a:t>엣지가</a:t>
            </a:r>
            <a:r>
              <a:rPr lang="ko-KR" altLang="en-US" dirty="0"/>
              <a:t> 있을 때</a:t>
            </a:r>
            <a:r>
              <a:rPr lang="en-US" altLang="ko-KR" dirty="0"/>
              <a:t>, </a:t>
            </a:r>
            <a:r>
              <a:rPr lang="ko-KR" altLang="en-US" dirty="0"/>
              <a:t>차수는 </a:t>
            </a:r>
            <a:r>
              <a:rPr lang="en-US" altLang="ko-KR" dirty="0"/>
              <a:t>2</a:t>
            </a:r>
            <a:r>
              <a:rPr lang="ko-KR" altLang="en-US" dirty="0"/>
              <a:t>로 계산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그래프의 여러 형태</a:t>
            </a:r>
            <a:endParaRPr lang="en-US" altLang="ko-KR" dirty="0"/>
          </a:p>
          <a:p>
            <a:pPr lvl="1"/>
            <a:r>
              <a:rPr lang="ko-KR" altLang="en-US" b="1" dirty="0"/>
              <a:t>방향그래프</a:t>
            </a:r>
            <a:r>
              <a:rPr lang="en-US" altLang="ko-KR" dirty="0"/>
              <a:t>(</a:t>
            </a:r>
            <a:r>
              <a:rPr lang="ko-KR" altLang="en-US" dirty="0" err="1"/>
              <a:t>다이그래프</a:t>
            </a:r>
            <a:r>
              <a:rPr lang="en-US" altLang="ko-KR" dirty="0"/>
              <a:t>) : G=(V,E)</a:t>
            </a:r>
            <a:r>
              <a:rPr lang="ko-KR" altLang="en-US" dirty="0"/>
              <a:t>에 대해</a:t>
            </a:r>
            <a:r>
              <a:rPr lang="en-US" altLang="ko-KR" dirty="0"/>
              <a:t>, V</a:t>
            </a:r>
            <a:r>
              <a:rPr lang="ko-KR" altLang="en-US" dirty="0"/>
              <a:t>는 정점들의 집합</a:t>
            </a:r>
            <a:r>
              <a:rPr lang="en-US" altLang="ko-KR" dirty="0"/>
              <a:t>, E</a:t>
            </a:r>
            <a:r>
              <a:rPr lang="ko-KR" altLang="en-US" dirty="0"/>
              <a:t>는 정점의 순서쌍인 연결선</a:t>
            </a:r>
            <a:r>
              <a:rPr lang="en-US" altLang="ko-KR" dirty="0"/>
              <a:t>(=</a:t>
            </a:r>
            <a:r>
              <a:rPr lang="ko-KR" altLang="en-US" dirty="0"/>
              <a:t>아크</a:t>
            </a:r>
            <a:r>
              <a:rPr lang="en-US" altLang="ko-KR" dirty="0"/>
              <a:t>)</a:t>
            </a:r>
            <a:r>
              <a:rPr lang="ko-KR" altLang="en-US" dirty="0"/>
              <a:t>들의 </a:t>
            </a:r>
            <a:r>
              <a:rPr lang="ko-KR" altLang="en-US" dirty="0" err="1"/>
              <a:t>입합</a:t>
            </a:r>
            <a:r>
              <a:rPr lang="en-US" altLang="ko-KR" dirty="0"/>
              <a:t>. </a:t>
            </a:r>
            <a:r>
              <a:rPr lang="ko-KR" altLang="en-US" dirty="0"/>
              <a:t>정점 </a:t>
            </a:r>
            <a:r>
              <a:rPr lang="en-US" altLang="ko-KR" dirty="0"/>
              <a:t>v(</a:t>
            </a:r>
            <a:r>
              <a:rPr lang="ko-KR" altLang="en-US" dirty="0" err="1"/>
              <a:t>선행자</a:t>
            </a:r>
            <a:r>
              <a:rPr lang="en-US" altLang="ko-KR" dirty="0"/>
              <a:t>)</a:t>
            </a:r>
            <a:r>
              <a:rPr lang="ko-KR" altLang="en-US" dirty="0"/>
              <a:t>에서</a:t>
            </a:r>
            <a:r>
              <a:rPr lang="en-US" altLang="ko-KR" dirty="0"/>
              <a:t> w(</a:t>
            </a:r>
            <a:r>
              <a:rPr lang="ko-KR" altLang="en-US" dirty="0" err="1"/>
              <a:t>후속자</a:t>
            </a:r>
            <a:r>
              <a:rPr lang="en-US" altLang="ko-KR" dirty="0"/>
              <a:t>)</a:t>
            </a:r>
            <a:r>
              <a:rPr lang="ko-KR" altLang="en-US" dirty="0"/>
              <a:t>로 가는 연결선은 </a:t>
            </a:r>
            <a:r>
              <a:rPr lang="en-US" altLang="ko-KR" dirty="0" err="1"/>
              <a:t>v→w</a:t>
            </a:r>
            <a:br>
              <a:rPr lang="en-US" altLang="ko-KR" dirty="0"/>
            </a:br>
            <a:r>
              <a:rPr lang="en-US" altLang="ko-KR" dirty="0"/>
              <a:t>ex) G=(V,E) = ({1,2,3,4}, {</a:t>
            </a:r>
            <a:r>
              <a:rPr lang="en-US" altLang="ko-KR" dirty="0" err="1"/>
              <a:t>v→w|v</a:t>
            </a:r>
            <a:r>
              <a:rPr lang="en-US" altLang="ko-KR" dirty="0"/>
              <a:t>&lt;w})</a:t>
            </a:r>
          </a:p>
          <a:p>
            <a:pPr lvl="2"/>
            <a:r>
              <a:rPr lang="ko-KR" altLang="en-US" b="1" dirty="0"/>
              <a:t>트리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사이클</a:t>
            </a:r>
            <a:r>
              <a:rPr lang="en-US" altLang="ko-KR" dirty="0"/>
              <a:t>X </a:t>
            </a:r>
            <a:r>
              <a:rPr lang="ko-KR" altLang="en-US" dirty="0"/>
              <a:t>그래프</a:t>
            </a:r>
            <a:r>
              <a:rPr lang="en-US" altLang="ko-KR" dirty="0"/>
              <a:t>; '</a:t>
            </a:r>
            <a:r>
              <a:rPr lang="ko-KR" altLang="en-US" dirty="0"/>
              <a:t>루트</a:t>
            </a:r>
            <a:r>
              <a:rPr lang="en-US" altLang="ko-KR" dirty="0"/>
              <a:t>'</a:t>
            </a:r>
            <a:r>
              <a:rPr lang="ko-KR" altLang="en-US" dirty="0"/>
              <a:t>라는 특별 노드</a:t>
            </a:r>
            <a:r>
              <a:rPr lang="en-US" altLang="ko-KR" dirty="0"/>
              <a:t>, </a:t>
            </a:r>
            <a:r>
              <a:rPr lang="ko-KR" altLang="en-US" dirty="0"/>
              <a:t>루트</a:t>
            </a:r>
            <a:r>
              <a:rPr lang="en-US" altLang="ko-KR" dirty="0"/>
              <a:t>→</a:t>
            </a:r>
            <a:r>
              <a:rPr lang="ko-KR" altLang="en-US" dirty="0"/>
              <a:t>다른 모든 노드 의 경로 항상 유일하게 존재</a:t>
            </a:r>
            <a:r>
              <a:rPr lang="en-US" altLang="ko-KR" dirty="0"/>
              <a:t>. </a:t>
            </a:r>
            <a:r>
              <a:rPr lang="ko-KR" altLang="en-US" dirty="0"/>
              <a:t>루트는 모든 트리의 출발점</a:t>
            </a:r>
            <a:endParaRPr lang="en-US" altLang="ko-KR" dirty="0"/>
          </a:p>
          <a:p>
            <a:pPr lvl="1"/>
            <a:r>
              <a:rPr lang="ko-KR" altLang="en-US" b="1" dirty="0"/>
              <a:t>단순그래프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정점 한</a:t>
            </a:r>
            <a:r>
              <a:rPr lang="en-US" altLang="ko-KR" dirty="0"/>
              <a:t> </a:t>
            </a:r>
            <a:r>
              <a:rPr lang="ko-KR" altLang="en-US" dirty="0"/>
              <a:t>쌍 사이에 최대 연결선 </a:t>
            </a:r>
            <a:r>
              <a:rPr lang="en-US" altLang="ko-KR" dirty="0"/>
              <a:t>1</a:t>
            </a:r>
            <a:r>
              <a:rPr lang="ko-KR" altLang="en-US" dirty="0"/>
              <a:t>개로 이뤄진</a:t>
            </a:r>
            <a:r>
              <a:rPr lang="en-US" altLang="ko-KR" dirty="0"/>
              <a:t>(</a:t>
            </a:r>
            <a:r>
              <a:rPr lang="ko-KR" altLang="en-US" dirty="0"/>
              <a:t>자신의 연결선</a:t>
            </a:r>
            <a:r>
              <a:rPr lang="en-US" altLang="ko-KR" dirty="0"/>
              <a:t>X)</a:t>
            </a:r>
            <a:r>
              <a:rPr lang="ko-KR" altLang="en-US" dirty="0"/>
              <a:t>인 그래프</a:t>
            </a:r>
            <a:endParaRPr lang="en-US" altLang="ko-KR" dirty="0"/>
          </a:p>
          <a:p>
            <a:pPr lvl="2"/>
            <a:r>
              <a:rPr lang="ko-KR" altLang="en-US" b="1" dirty="0"/>
              <a:t>멀티그래프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한</a:t>
            </a:r>
            <a:r>
              <a:rPr lang="en-US" altLang="ko-KR" dirty="0"/>
              <a:t> </a:t>
            </a:r>
            <a:r>
              <a:rPr lang="ko-KR" altLang="en-US" dirty="0"/>
              <a:t>쌍의 정점</a:t>
            </a:r>
            <a:r>
              <a:rPr lang="en-US" altLang="ko-KR" dirty="0"/>
              <a:t> </a:t>
            </a:r>
            <a:r>
              <a:rPr lang="ko-KR" altLang="en-US" dirty="0"/>
              <a:t>사이에 연결선의 개수 제한이 없는 그래프</a:t>
            </a:r>
            <a:endParaRPr lang="en-US" altLang="ko-KR" dirty="0"/>
          </a:p>
          <a:p>
            <a:pPr lvl="1"/>
            <a:r>
              <a:rPr lang="ko-KR" altLang="en-US" b="1" dirty="0"/>
              <a:t>부분그래프</a:t>
            </a:r>
            <a:r>
              <a:rPr lang="ko-KR" altLang="en-US" dirty="0"/>
              <a:t> </a:t>
            </a:r>
            <a:r>
              <a:rPr lang="en-US" altLang="ko-KR" dirty="0"/>
              <a:t>: G=(V,E), G'=(V',E') </a:t>
            </a:r>
            <a:r>
              <a:rPr lang="ko-KR" altLang="en-US" dirty="0"/>
              <a:t>에서 </a:t>
            </a:r>
            <a:r>
              <a:rPr lang="en-US" altLang="ko-KR" dirty="0"/>
              <a:t>V'</a:t>
            </a:r>
            <a:r>
              <a:rPr lang="ko-KR" altLang="en-US" dirty="0"/>
              <a:t>⊆</a:t>
            </a:r>
            <a:r>
              <a:rPr lang="en-US" altLang="ko-KR" dirty="0"/>
              <a:t>V, E'</a:t>
            </a:r>
            <a:r>
              <a:rPr lang="ko-KR" altLang="en-US" dirty="0"/>
              <a:t>⊆</a:t>
            </a:r>
            <a:r>
              <a:rPr lang="en-US" altLang="ko-KR" dirty="0"/>
              <a:t>E </a:t>
            </a:r>
            <a:r>
              <a:rPr lang="ko-KR" altLang="en-US" dirty="0"/>
              <a:t>일 때 </a:t>
            </a:r>
            <a:r>
              <a:rPr lang="en-US" altLang="ko-KR" dirty="0"/>
              <a:t>G'</a:t>
            </a:r>
          </a:p>
          <a:p>
            <a:pPr lvl="2"/>
            <a:r>
              <a:rPr lang="ko-KR" altLang="en-US" b="1" dirty="0"/>
              <a:t>생성</a:t>
            </a:r>
            <a:r>
              <a:rPr lang="en-US" altLang="ko-KR" b="1" dirty="0"/>
              <a:t> </a:t>
            </a:r>
            <a:r>
              <a:rPr lang="ko-KR" altLang="en-US" b="1" dirty="0"/>
              <a:t>부분그래프 </a:t>
            </a:r>
            <a:r>
              <a:rPr lang="en-US" altLang="ko-KR" dirty="0"/>
              <a:t>: G</a:t>
            </a:r>
            <a:r>
              <a:rPr lang="ko-KR" altLang="en-US" dirty="0"/>
              <a:t>에 대해</a:t>
            </a:r>
            <a:r>
              <a:rPr lang="en-US" altLang="ko-KR" dirty="0"/>
              <a:t>, V=V', E'</a:t>
            </a:r>
            <a:r>
              <a:rPr lang="ko-KR" altLang="en-US" dirty="0"/>
              <a:t>⊂</a:t>
            </a:r>
            <a:r>
              <a:rPr lang="en-US" altLang="ko-KR" dirty="0"/>
              <a:t>E </a:t>
            </a:r>
            <a:r>
              <a:rPr lang="ko-KR" altLang="en-US" dirty="0"/>
              <a:t>일 때 의 </a:t>
            </a:r>
            <a:r>
              <a:rPr lang="en-US" altLang="ko-KR" dirty="0"/>
              <a:t>G'</a:t>
            </a:r>
            <a:br>
              <a:rPr lang="en-US" altLang="ko-KR" dirty="0"/>
            </a:br>
            <a:r>
              <a:rPr lang="en-US" altLang="ko-KR" dirty="0"/>
              <a:t>((2)</a:t>
            </a:r>
            <a:r>
              <a:rPr lang="ko-KR" altLang="en-US" dirty="0"/>
              <a:t>는</a:t>
            </a:r>
            <a:r>
              <a:rPr lang="en-US" altLang="ko-KR" dirty="0"/>
              <a:t> (1)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 err="1"/>
              <a:t>부분그래프면서</a:t>
            </a:r>
            <a:r>
              <a:rPr lang="ko-KR" altLang="en-US" dirty="0"/>
              <a:t> 생성부분그래프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연결그래프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모든 정점이 연결됨</a:t>
            </a:r>
            <a:r>
              <a:rPr lang="en-US" altLang="ko-KR" dirty="0"/>
              <a:t>; </a:t>
            </a:r>
            <a:r>
              <a:rPr lang="ko-KR" altLang="en-US" b="1" dirty="0"/>
              <a:t>강한 연결그래프 </a:t>
            </a:r>
            <a:r>
              <a:rPr lang="en-US" altLang="ko-KR" dirty="0"/>
              <a:t>: </a:t>
            </a:r>
            <a:r>
              <a:rPr lang="ko-KR" altLang="en-US" dirty="0"/>
              <a:t>정점</a:t>
            </a:r>
            <a:r>
              <a:rPr lang="en-US" altLang="ko-KR" dirty="0"/>
              <a:t> </a:t>
            </a:r>
            <a:r>
              <a:rPr lang="en-US" altLang="ko-KR" dirty="0" err="1"/>
              <a:t>a,b</a:t>
            </a:r>
            <a:r>
              <a:rPr lang="ko-KR" altLang="en-US" dirty="0"/>
              <a:t>에 대해 </a:t>
            </a:r>
            <a:r>
              <a:rPr lang="en-US" altLang="ko-KR" dirty="0"/>
              <a:t>a</a:t>
            </a:r>
            <a:r>
              <a:rPr lang="ko-KR" altLang="en-US" dirty="0"/>
              <a:t>에서 </a:t>
            </a:r>
            <a:r>
              <a:rPr lang="en-US" altLang="ko-KR" dirty="0"/>
              <a:t>b </a:t>
            </a:r>
            <a:r>
              <a:rPr lang="ko-KR" altLang="en-US" dirty="0"/>
              <a:t>경로</a:t>
            </a:r>
            <a:r>
              <a:rPr lang="en-US" altLang="ko-KR" dirty="0"/>
              <a:t>, b</a:t>
            </a:r>
            <a:r>
              <a:rPr lang="ko-KR" altLang="en-US" dirty="0"/>
              <a:t>에서 </a:t>
            </a:r>
            <a:r>
              <a:rPr lang="en-US" altLang="ko-KR" dirty="0"/>
              <a:t>a</a:t>
            </a:r>
            <a:r>
              <a:rPr lang="ko-KR" altLang="en-US" dirty="0"/>
              <a:t>경로만 존재 그래프</a:t>
            </a:r>
            <a:r>
              <a:rPr lang="en-US" altLang="ko-KR" dirty="0"/>
              <a:t>.; </a:t>
            </a:r>
            <a:r>
              <a:rPr lang="ko-KR" altLang="en-US" b="1" dirty="0"/>
              <a:t>연결요소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정점이 연결된 부분</a:t>
            </a:r>
            <a:r>
              <a:rPr lang="en-US" altLang="ko-KR" dirty="0"/>
              <a:t>. </a:t>
            </a:r>
            <a:r>
              <a:rPr lang="ko-KR" altLang="en-US" dirty="0" err="1"/>
              <a:t>연결수</a:t>
            </a:r>
            <a:r>
              <a:rPr lang="en-US" altLang="ko-KR" dirty="0"/>
              <a:t>=</a:t>
            </a:r>
            <a:r>
              <a:rPr lang="ko-KR" altLang="en-US" dirty="0" err="1"/>
              <a:t>연결요소수</a:t>
            </a:r>
            <a:endParaRPr lang="en-US" altLang="ko-KR" dirty="0"/>
          </a:p>
          <a:p>
            <a:r>
              <a:rPr lang="ko-KR" altLang="en-US" dirty="0"/>
              <a:t>인접행렬</a:t>
            </a:r>
            <a:r>
              <a:rPr lang="en-US" altLang="ko-KR" dirty="0"/>
              <a:t>, </a:t>
            </a:r>
            <a:r>
              <a:rPr lang="ko-KR" altLang="en-US" dirty="0"/>
              <a:t>인접리스트를 활용한 그래프 표현 방법</a:t>
            </a:r>
            <a:endParaRPr lang="en-US" altLang="ko-KR" dirty="0"/>
          </a:p>
          <a:p>
            <a:pPr lvl="1"/>
            <a:r>
              <a:rPr lang="ko-KR" altLang="en-US" b="1" dirty="0"/>
              <a:t>인접행렬</a:t>
            </a:r>
            <a:r>
              <a:rPr lang="ko-KR" altLang="en-US" dirty="0"/>
              <a:t> </a:t>
            </a:r>
            <a:r>
              <a:rPr lang="en-US" altLang="ko-KR" dirty="0"/>
              <a:t>: G=(V,E) </a:t>
            </a:r>
            <a:r>
              <a:rPr lang="ko-KR" altLang="en-US" dirty="0"/>
              <a:t>에서 </a:t>
            </a:r>
            <a:r>
              <a:rPr lang="en-US" altLang="ko-KR" dirty="0"/>
              <a:t>|V|=n? → G</a:t>
            </a:r>
            <a:r>
              <a:rPr lang="ko-KR" altLang="en-US" dirty="0"/>
              <a:t>의 인접행렬은 </a:t>
            </a:r>
            <a:r>
              <a:rPr lang="en-US" altLang="ko-KR" dirty="0" err="1"/>
              <a:t>n×n</a:t>
            </a:r>
            <a:r>
              <a:rPr lang="en-US" altLang="ko-KR" dirty="0"/>
              <a:t> </a:t>
            </a:r>
            <a:r>
              <a:rPr lang="ko-KR" altLang="en-US" dirty="0"/>
              <a:t>행렬</a:t>
            </a:r>
            <a:r>
              <a:rPr lang="en-US" altLang="ko-KR" dirty="0"/>
              <a:t>A</a:t>
            </a:r>
            <a:r>
              <a:rPr lang="ko-KR" altLang="en-US" dirty="0"/>
              <a:t>로 표현</a:t>
            </a:r>
            <a:r>
              <a:rPr lang="en-US" altLang="ko-KR" dirty="0"/>
              <a:t>; </a:t>
            </a:r>
            <a:r>
              <a:rPr lang="ko-KR" altLang="en-US" dirty="0"/>
              <a:t>원소 </a:t>
            </a:r>
            <a:r>
              <a:rPr lang="en-US" altLang="ko-KR" dirty="0"/>
              <a:t>aji</a:t>
            </a:r>
            <a:r>
              <a:rPr lang="ko-KR" altLang="en-US" dirty="0"/>
              <a:t> </a:t>
            </a:r>
            <a:r>
              <a:rPr lang="en-US" altLang="ko-KR" dirty="0"/>
              <a:t>↑</a:t>
            </a:r>
          </a:p>
          <a:p>
            <a:pPr lvl="1"/>
            <a:r>
              <a:rPr lang="ko-KR" altLang="en-US" b="1" dirty="0"/>
              <a:t>인접리스트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각 정점에 대한 포인터</a:t>
            </a:r>
            <a:r>
              <a:rPr lang="en-US" altLang="ko-KR" dirty="0"/>
              <a:t>, </a:t>
            </a:r>
            <a:r>
              <a:rPr lang="ko-KR" altLang="en-US" dirty="0"/>
              <a:t>그 점에서의 연결된 정점을 차례로 연결리스트로 표시</a:t>
            </a:r>
            <a:r>
              <a:rPr lang="en-US" altLang="ko-KR" dirty="0"/>
              <a:t>; </a:t>
            </a:r>
            <a:r>
              <a:rPr lang="ko-KR" altLang="en-US" dirty="0"/>
              <a:t>같은 리스트 내에선 순서에 관계</a:t>
            </a:r>
            <a:r>
              <a:rPr lang="en-US" altLang="ko-KR" dirty="0"/>
              <a:t>X</a:t>
            </a:r>
          </a:p>
          <a:p>
            <a:r>
              <a:rPr lang="ko-KR" altLang="en-US" dirty="0" err="1"/>
              <a:t>오일러</a:t>
            </a:r>
            <a:r>
              <a:rPr lang="ko-KR" altLang="en-US" dirty="0"/>
              <a:t> 경로</a:t>
            </a:r>
            <a:r>
              <a:rPr lang="en-US" altLang="ko-KR" dirty="0"/>
              <a:t>(=</a:t>
            </a:r>
            <a:r>
              <a:rPr lang="ko-KR" altLang="en-US" dirty="0"/>
              <a:t>단순경로</a:t>
            </a:r>
            <a:r>
              <a:rPr lang="en-US" altLang="ko-KR" dirty="0"/>
              <a:t>) </a:t>
            </a:r>
            <a:r>
              <a:rPr lang="ko-KR" altLang="en-US" dirty="0"/>
              <a:t>↔ 해밀턴</a:t>
            </a:r>
            <a:r>
              <a:rPr lang="en-US" altLang="ko-KR" dirty="0"/>
              <a:t> </a:t>
            </a:r>
            <a:r>
              <a:rPr lang="ko-KR" altLang="en-US" dirty="0"/>
              <a:t>경로</a:t>
            </a:r>
            <a:r>
              <a:rPr lang="en-US" altLang="ko-KR" dirty="0"/>
              <a:t>(=</a:t>
            </a:r>
            <a:r>
              <a:rPr lang="ko-KR" altLang="en-US" dirty="0"/>
              <a:t>기본경로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 err="1"/>
              <a:t>오일러</a:t>
            </a:r>
            <a:r>
              <a:rPr lang="ko-KR" altLang="en-US" b="1" dirty="0"/>
              <a:t> 경로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그래프에서</a:t>
            </a:r>
            <a:r>
              <a:rPr lang="en-US" altLang="ko-KR" dirty="0"/>
              <a:t> </a:t>
            </a:r>
            <a:r>
              <a:rPr lang="ko-KR" altLang="en-US" dirty="0"/>
              <a:t>각 </a:t>
            </a:r>
            <a:r>
              <a:rPr lang="ko-KR" altLang="en-US" dirty="0" err="1"/>
              <a:t>엣지를</a:t>
            </a:r>
            <a:r>
              <a:rPr lang="ko-KR" altLang="en-US" dirty="0"/>
              <a:t> 중복방문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b="1" dirty="0" err="1"/>
              <a:t>오일러</a:t>
            </a:r>
            <a:r>
              <a:rPr lang="ko-KR" altLang="en-US" b="1" dirty="0"/>
              <a:t> 순회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그래프에서 정점은 중복방문</a:t>
            </a:r>
            <a:r>
              <a:rPr lang="en-US" altLang="ko-KR" dirty="0"/>
              <a:t>O, </a:t>
            </a:r>
            <a:r>
              <a:rPr lang="ko-KR" altLang="en-US" dirty="0" err="1"/>
              <a:t>엣지는</a:t>
            </a:r>
            <a:r>
              <a:rPr lang="ko-KR" altLang="en-US" dirty="0"/>
              <a:t> 중복방문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정리</a:t>
            </a:r>
            <a:r>
              <a:rPr lang="en-US" altLang="ko-KR" dirty="0"/>
              <a:t>1) v</a:t>
            </a:r>
            <a:r>
              <a:rPr lang="ko-KR" altLang="en-US" dirty="0"/>
              <a:t>의 차수 </a:t>
            </a:r>
            <a:r>
              <a:rPr lang="en-US" altLang="ko-KR" dirty="0"/>
              <a:t>deg(v)</a:t>
            </a:r>
            <a:r>
              <a:rPr lang="ko-KR" altLang="en-US" dirty="0"/>
              <a:t>에 대해</a:t>
            </a:r>
            <a:r>
              <a:rPr lang="en-US" altLang="ko-KR" dirty="0"/>
              <a:t>, </a:t>
            </a: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정점의 차수 합은 </a:t>
            </a:r>
            <a:r>
              <a:rPr lang="ko-KR" altLang="en-US" dirty="0" err="1"/>
              <a:t>엣지</a:t>
            </a:r>
            <a:r>
              <a:rPr lang="ko-KR" altLang="en-US" dirty="0"/>
              <a:t> 개수의 </a:t>
            </a:r>
            <a:r>
              <a:rPr lang="en-US" altLang="ko-KR" dirty="0"/>
              <a:t>2</a:t>
            </a:r>
            <a:r>
              <a:rPr lang="ko-KR" altLang="en-US" dirty="0"/>
              <a:t>배이다</a:t>
            </a:r>
            <a:br>
              <a:rPr lang="en-US" altLang="ko-KR" dirty="0"/>
            </a:br>
            <a:r>
              <a:rPr lang="ko-KR" altLang="en-US" dirty="0"/>
              <a:t>정리</a:t>
            </a:r>
            <a:r>
              <a:rPr lang="en-US" altLang="ko-KR" dirty="0"/>
              <a:t>2) G</a:t>
            </a:r>
            <a:r>
              <a:rPr lang="ko-KR" altLang="en-US" dirty="0"/>
              <a:t>가 </a:t>
            </a:r>
            <a:r>
              <a:rPr lang="ko-KR" altLang="en-US" dirty="0" err="1"/>
              <a:t>오일러</a:t>
            </a:r>
            <a:r>
              <a:rPr lang="ko-KR" altLang="en-US" dirty="0"/>
              <a:t> 경로 </a:t>
            </a:r>
            <a:r>
              <a:rPr lang="ko-KR" altLang="en-US" dirty="0" err="1"/>
              <a:t>갖</a:t>
            </a:r>
            <a:r>
              <a:rPr lang="ko-KR" altLang="en-US" dirty="0"/>
              <a:t> </a:t>
            </a:r>
            <a:r>
              <a:rPr lang="ko-KR" altLang="en-US" dirty="0" err="1"/>
              <a:t>필충</a:t>
            </a:r>
            <a:r>
              <a:rPr lang="ko-KR" altLang="en-US" dirty="0"/>
              <a:t> </a:t>
            </a:r>
            <a:r>
              <a:rPr lang="en-US" altLang="ko-KR" dirty="0"/>
              <a:t>= G</a:t>
            </a:r>
            <a:r>
              <a:rPr lang="ko-KR" altLang="en-US" dirty="0"/>
              <a:t>가 연결그래프 </a:t>
            </a:r>
            <a:r>
              <a:rPr lang="en-US" altLang="ko-KR" dirty="0"/>
              <a:t>&amp;&amp; </a:t>
            </a:r>
            <a:r>
              <a:rPr lang="ko-KR" altLang="en-US" dirty="0" err="1"/>
              <a:t>홀수차수</a:t>
            </a:r>
            <a:r>
              <a:rPr lang="ko-KR" altLang="en-US" dirty="0"/>
              <a:t> 개수가 </a:t>
            </a:r>
            <a:r>
              <a:rPr lang="en-US" altLang="ko-KR" dirty="0"/>
              <a:t>0 </a:t>
            </a:r>
            <a:r>
              <a:rPr lang="ko-KR" altLang="en-US" dirty="0"/>
              <a:t>또는 </a:t>
            </a:r>
            <a:r>
              <a:rPr lang="en-US" altLang="ko-KR" dirty="0"/>
              <a:t>2</a:t>
            </a:r>
            <a:br>
              <a:rPr lang="en-US" altLang="ko-KR" dirty="0"/>
            </a:br>
            <a:r>
              <a:rPr lang="ko-KR" altLang="en-US" dirty="0"/>
              <a:t>정리</a:t>
            </a:r>
            <a:r>
              <a:rPr lang="en-US" altLang="ko-KR" dirty="0"/>
              <a:t>3) G</a:t>
            </a:r>
            <a:r>
              <a:rPr lang="ko-KR" altLang="en-US" dirty="0"/>
              <a:t>가 </a:t>
            </a:r>
            <a:r>
              <a:rPr lang="ko-KR" altLang="en-US" dirty="0" err="1"/>
              <a:t>오일러</a:t>
            </a:r>
            <a:r>
              <a:rPr lang="ko-KR" altLang="en-US" dirty="0"/>
              <a:t> 순회 </a:t>
            </a:r>
            <a:r>
              <a:rPr lang="ko-KR" altLang="en-US" dirty="0" err="1"/>
              <a:t>갖</a:t>
            </a:r>
            <a:r>
              <a:rPr lang="ko-KR" altLang="en-US" dirty="0"/>
              <a:t> </a:t>
            </a:r>
            <a:r>
              <a:rPr lang="ko-KR" altLang="en-US" dirty="0" err="1"/>
              <a:t>필충</a:t>
            </a:r>
            <a:r>
              <a:rPr lang="ko-KR" altLang="en-US" dirty="0"/>
              <a:t> </a:t>
            </a:r>
            <a:r>
              <a:rPr lang="en-US" altLang="ko-KR" dirty="0"/>
              <a:t>= G</a:t>
            </a:r>
            <a:r>
              <a:rPr lang="ko-KR" altLang="en-US" dirty="0"/>
              <a:t>가 연결그래프 </a:t>
            </a:r>
            <a:r>
              <a:rPr lang="en-US" altLang="ko-KR" dirty="0"/>
              <a:t>&amp;&amp; </a:t>
            </a:r>
            <a:r>
              <a:rPr lang="ko-KR" altLang="en-US" dirty="0"/>
              <a:t>모든 정점이 짝수 차수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한붓그리기 </a:t>
            </a:r>
            <a:r>
              <a:rPr lang="en-US" altLang="ko-KR" dirty="0"/>
              <a:t>: </a:t>
            </a:r>
            <a:r>
              <a:rPr lang="ko-KR" altLang="en-US" dirty="0"/>
              <a:t>시점</a:t>
            </a:r>
            <a:r>
              <a:rPr lang="en-US" altLang="ko-KR" dirty="0"/>
              <a:t>, </a:t>
            </a:r>
            <a:r>
              <a:rPr lang="ko-KR" altLang="en-US" dirty="0"/>
              <a:t>종점 제외 모든 정점이 짝수 차수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정리</a:t>
            </a:r>
            <a:r>
              <a:rPr lang="en-US" altLang="ko-KR" dirty="0"/>
              <a:t>4) </a:t>
            </a:r>
            <a:r>
              <a:rPr lang="ko-KR" altLang="en-US" dirty="0"/>
              <a:t>연결된 평면 그래프</a:t>
            </a:r>
            <a:r>
              <a:rPr lang="en-US" altLang="ko-KR" dirty="0"/>
              <a:t>(=</a:t>
            </a:r>
            <a:r>
              <a:rPr lang="ko-KR" altLang="en-US" dirty="0" err="1"/>
              <a:t>엣지</a:t>
            </a:r>
            <a:r>
              <a:rPr lang="ko-KR" altLang="en-US" dirty="0"/>
              <a:t> 교차</a:t>
            </a:r>
            <a:r>
              <a:rPr lang="en-US" altLang="ko-KR" dirty="0"/>
              <a:t>X)</a:t>
            </a:r>
            <a:r>
              <a:rPr lang="ko-KR" altLang="en-US" dirty="0"/>
              <a:t>에서 정점</a:t>
            </a:r>
            <a:r>
              <a:rPr lang="en-US" altLang="ko-KR" dirty="0"/>
              <a:t>v, </a:t>
            </a:r>
            <a:r>
              <a:rPr lang="ko-KR" altLang="en-US" dirty="0" err="1"/>
              <a:t>엣지</a:t>
            </a:r>
            <a:r>
              <a:rPr lang="en-US" altLang="ko-KR" dirty="0"/>
              <a:t>e, </a:t>
            </a:r>
            <a:r>
              <a:rPr lang="ko-KR" altLang="en-US" dirty="0"/>
              <a:t>면의 수</a:t>
            </a:r>
            <a:r>
              <a:rPr lang="en-US" altLang="ko-KR" dirty="0"/>
              <a:t>f</a:t>
            </a:r>
            <a:r>
              <a:rPr lang="ko-KR" altLang="en-US" dirty="0"/>
              <a:t>에 대해 </a:t>
            </a:r>
            <a:br>
              <a:rPr lang="en-US" altLang="ko-KR" dirty="0"/>
            </a:br>
            <a:r>
              <a:rPr lang="en-US" altLang="ko-KR" dirty="0" err="1"/>
              <a:t>v-e+f</a:t>
            </a:r>
            <a:r>
              <a:rPr lang="en-US" altLang="ko-KR" dirty="0"/>
              <a:t>=2 </a:t>
            </a:r>
            <a:r>
              <a:rPr lang="ko-KR" altLang="en-US" dirty="0"/>
              <a:t>성립</a:t>
            </a:r>
            <a:r>
              <a:rPr lang="en-US" altLang="ko-KR" dirty="0"/>
              <a:t> (</a:t>
            </a:r>
            <a:r>
              <a:rPr lang="ko-KR" altLang="en-US" dirty="0"/>
              <a:t>면을 셀 때 그래프 밖 면도 포함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7DB85F-79E3-B463-D391-5AAE0D6DED7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589A3B-83AB-B90C-8A82-7978F10847A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234"/>
          <a:stretch>
            <a:fillRect/>
          </a:stretch>
        </p:blipFill>
        <p:spPr>
          <a:xfrm>
            <a:off x="5117287" y="4336756"/>
            <a:ext cx="1624082" cy="6551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7A52BA5-36CB-039C-5DD6-E6211E15D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248" y="5313040"/>
            <a:ext cx="1000571" cy="31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1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522CF1F-8476-158E-AC7F-D0E8BE482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2304A06-BA5C-7D32-2E0A-948B80082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Greedy </a:t>
            </a:r>
            <a:r>
              <a:rPr lang="ko-KR" altLang="en-US" dirty="0"/>
              <a:t>알고리즘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B040CE-5877-570D-5AA1-F2F9E7D01F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CDFEFE3-C3E0-70BF-68D2-8108DBCCF8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Greedy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lvl="1"/>
            <a:r>
              <a:rPr lang="ko-KR" altLang="en-US" dirty="0"/>
              <a:t>최적화</a:t>
            </a:r>
            <a:r>
              <a:rPr lang="en-US" altLang="ko-KR" dirty="0"/>
              <a:t> </a:t>
            </a:r>
            <a:r>
              <a:rPr lang="ko-KR" altLang="en-US" dirty="0"/>
              <a:t>문제</a:t>
            </a:r>
            <a:r>
              <a:rPr lang="en-US" altLang="ko-KR" dirty="0"/>
              <a:t>(=</a:t>
            </a:r>
            <a:r>
              <a:rPr lang="ko-KR" altLang="en-US" dirty="0"/>
              <a:t>가능한 해 중 가장 좋은</a:t>
            </a:r>
            <a:r>
              <a:rPr lang="en-US" altLang="ko-KR" dirty="0"/>
              <a:t>(</a:t>
            </a:r>
            <a:r>
              <a:rPr lang="ko-KR" altLang="en-US" dirty="0"/>
              <a:t>최대</a:t>
            </a:r>
            <a:r>
              <a:rPr lang="en-US" altLang="ko-KR" dirty="0"/>
              <a:t>/</a:t>
            </a:r>
            <a:r>
              <a:rPr lang="ko-KR" altLang="en-US" dirty="0"/>
              <a:t>최소</a:t>
            </a:r>
            <a:r>
              <a:rPr lang="en-US" altLang="ko-KR" dirty="0"/>
              <a:t>) </a:t>
            </a:r>
            <a:r>
              <a:rPr lang="ko-KR" altLang="en-US" dirty="0"/>
              <a:t>해를 찾는 문제</a:t>
            </a:r>
            <a:r>
              <a:rPr lang="en-US" altLang="ko-KR" dirty="0"/>
              <a:t>)</a:t>
            </a:r>
            <a:r>
              <a:rPr lang="ko-KR" altLang="en-US" dirty="0"/>
              <a:t>위한 알고리즘</a:t>
            </a:r>
            <a:endParaRPr lang="en-US" altLang="ko-KR" dirty="0"/>
          </a:p>
          <a:p>
            <a:pPr lvl="1"/>
            <a:r>
              <a:rPr lang="ko-KR" altLang="en-US" dirty="0"/>
              <a:t>데이터간 관계를 고려</a:t>
            </a:r>
            <a:r>
              <a:rPr lang="en-US" altLang="ko-KR" dirty="0"/>
              <a:t>X, </a:t>
            </a:r>
            <a:r>
              <a:rPr lang="ko-KR" altLang="en-US" dirty="0"/>
              <a:t>수행 과정에서 최적의 최소값</a:t>
            </a:r>
            <a:r>
              <a:rPr lang="en-US" altLang="ko-KR" dirty="0"/>
              <a:t>,</a:t>
            </a:r>
            <a:r>
              <a:rPr lang="ko-KR" altLang="en-US" dirty="0"/>
              <a:t>최대값만 선택</a:t>
            </a:r>
            <a:r>
              <a:rPr lang="en-US" altLang="ko-KR" dirty="0"/>
              <a:t>(</a:t>
            </a:r>
            <a:r>
              <a:rPr lang="ko-KR" altLang="en-US" dirty="0"/>
              <a:t>근시안적 선택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근시안적 선택으로 부분적 최적해 </a:t>
            </a:r>
            <a:r>
              <a:rPr lang="en-US" altLang="ko-KR" dirty="0"/>
              <a:t>→ </a:t>
            </a:r>
            <a:r>
              <a:rPr lang="ko-KR" altLang="en-US" dirty="0"/>
              <a:t>이를 모아 문제 전체의 최적해 얻음</a:t>
            </a:r>
            <a:endParaRPr lang="en-US" altLang="ko-KR" dirty="0"/>
          </a:p>
          <a:p>
            <a:pPr lvl="2"/>
            <a:r>
              <a:rPr lang="ko-KR" altLang="en-US" dirty="0"/>
              <a:t>한번 선택 시 이를 번복</a:t>
            </a:r>
            <a:r>
              <a:rPr lang="en-US" altLang="ko-KR" dirty="0"/>
              <a:t>X(</a:t>
            </a:r>
            <a:r>
              <a:rPr lang="ko-KR" altLang="en-US" dirty="0"/>
              <a:t>선택했던걸 버리고 </a:t>
            </a:r>
            <a:r>
              <a:rPr lang="ko-KR" altLang="en-US" dirty="0" err="1"/>
              <a:t>다른걸</a:t>
            </a:r>
            <a:r>
              <a:rPr lang="ko-KR" altLang="en-US" dirty="0"/>
              <a:t> 취하지 </a:t>
            </a:r>
            <a:r>
              <a:rPr lang="en-US" altLang="ko-KR" dirty="0"/>
              <a:t>X)</a:t>
            </a:r>
          </a:p>
          <a:p>
            <a:pPr lvl="2"/>
            <a:r>
              <a:rPr lang="ko-KR" altLang="en-US" dirty="0"/>
              <a:t>따라서 </a:t>
            </a:r>
            <a:r>
              <a:rPr lang="ko-KR" altLang="en-US" dirty="0" err="1"/>
              <a:t>그리디</a:t>
            </a:r>
            <a:r>
              <a:rPr lang="ko-KR" altLang="en-US" dirty="0"/>
              <a:t> 알고리즘 대부분 단순</a:t>
            </a:r>
            <a:r>
              <a:rPr lang="en-US" altLang="ko-KR" dirty="0"/>
              <a:t>, </a:t>
            </a:r>
            <a:r>
              <a:rPr lang="ko-KR" altLang="en-US" dirty="0"/>
              <a:t>제한적 문제만 해결</a:t>
            </a:r>
            <a:r>
              <a:rPr lang="en-US" altLang="ko-KR" dirty="0"/>
              <a:t>O (</a:t>
            </a:r>
            <a:r>
              <a:rPr lang="ko-KR" altLang="en-US" dirty="0" err="1"/>
              <a:t>다익스트라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예시 </a:t>
            </a:r>
            <a:r>
              <a:rPr lang="en-US" altLang="ko-KR" dirty="0"/>
              <a:t>: </a:t>
            </a:r>
            <a:r>
              <a:rPr lang="ko-KR" altLang="en-US" dirty="0"/>
              <a:t>수업시간표 짜기</a:t>
            </a:r>
            <a:r>
              <a:rPr lang="en-US" altLang="ko-KR" dirty="0"/>
              <a:t>(</a:t>
            </a:r>
            <a:r>
              <a:rPr lang="ko-KR" altLang="en-US" dirty="0"/>
              <a:t>최대한 많은 과목 </a:t>
            </a:r>
            <a:r>
              <a:rPr lang="ko-KR" altLang="en-US" dirty="0" err="1"/>
              <a:t>수강시</a:t>
            </a:r>
            <a:r>
              <a:rPr lang="en-US" altLang="ko-KR" dirty="0"/>
              <a:t>):</a:t>
            </a:r>
            <a:r>
              <a:rPr lang="ko-KR" altLang="en-US" dirty="0"/>
              <a:t>가장</a:t>
            </a:r>
            <a:r>
              <a:rPr lang="en-US" altLang="ko-KR" dirty="0"/>
              <a:t> </a:t>
            </a:r>
            <a:r>
              <a:rPr lang="ko-KR" altLang="en-US" dirty="0"/>
              <a:t>빨리 끝나는 과목들을 고름</a:t>
            </a:r>
            <a:br>
              <a:rPr lang="en-US" altLang="ko-KR" dirty="0"/>
            </a:br>
            <a:r>
              <a:rPr lang="ko-KR" altLang="en-US" dirty="0"/>
              <a:t>배낭 문제 </a:t>
            </a:r>
            <a:r>
              <a:rPr lang="en-US" altLang="ko-KR" dirty="0"/>
              <a:t>: </a:t>
            </a:r>
            <a:r>
              <a:rPr lang="ko-KR" altLang="en-US" dirty="0"/>
              <a:t>최대용량 있는 가방에 최대한의 가격의 물건 담기 </a:t>
            </a:r>
            <a:r>
              <a:rPr lang="en-US" altLang="ko-KR" dirty="0"/>
              <a:t>: </a:t>
            </a:r>
            <a:r>
              <a:rPr lang="ko-KR" altLang="en-US" dirty="0"/>
              <a:t>무게당 가격이 </a:t>
            </a:r>
            <a:r>
              <a:rPr lang="ko-KR" altLang="en-US" dirty="0" err="1"/>
              <a:t>비싼것부터</a:t>
            </a:r>
            <a:r>
              <a:rPr lang="ko-KR" altLang="en-US" dirty="0"/>
              <a:t> 큰 가치 순서대로 </a:t>
            </a:r>
            <a:br>
              <a:rPr lang="en-US" altLang="ko-KR" dirty="0"/>
            </a:br>
            <a:r>
              <a:rPr lang="ko-KR" altLang="en-US" dirty="0"/>
              <a:t>동전 교환 문제 </a:t>
            </a:r>
            <a:r>
              <a:rPr lang="en-US" altLang="ko-KR" dirty="0"/>
              <a:t>: </a:t>
            </a:r>
            <a:r>
              <a:rPr lang="ko-KR" altLang="en-US" dirty="0"/>
              <a:t>주어진 금액을 가장 적은 수의 동전으로 교환</a:t>
            </a:r>
            <a:r>
              <a:rPr lang="en-US" altLang="ko-KR" dirty="0"/>
              <a:t>. :</a:t>
            </a:r>
            <a:r>
              <a:rPr lang="ko-KR" altLang="en-US" dirty="0"/>
              <a:t>가장 액면가가 큰 동전부터 </a:t>
            </a:r>
            <a:r>
              <a:rPr lang="ko-KR" altLang="en-US" dirty="0" err="1"/>
              <a:t>거슬러줌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어떤 기준을 </a:t>
            </a:r>
            <a:r>
              <a:rPr lang="ko-KR" altLang="en-US" dirty="0" err="1"/>
              <a:t>적용하냐에</a:t>
            </a:r>
            <a:r>
              <a:rPr lang="ko-KR" altLang="en-US" dirty="0"/>
              <a:t> 따라 결과 다름</a:t>
            </a:r>
            <a:r>
              <a:rPr lang="en-US" altLang="ko-KR" dirty="0"/>
              <a:t>, </a:t>
            </a:r>
            <a:r>
              <a:rPr lang="ko-KR" altLang="en-US" dirty="0"/>
              <a:t>항상 최적해 </a:t>
            </a:r>
            <a:r>
              <a:rPr lang="en-US" altLang="ko-KR" dirty="0"/>
              <a:t>X)</a:t>
            </a:r>
          </a:p>
          <a:p>
            <a:r>
              <a:rPr lang="ko-KR" altLang="en-US" dirty="0"/>
              <a:t>부분 배낭 문제</a:t>
            </a:r>
            <a:endParaRPr lang="en-US" altLang="ko-KR" dirty="0"/>
          </a:p>
          <a:p>
            <a:pPr lvl="1"/>
            <a:r>
              <a:rPr lang="ko-KR" altLang="en-US" dirty="0"/>
              <a:t>배낭문제</a:t>
            </a:r>
            <a:r>
              <a:rPr lang="en-US" altLang="ko-KR" dirty="0"/>
              <a:t> : n</a:t>
            </a:r>
            <a:r>
              <a:rPr lang="ko-KR" altLang="en-US" dirty="0"/>
              <a:t>개 물건은 각 무게</a:t>
            </a:r>
            <a:r>
              <a:rPr lang="en-US" altLang="ko-KR" dirty="0"/>
              <a:t>,</a:t>
            </a:r>
            <a:r>
              <a:rPr lang="ko-KR" altLang="en-US" dirty="0"/>
              <a:t>가치</a:t>
            </a:r>
            <a:r>
              <a:rPr lang="en-US" altLang="ko-KR" dirty="0"/>
              <a:t>O; </a:t>
            </a:r>
            <a:r>
              <a:rPr lang="ko-KR" altLang="en-US" dirty="0"/>
              <a:t>배낭은 한정적 무게만</a:t>
            </a:r>
            <a:r>
              <a:rPr lang="en-US" altLang="ko-KR" dirty="0"/>
              <a:t>O, </a:t>
            </a:r>
            <a:r>
              <a:rPr lang="ko-KR" altLang="en-US" dirty="0"/>
              <a:t>최대한의 가치</a:t>
            </a:r>
            <a:r>
              <a:rPr lang="en-US" altLang="ko-KR" dirty="0"/>
              <a:t> </a:t>
            </a:r>
            <a:r>
              <a:rPr lang="ko-KR" altLang="en-US" dirty="0"/>
              <a:t>넣기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 err="1"/>
              <a:t>부분배낭</a:t>
            </a:r>
            <a:r>
              <a:rPr lang="ko-KR" altLang="en-US" dirty="0"/>
              <a:t> 문제 </a:t>
            </a:r>
            <a:r>
              <a:rPr lang="en-US" altLang="ko-KR" dirty="0"/>
              <a:t>: </a:t>
            </a:r>
            <a:r>
              <a:rPr lang="ko-KR" altLang="en-US" dirty="0"/>
              <a:t>물건을</a:t>
            </a:r>
            <a:r>
              <a:rPr lang="en-US" altLang="ko-KR" dirty="0"/>
              <a:t> </a:t>
            </a:r>
            <a:r>
              <a:rPr lang="ko-KR" altLang="en-US" dirty="0"/>
              <a:t>부분적으로 담기</a:t>
            </a:r>
            <a:r>
              <a:rPr lang="en-US" altLang="ko-KR" dirty="0"/>
              <a:t>O, </a:t>
            </a:r>
            <a:r>
              <a:rPr lang="ko-KR" altLang="en-US" dirty="0"/>
              <a:t>무게당 가치가 높은 자산들을 우선적으로 </a:t>
            </a:r>
            <a:r>
              <a:rPr lang="en-US" altLang="ko-KR" dirty="0"/>
              <a:t>100% </a:t>
            </a:r>
            <a:r>
              <a:rPr lang="ko-KR" altLang="en-US" dirty="0"/>
              <a:t>담고</a:t>
            </a:r>
            <a:r>
              <a:rPr lang="en-US" altLang="ko-KR" dirty="0"/>
              <a:t>, 100% </a:t>
            </a:r>
            <a:r>
              <a:rPr lang="ko-KR" altLang="en-US" dirty="0"/>
              <a:t>담을 수 없을 때</a:t>
            </a:r>
            <a:r>
              <a:rPr lang="en-US" altLang="ko-KR" dirty="0"/>
              <a:t>, </a:t>
            </a:r>
            <a:r>
              <a:rPr lang="ko-KR" altLang="en-US" dirty="0"/>
              <a:t>물건을 부분적으로 넣음</a:t>
            </a:r>
            <a:endParaRPr lang="en-US" altLang="ko-KR" dirty="0"/>
          </a:p>
          <a:p>
            <a:pPr lvl="1"/>
            <a:r>
              <a:rPr lang="ko-KR" altLang="en-US" dirty="0"/>
              <a:t>알고리즘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n</a:t>
            </a:r>
            <a:r>
              <a:rPr lang="ko-KR" altLang="en-US" dirty="0"/>
              <a:t>개 물건</a:t>
            </a:r>
            <a:r>
              <a:rPr lang="en-US" altLang="ko-KR" dirty="0"/>
              <a:t>, </a:t>
            </a:r>
            <a:r>
              <a:rPr lang="ko-KR" altLang="en-US" dirty="0"/>
              <a:t>무게</a:t>
            </a:r>
            <a:r>
              <a:rPr lang="en-US" altLang="ko-KR" dirty="0"/>
              <a:t> </a:t>
            </a:r>
            <a:r>
              <a:rPr lang="ko-KR" altLang="en-US" dirty="0"/>
              <a:t>및 가치와 배낭 용량 </a:t>
            </a:r>
            <a:r>
              <a:rPr lang="en-US" altLang="ko-KR" dirty="0"/>
              <a:t>C, </a:t>
            </a:r>
            <a:r>
              <a:rPr lang="ko-KR" altLang="en-US" dirty="0"/>
              <a:t>물건리스트 </a:t>
            </a:r>
            <a:r>
              <a:rPr lang="en-US" altLang="ko-KR" dirty="0"/>
              <a:t>L, </a:t>
            </a:r>
            <a:r>
              <a:rPr lang="ko-KR" altLang="en-US" dirty="0"/>
              <a:t>배낭의 가치 합 </a:t>
            </a:r>
            <a:r>
              <a:rPr lang="en-US" altLang="ko-KR" dirty="0"/>
              <a:t>V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각 물건의 단위 무게당 가치 계산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물건을 해당 기준으로 내림차순 정렬 </a:t>
            </a:r>
            <a:r>
              <a:rPr lang="en-US" altLang="ko-KR" dirty="0"/>
              <a:t>→ </a:t>
            </a:r>
            <a:r>
              <a:rPr lang="ko-KR" altLang="en-US" dirty="0"/>
              <a:t>이 리스트를 </a:t>
            </a:r>
            <a:r>
              <a:rPr lang="en-US" altLang="ko-KR" dirty="0"/>
              <a:t>S</a:t>
            </a:r>
            <a:r>
              <a:rPr lang="ko-KR" altLang="en-US" dirty="0"/>
              <a:t>라</a:t>
            </a:r>
            <a:r>
              <a:rPr lang="en-US" altLang="ko-KR" dirty="0"/>
              <a:t> </a:t>
            </a:r>
            <a:r>
              <a:rPr lang="ko-KR" altLang="en-US" dirty="0"/>
              <a:t>함</a:t>
            </a:r>
            <a:br>
              <a:rPr lang="en-US" altLang="ko-KR" dirty="0"/>
            </a:br>
            <a:r>
              <a:rPr lang="en-US" altLang="ko-KR" dirty="0"/>
              <a:t>3) L={}(</a:t>
            </a:r>
            <a:r>
              <a:rPr lang="ko-KR" altLang="en-US" dirty="0"/>
              <a:t>공집합</a:t>
            </a:r>
            <a:r>
              <a:rPr lang="en-US" altLang="ko-KR" dirty="0"/>
              <a:t>), w(</a:t>
            </a:r>
            <a:r>
              <a:rPr lang="ko-KR" altLang="en-US" dirty="0"/>
              <a:t>배낭의 무게 합</a:t>
            </a:r>
            <a:r>
              <a:rPr lang="en-US" altLang="ko-KR" dirty="0"/>
              <a:t>)=0, v=0</a:t>
            </a:r>
            <a:br>
              <a:rPr lang="en-US" altLang="ko-KR" dirty="0"/>
            </a:br>
            <a:r>
              <a:rPr lang="en-US" altLang="ko-KR" dirty="0"/>
              <a:t>4) S</a:t>
            </a:r>
            <a:r>
              <a:rPr lang="ko-KR" altLang="en-US" dirty="0"/>
              <a:t>에서 무게당 가장 비싼 물건 </a:t>
            </a:r>
            <a:r>
              <a:rPr lang="en-US" altLang="ko-KR" dirty="0"/>
              <a:t>x</a:t>
            </a:r>
            <a:r>
              <a:rPr lang="ko-KR" altLang="en-US" dirty="0"/>
              <a:t>를 가져온다</a:t>
            </a:r>
            <a:br>
              <a:rPr lang="en-US" altLang="ko-KR" dirty="0"/>
            </a:br>
            <a:r>
              <a:rPr lang="en-US" altLang="ko-KR" dirty="0"/>
              <a:t>5) while((</a:t>
            </a:r>
            <a:r>
              <a:rPr lang="en-US" altLang="ko-KR" dirty="0" err="1"/>
              <a:t>x+w</a:t>
            </a:r>
            <a:r>
              <a:rPr lang="ko-KR" altLang="en-US" dirty="0"/>
              <a:t>의 무게</a:t>
            </a:r>
            <a:r>
              <a:rPr lang="en-US" altLang="ko-KR" dirty="0"/>
              <a:t>) </a:t>
            </a:r>
            <a:r>
              <a:rPr lang="ko-KR" altLang="en-US" dirty="0"/>
              <a:t>≤ </a:t>
            </a:r>
            <a:r>
              <a:rPr lang="en-US" altLang="ko-KR" dirty="0"/>
              <a:t>C) {</a:t>
            </a:r>
            <a:br>
              <a:rPr lang="en-US" altLang="ko-KR" dirty="0"/>
            </a:br>
            <a:r>
              <a:rPr lang="en-US" altLang="ko-KR" dirty="0"/>
              <a:t>    x</a:t>
            </a:r>
            <a:r>
              <a:rPr lang="ko-KR" altLang="en-US" dirty="0"/>
              <a:t>를 </a:t>
            </a:r>
            <a:r>
              <a:rPr lang="en-US" altLang="ko-KR" dirty="0"/>
              <a:t>L</a:t>
            </a:r>
            <a:r>
              <a:rPr lang="ko-KR" altLang="en-US" dirty="0"/>
              <a:t>에 추가</a:t>
            </a:r>
            <a:br>
              <a:rPr lang="en-US" altLang="ko-KR" dirty="0"/>
            </a:br>
            <a:r>
              <a:rPr lang="en-US" altLang="ko-KR" dirty="0"/>
              <a:t>    w ← w+(x </a:t>
            </a:r>
            <a:r>
              <a:rPr lang="ko-KR" altLang="en-US" dirty="0"/>
              <a:t>무게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   v ← v+(x </a:t>
            </a:r>
            <a:r>
              <a:rPr lang="ko-KR" altLang="en-US" dirty="0"/>
              <a:t>가치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   x</a:t>
            </a:r>
            <a:r>
              <a:rPr lang="ko-KR" altLang="en-US" dirty="0"/>
              <a:t>를 </a:t>
            </a:r>
            <a:r>
              <a:rPr lang="en-US" altLang="ko-KR" dirty="0"/>
              <a:t>S</a:t>
            </a:r>
            <a:r>
              <a:rPr lang="ko-KR" altLang="en-US" dirty="0"/>
              <a:t>에서 제거</a:t>
            </a:r>
            <a:br>
              <a:rPr lang="en-US" altLang="ko-KR" dirty="0"/>
            </a:br>
            <a:r>
              <a:rPr lang="en-US" altLang="ko-KR" dirty="0"/>
              <a:t>    S</a:t>
            </a:r>
            <a:r>
              <a:rPr lang="ko-KR" altLang="en-US" dirty="0"/>
              <a:t>에서 무게당 가장 비싼 물건 </a:t>
            </a:r>
            <a:r>
              <a:rPr lang="en-US" altLang="ko-KR" dirty="0"/>
              <a:t>x</a:t>
            </a:r>
            <a:r>
              <a:rPr lang="ko-KR" altLang="en-US" dirty="0"/>
              <a:t>를 가져온다</a:t>
            </a:r>
            <a:br>
              <a:rPr lang="en-US" altLang="ko-KR" dirty="0"/>
            </a:b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6) if((C-w)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0) { // </a:t>
            </a:r>
            <a:r>
              <a:rPr lang="ko-KR" altLang="en-US" dirty="0"/>
              <a:t>배낭에</a:t>
            </a:r>
            <a:r>
              <a:rPr lang="en-US" altLang="ko-KR" dirty="0"/>
              <a:t> </a:t>
            </a:r>
            <a:r>
              <a:rPr lang="ko-KR" altLang="en-US" dirty="0"/>
              <a:t>부분적으로 담을 공간만</a:t>
            </a:r>
            <a:r>
              <a:rPr lang="en-US" altLang="ko-KR" dirty="0"/>
              <a:t>O</a:t>
            </a:r>
            <a:br>
              <a:rPr lang="en-US" altLang="ko-KR" dirty="0"/>
            </a:br>
            <a:r>
              <a:rPr lang="en-US" altLang="ko-KR" dirty="0"/>
              <a:t>    </a:t>
            </a:r>
            <a:r>
              <a:rPr lang="ko-KR" altLang="en-US" dirty="0"/>
              <a:t>물건 </a:t>
            </a:r>
            <a:r>
              <a:rPr lang="en-US" altLang="ko-KR" dirty="0"/>
              <a:t>x</a:t>
            </a:r>
            <a:r>
              <a:rPr lang="ko-KR" altLang="en-US" dirty="0"/>
              <a:t>를 </a:t>
            </a:r>
            <a:r>
              <a:rPr lang="en-US" altLang="ko-KR" dirty="0"/>
              <a:t>(C-w)</a:t>
            </a:r>
            <a:r>
              <a:rPr lang="ko-KR" altLang="en-US" dirty="0"/>
              <a:t>만큼 </a:t>
            </a:r>
            <a:r>
              <a:rPr lang="en-US" altLang="ko-KR" dirty="0"/>
              <a:t>L</a:t>
            </a:r>
            <a:r>
              <a:rPr lang="ko-KR" altLang="en-US" dirty="0"/>
              <a:t>에 추가</a:t>
            </a:r>
            <a:br>
              <a:rPr lang="en-US" altLang="ko-KR" dirty="0"/>
            </a:br>
            <a:r>
              <a:rPr lang="en-US" altLang="ko-KR" dirty="0"/>
              <a:t>    v = v+((C-w)</a:t>
            </a:r>
            <a:r>
              <a:rPr lang="ko-KR" altLang="en-US" dirty="0"/>
              <a:t>비율의 </a:t>
            </a:r>
            <a:r>
              <a:rPr lang="en-US" altLang="ko-KR" dirty="0"/>
              <a:t>x </a:t>
            </a:r>
            <a:r>
              <a:rPr lang="ko-KR" altLang="en-US" dirty="0"/>
              <a:t>가치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7) return L, v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250651-7D03-F0C2-26A7-FC0B9E13163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9802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5F1BDB8-B837-72D0-28D4-C549A55DD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F13259-5A38-D0A5-7F55-A43DC14B0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다익스트라</a:t>
            </a:r>
            <a:r>
              <a:rPr lang="ko-KR" altLang="en-US" dirty="0"/>
              <a:t> 알고리즘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592710-32E8-D1AF-3CED-D72E5C899C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F082D00-0834-DB30-29DF-27E57988EC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가중그래프</a:t>
            </a:r>
            <a:r>
              <a:rPr lang="en-US" altLang="ko-KR" dirty="0"/>
              <a:t>, </a:t>
            </a:r>
            <a:r>
              <a:rPr lang="ko-KR" altLang="en-US" dirty="0"/>
              <a:t>균일그래프</a:t>
            </a:r>
            <a:endParaRPr lang="en-US" altLang="ko-KR" dirty="0"/>
          </a:p>
          <a:p>
            <a:pPr lvl="1"/>
            <a:r>
              <a:rPr lang="ko-KR" altLang="en-US" dirty="0"/>
              <a:t>균일</a:t>
            </a:r>
            <a:r>
              <a:rPr lang="en-US" altLang="ko-KR" dirty="0"/>
              <a:t>(</a:t>
            </a:r>
            <a:r>
              <a:rPr lang="ko-KR" altLang="en-US" dirty="0"/>
              <a:t>일반</a:t>
            </a:r>
            <a:r>
              <a:rPr lang="en-US" altLang="ko-KR" dirty="0"/>
              <a:t>)</a:t>
            </a:r>
            <a:r>
              <a:rPr lang="ko-KR" altLang="en-US" dirty="0"/>
              <a:t>그래프 </a:t>
            </a:r>
            <a:r>
              <a:rPr lang="en-US" altLang="ko-KR" dirty="0"/>
              <a:t>: </a:t>
            </a:r>
            <a:r>
              <a:rPr lang="ko-KR" altLang="en-US" dirty="0" err="1"/>
              <a:t>엣지에</a:t>
            </a:r>
            <a:r>
              <a:rPr lang="ko-KR" altLang="en-US" dirty="0"/>
              <a:t> 가중치</a:t>
            </a:r>
            <a:r>
              <a:rPr lang="en-US" altLang="ko-KR" dirty="0"/>
              <a:t>X, </a:t>
            </a:r>
            <a:r>
              <a:rPr lang="ko-KR" altLang="en-US" dirty="0"/>
              <a:t>최단경로 </a:t>
            </a:r>
            <a:r>
              <a:rPr lang="en-US" altLang="ko-KR" dirty="0"/>
              <a:t>= </a:t>
            </a:r>
            <a:r>
              <a:rPr lang="ko-KR" altLang="en-US" dirty="0"/>
              <a:t>가장 적은 단계의 경로</a:t>
            </a:r>
            <a:br>
              <a:rPr lang="en-US" altLang="ko-KR" dirty="0"/>
            </a:br>
            <a:r>
              <a:rPr lang="ko-KR" altLang="en-US" dirty="0"/>
              <a:t>가중그래프 </a:t>
            </a:r>
            <a:r>
              <a:rPr lang="en-US" altLang="ko-KR" dirty="0"/>
              <a:t>: </a:t>
            </a:r>
            <a:r>
              <a:rPr lang="ko-KR" altLang="en-US" dirty="0"/>
              <a:t>비용</a:t>
            </a:r>
            <a:r>
              <a:rPr lang="en-US" altLang="ko-KR" dirty="0"/>
              <a:t>/</a:t>
            </a:r>
            <a:r>
              <a:rPr lang="ko-KR" altLang="en-US" dirty="0"/>
              <a:t>시간</a:t>
            </a:r>
            <a:r>
              <a:rPr lang="en-US" altLang="ko-KR" dirty="0"/>
              <a:t>/</a:t>
            </a:r>
            <a:r>
              <a:rPr lang="ko-KR" altLang="en-US" dirty="0"/>
              <a:t>거리 등의 가중치</a:t>
            </a:r>
            <a:r>
              <a:rPr lang="en-US" altLang="ko-KR" dirty="0"/>
              <a:t>, </a:t>
            </a:r>
            <a:r>
              <a:rPr lang="ko-KR" altLang="en-US" dirty="0"/>
              <a:t>최단경로</a:t>
            </a:r>
            <a:r>
              <a:rPr lang="en-US" altLang="ko-KR" dirty="0"/>
              <a:t> = </a:t>
            </a:r>
            <a:r>
              <a:rPr lang="ko-KR" altLang="en-US" dirty="0"/>
              <a:t>최소 가중치</a:t>
            </a:r>
            <a:endParaRPr lang="en-US" altLang="ko-KR" dirty="0"/>
          </a:p>
          <a:p>
            <a:r>
              <a:rPr lang="ko-KR" altLang="en-US" dirty="0" err="1"/>
              <a:t>다익스트라</a:t>
            </a:r>
            <a:r>
              <a:rPr lang="ko-KR" altLang="en-US" dirty="0"/>
              <a:t> 알고리즘 개념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경로 수가 많아지면 가능한 조합의 수가 너무 많다</a:t>
            </a:r>
            <a:endParaRPr lang="en-US" altLang="ko-KR" dirty="0"/>
          </a:p>
          <a:p>
            <a:pPr lvl="1"/>
            <a:r>
              <a:rPr lang="ko-KR" altLang="en-US" dirty="0"/>
              <a:t>그래프의 한 정점에서 다른 모든 정점까지의 최단 경로를 찾는 알고리즘</a:t>
            </a:r>
            <a:endParaRPr lang="en-US" altLang="ko-KR" dirty="0"/>
          </a:p>
          <a:p>
            <a:pPr lvl="2"/>
            <a:r>
              <a:rPr lang="en-US" altLang="ko-KR" dirty="0"/>
              <a:t>Greedy </a:t>
            </a:r>
            <a:r>
              <a:rPr lang="ko-KR" altLang="en-US" dirty="0"/>
              <a:t>요소</a:t>
            </a:r>
            <a:r>
              <a:rPr lang="en-US" altLang="ko-KR" dirty="0"/>
              <a:t>(</a:t>
            </a:r>
            <a:r>
              <a:rPr lang="ko-KR" altLang="en-US" dirty="0"/>
              <a:t>현 시점에서 도달한 노드들 중 비용이 가장</a:t>
            </a:r>
            <a:r>
              <a:rPr lang="en-US" altLang="ko-KR" dirty="0"/>
              <a:t>↓ </a:t>
            </a:r>
            <a:r>
              <a:rPr lang="ko-KR" altLang="en-US" dirty="0" err="1"/>
              <a:t>택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Dynamic Programming </a:t>
            </a:r>
            <a:r>
              <a:rPr lang="ko-KR" altLang="en-US" dirty="0"/>
              <a:t>요소</a:t>
            </a:r>
            <a:r>
              <a:rPr lang="en-US" altLang="ko-KR" dirty="0"/>
              <a:t>(</a:t>
            </a:r>
            <a:r>
              <a:rPr lang="ko-KR" altLang="en-US" dirty="0"/>
              <a:t>비용테이블에 계산된 정보를 저장</a:t>
            </a:r>
            <a:r>
              <a:rPr lang="en-US" altLang="ko-KR" dirty="0"/>
              <a:t>/</a:t>
            </a:r>
            <a:r>
              <a:rPr lang="ko-KR" altLang="en-US" dirty="0"/>
              <a:t>갱신</a:t>
            </a:r>
            <a:r>
              <a:rPr lang="en-US" altLang="ko-KR" dirty="0"/>
              <a:t>)</a:t>
            </a:r>
            <a:r>
              <a:rPr lang="ko-KR" altLang="en-US" dirty="0"/>
              <a:t>를 모두 가짐</a:t>
            </a:r>
            <a:endParaRPr lang="en-US" altLang="ko-KR" dirty="0"/>
          </a:p>
          <a:p>
            <a:pPr lvl="1"/>
            <a:r>
              <a:rPr lang="ko-KR" altLang="en-US" dirty="0"/>
              <a:t>핵심 아이디어 </a:t>
            </a:r>
            <a:r>
              <a:rPr lang="en-US" altLang="ko-KR" dirty="0"/>
              <a:t>: </a:t>
            </a:r>
            <a:r>
              <a:rPr lang="ko-KR" altLang="en-US" dirty="0"/>
              <a:t>경로 비용은 현재 노드에서 모두 결정 </a:t>
            </a:r>
            <a:r>
              <a:rPr lang="en-US" altLang="ko-KR" dirty="0"/>
              <a:t>X, </a:t>
            </a:r>
            <a:r>
              <a:rPr lang="ko-KR" altLang="en-US" dirty="0"/>
              <a:t>다음 단계 상황 따라 달라짐</a:t>
            </a:r>
            <a:r>
              <a:rPr lang="en-US" altLang="ko-KR" dirty="0"/>
              <a:t>;</a:t>
            </a:r>
          </a:p>
          <a:p>
            <a:r>
              <a:rPr lang="ko-KR" altLang="en-US" dirty="0"/>
              <a:t>원리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초기화 </a:t>
            </a:r>
            <a:r>
              <a:rPr lang="en-US" altLang="ko-KR" dirty="0"/>
              <a:t>: </a:t>
            </a:r>
            <a:r>
              <a:rPr lang="ko-KR" altLang="en-US" dirty="0"/>
              <a:t>비용테이블</a:t>
            </a:r>
            <a:r>
              <a:rPr lang="en-US" altLang="ko-KR" dirty="0"/>
              <a:t>, </a:t>
            </a:r>
            <a:r>
              <a:rPr lang="ko-KR" altLang="en-US" dirty="0"/>
              <a:t>출발점</a:t>
            </a:r>
            <a:r>
              <a:rPr lang="en-US" altLang="ko-KR" dirty="0"/>
              <a:t>, </a:t>
            </a:r>
            <a:r>
              <a:rPr lang="ko-KR" altLang="en-US" dirty="0"/>
              <a:t>첫 경로</a:t>
            </a:r>
            <a:r>
              <a:rPr lang="en-US" altLang="ko-KR" dirty="0"/>
              <a:t> </a:t>
            </a:r>
            <a:r>
              <a:rPr lang="ko-KR" altLang="en-US" dirty="0"/>
              <a:t>및 나머지 노드의 경로 </a:t>
            </a:r>
            <a:br>
              <a:rPr lang="en-US" altLang="ko-KR" dirty="0"/>
            </a:br>
            <a:r>
              <a:rPr lang="ko-KR" altLang="en-US" dirty="0"/>
              <a:t>비용 생성</a:t>
            </a:r>
            <a:endParaRPr lang="en-US" altLang="ko-KR" dirty="0"/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최소비용 노드 </a:t>
            </a:r>
            <a:r>
              <a:rPr lang="ko-KR" altLang="en-US" dirty="0" err="1"/>
              <a:t>택</a:t>
            </a:r>
            <a:r>
              <a:rPr lang="en-US" altLang="ko-KR" dirty="0"/>
              <a:t>(</a:t>
            </a:r>
            <a:r>
              <a:rPr lang="ko-KR" altLang="en-US" dirty="0" err="1"/>
              <a:t>그리디</a:t>
            </a:r>
            <a:r>
              <a:rPr lang="en-US" altLang="ko-KR" dirty="0"/>
              <a:t>) : </a:t>
            </a:r>
            <a:r>
              <a:rPr lang="ko-KR" altLang="en-US" dirty="0"/>
              <a:t>방문하지</a:t>
            </a:r>
            <a:r>
              <a:rPr lang="en-US" altLang="ko-KR" dirty="0"/>
              <a:t> </a:t>
            </a:r>
            <a:r>
              <a:rPr lang="ko-KR" altLang="en-US" dirty="0"/>
              <a:t>않은 노드들 중 </a:t>
            </a:r>
            <a:br>
              <a:rPr lang="en-US" altLang="ko-KR" dirty="0"/>
            </a:br>
            <a:r>
              <a:rPr lang="ko-KR" altLang="en-US" dirty="0"/>
              <a:t>비용테이블에서 가장</a:t>
            </a:r>
            <a:r>
              <a:rPr lang="en-US" altLang="ko-KR" dirty="0"/>
              <a:t> </a:t>
            </a:r>
            <a:r>
              <a:rPr lang="ko-KR" altLang="en-US" dirty="0"/>
              <a:t>작은 비용의 노드 </a:t>
            </a:r>
            <a:r>
              <a:rPr lang="ko-KR" altLang="en-US" dirty="0" err="1"/>
              <a:t>택</a:t>
            </a:r>
            <a:endParaRPr lang="en-US" altLang="ko-KR" dirty="0"/>
          </a:p>
          <a:p>
            <a:pPr lvl="1"/>
            <a:r>
              <a:rPr lang="en-US" altLang="ko-KR" dirty="0"/>
              <a:t>3) </a:t>
            </a:r>
            <a:r>
              <a:rPr lang="ko-KR" altLang="en-US" dirty="0"/>
              <a:t>비용테이블 갱신 </a:t>
            </a:r>
            <a:r>
              <a:rPr lang="en-US" altLang="ko-KR" dirty="0"/>
              <a:t>: </a:t>
            </a:r>
            <a:r>
              <a:rPr lang="ko-KR" altLang="en-US" dirty="0"/>
              <a:t>선택 </a:t>
            </a:r>
            <a:r>
              <a:rPr lang="ko-KR" altLang="en-US" dirty="0" err="1"/>
              <a:t>노드중</a:t>
            </a:r>
            <a:r>
              <a:rPr lang="ko-KR" altLang="en-US" dirty="0"/>
              <a:t> 인접</a:t>
            </a:r>
            <a:r>
              <a:rPr lang="en-US" altLang="ko-KR" dirty="0"/>
              <a:t> </a:t>
            </a:r>
            <a:r>
              <a:rPr lang="ko-KR" altLang="en-US" dirty="0"/>
              <a:t>노드의 비용을 계산 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선택된</a:t>
            </a:r>
            <a:r>
              <a:rPr lang="en-US" altLang="ko-KR" dirty="0"/>
              <a:t> </a:t>
            </a:r>
            <a:r>
              <a:rPr lang="ko-KR" altLang="en-US" dirty="0"/>
              <a:t>노드까지</a:t>
            </a:r>
            <a:r>
              <a:rPr lang="en-US" altLang="ko-KR" dirty="0"/>
              <a:t> </a:t>
            </a:r>
            <a:r>
              <a:rPr lang="ko-KR" altLang="en-US" dirty="0"/>
              <a:t>현재 최소 비용 </a:t>
            </a:r>
            <a:r>
              <a:rPr lang="en-US" altLang="ko-KR" dirty="0"/>
              <a:t>+ </a:t>
            </a:r>
            <a:r>
              <a:rPr lang="ko-KR" altLang="en-US" dirty="0"/>
              <a:t>이웃</a:t>
            </a:r>
            <a:r>
              <a:rPr lang="en-US" altLang="ko-KR" dirty="0"/>
              <a:t> </a:t>
            </a:r>
            <a:r>
              <a:rPr lang="ko-KR" altLang="en-US" dirty="0"/>
              <a:t>노드까지 비용</a:t>
            </a:r>
            <a:br>
              <a:rPr lang="en-US" altLang="ko-KR" dirty="0"/>
            </a:br>
            <a:r>
              <a:rPr lang="ko-KR" altLang="en-US" dirty="0"/>
              <a:t>기존 비용 </a:t>
            </a:r>
            <a:r>
              <a:rPr lang="en-US" altLang="ko-KR" dirty="0"/>
              <a:t>&gt; </a:t>
            </a:r>
            <a:r>
              <a:rPr lang="ko-KR" altLang="en-US" dirty="0"/>
              <a:t>새 비용</a:t>
            </a:r>
            <a:r>
              <a:rPr lang="en-US" altLang="ko-KR" dirty="0"/>
              <a:t>?</a:t>
            </a:r>
            <a:r>
              <a:rPr lang="ko-KR" altLang="en-US" dirty="0"/>
              <a:t> 기존 경로 갱신</a:t>
            </a:r>
            <a:r>
              <a:rPr lang="en-US" altLang="ko-KR" dirty="0"/>
              <a:t>, </a:t>
            </a:r>
            <a:r>
              <a:rPr lang="ko-KR" altLang="en-US" dirty="0"/>
              <a:t>이웃부모 </a:t>
            </a:r>
            <a:r>
              <a:rPr lang="en-US" altLang="ko-KR" dirty="0"/>
              <a:t>= </a:t>
            </a:r>
            <a:r>
              <a:rPr lang="ko-KR" altLang="en-US" dirty="0"/>
              <a:t>현 노드로 갱신</a:t>
            </a:r>
            <a:endParaRPr lang="en-US" altLang="ko-KR" dirty="0"/>
          </a:p>
          <a:p>
            <a:pPr lvl="1"/>
            <a:r>
              <a:rPr lang="en-US" altLang="ko-KR" dirty="0"/>
              <a:t>4) </a:t>
            </a:r>
            <a:r>
              <a:rPr lang="ko-KR" altLang="en-US" dirty="0"/>
              <a:t>모든 노드 방문 </a:t>
            </a:r>
            <a:r>
              <a:rPr lang="en-US" altLang="ko-KR" dirty="0"/>
              <a:t>or </a:t>
            </a:r>
            <a:r>
              <a:rPr lang="ko-KR" altLang="en-US" dirty="0"/>
              <a:t>갱신 경로</a:t>
            </a:r>
            <a:r>
              <a:rPr lang="en-US" altLang="ko-KR" dirty="0"/>
              <a:t>X </a:t>
            </a:r>
            <a:r>
              <a:rPr lang="ko-KR" altLang="en-US" dirty="0"/>
              <a:t>까지 </a:t>
            </a:r>
            <a:r>
              <a:rPr lang="en-US" altLang="ko-KR" dirty="0"/>
              <a:t>2~3 </a:t>
            </a:r>
            <a:r>
              <a:rPr lang="ko-KR" altLang="en-US" dirty="0"/>
              <a:t>단계 반복 수행</a:t>
            </a:r>
            <a:endParaRPr lang="en-US" altLang="ko-KR" dirty="0"/>
          </a:p>
          <a:p>
            <a:pPr lvl="1"/>
            <a:r>
              <a:rPr lang="en-US" altLang="ko-KR" dirty="0"/>
              <a:t>5) </a:t>
            </a:r>
            <a:r>
              <a:rPr lang="ko-KR" altLang="en-US" dirty="0"/>
              <a:t>최종 비용 테이블엔 각 노드로의 획정된 최소 비용 기록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→ (</a:t>
            </a:r>
            <a:r>
              <a:rPr lang="ko-KR" altLang="en-US" dirty="0"/>
              <a:t>최단 경로</a:t>
            </a:r>
            <a:r>
              <a:rPr lang="en-US" altLang="ko-KR" dirty="0"/>
              <a:t>) = (</a:t>
            </a:r>
            <a:r>
              <a:rPr lang="ko-KR" altLang="en-US" dirty="0"/>
              <a:t>해당 노드의 부모로부터 </a:t>
            </a:r>
            <a:r>
              <a:rPr lang="ko-KR" altLang="en-US" dirty="0" err="1"/>
              <a:t>역추적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유의점</a:t>
            </a:r>
            <a:endParaRPr lang="en-US" altLang="ko-KR" dirty="0"/>
          </a:p>
          <a:p>
            <a:pPr lvl="1"/>
            <a:r>
              <a:rPr lang="ko-KR" altLang="en-US" dirty="0"/>
              <a:t>간선의 가중치가 음수인 경우 잘 동작</a:t>
            </a:r>
            <a:r>
              <a:rPr lang="en-US" altLang="ko-KR" dirty="0"/>
              <a:t>X, </a:t>
            </a:r>
            <a:r>
              <a:rPr lang="ko-KR" altLang="en-US" dirty="0"/>
              <a:t>음수 가중치 때문에 </a:t>
            </a:r>
            <a:br>
              <a:rPr lang="en-US" altLang="ko-KR" dirty="0"/>
            </a:br>
            <a:r>
              <a:rPr lang="ko-KR" altLang="en-US" dirty="0"/>
              <a:t>그래프 내 사이클의 비용이 </a:t>
            </a:r>
            <a:r>
              <a:rPr lang="en-US" altLang="ko-KR" dirty="0"/>
              <a:t>&lt;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면 끝없이 계산이 반복됨 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따라서 </a:t>
            </a:r>
            <a:r>
              <a:rPr lang="ko-KR" altLang="en-US" dirty="0" err="1"/>
              <a:t>다익스트라는</a:t>
            </a:r>
            <a:r>
              <a:rPr lang="ko-KR" altLang="en-US" dirty="0"/>
              <a:t> 가중치 </a:t>
            </a:r>
            <a:r>
              <a:rPr lang="en-US" altLang="ko-KR" dirty="0"/>
              <a:t>&gt; 0</a:t>
            </a:r>
            <a:r>
              <a:rPr lang="ko-KR" altLang="en-US" dirty="0"/>
              <a:t>에서만 </a:t>
            </a:r>
            <a:r>
              <a:rPr lang="en-US" altLang="ko-KR" dirty="0"/>
              <a:t>OK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453B05-3C63-166C-B1FC-03964B2FA32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4929E8-95E7-B99E-653A-F5333B8CD69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20888" y="2432720"/>
            <a:ext cx="2594504" cy="93770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CEF45AF-6075-D068-CA36-262F0A569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825" y="2504728"/>
            <a:ext cx="1053503" cy="526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58C741E-B760-EDD8-4689-6C9A5A2CD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DF62E4-F8F7-93FF-ACBC-43450BA7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 cover </a:t>
            </a:r>
            <a:r>
              <a:rPr lang="ko-KR" altLang="en-US" dirty="0"/>
              <a:t>알고리즘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880094-69B6-8B60-1928-DA59DA8B88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7EF7D7A-B79F-AF07-7E8D-4A335C5E02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집합 커버 문제</a:t>
            </a:r>
            <a:r>
              <a:rPr lang="en-US" altLang="ko-KR" dirty="0"/>
              <a:t>(set cover </a:t>
            </a:r>
            <a:r>
              <a:rPr lang="ko-KR" altLang="en-US" dirty="0"/>
              <a:t>문제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n</a:t>
            </a:r>
            <a:r>
              <a:rPr lang="ko-KR" altLang="en-US" dirty="0"/>
              <a:t>개의 원소를 가진 집합</a:t>
            </a:r>
            <a:r>
              <a:rPr lang="en-US" altLang="ko-KR" dirty="0"/>
              <a:t> U, U</a:t>
            </a:r>
            <a:r>
              <a:rPr lang="ko-KR" altLang="en-US" dirty="0"/>
              <a:t>의 부분집합들을 원소로 하는 집합 </a:t>
            </a:r>
            <a:r>
              <a:rPr lang="en-US" altLang="ko-KR" dirty="0"/>
              <a:t>F</a:t>
            </a:r>
            <a:r>
              <a:rPr lang="ko-KR" altLang="en-US" dirty="0"/>
              <a:t>가 주어졌을 때</a:t>
            </a:r>
            <a:r>
              <a:rPr lang="en-US" altLang="ko-KR" dirty="0"/>
              <a:t>; → F</a:t>
            </a:r>
            <a:r>
              <a:rPr lang="ko-KR" altLang="en-US" dirty="0"/>
              <a:t>의 원소들을 택해 </a:t>
            </a:r>
            <a:r>
              <a:rPr lang="ko-KR" altLang="en-US" dirty="0" err="1"/>
              <a:t>합집합하여</a:t>
            </a:r>
            <a:r>
              <a:rPr lang="ko-KR" altLang="en-US" dirty="0"/>
              <a:t> </a:t>
            </a:r>
            <a:r>
              <a:rPr lang="en-US" altLang="ko-KR" dirty="0"/>
              <a:t>U</a:t>
            </a:r>
            <a:r>
              <a:rPr lang="ko-KR" altLang="en-US" dirty="0"/>
              <a:t>가 되는 최소한의 조합</a:t>
            </a:r>
            <a:endParaRPr lang="en-US" altLang="ko-KR" dirty="0"/>
          </a:p>
          <a:p>
            <a:r>
              <a:rPr lang="ko-KR" altLang="en-US" dirty="0"/>
              <a:t>원리</a:t>
            </a:r>
            <a:r>
              <a:rPr lang="en-US" altLang="ko-KR" dirty="0"/>
              <a:t>(</a:t>
            </a:r>
            <a:r>
              <a:rPr lang="ko-KR" altLang="en-US" dirty="0"/>
              <a:t>신도시 학교 문제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초기화</a:t>
            </a:r>
            <a:r>
              <a:rPr lang="en-US" altLang="ko-KR" dirty="0"/>
              <a:t> : U=</a:t>
            </a:r>
            <a:r>
              <a:rPr lang="ko-KR" altLang="en-US" dirty="0"/>
              <a:t>커버</a:t>
            </a:r>
            <a:r>
              <a:rPr lang="en-US" altLang="ko-KR" dirty="0"/>
              <a:t>X</a:t>
            </a:r>
            <a:r>
              <a:rPr lang="ko-KR" altLang="en-US" dirty="0"/>
              <a:t>된 전체마을</a:t>
            </a:r>
            <a:r>
              <a:rPr lang="en-US" altLang="ko-KR" dirty="0"/>
              <a:t>, F=</a:t>
            </a:r>
            <a:r>
              <a:rPr lang="ko-KR" altLang="en-US" dirty="0"/>
              <a:t>각 학교위치가 커버하는 마을 부분집합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C=</a:t>
            </a:r>
            <a:r>
              <a:rPr lang="ko-KR" altLang="en-US" dirty="0" err="1"/>
              <a:t>최정적으로</a:t>
            </a:r>
            <a:r>
              <a:rPr lang="ko-KR" altLang="en-US" dirty="0"/>
              <a:t> 선택된 학교 위치들의 집합</a:t>
            </a:r>
            <a:r>
              <a:rPr lang="en-US" altLang="ko-KR" dirty="0"/>
              <a:t>(</a:t>
            </a:r>
            <a:r>
              <a:rPr lang="ko-KR" altLang="en-US" dirty="0"/>
              <a:t>처음엔 공집합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반복</a:t>
            </a:r>
            <a:r>
              <a:rPr lang="en-US" altLang="ko-KR" dirty="0"/>
              <a:t> : U</a:t>
            </a:r>
            <a:r>
              <a:rPr lang="ko-KR" altLang="en-US" dirty="0"/>
              <a:t>가 공집합</a:t>
            </a:r>
            <a:r>
              <a:rPr lang="en-US" altLang="ko-KR" dirty="0"/>
              <a:t>(</a:t>
            </a:r>
            <a:r>
              <a:rPr lang="ko-KR" altLang="en-US" dirty="0"/>
              <a:t>모든 마을이 커버될 때 까지</a:t>
            </a:r>
            <a:r>
              <a:rPr lang="en-US" altLang="ko-KR" dirty="0"/>
              <a:t>) </a:t>
            </a:r>
            <a:r>
              <a:rPr lang="ko-KR" altLang="en-US" dirty="0"/>
              <a:t>다음을 반복 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2-1) F</a:t>
            </a:r>
            <a:r>
              <a:rPr lang="ko-KR" altLang="en-US" dirty="0"/>
              <a:t>에 있는 학교 위치들</a:t>
            </a:r>
            <a:r>
              <a:rPr lang="en-US" altLang="ko-KR" dirty="0"/>
              <a:t>(</a:t>
            </a:r>
            <a:r>
              <a:rPr lang="ko-KR" altLang="en-US" dirty="0"/>
              <a:t>부분집합</a:t>
            </a:r>
            <a:r>
              <a:rPr lang="en-US" altLang="ko-KR" dirty="0"/>
              <a:t>) </a:t>
            </a:r>
            <a:r>
              <a:rPr lang="ko-KR" altLang="en-US" dirty="0"/>
              <a:t>중에서 </a:t>
            </a:r>
            <a:r>
              <a:rPr lang="en-US" altLang="ko-KR" dirty="0"/>
              <a:t>U</a:t>
            </a:r>
            <a:r>
              <a:rPr lang="ko-KR" altLang="en-US" dirty="0"/>
              <a:t>에 남은 마을들을 가장 많이 커버할 수 있는 </a:t>
            </a:r>
            <a:r>
              <a:rPr lang="en-US" altLang="ko-KR" dirty="0"/>
              <a:t>S </a:t>
            </a:r>
            <a:r>
              <a:rPr lang="ko-KR" altLang="en-US" dirty="0"/>
              <a:t>선택</a:t>
            </a:r>
            <a:br>
              <a:rPr lang="en-US" altLang="ko-KR" dirty="0"/>
            </a:br>
            <a:r>
              <a:rPr lang="en-US" altLang="ko-KR" dirty="0"/>
              <a:t>2-2) S</a:t>
            </a:r>
            <a:r>
              <a:rPr lang="ko-KR" altLang="en-US" dirty="0"/>
              <a:t>가 커버하는 마을들을 </a:t>
            </a:r>
            <a:r>
              <a:rPr lang="en-US" altLang="ko-KR" dirty="0"/>
              <a:t>U</a:t>
            </a:r>
            <a:r>
              <a:rPr lang="ko-KR" altLang="en-US" dirty="0"/>
              <a:t>에서 제거</a:t>
            </a:r>
            <a:r>
              <a:rPr lang="en-US" altLang="ko-KR" dirty="0"/>
              <a:t>(U=U-S)</a:t>
            </a:r>
            <a:br>
              <a:rPr lang="en-US" altLang="ko-KR" dirty="0"/>
            </a:br>
            <a:r>
              <a:rPr lang="en-US" altLang="ko-KR" dirty="0"/>
              <a:t>2-3) S</a:t>
            </a:r>
            <a:r>
              <a:rPr lang="ko-KR" altLang="en-US" dirty="0"/>
              <a:t>를 최종 결과집합 </a:t>
            </a:r>
            <a:r>
              <a:rPr lang="en-US" altLang="ko-KR" dirty="0"/>
              <a:t>C</a:t>
            </a:r>
            <a:r>
              <a:rPr lang="ko-KR" altLang="en-US" dirty="0"/>
              <a:t>에 추가</a:t>
            </a:r>
            <a:endParaRPr lang="en-US" altLang="ko-KR" dirty="0"/>
          </a:p>
          <a:p>
            <a:r>
              <a:rPr lang="ko-KR" altLang="en-US" dirty="0"/>
              <a:t>방송국 선택 문제 </a:t>
            </a:r>
            <a:r>
              <a:rPr lang="en-US" altLang="ko-KR" dirty="0"/>
              <a:t>: </a:t>
            </a:r>
            <a:r>
              <a:rPr lang="ko-KR" altLang="en-US" dirty="0"/>
              <a:t>라디오 송출을 가장 적은 기지국을 세워서 모든 주에 전파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접근방법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완전탐색</a:t>
            </a:r>
            <a:r>
              <a:rPr lang="en-US" altLang="ko-KR" dirty="0"/>
              <a:t>(</a:t>
            </a:r>
            <a:r>
              <a:rPr lang="ko-KR" altLang="en-US" dirty="0" err="1"/>
              <a:t>브루트</a:t>
            </a:r>
            <a:r>
              <a:rPr lang="ko-KR" altLang="en-US" dirty="0"/>
              <a:t> 포스</a:t>
            </a:r>
            <a:r>
              <a:rPr lang="en-US" altLang="ko-KR" dirty="0"/>
              <a:t>) : </a:t>
            </a:r>
            <a:r>
              <a:rPr lang="ko-KR" altLang="en-US" dirty="0"/>
              <a:t>가능한 모든 방송국의 부분집합 나열 </a:t>
            </a:r>
            <a:r>
              <a:rPr lang="en-US" altLang="ko-KR" dirty="0"/>
              <a:t>→ 50</a:t>
            </a:r>
            <a:r>
              <a:rPr lang="ko-KR" altLang="en-US" dirty="0"/>
              <a:t>개 전체주를 커버하면서 가장 원소수가 적은 집합 </a:t>
            </a:r>
            <a:r>
              <a:rPr lang="ko-KR" altLang="en-US" dirty="0" err="1"/>
              <a:t>택</a:t>
            </a:r>
            <a:r>
              <a:rPr lang="ko-KR" altLang="en-US" dirty="0"/>
              <a:t> </a:t>
            </a:r>
            <a:r>
              <a:rPr lang="en-US" altLang="ko-KR" dirty="0"/>
              <a:t>→ O(2ⁿ)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시간 복잡도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2)</a:t>
            </a:r>
            <a:r>
              <a:rPr lang="ko-KR" altLang="en-US" dirty="0"/>
              <a:t> 근사알고리즘 </a:t>
            </a:r>
            <a:r>
              <a:rPr lang="en-US" altLang="ko-KR" dirty="0"/>
              <a:t>: </a:t>
            </a:r>
            <a:r>
              <a:rPr lang="ko-KR" altLang="en-US" dirty="0"/>
              <a:t>아직 방송</a:t>
            </a:r>
            <a:r>
              <a:rPr lang="en-US" altLang="ko-KR" dirty="0"/>
              <a:t>X </a:t>
            </a:r>
            <a:r>
              <a:rPr lang="ko-KR" altLang="en-US" dirty="0"/>
              <a:t>지역중 가장 많은 지역에 방송</a:t>
            </a:r>
            <a:r>
              <a:rPr lang="en-US" altLang="ko-KR" dirty="0"/>
              <a:t>O</a:t>
            </a:r>
            <a:r>
              <a:rPr lang="ko-KR" altLang="en-US" dirty="0"/>
              <a:t>인 기지국 선택 </a:t>
            </a:r>
            <a:r>
              <a:rPr lang="en-US" altLang="ko-KR" dirty="0"/>
              <a:t>→ </a:t>
            </a:r>
            <a:r>
              <a:rPr lang="ko-KR" altLang="en-US" dirty="0"/>
              <a:t>모든 주에 전파가 가능할 때 까지 선택 반복 </a:t>
            </a:r>
            <a:r>
              <a:rPr lang="en-US" altLang="ko-KR" dirty="0"/>
              <a:t>→ O(n²)</a:t>
            </a:r>
            <a:r>
              <a:rPr lang="ko-KR" altLang="en-US" dirty="0"/>
              <a:t>의 시간 복잡도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97C8EE-928D-8FEE-598E-A2C2B3E3B29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539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7B8C09-607A-8CCD-5C16-B83C32158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5C3E18-D1E9-DD8D-1E1E-1EDD2380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Kruskal </a:t>
            </a:r>
            <a:r>
              <a:rPr lang="ko-KR" altLang="en-US" dirty="0"/>
              <a:t>알고리즘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AA9482-28A0-FB14-2FB2-503C6C1FB0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F4F0274-81C4-2634-03EB-93BE90B685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최소신장트리</a:t>
            </a:r>
            <a:r>
              <a:rPr lang="ko-KR" altLang="en-US" dirty="0"/>
              <a:t> </a:t>
            </a:r>
            <a:r>
              <a:rPr lang="en-US" altLang="ko-KR" dirty="0"/>
              <a:t>(minimum spanning tree)</a:t>
            </a:r>
          </a:p>
          <a:p>
            <a:pPr lvl="1"/>
            <a:r>
              <a:rPr lang="ko-KR" altLang="en-US" dirty="0"/>
              <a:t>가중치 그래프에서 사이클</a:t>
            </a:r>
            <a:r>
              <a:rPr lang="en-US" altLang="ko-KR" dirty="0"/>
              <a:t>X, </a:t>
            </a:r>
            <a:r>
              <a:rPr lang="ko-KR" altLang="en-US" dirty="0"/>
              <a:t>모든 점들을 연결한 </a:t>
            </a:r>
            <a:r>
              <a:rPr lang="ko-KR" altLang="en-US" dirty="0" err="1"/>
              <a:t>트리중</a:t>
            </a:r>
            <a:r>
              <a:rPr lang="ko-KR" altLang="en-US" dirty="0"/>
              <a:t> </a:t>
            </a:r>
            <a:r>
              <a:rPr lang="ko-KR" altLang="en-US" dirty="0" err="1"/>
              <a:t>엣지의</a:t>
            </a:r>
            <a:r>
              <a:rPr lang="ko-KR" altLang="en-US" dirty="0"/>
              <a:t> 가중치 합이 최소</a:t>
            </a:r>
            <a:endParaRPr lang="en-US" altLang="ko-KR" dirty="0"/>
          </a:p>
          <a:p>
            <a:pPr lvl="2"/>
            <a:r>
              <a:rPr lang="ko-KR" altLang="en-US" dirty="0"/>
              <a:t>찾는 법 </a:t>
            </a:r>
            <a:r>
              <a:rPr lang="en-US" altLang="ko-KR" dirty="0"/>
              <a:t>: </a:t>
            </a:r>
            <a:r>
              <a:rPr lang="ko-KR" altLang="en-US" dirty="0"/>
              <a:t>사이클</a:t>
            </a:r>
            <a:r>
              <a:rPr lang="en-US" altLang="ko-KR" dirty="0"/>
              <a:t>X </a:t>
            </a:r>
            <a:r>
              <a:rPr lang="ko-KR" altLang="en-US" dirty="0"/>
              <a:t>도록</a:t>
            </a:r>
            <a:r>
              <a:rPr lang="en-US" altLang="ko-KR" dirty="0"/>
              <a:t> </a:t>
            </a:r>
            <a:r>
              <a:rPr lang="ko-KR" altLang="en-US" dirty="0"/>
              <a:t>모든 점 연결</a:t>
            </a:r>
            <a:endParaRPr lang="en-US" altLang="ko-KR" dirty="0"/>
          </a:p>
          <a:p>
            <a:pPr lvl="2"/>
            <a:r>
              <a:rPr lang="ko-KR" altLang="en-US" dirty="0"/>
              <a:t>특징 </a:t>
            </a:r>
            <a:r>
              <a:rPr lang="en-US" altLang="ko-KR" dirty="0"/>
              <a:t>: </a:t>
            </a:r>
            <a:r>
              <a:rPr lang="ko-KR" altLang="en-US" dirty="0"/>
              <a:t>정점</a:t>
            </a:r>
            <a:r>
              <a:rPr lang="en-US" altLang="ko-KR" dirty="0"/>
              <a:t> </a:t>
            </a:r>
            <a:r>
              <a:rPr lang="ko-KR" altLang="en-US" dirty="0"/>
              <a:t>수 </a:t>
            </a:r>
            <a:r>
              <a:rPr lang="en-US" altLang="ko-KR" dirty="0"/>
              <a:t>n</a:t>
            </a:r>
            <a:r>
              <a:rPr lang="ko-KR" altLang="en-US" dirty="0"/>
              <a:t>에 대해 신장</a:t>
            </a:r>
            <a:r>
              <a:rPr lang="en-US" altLang="ko-KR" dirty="0"/>
              <a:t> </a:t>
            </a:r>
            <a:r>
              <a:rPr lang="ko-KR" altLang="en-US" dirty="0"/>
              <a:t>트리는 </a:t>
            </a:r>
            <a:r>
              <a:rPr lang="en-US" altLang="ko-KR" dirty="0"/>
              <a:t>n-1</a:t>
            </a:r>
            <a:r>
              <a:rPr lang="ko-KR" altLang="en-US" dirty="0"/>
              <a:t>개의 </a:t>
            </a:r>
            <a:r>
              <a:rPr lang="ko-KR" altLang="en-US" dirty="0" err="1"/>
              <a:t>엣지</a:t>
            </a:r>
            <a:r>
              <a:rPr lang="ko-KR" altLang="en-US" dirty="0"/>
              <a:t> 존재</a:t>
            </a:r>
            <a:r>
              <a:rPr lang="en-US" altLang="ko-KR" dirty="0"/>
              <a:t>. </a:t>
            </a:r>
            <a:r>
              <a:rPr lang="ko-KR" altLang="en-US" dirty="0" err="1"/>
              <a:t>엣지</a:t>
            </a:r>
            <a:r>
              <a:rPr lang="ko-KR" altLang="en-US" dirty="0"/>
              <a:t> </a:t>
            </a:r>
            <a:r>
              <a:rPr lang="ko-KR" altLang="en-US" dirty="0" err="1"/>
              <a:t>추가시</a:t>
            </a:r>
            <a:r>
              <a:rPr lang="ko-KR" altLang="en-US" dirty="0"/>
              <a:t> 사이클</a:t>
            </a:r>
            <a:r>
              <a:rPr lang="en-US" altLang="ko-KR" dirty="0"/>
              <a:t>O</a:t>
            </a:r>
          </a:p>
          <a:p>
            <a:r>
              <a:rPr lang="ko-KR" altLang="en-US" dirty="0"/>
              <a:t>최소 신장 트리를 찾는 </a:t>
            </a:r>
            <a:r>
              <a:rPr lang="ko-KR" altLang="en-US" dirty="0" err="1"/>
              <a:t>그리디</a:t>
            </a:r>
            <a:r>
              <a:rPr lang="ko-KR" altLang="en-US" dirty="0"/>
              <a:t> 알고리즘 </a:t>
            </a:r>
            <a:r>
              <a:rPr lang="en-US" altLang="ko-KR" dirty="0"/>
              <a:t>: </a:t>
            </a:r>
            <a:r>
              <a:rPr lang="ko-KR" altLang="en-US" dirty="0" err="1"/>
              <a:t>크루스칼</a:t>
            </a:r>
            <a:r>
              <a:rPr lang="en-US" altLang="ko-KR" dirty="0"/>
              <a:t>, </a:t>
            </a:r>
            <a:r>
              <a:rPr lang="ko-KR" altLang="en-US" dirty="0" err="1"/>
              <a:t>프림</a:t>
            </a:r>
            <a:r>
              <a:rPr lang="ko-KR" altLang="en-US" dirty="0"/>
              <a:t> 알고리즘</a:t>
            </a:r>
            <a:endParaRPr lang="en-US" altLang="ko-KR" dirty="0"/>
          </a:p>
          <a:p>
            <a:pPr lvl="1"/>
            <a:r>
              <a:rPr lang="en-US" altLang="ko-KR" dirty="0"/>
              <a:t>Kruskal </a:t>
            </a:r>
            <a:r>
              <a:rPr lang="ko-KR" altLang="en-US" dirty="0"/>
              <a:t>알고리즘</a:t>
            </a:r>
            <a:r>
              <a:rPr lang="en-US" altLang="ko-KR" dirty="0"/>
              <a:t> : </a:t>
            </a:r>
            <a:r>
              <a:rPr lang="ko-KR" altLang="en-US" dirty="0"/>
              <a:t>가중치 가장 </a:t>
            </a:r>
            <a:r>
              <a:rPr lang="en-US" altLang="ko-KR" dirty="0"/>
              <a:t>↓</a:t>
            </a:r>
            <a:r>
              <a:rPr lang="ko-KR" altLang="en-US" dirty="0"/>
              <a:t> 간선이 사이클 만들지</a:t>
            </a:r>
            <a:r>
              <a:rPr lang="en-US" altLang="ko-KR" dirty="0"/>
              <a:t>X </a:t>
            </a:r>
            <a:r>
              <a:rPr lang="ko-KR" altLang="en-US" dirty="0"/>
              <a:t>때만 </a:t>
            </a:r>
            <a:r>
              <a:rPr lang="en-US" altLang="ko-KR" dirty="0"/>
              <a:t>'</a:t>
            </a:r>
            <a:r>
              <a:rPr lang="ko-KR" altLang="en-US" dirty="0"/>
              <a:t>욕심</a:t>
            </a:r>
            <a:r>
              <a:rPr lang="en-US" altLang="ko-KR" dirty="0"/>
              <a:t>'</a:t>
            </a:r>
            <a:r>
              <a:rPr lang="ko-KR" altLang="en-US" dirty="0"/>
              <a:t>내서 선분 추가</a:t>
            </a:r>
            <a:br>
              <a:rPr lang="en-US" altLang="ko-KR" dirty="0"/>
            </a:br>
            <a:r>
              <a:rPr lang="en-US" altLang="ko-KR" dirty="0"/>
              <a:t>Prim</a:t>
            </a:r>
            <a:r>
              <a:rPr lang="ko-KR" altLang="en-US" dirty="0"/>
              <a:t> 알고리즘 </a:t>
            </a:r>
            <a:r>
              <a:rPr lang="en-US" altLang="ko-KR" dirty="0"/>
              <a:t>: </a:t>
            </a:r>
            <a:r>
              <a:rPr lang="ko-KR" altLang="en-US" dirty="0"/>
              <a:t>임의의 정점 선택</a:t>
            </a:r>
            <a:r>
              <a:rPr lang="en-US" altLang="ko-KR" dirty="0"/>
              <a:t>, n-1</a:t>
            </a:r>
            <a:r>
              <a:rPr lang="ko-KR" altLang="en-US" dirty="0"/>
              <a:t>개의 간선을 하나씩 추가시켜 트리 구성</a:t>
            </a:r>
            <a:endParaRPr lang="en-US" altLang="ko-KR" dirty="0"/>
          </a:p>
          <a:p>
            <a:pPr lvl="1"/>
            <a:r>
              <a:rPr lang="ko-KR" altLang="en-US" dirty="0"/>
              <a:t>의사코드 </a:t>
            </a:r>
            <a:r>
              <a:rPr lang="en-US" altLang="ko-KR" dirty="0" err="1"/>
              <a:t>KruskalMST</a:t>
            </a:r>
            <a:r>
              <a:rPr lang="en-US" altLang="ko-KR" dirty="0"/>
              <a:t>(G) : (</a:t>
            </a:r>
            <a:r>
              <a:rPr lang="ko-KR" altLang="en-US" dirty="0"/>
              <a:t>입</a:t>
            </a:r>
            <a:r>
              <a:rPr lang="en-US" altLang="ko-KR" dirty="0"/>
              <a:t> : </a:t>
            </a:r>
            <a:r>
              <a:rPr lang="ko-KR" altLang="en-US" dirty="0"/>
              <a:t>가중치 그래프</a:t>
            </a:r>
            <a:r>
              <a:rPr lang="en-US" altLang="ko-KR" dirty="0"/>
              <a:t>G=(V,E),|V|=</a:t>
            </a:r>
            <a:r>
              <a:rPr lang="en-US" altLang="ko-KR" dirty="0" err="1"/>
              <a:t>n,|E</a:t>
            </a:r>
            <a:r>
              <a:rPr lang="en-US" altLang="ko-KR" dirty="0"/>
              <a:t>|=m → </a:t>
            </a:r>
            <a:r>
              <a:rPr lang="ko-KR" altLang="en-US" dirty="0"/>
              <a:t>출 </a:t>
            </a:r>
            <a:r>
              <a:rPr lang="en-US" altLang="ko-KR" dirty="0"/>
              <a:t>: </a:t>
            </a:r>
            <a:r>
              <a:rPr lang="ko-KR" altLang="en-US" dirty="0" err="1"/>
              <a:t>최신트</a:t>
            </a:r>
            <a:r>
              <a:rPr lang="en-US" altLang="ko-KR" dirty="0"/>
              <a:t> T)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가중치를 오름차순으로 선분 정렬</a:t>
            </a:r>
            <a:r>
              <a:rPr lang="en-US" altLang="ko-KR" dirty="0"/>
              <a:t>, </a:t>
            </a:r>
            <a:r>
              <a:rPr lang="ko-KR" altLang="en-US" dirty="0"/>
              <a:t>이 리스트를 </a:t>
            </a:r>
            <a:r>
              <a:rPr lang="en-US" altLang="ko-KR" dirty="0"/>
              <a:t>L</a:t>
            </a:r>
            <a:r>
              <a:rPr lang="ko-KR" altLang="en-US" dirty="0"/>
              <a:t>이라 하자</a:t>
            </a:r>
            <a:br>
              <a:rPr lang="en-US" altLang="ko-KR" dirty="0"/>
            </a:br>
            <a:r>
              <a:rPr lang="en-US" altLang="ko-KR" dirty="0"/>
              <a:t>2) T={} // T </a:t>
            </a:r>
            <a:r>
              <a:rPr lang="ko-KR" altLang="en-US" dirty="0"/>
              <a:t>선언 및 초기화</a:t>
            </a:r>
            <a:br>
              <a:rPr lang="en-US" altLang="ko-KR" dirty="0"/>
            </a:br>
            <a:r>
              <a:rPr lang="en-US" altLang="ko-KR" dirty="0"/>
              <a:t>3) while ((T </a:t>
            </a:r>
            <a:r>
              <a:rPr lang="ko-KR" altLang="en-US" dirty="0"/>
              <a:t>선분 수</a:t>
            </a:r>
            <a:r>
              <a:rPr lang="en-US" altLang="ko-KR" dirty="0"/>
              <a:t>) &lt; n-1) {</a:t>
            </a:r>
            <a:br>
              <a:rPr lang="en-US" altLang="ko-KR" dirty="0"/>
            </a:br>
            <a:r>
              <a:rPr lang="en-US" altLang="ko-KR" dirty="0"/>
              <a:t>4)    L</a:t>
            </a:r>
            <a:r>
              <a:rPr lang="ko-KR" altLang="en-US" dirty="0"/>
              <a:t>에서 최소 가중치 간선</a:t>
            </a:r>
            <a:r>
              <a:rPr lang="en-US" altLang="ko-KR" dirty="0"/>
              <a:t>e </a:t>
            </a:r>
            <a:r>
              <a:rPr lang="ko-KR" altLang="en-US" dirty="0"/>
              <a:t>가져옴</a:t>
            </a:r>
            <a:r>
              <a:rPr lang="en-US" altLang="ko-KR" dirty="0"/>
              <a:t>, e</a:t>
            </a:r>
            <a:r>
              <a:rPr lang="ko-KR" altLang="en-US" dirty="0"/>
              <a:t>를 </a:t>
            </a:r>
            <a:r>
              <a:rPr lang="en-US" altLang="ko-KR" dirty="0"/>
              <a:t>L</a:t>
            </a:r>
            <a:r>
              <a:rPr lang="ko-KR" altLang="en-US" dirty="0"/>
              <a:t>에서 제거</a:t>
            </a:r>
            <a:br>
              <a:rPr lang="en-US" altLang="ko-KR" dirty="0"/>
            </a:br>
            <a:r>
              <a:rPr lang="en-US" altLang="ko-KR" dirty="0"/>
              <a:t>5)    if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간선 </a:t>
            </a:r>
            <a:r>
              <a:rPr lang="en-US" altLang="ko-KR" dirty="0"/>
              <a:t>e</a:t>
            </a:r>
            <a:r>
              <a:rPr lang="ko-KR" altLang="en-US" dirty="0"/>
              <a:t>가 </a:t>
            </a:r>
            <a:r>
              <a:rPr lang="en-US" altLang="ko-KR" dirty="0"/>
              <a:t>T</a:t>
            </a:r>
            <a:r>
              <a:rPr lang="ko-KR" altLang="en-US" dirty="0"/>
              <a:t>에 추가 후 간선</a:t>
            </a:r>
            <a:r>
              <a:rPr lang="en-US" altLang="ko-KR" dirty="0"/>
              <a:t> X</a:t>
            </a:r>
            <a:r>
              <a:rPr lang="ko-KR" altLang="en-US" dirty="0"/>
              <a:t>시</a:t>
            </a:r>
            <a:r>
              <a:rPr lang="en-US" altLang="ko-KR" dirty="0"/>
              <a:t>) {</a:t>
            </a:r>
            <a:br>
              <a:rPr lang="en-US" altLang="ko-KR" dirty="0"/>
            </a:br>
            <a:r>
              <a:rPr lang="en-US" altLang="ko-KR" dirty="0"/>
              <a:t>6)        e</a:t>
            </a:r>
            <a:r>
              <a:rPr lang="ko-KR" altLang="en-US" dirty="0"/>
              <a:t>를 </a:t>
            </a:r>
            <a:r>
              <a:rPr lang="en-US" altLang="ko-KR" dirty="0"/>
              <a:t>T</a:t>
            </a:r>
            <a:r>
              <a:rPr lang="ko-KR" altLang="en-US" dirty="0"/>
              <a:t>에 추가</a:t>
            </a:r>
            <a:br>
              <a:rPr lang="en-US" altLang="ko-KR" dirty="0"/>
            </a:br>
            <a:r>
              <a:rPr lang="en-US" altLang="ko-KR" dirty="0"/>
              <a:t>7)    } else { // e</a:t>
            </a:r>
            <a:r>
              <a:rPr lang="ko-KR" altLang="en-US" dirty="0"/>
              <a:t>를</a:t>
            </a:r>
            <a:r>
              <a:rPr lang="en-US" altLang="ko-KR" dirty="0"/>
              <a:t> T</a:t>
            </a:r>
            <a:r>
              <a:rPr lang="ko-KR" altLang="en-US" dirty="0"/>
              <a:t>에 </a:t>
            </a:r>
            <a:r>
              <a:rPr lang="ko-KR" altLang="en-US" dirty="0" err="1"/>
              <a:t>추가시</a:t>
            </a:r>
            <a:r>
              <a:rPr lang="ko-KR" altLang="en-US" dirty="0"/>
              <a:t> 사이클</a:t>
            </a:r>
            <a:r>
              <a:rPr lang="en-US" altLang="ko-KR" dirty="0"/>
              <a:t>O</a:t>
            </a:r>
            <a:br>
              <a:rPr lang="en-US" altLang="ko-KR" dirty="0"/>
            </a:br>
            <a:r>
              <a:rPr lang="en-US" altLang="ko-KR" dirty="0"/>
              <a:t>8)        e</a:t>
            </a:r>
            <a:r>
              <a:rPr lang="ko-KR" altLang="en-US" dirty="0"/>
              <a:t>를 포기</a:t>
            </a:r>
            <a:br>
              <a:rPr lang="en-US" altLang="ko-KR" dirty="0"/>
            </a:br>
            <a:r>
              <a:rPr lang="en-US" altLang="ko-KR" dirty="0"/>
              <a:t>       }</a:t>
            </a:r>
            <a:br>
              <a:rPr lang="en-US" altLang="ko-KR" dirty="0"/>
            </a:b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9) return T // T</a:t>
            </a:r>
            <a:r>
              <a:rPr lang="ko-KR" altLang="en-US" dirty="0"/>
              <a:t>는 최소신장 트리</a:t>
            </a:r>
            <a:endParaRPr lang="en-US" altLang="ko-KR" dirty="0"/>
          </a:p>
          <a:p>
            <a:pPr lvl="1"/>
            <a:r>
              <a:rPr lang="ko-KR" altLang="en-US" dirty="0" err="1"/>
              <a:t>시간복잡도</a:t>
            </a:r>
            <a:r>
              <a:rPr lang="ko-KR" altLang="en-US" dirty="0"/>
              <a:t> </a:t>
            </a:r>
            <a:r>
              <a:rPr lang="en-US" altLang="ko-KR" dirty="0"/>
              <a:t>: 1) </a:t>
            </a:r>
            <a:r>
              <a:rPr lang="ko-KR" altLang="en-US" dirty="0" err="1"/>
              <a:t>정렬시</a:t>
            </a:r>
            <a:r>
              <a:rPr lang="ko-KR" altLang="en-US" dirty="0"/>
              <a:t> </a:t>
            </a:r>
            <a:r>
              <a:rPr lang="en-US" altLang="ko-KR" dirty="0"/>
              <a:t>O(</a:t>
            </a:r>
            <a:r>
              <a:rPr lang="en-US" altLang="ko-KR" dirty="0" err="1"/>
              <a:t>mlogm</a:t>
            </a:r>
            <a:r>
              <a:rPr lang="en-US" altLang="ko-KR" dirty="0"/>
              <a:t>) 2) T</a:t>
            </a:r>
            <a:r>
              <a:rPr lang="ko-KR" altLang="en-US" dirty="0"/>
              <a:t> 초기화</a:t>
            </a:r>
            <a:r>
              <a:rPr lang="en-US" altLang="ko-KR" dirty="0"/>
              <a:t>, O(1), 3)~8) while</a:t>
            </a:r>
            <a:r>
              <a:rPr lang="ko-KR" altLang="en-US" dirty="0"/>
              <a:t>은 최악 </a:t>
            </a:r>
            <a:r>
              <a:rPr lang="en-US" altLang="ko-KR" dirty="0"/>
              <a:t>m</a:t>
            </a:r>
            <a:r>
              <a:rPr lang="ko-KR" altLang="en-US" dirty="0"/>
              <a:t>번</a:t>
            </a:r>
            <a:r>
              <a:rPr lang="en-US" altLang="ko-KR" dirty="0"/>
              <a:t>, </a:t>
            </a:r>
            <a:r>
              <a:rPr lang="ko-KR" altLang="en-US" dirty="0"/>
              <a:t>가져온 </a:t>
            </a:r>
            <a:r>
              <a:rPr lang="en-US" altLang="ko-KR" dirty="0"/>
              <a:t>e</a:t>
            </a:r>
            <a:r>
              <a:rPr lang="ko-KR" altLang="en-US" dirty="0"/>
              <a:t>가 사이클을 만드는지 검사는 거의 </a:t>
            </a:r>
            <a:r>
              <a:rPr lang="en-US" altLang="ko-KR" dirty="0"/>
              <a:t>O(1) → </a:t>
            </a:r>
            <a:r>
              <a:rPr lang="ko-KR" altLang="en-US" dirty="0"/>
              <a:t>따라서 전체</a:t>
            </a:r>
            <a:r>
              <a:rPr lang="en-US" altLang="ko-KR" dirty="0"/>
              <a:t> </a:t>
            </a:r>
            <a:r>
              <a:rPr lang="ko-KR" altLang="en-US" dirty="0" err="1"/>
              <a:t>시복은</a:t>
            </a:r>
            <a:r>
              <a:rPr lang="ko-KR" altLang="en-US" dirty="0"/>
              <a:t> </a:t>
            </a:r>
            <a:r>
              <a:rPr lang="en-US" altLang="ko-KR" dirty="0"/>
              <a:t>O(</a:t>
            </a:r>
            <a:r>
              <a:rPr lang="en-US" altLang="ko-KR" dirty="0" err="1"/>
              <a:t>mlogm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수행과정 비교</a:t>
            </a:r>
            <a:endParaRPr lang="en-US" altLang="ko-KR" dirty="0"/>
          </a:p>
          <a:p>
            <a:pPr lvl="1"/>
            <a:r>
              <a:rPr lang="ko-KR" altLang="en-US" dirty="0" err="1"/>
              <a:t>크루스칼</a:t>
            </a:r>
            <a:r>
              <a:rPr lang="ko-KR" altLang="en-US" dirty="0"/>
              <a:t> </a:t>
            </a:r>
            <a:r>
              <a:rPr lang="en-US" altLang="ko-KR" dirty="0"/>
              <a:t>: n</a:t>
            </a:r>
            <a:r>
              <a:rPr lang="ko-KR" altLang="en-US" dirty="0"/>
              <a:t>개의 트리가 합쳐져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ko-KR" altLang="en-US" dirty="0" err="1"/>
              <a:t>신장트리</a:t>
            </a:r>
            <a:r>
              <a:rPr lang="ko-KR" altLang="en-US" dirty="0"/>
              <a:t> 구성</a:t>
            </a:r>
            <a:endParaRPr lang="en-US" altLang="ko-KR" dirty="0"/>
          </a:p>
          <a:p>
            <a:pPr lvl="1"/>
            <a:r>
              <a:rPr lang="ko-KR" altLang="en-US" dirty="0" err="1"/>
              <a:t>프림</a:t>
            </a:r>
            <a:r>
              <a:rPr lang="ko-KR" altLang="en-US" dirty="0"/>
              <a:t> </a:t>
            </a:r>
            <a:r>
              <a:rPr lang="en-US" altLang="ko-KR" dirty="0"/>
              <a:t>: 1</a:t>
            </a:r>
            <a:r>
              <a:rPr lang="ko-KR" altLang="en-US" dirty="0"/>
              <a:t>개의 트리가 자라나 </a:t>
            </a:r>
            <a:r>
              <a:rPr lang="ko-KR" altLang="en-US" dirty="0" err="1"/>
              <a:t>신장트리됨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C88EA0-66B3-95DB-A5C9-9046F7FE035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53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C07B1A-D77E-7DEC-B525-9CB4A297D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929E9CA-8C5C-7349-9645-7784DD93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인공지능과 프롤로그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24C6C2-7450-ECE9-21E7-5424D3F99C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822AF19-4BC9-7F03-78CB-BE50500467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추론방식</a:t>
            </a:r>
            <a:endParaRPr lang="en-US" altLang="ko-KR" dirty="0"/>
          </a:p>
          <a:p>
            <a:pPr lvl="1"/>
            <a:r>
              <a:rPr lang="ko-KR" altLang="en-US" dirty="0"/>
              <a:t>순방향 연결 </a:t>
            </a:r>
            <a:r>
              <a:rPr lang="en-US" altLang="ko-KR" dirty="0"/>
              <a:t>: </a:t>
            </a:r>
            <a:r>
              <a:rPr lang="ko-KR" altLang="en-US" dirty="0"/>
              <a:t>사실로부터 시작해 규칙을 적용 </a:t>
            </a:r>
            <a:r>
              <a:rPr lang="en-US" altLang="ko-KR" dirty="0"/>
              <a:t>→ </a:t>
            </a:r>
            <a:r>
              <a:rPr lang="ko-KR" altLang="en-US" dirty="0"/>
              <a:t>사실을 도출하고 목표에 도달</a:t>
            </a:r>
            <a:endParaRPr lang="en-US" altLang="ko-KR" dirty="0"/>
          </a:p>
          <a:p>
            <a:pPr lvl="1"/>
            <a:r>
              <a:rPr lang="ko-KR" altLang="en-US" dirty="0"/>
              <a:t>역방향 연결 </a:t>
            </a:r>
            <a:r>
              <a:rPr lang="en-US" altLang="ko-KR" dirty="0"/>
              <a:t>: </a:t>
            </a:r>
            <a:r>
              <a:rPr lang="ko-KR" altLang="en-US" dirty="0"/>
              <a:t>목표부터 시작해 목표 달성을 위한 규칙을 찾는 방식</a:t>
            </a:r>
            <a:endParaRPr lang="en-US" altLang="ko-KR" dirty="0"/>
          </a:p>
          <a:p>
            <a:r>
              <a:rPr lang="ko-KR" altLang="en-US" dirty="0"/>
              <a:t>프롤로그</a:t>
            </a:r>
            <a:endParaRPr lang="en-US" altLang="ko-KR" dirty="0"/>
          </a:p>
          <a:p>
            <a:pPr lvl="1"/>
            <a:r>
              <a:rPr lang="ko-KR" altLang="en-US" dirty="0"/>
              <a:t>사실 </a:t>
            </a:r>
            <a:r>
              <a:rPr lang="en-US" altLang="ko-KR" dirty="0"/>
              <a:t>(Fact): person(</a:t>
            </a:r>
            <a:r>
              <a:rPr lang="en-US" altLang="ko-KR" dirty="0" err="1"/>
              <a:t>socrates</a:t>
            </a:r>
            <a:r>
              <a:rPr lang="en-US" altLang="ko-KR" dirty="0"/>
              <a:t>). (</a:t>
            </a:r>
            <a:r>
              <a:rPr lang="ko-KR" altLang="en-US" dirty="0"/>
              <a:t>소크라테스는 사람이다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규칙 </a:t>
            </a:r>
            <a:r>
              <a:rPr lang="en-US" altLang="ko-KR" dirty="0"/>
              <a:t>(Rule): mortal(X) :- person(X). (X</a:t>
            </a:r>
            <a:r>
              <a:rPr lang="ko-KR" altLang="en-US" dirty="0"/>
              <a:t>가 사람이라면 </a:t>
            </a:r>
            <a:r>
              <a:rPr lang="en-US" altLang="ko-KR" dirty="0"/>
              <a:t>X</a:t>
            </a:r>
            <a:r>
              <a:rPr lang="ko-KR" altLang="en-US" dirty="0"/>
              <a:t>는 죽는다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질문 </a:t>
            </a:r>
            <a:r>
              <a:rPr lang="en-US" altLang="ko-KR" dirty="0"/>
              <a:t>(Query): ?- mortal(</a:t>
            </a:r>
            <a:r>
              <a:rPr lang="en-US" altLang="ko-KR" dirty="0" err="1"/>
              <a:t>socrates</a:t>
            </a:r>
            <a:r>
              <a:rPr lang="en-US" altLang="ko-KR" dirty="0"/>
              <a:t>). (</a:t>
            </a:r>
            <a:r>
              <a:rPr lang="ko-KR" altLang="en-US" dirty="0"/>
              <a:t>소크라테스는 죽는가</a:t>
            </a:r>
            <a:r>
              <a:rPr lang="en-US" altLang="ko-KR" dirty="0"/>
              <a:t>?) -&gt; </a:t>
            </a:r>
            <a:r>
              <a:rPr lang="ko-KR" altLang="en-US" dirty="0"/>
              <a:t>시스템 응답</a:t>
            </a:r>
            <a:r>
              <a:rPr lang="en-US" altLang="ko-KR" dirty="0"/>
              <a:t>: yes (</a:t>
            </a:r>
            <a:r>
              <a:rPr lang="ko-KR" altLang="en-US" dirty="0"/>
              <a:t>소크라테스가 사람이라는 사실과 사람이면 죽는다는 규칙을 조합하여 추론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human(</a:t>
            </a:r>
            <a:r>
              <a:rPr lang="en-US" altLang="ko-KR" dirty="0" err="1"/>
              <a:t>socrates</a:t>
            </a:r>
            <a:r>
              <a:rPr lang="en-US" altLang="ko-KR" dirty="0"/>
              <a:t>).</a:t>
            </a:r>
            <a:br>
              <a:rPr lang="en-US" altLang="ko-KR" dirty="0"/>
            </a:br>
            <a:r>
              <a:rPr lang="en-US" altLang="ko-KR" dirty="0"/>
              <a:t>human(</a:t>
            </a:r>
            <a:r>
              <a:rPr lang="en-US" altLang="ko-KR" dirty="0" err="1"/>
              <a:t>daesukim</a:t>
            </a:r>
            <a:r>
              <a:rPr lang="en-US" altLang="ko-KR" dirty="0"/>
              <a:t>).</a:t>
            </a:r>
            <a:br>
              <a:rPr lang="en-US" altLang="ko-KR" dirty="0"/>
            </a:br>
            <a:r>
              <a:rPr lang="en-US" altLang="ko-KR" dirty="0"/>
              <a:t>animal(</a:t>
            </a:r>
            <a:r>
              <a:rPr lang="en-US" altLang="ko-KR" dirty="0" err="1"/>
              <a:t>wurry</a:t>
            </a:r>
            <a:r>
              <a:rPr lang="en-US" altLang="ko-KR" dirty="0"/>
              <a:t>).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animal(X):-human(X).</a:t>
            </a:r>
            <a:br>
              <a:rPr lang="en-US" altLang="ko-KR" dirty="0"/>
            </a:br>
            <a:r>
              <a:rPr lang="en-US" altLang="ko-KR" dirty="0"/>
              <a:t>die(X):-animal(X)..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C9A085-1CBE-3387-0837-1F11B009716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28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C9BF7FF-03C4-E5D7-018B-5DA57BB96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40BE658-5D65-B087-0867-BBBD7716D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탐색 알고리즘</a:t>
            </a:r>
            <a:r>
              <a:rPr lang="en-US" altLang="ko-KR" dirty="0"/>
              <a:t>, set cover </a:t>
            </a:r>
            <a:r>
              <a:rPr lang="ko-KR" altLang="en-US" dirty="0"/>
              <a:t>알고리즘 코드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B3059B4-8DF2-449E-D84E-449A847CD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2" cy="9289032"/>
          </a:xfrm>
        </p:spPr>
        <p:txBody>
          <a:bodyPr/>
          <a:lstStyle/>
          <a:p>
            <a:r>
              <a:rPr lang="ko-KR" altLang="en-US" dirty="0"/>
              <a:t>탐색 알고리즘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Set cover </a:t>
            </a:r>
            <a:r>
              <a:rPr lang="ko-KR" altLang="en-US" dirty="0"/>
              <a:t>알고리즘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F9580E-AA30-AFF3-3A02-278DEB28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8" y="848544"/>
            <a:ext cx="3229961" cy="51845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93A623E-031E-ECBD-C393-4177017AD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177" y="848544"/>
            <a:ext cx="3454647" cy="51845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59C5E3F-81AB-6EB6-BF39-1034C4683F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346"/>
          <a:stretch>
            <a:fillRect/>
          </a:stretch>
        </p:blipFill>
        <p:spPr>
          <a:xfrm>
            <a:off x="72148" y="6296692"/>
            <a:ext cx="3356852" cy="22935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E4A572A-1F94-5051-2118-652D439059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020"/>
          <a:stretch>
            <a:fillRect/>
          </a:stretch>
        </p:blipFill>
        <p:spPr>
          <a:xfrm>
            <a:off x="3432860" y="6296692"/>
            <a:ext cx="3356852" cy="294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02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C95A-DC0A-D3A7-11CB-52771CB7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7D2F8E-A6A4-7DD1-9D40-E9FBC4325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01C0FA6-57EE-F4F2-358F-5061D162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다익스트라</a:t>
            </a:r>
            <a:r>
              <a:rPr lang="ko-KR" altLang="en-US" dirty="0"/>
              <a:t> 코드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95DABFF-E1EE-5965-C95C-0403C9517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2" cy="9289032"/>
          </a:xfrm>
        </p:spPr>
        <p:txBody>
          <a:bodyPr/>
          <a:lstStyle/>
          <a:p>
            <a:r>
              <a:rPr lang="ko-KR" altLang="en-US" dirty="0" err="1"/>
              <a:t>다익스트라</a:t>
            </a:r>
            <a:r>
              <a:rPr lang="ko-KR" altLang="en-US" dirty="0"/>
              <a:t> 알고리즘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A7D4BA-4B51-94DC-9FEB-9AD903434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3" y="776536"/>
            <a:ext cx="2190665" cy="453650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308392-DE09-3317-A210-9A90AAF3C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104" y="776536"/>
            <a:ext cx="4591272" cy="673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5007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30331</TotalTime>
  <Words>3726</Words>
  <Application>Microsoft Office PowerPoint</Application>
  <PresentationFormat>A4 용지(210x297mm)</PresentationFormat>
  <Paragraphs>177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디자인 사용자 지정</vt:lpstr>
      <vt:lpstr>기수 정렬 알고리즘</vt:lpstr>
      <vt:lpstr>외부 정렬</vt:lpstr>
      <vt:lpstr>트리</vt:lpstr>
      <vt:lpstr>힙 정렬(트리 응용)</vt:lpstr>
      <vt:lpstr>그래프</vt:lpstr>
      <vt:lpstr>Greedy 알고리즘</vt:lpstr>
      <vt:lpstr>다익스트라 알고리즘</vt:lpstr>
      <vt:lpstr>Set cover 알고리즘</vt:lpstr>
      <vt:lpstr>Kruskal 알고리즘</vt:lpstr>
      <vt:lpstr>인공지능과 프롤로그</vt:lpstr>
      <vt:lpstr>탐색 알고리즘, set cover 알고리즘 코드</vt:lpstr>
      <vt:lpstr>다익스트라 코드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737</cp:revision>
  <dcterms:created xsi:type="dcterms:W3CDTF">2021-05-24T07:27:04Z</dcterms:created>
  <dcterms:modified xsi:type="dcterms:W3CDTF">2025-07-15T05:39:54Z</dcterms:modified>
</cp:coreProperties>
</file>