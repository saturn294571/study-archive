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75" r:id="rId2"/>
    <p:sldId id="272" r:id="rId3"/>
    <p:sldId id="273" r:id="rId4"/>
    <p:sldId id="276" r:id="rId5"/>
    <p:sldId id="277" r:id="rId6"/>
    <p:sldId id="281" r:id="rId7"/>
    <p:sldId id="282" r:id="rId8"/>
    <p:sldId id="283" r:id="rId9"/>
    <p:sldId id="284" r:id="rId10"/>
    <p:sldId id="279" r:id="rId11"/>
    <p:sldId id="280" r:id="rId12"/>
    <p:sldId id="285" r:id="rId13"/>
    <p:sldId id="286" r:id="rId14"/>
    <p:sldId id="287" r:id="rId15"/>
    <p:sldId id="288" r:id="rId1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9" autoAdjust="0"/>
    <p:restoredTop sz="96234" autoAdjust="0"/>
  </p:normalViewPr>
  <p:slideViewPr>
    <p:cSldViewPr>
      <p:cViewPr varScale="1">
        <p:scale>
          <a:sx n="76" d="100"/>
          <a:sy n="76" d="100"/>
        </p:scale>
        <p:origin x="2419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2024-10-29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2024-10-29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hyperlink" Target="file:///\\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9DC9A1A-F402-5588-E001-0A182481A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C6D0D1B-8775-C71C-4320-CA6587DD5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AA840A-0CB0-E6FC-3F50-CD245CF116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E0D220-0F60-DE5E-880A-CD3EEC6DA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12776" y="560512"/>
            <a:ext cx="5400599" cy="7560840"/>
          </a:xfrm>
        </p:spPr>
        <p:txBody>
          <a:bodyPr/>
          <a:lstStyle/>
          <a:p>
            <a:r>
              <a:rPr lang="ko-KR" altLang="en-US" dirty="0"/>
              <a:t>주관식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네트워크 계층별 특징을 </a:t>
            </a:r>
            <a:r>
              <a:rPr lang="ko-KR" altLang="en-US" dirty="0" err="1"/>
              <a:t>적으시오</a:t>
            </a:r>
            <a:endParaRPr lang="en-US" altLang="ko-KR" dirty="0"/>
          </a:p>
          <a:p>
            <a:pPr lvl="1"/>
            <a:r>
              <a:rPr lang="en-US" altLang="ko-KR" dirty="0"/>
              <a:t>Ipv4</a:t>
            </a:r>
            <a:r>
              <a:rPr lang="ko-KR" altLang="en-US" dirty="0"/>
              <a:t>와 </a:t>
            </a:r>
            <a:r>
              <a:rPr lang="en-US" altLang="ko-KR" dirty="0"/>
              <a:t>ipv6</a:t>
            </a:r>
            <a:r>
              <a:rPr lang="ko-KR" altLang="en-US" dirty="0"/>
              <a:t>의 차이</a:t>
            </a:r>
            <a:endParaRPr lang="en-US" altLang="ko-KR" dirty="0"/>
          </a:p>
          <a:p>
            <a:pPr lvl="1"/>
            <a:r>
              <a:rPr lang="ko-KR" altLang="en-US" dirty="0"/>
              <a:t>수업시간에 </a:t>
            </a:r>
            <a:r>
              <a:rPr lang="ko-KR" altLang="en-US" dirty="0" err="1"/>
              <a:t>강조하는걸</a:t>
            </a:r>
            <a:r>
              <a:rPr lang="ko-KR" altLang="en-US" dirty="0"/>
              <a:t> 봐라</a:t>
            </a:r>
            <a:endParaRPr lang="en-US" altLang="ko-KR" dirty="0"/>
          </a:p>
          <a:p>
            <a:pPr lvl="1"/>
            <a:r>
              <a:rPr lang="ko-KR" altLang="en-US" dirty="0"/>
              <a:t>은근 지엽적임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C44A3A-2BD9-3B8F-9960-C09D93CE716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AC9D327A-34E8-94B6-702C-0BF11E9A5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349" y="560512"/>
            <a:ext cx="3452159" cy="27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53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D77F37-DEB4-7276-8D80-94258071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C7689F-CD02-3F6B-86D3-AF7DFBE4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컴퓨터 네트워크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CD1876-69E6-47C7-D13F-5433392610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722103-2419-A61A-40C1-2006076E9F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데이터 통신과 네트워크</a:t>
            </a:r>
            <a:endParaRPr lang="en-US" altLang="ko-KR" dirty="0"/>
          </a:p>
          <a:p>
            <a:pPr lvl="1"/>
            <a:r>
              <a:rPr lang="ko-KR" altLang="en-US" dirty="0"/>
              <a:t>데이터란</a:t>
            </a:r>
            <a:r>
              <a:rPr lang="en-US" altLang="ko-KR" dirty="0"/>
              <a:t>? </a:t>
            </a:r>
            <a:r>
              <a:rPr lang="ko-KR" altLang="en-US" dirty="0"/>
              <a:t>이를 만들어서 사용하는 사용자들에 의해 합의된 형식으로</a:t>
            </a:r>
            <a:endParaRPr lang="en-US" altLang="ko-KR" dirty="0"/>
          </a:p>
          <a:p>
            <a:pPr lvl="2"/>
            <a:r>
              <a:rPr lang="ko-KR" altLang="en-US" dirty="0"/>
              <a:t>데이터는 의미가 있는 정보여야만 한다</a:t>
            </a:r>
            <a:endParaRPr lang="en-US" altLang="ko-KR" dirty="0"/>
          </a:p>
          <a:p>
            <a:pPr lvl="1"/>
            <a:r>
              <a:rPr lang="ko-KR" altLang="en-US" dirty="0"/>
              <a:t>데이터 통신이란</a:t>
            </a:r>
            <a:r>
              <a:rPr lang="en-US" altLang="ko-KR" dirty="0"/>
              <a:t>? </a:t>
            </a:r>
          </a:p>
          <a:p>
            <a:pPr lvl="2"/>
            <a:r>
              <a:rPr lang="ko-KR" altLang="en-US" dirty="0"/>
              <a:t>통신</a:t>
            </a:r>
            <a:r>
              <a:rPr lang="en-US" altLang="ko-KR" dirty="0"/>
              <a:t>(communication)</a:t>
            </a:r>
            <a:r>
              <a:rPr lang="ko-KR" altLang="en-US" dirty="0"/>
              <a:t>의 세가지 요소</a:t>
            </a:r>
            <a:endParaRPr lang="en-US" altLang="ko-KR" dirty="0"/>
          </a:p>
          <a:p>
            <a:pPr lvl="3"/>
            <a:r>
              <a:rPr lang="en-US" altLang="ko-KR" dirty="0"/>
              <a:t>Transmitter(</a:t>
            </a:r>
            <a:r>
              <a:rPr lang="ko-KR" altLang="en-US" dirty="0"/>
              <a:t>정보를 보내는 사람</a:t>
            </a:r>
            <a:r>
              <a:rPr lang="en-US" altLang="ko-KR" dirty="0"/>
              <a:t>), receiver(</a:t>
            </a:r>
            <a:r>
              <a:rPr lang="ko-KR" altLang="en-US" dirty="0"/>
              <a:t>정보를 받는 사람</a:t>
            </a:r>
            <a:r>
              <a:rPr lang="en-US" altLang="ko-KR" dirty="0"/>
              <a:t>), media(</a:t>
            </a:r>
            <a:r>
              <a:rPr lang="ko-KR" altLang="en-US" dirty="0"/>
              <a:t>매체</a:t>
            </a:r>
            <a:r>
              <a:rPr lang="en-US" altLang="ko-KR" dirty="0"/>
              <a:t>, </a:t>
            </a:r>
            <a:r>
              <a:rPr lang="ko-KR" altLang="en-US" dirty="0"/>
              <a:t>서로를 </a:t>
            </a:r>
            <a:r>
              <a:rPr lang="ko-KR" altLang="en-US" dirty="0" err="1"/>
              <a:t>이어줌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ko-KR" altLang="en-US" dirty="0"/>
              <a:t>데이터통신 네트워크</a:t>
            </a:r>
            <a:r>
              <a:rPr lang="en-US" altLang="ko-KR" dirty="0"/>
              <a:t>/</a:t>
            </a:r>
            <a:r>
              <a:rPr lang="ko-KR" altLang="en-US" dirty="0"/>
              <a:t>컴퓨터 네트워크</a:t>
            </a:r>
            <a:r>
              <a:rPr lang="en-US" altLang="ko-KR" dirty="0"/>
              <a:t>(computer network)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통신장치 상호간의 프로토콜에 따라 데이터의 전송</a:t>
            </a:r>
            <a:r>
              <a:rPr lang="en-US" altLang="ko-KR" dirty="0"/>
              <a:t>/</a:t>
            </a:r>
            <a:r>
              <a:rPr lang="ko-KR" altLang="en-US" dirty="0"/>
              <a:t>수신 과정을 포함한 시스템</a:t>
            </a:r>
            <a:endParaRPr lang="en-US" altLang="ko-KR" dirty="0"/>
          </a:p>
          <a:p>
            <a:r>
              <a:rPr lang="ko-KR" altLang="en-US" dirty="0"/>
              <a:t>네트워크 구조</a:t>
            </a:r>
            <a:endParaRPr lang="en-US" altLang="ko-KR" dirty="0"/>
          </a:p>
          <a:p>
            <a:pPr lvl="1"/>
            <a:r>
              <a:rPr lang="en-US" altLang="ko-KR" dirty="0"/>
              <a:t>Topology(</a:t>
            </a:r>
            <a:r>
              <a:rPr lang="ko-KR" altLang="en-US" dirty="0"/>
              <a:t>네트워크의 모양</a:t>
            </a:r>
            <a:r>
              <a:rPr lang="en-US" altLang="ko-KR" dirty="0"/>
              <a:t>?)</a:t>
            </a:r>
          </a:p>
          <a:p>
            <a:pPr lvl="2"/>
            <a:r>
              <a:rPr lang="ko-KR" altLang="en-US" dirty="0"/>
              <a:t>네트워크 구조의 모양</a:t>
            </a:r>
            <a:endParaRPr lang="en-US" altLang="ko-KR" dirty="0"/>
          </a:p>
          <a:p>
            <a:pPr lvl="2"/>
            <a:r>
              <a:rPr lang="ko-KR" altLang="en-US" dirty="0"/>
              <a:t>토폴로지의 구성에</a:t>
            </a:r>
            <a:br>
              <a:rPr lang="en-US" altLang="ko-KR" dirty="0"/>
            </a:br>
            <a:r>
              <a:rPr lang="ko-KR" altLang="en-US" dirty="0"/>
              <a:t>따라 신뢰성</a:t>
            </a:r>
            <a:r>
              <a:rPr lang="en-US" altLang="ko-KR" dirty="0"/>
              <a:t>, </a:t>
            </a:r>
            <a:r>
              <a:rPr lang="ko-KR" altLang="en-US" dirty="0"/>
              <a:t>성능 등이</a:t>
            </a:r>
            <a:br>
              <a:rPr lang="en-US" altLang="ko-KR" dirty="0"/>
            </a:br>
            <a:r>
              <a:rPr lang="ko-KR" altLang="en-US" dirty="0" err="1"/>
              <a:t>차이난다</a:t>
            </a:r>
            <a:endParaRPr lang="en-US" altLang="ko-KR" dirty="0"/>
          </a:p>
          <a:p>
            <a:pPr lvl="2"/>
            <a:r>
              <a:rPr lang="en-US" altLang="ko-KR" dirty="0"/>
              <a:t>Ex) </a:t>
            </a:r>
            <a:r>
              <a:rPr lang="ko-KR" altLang="en-US" dirty="0"/>
              <a:t>버스형의 경우 중앙이 </a:t>
            </a:r>
            <a:r>
              <a:rPr lang="ko-KR" altLang="en-US" dirty="0" err="1"/>
              <a:t>고장나면</a:t>
            </a:r>
            <a:r>
              <a:rPr lang="ko-KR" altLang="en-US" dirty="0"/>
              <a:t> 나머지는 이용 </a:t>
            </a:r>
            <a:r>
              <a:rPr lang="en-US" altLang="ko-KR" dirty="0"/>
              <a:t>X,</a:t>
            </a:r>
            <a:br>
              <a:rPr lang="en-US" altLang="ko-KR" dirty="0"/>
            </a:br>
            <a:r>
              <a:rPr lang="en-US" altLang="ko-KR" dirty="0"/>
              <a:t>but, </a:t>
            </a:r>
            <a:r>
              <a:rPr lang="ko-KR" altLang="en-US" dirty="0"/>
              <a:t>링형의 경우 하나가 고장나도 나머지 이용 가능</a:t>
            </a:r>
            <a:endParaRPr lang="en-US" altLang="ko-KR" dirty="0"/>
          </a:p>
          <a:p>
            <a:pPr lvl="2"/>
            <a:r>
              <a:rPr lang="ko-KR" altLang="en-US" dirty="0"/>
              <a:t>네트워크는 여러 토폴로지가 혼합 되어 사용</a:t>
            </a:r>
            <a:endParaRPr lang="en-US" altLang="ko-KR" dirty="0"/>
          </a:p>
          <a:p>
            <a:pPr lvl="1"/>
            <a:r>
              <a:rPr lang="ko-KR" altLang="en-US" dirty="0"/>
              <a:t>네트워크 규모에 따른 구분</a:t>
            </a:r>
            <a:endParaRPr lang="en-US" altLang="ko-KR" dirty="0"/>
          </a:p>
          <a:p>
            <a:pPr lvl="2"/>
            <a:r>
              <a:rPr lang="en-US" altLang="ko-KR" dirty="0"/>
              <a:t>PAN &lt; LAN &lt; MAN</a:t>
            </a:r>
            <a:r>
              <a:rPr lang="ko-KR" altLang="en-US" dirty="0"/>
              <a:t> </a:t>
            </a:r>
            <a:r>
              <a:rPr lang="en-US" altLang="ko-KR" dirty="0"/>
              <a:t>&lt;</a:t>
            </a:r>
            <a:r>
              <a:rPr lang="ko-KR" altLang="en-US" dirty="0"/>
              <a:t> </a:t>
            </a:r>
            <a:r>
              <a:rPr lang="en-US" altLang="ko-KR" dirty="0"/>
              <a:t>WAN</a:t>
            </a:r>
          </a:p>
          <a:p>
            <a:pPr lvl="3"/>
            <a:r>
              <a:rPr lang="en-US" altLang="ko-KR" dirty="0"/>
              <a:t>PAN</a:t>
            </a:r>
            <a:r>
              <a:rPr lang="ko-KR" altLang="en-US" dirty="0"/>
              <a:t>의 대표적인 기술 </a:t>
            </a:r>
            <a:r>
              <a:rPr lang="en-US" altLang="ko-KR" dirty="0"/>
              <a:t>: </a:t>
            </a:r>
            <a:r>
              <a:rPr lang="ko-KR" altLang="en-US" dirty="0"/>
              <a:t>블루투스</a:t>
            </a:r>
            <a:endParaRPr lang="en-US" altLang="ko-KR" dirty="0"/>
          </a:p>
          <a:p>
            <a:r>
              <a:rPr lang="ko-KR" altLang="en-US" dirty="0"/>
              <a:t>네트워크 구성요소</a:t>
            </a:r>
            <a:endParaRPr lang="en-US" altLang="ko-KR" dirty="0"/>
          </a:p>
          <a:p>
            <a:pPr lvl="1"/>
            <a:r>
              <a:rPr lang="ko-KR" altLang="en-US" dirty="0"/>
              <a:t>메시지</a:t>
            </a:r>
            <a:r>
              <a:rPr lang="en-US" altLang="ko-KR" dirty="0"/>
              <a:t>,</a:t>
            </a:r>
            <a:r>
              <a:rPr lang="ko-KR" altLang="en-US" dirty="0"/>
              <a:t>전송장치</a:t>
            </a:r>
            <a:r>
              <a:rPr lang="en-US" altLang="ko-KR" dirty="0"/>
              <a:t>, </a:t>
            </a:r>
            <a:r>
              <a:rPr lang="ko-KR" altLang="en-US" dirty="0"/>
              <a:t>수신장치</a:t>
            </a:r>
            <a:r>
              <a:rPr lang="en-US" altLang="ko-KR" dirty="0"/>
              <a:t>, </a:t>
            </a:r>
            <a:r>
              <a:rPr lang="ko-KR" altLang="en-US" dirty="0"/>
              <a:t>전송미디어</a:t>
            </a:r>
            <a:r>
              <a:rPr lang="en-US" altLang="ko-KR" dirty="0"/>
              <a:t>, </a:t>
            </a:r>
            <a:r>
              <a:rPr lang="ko-KR" altLang="en-US" dirty="0"/>
              <a:t>프로토콜로 구성</a:t>
            </a:r>
            <a:endParaRPr lang="en-US" altLang="ko-KR" dirty="0"/>
          </a:p>
          <a:p>
            <a:pPr lvl="1"/>
            <a:r>
              <a:rPr lang="ko-KR" altLang="en-US" dirty="0"/>
              <a:t>전송미디어 </a:t>
            </a:r>
            <a:r>
              <a:rPr lang="en-US" altLang="ko-KR" dirty="0"/>
              <a:t>: </a:t>
            </a:r>
            <a:r>
              <a:rPr lang="ko-KR" altLang="en-US" dirty="0"/>
              <a:t>메시지가 전달되는 </a:t>
            </a:r>
            <a:r>
              <a:rPr lang="ko-KR" altLang="en-US" dirty="0" err="1"/>
              <a:t>전송로</a:t>
            </a:r>
            <a:endParaRPr lang="en-US" altLang="ko-KR" dirty="0"/>
          </a:p>
          <a:p>
            <a:pPr lvl="1"/>
            <a:r>
              <a:rPr lang="ko-KR" altLang="en-US" dirty="0"/>
              <a:t>프로토콜 </a:t>
            </a:r>
            <a:r>
              <a:rPr lang="en-US" altLang="ko-KR" dirty="0"/>
              <a:t>: </a:t>
            </a:r>
            <a:r>
              <a:rPr lang="ko-KR" altLang="en-US" dirty="0"/>
              <a:t>통신과 관련된 규칙</a:t>
            </a:r>
            <a:endParaRPr lang="en-US" altLang="ko-KR" dirty="0"/>
          </a:p>
          <a:p>
            <a:pPr lvl="2"/>
            <a:r>
              <a:rPr lang="ko-KR" altLang="en-US" dirty="0"/>
              <a:t>트랜스미터</a:t>
            </a:r>
            <a:r>
              <a:rPr lang="en-US" altLang="ko-KR" dirty="0"/>
              <a:t>, </a:t>
            </a:r>
            <a:r>
              <a:rPr lang="ko-KR" altLang="en-US" dirty="0"/>
              <a:t>리시버</a:t>
            </a:r>
            <a:r>
              <a:rPr lang="en-US" altLang="ko-KR" dirty="0"/>
              <a:t>, </a:t>
            </a:r>
            <a:r>
              <a:rPr lang="ko-KR" altLang="en-US" dirty="0"/>
              <a:t>미디어의 세 주체간 통신약속</a:t>
            </a:r>
            <a:endParaRPr lang="en-US" altLang="ko-KR" dirty="0"/>
          </a:p>
          <a:p>
            <a:r>
              <a:rPr lang="ko-KR" altLang="en-US" dirty="0"/>
              <a:t>네트워크 모델</a:t>
            </a:r>
            <a:endParaRPr lang="en-US" altLang="ko-KR" dirty="0"/>
          </a:p>
          <a:p>
            <a:pPr lvl="1"/>
            <a:r>
              <a:rPr lang="ko-KR" altLang="en-US" dirty="0"/>
              <a:t>클라이언트 </a:t>
            </a:r>
            <a:r>
              <a:rPr lang="en-US" altLang="ko-KR" dirty="0"/>
              <a:t>– </a:t>
            </a:r>
            <a:r>
              <a:rPr lang="ko-KR" altLang="en-US" dirty="0"/>
              <a:t>서버 모델</a:t>
            </a:r>
            <a:endParaRPr lang="en-US" altLang="ko-KR" dirty="0"/>
          </a:p>
          <a:p>
            <a:pPr lvl="1"/>
            <a:r>
              <a:rPr lang="en-US" altLang="ko-KR" dirty="0"/>
              <a:t>Peer to peer(p2p) </a:t>
            </a:r>
            <a:r>
              <a:rPr lang="ko-KR" altLang="en-US" dirty="0"/>
              <a:t>모델</a:t>
            </a:r>
            <a:endParaRPr lang="en-US" altLang="ko-KR" dirty="0"/>
          </a:p>
          <a:p>
            <a:pPr lvl="2"/>
            <a:r>
              <a:rPr lang="ko-KR" altLang="en-US" dirty="0"/>
              <a:t>중앙의 서버가 없이 각각이 서로 연결</a:t>
            </a:r>
            <a:endParaRPr lang="en-US" altLang="ko-KR" dirty="0"/>
          </a:p>
          <a:p>
            <a:pPr lvl="2"/>
            <a:r>
              <a:rPr lang="en-US" altLang="ko-KR" dirty="0"/>
              <a:t>Ex) </a:t>
            </a:r>
            <a:r>
              <a:rPr lang="ko-KR" altLang="en-US" dirty="0"/>
              <a:t>카톡 </a:t>
            </a:r>
            <a:r>
              <a:rPr lang="en-US" altLang="ko-KR" dirty="0"/>
              <a:t>= </a:t>
            </a:r>
            <a:r>
              <a:rPr lang="ko-KR" altLang="en-US" dirty="0"/>
              <a:t>클라이언트 </a:t>
            </a:r>
            <a:r>
              <a:rPr lang="en-US" altLang="ko-KR" dirty="0"/>
              <a:t>– </a:t>
            </a:r>
            <a:r>
              <a:rPr lang="ko-KR" altLang="en-US" dirty="0"/>
              <a:t>서버 모델 </a:t>
            </a:r>
            <a:r>
              <a:rPr lang="en-US" altLang="ko-KR" dirty="0"/>
              <a:t>; </a:t>
            </a:r>
            <a:r>
              <a:rPr lang="ko-KR" altLang="en-US" dirty="0" err="1"/>
              <a:t>텔레그램</a:t>
            </a:r>
            <a:r>
              <a:rPr lang="ko-KR" altLang="en-US" dirty="0"/>
              <a:t> </a:t>
            </a:r>
            <a:r>
              <a:rPr lang="en-US" altLang="ko-KR" dirty="0"/>
              <a:t>= P2P</a:t>
            </a:r>
          </a:p>
          <a:p>
            <a:r>
              <a:rPr lang="ko-KR" altLang="en-US" dirty="0"/>
              <a:t>네트워크 및 인터넷의 발전</a:t>
            </a:r>
            <a:endParaRPr lang="en-US" altLang="ko-KR" dirty="0"/>
          </a:p>
          <a:p>
            <a:pPr lvl="1"/>
            <a:r>
              <a:rPr lang="ko-KR" altLang="en-US" dirty="0" err="1"/>
              <a:t>알파넷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컴퓨터 네트워크의 시초</a:t>
            </a:r>
            <a:endParaRPr lang="en-US" altLang="ko-KR" dirty="0"/>
          </a:p>
          <a:p>
            <a:pPr lvl="2"/>
            <a:r>
              <a:rPr lang="ko-KR" altLang="en-US" dirty="0"/>
              <a:t>미 국방성의 연구결과를 공유하기 위한 프로젝트</a:t>
            </a:r>
            <a:endParaRPr lang="en-US" altLang="ko-KR" dirty="0"/>
          </a:p>
          <a:p>
            <a:pPr lvl="1"/>
            <a:r>
              <a:rPr lang="en-US" altLang="ko-KR" dirty="0"/>
              <a:t>TCP/IP</a:t>
            </a:r>
            <a:r>
              <a:rPr lang="ko-KR" altLang="en-US" dirty="0"/>
              <a:t>의 개발</a:t>
            </a:r>
            <a:endParaRPr lang="en-US" altLang="ko-KR" dirty="0"/>
          </a:p>
          <a:p>
            <a:pPr lvl="2"/>
            <a:r>
              <a:rPr lang="en-US" altLang="ko-KR" dirty="0"/>
              <a:t>AT&amp;T</a:t>
            </a:r>
            <a:r>
              <a:rPr lang="ko-KR" altLang="en-US" dirty="0"/>
              <a:t>에서 </a:t>
            </a:r>
            <a:r>
              <a:rPr lang="en-US" altLang="ko-KR" dirty="0"/>
              <a:t>UNIX</a:t>
            </a:r>
            <a:r>
              <a:rPr lang="ko-KR" altLang="en-US" dirty="0"/>
              <a:t>와 개발에 쓰인 언어인 </a:t>
            </a:r>
            <a:r>
              <a:rPr lang="en-US" altLang="ko-KR" dirty="0"/>
              <a:t>C</a:t>
            </a:r>
            <a:r>
              <a:rPr lang="ko-KR" altLang="en-US" dirty="0"/>
              <a:t>언어를 개발</a:t>
            </a:r>
            <a:endParaRPr lang="en-US" altLang="ko-KR" dirty="0"/>
          </a:p>
          <a:p>
            <a:pPr lvl="2"/>
            <a:r>
              <a:rPr lang="en-US" altLang="ko-KR" dirty="0"/>
              <a:t>C</a:t>
            </a:r>
            <a:r>
              <a:rPr lang="ko-KR" altLang="en-US" dirty="0"/>
              <a:t>언어를 무상으로 배포하고 버클리 대학에서 </a:t>
            </a:r>
            <a:r>
              <a:rPr lang="en-US" altLang="ko-KR" dirty="0"/>
              <a:t>TCP/IP</a:t>
            </a:r>
            <a:r>
              <a:rPr lang="ko-KR" altLang="en-US" dirty="0"/>
              <a:t>를 담은 </a:t>
            </a:r>
            <a:r>
              <a:rPr lang="en-US" altLang="ko-KR" dirty="0"/>
              <a:t>UNIX</a:t>
            </a:r>
            <a:r>
              <a:rPr lang="ko-KR" altLang="en-US" dirty="0"/>
              <a:t>인 </a:t>
            </a:r>
            <a:r>
              <a:rPr lang="en-US" altLang="ko-KR" dirty="0"/>
              <a:t>BSD</a:t>
            </a:r>
            <a:r>
              <a:rPr lang="ko-KR" altLang="en-US" dirty="0"/>
              <a:t>을 개발</a:t>
            </a:r>
            <a:endParaRPr lang="en-US" altLang="ko-KR" dirty="0"/>
          </a:p>
          <a:p>
            <a:pPr lvl="1"/>
            <a:r>
              <a:rPr lang="en-US" altLang="ko-KR" dirty="0"/>
              <a:t>TCP/IP</a:t>
            </a:r>
            <a:r>
              <a:rPr lang="ko-KR" altLang="en-US" dirty="0"/>
              <a:t>가 알파넷의 공식 프로토콜이 됨</a:t>
            </a:r>
            <a:endParaRPr lang="en-US" altLang="ko-KR" dirty="0"/>
          </a:p>
          <a:p>
            <a:pPr lvl="1"/>
            <a:r>
              <a:rPr lang="en-US" altLang="ko-KR" dirty="0"/>
              <a:t>WWW</a:t>
            </a:r>
            <a:r>
              <a:rPr lang="ko-KR" altLang="en-US" dirty="0"/>
              <a:t>등장 </a:t>
            </a:r>
            <a:r>
              <a:rPr lang="en-US" altLang="ko-KR" dirty="0"/>
              <a:t>: </a:t>
            </a:r>
            <a:r>
              <a:rPr lang="ko-KR" altLang="en-US" dirty="0"/>
              <a:t>스위스</a:t>
            </a:r>
            <a:endParaRPr lang="en-US" altLang="ko-KR" dirty="0"/>
          </a:p>
          <a:p>
            <a:pPr lvl="1"/>
            <a:r>
              <a:rPr lang="ko-KR" altLang="en-US" dirty="0"/>
              <a:t>최초의 브라우저 </a:t>
            </a:r>
            <a:r>
              <a:rPr lang="en-US" altLang="ko-KR" dirty="0"/>
              <a:t>MOSIC </a:t>
            </a:r>
            <a:r>
              <a:rPr lang="ko-KR" altLang="en-US" dirty="0"/>
              <a:t>등장</a:t>
            </a:r>
            <a:endParaRPr lang="en-US" altLang="ko-KR" dirty="0"/>
          </a:p>
          <a:p>
            <a:pPr lvl="1"/>
            <a:r>
              <a:rPr lang="en-US" altLang="ko-KR" dirty="0"/>
              <a:t>CDMA</a:t>
            </a:r>
            <a:r>
              <a:rPr lang="ko-KR" altLang="en-US" dirty="0"/>
              <a:t>의 등장</a:t>
            </a:r>
            <a:endParaRPr lang="en-US" altLang="ko-KR" dirty="0"/>
          </a:p>
          <a:p>
            <a:pPr lvl="2"/>
            <a:r>
              <a:rPr lang="ko-KR" altLang="en-US" dirty="0"/>
              <a:t>이후 우리나라에서 </a:t>
            </a:r>
            <a:r>
              <a:rPr lang="en-US" altLang="ko-KR" dirty="0"/>
              <a:t>CDMA </a:t>
            </a:r>
            <a:r>
              <a:rPr lang="ko-KR" altLang="en-US" dirty="0"/>
              <a:t>프로토콜을 활용해 휴대폰 개발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2771A4-9C65-1450-FA5F-D6023C433A8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D9A4AEFA-654D-4BDD-4B3D-5E079BDC91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6727" y="2072680"/>
            <a:ext cx="2664296" cy="874203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6CD31ED8-078A-5F07-3202-5155C754162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88875" y="3080792"/>
            <a:ext cx="1152128" cy="10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0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C6B38B8-94D6-6EF5-2262-38A8C455B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EE469A6-EEC9-F6D7-C04C-D29E7FE30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 기초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5C8BBF-5990-1525-B7AB-5177150463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DDBE931-1EB0-48F1-7170-70B2857754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네트워크 기초 용어</a:t>
            </a:r>
            <a:endParaRPr lang="en-US" altLang="ko-KR" dirty="0"/>
          </a:p>
          <a:p>
            <a:pPr lvl="1"/>
            <a:r>
              <a:rPr lang="ko-KR" altLang="en-US" dirty="0"/>
              <a:t>네트워크</a:t>
            </a:r>
            <a:r>
              <a:rPr lang="en-US" altLang="ko-KR" dirty="0"/>
              <a:t>: </a:t>
            </a:r>
            <a:r>
              <a:rPr lang="ko-KR" altLang="en-US" dirty="0"/>
              <a:t>모든 전송 매체를 매개로 서로 연결되어 데이터를 교환하는 시스템</a:t>
            </a:r>
            <a:endParaRPr lang="en-US" altLang="ko-KR" dirty="0"/>
          </a:p>
          <a:p>
            <a:pPr lvl="2"/>
            <a:r>
              <a:rPr lang="ko-KR" altLang="en-US" dirty="0"/>
              <a:t>전송매체 </a:t>
            </a:r>
            <a:r>
              <a:rPr lang="en-US" altLang="ko-KR" dirty="0"/>
              <a:t>= </a:t>
            </a:r>
            <a:r>
              <a:rPr lang="ko-KR" altLang="en-US" dirty="0"/>
              <a:t>미디어 </a:t>
            </a:r>
            <a:r>
              <a:rPr lang="en-US" altLang="ko-KR" dirty="0"/>
              <a:t>(</a:t>
            </a:r>
            <a:r>
              <a:rPr lang="ko-KR" altLang="en-US" dirty="0"/>
              <a:t>공기</a:t>
            </a:r>
            <a:r>
              <a:rPr lang="en-US" altLang="ko-KR" dirty="0"/>
              <a:t>, </a:t>
            </a:r>
            <a:r>
              <a:rPr lang="ko-KR" altLang="en-US" dirty="0"/>
              <a:t>빛</a:t>
            </a:r>
            <a:r>
              <a:rPr lang="en-US" altLang="ko-KR" dirty="0"/>
              <a:t>, </a:t>
            </a:r>
            <a:r>
              <a:rPr lang="ko-KR" altLang="en-US" dirty="0"/>
              <a:t>소리 또한 미디어가 될 수 있다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ko-KR" altLang="en-US" dirty="0"/>
              <a:t>인터페이스 </a:t>
            </a:r>
            <a:r>
              <a:rPr lang="en-US" altLang="ko-KR" dirty="0"/>
              <a:t>: </a:t>
            </a:r>
            <a:r>
              <a:rPr lang="ko-KR" altLang="en-US" dirty="0"/>
              <a:t>시스템과 전송 매체의 연결 지점에 대한 규격</a:t>
            </a:r>
            <a:endParaRPr lang="en-US" altLang="ko-KR" dirty="0"/>
          </a:p>
          <a:p>
            <a:pPr lvl="2"/>
            <a:r>
              <a:rPr lang="en-US" altLang="ko-KR" dirty="0"/>
              <a:t>OSI 7 </a:t>
            </a:r>
            <a:r>
              <a:rPr lang="ko-KR" altLang="en-US" dirty="0"/>
              <a:t>계층이 포함됨</a:t>
            </a:r>
            <a:endParaRPr lang="en-US" altLang="ko-KR" dirty="0"/>
          </a:p>
          <a:p>
            <a:pPr lvl="2"/>
            <a:r>
              <a:rPr lang="ko-KR" altLang="en-US" dirty="0"/>
              <a:t>하드웨어적이라면 위 설명이 옳지만 소프트웨어 사이를 잇는 것도 인터페이스</a:t>
            </a:r>
            <a:endParaRPr lang="en-US" altLang="ko-KR" dirty="0"/>
          </a:p>
          <a:p>
            <a:pPr lvl="2"/>
            <a:r>
              <a:rPr lang="ko-KR" altLang="en-US" dirty="0"/>
              <a:t>서로 다른 객체가 연결되는 것이 인터페이스</a:t>
            </a:r>
          </a:p>
          <a:p>
            <a:pPr lvl="1"/>
            <a:r>
              <a:rPr lang="ko-KR" altLang="en-US" dirty="0"/>
              <a:t>프로토콜 </a:t>
            </a:r>
            <a:r>
              <a:rPr lang="en-US" altLang="ko-KR" dirty="0"/>
              <a:t>: </a:t>
            </a:r>
            <a:r>
              <a:rPr lang="ko-KR" altLang="en-US" dirty="0"/>
              <a:t>시스템이 데이터를 교환할 때 소프트웨어적으로 동작하는 통신 규칙</a:t>
            </a:r>
            <a:endParaRPr lang="en-US" altLang="ko-KR" dirty="0"/>
          </a:p>
          <a:p>
            <a:pPr lvl="1"/>
            <a:r>
              <a:rPr lang="ko-KR" altLang="en-US" dirty="0"/>
              <a:t>표준화</a:t>
            </a:r>
            <a:r>
              <a:rPr lang="en-US" altLang="ko-KR" dirty="0"/>
              <a:t>: </a:t>
            </a:r>
            <a:r>
              <a:rPr lang="ko-KR" altLang="en-US" dirty="0"/>
              <a:t>인터페이스</a:t>
            </a:r>
            <a:r>
              <a:rPr lang="en-US" altLang="ko-KR" dirty="0"/>
              <a:t>, </a:t>
            </a:r>
            <a:r>
              <a:rPr lang="ko-KR" altLang="en-US" dirty="0"/>
              <a:t>프로토콜의 양식 통일</a:t>
            </a:r>
            <a:endParaRPr lang="en-US" altLang="ko-KR" dirty="0"/>
          </a:p>
          <a:p>
            <a:r>
              <a:rPr lang="ko-KR" altLang="en-US" dirty="0"/>
              <a:t>용어의 정의</a:t>
            </a:r>
            <a:endParaRPr lang="en-US" altLang="ko-KR" dirty="0"/>
          </a:p>
          <a:p>
            <a:pPr lvl="1"/>
            <a:r>
              <a:rPr lang="ko-KR" altLang="en-US" dirty="0"/>
              <a:t>시스템 </a:t>
            </a:r>
            <a:r>
              <a:rPr lang="en-US" altLang="ko-KR" dirty="0"/>
              <a:t>: </a:t>
            </a:r>
            <a:r>
              <a:rPr lang="ko-KR" altLang="en-US" dirty="0"/>
              <a:t>내부 규칙에 따라 자율적으로 동작하는 대상</a:t>
            </a:r>
            <a:endParaRPr lang="en-US" altLang="ko-KR" dirty="0"/>
          </a:p>
          <a:p>
            <a:pPr lvl="1"/>
            <a:r>
              <a:rPr lang="ko-KR" altLang="en-US" dirty="0"/>
              <a:t>전송매체</a:t>
            </a:r>
            <a:r>
              <a:rPr lang="en-US" altLang="ko-KR" dirty="0"/>
              <a:t>(=</a:t>
            </a:r>
            <a:r>
              <a:rPr lang="ko-KR" altLang="en-US" dirty="0"/>
              <a:t>미디어</a:t>
            </a:r>
            <a:r>
              <a:rPr lang="en-US" altLang="ko-KR" dirty="0"/>
              <a:t>) : </a:t>
            </a:r>
            <a:r>
              <a:rPr lang="ko-KR" altLang="en-US" dirty="0"/>
              <a:t>데이터를 전달할 때 필요한 물리적인 전송 수단</a:t>
            </a:r>
            <a:endParaRPr lang="en-US" altLang="ko-KR" dirty="0"/>
          </a:p>
          <a:p>
            <a:pPr lvl="1"/>
            <a:r>
              <a:rPr lang="ko-KR" altLang="en-US" dirty="0"/>
              <a:t>인터넷</a:t>
            </a:r>
            <a:r>
              <a:rPr lang="en-US" altLang="ko-KR" dirty="0"/>
              <a:t>: </a:t>
            </a:r>
            <a:r>
              <a:rPr lang="ko-KR" altLang="en-US" dirty="0"/>
              <a:t>네트워크가 유기적으로 연결되어 동작하는 통합 네트워크</a:t>
            </a:r>
            <a:endParaRPr lang="en-US" altLang="ko-KR" dirty="0"/>
          </a:p>
          <a:p>
            <a:pPr lvl="2"/>
            <a:r>
              <a:rPr lang="ko-KR" altLang="en-US" dirty="0"/>
              <a:t>데이터 전달기능에 한해서 </a:t>
            </a:r>
            <a:r>
              <a:rPr lang="en-US" altLang="ko-KR" dirty="0"/>
              <a:t>IP</a:t>
            </a:r>
            <a:r>
              <a:rPr lang="ko-KR" altLang="en-US" dirty="0"/>
              <a:t>프로토콜 </a:t>
            </a:r>
            <a:r>
              <a:rPr lang="en-US" altLang="ko-KR" dirty="0"/>
              <a:t>(TCP/IP)</a:t>
            </a:r>
            <a:r>
              <a:rPr lang="ko-KR" altLang="en-US" dirty="0"/>
              <a:t>를 사용</a:t>
            </a:r>
            <a:endParaRPr lang="en-US" altLang="ko-KR" dirty="0"/>
          </a:p>
          <a:p>
            <a:r>
              <a:rPr lang="ko-KR" altLang="en-US" dirty="0"/>
              <a:t>시스템 기초 용어</a:t>
            </a:r>
            <a:endParaRPr lang="en-US" altLang="ko-KR" dirty="0"/>
          </a:p>
          <a:p>
            <a:pPr lvl="1"/>
            <a:r>
              <a:rPr lang="ko-KR" altLang="en-US" dirty="0"/>
              <a:t>노드 </a:t>
            </a:r>
            <a:r>
              <a:rPr lang="en-US" altLang="ko-KR" dirty="0"/>
              <a:t>: </a:t>
            </a:r>
            <a:r>
              <a:rPr lang="ko-KR" altLang="en-US" dirty="0"/>
              <a:t>특정 시스템</a:t>
            </a:r>
            <a:r>
              <a:rPr lang="en-US" altLang="ko-KR" dirty="0"/>
              <a:t> or </a:t>
            </a:r>
            <a:r>
              <a:rPr lang="ko-KR" altLang="en-US" dirty="0"/>
              <a:t>데이터를 주고 받는 모든 시스템</a:t>
            </a:r>
            <a:r>
              <a:rPr lang="en-US" altLang="ko-KR" dirty="0"/>
              <a:t>; </a:t>
            </a:r>
            <a:r>
              <a:rPr lang="ko-KR" altLang="en-US" dirty="0"/>
              <a:t>데이터를 주고받는 단위</a:t>
            </a:r>
            <a:endParaRPr lang="en-US" altLang="ko-KR" dirty="0"/>
          </a:p>
          <a:p>
            <a:pPr lvl="1"/>
            <a:r>
              <a:rPr lang="ko-KR" altLang="en-US" dirty="0"/>
              <a:t>라우터</a:t>
            </a:r>
            <a:r>
              <a:rPr lang="en-US" altLang="ko-KR" dirty="0"/>
              <a:t>: </a:t>
            </a:r>
            <a:r>
              <a:rPr lang="ko-KR" altLang="en-US" dirty="0"/>
              <a:t>인터넷 내부를 구성하며</a:t>
            </a:r>
            <a:r>
              <a:rPr lang="en-US" altLang="ko-KR" dirty="0"/>
              <a:t>, </a:t>
            </a:r>
            <a:r>
              <a:rPr lang="ko-KR" altLang="en-US" dirty="0"/>
              <a:t>기본으로 데이터 전송 기능을 포함</a:t>
            </a:r>
            <a:endParaRPr lang="en-US" altLang="ko-KR" dirty="0"/>
          </a:p>
          <a:p>
            <a:pPr lvl="2"/>
            <a:r>
              <a:rPr lang="en-US" altLang="ko-KR" dirty="0"/>
              <a:t>Router =</a:t>
            </a:r>
            <a:r>
              <a:rPr lang="ko-KR" altLang="en-US" dirty="0"/>
              <a:t>길을 </a:t>
            </a:r>
            <a:r>
              <a:rPr lang="ko-KR" altLang="en-US" dirty="0" err="1"/>
              <a:t>찾는것</a:t>
            </a:r>
            <a:r>
              <a:rPr lang="en-US" altLang="ko-KR" dirty="0"/>
              <a:t>, </a:t>
            </a:r>
            <a:r>
              <a:rPr lang="ko-KR" altLang="en-US" dirty="0" err="1"/>
              <a:t>만드는것이라</a:t>
            </a:r>
            <a:r>
              <a:rPr lang="ko-KR" altLang="en-US" dirty="0"/>
              <a:t> 번역 가능</a:t>
            </a:r>
          </a:p>
          <a:p>
            <a:pPr lvl="1"/>
            <a:r>
              <a:rPr lang="ko-KR" altLang="en-US" dirty="0"/>
              <a:t>호스트</a:t>
            </a:r>
            <a:r>
              <a:rPr lang="en-US" altLang="ko-KR" dirty="0"/>
              <a:t> : </a:t>
            </a:r>
            <a:r>
              <a:rPr lang="ko-KR" altLang="en-US" dirty="0"/>
              <a:t>네트워크를 구성하는 특정 개체</a:t>
            </a:r>
            <a:endParaRPr lang="en-US" altLang="ko-KR" dirty="0"/>
          </a:p>
          <a:p>
            <a:r>
              <a:rPr lang="ko-KR" altLang="en-US" dirty="0"/>
              <a:t>계층적 네트워크 프로토콜</a:t>
            </a:r>
            <a:endParaRPr lang="en-US" altLang="ko-KR" dirty="0"/>
          </a:p>
          <a:p>
            <a:pPr lvl="1"/>
            <a:r>
              <a:rPr lang="ko-KR" altLang="en-US" dirty="0"/>
              <a:t>각 레이어의 작은 박스는</a:t>
            </a:r>
            <a:br>
              <a:rPr lang="en-US" altLang="ko-KR" dirty="0"/>
            </a:br>
            <a:r>
              <a:rPr lang="ko-KR" altLang="en-US" dirty="0"/>
              <a:t>하나의 노드</a:t>
            </a:r>
            <a:endParaRPr lang="en-US" altLang="ko-KR" dirty="0"/>
          </a:p>
          <a:p>
            <a:pPr lvl="1"/>
            <a:r>
              <a:rPr lang="ko-KR" altLang="en-US" b="1" dirty="0"/>
              <a:t>각 계층은 자신과 같은</a:t>
            </a:r>
            <a:br>
              <a:rPr lang="en-US" altLang="ko-KR" b="1" dirty="0"/>
            </a:br>
            <a:r>
              <a:rPr lang="ko-KR" altLang="en-US" b="1" dirty="0"/>
              <a:t>계층과 통신함</a:t>
            </a:r>
            <a:endParaRPr lang="en-US" altLang="ko-KR" b="1" dirty="0"/>
          </a:p>
          <a:p>
            <a:pPr lvl="1"/>
            <a:r>
              <a:rPr lang="ko-KR" altLang="en-US" b="1" dirty="0"/>
              <a:t>상대 노드와 같은 레이어</a:t>
            </a:r>
            <a:br>
              <a:rPr lang="en-US" altLang="ko-KR" b="1" dirty="0"/>
            </a:br>
            <a:r>
              <a:rPr lang="ko-KR" altLang="en-US" b="1" dirty="0"/>
              <a:t>와 통신</a:t>
            </a: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791600-CF0B-EE56-E881-C3A6AAF6196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DCF3467B-E28A-8CC3-6590-AF8A11500A9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8041" y="4808984"/>
            <a:ext cx="3205334" cy="277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9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F554FA2-BDDC-7490-3499-81490F6C3F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D082031-8107-2067-1775-D2EF82F14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5BAF7F-9F28-5CBA-2138-E93ED56131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FB90D6C-06FF-47C6-51C5-6CB27A8610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프로토콜의 예시</a:t>
            </a:r>
            <a:endParaRPr lang="en-US" altLang="ko-KR" dirty="0"/>
          </a:p>
          <a:p>
            <a:pPr lvl="1"/>
            <a:r>
              <a:rPr lang="ko-KR" altLang="en-US" dirty="0"/>
              <a:t>통신 과정</a:t>
            </a:r>
            <a:endParaRPr lang="en-US" altLang="ko-KR" dirty="0"/>
          </a:p>
          <a:p>
            <a:pPr lvl="2"/>
            <a:r>
              <a:rPr lang="ko-KR" altLang="en-US" dirty="0"/>
              <a:t>맨 위의 철학자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철학자</a:t>
            </a:r>
            <a:r>
              <a:rPr lang="en-US" altLang="ko-KR" dirty="0"/>
              <a:t>B</a:t>
            </a:r>
            <a:r>
              <a:rPr lang="ko-KR" altLang="en-US" dirty="0"/>
              <a:t> 통신</a:t>
            </a:r>
            <a:endParaRPr lang="en-US" altLang="ko-KR" dirty="0"/>
          </a:p>
          <a:p>
            <a:pPr lvl="2"/>
            <a:r>
              <a:rPr lang="ko-KR" altLang="en-US" dirty="0"/>
              <a:t>번역가</a:t>
            </a:r>
            <a:r>
              <a:rPr lang="en-US" altLang="ko-KR" dirty="0"/>
              <a:t>A</a:t>
            </a:r>
            <a:r>
              <a:rPr lang="ko-KR" altLang="en-US" dirty="0"/>
              <a:t>가 철학자</a:t>
            </a:r>
            <a:r>
              <a:rPr lang="en-US" altLang="ko-KR" dirty="0"/>
              <a:t>A</a:t>
            </a:r>
            <a:r>
              <a:rPr lang="ko-KR" altLang="en-US" dirty="0"/>
              <a:t>의 말을</a:t>
            </a:r>
            <a:br>
              <a:rPr lang="en-US" altLang="ko-KR" dirty="0"/>
            </a:br>
            <a:r>
              <a:rPr lang="ko-KR" altLang="en-US" dirty="0"/>
              <a:t>독어로 번역 후 비서</a:t>
            </a:r>
            <a:r>
              <a:rPr lang="en-US" altLang="ko-KR" dirty="0"/>
              <a:t>A</a:t>
            </a:r>
            <a:r>
              <a:rPr lang="ko-KR" altLang="en-US" dirty="0"/>
              <a:t>에게 전달</a:t>
            </a:r>
            <a:endParaRPr lang="en-US" altLang="ko-KR" dirty="0"/>
          </a:p>
          <a:p>
            <a:pPr lvl="2"/>
            <a:r>
              <a:rPr lang="ko-KR" altLang="en-US" dirty="0"/>
              <a:t>비서</a:t>
            </a:r>
            <a:r>
              <a:rPr lang="en-US" altLang="ko-KR" dirty="0"/>
              <a:t>A</a:t>
            </a:r>
            <a:r>
              <a:rPr lang="ko-KR" altLang="en-US" dirty="0"/>
              <a:t>는 팩스로 비서</a:t>
            </a:r>
            <a:r>
              <a:rPr lang="en-US" altLang="ko-KR" dirty="0"/>
              <a:t>B</a:t>
            </a:r>
            <a:r>
              <a:rPr lang="ko-KR" altLang="en-US" dirty="0"/>
              <a:t>의 팩스로</a:t>
            </a:r>
            <a:br>
              <a:rPr lang="en-US" altLang="ko-KR" dirty="0"/>
            </a:br>
            <a:r>
              <a:rPr lang="ko-KR" altLang="en-US" dirty="0"/>
              <a:t>전송</a:t>
            </a:r>
            <a:endParaRPr lang="en-US" altLang="ko-KR" dirty="0"/>
          </a:p>
          <a:p>
            <a:pPr lvl="2"/>
            <a:r>
              <a:rPr lang="ko-KR" altLang="en-US" dirty="0"/>
              <a:t>비서</a:t>
            </a:r>
            <a:r>
              <a:rPr lang="en-US" altLang="ko-KR" dirty="0"/>
              <a:t>B</a:t>
            </a:r>
            <a:r>
              <a:rPr lang="ko-KR" altLang="en-US" dirty="0"/>
              <a:t>는 팩스 내용을 번역가</a:t>
            </a:r>
            <a:r>
              <a:rPr lang="en-US" altLang="ko-KR" dirty="0"/>
              <a:t>B</a:t>
            </a:r>
            <a:r>
              <a:rPr lang="ko-KR" altLang="en-US" dirty="0"/>
              <a:t>로 전달</a:t>
            </a:r>
            <a:endParaRPr lang="en-US" altLang="ko-KR" dirty="0"/>
          </a:p>
          <a:p>
            <a:pPr lvl="2"/>
            <a:r>
              <a:rPr lang="ko-KR" altLang="en-US" dirty="0"/>
              <a:t>번역가</a:t>
            </a:r>
            <a:r>
              <a:rPr lang="en-US" altLang="ko-KR" dirty="0"/>
              <a:t>B</a:t>
            </a:r>
            <a:r>
              <a:rPr lang="ko-KR" altLang="en-US" dirty="0"/>
              <a:t>는 독어 팩스 내용을 번역해</a:t>
            </a:r>
            <a:br>
              <a:rPr lang="en-US" altLang="ko-KR" dirty="0"/>
            </a:br>
            <a:r>
              <a:rPr lang="ko-KR" altLang="en-US" dirty="0"/>
              <a:t>철학자</a:t>
            </a:r>
            <a:r>
              <a:rPr lang="en-US" altLang="ko-KR" dirty="0"/>
              <a:t>B</a:t>
            </a:r>
            <a:r>
              <a:rPr lang="ko-KR" altLang="en-US" dirty="0"/>
              <a:t>에게 전달</a:t>
            </a:r>
            <a:endParaRPr lang="en-US" altLang="ko-KR" dirty="0"/>
          </a:p>
          <a:p>
            <a:pPr lvl="1"/>
            <a:r>
              <a:rPr lang="ko-KR" altLang="en-US" dirty="0"/>
              <a:t>유의사항</a:t>
            </a:r>
            <a:endParaRPr lang="en-US" altLang="ko-KR" dirty="0"/>
          </a:p>
          <a:p>
            <a:pPr lvl="2"/>
            <a:r>
              <a:rPr lang="ko-KR" altLang="en-US" dirty="0"/>
              <a:t>각각의 레이어는 상대방의 레이어</a:t>
            </a:r>
            <a:br>
              <a:rPr lang="en-US" altLang="ko-KR" dirty="0"/>
            </a:br>
            <a:r>
              <a:rPr lang="ko-KR" altLang="en-US" dirty="0"/>
              <a:t>만하고 통신함</a:t>
            </a:r>
            <a:endParaRPr lang="en-US" altLang="ko-KR" dirty="0"/>
          </a:p>
          <a:p>
            <a:pPr lvl="2"/>
            <a:r>
              <a:rPr lang="ko-KR" altLang="en-US" dirty="0"/>
              <a:t>철학자는 자신의 메시지가 어떤 언어로 번역되는지 관심 </a:t>
            </a:r>
            <a:r>
              <a:rPr lang="en-US" altLang="ko-KR" dirty="0"/>
              <a:t>X, </a:t>
            </a:r>
            <a:r>
              <a:rPr lang="ko-KR" altLang="en-US" dirty="0"/>
              <a:t>전달만 되면 됨</a:t>
            </a:r>
            <a:endParaRPr lang="en-US" altLang="ko-KR" dirty="0"/>
          </a:p>
          <a:p>
            <a:pPr lvl="2"/>
            <a:r>
              <a:rPr lang="ko-KR" altLang="en-US" dirty="0"/>
              <a:t>번역가는 비서가 어떤 방법으로 메시지를 </a:t>
            </a:r>
            <a:r>
              <a:rPr lang="ko-KR" altLang="en-US" dirty="0" err="1"/>
              <a:t>보낼지</a:t>
            </a:r>
            <a:r>
              <a:rPr lang="en-US" altLang="ko-KR" dirty="0"/>
              <a:t>, </a:t>
            </a:r>
            <a:r>
              <a:rPr lang="ko-KR" altLang="en-US" dirty="0"/>
              <a:t>상대방이 어떤 언어로 번역할지 상관 없음</a:t>
            </a:r>
            <a:endParaRPr lang="en-US" altLang="ko-KR" dirty="0"/>
          </a:p>
          <a:p>
            <a:pPr lvl="2"/>
            <a:r>
              <a:rPr lang="ko-KR" altLang="en-US" dirty="0"/>
              <a:t>비서</a:t>
            </a:r>
            <a:r>
              <a:rPr lang="en-US" altLang="ko-KR" dirty="0"/>
              <a:t>A</a:t>
            </a:r>
            <a:r>
              <a:rPr lang="ko-KR" altLang="en-US" dirty="0"/>
              <a:t>는 내가 보낸 내용이 </a:t>
            </a:r>
            <a:r>
              <a:rPr lang="ko-KR" altLang="en-US" dirty="0" err="1"/>
              <a:t>뭔지</a:t>
            </a:r>
            <a:r>
              <a:rPr lang="ko-KR" altLang="en-US" dirty="0"/>
              <a:t> 모른다</a:t>
            </a:r>
            <a:r>
              <a:rPr lang="en-US" altLang="ko-KR" dirty="0"/>
              <a:t>. </a:t>
            </a:r>
            <a:r>
              <a:rPr lang="ko-KR" altLang="en-US" dirty="0"/>
              <a:t>수신자의 전화번호만 관심있음</a:t>
            </a:r>
            <a:endParaRPr lang="en-US" altLang="ko-KR" dirty="0"/>
          </a:p>
          <a:p>
            <a:pPr lvl="3"/>
            <a:r>
              <a:rPr lang="ko-KR" altLang="en-US" dirty="0"/>
              <a:t>비서</a:t>
            </a:r>
            <a:r>
              <a:rPr lang="en-US" altLang="ko-KR" dirty="0"/>
              <a:t>B</a:t>
            </a:r>
            <a:r>
              <a:rPr lang="ko-KR" altLang="en-US" dirty="0"/>
              <a:t>도 보내는 자의 정보만 관심있지 내용은 관심 없다</a:t>
            </a:r>
            <a:endParaRPr lang="en-US" altLang="ko-KR" dirty="0"/>
          </a:p>
          <a:p>
            <a:r>
              <a:rPr lang="en-US" altLang="ko-KR" dirty="0"/>
              <a:t>OSI 7</a:t>
            </a:r>
            <a:r>
              <a:rPr lang="ko-KR" altLang="en-US" dirty="0"/>
              <a:t>계층 모델</a:t>
            </a:r>
            <a:endParaRPr lang="en-US" altLang="ko-KR" dirty="0"/>
          </a:p>
          <a:p>
            <a:pPr lvl="1"/>
            <a:r>
              <a:rPr lang="ko-KR" altLang="en-US" dirty="0"/>
              <a:t>물리계층 </a:t>
            </a:r>
            <a:r>
              <a:rPr lang="en-US" altLang="ko-KR" dirty="0"/>
              <a:t>– </a:t>
            </a:r>
            <a:r>
              <a:rPr lang="ko-KR" altLang="en-US" dirty="0"/>
              <a:t>데이터 링크 계층 </a:t>
            </a:r>
            <a:r>
              <a:rPr lang="en-US" altLang="ko-KR" dirty="0"/>
              <a:t>– </a:t>
            </a:r>
            <a:r>
              <a:rPr lang="ko-KR" altLang="en-US" dirty="0"/>
              <a:t>네트워크 계층 </a:t>
            </a:r>
            <a:r>
              <a:rPr lang="en-US" altLang="ko-KR" dirty="0"/>
              <a:t>– </a:t>
            </a:r>
            <a:r>
              <a:rPr lang="ko-KR" altLang="en-US" dirty="0"/>
              <a:t>전송계층 </a:t>
            </a:r>
            <a:r>
              <a:rPr lang="en-US" altLang="ko-KR" dirty="0"/>
              <a:t>– </a:t>
            </a:r>
            <a:r>
              <a:rPr lang="ko-KR" altLang="en-US" dirty="0"/>
              <a:t>세션계층 </a:t>
            </a:r>
            <a:r>
              <a:rPr lang="en-US" altLang="ko-KR" dirty="0"/>
              <a:t>– </a:t>
            </a:r>
            <a:r>
              <a:rPr lang="ko-KR" altLang="en-US" dirty="0"/>
              <a:t>표현계층 </a:t>
            </a:r>
            <a:r>
              <a:rPr lang="en-US" altLang="ko-KR" dirty="0"/>
              <a:t>– </a:t>
            </a:r>
            <a:r>
              <a:rPr lang="ko-KR" altLang="en-US" dirty="0"/>
              <a:t>응용계층</a:t>
            </a:r>
            <a:endParaRPr lang="en-US" altLang="ko-KR" dirty="0"/>
          </a:p>
          <a:p>
            <a:pPr lvl="2"/>
            <a:r>
              <a:rPr lang="ko-KR" altLang="en-US" dirty="0"/>
              <a:t>각 레이어를 </a:t>
            </a:r>
            <a:r>
              <a:rPr lang="en-US" altLang="ko-KR" dirty="0"/>
              <a:t>ppt</a:t>
            </a:r>
            <a:r>
              <a:rPr lang="ko-KR" altLang="en-US" dirty="0"/>
              <a:t>대로 외우지 말고 이해를 하고 요약을 하는 식으로 답을 써야 함</a:t>
            </a:r>
            <a:endParaRPr lang="en-US" altLang="ko-KR" dirty="0"/>
          </a:p>
          <a:p>
            <a:pPr lvl="2"/>
            <a:r>
              <a:rPr lang="en-US" altLang="ko-KR" dirty="0"/>
              <a:t>7</a:t>
            </a:r>
            <a:r>
              <a:rPr lang="ko-KR" altLang="en-US" dirty="0"/>
              <a:t>계층의 각 이름과 각 계층이 어떤 일을 하는지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OSI </a:t>
            </a:r>
            <a:r>
              <a:rPr lang="ko-KR" altLang="en-US" dirty="0"/>
              <a:t>참조 모델</a:t>
            </a:r>
            <a:endParaRPr lang="en-US" altLang="ko-KR" dirty="0"/>
          </a:p>
          <a:p>
            <a:pPr lvl="1"/>
            <a:r>
              <a:rPr lang="ko-KR" altLang="en-US" dirty="0"/>
              <a:t>호스트 </a:t>
            </a:r>
            <a:r>
              <a:rPr lang="en-US" altLang="ko-KR" dirty="0"/>
              <a:t>A-B</a:t>
            </a:r>
            <a:r>
              <a:rPr lang="ko-KR" altLang="en-US" dirty="0"/>
              <a:t>로 직접 통신할 수 없기 때</a:t>
            </a:r>
            <a:br>
              <a:rPr lang="en-US" altLang="ko-KR" dirty="0"/>
            </a:br>
            <a:r>
              <a:rPr lang="ko-KR" altLang="en-US" dirty="0"/>
              <a:t>문에 중간의 라우터 </a:t>
            </a:r>
            <a:r>
              <a:rPr lang="en-US" altLang="ko-KR" dirty="0"/>
              <a:t>2</a:t>
            </a:r>
            <a:r>
              <a:rPr lang="ko-KR" altLang="en-US" dirty="0"/>
              <a:t>개 사용</a:t>
            </a:r>
            <a:endParaRPr lang="en-US" altLang="ko-KR" dirty="0"/>
          </a:p>
          <a:p>
            <a:pPr lvl="1"/>
            <a:r>
              <a:rPr lang="ko-KR" altLang="en-US" dirty="0"/>
              <a:t>중간 노드는 </a:t>
            </a:r>
            <a:r>
              <a:rPr lang="en-US" altLang="ko-KR" dirty="0"/>
              <a:t>1~3</a:t>
            </a:r>
            <a:r>
              <a:rPr lang="ko-KR" altLang="en-US" dirty="0"/>
              <a:t>계층만</a:t>
            </a:r>
            <a:r>
              <a:rPr lang="en-US" altLang="ko-KR" dirty="0"/>
              <a:t> </a:t>
            </a:r>
            <a:r>
              <a:rPr lang="ko-KR" altLang="en-US" dirty="0"/>
              <a:t>올라감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en-US" altLang="ko-KR" dirty="0" err="1"/>
              <a:t>negibor</a:t>
            </a:r>
            <a:r>
              <a:rPr lang="en-US" altLang="ko-KR" dirty="0"/>
              <a:t> hood)</a:t>
            </a:r>
            <a:br>
              <a:rPr lang="en-US" altLang="ko-KR" dirty="0"/>
            </a:br>
            <a:r>
              <a:rPr lang="en-US" altLang="ko-KR" dirty="0"/>
              <a:t>4~7</a:t>
            </a:r>
            <a:r>
              <a:rPr lang="ko-KR" altLang="en-US" dirty="0"/>
              <a:t>계층은 엔드 </a:t>
            </a:r>
            <a:r>
              <a:rPr lang="ko-KR" altLang="en-US" dirty="0" err="1"/>
              <a:t>노드끼리만</a:t>
            </a:r>
            <a:br>
              <a:rPr lang="en-US" altLang="ko-KR" dirty="0"/>
            </a:br>
            <a:r>
              <a:rPr lang="en-US" altLang="ko-KR" dirty="0"/>
              <a:t>(end to end)</a:t>
            </a:r>
          </a:p>
          <a:p>
            <a:pPr lvl="1"/>
            <a:r>
              <a:rPr lang="ko-KR" altLang="en-US" dirty="0"/>
              <a:t>중간의 노드는 메시지만</a:t>
            </a:r>
            <a:r>
              <a:rPr lang="en-US" altLang="ko-KR" dirty="0"/>
              <a:t> </a:t>
            </a:r>
            <a:r>
              <a:rPr lang="ko-KR" altLang="en-US" dirty="0"/>
              <a:t>전달하면 됨</a:t>
            </a:r>
            <a:endParaRPr lang="en-US" altLang="ko-KR" dirty="0"/>
          </a:p>
          <a:p>
            <a:pPr lvl="1"/>
            <a:r>
              <a:rPr lang="ko-KR" altLang="en-US" dirty="0"/>
              <a:t>오른쪽의 </a:t>
            </a:r>
            <a:r>
              <a:rPr lang="en-US" altLang="ko-KR" dirty="0"/>
              <a:t>TCP/IP</a:t>
            </a:r>
            <a:r>
              <a:rPr lang="ko-KR" altLang="en-US" dirty="0"/>
              <a:t>의 경우 </a:t>
            </a:r>
            <a:r>
              <a:rPr lang="en-US" altLang="ko-KR" dirty="0"/>
              <a:t>5~6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건너뜀</a:t>
            </a:r>
            <a:br>
              <a:rPr lang="en-US" altLang="ko-KR" dirty="0"/>
            </a:br>
            <a:r>
              <a:rPr lang="en-US" altLang="ko-KR" dirty="0"/>
              <a:t>5~6</a:t>
            </a:r>
            <a:r>
              <a:rPr lang="ko-KR" altLang="en-US" dirty="0"/>
              <a:t>의 역할을 </a:t>
            </a:r>
            <a:r>
              <a:rPr lang="en-US" altLang="ko-KR" dirty="0"/>
              <a:t>7</a:t>
            </a:r>
            <a:r>
              <a:rPr lang="ko-KR" altLang="en-US" dirty="0"/>
              <a:t>계층이 대신해줌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9508BF-F6B8-A55C-8BAE-B27B8BB048D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9390260F-8002-117C-C0C3-C5F2D45B2E8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5433" y="613767"/>
            <a:ext cx="2677943" cy="234176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26DB156-5069-BDD8-9F41-77D70FE700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51" r="10751"/>
          <a:stretch/>
        </p:blipFill>
        <p:spPr>
          <a:xfrm>
            <a:off x="4060512" y="5313040"/>
            <a:ext cx="2736304" cy="234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61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8D14CBA-F9F8-0476-31EE-04D7EA4E9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70D8B04-E283-47CE-631C-9E88D13D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00C912-185D-E086-1E0F-DEC04FA74E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03E44F4-343F-20DA-1F01-4FBAD98BD2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인터네트워킹</a:t>
            </a:r>
            <a:endParaRPr lang="en-US" altLang="ko-KR" dirty="0"/>
          </a:p>
          <a:p>
            <a:pPr lvl="1"/>
            <a:r>
              <a:rPr lang="ko-KR" altLang="en-US" dirty="0" err="1"/>
              <a:t>네트워크간의</a:t>
            </a:r>
            <a:r>
              <a:rPr lang="ko-KR" altLang="en-US" dirty="0"/>
              <a:t> 연결</a:t>
            </a:r>
            <a:r>
              <a:rPr lang="en-US" altLang="ko-KR" dirty="0"/>
              <a:t>; </a:t>
            </a:r>
            <a:r>
              <a:rPr lang="ko-KR" altLang="en-US" dirty="0"/>
              <a:t>연결되는 네트워크의 수가</a:t>
            </a:r>
            <a:br>
              <a:rPr lang="en-US" altLang="ko-KR" dirty="0"/>
            </a:br>
            <a:r>
              <a:rPr lang="ko-KR" altLang="en-US" dirty="0"/>
              <a:t> 많을수록 복잡도 증가</a:t>
            </a:r>
            <a:endParaRPr lang="en-US" altLang="ko-KR" dirty="0"/>
          </a:p>
          <a:p>
            <a:r>
              <a:rPr lang="ko-KR" altLang="en-US" dirty="0"/>
              <a:t>게이트웨이</a:t>
            </a:r>
            <a:r>
              <a:rPr lang="en-US" altLang="ko-KR" dirty="0"/>
              <a:t> : </a:t>
            </a:r>
            <a:r>
              <a:rPr lang="ko-KR" altLang="en-US" dirty="0" err="1"/>
              <a:t>인터네트워킹을</a:t>
            </a:r>
            <a:r>
              <a:rPr lang="ko-KR" altLang="en-US" dirty="0"/>
              <a:t> 수행하는</a:t>
            </a:r>
            <a:br>
              <a:rPr lang="en-US" altLang="ko-KR" dirty="0"/>
            </a:br>
            <a:r>
              <a:rPr lang="ko-KR" altLang="en-US" dirty="0"/>
              <a:t>시스템</a:t>
            </a:r>
            <a:endParaRPr lang="en-US" altLang="ko-KR" dirty="0"/>
          </a:p>
          <a:p>
            <a:pPr lvl="1"/>
            <a:r>
              <a:rPr lang="ko-KR" altLang="en-US" dirty="0" err="1"/>
              <a:t>리피터</a:t>
            </a:r>
            <a:r>
              <a:rPr lang="en-US" altLang="ko-KR" dirty="0"/>
              <a:t>(repeater)</a:t>
            </a:r>
          </a:p>
          <a:p>
            <a:pPr lvl="2"/>
            <a:r>
              <a:rPr lang="ko-KR" altLang="en-US" dirty="0"/>
              <a:t>물리계층의</a:t>
            </a:r>
            <a:r>
              <a:rPr lang="en-US" altLang="ko-KR" dirty="0"/>
              <a:t> </a:t>
            </a:r>
            <a:r>
              <a:rPr lang="ko-KR" altLang="en-US" dirty="0"/>
              <a:t>기능을 지원</a:t>
            </a:r>
            <a:endParaRPr lang="en-US" altLang="ko-KR" dirty="0"/>
          </a:p>
          <a:p>
            <a:pPr lvl="2"/>
            <a:r>
              <a:rPr lang="ko-KR" altLang="en-US" dirty="0"/>
              <a:t>받은 전기적 신호를 증폭하여 보냄</a:t>
            </a:r>
            <a:endParaRPr lang="en-US" altLang="ko-KR" dirty="0"/>
          </a:p>
          <a:p>
            <a:pPr lvl="1"/>
            <a:r>
              <a:rPr lang="ko-KR" altLang="en-US" dirty="0"/>
              <a:t>브리지</a:t>
            </a:r>
            <a:endParaRPr lang="en-US" altLang="ko-KR" dirty="0"/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계층을 연결해주는 것</a:t>
            </a:r>
            <a:endParaRPr lang="en-US" altLang="ko-KR" dirty="0"/>
          </a:p>
          <a:p>
            <a:pPr lvl="1"/>
            <a:r>
              <a:rPr lang="ko-KR" altLang="en-US" dirty="0"/>
              <a:t>라우터</a:t>
            </a:r>
            <a:endParaRPr lang="en-US" altLang="ko-KR" dirty="0"/>
          </a:p>
          <a:p>
            <a:pPr lvl="2"/>
            <a:r>
              <a:rPr lang="ko-KR" altLang="en-US" dirty="0"/>
              <a:t>물리계층</a:t>
            </a:r>
            <a:r>
              <a:rPr lang="en-US" altLang="ko-KR" dirty="0"/>
              <a:t>, </a:t>
            </a:r>
            <a:r>
              <a:rPr lang="ko-KR" altLang="en-US" dirty="0" err="1"/>
              <a:t>데이터링크계층</a:t>
            </a:r>
            <a:r>
              <a:rPr lang="en-US" altLang="ko-KR" dirty="0"/>
              <a:t>, </a:t>
            </a:r>
            <a:r>
              <a:rPr lang="ko-KR" altLang="en-US" dirty="0"/>
              <a:t>네트워크 계층의 기능을 지원</a:t>
            </a:r>
            <a:endParaRPr lang="en-US" altLang="ko-KR" dirty="0"/>
          </a:p>
          <a:p>
            <a:pPr lvl="2"/>
            <a:r>
              <a:rPr lang="ko-KR" altLang="en-US" dirty="0"/>
              <a:t>라우터의 존재는 </a:t>
            </a:r>
            <a:r>
              <a:rPr lang="en-US" altLang="ko-KR" dirty="0"/>
              <a:t>1, 2</a:t>
            </a:r>
            <a:r>
              <a:rPr lang="ko-KR" altLang="en-US"/>
              <a:t>계층을 필수적으로 포함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CE0533-B649-F8BB-2E6E-FA278DF4C27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E7E424E7-1EBC-CD6E-E968-3FD5D292F66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3274" y="615437"/>
            <a:ext cx="2180101" cy="124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76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F44F94B-2A6D-E380-53E4-D23D114C1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64CA5D9-ECD5-A67C-7DC3-E7BCE4537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계층화된</a:t>
            </a:r>
            <a:r>
              <a:rPr lang="ko-KR" altLang="en-US" dirty="0"/>
              <a:t> 프로토콜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355D9F-7906-D2A7-7DB8-8A04521D1E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A0FC1EA-E6E6-B51C-16A0-A7A472BD1A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계층적 모듈구조</a:t>
            </a:r>
            <a:endParaRPr lang="en-US" altLang="ko-KR" dirty="0"/>
          </a:p>
          <a:p>
            <a:pPr lvl="1"/>
            <a:r>
              <a:rPr lang="ko-KR" altLang="en-US" dirty="0"/>
              <a:t>소프트웨어 </a:t>
            </a:r>
            <a:r>
              <a:rPr lang="en-US" altLang="ko-KR" dirty="0"/>
              <a:t>: </a:t>
            </a:r>
            <a:r>
              <a:rPr lang="ko-KR" altLang="en-US" dirty="0"/>
              <a:t>에러</a:t>
            </a:r>
            <a:r>
              <a:rPr lang="en-US" altLang="ko-KR" dirty="0"/>
              <a:t>/</a:t>
            </a:r>
            <a:r>
              <a:rPr lang="ko-KR" altLang="en-US" dirty="0"/>
              <a:t>기능 </a:t>
            </a:r>
            <a:r>
              <a:rPr lang="ko-KR" altLang="en-US" dirty="0" err="1"/>
              <a:t>개선시</a:t>
            </a:r>
            <a:r>
              <a:rPr lang="ko-KR" altLang="en-US" dirty="0"/>
              <a:t> 해당 부분만 오류 수정</a:t>
            </a:r>
            <a:r>
              <a:rPr lang="en-US" altLang="ko-KR" dirty="0"/>
              <a:t>;  </a:t>
            </a:r>
            <a:r>
              <a:rPr lang="ko-KR" altLang="en-US" dirty="0"/>
              <a:t>영향을 받을 부분만 기능개선 </a:t>
            </a:r>
            <a:r>
              <a:rPr lang="en-US" altLang="ko-KR" dirty="0"/>
              <a:t>/</a:t>
            </a:r>
            <a:r>
              <a:rPr lang="ko-KR" altLang="en-US" dirty="0"/>
              <a:t>오류수정 기능</a:t>
            </a:r>
            <a:endParaRPr lang="en-US" altLang="ko-KR" dirty="0"/>
          </a:p>
          <a:p>
            <a:pPr lvl="1"/>
            <a:r>
              <a:rPr lang="ko-KR" altLang="en-US" dirty="0"/>
              <a:t>계층구조 </a:t>
            </a:r>
            <a:r>
              <a:rPr lang="en-US" altLang="ko-KR" dirty="0"/>
              <a:t>: </a:t>
            </a:r>
            <a:r>
              <a:rPr lang="ko-KR" altLang="en-US" dirty="0"/>
              <a:t>상위 계층이 하위 계층에 서비스를 요청 </a:t>
            </a:r>
            <a:r>
              <a:rPr lang="en-US" altLang="ko-KR" dirty="0"/>
              <a:t>-&gt; </a:t>
            </a:r>
            <a:r>
              <a:rPr lang="ko-KR" altLang="en-US" dirty="0"/>
              <a:t>하위계층이 상위계층에게 서비스 실행 결과를 돌려줌</a:t>
            </a:r>
            <a:endParaRPr lang="en-US" altLang="ko-KR" dirty="0"/>
          </a:p>
          <a:p>
            <a:pPr lvl="1"/>
            <a:r>
              <a:rPr lang="ko-KR" altLang="en-US" dirty="0" err="1"/>
              <a:t>모듈화된</a:t>
            </a:r>
            <a:r>
              <a:rPr lang="ko-KR" altLang="en-US" dirty="0"/>
              <a:t> 계층 구조 프로토콜 장점</a:t>
            </a:r>
            <a:endParaRPr lang="en-US" altLang="ko-KR" dirty="0"/>
          </a:p>
          <a:p>
            <a:pPr lvl="2"/>
            <a:r>
              <a:rPr lang="ko-KR" altLang="en-US" dirty="0"/>
              <a:t>복잡한 시스템을 작고 간단한 시스템으로 재구성</a:t>
            </a:r>
            <a:endParaRPr lang="en-US" altLang="ko-KR" dirty="0"/>
          </a:p>
          <a:p>
            <a:pPr lvl="2"/>
            <a:r>
              <a:rPr lang="ko-KR" altLang="en-US" dirty="0"/>
              <a:t>모듈사이에 연동되는 표준 인터페이스 </a:t>
            </a:r>
            <a:r>
              <a:rPr lang="en-US" altLang="ko-KR" dirty="0"/>
              <a:t>-&gt; </a:t>
            </a:r>
            <a:r>
              <a:rPr lang="ko-KR" altLang="en-US" dirty="0"/>
              <a:t>각 계층 사이만 통신 가능</a:t>
            </a:r>
            <a:endParaRPr lang="en-US" altLang="ko-KR" dirty="0"/>
          </a:p>
          <a:p>
            <a:r>
              <a:rPr lang="ko-KR" altLang="en-US" dirty="0"/>
              <a:t>프로토콜 </a:t>
            </a:r>
            <a:r>
              <a:rPr lang="ko-KR" altLang="en-US" dirty="0" err="1"/>
              <a:t>설계시</a:t>
            </a:r>
            <a:r>
              <a:rPr lang="ko-KR" altLang="en-US" dirty="0"/>
              <a:t> 고려사항</a:t>
            </a:r>
            <a:endParaRPr lang="en-US" altLang="ko-KR" dirty="0"/>
          </a:p>
          <a:p>
            <a:pPr lvl="1"/>
            <a:r>
              <a:rPr lang="ko-KR" altLang="en-US" dirty="0"/>
              <a:t>주소 표현 </a:t>
            </a:r>
            <a:r>
              <a:rPr lang="en-US" altLang="ko-KR" dirty="0"/>
              <a:t>: </a:t>
            </a:r>
            <a:r>
              <a:rPr lang="ko-KR" altLang="en-US" dirty="0"/>
              <a:t>시스템 구분 위해 이름을 부여 </a:t>
            </a:r>
            <a:r>
              <a:rPr lang="en-US" altLang="ko-KR" dirty="0"/>
              <a:t>; </a:t>
            </a:r>
            <a:r>
              <a:rPr lang="ko-KR" altLang="en-US" dirty="0"/>
              <a:t>다수 호스트를 묶어 그룹주소로도 표현</a:t>
            </a:r>
            <a:endParaRPr lang="en-US" altLang="ko-KR" dirty="0"/>
          </a:p>
          <a:p>
            <a:pPr lvl="1"/>
            <a:r>
              <a:rPr lang="ko-KR" altLang="en-US" dirty="0"/>
              <a:t>오류 제어</a:t>
            </a:r>
            <a:r>
              <a:rPr lang="en-US" altLang="ko-KR" dirty="0"/>
              <a:t>: </a:t>
            </a:r>
            <a:r>
              <a:rPr lang="ko-KR" altLang="en-US" dirty="0"/>
              <a:t>데이터 변형오류 </a:t>
            </a:r>
            <a:r>
              <a:rPr lang="en-US" altLang="ko-KR" dirty="0"/>
              <a:t>+ </a:t>
            </a:r>
            <a:r>
              <a:rPr lang="ko-KR" altLang="en-US" dirty="0"/>
              <a:t>데이터 분실오류를 제어</a:t>
            </a:r>
            <a:endParaRPr lang="en-US" altLang="ko-KR" dirty="0"/>
          </a:p>
          <a:p>
            <a:pPr lvl="1"/>
            <a:r>
              <a:rPr lang="ko-KR" altLang="en-US" dirty="0"/>
              <a:t>흐름 제어</a:t>
            </a:r>
            <a:r>
              <a:rPr lang="en-US" altLang="ko-KR" dirty="0"/>
              <a:t>: (</a:t>
            </a:r>
            <a:r>
              <a:rPr lang="ko-KR" altLang="en-US" dirty="0"/>
              <a:t>수신 처리 속도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&lt; (</a:t>
            </a:r>
            <a:r>
              <a:rPr lang="ko-KR" altLang="en-US" dirty="0"/>
              <a:t>송신 처리 속도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데이터 분실</a:t>
            </a:r>
            <a:endParaRPr lang="en-US" altLang="ko-KR" dirty="0"/>
          </a:p>
          <a:p>
            <a:pPr lvl="2"/>
            <a:r>
              <a:rPr lang="ko-KR" altLang="en-US" dirty="0"/>
              <a:t>송신 속도 </a:t>
            </a:r>
            <a:r>
              <a:rPr lang="ko-KR" altLang="en-US" dirty="0" err="1"/>
              <a:t>제어시</a:t>
            </a:r>
            <a:r>
              <a:rPr lang="ko-KR" altLang="en-US" dirty="0"/>
              <a:t> 해결 </a:t>
            </a:r>
            <a:r>
              <a:rPr lang="en-US" altLang="ko-KR" dirty="0"/>
              <a:t>but, </a:t>
            </a:r>
            <a:r>
              <a:rPr lang="ko-KR" altLang="en-US" dirty="0"/>
              <a:t>통신</a:t>
            </a:r>
            <a:r>
              <a:rPr lang="en-US" altLang="ko-KR" dirty="0"/>
              <a:t> </a:t>
            </a:r>
            <a:r>
              <a:rPr lang="ko-KR" altLang="en-US" dirty="0"/>
              <a:t>효율 떨어짐</a:t>
            </a:r>
            <a:endParaRPr lang="en-US" altLang="ko-KR" dirty="0"/>
          </a:p>
          <a:p>
            <a:pPr lvl="1"/>
            <a:r>
              <a:rPr lang="ko-KR" altLang="en-US" dirty="0"/>
              <a:t>데이터 전달 방식 </a:t>
            </a:r>
            <a:r>
              <a:rPr lang="en-US" altLang="ko-KR" dirty="0"/>
              <a:t>: full-duplex, half-duplex, simplex</a:t>
            </a:r>
          </a:p>
          <a:p>
            <a:r>
              <a:rPr lang="ko-KR" altLang="en-US" dirty="0"/>
              <a:t>서비스</a:t>
            </a:r>
            <a:r>
              <a:rPr lang="en-US" altLang="ko-KR" dirty="0"/>
              <a:t> </a:t>
            </a:r>
            <a:r>
              <a:rPr lang="ko-KR" altLang="en-US" dirty="0" err="1"/>
              <a:t>프리미티브</a:t>
            </a:r>
            <a:endParaRPr lang="en-US" altLang="ko-KR" dirty="0"/>
          </a:p>
          <a:p>
            <a:pPr lvl="1"/>
            <a:r>
              <a:rPr lang="ko-KR" altLang="en-US" dirty="0"/>
              <a:t>프로토콜은 계층 구조</a:t>
            </a:r>
            <a:r>
              <a:rPr lang="en-US" altLang="ko-KR" dirty="0"/>
              <a:t>, </a:t>
            </a:r>
            <a:r>
              <a:rPr lang="ko-KR" altLang="en-US" dirty="0"/>
              <a:t>하위계층이 상위계층에 서비스를 제공 </a:t>
            </a:r>
            <a:r>
              <a:rPr lang="en-US" altLang="ko-KR" dirty="0"/>
              <a:t>: </a:t>
            </a:r>
            <a:r>
              <a:rPr lang="ko-KR" altLang="en-US" dirty="0"/>
              <a:t>서비스 </a:t>
            </a:r>
            <a:r>
              <a:rPr lang="ko-KR" altLang="en-US" dirty="0" err="1"/>
              <a:t>프리미티브</a:t>
            </a:r>
            <a:endParaRPr lang="en-US" altLang="ko-KR" dirty="0"/>
          </a:p>
          <a:p>
            <a:pPr lvl="2"/>
            <a:r>
              <a:rPr lang="ko-KR" altLang="en-US" dirty="0"/>
              <a:t>연결형</a:t>
            </a:r>
            <a:r>
              <a:rPr lang="en-US" altLang="ko-KR" dirty="0"/>
              <a:t>(connect, data, disconnect)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비연결형</a:t>
            </a:r>
            <a:endParaRPr lang="en-US" altLang="ko-KR" dirty="0"/>
          </a:p>
          <a:p>
            <a:pPr lvl="1"/>
            <a:r>
              <a:rPr lang="ko-KR" altLang="en-US" dirty="0"/>
              <a:t>클라</a:t>
            </a:r>
            <a:r>
              <a:rPr lang="en-US" altLang="ko-KR" dirty="0"/>
              <a:t> – </a:t>
            </a:r>
            <a:r>
              <a:rPr lang="ko-KR" altLang="en-US" dirty="0"/>
              <a:t>서버간 서비스 </a:t>
            </a:r>
            <a:r>
              <a:rPr lang="ko-KR" altLang="en-US" dirty="0" err="1"/>
              <a:t>프리미티브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5AD085-BC86-50E8-7AB2-A02BF78A216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21">
            <a:extLst>
              <a:ext uri="{FF2B5EF4-FFF2-40B4-BE49-F238E27FC236}">
                <a16:creationId xmlns:a16="http://schemas.microsoft.com/office/drawing/2014/main" id="{F7318EE7-9CC1-537A-B137-38016AD50F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5104" y="4381950"/>
            <a:ext cx="2160239" cy="1142098"/>
          </a:xfrm>
          <a:prstGeom prst="rect">
            <a:avLst/>
          </a:prstGeom>
        </p:spPr>
      </p:pic>
      <p:pic>
        <p:nvPicPr>
          <p:cNvPr id="8" name="object 17">
            <a:extLst>
              <a:ext uri="{FF2B5EF4-FFF2-40B4-BE49-F238E27FC236}">
                <a16:creationId xmlns:a16="http://schemas.microsoft.com/office/drawing/2014/main" id="{BF635A57-AB27-C324-2221-68AA85D3833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9222" y="4503630"/>
            <a:ext cx="2510865" cy="89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50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033086D-FCBD-1D50-6E18-55E811C16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D82BA64-ED67-4974-E615-DB9BE37B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 err="1"/>
              <a:t>trasmission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8E6CB6-FDD4-2AA7-3C33-B23D3A770C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6D6A407-6737-FDC2-D334-F482E201E1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정보전송의 기본동작</a:t>
            </a:r>
            <a:endParaRPr lang="en-US" altLang="ko-KR" dirty="0"/>
          </a:p>
          <a:p>
            <a:pPr lvl="1"/>
            <a:r>
              <a:rPr lang="ko-KR" altLang="en-US" dirty="0"/>
              <a:t>통신의 기본동작</a:t>
            </a:r>
            <a:endParaRPr lang="en-US" altLang="ko-KR" dirty="0"/>
          </a:p>
          <a:p>
            <a:pPr lvl="2"/>
            <a:r>
              <a:rPr lang="ko-KR" altLang="en-US" dirty="0"/>
              <a:t>전송할 정보 </a:t>
            </a:r>
            <a:r>
              <a:rPr lang="en-US" altLang="ko-KR" dirty="0"/>
              <a:t>-&gt; </a:t>
            </a:r>
            <a:r>
              <a:rPr lang="ko-KR" altLang="en-US" dirty="0"/>
              <a:t>송신기 </a:t>
            </a:r>
            <a:r>
              <a:rPr lang="en-US" altLang="ko-KR" dirty="0"/>
              <a:t>: </a:t>
            </a:r>
            <a:r>
              <a:rPr lang="ko-KR" altLang="en-US" dirty="0"/>
              <a:t>물리적 신호로 변조 </a:t>
            </a:r>
            <a:r>
              <a:rPr lang="en-US" altLang="ko-KR" dirty="0"/>
              <a:t>-&gt; </a:t>
            </a:r>
            <a:r>
              <a:rPr lang="ko-KR" altLang="en-US" dirty="0"/>
              <a:t>미디어를 통해 신호 보냄</a:t>
            </a:r>
            <a:r>
              <a:rPr lang="en-US" altLang="ko-KR" dirty="0"/>
              <a:t>-&gt; </a:t>
            </a:r>
            <a:r>
              <a:rPr lang="ko-KR" altLang="en-US" dirty="0"/>
              <a:t>수신기 </a:t>
            </a:r>
            <a:r>
              <a:rPr lang="en-US" altLang="ko-KR" dirty="0"/>
              <a:t>: </a:t>
            </a:r>
            <a:r>
              <a:rPr lang="ko-KR" altLang="en-US" dirty="0"/>
              <a:t>신호에서 정보 추출 </a:t>
            </a:r>
            <a:r>
              <a:rPr lang="en-US" altLang="ko-KR" dirty="0"/>
              <a:t>-&gt; </a:t>
            </a:r>
            <a:r>
              <a:rPr lang="ko-KR" altLang="en-US" dirty="0"/>
              <a:t>수신할 정보 </a:t>
            </a:r>
            <a:endParaRPr lang="en-US" altLang="ko-KR" dirty="0"/>
          </a:p>
          <a:p>
            <a:pPr lvl="2"/>
            <a:r>
              <a:rPr lang="ko-KR" altLang="en-US" dirty="0"/>
              <a:t>송신기 </a:t>
            </a:r>
            <a:r>
              <a:rPr lang="en-US" altLang="ko-KR" dirty="0"/>
              <a:t>– </a:t>
            </a:r>
            <a:r>
              <a:rPr lang="ko-KR" altLang="en-US" dirty="0"/>
              <a:t>통신로 </a:t>
            </a:r>
            <a:r>
              <a:rPr lang="en-US" altLang="ko-KR" dirty="0"/>
              <a:t>– </a:t>
            </a:r>
            <a:r>
              <a:rPr lang="ko-KR" altLang="en-US" dirty="0"/>
              <a:t>수신기 </a:t>
            </a:r>
            <a:r>
              <a:rPr lang="en-US" altLang="ko-KR" dirty="0"/>
              <a:t>: </a:t>
            </a:r>
            <a:r>
              <a:rPr lang="ko-KR" altLang="en-US" dirty="0"/>
              <a:t>물리계층</a:t>
            </a:r>
            <a:endParaRPr lang="en-US" altLang="ko-KR" dirty="0"/>
          </a:p>
          <a:p>
            <a:pPr lvl="1"/>
            <a:r>
              <a:rPr lang="ko-KR" altLang="en-US" dirty="0"/>
              <a:t>통신로</a:t>
            </a:r>
            <a:r>
              <a:rPr lang="en-US" altLang="ko-KR" dirty="0"/>
              <a:t>(</a:t>
            </a:r>
            <a:r>
              <a:rPr lang="ko-KR" altLang="en-US" dirty="0"/>
              <a:t>미디어</a:t>
            </a:r>
            <a:r>
              <a:rPr lang="en-US" altLang="ko-KR" dirty="0"/>
              <a:t>)</a:t>
            </a:r>
            <a:r>
              <a:rPr lang="ko-KR" altLang="en-US" dirty="0"/>
              <a:t>의 종류</a:t>
            </a:r>
            <a:endParaRPr lang="en-US" altLang="ko-KR" dirty="0"/>
          </a:p>
          <a:p>
            <a:pPr lvl="2"/>
            <a:r>
              <a:rPr lang="ko-KR" altLang="en-US" dirty="0"/>
              <a:t>유선통신 </a:t>
            </a:r>
            <a:r>
              <a:rPr lang="en-US" altLang="ko-KR" dirty="0"/>
              <a:t>= </a:t>
            </a:r>
            <a:r>
              <a:rPr lang="ko-KR" altLang="en-US" dirty="0"/>
              <a:t>전기적 통신 </a:t>
            </a:r>
            <a:r>
              <a:rPr lang="en-US" altLang="ko-KR" dirty="0"/>
              <a:t>: </a:t>
            </a:r>
            <a:r>
              <a:rPr lang="ko-KR" altLang="en-US" dirty="0"/>
              <a:t>전선</a:t>
            </a:r>
            <a:r>
              <a:rPr lang="en-US" altLang="ko-KR" dirty="0"/>
              <a:t>, </a:t>
            </a:r>
            <a:r>
              <a:rPr lang="ko-KR" altLang="en-US" dirty="0"/>
              <a:t>동축케이블</a:t>
            </a:r>
            <a:endParaRPr lang="en-US" altLang="ko-KR" dirty="0"/>
          </a:p>
          <a:p>
            <a:pPr lvl="2"/>
            <a:r>
              <a:rPr lang="ko-KR" altLang="en-US" dirty="0"/>
              <a:t>무선통신 </a:t>
            </a:r>
            <a:r>
              <a:rPr lang="en-US" altLang="ko-KR" dirty="0"/>
              <a:t>= </a:t>
            </a:r>
            <a:r>
              <a:rPr lang="ko-KR" altLang="en-US" dirty="0"/>
              <a:t>공기</a:t>
            </a:r>
            <a:r>
              <a:rPr lang="en-US" altLang="ko-KR" dirty="0"/>
              <a:t>/</a:t>
            </a:r>
            <a:r>
              <a:rPr lang="ko-KR" altLang="en-US" dirty="0"/>
              <a:t>진공 </a:t>
            </a:r>
            <a:endParaRPr lang="en-US" altLang="ko-KR" dirty="0"/>
          </a:p>
          <a:p>
            <a:pPr lvl="2"/>
            <a:r>
              <a:rPr lang="ko-KR" altLang="en-US" dirty="0"/>
              <a:t>광통신 </a:t>
            </a:r>
            <a:r>
              <a:rPr lang="en-US" altLang="ko-KR" dirty="0"/>
              <a:t>: </a:t>
            </a:r>
            <a:r>
              <a:rPr lang="ko-KR" altLang="en-US" dirty="0"/>
              <a:t>유</a:t>
            </a:r>
            <a:r>
              <a:rPr lang="en-US" altLang="ko-KR" dirty="0"/>
              <a:t>/</a:t>
            </a:r>
            <a:r>
              <a:rPr lang="ko-KR" altLang="en-US" dirty="0"/>
              <a:t>무선 </a:t>
            </a:r>
            <a:r>
              <a:rPr lang="ko-KR" altLang="en-US" dirty="0" err="1"/>
              <a:t>둘다</a:t>
            </a:r>
            <a:r>
              <a:rPr lang="ko-KR" altLang="en-US" dirty="0"/>
              <a:t> 가능</a:t>
            </a:r>
            <a:endParaRPr lang="en-US" altLang="ko-KR" dirty="0"/>
          </a:p>
          <a:p>
            <a:r>
              <a:rPr lang="ko-KR" altLang="en-US" dirty="0"/>
              <a:t>데이터 </a:t>
            </a:r>
            <a:r>
              <a:rPr lang="ko-KR" altLang="en-US" dirty="0" err="1"/>
              <a:t>전송시</a:t>
            </a:r>
            <a:r>
              <a:rPr lang="ko-KR" altLang="en-US" dirty="0"/>
              <a:t> 고려사항</a:t>
            </a:r>
            <a:endParaRPr lang="en-US" altLang="ko-KR" dirty="0"/>
          </a:p>
          <a:p>
            <a:pPr lvl="1"/>
            <a:r>
              <a:rPr lang="en-US" altLang="ko-KR" dirty="0"/>
              <a:t>attenuation: </a:t>
            </a:r>
            <a:r>
              <a:rPr lang="ko-KR" altLang="en-US" dirty="0"/>
              <a:t>데이터 전송 중 흡수</a:t>
            </a:r>
            <a:r>
              <a:rPr lang="en-US" altLang="ko-KR" dirty="0"/>
              <a:t>/ </a:t>
            </a:r>
            <a:r>
              <a:rPr lang="ko-KR" altLang="en-US" dirty="0"/>
              <a:t>열에 의해 변형</a:t>
            </a:r>
            <a:endParaRPr lang="en-US" altLang="ko-KR" dirty="0"/>
          </a:p>
          <a:p>
            <a:pPr lvl="1"/>
            <a:r>
              <a:rPr lang="en-US" altLang="ko-KR" dirty="0"/>
              <a:t>distortion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주파수에 따라 다른</a:t>
            </a:r>
            <a:r>
              <a:rPr lang="en-US" altLang="ko-KR" dirty="0"/>
              <a:t> attenuation -&gt; </a:t>
            </a:r>
            <a:r>
              <a:rPr lang="ko-KR" altLang="en-US" dirty="0"/>
              <a:t>수신신호 ≠ 전송신호 인 상황</a:t>
            </a:r>
            <a:endParaRPr lang="en-US" altLang="ko-KR" dirty="0"/>
          </a:p>
          <a:p>
            <a:pPr lvl="1"/>
            <a:r>
              <a:rPr lang="en-US" altLang="ko-KR" dirty="0"/>
              <a:t>Noise: </a:t>
            </a:r>
            <a:r>
              <a:rPr lang="ko-KR" altLang="en-US" dirty="0"/>
              <a:t>금속의 전자들의 열 운동 때문에 발생</a:t>
            </a:r>
            <a:endParaRPr lang="en-US" altLang="ko-KR" dirty="0"/>
          </a:p>
          <a:p>
            <a:pPr lvl="1"/>
            <a:r>
              <a:rPr lang="ko-KR" altLang="en-US" dirty="0"/>
              <a:t>위 세 현상 때문에 데이터가 변형되어 도착 </a:t>
            </a:r>
            <a:r>
              <a:rPr lang="en-US" altLang="ko-KR" dirty="0"/>
              <a:t>-&gt; </a:t>
            </a:r>
            <a:r>
              <a:rPr lang="ko-KR" altLang="en-US" dirty="0"/>
              <a:t>위의 영향이 적도록 물리계층에서 조작해서 데이터를 보내야 함</a:t>
            </a:r>
            <a:endParaRPr lang="en-US" altLang="ko-KR" dirty="0"/>
          </a:p>
          <a:p>
            <a:r>
              <a:rPr lang="en-US" altLang="ko-KR" dirty="0"/>
              <a:t>encoding</a:t>
            </a:r>
          </a:p>
          <a:p>
            <a:pPr lvl="1"/>
            <a:r>
              <a:rPr lang="en-US" altLang="ko-KR" dirty="0"/>
              <a:t>Encoding : </a:t>
            </a:r>
            <a:br>
              <a:rPr lang="en-US" altLang="ko-KR" dirty="0"/>
            </a:br>
            <a:r>
              <a:rPr lang="ko-KR" altLang="en-US" dirty="0"/>
              <a:t>이진수 정보를 전압으로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변경하여 </a:t>
            </a:r>
            <a:r>
              <a:rPr lang="en-US" altLang="ko-KR" dirty="0"/>
              <a:t>noise, attenuation</a:t>
            </a:r>
            <a:r>
              <a:rPr lang="ko-KR" altLang="en-US" dirty="0"/>
              <a:t>의 영향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적도록</a:t>
            </a:r>
            <a:endParaRPr lang="en-US" altLang="ko-KR" dirty="0"/>
          </a:p>
          <a:p>
            <a:pPr lvl="1"/>
            <a:r>
              <a:rPr lang="en-US" altLang="ko-KR" dirty="0"/>
              <a:t>Encoding </a:t>
            </a:r>
            <a:r>
              <a:rPr lang="ko-KR" altLang="en-US" dirty="0"/>
              <a:t>방식 </a:t>
            </a:r>
            <a:r>
              <a:rPr lang="en-US" altLang="ko-KR" dirty="0"/>
              <a:t>: (</a:t>
            </a:r>
            <a:r>
              <a:rPr lang="ko-KR" altLang="en-US" dirty="0"/>
              <a:t>그림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r>
              <a:rPr lang="ko-KR" altLang="en-US" dirty="0"/>
              <a:t>변조와 복조</a:t>
            </a:r>
            <a:endParaRPr lang="en-US" altLang="ko-KR" dirty="0"/>
          </a:p>
          <a:p>
            <a:pPr lvl="1"/>
            <a:r>
              <a:rPr lang="en-US" altLang="ko-KR" dirty="0"/>
              <a:t>Carrier wave(</a:t>
            </a:r>
            <a:r>
              <a:rPr lang="ko-KR" altLang="en-US" dirty="0" err="1"/>
              <a:t>반송파</a:t>
            </a:r>
            <a:r>
              <a:rPr lang="en-US" altLang="ko-KR" dirty="0"/>
              <a:t>) : </a:t>
            </a:r>
            <a:r>
              <a:rPr lang="ko-KR" altLang="en-US" dirty="0"/>
              <a:t>정보를 실으려는 전자기파</a:t>
            </a:r>
            <a:endParaRPr lang="en-US" altLang="ko-KR" dirty="0"/>
          </a:p>
          <a:p>
            <a:pPr lvl="1"/>
            <a:r>
              <a:rPr lang="en-US" altLang="ko-KR" dirty="0"/>
              <a:t>Modulation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carrier</a:t>
            </a:r>
            <a:r>
              <a:rPr lang="ko-KR" altLang="en-US" dirty="0"/>
              <a:t> </a:t>
            </a:r>
            <a:r>
              <a:rPr lang="en-US" altLang="ko-KR" dirty="0"/>
              <a:t>wave</a:t>
            </a:r>
            <a:r>
              <a:rPr lang="ko-KR" altLang="en-US" dirty="0"/>
              <a:t>에 정보를 올림</a:t>
            </a:r>
            <a:endParaRPr lang="en-US" altLang="ko-KR" dirty="0"/>
          </a:p>
          <a:p>
            <a:pPr lvl="1"/>
            <a:r>
              <a:rPr lang="en-US" altLang="ko-KR" dirty="0"/>
              <a:t>Demodulation: modulated carrier wave</a:t>
            </a:r>
            <a:r>
              <a:rPr lang="ko-KR" altLang="en-US" dirty="0"/>
              <a:t>에서 정보를 추출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29178E-DF50-C802-C761-C9DCF2AB4D9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 err="1"/>
              <a:t>깜지쓰면</a:t>
            </a:r>
            <a:r>
              <a:rPr lang="ko-KR" altLang="en-US" dirty="0"/>
              <a:t> 외우기 쉬워요</a:t>
            </a:r>
            <a:r>
              <a:rPr lang="en-US" altLang="ko-KR" dirty="0"/>
              <a:t>. </a:t>
            </a:r>
            <a:r>
              <a:rPr lang="ko-KR" altLang="en-US" dirty="0"/>
              <a:t>머리로만 </a:t>
            </a:r>
            <a:r>
              <a:rPr lang="ko-KR" altLang="en-US" dirty="0" err="1"/>
              <a:t>생각하지말고</a:t>
            </a:r>
            <a:r>
              <a:rPr lang="ko-KR" altLang="en-US" dirty="0"/>
              <a:t> 말로 </a:t>
            </a:r>
            <a:r>
              <a:rPr lang="ko-KR" altLang="en-US" dirty="0" err="1"/>
              <a:t>내맽으면서</a:t>
            </a:r>
            <a:r>
              <a:rPr lang="ko-KR" altLang="en-US" dirty="0"/>
              <a:t> 손으로 동시에 쓰세요</a:t>
            </a:r>
            <a:r>
              <a:rPr lang="en-US" altLang="ko-KR" dirty="0"/>
              <a:t>. </a:t>
            </a:r>
            <a:r>
              <a:rPr lang="ko-KR" altLang="en-US" dirty="0"/>
              <a:t>참고로 본인 법무사 세무사 </a:t>
            </a:r>
            <a:r>
              <a:rPr lang="ko-KR" altLang="en-US" dirty="0" err="1"/>
              <a:t>감평사</a:t>
            </a:r>
            <a:r>
              <a:rPr lang="ko-KR" altLang="en-US" dirty="0"/>
              <a:t> </a:t>
            </a:r>
            <a:r>
              <a:rPr lang="ko-KR" altLang="en-US" dirty="0" err="1"/>
              <a:t>공중사</a:t>
            </a:r>
            <a:r>
              <a:rPr lang="ko-KR" altLang="en-US" dirty="0"/>
              <a:t> 주택관리사 </a:t>
            </a:r>
            <a:r>
              <a:rPr lang="ko-KR" altLang="en-US" dirty="0" err="1"/>
              <a:t>투운사</a:t>
            </a:r>
            <a:r>
              <a:rPr lang="ko-KR" altLang="en-US" dirty="0"/>
              <a:t> 재경관리사 있음</a:t>
            </a:r>
            <a:r>
              <a:rPr lang="en-US" altLang="ko-KR" dirty="0"/>
              <a:t>. 8</a:t>
            </a:r>
            <a:r>
              <a:rPr lang="ko-KR" altLang="en-US" dirty="0"/>
              <a:t>대 전문직이라 불리는 한국 최고난이도 시험 중 </a:t>
            </a:r>
            <a:r>
              <a:rPr lang="en-US" altLang="ko-KR" dirty="0"/>
              <a:t>3</a:t>
            </a:r>
            <a:r>
              <a:rPr lang="ko-KR" altLang="en-US" dirty="0"/>
              <a:t>개 통과함</a:t>
            </a:r>
            <a:r>
              <a:rPr lang="en-US" altLang="ko-KR" dirty="0"/>
              <a:t>. </a:t>
            </a:r>
            <a:r>
              <a:rPr lang="ko-KR" altLang="en-US" dirty="0"/>
              <a:t>저거 </a:t>
            </a:r>
            <a:r>
              <a:rPr lang="ko-KR" altLang="en-US" dirty="0" err="1"/>
              <a:t>직장다니면서</a:t>
            </a:r>
            <a:r>
              <a:rPr lang="ko-KR" altLang="en-US" dirty="0"/>
              <a:t> </a:t>
            </a:r>
            <a:r>
              <a:rPr lang="en-US" altLang="ko-KR" dirty="0"/>
              <a:t>8</a:t>
            </a:r>
            <a:r>
              <a:rPr lang="ko-KR" altLang="en-US" dirty="0" err="1"/>
              <a:t>년동안</a:t>
            </a:r>
            <a:r>
              <a:rPr lang="ko-KR" altLang="en-US" dirty="0"/>
              <a:t> 딴 자격증임</a:t>
            </a:r>
            <a:r>
              <a:rPr lang="en-US" altLang="ko-KR" dirty="0"/>
              <a:t>. (</a:t>
            </a:r>
            <a:r>
              <a:rPr lang="ko-KR" altLang="en-US" dirty="0"/>
              <a:t>다른 사람들 </a:t>
            </a:r>
            <a:r>
              <a:rPr lang="en-US" altLang="ko-KR" dirty="0"/>
              <a:t>8</a:t>
            </a:r>
            <a:r>
              <a:rPr lang="ko-KR" altLang="en-US" dirty="0"/>
              <a:t>대전문직 </a:t>
            </a:r>
            <a:r>
              <a:rPr lang="en-US" altLang="ko-KR" dirty="0"/>
              <a:t>1</a:t>
            </a:r>
            <a:r>
              <a:rPr lang="ko-KR" altLang="en-US" dirty="0"/>
              <a:t>개 따는데 평균 수험기간 </a:t>
            </a:r>
            <a:r>
              <a:rPr lang="en-US" altLang="ko-KR" dirty="0"/>
              <a:t>5</a:t>
            </a:r>
            <a:r>
              <a:rPr lang="ko-KR" altLang="en-US" dirty="0"/>
              <a:t>년</a:t>
            </a:r>
            <a:r>
              <a:rPr lang="en-US" altLang="ko-KR" dirty="0"/>
              <a:t>) </a:t>
            </a:r>
            <a:r>
              <a:rPr lang="ko-KR" altLang="en-US" dirty="0"/>
              <a:t>내가 여러가지 방법을 시도해봤는데 가장 효과 </a:t>
            </a:r>
            <a:r>
              <a:rPr lang="ko-KR" altLang="en-US" dirty="0" err="1"/>
              <a:t>좋은건</a:t>
            </a:r>
            <a:r>
              <a:rPr lang="ko-KR" altLang="en-US" dirty="0"/>
              <a:t> 문장을 보면서 말하고 동시에 종이에 쓰면서 </a:t>
            </a:r>
            <a:r>
              <a:rPr lang="ko-KR" altLang="en-US" dirty="0" err="1"/>
              <a:t>외우는거였음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2E6BB27-769F-78C6-1069-E843AF2CE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055" y="3728864"/>
            <a:ext cx="2811901" cy="208823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3F0756E-D1D9-40A2-E0E8-9E7852F67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6825208"/>
            <a:ext cx="2962385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87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D00633E-4320-8205-B1E2-7CED672DB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3BCB269-9310-7AC4-5715-AC8A0E55F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8BD5C5-E8E4-465A-70DE-F648D84707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7BCDD7B-66D0-B414-1D4F-2C2AF325E0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Modulation </a:t>
            </a:r>
            <a:r>
              <a:rPr lang="ko-KR" altLang="en-US" dirty="0"/>
              <a:t>방식</a:t>
            </a:r>
            <a:endParaRPr lang="en-US" altLang="ko-KR" dirty="0"/>
          </a:p>
          <a:p>
            <a:pPr lvl="1"/>
            <a:r>
              <a:rPr lang="en-US" altLang="ko-KR" dirty="0"/>
              <a:t>AM(</a:t>
            </a:r>
            <a:r>
              <a:rPr lang="ko-KR" altLang="en-US" dirty="0"/>
              <a:t>진폭</a:t>
            </a:r>
            <a:r>
              <a:rPr lang="en-US" altLang="ko-KR" dirty="0"/>
              <a:t> </a:t>
            </a:r>
            <a:r>
              <a:rPr lang="ko-KR" altLang="en-US" dirty="0"/>
              <a:t>변조</a:t>
            </a:r>
            <a:r>
              <a:rPr lang="en-US" altLang="ko-KR" dirty="0"/>
              <a:t>) : </a:t>
            </a:r>
            <a:br>
              <a:rPr lang="en-US" altLang="ko-KR" dirty="0"/>
            </a:br>
            <a:r>
              <a:rPr lang="ko-KR" altLang="en-US" dirty="0"/>
              <a:t>주파수 </a:t>
            </a:r>
            <a:r>
              <a:rPr lang="ko-KR" altLang="en-US" dirty="0" err="1"/>
              <a:t>유뮤에</a:t>
            </a:r>
            <a:r>
              <a:rPr lang="ko-KR" altLang="en-US" dirty="0"/>
              <a:t> 따라 </a:t>
            </a:r>
            <a:r>
              <a:rPr lang="en-US" altLang="ko-KR" dirty="0"/>
              <a:t>1, 0</a:t>
            </a:r>
            <a:br>
              <a:rPr lang="en-US" altLang="ko-KR" dirty="0"/>
            </a:br>
            <a:r>
              <a:rPr lang="en-US" altLang="ko-KR" dirty="0"/>
              <a:t>noise</a:t>
            </a:r>
            <a:r>
              <a:rPr lang="ko-KR" altLang="en-US" dirty="0"/>
              <a:t> 취약</a:t>
            </a:r>
            <a:endParaRPr lang="en-US" altLang="ko-KR" dirty="0"/>
          </a:p>
          <a:p>
            <a:pPr lvl="1"/>
            <a:r>
              <a:rPr lang="en-US" altLang="ko-KR" dirty="0"/>
              <a:t>PM(</a:t>
            </a:r>
            <a:r>
              <a:rPr lang="ko-KR" altLang="en-US" dirty="0"/>
              <a:t>위상</a:t>
            </a:r>
            <a:r>
              <a:rPr lang="en-US" altLang="ko-KR" dirty="0"/>
              <a:t> </a:t>
            </a:r>
            <a:r>
              <a:rPr lang="ko-KR" altLang="en-US" dirty="0"/>
              <a:t>변조</a:t>
            </a:r>
            <a:r>
              <a:rPr lang="en-US" altLang="ko-KR" dirty="0"/>
              <a:t>):</a:t>
            </a:r>
            <a:br>
              <a:rPr lang="en-US" altLang="ko-KR" dirty="0"/>
            </a:br>
            <a:r>
              <a:rPr lang="en-US" altLang="ko-KR" dirty="0"/>
              <a:t>1,0</a:t>
            </a:r>
            <a:r>
              <a:rPr lang="ko-KR" altLang="en-US" dirty="0"/>
              <a:t>이 같은 주파수이나 위상시작 다름</a:t>
            </a:r>
            <a:endParaRPr lang="en-US" altLang="ko-KR" dirty="0"/>
          </a:p>
          <a:p>
            <a:pPr lvl="1"/>
            <a:r>
              <a:rPr lang="en-US" altLang="ko-KR" dirty="0"/>
              <a:t>FM(</a:t>
            </a:r>
            <a:r>
              <a:rPr lang="ko-KR" altLang="en-US" dirty="0"/>
              <a:t>주파수</a:t>
            </a:r>
            <a:r>
              <a:rPr lang="en-US" altLang="ko-KR" dirty="0"/>
              <a:t> </a:t>
            </a:r>
            <a:r>
              <a:rPr lang="ko-KR" altLang="en-US" dirty="0"/>
              <a:t>변조</a:t>
            </a:r>
            <a:r>
              <a:rPr lang="en-US" altLang="ko-KR" dirty="0"/>
              <a:t>):</a:t>
            </a:r>
            <a:br>
              <a:rPr lang="en-US" altLang="ko-KR" dirty="0"/>
            </a:br>
            <a:r>
              <a:rPr lang="en-US" altLang="ko-KR" dirty="0"/>
              <a:t>1,0</a:t>
            </a:r>
            <a:r>
              <a:rPr lang="ko-KR" altLang="en-US" dirty="0"/>
              <a:t>이 다른 주파수를 사용</a:t>
            </a:r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r>
              <a:rPr lang="en-US" altLang="ko-KR" dirty="0"/>
              <a:t>Signal(</a:t>
            </a:r>
            <a:r>
              <a:rPr lang="ko-KR" altLang="en-US" dirty="0"/>
              <a:t>신호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정보의 전송 </a:t>
            </a:r>
            <a:r>
              <a:rPr lang="en-US" altLang="ko-KR" dirty="0"/>
              <a:t>= </a:t>
            </a:r>
            <a:r>
              <a:rPr lang="ko-KR" altLang="en-US" dirty="0"/>
              <a:t>신호의 전송</a:t>
            </a:r>
            <a:endParaRPr lang="en-US" altLang="ko-KR" dirty="0"/>
          </a:p>
          <a:p>
            <a:pPr lvl="1"/>
            <a:r>
              <a:rPr lang="ko-KR" altLang="en-US" dirty="0"/>
              <a:t>전자기 신호의 표현 </a:t>
            </a:r>
            <a:r>
              <a:rPr lang="en-US" altLang="ko-KR" dirty="0"/>
              <a:t>-&gt; </a:t>
            </a:r>
            <a:r>
              <a:rPr lang="ko-KR" altLang="en-US" dirty="0"/>
              <a:t>그림</a:t>
            </a:r>
            <a:endParaRPr lang="en-US" altLang="ko-KR" dirty="0"/>
          </a:p>
          <a:p>
            <a:pPr lvl="1"/>
            <a:r>
              <a:rPr lang="ko-KR" altLang="en-US" dirty="0"/>
              <a:t>에너지 신호 </a:t>
            </a:r>
            <a:r>
              <a:rPr lang="en-US" altLang="ko-KR" dirty="0"/>
              <a:t>-&gt; </a:t>
            </a:r>
            <a:r>
              <a:rPr lang="ko-KR" altLang="en-US" dirty="0"/>
              <a:t>그림</a:t>
            </a:r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r>
              <a:rPr lang="ko-KR" altLang="en-US" dirty="0"/>
              <a:t>푸리에 급수</a:t>
            </a:r>
            <a:endParaRPr lang="en-US" altLang="ko-KR" dirty="0"/>
          </a:p>
          <a:p>
            <a:pPr lvl="1"/>
            <a:r>
              <a:rPr lang="ko-KR" altLang="en-US" dirty="0"/>
              <a:t>모든 주기함수는 삼각함수의 </a:t>
            </a:r>
            <a:br>
              <a:rPr lang="en-US" altLang="ko-KR" dirty="0"/>
            </a:br>
            <a:r>
              <a:rPr lang="ko-KR" altLang="en-US" dirty="0"/>
              <a:t>가중치 합으로 표현할 수 있다</a:t>
            </a:r>
            <a:endParaRPr lang="en-US" altLang="ko-KR" dirty="0"/>
          </a:p>
          <a:p>
            <a:r>
              <a:rPr lang="ko-KR" altLang="en-US" dirty="0"/>
              <a:t>신호 감쇠와 잡음</a:t>
            </a:r>
            <a:endParaRPr lang="en-US" altLang="ko-KR" dirty="0"/>
          </a:p>
          <a:p>
            <a:pPr lvl="1"/>
            <a:r>
              <a:rPr lang="ko-KR" altLang="en-US" dirty="0"/>
              <a:t>오른쪽 그림 </a:t>
            </a:r>
            <a:r>
              <a:rPr lang="en-US" altLang="ko-KR" dirty="0"/>
              <a:t>:2</a:t>
            </a:r>
            <a:r>
              <a:rPr lang="ko-KR" altLang="en-US" dirty="0"/>
              <a:t>번째 부터</a:t>
            </a:r>
            <a:br>
              <a:rPr lang="en-US" altLang="ko-KR" dirty="0"/>
            </a:br>
            <a:r>
              <a:rPr lang="ko-KR" altLang="en-US" dirty="0"/>
              <a:t>내려갈수록 </a:t>
            </a:r>
            <a:r>
              <a:rPr lang="en-US" altLang="ko-KR" dirty="0"/>
              <a:t>attenuation</a:t>
            </a:r>
            <a:r>
              <a:rPr lang="ko-KR" altLang="en-US" dirty="0"/>
              <a:t>의 영향을 </a:t>
            </a:r>
            <a:br>
              <a:rPr lang="en-US" altLang="ko-KR" dirty="0"/>
            </a:br>
            <a:r>
              <a:rPr lang="ko-KR" altLang="en-US" dirty="0"/>
              <a:t>많이 받는 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송신 정보 </a:t>
            </a:r>
            <a:br>
              <a:rPr lang="en-US" altLang="ko-KR" dirty="0"/>
            </a:br>
            <a:r>
              <a:rPr lang="en-US" altLang="ko-KR" dirty="0"/>
              <a:t>-&gt; encoding -&gt; modulation</a:t>
            </a:r>
            <a:br>
              <a:rPr lang="en-US" altLang="ko-KR" dirty="0"/>
            </a:br>
            <a:r>
              <a:rPr lang="en-US" altLang="ko-KR" dirty="0"/>
              <a:t> -&gt; demodulation -&gt; decoding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수신 정보</a:t>
            </a:r>
            <a:endParaRPr lang="en-US" altLang="ko-KR" dirty="0"/>
          </a:p>
          <a:p>
            <a:pPr lvl="2"/>
            <a:r>
              <a:rPr lang="en-US" altLang="ko-KR" dirty="0"/>
              <a:t>Attenuation,</a:t>
            </a:r>
            <a:r>
              <a:rPr lang="ko-KR" altLang="en-US" dirty="0"/>
              <a:t> </a:t>
            </a:r>
            <a:r>
              <a:rPr lang="en-US" altLang="ko-KR" dirty="0"/>
              <a:t>noise</a:t>
            </a:r>
            <a:r>
              <a:rPr lang="ko-KR" altLang="en-US" dirty="0"/>
              <a:t>는 위 </a:t>
            </a:r>
            <a:r>
              <a:rPr lang="ko-KR" altLang="en-US" dirty="0" err="1"/>
              <a:t>과정중</a:t>
            </a:r>
            <a:br>
              <a:rPr lang="en-US" altLang="ko-KR" dirty="0"/>
            </a:br>
            <a:r>
              <a:rPr lang="ko-KR" altLang="en-US" dirty="0"/>
              <a:t>변조된 신호가 </a:t>
            </a:r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통신의 거리에 제곱에 반비례해</a:t>
            </a:r>
            <a:br>
              <a:rPr lang="en-US" altLang="ko-KR" dirty="0"/>
            </a:br>
            <a:r>
              <a:rPr lang="ko-KR" altLang="en-US" dirty="0"/>
              <a:t>신호가 감쇠</a:t>
            </a:r>
            <a:endParaRPr lang="en-US" altLang="ko-KR" dirty="0"/>
          </a:p>
          <a:p>
            <a:pPr lvl="2"/>
            <a:r>
              <a:rPr lang="en-US" altLang="ko-KR" dirty="0"/>
              <a:t>Noise</a:t>
            </a:r>
            <a:r>
              <a:rPr lang="ko-KR" altLang="en-US" dirty="0"/>
              <a:t>가 점차 증가하여 신호를</a:t>
            </a:r>
            <a:br>
              <a:rPr lang="en-US" altLang="ko-KR" dirty="0"/>
            </a:br>
            <a:r>
              <a:rPr lang="ko-KR" altLang="en-US" dirty="0"/>
              <a:t>분간 할 수 없음 </a:t>
            </a:r>
            <a:r>
              <a:rPr lang="en-US" altLang="ko-KR" dirty="0"/>
              <a:t>= </a:t>
            </a:r>
            <a:r>
              <a:rPr lang="ko-KR" altLang="en-US" dirty="0"/>
              <a:t>통신 불능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EA7732-3EB8-0942-C602-2157D4051AE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91F67EE0-3168-A24B-C9C6-3D9611E7F3AD}"/>
              </a:ext>
            </a:extLst>
          </p:cNvPr>
          <p:cNvPicPr/>
          <p:nvPr/>
        </p:nvPicPr>
        <p:blipFill>
          <a:blip r:embed="rId2" cstate="print"/>
          <a:srcRect l="15308"/>
          <a:stretch/>
        </p:blipFill>
        <p:spPr>
          <a:xfrm>
            <a:off x="4077072" y="704528"/>
            <a:ext cx="2701900" cy="1524474"/>
          </a:xfrm>
          <a:prstGeom prst="rect">
            <a:avLst/>
          </a:prstGeom>
        </p:spPr>
      </p:pic>
      <p:pic>
        <p:nvPicPr>
          <p:cNvPr id="8" name="object 16">
            <a:extLst>
              <a:ext uri="{FF2B5EF4-FFF2-40B4-BE49-F238E27FC236}">
                <a16:creationId xmlns:a16="http://schemas.microsoft.com/office/drawing/2014/main" id="{A49E2F16-E9F2-7BB3-26AA-917E5BFB50A8}"/>
              </a:ext>
            </a:extLst>
          </p:cNvPr>
          <p:cNvPicPr/>
          <p:nvPr/>
        </p:nvPicPr>
        <p:blipFill>
          <a:blip r:embed="rId3" cstate="print"/>
          <a:srcRect l="19072" r="25248"/>
          <a:stretch/>
        </p:blipFill>
        <p:spPr>
          <a:xfrm>
            <a:off x="3474686" y="2378333"/>
            <a:ext cx="2003818" cy="932890"/>
          </a:xfrm>
          <a:prstGeom prst="rect">
            <a:avLst/>
          </a:prstGeom>
        </p:spPr>
      </p:pic>
      <p:pic>
        <p:nvPicPr>
          <p:cNvPr id="9" name="object 27">
            <a:extLst>
              <a:ext uri="{FF2B5EF4-FFF2-40B4-BE49-F238E27FC236}">
                <a16:creationId xmlns:a16="http://schemas.microsoft.com/office/drawing/2014/main" id="{C830C17A-7210-30B6-0F5E-7E6E951B66F1}"/>
              </a:ext>
            </a:extLst>
          </p:cNvPr>
          <p:cNvPicPr/>
          <p:nvPr/>
        </p:nvPicPr>
        <p:blipFill>
          <a:blip r:embed="rId4" cstate="print"/>
          <a:srcRect t="1" r="29692" b="5927"/>
          <a:stretch/>
        </p:blipFill>
        <p:spPr>
          <a:xfrm>
            <a:off x="1628800" y="3166267"/>
            <a:ext cx="1629862" cy="289911"/>
          </a:xfrm>
          <a:prstGeom prst="rect">
            <a:avLst/>
          </a:prstGeom>
        </p:spPr>
      </p:pic>
      <p:pic>
        <p:nvPicPr>
          <p:cNvPr id="10" name="object 37">
            <a:extLst>
              <a:ext uri="{FF2B5EF4-FFF2-40B4-BE49-F238E27FC236}">
                <a16:creationId xmlns:a16="http://schemas.microsoft.com/office/drawing/2014/main" id="{3D780B43-7C55-00D1-8695-6AE72B34B90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33723" y="3749530"/>
            <a:ext cx="2157218" cy="1492446"/>
          </a:xfrm>
          <a:prstGeom prst="rect">
            <a:avLst/>
          </a:prstGeom>
        </p:spPr>
      </p:pic>
      <p:pic>
        <p:nvPicPr>
          <p:cNvPr id="11" name="object 43">
            <a:extLst>
              <a:ext uri="{FF2B5EF4-FFF2-40B4-BE49-F238E27FC236}">
                <a16:creationId xmlns:a16="http://schemas.microsoft.com/office/drawing/2014/main" id="{8C13463C-995B-7D87-17FB-797DA8C669BE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33723" y="5241976"/>
            <a:ext cx="2072760" cy="109102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AB7E66B-A53F-EB89-2672-DA6A9D1970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9040" y="6405011"/>
            <a:ext cx="2989932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288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369EE7A-159A-86AF-D935-E27978550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53DB6FB-F554-100A-1063-5B30BFAD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2E8756-5C98-B6D7-C641-94BB718639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0AE5AB4-05B4-F5E5-3F21-8EFE4E9306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통신 속도 </a:t>
            </a:r>
            <a:r>
              <a:rPr lang="ko-KR" altLang="en-US" dirty="0" err="1"/>
              <a:t>향상안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더 높은 주파수의 </a:t>
            </a:r>
            <a:r>
              <a:rPr lang="en-US" altLang="ko-KR" dirty="0"/>
              <a:t>carrier wave</a:t>
            </a:r>
          </a:p>
          <a:p>
            <a:pPr lvl="1"/>
            <a:r>
              <a:rPr lang="ko-KR" altLang="en-US" dirty="0"/>
              <a:t>같은 시간동안 더 많은 이진수를</a:t>
            </a:r>
            <a:br>
              <a:rPr lang="en-US" altLang="ko-KR" dirty="0"/>
            </a:br>
            <a:r>
              <a:rPr lang="ko-KR" altLang="en-US" dirty="0"/>
              <a:t>보내면 </a:t>
            </a:r>
            <a:r>
              <a:rPr lang="en-US" altLang="ko-KR" dirty="0"/>
              <a:t>C</a:t>
            </a:r>
            <a:r>
              <a:rPr lang="ko-KR" altLang="en-US" dirty="0"/>
              <a:t>처럼 </a:t>
            </a:r>
            <a:r>
              <a:rPr lang="en-US" altLang="ko-KR" dirty="0"/>
              <a:t>carrier wave</a:t>
            </a:r>
            <a:r>
              <a:rPr lang="ko-KR" altLang="en-US" dirty="0"/>
              <a:t>가</a:t>
            </a:r>
            <a:br>
              <a:rPr lang="en-US" altLang="ko-KR" dirty="0"/>
            </a:br>
            <a:r>
              <a:rPr lang="ko-KR" altLang="en-US" dirty="0"/>
              <a:t>깨짐</a:t>
            </a:r>
            <a:endParaRPr lang="en-US" altLang="ko-KR" dirty="0"/>
          </a:p>
          <a:p>
            <a:pPr lvl="1"/>
            <a:r>
              <a:rPr lang="en-US" altLang="ko-KR" dirty="0"/>
              <a:t>Carrier wave</a:t>
            </a:r>
            <a:r>
              <a:rPr lang="ko-KR" altLang="en-US" dirty="0"/>
              <a:t>의 주파수를 높이면</a:t>
            </a:r>
            <a:br>
              <a:rPr lang="en-US" altLang="ko-KR" dirty="0"/>
            </a:br>
            <a:r>
              <a:rPr lang="ko-KR" altLang="en-US" dirty="0"/>
              <a:t>해결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통신 속도 </a:t>
            </a:r>
            <a:r>
              <a:rPr lang="ko-KR" altLang="en-US" dirty="0" err="1"/>
              <a:t>향상안</a:t>
            </a:r>
            <a:r>
              <a:rPr lang="ko-KR" altLang="en-US" dirty="0"/>
              <a:t> </a:t>
            </a:r>
            <a:r>
              <a:rPr lang="en-US" altLang="ko-KR" dirty="0"/>
              <a:t>: M-</a:t>
            </a:r>
            <a:r>
              <a:rPr lang="en-US" altLang="ko-KR" dirty="0" err="1"/>
              <a:t>ary</a:t>
            </a:r>
            <a:r>
              <a:rPr lang="en-US" altLang="ko-KR" dirty="0"/>
              <a:t> </a:t>
            </a:r>
            <a:r>
              <a:rPr lang="ko-KR" altLang="en-US" dirty="0"/>
              <a:t>통신</a:t>
            </a:r>
            <a:endParaRPr lang="en-US" altLang="ko-KR" dirty="0"/>
          </a:p>
          <a:p>
            <a:pPr lvl="1"/>
            <a:r>
              <a:rPr lang="ko-KR" altLang="en-US" dirty="0"/>
              <a:t>이진수 대신 </a:t>
            </a:r>
            <a:r>
              <a:rPr lang="en-US" altLang="ko-KR" dirty="0"/>
              <a:t>M</a:t>
            </a:r>
            <a:r>
              <a:rPr lang="ko-KR" altLang="en-US" dirty="0"/>
              <a:t>진수로 묶어 </a:t>
            </a:r>
            <a:br>
              <a:rPr lang="en-US" altLang="ko-KR" dirty="0"/>
            </a:br>
            <a:r>
              <a:rPr lang="ko-KR" altLang="en-US" dirty="0"/>
              <a:t>보내면 훨씬 빨리 보낼 수 있음</a:t>
            </a:r>
            <a:endParaRPr lang="en-US" altLang="ko-KR" dirty="0"/>
          </a:p>
          <a:p>
            <a:pPr lvl="2"/>
            <a:r>
              <a:rPr lang="en-US" altLang="ko-KR" dirty="0"/>
              <a:t>Noise</a:t>
            </a:r>
            <a:r>
              <a:rPr lang="ko-KR" altLang="en-US" dirty="0"/>
              <a:t>의 영향을 많이 방음</a:t>
            </a:r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r>
              <a:rPr lang="ko-KR" altLang="en-US" dirty="0"/>
              <a:t>통신 속도 </a:t>
            </a:r>
            <a:r>
              <a:rPr lang="ko-KR" altLang="en-US" dirty="0" err="1"/>
              <a:t>향상안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시 분할 다중화</a:t>
            </a:r>
            <a:endParaRPr lang="en-US" altLang="ko-KR" dirty="0"/>
          </a:p>
          <a:p>
            <a:pPr lvl="1"/>
            <a:r>
              <a:rPr lang="ko-KR" altLang="en-US" dirty="0"/>
              <a:t>호스트들이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을 보낼 때 서로 다른 주파수들을 사용하여 한꺼번에 전송</a:t>
            </a:r>
            <a:endParaRPr lang="en-US" altLang="ko-KR" dirty="0"/>
          </a:p>
          <a:p>
            <a:r>
              <a:rPr lang="ko-KR" altLang="en-US" dirty="0"/>
              <a:t>유선</a:t>
            </a:r>
            <a:r>
              <a:rPr lang="en-US" altLang="ko-KR" dirty="0"/>
              <a:t>/</a:t>
            </a:r>
            <a:r>
              <a:rPr lang="ko-KR" altLang="en-US" dirty="0"/>
              <a:t>무선 미디어의 종류</a:t>
            </a:r>
            <a:endParaRPr lang="en-US" altLang="ko-KR" dirty="0"/>
          </a:p>
          <a:p>
            <a:pPr lvl="1"/>
            <a:r>
              <a:rPr lang="ko-KR" altLang="en-US" dirty="0"/>
              <a:t>동선</a:t>
            </a:r>
            <a:r>
              <a:rPr lang="en-US" altLang="ko-KR" dirty="0"/>
              <a:t>(copper wire): </a:t>
            </a:r>
            <a:r>
              <a:rPr lang="ko-KR" altLang="en-US" dirty="0"/>
              <a:t>더 많이 꼬일수록 간섭과 </a:t>
            </a:r>
            <a:r>
              <a:rPr lang="en-US" altLang="ko-KR" dirty="0"/>
              <a:t>noise</a:t>
            </a:r>
            <a:r>
              <a:rPr lang="ko-KR" altLang="en-US" dirty="0"/>
              <a:t>의 영향 </a:t>
            </a:r>
            <a:r>
              <a:rPr lang="ko-KR" altLang="en-US" dirty="0" err="1"/>
              <a:t>줄어듬</a:t>
            </a:r>
            <a:endParaRPr lang="en-US" altLang="ko-KR" dirty="0"/>
          </a:p>
          <a:p>
            <a:pPr lvl="1"/>
            <a:r>
              <a:rPr lang="ko-KR" altLang="en-US" dirty="0" err="1"/>
              <a:t>동축</a:t>
            </a:r>
            <a:r>
              <a:rPr lang="ko-KR" altLang="en-US" dirty="0"/>
              <a:t> 케이블 </a:t>
            </a:r>
            <a:r>
              <a:rPr lang="en-US" altLang="ko-KR" dirty="0"/>
              <a:t>: </a:t>
            </a:r>
            <a:r>
              <a:rPr lang="ko-KR" altLang="en-US" dirty="0"/>
              <a:t>내부에 구리선과 외부에 </a:t>
            </a:r>
            <a:r>
              <a:rPr lang="en-US" altLang="ko-KR" dirty="0"/>
              <a:t>conductor</a:t>
            </a:r>
            <a:r>
              <a:rPr lang="ko-KR" altLang="en-US" dirty="0"/>
              <a:t>가 존재</a:t>
            </a:r>
            <a:endParaRPr lang="en-US" altLang="ko-KR" dirty="0"/>
          </a:p>
          <a:p>
            <a:pPr lvl="1"/>
            <a:r>
              <a:rPr lang="ko-KR" altLang="en-US" dirty="0"/>
              <a:t>광섬유</a:t>
            </a:r>
            <a:r>
              <a:rPr lang="en-US" altLang="ko-KR" dirty="0"/>
              <a:t> : </a:t>
            </a:r>
            <a:r>
              <a:rPr lang="ko-KR" altLang="en-US"/>
              <a:t>내부의 유리섬유를 통해 빛을 전달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7368B8-EFE9-06E7-16E2-A1D5F20DF7C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41">
            <a:extLst>
              <a:ext uri="{FF2B5EF4-FFF2-40B4-BE49-F238E27FC236}">
                <a16:creationId xmlns:a16="http://schemas.microsoft.com/office/drawing/2014/main" id="{D7E755EF-B412-EE42-0B8F-E9BC622745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1048" y="920552"/>
            <a:ext cx="2808312" cy="122413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04E930-1EA6-4207-C864-94A3DFF1F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856" y="2225616"/>
            <a:ext cx="2736304" cy="63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73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B0555FE-4729-C929-F56A-AAF96776E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11FD101-84D3-03E1-707E-CA13F983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MAC</a:t>
            </a:r>
            <a:r>
              <a:rPr lang="ko-KR" altLang="en-US" dirty="0"/>
              <a:t>와 </a:t>
            </a:r>
            <a:r>
              <a:rPr lang="en-US" altLang="ko-KR" dirty="0"/>
              <a:t>LLC, IEEE 802, ALOHA </a:t>
            </a:r>
            <a:r>
              <a:rPr lang="ko-KR" altLang="en-US" dirty="0"/>
              <a:t>프로토콜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A843C5-E244-49F4-6C00-16F5D6271E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20599A0-F7F5-CCB2-8203-17052E4112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링크 계층의 세분화</a:t>
            </a:r>
            <a:endParaRPr lang="en-US" altLang="ko-KR" dirty="0"/>
          </a:p>
          <a:p>
            <a:pPr lvl="1"/>
            <a:r>
              <a:rPr lang="en-US" altLang="ko-KR" dirty="0"/>
              <a:t>MAC: </a:t>
            </a:r>
            <a:r>
              <a:rPr lang="ko-KR" altLang="en-US" dirty="0"/>
              <a:t>하드웨어적</a:t>
            </a:r>
            <a:r>
              <a:rPr lang="en-US" altLang="ko-KR" dirty="0"/>
              <a:t>: </a:t>
            </a:r>
            <a:r>
              <a:rPr lang="ko-KR" altLang="en-US" dirty="0"/>
              <a:t>미디어에 접근하는 권한을 부여</a:t>
            </a:r>
            <a:r>
              <a:rPr lang="en-US" altLang="ko-KR" dirty="0"/>
              <a:t>, </a:t>
            </a:r>
            <a:r>
              <a:rPr lang="ko-KR" altLang="en-US" dirty="0" err="1"/>
              <a:t>전송로의</a:t>
            </a:r>
            <a:r>
              <a:rPr lang="ko-KR" altLang="en-US" dirty="0"/>
              <a:t> 물리적인 특성 반영</a:t>
            </a:r>
            <a:endParaRPr lang="en-US" altLang="ko-KR" dirty="0"/>
          </a:p>
          <a:p>
            <a:pPr lvl="1"/>
            <a:r>
              <a:rPr lang="en-US" altLang="ko-KR" dirty="0"/>
              <a:t>LLC: </a:t>
            </a:r>
            <a:r>
              <a:rPr lang="ko-KR" altLang="en-US" dirty="0"/>
              <a:t>소프트웨어적</a:t>
            </a:r>
            <a:endParaRPr lang="en-US" altLang="ko-KR" dirty="0"/>
          </a:p>
          <a:p>
            <a:r>
              <a:rPr lang="en-US" altLang="ko-KR" dirty="0"/>
              <a:t>IEEE 802</a:t>
            </a:r>
          </a:p>
          <a:p>
            <a:pPr lvl="1"/>
            <a:r>
              <a:rPr lang="en-US" altLang="ko-KR" dirty="0"/>
              <a:t>IEEE 802.1 : </a:t>
            </a:r>
            <a:r>
              <a:rPr lang="ko-KR" altLang="en-US" dirty="0"/>
              <a:t>표준안 전체 소개</a:t>
            </a:r>
            <a:endParaRPr lang="en-US" altLang="ko-KR" dirty="0"/>
          </a:p>
          <a:p>
            <a:pPr lvl="1"/>
            <a:r>
              <a:rPr lang="en-US" altLang="ko-KR" dirty="0"/>
              <a:t>IEEE</a:t>
            </a:r>
            <a:r>
              <a:rPr lang="ko-KR" altLang="en-US" dirty="0"/>
              <a:t> </a:t>
            </a:r>
            <a:r>
              <a:rPr lang="en-US" altLang="ko-KR" dirty="0"/>
              <a:t>802.2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LLC </a:t>
            </a:r>
            <a:r>
              <a:rPr lang="ko-KR" altLang="en-US" dirty="0"/>
              <a:t>프로토콜의 정의</a:t>
            </a:r>
            <a:endParaRPr lang="en-US" altLang="ko-KR" dirty="0"/>
          </a:p>
          <a:p>
            <a:pPr lvl="1"/>
            <a:r>
              <a:rPr lang="en-US" altLang="ko-KR" dirty="0"/>
              <a:t>IEEE 802.3 : </a:t>
            </a:r>
            <a:r>
              <a:rPr lang="ko-KR" altLang="en-US" dirty="0"/>
              <a:t>물리계층</a:t>
            </a:r>
            <a:r>
              <a:rPr lang="en-US" altLang="ko-KR" dirty="0"/>
              <a:t>, MAC</a:t>
            </a:r>
            <a:r>
              <a:rPr lang="ko-KR" altLang="en-US" dirty="0"/>
              <a:t>계층</a:t>
            </a:r>
            <a:endParaRPr lang="en-US" altLang="ko-KR" dirty="0"/>
          </a:p>
          <a:p>
            <a:r>
              <a:rPr lang="en-US" altLang="ko-KR" dirty="0"/>
              <a:t>IEEE</a:t>
            </a:r>
            <a:r>
              <a:rPr lang="ko-KR" altLang="en-US" dirty="0"/>
              <a:t> </a:t>
            </a:r>
            <a:r>
              <a:rPr lang="en-US" altLang="ko-KR" dirty="0"/>
              <a:t>802.3</a:t>
            </a:r>
            <a:r>
              <a:rPr lang="ko-KR" altLang="en-US" dirty="0"/>
              <a:t>에서 패킷 전달 과정</a:t>
            </a:r>
            <a:endParaRPr lang="en-US" altLang="ko-KR" dirty="0"/>
          </a:p>
          <a:p>
            <a:pPr lvl="1"/>
            <a:r>
              <a:rPr lang="ko-KR" altLang="en-US" dirty="0"/>
              <a:t>네트워크 계층에서 받아 </a:t>
            </a:r>
            <a:r>
              <a:rPr lang="en-US" altLang="ko-KR" dirty="0"/>
              <a:t>LLC</a:t>
            </a:r>
            <a:r>
              <a:rPr lang="ko-KR" altLang="en-US" dirty="0"/>
              <a:t>에서</a:t>
            </a:r>
            <a:br>
              <a:rPr lang="en-US" altLang="ko-KR" dirty="0"/>
            </a:br>
            <a:r>
              <a:rPr lang="ko-KR" altLang="en-US" dirty="0"/>
              <a:t>헤더를 부착</a:t>
            </a:r>
            <a:endParaRPr lang="en-US" altLang="ko-KR" dirty="0"/>
          </a:p>
          <a:p>
            <a:pPr lvl="1"/>
            <a:r>
              <a:rPr lang="en-US" altLang="ko-KR" dirty="0"/>
              <a:t>MAC</a:t>
            </a:r>
            <a:r>
              <a:rPr lang="ko-KR" altLang="en-US" dirty="0"/>
              <a:t>에서는 헤더를 앞뒤로 붙임</a:t>
            </a:r>
            <a:endParaRPr lang="en-US" altLang="ko-KR" dirty="0"/>
          </a:p>
          <a:p>
            <a:pPr lvl="1"/>
            <a:r>
              <a:rPr lang="en-US" altLang="ko-KR" dirty="0"/>
              <a:t>MAC</a:t>
            </a:r>
            <a:r>
              <a:rPr lang="ko-KR" altLang="en-US" dirty="0"/>
              <a:t>는 공유미디어를 </a:t>
            </a:r>
            <a:r>
              <a:rPr lang="en-US" altLang="ko-KR" dirty="0"/>
              <a:t>2</a:t>
            </a:r>
            <a:r>
              <a:rPr lang="ko-KR" altLang="en-US" dirty="0"/>
              <a:t>개 이상 </a:t>
            </a:r>
            <a:r>
              <a:rPr lang="ko-KR" altLang="en-US" dirty="0" err="1"/>
              <a:t>접근하는걸</a:t>
            </a:r>
            <a:r>
              <a:rPr lang="ko-KR" altLang="en-US" dirty="0"/>
              <a:t> 막음</a:t>
            </a:r>
            <a:endParaRPr lang="en-US" altLang="ko-KR" dirty="0"/>
          </a:p>
          <a:p>
            <a:pPr lvl="1"/>
            <a:r>
              <a:rPr lang="ko-KR" altLang="en-US" dirty="0"/>
              <a:t>물리계층에선 위의 모든 정보를</a:t>
            </a:r>
            <a:r>
              <a:rPr lang="en-US" altLang="ko-KR" dirty="0"/>
              <a:t> </a:t>
            </a:r>
            <a:r>
              <a:rPr lang="ko-KR" altLang="en-US" dirty="0"/>
              <a:t>변조</a:t>
            </a:r>
            <a:endParaRPr lang="en-US" altLang="ko-KR" dirty="0"/>
          </a:p>
          <a:p>
            <a:r>
              <a:rPr lang="en-US" altLang="ko-KR" dirty="0"/>
              <a:t>Pure ALOHA</a:t>
            </a:r>
          </a:p>
          <a:p>
            <a:pPr lvl="1"/>
            <a:r>
              <a:rPr lang="ko-KR" altLang="en-US" dirty="0"/>
              <a:t>규칙 없이</a:t>
            </a:r>
            <a:r>
              <a:rPr lang="en-US" altLang="ko-KR" dirty="0"/>
              <a:t> </a:t>
            </a:r>
            <a:r>
              <a:rPr lang="ko-KR" altLang="en-US" dirty="0"/>
              <a:t>호스트들이 </a:t>
            </a:r>
            <a:br>
              <a:rPr lang="en-US" altLang="ko-KR" dirty="0"/>
            </a:br>
            <a:r>
              <a:rPr lang="ko-KR" altLang="en-US" dirty="0"/>
              <a:t>하고 싶은 대로 통신을 함</a:t>
            </a:r>
            <a:endParaRPr lang="en-US" altLang="ko-KR" dirty="0"/>
          </a:p>
          <a:p>
            <a:pPr lvl="1"/>
            <a:r>
              <a:rPr lang="ko-KR" altLang="en-US" dirty="0"/>
              <a:t>문제</a:t>
            </a:r>
            <a:r>
              <a:rPr lang="en-US" altLang="ko-KR" dirty="0"/>
              <a:t>: Collision</a:t>
            </a:r>
            <a:r>
              <a:rPr lang="ko-KR" altLang="en-US" dirty="0"/>
              <a:t>이 발생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Slotted ALOHA</a:t>
            </a:r>
          </a:p>
          <a:p>
            <a:pPr lvl="1"/>
            <a:r>
              <a:rPr lang="ko-KR" altLang="en-US" dirty="0"/>
              <a:t>시간을 정해놓고 그 시간 내에서 호스트는 통신함</a:t>
            </a:r>
            <a:br>
              <a:rPr lang="en-US" altLang="ko-KR" dirty="0"/>
            </a:br>
            <a:r>
              <a:rPr lang="ko-KR" altLang="en-US" dirty="0"/>
              <a:t>통신 시간동안 다른 호스트는 통신 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ko-KR" altLang="en-US" dirty="0"/>
              <a:t>통신 시간이 끝나면 다시 경쟁</a:t>
            </a:r>
            <a:endParaRPr lang="en-US" altLang="ko-KR" dirty="0"/>
          </a:p>
          <a:p>
            <a:pPr lvl="1"/>
            <a:r>
              <a:rPr lang="ko-KR" altLang="en-US" dirty="0"/>
              <a:t>문제</a:t>
            </a:r>
            <a:r>
              <a:rPr lang="en-US" altLang="ko-KR" dirty="0"/>
              <a:t>: </a:t>
            </a:r>
            <a:r>
              <a:rPr lang="ko-KR" altLang="en-US" dirty="0"/>
              <a:t>통신 시간이 끝나면 또 다시 경쟁 </a:t>
            </a:r>
            <a:r>
              <a:rPr lang="en-US" altLang="ko-KR" dirty="0"/>
              <a:t>-&gt; Collision</a:t>
            </a:r>
          </a:p>
          <a:p>
            <a:r>
              <a:rPr lang="en-US" altLang="ko-KR" dirty="0"/>
              <a:t>CSMA (Carrier Sense Multiple Access)</a:t>
            </a:r>
          </a:p>
          <a:p>
            <a:pPr lvl="1"/>
            <a:r>
              <a:rPr lang="en-US" altLang="ko-KR" dirty="0"/>
              <a:t>CSMA: </a:t>
            </a:r>
            <a:r>
              <a:rPr lang="ko-KR" altLang="en-US" dirty="0"/>
              <a:t>캐리어 감지 </a:t>
            </a:r>
            <a:r>
              <a:rPr lang="en-US" altLang="ko-KR" dirty="0"/>
              <a:t>+ </a:t>
            </a:r>
            <a:r>
              <a:rPr lang="ko-KR" altLang="en-US" dirty="0"/>
              <a:t>다중접속 </a:t>
            </a:r>
            <a:r>
              <a:rPr lang="en-US" altLang="ko-KR" dirty="0"/>
              <a:t>: </a:t>
            </a:r>
            <a:r>
              <a:rPr lang="ko-KR" altLang="en-US" dirty="0"/>
              <a:t>다른</a:t>
            </a:r>
            <a:r>
              <a:rPr lang="en-US" altLang="ko-KR" dirty="0"/>
              <a:t> </a:t>
            </a:r>
            <a:r>
              <a:rPr lang="ko-KR" altLang="en-US" dirty="0"/>
              <a:t>장치가 채널을 </a:t>
            </a:r>
            <a:r>
              <a:rPr lang="ko-KR" altLang="en-US" dirty="0" err="1"/>
              <a:t>사용중인가</a:t>
            </a:r>
            <a:r>
              <a:rPr lang="en-US" altLang="ko-KR" dirty="0"/>
              <a:t>? + </a:t>
            </a:r>
            <a:r>
              <a:rPr lang="ko-KR" altLang="en-US" dirty="0"/>
              <a:t>순서</a:t>
            </a:r>
            <a:r>
              <a:rPr lang="en-US" altLang="ko-KR" dirty="0"/>
              <a:t>/</a:t>
            </a:r>
            <a:r>
              <a:rPr lang="ko-KR" altLang="en-US" dirty="0"/>
              <a:t>기회를 얻어 데이터 전송</a:t>
            </a:r>
            <a:endParaRPr lang="en-US" altLang="ko-KR" dirty="0"/>
          </a:p>
          <a:p>
            <a:pPr lvl="1"/>
            <a:r>
              <a:rPr lang="en-US" altLang="ko-KR" dirty="0"/>
              <a:t>p-persistent CSMA : </a:t>
            </a:r>
            <a:r>
              <a:rPr lang="ko-KR" altLang="en-US" dirty="0"/>
              <a:t>다른 기기가 채널을 </a:t>
            </a:r>
            <a:r>
              <a:rPr lang="ko-KR" altLang="en-US" dirty="0" err="1"/>
              <a:t>사용중인가</a:t>
            </a:r>
            <a:r>
              <a:rPr lang="en-US" altLang="ko-KR" dirty="0"/>
              <a:t>? -&gt; p</a:t>
            </a:r>
            <a:r>
              <a:rPr lang="ko-KR" altLang="en-US" dirty="0"/>
              <a:t>의 확률로 전송 시도</a:t>
            </a:r>
            <a:endParaRPr lang="en-US" altLang="ko-KR" dirty="0"/>
          </a:p>
          <a:p>
            <a:pPr lvl="2"/>
            <a:r>
              <a:rPr lang="en-US" altLang="ko-KR" dirty="0"/>
              <a:t>P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낮을수록 </a:t>
            </a:r>
            <a:r>
              <a:rPr lang="en-US" altLang="ko-KR" dirty="0"/>
              <a:t>Collision</a:t>
            </a:r>
            <a:r>
              <a:rPr lang="ko-KR" altLang="en-US" dirty="0"/>
              <a:t>은 줄어드나 통신 지연 발생</a:t>
            </a:r>
            <a:endParaRPr lang="en-US" altLang="ko-KR" dirty="0"/>
          </a:p>
          <a:p>
            <a:pPr lvl="1"/>
            <a:r>
              <a:rPr lang="en-US" altLang="ko-KR" dirty="0"/>
              <a:t>CSMA/CD : CD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Collision</a:t>
            </a:r>
            <a:r>
              <a:rPr lang="ko-KR" altLang="en-US" dirty="0"/>
              <a:t> </a:t>
            </a:r>
            <a:r>
              <a:rPr lang="en-US" altLang="ko-KR" dirty="0"/>
              <a:t>Detection, </a:t>
            </a:r>
            <a:r>
              <a:rPr lang="ko-KR" altLang="en-US" dirty="0"/>
              <a:t>채널 </a:t>
            </a:r>
            <a:r>
              <a:rPr lang="ko-KR" altLang="en-US" dirty="0" err="1"/>
              <a:t>사용중인가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바로 전송 시도 </a:t>
            </a:r>
            <a:r>
              <a:rPr lang="en-US" altLang="ko-KR" dirty="0"/>
              <a:t>-&gt; </a:t>
            </a:r>
            <a:r>
              <a:rPr lang="ko-KR" altLang="en-US" dirty="0"/>
              <a:t>충돌검사 </a:t>
            </a:r>
            <a:r>
              <a:rPr lang="en-US" altLang="ko-KR" dirty="0"/>
              <a:t>-&gt; n</a:t>
            </a:r>
            <a:r>
              <a:rPr lang="ko-KR" altLang="en-US" dirty="0"/>
              <a:t>번 충돌했을 경우 </a:t>
            </a:r>
            <a:r>
              <a:rPr lang="en-US" altLang="ko-KR" dirty="0"/>
              <a:t>2^n -1</a:t>
            </a:r>
            <a:r>
              <a:rPr lang="ko-KR" altLang="en-US" dirty="0"/>
              <a:t>의 </a:t>
            </a:r>
            <a:r>
              <a:rPr lang="ko-KR" altLang="en-US" dirty="0" err="1"/>
              <a:t>랜덤한</a:t>
            </a:r>
            <a:r>
              <a:rPr lang="ko-KR" altLang="en-US" dirty="0"/>
              <a:t> 시간 내에서 대기 </a:t>
            </a:r>
            <a:r>
              <a:rPr lang="en-US" altLang="ko-KR" dirty="0"/>
              <a:t>(</a:t>
            </a:r>
            <a:r>
              <a:rPr lang="ko-KR" altLang="en-US" dirty="0"/>
              <a:t>지수 </a:t>
            </a:r>
            <a:r>
              <a:rPr lang="ko-KR" altLang="en-US" dirty="0" err="1"/>
              <a:t>백오프</a:t>
            </a:r>
            <a:r>
              <a:rPr lang="ko-KR" altLang="en-US" dirty="0"/>
              <a:t> 알고리즘</a:t>
            </a:r>
            <a:r>
              <a:rPr lang="en-US" altLang="ko-KR" dirty="0"/>
              <a:t>) -&gt; n</a:t>
            </a:r>
            <a:r>
              <a:rPr lang="ko-KR" altLang="en-US" dirty="0"/>
              <a:t>이 일정 횟수 이상 충돌할 경우 전송 실패로 간주</a:t>
            </a:r>
            <a:endParaRPr lang="en-US" altLang="ko-KR" dirty="0"/>
          </a:p>
          <a:p>
            <a:pPr lvl="2"/>
            <a:r>
              <a:rPr lang="en-US" altLang="ko-KR" dirty="0"/>
              <a:t>T</a:t>
            </a:r>
            <a:r>
              <a:rPr lang="ko-KR" altLang="en-US" dirty="0"/>
              <a:t>에서 </a:t>
            </a:r>
            <a:r>
              <a:rPr lang="en-US" altLang="ko-KR" dirty="0"/>
              <a:t>collision</a:t>
            </a:r>
            <a:r>
              <a:rPr lang="ko-KR" altLang="en-US" dirty="0"/>
              <a:t>이 발생할 경우 </a:t>
            </a:r>
            <a:r>
              <a:rPr lang="en-US" altLang="ko-KR" dirty="0"/>
              <a:t>collision detection </a:t>
            </a:r>
            <a:r>
              <a:rPr lang="ko-KR" altLang="en-US" dirty="0"/>
              <a:t>은 </a:t>
            </a:r>
            <a:r>
              <a:rPr lang="en-US" altLang="ko-KR" dirty="0"/>
              <a:t>2t</a:t>
            </a:r>
            <a:r>
              <a:rPr lang="ko-KR" altLang="en-US" dirty="0"/>
              <a:t>의 시간이 걸림</a:t>
            </a:r>
            <a:endParaRPr lang="en-US" altLang="ko-KR" dirty="0"/>
          </a:p>
          <a:p>
            <a:pPr lvl="2"/>
            <a:r>
              <a:rPr lang="ko-KR" altLang="en-US" dirty="0"/>
              <a:t>이더넷에서 사용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5BF2B5-9495-723A-EFBF-A334B26184E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307BF67D-483D-7785-5A9D-012E71C086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640" y="2216696"/>
            <a:ext cx="2642943" cy="864096"/>
          </a:xfrm>
          <a:prstGeom prst="rect">
            <a:avLst/>
          </a:prstGeom>
        </p:spPr>
      </p:pic>
      <p:pic>
        <p:nvPicPr>
          <p:cNvPr id="8" name="object 10">
            <a:extLst>
              <a:ext uri="{FF2B5EF4-FFF2-40B4-BE49-F238E27FC236}">
                <a16:creationId xmlns:a16="http://schemas.microsoft.com/office/drawing/2014/main" id="{0C97597E-32FE-F7D1-2692-C554EEE1ED5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0" y="3526944"/>
            <a:ext cx="1872208" cy="1107480"/>
          </a:xfrm>
          <a:prstGeom prst="rect">
            <a:avLst/>
          </a:prstGeom>
        </p:spPr>
      </p:pic>
      <p:pic>
        <p:nvPicPr>
          <p:cNvPr id="9" name="object 23">
            <a:extLst>
              <a:ext uri="{FF2B5EF4-FFF2-40B4-BE49-F238E27FC236}">
                <a16:creationId xmlns:a16="http://schemas.microsoft.com/office/drawing/2014/main" id="{023431DF-D1BD-3CE8-8DFE-FDB3BE508D7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4861" y="1007616"/>
            <a:ext cx="2172500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40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958BB3-1297-3C21-8621-9B7AF01C2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91A11C9-F12E-9530-97F4-B6E1C5C8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4C8C6C-86EE-9116-99AD-FE4B310C93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58F50D3-453E-0EE4-7318-D4BED0B746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Contention(</a:t>
            </a:r>
            <a:r>
              <a:rPr lang="ko-KR" altLang="en-US" dirty="0"/>
              <a:t>경쟁</a:t>
            </a:r>
            <a:r>
              <a:rPr lang="en-US" altLang="ko-KR" dirty="0"/>
              <a:t>) </a:t>
            </a:r>
            <a:r>
              <a:rPr lang="ko-KR" altLang="en-US" dirty="0"/>
              <a:t>기반 전송방식의 성능비교</a:t>
            </a:r>
            <a:endParaRPr lang="en-US" altLang="ko-KR" dirty="0"/>
          </a:p>
          <a:p>
            <a:pPr lvl="1"/>
            <a:r>
              <a:rPr lang="en-US" altLang="ko-KR" dirty="0"/>
              <a:t>Pure ALOAH &lt; Slotted ALOHA</a:t>
            </a:r>
            <a:br>
              <a:rPr lang="en-US" altLang="ko-KR" dirty="0"/>
            </a:br>
            <a:r>
              <a:rPr lang="en-US" altLang="ko-KR" dirty="0"/>
              <a:t>&lt; 1-persistent CSMA </a:t>
            </a:r>
            <a:br>
              <a:rPr lang="en-US" altLang="ko-KR" dirty="0"/>
            </a:br>
            <a:r>
              <a:rPr lang="en-US" altLang="ko-KR" dirty="0"/>
              <a:t>0.5-persistent CSMA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토큰버스와 토큰 링</a:t>
            </a:r>
            <a:endParaRPr lang="en-US" altLang="ko-KR" dirty="0"/>
          </a:p>
          <a:p>
            <a:pPr lvl="1"/>
            <a:r>
              <a:rPr lang="en-US" altLang="ko-KR" dirty="0"/>
              <a:t>CSMA/CD</a:t>
            </a:r>
            <a:r>
              <a:rPr lang="ko-KR" altLang="en-US" dirty="0"/>
              <a:t>와는 또 다른</a:t>
            </a:r>
            <a:r>
              <a:rPr lang="en-US" altLang="ko-KR" dirty="0"/>
              <a:t> MAC </a:t>
            </a:r>
            <a:r>
              <a:rPr lang="ko-KR" altLang="en-US" dirty="0"/>
              <a:t>계층</a:t>
            </a:r>
            <a:endParaRPr lang="en-US" altLang="ko-KR" dirty="0"/>
          </a:p>
          <a:p>
            <a:pPr lvl="1"/>
            <a:r>
              <a:rPr lang="ko-KR" altLang="en-US" dirty="0"/>
              <a:t>토큰 버스</a:t>
            </a:r>
            <a:r>
              <a:rPr lang="en-US" altLang="ko-KR" dirty="0"/>
              <a:t>: </a:t>
            </a:r>
            <a:r>
              <a:rPr lang="ko-KR" altLang="en-US" dirty="0"/>
              <a:t>통신이 끝나면 토큰을 넘김</a:t>
            </a:r>
            <a:endParaRPr lang="en-US" altLang="ko-KR" dirty="0"/>
          </a:p>
          <a:p>
            <a:pPr lvl="1"/>
            <a:r>
              <a:rPr lang="ko-KR" altLang="en-US" dirty="0"/>
              <a:t>토큰 링</a:t>
            </a:r>
            <a:r>
              <a:rPr lang="en-US" altLang="ko-KR" dirty="0"/>
              <a:t>: </a:t>
            </a:r>
            <a:r>
              <a:rPr lang="ko-KR" altLang="en-US" dirty="0"/>
              <a:t>토큰이 직접 돌며 통신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Collision free protocols</a:t>
            </a:r>
          </a:p>
          <a:p>
            <a:pPr lvl="1"/>
            <a:r>
              <a:rPr lang="en-US" altLang="ko-KR" dirty="0"/>
              <a:t>ALOHA</a:t>
            </a:r>
            <a:r>
              <a:rPr lang="ko-KR" altLang="en-US" dirty="0"/>
              <a:t>나 </a:t>
            </a:r>
            <a:r>
              <a:rPr lang="en-US" altLang="ko-KR" dirty="0"/>
              <a:t>CSMA</a:t>
            </a:r>
            <a:r>
              <a:rPr lang="ko-KR" altLang="en-US" dirty="0"/>
              <a:t>와 같은 </a:t>
            </a:r>
            <a:r>
              <a:rPr lang="en-US" altLang="ko-KR" dirty="0"/>
              <a:t>contention based </a:t>
            </a:r>
            <a:r>
              <a:rPr lang="ko-KR" altLang="en-US" dirty="0"/>
              <a:t>프로토콜은 전송시간을 보장할 수 없음</a:t>
            </a:r>
            <a:br>
              <a:rPr lang="en-US" altLang="ko-KR" dirty="0"/>
            </a:br>
            <a:r>
              <a:rPr lang="en-US" altLang="ko-KR" dirty="0"/>
              <a:t>real-time communication</a:t>
            </a:r>
            <a:r>
              <a:rPr lang="ko-KR" altLang="en-US" dirty="0"/>
              <a:t>에는 적합 </a:t>
            </a:r>
            <a:r>
              <a:rPr lang="en-US" altLang="ko-KR" dirty="0"/>
              <a:t>X</a:t>
            </a:r>
          </a:p>
          <a:p>
            <a:pPr lvl="1"/>
            <a:r>
              <a:rPr lang="en-US" altLang="ko-KR" dirty="0"/>
              <a:t>Bit-map</a:t>
            </a:r>
            <a:r>
              <a:rPr lang="ko-KR" altLang="en-US" dirty="0"/>
              <a:t> </a:t>
            </a:r>
            <a:r>
              <a:rPr lang="en-US" altLang="ko-KR" dirty="0"/>
              <a:t>protocol : </a:t>
            </a:r>
            <a:r>
              <a:rPr lang="en-US" altLang="ko-KR" dirty="0" err="1"/>
              <a:t>collistion</a:t>
            </a:r>
            <a:r>
              <a:rPr lang="en-US" altLang="ko-KR" dirty="0"/>
              <a:t> free</a:t>
            </a:r>
          </a:p>
          <a:p>
            <a:pPr lvl="2"/>
            <a:r>
              <a:rPr lang="en-US" altLang="ko-KR" dirty="0"/>
              <a:t>Contention</a:t>
            </a:r>
            <a:r>
              <a:rPr lang="ko-KR" altLang="en-US" dirty="0"/>
              <a:t> </a:t>
            </a:r>
            <a:r>
              <a:rPr lang="en-US" altLang="ko-KR" dirty="0"/>
              <a:t>period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통해 통신에 참여할 노드를 지정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세션의 첫번째 </a:t>
            </a:r>
            <a:r>
              <a:rPr lang="ko-KR" altLang="en-US" dirty="0" err="1"/>
              <a:t>자리수</a:t>
            </a:r>
            <a:r>
              <a:rPr lang="ko-KR" altLang="en-US" dirty="0"/>
              <a:t> 비교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그 다음 </a:t>
            </a:r>
            <a:r>
              <a:rPr lang="ko-KR" altLang="en-US" dirty="0" err="1"/>
              <a:t>자리수</a:t>
            </a:r>
            <a:r>
              <a:rPr lang="ko-KR" altLang="en-US" dirty="0"/>
              <a:t> 비교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Ethernet MAC Sublayer</a:t>
            </a:r>
            <a:r>
              <a:rPr lang="ko-KR" altLang="en-US" dirty="0"/>
              <a:t> </a:t>
            </a:r>
            <a:r>
              <a:rPr lang="en-US" altLang="ko-KR" dirty="0"/>
              <a:t>Protocol</a:t>
            </a:r>
          </a:p>
          <a:p>
            <a:pPr lvl="1"/>
            <a:r>
              <a:rPr lang="en-US" altLang="ko-KR" dirty="0"/>
              <a:t>Preamble :</a:t>
            </a:r>
            <a:br>
              <a:rPr lang="en-US" altLang="ko-KR" dirty="0"/>
            </a:br>
            <a:r>
              <a:rPr lang="ko-KR" altLang="en-US" dirty="0"/>
              <a:t>통신이 왔다는</a:t>
            </a:r>
            <a:r>
              <a:rPr lang="en-US" altLang="ko-KR" dirty="0"/>
              <a:t> </a:t>
            </a:r>
            <a:r>
              <a:rPr lang="ko-KR" altLang="en-US" dirty="0"/>
              <a:t>것을 알림</a:t>
            </a:r>
            <a:endParaRPr lang="en-US" altLang="ko-KR" dirty="0"/>
          </a:p>
          <a:p>
            <a:pPr lvl="1"/>
            <a:r>
              <a:rPr lang="en-US" altLang="ko-KR" dirty="0"/>
              <a:t>Destination</a:t>
            </a:r>
            <a:r>
              <a:rPr lang="ko-KR" altLang="en-US" dirty="0"/>
              <a:t> </a:t>
            </a:r>
            <a:r>
              <a:rPr lang="en-US" altLang="ko-KR" dirty="0"/>
              <a:t>address:</a:t>
            </a:r>
            <a:br>
              <a:rPr lang="en-US" altLang="ko-KR" dirty="0"/>
            </a:br>
            <a:r>
              <a:rPr lang="ko-KR" altLang="en-US" dirty="0"/>
              <a:t>수신 기기의 </a:t>
            </a:r>
            <a:r>
              <a:rPr lang="en-US" altLang="ko-KR" dirty="0"/>
              <a:t>MAC</a:t>
            </a:r>
            <a:r>
              <a:rPr lang="ko-KR" altLang="en-US" dirty="0"/>
              <a:t>주소</a:t>
            </a:r>
            <a:endParaRPr lang="en-US" altLang="ko-KR" dirty="0"/>
          </a:p>
          <a:p>
            <a:pPr lvl="1"/>
            <a:r>
              <a:rPr lang="en-US" altLang="ko-KR" dirty="0"/>
              <a:t>Source address:</a:t>
            </a:r>
            <a:br>
              <a:rPr lang="en-US" altLang="ko-KR" dirty="0"/>
            </a:br>
            <a:r>
              <a:rPr lang="ko-KR" altLang="en-US" dirty="0"/>
              <a:t>송신 기기의 </a:t>
            </a:r>
            <a:r>
              <a:rPr lang="en-US" altLang="ko-KR" dirty="0"/>
              <a:t>MAC</a:t>
            </a:r>
            <a:r>
              <a:rPr lang="ko-KR" altLang="en-US" dirty="0"/>
              <a:t>주소</a:t>
            </a:r>
            <a:endParaRPr lang="en-US" altLang="ko-KR" dirty="0"/>
          </a:p>
          <a:p>
            <a:pPr lvl="1"/>
            <a:r>
              <a:rPr lang="en-US" altLang="ko-KR" dirty="0"/>
              <a:t>Pad(padding) : CSMA/CD</a:t>
            </a:r>
            <a:r>
              <a:rPr lang="ko-KR" altLang="en-US" dirty="0"/>
              <a:t>에서 </a:t>
            </a:r>
            <a:r>
              <a:rPr lang="en-US" altLang="ko-KR" dirty="0"/>
              <a:t>collision</a:t>
            </a:r>
            <a:r>
              <a:rPr lang="ko-KR" altLang="en-US" dirty="0"/>
              <a:t>이 발생할 경우 데이터가 너무 짧으면 </a:t>
            </a:r>
            <a:r>
              <a:rPr lang="en-US" altLang="ko-KR" dirty="0"/>
              <a:t>CD</a:t>
            </a:r>
            <a:r>
              <a:rPr lang="ko-KR" altLang="en-US" dirty="0"/>
              <a:t>를 수행할 수 없음</a:t>
            </a:r>
            <a:r>
              <a:rPr lang="en-US" altLang="ko-KR" dirty="0"/>
              <a:t>. Pad</a:t>
            </a:r>
            <a:r>
              <a:rPr lang="ko-KR" altLang="en-US" dirty="0"/>
              <a:t>는 </a:t>
            </a:r>
            <a:r>
              <a:rPr lang="en-US" altLang="ko-KR" dirty="0"/>
              <a:t>Collision</a:t>
            </a:r>
            <a:r>
              <a:rPr lang="ko-KR" altLang="en-US" dirty="0"/>
              <a:t>이 발생할 때 까지의 시간을 보장해줌</a:t>
            </a:r>
            <a:endParaRPr lang="en-US" altLang="ko-KR" dirty="0"/>
          </a:p>
          <a:p>
            <a:pPr lvl="1"/>
            <a:r>
              <a:rPr lang="en-US" altLang="ko-KR" dirty="0"/>
              <a:t>Check-sum: collision</a:t>
            </a:r>
            <a:r>
              <a:rPr lang="ko-KR" altLang="en-US" dirty="0"/>
              <a:t>이 발생했는지 여부를 알려줌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73DEF8-2227-EDC9-4B48-7EB5CD962EA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26">
            <a:extLst>
              <a:ext uri="{FF2B5EF4-FFF2-40B4-BE49-F238E27FC236}">
                <a16:creationId xmlns:a16="http://schemas.microsoft.com/office/drawing/2014/main" id="{ED2E7C10-8832-1BD7-A6E8-DB9D2826AB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5064" y="776536"/>
            <a:ext cx="2592288" cy="1440160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9507D0B7-6B65-14BA-7F20-101498D865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6992" y="5601091"/>
            <a:ext cx="3392935" cy="836794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64631273-63A8-5CE5-65A6-18A9D280A6F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9542" y="2631322"/>
            <a:ext cx="1761695" cy="836794"/>
          </a:xfrm>
          <a:prstGeom prst="rect">
            <a:avLst/>
          </a:prstGeom>
        </p:spPr>
      </p:pic>
      <p:pic>
        <p:nvPicPr>
          <p:cNvPr id="11" name="object 12">
            <a:extLst>
              <a:ext uri="{FF2B5EF4-FFF2-40B4-BE49-F238E27FC236}">
                <a16:creationId xmlns:a16="http://schemas.microsoft.com/office/drawing/2014/main" id="{A672D107-14C2-2773-50AD-06354D8C3D2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92759" y="2165998"/>
            <a:ext cx="1137203" cy="1302118"/>
          </a:xfrm>
          <a:prstGeom prst="rect">
            <a:avLst/>
          </a:prstGeom>
        </p:spPr>
      </p:pic>
      <p:pic>
        <p:nvPicPr>
          <p:cNvPr id="12" name="object 11">
            <a:extLst>
              <a:ext uri="{FF2B5EF4-FFF2-40B4-BE49-F238E27FC236}">
                <a16:creationId xmlns:a16="http://schemas.microsoft.com/office/drawing/2014/main" id="{5A6CCE8B-AD39-C979-8D70-446FD14B48E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13075" y="4857578"/>
            <a:ext cx="2393958" cy="425351"/>
          </a:xfrm>
          <a:prstGeom prst="rect">
            <a:avLst/>
          </a:prstGeom>
        </p:spPr>
      </p:pic>
      <p:pic>
        <p:nvPicPr>
          <p:cNvPr id="13" name="object 19">
            <a:extLst>
              <a:ext uri="{FF2B5EF4-FFF2-40B4-BE49-F238E27FC236}">
                <a16:creationId xmlns:a16="http://schemas.microsoft.com/office/drawing/2014/main" id="{62BE5740-5106-3B40-3D0C-A95203F6C40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71237" y="3892980"/>
            <a:ext cx="853961" cy="83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25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52D928D-C3A6-BFA6-010C-E5ED95F84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5041AC3-29E4-C08C-3FE8-B5D3FD42D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 Link Layer (LLC)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209E4-8AD1-A3F1-0624-7E553C1EBC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9B069EF-D483-FD4A-59EE-523AD2D0A9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Link layer</a:t>
            </a:r>
          </a:p>
          <a:p>
            <a:pPr lvl="1"/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Link</a:t>
            </a:r>
            <a:r>
              <a:rPr lang="ko-KR" altLang="en-US" dirty="0"/>
              <a:t> </a:t>
            </a:r>
            <a:r>
              <a:rPr lang="en-US" altLang="ko-KR" dirty="0"/>
              <a:t>layer Design</a:t>
            </a:r>
          </a:p>
          <a:p>
            <a:pPr lvl="1"/>
            <a:r>
              <a:rPr lang="en-US" altLang="ko-KR" dirty="0"/>
              <a:t>Functions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data link layer</a:t>
            </a:r>
          </a:p>
          <a:p>
            <a:pPr lvl="1"/>
            <a:r>
              <a:rPr lang="en-US" altLang="ko-KR" dirty="0"/>
              <a:t>Services provided to network layer</a:t>
            </a:r>
          </a:p>
          <a:p>
            <a:r>
              <a:rPr lang="en-US" altLang="ko-KR" dirty="0"/>
              <a:t>Error detect/correction</a:t>
            </a:r>
          </a:p>
          <a:p>
            <a:pPr lvl="1"/>
            <a:r>
              <a:rPr lang="en-US" altLang="ko-KR" dirty="0"/>
              <a:t>CRC</a:t>
            </a:r>
            <a:r>
              <a:rPr lang="ko-KR" altLang="en-US" dirty="0"/>
              <a:t>방식</a:t>
            </a:r>
            <a:endParaRPr lang="en-US" altLang="ko-KR" dirty="0"/>
          </a:p>
          <a:p>
            <a:pPr lvl="1"/>
            <a:r>
              <a:rPr lang="en-US" altLang="ko-KR" dirty="0"/>
              <a:t>Hamming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</a:p>
          <a:p>
            <a:pPr lvl="1"/>
            <a:r>
              <a:rPr lang="en-US" altLang="ko-KR" dirty="0"/>
              <a:t>ENQ/ACK, </a:t>
            </a:r>
            <a:r>
              <a:rPr lang="ko-KR" altLang="en-US" dirty="0" err="1"/>
              <a:t>폴링</a:t>
            </a:r>
            <a:endParaRPr lang="en-US" altLang="ko-KR" dirty="0"/>
          </a:p>
          <a:p>
            <a:r>
              <a:rPr lang="en-US" altLang="ko-KR" dirty="0"/>
              <a:t>Framing</a:t>
            </a:r>
          </a:p>
          <a:p>
            <a:pPr lvl="1"/>
            <a:r>
              <a:rPr lang="en-US" altLang="ko-KR" dirty="0"/>
              <a:t>Character count</a:t>
            </a:r>
          </a:p>
          <a:p>
            <a:pPr lvl="1"/>
            <a:r>
              <a:rPr lang="en-US" altLang="ko-KR" dirty="0"/>
              <a:t>Byte stuffing</a:t>
            </a:r>
          </a:p>
          <a:p>
            <a:pPr lvl="1"/>
            <a:r>
              <a:rPr lang="en-US" altLang="ko-KR" dirty="0"/>
              <a:t>Bit stuffing</a:t>
            </a:r>
          </a:p>
          <a:p>
            <a:r>
              <a:rPr lang="en-US" altLang="ko-KR" dirty="0"/>
              <a:t>Flow control</a:t>
            </a:r>
          </a:p>
          <a:p>
            <a:pPr lvl="1"/>
            <a:r>
              <a:rPr lang="en-US" altLang="ko-KR" dirty="0"/>
              <a:t>Stop and wait</a:t>
            </a:r>
          </a:p>
          <a:p>
            <a:pPr lvl="1"/>
            <a:r>
              <a:rPr lang="en-US" altLang="ko-KR" dirty="0"/>
              <a:t>Sliding window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0ADD9E-9E03-5BE4-0752-C10304A024A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644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500A398-ECB8-BDD1-AD32-9348F2A24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3213A45-9E60-C239-DC88-B21912572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Link</a:t>
            </a:r>
            <a:r>
              <a:rPr lang="ko-KR" altLang="en-US" dirty="0"/>
              <a:t> </a:t>
            </a:r>
            <a:r>
              <a:rPr lang="en-US" altLang="ko-KR" dirty="0"/>
              <a:t>layer / Error control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0145AE-838D-7AA5-AC46-51B2561387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1920776-8600-75F9-E281-1A5D7C8BBC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Link</a:t>
            </a:r>
            <a:r>
              <a:rPr lang="ko-KR" altLang="en-US" dirty="0"/>
              <a:t> </a:t>
            </a:r>
            <a:r>
              <a:rPr lang="en-US" altLang="ko-KR" dirty="0"/>
              <a:t>Layer</a:t>
            </a:r>
            <a:r>
              <a:rPr lang="ko-KR" altLang="en-US" dirty="0"/>
              <a:t> </a:t>
            </a:r>
            <a:r>
              <a:rPr lang="en-US" altLang="ko-KR" dirty="0"/>
              <a:t>Design</a:t>
            </a:r>
          </a:p>
          <a:p>
            <a:pPr lvl="1"/>
            <a:r>
              <a:rPr lang="en-US" altLang="ko-KR" dirty="0"/>
              <a:t>Services provided to the network layer</a:t>
            </a:r>
          </a:p>
          <a:p>
            <a:pPr lvl="1"/>
            <a:r>
              <a:rPr lang="en-US" altLang="ko-KR" dirty="0"/>
              <a:t>Framing : </a:t>
            </a:r>
            <a:r>
              <a:rPr lang="ko-KR" altLang="en-US" dirty="0"/>
              <a:t>패킷을 </a:t>
            </a:r>
            <a:r>
              <a:rPr lang="en-US" altLang="ko-KR" dirty="0"/>
              <a:t>data link</a:t>
            </a:r>
            <a:r>
              <a:rPr lang="ko-KR" altLang="en-US" dirty="0"/>
              <a:t> 계층이 다룰 수 있게 잘라서 보냄</a:t>
            </a:r>
            <a:endParaRPr lang="en-US" altLang="ko-KR" dirty="0"/>
          </a:p>
          <a:p>
            <a:pPr lvl="1"/>
            <a:r>
              <a:rPr lang="en-US" altLang="ko-KR" dirty="0"/>
              <a:t>Flow control : </a:t>
            </a:r>
            <a:r>
              <a:rPr lang="ko-KR" altLang="en-US" dirty="0"/>
              <a:t>수신</a:t>
            </a:r>
            <a:r>
              <a:rPr lang="en-US" altLang="ko-KR" dirty="0"/>
              <a:t>/</a:t>
            </a:r>
            <a:r>
              <a:rPr lang="ko-KR" altLang="en-US" dirty="0" err="1"/>
              <a:t>송신측의</a:t>
            </a:r>
            <a:r>
              <a:rPr lang="ko-KR" altLang="en-US" dirty="0"/>
              <a:t> 데이터 전송속도 조절</a:t>
            </a:r>
            <a:endParaRPr lang="en-US" altLang="ko-KR" dirty="0"/>
          </a:p>
          <a:p>
            <a:pPr lvl="1"/>
            <a:r>
              <a:rPr lang="en-US" altLang="ko-KR" dirty="0"/>
              <a:t>Error control : </a:t>
            </a:r>
            <a:r>
              <a:rPr lang="ko-KR" altLang="en-US" dirty="0"/>
              <a:t>오류를 탐지</a:t>
            </a:r>
            <a:r>
              <a:rPr lang="en-US" altLang="ko-KR" dirty="0"/>
              <a:t>/</a:t>
            </a:r>
            <a:r>
              <a:rPr lang="ko-KR" altLang="en-US" dirty="0"/>
              <a:t>수정</a:t>
            </a:r>
            <a:endParaRPr lang="en-US" altLang="ko-KR" dirty="0"/>
          </a:p>
          <a:p>
            <a:r>
              <a:rPr lang="en-US" altLang="ko-KR" dirty="0"/>
              <a:t>Functions of the Data Link Layer</a:t>
            </a:r>
          </a:p>
          <a:p>
            <a:pPr lvl="1"/>
            <a:r>
              <a:rPr lang="ko-KR" altLang="en-US" dirty="0"/>
              <a:t>데이터 링크의 역할 </a:t>
            </a:r>
            <a:r>
              <a:rPr lang="en-US" altLang="ko-KR" dirty="0"/>
              <a:t>: </a:t>
            </a:r>
            <a:r>
              <a:rPr lang="ko-KR" altLang="en-US" dirty="0"/>
              <a:t>프레임을 받고</a:t>
            </a:r>
            <a:br>
              <a:rPr lang="en-US" altLang="ko-KR" dirty="0"/>
            </a:br>
            <a:r>
              <a:rPr lang="ko-KR" altLang="en-US" dirty="0"/>
              <a:t>헤더</a:t>
            </a:r>
            <a:r>
              <a:rPr lang="en-US" altLang="ko-KR" dirty="0"/>
              <a:t>, </a:t>
            </a:r>
            <a:r>
              <a:rPr lang="ko-KR" altLang="en-US" dirty="0"/>
              <a:t>트레일러를 통해 </a:t>
            </a:r>
            <a:r>
              <a:rPr lang="en-US" altLang="ko-KR" dirty="0"/>
              <a:t>flow control,</a:t>
            </a:r>
            <a:br>
              <a:rPr lang="en-US" altLang="ko-KR" dirty="0"/>
            </a:br>
            <a:r>
              <a:rPr lang="en-US" altLang="ko-KR" dirty="0"/>
              <a:t>error control</a:t>
            </a:r>
            <a:r>
              <a:rPr lang="ko-KR" altLang="en-US" dirty="0"/>
              <a:t>이 이상 없을 경우 </a:t>
            </a:r>
            <a:r>
              <a:rPr lang="en-US" altLang="ko-KR" dirty="0" err="1"/>
              <a:t>payolad</a:t>
            </a:r>
            <a:r>
              <a:rPr lang="ko-KR" altLang="en-US" dirty="0"/>
              <a:t>를</a:t>
            </a:r>
            <a:br>
              <a:rPr lang="en-US" altLang="ko-KR" dirty="0"/>
            </a:br>
            <a:r>
              <a:rPr lang="en-US" altLang="ko-KR" dirty="0"/>
              <a:t>3</a:t>
            </a:r>
            <a:r>
              <a:rPr lang="ko-KR" altLang="en-US" dirty="0"/>
              <a:t>계층에 넘겨줌</a:t>
            </a:r>
            <a:endParaRPr lang="en-US" altLang="ko-KR" dirty="0"/>
          </a:p>
          <a:p>
            <a:r>
              <a:rPr lang="en-US" altLang="ko-KR" dirty="0"/>
              <a:t>Services</a:t>
            </a:r>
            <a:r>
              <a:rPr lang="ko-KR" altLang="en-US" dirty="0"/>
              <a:t> </a:t>
            </a:r>
            <a:r>
              <a:rPr lang="en-US" altLang="ko-KR" dirty="0"/>
              <a:t>provided to Network Layer</a:t>
            </a:r>
          </a:p>
          <a:p>
            <a:pPr lvl="1"/>
            <a:r>
              <a:rPr lang="ko-KR" altLang="en-US" dirty="0" err="1"/>
              <a:t>계층끼리의</a:t>
            </a:r>
            <a:r>
              <a:rPr lang="ko-KR" altLang="en-US" dirty="0"/>
              <a:t> 통신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dirty="0"/>
              <a:t>(a)</a:t>
            </a:r>
            <a:r>
              <a:rPr lang="ko-KR" altLang="en-US" dirty="0"/>
              <a:t>가 아니라 </a:t>
            </a:r>
            <a:r>
              <a:rPr lang="en-US" altLang="ko-KR" dirty="0"/>
              <a:t>(b)</a:t>
            </a:r>
            <a:r>
              <a:rPr lang="ko-KR" altLang="en-US" dirty="0"/>
              <a:t>처럼 </a:t>
            </a:r>
            <a:r>
              <a:rPr lang="en-US" altLang="ko-KR" dirty="0"/>
              <a:t>3-2-1-1-2-3 </a:t>
            </a:r>
            <a:r>
              <a:rPr lang="ko-KR" altLang="en-US" dirty="0"/>
              <a:t>계층을</a:t>
            </a:r>
            <a:br>
              <a:rPr lang="en-US" altLang="ko-KR" dirty="0"/>
            </a:br>
            <a:r>
              <a:rPr lang="ko-KR" altLang="en-US" dirty="0"/>
              <a:t>오가며 통신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Error control (error detection / correction)</a:t>
            </a:r>
          </a:p>
          <a:p>
            <a:pPr lvl="1"/>
            <a:r>
              <a:rPr lang="en-US" altLang="ko-KR" dirty="0"/>
              <a:t>CRC</a:t>
            </a:r>
            <a:r>
              <a:rPr lang="ko-KR" altLang="en-US" dirty="0"/>
              <a:t> 방식 </a:t>
            </a:r>
            <a:r>
              <a:rPr lang="en-US" altLang="ko-KR" dirty="0"/>
              <a:t>: </a:t>
            </a:r>
            <a:r>
              <a:rPr lang="ko-KR" altLang="en-US" dirty="0"/>
              <a:t>프레임을 미리 지정한 숫자로 나눠 </a:t>
            </a:r>
            <a:r>
              <a:rPr lang="en-US" altLang="ko-KR" dirty="0"/>
              <a:t>0</a:t>
            </a:r>
            <a:r>
              <a:rPr lang="ko-KR" altLang="en-US" dirty="0"/>
              <a:t>으로</a:t>
            </a:r>
            <a:r>
              <a:rPr lang="en-US" altLang="ko-KR" dirty="0"/>
              <a:t> </a:t>
            </a:r>
            <a:r>
              <a:rPr lang="ko-KR" altLang="en-US" dirty="0"/>
              <a:t>나눠 떨어지게끔 설정</a:t>
            </a:r>
            <a:endParaRPr lang="en-US" altLang="ko-KR" dirty="0"/>
          </a:p>
          <a:p>
            <a:pPr lvl="2"/>
            <a:r>
              <a:rPr lang="ko-KR" altLang="en-US" dirty="0"/>
              <a:t>문제점 </a:t>
            </a:r>
            <a:r>
              <a:rPr lang="en-US" altLang="ko-KR" dirty="0"/>
              <a:t>: </a:t>
            </a:r>
            <a:r>
              <a:rPr lang="ko-KR" altLang="en-US" dirty="0"/>
              <a:t>에러 발견만 가능</a:t>
            </a:r>
            <a:endParaRPr lang="en-US" altLang="ko-KR" dirty="0"/>
          </a:p>
          <a:p>
            <a:pPr lvl="1"/>
            <a:r>
              <a:rPr lang="en-US" altLang="ko-KR" dirty="0"/>
              <a:t>Hamming code : </a:t>
            </a:r>
            <a:r>
              <a:rPr lang="ko-KR" altLang="en-US" dirty="0"/>
              <a:t>에러가</a:t>
            </a:r>
            <a:r>
              <a:rPr lang="en-US" altLang="ko-KR" dirty="0"/>
              <a:t> </a:t>
            </a:r>
            <a:r>
              <a:rPr lang="ko-KR" altLang="en-US" dirty="0"/>
              <a:t>있을 때 추가로 몇 비트를 넣어야 하는지 계산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2E7AB4-3C48-176C-9416-B1B297B7B8D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10">
            <a:extLst>
              <a:ext uri="{FF2B5EF4-FFF2-40B4-BE49-F238E27FC236}">
                <a16:creationId xmlns:a16="http://schemas.microsoft.com/office/drawing/2014/main" id="{6F2B53C5-947B-1BC3-9229-0F1A1C775C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2646" y="1726833"/>
            <a:ext cx="2016224" cy="936104"/>
          </a:xfrm>
          <a:prstGeom prst="rect">
            <a:avLst/>
          </a:prstGeom>
        </p:spPr>
      </p:pic>
      <p:pic>
        <p:nvPicPr>
          <p:cNvPr id="8" name="object 17">
            <a:extLst>
              <a:ext uri="{FF2B5EF4-FFF2-40B4-BE49-F238E27FC236}">
                <a16:creationId xmlns:a16="http://schemas.microsoft.com/office/drawing/2014/main" id="{07D5D1CF-2586-1814-F0E9-96FBA93C56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72985" y="2734945"/>
            <a:ext cx="2042312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02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5BE58B5-7B4A-6F2C-89DB-088BDFFD4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6D0EF0C-223C-8D08-F683-F0FDB36A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Framing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808510-E758-E896-AEA0-71A85B9415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60330AB-74ED-C621-38C3-A9E5409C13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Framing</a:t>
            </a:r>
          </a:p>
          <a:p>
            <a:pPr lvl="1"/>
            <a:r>
              <a:rPr lang="ko-KR" altLang="en-US" dirty="0"/>
              <a:t>패킷을 </a:t>
            </a:r>
            <a:r>
              <a:rPr lang="en-US" altLang="ko-KR" dirty="0"/>
              <a:t>data link </a:t>
            </a:r>
            <a:r>
              <a:rPr lang="ko-KR" altLang="en-US" dirty="0"/>
              <a:t>계층이 다룰 수 있게 잘라서 보냄</a:t>
            </a:r>
            <a:endParaRPr lang="en-US" altLang="ko-KR" dirty="0"/>
          </a:p>
          <a:p>
            <a:r>
              <a:rPr lang="en-US" altLang="ko-KR" dirty="0"/>
              <a:t>Character Count</a:t>
            </a:r>
          </a:p>
          <a:p>
            <a:pPr lvl="1"/>
            <a:r>
              <a:rPr lang="ko-KR" altLang="en-US" dirty="0" err="1"/>
              <a:t>첫자리에</a:t>
            </a:r>
            <a:r>
              <a:rPr lang="ko-KR" altLang="en-US" dirty="0"/>
              <a:t> </a:t>
            </a:r>
            <a:r>
              <a:rPr lang="en-US" altLang="ko-KR" dirty="0"/>
              <a:t>n</a:t>
            </a:r>
            <a:r>
              <a:rPr lang="ko-KR" altLang="en-US" dirty="0"/>
              <a:t>개의 데이터를 </a:t>
            </a:r>
            <a:br>
              <a:rPr lang="en-US" altLang="ko-KR" dirty="0"/>
            </a:br>
            <a:r>
              <a:rPr lang="ko-KR" altLang="en-US" dirty="0"/>
              <a:t>보내겠다고 미리 보냄</a:t>
            </a:r>
            <a:endParaRPr lang="en-US" altLang="ko-KR" dirty="0"/>
          </a:p>
          <a:p>
            <a:pPr lvl="2"/>
            <a:r>
              <a:rPr lang="en-US" altLang="ko-KR" dirty="0"/>
              <a:t>Ex)</a:t>
            </a:r>
            <a:r>
              <a:rPr lang="ko-KR" altLang="en-US" dirty="0"/>
              <a:t> </a:t>
            </a:r>
            <a:r>
              <a:rPr lang="en-US" altLang="ko-KR" dirty="0"/>
              <a:t>51234</a:t>
            </a:r>
            <a:r>
              <a:rPr lang="ko-KR" altLang="en-US" dirty="0"/>
              <a:t> </a:t>
            </a:r>
            <a:r>
              <a:rPr lang="en-US" altLang="ko-KR" dirty="0"/>
              <a:t>80123456</a:t>
            </a:r>
          </a:p>
          <a:p>
            <a:pPr lvl="1"/>
            <a:r>
              <a:rPr lang="ko-KR" altLang="en-US" dirty="0"/>
              <a:t>문제점 </a:t>
            </a:r>
            <a:r>
              <a:rPr lang="en-US" altLang="ko-KR" dirty="0"/>
              <a:t>: frame count</a:t>
            </a:r>
            <a:r>
              <a:rPr lang="ko-KR" altLang="en-US" dirty="0"/>
              <a:t>가 </a:t>
            </a:r>
            <a:br>
              <a:rPr lang="en-US" altLang="ko-KR" dirty="0"/>
            </a:br>
            <a:r>
              <a:rPr lang="ko-KR" altLang="en-US" dirty="0"/>
              <a:t>오류 시 복구 불가능한 </a:t>
            </a:r>
            <a:br>
              <a:rPr lang="en-US" altLang="ko-KR" dirty="0"/>
            </a:br>
            <a:r>
              <a:rPr lang="ko-KR" altLang="en-US" dirty="0"/>
              <a:t>에러</a:t>
            </a:r>
            <a:endParaRPr lang="en-US" altLang="ko-KR" dirty="0"/>
          </a:p>
          <a:p>
            <a:r>
              <a:rPr lang="en-US" altLang="ko-KR" dirty="0"/>
              <a:t>Byte stuffing</a:t>
            </a:r>
          </a:p>
          <a:p>
            <a:pPr lvl="1"/>
            <a:r>
              <a:rPr lang="en-US" altLang="ko-KR" dirty="0"/>
              <a:t>Flag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header,</a:t>
            </a:r>
            <a:r>
              <a:rPr lang="ko-KR" altLang="en-US" dirty="0"/>
              <a:t> </a:t>
            </a:r>
            <a:r>
              <a:rPr lang="en-US" altLang="ko-KR" dirty="0"/>
              <a:t>trailer</a:t>
            </a:r>
            <a:r>
              <a:rPr lang="ko-KR" altLang="en-US" dirty="0"/>
              <a:t>의 앞</a:t>
            </a:r>
            <a:r>
              <a:rPr lang="en-US" altLang="ko-KR" dirty="0"/>
              <a:t>,</a:t>
            </a:r>
            <a:r>
              <a:rPr lang="ko-KR" altLang="en-US" dirty="0"/>
              <a:t>뒤에 시작과</a:t>
            </a:r>
            <a:br>
              <a:rPr lang="en-US" altLang="ko-KR" dirty="0"/>
            </a:br>
            <a:r>
              <a:rPr lang="ko-KR" altLang="en-US" dirty="0"/>
              <a:t> 끝을 알리는 특수문자를 보냄</a:t>
            </a:r>
            <a:endParaRPr lang="en-US" altLang="ko-KR" dirty="0"/>
          </a:p>
          <a:p>
            <a:pPr lvl="1"/>
            <a:r>
              <a:rPr lang="en-US" altLang="ko-KR" dirty="0"/>
              <a:t>Byte stuffing : flag</a:t>
            </a:r>
            <a:r>
              <a:rPr lang="ko-KR" altLang="en-US" dirty="0"/>
              <a:t>와 동일한 문자가 </a:t>
            </a:r>
            <a:br>
              <a:rPr lang="en-US" altLang="ko-KR" dirty="0"/>
            </a:br>
            <a:r>
              <a:rPr lang="en-US" altLang="ko-KR" dirty="0"/>
              <a:t>payload</a:t>
            </a:r>
            <a:r>
              <a:rPr lang="ko-KR" altLang="en-US" dirty="0"/>
              <a:t>에 있다면 앞에 특수문자를 </a:t>
            </a:r>
            <a:br>
              <a:rPr lang="en-US" altLang="ko-KR" dirty="0"/>
            </a:br>
            <a:r>
              <a:rPr lang="ko-KR" altLang="en-US" dirty="0"/>
              <a:t>붙이고 보냄</a:t>
            </a:r>
            <a:endParaRPr lang="en-US" altLang="ko-KR" dirty="0"/>
          </a:p>
          <a:p>
            <a:pPr lvl="2"/>
            <a:r>
              <a:rPr lang="en-US" altLang="ko-KR" dirty="0"/>
              <a:t>Ex)</a:t>
            </a:r>
            <a:r>
              <a:rPr lang="ko-KR" altLang="en-US" dirty="0"/>
              <a:t> </a:t>
            </a:r>
            <a:r>
              <a:rPr lang="en-US" altLang="ko-KR" dirty="0"/>
              <a:t>n</a:t>
            </a:r>
            <a:r>
              <a:rPr lang="ko-KR" altLang="en-US" dirty="0"/>
              <a:t>이</a:t>
            </a:r>
            <a:r>
              <a:rPr lang="en-US" altLang="ko-KR" dirty="0"/>
              <a:t> flag, \</a:t>
            </a:r>
            <a:r>
              <a:rPr lang="ko-KR" altLang="en-US" dirty="0"/>
              <a:t>가 </a:t>
            </a:r>
            <a:r>
              <a:rPr lang="en-US" altLang="ko-KR" dirty="0"/>
              <a:t>ESC</a:t>
            </a:r>
            <a:r>
              <a:rPr lang="ko-KR" altLang="en-US" dirty="0"/>
              <a:t>일 때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n -&gt; \n</a:t>
            </a:r>
            <a:br>
              <a:rPr lang="en-US" altLang="ko-KR" dirty="0"/>
            </a:br>
            <a:r>
              <a:rPr lang="en-US" altLang="ko-KR" dirty="0"/>
              <a:t>\ -&gt; \\</a:t>
            </a:r>
            <a:br>
              <a:rPr lang="en-US" altLang="ko-KR" dirty="0"/>
            </a:br>
            <a:r>
              <a:rPr lang="en-US" altLang="ko-KR" dirty="0"/>
              <a:t>\n -&gt; </a:t>
            </a:r>
            <a:r>
              <a:rPr lang="en-US" altLang="ko-KR" dirty="0">
                <a:hlinkClick r:id="rId2" action="ppaction://hlinkfile"/>
              </a:rPr>
              <a:t>\\\n</a:t>
            </a:r>
            <a:br>
              <a:rPr lang="en-US" altLang="ko-KR" dirty="0"/>
            </a:br>
            <a:r>
              <a:rPr lang="en-US" altLang="ko-KR" dirty="0"/>
              <a:t>\\ -&gt; \\\\</a:t>
            </a:r>
          </a:p>
          <a:p>
            <a:r>
              <a:rPr lang="en-US" altLang="ko-KR" dirty="0"/>
              <a:t>Bit stuffing</a:t>
            </a:r>
          </a:p>
          <a:p>
            <a:pPr lvl="1"/>
            <a:r>
              <a:rPr lang="ko-KR" altLang="en-US" dirty="0"/>
              <a:t>문자단위로 나누지 않고 모든 단위를 </a:t>
            </a:r>
            <a:br>
              <a:rPr lang="en-US" altLang="ko-KR" dirty="0"/>
            </a:br>
            <a:r>
              <a:rPr lang="ko-KR" altLang="en-US" dirty="0"/>
              <a:t>비트단위로 묶어 보냄</a:t>
            </a:r>
            <a:endParaRPr lang="en-US" altLang="ko-KR" dirty="0"/>
          </a:p>
          <a:p>
            <a:pPr lvl="1"/>
            <a:r>
              <a:rPr lang="en-US" altLang="ko-KR" dirty="0"/>
              <a:t>Flag</a:t>
            </a:r>
            <a:r>
              <a:rPr lang="ko-KR" altLang="en-US" dirty="0"/>
              <a:t>가 </a:t>
            </a:r>
            <a:r>
              <a:rPr lang="en-US" altLang="ko-KR" dirty="0"/>
              <a:t>01111110 </a:t>
            </a:r>
            <a:r>
              <a:rPr lang="ko-KR" altLang="en-US" dirty="0"/>
              <a:t>일 때</a:t>
            </a:r>
            <a:r>
              <a:rPr lang="en-US" altLang="ko-KR" dirty="0"/>
              <a:t>:</a:t>
            </a:r>
          </a:p>
          <a:p>
            <a:pPr lvl="2"/>
            <a:r>
              <a:rPr lang="ko-KR" altLang="en-US" dirty="0"/>
              <a:t>송신측 </a:t>
            </a:r>
            <a:r>
              <a:rPr lang="en-US" altLang="ko-KR" dirty="0"/>
              <a:t>: 1</a:t>
            </a:r>
            <a:r>
              <a:rPr lang="ko-KR" altLang="en-US" dirty="0"/>
              <a:t>이 </a:t>
            </a:r>
            <a:r>
              <a:rPr lang="en-US" altLang="ko-KR" dirty="0"/>
              <a:t>5</a:t>
            </a:r>
            <a:r>
              <a:rPr lang="ko-KR" altLang="en-US" dirty="0"/>
              <a:t>개면 </a:t>
            </a:r>
            <a:r>
              <a:rPr lang="en-US" altLang="ko-KR" dirty="0"/>
              <a:t>0</a:t>
            </a:r>
            <a:r>
              <a:rPr lang="ko-KR" altLang="en-US" dirty="0"/>
              <a:t>을 무조건 하나 보냄</a:t>
            </a:r>
            <a:endParaRPr lang="en-US" altLang="ko-KR" dirty="0"/>
          </a:p>
          <a:p>
            <a:pPr lvl="2"/>
            <a:r>
              <a:rPr lang="ko-KR" altLang="en-US" dirty="0"/>
              <a:t>수신측 </a:t>
            </a:r>
            <a:r>
              <a:rPr lang="en-US" altLang="ko-KR" dirty="0"/>
              <a:t>: 1</a:t>
            </a:r>
            <a:r>
              <a:rPr lang="ko-KR" altLang="en-US" dirty="0"/>
              <a:t>이 </a:t>
            </a:r>
            <a:r>
              <a:rPr lang="en-US" altLang="ko-KR" dirty="0"/>
              <a:t>5</a:t>
            </a:r>
            <a:r>
              <a:rPr lang="ko-KR" altLang="en-US" dirty="0"/>
              <a:t>개 있고</a:t>
            </a:r>
            <a:r>
              <a:rPr lang="en-US" altLang="ko-KR" dirty="0"/>
              <a:t>, 0 </a:t>
            </a:r>
            <a:r>
              <a:rPr lang="ko-KR" altLang="en-US" dirty="0"/>
              <a:t>있으면</a:t>
            </a:r>
            <a:r>
              <a:rPr lang="en-US" altLang="ko-KR" dirty="0"/>
              <a:t> </a:t>
            </a:r>
            <a:r>
              <a:rPr lang="ko-KR" altLang="en-US" dirty="0"/>
              <a:t>무시</a:t>
            </a:r>
            <a:r>
              <a:rPr lang="en-US" altLang="ko-KR" dirty="0"/>
              <a:t>, 10</a:t>
            </a:r>
            <a:r>
              <a:rPr lang="ko-KR" altLang="en-US" dirty="0"/>
              <a:t>이 있으면 </a:t>
            </a:r>
            <a:r>
              <a:rPr lang="en-US" altLang="ko-KR" dirty="0"/>
              <a:t>flag</a:t>
            </a:r>
            <a:r>
              <a:rPr lang="ko-KR" altLang="en-US" dirty="0"/>
              <a:t>로 인식</a:t>
            </a:r>
            <a:endParaRPr lang="en-US" altLang="ko-KR" dirty="0"/>
          </a:p>
          <a:p>
            <a:pPr lvl="1"/>
            <a:r>
              <a:rPr lang="en-US" altLang="ko-KR" dirty="0" err="1"/>
              <a:t>Sutffed</a:t>
            </a:r>
            <a:r>
              <a:rPr lang="en-US" altLang="ko-KR" dirty="0"/>
              <a:t> bits : </a:t>
            </a:r>
            <a:r>
              <a:rPr lang="ko-KR" altLang="en-US" dirty="0"/>
              <a:t>무시되는 </a:t>
            </a:r>
            <a:r>
              <a:rPr lang="en-US" altLang="ko-KR" dirty="0"/>
              <a:t>0</a:t>
            </a:r>
            <a:r>
              <a:rPr lang="ko-KR" altLang="en-US" dirty="0"/>
              <a:t>들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C3ACCD-0C2A-BED3-0943-1FB4816E4DC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24">
            <a:extLst>
              <a:ext uri="{FF2B5EF4-FFF2-40B4-BE49-F238E27FC236}">
                <a16:creationId xmlns:a16="http://schemas.microsoft.com/office/drawing/2014/main" id="{FCFC14D0-C5D0-22E2-FC3F-72E527F6576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0" y="1064568"/>
            <a:ext cx="3364731" cy="1440160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49AB5EEF-5A0D-EAD0-3A60-D84DE6C4EE6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3075" y="2680690"/>
            <a:ext cx="2570068" cy="1629018"/>
          </a:xfrm>
          <a:prstGeom prst="rect">
            <a:avLst/>
          </a:prstGeom>
        </p:spPr>
      </p:pic>
      <p:pic>
        <p:nvPicPr>
          <p:cNvPr id="9" name="object 7">
            <a:extLst>
              <a:ext uri="{FF2B5EF4-FFF2-40B4-BE49-F238E27FC236}">
                <a16:creationId xmlns:a16="http://schemas.microsoft.com/office/drawing/2014/main" id="{33C8A1FE-B811-240F-538D-23853C97E78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08846" y="4510720"/>
            <a:ext cx="2274189" cy="88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59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8318A95-D9BB-889A-1BD2-DB7588325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8F57701-A1C9-D0D2-5D04-7DC345AE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Flow control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F6C0DF-D308-D7D6-9F59-088C261E2F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011B30D-84EC-CFC1-EA6B-7E34CADA7C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Stop and wait</a:t>
            </a:r>
          </a:p>
          <a:p>
            <a:pPr lvl="1"/>
            <a:r>
              <a:rPr lang="ko-KR" altLang="en-US" dirty="0"/>
              <a:t>원리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n</a:t>
            </a:r>
            <a:r>
              <a:rPr lang="ko-KR" altLang="en-US" dirty="0"/>
              <a:t>번째 프레임 전송 </a:t>
            </a:r>
            <a:r>
              <a:rPr lang="en-US" altLang="ko-KR" dirty="0"/>
              <a:t>-&gt; ACK </a:t>
            </a:r>
            <a:r>
              <a:rPr lang="ko-KR" altLang="en-US" dirty="0"/>
              <a:t>기다림 </a:t>
            </a:r>
            <a:br>
              <a:rPr lang="en-US" altLang="ko-KR" dirty="0"/>
            </a:br>
            <a:r>
              <a:rPr lang="en-US" altLang="ko-KR" dirty="0"/>
              <a:t>-&gt; ACK </a:t>
            </a:r>
            <a:r>
              <a:rPr lang="ko-KR" altLang="en-US" dirty="0"/>
              <a:t>도착 </a:t>
            </a:r>
            <a:r>
              <a:rPr lang="en-US" altLang="ko-KR" dirty="0"/>
              <a:t>-&gt; n+1 </a:t>
            </a:r>
            <a:r>
              <a:rPr lang="ko-KR" altLang="en-US" dirty="0"/>
              <a:t>번째 프레임 전송</a:t>
            </a:r>
            <a:endParaRPr lang="en-US" altLang="ko-KR" dirty="0"/>
          </a:p>
          <a:p>
            <a:pPr lvl="2"/>
            <a:r>
              <a:rPr lang="ko-KR" altLang="en-US" dirty="0"/>
              <a:t>장점 단순 </a:t>
            </a:r>
            <a:r>
              <a:rPr lang="en-US" altLang="ko-KR" dirty="0"/>
              <a:t>; </a:t>
            </a:r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효율성 저하</a:t>
            </a:r>
            <a:endParaRPr lang="en-US" altLang="ko-KR" dirty="0"/>
          </a:p>
          <a:p>
            <a:pPr lvl="1"/>
            <a:r>
              <a:rPr lang="en-US" altLang="ko-KR" dirty="0"/>
              <a:t>ARQ : </a:t>
            </a:r>
            <a:r>
              <a:rPr lang="ko-KR" altLang="en-US" dirty="0"/>
              <a:t>받는 쪽에서 잘 받았다고 회신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응답 없거나 잘 못 받으면 재전송</a:t>
            </a:r>
            <a:endParaRPr lang="en-US" altLang="ko-KR" dirty="0"/>
          </a:p>
          <a:p>
            <a:pPr lvl="2"/>
            <a:r>
              <a:rPr lang="en-US" altLang="ko-KR" dirty="0"/>
              <a:t>ARQ </a:t>
            </a:r>
            <a:r>
              <a:rPr lang="ko-KR" altLang="en-US" dirty="0"/>
              <a:t>종류 </a:t>
            </a:r>
            <a:r>
              <a:rPr lang="en-US" altLang="ko-KR" dirty="0"/>
              <a:t>: </a:t>
            </a:r>
          </a:p>
          <a:p>
            <a:pPr lvl="3"/>
            <a:r>
              <a:rPr lang="en-US" altLang="ko-KR" dirty="0"/>
              <a:t>stop and wait</a:t>
            </a:r>
          </a:p>
          <a:p>
            <a:pPr lvl="3"/>
            <a:r>
              <a:rPr lang="en-US" altLang="ko-KR" dirty="0"/>
              <a:t>Stop N go back </a:t>
            </a:r>
          </a:p>
          <a:p>
            <a:pPr lvl="3"/>
            <a:r>
              <a:rPr lang="en-US" altLang="ko-KR" dirty="0"/>
              <a:t>Selective repeat</a:t>
            </a:r>
          </a:p>
          <a:p>
            <a:pPr lvl="1"/>
            <a:r>
              <a:rPr lang="en-US" altLang="ko-KR" dirty="0"/>
              <a:t>Stop-wait ARQ</a:t>
            </a:r>
          </a:p>
          <a:p>
            <a:pPr lvl="2"/>
            <a:r>
              <a:rPr lang="ko-KR" altLang="en-US" dirty="0"/>
              <a:t>데이터</a:t>
            </a:r>
            <a:r>
              <a:rPr lang="en-US" altLang="ko-KR" dirty="0"/>
              <a:t>, ACK</a:t>
            </a:r>
            <a:r>
              <a:rPr lang="ko-KR" altLang="en-US" dirty="0"/>
              <a:t>에 </a:t>
            </a:r>
            <a:r>
              <a:rPr lang="en-US" altLang="ko-KR" dirty="0"/>
              <a:t>0,1 </a:t>
            </a:r>
            <a:r>
              <a:rPr lang="ko-KR" altLang="en-US" dirty="0"/>
              <a:t>부호를 붙임 </a:t>
            </a:r>
            <a:r>
              <a:rPr lang="en-US" altLang="ko-KR" dirty="0"/>
              <a:t>-&gt;</a:t>
            </a:r>
            <a:br>
              <a:rPr lang="en-US" altLang="ko-KR" dirty="0"/>
            </a:br>
            <a:r>
              <a:rPr lang="ko-KR" altLang="en-US" dirty="0"/>
              <a:t>정상적으로 수신하면 서로 같은 부호</a:t>
            </a:r>
            <a:r>
              <a:rPr lang="en-US" altLang="ko-KR" dirty="0"/>
              <a:t>. -&gt;</a:t>
            </a:r>
            <a:br>
              <a:rPr lang="en-US" altLang="ko-KR" dirty="0"/>
            </a:br>
            <a:r>
              <a:rPr lang="ko-KR" altLang="en-US" dirty="0"/>
              <a:t>만약 정상적으로 못 받았다면 </a:t>
            </a:r>
            <a:r>
              <a:rPr lang="en-US" altLang="ko-KR" dirty="0"/>
              <a:t>NAK </a:t>
            </a:r>
            <a:r>
              <a:rPr lang="ko-KR" altLang="en-US" dirty="0"/>
              <a:t>반환</a:t>
            </a:r>
            <a:r>
              <a:rPr lang="en-US" altLang="ko-KR" dirty="0"/>
              <a:t> -&gt;</a:t>
            </a:r>
            <a:br>
              <a:rPr lang="en-US" altLang="ko-KR" dirty="0"/>
            </a:br>
            <a:r>
              <a:rPr lang="en-US" altLang="ko-KR" dirty="0"/>
              <a:t>NAK </a:t>
            </a:r>
            <a:r>
              <a:rPr lang="ko-KR" altLang="en-US" dirty="0"/>
              <a:t>받으면 복사해둔 프레임 재전송</a:t>
            </a:r>
            <a:endParaRPr lang="en-US" altLang="ko-KR" dirty="0"/>
          </a:p>
          <a:p>
            <a:pPr lvl="2"/>
            <a:r>
              <a:rPr lang="ko-KR" altLang="en-US" dirty="0"/>
              <a:t>프레임 분실</a:t>
            </a:r>
            <a:r>
              <a:rPr lang="en-US" altLang="ko-KR" dirty="0"/>
              <a:t>/ACK </a:t>
            </a:r>
            <a:r>
              <a:rPr lang="ko-KR" altLang="en-US" dirty="0"/>
              <a:t>분실 시</a:t>
            </a:r>
            <a:r>
              <a:rPr lang="en-US" altLang="ko-KR" dirty="0"/>
              <a:t>(</a:t>
            </a:r>
            <a:r>
              <a:rPr lang="ko-KR" altLang="en-US" dirty="0"/>
              <a:t>타임아웃</a:t>
            </a:r>
            <a:r>
              <a:rPr lang="en-US" altLang="ko-KR" dirty="0"/>
              <a:t>) </a:t>
            </a:r>
            <a:r>
              <a:rPr lang="ko-KR" altLang="en-US" dirty="0"/>
              <a:t>재전송</a:t>
            </a:r>
            <a:endParaRPr lang="en-US" altLang="ko-KR" dirty="0"/>
          </a:p>
          <a:p>
            <a:r>
              <a:rPr lang="en-US" altLang="ko-KR" dirty="0"/>
              <a:t>Sliding window</a:t>
            </a:r>
          </a:p>
          <a:p>
            <a:pPr lvl="1"/>
            <a:r>
              <a:rPr lang="ko-KR" altLang="en-US" dirty="0"/>
              <a:t>여러 프레임을 연속적으로 전송 </a:t>
            </a:r>
            <a:r>
              <a:rPr lang="en-US" altLang="ko-KR" dirty="0"/>
              <a:t>-&gt; </a:t>
            </a:r>
            <a:r>
              <a:rPr lang="ko-KR" altLang="en-US" dirty="0"/>
              <a:t>효율성 개선</a:t>
            </a:r>
            <a:endParaRPr lang="en-US" altLang="ko-KR" dirty="0"/>
          </a:p>
          <a:p>
            <a:pPr lvl="2"/>
            <a:r>
              <a:rPr lang="ko-KR" altLang="en-US" dirty="0"/>
              <a:t>윈도우 </a:t>
            </a:r>
            <a:r>
              <a:rPr lang="en-US" altLang="ko-KR" dirty="0"/>
              <a:t>– buffe</a:t>
            </a:r>
            <a:r>
              <a:rPr lang="ko-KR" altLang="en-US" dirty="0"/>
              <a:t>의 크기</a:t>
            </a:r>
            <a:endParaRPr lang="en-US" altLang="ko-KR" dirty="0"/>
          </a:p>
          <a:p>
            <a:pPr lvl="1"/>
            <a:r>
              <a:rPr lang="ko-KR" altLang="en-US" dirty="0"/>
              <a:t>전송측 </a:t>
            </a:r>
            <a:r>
              <a:rPr lang="en-US" altLang="ko-KR" dirty="0"/>
              <a:t>: </a:t>
            </a:r>
            <a:r>
              <a:rPr lang="ko-KR" altLang="en-US" dirty="0"/>
              <a:t>프레임 전송 후 윈도우가 오른쪽을 </a:t>
            </a:r>
            <a:br>
              <a:rPr lang="en-US" altLang="ko-KR" dirty="0"/>
            </a:br>
            <a:r>
              <a:rPr lang="ko-KR" altLang="en-US" dirty="0"/>
              <a:t>향해 이동</a:t>
            </a:r>
            <a:r>
              <a:rPr lang="en-US" altLang="ko-KR" dirty="0"/>
              <a:t>; </a:t>
            </a:r>
          </a:p>
          <a:p>
            <a:pPr lvl="2"/>
            <a:r>
              <a:rPr lang="en-US" altLang="ko-KR" dirty="0"/>
              <a:t>7</a:t>
            </a:r>
            <a:r>
              <a:rPr lang="ko-KR" altLang="en-US" dirty="0"/>
              <a:t>의 윈도우에서 </a:t>
            </a:r>
            <a:r>
              <a:rPr lang="en-US" altLang="ko-KR" dirty="0"/>
              <a:t>3</a:t>
            </a:r>
            <a:r>
              <a:rPr lang="ko-KR" altLang="en-US" dirty="0"/>
              <a:t>개의 프레임을 전송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오른쪽으로 </a:t>
            </a:r>
            <a:r>
              <a:rPr lang="en-US" altLang="ko-KR" dirty="0"/>
              <a:t>3</a:t>
            </a:r>
            <a:r>
              <a:rPr lang="ko-KR" altLang="en-US" dirty="0"/>
              <a:t>개 프레임 이동</a:t>
            </a:r>
            <a:endParaRPr lang="en-US" altLang="ko-KR" dirty="0"/>
          </a:p>
          <a:p>
            <a:pPr lvl="1"/>
            <a:r>
              <a:rPr lang="ko-KR" altLang="en-US" dirty="0"/>
              <a:t>수신측 </a:t>
            </a:r>
            <a:r>
              <a:rPr lang="en-US" altLang="ko-KR" dirty="0"/>
              <a:t>: ACK </a:t>
            </a:r>
            <a:r>
              <a:rPr lang="ko-KR" altLang="en-US" dirty="0" err="1"/>
              <a:t>전송후</a:t>
            </a:r>
            <a:r>
              <a:rPr lang="ko-KR" altLang="en-US" dirty="0"/>
              <a:t> 오른쪽으로 윈도우 이동</a:t>
            </a:r>
            <a:endParaRPr lang="en-US" altLang="ko-KR" dirty="0"/>
          </a:p>
          <a:p>
            <a:pPr lvl="2"/>
            <a:r>
              <a:rPr lang="en-US" altLang="ko-KR" dirty="0"/>
              <a:t>0 1 2 3 4 5 6 7</a:t>
            </a:r>
            <a:r>
              <a:rPr lang="ko-KR" altLang="en-US" dirty="0"/>
              <a:t>의 윈도우에서 </a:t>
            </a:r>
            <a:r>
              <a:rPr lang="en-US" altLang="ko-KR" dirty="0"/>
              <a:t>0 1 2</a:t>
            </a:r>
            <a:r>
              <a:rPr lang="ko-KR" altLang="en-US" dirty="0"/>
              <a:t>의 </a:t>
            </a:r>
            <a:r>
              <a:rPr lang="en-US" altLang="ko-KR" dirty="0"/>
              <a:t>ACK </a:t>
            </a:r>
            <a:r>
              <a:rPr lang="ko-KR" altLang="en-US" dirty="0"/>
              <a:t>전송 </a:t>
            </a:r>
            <a:r>
              <a:rPr lang="en-US" altLang="ko-KR" dirty="0"/>
              <a:t>-&gt; 3 </a:t>
            </a:r>
            <a:r>
              <a:rPr lang="ko-KR" altLang="en-US" dirty="0"/>
              <a:t>칸을 우측으로 이동</a:t>
            </a:r>
            <a:endParaRPr lang="en-US" altLang="ko-KR" dirty="0"/>
          </a:p>
          <a:p>
            <a:r>
              <a:rPr lang="en-US" altLang="ko-KR" dirty="0"/>
              <a:t>Stop N</a:t>
            </a:r>
            <a:r>
              <a:rPr lang="ko-KR" altLang="en-US" dirty="0"/>
              <a:t> </a:t>
            </a:r>
            <a:r>
              <a:rPr lang="en-US" altLang="ko-KR" dirty="0"/>
              <a:t>go back / selective repeat</a:t>
            </a:r>
          </a:p>
          <a:p>
            <a:pPr lvl="1"/>
            <a:r>
              <a:rPr lang="en-US" altLang="ko-KR" dirty="0"/>
              <a:t>Stop N go back : </a:t>
            </a:r>
            <a:r>
              <a:rPr lang="ko-KR" altLang="en-US" dirty="0"/>
              <a:t>에러가 날 경우 </a:t>
            </a:r>
            <a:br>
              <a:rPr lang="en-US" altLang="ko-KR" dirty="0"/>
            </a:br>
            <a:r>
              <a:rPr lang="ko-KR" altLang="en-US" dirty="0"/>
              <a:t>그 부분부터 폐기하고 다시 받음</a:t>
            </a:r>
            <a:endParaRPr lang="en-US" altLang="ko-KR" dirty="0"/>
          </a:p>
          <a:p>
            <a:pPr lvl="2"/>
            <a:r>
              <a:rPr lang="ko-KR" altLang="en-US" dirty="0"/>
              <a:t>프레임</a:t>
            </a:r>
            <a:r>
              <a:rPr lang="en-US" altLang="ko-KR" dirty="0"/>
              <a:t> 2</a:t>
            </a:r>
            <a:r>
              <a:rPr lang="ko-KR" altLang="en-US" dirty="0"/>
              <a:t>부터 에러 </a:t>
            </a:r>
            <a:r>
              <a:rPr lang="en-US" altLang="ko-KR" dirty="0"/>
              <a:t>: </a:t>
            </a:r>
            <a:r>
              <a:rPr lang="ko-KR" altLang="en-US" dirty="0"/>
              <a:t>프레임 </a:t>
            </a:r>
            <a:r>
              <a:rPr lang="en-US" altLang="ko-KR" dirty="0"/>
              <a:t>2 </a:t>
            </a:r>
            <a:br>
              <a:rPr lang="en-US" altLang="ko-KR" dirty="0"/>
            </a:br>
            <a:r>
              <a:rPr lang="ko-KR" altLang="en-US" dirty="0"/>
              <a:t>올때까지 이후 데이터를 폐기</a:t>
            </a:r>
            <a:endParaRPr lang="en-US" altLang="ko-KR" dirty="0"/>
          </a:p>
          <a:p>
            <a:pPr lvl="1"/>
            <a:r>
              <a:rPr lang="en-US" altLang="ko-KR" dirty="0"/>
              <a:t>Selective repeat : </a:t>
            </a:r>
            <a:r>
              <a:rPr lang="ko-KR" altLang="en-US" dirty="0"/>
              <a:t>에러가 발생한 것만 </a:t>
            </a:r>
            <a:br>
              <a:rPr lang="en-US" altLang="ko-KR" dirty="0"/>
            </a:br>
            <a:r>
              <a:rPr lang="ko-KR" altLang="en-US" dirty="0"/>
              <a:t>다시 보냄</a:t>
            </a:r>
            <a:endParaRPr lang="en-US" altLang="ko-KR" dirty="0"/>
          </a:p>
          <a:p>
            <a:pPr lvl="2"/>
            <a:r>
              <a:rPr lang="ko-KR" altLang="en-US" dirty="0"/>
              <a:t>프레임</a:t>
            </a:r>
            <a:r>
              <a:rPr lang="en-US" altLang="ko-KR" dirty="0"/>
              <a:t> 2 </a:t>
            </a:r>
            <a:r>
              <a:rPr lang="ko-KR" altLang="en-US" dirty="0"/>
              <a:t>에러 </a:t>
            </a:r>
            <a:r>
              <a:rPr lang="en-US" altLang="ko-KR" dirty="0"/>
              <a:t>: NAK 2</a:t>
            </a:r>
            <a:r>
              <a:rPr lang="ko-KR" altLang="en-US" dirty="0"/>
              <a:t>를 보내고 </a:t>
            </a:r>
            <a:br>
              <a:rPr lang="en-US" altLang="ko-KR" dirty="0"/>
            </a:br>
            <a:r>
              <a:rPr lang="ko-KR" altLang="en-US" dirty="0"/>
              <a:t>에러 전에 받은 </a:t>
            </a:r>
            <a:r>
              <a:rPr lang="en-US" altLang="ko-KR" dirty="0"/>
              <a:t>ACK 1</a:t>
            </a:r>
            <a:r>
              <a:rPr lang="ko-KR" altLang="en-US" dirty="0"/>
              <a:t>을 계속 전송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프레임 </a:t>
            </a:r>
            <a:r>
              <a:rPr lang="en-US" altLang="ko-KR" dirty="0"/>
              <a:t>2</a:t>
            </a:r>
            <a:r>
              <a:rPr lang="ko-KR" altLang="en-US" dirty="0"/>
              <a:t>가 오고 나선 최근 받은 </a:t>
            </a:r>
            <a:br>
              <a:rPr lang="en-US" altLang="ko-KR" dirty="0"/>
            </a:br>
            <a:r>
              <a:rPr lang="en-US" altLang="ko-KR" dirty="0"/>
              <a:t>ACK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 송신 </a:t>
            </a:r>
            <a:r>
              <a:rPr lang="en-US" altLang="ko-KR" dirty="0"/>
              <a:t>-&gt; ACK 6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6CDB64-C17F-446F-A4D1-4008C7050D6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142EBF73-D7DC-5B7D-CCA7-6D8D1ED8C5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7112" y="560512"/>
            <a:ext cx="2266143" cy="1553433"/>
          </a:xfrm>
          <a:prstGeom prst="rect">
            <a:avLst/>
          </a:prstGeom>
        </p:spPr>
      </p:pic>
      <p:pic>
        <p:nvPicPr>
          <p:cNvPr id="8" name="object 15">
            <a:extLst>
              <a:ext uri="{FF2B5EF4-FFF2-40B4-BE49-F238E27FC236}">
                <a16:creationId xmlns:a16="http://schemas.microsoft.com/office/drawing/2014/main" id="{8C192600-E4C8-53CF-B7E9-F945468D3B1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6523" y="2170745"/>
            <a:ext cx="2047319" cy="1711895"/>
          </a:xfrm>
          <a:prstGeom prst="rect">
            <a:avLst/>
          </a:prstGeom>
        </p:spPr>
      </p:pic>
      <p:pic>
        <p:nvPicPr>
          <p:cNvPr id="17" name="object 7">
            <a:extLst>
              <a:ext uri="{FF2B5EF4-FFF2-40B4-BE49-F238E27FC236}">
                <a16:creationId xmlns:a16="http://schemas.microsoft.com/office/drawing/2014/main" id="{CC715395-BED2-97B5-F52E-440F382B711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24237" y="4336129"/>
            <a:ext cx="2328038" cy="1110578"/>
          </a:xfrm>
          <a:prstGeom prst="rect">
            <a:avLst/>
          </a:prstGeom>
        </p:spPr>
      </p:pic>
      <p:pic>
        <p:nvPicPr>
          <p:cNvPr id="18" name="object 21">
            <a:extLst>
              <a:ext uri="{FF2B5EF4-FFF2-40B4-BE49-F238E27FC236}">
                <a16:creationId xmlns:a16="http://schemas.microsoft.com/office/drawing/2014/main" id="{E04A2D61-D5CA-9E2F-26E9-231F89240A0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9314" y="5883430"/>
            <a:ext cx="2516256" cy="203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924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22710</TotalTime>
  <Words>2340</Words>
  <Application>Microsoft Office PowerPoint</Application>
  <PresentationFormat>A4 용지(210x297mm)</PresentationFormat>
  <Paragraphs>316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Wingdings</vt:lpstr>
      <vt:lpstr>디자인 사용자 지정</vt:lpstr>
      <vt:lpstr>PowerPoint 프레젠테이션</vt:lpstr>
      <vt:lpstr>컴퓨터 네트워크 소개</vt:lpstr>
      <vt:lpstr>네트워크 기초</vt:lpstr>
      <vt:lpstr>PowerPoint 프레젠테이션</vt:lpstr>
      <vt:lpstr>PowerPoint 프레젠테이션</vt:lpstr>
      <vt:lpstr>계층화된 프로토콜</vt:lpstr>
      <vt:lpstr>Data trasmission</vt:lpstr>
      <vt:lpstr>PowerPoint 프레젠테이션</vt:lpstr>
      <vt:lpstr>PowerPoint 프레젠테이션</vt:lpstr>
      <vt:lpstr>MAC와 LLC, IEEE 802, ALOHA 프로토콜</vt:lpstr>
      <vt:lpstr>PowerPoint 프레젠테이션</vt:lpstr>
      <vt:lpstr>Data Link Layer (LLC)</vt:lpstr>
      <vt:lpstr>Data Link layer / Error control</vt:lpstr>
      <vt:lpstr>Framing</vt:lpstr>
      <vt:lpstr>Flow control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545</cp:revision>
  <dcterms:created xsi:type="dcterms:W3CDTF">2021-05-24T07:27:04Z</dcterms:created>
  <dcterms:modified xsi:type="dcterms:W3CDTF">2024-10-31T05:57:07Z</dcterms:modified>
</cp:coreProperties>
</file>