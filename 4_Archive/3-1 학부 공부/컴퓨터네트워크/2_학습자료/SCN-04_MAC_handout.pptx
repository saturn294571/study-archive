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0693400" cy="7562850"/>
  <p:notesSz cx="106934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2979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114038" y="6914295"/>
            <a:ext cx="1336675" cy="895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" b="0" i="1">
                <a:solidFill>
                  <a:srgbClr val="B0B0B0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jpg"/><Relationship Id="rId4" Type="http://schemas.openxmlformats.org/officeDocument/2006/relationships/image" Target="../media/image40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979" y="520131"/>
            <a:ext cx="553720" cy="2962910"/>
          </a:xfrm>
          <a:custGeom>
            <a:avLst/>
            <a:gdLst/>
            <a:ahLst/>
            <a:cxnLst/>
            <a:rect l="l" t="t" r="r" b="b"/>
            <a:pathLst>
              <a:path w="553719" h="2962910">
                <a:moveTo>
                  <a:pt x="553405" y="0"/>
                </a:moveTo>
                <a:lnTo>
                  <a:pt x="0" y="0"/>
                </a:lnTo>
                <a:lnTo>
                  <a:pt x="0" y="2962728"/>
                </a:lnTo>
                <a:lnTo>
                  <a:pt x="553405" y="2962728"/>
                </a:lnTo>
                <a:lnTo>
                  <a:pt x="55340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46793" y="1896135"/>
            <a:ext cx="3632835" cy="0"/>
          </a:xfrm>
          <a:custGeom>
            <a:avLst/>
            <a:gdLst/>
            <a:ahLst/>
            <a:cxnLst/>
            <a:rect l="l" t="t" r="r" b="b"/>
            <a:pathLst>
              <a:path w="3632835" h="0">
                <a:moveTo>
                  <a:pt x="0" y="0"/>
                </a:moveTo>
                <a:lnTo>
                  <a:pt x="3632545" y="0"/>
                </a:lnTo>
              </a:path>
            </a:pathLst>
          </a:custGeom>
          <a:ln w="988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6490" y="1303241"/>
            <a:ext cx="1627527" cy="358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55663" y="1342679"/>
            <a:ext cx="214122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Computer</a:t>
            </a:r>
            <a:r>
              <a:rPr dirty="0" sz="120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  <a:p>
            <a:pPr marL="64135">
              <a:lnSpc>
                <a:spcPct val="100000"/>
              </a:lnSpc>
              <a:spcBef>
                <a:spcPts val="1190"/>
              </a:spcBef>
            </a:pPr>
            <a:r>
              <a:rPr dirty="0" sz="850" spc="5" b="1">
                <a:solidFill>
                  <a:srgbClr val="003366"/>
                </a:solidFill>
                <a:latin typeface="Arial"/>
                <a:cs typeface="Arial"/>
              </a:rPr>
              <a:t>MAC(Medium</a:t>
            </a: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850" spc="5" b="1">
                <a:solidFill>
                  <a:srgbClr val="003366"/>
                </a:solidFill>
                <a:latin typeface="Arial"/>
                <a:cs typeface="Arial"/>
              </a:rPr>
              <a:t>Access</a:t>
            </a:r>
            <a:r>
              <a:rPr dirty="0" sz="85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Control</a:t>
            </a:r>
            <a:r>
              <a:rPr dirty="0" sz="85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850" b="1">
                <a:solidFill>
                  <a:srgbClr val="003366"/>
                </a:solidFill>
                <a:latin typeface="Arial"/>
                <a:cs typeface="Arial"/>
              </a:rPr>
              <a:t>Sublayer)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63499" y="520132"/>
            <a:ext cx="4193540" cy="2614930"/>
            <a:chOff x="963499" y="520132"/>
            <a:chExt cx="4193540" cy="26149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1785" y="2000123"/>
              <a:ext cx="1511159" cy="11345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63499" y="520132"/>
              <a:ext cx="4193540" cy="474345"/>
            </a:xfrm>
            <a:custGeom>
              <a:avLst/>
              <a:gdLst/>
              <a:ahLst/>
              <a:cxnLst/>
              <a:rect l="l" t="t" r="r" b="b"/>
              <a:pathLst>
                <a:path w="4193540" h="474344">
                  <a:moveTo>
                    <a:pt x="4192953" y="0"/>
                  </a:moveTo>
                  <a:lnTo>
                    <a:pt x="0" y="0"/>
                  </a:lnTo>
                  <a:lnTo>
                    <a:pt x="0" y="473872"/>
                  </a:lnTo>
                  <a:lnTo>
                    <a:pt x="4192953" y="473872"/>
                  </a:lnTo>
                  <a:lnTo>
                    <a:pt x="419295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346231" y="530360"/>
            <a:ext cx="3440429" cy="44513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5080">
              <a:lnSpc>
                <a:spcPct val="105500"/>
              </a:lnSpc>
              <a:spcBef>
                <a:spcPts val="90"/>
              </a:spcBef>
            </a:pP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본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수업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자료로</a:t>
            </a:r>
            <a:r>
              <a:rPr dirty="0" sz="65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이용되는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저작물은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저작권법</a:t>
            </a:r>
            <a:r>
              <a:rPr dirty="0" sz="65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25">
                <a:solidFill>
                  <a:srgbClr val="FF0000"/>
                </a:solidFill>
                <a:latin typeface="Malgun Gothic"/>
                <a:cs typeface="Malgun Gothic"/>
              </a:rPr>
              <a:t>제25조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수업목적저작물</a:t>
            </a:r>
            <a:r>
              <a:rPr dirty="0" sz="650" spc="-2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이용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보상금제도에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15">
                <a:solidFill>
                  <a:srgbClr val="FF0000"/>
                </a:solidFill>
                <a:latin typeface="Malgun Gothic"/>
                <a:cs typeface="Malgun Gothic"/>
              </a:rPr>
              <a:t>의거, </a:t>
            </a:r>
            <a:r>
              <a:rPr dirty="0" sz="650" spc="-21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한국복제전송저작권협회와</a:t>
            </a:r>
            <a:r>
              <a:rPr dirty="0" sz="65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약정을</a:t>
            </a:r>
            <a:r>
              <a:rPr dirty="0" sz="65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체결하고</a:t>
            </a:r>
            <a:r>
              <a:rPr dirty="0" sz="65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적법하게</a:t>
            </a:r>
            <a:r>
              <a:rPr dirty="0" sz="65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이용하고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5">
                <a:solidFill>
                  <a:srgbClr val="FF0000"/>
                </a:solidFill>
                <a:latin typeface="Malgun Gothic"/>
                <a:cs typeface="Malgun Gothic"/>
              </a:rPr>
              <a:t>있습니다.</a:t>
            </a:r>
            <a:endParaRPr sz="650">
              <a:latin typeface="Malgun Gothic"/>
              <a:cs typeface="Malgun Gothic"/>
            </a:endParaRPr>
          </a:p>
          <a:p>
            <a:pPr algn="ctr" marR="29209">
              <a:lnSpc>
                <a:spcPct val="100000"/>
              </a:lnSpc>
              <a:spcBef>
                <a:spcPts val="55"/>
              </a:spcBef>
            </a:pP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수업자료의</a:t>
            </a:r>
            <a:r>
              <a:rPr dirty="0" sz="65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5">
                <a:solidFill>
                  <a:srgbClr val="FF0000"/>
                </a:solidFill>
                <a:latin typeface="Malgun Gothic"/>
                <a:cs typeface="Malgun Gothic"/>
              </a:rPr>
              <a:t>공개·공유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및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수업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목적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외의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사용은</a:t>
            </a:r>
            <a:r>
              <a:rPr dirty="0" sz="650" spc="-3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저작권법에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저촉되므로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10">
                <a:solidFill>
                  <a:srgbClr val="FF0000"/>
                </a:solidFill>
                <a:latin typeface="Malgun Gothic"/>
                <a:cs typeface="Malgun Gothic"/>
              </a:rPr>
              <a:t>엄격히</a:t>
            </a:r>
            <a:r>
              <a:rPr dirty="0" sz="650" spc="-3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5">
                <a:solidFill>
                  <a:srgbClr val="FF0000"/>
                </a:solidFill>
                <a:latin typeface="Malgun Gothic"/>
                <a:cs typeface="Malgun Gothic"/>
              </a:rPr>
              <a:t>금지합니다.</a:t>
            </a:r>
            <a:endParaRPr sz="650">
              <a:latin typeface="Malgun Gothic"/>
              <a:cs typeface="Malgun Gothic"/>
            </a:endParaRPr>
          </a:p>
          <a:p>
            <a:pPr algn="ctr" marR="5080">
              <a:lnSpc>
                <a:spcPct val="100000"/>
              </a:lnSpc>
              <a:spcBef>
                <a:spcPts val="45"/>
              </a:spcBef>
            </a:pPr>
            <a:r>
              <a:rPr dirty="0" sz="650" spc="60">
                <a:solidFill>
                  <a:srgbClr val="FF0000"/>
                </a:solidFill>
                <a:latin typeface="Malgun Gothic"/>
                <a:cs typeface="Malgun Gothic"/>
              </a:rPr>
              <a:t>2020.</a:t>
            </a:r>
            <a:r>
              <a:rPr dirty="0" sz="650" spc="-45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60">
                <a:solidFill>
                  <a:srgbClr val="FF0000"/>
                </a:solidFill>
                <a:latin typeface="Malgun Gothic"/>
                <a:cs typeface="Malgun Gothic"/>
              </a:rPr>
              <a:t>3.</a:t>
            </a:r>
            <a:r>
              <a:rPr dirty="0" sz="650" spc="-4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650" spc="-5">
                <a:solidFill>
                  <a:srgbClr val="FF0000"/>
                </a:solidFill>
                <a:latin typeface="Malgun Gothic"/>
                <a:cs typeface="Malgun Gothic"/>
              </a:rPr>
              <a:t>인하대학교·한국복제전송저작권협회</a:t>
            </a:r>
            <a:endParaRPr sz="65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11" name="object 11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29114" y="581866"/>
            <a:ext cx="4229735" cy="1196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30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algn="just" marL="147955" marR="5080" indent="-148590">
              <a:lnSpc>
                <a:spcPct val="101000"/>
              </a:lnSpc>
              <a:spcBef>
                <a:spcPts val="944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환경에서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네트워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크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자원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효율적으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활용하려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고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데이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터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링크  계층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LL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계층으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나누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어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처리</a:t>
            </a:r>
            <a:endParaRPr sz="1050">
              <a:latin typeface="Malgun Gothic"/>
              <a:cs typeface="Malgun Gothic"/>
            </a:endParaRPr>
          </a:p>
          <a:p>
            <a:pPr algn="just" marL="147955" marR="34290" indent="-148590">
              <a:lnSpc>
                <a:spcPct val="99700"/>
              </a:lnSpc>
              <a:spcBef>
                <a:spcPts val="49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(b)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W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환경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비교해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보면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LL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W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AN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데이터  링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크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역할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비슷하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기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때문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에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환경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에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추가된  것으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1050">
              <a:latin typeface="Malgun Gothic"/>
              <a:cs typeface="Malgun Gothic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7848" y="1814278"/>
            <a:ext cx="1932623" cy="12405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441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29114" y="3355792"/>
            <a:ext cx="5334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2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19" name="object 19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17908" y="4133266"/>
            <a:ext cx="4939030" cy="1763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30" b="1">
                <a:solidFill>
                  <a:srgbClr val="003366"/>
                </a:solidFill>
                <a:latin typeface="Arial"/>
                <a:cs typeface="Arial"/>
              </a:rPr>
              <a:t>MAC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LLC</a:t>
            </a:r>
            <a:r>
              <a:rPr dirty="0" sz="1200" spc="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0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1050">
              <a:latin typeface="Malgun Gothic"/>
              <a:cs typeface="Malgun Gothic"/>
            </a:endParaRPr>
          </a:p>
          <a:p>
            <a:pPr lvl="1" marL="614680" marR="441959" indent="-123825">
              <a:lnSpc>
                <a:spcPct val="105700"/>
              </a:lnSpc>
              <a:spcBef>
                <a:spcPts val="200"/>
              </a:spcBef>
              <a:buChar char="•"/>
              <a:tabLst>
                <a:tab pos="615315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선로의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물리적인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특성을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반영하므로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종류에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따라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특성이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구분</a:t>
            </a:r>
            <a:endParaRPr sz="9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45"/>
              </a:spcBef>
              <a:buChar char="•"/>
              <a:tabLst>
                <a:tab pos="615315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LAN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환경을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위한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종류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중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대표적인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예</a:t>
            </a:r>
            <a:endParaRPr sz="900">
              <a:latin typeface="Malgun Gothic"/>
              <a:cs typeface="Malgun Gothic"/>
            </a:endParaRPr>
          </a:p>
          <a:p>
            <a:pPr marL="688975">
              <a:lnSpc>
                <a:spcPct val="100000"/>
              </a:lnSpc>
              <a:spcBef>
                <a:spcPts val="260"/>
              </a:spcBef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지원하는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구조를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지원하는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endParaRPr sz="800">
              <a:latin typeface="Malgun Gothic"/>
              <a:cs typeface="Malgun Gothic"/>
            </a:endParaRPr>
          </a:p>
          <a:p>
            <a:pPr lvl="1" marL="614680" marR="613410" indent="-123825">
              <a:lnSpc>
                <a:spcPct val="106700"/>
              </a:lnSpc>
              <a:spcBef>
                <a:spcPts val="18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컴퓨터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네트워크에서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가장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많이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이더넷은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버스를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이용해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연결하는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지원</a:t>
            </a:r>
            <a:endParaRPr sz="900">
              <a:latin typeface="Malgun Gothic"/>
              <a:cs typeface="Malgun Gothic"/>
            </a:endParaRPr>
          </a:p>
          <a:p>
            <a:pPr lvl="1" marL="614680" marR="680085" indent="-12382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900" spc="-1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점대점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연결의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순환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구조를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지원하며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토큰이라는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특정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패턴의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순환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1558" y="3795931"/>
            <a:ext cx="4951730" cy="3519804"/>
            <a:chOff x="311558" y="3795931"/>
            <a:chExt cx="4951730" cy="3519804"/>
          </a:xfrm>
        </p:grpSpPr>
        <p:sp>
          <p:nvSpPr>
            <p:cNvPr id="23" name="object 23"/>
            <p:cNvSpPr/>
            <p:nvPr/>
          </p:nvSpPr>
          <p:spPr>
            <a:xfrm>
              <a:off x="314733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45691" y="4798822"/>
              <a:ext cx="1216025" cy="67945"/>
            </a:xfrm>
            <a:custGeom>
              <a:avLst/>
              <a:gdLst/>
              <a:ahLst/>
              <a:cxnLst/>
              <a:rect l="l" t="t" r="r" b="b"/>
              <a:pathLst>
                <a:path w="1216025" h="67945">
                  <a:moveTo>
                    <a:pt x="0" y="0"/>
                  </a:moveTo>
                  <a:lnTo>
                    <a:pt x="0" y="0"/>
                  </a:lnTo>
                  <a:lnTo>
                    <a:pt x="79247" y="0"/>
                  </a:lnTo>
                  <a:lnTo>
                    <a:pt x="95490" y="355"/>
                  </a:lnTo>
                  <a:lnTo>
                    <a:pt x="110315" y="1412"/>
                  </a:lnTo>
                  <a:lnTo>
                    <a:pt x="123735" y="3161"/>
                  </a:lnTo>
                  <a:lnTo>
                    <a:pt x="135762" y="5587"/>
                  </a:lnTo>
                  <a:lnTo>
                    <a:pt x="147790" y="8443"/>
                  </a:lnTo>
                  <a:lnTo>
                    <a:pt x="161210" y="11287"/>
                  </a:lnTo>
                  <a:lnTo>
                    <a:pt x="176035" y="14106"/>
                  </a:lnTo>
                  <a:lnTo>
                    <a:pt x="192277" y="16890"/>
                  </a:lnTo>
                  <a:lnTo>
                    <a:pt x="208067" y="19748"/>
                  </a:lnTo>
                  <a:lnTo>
                    <a:pt x="221345" y="22605"/>
                  </a:lnTo>
                  <a:lnTo>
                    <a:pt x="232122" y="25463"/>
                  </a:lnTo>
                  <a:lnTo>
                    <a:pt x="240410" y="28320"/>
                  </a:lnTo>
                  <a:lnTo>
                    <a:pt x="247648" y="31105"/>
                  </a:lnTo>
                  <a:lnTo>
                    <a:pt x="255254" y="33924"/>
                  </a:lnTo>
                  <a:lnTo>
                    <a:pt x="298511" y="46464"/>
                  </a:lnTo>
                  <a:lnTo>
                    <a:pt x="308228" y="48005"/>
                  </a:lnTo>
                  <a:lnTo>
                    <a:pt x="317779" y="49603"/>
                  </a:lnTo>
                  <a:lnTo>
                    <a:pt x="326628" y="51546"/>
                  </a:lnTo>
                  <a:lnTo>
                    <a:pt x="334785" y="53846"/>
                  </a:lnTo>
                  <a:lnTo>
                    <a:pt x="342264" y="56514"/>
                  </a:lnTo>
                  <a:lnTo>
                    <a:pt x="349144" y="59183"/>
                  </a:lnTo>
                  <a:lnTo>
                    <a:pt x="355679" y="61483"/>
                  </a:lnTo>
                  <a:lnTo>
                    <a:pt x="393064" y="67817"/>
                  </a:lnTo>
                  <a:lnTo>
                    <a:pt x="402589" y="67817"/>
                  </a:lnTo>
                  <a:lnTo>
                    <a:pt x="410082" y="67817"/>
                  </a:lnTo>
                  <a:lnTo>
                    <a:pt x="627760" y="67817"/>
                  </a:lnTo>
                  <a:lnTo>
                    <a:pt x="633811" y="67649"/>
                  </a:lnTo>
                  <a:lnTo>
                    <a:pt x="672353" y="61483"/>
                  </a:lnTo>
                  <a:lnTo>
                    <a:pt x="694076" y="53846"/>
                  </a:lnTo>
                  <a:lnTo>
                    <a:pt x="700611" y="51546"/>
                  </a:lnTo>
                  <a:lnTo>
                    <a:pt x="706788" y="49603"/>
                  </a:lnTo>
                  <a:lnTo>
                    <a:pt x="712596" y="48005"/>
                  </a:lnTo>
                  <a:lnTo>
                    <a:pt x="719004" y="46464"/>
                  </a:lnTo>
                  <a:lnTo>
                    <a:pt x="726805" y="44529"/>
                  </a:lnTo>
                  <a:lnTo>
                    <a:pt x="736010" y="42237"/>
                  </a:lnTo>
                  <a:lnTo>
                    <a:pt x="746632" y="39623"/>
                  </a:lnTo>
                  <a:lnTo>
                    <a:pt x="757181" y="36768"/>
                  </a:lnTo>
                  <a:lnTo>
                    <a:pt x="766349" y="33924"/>
                  </a:lnTo>
                  <a:lnTo>
                    <a:pt x="774136" y="31105"/>
                  </a:lnTo>
                  <a:lnTo>
                    <a:pt x="780541" y="28320"/>
                  </a:lnTo>
                  <a:lnTo>
                    <a:pt x="786518" y="25820"/>
                  </a:lnTo>
                  <a:lnTo>
                    <a:pt x="793210" y="24034"/>
                  </a:lnTo>
                  <a:lnTo>
                    <a:pt x="800615" y="22963"/>
                  </a:lnTo>
                  <a:lnTo>
                    <a:pt x="808735" y="22605"/>
                  </a:lnTo>
                  <a:lnTo>
                    <a:pt x="817401" y="22248"/>
                  </a:lnTo>
                  <a:lnTo>
                    <a:pt x="826436" y="21177"/>
                  </a:lnTo>
                  <a:lnTo>
                    <a:pt x="835828" y="19391"/>
                  </a:lnTo>
                  <a:lnTo>
                    <a:pt x="845565" y="16890"/>
                  </a:lnTo>
                  <a:lnTo>
                    <a:pt x="854928" y="14464"/>
                  </a:lnTo>
                  <a:lnTo>
                    <a:pt x="863219" y="12715"/>
                  </a:lnTo>
                  <a:lnTo>
                    <a:pt x="870461" y="11658"/>
                  </a:lnTo>
                  <a:lnTo>
                    <a:pt x="876681" y="11302"/>
                  </a:lnTo>
                  <a:lnTo>
                    <a:pt x="882489" y="11302"/>
                  </a:lnTo>
                  <a:lnTo>
                    <a:pt x="888666" y="11302"/>
                  </a:lnTo>
                  <a:lnTo>
                    <a:pt x="935989" y="11302"/>
                  </a:lnTo>
                  <a:lnTo>
                    <a:pt x="945183" y="11471"/>
                  </a:lnTo>
                  <a:lnTo>
                    <a:pt x="952960" y="11985"/>
                  </a:lnTo>
                  <a:lnTo>
                    <a:pt x="959332" y="12856"/>
                  </a:lnTo>
                  <a:lnTo>
                    <a:pt x="964310" y="14096"/>
                  </a:lnTo>
                  <a:lnTo>
                    <a:pt x="969289" y="15525"/>
                  </a:lnTo>
                  <a:lnTo>
                    <a:pt x="975661" y="16954"/>
                  </a:lnTo>
                  <a:lnTo>
                    <a:pt x="1017527" y="22437"/>
                  </a:lnTo>
                  <a:lnTo>
                    <a:pt x="1023746" y="22605"/>
                  </a:lnTo>
                  <a:lnTo>
                    <a:pt x="1031239" y="22605"/>
                  </a:lnTo>
                  <a:lnTo>
                    <a:pt x="1035938" y="23494"/>
                  </a:lnTo>
                  <a:lnTo>
                    <a:pt x="1037844" y="25399"/>
                  </a:lnTo>
                  <a:lnTo>
                    <a:pt x="1039748" y="27304"/>
                  </a:lnTo>
                  <a:lnTo>
                    <a:pt x="1042542" y="28320"/>
                  </a:lnTo>
                  <a:lnTo>
                    <a:pt x="1172590" y="28320"/>
                  </a:lnTo>
                  <a:lnTo>
                    <a:pt x="1179195" y="27304"/>
                  </a:lnTo>
                  <a:lnTo>
                    <a:pt x="1184909" y="25399"/>
                  </a:lnTo>
                  <a:lnTo>
                    <a:pt x="1190497" y="23494"/>
                  </a:lnTo>
                  <a:lnTo>
                    <a:pt x="1194308" y="22605"/>
                  </a:lnTo>
                  <a:lnTo>
                    <a:pt x="1196213" y="22605"/>
                  </a:lnTo>
                  <a:lnTo>
                    <a:pt x="1198117" y="22605"/>
                  </a:lnTo>
                  <a:lnTo>
                    <a:pt x="1199895" y="21716"/>
                  </a:lnTo>
                  <a:lnTo>
                    <a:pt x="1201801" y="19811"/>
                  </a:lnTo>
                  <a:lnTo>
                    <a:pt x="1203706" y="17906"/>
                  </a:lnTo>
                  <a:lnTo>
                    <a:pt x="1205610" y="16890"/>
                  </a:lnTo>
                  <a:lnTo>
                    <a:pt x="1207515" y="16890"/>
                  </a:lnTo>
                  <a:lnTo>
                    <a:pt x="1209420" y="16890"/>
                  </a:lnTo>
                  <a:lnTo>
                    <a:pt x="1212214" y="16890"/>
                  </a:lnTo>
                  <a:lnTo>
                    <a:pt x="1216025" y="16890"/>
                  </a:lnTo>
                </a:path>
              </a:pathLst>
            </a:custGeom>
            <a:ln w="126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435307" y="4133266"/>
            <a:ext cx="4939030" cy="162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30" b="1">
                <a:solidFill>
                  <a:srgbClr val="003366"/>
                </a:solidFill>
                <a:latin typeface="Arial"/>
                <a:cs typeface="Arial"/>
              </a:rPr>
              <a:t>MAC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LLC</a:t>
            </a:r>
            <a:r>
              <a:rPr dirty="0" sz="1200" spc="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10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105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60"/>
              </a:spcBef>
              <a:buChar char="•"/>
              <a:tabLst>
                <a:tab pos="615315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LAN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환경에서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WAN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환경의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링크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기능이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유사</a:t>
            </a:r>
            <a:endParaRPr sz="900">
              <a:latin typeface="Malgun Gothic"/>
              <a:cs typeface="Malgun Gothic"/>
            </a:endParaRPr>
          </a:p>
          <a:p>
            <a:pPr lvl="1" marL="614680" marR="343535" indent="-12382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송수신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호스트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과정에서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물리적인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오류가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이를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복구하는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작업을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900">
              <a:latin typeface="Malgun Gothic"/>
              <a:cs typeface="Malgun Gothic"/>
            </a:endParaRPr>
          </a:p>
          <a:p>
            <a:pPr lvl="1" marL="614680" marR="363220" indent="-12382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변형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분실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등에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관한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제어와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송수신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호스트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사이의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속도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차이에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관한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흐름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등의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기능이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필요</a:t>
            </a:r>
            <a:endParaRPr sz="9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90"/>
              </a:spcBef>
              <a:buChar char="•"/>
              <a:tabLst>
                <a:tab pos="615315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LLC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특성에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부분적으로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영향을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받을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algn="ctr" marL="234950">
              <a:lnSpc>
                <a:spcPct val="100000"/>
              </a:lnSpc>
              <a:spcBef>
                <a:spcPts val="260"/>
              </a:spcBef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약간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28957" y="2275713"/>
            <a:ext cx="4951730" cy="5039995"/>
            <a:chOff x="5428957" y="2275713"/>
            <a:chExt cx="4951730" cy="5039995"/>
          </a:xfrm>
        </p:grpSpPr>
        <p:sp>
          <p:nvSpPr>
            <p:cNvPr id="27" name="object 27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233032" y="22820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99014" y="6906848"/>
            <a:ext cx="66040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3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716414" y="6906848"/>
            <a:ext cx="66040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4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74660" y="1733296"/>
            <a:ext cx="437515" cy="171450"/>
          </a:xfrm>
          <a:custGeom>
            <a:avLst/>
            <a:gdLst/>
            <a:ahLst/>
            <a:cxnLst/>
            <a:rect l="l" t="t" r="r" b="b"/>
            <a:pathLst>
              <a:path w="437515" h="171450">
                <a:moveTo>
                  <a:pt x="437261" y="7620"/>
                </a:moveTo>
                <a:lnTo>
                  <a:pt x="324993" y="7620"/>
                </a:lnTo>
                <a:lnTo>
                  <a:pt x="324993" y="0"/>
                </a:lnTo>
                <a:lnTo>
                  <a:pt x="0" y="0"/>
                </a:lnTo>
                <a:lnTo>
                  <a:pt x="0" y="7620"/>
                </a:lnTo>
                <a:lnTo>
                  <a:pt x="0" y="152400"/>
                </a:lnTo>
                <a:lnTo>
                  <a:pt x="0" y="171450"/>
                </a:lnTo>
                <a:lnTo>
                  <a:pt x="324993" y="171450"/>
                </a:lnTo>
                <a:lnTo>
                  <a:pt x="324993" y="152400"/>
                </a:lnTo>
                <a:lnTo>
                  <a:pt x="437261" y="152400"/>
                </a:lnTo>
                <a:lnTo>
                  <a:pt x="437261" y="762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460613" y="1564386"/>
            <a:ext cx="781050" cy="152400"/>
          </a:xfrm>
          <a:custGeom>
            <a:avLst/>
            <a:gdLst/>
            <a:ahLst/>
            <a:cxnLst/>
            <a:rect l="l" t="t" r="r" b="b"/>
            <a:pathLst>
              <a:path w="781050" h="152400">
                <a:moveTo>
                  <a:pt x="780542" y="7620"/>
                </a:moveTo>
                <a:lnTo>
                  <a:pt x="315341" y="7620"/>
                </a:lnTo>
                <a:lnTo>
                  <a:pt x="315341" y="0"/>
                </a:lnTo>
                <a:lnTo>
                  <a:pt x="125095" y="0"/>
                </a:lnTo>
                <a:lnTo>
                  <a:pt x="102616" y="0"/>
                </a:lnTo>
                <a:lnTo>
                  <a:pt x="35306" y="0"/>
                </a:lnTo>
                <a:lnTo>
                  <a:pt x="35306" y="7620"/>
                </a:lnTo>
                <a:lnTo>
                  <a:pt x="0" y="7620"/>
                </a:lnTo>
                <a:lnTo>
                  <a:pt x="0" y="152400"/>
                </a:lnTo>
                <a:lnTo>
                  <a:pt x="102616" y="152400"/>
                </a:lnTo>
                <a:lnTo>
                  <a:pt x="125095" y="152400"/>
                </a:lnTo>
                <a:lnTo>
                  <a:pt x="780542" y="152400"/>
                </a:lnTo>
                <a:lnTo>
                  <a:pt x="780542" y="762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38850" y="1250696"/>
            <a:ext cx="2057400" cy="172720"/>
          </a:xfrm>
          <a:custGeom>
            <a:avLst/>
            <a:gdLst/>
            <a:ahLst/>
            <a:cxnLst/>
            <a:rect l="l" t="t" r="r" b="b"/>
            <a:pathLst>
              <a:path w="2057400" h="172719">
                <a:moveTo>
                  <a:pt x="2057146" y="8890"/>
                </a:moveTo>
                <a:lnTo>
                  <a:pt x="621157" y="8890"/>
                </a:lnTo>
                <a:lnTo>
                  <a:pt x="621157" y="0"/>
                </a:lnTo>
                <a:lnTo>
                  <a:pt x="0" y="0"/>
                </a:lnTo>
                <a:lnTo>
                  <a:pt x="0" y="8890"/>
                </a:lnTo>
                <a:lnTo>
                  <a:pt x="0" y="153670"/>
                </a:lnTo>
                <a:lnTo>
                  <a:pt x="0" y="172720"/>
                </a:lnTo>
                <a:lnTo>
                  <a:pt x="621157" y="172720"/>
                </a:lnTo>
                <a:lnTo>
                  <a:pt x="621157" y="153670"/>
                </a:lnTo>
                <a:lnTo>
                  <a:pt x="2057146" y="153670"/>
                </a:lnTo>
                <a:lnTo>
                  <a:pt x="2057146" y="889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12979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1714" y="581866"/>
            <a:ext cx="229108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 802.2: Logical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Link Control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5195" y="2908449"/>
            <a:ext cx="236728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(a)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Position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LLC.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(b)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 formats.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852" y="1266652"/>
            <a:ext cx="3259416" cy="13591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1267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714" y="3355792"/>
            <a:ext cx="5334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5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12" name="object 12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16414" y="581866"/>
            <a:ext cx="110553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L</a:t>
            </a:r>
            <a:r>
              <a:rPr dirty="0" sz="1200" spc="30" b="1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N</a:t>
            </a:r>
            <a:r>
              <a:rPr dirty="0" sz="1200" spc="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표준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안</a:t>
            </a:r>
            <a:r>
              <a:rPr dirty="0" sz="12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1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16416" y="890760"/>
            <a:ext cx="4260215" cy="659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에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데이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터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크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관련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다양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표준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안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연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구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결과를</a:t>
            </a:r>
            <a:endParaRPr sz="1050">
              <a:latin typeface="Malgun Gothic"/>
              <a:cs typeface="Malgun Gothic"/>
            </a:endParaRPr>
          </a:p>
          <a:p>
            <a:pPr marL="160655">
              <a:lnSpc>
                <a:spcPct val="100000"/>
              </a:lnSpc>
              <a:spcBef>
                <a:spcPts val="15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IEE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2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시리즈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발표</a:t>
            </a:r>
            <a:endParaRPr sz="1050">
              <a:latin typeface="Malgun Gothic"/>
              <a:cs typeface="Malgun Gothic"/>
            </a:endParaRPr>
          </a:p>
          <a:p>
            <a:pPr lvl="1" marL="333375" marR="5080" indent="-123825">
              <a:lnSpc>
                <a:spcPct val="101600"/>
              </a:lnSpc>
              <a:spcBef>
                <a:spcPts val="254"/>
              </a:spcBef>
              <a:buChar char="•"/>
              <a:tabLst>
                <a:tab pos="334010" algn="l"/>
              </a:tabLst>
            </a:pP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 802.1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관련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표준안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전체를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소개하고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인터페이스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프리미티브에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대한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정의를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다룸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14059" y="1558923"/>
            <a:ext cx="182245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35890" indent="-123825">
              <a:lnSpc>
                <a:spcPct val="100000"/>
              </a:lnSpc>
              <a:spcBef>
                <a:spcPts val="115"/>
              </a:spcBef>
              <a:buChar char="•"/>
              <a:tabLst>
                <a:tab pos="136525" algn="l"/>
              </a:tabLst>
            </a:pP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74155" y="1564259"/>
            <a:ext cx="586105" cy="169545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wrap="square" lIns="0" tIns="8890" rIns="0" bIns="0" rtlCol="0" vert="horz">
            <a:spAutoFit/>
          </a:bodyPr>
          <a:lstStyle/>
          <a:p>
            <a:pPr marL="8890">
              <a:lnSpc>
                <a:spcPct val="100000"/>
              </a:lnSpc>
              <a:spcBef>
                <a:spcPts val="70"/>
              </a:spcBef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EEE</a:t>
            </a:r>
            <a:r>
              <a:rPr dirty="0" sz="90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802.2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37110" y="1558923"/>
            <a:ext cx="3385820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링크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상위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부분인</a:t>
            </a:r>
            <a:r>
              <a:rPr dirty="0" u="heavy" sz="900" spc="-40">
                <a:solidFill>
                  <a:srgbClr val="003366"/>
                </a:solidFill>
                <a:uFill>
                  <a:solidFill>
                    <a:srgbClr val="FFFF99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LLC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프로토콜의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정의를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다룸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14059" y="1727529"/>
            <a:ext cx="182245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35890" indent="-123825">
              <a:lnSpc>
                <a:spcPct val="100000"/>
              </a:lnSpc>
              <a:spcBef>
                <a:spcPts val="115"/>
              </a:spcBef>
              <a:buChar char="•"/>
              <a:tabLst>
                <a:tab pos="136525" algn="l"/>
              </a:tabLst>
            </a:pP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I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74155" y="1733575"/>
            <a:ext cx="586105" cy="170815"/>
          </a:xfrm>
          <a:prstGeom prst="rect">
            <a:avLst/>
          </a:prstGeom>
          <a:solidFill>
            <a:srgbClr val="FFFF99">
              <a:alpha val="75000"/>
            </a:srgbClr>
          </a:solidFill>
        </p:spPr>
        <p:txBody>
          <a:bodyPr wrap="square" lIns="0" tIns="8255" rIns="0" bIns="0" rtlCol="0" vert="horz">
            <a:spAutoFit/>
          </a:bodyPr>
          <a:lstStyle/>
          <a:p>
            <a:pPr marL="8890">
              <a:lnSpc>
                <a:spcPct val="100000"/>
              </a:lnSpc>
              <a:spcBef>
                <a:spcPts val="65"/>
              </a:spcBef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EEE</a:t>
            </a:r>
            <a:r>
              <a:rPr dirty="0" sz="90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802.3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70051" y="1727529"/>
            <a:ext cx="3280410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표준안부터는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대한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내용을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주로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다룸</a:t>
            </a:r>
            <a:endParaRPr sz="900">
              <a:latin typeface="Malgun Gothic"/>
              <a:cs typeface="Malgun Gothic"/>
            </a:endParaRPr>
          </a:p>
        </p:txBody>
      </p:sp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4787" y="1944172"/>
            <a:ext cx="1630569" cy="1386453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231438" y="3363232"/>
            <a:ext cx="13366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16414" y="3355792"/>
            <a:ext cx="6604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6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27" name="object 27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17908" y="4133266"/>
            <a:ext cx="4939030" cy="2324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5" b="1">
                <a:solidFill>
                  <a:srgbClr val="003366"/>
                </a:solidFill>
                <a:latin typeface="Arial"/>
                <a:cs typeface="Arial"/>
              </a:rPr>
              <a:t>LAN</a:t>
            </a:r>
            <a:r>
              <a:rPr dirty="0" sz="120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표준안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endParaRPr sz="1050">
              <a:latin typeface="Arial MT"/>
              <a:cs typeface="Arial MT"/>
            </a:endParaRPr>
          </a:p>
          <a:p>
            <a:pPr lvl="1" marL="614680" marR="461645" indent="-12382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다중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접근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이용해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매체에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방식에서는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충돌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가능성이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항상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존재</a:t>
            </a:r>
            <a:endParaRPr sz="9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충돌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문제를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해결하는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방법은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크게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가지</a:t>
            </a:r>
            <a:endParaRPr sz="900">
              <a:latin typeface="Malgun Gothic"/>
              <a:cs typeface="Malgun Gothic"/>
            </a:endParaRPr>
          </a:p>
          <a:p>
            <a:pPr lvl="2" marL="787400" marR="481330" indent="-99060">
              <a:lnSpc>
                <a:spcPct val="104000"/>
              </a:lnSpc>
              <a:spcBef>
                <a:spcPts val="220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Cambria Math"/>
                <a:cs typeface="Cambria Math"/>
              </a:rPr>
              <a:t>①</a:t>
            </a:r>
            <a:r>
              <a:rPr dirty="0" sz="800" spc="55">
                <a:solidFill>
                  <a:srgbClr val="003366"/>
                </a:solidFill>
                <a:latin typeface="Cambria Math"/>
                <a:cs typeface="Cambria Math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다수의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송신한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매체에서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현상을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허용하는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후에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문제를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해결</a:t>
            </a:r>
            <a:endParaRPr sz="800">
              <a:latin typeface="Malgun Gothic"/>
              <a:cs typeface="Malgun Gothic"/>
            </a:endParaRPr>
          </a:p>
          <a:p>
            <a:pPr lvl="2" marL="787400" indent="-99060">
              <a:lnSpc>
                <a:spcPct val="100000"/>
              </a:lnSpc>
              <a:spcBef>
                <a:spcPts val="240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Cambria Math"/>
                <a:cs typeface="Cambria Math"/>
              </a:rPr>
              <a:t>②</a:t>
            </a:r>
            <a:r>
              <a:rPr dirty="0" sz="800" spc="60">
                <a:solidFill>
                  <a:srgbClr val="003366"/>
                </a:solidFill>
                <a:latin typeface="Cambria Math"/>
                <a:cs typeface="Cambria Math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가능성을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원천적으로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차단하는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해당</a:t>
            </a:r>
            <a:endParaRPr sz="8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충돌을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허용하는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대표적인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예는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이더넷으로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많이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알려진</a:t>
            </a:r>
            <a:endParaRPr sz="900">
              <a:latin typeface="Malgun Gothic"/>
              <a:cs typeface="Malgun Gothic"/>
            </a:endParaRPr>
          </a:p>
          <a:p>
            <a:pPr marL="614680">
              <a:lnSpc>
                <a:spcPct val="100000"/>
              </a:lnSpc>
              <a:spcBef>
                <a:spcPts val="60"/>
              </a:spcBef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endParaRPr sz="900">
              <a:latin typeface="Arial MT"/>
              <a:cs typeface="Arial MT"/>
            </a:endParaRPr>
          </a:p>
          <a:p>
            <a:pPr lvl="1" marL="614680" marR="547370" indent="-123825">
              <a:lnSpc>
                <a:spcPct val="105700"/>
              </a:lnSpc>
              <a:spcBef>
                <a:spcPts val="190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충돌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회피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종류가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다양한데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가장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간단한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방법은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호스트에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서로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시간대를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지정하는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타임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슬롯을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배정하는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방법</a:t>
            </a:r>
            <a:endParaRPr sz="900">
              <a:latin typeface="Malgun Gothic"/>
              <a:cs typeface="Malgun Gothic"/>
            </a:endParaRPr>
          </a:p>
          <a:p>
            <a:pPr lvl="2" marL="787400" marR="414020" indent="-99060">
              <a:lnSpc>
                <a:spcPct val="104000"/>
              </a:lnSpc>
              <a:spcBef>
                <a:spcPts val="220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의한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송신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기능인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논리적으로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타임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슬롯 </a:t>
            </a:r>
            <a:r>
              <a:rPr dirty="0" sz="800" spc="-2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변형된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형태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4733" y="3799106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435307" y="4133266"/>
            <a:ext cx="4939030" cy="6565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5" b="1">
                <a:solidFill>
                  <a:srgbClr val="003366"/>
                </a:solidFill>
                <a:latin typeface="Arial"/>
                <a:cs typeface="Arial"/>
              </a:rPr>
              <a:t>LAN</a:t>
            </a:r>
            <a:r>
              <a:rPr dirty="0" sz="120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표준안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하나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공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유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에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호스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트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5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개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가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연결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환경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가정하여</a:t>
            </a:r>
            <a:endParaRPr sz="1050">
              <a:latin typeface="Malgun Gothic"/>
              <a:cs typeface="Malgun Gothic"/>
            </a:endParaRPr>
          </a:p>
          <a:p>
            <a:pPr marL="441959">
              <a:lnSpc>
                <a:spcPct val="100000"/>
              </a:lnSpc>
              <a:spcBef>
                <a:spcPts val="1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A/C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D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방식에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서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전송하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원리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보여줌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28957" y="3795931"/>
            <a:ext cx="4951730" cy="3519804"/>
            <a:chOff x="5428957" y="3795931"/>
            <a:chExt cx="4951730" cy="3519804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4807" y="4905181"/>
              <a:ext cx="2250435" cy="185742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99014" y="6906848"/>
            <a:ext cx="66040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7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716414" y="6906848"/>
            <a:ext cx="66040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8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014" y="581866"/>
            <a:ext cx="110553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L</a:t>
            </a:r>
            <a:r>
              <a:rPr dirty="0" sz="1200" spc="30" b="1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N</a:t>
            </a:r>
            <a:r>
              <a:rPr dirty="0" sz="1200" spc="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표준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안</a:t>
            </a:r>
            <a:r>
              <a:rPr dirty="0" sz="12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015" y="854825"/>
            <a:ext cx="4235450" cy="11347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토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큰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endParaRPr sz="1050">
              <a:latin typeface="Malgun Gothic"/>
              <a:cs typeface="Malgun Gothic"/>
            </a:endParaRPr>
          </a:p>
          <a:p>
            <a:pPr lvl="1" marL="333375" marR="198120" indent="-12382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물리적으로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보면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점선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연결되지만</a:t>
            </a:r>
            <a:r>
              <a:rPr dirty="0" sz="900" spc="25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900" spc="-2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논리적인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전달은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실선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900">
              <a:latin typeface="Arial MT"/>
              <a:cs typeface="Arial MT"/>
            </a:endParaRPr>
          </a:p>
          <a:p>
            <a:pPr lvl="1" marL="333375" marR="236854" indent="-12382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신호를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감지하는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다른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형식의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메커니즘을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endParaRPr sz="900">
              <a:latin typeface="Malgun Gothic"/>
              <a:cs typeface="Malgun Gothic"/>
            </a:endParaRPr>
          </a:p>
          <a:p>
            <a:pPr marL="506730" marR="5080" indent="-99060">
              <a:lnSpc>
                <a:spcPct val="105100"/>
              </a:lnSpc>
              <a:spcBef>
                <a:spcPts val="210"/>
              </a:spcBef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순차적으로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이루어지도록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토큰이라는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제어 </a:t>
            </a:r>
            <a:r>
              <a:rPr dirty="0" sz="800" spc="-2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577" y="2187553"/>
            <a:ext cx="2555816" cy="10353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14038" y="3363232"/>
            <a:ext cx="13366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9014" y="3355792"/>
            <a:ext cx="6604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solidFill>
                  <a:srgbClr val="898989"/>
                </a:solidFill>
                <a:latin typeface="Verdana"/>
                <a:cs typeface="Verdana"/>
              </a:rPr>
              <a:t>9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8" name="object 8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729114" y="581866"/>
            <a:ext cx="4306570" cy="15119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5" b="1">
                <a:solidFill>
                  <a:srgbClr val="003366"/>
                </a:solidFill>
                <a:latin typeface="Arial"/>
                <a:cs typeface="Arial"/>
              </a:rPr>
              <a:t>LAN</a:t>
            </a:r>
            <a:r>
              <a:rPr dirty="0" sz="120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표준안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(5)</a:t>
            </a:r>
            <a:endParaRPr sz="120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토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큰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endParaRPr sz="1050">
              <a:latin typeface="Malgun Gothic"/>
              <a:cs typeface="Malgun Gothic"/>
            </a:endParaRPr>
          </a:p>
          <a:p>
            <a:pPr lvl="1" marL="320675" marR="5080" indent="-12382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3213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순환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구조의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매체와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점대점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방식으로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연결되는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인터페이스의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동작은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대기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모드와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모드로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구분</a:t>
            </a:r>
            <a:endParaRPr sz="900">
              <a:latin typeface="Malgun Gothic"/>
              <a:cs typeface="Malgun Gothic"/>
            </a:endParaRPr>
          </a:p>
          <a:p>
            <a:pPr lvl="2" marL="494030" indent="-99695">
              <a:lnSpc>
                <a:spcPct val="100000"/>
              </a:lnSpc>
              <a:spcBef>
                <a:spcPts val="259"/>
              </a:spcBef>
              <a:buFont typeface="Arial MT"/>
              <a:buChar char="–"/>
              <a:tabLst>
                <a:tab pos="4946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대기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모드에서는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입력단으로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들어온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비트를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출력단으로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즉시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내보냄</a:t>
            </a:r>
            <a:endParaRPr sz="800">
              <a:latin typeface="Malgun Gothic"/>
              <a:cs typeface="Malgun Gothic"/>
            </a:endParaRPr>
          </a:p>
          <a:p>
            <a:pPr lvl="3" marL="474345" marR="1122045" indent="118110">
              <a:lnSpc>
                <a:spcPts val="1050"/>
              </a:lnSpc>
              <a:spcBef>
                <a:spcPts val="50"/>
              </a:spcBef>
              <a:buFont typeface="Arial MT"/>
              <a:buChar char="•"/>
              <a:tabLst>
                <a:tab pos="692150" algn="l"/>
              </a:tabLst>
            </a:pP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7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다운되거나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기타</a:t>
            </a:r>
            <a:r>
              <a:rPr dirty="0" sz="7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장애가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대기</a:t>
            </a:r>
            <a:r>
              <a:rPr dirty="0" sz="7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모드가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되어 </a:t>
            </a:r>
            <a:r>
              <a:rPr dirty="0" sz="700" spc="-229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네트워크의</a:t>
            </a:r>
            <a:r>
              <a:rPr dirty="0" sz="7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동작에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영향을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주지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않음</a:t>
            </a:r>
            <a:endParaRPr sz="700">
              <a:latin typeface="Malgun Gothic"/>
              <a:cs typeface="Malgun Gothic"/>
            </a:endParaRPr>
          </a:p>
          <a:p>
            <a:pPr lvl="2" marL="494030" marR="1729105" indent="-99060">
              <a:lnSpc>
                <a:spcPct val="105100"/>
              </a:lnSpc>
              <a:spcBef>
                <a:spcPts val="130"/>
              </a:spcBef>
              <a:buFont typeface="Arial MT"/>
              <a:buChar char="–"/>
              <a:tabLst>
                <a:tab pos="4946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모드는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토큰을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획득해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전송할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권한을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보유한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상태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5352" y="1650912"/>
            <a:ext cx="1482335" cy="1697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441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91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10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16" name="object 16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99014" y="4133266"/>
            <a:ext cx="136969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20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120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9015" y="4414125"/>
            <a:ext cx="4345305" cy="91059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7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LAN(Local</a:t>
            </a:r>
            <a:r>
              <a:rPr dirty="0" sz="90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Area</a:t>
            </a:r>
            <a:r>
              <a:rPr dirty="0" sz="9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Network)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이란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?</a:t>
            </a:r>
            <a:endParaRPr sz="900">
              <a:latin typeface="Arial MT"/>
              <a:cs typeface="Arial MT"/>
            </a:endParaRPr>
          </a:p>
          <a:p>
            <a:pPr lvl="1" marL="333375" marR="5080" indent="-123825">
              <a:lnSpc>
                <a:spcPct val="105100"/>
              </a:lnSpc>
              <a:spcBef>
                <a:spcPts val="21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빌딩이나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대학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캠퍼스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정도의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범위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personal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computer,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서버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프린터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800" spc="-204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라우터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워크스테이션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등이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상호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연결되어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구성된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거리에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제한을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둠으로써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비교적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높은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전송률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제공이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가능해짐</a:t>
            </a:r>
            <a:endParaRPr sz="800">
              <a:latin typeface="Malgun Gothic"/>
              <a:cs typeface="Malgun Gothic"/>
            </a:endParaRPr>
          </a:p>
          <a:p>
            <a:pPr lvl="1" marL="333375" marR="27940" indent="-123825">
              <a:lnSpc>
                <a:spcPct val="104000"/>
              </a:lnSpc>
              <a:spcBef>
                <a:spcPts val="19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널리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알려져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프로토콜에는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표준인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IEEE 802.3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이외에도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800" spc="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IEEE 802.5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(token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ring)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표준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IEEE 802.4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토큰버스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(token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bus)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등이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9015" y="5497594"/>
            <a:ext cx="3489325" cy="79819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1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802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 LAN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표준의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계층구조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900" spc="5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6-1]</a:t>
            </a:r>
            <a:endParaRPr sz="90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물리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PHY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전기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기계적인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특성에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대한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표준을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정의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데이터링크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없이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패킷을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기능을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수행하는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데이터링크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계층은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(Media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Access Control)</a:t>
            </a:r>
            <a:endParaRPr sz="800">
              <a:latin typeface="Arial MT"/>
              <a:cs typeface="Arial MT"/>
            </a:endParaRPr>
          </a:p>
          <a:p>
            <a:pPr lvl="1" marL="452120" indent="-24257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452120" algn="l"/>
                <a:tab pos="45275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부계층과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(Logical Link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Control)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부계층으로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구분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6660" y="6427682"/>
            <a:ext cx="2517775" cy="32639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35890" indent="-123825">
              <a:lnSpc>
                <a:spcPct val="100000"/>
              </a:lnSpc>
              <a:spcBef>
                <a:spcPts val="320"/>
              </a:spcBef>
              <a:buChar char="•"/>
              <a:tabLst>
                <a:tab pos="136525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부계층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공유미디어에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대한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접근의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조정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endParaRPr sz="800">
              <a:latin typeface="Malgun Gothic"/>
              <a:cs typeface="Malgun Gothic"/>
            </a:endParaRPr>
          </a:p>
          <a:p>
            <a:pPr marL="135890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13652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부계층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2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공유미디어에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대한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접근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감독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4733" y="3799106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435307" y="4133266"/>
            <a:ext cx="4939030" cy="272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토폴로지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성형</a:t>
            </a:r>
            <a:r>
              <a:rPr dirty="0" sz="90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토폴로지</a:t>
            </a:r>
            <a:endParaRPr sz="9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허브와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중앙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직접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연결되는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형태</a:t>
            </a:r>
            <a:endParaRPr sz="8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물리적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구조는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성형이지만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논리적으로는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버스형</a:t>
            </a:r>
            <a:endParaRPr sz="800">
              <a:latin typeface="Malgun Gothic"/>
              <a:cs typeface="Malgun Gothic"/>
            </a:endParaRPr>
          </a:p>
          <a:p>
            <a:pPr lvl="1" marL="733425" indent="-243204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733425" algn="l"/>
                <a:tab pos="73406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토폴로지와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유사</a:t>
            </a:r>
            <a:r>
              <a:rPr dirty="0" sz="800" spc="1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6-2]</a:t>
            </a:r>
            <a:endParaRPr sz="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03366"/>
              </a:buClr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474980" indent="-181610">
              <a:lnSpc>
                <a:spcPct val="100000"/>
              </a:lnSpc>
              <a:buFont typeface="Wingdings"/>
              <a:buChar char=""/>
              <a:tabLst>
                <a:tab pos="474345" algn="l"/>
                <a:tab pos="47498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장점</a:t>
            </a:r>
            <a:endParaRPr sz="9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노드에서의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I/O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포트만을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요구</a:t>
            </a:r>
            <a:endParaRPr sz="800">
              <a:latin typeface="Malgun Gothic"/>
              <a:cs typeface="Malgun Gothic"/>
            </a:endParaRPr>
          </a:p>
          <a:p>
            <a:pPr lvl="1" marL="733425" indent="-243204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733425" algn="l"/>
                <a:tab pos="73406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설치비용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저렴</a:t>
            </a:r>
            <a:endParaRPr sz="8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끊어져도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영향을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주지</a:t>
            </a:r>
            <a:endParaRPr sz="800">
              <a:latin typeface="Malgun Gothic"/>
              <a:cs typeface="Malgun Gothic"/>
            </a:endParaRPr>
          </a:p>
          <a:p>
            <a:pPr lvl="1" marL="733425" indent="-243204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733425" algn="l"/>
                <a:tab pos="73406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않으므로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안정성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측면에서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유리</a:t>
            </a:r>
            <a:endParaRPr sz="8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접속하는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서로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독립적이어서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확장성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측면에서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유리함</a:t>
            </a:r>
            <a:endParaRPr sz="800">
              <a:latin typeface="Malgun Gothic"/>
              <a:cs typeface="Malgun Gothic"/>
            </a:endParaRPr>
          </a:p>
          <a:p>
            <a:pPr marL="441959" indent="-149225">
              <a:lnSpc>
                <a:spcPct val="100000"/>
              </a:lnSpc>
              <a:spcBef>
                <a:spcPts val="54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단점</a:t>
            </a:r>
            <a:endParaRPr sz="9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중앙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문제가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전체에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영향</a:t>
            </a:r>
            <a:endParaRPr sz="8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버스형이나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링형에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비해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필요한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증가</a:t>
            </a:r>
            <a:endParaRPr sz="800">
              <a:latin typeface="Malgun Gothic"/>
              <a:cs typeface="Malgun Gothic"/>
            </a:endParaRPr>
          </a:p>
          <a:p>
            <a:pPr lvl="1" marL="614680" indent="-124460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61531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양이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증가하면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지연시간이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길어짐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28957" y="3795931"/>
            <a:ext cx="4951730" cy="3519804"/>
            <a:chOff x="5428957" y="3795931"/>
            <a:chExt cx="4951730" cy="3519804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9894" y="4436683"/>
              <a:ext cx="970699" cy="100998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990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11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7164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12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014" y="581809"/>
            <a:ext cx="3594735" cy="9366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토폴로지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160655" indent="-14859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버스형</a:t>
            </a:r>
            <a:r>
              <a:rPr dirty="0" sz="90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토폴로지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허브와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장치로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구성된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중앙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직접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형태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물리적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구조는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성형이지만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논리적으로는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버스형</a:t>
            </a:r>
            <a:endParaRPr sz="800">
              <a:latin typeface="Malgun Gothic"/>
              <a:cs typeface="Malgun Gothic"/>
            </a:endParaRPr>
          </a:p>
          <a:p>
            <a:pPr lvl="1" marL="452120" indent="-24257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452120" algn="l"/>
                <a:tab pos="45275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토폴로지와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유사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6-3]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2785" y="1250639"/>
            <a:ext cx="998886" cy="9583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9015" y="1682005"/>
            <a:ext cx="4362450" cy="176974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7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장점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59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설치가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간단하고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비용이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저렴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확장성이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양호하고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오류가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영향을</a:t>
            </a:r>
            <a:r>
              <a:rPr dirty="0" sz="8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주지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않아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우수한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안정성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연결에</a:t>
            </a:r>
            <a:r>
              <a:rPr dirty="0" sz="8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필요한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길이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최소화</a:t>
            </a:r>
            <a:endParaRPr sz="8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단점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증가하면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성능이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저하하며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문제가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영향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링크의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길이가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길어지면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신호의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감쇄현상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중계기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필요</a:t>
            </a:r>
            <a:endParaRPr sz="800">
              <a:latin typeface="Malgun Gothic"/>
              <a:cs typeface="Malgun Gothic"/>
            </a:endParaRPr>
          </a:p>
          <a:p>
            <a:pPr lvl="1" marL="333375" marR="5080" indent="-123825">
              <a:lnSpc>
                <a:spcPct val="104000"/>
              </a:lnSpc>
              <a:spcBef>
                <a:spcPts val="19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데이터양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증가하거나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증가하면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현상이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빈번해져서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네트워크의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성능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저하</a:t>
            </a:r>
            <a:endParaRPr sz="800">
              <a:latin typeface="Malgun Gothic"/>
              <a:cs typeface="Malgun Gothic"/>
            </a:endParaRPr>
          </a:p>
          <a:p>
            <a:pPr algn="ctr" marL="4445">
              <a:lnSpc>
                <a:spcPct val="100000"/>
              </a:lnSpc>
              <a:spcBef>
                <a:spcPts val="844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014" y="3355736"/>
            <a:ext cx="1098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13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7" name="object 7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16414" y="581809"/>
            <a:ext cx="124650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토폴로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지</a:t>
            </a:r>
            <a:r>
              <a:rPr dirty="0" sz="12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6416" y="854768"/>
            <a:ext cx="4352290" cy="7061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형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토폴로지</a:t>
            </a:r>
            <a:endParaRPr sz="1050">
              <a:latin typeface="Malgun Gothic"/>
              <a:cs typeface="Malgun Gothic"/>
            </a:endParaRPr>
          </a:p>
          <a:p>
            <a:pPr lvl="1" marL="333375" marR="5080" indent="-123825">
              <a:lnSpc>
                <a:spcPct val="105700"/>
              </a:lnSpc>
              <a:spcBef>
                <a:spcPts val="20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닫힌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원의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형태로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구성되며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이때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링크는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한쪽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방향으로만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가능하도록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설정하는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것이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일반적임</a:t>
            </a:r>
            <a:r>
              <a:rPr dirty="0" sz="900" spc="2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900" spc="5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6-4]</a:t>
            </a:r>
            <a:endParaRPr sz="90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패킷은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따라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계속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돌다가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노드에서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제거됨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6416" y="1735210"/>
            <a:ext cx="3218815" cy="147574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9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장점</a:t>
            </a:r>
            <a:endParaRPr sz="105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구조가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간단하여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설치와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재구성이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용이함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성형보다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링크의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길이를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줄일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있어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경제적임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어느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문제가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그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위치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파악이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용이하고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문제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발생시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신속한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복구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가능</a:t>
            </a:r>
            <a:endParaRPr sz="9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단점</a:t>
            </a:r>
            <a:endParaRPr sz="105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절차가</a:t>
            </a:r>
            <a:r>
              <a:rPr dirty="0" sz="9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복잡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노드에서의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오류는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링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전체에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영향을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줌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040880" y="1759337"/>
            <a:ext cx="984250" cy="984885"/>
            <a:chOff x="9040880" y="1759337"/>
            <a:chExt cx="984250" cy="98488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8767" y="1800168"/>
              <a:ext cx="807889" cy="91325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047548" y="1766005"/>
              <a:ext cx="970915" cy="971550"/>
            </a:xfrm>
            <a:custGeom>
              <a:avLst/>
              <a:gdLst/>
              <a:ahLst/>
              <a:cxnLst/>
              <a:rect l="l" t="t" r="r" b="b"/>
              <a:pathLst>
                <a:path w="970915" h="971550">
                  <a:moveTo>
                    <a:pt x="0" y="0"/>
                  </a:moveTo>
                  <a:lnTo>
                    <a:pt x="970524" y="0"/>
                  </a:lnTo>
                  <a:lnTo>
                    <a:pt x="970524" y="971237"/>
                  </a:lnTo>
                  <a:lnTo>
                    <a:pt x="0" y="971237"/>
                  </a:lnTo>
                  <a:lnTo>
                    <a:pt x="0" y="0"/>
                  </a:lnTo>
                  <a:close/>
                </a:path>
              </a:pathLst>
            </a:custGeom>
            <a:ln w="13181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231438" y="3363176"/>
            <a:ext cx="13366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16414" y="3355736"/>
            <a:ext cx="1098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14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9" name="object 19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99014" y="4133209"/>
            <a:ext cx="85153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</a:t>
            </a:r>
            <a:r>
              <a:rPr dirty="0" sz="1200" spc="3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2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특성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9015" y="4425091"/>
            <a:ext cx="4310380" cy="228663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0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처리율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700" spc="10">
                <a:solidFill>
                  <a:srgbClr val="003366"/>
                </a:solidFill>
                <a:latin typeface="Malgun Gothic"/>
                <a:cs typeface="Malgun Gothic"/>
              </a:rPr>
              <a:t>처리율</a:t>
            </a: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(throughput)</a:t>
            </a:r>
            <a:r>
              <a:rPr dirty="0" sz="700" spc="10">
                <a:solidFill>
                  <a:srgbClr val="003366"/>
                </a:solidFill>
                <a:latin typeface="Malgun Gothic"/>
                <a:cs typeface="Malgun Gothic"/>
              </a:rPr>
              <a:t>이란</a:t>
            </a: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?</a:t>
            </a:r>
            <a:r>
              <a:rPr dirty="0" sz="7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700" spc="2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단위시간당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링크가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처리할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데이터양을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말함</a:t>
            </a:r>
            <a:endParaRPr sz="7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15"/>
              </a:spcBef>
              <a:buChar char="•"/>
              <a:tabLst>
                <a:tab pos="334010" algn="l"/>
              </a:tabLst>
            </a:pP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700" spc="10">
                <a:solidFill>
                  <a:srgbClr val="003366"/>
                </a:solidFill>
                <a:latin typeface="Malgun Gothic"/>
                <a:cs typeface="Malgun Gothic"/>
              </a:rPr>
              <a:t>예</a:t>
            </a: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7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측의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전송률이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10Mbps</a:t>
            </a:r>
            <a:r>
              <a:rPr dirty="0" sz="700" spc="15">
                <a:solidFill>
                  <a:srgbClr val="003366"/>
                </a:solidFill>
                <a:latin typeface="Malgun Gothic"/>
                <a:cs typeface="Malgun Gothic"/>
              </a:rPr>
              <a:t>일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때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7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프로토콜의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효율을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80%</a:t>
            </a:r>
            <a:r>
              <a:rPr dirty="0" sz="700" spc="15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Malgun Gothic"/>
                <a:cs typeface="Malgun Gothic"/>
              </a:rPr>
              <a:t>가정하면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7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700" spc="15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처리율은</a:t>
            </a:r>
            <a:endParaRPr sz="700">
              <a:latin typeface="Malgun Gothic"/>
              <a:cs typeface="Malgun Gothic"/>
            </a:endParaRPr>
          </a:p>
          <a:p>
            <a:pPr marL="333375">
              <a:lnSpc>
                <a:spcPct val="100000"/>
              </a:lnSpc>
              <a:spcBef>
                <a:spcPts val="25"/>
              </a:spcBef>
            </a:pP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8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bps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가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됨</a:t>
            </a:r>
            <a:endParaRPr sz="7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시간지연성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패킷이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측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network</a:t>
            </a:r>
            <a:r>
              <a:rPr dirty="0" sz="7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10">
                <a:solidFill>
                  <a:srgbClr val="003366"/>
                </a:solidFill>
                <a:latin typeface="Arial MT"/>
                <a:cs typeface="Arial MT"/>
              </a:rPr>
              <a:t>interface</a:t>
            </a:r>
            <a:r>
              <a:rPr dirty="0" sz="700" spc="10">
                <a:solidFill>
                  <a:srgbClr val="003366"/>
                </a:solidFill>
                <a:latin typeface="Malgun Gothic"/>
                <a:cs typeface="Malgun Gothic"/>
              </a:rPr>
              <a:t>로부터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목적지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컴퓨터까지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전송되는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데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걸리는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시간</a:t>
            </a:r>
            <a:endParaRPr sz="7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시간지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연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7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요소</a:t>
            </a:r>
            <a:endParaRPr sz="700">
              <a:latin typeface="Malgun Gothic"/>
              <a:cs typeface="Malgun Gothic"/>
            </a:endParaRPr>
          </a:p>
          <a:p>
            <a:pPr lvl="2" marL="506730" indent="-99695">
              <a:lnSpc>
                <a:spcPct val="100000"/>
              </a:lnSpc>
              <a:spcBef>
                <a:spcPts val="180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미디어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접근시간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(medium</a:t>
            </a:r>
            <a:r>
              <a:rPr dirty="0" sz="5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access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time) </a:t>
            </a:r>
            <a:r>
              <a:rPr dirty="0" sz="550" spc="-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-5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노드가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패킷을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전송하기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위해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기다려야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하는시간</a:t>
            </a:r>
            <a:endParaRPr sz="550">
              <a:latin typeface="Malgun Gothic"/>
              <a:cs typeface="Malgun Gothic"/>
            </a:endParaRPr>
          </a:p>
          <a:p>
            <a:pPr lvl="2" marL="506730" indent="-99695">
              <a:lnSpc>
                <a:spcPct val="100000"/>
              </a:lnSpc>
              <a:spcBef>
                <a:spcPts val="160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전송시간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(transmission</a:t>
            </a:r>
            <a:r>
              <a:rPr dirty="0" sz="5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time) </a:t>
            </a:r>
            <a:r>
              <a:rPr dirty="0" sz="550" spc="-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전송률에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의해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나누어진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패킷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내의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수와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같음</a:t>
            </a:r>
            <a:endParaRPr sz="550">
              <a:latin typeface="Malgun Gothic"/>
              <a:cs typeface="Malgun Gothic"/>
            </a:endParaRPr>
          </a:p>
          <a:p>
            <a:pPr lvl="2" marL="506730" marR="64769" indent="-99060">
              <a:lnSpc>
                <a:spcPct val="104700"/>
              </a:lnSpc>
              <a:spcBef>
                <a:spcPts val="135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대기시간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(queuing</a:t>
            </a:r>
            <a:r>
              <a:rPr dirty="0" sz="5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time) </a:t>
            </a:r>
            <a:r>
              <a:rPr dirty="0" sz="550" spc="-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인터페이스에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먼저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도착한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패킷을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전송하기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위해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걸리는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시간으로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전송되기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위해 </a:t>
            </a:r>
            <a:r>
              <a:rPr dirty="0" sz="550" spc="-1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패킷이</a:t>
            </a:r>
            <a:r>
              <a:rPr dirty="0" sz="550" spc="-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기다려야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하는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시간</a:t>
            </a:r>
            <a:endParaRPr sz="550">
              <a:latin typeface="Malgun Gothic"/>
              <a:cs typeface="Malgun Gothic"/>
            </a:endParaRPr>
          </a:p>
          <a:p>
            <a:pPr lvl="2" marL="506730" indent="-99695">
              <a:lnSpc>
                <a:spcPct val="100000"/>
              </a:lnSpc>
              <a:spcBef>
                <a:spcPts val="160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전파시간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(propagation</a:t>
            </a:r>
            <a:r>
              <a:rPr dirty="0" sz="5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time)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-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미디어에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따라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신호가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전송되는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-5">
                <a:solidFill>
                  <a:srgbClr val="003366"/>
                </a:solidFill>
                <a:latin typeface="Malgun Gothic"/>
                <a:cs typeface="Malgun Gothic"/>
              </a:rPr>
              <a:t>데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걸리는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시간으로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전송로의</a:t>
            </a:r>
            <a:r>
              <a:rPr dirty="0" sz="550" spc="-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길이를</a:t>
            </a:r>
            <a:r>
              <a:rPr dirty="0" sz="550" spc="-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>
                <a:solidFill>
                  <a:srgbClr val="003366"/>
                </a:solidFill>
                <a:latin typeface="Arial MT"/>
                <a:cs typeface="Arial MT"/>
              </a:rPr>
              <a:t>L,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전파속도를</a:t>
            </a:r>
            <a:endParaRPr sz="550">
              <a:latin typeface="Malgun Gothic"/>
              <a:cs typeface="Malgun Gothic"/>
            </a:endParaRPr>
          </a:p>
          <a:p>
            <a:pPr marL="506730">
              <a:lnSpc>
                <a:spcPct val="100000"/>
              </a:lnSpc>
              <a:spcBef>
                <a:spcPts val="20"/>
              </a:spcBef>
            </a:pP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C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라고</a:t>
            </a:r>
            <a:r>
              <a:rPr dirty="0" sz="5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하면</a:t>
            </a:r>
            <a:r>
              <a:rPr dirty="0" sz="550" spc="1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5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550" spc="10">
                <a:solidFill>
                  <a:srgbClr val="003366"/>
                </a:solidFill>
                <a:latin typeface="Malgun Gothic"/>
                <a:cs typeface="Malgun Gothic"/>
              </a:rPr>
              <a:t>전파시간은</a:t>
            </a:r>
            <a:r>
              <a:rPr dirty="0" sz="5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L/C(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초</a:t>
            </a:r>
            <a:r>
              <a:rPr dirty="0" sz="550" spc="5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550" spc="5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550" spc="-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550" spc="15">
                <a:solidFill>
                  <a:srgbClr val="003366"/>
                </a:solidFill>
                <a:latin typeface="Malgun Gothic"/>
                <a:cs typeface="Malgun Gothic"/>
              </a:rPr>
              <a:t>표현됨</a:t>
            </a:r>
            <a:endParaRPr sz="55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보안성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신뢰성</a:t>
            </a:r>
            <a:endParaRPr sz="800">
              <a:latin typeface="Malgun Gothic"/>
              <a:cs typeface="Malgun Gothic"/>
            </a:endParaRPr>
          </a:p>
          <a:p>
            <a:pPr lvl="1" marL="333375" marR="107950" indent="-123825">
              <a:lnSpc>
                <a:spcPct val="1032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보안성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5">
                <a:solidFill>
                  <a:srgbClr val="003366"/>
                </a:solidFill>
                <a:latin typeface="Arial MT"/>
                <a:cs typeface="Arial MT"/>
              </a:rPr>
              <a:t>(security) </a:t>
            </a:r>
            <a:r>
              <a:rPr dirty="0" sz="700" spc="3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700" spc="3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외부로부터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발생되는</a:t>
            </a:r>
            <a:r>
              <a:rPr dirty="0" sz="7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사이버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위협이나</a:t>
            </a:r>
            <a:r>
              <a:rPr dirty="0" sz="7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공격으로부터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시스템을</a:t>
            </a:r>
            <a:r>
              <a:rPr dirty="0" sz="7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15">
                <a:solidFill>
                  <a:srgbClr val="003366"/>
                </a:solidFill>
                <a:latin typeface="Malgun Gothic"/>
                <a:cs typeface="Malgun Gothic"/>
              </a:rPr>
              <a:t>보호하거나</a:t>
            </a:r>
            <a:r>
              <a:rPr dirty="0" sz="700" spc="15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7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혹은</a:t>
            </a:r>
            <a:r>
              <a:rPr dirty="0" sz="7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데이터의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유출에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대처하는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것과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관련됨</a:t>
            </a:r>
            <a:endParaRPr sz="700">
              <a:latin typeface="Malgun Gothic"/>
              <a:cs typeface="Malgun Gothic"/>
            </a:endParaRPr>
          </a:p>
          <a:p>
            <a:pPr lvl="1" marL="333375" marR="82550" indent="-123825">
              <a:lnSpc>
                <a:spcPct val="103200"/>
              </a:lnSpc>
              <a:spcBef>
                <a:spcPts val="18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신뢰성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5">
                <a:solidFill>
                  <a:srgbClr val="003366"/>
                </a:solidFill>
                <a:latin typeface="Arial MT"/>
                <a:cs typeface="Arial MT"/>
              </a:rPr>
              <a:t>(reliability) </a:t>
            </a:r>
            <a:r>
              <a:rPr dirty="0" sz="700" spc="3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700" spc="2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노드나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링크에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이상이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발생했을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경우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동작이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중지되지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않고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계속</a:t>
            </a:r>
            <a:r>
              <a:rPr dirty="0" sz="7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유지될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30">
                <a:solidFill>
                  <a:srgbClr val="003366"/>
                </a:solidFill>
                <a:latin typeface="Malgun Gothic"/>
                <a:cs typeface="Malgun Gothic"/>
              </a:rPr>
              <a:t>수 </a:t>
            </a:r>
            <a:r>
              <a:rPr dirty="0" sz="700" spc="-229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있도록</a:t>
            </a:r>
            <a:r>
              <a:rPr dirty="0" sz="7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5">
                <a:solidFill>
                  <a:srgbClr val="003366"/>
                </a:solidFill>
                <a:latin typeface="Malgun Gothic"/>
                <a:cs typeface="Malgun Gothic"/>
              </a:rPr>
              <a:t>하는</a:t>
            </a:r>
            <a:r>
              <a:rPr dirty="0" sz="7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700" spc="20">
                <a:solidFill>
                  <a:srgbClr val="003366"/>
                </a:solidFill>
                <a:latin typeface="Malgun Gothic"/>
                <a:cs typeface="Malgun Gothic"/>
              </a:rPr>
              <a:t>특성</a:t>
            </a:r>
            <a:endParaRPr sz="700">
              <a:latin typeface="Malgun Gothic"/>
              <a:cs typeface="Malgun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435307" y="4133209"/>
            <a:ext cx="4939030" cy="1842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Channel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Allocation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Problem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Static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Channel Allocation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LANs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and MANs</a:t>
            </a:r>
            <a:endParaRPr sz="105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Dynamic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Channel Allocation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LANs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MANs</a:t>
            </a:r>
            <a:endParaRPr sz="1050">
              <a:latin typeface="Arial MT"/>
              <a:cs typeface="Arial MT"/>
            </a:endParaRPr>
          </a:p>
          <a:p>
            <a:pPr lvl="1" marL="614680" indent="-124460">
              <a:lnSpc>
                <a:spcPct val="100000"/>
              </a:lnSpc>
              <a:spcBef>
                <a:spcPts val="260"/>
              </a:spcBef>
              <a:buChar char="•"/>
              <a:tabLst>
                <a:tab pos="615315" algn="l"/>
              </a:tabLst>
            </a:pP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Station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Model.</a:t>
            </a:r>
            <a:endParaRPr sz="900">
              <a:latin typeface="Arial MT"/>
              <a:cs typeface="Arial MT"/>
            </a:endParaRPr>
          </a:p>
          <a:p>
            <a:pPr lvl="1" marL="614680" indent="-124460">
              <a:lnSpc>
                <a:spcPct val="100000"/>
              </a:lnSpc>
              <a:spcBef>
                <a:spcPts val="250"/>
              </a:spcBef>
              <a:buChar char="•"/>
              <a:tabLst>
                <a:tab pos="615315" algn="l"/>
              </a:tabLst>
            </a:pP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Single</a:t>
            </a: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Channel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Assumption.</a:t>
            </a:r>
            <a:endParaRPr sz="900">
              <a:latin typeface="Arial MT"/>
              <a:cs typeface="Arial MT"/>
            </a:endParaRPr>
          </a:p>
          <a:p>
            <a:pPr lvl="1" marL="614680" indent="-124460">
              <a:lnSpc>
                <a:spcPct val="100000"/>
              </a:lnSpc>
              <a:spcBef>
                <a:spcPts val="290"/>
              </a:spcBef>
              <a:buChar char="•"/>
              <a:tabLst>
                <a:tab pos="615315" algn="l"/>
              </a:tabLst>
            </a:pP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Collision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Assumption.</a:t>
            </a:r>
            <a:endParaRPr sz="900">
              <a:latin typeface="Arial MT"/>
              <a:cs typeface="Arial MT"/>
            </a:endParaRPr>
          </a:p>
          <a:p>
            <a:pPr lvl="2" marL="787400" indent="-99060">
              <a:lnSpc>
                <a:spcPct val="100000"/>
              </a:lnSpc>
              <a:spcBef>
                <a:spcPts val="260"/>
              </a:spcBef>
              <a:buChar char="–"/>
              <a:tabLst>
                <a:tab pos="78803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Continuous</a:t>
            </a:r>
            <a:r>
              <a:rPr dirty="0" sz="80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Time.</a:t>
            </a:r>
            <a:endParaRPr sz="800">
              <a:latin typeface="Arial MT"/>
              <a:cs typeface="Arial MT"/>
            </a:endParaRPr>
          </a:p>
          <a:p>
            <a:pPr lvl="2" marL="787400" indent="-99060">
              <a:lnSpc>
                <a:spcPct val="100000"/>
              </a:lnSpc>
              <a:spcBef>
                <a:spcPts val="225"/>
              </a:spcBef>
              <a:buChar char="–"/>
              <a:tabLst>
                <a:tab pos="788035" algn="l"/>
              </a:tabLst>
            </a:pP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Slotted</a:t>
            </a:r>
            <a:r>
              <a:rPr dirty="0" sz="80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Time.</a:t>
            </a:r>
            <a:endParaRPr sz="800">
              <a:latin typeface="Arial MT"/>
              <a:cs typeface="Arial MT"/>
            </a:endParaRPr>
          </a:p>
          <a:p>
            <a:pPr lvl="2" marL="787400" indent="-99060">
              <a:lnSpc>
                <a:spcPct val="100000"/>
              </a:lnSpc>
              <a:spcBef>
                <a:spcPts val="235"/>
              </a:spcBef>
              <a:buChar char="–"/>
              <a:tabLst>
                <a:tab pos="788035" algn="l"/>
              </a:tabLst>
            </a:pP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Carrier</a:t>
            </a:r>
            <a:r>
              <a:rPr dirty="0" sz="80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Sense.</a:t>
            </a:r>
            <a:endParaRPr sz="800">
              <a:latin typeface="Arial MT"/>
              <a:cs typeface="Arial MT"/>
            </a:endParaRPr>
          </a:p>
          <a:p>
            <a:pPr lvl="2" marL="787400" indent="-99060">
              <a:lnSpc>
                <a:spcPct val="100000"/>
              </a:lnSpc>
              <a:spcBef>
                <a:spcPts val="225"/>
              </a:spcBef>
              <a:buChar char="–"/>
              <a:tabLst>
                <a:tab pos="78803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No</a:t>
            </a:r>
            <a:r>
              <a:rPr dirty="0" sz="8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Carrier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Sense.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990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15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7164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16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31438" y="6914295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66"/>
            <a:ext cx="2894330" cy="1622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Multiple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Access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20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ALOHA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Carrier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Sense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Multiple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Access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Collision-Free</a:t>
            </a:r>
            <a:r>
              <a:rPr dirty="0" sz="10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Limited-Contention</a:t>
            </a:r>
            <a:r>
              <a:rPr dirty="0" sz="10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Wavelength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Division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Multiple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Access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Wireless</a:t>
            </a:r>
            <a:r>
              <a:rPr dirty="0" sz="10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67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7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17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6" name="object 6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29114" y="581866"/>
            <a:ext cx="4229100" cy="51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Pure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ALOHA</a:t>
            </a:r>
            <a:endParaRPr sz="1200">
              <a:latin typeface="Arial MT"/>
              <a:cs typeface="Arial MT"/>
            </a:endParaRPr>
          </a:p>
          <a:p>
            <a:pPr marL="217170">
              <a:lnSpc>
                <a:spcPct val="100000"/>
              </a:lnSpc>
              <a:spcBef>
                <a:spcPts val="1145"/>
              </a:spcBef>
            </a:pP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pure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ALOHA, frames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are transmitted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at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completely arbitrary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times.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3685" y="1372604"/>
            <a:ext cx="2964643" cy="181200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441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291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18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8957" y="244531"/>
            <a:ext cx="4951730" cy="7071359"/>
            <a:chOff x="5428957" y="244531"/>
            <a:chExt cx="4951730" cy="7071359"/>
          </a:xfrm>
        </p:grpSpPr>
        <p:sp>
          <p:nvSpPr>
            <p:cNvPr id="14" name="object 14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3888" y="5009543"/>
              <a:ext cx="3379862" cy="154523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17908" y="4133266"/>
            <a:ext cx="4939030" cy="527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Pure</a:t>
            </a:r>
            <a:r>
              <a:rPr dirty="0" sz="120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ALOHA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Vulnerable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period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for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shaded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frame.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1558" y="3795931"/>
            <a:ext cx="4951730" cy="3519804"/>
            <a:chOff x="311558" y="3795931"/>
            <a:chExt cx="4951730" cy="3519804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7320" y="4907663"/>
              <a:ext cx="3158199" cy="17505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4733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435307" y="4133266"/>
            <a:ext cx="4939030" cy="750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Pure</a:t>
            </a:r>
            <a:r>
              <a:rPr dirty="0" sz="120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ALOHA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  <a:p>
            <a:pPr algn="ctr" marR="63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Throughput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versus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offered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traffic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for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ALOHA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systems.</a:t>
            </a:r>
            <a:endParaRPr sz="1050">
              <a:latin typeface="Arial MT"/>
              <a:cs typeface="Arial MT"/>
            </a:endParaRPr>
          </a:p>
          <a:p>
            <a:pPr algn="ctr" marR="399415">
              <a:lnSpc>
                <a:spcPct val="100000"/>
              </a:lnSpc>
              <a:spcBef>
                <a:spcPts val="810"/>
              </a:spcBef>
            </a:pP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arrival</a:t>
            </a:r>
            <a:r>
              <a:rPr dirty="0" sz="1000" spc="-35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rate</a:t>
            </a:r>
            <a:r>
              <a:rPr dirty="0" sz="1000" spc="-3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000FF"/>
                </a:solidFill>
                <a:latin typeface="Arial MT"/>
                <a:cs typeface="Arial MT"/>
              </a:rPr>
              <a:t>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90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19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7164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20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66"/>
            <a:ext cx="215011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 with Collision Detection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148" y="1446585"/>
            <a:ext cx="3401136" cy="10157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74381" y="2932138"/>
            <a:ext cx="3034665" cy="51943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967105" marR="5080" indent="-967740">
              <a:lnSpc>
                <a:spcPts val="1230"/>
              </a:lnSpc>
              <a:spcBef>
                <a:spcPts val="165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CSMA/CD can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be in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one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of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three states: contention, </a:t>
            </a:r>
            <a:r>
              <a:rPr dirty="0" sz="1050" spc="-2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transmission,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or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idle.</a:t>
            </a:r>
            <a:endParaRPr sz="1050">
              <a:latin typeface="Arial MT"/>
              <a:cs typeface="Arial MT"/>
            </a:endParaRPr>
          </a:p>
          <a:p>
            <a:pPr marL="852169">
              <a:lnSpc>
                <a:spcPct val="100000"/>
              </a:lnSpc>
              <a:spcBef>
                <a:spcPts val="88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spc="-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spc="-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7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21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7" name="object 7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29114" y="581866"/>
            <a:ext cx="2978785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Collision-Free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200">
              <a:latin typeface="Arial MT"/>
              <a:cs typeface="Arial MT"/>
            </a:endParaRPr>
          </a:p>
          <a:p>
            <a:pPr marL="1376680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basic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bit-map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0274" y="1675968"/>
            <a:ext cx="3563781" cy="6332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441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91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22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15" name="object 15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17908" y="4133266"/>
            <a:ext cx="493903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Collision-Free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algn="ctr" marR="63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binary countdown protocol.</a:t>
            </a:r>
            <a:r>
              <a:rPr dirty="0" sz="1050" spc="2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dash indicates silence.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1558" y="3795931"/>
            <a:ext cx="4951730" cy="3519804"/>
            <a:chOff x="311558" y="3795931"/>
            <a:chExt cx="4951730" cy="3519804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4617" y="4697476"/>
              <a:ext cx="1903536" cy="186526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4733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435307" y="4133266"/>
            <a:ext cx="493903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Limited-Contention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200">
              <a:latin typeface="Arial MT"/>
              <a:cs typeface="Arial MT"/>
            </a:endParaRPr>
          </a:p>
          <a:p>
            <a:pPr algn="ctr" marR="63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Acquisition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probability for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symmetric contention channel.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28957" y="3795931"/>
            <a:ext cx="4951730" cy="3519804"/>
            <a:chOff x="5428957" y="3795931"/>
            <a:chExt cx="4951730" cy="3519804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5763" y="4858570"/>
              <a:ext cx="3162315" cy="13275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990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23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7164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24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09"/>
            <a:ext cx="294894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Adaptive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Tree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Walk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endParaRPr sz="1200">
              <a:latin typeface="Arial MT"/>
              <a:cs typeface="Arial MT"/>
            </a:endParaRPr>
          </a:p>
          <a:p>
            <a:pPr marL="140652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tree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for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eight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stations.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5319" y="1194021"/>
            <a:ext cx="2883692" cy="16250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67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7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25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7" name="object 7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29114" y="581809"/>
            <a:ext cx="167322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Wireless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8606" y="2798312"/>
            <a:ext cx="320103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wireless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LAN.</a:t>
            </a:r>
            <a:r>
              <a:rPr dirty="0" sz="1050" spc="5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DDDDD"/>
                </a:solidFill>
                <a:latin typeface="Arial MT"/>
                <a:cs typeface="Arial MT"/>
              </a:rPr>
              <a:t>(a)</a:t>
            </a:r>
            <a:r>
              <a:rPr dirty="0" sz="1050" spc="-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 transmitting.</a:t>
            </a:r>
            <a:r>
              <a:rPr dirty="0" sz="1050" spc="2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DDDDD"/>
                </a:solidFill>
                <a:latin typeface="Arial MT"/>
                <a:cs typeface="Arial MT"/>
              </a:rPr>
              <a:t>(b)</a:t>
            </a:r>
            <a:r>
              <a:rPr dirty="0" sz="1050" spc="-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B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 transmitting.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8803" y="1550918"/>
            <a:ext cx="3461528" cy="67784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441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91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26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6" name="object 16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1714" y="4133209"/>
            <a:ext cx="1910714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Wireless</a:t>
            </a:r>
            <a:r>
              <a:rPr dirty="0" sz="12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Protocols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1086" y="6246717"/>
            <a:ext cx="2845435" cy="476884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MACA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protocol.  </a:t>
            </a:r>
            <a:r>
              <a:rPr dirty="0" sz="1050" spc="-10">
                <a:solidFill>
                  <a:srgbClr val="DDDDDD"/>
                </a:solidFill>
                <a:latin typeface="Arial MT"/>
                <a:cs typeface="Arial MT"/>
              </a:rPr>
              <a:t>(a)</a:t>
            </a:r>
            <a:r>
              <a:rPr dirty="0" sz="1050" spc="-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sending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an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RTS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B.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dirty="0" sz="1050" spc="-10">
                <a:solidFill>
                  <a:srgbClr val="DDDDDD"/>
                </a:solidFill>
                <a:latin typeface="Arial MT"/>
                <a:cs typeface="Arial MT"/>
              </a:rPr>
              <a:t>(b)</a:t>
            </a:r>
            <a:r>
              <a:rPr dirty="0" sz="1050" spc="-2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B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responding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CTS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A.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2479" y="4820056"/>
              <a:ext cx="3044302" cy="134813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435307" y="4133209"/>
            <a:ext cx="4939030" cy="21336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r>
              <a:rPr dirty="0" sz="120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endParaRPr sz="1200">
              <a:latin typeface="Malgun Gothic"/>
              <a:cs typeface="Malgun Gothic"/>
            </a:endParaRPr>
          </a:p>
          <a:p>
            <a:pPr marL="441959" indent="-149225">
              <a:lnSpc>
                <a:spcPct val="100000"/>
              </a:lnSpc>
              <a:spcBef>
                <a:spcPts val="1019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경쟁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(contention)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기반으로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endParaRPr sz="800">
              <a:latin typeface="Malgun Gothic"/>
              <a:cs typeface="Malgun Gothic"/>
            </a:endParaRPr>
          </a:p>
          <a:p>
            <a:pPr marL="441959" indent="-149225">
              <a:lnSpc>
                <a:spcPct val="100000"/>
              </a:lnSpc>
              <a:spcBef>
                <a:spcPts val="55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만일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전송채널이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busy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상태라면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얼마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동안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기다렸다가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시도</a:t>
            </a:r>
            <a:endParaRPr sz="800">
              <a:latin typeface="Malgun Gothic"/>
              <a:cs typeface="Malgun Gothic"/>
            </a:endParaRPr>
          </a:p>
          <a:p>
            <a:pPr marL="441959" indent="-149225">
              <a:lnSpc>
                <a:spcPct val="100000"/>
              </a:lnSpc>
              <a:spcBef>
                <a:spcPts val="54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데이터를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후에는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확인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응답인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ACK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받을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때까지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기다림</a:t>
            </a:r>
            <a:endParaRPr sz="800">
              <a:latin typeface="Malgun Gothic"/>
              <a:cs typeface="Malgun Gothic"/>
            </a:endParaRPr>
          </a:p>
          <a:p>
            <a:pPr marL="441959" marR="603250" indent="-14859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최대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왕복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지연시간과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ACK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전송하기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채널에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접근하는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시간이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고려되어야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800">
              <a:latin typeface="Malgun Gothic"/>
              <a:cs typeface="Malgun Gothic"/>
            </a:endParaRPr>
          </a:p>
          <a:p>
            <a:pPr marL="441959" indent="-149225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지연시간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이상의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개시하는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경우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패킷간의</a:t>
            </a:r>
            <a:endParaRPr sz="800">
              <a:latin typeface="Malgun Gothic"/>
              <a:cs typeface="Malgun Gothic"/>
            </a:endParaRPr>
          </a:p>
          <a:p>
            <a:pPr marL="441959">
              <a:lnSpc>
                <a:spcPct val="100000"/>
              </a:lnSpc>
              <a:spcBef>
                <a:spcPts val="5"/>
              </a:spcBef>
            </a:pP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collision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3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6-5]</a:t>
            </a:r>
            <a:endParaRPr sz="800">
              <a:latin typeface="Arial MT"/>
              <a:cs typeface="Arial MT"/>
            </a:endParaRPr>
          </a:p>
          <a:p>
            <a:pPr marL="441959" marR="389890" indent="-148590">
              <a:lnSpc>
                <a:spcPct val="105100"/>
              </a:lnSpc>
              <a:spcBef>
                <a:spcPts val="55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발생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이유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이상의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carrier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sensing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프로세스를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수행하는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경우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2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 </a:t>
            </a:r>
            <a:r>
              <a:rPr dirty="0" sz="800" spc="-2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전송채널이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휴지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상태라고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판단해서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전송했기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때문</a:t>
            </a:r>
            <a:endParaRPr sz="800">
              <a:latin typeface="Malgun Gothic"/>
              <a:cs typeface="Malgun Gothic"/>
            </a:endParaRPr>
          </a:p>
          <a:p>
            <a:pPr marL="441959" marR="492125" indent="-148590">
              <a:lnSpc>
                <a:spcPct val="105100"/>
              </a:lnSpc>
              <a:spcBef>
                <a:spcPts val="49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6-5]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3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Z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전송하였고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그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결과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 </a:t>
            </a:r>
            <a:r>
              <a:rPr dirty="0" sz="800" spc="-2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2580" y="6142580"/>
              <a:ext cx="1468995" cy="89574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990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27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7164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28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31438" y="6914295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014" y="581866"/>
            <a:ext cx="433514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CSMA/CD(Carrier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Sense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Multiple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Access/Collision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Detection)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9015" y="829331"/>
            <a:ext cx="4252595" cy="131064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5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4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LWT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(Listen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While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Talk)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</a:t>
            </a:r>
            <a:endParaRPr sz="800">
              <a:latin typeface="Malgun Gothic"/>
              <a:cs typeface="Malgun Gothic"/>
            </a:endParaRPr>
          </a:p>
          <a:p>
            <a:pPr marL="160655" marR="5080" indent="-148590">
              <a:lnSpc>
                <a:spcPct val="104000"/>
              </a:lnSpc>
              <a:spcBef>
                <a:spcPts val="51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패킷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전송지연이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발생하게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되어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처리율이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저하</a:t>
            </a:r>
            <a:endParaRPr sz="8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에서는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중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전송미디어를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검사하여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의한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지연을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줄임</a:t>
            </a:r>
            <a:endParaRPr sz="8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중에도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탐지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(collision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detection)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수행하여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신속하게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endParaRPr sz="8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만일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감지되면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즉시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중단시켜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효율성을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향상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3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6-6]</a:t>
            </a:r>
            <a:endParaRPr sz="800">
              <a:latin typeface="Arial MT"/>
              <a:cs typeface="Arial MT"/>
            </a:endParaRPr>
          </a:p>
          <a:p>
            <a:pPr marL="160655" indent="-148590">
              <a:lnSpc>
                <a:spcPct val="100000"/>
              </a:lnSpc>
              <a:spcBef>
                <a:spcPts val="55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r>
              <a:rPr dirty="0" sz="8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프로토콜에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아래와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규칙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추가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015" y="2952828"/>
            <a:ext cx="4335780" cy="2794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60655" marR="5080" indent="-148590">
              <a:lnSpc>
                <a:spcPct val="105100"/>
              </a:lnSpc>
              <a:spcBef>
                <a:spcPts val="7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발생했다는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것을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노드에게</a:t>
            </a:r>
            <a:r>
              <a:rPr dirty="0" sz="800" spc="1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알리기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32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크기의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데이터를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5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또는</a:t>
            </a:r>
            <a:r>
              <a:rPr dirty="0" sz="800" spc="1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재밍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(jamming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signal)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라고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7260" y="2081986"/>
            <a:ext cx="4058285" cy="818515"/>
            <a:chOff x="747260" y="2081986"/>
            <a:chExt cx="4058285" cy="8185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918" y="2164756"/>
              <a:ext cx="2063705" cy="3090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3927" y="2158164"/>
              <a:ext cx="2082800" cy="322580"/>
            </a:xfrm>
            <a:custGeom>
              <a:avLst/>
              <a:gdLst/>
              <a:ahLst/>
              <a:cxnLst/>
              <a:rect l="l" t="t" r="r" b="b"/>
              <a:pathLst>
                <a:path w="2082800" h="322580">
                  <a:moveTo>
                    <a:pt x="0" y="0"/>
                  </a:moveTo>
                  <a:lnTo>
                    <a:pt x="2082284" y="0"/>
                  </a:lnTo>
                  <a:lnTo>
                    <a:pt x="2082284" y="322235"/>
                  </a:lnTo>
                  <a:lnTo>
                    <a:pt x="0" y="322235"/>
                  </a:lnTo>
                  <a:lnTo>
                    <a:pt x="0" y="0"/>
                  </a:lnTo>
                  <a:close/>
                </a:path>
              </a:pathLst>
            </a:custGeom>
            <a:ln w="13185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515" y="2528550"/>
              <a:ext cx="2161754" cy="3581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3927" y="2521956"/>
              <a:ext cx="2175510" cy="371475"/>
            </a:xfrm>
            <a:custGeom>
              <a:avLst/>
              <a:gdLst/>
              <a:ahLst/>
              <a:cxnLst/>
              <a:rect l="l" t="t" r="r" b="b"/>
              <a:pathLst>
                <a:path w="2175510" h="371475">
                  <a:moveTo>
                    <a:pt x="0" y="0"/>
                  </a:moveTo>
                  <a:lnTo>
                    <a:pt x="2174930" y="0"/>
                  </a:lnTo>
                  <a:lnTo>
                    <a:pt x="2174930" y="371378"/>
                  </a:lnTo>
                  <a:lnTo>
                    <a:pt x="0" y="371378"/>
                  </a:lnTo>
                  <a:lnTo>
                    <a:pt x="0" y="0"/>
                  </a:lnTo>
                  <a:close/>
                </a:path>
              </a:pathLst>
            </a:custGeom>
            <a:ln w="13185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8333" y="2081986"/>
              <a:ext cx="1816724" cy="81833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114038" y="3363232"/>
            <a:ext cx="13366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014" y="3355792"/>
            <a:ext cx="1098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29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14" name="object 14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716414" y="581866"/>
            <a:ext cx="4323080" cy="9124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재전송</a:t>
            </a:r>
            <a:r>
              <a:rPr dirty="0" sz="120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스케줄링</a:t>
            </a:r>
            <a:r>
              <a:rPr dirty="0" sz="120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r>
              <a:rPr dirty="0" sz="120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-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이진지수</a:t>
            </a:r>
            <a:r>
              <a:rPr dirty="0" sz="120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백오프</a:t>
            </a:r>
            <a:r>
              <a:rPr dirty="0" sz="120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12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101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이진지수</a:t>
            </a:r>
            <a:r>
              <a:rPr dirty="0" sz="9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백오프</a:t>
            </a:r>
            <a:r>
              <a:rPr dirty="0" sz="9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번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연속해서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발생하며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16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번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연속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포기한다고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가정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334010" algn="l"/>
                <a:tab pos="375285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값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값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10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중에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작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값으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선택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다음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	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에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endParaRPr sz="800">
              <a:latin typeface="Malgun Gothic"/>
              <a:cs typeface="Malgun Gothic"/>
            </a:endParaRPr>
          </a:p>
          <a:p>
            <a:pPr marL="333375">
              <a:lnSpc>
                <a:spcPct val="100000"/>
              </a:lnSpc>
              <a:spcBef>
                <a:spcPts val="50"/>
              </a:spcBef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값을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값이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되도록</a:t>
            </a:r>
            <a:r>
              <a:rPr dirty="0" sz="8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선택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16416" y="1495299"/>
            <a:ext cx="4262120" cy="160337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33375" marR="5080" indent="-123825">
              <a:lnSpc>
                <a:spcPct val="104000"/>
              </a:lnSpc>
              <a:spcBef>
                <a:spcPts val="8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선택한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값을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k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하면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(k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×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512)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타임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동안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기다린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후에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과정을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다시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시작</a:t>
            </a:r>
            <a:endParaRPr sz="800">
              <a:latin typeface="Malgun Gothic"/>
              <a:cs typeface="Malgun Gothic"/>
            </a:endParaRPr>
          </a:p>
          <a:p>
            <a:pPr marL="333375" marR="59055" indent="-123825">
              <a:lnSpc>
                <a:spcPct val="104000"/>
              </a:lnSpc>
              <a:spcBef>
                <a:spcPts val="19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감지되면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재밍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신호를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통해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일어난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것을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알림</a:t>
            </a:r>
            <a:r>
              <a:rPr dirty="0" sz="800" spc="1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3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각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동안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기다린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후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‘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이진지수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백오프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’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의해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재전송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시도</a:t>
            </a:r>
            <a:endParaRPr sz="8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간</a:t>
            </a:r>
            <a:r>
              <a:rPr dirty="0" sz="9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대기시간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(IFG)</a:t>
            </a:r>
            <a:endParaRPr sz="900">
              <a:latin typeface="Arial MT"/>
              <a:cs typeface="Arial MT"/>
            </a:endParaRPr>
          </a:p>
          <a:p>
            <a:pPr lvl="1" marL="333375" marR="9525" indent="-123825">
              <a:lnSpc>
                <a:spcPct val="104600"/>
              </a:lnSpc>
              <a:spcBef>
                <a:spcPts val="17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어느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하나의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계속해서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미디어의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권한을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갖고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프레임들을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전송하면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다른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노드들은 전송의 기회조차 없게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됨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이것을 방지하며 모든 노드들에 공평하게 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기회를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주기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800">
              <a:latin typeface="Malgun Gothic"/>
              <a:cs typeface="Malgun Gothic"/>
            </a:endParaRPr>
          </a:p>
          <a:p>
            <a:pPr lvl="1" marL="333375" marR="38100" indent="-123825">
              <a:lnSpc>
                <a:spcPct val="105100"/>
              </a:lnSpc>
              <a:spcBef>
                <a:spcPts val="18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만일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완료한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스테이션이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있다면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IFG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시간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(96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시간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후에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800" spc="-2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시도함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33401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CSMA/CD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재전송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횟수가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증가할수록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선택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범위를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확대함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86236" y="1315548"/>
            <a:ext cx="963518" cy="1565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231438" y="3363232"/>
            <a:ext cx="13366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16414" y="3355792"/>
            <a:ext cx="1098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30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23" name="object 23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99014" y="4133266"/>
            <a:ext cx="129857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120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 b="1">
                <a:solidFill>
                  <a:srgbClr val="003366"/>
                </a:solidFill>
                <a:latin typeface="Arial"/>
                <a:cs typeface="Arial"/>
              </a:rPr>
              <a:t>(1)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9015" y="4406226"/>
            <a:ext cx="4079875" cy="88011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신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호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감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지</a:t>
            </a:r>
            <a:r>
              <a:rPr dirty="0" sz="1050" spc="-1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endParaRPr sz="105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매체의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신호를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감지해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여부를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결정하는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endParaRPr sz="900">
              <a:latin typeface="Malgun Gothic"/>
              <a:cs typeface="Malgun Gothic"/>
            </a:endParaRPr>
          </a:p>
          <a:p>
            <a:pPr lvl="1" marL="333375" marR="5080" indent="-12382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공유 버스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구조에서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호스트 간의 프레임 충돌을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방지하려면 프레임을 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전송하기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버스를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사용하고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있는지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확인해야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선로에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흐르는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신호를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감지하는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기능으로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가능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9015" y="5460844"/>
            <a:ext cx="4246880" cy="110807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9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1-persistent</a:t>
            </a:r>
            <a:r>
              <a:rPr dirty="0" sz="10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endParaRPr sz="105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프로토콜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중에서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가장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간단한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형태</a:t>
            </a:r>
            <a:endParaRPr sz="900">
              <a:latin typeface="Malgun Gothic"/>
              <a:cs typeface="Malgun Gothic"/>
            </a:endParaRPr>
          </a:p>
          <a:p>
            <a:pPr lvl="2" marL="506730" marR="62230" indent="-99060">
              <a:lnSpc>
                <a:spcPct val="105100"/>
              </a:lnSpc>
              <a:spcBef>
                <a:spcPts val="155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일반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프로토콜처럼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전송하기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채널이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중인지 </a:t>
            </a:r>
            <a:r>
              <a:rPr dirty="0" sz="800" spc="-2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확인</a:t>
            </a:r>
            <a:endParaRPr sz="800">
              <a:latin typeface="Malgun Gothic"/>
              <a:cs typeface="Malgun Gothic"/>
            </a:endParaRPr>
          </a:p>
          <a:p>
            <a:pPr lvl="2" marL="506730" indent="-99695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채널을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중이라고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판단하면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유휴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상태가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때까지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대기</a:t>
            </a:r>
            <a:endParaRPr sz="800">
              <a:latin typeface="Malgun Gothic"/>
              <a:cs typeface="Malgun Gothic"/>
            </a:endParaRPr>
          </a:p>
          <a:p>
            <a:pPr lvl="2" marL="506730" indent="-99695">
              <a:lnSpc>
                <a:spcPct val="100000"/>
              </a:lnSpc>
              <a:spcBef>
                <a:spcPts val="280"/>
              </a:spcBef>
              <a:buFont typeface="Arial MT"/>
              <a:buChar char="–"/>
              <a:tabLst>
                <a:tab pos="5073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순간에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채널이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유휴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상태로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변경되면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1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조건으로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무조건</a:t>
            </a:r>
            <a:endParaRPr sz="800">
              <a:latin typeface="Malgun Gothic"/>
              <a:cs typeface="Malgun Gothic"/>
            </a:endParaRPr>
          </a:p>
          <a:p>
            <a:pPr marL="506730">
              <a:lnSpc>
                <a:spcPct val="100000"/>
              </a:lnSpc>
              <a:spcBef>
                <a:spcPts val="50"/>
              </a:spcBef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1558" y="3183128"/>
            <a:ext cx="4951730" cy="4132579"/>
            <a:chOff x="311558" y="3183128"/>
            <a:chExt cx="4951730" cy="4132579"/>
          </a:xfrm>
        </p:grpSpPr>
        <p:sp>
          <p:nvSpPr>
            <p:cNvPr id="29" name="object 29"/>
            <p:cNvSpPr/>
            <p:nvPr/>
          </p:nvSpPr>
          <p:spPr>
            <a:xfrm>
              <a:off x="314733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17744" y="3189478"/>
              <a:ext cx="309245" cy="401320"/>
            </a:xfrm>
            <a:custGeom>
              <a:avLst/>
              <a:gdLst/>
              <a:ahLst/>
              <a:cxnLst/>
              <a:rect l="l" t="t" r="r" b="b"/>
              <a:pathLst>
                <a:path w="309245" h="401320">
                  <a:moveTo>
                    <a:pt x="0" y="401065"/>
                  </a:moveTo>
                  <a:lnTo>
                    <a:pt x="4712" y="391134"/>
                  </a:lnTo>
                  <a:lnTo>
                    <a:pt x="10461" y="378094"/>
                  </a:lnTo>
                  <a:lnTo>
                    <a:pt x="17234" y="361936"/>
                  </a:lnTo>
                  <a:lnTo>
                    <a:pt x="25018" y="342645"/>
                  </a:lnTo>
                  <a:lnTo>
                    <a:pt x="34708" y="320927"/>
                  </a:lnTo>
                  <a:lnTo>
                    <a:pt x="47005" y="297672"/>
                  </a:lnTo>
                  <a:lnTo>
                    <a:pt x="61898" y="272869"/>
                  </a:lnTo>
                  <a:lnTo>
                    <a:pt x="79375" y="246506"/>
                  </a:lnTo>
                  <a:lnTo>
                    <a:pt x="96851" y="221192"/>
                  </a:lnTo>
                  <a:lnTo>
                    <a:pt x="111744" y="199532"/>
                  </a:lnTo>
                  <a:lnTo>
                    <a:pt x="124041" y="181516"/>
                  </a:lnTo>
                  <a:lnTo>
                    <a:pt x="133730" y="167131"/>
                  </a:lnTo>
                  <a:lnTo>
                    <a:pt x="142823" y="154370"/>
                  </a:lnTo>
                  <a:lnTo>
                    <a:pt x="153511" y="141049"/>
                  </a:lnTo>
                  <a:lnTo>
                    <a:pt x="165770" y="127180"/>
                  </a:lnTo>
                  <a:lnTo>
                    <a:pt x="179577" y="112775"/>
                  </a:lnTo>
                  <a:lnTo>
                    <a:pt x="193720" y="98182"/>
                  </a:lnTo>
                  <a:lnTo>
                    <a:pt x="206803" y="83565"/>
                  </a:lnTo>
                  <a:lnTo>
                    <a:pt x="218815" y="68949"/>
                  </a:lnTo>
                  <a:lnTo>
                    <a:pt x="229742" y="54355"/>
                  </a:lnTo>
                  <a:lnTo>
                    <a:pt x="239694" y="41278"/>
                  </a:lnTo>
                  <a:lnTo>
                    <a:pt x="248586" y="31369"/>
                  </a:lnTo>
                  <a:lnTo>
                    <a:pt x="256407" y="24602"/>
                  </a:lnTo>
                  <a:lnTo>
                    <a:pt x="263143" y="20954"/>
                  </a:lnTo>
                  <a:lnTo>
                    <a:pt x="271525" y="18161"/>
                  </a:lnTo>
                  <a:lnTo>
                    <a:pt x="277113" y="15366"/>
                  </a:lnTo>
                  <a:lnTo>
                    <a:pt x="279907" y="12573"/>
                  </a:lnTo>
                  <a:lnTo>
                    <a:pt x="282701" y="9778"/>
                  </a:lnTo>
                  <a:lnTo>
                    <a:pt x="286892" y="6985"/>
                  </a:lnTo>
                  <a:lnTo>
                    <a:pt x="292480" y="4190"/>
                  </a:lnTo>
                  <a:lnTo>
                    <a:pt x="297941" y="1397"/>
                  </a:lnTo>
                  <a:lnTo>
                    <a:pt x="303529" y="0"/>
                  </a:lnTo>
                  <a:lnTo>
                    <a:pt x="309117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716414" y="4133266"/>
            <a:ext cx="129857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120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 b="1">
                <a:solidFill>
                  <a:srgbClr val="003366"/>
                </a:solidFill>
                <a:latin typeface="Arial"/>
                <a:cs typeface="Arial"/>
              </a:rPr>
              <a:t>(2)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16416" y="4406226"/>
            <a:ext cx="4213860" cy="8509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Non-persistent</a:t>
            </a:r>
            <a:r>
              <a:rPr dirty="0" sz="10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endParaRPr sz="1050">
              <a:latin typeface="Arial MT"/>
              <a:cs typeface="Arial MT"/>
            </a:endParaRPr>
          </a:p>
          <a:p>
            <a:pPr lvl="1" marL="333375" marR="5080" indent="-123825">
              <a:lnSpc>
                <a:spcPct val="105700"/>
              </a:lnSpc>
              <a:spcBef>
                <a:spcPts val="200"/>
              </a:spcBef>
              <a:buChar char="•"/>
              <a:tabLst>
                <a:tab pos="334010" algn="l"/>
              </a:tabLst>
            </a:pP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Non-persistent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r>
              <a:rPr dirty="0" sz="900" spc="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방식에서는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채널의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신호를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감지해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채널이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중이라고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판단하면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더는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유휴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상태를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확인하지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않음</a:t>
            </a:r>
            <a:endParaRPr sz="900">
              <a:latin typeface="Malgun Gothic"/>
              <a:cs typeface="Malgun Gothic"/>
            </a:endParaRPr>
          </a:p>
          <a:p>
            <a:pPr lvl="1" marL="333375" marR="84455" indent="-12382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대신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시간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동안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기다린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후에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다시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감지를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시작하기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때문에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1- </a:t>
            </a:r>
            <a:r>
              <a:rPr dirty="0" sz="900" spc="-2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persistent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방식보다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발생할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확률을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줄일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16416" y="5434580"/>
            <a:ext cx="4181475" cy="70612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p-persistent</a:t>
            </a:r>
            <a:r>
              <a:rPr dirty="0" sz="10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endParaRPr sz="105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슬롯</a:t>
            </a:r>
            <a:r>
              <a:rPr dirty="0" sz="9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방식에서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많이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endParaRPr sz="900">
              <a:latin typeface="Malgun Gothic"/>
              <a:cs typeface="Malgun Gothic"/>
            </a:endParaRPr>
          </a:p>
          <a:p>
            <a:pPr lvl="1" marL="333375" marR="5080" indent="-123825">
              <a:lnSpc>
                <a:spcPct val="105700"/>
              </a:lnSpc>
              <a:spcBef>
                <a:spcPts val="18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유휴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상태이면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p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확률로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전송하고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중이면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다음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슬롯을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기다린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앞의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과정을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반복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428957" y="1027557"/>
            <a:ext cx="4951730" cy="6288405"/>
            <a:chOff x="5428957" y="1027557"/>
            <a:chExt cx="4951730" cy="6288405"/>
          </a:xfrm>
        </p:grpSpPr>
        <p:sp>
          <p:nvSpPr>
            <p:cNvPr id="35" name="object 35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928994" y="1033907"/>
              <a:ext cx="1102995" cy="67310"/>
            </a:xfrm>
            <a:custGeom>
              <a:avLst/>
              <a:gdLst/>
              <a:ahLst/>
              <a:cxnLst/>
              <a:rect l="l" t="t" r="r" b="b"/>
              <a:pathLst>
                <a:path w="1102995" h="67309">
                  <a:moveTo>
                    <a:pt x="0" y="33400"/>
                  </a:moveTo>
                  <a:lnTo>
                    <a:pt x="45398" y="40473"/>
                  </a:lnTo>
                  <a:lnTo>
                    <a:pt x="71758" y="51716"/>
                  </a:lnTo>
                  <a:lnTo>
                    <a:pt x="86645" y="56387"/>
                  </a:lnTo>
                  <a:lnTo>
                    <a:pt x="139156" y="64444"/>
                  </a:lnTo>
                  <a:lnTo>
                    <a:pt x="183768" y="66801"/>
                  </a:lnTo>
                  <a:lnTo>
                    <a:pt x="196584" y="66801"/>
                  </a:lnTo>
                  <a:lnTo>
                    <a:pt x="209899" y="66801"/>
                  </a:lnTo>
                  <a:lnTo>
                    <a:pt x="547242" y="66801"/>
                  </a:lnTo>
                  <a:lnTo>
                    <a:pt x="558486" y="66540"/>
                  </a:lnTo>
                  <a:lnTo>
                    <a:pt x="601599" y="62611"/>
                  </a:lnTo>
                  <a:lnTo>
                    <a:pt x="642282" y="56378"/>
                  </a:lnTo>
                  <a:lnTo>
                    <a:pt x="659757" y="52522"/>
                  </a:lnTo>
                  <a:lnTo>
                    <a:pt x="667353" y="51212"/>
                  </a:lnTo>
                  <a:lnTo>
                    <a:pt x="674425" y="50426"/>
                  </a:lnTo>
                  <a:lnTo>
                    <a:pt x="680974" y="50164"/>
                  </a:lnTo>
                  <a:lnTo>
                    <a:pt x="689228" y="50164"/>
                  </a:lnTo>
                  <a:lnTo>
                    <a:pt x="696213" y="50164"/>
                  </a:lnTo>
                  <a:lnTo>
                    <a:pt x="799337" y="50164"/>
                  </a:lnTo>
                  <a:lnTo>
                    <a:pt x="804926" y="48768"/>
                  </a:lnTo>
                  <a:lnTo>
                    <a:pt x="810386" y="45974"/>
                  </a:lnTo>
                  <a:lnTo>
                    <a:pt x="815975" y="43179"/>
                  </a:lnTo>
                  <a:lnTo>
                    <a:pt x="821562" y="40386"/>
                  </a:lnTo>
                  <a:lnTo>
                    <a:pt x="827151" y="37591"/>
                  </a:lnTo>
                  <a:lnTo>
                    <a:pt x="832738" y="34798"/>
                  </a:lnTo>
                  <a:lnTo>
                    <a:pt x="838326" y="33400"/>
                  </a:lnTo>
                  <a:lnTo>
                    <a:pt x="896747" y="33400"/>
                  </a:lnTo>
                  <a:lnTo>
                    <a:pt x="903731" y="32003"/>
                  </a:lnTo>
                  <a:lnTo>
                    <a:pt x="906526" y="29210"/>
                  </a:lnTo>
                  <a:lnTo>
                    <a:pt x="909320" y="26415"/>
                  </a:lnTo>
                  <a:lnTo>
                    <a:pt x="913510" y="25019"/>
                  </a:lnTo>
                  <a:lnTo>
                    <a:pt x="919099" y="25019"/>
                  </a:lnTo>
                  <a:lnTo>
                    <a:pt x="924559" y="25019"/>
                  </a:lnTo>
                  <a:lnTo>
                    <a:pt x="928751" y="23622"/>
                  </a:lnTo>
                  <a:lnTo>
                    <a:pt x="931545" y="20827"/>
                  </a:lnTo>
                  <a:lnTo>
                    <a:pt x="934338" y="18033"/>
                  </a:lnTo>
                  <a:lnTo>
                    <a:pt x="937132" y="16764"/>
                  </a:lnTo>
                  <a:lnTo>
                    <a:pt x="966343" y="16764"/>
                  </a:lnTo>
                  <a:lnTo>
                    <a:pt x="970533" y="15367"/>
                  </a:lnTo>
                  <a:lnTo>
                    <a:pt x="973327" y="12573"/>
                  </a:lnTo>
                  <a:lnTo>
                    <a:pt x="976122" y="9778"/>
                  </a:lnTo>
                  <a:lnTo>
                    <a:pt x="983106" y="6984"/>
                  </a:lnTo>
                  <a:lnTo>
                    <a:pt x="1023493" y="0"/>
                  </a:lnTo>
                  <a:lnTo>
                    <a:pt x="1031875" y="0"/>
                  </a:lnTo>
                  <a:lnTo>
                    <a:pt x="1038859" y="0"/>
                  </a:lnTo>
                  <a:lnTo>
                    <a:pt x="1097279" y="0"/>
                  </a:lnTo>
                  <a:lnTo>
                    <a:pt x="110286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990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31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57164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32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66"/>
            <a:ext cx="4339590" cy="1708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r>
              <a:rPr dirty="0" sz="120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 b="1">
                <a:solidFill>
                  <a:srgbClr val="003366"/>
                </a:solidFill>
                <a:latin typeface="Arial"/>
                <a:cs typeface="Arial"/>
              </a:rPr>
              <a:t>(3)</a:t>
            </a:r>
            <a:endParaRPr sz="1200">
              <a:latin typeface="Arial"/>
              <a:cs typeface="Arial"/>
            </a:endParaRPr>
          </a:p>
          <a:p>
            <a:pPr marL="147955" indent="-14859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충</a:t>
            </a:r>
            <a:r>
              <a:rPr dirty="0" sz="1050">
                <a:solidFill>
                  <a:srgbClr val="003366"/>
                </a:solidFill>
                <a:latin typeface="Malgun Gothic"/>
                <a:cs typeface="Malgun Gothic"/>
              </a:rPr>
              <a:t>돌</a:t>
            </a:r>
            <a:r>
              <a:rPr dirty="0" sz="105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endParaRPr sz="1050">
              <a:latin typeface="Malgun Gothic"/>
              <a:cs typeface="Malgun Gothic"/>
            </a:endParaRPr>
          </a:p>
          <a:p>
            <a:pPr lvl="1" marL="320675" marR="50800" indent="-123825">
              <a:lnSpc>
                <a:spcPct val="105700"/>
              </a:lnSpc>
              <a:spcBef>
                <a:spcPts val="200"/>
              </a:spcBef>
              <a:buChar char="•"/>
              <a:tabLst>
                <a:tab pos="321310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방식은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기본적으로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이상의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채널의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유휴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상태를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확인할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가능성이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900">
              <a:latin typeface="Malgun Gothic"/>
              <a:cs typeface="Malgun Gothic"/>
            </a:endParaRPr>
          </a:p>
          <a:p>
            <a:pPr lvl="2" marL="494030" indent="-99695">
              <a:lnSpc>
                <a:spcPts val="955"/>
              </a:lnSpc>
              <a:spcBef>
                <a:spcPts val="259"/>
              </a:spcBef>
              <a:buFont typeface="Arial MT"/>
              <a:buChar char="–"/>
              <a:tabLst>
                <a:tab pos="4946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여러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채널을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있다고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판단할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있으며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상황이</a:t>
            </a:r>
            <a:endParaRPr sz="800">
              <a:latin typeface="Malgun Gothic"/>
              <a:cs typeface="Malgun Gothic"/>
            </a:endParaRPr>
          </a:p>
          <a:p>
            <a:pPr marL="494030">
              <a:lnSpc>
                <a:spcPts val="955"/>
              </a:lnSpc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자주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과정에서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발생할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가능성도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커짐</a:t>
            </a:r>
            <a:endParaRPr sz="800">
              <a:latin typeface="Malgun Gothic"/>
              <a:cs typeface="Malgun Gothic"/>
            </a:endParaRPr>
          </a:p>
          <a:p>
            <a:pPr lvl="1" marL="320675" marR="5080" indent="-123825">
              <a:lnSpc>
                <a:spcPct val="105700"/>
              </a:lnSpc>
              <a:spcBef>
                <a:spcPts val="204"/>
              </a:spcBef>
              <a:buFont typeface="Arial MT"/>
              <a:buChar char="•"/>
              <a:tabLst>
                <a:tab pos="3213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버스에서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충돌이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발생하면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해당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내용이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깨지고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호스트에서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내용이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변형되므로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것이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의미가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없음</a:t>
            </a:r>
            <a:endParaRPr sz="900">
              <a:latin typeface="Malgun Gothic"/>
              <a:cs typeface="Malgun Gothic"/>
            </a:endParaRPr>
          </a:p>
          <a:p>
            <a:pPr lvl="2" marL="494030" indent="-99695">
              <a:lnSpc>
                <a:spcPct val="100000"/>
              </a:lnSpc>
              <a:spcBef>
                <a:spcPts val="260"/>
              </a:spcBef>
              <a:buChar char="–"/>
              <a:tabLst>
                <a:tab pos="494665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CS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A/CD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에서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돌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지</a:t>
            </a:r>
            <a:r>
              <a:rPr dirty="0" sz="8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해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과정에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돌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여부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를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확인</a:t>
            </a:r>
            <a:endParaRPr sz="800">
              <a:latin typeface="Malgun Gothic"/>
              <a:cs typeface="Malgun Gothic"/>
            </a:endParaRPr>
          </a:p>
          <a:p>
            <a:pPr lvl="2" marL="494030" indent="-99695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49466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일단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충돌을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감지하면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진행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중인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중지함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67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7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33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6" name="object 6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729114" y="581866"/>
            <a:ext cx="3959860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신호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감지</a:t>
            </a:r>
            <a:r>
              <a:rPr dirty="0" sz="120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1200" spc="-9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 b="1">
                <a:solidFill>
                  <a:srgbClr val="003366"/>
                </a:solidFill>
                <a:latin typeface="Arial"/>
                <a:cs typeface="Arial"/>
              </a:rPr>
              <a:t>(4)</a:t>
            </a:r>
            <a:endParaRPr sz="1200">
              <a:latin typeface="Arial"/>
              <a:cs typeface="Arial"/>
            </a:endParaRPr>
          </a:p>
          <a:p>
            <a:pPr marL="394970">
              <a:lnSpc>
                <a:spcPct val="100000"/>
              </a:lnSpc>
              <a:spcBef>
                <a:spcPts val="1019"/>
              </a:spcBef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5-6]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방식을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이용하는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고전적인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LAN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접속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방법을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보여줌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8737" y="1327579"/>
            <a:ext cx="1842669" cy="190063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441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291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34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14" name="object 14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11714" y="4133266"/>
            <a:ext cx="253619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Ethernet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1078" y="6513227"/>
            <a:ext cx="2626995" cy="222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200" spc="15">
                <a:latin typeface="Times New Roman"/>
                <a:cs typeface="Times New Roman"/>
              </a:rPr>
              <a:t>Co</a:t>
            </a:r>
            <a:r>
              <a:rPr dirty="0" sz="1200" spc="-15">
                <a:latin typeface="Times New Roman"/>
                <a:cs typeface="Times New Roman"/>
              </a:rPr>
              <a:t>ll</a:t>
            </a:r>
            <a:r>
              <a:rPr dirty="0" sz="1200" spc="10">
                <a:latin typeface="Times New Roman"/>
                <a:cs typeface="Times New Roman"/>
              </a:rPr>
              <a:t>ision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10">
                <a:latin typeface="Times New Roman"/>
                <a:cs typeface="Times New Roman"/>
              </a:rPr>
              <a:t>d</a:t>
            </a:r>
            <a:r>
              <a:rPr dirty="0" sz="1200">
                <a:latin typeface="Times New Roman"/>
                <a:cs typeface="Times New Roman"/>
              </a:rPr>
              <a:t>e</a:t>
            </a:r>
            <a:r>
              <a:rPr dirty="0" sz="1200" spc="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ec</a:t>
            </a:r>
            <a:r>
              <a:rPr dirty="0" sz="1200" spc="5">
                <a:latin typeface="Times New Roman"/>
                <a:cs typeface="Times New Roman"/>
              </a:rPr>
              <a:t>t</a:t>
            </a:r>
            <a:r>
              <a:rPr dirty="0" sz="1200" spc="10">
                <a:latin typeface="Times New Roman"/>
                <a:cs typeface="Times New Roman"/>
              </a:rPr>
              <a:t>i</a:t>
            </a:r>
            <a:r>
              <a:rPr dirty="0" sz="1200" spc="10">
                <a:latin typeface="Times New Roman"/>
                <a:cs typeface="Times New Roman"/>
              </a:rPr>
              <a:t>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t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ke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</a:t>
            </a:r>
            <a:r>
              <a:rPr dirty="0" sz="1200" spc="10">
                <a:latin typeface="Times New Roman"/>
                <a:cs typeface="Times New Roman"/>
              </a:rPr>
              <a:t>ong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0">
                <a:latin typeface="Times New Roman"/>
                <a:cs typeface="Times New Roman"/>
              </a:rPr>
              <a:t>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2</a:t>
            </a:r>
            <a:r>
              <a:rPr dirty="0" sz="1300" spc="-35">
                <a:latin typeface="Symbol"/>
                <a:cs typeface="Symbol"/>
              </a:rPr>
              <a:t></a:t>
            </a:r>
            <a:r>
              <a:rPr dirty="0" sz="1300" spc="-195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1558" y="3795931"/>
            <a:ext cx="4951730" cy="3519804"/>
            <a:chOff x="311558" y="3795931"/>
            <a:chExt cx="4951730" cy="3519804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812" y="4965021"/>
              <a:ext cx="3124572" cy="120441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4733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27620" y="4443603"/>
              <a:ext cx="3696970" cy="2381250"/>
            </a:xfrm>
            <a:custGeom>
              <a:avLst/>
              <a:gdLst/>
              <a:ahLst/>
              <a:cxnLst/>
              <a:rect l="l" t="t" r="r" b="b"/>
              <a:pathLst>
                <a:path w="3696970" h="2381250">
                  <a:moveTo>
                    <a:pt x="22720" y="379729"/>
                  </a:moveTo>
                  <a:lnTo>
                    <a:pt x="15784" y="445082"/>
                  </a:lnTo>
                  <a:lnTo>
                    <a:pt x="10108" y="504850"/>
                  </a:lnTo>
                  <a:lnTo>
                    <a:pt x="5691" y="559031"/>
                  </a:lnTo>
                  <a:lnTo>
                    <a:pt x="2534" y="607622"/>
                  </a:lnTo>
                  <a:lnTo>
                    <a:pt x="637" y="650621"/>
                  </a:lnTo>
                  <a:lnTo>
                    <a:pt x="0" y="688026"/>
                  </a:lnTo>
                  <a:lnTo>
                    <a:pt x="622" y="719835"/>
                  </a:lnTo>
                  <a:lnTo>
                    <a:pt x="2812" y="768391"/>
                  </a:lnTo>
                  <a:lnTo>
                    <a:pt x="5003" y="812530"/>
                  </a:lnTo>
                  <a:lnTo>
                    <a:pt x="7194" y="852263"/>
                  </a:lnTo>
                  <a:lnTo>
                    <a:pt x="12480" y="921297"/>
                  </a:lnTo>
                  <a:lnTo>
                    <a:pt x="23529" y="991973"/>
                  </a:lnTo>
                  <a:lnTo>
                    <a:pt x="40339" y="1065651"/>
                  </a:lnTo>
                  <a:lnTo>
                    <a:pt x="58004" y="1134092"/>
                  </a:lnTo>
                  <a:lnTo>
                    <a:pt x="66789" y="1165859"/>
                  </a:lnTo>
                  <a:lnTo>
                    <a:pt x="74758" y="1194981"/>
                  </a:lnTo>
                  <a:lnTo>
                    <a:pt x="84489" y="1232960"/>
                  </a:lnTo>
                  <a:lnTo>
                    <a:pt x="95976" y="1279785"/>
                  </a:lnTo>
                  <a:lnTo>
                    <a:pt x="109213" y="1335442"/>
                  </a:lnTo>
                  <a:lnTo>
                    <a:pt x="124193" y="1399920"/>
                  </a:lnTo>
                  <a:lnTo>
                    <a:pt x="137707" y="1456214"/>
                  </a:lnTo>
                  <a:lnTo>
                    <a:pt x="151709" y="1510293"/>
                  </a:lnTo>
                  <a:lnTo>
                    <a:pt x="166198" y="1562163"/>
                  </a:lnTo>
                  <a:lnTo>
                    <a:pt x="181173" y="1611832"/>
                  </a:lnTo>
                  <a:lnTo>
                    <a:pt x="196635" y="1659306"/>
                  </a:lnTo>
                  <a:lnTo>
                    <a:pt x="212585" y="1704593"/>
                  </a:lnTo>
                  <a:lnTo>
                    <a:pt x="231132" y="1755798"/>
                  </a:lnTo>
                  <a:lnTo>
                    <a:pt x="247911" y="1803485"/>
                  </a:lnTo>
                  <a:lnTo>
                    <a:pt x="262922" y="1847642"/>
                  </a:lnTo>
                  <a:lnTo>
                    <a:pt x="276166" y="1888258"/>
                  </a:lnTo>
                  <a:lnTo>
                    <a:pt x="287642" y="1925319"/>
                  </a:lnTo>
                  <a:lnTo>
                    <a:pt x="300617" y="1966469"/>
                  </a:lnTo>
                  <a:lnTo>
                    <a:pt x="324950" y="2030529"/>
                  </a:lnTo>
                  <a:lnTo>
                    <a:pt x="346992" y="2072463"/>
                  </a:lnTo>
                  <a:lnTo>
                    <a:pt x="366840" y="2105558"/>
                  </a:lnTo>
                  <a:lnTo>
                    <a:pt x="391416" y="2141728"/>
                  </a:lnTo>
                  <a:lnTo>
                    <a:pt x="428993" y="2168271"/>
                  </a:lnTo>
                  <a:lnTo>
                    <a:pt x="464299" y="2177034"/>
                  </a:lnTo>
                  <a:lnTo>
                    <a:pt x="475066" y="2179845"/>
                  </a:lnTo>
                  <a:lnTo>
                    <a:pt x="530466" y="2194687"/>
                  </a:lnTo>
                  <a:lnTo>
                    <a:pt x="603332" y="2215737"/>
                  </a:lnTo>
                  <a:lnTo>
                    <a:pt x="657981" y="2232048"/>
                  </a:lnTo>
                  <a:lnTo>
                    <a:pt x="724776" y="2252217"/>
                  </a:lnTo>
                  <a:lnTo>
                    <a:pt x="780600" y="2269132"/>
                  </a:lnTo>
                  <a:lnTo>
                    <a:pt x="831486" y="2284662"/>
                  </a:lnTo>
                  <a:lnTo>
                    <a:pt x="877435" y="2298797"/>
                  </a:lnTo>
                  <a:lnTo>
                    <a:pt x="918445" y="2311523"/>
                  </a:lnTo>
                  <a:lnTo>
                    <a:pt x="954519" y="2322829"/>
                  </a:lnTo>
                  <a:lnTo>
                    <a:pt x="995049" y="2335238"/>
                  </a:lnTo>
                  <a:lnTo>
                    <a:pt x="1032830" y="2345991"/>
                  </a:lnTo>
                  <a:lnTo>
                    <a:pt x="1100188" y="2362580"/>
                  </a:lnTo>
                  <a:lnTo>
                    <a:pt x="1166434" y="2373598"/>
                  </a:lnTo>
                  <a:lnTo>
                    <a:pt x="1241539" y="2380234"/>
                  </a:lnTo>
                  <a:lnTo>
                    <a:pt x="1279879" y="2381045"/>
                  </a:lnTo>
                  <a:lnTo>
                    <a:pt x="1315468" y="2379106"/>
                  </a:lnTo>
                  <a:lnTo>
                    <a:pt x="1378445" y="2367026"/>
                  </a:lnTo>
                  <a:lnTo>
                    <a:pt x="1447961" y="2341594"/>
                  </a:lnTo>
                  <a:lnTo>
                    <a:pt x="1491834" y="2323091"/>
                  </a:lnTo>
                  <a:lnTo>
                    <a:pt x="1541767" y="2300731"/>
                  </a:lnTo>
                  <a:lnTo>
                    <a:pt x="1593630" y="2276992"/>
                  </a:lnTo>
                  <a:lnTo>
                    <a:pt x="1643303" y="2254361"/>
                  </a:lnTo>
                  <a:lnTo>
                    <a:pt x="1690785" y="2232848"/>
                  </a:lnTo>
                  <a:lnTo>
                    <a:pt x="1736077" y="2212466"/>
                  </a:lnTo>
                  <a:lnTo>
                    <a:pt x="1779703" y="2193942"/>
                  </a:lnTo>
                  <a:lnTo>
                    <a:pt x="1822198" y="2178192"/>
                  </a:lnTo>
                  <a:lnTo>
                    <a:pt x="1863575" y="2165228"/>
                  </a:lnTo>
                  <a:lnTo>
                    <a:pt x="1903844" y="2155063"/>
                  </a:lnTo>
                  <a:lnTo>
                    <a:pt x="1946664" y="2145373"/>
                  </a:lnTo>
                  <a:lnTo>
                    <a:pt x="1995522" y="2134028"/>
                  </a:lnTo>
                  <a:lnTo>
                    <a:pt x="2050451" y="2121040"/>
                  </a:lnTo>
                  <a:lnTo>
                    <a:pt x="2111489" y="2106422"/>
                  </a:lnTo>
                  <a:lnTo>
                    <a:pt x="2172187" y="2092636"/>
                  </a:lnTo>
                  <a:lnTo>
                    <a:pt x="2226265" y="2082149"/>
                  </a:lnTo>
                  <a:lnTo>
                    <a:pt x="2273723" y="2074971"/>
                  </a:lnTo>
                  <a:lnTo>
                    <a:pt x="2314562" y="2071115"/>
                  </a:lnTo>
                  <a:lnTo>
                    <a:pt x="2352923" y="2068357"/>
                  </a:lnTo>
                  <a:lnTo>
                    <a:pt x="2392952" y="2064480"/>
                  </a:lnTo>
                  <a:lnTo>
                    <a:pt x="2434648" y="2059507"/>
                  </a:lnTo>
                  <a:lnTo>
                    <a:pt x="2478011" y="2053463"/>
                  </a:lnTo>
                  <a:lnTo>
                    <a:pt x="2524893" y="2046815"/>
                  </a:lnTo>
                  <a:lnTo>
                    <a:pt x="2577325" y="2040191"/>
                  </a:lnTo>
                  <a:lnTo>
                    <a:pt x="2635280" y="2033567"/>
                  </a:lnTo>
                  <a:lnTo>
                    <a:pt x="2698737" y="2026919"/>
                  </a:lnTo>
                  <a:lnTo>
                    <a:pt x="2761417" y="2020609"/>
                  </a:lnTo>
                  <a:lnTo>
                    <a:pt x="2816894" y="2014823"/>
                  </a:lnTo>
                  <a:lnTo>
                    <a:pt x="2865204" y="2009560"/>
                  </a:lnTo>
                  <a:lnTo>
                    <a:pt x="2906382" y="2004821"/>
                  </a:lnTo>
                  <a:lnTo>
                    <a:pt x="2943077" y="2000988"/>
                  </a:lnTo>
                  <a:lnTo>
                    <a:pt x="2978105" y="1998249"/>
                  </a:lnTo>
                  <a:lnTo>
                    <a:pt x="3011466" y="1996606"/>
                  </a:lnTo>
                  <a:lnTo>
                    <a:pt x="3043161" y="1996058"/>
                  </a:lnTo>
                  <a:lnTo>
                    <a:pt x="3075478" y="1996890"/>
                  </a:lnTo>
                  <a:lnTo>
                    <a:pt x="3148352" y="2003506"/>
                  </a:lnTo>
                  <a:lnTo>
                    <a:pt x="3188957" y="2009266"/>
                  </a:lnTo>
                  <a:lnTo>
                    <a:pt x="3228126" y="2015648"/>
                  </a:lnTo>
                  <a:lnTo>
                    <a:pt x="3289987" y="2026697"/>
                  </a:lnTo>
                  <a:lnTo>
                    <a:pt x="3331655" y="2035766"/>
                  </a:lnTo>
                  <a:lnTo>
                    <a:pt x="3378822" y="2049017"/>
                  </a:lnTo>
                  <a:lnTo>
                    <a:pt x="3391514" y="2052871"/>
                  </a:lnTo>
                  <a:lnTo>
                    <a:pt x="3403110" y="2055653"/>
                  </a:lnTo>
                  <a:lnTo>
                    <a:pt x="3413612" y="2057340"/>
                  </a:lnTo>
                  <a:lnTo>
                    <a:pt x="3423018" y="2057908"/>
                  </a:lnTo>
                  <a:lnTo>
                    <a:pt x="3434829" y="2057908"/>
                  </a:lnTo>
                  <a:lnTo>
                    <a:pt x="3442068" y="2057908"/>
                  </a:lnTo>
                  <a:lnTo>
                    <a:pt x="3536302" y="2057908"/>
                  </a:lnTo>
                  <a:lnTo>
                    <a:pt x="3540747" y="2056383"/>
                  </a:lnTo>
                  <a:lnTo>
                    <a:pt x="3575900" y="2025852"/>
                  </a:lnTo>
                  <a:lnTo>
                    <a:pt x="3593565" y="1986125"/>
                  </a:lnTo>
                  <a:lnTo>
                    <a:pt x="3615042" y="1922347"/>
                  </a:lnTo>
                  <a:lnTo>
                    <a:pt x="3637140" y="1849473"/>
                  </a:lnTo>
                  <a:lnTo>
                    <a:pt x="3648189" y="1810512"/>
                  </a:lnTo>
                  <a:lnTo>
                    <a:pt x="3658140" y="1773271"/>
                  </a:lnTo>
                  <a:lnTo>
                    <a:pt x="3671424" y="1713696"/>
                  </a:lnTo>
                  <a:lnTo>
                    <a:pt x="3677206" y="1671480"/>
                  </a:lnTo>
                  <a:lnTo>
                    <a:pt x="3680240" y="1651587"/>
                  </a:lnTo>
                  <a:lnTo>
                    <a:pt x="3683822" y="1631717"/>
                  </a:lnTo>
                  <a:lnTo>
                    <a:pt x="3687940" y="1611883"/>
                  </a:lnTo>
                  <a:lnTo>
                    <a:pt x="3691793" y="1590597"/>
                  </a:lnTo>
                  <a:lnTo>
                    <a:pt x="3694575" y="1566560"/>
                  </a:lnTo>
                  <a:lnTo>
                    <a:pt x="3696262" y="1539785"/>
                  </a:lnTo>
                  <a:lnTo>
                    <a:pt x="3696830" y="1510283"/>
                  </a:lnTo>
                  <a:lnTo>
                    <a:pt x="3696830" y="1480444"/>
                  </a:lnTo>
                  <a:lnTo>
                    <a:pt x="3696830" y="1452832"/>
                  </a:lnTo>
                  <a:lnTo>
                    <a:pt x="3696830" y="1209928"/>
                  </a:lnTo>
                  <a:lnTo>
                    <a:pt x="3696577" y="1160260"/>
                  </a:lnTo>
                  <a:lnTo>
                    <a:pt x="3695823" y="1111329"/>
                  </a:lnTo>
                  <a:lnTo>
                    <a:pt x="3694575" y="1063132"/>
                  </a:lnTo>
                  <a:lnTo>
                    <a:pt x="3692841" y="1015666"/>
                  </a:lnTo>
                  <a:lnTo>
                    <a:pt x="3690627" y="968925"/>
                  </a:lnTo>
                  <a:lnTo>
                    <a:pt x="3687940" y="922908"/>
                  </a:lnTo>
                  <a:lnTo>
                    <a:pt x="3684106" y="858641"/>
                  </a:lnTo>
                  <a:lnTo>
                    <a:pt x="3681367" y="802624"/>
                  </a:lnTo>
                  <a:lnTo>
                    <a:pt x="3679724" y="754870"/>
                  </a:lnTo>
                  <a:lnTo>
                    <a:pt x="3679177" y="715390"/>
                  </a:lnTo>
                  <a:lnTo>
                    <a:pt x="3679177" y="682815"/>
                  </a:lnTo>
                  <a:lnTo>
                    <a:pt x="3679177" y="655764"/>
                  </a:lnTo>
                  <a:lnTo>
                    <a:pt x="3679177" y="557910"/>
                  </a:lnTo>
                  <a:lnTo>
                    <a:pt x="3677653" y="556386"/>
                  </a:lnTo>
                  <a:lnTo>
                    <a:pt x="3674732" y="556386"/>
                  </a:lnTo>
                  <a:lnTo>
                    <a:pt x="3671811" y="556386"/>
                  </a:lnTo>
                  <a:lnTo>
                    <a:pt x="3668763" y="554989"/>
                  </a:lnTo>
                  <a:lnTo>
                    <a:pt x="3632774" y="528827"/>
                  </a:lnTo>
                  <a:lnTo>
                    <a:pt x="3612883" y="516635"/>
                  </a:lnTo>
                  <a:lnTo>
                    <a:pt x="3599621" y="508396"/>
                  </a:lnTo>
                  <a:lnTo>
                    <a:pt x="3581942" y="496823"/>
                  </a:lnTo>
                  <a:lnTo>
                    <a:pt x="3559858" y="481917"/>
                  </a:lnTo>
                  <a:lnTo>
                    <a:pt x="3533381" y="463676"/>
                  </a:lnTo>
                  <a:lnTo>
                    <a:pt x="3505806" y="445170"/>
                  </a:lnTo>
                  <a:lnTo>
                    <a:pt x="3457228" y="416492"/>
                  </a:lnTo>
                  <a:lnTo>
                    <a:pt x="3416392" y="397700"/>
                  </a:lnTo>
                  <a:lnTo>
                    <a:pt x="3376629" y="382269"/>
                  </a:lnTo>
                  <a:lnTo>
                    <a:pt x="3334411" y="369314"/>
                  </a:lnTo>
                  <a:lnTo>
                    <a:pt x="3274785" y="360499"/>
                  </a:lnTo>
                  <a:lnTo>
                    <a:pt x="3198015" y="355778"/>
                  </a:lnTo>
                  <a:lnTo>
                    <a:pt x="3159096" y="354393"/>
                  </a:lnTo>
                  <a:lnTo>
                    <a:pt x="3120724" y="353579"/>
                  </a:lnTo>
                  <a:lnTo>
                    <a:pt x="3082912" y="353313"/>
                  </a:lnTo>
                  <a:lnTo>
                    <a:pt x="3049717" y="353664"/>
                  </a:lnTo>
                  <a:lnTo>
                    <a:pt x="3010170" y="354716"/>
                  </a:lnTo>
                  <a:lnTo>
                    <a:pt x="2964259" y="356468"/>
                  </a:lnTo>
                  <a:lnTo>
                    <a:pt x="2911972" y="358922"/>
                  </a:lnTo>
                  <a:lnTo>
                    <a:pt x="2853296" y="362076"/>
                  </a:lnTo>
                  <a:lnTo>
                    <a:pt x="2793264" y="365644"/>
                  </a:lnTo>
                  <a:lnTo>
                    <a:pt x="2736762" y="369186"/>
                  </a:lnTo>
                  <a:lnTo>
                    <a:pt x="2683784" y="372711"/>
                  </a:lnTo>
                  <a:lnTo>
                    <a:pt x="2634323" y="376223"/>
                  </a:lnTo>
                  <a:lnTo>
                    <a:pt x="2588374" y="379729"/>
                  </a:lnTo>
                  <a:lnTo>
                    <a:pt x="2543126" y="382946"/>
                  </a:lnTo>
                  <a:lnTo>
                    <a:pt x="2495775" y="385437"/>
                  </a:lnTo>
                  <a:lnTo>
                    <a:pt x="2446322" y="387209"/>
                  </a:lnTo>
                  <a:lnTo>
                    <a:pt x="2394765" y="388268"/>
                  </a:lnTo>
                  <a:lnTo>
                    <a:pt x="2341105" y="388619"/>
                  </a:lnTo>
                  <a:lnTo>
                    <a:pt x="2304659" y="388345"/>
                  </a:lnTo>
                  <a:lnTo>
                    <a:pt x="2263805" y="387522"/>
                  </a:lnTo>
                  <a:lnTo>
                    <a:pt x="2218540" y="386148"/>
                  </a:lnTo>
                  <a:lnTo>
                    <a:pt x="2168861" y="384222"/>
                  </a:lnTo>
                  <a:lnTo>
                    <a:pt x="2114764" y="381742"/>
                  </a:lnTo>
                  <a:lnTo>
                    <a:pt x="2056248" y="378708"/>
                  </a:lnTo>
                  <a:lnTo>
                    <a:pt x="1993308" y="375116"/>
                  </a:lnTo>
                  <a:lnTo>
                    <a:pt x="1925942" y="370966"/>
                  </a:lnTo>
                  <a:lnTo>
                    <a:pt x="1865443" y="366921"/>
                  </a:lnTo>
                  <a:lnTo>
                    <a:pt x="1807559" y="362660"/>
                  </a:lnTo>
                  <a:lnTo>
                    <a:pt x="1752290" y="358182"/>
                  </a:lnTo>
                  <a:lnTo>
                    <a:pt x="1699637" y="353488"/>
                  </a:lnTo>
                  <a:lnTo>
                    <a:pt x="1649599" y="348577"/>
                  </a:lnTo>
                  <a:lnTo>
                    <a:pt x="1602176" y="343450"/>
                  </a:lnTo>
                  <a:lnTo>
                    <a:pt x="1557369" y="338106"/>
                  </a:lnTo>
                  <a:lnTo>
                    <a:pt x="1515177" y="332547"/>
                  </a:lnTo>
                  <a:lnTo>
                    <a:pt x="1475600" y="326770"/>
                  </a:lnTo>
                  <a:lnTo>
                    <a:pt x="1426575" y="319026"/>
                  </a:lnTo>
                  <a:lnTo>
                    <a:pt x="1377908" y="310921"/>
                  </a:lnTo>
                  <a:lnTo>
                    <a:pt x="1329599" y="302454"/>
                  </a:lnTo>
                  <a:lnTo>
                    <a:pt x="1281647" y="293623"/>
                  </a:lnTo>
                  <a:lnTo>
                    <a:pt x="1234053" y="284425"/>
                  </a:lnTo>
                  <a:lnTo>
                    <a:pt x="1186817" y="274859"/>
                  </a:lnTo>
                  <a:lnTo>
                    <a:pt x="1139939" y="264921"/>
                  </a:lnTo>
                  <a:lnTo>
                    <a:pt x="1093060" y="254394"/>
                  </a:lnTo>
                  <a:lnTo>
                    <a:pt x="1045824" y="242954"/>
                  </a:lnTo>
                  <a:lnTo>
                    <a:pt x="998230" y="230605"/>
                  </a:lnTo>
                  <a:lnTo>
                    <a:pt x="950278" y="217352"/>
                  </a:lnTo>
                  <a:lnTo>
                    <a:pt x="901969" y="203199"/>
                  </a:lnTo>
                  <a:lnTo>
                    <a:pt x="853302" y="188151"/>
                  </a:lnTo>
                  <a:lnTo>
                    <a:pt x="804278" y="172211"/>
                  </a:lnTo>
                  <a:lnTo>
                    <a:pt x="738747" y="150328"/>
                  </a:lnTo>
                  <a:lnTo>
                    <a:pt x="679927" y="130553"/>
                  </a:lnTo>
                  <a:lnTo>
                    <a:pt x="627826" y="112894"/>
                  </a:lnTo>
                  <a:lnTo>
                    <a:pt x="582448" y="97357"/>
                  </a:lnTo>
                  <a:lnTo>
                    <a:pt x="543801" y="83946"/>
                  </a:lnTo>
                  <a:lnTo>
                    <a:pt x="501271" y="69558"/>
                  </a:lnTo>
                  <a:lnTo>
                    <a:pt x="462076" y="57419"/>
                  </a:lnTo>
                  <a:lnTo>
                    <a:pt x="393687" y="39750"/>
                  </a:lnTo>
                  <a:lnTo>
                    <a:pt x="331790" y="28686"/>
                  </a:lnTo>
                  <a:lnTo>
                    <a:pt x="269989" y="22097"/>
                  </a:lnTo>
                  <a:lnTo>
                    <a:pt x="241814" y="19905"/>
                  </a:lnTo>
                  <a:lnTo>
                    <a:pt x="219189" y="17700"/>
                  </a:lnTo>
                  <a:lnTo>
                    <a:pt x="202087" y="15472"/>
                  </a:lnTo>
                  <a:lnTo>
                    <a:pt x="190487" y="13207"/>
                  </a:lnTo>
                  <a:lnTo>
                    <a:pt x="178676" y="10286"/>
                  </a:lnTo>
                  <a:lnTo>
                    <a:pt x="171310" y="8889"/>
                  </a:lnTo>
                  <a:lnTo>
                    <a:pt x="156578" y="8889"/>
                  </a:lnTo>
                  <a:lnTo>
                    <a:pt x="155181" y="5841"/>
                  </a:lnTo>
                  <a:lnTo>
                    <a:pt x="155181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729114" y="4133266"/>
            <a:ext cx="254508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Persistent</a:t>
            </a:r>
            <a:r>
              <a:rPr dirty="0" sz="12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Nonpersistent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CSMA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17870" y="6550422"/>
            <a:ext cx="3073400" cy="34353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622935" marR="5080" indent="-623570">
              <a:lnSpc>
                <a:spcPts val="1240"/>
              </a:lnSpc>
              <a:spcBef>
                <a:spcPts val="1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Comparison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of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 channel utilization versus load for </a:t>
            </a:r>
            <a:r>
              <a:rPr dirty="0" sz="1050" spc="-2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various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random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access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49290" y="4671695"/>
            <a:ext cx="1791335" cy="2875915"/>
          </a:xfrm>
          <a:custGeom>
            <a:avLst/>
            <a:gdLst/>
            <a:ahLst/>
            <a:cxnLst/>
            <a:rect l="l" t="t" r="r" b="b"/>
            <a:pathLst>
              <a:path w="1791334" h="2875915">
                <a:moveTo>
                  <a:pt x="0" y="0"/>
                </a:moveTo>
                <a:lnTo>
                  <a:pt x="2118" y="56801"/>
                </a:lnTo>
                <a:lnTo>
                  <a:pt x="8473" y="135469"/>
                </a:lnTo>
                <a:lnTo>
                  <a:pt x="13239" y="183006"/>
                </a:lnTo>
                <a:lnTo>
                  <a:pt x="19065" y="236015"/>
                </a:lnTo>
                <a:lnTo>
                  <a:pt x="25949" y="294497"/>
                </a:lnTo>
                <a:lnTo>
                  <a:pt x="33893" y="358452"/>
                </a:lnTo>
                <a:lnTo>
                  <a:pt x="42896" y="427884"/>
                </a:lnTo>
                <a:lnTo>
                  <a:pt x="52959" y="502793"/>
                </a:lnTo>
                <a:lnTo>
                  <a:pt x="60682" y="557734"/>
                </a:lnTo>
                <a:lnTo>
                  <a:pt x="68719" y="611688"/>
                </a:lnTo>
                <a:lnTo>
                  <a:pt x="77072" y="664654"/>
                </a:lnTo>
                <a:lnTo>
                  <a:pt x="85740" y="716632"/>
                </a:lnTo>
                <a:lnTo>
                  <a:pt x="94723" y="767621"/>
                </a:lnTo>
                <a:lnTo>
                  <a:pt x="104020" y="817621"/>
                </a:lnTo>
                <a:lnTo>
                  <a:pt x="113633" y="866632"/>
                </a:lnTo>
                <a:lnTo>
                  <a:pt x="123560" y="914653"/>
                </a:lnTo>
                <a:lnTo>
                  <a:pt x="133802" y="961685"/>
                </a:lnTo>
                <a:lnTo>
                  <a:pt x="144360" y="1007727"/>
                </a:lnTo>
                <a:lnTo>
                  <a:pt x="155232" y="1052778"/>
                </a:lnTo>
                <a:lnTo>
                  <a:pt x="166419" y="1096839"/>
                </a:lnTo>
                <a:lnTo>
                  <a:pt x="177921" y="1139909"/>
                </a:lnTo>
                <a:lnTo>
                  <a:pt x="189737" y="1181989"/>
                </a:lnTo>
                <a:lnTo>
                  <a:pt x="204902" y="1234542"/>
                </a:lnTo>
                <a:lnTo>
                  <a:pt x="219917" y="1286284"/>
                </a:lnTo>
                <a:lnTo>
                  <a:pt x="234783" y="1337218"/>
                </a:lnTo>
                <a:lnTo>
                  <a:pt x="249501" y="1387344"/>
                </a:lnTo>
                <a:lnTo>
                  <a:pt x="264072" y="1436665"/>
                </a:lnTo>
                <a:lnTo>
                  <a:pt x="278498" y="1485181"/>
                </a:lnTo>
                <a:lnTo>
                  <a:pt x="292780" y="1532896"/>
                </a:lnTo>
                <a:lnTo>
                  <a:pt x="306919" y="1579811"/>
                </a:lnTo>
                <a:lnTo>
                  <a:pt x="320915" y="1625927"/>
                </a:lnTo>
                <a:lnTo>
                  <a:pt x="334771" y="1671246"/>
                </a:lnTo>
                <a:lnTo>
                  <a:pt x="348488" y="1715770"/>
                </a:lnTo>
                <a:lnTo>
                  <a:pt x="363804" y="1764408"/>
                </a:lnTo>
                <a:lnTo>
                  <a:pt x="379732" y="1813318"/>
                </a:lnTo>
                <a:lnTo>
                  <a:pt x="396272" y="1862498"/>
                </a:lnTo>
                <a:lnTo>
                  <a:pt x="413426" y="1911945"/>
                </a:lnTo>
                <a:lnTo>
                  <a:pt x="431196" y="1961657"/>
                </a:lnTo>
                <a:lnTo>
                  <a:pt x="449584" y="2011633"/>
                </a:lnTo>
                <a:lnTo>
                  <a:pt x="468590" y="2061869"/>
                </a:lnTo>
                <a:lnTo>
                  <a:pt x="488216" y="2112363"/>
                </a:lnTo>
                <a:lnTo>
                  <a:pt x="508464" y="2163113"/>
                </a:lnTo>
                <a:lnTo>
                  <a:pt x="529336" y="2214118"/>
                </a:lnTo>
                <a:lnTo>
                  <a:pt x="558424" y="2283615"/>
                </a:lnTo>
                <a:lnTo>
                  <a:pt x="585167" y="2345912"/>
                </a:lnTo>
                <a:lnTo>
                  <a:pt x="609565" y="2401010"/>
                </a:lnTo>
                <a:lnTo>
                  <a:pt x="631623" y="2448907"/>
                </a:lnTo>
                <a:lnTo>
                  <a:pt x="651341" y="2489604"/>
                </a:lnTo>
                <a:lnTo>
                  <a:pt x="683768" y="2549398"/>
                </a:lnTo>
                <a:lnTo>
                  <a:pt x="706885" y="2587452"/>
                </a:lnTo>
                <a:lnTo>
                  <a:pt x="727837" y="2622184"/>
                </a:lnTo>
                <a:lnTo>
                  <a:pt x="746597" y="2653607"/>
                </a:lnTo>
                <a:lnTo>
                  <a:pt x="763142" y="2681732"/>
                </a:lnTo>
                <a:lnTo>
                  <a:pt x="778573" y="2706830"/>
                </a:lnTo>
                <a:lnTo>
                  <a:pt x="809434" y="2748740"/>
                </a:lnTo>
                <a:lnTo>
                  <a:pt x="840029" y="2779885"/>
                </a:lnTo>
                <a:lnTo>
                  <a:pt x="882141" y="2809621"/>
                </a:lnTo>
                <a:lnTo>
                  <a:pt x="920781" y="2824003"/>
                </a:lnTo>
                <a:lnTo>
                  <a:pt x="983614" y="2840482"/>
                </a:lnTo>
                <a:lnTo>
                  <a:pt x="1034855" y="2847113"/>
                </a:lnTo>
                <a:lnTo>
                  <a:pt x="1094678" y="2851525"/>
                </a:lnTo>
                <a:lnTo>
                  <a:pt x="1175035" y="2855932"/>
                </a:lnTo>
                <a:lnTo>
                  <a:pt x="1222914" y="2858135"/>
                </a:lnTo>
                <a:lnTo>
                  <a:pt x="1275928" y="2860337"/>
                </a:lnTo>
                <a:lnTo>
                  <a:pt x="1334077" y="2862540"/>
                </a:lnTo>
                <a:lnTo>
                  <a:pt x="1397362" y="2864744"/>
                </a:lnTo>
                <a:lnTo>
                  <a:pt x="1465782" y="2866949"/>
                </a:lnTo>
                <a:lnTo>
                  <a:pt x="1539338" y="2869156"/>
                </a:lnTo>
                <a:lnTo>
                  <a:pt x="1618031" y="2871364"/>
                </a:lnTo>
                <a:lnTo>
                  <a:pt x="1701860" y="2873574"/>
                </a:lnTo>
                <a:lnTo>
                  <a:pt x="1790827" y="2875788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5428957" y="3795931"/>
            <a:ext cx="4951730" cy="3519804"/>
            <a:chOff x="5428957" y="3795931"/>
            <a:chExt cx="4951730" cy="3519804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9291" y="4739759"/>
              <a:ext cx="3178100" cy="151432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855207" y="4415790"/>
              <a:ext cx="3772535" cy="2459355"/>
            </a:xfrm>
            <a:custGeom>
              <a:avLst/>
              <a:gdLst/>
              <a:ahLst/>
              <a:cxnLst/>
              <a:rect l="l" t="t" r="r" b="b"/>
              <a:pathLst>
                <a:path w="3772534" h="2459354">
                  <a:moveTo>
                    <a:pt x="0" y="194056"/>
                  </a:moveTo>
                  <a:lnTo>
                    <a:pt x="42307" y="196427"/>
                  </a:lnTo>
                  <a:lnTo>
                    <a:pt x="88568" y="198428"/>
                  </a:lnTo>
                  <a:lnTo>
                    <a:pt x="138789" y="200060"/>
                  </a:lnTo>
                  <a:lnTo>
                    <a:pt x="192973" y="201326"/>
                  </a:lnTo>
                  <a:lnTo>
                    <a:pt x="251124" y="202227"/>
                  </a:lnTo>
                  <a:lnTo>
                    <a:pt x="313248" y="202766"/>
                  </a:lnTo>
                  <a:lnTo>
                    <a:pt x="379349" y="202946"/>
                  </a:lnTo>
                  <a:lnTo>
                    <a:pt x="423374" y="202908"/>
                  </a:lnTo>
                  <a:lnTo>
                    <a:pt x="468861" y="202795"/>
                  </a:lnTo>
                  <a:lnTo>
                    <a:pt x="515807" y="202608"/>
                  </a:lnTo>
                  <a:lnTo>
                    <a:pt x="564212" y="202347"/>
                  </a:lnTo>
                  <a:lnTo>
                    <a:pt x="614077" y="202013"/>
                  </a:lnTo>
                  <a:lnTo>
                    <a:pt x="665399" y="201606"/>
                  </a:lnTo>
                  <a:lnTo>
                    <a:pt x="718179" y="201127"/>
                  </a:lnTo>
                  <a:lnTo>
                    <a:pt x="772416" y="200576"/>
                  </a:lnTo>
                  <a:lnTo>
                    <a:pt x="828110" y="199954"/>
                  </a:lnTo>
                  <a:lnTo>
                    <a:pt x="885259" y="199262"/>
                  </a:lnTo>
                  <a:lnTo>
                    <a:pt x="943863" y="198501"/>
                  </a:lnTo>
                  <a:lnTo>
                    <a:pt x="1007841" y="197624"/>
                  </a:lnTo>
                  <a:lnTo>
                    <a:pt x="1069167" y="196748"/>
                  </a:lnTo>
                  <a:lnTo>
                    <a:pt x="1127841" y="195872"/>
                  </a:lnTo>
                  <a:lnTo>
                    <a:pt x="1183863" y="194995"/>
                  </a:lnTo>
                  <a:lnTo>
                    <a:pt x="1237234" y="194119"/>
                  </a:lnTo>
                  <a:lnTo>
                    <a:pt x="1287952" y="193243"/>
                  </a:lnTo>
                  <a:lnTo>
                    <a:pt x="1336019" y="192366"/>
                  </a:lnTo>
                  <a:lnTo>
                    <a:pt x="1381434" y="191490"/>
                  </a:lnTo>
                  <a:lnTo>
                    <a:pt x="1424198" y="190614"/>
                  </a:lnTo>
                  <a:lnTo>
                    <a:pt x="1464310" y="189738"/>
                  </a:lnTo>
                  <a:lnTo>
                    <a:pt x="1513459" y="188571"/>
                  </a:lnTo>
                  <a:lnTo>
                    <a:pt x="1563846" y="187263"/>
                  </a:lnTo>
                  <a:lnTo>
                    <a:pt x="1615471" y="185815"/>
                  </a:lnTo>
                  <a:lnTo>
                    <a:pt x="1668335" y="184229"/>
                  </a:lnTo>
                  <a:lnTo>
                    <a:pt x="1722437" y="182506"/>
                  </a:lnTo>
                  <a:lnTo>
                    <a:pt x="1777777" y="180647"/>
                  </a:lnTo>
                  <a:lnTo>
                    <a:pt x="1834356" y="178655"/>
                  </a:lnTo>
                  <a:lnTo>
                    <a:pt x="1892172" y="176530"/>
                  </a:lnTo>
                  <a:lnTo>
                    <a:pt x="1956981" y="173979"/>
                  </a:lnTo>
                  <a:lnTo>
                    <a:pt x="2017837" y="171441"/>
                  </a:lnTo>
                  <a:lnTo>
                    <a:pt x="2074739" y="168915"/>
                  </a:lnTo>
                  <a:lnTo>
                    <a:pt x="2127685" y="166398"/>
                  </a:lnTo>
                  <a:lnTo>
                    <a:pt x="2176671" y="163887"/>
                  </a:lnTo>
                  <a:lnTo>
                    <a:pt x="2221696" y="161381"/>
                  </a:lnTo>
                  <a:lnTo>
                    <a:pt x="2262759" y="158877"/>
                  </a:lnTo>
                  <a:lnTo>
                    <a:pt x="2315641" y="155309"/>
                  </a:lnTo>
                  <a:lnTo>
                    <a:pt x="2365019" y="151767"/>
                  </a:lnTo>
                  <a:lnTo>
                    <a:pt x="2410891" y="148242"/>
                  </a:lnTo>
                  <a:lnTo>
                    <a:pt x="2453259" y="144730"/>
                  </a:lnTo>
                  <a:lnTo>
                    <a:pt x="2492120" y="141224"/>
                  </a:lnTo>
                  <a:lnTo>
                    <a:pt x="2539509" y="135671"/>
                  </a:lnTo>
                  <a:lnTo>
                    <a:pt x="2589101" y="127952"/>
                  </a:lnTo>
                  <a:lnTo>
                    <a:pt x="2640907" y="118042"/>
                  </a:lnTo>
                  <a:lnTo>
                    <a:pt x="2694940" y="105918"/>
                  </a:lnTo>
                  <a:lnTo>
                    <a:pt x="2746496" y="93509"/>
                  </a:lnTo>
                  <a:lnTo>
                    <a:pt x="2790872" y="82756"/>
                  </a:lnTo>
                  <a:lnTo>
                    <a:pt x="2828081" y="73646"/>
                  </a:lnTo>
                  <a:lnTo>
                    <a:pt x="2858135" y="66167"/>
                  </a:lnTo>
                  <a:lnTo>
                    <a:pt x="2882967" y="60122"/>
                  </a:lnTo>
                  <a:lnTo>
                    <a:pt x="2904490" y="55149"/>
                  </a:lnTo>
                  <a:lnTo>
                    <a:pt x="2922678" y="51272"/>
                  </a:lnTo>
                  <a:lnTo>
                    <a:pt x="2937510" y="48514"/>
                  </a:lnTo>
                  <a:lnTo>
                    <a:pt x="2950749" y="45773"/>
                  </a:lnTo>
                  <a:lnTo>
                    <a:pt x="2990468" y="30861"/>
                  </a:lnTo>
                  <a:lnTo>
                    <a:pt x="3025774" y="13208"/>
                  </a:lnTo>
                  <a:lnTo>
                    <a:pt x="3030724" y="11301"/>
                  </a:lnTo>
                  <a:lnTo>
                    <a:pt x="3036792" y="9953"/>
                  </a:lnTo>
                  <a:lnTo>
                    <a:pt x="3043955" y="9153"/>
                  </a:lnTo>
                  <a:lnTo>
                    <a:pt x="3052191" y="8890"/>
                  </a:lnTo>
                  <a:lnTo>
                    <a:pt x="3061313" y="8606"/>
                  </a:lnTo>
                  <a:lnTo>
                    <a:pt x="3070971" y="7762"/>
                  </a:lnTo>
                  <a:lnTo>
                    <a:pt x="3081176" y="6371"/>
                  </a:lnTo>
                  <a:lnTo>
                    <a:pt x="3091941" y="4445"/>
                  </a:lnTo>
                  <a:lnTo>
                    <a:pt x="3102423" y="2518"/>
                  </a:lnTo>
                  <a:lnTo>
                    <a:pt x="3111785" y="1127"/>
                  </a:lnTo>
                  <a:lnTo>
                    <a:pt x="3120052" y="283"/>
                  </a:lnTo>
                  <a:lnTo>
                    <a:pt x="3127247" y="0"/>
                  </a:lnTo>
                  <a:lnTo>
                    <a:pt x="3136011" y="0"/>
                  </a:lnTo>
                  <a:lnTo>
                    <a:pt x="3143376" y="0"/>
                  </a:lnTo>
                  <a:lnTo>
                    <a:pt x="3174238" y="0"/>
                  </a:lnTo>
                  <a:lnTo>
                    <a:pt x="3175762" y="1524"/>
                  </a:lnTo>
                  <a:lnTo>
                    <a:pt x="3175762" y="4445"/>
                  </a:lnTo>
                  <a:lnTo>
                    <a:pt x="3175762" y="7366"/>
                  </a:lnTo>
                  <a:lnTo>
                    <a:pt x="3177159" y="8890"/>
                  </a:lnTo>
                  <a:lnTo>
                    <a:pt x="3206622" y="8890"/>
                  </a:lnTo>
                  <a:lnTo>
                    <a:pt x="3213989" y="10287"/>
                  </a:lnTo>
                  <a:lnTo>
                    <a:pt x="3219831" y="13208"/>
                  </a:lnTo>
                  <a:lnTo>
                    <a:pt x="3225799" y="16256"/>
                  </a:lnTo>
                  <a:lnTo>
                    <a:pt x="3233039" y="19177"/>
                  </a:lnTo>
                  <a:lnTo>
                    <a:pt x="3277235" y="26543"/>
                  </a:lnTo>
                  <a:lnTo>
                    <a:pt x="3287944" y="26543"/>
                  </a:lnTo>
                  <a:lnTo>
                    <a:pt x="3298142" y="26543"/>
                  </a:lnTo>
                  <a:lnTo>
                    <a:pt x="3307792" y="26543"/>
                  </a:lnTo>
                  <a:lnTo>
                    <a:pt x="3316859" y="26543"/>
                  </a:lnTo>
                  <a:lnTo>
                    <a:pt x="3325149" y="26259"/>
                  </a:lnTo>
                  <a:lnTo>
                    <a:pt x="3332321" y="25415"/>
                  </a:lnTo>
                  <a:lnTo>
                    <a:pt x="3338397" y="24024"/>
                  </a:lnTo>
                  <a:lnTo>
                    <a:pt x="3343401" y="22098"/>
                  </a:lnTo>
                  <a:lnTo>
                    <a:pt x="3348333" y="19905"/>
                  </a:lnTo>
                  <a:lnTo>
                    <a:pt x="3354371" y="17700"/>
                  </a:lnTo>
                  <a:lnTo>
                    <a:pt x="3393820" y="9153"/>
                  </a:lnTo>
                  <a:lnTo>
                    <a:pt x="3400678" y="8890"/>
                  </a:lnTo>
                  <a:lnTo>
                    <a:pt x="3408422" y="8890"/>
                  </a:lnTo>
                  <a:lnTo>
                    <a:pt x="3418332" y="8890"/>
                  </a:lnTo>
                  <a:lnTo>
                    <a:pt x="3550666" y="8890"/>
                  </a:lnTo>
                  <a:lnTo>
                    <a:pt x="3562528" y="9703"/>
                  </a:lnTo>
                  <a:lnTo>
                    <a:pt x="3608069" y="22098"/>
                  </a:lnTo>
                  <a:lnTo>
                    <a:pt x="3651021" y="41921"/>
                  </a:lnTo>
                  <a:lnTo>
                    <a:pt x="3669758" y="55161"/>
                  </a:lnTo>
                  <a:lnTo>
                    <a:pt x="3678602" y="61785"/>
                  </a:lnTo>
                  <a:lnTo>
                    <a:pt x="3687423" y="68409"/>
                  </a:lnTo>
                  <a:lnTo>
                    <a:pt x="3696208" y="75057"/>
                  </a:lnTo>
                  <a:lnTo>
                    <a:pt x="3705046" y="81649"/>
                  </a:lnTo>
                  <a:lnTo>
                    <a:pt x="3713861" y="88265"/>
                  </a:lnTo>
                  <a:lnTo>
                    <a:pt x="3722675" y="94880"/>
                  </a:lnTo>
                  <a:lnTo>
                    <a:pt x="3731514" y="101473"/>
                  </a:lnTo>
                  <a:lnTo>
                    <a:pt x="3763898" y="122047"/>
                  </a:lnTo>
                  <a:lnTo>
                    <a:pt x="3766819" y="124968"/>
                  </a:lnTo>
                  <a:lnTo>
                    <a:pt x="3766819" y="127889"/>
                  </a:lnTo>
                  <a:lnTo>
                    <a:pt x="3767085" y="131250"/>
                  </a:lnTo>
                  <a:lnTo>
                    <a:pt x="3767899" y="136779"/>
                  </a:lnTo>
                  <a:lnTo>
                    <a:pt x="3769284" y="144498"/>
                  </a:lnTo>
                  <a:lnTo>
                    <a:pt x="3771265" y="154432"/>
                  </a:lnTo>
                  <a:lnTo>
                    <a:pt x="3772358" y="165744"/>
                  </a:lnTo>
                  <a:lnTo>
                    <a:pt x="3771249" y="177593"/>
                  </a:lnTo>
                  <a:lnTo>
                    <a:pt x="3767925" y="189990"/>
                  </a:lnTo>
                  <a:lnTo>
                    <a:pt x="3762374" y="202946"/>
                  </a:lnTo>
                  <a:lnTo>
                    <a:pt x="3754951" y="219759"/>
                  </a:lnTo>
                  <a:lnTo>
                    <a:pt x="3745849" y="243728"/>
                  </a:lnTo>
                  <a:lnTo>
                    <a:pt x="3722750" y="313182"/>
                  </a:lnTo>
                  <a:lnTo>
                    <a:pt x="3707582" y="370808"/>
                  </a:lnTo>
                  <a:lnTo>
                    <a:pt x="3698551" y="411408"/>
                  </a:lnTo>
                  <a:lnTo>
                    <a:pt x="3688556" y="459867"/>
                  </a:lnTo>
                  <a:lnTo>
                    <a:pt x="3677596" y="516183"/>
                  </a:lnTo>
                  <a:lnTo>
                    <a:pt x="3665672" y="580358"/>
                  </a:lnTo>
                  <a:lnTo>
                    <a:pt x="3652783" y="652391"/>
                  </a:lnTo>
                  <a:lnTo>
                    <a:pt x="3638931" y="732282"/>
                  </a:lnTo>
                  <a:lnTo>
                    <a:pt x="3628795" y="792372"/>
                  </a:lnTo>
                  <a:lnTo>
                    <a:pt x="3619239" y="850793"/>
                  </a:lnTo>
                  <a:lnTo>
                    <a:pt x="3610264" y="907543"/>
                  </a:lnTo>
                  <a:lnTo>
                    <a:pt x="3601869" y="962620"/>
                  </a:lnTo>
                  <a:lnTo>
                    <a:pt x="3594057" y="1016024"/>
                  </a:lnTo>
                  <a:lnTo>
                    <a:pt x="3586827" y="1067753"/>
                  </a:lnTo>
                  <a:lnTo>
                    <a:pt x="3580179" y="1117807"/>
                  </a:lnTo>
                  <a:lnTo>
                    <a:pt x="3574115" y="1166184"/>
                  </a:lnTo>
                  <a:lnTo>
                    <a:pt x="3568635" y="1212883"/>
                  </a:lnTo>
                  <a:lnTo>
                    <a:pt x="3563739" y="1257902"/>
                  </a:lnTo>
                  <a:lnTo>
                    <a:pt x="3559428" y="1301242"/>
                  </a:lnTo>
                  <a:lnTo>
                    <a:pt x="3553434" y="1366043"/>
                  </a:lnTo>
                  <a:lnTo>
                    <a:pt x="3547967" y="1426881"/>
                  </a:lnTo>
                  <a:lnTo>
                    <a:pt x="3543030" y="1483758"/>
                  </a:lnTo>
                  <a:lnTo>
                    <a:pt x="3538621" y="1536677"/>
                  </a:lnTo>
                  <a:lnTo>
                    <a:pt x="3534741" y="1585638"/>
                  </a:lnTo>
                  <a:lnTo>
                    <a:pt x="3531390" y="1630645"/>
                  </a:lnTo>
                  <a:lnTo>
                    <a:pt x="3528567" y="1671701"/>
                  </a:lnTo>
                  <a:lnTo>
                    <a:pt x="3525061" y="1726061"/>
                  </a:lnTo>
                  <a:lnTo>
                    <a:pt x="3521549" y="1779713"/>
                  </a:lnTo>
                  <a:lnTo>
                    <a:pt x="3518024" y="1832653"/>
                  </a:lnTo>
                  <a:lnTo>
                    <a:pt x="3514482" y="1884874"/>
                  </a:lnTo>
                  <a:lnTo>
                    <a:pt x="3510915" y="1936369"/>
                  </a:lnTo>
                  <a:lnTo>
                    <a:pt x="3506797" y="1994834"/>
                  </a:lnTo>
                  <a:lnTo>
                    <a:pt x="3503215" y="2042239"/>
                  </a:lnTo>
                  <a:lnTo>
                    <a:pt x="3497707" y="2104009"/>
                  </a:lnTo>
                  <a:lnTo>
                    <a:pt x="3491134" y="2158515"/>
                  </a:lnTo>
                  <a:lnTo>
                    <a:pt x="3483435" y="2204339"/>
                  </a:lnTo>
                  <a:lnTo>
                    <a:pt x="3471562" y="2245401"/>
                  </a:lnTo>
                  <a:lnTo>
                    <a:pt x="3467973" y="2259441"/>
                  </a:lnTo>
                  <a:lnTo>
                    <a:pt x="3464931" y="2274028"/>
                  </a:lnTo>
                  <a:lnTo>
                    <a:pt x="3462400" y="2289175"/>
                  </a:lnTo>
                  <a:lnTo>
                    <a:pt x="3459660" y="2304942"/>
                  </a:lnTo>
                  <a:lnTo>
                    <a:pt x="3455812" y="2321210"/>
                  </a:lnTo>
                  <a:lnTo>
                    <a:pt x="3450845" y="2338002"/>
                  </a:lnTo>
                  <a:lnTo>
                    <a:pt x="3444747" y="2355342"/>
                  </a:lnTo>
                  <a:lnTo>
                    <a:pt x="3438723" y="2371655"/>
                  </a:lnTo>
                  <a:lnTo>
                    <a:pt x="3433794" y="2385171"/>
                  </a:lnTo>
                  <a:lnTo>
                    <a:pt x="3423042" y="2423751"/>
                  </a:lnTo>
                  <a:lnTo>
                    <a:pt x="3422776" y="2430399"/>
                  </a:lnTo>
                  <a:lnTo>
                    <a:pt x="3422776" y="2439162"/>
                  </a:lnTo>
                  <a:lnTo>
                    <a:pt x="3422776" y="2445131"/>
                  </a:lnTo>
                  <a:lnTo>
                    <a:pt x="3422776" y="2448052"/>
                  </a:lnTo>
                  <a:lnTo>
                    <a:pt x="3422776" y="2450973"/>
                  </a:lnTo>
                  <a:lnTo>
                    <a:pt x="3421252" y="2453894"/>
                  </a:lnTo>
                  <a:lnTo>
                    <a:pt x="3418332" y="2456815"/>
                  </a:lnTo>
                  <a:lnTo>
                    <a:pt x="3415026" y="2458458"/>
                  </a:lnTo>
                  <a:lnTo>
                    <a:pt x="3409505" y="2459005"/>
                  </a:lnTo>
                  <a:lnTo>
                    <a:pt x="3401794" y="2458458"/>
                  </a:lnTo>
                  <a:lnTo>
                    <a:pt x="3351321" y="2440330"/>
                  </a:lnTo>
                  <a:lnTo>
                    <a:pt x="3334512" y="2430399"/>
                  </a:lnTo>
                  <a:lnTo>
                    <a:pt x="3314412" y="2419351"/>
                  </a:lnTo>
                  <a:lnTo>
                    <a:pt x="3289347" y="2408316"/>
                  </a:lnTo>
                  <a:lnTo>
                    <a:pt x="3259306" y="2397305"/>
                  </a:lnTo>
                  <a:lnTo>
                    <a:pt x="3224275" y="2386330"/>
                  </a:lnTo>
                  <a:lnTo>
                    <a:pt x="3191265" y="2376074"/>
                  </a:lnTo>
                  <a:lnTo>
                    <a:pt x="3152274" y="2362990"/>
                  </a:lnTo>
                  <a:lnTo>
                    <a:pt x="3107296" y="2347083"/>
                  </a:lnTo>
                  <a:lnTo>
                    <a:pt x="3056327" y="2328361"/>
                  </a:lnTo>
                  <a:lnTo>
                    <a:pt x="2999359" y="2306828"/>
                  </a:lnTo>
                  <a:lnTo>
                    <a:pt x="2956118" y="2290717"/>
                  </a:lnTo>
                  <a:lnTo>
                    <a:pt x="2912174" y="2275150"/>
                  </a:lnTo>
                  <a:lnTo>
                    <a:pt x="2867520" y="2260128"/>
                  </a:lnTo>
                  <a:lnTo>
                    <a:pt x="2822154" y="2245650"/>
                  </a:lnTo>
                  <a:lnTo>
                    <a:pt x="2776070" y="2231716"/>
                  </a:lnTo>
                  <a:lnTo>
                    <a:pt x="2729264" y="2218327"/>
                  </a:lnTo>
                  <a:lnTo>
                    <a:pt x="2681732" y="2205482"/>
                  </a:lnTo>
                  <a:lnTo>
                    <a:pt x="2609218" y="2187102"/>
                  </a:lnTo>
                  <a:lnTo>
                    <a:pt x="2568865" y="2177387"/>
                  </a:lnTo>
                  <a:lnTo>
                    <a:pt x="2525780" y="2167321"/>
                  </a:lnTo>
                  <a:lnTo>
                    <a:pt x="2479960" y="2156904"/>
                  </a:lnTo>
                  <a:lnTo>
                    <a:pt x="2431405" y="2146137"/>
                  </a:lnTo>
                  <a:lnTo>
                    <a:pt x="2380113" y="2135019"/>
                  </a:lnTo>
                  <a:lnTo>
                    <a:pt x="2326083" y="2123551"/>
                  </a:lnTo>
                  <a:lnTo>
                    <a:pt x="2269312" y="2111733"/>
                  </a:lnTo>
                  <a:lnTo>
                    <a:pt x="2209799" y="2099564"/>
                  </a:lnTo>
                  <a:lnTo>
                    <a:pt x="2155109" y="2088486"/>
                  </a:lnTo>
                  <a:lnTo>
                    <a:pt x="2101733" y="2077699"/>
                  </a:lnTo>
                  <a:lnTo>
                    <a:pt x="2049673" y="2067203"/>
                  </a:lnTo>
                  <a:lnTo>
                    <a:pt x="1998927" y="2056998"/>
                  </a:lnTo>
                  <a:lnTo>
                    <a:pt x="1949495" y="2047086"/>
                  </a:lnTo>
                  <a:lnTo>
                    <a:pt x="1901377" y="2037465"/>
                  </a:lnTo>
                  <a:lnTo>
                    <a:pt x="1854571" y="2028138"/>
                  </a:lnTo>
                  <a:lnTo>
                    <a:pt x="1809077" y="2019105"/>
                  </a:lnTo>
                  <a:lnTo>
                    <a:pt x="1764895" y="2010366"/>
                  </a:lnTo>
                  <a:lnTo>
                    <a:pt x="1722024" y="2001921"/>
                  </a:lnTo>
                  <a:lnTo>
                    <a:pt x="1680464" y="1993773"/>
                  </a:lnTo>
                  <a:lnTo>
                    <a:pt x="1630632" y="1983843"/>
                  </a:lnTo>
                  <a:lnTo>
                    <a:pt x="1581131" y="1973697"/>
                  </a:lnTo>
                  <a:lnTo>
                    <a:pt x="1531958" y="1963335"/>
                  </a:lnTo>
                  <a:lnTo>
                    <a:pt x="1483115" y="1952756"/>
                  </a:lnTo>
                  <a:lnTo>
                    <a:pt x="1434601" y="1941961"/>
                  </a:lnTo>
                  <a:lnTo>
                    <a:pt x="1386416" y="1930950"/>
                  </a:lnTo>
                  <a:lnTo>
                    <a:pt x="1338561" y="1919722"/>
                  </a:lnTo>
                  <a:lnTo>
                    <a:pt x="1291034" y="1908278"/>
                  </a:lnTo>
                  <a:lnTo>
                    <a:pt x="1243838" y="1896618"/>
                  </a:lnTo>
                  <a:lnTo>
                    <a:pt x="1191129" y="1883765"/>
                  </a:lnTo>
                  <a:lnTo>
                    <a:pt x="1138826" y="1871593"/>
                  </a:lnTo>
                  <a:lnTo>
                    <a:pt x="1086932" y="1860102"/>
                  </a:lnTo>
                  <a:lnTo>
                    <a:pt x="1035446" y="1849294"/>
                  </a:lnTo>
                  <a:lnTo>
                    <a:pt x="984372" y="1839171"/>
                  </a:lnTo>
                  <a:lnTo>
                    <a:pt x="933709" y="1829734"/>
                  </a:lnTo>
                  <a:lnTo>
                    <a:pt x="883461" y="1820985"/>
                  </a:lnTo>
                  <a:lnTo>
                    <a:pt x="833627" y="1812925"/>
                  </a:lnTo>
                  <a:lnTo>
                    <a:pt x="770772" y="1803368"/>
                  </a:lnTo>
                  <a:lnTo>
                    <a:pt x="714539" y="1795276"/>
                  </a:lnTo>
                  <a:lnTo>
                    <a:pt x="664924" y="1788652"/>
                  </a:lnTo>
                  <a:lnTo>
                    <a:pt x="621923" y="1783498"/>
                  </a:lnTo>
                  <a:lnTo>
                    <a:pt x="555751" y="1777619"/>
                  </a:lnTo>
                  <a:lnTo>
                    <a:pt x="487362" y="1774301"/>
                  </a:lnTo>
                  <a:lnTo>
                    <a:pt x="441070" y="1773174"/>
                  </a:lnTo>
                  <a:lnTo>
                    <a:pt x="424261" y="1773174"/>
                  </a:lnTo>
                  <a:lnTo>
                    <a:pt x="409082" y="1773174"/>
                  </a:lnTo>
                  <a:lnTo>
                    <a:pt x="354329" y="1773174"/>
                  </a:lnTo>
                  <a:lnTo>
                    <a:pt x="352805" y="1771650"/>
                  </a:lnTo>
                  <a:lnTo>
                    <a:pt x="352805" y="1768729"/>
                  </a:lnTo>
                  <a:lnTo>
                    <a:pt x="352805" y="1765808"/>
                  </a:lnTo>
                  <a:lnTo>
                    <a:pt x="352805" y="1761363"/>
                  </a:lnTo>
                  <a:lnTo>
                    <a:pt x="352805" y="1755521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5990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35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7164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36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66"/>
            <a:ext cx="362712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Ethernet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endParaRPr sz="1200">
              <a:latin typeface="Arial MT"/>
              <a:cs typeface="Arial MT"/>
            </a:endParaRPr>
          </a:p>
          <a:p>
            <a:pPr marL="727710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Frame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formats.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DDDDD"/>
                </a:solidFill>
                <a:latin typeface="Arial MT"/>
                <a:cs typeface="Arial MT"/>
              </a:rPr>
              <a:t>(a)</a:t>
            </a:r>
            <a:r>
              <a:rPr dirty="0" sz="1050" spc="-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DIX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Ethernet,</a:t>
            </a:r>
            <a:r>
              <a:rPr dirty="0" sz="1050" spc="2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DDDDDD"/>
                </a:solidFill>
                <a:latin typeface="Arial MT"/>
                <a:cs typeface="Arial MT"/>
              </a:rPr>
              <a:t>(b)</a:t>
            </a:r>
            <a:r>
              <a:rPr dirty="0" sz="1050" spc="-1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802.3.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698" y="1602861"/>
            <a:ext cx="3509567" cy="8367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67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7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37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558" y="244531"/>
            <a:ext cx="4951730" cy="4159250"/>
            <a:chOff x="311558" y="244531"/>
            <a:chExt cx="4951730" cy="4159250"/>
          </a:xfrm>
        </p:grpSpPr>
        <p:sp>
          <p:nvSpPr>
            <p:cNvPr id="7" name="object 7"/>
            <p:cNvSpPr/>
            <p:nvPr/>
          </p:nvSpPr>
          <p:spPr>
            <a:xfrm>
              <a:off x="314733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9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29114" y="581866"/>
            <a:ext cx="4333240" cy="1223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35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r>
              <a:rPr dirty="0" sz="120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marL="320675" marR="5080" indent="-123825">
              <a:lnSpc>
                <a:spcPct val="106700"/>
              </a:lnSpc>
              <a:spcBef>
                <a:spcPts val="935"/>
              </a:spcBef>
              <a:buChar char="•"/>
              <a:tabLst>
                <a:tab pos="321310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계층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프로토콜에서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정의된</a:t>
            </a:r>
            <a:r>
              <a:rPr dirty="0" sz="90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헤더와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트레일러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정보를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추가한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것</a:t>
            </a:r>
            <a:endParaRPr sz="900">
              <a:latin typeface="Malgun Gothic"/>
              <a:cs typeface="Malgun Gothic"/>
            </a:endParaRPr>
          </a:p>
          <a:p>
            <a:pPr lvl="1" marL="494030" indent="-99695">
              <a:lnSpc>
                <a:spcPct val="100000"/>
              </a:lnSpc>
              <a:spcBef>
                <a:spcPts val="204"/>
              </a:spcBef>
              <a:buChar char="–"/>
              <a:tabLst>
                <a:tab pos="49466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802.3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표준안의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프로토콜에서는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프레임이라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800">
              <a:latin typeface="Malgun Gothic"/>
              <a:cs typeface="Malgun Gothic"/>
            </a:endParaRPr>
          </a:p>
          <a:p>
            <a:pPr lvl="1" marL="494030" indent="-99695">
              <a:lnSpc>
                <a:spcPts val="955"/>
              </a:lnSpc>
              <a:spcBef>
                <a:spcPts val="280"/>
              </a:spcBef>
              <a:buChar char="–"/>
              <a:tabLst>
                <a:tab pos="494665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LLC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계층에서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보낸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정보를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취급하며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endParaRPr sz="800">
              <a:latin typeface="Malgun Gothic"/>
              <a:cs typeface="Malgun Gothic"/>
            </a:endParaRPr>
          </a:p>
          <a:p>
            <a:pPr marL="494030">
              <a:lnSpc>
                <a:spcPts val="955"/>
              </a:lnSpc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앞에는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헤더가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뒤에는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트레일러가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위치</a:t>
            </a:r>
            <a:endParaRPr sz="800">
              <a:latin typeface="Malgun Gothic"/>
              <a:cs typeface="Malgun Gothic"/>
            </a:endParaRPr>
          </a:p>
          <a:p>
            <a:pPr marL="320675" indent="-123825">
              <a:lnSpc>
                <a:spcPct val="100000"/>
              </a:lnSpc>
              <a:spcBef>
                <a:spcPts val="270"/>
              </a:spcBef>
              <a:buChar char="•"/>
              <a:tabLst>
                <a:tab pos="321310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5-7]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프로토콜에서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4404" y="2668568"/>
            <a:ext cx="3920490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98425" marR="238760" indent="-99060">
              <a:lnSpc>
                <a:spcPct val="105100"/>
              </a:lnSpc>
              <a:spcBef>
                <a:spcPts val="75"/>
              </a:spcBef>
              <a:buFont typeface="Arial MT"/>
              <a:buChar char="–"/>
              <a:tabLst>
                <a:tab pos="9906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왼쪽에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위치한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필드들은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헤더에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속하고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오른쪽은 </a:t>
            </a:r>
            <a:r>
              <a:rPr dirty="0" sz="800" spc="-2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트레일러에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속함</a:t>
            </a:r>
            <a:endParaRPr sz="800">
              <a:latin typeface="Malgun Gothic"/>
              <a:cs typeface="Malgun Gothic"/>
            </a:endParaRPr>
          </a:p>
          <a:p>
            <a:pPr marL="98425" indent="-99060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9906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크기는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Padding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길이에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영향을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받으며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Length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또는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Type</a:t>
            </a:r>
            <a:endParaRPr sz="800">
              <a:latin typeface="Arial MT"/>
              <a:cs typeface="Arial MT"/>
            </a:endParaRPr>
          </a:p>
          <a:p>
            <a:pPr marL="98425">
              <a:lnSpc>
                <a:spcPct val="100000"/>
              </a:lnSpc>
              <a:spcBef>
                <a:spcPts val="45"/>
              </a:spcBef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필드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확인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1566" y="1873829"/>
            <a:ext cx="2625187" cy="72371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244138" y="3363232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29114" y="3355792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38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28957" y="244531"/>
            <a:ext cx="4951730" cy="4159250"/>
            <a:chOff x="5428957" y="244531"/>
            <a:chExt cx="4951730" cy="4159250"/>
          </a:xfrm>
        </p:grpSpPr>
        <p:sp>
          <p:nvSpPr>
            <p:cNvPr id="16" name="object 16"/>
            <p:cNvSpPr/>
            <p:nvPr/>
          </p:nvSpPr>
          <p:spPr>
            <a:xfrm>
              <a:off x="5432132" y="2477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530379" y="4370411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99014" y="4133266"/>
            <a:ext cx="170307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802.3</a:t>
            </a:r>
            <a:r>
              <a:rPr dirty="0" sz="120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120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구조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6660" y="4447523"/>
            <a:ext cx="4115435" cy="1447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35890" marR="141605" indent="-123825">
              <a:lnSpc>
                <a:spcPct val="105100"/>
              </a:lnSpc>
              <a:spcBef>
                <a:spcPts val="75"/>
              </a:spcBef>
              <a:buFont typeface="Arial MT"/>
              <a:buChar char="•"/>
              <a:tabLst>
                <a:tab pos="136525" algn="l"/>
              </a:tabLst>
            </a:pP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프리앰블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(Preamble)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처음에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위치하여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장치의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수신회로가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실제 </a:t>
            </a:r>
            <a:r>
              <a:rPr dirty="0" sz="8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내용을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수신하기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동기화를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수행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3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‘10101010’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일련번호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패턴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  <a:p>
            <a:pPr marL="135890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13652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SFD(Start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Frame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Delimiter)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‘10101011’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로서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시작을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측에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알림</a:t>
            </a:r>
            <a:endParaRPr sz="800">
              <a:latin typeface="Malgun Gothic"/>
              <a:cs typeface="Malgun Gothic"/>
            </a:endParaRPr>
          </a:p>
          <a:p>
            <a:pPr marL="135890" indent="-123825">
              <a:lnSpc>
                <a:spcPct val="100000"/>
              </a:lnSpc>
              <a:spcBef>
                <a:spcPts val="235"/>
              </a:spcBef>
              <a:buChar char="•"/>
              <a:tabLst>
                <a:tab pos="13652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DA(Destination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Address 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목적지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)/ SA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(Source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MAC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Address: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측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  <a:p>
            <a:pPr marL="135890">
              <a:lnSpc>
                <a:spcPct val="100000"/>
              </a:lnSpc>
              <a:spcBef>
                <a:spcPts val="35"/>
              </a:spcBef>
            </a:pP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48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비트로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구성되고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2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첫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번째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비트는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개별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주소인지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그룹에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속한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알려줌</a:t>
            </a:r>
            <a:endParaRPr sz="800">
              <a:latin typeface="Malgun Gothic"/>
              <a:cs typeface="Malgun Gothic"/>
            </a:endParaRPr>
          </a:p>
          <a:p>
            <a:pPr marL="254635" indent="-242570">
              <a:lnSpc>
                <a:spcPct val="100000"/>
              </a:lnSpc>
              <a:spcBef>
                <a:spcPts val="240"/>
              </a:spcBef>
              <a:buChar char="•"/>
              <a:tabLst>
                <a:tab pos="254635" algn="l"/>
                <a:tab pos="255270" algn="l"/>
              </a:tabLst>
            </a:pP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방송형인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경우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dirty="0" sz="800" spc="25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비트가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1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됨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  <a:p>
            <a:pPr marL="135890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13652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길이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Malgun Gothic"/>
                <a:cs typeface="Malgun Gothic"/>
              </a:rPr>
              <a:t>표시자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(length)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바이트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수를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표시</a:t>
            </a:r>
            <a:endParaRPr sz="800">
              <a:latin typeface="Malgun Gothic"/>
              <a:cs typeface="Malgun Gothic"/>
            </a:endParaRPr>
          </a:p>
          <a:p>
            <a:pPr marL="135890" indent="-12382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36525" algn="l"/>
              </a:tabLst>
            </a:pP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유료부하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(Payload)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채워지며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최댓값은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1500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바이트</a:t>
            </a:r>
            <a:endParaRPr sz="800">
              <a:latin typeface="Malgun Gothic"/>
              <a:cs typeface="Malgun Gothic"/>
            </a:endParaRPr>
          </a:p>
          <a:p>
            <a:pPr marL="135890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136525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FCS(Frame Check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Sequence)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오류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검출을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위한</a:t>
            </a:r>
            <a:r>
              <a:rPr dirty="0" sz="8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CRC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(Cyclic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Redundancy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Check)</a:t>
            </a:r>
            <a:endParaRPr sz="800">
              <a:latin typeface="Arial MT"/>
              <a:cs typeface="Arial MT"/>
            </a:endParaRPr>
          </a:p>
          <a:p>
            <a:pPr marL="135890">
              <a:lnSpc>
                <a:spcPct val="100000"/>
              </a:lnSpc>
              <a:spcBef>
                <a:spcPts val="45"/>
              </a:spcBef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코드값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1558" y="2364232"/>
            <a:ext cx="4951730" cy="4951730"/>
            <a:chOff x="311558" y="2364232"/>
            <a:chExt cx="4951730" cy="495173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622" y="6141240"/>
              <a:ext cx="2064209" cy="44863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48630" y="6064338"/>
              <a:ext cx="2268220" cy="575945"/>
            </a:xfrm>
            <a:custGeom>
              <a:avLst/>
              <a:gdLst/>
              <a:ahLst/>
              <a:cxnLst/>
              <a:rect l="l" t="t" r="r" b="b"/>
              <a:pathLst>
                <a:path w="2268220" h="575945">
                  <a:moveTo>
                    <a:pt x="0" y="0"/>
                  </a:moveTo>
                  <a:lnTo>
                    <a:pt x="2268082" y="0"/>
                  </a:lnTo>
                  <a:lnTo>
                    <a:pt x="2268082" y="575652"/>
                  </a:lnTo>
                  <a:lnTo>
                    <a:pt x="0" y="575652"/>
                  </a:lnTo>
                  <a:lnTo>
                    <a:pt x="0" y="0"/>
                  </a:lnTo>
                  <a:close/>
                </a:path>
              </a:pathLst>
            </a:custGeom>
            <a:ln w="13185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4733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03147" y="2370582"/>
              <a:ext cx="3173095" cy="316865"/>
            </a:xfrm>
            <a:custGeom>
              <a:avLst/>
              <a:gdLst/>
              <a:ahLst/>
              <a:cxnLst/>
              <a:rect l="l" t="t" r="r" b="b"/>
              <a:pathLst>
                <a:path w="3173095" h="316864">
                  <a:moveTo>
                    <a:pt x="0" y="0"/>
                  </a:moveTo>
                  <a:lnTo>
                    <a:pt x="43941" y="38433"/>
                  </a:lnTo>
                  <a:lnTo>
                    <a:pt x="70358" y="65912"/>
                  </a:lnTo>
                  <a:lnTo>
                    <a:pt x="79404" y="76321"/>
                  </a:lnTo>
                  <a:lnTo>
                    <a:pt x="89011" y="85645"/>
                  </a:lnTo>
                  <a:lnTo>
                    <a:pt x="99165" y="93898"/>
                  </a:lnTo>
                  <a:lnTo>
                    <a:pt x="109855" y="101091"/>
                  </a:lnTo>
                  <a:lnTo>
                    <a:pt x="121642" y="108211"/>
                  </a:lnTo>
                  <a:lnTo>
                    <a:pt x="135096" y="116427"/>
                  </a:lnTo>
                  <a:lnTo>
                    <a:pt x="150217" y="125737"/>
                  </a:lnTo>
                  <a:lnTo>
                    <a:pt x="167005" y="136144"/>
                  </a:lnTo>
                  <a:lnTo>
                    <a:pt x="183455" y="146359"/>
                  </a:lnTo>
                  <a:lnTo>
                    <a:pt x="197738" y="154908"/>
                  </a:lnTo>
                  <a:lnTo>
                    <a:pt x="238363" y="175768"/>
                  </a:lnTo>
                  <a:lnTo>
                    <a:pt x="282352" y="193293"/>
                  </a:lnTo>
                  <a:lnTo>
                    <a:pt x="320758" y="206511"/>
                  </a:lnTo>
                  <a:lnTo>
                    <a:pt x="360298" y="219710"/>
                  </a:lnTo>
                  <a:lnTo>
                    <a:pt x="404241" y="232918"/>
                  </a:lnTo>
                  <a:lnTo>
                    <a:pt x="414174" y="235922"/>
                  </a:lnTo>
                  <a:lnTo>
                    <a:pt x="426275" y="240569"/>
                  </a:lnTo>
                  <a:lnTo>
                    <a:pt x="440566" y="246884"/>
                  </a:lnTo>
                  <a:lnTo>
                    <a:pt x="457072" y="254888"/>
                  </a:lnTo>
                  <a:lnTo>
                    <a:pt x="473505" y="262840"/>
                  </a:lnTo>
                  <a:lnTo>
                    <a:pt x="487759" y="269160"/>
                  </a:lnTo>
                  <a:lnTo>
                    <a:pt x="499846" y="273837"/>
                  </a:lnTo>
                  <a:lnTo>
                    <a:pt x="509778" y="276860"/>
                  </a:lnTo>
                  <a:lnTo>
                    <a:pt x="518277" y="279050"/>
                  </a:lnTo>
                  <a:lnTo>
                    <a:pt x="526240" y="281241"/>
                  </a:lnTo>
                  <a:lnTo>
                    <a:pt x="533655" y="283432"/>
                  </a:lnTo>
                  <a:lnTo>
                    <a:pt x="540511" y="285623"/>
                  </a:lnTo>
                  <a:lnTo>
                    <a:pt x="547633" y="287813"/>
                  </a:lnTo>
                  <a:lnTo>
                    <a:pt x="586099" y="296312"/>
                  </a:lnTo>
                  <a:lnTo>
                    <a:pt x="610870" y="298831"/>
                  </a:lnTo>
                  <a:lnTo>
                    <a:pt x="617442" y="299094"/>
                  </a:lnTo>
                  <a:lnTo>
                    <a:pt x="624014" y="299894"/>
                  </a:lnTo>
                  <a:lnTo>
                    <a:pt x="630586" y="301242"/>
                  </a:lnTo>
                  <a:lnTo>
                    <a:pt x="637159" y="303149"/>
                  </a:lnTo>
                  <a:lnTo>
                    <a:pt x="644298" y="305339"/>
                  </a:lnTo>
                  <a:lnTo>
                    <a:pt x="652557" y="307530"/>
                  </a:lnTo>
                  <a:lnTo>
                    <a:pt x="693181" y="315277"/>
                  </a:lnTo>
                  <a:lnTo>
                    <a:pt x="711835" y="316357"/>
                  </a:lnTo>
                  <a:lnTo>
                    <a:pt x="720389" y="316357"/>
                  </a:lnTo>
                  <a:lnTo>
                    <a:pt x="728360" y="316357"/>
                  </a:lnTo>
                  <a:lnTo>
                    <a:pt x="782192" y="316357"/>
                  </a:lnTo>
                  <a:lnTo>
                    <a:pt x="794261" y="316091"/>
                  </a:lnTo>
                  <a:lnTo>
                    <a:pt x="804164" y="315277"/>
                  </a:lnTo>
                  <a:lnTo>
                    <a:pt x="811875" y="313892"/>
                  </a:lnTo>
                  <a:lnTo>
                    <a:pt x="817372" y="311912"/>
                  </a:lnTo>
                  <a:lnTo>
                    <a:pt x="822301" y="310005"/>
                  </a:lnTo>
                  <a:lnTo>
                    <a:pt x="828325" y="308657"/>
                  </a:lnTo>
                  <a:lnTo>
                    <a:pt x="835445" y="307857"/>
                  </a:lnTo>
                  <a:lnTo>
                    <a:pt x="843660" y="307594"/>
                  </a:lnTo>
                  <a:lnTo>
                    <a:pt x="853045" y="306496"/>
                  </a:lnTo>
                  <a:lnTo>
                    <a:pt x="863488" y="303196"/>
                  </a:lnTo>
                  <a:lnTo>
                    <a:pt x="875004" y="297682"/>
                  </a:lnTo>
                  <a:lnTo>
                    <a:pt x="887603" y="289940"/>
                  </a:lnTo>
                  <a:lnTo>
                    <a:pt x="900273" y="282007"/>
                  </a:lnTo>
                  <a:lnTo>
                    <a:pt x="911812" y="275716"/>
                  </a:lnTo>
                  <a:lnTo>
                    <a:pt x="922232" y="271045"/>
                  </a:lnTo>
                  <a:lnTo>
                    <a:pt x="931545" y="267970"/>
                  </a:lnTo>
                  <a:lnTo>
                    <a:pt x="940381" y="265515"/>
                  </a:lnTo>
                  <a:lnTo>
                    <a:pt x="949182" y="262524"/>
                  </a:lnTo>
                  <a:lnTo>
                    <a:pt x="957959" y="258986"/>
                  </a:lnTo>
                  <a:lnTo>
                    <a:pt x="966723" y="254888"/>
                  </a:lnTo>
                  <a:lnTo>
                    <a:pt x="975506" y="251035"/>
                  </a:lnTo>
                  <a:lnTo>
                    <a:pt x="984313" y="248253"/>
                  </a:lnTo>
                  <a:lnTo>
                    <a:pt x="993120" y="246566"/>
                  </a:lnTo>
                  <a:lnTo>
                    <a:pt x="1001903" y="245999"/>
                  </a:lnTo>
                  <a:lnTo>
                    <a:pt x="1010402" y="245735"/>
                  </a:lnTo>
                  <a:lnTo>
                    <a:pt x="1018365" y="244935"/>
                  </a:lnTo>
                  <a:lnTo>
                    <a:pt x="1025780" y="243587"/>
                  </a:lnTo>
                  <a:lnTo>
                    <a:pt x="1032636" y="241681"/>
                  </a:lnTo>
                  <a:lnTo>
                    <a:pt x="1039493" y="239754"/>
                  </a:lnTo>
                  <a:lnTo>
                    <a:pt x="1046908" y="238363"/>
                  </a:lnTo>
                  <a:lnTo>
                    <a:pt x="1054871" y="237519"/>
                  </a:lnTo>
                  <a:lnTo>
                    <a:pt x="1063371" y="237236"/>
                  </a:lnTo>
                  <a:lnTo>
                    <a:pt x="1071925" y="236972"/>
                  </a:lnTo>
                  <a:lnTo>
                    <a:pt x="1079896" y="236172"/>
                  </a:lnTo>
                  <a:lnTo>
                    <a:pt x="1120521" y="224027"/>
                  </a:lnTo>
                  <a:lnTo>
                    <a:pt x="1127660" y="221573"/>
                  </a:lnTo>
                  <a:lnTo>
                    <a:pt x="1135919" y="218582"/>
                  </a:lnTo>
                  <a:lnTo>
                    <a:pt x="1145274" y="215044"/>
                  </a:lnTo>
                  <a:lnTo>
                    <a:pt x="1155700" y="210947"/>
                  </a:lnTo>
                  <a:lnTo>
                    <a:pt x="1165842" y="207093"/>
                  </a:lnTo>
                  <a:lnTo>
                    <a:pt x="1174353" y="204311"/>
                  </a:lnTo>
                  <a:lnTo>
                    <a:pt x="1181221" y="202624"/>
                  </a:lnTo>
                  <a:lnTo>
                    <a:pt x="1186434" y="202057"/>
                  </a:lnTo>
                  <a:lnTo>
                    <a:pt x="1192276" y="202057"/>
                  </a:lnTo>
                  <a:lnTo>
                    <a:pt x="1199642" y="200660"/>
                  </a:lnTo>
                  <a:lnTo>
                    <a:pt x="1239139" y="188975"/>
                  </a:lnTo>
                  <a:lnTo>
                    <a:pt x="1247975" y="186783"/>
                  </a:lnTo>
                  <a:lnTo>
                    <a:pt x="1256776" y="184578"/>
                  </a:lnTo>
                  <a:lnTo>
                    <a:pt x="1265553" y="182350"/>
                  </a:lnTo>
                  <a:lnTo>
                    <a:pt x="1274317" y="180086"/>
                  </a:lnTo>
                  <a:lnTo>
                    <a:pt x="1282606" y="178179"/>
                  </a:lnTo>
                  <a:lnTo>
                    <a:pt x="1289764" y="176831"/>
                  </a:lnTo>
                  <a:lnTo>
                    <a:pt x="1295802" y="176031"/>
                  </a:lnTo>
                  <a:lnTo>
                    <a:pt x="1300734" y="175768"/>
                  </a:lnTo>
                  <a:lnTo>
                    <a:pt x="1306576" y="175768"/>
                  </a:lnTo>
                  <a:lnTo>
                    <a:pt x="1313942" y="174244"/>
                  </a:lnTo>
                  <a:lnTo>
                    <a:pt x="1348994" y="167004"/>
                  </a:lnTo>
                  <a:lnTo>
                    <a:pt x="1357884" y="167004"/>
                  </a:lnTo>
                  <a:lnTo>
                    <a:pt x="1363726" y="167004"/>
                  </a:lnTo>
                  <a:lnTo>
                    <a:pt x="1366647" y="167004"/>
                  </a:lnTo>
                  <a:lnTo>
                    <a:pt x="1369567" y="167004"/>
                  </a:lnTo>
                  <a:lnTo>
                    <a:pt x="1376934" y="165481"/>
                  </a:lnTo>
                  <a:lnTo>
                    <a:pt x="1414960" y="155987"/>
                  </a:lnTo>
                  <a:lnTo>
                    <a:pt x="1423797" y="153797"/>
                  </a:lnTo>
                  <a:lnTo>
                    <a:pt x="1432012" y="151606"/>
                  </a:lnTo>
                  <a:lnTo>
                    <a:pt x="1439132" y="149415"/>
                  </a:lnTo>
                  <a:lnTo>
                    <a:pt x="1445156" y="147224"/>
                  </a:lnTo>
                  <a:lnTo>
                    <a:pt x="1450086" y="145034"/>
                  </a:lnTo>
                  <a:lnTo>
                    <a:pt x="1455928" y="142112"/>
                  </a:lnTo>
                  <a:lnTo>
                    <a:pt x="1463294" y="139191"/>
                  </a:lnTo>
                  <a:lnTo>
                    <a:pt x="1472057" y="136144"/>
                  </a:lnTo>
                  <a:lnTo>
                    <a:pt x="1480820" y="133223"/>
                  </a:lnTo>
                  <a:lnTo>
                    <a:pt x="1486789" y="131825"/>
                  </a:lnTo>
                  <a:lnTo>
                    <a:pt x="1489710" y="131825"/>
                  </a:lnTo>
                  <a:lnTo>
                    <a:pt x="1492630" y="131825"/>
                  </a:lnTo>
                  <a:lnTo>
                    <a:pt x="1496948" y="131825"/>
                  </a:lnTo>
                  <a:lnTo>
                    <a:pt x="1502791" y="131825"/>
                  </a:lnTo>
                  <a:lnTo>
                    <a:pt x="1507509" y="130994"/>
                  </a:lnTo>
                  <a:lnTo>
                    <a:pt x="1539494" y="104012"/>
                  </a:lnTo>
                  <a:lnTo>
                    <a:pt x="1542415" y="101091"/>
                  </a:lnTo>
                  <a:lnTo>
                    <a:pt x="1545336" y="98171"/>
                  </a:lnTo>
                  <a:lnTo>
                    <a:pt x="1548257" y="96647"/>
                  </a:lnTo>
                  <a:lnTo>
                    <a:pt x="1551178" y="96647"/>
                  </a:lnTo>
                  <a:lnTo>
                    <a:pt x="1554098" y="96647"/>
                  </a:lnTo>
                  <a:lnTo>
                    <a:pt x="1557020" y="93725"/>
                  </a:lnTo>
                  <a:lnTo>
                    <a:pt x="1559941" y="87884"/>
                  </a:lnTo>
                  <a:lnTo>
                    <a:pt x="1562861" y="82041"/>
                  </a:lnTo>
                  <a:lnTo>
                    <a:pt x="1565783" y="79121"/>
                  </a:lnTo>
                  <a:lnTo>
                    <a:pt x="1568704" y="79121"/>
                  </a:lnTo>
                  <a:lnTo>
                    <a:pt x="1571752" y="79121"/>
                  </a:lnTo>
                  <a:lnTo>
                    <a:pt x="1573148" y="77597"/>
                  </a:lnTo>
                  <a:lnTo>
                    <a:pt x="1573148" y="74675"/>
                  </a:lnTo>
                  <a:lnTo>
                    <a:pt x="1573148" y="71754"/>
                  </a:lnTo>
                  <a:lnTo>
                    <a:pt x="1576070" y="67310"/>
                  </a:lnTo>
                  <a:lnTo>
                    <a:pt x="1581911" y="61468"/>
                  </a:lnTo>
                </a:path>
                <a:path w="3173095" h="316864">
                  <a:moveTo>
                    <a:pt x="2812288" y="8762"/>
                  </a:moveTo>
                  <a:lnTo>
                    <a:pt x="2829941" y="52704"/>
                  </a:lnTo>
                  <a:lnTo>
                    <a:pt x="2838705" y="65869"/>
                  </a:lnTo>
                  <a:lnTo>
                    <a:pt x="2847482" y="79057"/>
                  </a:lnTo>
                  <a:lnTo>
                    <a:pt x="2873335" y="117532"/>
                  </a:lnTo>
                  <a:lnTo>
                    <a:pt x="2897251" y="146431"/>
                  </a:lnTo>
                  <a:lnTo>
                    <a:pt x="2901695" y="152273"/>
                  </a:lnTo>
                  <a:lnTo>
                    <a:pt x="2904616" y="158114"/>
                  </a:lnTo>
                  <a:lnTo>
                    <a:pt x="2907538" y="164084"/>
                  </a:lnTo>
                  <a:lnTo>
                    <a:pt x="2910458" y="167004"/>
                  </a:lnTo>
                  <a:lnTo>
                    <a:pt x="2913379" y="167004"/>
                  </a:lnTo>
                  <a:lnTo>
                    <a:pt x="2916301" y="167004"/>
                  </a:lnTo>
                  <a:lnTo>
                    <a:pt x="2919222" y="168401"/>
                  </a:lnTo>
                  <a:lnTo>
                    <a:pt x="2922142" y="171323"/>
                  </a:lnTo>
                  <a:lnTo>
                    <a:pt x="2925191" y="174244"/>
                  </a:lnTo>
                  <a:lnTo>
                    <a:pt x="2928112" y="177164"/>
                  </a:lnTo>
                  <a:lnTo>
                    <a:pt x="2967801" y="191166"/>
                  </a:lnTo>
                  <a:lnTo>
                    <a:pt x="2977149" y="193357"/>
                  </a:lnTo>
                  <a:lnTo>
                    <a:pt x="3017254" y="206829"/>
                  </a:lnTo>
                  <a:lnTo>
                    <a:pt x="3027679" y="210947"/>
                  </a:lnTo>
                  <a:lnTo>
                    <a:pt x="3038369" y="215044"/>
                  </a:lnTo>
                  <a:lnTo>
                    <a:pt x="3078988" y="227075"/>
                  </a:lnTo>
                  <a:lnTo>
                    <a:pt x="3086227" y="228473"/>
                  </a:lnTo>
                  <a:lnTo>
                    <a:pt x="3089148" y="228473"/>
                  </a:lnTo>
                  <a:lnTo>
                    <a:pt x="3092068" y="228473"/>
                  </a:lnTo>
                  <a:lnTo>
                    <a:pt x="3144901" y="228473"/>
                  </a:lnTo>
                  <a:lnTo>
                    <a:pt x="3149218" y="224027"/>
                  </a:lnTo>
                  <a:lnTo>
                    <a:pt x="3163951" y="184531"/>
                  </a:lnTo>
                  <a:lnTo>
                    <a:pt x="3163951" y="175484"/>
                  </a:lnTo>
                  <a:lnTo>
                    <a:pt x="3163951" y="165877"/>
                  </a:lnTo>
                  <a:lnTo>
                    <a:pt x="3163951" y="27812"/>
                  </a:lnTo>
                  <a:lnTo>
                    <a:pt x="3165348" y="26288"/>
                  </a:lnTo>
                  <a:lnTo>
                    <a:pt x="3168268" y="26288"/>
                  </a:lnTo>
                  <a:lnTo>
                    <a:pt x="3171190" y="26288"/>
                  </a:lnTo>
                  <a:lnTo>
                    <a:pt x="3172714" y="23368"/>
                  </a:lnTo>
                  <a:lnTo>
                    <a:pt x="3172714" y="1752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716414" y="4133266"/>
            <a:ext cx="133413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1200" spc="3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12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구성요소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16416" y="4414125"/>
            <a:ext cx="3992879" cy="174243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37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형식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59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목적지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받게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되는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측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보내는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34"/>
              </a:spcBef>
              <a:buChar char="•"/>
              <a:tabLst>
                <a:tab pos="334010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L/TLength/Type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데이터가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보내지는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형태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33401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FCS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목적지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정확하게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전송되♘는지를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확인</a:t>
            </a:r>
            <a:endParaRPr sz="80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‘</a:t>
            </a:r>
            <a:r>
              <a:rPr dirty="0" sz="9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’</a:t>
            </a:r>
            <a:r>
              <a:rPr dirty="0" sz="9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또는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노드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’</a:t>
            </a:r>
            <a:endParaRPr sz="90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60"/>
              </a:spcBef>
              <a:buChar char="•"/>
              <a:tabLst>
                <a:tab pos="334010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I/G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개별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또는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그룹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</a:t>
            </a:r>
            <a:endParaRPr sz="800">
              <a:latin typeface="Malgun Gothic"/>
              <a:cs typeface="Malgun Gothic"/>
            </a:endParaRPr>
          </a:p>
          <a:p>
            <a:pPr marL="407670">
              <a:lnSpc>
                <a:spcPct val="100000"/>
              </a:lnSpc>
              <a:spcBef>
                <a:spcPts val="100"/>
              </a:spcBef>
            </a:pP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650" spc="2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0</a:t>
            </a:r>
            <a:r>
              <a:rPr dirty="0" sz="6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→</a:t>
            </a:r>
            <a:r>
              <a:rPr dirty="0" sz="6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03366"/>
                </a:solidFill>
                <a:latin typeface="Malgun Gothic"/>
                <a:cs typeface="Malgun Gothic"/>
              </a:rPr>
              <a:t>개별</a:t>
            </a:r>
            <a:r>
              <a:rPr dirty="0" sz="6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-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650" spc="-25">
                <a:solidFill>
                  <a:srgbClr val="003366"/>
                </a:solidFill>
                <a:latin typeface="Arial MT"/>
                <a:cs typeface="Arial MT"/>
              </a:rPr>
              <a:t>(MAC</a:t>
            </a:r>
            <a:r>
              <a:rPr dirty="0" sz="6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650" spc="-25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6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5">
                <a:solidFill>
                  <a:srgbClr val="003366"/>
                </a:solidFill>
                <a:latin typeface="Arial MT"/>
                <a:cs typeface="Arial MT"/>
              </a:rPr>
              <a:t>/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 1</a:t>
            </a:r>
            <a:r>
              <a:rPr dirty="0" sz="6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→</a:t>
            </a:r>
            <a:r>
              <a:rPr dirty="0" sz="6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03366"/>
                </a:solidFill>
                <a:latin typeface="Malgun Gothic"/>
                <a:cs typeface="Malgun Gothic"/>
              </a:rPr>
              <a:t>그룹</a:t>
            </a:r>
            <a:r>
              <a:rPr dirty="0" sz="6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650" spc="-3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멀티캐스트</a:t>
            </a:r>
            <a:r>
              <a:rPr dirty="0" sz="65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-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650" spc="-25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20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r>
              <a:rPr dirty="0" sz="65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-25">
                <a:solidFill>
                  <a:srgbClr val="003366"/>
                </a:solidFill>
                <a:latin typeface="Malgun Gothic"/>
                <a:cs typeface="Malgun Gothic"/>
              </a:rPr>
              <a:t>주소</a:t>
            </a:r>
            <a:r>
              <a:rPr dirty="0" sz="650" spc="-25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endParaRPr sz="650">
              <a:latin typeface="Arial MT"/>
              <a:cs typeface="Arial MT"/>
            </a:endParaRPr>
          </a:p>
          <a:p>
            <a:pPr lvl="1" marL="333375" indent="-123825">
              <a:lnSpc>
                <a:spcPct val="100000"/>
              </a:lnSpc>
              <a:spcBef>
                <a:spcPts val="265"/>
              </a:spcBef>
              <a:buChar char="•"/>
              <a:tabLst>
                <a:tab pos="334010" algn="l"/>
              </a:tabLst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U/L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비트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범용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또는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지역관리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표시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영역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25"/>
              </a:spcBef>
              <a:buChar char="•"/>
              <a:tabLst>
                <a:tab pos="33401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OUI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IEEE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네트워크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어댑터의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제조업자와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인터페이스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제조업자에게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할당</a:t>
            </a:r>
            <a:endParaRPr sz="8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35"/>
              </a:spcBef>
              <a:buChar char="•"/>
              <a:tabLst>
                <a:tab pos="334010" algn="l"/>
              </a:tabLst>
            </a:pP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OUA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5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제조회사가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노드에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지정할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주소를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나타내는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숫자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28957" y="3795931"/>
            <a:ext cx="4951730" cy="3519804"/>
            <a:chOff x="5428957" y="3795931"/>
            <a:chExt cx="4951730" cy="3519804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89622" y="6347501"/>
              <a:ext cx="1726399" cy="3284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975454" y="6284006"/>
              <a:ext cx="1903730" cy="499745"/>
            </a:xfrm>
            <a:custGeom>
              <a:avLst/>
              <a:gdLst/>
              <a:ahLst/>
              <a:cxnLst/>
              <a:rect l="l" t="t" r="r" b="b"/>
              <a:pathLst>
                <a:path w="1903729" h="499745">
                  <a:moveTo>
                    <a:pt x="0" y="0"/>
                  </a:moveTo>
                  <a:lnTo>
                    <a:pt x="1903506" y="0"/>
                  </a:lnTo>
                  <a:lnTo>
                    <a:pt x="1903506" y="499433"/>
                  </a:lnTo>
                  <a:lnTo>
                    <a:pt x="0" y="499433"/>
                  </a:lnTo>
                  <a:lnTo>
                    <a:pt x="0" y="0"/>
                  </a:lnTo>
                  <a:close/>
                </a:path>
              </a:pathLst>
            </a:custGeom>
            <a:ln w="13185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33837" y="6290599"/>
              <a:ext cx="1822049" cy="46357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927249" y="6284006"/>
              <a:ext cx="1835785" cy="476884"/>
            </a:xfrm>
            <a:custGeom>
              <a:avLst/>
              <a:gdLst/>
              <a:ahLst/>
              <a:cxnLst/>
              <a:rect l="l" t="t" r="r" b="b"/>
              <a:pathLst>
                <a:path w="1835784" h="476884">
                  <a:moveTo>
                    <a:pt x="0" y="0"/>
                  </a:moveTo>
                  <a:lnTo>
                    <a:pt x="1835226" y="0"/>
                  </a:lnTo>
                  <a:lnTo>
                    <a:pt x="1835226" y="476759"/>
                  </a:lnTo>
                  <a:lnTo>
                    <a:pt x="0" y="476759"/>
                  </a:lnTo>
                  <a:lnTo>
                    <a:pt x="0" y="0"/>
                  </a:lnTo>
                  <a:close/>
                </a:path>
              </a:pathLst>
            </a:custGeom>
            <a:ln w="13185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432132" y="3799106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990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39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5716414" y="6906848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40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31438" y="6914352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09"/>
            <a:ext cx="176720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 b="1">
                <a:solidFill>
                  <a:srgbClr val="003366"/>
                </a:solidFill>
                <a:latin typeface="Arial"/>
                <a:cs typeface="Arial"/>
              </a:rPr>
              <a:t>LLC</a:t>
            </a:r>
            <a:r>
              <a:rPr dirty="0" sz="1200" spc="-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120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캡슐화</a:t>
            </a:r>
            <a:endParaRPr sz="1200">
              <a:latin typeface="Malgun Gothic"/>
              <a:cs typeface="Malgun Gothic"/>
            </a:endParaRPr>
          </a:p>
          <a:p>
            <a:pPr marL="394970">
              <a:lnSpc>
                <a:spcPct val="100000"/>
              </a:lnSpc>
              <a:spcBef>
                <a:spcPts val="1019"/>
              </a:spcBef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8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필드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452" y="1203941"/>
            <a:ext cx="2787155" cy="1749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67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7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41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7" name="object 7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29114" y="581809"/>
            <a:ext cx="3783965" cy="4654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허브와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스위치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(1)</a:t>
            </a:r>
            <a:endParaRPr sz="1200">
              <a:latin typeface="Arial MT"/>
              <a:cs typeface="Arial MT"/>
            </a:endParaRPr>
          </a:p>
          <a:p>
            <a:pPr marL="394970">
              <a:lnSpc>
                <a:spcPct val="100000"/>
              </a:lnSpc>
              <a:spcBef>
                <a:spcPts val="1019"/>
              </a:spcBef>
            </a:pP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8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이더넷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환경에서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사용하는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버스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일반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허브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스위치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허브의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차이점</a:t>
            </a:r>
            <a:endParaRPr sz="80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1974" y="1219321"/>
            <a:ext cx="2799761" cy="18766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441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91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42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5" name="object 15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17908" y="4133209"/>
            <a:ext cx="493903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Ethernet</a:t>
            </a:r>
            <a:r>
              <a:rPr dirty="0" sz="120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Cabling</a:t>
            </a:r>
            <a:endParaRPr sz="1200">
              <a:latin typeface="Arial MT"/>
              <a:cs typeface="Arial MT"/>
            </a:endParaRPr>
          </a:p>
          <a:p>
            <a:pPr algn="ctr" marR="63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most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common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kinds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Ethernet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cabling.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8853" y="5234179"/>
              <a:ext cx="3317412" cy="66273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435307" y="4133209"/>
            <a:ext cx="4939030" cy="2510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93370">
              <a:lnSpc>
                <a:spcPct val="100000"/>
              </a:lnSpc>
              <a:spcBef>
                <a:spcPts val="135"/>
              </a:spcBef>
            </a:pP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허브와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40">
                <a:solidFill>
                  <a:srgbClr val="003366"/>
                </a:solidFill>
                <a:latin typeface="Malgun Gothic"/>
                <a:cs typeface="Malgun Gothic"/>
              </a:rPr>
              <a:t>스위치</a:t>
            </a:r>
            <a:r>
              <a:rPr dirty="0" sz="1200" spc="-1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  <a:p>
            <a:pPr marL="441959" indent="-14922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허브</a:t>
            </a:r>
            <a:endParaRPr sz="1050">
              <a:latin typeface="Malgun Gothic"/>
              <a:cs typeface="Malgun Gothic"/>
            </a:endParaRPr>
          </a:p>
          <a:p>
            <a:pPr lvl="1" marL="614680" marR="672465" indent="-123825">
              <a:lnSpc>
                <a:spcPct val="105700"/>
              </a:lnSpc>
              <a:spcBef>
                <a:spcPts val="200"/>
              </a:spcBef>
              <a:buChar char="•"/>
              <a:tabLst>
                <a:tab pos="615315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그림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5-9]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(b)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같은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허브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구조에서는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박스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형태의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장비에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호스트를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연결하는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다수의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포트를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지원</a:t>
            </a:r>
            <a:endParaRPr sz="900">
              <a:latin typeface="Malgun Gothic"/>
              <a:cs typeface="Malgun Gothic"/>
            </a:endParaRPr>
          </a:p>
          <a:p>
            <a:pPr lvl="2" marL="787400" indent="-99060">
              <a:lnSpc>
                <a:spcPct val="100000"/>
              </a:lnSpc>
              <a:spcBef>
                <a:spcPts val="259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각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호스트는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외형상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허브에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스타형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구조로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</a:t>
            </a:r>
            <a:endParaRPr sz="800">
              <a:latin typeface="Malgun Gothic"/>
              <a:cs typeface="Malgun Gothic"/>
            </a:endParaRPr>
          </a:p>
          <a:p>
            <a:pPr lvl="2" marL="787400" marR="743585" indent="-99060">
              <a:lnSpc>
                <a:spcPct val="105100"/>
              </a:lnSpc>
              <a:spcBef>
                <a:spcPts val="175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내부의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동작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원리는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버스형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구조를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지원하므로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호스트에서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전송한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허브에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연결된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호스트에</a:t>
            </a:r>
            <a:r>
              <a:rPr dirty="0" sz="8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전달</a:t>
            </a:r>
            <a:endParaRPr sz="800">
              <a:latin typeface="Malgun Gothic"/>
              <a:cs typeface="Malgun Gothic"/>
            </a:endParaRPr>
          </a:p>
          <a:p>
            <a:pPr lvl="2" marL="787400" indent="-99060">
              <a:lnSpc>
                <a:spcPct val="100000"/>
              </a:lnSpc>
              <a:spcBef>
                <a:spcPts val="225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허브의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최대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용량은</a:t>
            </a:r>
            <a:r>
              <a:rPr dirty="0" sz="8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15">
                <a:solidFill>
                  <a:srgbClr val="003366"/>
                </a:solidFill>
                <a:latin typeface="Arial MT"/>
                <a:cs typeface="Arial MT"/>
              </a:rPr>
              <a:t>100Mbps</a:t>
            </a:r>
            <a:r>
              <a:rPr dirty="0" sz="800" spc="15">
                <a:solidFill>
                  <a:srgbClr val="003366"/>
                </a:solidFill>
                <a:latin typeface="Malgun Gothic"/>
                <a:cs typeface="Malgun Gothic"/>
              </a:rPr>
              <a:t>로</a:t>
            </a:r>
            <a:r>
              <a:rPr dirty="0" sz="8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제한</a:t>
            </a:r>
            <a:endParaRPr sz="800">
              <a:latin typeface="Malgun Gothic"/>
              <a:cs typeface="Malgun Gothic"/>
            </a:endParaRPr>
          </a:p>
          <a:p>
            <a:pPr marL="441959" indent="-149225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442595" algn="l"/>
              </a:tabLst>
            </a:pPr>
            <a:r>
              <a:rPr dirty="0" sz="1050" spc="-15">
                <a:solidFill>
                  <a:srgbClr val="003366"/>
                </a:solidFill>
                <a:latin typeface="Malgun Gothic"/>
                <a:cs typeface="Malgun Gothic"/>
              </a:rPr>
              <a:t>스위치</a:t>
            </a:r>
            <a:endParaRPr sz="1050">
              <a:latin typeface="Malgun Gothic"/>
              <a:cs typeface="Malgun Gothic"/>
            </a:endParaRPr>
          </a:p>
          <a:p>
            <a:pPr lvl="1" marL="614680" marR="375920" indent="-123825">
              <a:lnSpc>
                <a:spcPct val="103600"/>
              </a:lnSpc>
              <a:spcBef>
                <a:spcPts val="220"/>
              </a:spcBef>
              <a:buChar char="•"/>
              <a:tabLst>
                <a:tab pos="615315" algn="l"/>
              </a:tabLst>
            </a:pP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[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그림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5-9]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의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(c)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에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보이는 스위치 허브는 중앙에 위치한 허브에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스위치 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기능이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있어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임의의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호스트로부터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수신한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전송하지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않고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해당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지정한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호스트에만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endParaRPr sz="900">
              <a:latin typeface="Malgun Gothic"/>
              <a:cs typeface="Malgun Gothic"/>
            </a:endParaRPr>
          </a:p>
          <a:p>
            <a:pPr lvl="2" marL="787400" indent="-99060">
              <a:lnSpc>
                <a:spcPct val="100000"/>
              </a:lnSpc>
              <a:spcBef>
                <a:spcPts val="260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결과적으로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공유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버스의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특징인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브로드캐스팅으로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전송하지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않으므로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성능을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개선</a:t>
            </a:r>
            <a:endParaRPr sz="800">
              <a:latin typeface="Malgun Gothic"/>
              <a:cs typeface="Malgun Gothic"/>
            </a:endParaRPr>
          </a:p>
          <a:p>
            <a:pPr lvl="2" marL="787400" marR="339090" indent="-99060">
              <a:lnSpc>
                <a:spcPct val="105100"/>
              </a:lnSpc>
              <a:spcBef>
                <a:spcPts val="175"/>
              </a:spcBef>
              <a:buFont typeface="Arial MT"/>
              <a:buChar char="–"/>
              <a:tabLst>
                <a:tab pos="788035" algn="l"/>
              </a:tabLst>
            </a:pP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이들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사이에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전송이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진행되고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있어도</a:t>
            </a:r>
            <a:r>
              <a:rPr dirty="0" sz="8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8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호스트끼리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전송할</a:t>
            </a:r>
            <a:r>
              <a:rPr dirty="0" sz="8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0">
                <a:solidFill>
                  <a:srgbClr val="003366"/>
                </a:solidFill>
                <a:latin typeface="Malgun Gothic"/>
                <a:cs typeface="Malgun Gothic"/>
              </a:rPr>
              <a:t>수 </a:t>
            </a:r>
            <a:r>
              <a:rPr dirty="0" sz="800" spc="-2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00" spc="25">
                <a:solidFill>
                  <a:srgbClr val="003366"/>
                </a:solidFill>
                <a:latin typeface="Malgun Gothic"/>
                <a:cs typeface="Malgun Gothic"/>
              </a:rPr>
              <a:t>있음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990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43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7164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44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31438" y="6914295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09"/>
            <a:ext cx="2233295" cy="1395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Wireless</a:t>
            </a:r>
            <a:r>
              <a:rPr dirty="0" sz="120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LANs</a:t>
            </a:r>
            <a:endParaRPr sz="120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Stack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Physical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Layer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Frame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Structure</a:t>
            </a:r>
            <a:endParaRPr sz="1050">
              <a:latin typeface="Arial MT"/>
              <a:cs typeface="Arial MT"/>
            </a:endParaRPr>
          </a:p>
          <a:p>
            <a:pPr marL="147955" indent="-148590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859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Services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67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7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45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6" name="object 6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5530380" y="818955"/>
            <a:ext cx="4427855" cy="2108200"/>
            <a:chOff x="5530380" y="818955"/>
            <a:chExt cx="4427855" cy="2108200"/>
          </a:xfrm>
        </p:grpSpPr>
        <p:sp>
          <p:nvSpPr>
            <p:cNvPr id="9" name="object 9"/>
            <p:cNvSpPr/>
            <p:nvPr/>
          </p:nvSpPr>
          <p:spPr>
            <a:xfrm>
              <a:off x="5530380" y="818955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19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71215" y="1301896"/>
              <a:ext cx="3238698" cy="162509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729114" y="581809"/>
            <a:ext cx="314960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20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  <a:p>
            <a:pPr marL="120586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Part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0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stack.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441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91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46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5" name="object 15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11714" y="4133209"/>
            <a:ext cx="250063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7653" y="6397207"/>
            <a:ext cx="1945005" cy="4438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96215" indent="-196850">
              <a:lnSpc>
                <a:spcPct val="100000"/>
              </a:lnSpc>
              <a:spcBef>
                <a:spcPts val="484"/>
              </a:spcBef>
              <a:buAutoNum type="alphaLcParenBoth"/>
              <a:tabLst>
                <a:tab pos="19685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hidden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station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problem.</a:t>
            </a:r>
            <a:endParaRPr sz="1050">
              <a:latin typeface="Arial MT"/>
              <a:cs typeface="Arial MT"/>
            </a:endParaRPr>
          </a:p>
          <a:p>
            <a:pPr marL="196215" indent="-196850">
              <a:lnSpc>
                <a:spcPct val="100000"/>
              </a:lnSpc>
              <a:spcBef>
                <a:spcPts val="385"/>
              </a:spcBef>
              <a:buAutoNum type="alphaLcParenBoth"/>
              <a:tabLst>
                <a:tab pos="196850" algn="l"/>
              </a:tabLst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exposed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station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problem.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9598" y="4865383"/>
              <a:ext cx="2828058" cy="144051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729114" y="4133209"/>
            <a:ext cx="273748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(2)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8430" y="6433317"/>
            <a:ext cx="30378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use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virtual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channel sensing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using</a:t>
            </a:r>
            <a:r>
              <a:rPr dirty="0" sz="10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CSMA/CA.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7933" y="4954662"/>
              <a:ext cx="3594498" cy="119871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990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47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10" i="0">
                <a:latin typeface="Verdana"/>
                <a:cs typeface="Verdana"/>
              </a:rPr>
              <a:t>©</a:t>
            </a:r>
            <a:r>
              <a:rPr dirty="0" i="0">
                <a:latin typeface="Verdana"/>
                <a:cs typeface="Verdana"/>
              </a:rPr>
              <a:t> </a:t>
            </a:r>
            <a:r>
              <a:rPr dirty="0" spc="5"/>
              <a:t>2018-2022 Lecture</a:t>
            </a:r>
            <a:r>
              <a:rPr dirty="0"/>
              <a:t> </a:t>
            </a:r>
            <a:r>
              <a:rPr dirty="0" spc="5"/>
              <a:t>Note</a:t>
            </a:r>
            <a:r>
              <a:rPr dirty="0"/>
              <a:t> </a:t>
            </a:r>
            <a:r>
              <a:rPr dirty="0" spc="5"/>
              <a:t>of Computer</a:t>
            </a:r>
            <a:r>
              <a:rPr dirty="0"/>
              <a:t> </a:t>
            </a:r>
            <a:r>
              <a:rPr dirty="0" spc="5"/>
              <a:t>Network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716414" y="6906792"/>
            <a:ext cx="109855" cy="10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48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31438" y="6914295"/>
            <a:ext cx="1336675" cy="89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714" y="581809"/>
            <a:ext cx="2737485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(3)</a:t>
            </a:r>
            <a:endParaRPr sz="1200">
              <a:latin typeface="Arial MT"/>
              <a:cs typeface="Arial MT"/>
            </a:endParaRPr>
          </a:p>
          <a:p>
            <a:pPr algn="r" marR="55244">
              <a:lnSpc>
                <a:spcPct val="100000"/>
              </a:lnSpc>
              <a:spcBef>
                <a:spcPts val="960"/>
              </a:spcBef>
            </a:pPr>
            <a:r>
              <a:rPr dirty="0" sz="10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0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fragment</a:t>
            </a:r>
            <a:r>
              <a:rPr dirty="0" sz="10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burst.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9165" y="1285138"/>
            <a:ext cx="3449493" cy="13173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67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17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49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7" name="object 7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29114" y="581809"/>
            <a:ext cx="303657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5">
                <a:solidFill>
                  <a:srgbClr val="003366"/>
                </a:solidFill>
                <a:latin typeface="Arial MT"/>
                <a:cs typeface="Arial MT"/>
              </a:rPr>
              <a:t>MAC</a:t>
            </a:r>
            <a:r>
              <a:rPr dirty="0" sz="12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Sublayer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12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(4)</a:t>
            </a:r>
            <a:endParaRPr sz="1200">
              <a:latin typeface="Arial MT"/>
              <a:cs typeface="Arial MT"/>
            </a:endParaRPr>
          </a:p>
          <a:p>
            <a:pPr marL="1318895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Interframe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spacing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5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10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4148" y="1287198"/>
            <a:ext cx="3546845" cy="122186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44138" y="33631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29114" y="3355736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50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32132" y="2476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11714" y="4133209"/>
            <a:ext cx="2867660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20">
                <a:solidFill>
                  <a:srgbClr val="003366"/>
                </a:solidFill>
                <a:latin typeface="Arial MT"/>
                <a:cs typeface="Arial MT"/>
              </a:rPr>
              <a:t>Frame</a:t>
            </a:r>
            <a:r>
              <a:rPr dirty="0" sz="12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200" spc="15">
                <a:solidFill>
                  <a:srgbClr val="003366"/>
                </a:solidFill>
                <a:latin typeface="Arial MT"/>
                <a:cs typeface="Arial MT"/>
              </a:rPr>
              <a:t>Structure</a:t>
            </a:r>
            <a:endParaRPr sz="1200">
              <a:latin typeface="Arial MT"/>
              <a:cs typeface="Arial MT"/>
            </a:endParaRPr>
          </a:p>
          <a:p>
            <a:pPr marL="1487170">
              <a:lnSpc>
                <a:spcPct val="100000"/>
              </a:lnSpc>
              <a:spcBef>
                <a:spcPts val="960"/>
              </a:spcBef>
            </a:pP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802.11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0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003366"/>
                </a:solidFill>
                <a:latin typeface="Arial MT"/>
                <a:cs typeface="Arial MT"/>
              </a:rPr>
              <a:t>frame.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4051" y="5033641"/>
            <a:ext cx="3564468" cy="102054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126738" y="6914576"/>
            <a:ext cx="1323975" cy="882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400" spc="1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40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2018-2022 Lecture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Note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of Computer</a:t>
            </a:r>
            <a:r>
              <a:rPr dirty="0" sz="400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400" spc="5" i="1">
                <a:solidFill>
                  <a:srgbClr val="B0B0B0"/>
                </a:solidFill>
                <a:latin typeface="Verdana"/>
                <a:cs typeface="Verdana"/>
              </a:rPr>
              <a:t>Network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714" y="6907135"/>
            <a:ext cx="971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00" spc="10">
                <a:solidFill>
                  <a:srgbClr val="898989"/>
                </a:solidFill>
                <a:latin typeface="Verdana"/>
                <a:cs typeface="Verdana"/>
              </a:rPr>
              <a:t>51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Jaehyun Park</dc:creator>
  <dc:title>SCN-04_MAC</dc:title>
  <dcterms:created xsi:type="dcterms:W3CDTF">2024-09-25T00:20:37Z</dcterms:created>
  <dcterms:modified xsi:type="dcterms:W3CDTF">2024-09-25T00:20:37Z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2022-09-13T00:00:00Z</vt:filetime>
  </property>
  <property fmtid="{D5CDD505-2E9C-101B-9397-08002B2CF9AE}" pid="3" name="Creator">
    <vt:lpwstr>pdftopdf filter</vt:lpwstr>
  </property>
  <property fmtid="{D5CDD505-2E9C-101B-9397-08002B2CF9AE}" pid="4" name="LastSaved">
    <vt:filetime>2024-09-25T00:00:00Z</vt:filetime>
  </property>
</Properties>
</file>