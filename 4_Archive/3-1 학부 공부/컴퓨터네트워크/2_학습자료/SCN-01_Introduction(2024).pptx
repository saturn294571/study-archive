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0693400" cy="7562850"/>
  <p:notesSz cx="10693400" cy="75628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48" y="8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13144" y="2294636"/>
            <a:ext cx="4467111" cy="453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2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3265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032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3265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3265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3" y="1110576"/>
            <a:ext cx="9979567" cy="747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5707" y="2222246"/>
            <a:ext cx="4601984" cy="667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03265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718" y="1777837"/>
            <a:ext cx="9251962" cy="164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0032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1281" y="6907145"/>
            <a:ext cx="2985134" cy="17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mailto:jhyun@inha.ac.k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motionalpro.com/blog/" TargetMode="Externa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3" y="436626"/>
            <a:ext cx="1247775" cy="6673850"/>
          </a:xfrm>
          <a:custGeom>
            <a:avLst/>
            <a:gdLst/>
            <a:ahLst/>
            <a:cxnLst/>
            <a:rect l="l" t="t" r="r" b="b"/>
            <a:pathLst>
              <a:path w="1247775" h="6673850">
                <a:moveTo>
                  <a:pt x="1247394" y="6673596"/>
                </a:moveTo>
                <a:lnTo>
                  <a:pt x="1247394" y="0"/>
                </a:lnTo>
                <a:lnTo>
                  <a:pt x="0" y="0"/>
                </a:lnTo>
                <a:lnTo>
                  <a:pt x="0" y="6673596"/>
                </a:lnTo>
                <a:lnTo>
                  <a:pt x="1247394" y="6673596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1263" y="3536441"/>
            <a:ext cx="8187690" cy="0"/>
          </a:xfrm>
          <a:custGeom>
            <a:avLst/>
            <a:gdLst/>
            <a:ahLst/>
            <a:cxnLst/>
            <a:rect l="l" t="t" r="r" b="b"/>
            <a:pathLst>
              <a:path w="8187690">
                <a:moveTo>
                  <a:pt x="0" y="0"/>
                </a:moveTo>
                <a:lnTo>
                  <a:pt x="8187690" y="0"/>
                </a:lnTo>
              </a:path>
            </a:pathLst>
          </a:custGeom>
          <a:ln w="22275">
            <a:solidFill>
              <a:srgbClr val="00326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265" rIns="0" bIns="0" rtlCol="0">
            <a:spAutoFit/>
          </a:bodyPr>
          <a:lstStyle/>
          <a:p>
            <a:pPr marL="2331720">
              <a:lnSpc>
                <a:spcPct val="100000"/>
              </a:lnSpc>
              <a:spcBef>
                <a:spcPts val="2695"/>
              </a:spcBef>
            </a:pPr>
            <a:r>
              <a:rPr spc="-10" dirty="0"/>
              <a:t>Computer</a:t>
            </a:r>
            <a:r>
              <a:rPr spc="-30" dirty="0"/>
              <a:t> </a:t>
            </a:r>
            <a:r>
              <a:rPr spc="-5" dirty="0"/>
              <a:t>Network</a:t>
            </a:r>
          </a:p>
          <a:p>
            <a:pPr marL="3762375">
              <a:lnSpc>
                <a:spcPct val="100000"/>
              </a:lnSpc>
              <a:spcBef>
                <a:spcPts val="1225"/>
              </a:spcBef>
            </a:pPr>
            <a:r>
              <a:rPr sz="2300" spc="-25" dirty="0"/>
              <a:t>Talk</a:t>
            </a:r>
            <a:r>
              <a:rPr sz="2300" dirty="0"/>
              <a:t> </a:t>
            </a:r>
            <a:r>
              <a:rPr sz="2300" spc="15" dirty="0"/>
              <a:t>to</a:t>
            </a:r>
            <a:r>
              <a:rPr sz="2300" spc="-5" dirty="0"/>
              <a:t> </a:t>
            </a:r>
            <a:r>
              <a:rPr sz="2300" spc="20" dirty="0"/>
              <a:t>Each</a:t>
            </a:r>
            <a:r>
              <a:rPr sz="2300" spc="-5" dirty="0"/>
              <a:t> </a:t>
            </a:r>
            <a:r>
              <a:rPr sz="2300" spc="-10" dirty="0"/>
              <a:t>Other,</a:t>
            </a:r>
            <a:r>
              <a:rPr sz="2300" spc="-110" dirty="0"/>
              <a:t> </a:t>
            </a:r>
            <a:r>
              <a:rPr sz="2300" spc="15" dirty="0"/>
              <a:t>Anytime,</a:t>
            </a:r>
            <a:r>
              <a:rPr sz="2300" spc="-110" dirty="0"/>
              <a:t> </a:t>
            </a:r>
            <a:r>
              <a:rPr sz="2300" spc="15" dirty="0"/>
              <a:t>Anywhere</a:t>
            </a:r>
            <a:endParaRPr sz="2300"/>
          </a:p>
        </p:txBody>
      </p:sp>
      <p:sp>
        <p:nvSpPr>
          <p:cNvPr id="5" name="object 5"/>
          <p:cNvSpPr txBox="1"/>
          <p:nvPr/>
        </p:nvSpPr>
        <p:spPr>
          <a:xfrm>
            <a:off x="3259199" y="4829212"/>
            <a:ext cx="5431155" cy="188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96265">
              <a:lnSpc>
                <a:spcPct val="120200"/>
              </a:lnSpc>
              <a:spcBef>
                <a:spcPts val="100"/>
              </a:spcBef>
            </a:pP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Jaehyun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Park</a:t>
            </a:r>
            <a:r>
              <a:rPr sz="2100" b="1" spc="-10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(jhyun@inha.ac.kr) 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School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 of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Information</a:t>
            </a:r>
            <a:r>
              <a:rPr sz="2100" b="1" spc="5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and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Communication</a:t>
            </a:r>
            <a:endParaRPr sz="2100">
              <a:latin typeface="Arial"/>
              <a:cs typeface="Arial"/>
            </a:endParaRPr>
          </a:p>
          <a:p>
            <a:pPr marL="1719580">
              <a:lnSpc>
                <a:spcPct val="100000"/>
              </a:lnSpc>
              <a:spcBef>
                <a:spcPts val="5"/>
              </a:spcBef>
            </a:pP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Inha</a:t>
            </a:r>
            <a:r>
              <a:rPr sz="2100" b="1" spc="-30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University.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Arial"/>
              <a:cs typeface="Arial"/>
            </a:endParaRPr>
          </a:p>
          <a:p>
            <a:pPr marL="1845310">
              <a:lnSpc>
                <a:spcPct val="100000"/>
              </a:lnSpc>
            </a:pP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Fall</a:t>
            </a:r>
            <a:r>
              <a:rPr sz="2100" b="1" spc="-35" dirty="0">
                <a:solidFill>
                  <a:srgbClr val="003265"/>
                </a:solidFill>
                <a:latin typeface="Arial"/>
                <a:cs typeface="Arial"/>
              </a:rPr>
              <a:t> </a:t>
            </a:r>
            <a:r>
              <a:rPr sz="2100" b="1" spc="-5" dirty="0">
                <a:solidFill>
                  <a:srgbClr val="003265"/>
                </a:solidFill>
                <a:latin typeface="Arial"/>
                <a:cs typeface="Arial"/>
              </a:rPr>
              <a:t>Semester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3" y="436626"/>
            <a:ext cx="1247775" cy="6673850"/>
          </a:xfrm>
          <a:custGeom>
            <a:avLst/>
            <a:gdLst/>
            <a:ahLst/>
            <a:cxnLst/>
            <a:rect l="l" t="t" r="r" b="b"/>
            <a:pathLst>
              <a:path w="1247775" h="6673850">
                <a:moveTo>
                  <a:pt x="1247394" y="6673596"/>
                </a:moveTo>
                <a:lnTo>
                  <a:pt x="1247394" y="0"/>
                </a:lnTo>
                <a:lnTo>
                  <a:pt x="0" y="0"/>
                </a:lnTo>
                <a:lnTo>
                  <a:pt x="0" y="6673596"/>
                </a:lnTo>
                <a:lnTo>
                  <a:pt x="1247394" y="6673596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1263" y="3536441"/>
            <a:ext cx="8187690" cy="0"/>
          </a:xfrm>
          <a:custGeom>
            <a:avLst/>
            <a:gdLst/>
            <a:ahLst/>
            <a:cxnLst/>
            <a:rect l="l" t="t" r="r" b="b"/>
            <a:pathLst>
              <a:path w="8187690">
                <a:moveTo>
                  <a:pt x="0" y="0"/>
                </a:moveTo>
                <a:lnTo>
                  <a:pt x="8187690" y="0"/>
                </a:lnTo>
              </a:path>
            </a:pathLst>
          </a:custGeom>
          <a:ln w="22275">
            <a:solidFill>
              <a:srgbClr val="00326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6619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70" dirty="0"/>
              <a:t> </a:t>
            </a:r>
            <a:r>
              <a:rPr spc="-5" dirty="0"/>
              <a:t>Network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26813" y="2917952"/>
            <a:ext cx="1758314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300" b="1" spc="10" dirty="0">
                <a:solidFill>
                  <a:srgbClr val="003265"/>
                </a:solidFill>
                <a:latin typeface="Arial"/>
                <a:cs typeface="Arial"/>
              </a:rPr>
              <a:t>Introduction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215" y="3851808"/>
            <a:ext cx="4443984" cy="31186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3609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수업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관련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사항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3263"/>
            <a:ext cx="5770245" cy="51161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4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b="1" dirty="0">
                <a:solidFill>
                  <a:srgbClr val="003265"/>
                </a:solidFill>
                <a:latin typeface="Malgun Gothic"/>
                <a:cs typeface="Malgun Gothic"/>
              </a:rPr>
              <a:t>교재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ts val="2005"/>
              </a:lnSpc>
              <a:spcBef>
                <a:spcPts val="4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쉽게배우는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컴퓨터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3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판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endParaRPr sz="1850">
              <a:latin typeface="Arial MT"/>
              <a:cs typeface="Arial MT"/>
            </a:endParaRPr>
          </a:p>
          <a:p>
            <a:pPr marL="643255">
              <a:lnSpc>
                <a:spcPts val="2005"/>
              </a:lnSpc>
            </a:pP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박기현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한빛아카데미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2022.</a:t>
            </a:r>
            <a:endParaRPr sz="1850">
              <a:latin typeface="Arial MT"/>
              <a:cs typeface="Arial MT"/>
            </a:endParaRPr>
          </a:p>
          <a:p>
            <a:pPr marL="413384" indent="-401320">
              <a:lnSpc>
                <a:spcPct val="100000"/>
              </a:lnSpc>
              <a:spcBef>
                <a:spcPts val="3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b="1" dirty="0">
                <a:solidFill>
                  <a:srgbClr val="003265"/>
                </a:solidFill>
                <a:latin typeface="Malgun Gothic"/>
                <a:cs typeface="Malgun Gothic"/>
              </a:rPr>
              <a:t>연락처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15"/>
              </a:spcBef>
              <a:buChar char="•"/>
              <a:tabLst>
                <a:tab pos="643890" algn="l"/>
              </a:tabLst>
            </a:pP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Email</a:t>
            </a:r>
            <a:r>
              <a:rPr sz="1850" spc="-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  <a:hlinkClick r:id="rId2"/>
              </a:rPr>
              <a:t>jhyun@inha.ac.kr</a:t>
            </a:r>
            <a:endParaRPr sz="1850">
              <a:latin typeface="Arial MT"/>
              <a:cs typeface="Arial MT"/>
            </a:endParaRPr>
          </a:p>
          <a:p>
            <a:pPr marL="643255" lvl="1" indent="-21082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연구실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하이테크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410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호</a:t>
            </a:r>
            <a:r>
              <a:rPr sz="1850" spc="-15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/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조교실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405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호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25"/>
              </a:spcBef>
              <a:buChar char="•"/>
              <a:tabLst>
                <a:tab pos="643890" algn="l"/>
              </a:tabLst>
            </a:pP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Office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hour</a:t>
            </a:r>
            <a:r>
              <a:rPr sz="185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목요일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1-2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시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5"/>
              </a:spcBef>
              <a:buChar char="•"/>
              <a:tabLst>
                <a:tab pos="643890" algn="l"/>
              </a:tabLst>
            </a:pP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i-class(learn.inha.ac.kr)</a:t>
            </a:r>
            <a:endParaRPr sz="1850">
              <a:latin typeface="Arial MT"/>
              <a:cs typeface="Arial MT"/>
            </a:endParaRPr>
          </a:p>
          <a:p>
            <a:pPr marL="413384" indent="-401320">
              <a:lnSpc>
                <a:spcPct val="100000"/>
              </a:lnSpc>
              <a:spcBef>
                <a:spcPts val="5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b="1" dirty="0">
                <a:solidFill>
                  <a:srgbClr val="003265"/>
                </a:solidFill>
                <a:latin typeface="Malgun Gothic"/>
                <a:cs typeface="Malgun Gothic"/>
              </a:rPr>
              <a:t>강</a:t>
            </a:r>
            <a:r>
              <a:rPr sz="2300" b="1" spc="40" dirty="0">
                <a:solidFill>
                  <a:srgbClr val="003265"/>
                </a:solidFill>
                <a:latin typeface="Malgun Gothic"/>
                <a:cs typeface="Malgun Gothic"/>
              </a:rPr>
              <a:t>의</a:t>
            </a:r>
            <a:r>
              <a:rPr sz="2300" b="1" spc="-2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b="1" dirty="0">
                <a:solidFill>
                  <a:srgbClr val="003265"/>
                </a:solidFill>
                <a:latin typeface="Malgun Gothic"/>
                <a:cs typeface="Malgun Gothic"/>
              </a:rPr>
              <a:t>진</a:t>
            </a:r>
            <a:r>
              <a:rPr sz="2300" b="1" spc="40" dirty="0">
                <a:solidFill>
                  <a:srgbClr val="003265"/>
                </a:solidFill>
                <a:latin typeface="Malgun Gothic"/>
                <a:cs typeface="Malgun Gothic"/>
              </a:rPr>
              <a:t>행</a:t>
            </a:r>
            <a:r>
              <a:rPr sz="2300" b="1" spc="-2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b="1" dirty="0">
                <a:solidFill>
                  <a:srgbClr val="003265"/>
                </a:solidFill>
                <a:latin typeface="Malgun Gothic"/>
                <a:cs typeface="Malgun Gothic"/>
              </a:rPr>
              <a:t>방식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주당</a:t>
            </a:r>
            <a:r>
              <a:rPr sz="1850" spc="-16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3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시간</a:t>
            </a:r>
            <a:r>
              <a:rPr sz="1850" spc="-16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강의</a:t>
            </a:r>
            <a:endParaRPr sz="185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4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b="1" spc="-5" dirty="0">
                <a:solidFill>
                  <a:srgbClr val="003265"/>
                </a:solidFill>
                <a:latin typeface="Malgun Gothic"/>
                <a:cs typeface="Malgun Gothic"/>
              </a:rPr>
              <a:t>선수과목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없음</a:t>
            </a:r>
            <a:endParaRPr sz="185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b="1" spc="-5" dirty="0">
                <a:solidFill>
                  <a:srgbClr val="003265"/>
                </a:solidFill>
                <a:latin typeface="Malgun Gothic"/>
                <a:cs typeface="Malgun Gothic"/>
              </a:rPr>
              <a:t>성적</a:t>
            </a:r>
            <a:r>
              <a:rPr sz="2300" b="1" spc="-5" dirty="0">
                <a:solidFill>
                  <a:srgbClr val="003265"/>
                </a:solidFill>
                <a:latin typeface="Arial"/>
                <a:cs typeface="Arial"/>
              </a:rPr>
              <a:t>/</a:t>
            </a:r>
            <a:r>
              <a:rPr sz="2300" b="1" spc="-5" dirty="0">
                <a:solidFill>
                  <a:srgbClr val="003265"/>
                </a:solidFill>
                <a:latin typeface="Malgun Gothic"/>
                <a:cs typeface="Malgun Gothic"/>
              </a:rPr>
              <a:t>시험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35"/>
              </a:spcBef>
              <a:buChar char="•"/>
              <a:tabLst>
                <a:tab pos="643890" algn="l"/>
              </a:tabLst>
            </a:pP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2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회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필기시험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(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중간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35%,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35%)</a:t>
            </a:r>
            <a:endParaRPr sz="1850">
              <a:latin typeface="Arial MT"/>
              <a:cs typeface="Arial MT"/>
            </a:endParaRPr>
          </a:p>
          <a:p>
            <a:pPr marL="643255" lvl="1" indent="-21082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리포트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/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과제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(20%), 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기타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(10%)</a:t>
            </a:r>
            <a:endParaRPr sz="1850">
              <a:latin typeface="Arial MT"/>
              <a:cs typeface="Arial MT"/>
            </a:endParaRPr>
          </a:p>
          <a:p>
            <a:pPr marL="643255" marR="1176020" lvl="1" indent="-210820">
              <a:lnSpc>
                <a:spcPts val="1789"/>
              </a:lnSpc>
              <a:spcBef>
                <a:spcPts val="440"/>
              </a:spcBef>
              <a:buClr>
                <a:srgbClr val="003265"/>
              </a:buClr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b="1" spc="-10" dirty="0">
                <a:solidFill>
                  <a:srgbClr val="FF3200"/>
                </a:solidFill>
                <a:latin typeface="Malgun Gothic"/>
                <a:cs typeface="Malgun Gothic"/>
              </a:rPr>
              <a:t>리포트</a:t>
            </a:r>
            <a:r>
              <a:rPr sz="1850" b="1" spc="20" dirty="0">
                <a:solidFill>
                  <a:srgbClr val="FF3200"/>
                </a:solidFill>
                <a:latin typeface="Malgun Gothic"/>
                <a:cs typeface="Malgun Gothic"/>
              </a:rPr>
              <a:t>를</a:t>
            </a:r>
            <a:r>
              <a:rPr sz="1850" b="1" spc="-160" dirty="0">
                <a:solidFill>
                  <a:srgbClr val="FF3200"/>
                </a:solidFill>
                <a:latin typeface="Malgun Gothic"/>
                <a:cs typeface="Malgun Gothic"/>
              </a:rPr>
              <a:t> </a:t>
            </a:r>
            <a:r>
              <a:rPr sz="1850" b="1" spc="-10" dirty="0">
                <a:solidFill>
                  <a:srgbClr val="FF3200"/>
                </a:solidFill>
                <a:latin typeface="Malgun Gothic"/>
                <a:cs typeface="Malgun Gothic"/>
              </a:rPr>
              <a:t>부정하</a:t>
            </a:r>
            <a:r>
              <a:rPr sz="1850" b="1" spc="20" dirty="0">
                <a:solidFill>
                  <a:srgbClr val="FF3200"/>
                </a:solidFill>
                <a:latin typeface="Malgun Gothic"/>
                <a:cs typeface="Malgun Gothic"/>
              </a:rPr>
              <a:t>게</a:t>
            </a:r>
            <a:r>
              <a:rPr sz="1850" b="1" spc="-155" dirty="0">
                <a:solidFill>
                  <a:srgbClr val="FF3200"/>
                </a:solidFill>
                <a:latin typeface="Malgun Gothic"/>
                <a:cs typeface="Malgun Gothic"/>
              </a:rPr>
              <a:t> </a:t>
            </a:r>
            <a:r>
              <a:rPr sz="1850" b="1" spc="-10" dirty="0">
                <a:solidFill>
                  <a:srgbClr val="FF3200"/>
                </a:solidFill>
                <a:latin typeface="Malgun Gothic"/>
                <a:cs typeface="Malgun Gothic"/>
              </a:rPr>
              <a:t>작성하</a:t>
            </a:r>
            <a:r>
              <a:rPr sz="1850" b="1" spc="20" dirty="0">
                <a:solidFill>
                  <a:srgbClr val="FF3200"/>
                </a:solidFill>
                <a:latin typeface="Malgun Gothic"/>
                <a:cs typeface="Malgun Gothic"/>
              </a:rPr>
              <a:t>여</a:t>
            </a:r>
            <a:r>
              <a:rPr sz="1850" b="1" spc="-160" dirty="0">
                <a:solidFill>
                  <a:srgbClr val="FF3200"/>
                </a:solidFill>
                <a:latin typeface="Malgun Gothic"/>
                <a:cs typeface="Malgun Gothic"/>
              </a:rPr>
              <a:t> </a:t>
            </a:r>
            <a:r>
              <a:rPr sz="1850" b="1" spc="-15" dirty="0">
                <a:solidFill>
                  <a:srgbClr val="FF3200"/>
                </a:solidFill>
                <a:latin typeface="Malgun Gothic"/>
                <a:cs typeface="Malgun Gothic"/>
              </a:rPr>
              <a:t>제출하면  </a:t>
            </a:r>
            <a:r>
              <a:rPr sz="1850" b="1" dirty="0">
                <a:solidFill>
                  <a:srgbClr val="FF3200"/>
                </a:solidFill>
                <a:latin typeface="Malgun Gothic"/>
                <a:cs typeface="Malgun Gothic"/>
              </a:rPr>
              <a:t>무조건</a:t>
            </a:r>
            <a:r>
              <a:rPr sz="1850" b="1" spc="-165" dirty="0">
                <a:solidFill>
                  <a:srgbClr val="FF3200"/>
                </a:solidFill>
                <a:latin typeface="Malgun Gothic"/>
                <a:cs typeface="Malgun Gothic"/>
              </a:rPr>
              <a:t> </a:t>
            </a:r>
            <a:r>
              <a:rPr sz="1850" b="1" spc="10" dirty="0">
                <a:solidFill>
                  <a:srgbClr val="FF3200"/>
                </a:solidFill>
                <a:latin typeface="Arial"/>
                <a:cs typeface="Arial"/>
              </a:rPr>
              <a:t>F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29216" y="1652543"/>
            <a:ext cx="3677285" cy="4590415"/>
            <a:chOff x="6529216" y="1652543"/>
            <a:chExt cx="3677285" cy="45904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0893" y="1663445"/>
              <a:ext cx="3654552" cy="45681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34785" y="1658112"/>
              <a:ext cx="3666490" cy="4578985"/>
            </a:xfrm>
            <a:custGeom>
              <a:avLst/>
              <a:gdLst/>
              <a:ahLst/>
              <a:cxnLst/>
              <a:rect l="l" t="t" r="r" b="b"/>
              <a:pathLst>
                <a:path w="3666490" h="4578985">
                  <a:moveTo>
                    <a:pt x="0" y="4578858"/>
                  </a:moveTo>
                  <a:lnTo>
                    <a:pt x="0" y="0"/>
                  </a:lnTo>
                  <a:lnTo>
                    <a:pt x="3665982" y="0"/>
                  </a:lnTo>
                  <a:lnTo>
                    <a:pt x="3665982" y="4578858"/>
                  </a:lnTo>
                  <a:lnTo>
                    <a:pt x="0" y="4578858"/>
                  </a:lnTo>
                  <a:close/>
                </a:path>
              </a:pathLst>
            </a:custGeom>
            <a:ln w="1113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4707"/>
            <a:ext cx="27609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Course</a:t>
            </a:r>
            <a:r>
              <a:rPr sz="2800" b="0" spc="-50" dirty="0">
                <a:latin typeface="Arial MT"/>
                <a:cs typeface="Arial MT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Schedule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21378" y="1359465"/>
          <a:ext cx="9011920" cy="5392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300" spc="1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Week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300" spc="1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Lecture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77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 indent="-185420">
                        <a:lnSpc>
                          <a:spcPct val="100000"/>
                        </a:lnSpc>
                        <a:spcBef>
                          <a:spcPts val="400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Course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Introduction</a:t>
                      </a:r>
                      <a:endParaRPr sz="2300">
                        <a:latin typeface="Arial MT"/>
                        <a:cs typeface="Arial MT"/>
                      </a:endParaRPr>
                    </a:p>
                    <a:p>
                      <a:pPr marL="291465" indent="-185420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OSI</a:t>
                      </a:r>
                      <a:r>
                        <a:rPr sz="2300" spc="-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r>
                        <a:rPr sz="2300" spc="-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r>
                        <a:rPr sz="2300" spc="-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Reference</a:t>
                      </a:r>
                      <a:r>
                        <a:rPr sz="2300" spc="-2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85"/>
                        </a:spcBef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64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 indent="-185420">
                        <a:lnSpc>
                          <a:spcPct val="100000"/>
                        </a:lnSpc>
                        <a:spcBef>
                          <a:spcPts val="400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2300" spc="-2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r>
                        <a:rPr sz="2300" spc="-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2300">
                        <a:latin typeface="Arial MT"/>
                        <a:cs typeface="Arial MT"/>
                      </a:endParaRPr>
                    </a:p>
                    <a:p>
                      <a:pPr marL="291465" indent="-185420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sz="2300" spc="-4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08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77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 indent="-180340">
                        <a:lnSpc>
                          <a:spcPct val="100000"/>
                        </a:lnSpc>
                        <a:spcBef>
                          <a:spcPts val="395"/>
                        </a:spcBef>
                        <a:buChar char="•"/>
                        <a:tabLst>
                          <a:tab pos="287020" algn="l"/>
                        </a:tabLst>
                      </a:pPr>
                      <a:r>
                        <a:rPr sz="2300" spc="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Transport</a:t>
                      </a:r>
                      <a:r>
                        <a:rPr sz="2300" spc="-4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2300">
                        <a:latin typeface="Arial MT"/>
                        <a:cs typeface="Arial MT"/>
                      </a:endParaRPr>
                    </a:p>
                    <a:p>
                      <a:pPr marL="275590" indent="-169545">
                        <a:lnSpc>
                          <a:spcPct val="100000"/>
                        </a:lnSpc>
                        <a:spcBef>
                          <a:spcPts val="605"/>
                        </a:spcBef>
                        <a:buChar char="•"/>
                        <a:tabLst>
                          <a:tab pos="276225" algn="l"/>
                        </a:tabLst>
                      </a:pP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sz="2300" spc="-3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4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2097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 indent="-185420">
                        <a:lnSpc>
                          <a:spcPct val="100000"/>
                        </a:lnSpc>
                        <a:spcBef>
                          <a:spcPts val="395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-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Interne</a:t>
                      </a:r>
                      <a:r>
                        <a:rPr sz="230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r>
                        <a:rPr sz="2300" spc="-14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Applications</a:t>
                      </a:r>
                      <a:endParaRPr sz="2300">
                        <a:latin typeface="Arial MT"/>
                        <a:cs typeface="Arial MT"/>
                      </a:endParaRPr>
                    </a:p>
                    <a:p>
                      <a:pPr marL="64135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50" spc="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–Mail,</a:t>
                      </a:r>
                      <a:r>
                        <a:rPr sz="1850" spc="-4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5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Web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300" spc="-7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2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12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984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1465" indent="-186055">
                        <a:lnSpc>
                          <a:spcPct val="100000"/>
                        </a:lnSpc>
                        <a:spcBef>
                          <a:spcPts val="390"/>
                        </a:spcBef>
                        <a:buChar char="•"/>
                        <a:tabLst>
                          <a:tab pos="292100" algn="l"/>
                        </a:tabLst>
                      </a:pPr>
                      <a:r>
                        <a:rPr sz="2300" spc="-1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802.11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Wireless</a:t>
                      </a:r>
                      <a:r>
                        <a:rPr sz="2300" spc="-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07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13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2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64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4325" indent="-208915">
                        <a:lnSpc>
                          <a:spcPct val="100000"/>
                        </a:lnSpc>
                        <a:spcBef>
                          <a:spcPts val="390"/>
                        </a:spcBef>
                        <a:buChar char="•"/>
                        <a:tabLst>
                          <a:tab pos="314960" algn="l"/>
                        </a:tabLst>
                      </a:pPr>
                      <a:r>
                        <a:rPr sz="2300" spc="2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CDMA</a:t>
                      </a:r>
                      <a:r>
                        <a:rPr sz="2300" spc="-15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endParaRPr sz="2300">
                        <a:latin typeface="Arial MT"/>
                        <a:cs typeface="Arial MT"/>
                      </a:endParaRPr>
                    </a:p>
                    <a:p>
                      <a:pPr marL="314325" indent="-208915">
                        <a:lnSpc>
                          <a:spcPct val="100000"/>
                        </a:lnSpc>
                        <a:spcBef>
                          <a:spcPts val="610"/>
                        </a:spcBef>
                        <a:buChar char="•"/>
                        <a:tabLst>
                          <a:tab pos="314960" algn="l"/>
                        </a:tabLst>
                      </a:pP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IoT</a:t>
                      </a:r>
                      <a:r>
                        <a:rPr sz="2300" spc="-7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2300" spc="-30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5" dirty="0">
                          <a:solidFill>
                            <a:srgbClr val="003265"/>
                          </a:solidFill>
                          <a:latin typeface="Arial MT"/>
                          <a:cs typeface="Arial MT"/>
                        </a:rPr>
                        <a:t>ICT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495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378714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데이터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통신과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네트워크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748520" cy="461772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5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2300" spc="25" dirty="0">
                <a:solidFill>
                  <a:srgbClr val="003265"/>
                </a:solidFill>
                <a:latin typeface="Arial MT"/>
                <a:cs typeface="Arial MT"/>
              </a:rPr>
              <a:t>(data)</a:t>
            </a:r>
            <a:r>
              <a:rPr sz="2300" spc="25" dirty="0">
                <a:solidFill>
                  <a:srgbClr val="003265"/>
                </a:solidFill>
                <a:latin typeface="Malgun Gothic"/>
                <a:cs typeface="Malgun Gothic"/>
              </a:rPr>
              <a:t>란</a:t>
            </a:r>
            <a:r>
              <a:rPr sz="2300" spc="25" dirty="0">
                <a:solidFill>
                  <a:srgbClr val="003265"/>
                </a:solidFill>
                <a:latin typeface="Arial MT"/>
                <a:cs typeface="Arial MT"/>
              </a:rPr>
              <a:t>?</a:t>
            </a:r>
            <a:endParaRPr sz="2300" dirty="0">
              <a:latin typeface="Arial MT"/>
              <a:cs typeface="Arial MT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만들어서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사용하는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사용자들에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의해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합의된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형식으로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facts,</a:t>
            </a:r>
            <a:r>
              <a:rPr sz="1850" spc="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concepts,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instructions</a:t>
            </a:r>
            <a:endParaRPr sz="1850" dirty="0">
              <a:latin typeface="Arial MT"/>
              <a:cs typeface="Arial MT"/>
            </a:endParaRPr>
          </a:p>
          <a:p>
            <a:pPr marL="643255">
              <a:lnSpc>
                <a:spcPct val="100000"/>
              </a:lnSpc>
              <a:spcBef>
                <a:spcPts val="25"/>
              </a:spcBef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등을</a:t>
            </a:r>
            <a:r>
              <a:rPr sz="1850" spc="-16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표현한</a:t>
            </a:r>
            <a:r>
              <a:rPr sz="1850" spc="-16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것</a:t>
            </a:r>
            <a:endParaRPr sz="1850" dirty="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5" dirty="0">
                <a:solidFill>
                  <a:srgbClr val="003265"/>
                </a:solidFill>
                <a:latin typeface="Malgun Gothic"/>
                <a:cs typeface="Malgun Gothic"/>
              </a:rPr>
              <a:t>데이터통신</a:t>
            </a:r>
            <a:r>
              <a:rPr sz="2300" spc="25" dirty="0">
                <a:solidFill>
                  <a:srgbClr val="003265"/>
                </a:solidFill>
                <a:latin typeface="Arial MT"/>
                <a:cs typeface="Arial MT"/>
              </a:rPr>
              <a:t>(data</a:t>
            </a:r>
            <a:r>
              <a:rPr sz="2300" spc="-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communication)</a:t>
            </a:r>
            <a:r>
              <a:rPr sz="2300" spc="20" dirty="0">
                <a:solidFill>
                  <a:srgbClr val="003265"/>
                </a:solidFill>
                <a:latin typeface="Malgun Gothic"/>
                <a:cs typeface="Malgun Gothic"/>
              </a:rPr>
              <a:t>이란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?</a:t>
            </a:r>
            <a:endParaRPr sz="2300" dirty="0">
              <a:latin typeface="Arial MT"/>
              <a:cs typeface="Arial MT"/>
            </a:endParaRPr>
          </a:p>
          <a:p>
            <a:pPr marL="643255" marR="218440" lvl="1" indent="-210820" algn="just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컴퓨터와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같은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갖고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개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이상의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communication</a:t>
            </a:r>
            <a:r>
              <a:rPr sz="185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devices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사이에서 </a:t>
            </a:r>
            <a:r>
              <a:rPr sz="1850" spc="-6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동선이나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광섬유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혹은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무선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링크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등을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포함하는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전송미디어를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사용하여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정해진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규칙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-50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즉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따라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표현되는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정보를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교환하는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과정</a:t>
            </a:r>
            <a:endParaRPr sz="1850" dirty="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데이터통신</a:t>
            </a:r>
            <a:r>
              <a:rPr sz="2300" spc="-18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2300" spc="35" dirty="0">
                <a:solidFill>
                  <a:srgbClr val="003265"/>
                </a:solidFill>
                <a:latin typeface="Arial MT"/>
                <a:cs typeface="Arial MT"/>
              </a:rPr>
              <a:t>/</a:t>
            </a:r>
            <a:r>
              <a:rPr sz="2300" spc="35" dirty="0">
                <a:solidFill>
                  <a:srgbClr val="003265"/>
                </a:solidFill>
                <a:latin typeface="Malgun Gothic"/>
                <a:cs typeface="Malgun Gothic"/>
              </a:rPr>
              <a:t>컴퓨터</a:t>
            </a:r>
            <a:r>
              <a:rPr sz="2300" spc="-19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(computer</a:t>
            </a:r>
            <a:r>
              <a:rPr sz="23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r>
              <a:rPr sz="2300" spc="15" dirty="0">
                <a:solidFill>
                  <a:srgbClr val="003265"/>
                </a:solidFill>
                <a:latin typeface="Malgun Gothic"/>
                <a:cs typeface="Malgun Gothic"/>
              </a:rPr>
              <a:t>란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?</a:t>
            </a:r>
            <a:endParaRPr sz="2300" dirty="0">
              <a:latin typeface="Arial MT"/>
              <a:cs typeface="Arial MT"/>
            </a:endParaRPr>
          </a:p>
          <a:p>
            <a:pPr marL="643255" marR="6216015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원격지의 컴퓨터와 같은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 처리 및 통신장치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상호 간에 통신미디어를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통하여</a:t>
            </a:r>
            <a:r>
              <a:rPr sz="1850" spc="-16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6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규칙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protocol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에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따라 데이터의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수신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과정을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포함하는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</a:t>
            </a:r>
            <a:endParaRPr sz="1850" dirty="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647" y="4465320"/>
            <a:ext cx="4360164" cy="2170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52127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데이터통신</a:t>
            </a:r>
            <a:r>
              <a:rPr sz="2800" b="0" spc="-22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네트워크의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구성요소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1105" y="3770376"/>
            <a:ext cx="6366492" cy="2838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135" y="1378458"/>
            <a:ext cx="8973820" cy="2124075"/>
          </a:xfrm>
          <a:prstGeom prst="rect">
            <a:avLst/>
          </a:prstGeom>
          <a:solidFill>
            <a:srgbClr val="E9E9E9"/>
          </a:solidFill>
          <a:ln w="29705">
            <a:solidFill>
              <a:srgbClr val="DCDCDC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07314" marR="389890">
              <a:lnSpc>
                <a:spcPct val="101299"/>
              </a:lnSpc>
              <a:spcBef>
                <a:spcPts val="380"/>
              </a:spcBef>
              <a:buFont typeface="Wingdings"/>
              <a:buChar char=""/>
              <a:tabLst>
                <a:tab pos="284480" algn="l"/>
              </a:tabLst>
            </a:pPr>
            <a:r>
              <a:rPr sz="1850" b="1" spc="5" dirty="0">
                <a:latin typeface="Malgun Gothic"/>
                <a:cs typeface="Malgun Gothic"/>
              </a:rPr>
              <a:t>메시지</a:t>
            </a:r>
            <a:r>
              <a:rPr sz="1850" spc="5" dirty="0">
                <a:latin typeface="Arial MT"/>
                <a:cs typeface="Arial MT"/>
              </a:rPr>
              <a:t>(message)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5" dirty="0">
                <a:latin typeface="Arial MT"/>
                <a:cs typeface="Arial MT"/>
              </a:rPr>
              <a:t>: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통신을</a:t>
            </a:r>
            <a:r>
              <a:rPr sz="1850" spc="-13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하고자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하는</a:t>
            </a:r>
            <a:r>
              <a:rPr sz="1850" spc="-135" dirty="0">
                <a:latin typeface="Malgun Gothic"/>
                <a:cs typeface="Malgun Gothic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정보로</a:t>
            </a:r>
            <a:r>
              <a:rPr sz="1850" spc="15" dirty="0">
                <a:latin typeface="Arial MT"/>
                <a:cs typeface="Arial MT"/>
              </a:rPr>
              <a:t>, </a:t>
            </a:r>
            <a:r>
              <a:rPr sz="1850" spc="15" dirty="0">
                <a:latin typeface="Malgun Gothic"/>
                <a:cs typeface="Malgun Gothic"/>
              </a:rPr>
              <a:t>텍스트</a:t>
            </a:r>
            <a:r>
              <a:rPr sz="1850" spc="15" dirty="0">
                <a:latin typeface="Arial MT"/>
                <a:cs typeface="Arial MT"/>
              </a:rPr>
              <a:t>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숫자</a:t>
            </a:r>
            <a:r>
              <a:rPr sz="1850" spc="15" dirty="0">
                <a:latin typeface="Arial MT"/>
                <a:cs typeface="Arial MT"/>
              </a:rPr>
              <a:t>, </a:t>
            </a:r>
            <a:r>
              <a:rPr sz="1850" spc="15" dirty="0">
                <a:latin typeface="Malgun Gothic"/>
                <a:cs typeface="Malgun Gothic"/>
              </a:rPr>
              <a:t>그림</a:t>
            </a:r>
            <a:r>
              <a:rPr sz="1850" spc="15" dirty="0">
                <a:latin typeface="Arial MT"/>
                <a:cs typeface="Arial MT"/>
              </a:rPr>
              <a:t>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혹은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비디오 </a:t>
            </a:r>
            <a:r>
              <a:rPr sz="1850" spc="-63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정보</a:t>
            </a:r>
            <a:r>
              <a:rPr sz="1850" spc="-13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등으로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구성</a:t>
            </a:r>
            <a:endParaRPr sz="1850">
              <a:latin typeface="Malgun Gothic"/>
              <a:cs typeface="Malgun Gothic"/>
            </a:endParaRPr>
          </a:p>
          <a:p>
            <a:pPr marL="210820" marR="1218565" indent="-104139">
              <a:lnSpc>
                <a:spcPct val="101099"/>
              </a:lnSpc>
              <a:buFont typeface="Wingdings"/>
              <a:buChar char=""/>
              <a:tabLst>
                <a:tab pos="284480" algn="l"/>
              </a:tabLst>
            </a:pPr>
            <a:r>
              <a:rPr sz="1850" b="1" dirty="0">
                <a:latin typeface="Malgun Gothic"/>
                <a:cs typeface="Malgun Gothic"/>
              </a:rPr>
              <a:t>전송장치</a:t>
            </a:r>
            <a:r>
              <a:rPr sz="1850" dirty="0">
                <a:latin typeface="Arial MT"/>
                <a:cs typeface="Arial MT"/>
              </a:rPr>
              <a:t>(transmission</a:t>
            </a:r>
            <a:r>
              <a:rPr sz="1850" spc="5" dirty="0">
                <a:latin typeface="Arial MT"/>
                <a:cs typeface="Arial MT"/>
              </a:rPr>
              <a:t> equipment) :</a:t>
            </a:r>
            <a:r>
              <a:rPr sz="1850" spc="20" dirty="0">
                <a:latin typeface="Arial MT"/>
                <a:cs typeface="Arial MT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컴퓨터</a:t>
            </a:r>
            <a:r>
              <a:rPr sz="1850" spc="15" dirty="0">
                <a:latin typeface="Arial MT"/>
                <a:cs typeface="Arial MT"/>
              </a:rPr>
              <a:t>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워크스테이션</a:t>
            </a:r>
            <a:r>
              <a:rPr sz="1850" spc="15" dirty="0">
                <a:latin typeface="Arial MT"/>
                <a:cs typeface="Arial MT"/>
              </a:rPr>
              <a:t>,</a:t>
            </a:r>
            <a:r>
              <a:rPr sz="1850" spc="10" dirty="0">
                <a:latin typeface="Arial MT"/>
                <a:cs typeface="Arial MT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전화단말기</a:t>
            </a:r>
            <a:r>
              <a:rPr sz="1850" spc="15" dirty="0">
                <a:latin typeface="Arial MT"/>
                <a:cs typeface="Arial MT"/>
              </a:rPr>
              <a:t>, </a:t>
            </a:r>
            <a:r>
              <a:rPr sz="1850" spc="-500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비디오카메라</a:t>
            </a:r>
            <a:r>
              <a:rPr sz="1850" spc="-14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등과</a:t>
            </a:r>
            <a:r>
              <a:rPr sz="1850" spc="-12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같은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메시지</a:t>
            </a:r>
            <a:r>
              <a:rPr sz="1850" spc="15" dirty="0">
                <a:latin typeface="Arial MT"/>
                <a:cs typeface="Arial MT"/>
              </a:rPr>
              <a:t>(</a:t>
            </a:r>
            <a:r>
              <a:rPr sz="1850" spc="15" dirty="0">
                <a:latin typeface="Malgun Gothic"/>
                <a:cs typeface="Malgun Gothic"/>
              </a:rPr>
              <a:t>혹은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15" dirty="0">
                <a:latin typeface="Malgun Gothic"/>
                <a:cs typeface="Malgun Gothic"/>
              </a:rPr>
              <a:t>데이터</a:t>
            </a:r>
            <a:r>
              <a:rPr sz="1850" spc="15" dirty="0">
                <a:latin typeface="Arial MT"/>
                <a:cs typeface="Arial MT"/>
              </a:rPr>
              <a:t>)</a:t>
            </a:r>
            <a:r>
              <a:rPr sz="1850" spc="15" dirty="0">
                <a:latin typeface="Malgun Gothic"/>
                <a:cs typeface="Malgun Gothic"/>
              </a:rPr>
              <a:t>를</a:t>
            </a:r>
            <a:r>
              <a:rPr sz="1850" spc="-12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전송하는</a:t>
            </a:r>
            <a:r>
              <a:rPr sz="1850" spc="-14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장치</a:t>
            </a:r>
            <a:endParaRPr sz="1850">
              <a:latin typeface="Malgun Gothic"/>
              <a:cs typeface="Malgun Gothic"/>
            </a:endParaRPr>
          </a:p>
          <a:p>
            <a:pPr marL="283845" indent="-17716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4480" algn="l"/>
              </a:tabLst>
            </a:pPr>
            <a:r>
              <a:rPr sz="1850" b="1" dirty="0">
                <a:latin typeface="Malgun Gothic"/>
                <a:cs typeface="Malgun Gothic"/>
              </a:rPr>
              <a:t>수신장치</a:t>
            </a:r>
            <a:r>
              <a:rPr sz="1850" dirty="0">
                <a:latin typeface="Arial MT"/>
                <a:cs typeface="Arial MT"/>
              </a:rPr>
              <a:t>(receiving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5" dirty="0">
                <a:latin typeface="Arial MT"/>
                <a:cs typeface="Arial MT"/>
              </a:rPr>
              <a:t>equipment)</a:t>
            </a:r>
            <a:r>
              <a:rPr sz="1850" dirty="0">
                <a:latin typeface="Arial MT"/>
                <a:cs typeface="Arial MT"/>
              </a:rPr>
              <a:t> </a:t>
            </a:r>
            <a:r>
              <a:rPr sz="1850" spc="5" dirty="0">
                <a:latin typeface="Arial MT"/>
                <a:cs typeface="Arial MT"/>
              </a:rPr>
              <a:t>: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메시지를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수신하는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장치</a:t>
            </a:r>
            <a:endParaRPr sz="1850">
              <a:latin typeface="Malgun Gothic"/>
              <a:cs typeface="Malgun Gothic"/>
            </a:endParaRPr>
          </a:p>
          <a:p>
            <a:pPr marL="283845" indent="-17716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4480" algn="l"/>
              </a:tabLst>
            </a:pPr>
            <a:r>
              <a:rPr sz="1850" b="1" spc="5" dirty="0">
                <a:latin typeface="Malgun Gothic"/>
                <a:cs typeface="Malgun Gothic"/>
              </a:rPr>
              <a:t>전송미디</a:t>
            </a:r>
            <a:r>
              <a:rPr sz="1850" spc="5" dirty="0">
                <a:latin typeface="Malgun Gothic"/>
                <a:cs typeface="Malgun Gothic"/>
              </a:rPr>
              <a:t>어</a:t>
            </a:r>
            <a:r>
              <a:rPr sz="1850" spc="5" dirty="0">
                <a:latin typeface="Arial MT"/>
                <a:cs typeface="Arial MT"/>
              </a:rPr>
              <a:t>(transmission</a:t>
            </a:r>
            <a:r>
              <a:rPr sz="1850" spc="-20" dirty="0">
                <a:latin typeface="Arial MT"/>
                <a:cs typeface="Arial MT"/>
              </a:rPr>
              <a:t> </a:t>
            </a:r>
            <a:r>
              <a:rPr sz="1850" spc="10" dirty="0">
                <a:latin typeface="Arial MT"/>
                <a:cs typeface="Arial MT"/>
              </a:rPr>
              <a:t>media)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5" dirty="0">
                <a:latin typeface="Arial MT"/>
                <a:cs typeface="Arial MT"/>
              </a:rPr>
              <a:t>: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메시지가</a:t>
            </a:r>
            <a:r>
              <a:rPr sz="1850" spc="-13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전달되는</a:t>
            </a:r>
            <a:r>
              <a:rPr sz="1850" spc="-14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실제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전송로</a:t>
            </a:r>
            <a:endParaRPr sz="1850">
              <a:latin typeface="Malgun Gothic"/>
              <a:cs typeface="Malgun Gothic"/>
            </a:endParaRPr>
          </a:p>
          <a:p>
            <a:pPr marL="283845" indent="-17716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4480" algn="l"/>
              </a:tabLst>
            </a:pPr>
            <a:r>
              <a:rPr sz="1850" b="1" dirty="0">
                <a:latin typeface="Malgun Gothic"/>
                <a:cs typeface="Malgun Gothic"/>
              </a:rPr>
              <a:t>프로토콜</a:t>
            </a:r>
            <a:r>
              <a:rPr sz="1850" dirty="0">
                <a:latin typeface="Arial MT"/>
                <a:cs typeface="Arial MT"/>
              </a:rPr>
              <a:t>(protocol)</a:t>
            </a:r>
            <a:r>
              <a:rPr sz="1850" spc="-5" dirty="0">
                <a:latin typeface="Arial MT"/>
                <a:cs typeface="Arial MT"/>
              </a:rPr>
              <a:t> </a:t>
            </a:r>
            <a:r>
              <a:rPr sz="1850" spc="5" dirty="0">
                <a:latin typeface="Arial MT"/>
                <a:cs typeface="Arial MT"/>
              </a:rPr>
              <a:t>:</a:t>
            </a:r>
            <a:r>
              <a:rPr sz="1850" spc="15" dirty="0">
                <a:latin typeface="Arial MT"/>
                <a:cs typeface="Arial MT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데이터통신과</a:t>
            </a:r>
            <a:r>
              <a:rPr sz="1850" spc="-14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관련된</a:t>
            </a:r>
            <a:r>
              <a:rPr sz="1850" spc="-130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규칙들로</a:t>
            </a:r>
            <a:r>
              <a:rPr sz="1850" spc="-135" dirty="0">
                <a:latin typeface="Malgun Gothic"/>
                <a:cs typeface="Malgun Gothic"/>
              </a:rPr>
              <a:t> </a:t>
            </a:r>
            <a:r>
              <a:rPr sz="1850" spc="20" dirty="0">
                <a:latin typeface="Malgun Gothic"/>
                <a:cs typeface="Malgun Gothic"/>
              </a:rPr>
              <a:t>구성</a:t>
            </a:r>
            <a:endParaRPr sz="18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698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네트워크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구조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94891"/>
            <a:ext cx="9811385" cy="1794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3384" marR="688340" indent="-401320">
              <a:lnSpc>
                <a:spcPct val="101699"/>
              </a:lnSpc>
              <a:spcBef>
                <a:spcPts val="9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네트워크는</a:t>
            </a:r>
            <a:r>
              <a:rPr sz="2300" spc="-18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그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규모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및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25" dirty="0">
                <a:solidFill>
                  <a:srgbClr val="003265"/>
                </a:solidFill>
                <a:latin typeface="Malgun Gothic"/>
                <a:cs typeface="Malgun Gothic"/>
              </a:rPr>
              <a:t>목적</a:t>
            </a:r>
            <a:r>
              <a:rPr sz="2300" spc="2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23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또는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그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구조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및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이용되는</a:t>
            </a:r>
            <a:r>
              <a:rPr sz="2300" spc="-18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기술에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따라 </a:t>
            </a:r>
            <a:r>
              <a:rPr sz="2300" spc="-79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다양하게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구성</a:t>
            </a:r>
            <a:endParaRPr sz="23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LAN(Local</a:t>
            </a:r>
            <a:r>
              <a:rPr sz="2300" spc="-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Area</a:t>
            </a:r>
            <a:r>
              <a:rPr sz="230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endParaRPr sz="2300">
              <a:latin typeface="Arial MT"/>
              <a:cs typeface="Arial MT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근거리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대학캠퍼스나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건물과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같은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일정지역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내의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구성하는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형태</a:t>
            </a:r>
            <a:endParaRPr sz="18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521" y="4337558"/>
            <a:ext cx="6954520" cy="143192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4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MAN(Metropolitan</a:t>
            </a:r>
            <a:r>
              <a:rPr sz="2300" spc="-4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Area</a:t>
            </a:r>
            <a:r>
              <a:rPr sz="2300" spc="-3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endParaRPr sz="2300">
              <a:latin typeface="Arial MT"/>
              <a:cs typeface="Arial MT"/>
            </a:endParaRPr>
          </a:p>
          <a:p>
            <a:pPr marL="643255" marR="1836420" lvl="1" indent="-210820">
              <a:lnSpc>
                <a:spcPct val="101099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  <a:tab pos="4396105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대도시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(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메트로폴리스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)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정도의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넓은</a:t>
            </a:r>
            <a:r>
              <a:rPr sz="1850" dirty="0">
                <a:solidFill>
                  <a:srgbClr val="003265"/>
                </a:solidFill>
                <a:latin typeface="Malgun Gothic"/>
                <a:cs typeface="Malgun Gothic"/>
              </a:rPr>
              <a:t>	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지역을 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연결하기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구성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형태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Char char="•"/>
              <a:tabLst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IEEE</a:t>
            </a:r>
            <a:r>
              <a:rPr sz="185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802.16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working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group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에서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무선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MAN</a:t>
            </a:r>
            <a:r>
              <a:rPr sz="185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승인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185" y="2879598"/>
            <a:ext cx="4967478" cy="16299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6445" y="3160014"/>
            <a:ext cx="3361182" cy="30068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4707"/>
            <a:ext cx="45224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-5" dirty="0">
                <a:latin typeface="Arial MT"/>
                <a:cs typeface="Arial MT"/>
              </a:rPr>
              <a:t>Client-server</a:t>
            </a:r>
            <a:r>
              <a:rPr sz="2800" b="0" spc="5" dirty="0">
                <a:latin typeface="Arial MT"/>
                <a:cs typeface="Arial MT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Network</a:t>
            </a:r>
            <a:r>
              <a:rPr sz="2800" b="0" spc="10" dirty="0">
                <a:latin typeface="Arial MT"/>
                <a:cs typeface="Arial MT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Model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91843"/>
            <a:ext cx="5969000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4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5" dirty="0">
                <a:solidFill>
                  <a:srgbClr val="003265"/>
                </a:solidFill>
                <a:latin typeface="Arial MT"/>
                <a:cs typeface="Arial MT"/>
              </a:rPr>
              <a:t>A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</a:t>
            </a:r>
            <a:r>
              <a:rPr sz="230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0" dirty="0">
                <a:solidFill>
                  <a:srgbClr val="003265"/>
                </a:solidFill>
                <a:latin typeface="Arial MT"/>
                <a:cs typeface="Arial MT"/>
              </a:rPr>
              <a:t>with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two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clients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and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one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server.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015" y="2196084"/>
            <a:ext cx="7863078" cy="37871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51281" y="6687487"/>
            <a:ext cx="64166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6610">
              <a:lnSpc>
                <a:spcPct val="100000"/>
              </a:lnSpc>
              <a:spcBef>
                <a:spcPts val="135"/>
              </a:spcBef>
            </a:pP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*This</a:t>
            </a:r>
            <a:r>
              <a:rPr sz="1200" spc="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picture</a:t>
            </a:r>
            <a:r>
              <a:rPr sz="1200" spc="5" dirty="0">
                <a:solidFill>
                  <a:srgbClr val="B0B0B0"/>
                </a:solidFill>
                <a:latin typeface="Verdana"/>
                <a:cs typeface="Verdana"/>
              </a:rPr>
              <a:t> is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taken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from</a:t>
            </a:r>
            <a:r>
              <a:rPr sz="1200" spc="3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Computer Network</a:t>
            </a:r>
            <a:r>
              <a:rPr sz="1200" spc="2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written</a:t>
            </a:r>
            <a:r>
              <a:rPr sz="120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by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Tanembaum.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35" dirty="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sz="900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sz="900" i="1" spc="5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sz="900" i="1" spc="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Note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sz="900" i="1" spc="2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sz="900" i="1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4707"/>
            <a:ext cx="45046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-5" dirty="0">
                <a:latin typeface="Arial MT"/>
                <a:cs typeface="Arial MT"/>
              </a:rPr>
              <a:t>Peer-to-peer</a:t>
            </a:r>
            <a:r>
              <a:rPr sz="2800" b="0" spc="5" dirty="0">
                <a:latin typeface="Arial MT"/>
                <a:cs typeface="Arial MT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Network</a:t>
            </a:r>
            <a:r>
              <a:rPr sz="2800" b="0" spc="10" dirty="0">
                <a:latin typeface="Arial MT"/>
                <a:cs typeface="Arial MT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Model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91843"/>
            <a:ext cx="8519160" cy="3822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40"/>
              </a:spcBef>
              <a:buFont typeface="Wingdings"/>
              <a:buChar char=""/>
              <a:tabLst>
                <a:tab pos="413384" algn="l"/>
                <a:tab pos="414020" algn="l"/>
                <a:tab pos="824230" algn="l"/>
              </a:tabLst>
            </a:pP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In	</a:t>
            </a:r>
            <a:r>
              <a:rPr sz="2300" spc="10" dirty="0">
                <a:solidFill>
                  <a:srgbClr val="003265"/>
                </a:solidFill>
                <a:latin typeface="Arial MT"/>
                <a:cs typeface="Arial MT"/>
              </a:rPr>
              <a:t>peer-to-peer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system</a:t>
            </a:r>
            <a:r>
              <a:rPr sz="23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there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are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no</a:t>
            </a:r>
            <a:r>
              <a:rPr sz="23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fixed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clients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and</a:t>
            </a:r>
            <a:r>
              <a:rPr sz="23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servers.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075" y="2239517"/>
            <a:ext cx="9188195" cy="41483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51281" y="6687487"/>
            <a:ext cx="64166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6610">
              <a:lnSpc>
                <a:spcPct val="100000"/>
              </a:lnSpc>
              <a:spcBef>
                <a:spcPts val="135"/>
              </a:spcBef>
            </a:pP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*This</a:t>
            </a:r>
            <a:r>
              <a:rPr sz="1200" spc="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picture</a:t>
            </a:r>
            <a:r>
              <a:rPr sz="1200" spc="5" dirty="0">
                <a:solidFill>
                  <a:srgbClr val="B0B0B0"/>
                </a:solidFill>
                <a:latin typeface="Verdana"/>
                <a:cs typeface="Verdana"/>
              </a:rPr>
              <a:t> is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taken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from</a:t>
            </a:r>
            <a:r>
              <a:rPr sz="1200" spc="3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Computer Network</a:t>
            </a:r>
            <a:r>
              <a:rPr sz="1200" spc="2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written</a:t>
            </a:r>
            <a:r>
              <a:rPr sz="120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by</a:t>
            </a:r>
            <a:r>
              <a:rPr sz="1200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1200" spc="15" dirty="0">
                <a:solidFill>
                  <a:srgbClr val="B0B0B0"/>
                </a:solidFill>
                <a:latin typeface="Verdana"/>
                <a:cs typeface="Verdana"/>
              </a:rPr>
              <a:t>Tanembaum.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900" spc="35" dirty="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sz="900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2018-2022</a:t>
            </a:r>
            <a:r>
              <a:rPr sz="900" i="1" spc="5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Lecture</a:t>
            </a:r>
            <a:r>
              <a:rPr sz="900" i="1" spc="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Note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of</a:t>
            </a:r>
            <a:r>
              <a:rPr sz="900" i="1" spc="25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15" dirty="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sz="900" i="1" spc="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900" i="1" spc="20" dirty="0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698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네트워크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종류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72467"/>
            <a:ext cx="4593590" cy="33940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4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WAN(Wide</a:t>
            </a:r>
            <a:r>
              <a:rPr sz="23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Area</a:t>
            </a:r>
            <a:r>
              <a:rPr sz="23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endParaRPr sz="2300">
              <a:latin typeface="Arial MT"/>
              <a:cs typeface="Arial MT"/>
            </a:endParaRPr>
          </a:p>
          <a:p>
            <a:pPr marL="643255" marR="5080" lvl="1" indent="-210820">
              <a:lnSpc>
                <a:spcPct val="102299"/>
              </a:lnSpc>
              <a:spcBef>
                <a:spcPts val="43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광범위한 지역을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수용하며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하나의 국가 </a:t>
            </a:r>
            <a:r>
              <a:rPr sz="1600" spc="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내에서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도시와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도시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혹은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국가와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국가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간을 </a:t>
            </a:r>
            <a:r>
              <a:rPr sz="1600" spc="-5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연결하려는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목적으로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수백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~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수천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km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까지의 </a:t>
            </a:r>
            <a:r>
              <a:rPr sz="1600" spc="-5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범위를 포함할 수 있도록 구성된 광역 </a:t>
            </a:r>
            <a:r>
              <a:rPr sz="1600" spc="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시스템</a:t>
            </a:r>
            <a:endParaRPr sz="16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14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PAN(Personal</a:t>
            </a:r>
            <a:r>
              <a:rPr sz="2300" spc="-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Area</a:t>
            </a:r>
            <a:r>
              <a:rPr sz="230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endParaRPr sz="2300">
              <a:latin typeface="Arial MT"/>
              <a:cs typeface="Arial MT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Char char="•"/>
              <a:tabLst>
                <a:tab pos="643255" algn="l"/>
                <a:tab pos="643890" algn="l"/>
              </a:tabLst>
            </a:pP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10m</a:t>
            </a:r>
            <a:r>
              <a:rPr sz="16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이내의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단거리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네트워크로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IEEE</a:t>
            </a:r>
            <a:endParaRPr sz="1600">
              <a:latin typeface="Arial MT"/>
              <a:cs typeface="Arial MT"/>
            </a:endParaRPr>
          </a:p>
          <a:p>
            <a:pPr marL="643255">
              <a:lnSpc>
                <a:spcPct val="100000"/>
              </a:lnSpc>
              <a:spcBef>
                <a:spcPts val="40"/>
              </a:spcBef>
            </a:pP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802.15</a:t>
            </a:r>
            <a:r>
              <a:rPr sz="1600" spc="-3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위원회에서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표준화됨</a:t>
            </a:r>
            <a:endParaRPr sz="1600">
              <a:latin typeface="Malgun Gothic"/>
              <a:cs typeface="Malgun Gothic"/>
            </a:endParaRPr>
          </a:p>
          <a:p>
            <a:pPr marL="643255" marR="421005" indent="-210820">
              <a:lnSpc>
                <a:spcPct val="102499"/>
              </a:lnSpc>
              <a:spcBef>
                <a:spcPts val="39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무선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PAN</a:t>
            </a:r>
            <a:r>
              <a:rPr sz="1600" spc="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기술로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Malgun Gothic"/>
                <a:cs typeface="Malgun Gothic"/>
              </a:rPr>
              <a:t>블루투스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(bluetooth), </a:t>
            </a:r>
            <a:r>
              <a:rPr sz="1600" spc="-4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Malgun Gothic"/>
                <a:cs typeface="Malgun Gothic"/>
              </a:rPr>
              <a:t>지그비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(zigbee)</a:t>
            </a:r>
            <a:r>
              <a:rPr sz="160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등이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있음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6513" y="2417826"/>
            <a:ext cx="4291584" cy="31737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698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네트워크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종류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72467"/>
            <a:ext cx="4478655" cy="28587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4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BAN(Body</a:t>
            </a:r>
            <a:r>
              <a:rPr sz="23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Area</a:t>
            </a:r>
            <a:r>
              <a:rPr sz="230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300" spc="15" dirty="0">
                <a:solidFill>
                  <a:srgbClr val="003265"/>
                </a:solidFill>
                <a:latin typeface="Arial MT"/>
                <a:cs typeface="Arial MT"/>
              </a:rPr>
              <a:t>Network)</a:t>
            </a:r>
            <a:endParaRPr sz="2300">
              <a:latin typeface="Arial MT"/>
              <a:cs typeface="Arial MT"/>
            </a:endParaRPr>
          </a:p>
          <a:p>
            <a:pPr marL="643255" marR="5080" lvl="1" indent="-210820">
              <a:lnSpc>
                <a:spcPct val="102499"/>
              </a:lnSpc>
              <a:spcBef>
                <a:spcPts val="42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인체를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중심으로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하는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네트워크를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말하며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600" spc="-4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BSN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 (Body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Sensor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03265"/>
                </a:solidFill>
                <a:latin typeface="Arial MT"/>
                <a:cs typeface="Arial MT"/>
              </a:rPr>
              <a:t>Network</a:t>
            </a:r>
            <a:r>
              <a:rPr sz="1600" dirty="0">
                <a:solidFill>
                  <a:srgbClr val="003265"/>
                </a:solidFill>
                <a:latin typeface="Arial MT"/>
                <a:cs typeface="Arial MT"/>
              </a:rPr>
              <a:t>)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라고도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함</a:t>
            </a:r>
            <a:endParaRPr sz="1600">
              <a:latin typeface="Malgun Gothic"/>
              <a:cs typeface="Malgun Gothic"/>
            </a:endParaRPr>
          </a:p>
          <a:p>
            <a:pPr marL="643255" marR="62865" lvl="1" indent="-210820">
              <a:lnSpc>
                <a:spcPct val="102299"/>
              </a:lnSpc>
              <a:spcBef>
                <a:spcPts val="39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사람이 착용하는 옷이나 인체에 부착된 </a:t>
            </a:r>
            <a:r>
              <a:rPr sz="1600" spc="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여러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장치로부터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구성된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네트워크를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통해 </a:t>
            </a:r>
            <a:r>
              <a:rPr sz="1600" spc="-5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주고받음</a:t>
            </a:r>
            <a:endParaRPr sz="1600">
              <a:latin typeface="Malgun Gothic"/>
              <a:cs typeface="Malgun Gothic"/>
            </a:endParaRPr>
          </a:p>
          <a:p>
            <a:pPr marL="643255" marR="96520" lvl="1" indent="-210820">
              <a:lnSpc>
                <a:spcPct val="102499"/>
              </a:lnSpc>
              <a:spcBef>
                <a:spcPts val="370"/>
              </a:spcBef>
              <a:buChar char="•"/>
              <a:tabLst>
                <a:tab pos="643255" algn="l"/>
                <a:tab pos="643890" algn="l"/>
              </a:tabLst>
            </a:pP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IEEE</a:t>
            </a:r>
            <a:r>
              <a:rPr sz="160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802.15</a:t>
            </a:r>
            <a:r>
              <a:rPr sz="160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WPAN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 Wireless</a:t>
            </a:r>
            <a:r>
              <a:rPr sz="1600" spc="-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Body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Area </a:t>
            </a:r>
            <a:r>
              <a:rPr sz="1600" spc="-43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15" dirty="0">
                <a:solidFill>
                  <a:srgbClr val="003265"/>
                </a:solidFill>
                <a:latin typeface="Arial MT"/>
                <a:cs typeface="Arial MT"/>
              </a:rPr>
              <a:t>Network</a:t>
            </a:r>
            <a:endParaRPr sz="1600">
              <a:latin typeface="Arial MT"/>
              <a:cs typeface="Arial MT"/>
            </a:endParaRPr>
          </a:p>
          <a:p>
            <a:pPr marL="643255" marR="398780">
              <a:lnSpc>
                <a:spcPct val="102200"/>
              </a:lnSpc>
              <a:spcBef>
                <a:spcPts val="20"/>
              </a:spcBef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워킹그룹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산하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TG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에서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표준화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작업이 </a:t>
            </a:r>
            <a:r>
              <a:rPr sz="1600" spc="-5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진행됨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3811" y="1894332"/>
            <a:ext cx="4808409" cy="42207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424116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네트워크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및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인터넷의</a:t>
            </a:r>
            <a:r>
              <a:rPr sz="2800" b="0" spc="-22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발전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7243" y="1411985"/>
            <a:ext cx="10412095" cy="4963160"/>
            <a:chOff x="197243" y="1411985"/>
            <a:chExt cx="10412095" cy="4963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243" y="1411985"/>
              <a:ext cx="5082930" cy="42062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8071" y="3401568"/>
              <a:ext cx="5310809" cy="297332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92423" y="708151"/>
            <a:ext cx="3074670" cy="881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무선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이동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네트워크  기술의</a:t>
            </a:r>
            <a:r>
              <a:rPr sz="2800" b="0" spc="-229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발전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" y="432041"/>
            <a:ext cx="6588252" cy="64556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785" y="1320546"/>
            <a:ext cx="9875519" cy="5249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7521" y="584707"/>
            <a:ext cx="24237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-5" dirty="0">
                <a:latin typeface="Arial MT"/>
                <a:cs typeface="Arial MT"/>
              </a:rPr>
              <a:t>Questionnaires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4909" y="1947926"/>
            <a:ext cx="3596640" cy="525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3250" spc="10" dirty="0">
                <a:solidFill>
                  <a:srgbClr val="003265"/>
                </a:solidFill>
                <a:latin typeface="Arial MT"/>
                <a:cs typeface="Arial MT"/>
              </a:rPr>
              <a:t>Are</a:t>
            </a:r>
            <a:r>
              <a:rPr sz="325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3250" spc="15" dirty="0">
                <a:solidFill>
                  <a:srgbClr val="003265"/>
                </a:solidFill>
                <a:latin typeface="Arial MT"/>
                <a:cs typeface="Arial MT"/>
              </a:rPr>
              <a:t>You</a:t>
            </a:r>
            <a:r>
              <a:rPr sz="3250" spc="-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3250" spc="15" dirty="0">
                <a:solidFill>
                  <a:srgbClr val="003265"/>
                </a:solidFill>
                <a:latin typeface="Arial MT"/>
                <a:cs typeface="Arial MT"/>
              </a:rPr>
              <a:t>Ready</a:t>
            </a:r>
            <a:r>
              <a:rPr sz="325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3250" spc="10" dirty="0">
                <a:solidFill>
                  <a:srgbClr val="003265"/>
                </a:solidFill>
                <a:latin typeface="Arial MT"/>
                <a:cs typeface="Arial MT"/>
              </a:rPr>
              <a:t>?</a:t>
            </a:r>
            <a:endParaRPr sz="32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3815" y="4201668"/>
            <a:ext cx="1205229" cy="212293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3" y="436626"/>
            <a:ext cx="1247775" cy="6673850"/>
          </a:xfrm>
          <a:custGeom>
            <a:avLst/>
            <a:gdLst/>
            <a:ahLst/>
            <a:cxnLst/>
            <a:rect l="l" t="t" r="r" b="b"/>
            <a:pathLst>
              <a:path w="1247775" h="6673850">
                <a:moveTo>
                  <a:pt x="1247394" y="6673596"/>
                </a:moveTo>
                <a:lnTo>
                  <a:pt x="1247394" y="0"/>
                </a:lnTo>
                <a:lnTo>
                  <a:pt x="0" y="0"/>
                </a:lnTo>
                <a:lnTo>
                  <a:pt x="0" y="6673596"/>
                </a:lnTo>
                <a:lnTo>
                  <a:pt x="1247394" y="6673596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81263" y="3536441"/>
            <a:ext cx="8187690" cy="0"/>
          </a:xfrm>
          <a:custGeom>
            <a:avLst/>
            <a:gdLst/>
            <a:ahLst/>
            <a:cxnLst/>
            <a:rect l="l" t="t" r="r" b="b"/>
            <a:pathLst>
              <a:path w="8187690">
                <a:moveTo>
                  <a:pt x="0" y="0"/>
                </a:moveTo>
                <a:lnTo>
                  <a:pt x="8187690" y="0"/>
                </a:lnTo>
              </a:path>
            </a:pathLst>
          </a:custGeom>
          <a:ln w="22275">
            <a:solidFill>
              <a:srgbClr val="00326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89050">
              <a:lnSpc>
                <a:spcPct val="100000"/>
              </a:lnSpc>
              <a:spcBef>
                <a:spcPts val="110"/>
              </a:spcBef>
            </a:pPr>
            <a:r>
              <a:rPr spc="-70" dirty="0"/>
              <a:t>네트워</a:t>
            </a:r>
            <a:r>
              <a:rPr spc="10" dirty="0"/>
              <a:t>크</a:t>
            </a:r>
            <a:r>
              <a:rPr spc="-380" dirty="0"/>
              <a:t> </a:t>
            </a:r>
            <a:r>
              <a:rPr spc="-70" dirty="0"/>
              <a:t>기초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94181" y="4298695"/>
            <a:ext cx="3582035" cy="1116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410209" algn="l"/>
                <a:tab pos="820419" algn="l"/>
              </a:tabLst>
            </a:pPr>
            <a:r>
              <a:rPr sz="2100" b="1" spc="5" dirty="0">
                <a:solidFill>
                  <a:srgbClr val="003265"/>
                </a:solidFill>
                <a:latin typeface="Malgun Gothic"/>
                <a:cs typeface="Malgun Gothic"/>
              </a:rPr>
              <a:t>박	재	현</a:t>
            </a:r>
            <a:r>
              <a:rPr sz="2100" b="1" spc="-20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(</a:t>
            </a:r>
            <a:r>
              <a:rPr sz="2100" b="1" u="heavy" spc="-5" dirty="0">
                <a:solidFill>
                  <a:srgbClr val="326599"/>
                </a:solidFill>
                <a:uFill>
                  <a:solidFill>
                    <a:srgbClr val="326598"/>
                  </a:solidFill>
                </a:uFill>
                <a:latin typeface="Arial"/>
                <a:cs typeface="Arial"/>
              </a:rPr>
              <a:t>jhyun@inha.ac.kr</a:t>
            </a:r>
            <a:r>
              <a:rPr sz="2100" b="1" dirty="0">
                <a:solidFill>
                  <a:srgbClr val="003265"/>
                </a:solidFill>
                <a:latin typeface="Arial"/>
                <a:cs typeface="Arial"/>
              </a:rPr>
              <a:t>)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00" b="1" spc="-40" dirty="0">
                <a:solidFill>
                  <a:srgbClr val="003265"/>
                </a:solidFill>
                <a:latin typeface="Malgun Gothic"/>
                <a:cs typeface="Malgun Gothic"/>
              </a:rPr>
              <a:t>인하대학</a:t>
            </a:r>
            <a:r>
              <a:rPr sz="2100" b="1" spc="5" dirty="0">
                <a:solidFill>
                  <a:srgbClr val="003265"/>
                </a:solidFill>
                <a:latin typeface="Malgun Gothic"/>
                <a:cs typeface="Malgun Gothic"/>
              </a:rPr>
              <a:t>교</a:t>
            </a:r>
            <a:r>
              <a:rPr sz="2100" b="1" spc="-2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100" b="1" spc="-40" dirty="0">
                <a:solidFill>
                  <a:srgbClr val="003265"/>
                </a:solidFill>
                <a:latin typeface="Malgun Gothic"/>
                <a:cs typeface="Malgun Gothic"/>
              </a:rPr>
              <a:t>정보통신공학과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1403" y="5978905"/>
            <a:ext cx="688784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065" marR="5080" algn="ctr">
              <a:lnSpc>
                <a:spcPts val="1340"/>
              </a:lnSpc>
              <a:spcBef>
                <a:spcPts val="430"/>
              </a:spcBef>
            </a:pPr>
            <a:r>
              <a:rPr sz="1400" dirty="0">
                <a:latin typeface="Malgun Gothic"/>
                <a:cs typeface="Malgun Gothic"/>
              </a:rPr>
              <a:t>본</a:t>
            </a:r>
            <a:r>
              <a:rPr sz="1400" spc="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자료는 </a:t>
            </a:r>
            <a:r>
              <a:rPr sz="1400" dirty="0">
                <a:latin typeface="MS Gothic"/>
                <a:cs typeface="MS Gothic"/>
              </a:rPr>
              <a:t>＂</a:t>
            </a:r>
            <a:r>
              <a:rPr sz="1400" dirty="0">
                <a:latin typeface="Malgun Gothic"/>
                <a:cs typeface="Malgun Gothic"/>
              </a:rPr>
              <a:t>쉽게배우는 데이터통신과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컴퓨터네트워크</a:t>
            </a:r>
            <a:r>
              <a:rPr sz="1400" dirty="0">
                <a:latin typeface="Verdana"/>
                <a:cs typeface="Verdana"/>
              </a:rPr>
              <a:t>(</a:t>
            </a:r>
            <a:r>
              <a:rPr sz="1400" dirty="0">
                <a:latin typeface="Malgun Gothic"/>
                <a:cs typeface="Malgun Gothic"/>
              </a:rPr>
              <a:t>박기현</a:t>
            </a:r>
            <a:r>
              <a:rPr sz="1400" dirty="0">
                <a:latin typeface="Verdana"/>
                <a:cs typeface="Verdana"/>
              </a:rPr>
              <a:t>, </a:t>
            </a:r>
            <a:r>
              <a:rPr sz="1400" dirty="0">
                <a:latin typeface="Malgun Gothic"/>
                <a:cs typeface="Malgun Gothic"/>
              </a:rPr>
              <a:t>한빛아카데미출판</a:t>
            </a:r>
            <a:r>
              <a:rPr sz="1400" dirty="0">
                <a:latin typeface="Verdana"/>
                <a:cs typeface="Verdana"/>
              </a:rPr>
              <a:t>)"</a:t>
            </a:r>
            <a:r>
              <a:rPr sz="1400" dirty="0">
                <a:latin typeface="Malgun Gothic"/>
                <a:cs typeface="Malgun Gothic"/>
              </a:rPr>
              <a:t>의 </a:t>
            </a:r>
            <a:r>
              <a:rPr sz="1400" spc="-48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내용을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기반으로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작성되었습니다</a:t>
            </a:r>
            <a:r>
              <a:rPr sz="1400" dirty="0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ts val="1360"/>
              </a:lnSpc>
            </a:pPr>
            <a:r>
              <a:rPr sz="1400" dirty="0">
                <a:latin typeface="Malgun Gothic"/>
                <a:cs typeface="Malgun Gothic"/>
              </a:rPr>
              <a:t>본 자료의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판권은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해당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출판사와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저자에게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있음을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밝힙니다</a:t>
            </a:r>
            <a:r>
              <a:rPr sz="1400" dirty="0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440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용어의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정의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8928100" cy="210947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기초</a:t>
            </a:r>
            <a:r>
              <a:rPr sz="2300" spc="-17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용어</a:t>
            </a:r>
            <a:endParaRPr sz="2300" dirty="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하드웨어적인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매개로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연결되어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교환하는 </a:t>
            </a:r>
            <a:r>
              <a:rPr sz="1850" spc="-6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모음</a:t>
            </a:r>
            <a:endParaRPr sz="18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지점에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규격</a:t>
            </a:r>
            <a:endParaRPr sz="18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소프트웨어적으로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동작하는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</a:t>
            </a:r>
            <a:endParaRPr sz="18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표준화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프로토콜은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형식의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통일이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필요</a:t>
            </a:r>
            <a:endParaRPr sz="1850" dirty="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3275" y="4057432"/>
            <a:ext cx="5115313" cy="27523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440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용어의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정의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537065" cy="350583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시스템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일반적으로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System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은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내부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따라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자율적으로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동작하는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대상을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가리킴</a:t>
            </a:r>
            <a:endParaRPr sz="185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여러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개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큰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구성할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있으므로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크기를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기준으로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시스템을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나누지는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않음</a:t>
            </a:r>
            <a:endParaRPr sz="1850">
              <a:latin typeface="Malgun Gothic"/>
              <a:cs typeface="Malgun Gothic"/>
            </a:endParaRPr>
          </a:p>
          <a:p>
            <a:pPr marL="643255" marR="44323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우리가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알고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인터넷은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수많은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소규모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네트워크들이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연동되는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반복적인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과정을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거쳐서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형성된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거대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연합체의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endParaRPr sz="185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3265"/>
              </a:buClr>
              <a:buFont typeface="Arial MT"/>
              <a:buChar char="•"/>
            </a:pPr>
            <a:endParaRPr sz="18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인터페이스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연결하기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표준화된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접촉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지점을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의미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하드웨어적인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관점과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소프트웨어적인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관점이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모두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존재</a:t>
            </a:r>
            <a:endParaRPr sz="1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440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용어의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정의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(3)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469120" cy="45040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2300" spc="-17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매체</a:t>
            </a:r>
            <a:endParaRPr sz="2300" dirty="0">
              <a:latin typeface="Malgun Gothic"/>
              <a:cs typeface="Malgun Gothic"/>
            </a:endParaRPr>
          </a:p>
          <a:p>
            <a:pPr marL="643255" marR="137795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시스템끼리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정해진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연동해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전달할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필요한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물리적인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수단</a:t>
            </a:r>
            <a:endParaRPr sz="185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265"/>
              </a:buClr>
              <a:buFont typeface="Arial MT"/>
              <a:buChar char="•"/>
            </a:pPr>
            <a:endParaRPr sz="1800" dirty="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endParaRPr sz="2300" dirty="0">
              <a:latin typeface="Malgun Gothic"/>
              <a:cs typeface="Malgun Gothic"/>
            </a:endParaRPr>
          </a:p>
          <a:p>
            <a:pPr marL="643255" marR="308610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논리적으로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상호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통해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따르는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표준화된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</a:t>
            </a:r>
            <a:endParaRPr sz="1850" dirty="0">
              <a:latin typeface="Malgun Gothic"/>
              <a:cs typeface="Malgun Gothic"/>
            </a:endParaRPr>
          </a:p>
          <a:p>
            <a:pPr marL="643255" marR="7112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관계가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아닌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동등한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위치에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사이의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규칙이라는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측면이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강조되어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구분</a:t>
            </a:r>
            <a:endParaRPr sz="185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003265"/>
              </a:buClr>
              <a:buFont typeface="Arial MT"/>
              <a:buChar char="•"/>
            </a:pPr>
            <a:endParaRPr sz="1800" dirty="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endParaRPr sz="2300" dirty="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통신용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여러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주고받을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때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-49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이들을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하나의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단위로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통칭한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것</a:t>
            </a:r>
            <a:endParaRPr sz="18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440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용어의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정의</a:t>
            </a:r>
            <a:r>
              <a:rPr sz="2800" b="0" spc="-21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(4)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8319134" cy="259397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인터넷</a:t>
            </a:r>
            <a:endParaRPr sz="230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세계의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네트워크가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유기적으로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연결되어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동작하는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통합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endParaRPr sz="18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한해서는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공통으로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IP</a:t>
            </a:r>
            <a:r>
              <a:rPr sz="185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프로토콜을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</a:t>
            </a:r>
            <a:endParaRPr sz="1850" dirty="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3265"/>
              </a:buClr>
              <a:buFont typeface="Arial MT"/>
              <a:buChar char="•"/>
            </a:pPr>
            <a:endParaRPr sz="1800" dirty="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표준화</a:t>
            </a:r>
            <a:endParaRPr sz="2300" dirty="0">
              <a:latin typeface="Malgun Gothic"/>
              <a:cs typeface="Malgun Gothic"/>
            </a:endParaRPr>
          </a:p>
          <a:p>
            <a:pPr marL="379730" marR="4311015" lvl="1" indent="53340">
              <a:lnSpc>
                <a:spcPct val="121400"/>
              </a:lnSpc>
              <a:spcBef>
                <a:spcPts val="1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서로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다른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상호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연동해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동작하기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통일된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연동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형식</a:t>
            </a:r>
            <a:endParaRPr sz="1850" dirty="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5016" y="3004566"/>
            <a:ext cx="1547178" cy="29250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32512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시스템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기초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용어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7617459" cy="327850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시스템의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구분</a:t>
            </a:r>
            <a:endParaRPr sz="230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노드</a:t>
            </a:r>
            <a:endParaRPr sz="1850" dirty="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컴퓨터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이론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분야에서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특정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시스템을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가리키는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가장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일반적인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용어</a:t>
            </a:r>
            <a:endParaRPr sz="1600" dirty="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40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주고받을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수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모든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시스템을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통칭</a:t>
            </a:r>
            <a:endParaRPr sz="1600" dirty="0">
              <a:latin typeface="Malgun Gothic"/>
              <a:cs typeface="Malgun Gothic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Clr>
                <a:srgbClr val="003265"/>
              </a:buClr>
              <a:buFont typeface="Arial MT"/>
              <a:buChar char="–"/>
            </a:pPr>
            <a:endParaRPr sz="15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라우터</a:t>
            </a:r>
            <a:endParaRPr sz="1850" dirty="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인터넷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내부를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구성하며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기본으로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포함</a:t>
            </a:r>
            <a:endParaRPr sz="1600" dirty="0">
              <a:latin typeface="Malgun Gothic"/>
              <a:cs typeface="Malgun Gothic"/>
            </a:endParaRPr>
          </a:p>
          <a:p>
            <a:pPr lvl="2">
              <a:lnSpc>
                <a:spcPct val="100000"/>
              </a:lnSpc>
              <a:spcBef>
                <a:spcPts val="15"/>
              </a:spcBef>
              <a:buClr>
                <a:srgbClr val="003265"/>
              </a:buClr>
              <a:buFont typeface="Arial MT"/>
              <a:buChar char="–"/>
            </a:pPr>
            <a:endParaRPr sz="1550" dirty="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</a:t>
            </a:r>
            <a:endParaRPr sz="1850" dirty="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인터넷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바깥쪽에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연결되어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일반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사용자들의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접속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창구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역할을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함</a:t>
            </a:r>
            <a:endParaRPr sz="16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32512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시스템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기초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용어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146" y="1237654"/>
            <a:ext cx="7762875" cy="12674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22885" indent="-21082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22885" algn="l"/>
                <a:tab pos="22352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클라이언트와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서버</a:t>
            </a:r>
            <a:endParaRPr sz="1850">
              <a:latin typeface="Malgun Gothic"/>
              <a:cs typeface="Malgun Gothic"/>
            </a:endParaRPr>
          </a:p>
          <a:p>
            <a:pPr marL="429259" lvl="1" indent="-207010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42989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클라이언트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10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6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임의의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인터넷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이용하는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프로그램</a:t>
            </a:r>
            <a:endParaRPr sz="1600">
              <a:latin typeface="Malgun Gothic"/>
              <a:cs typeface="Malgun Gothic"/>
            </a:endParaRPr>
          </a:p>
          <a:p>
            <a:pPr marL="429259" lvl="1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42989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서버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10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6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제공하는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60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프로그램</a:t>
            </a:r>
            <a:endParaRPr sz="1600">
              <a:latin typeface="Malgun Gothic"/>
              <a:cs typeface="Malgun Gothic"/>
            </a:endParaRPr>
          </a:p>
          <a:p>
            <a:pPr marL="429259" lvl="1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42989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특정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기준으로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상대적인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관점에서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클라이언트와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서버라는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용어를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사용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458" y="5223764"/>
            <a:ext cx="8992870" cy="524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5" marR="5080" indent="-207010">
              <a:lnSpc>
                <a:spcPct val="102200"/>
              </a:lnSpc>
              <a:spcBef>
                <a:spcPts val="95"/>
              </a:spcBef>
            </a:pP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– 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FTP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는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원격 호스트끼리 파일 송수신 기능을 제공하는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서비스이고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텔넷은 원격 호스트에 </a:t>
            </a:r>
            <a:r>
              <a:rPr sz="1600" spc="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로그인하는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제공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10" dirty="0">
                <a:solidFill>
                  <a:srgbClr val="003265"/>
                </a:solidFill>
                <a:latin typeface="Arial MT"/>
                <a:cs typeface="Arial MT"/>
              </a:rPr>
              <a:t>/</a:t>
            </a:r>
            <a:r>
              <a:rPr sz="1600" spc="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호스트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2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는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FTP</a:t>
            </a:r>
            <a:r>
              <a:rPr sz="16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0" dirty="0">
                <a:solidFill>
                  <a:srgbClr val="003265"/>
                </a:solidFill>
                <a:latin typeface="Malgun Gothic"/>
                <a:cs typeface="Malgun Gothic"/>
              </a:rPr>
              <a:t>제공하고</a:t>
            </a:r>
            <a:r>
              <a:rPr sz="1600" spc="30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spc="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호스트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3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은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텔넷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제공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3833" y="2836925"/>
            <a:ext cx="3806389" cy="218610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137" y="1218437"/>
            <a:ext cx="6451091" cy="5581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7521" y="624332"/>
            <a:ext cx="3802379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b="0" spc="20" dirty="0">
                <a:latin typeface="Malgun Gothic"/>
                <a:cs typeface="Malgun Gothic"/>
              </a:rPr>
              <a:t>계층적</a:t>
            </a:r>
            <a:r>
              <a:rPr sz="2550" b="0" spc="-220" dirty="0">
                <a:latin typeface="Malgun Gothic"/>
                <a:cs typeface="Malgun Gothic"/>
              </a:rPr>
              <a:t> </a:t>
            </a:r>
            <a:r>
              <a:rPr sz="2550" b="0" spc="20" dirty="0">
                <a:latin typeface="Malgun Gothic"/>
                <a:cs typeface="Malgun Gothic"/>
              </a:rPr>
              <a:t>네트워크</a:t>
            </a:r>
            <a:r>
              <a:rPr sz="2550" b="0" spc="-210" dirty="0">
                <a:latin typeface="Malgun Gothic"/>
                <a:cs typeface="Malgun Gothic"/>
              </a:rPr>
              <a:t> </a:t>
            </a:r>
            <a:r>
              <a:rPr sz="2550" b="0" spc="20" dirty="0">
                <a:latin typeface="Malgun Gothic"/>
                <a:cs typeface="Malgun Gothic"/>
              </a:rPr>
              <a:t>프로토콜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624332"/>
            <a:ext cx="207708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b="0" spc="20" dirty="0">
                <a:latin typeface="Malgun Gothic"/>
                <a:cs typeface="Malgun Gothic"/>
              </a:rPr>
              <a:t>프로토콜</a:t>
            </a:r>
            <a:r>
              <a:rPr sz="2550" b="0" spc="-190" dirty="0">
                <a:latin typeface="Malgun Gothic"/>
                <a:cs typeface="Malgun Gothic"/>
              </a:rPr>
              <a:t> </a:t>
            </a:r>
            <a:r>
              <a:rPr sz="2550" b="0" spc="20" dirty="0">
                <a:latin typeface="Malgun Gothic"/>
                <a:cs typeface="Malgun Gothic"/>
              </a:rPr>
              <a:t>예시</a:t>
            </a:r>
            <a:endParaRPr sz="255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129" y="1276350"/>
            <a:ext cx="6027420" cy="527075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992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OSI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5" dirty="0">
                <a:latin typeface="Arial MT"/>
                <a:cs typeface="Arial MT"/>
              </a:rPr>
              <a:t>7</a:t>
            </a:r>
            <a:r>
              <a:rPr sz="2800" b="0" spc="5" dirty="0">
                <a:latin typeface="Malgun Gothic"/>
                <a:cs typeface="Malgun Gothic"/>
              </a:rPr>
              <a:t>계층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모델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5675630" cy="43897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2300" spc="-17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구조</a:t>
            </a:r>
            <a:endParaRPr sz="2300">
              <a:latin typeface="Malgun Gothic"/>
              <a:cs typeface="Malgun Gothic"/>
            </a:endParaRPr>
          </a:p>
          <a:p>
            <a:pPr marL="643255" marR="718185" lvl="1" indent="-210820">
              <a:lnSpc>
                <a:spcPct val="101099"/>
              </a:lnSpc>
              <a:spcBef>
                <a:spcPts val="459"/>
              </a:spcBef>
              <a:buChar char="•"/>
              <a:tabLst>
                <a:tab pos="643890" algn="l"/>
              </a:tabLst>
            </a:pP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ISO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에서는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OSI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7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계층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모델을 제안해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네트워크에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갖추어야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할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기본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구조와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상세히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정의</a:t>
            </a:r>
            <a:endParaRPr sz="1850">
              <a:latin typeface="Malgun Gothic"/>
              <a:cs typeface="Malgun Gothic"/>
            </a:endParaRPr>
          </a:p>
          <a:p>
            <a:pPr marL="643255" marR="43815" lvl="1" indent="-210820">
              <a:lnSpc>
                <a:spcPct val="101099"/>
              </a:lnSpc>
              <a:spcBef>
                <a:spcPts val="450"/>
              </a:spcBef>
              <a:buChar char="•"/>
              <a:tabLst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OSI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7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계층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모델에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따르면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네트워크에 연결된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호스트들은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7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계층으로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모듈화된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갖추어야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함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일반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사용자는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OSI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7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맨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endParaRPr sz="1850">
              <a:latin typeface="Malgun Gothic"/>
              <a:cs typeface="Malgun Gothic"/>
            </a:endParaRPr>
          </a:p>
          <a:p>
            <a:pPr marL="643255">
              <a:lnSpc>
                <a:spcPct val="100000"/>
              </a:lnSpc>
              <a:spcBef>
                <a:spcPts val="25"/>
              </a:spcBef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계층을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통해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데이터의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송수신을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요청하며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endParaRPr sz="1850">
              <a:latin typeface="Arial MT"/>
              <a:cs typeface="Arial MT"/>
            </a:endParaRPr>
          </a:p>
          <a:p>
            <a:pPr marL="643255" marR="413384">
              <a:lnSpc>
                <a:spcPct val="101099"/>
              </a:lnSpc>
              <a:spcBef>
                <a:spcPts val="5"/>
              </a:spcBef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요청은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계층에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순차적으로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전달되어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맨 아래에 있는 물리 계층을 통해 상대 </a:t>
            </a:r>
            <a:r>
              <a:rPr sz="1850" spc="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endParaRPr sz="185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수신하는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호스트에서는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송신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호스트와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반대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방향으로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처리가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이루어짐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7573" y="1744744"/>
            <a:ext cx="3106867" cy="44497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300" y="1152481"/>
            <a:ext cx="9979660" cy="5806440"/>
            <a:chOff x="1403" y="1110576"/>
            <a:chExt cx="9979660" cy="5806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3" y="1110576"/>
              <a:ext cx="9979567" cy="747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9675" y="1226820"/>
              <a:ext cx="6309359" cy="568985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37521" y="621283"/>
            <a:ext cx="316928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10" dirty="0">
                <a:solidFill>
                  <a:srgbClr val="003265"/>
                </a:solidFill>
                <a:latin typeface="Arial MT"/>
                <a:cs typeface="Arial MT"/>
              </a:rPr>
              <a:t>OSI</a:t>
            </a:r>
            <a:r>
              <a:rPr sz="255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550" spc="10" dirty="0">
                <a:solidFill>
                  <a:srgbClr val="003265"/>
                </a:solidFill>
                <a:latin typeface="Arial MT"/>
                <a:cs typeface="Arial MT"/>
              </a:rPr>
              <a:t>Reference</a:t>
            </a:r>
            <a:r>
              <a:rPr sz="2550" spc="-2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2550" spc="10" dirty="0">
                <a:solidFill>
                  <a:srgbClr val="003265"/>
                </a:solidFill>
                <a:latin typeface="Arial MT"/>
                <a:cs typeface="Arial MT"/>
              </a:rPr>
              <a:t>Model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54974" y="3634989"/>
            <a:ext cx="597535" cy="859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b="1" spc="-5" dirty="0">
                <a:solidFill>
                  <a:srgbClr val="FF0000"/>
                </a:solidFill>
                <a:latin typeface="Verdana"/>
                <a:cs typeface="Verdana"/>
              </a:rPr>
              <a:t>TCP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100" b="1" dirty="0">
                <a:solidFill>
                  <a:srgbClr val="FF0000"/>
                </a:solidFill>
                <a:latin typeface="Verdana"/>
                <a:cs typeface="Verdana"/>
              </a:rPr>
              <a:t>IP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21342" y="2295900"/>
            <a:ext cx="1609725" cy="1191260"/>
          </a:xfrm>
          <a:custGeom>
            <a:avLst/>
            <a:gdLst/>
            <a:ahLst/>
            <a:cxnLst/>
            <a:rect l="l" t="t" r="r" b="b"/>
            <a:pathLst>
              <a:path w="1609725" h="1191260">
                <a:moveTo>
                  <a:pt x="1609344" y="1191005"/>
                </a:moveTo>
                <a:lnTo>
                  <a:pt x="1609344" y="0"/>
                </a:lnTo>
                <a:lnTo>
                  <a:pt x="0" y="0"/>
                </a:lnTo>
                <a:lnTo>
                  <a:pt x="0" y="1191005"/>
                </a:lnTo>
                <a:lnTo>
                  <a:pt x="1609344" y="11910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992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OSI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5" dirty="0">
                <a:latin typeface="Arial MT"/>
                <a:cs typeface="Arial MT"/>
              </a:rPr>
              <a:t>7</a:t>
            </a:r>
            <a:r>
              <a:rPr sz="2800" b="0" spc="5" dirty="0">
                <a:latin typeface="Malgun Gothic"/>
                <a:cs typeface="Malgun Gothic"/>
              </a:rPr>
              <a:t>계층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모델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773920" cy="387731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계층별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기능</a:t>
            </a:r>
            <a:endParaRPr sz="2300">
              <a:latin typeface="Malgun Gothic"/>
              <a:cs typeface="Malgun Gothic"/>
            </a:endParaRPr>
          </a:p>
          <a:p>
            <a:pPr marL="643255" marR="717550" lvl="1" indent="-210820" algn="just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물리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연결하기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매체의 </a:t>
            </a:r>
            <a:r>
              <a:rPr sz="1850" spc="-6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특성을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다루며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크게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유선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무선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매체로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구분</a:t>
            </a:r>
            <a:endParaRPr sz="1850">
              <a:latin typeface="Malgun Gothic"/>
              <a:cs typeface="Malgun Gothic"/>
            </a:endParaRPr>
          </a:p>
          <a:p>
            <a:pPr marL="643255" lvl="1" indent="-210820" algn="just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링크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물리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오류에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관한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오류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제어</a:t>
            </a:r>
            <a:r>
              <a:rPr sz="1850" spc="-2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수행</a:t>
            </a:r>
            <a:endParaRPr sz="1850">
              <a:latin typeface="Malgun Gothic"/>
              <a:cs typeface="Malgun Gothic"/>
            </a:endParaRPr>
          </a:p>
          <a:p>
            <a:pPr marL="643255" marR="5080" lvl="1" indent="-210820" algn="just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송신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호스트까지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안전하게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도착하려면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여러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개의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중개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시스템인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라우터를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거쳐야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하는데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과정에서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올바른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경로를 </a:t>
            </a:r>
            <a:r>
              <a:rPr sz="1850" spc="-6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선택할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있도록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지원하는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endParaRPr sz="1850">
              <a:latin typeface="Malgun Gothic"/>
              <a:cs typeface="Malgun Gothic"/>
            </a:endParaRPr>
          </a:p>
          <a:p>
            <a:pPr marL="643255" marR="95504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송신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프로세스와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프로세스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간의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제공하기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때문에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프로세스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사이의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안전한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지원</a:t>
            </a:r>
            <a:endParaRPr sz="185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200"/>
              </a:lnSpc>
              <a:spcBef>
                <a:spcPts val="44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세션 계층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 계층에서 제공하는 연결의 개념과 유사한 세션 연결을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지원하지만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이보다는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상위의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논리적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연결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환경에서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간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대화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개념의연결로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사용되기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때문에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구분</a:t>
            </a:r>
            <a:endParaRPr sz="1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992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OSI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5" dirty="0">
                <a:latin typeface="Arial MT"/>
                <a:cs typeface="Arial MT"/>
              </a:rPr>
              <a:t>7</a:t>
            </a:r>
            <a:r>
              <a:rPr sz="2800" b="0" spc="5" dirty="0">
                <a:latin typeface="Malgun Gothic"/>
                <a:cs typeface="Malgun Gothic"/>
              </a:rPr>
              <a:t>계층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모델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(3)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8146" y="1295653"/>
            <a:ext cx="8943975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885" marR="5080" indent="-210820">
              <a:lnSpc>
                <a:spcPct val="101299"/>
              </a:lnSpc>
              <a:spcBef>
                <a:spcPts val="90"/>
              </a:spcBef>
              <a:buFont typeface="Arial MT"/>
              <a:buChar char="•"/>
              <a:tabLst>
                <a:tab pos="222885" algn="l"/>
                <a:tab pos="22352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2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의미를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잃지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않도록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올바르게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표현하는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방법을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다룸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-5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정보를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교환하는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호스트들이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표준화된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방법으로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인식할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있게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해줌</a:t>
            </a:r>
            <a:endParaRPr sz="1850">
              <a:latin typeface="Malgun Gothic"/>
              <a:cs typeface="Malgun Gothic"/>
            </a:endParaRPr>
          </a:p>
          <a:p>
            <a:pPr marL="222885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22885" algn="l"/>
                <a:tab pos="22352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: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일반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사용자를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다양한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응용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서비스를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지원</a:t>
            </a:r>
            <a:endParaRPr sz="18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992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OSI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5" dirty="0">
                <a:latin typeface="Arial MT"/>
                <a:cs typeface="Arial MT"/>
              </a:rPr>
              <a:t>7</a:t>
            </a:r>
            <a:r>
              <a:rPr sz="2800" b="0" spc="5" dirty="0">
                <a:latin typeface="Malgun Gothic"/>
                <a:cs typeface="Malgun Gothic"/>
              </a:rPr>
              <a:t>계층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모델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(4)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773920" cy="17100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프로토콜과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인터페이스</a:t>
            </a:r>
            <a:endParaRPr sz="230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각각의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계층은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정해진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방식과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절차에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따라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상대</a:t>
            </a:r>
            <a:r>
              <a:rPr sz="1850" spc="-12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통신하는데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과정에서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필요한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endParaRPr sz="1850">
              <a:latin typeface="Malgun Gothic"/>
              <a:cs typeface="Malgun Gothic"/>
            </a:endParaRPr>
          </a:p>
          <a:p>
            <a:pPr marL="643255" marR="613410" lvl="1" indent="-210820">
              <a:lnSpc>
                <a:spcPct val="101099"/>
              </a:lnSpc>
              <a:spcBef>
                <a:spcPts val="45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상하위의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간에는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인터페이스라는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규칙이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존재하고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하위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상위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계층에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제공하는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인터페이스를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특별히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서비스라고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부름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098" y="3460241"/>
            <a:ext cx="6087837" cy="29528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992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OSI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5" dirty="0">
                <a:latin typeface="Arial MT"/>
                <a:cs typeface="Arial MT"/>
              </a:rPr>
              <a:t>7</a:t>
            </a:r>
            <a:r>
              <a:rPr sz="2800" b="0" spc="5" dirty="0">
                <a:latin typeface="Malgun Gothic"/>
                <a:cs typeface="Malgun Gothic"/>
              </a:rPr>
              <a:t>계층</a:t>
            </a:r>
            <a:r>
              <a:rPr sz="2800" b="0" spc="-235" dirty="0">
                <a:latin typeface="Malgun Gothic"/>
                <a:cs typeface="Malgun Gothic"/>
              </a:rPr>
              <a:t> </a:t>
            </a:r>
            <a:r>
              <a:rPr sz="2800" b="0" spc="5" dirty="0">
                <a:latin typeface="Malgun Gothic"/>
                <a:cs typeface="Malgun Gothic"/>
              </a:rPr>
              <a:t>모델</a:t>
            </a:r>
            <a:r>
              <a:rPr sz="2800" b="0" spc="-24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(5)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1957"/>
            <a:ext cx="7793990" cy="144018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인터넷의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2300" spc="-17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모델</a:t>
            </a:r>
            <a:endParaRPr sz="2300">
              <a:latin typeface="Malgun Gothic"/>
              <a:cs typeface="Malgun Gothic"/>
            </a:endParaRPr>
          </a:p>
          <a:p>
            <a:pPr marL="405130">
              <a:lnSpc>
                <a:spcPct val="100000"/>
              </a:lnSpc>
              <a:spcBef>
                <a:spcPts val="445"/>
              </a:spcBef>
            </a:pP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FTP</a:t>
            </a:r>
            <a:r>
              <a:rPr sz="1600" spc="-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프로그램을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이용하는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경우를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예로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들어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인터넷의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구조를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0" dirty="0">
                <a:solidFill>
                  <a:srgbClr val="003265"/>
                </a:solidFill>
                <a:latin typeface="Malgun Gothic"/>
                <a:cs typeface="Malgun Gothic"/>
              </a:rPr>
              <a:t>설명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(</a:t>
            </a:r>
            <a:r>
              <a:rPr sz="1600" spc="20" dirty="0">
                <a:solidFill>
                  <a:srgbClr val="003265"/>
                </a:solidFill>
                <a:latin typeface="Malgun Gothic"/>
                <a:cs typeface="Malgun Gothic"/>
              </a:rPr>
              <a:t>그림</a:t>
            </a:r>
            <a:r>
              <a:rPr sz="1600" spc="20" dirty="0">
                <a:solidFill>
                  <a:srgbClr val="003265"/>
                </a:solidFill>
                <a:latin typeface="Arial MT"/>
                <a:cs typeface="Arial MT"/>
              </a:rPr>
              <a:t>1-6)</a:t>
            </a:r>
            <a:endParaRPr sz="1600">
              <a:latin typeface="Arial MT"/>
              <a:cs typeface="Arial MT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양쪽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호스트에는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동일한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수행하는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스택이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존재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스택은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구조로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이루어진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프로토콜의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집합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619" y="2921251"/>
            <a:ext cx="4443262" cy="391203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6981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인터네트워킹</a:t>
            </a:r>
            <a:r>
              <a:rPr sz="2800" b="0" spc="-22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031605" cy="28790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의미</a:t>
            </a:r>
            <a:endParaRPr sz="2300">
              <a:latin typeface="Malgun Gothic"/>
              <a:cs typeface="Malgun Gothic"/>
            </a:endParaRPr>
          </a:p>
          <a:p>
            <a:pPr marL="643255" marR="5080" lvl="1" indent="-210820">
              <a:lnSpc>
                <a:spcPct val="101099"/>
              </a:lnSpc>
              <a:spcBef>
                <a:spcPts val="459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네트워크의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인터네트워킹이라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하며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수가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증가할수록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복잡도가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커짐</a:t>
            </a:r>
            <a:endParaRPr sz="185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네트워크의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연결</a:t>
            </a:r>
            <a:endParaRPr sz="2300">
              <a:latin typeface="Malgun Gothic"/>
              <a:cs typeface="Malgun Gothic"/>
            </a:endParaRPr>
          </a:p>
          <a:p>
            <a:pPr marL="379730" marR="4243705" lvl="1" indent="53340">
              <a:lnSpc>
                <a:spcPct val="121400"/>
              </a:lnSpc>
              <a:spcBef>
                <a:spcPts val="1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서로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독립적으로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운영되는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두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이상의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네트워크가 연동되어 정보를 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교환하려면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, </a:t>
            </a:r>
            <a:r>
              <a:rPr sz="1850" spc="-500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이를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적절히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연결하여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중개할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 </a:t>
            </a:r>
            <a:r>
              <a:rPr sz="1850" spc="-6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있는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인터네트워킹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필요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1552" y="3521964"/>
            <a:ext cx="4504215" cy="25644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26981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인터네트워킹</a:t>
            </a:r>
            <a:r>
              <a:rPr sz="2800" b="0" spc="-225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9660890" cy="332105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20" dirty="0">
                <a:solidFill>
                  <a:srgbClr val="003265"/>
                </a:solidFill>
                <a:latin typeface="Malgun Gothic"/>
                <a:cs typeface="Malgun Gothic"/>
              </a:rPr>
              <a:t>게이트웨이</a:t>
            </a:r>
            <a:r>
              <a:rPr sz="2300" spc="20" dirty="0">
                <a:solidFill>
                  <a:srgbClr val="003265"/>
                </a:solidFill>
                <a:latin typeface="Arial MT"/>
                <a:cs typeface="Arial MT"/>
              </a:rPr>
              <a:t>(Gateway)</a:t>
            </a:r>
            <a:endParaRPr sz="2300">
              <a:latin typeface="Arial MT"/>
              <a:cs typeface="Arial MT"/>
            </a:endParaRPr>
          </a:p>
          <a:p>
            <a:pPr marL="313690">
              <a:lnSpc>
                <a:spcPct val="100000"/>
              </a:lnSpc>
              <a:spcBef>
                <a:spcPts val="484"/>
              </a:spcBef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인터네트워킹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수행하는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시스템을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일반적으로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게이트웨이라고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부름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리피터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(Repeater)</a:t>
            </a:r>
            <a:endParaRPr sz="1850">
              <a:latin typeface="Arial MT"/>
              <a:cs typeface="Arial MT"/>
            </a:endParaRPr>
          </a:p>
          <a:p>
            <a:pPr marL="849630" lvl="2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물리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계층의</a:t>
            </a:r>
            <a:r>
              <a:rPr sz="160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60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지원</a:t>
            </a:r>
            <a:endParaRPr sz="160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39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물리적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신호는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거리가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멀수록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감쇄되기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때문에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중간에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이를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보완해주어야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함</a:t>
            </a:r>
            <a:endParaRPr sz="1600">
              <a:latin typeface="Malgun Gothic"/>
              <a:cs typeface="Malgun Gothic"/>
            </a:endParaRPr>
          </a:p>
          <a:p>
            <a:pPr marL="849630" lvl="2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리피터는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한쪽에서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입력된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신호를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물리적으로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단순히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증폭하여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다른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쪽으로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중개하는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역할을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함</a:t>
            </a:r>
            <a:endParaRPr sz="16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브리지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(Bridge)</a:t>
            </a:r>
            <a:endParaRPr sz="1850">
              <a:latin typeface="Arial MT"/>
              <a:cs typeface="Arial MT"/>
            </a:endParaRPr>
          </a:p>
          <a:p>
            <a:pPr marL="849630" lvl="2" indent="-207010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리피터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기능에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링크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계층의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기능이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추가된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것으로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물리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계층에서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발생한</a:t>
            </a:r>
            <a:r>
              <a:rPr sz="1600" spc="-11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오류를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해결해줌</a:t>
            </a:r>
            <a:endParaRPr sz="16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라우터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(Router)</a:t>
            </a:r>
            <a:endParaRPr sz="1850">
              <a:latin typeface="Arial MT"/>
              <a:cs typeface="Arial MT"/>
            </a:endParaRPr>
          </a:p>
          <a:p>
            <a:pPr marL="849630" lvl="2" indent="-20701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850265" algn="l"/>
              </a:tabLst>
            </a:pP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물리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spc="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링크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25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600" spc="25" dirty="0">
                <a:solidFill>
                  <a:srgbClr val="003265"/>
                </a:solidFill>
                <a:latin typeface="Arial MT"/>
                <a:cs typeface="Arial MT"/>
              </a:rPr>
              <a:t>,</a:t>
            </a:r>
            <a:r>
              <a:rPr sz="1600" spc="-5" dirty="0">
                <a:solidFill>
                  <a:srgbClr val="003265"/>
                </a:solidFill>
                <a:latin typeface="Arial MT"/>
                <a:cs typeface="Arial MT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계층의</a:t>
            </a:r>
            <a:r>
              <a:rPr sz="1600" spc="-12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기능을</a:t>
            </a:r>
            <a:r>
              <a:rPr sz="1600" spc="-114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600" spc="35" dirty="0">
                <a:solidFill>
                  <a:srgbClr val="003265"/>
                </a:solidFill>
                <a:latin typeface="Malgun Gothic"/>
                <a:cs typeface="Malgun Gothic"/>
              </a:rPr>
              <a:t>지원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19856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프로토콜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6826250" cy="156654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의미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시스템이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데이터를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교환하기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위해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사용하는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통신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규칙</a:t>
            </a:r>
            <a:endParaRPr sz="185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3265"/>
              </a:buClr>
              <a:buFont typeface="Arial MT"/>
              <a:buChar char="•"/>
            </a:pPr>
            <a:endParaRPr sz="18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프로토콜의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예</a:t>
            </a:r>
            <a:endParaRPr sz="23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5985" y="2830067"/>
            <a:ext cx="5096310" cy="37769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8517"/>
            <a:ext cx="19856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spc="5" dirty="0">
                <a:latin typeface="Malgun Gothic"/>
                <a:cs typeface="Malgun Gothic"/>
              </a:rPr>
              <a:t>프로토콜</a:t>
            </a:r>
            <a:r>
              <a:rPr sz="2800" b="0" spc="-220" dirty="0">
                <a:latin typeface="Malgun Gothic"/>
                <a:cs typeface="Malgun Gothic"/>
              </a:rPr>
              <a:t> </a:t>
            </a:r>
            <a:r>
              <a:rPr sz="2800" b="0" spc="-5" dirty="0">
                <a:latin typeface="Arial MT"/>
                <a:cs typeface="Arial MT"/>
              </a:rPr>
              <a:t>(2)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222501"/>
            <a:ext cx="7976870" cy="14820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7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단위</a:t>
            </a:r>
            <a:endParaRPr sz="230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한</a:t>
            </a:r>
            <a:r>
              <a:rPr sz="1850" spc="-14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단위의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규격으로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묶인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전송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5"/>
              </a:spcBef>
              <a:buChar char="•"/>
              <a:tabLst>
                <a:tab pos="643890" algn="l"/>
              </a:tabLst>
            </a:pP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OSI </a:t>
            </a:r>
            <a:r>
              <a:rPr sz="1850" spc="15" dirty="0">
                <a:solidFill>
                  <a:srgbClr val="003265"/>
                </a:solidFill>
                <a:latin typeface="Arial MT"/>
                <a:cs typeface="Arial MT"/>
              </a:rPr>
              <a:t>7</a:t>
            </a:r>
            <a:r>
              <a:rPr sz="1850" spc="15" dirty="0">
                <a:solidFill>
                  <a:srgbClr val="003265"/>
                </a:solidFill>
                <a:latin typeface="Malgun Gothic"/>
                <a:cs typeface="Malgun Gothic"/>
              </a:rPr>
              <a:t>계층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모델의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각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계층에서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규격화된</a:t>
            </a:r>
            <a:r>
              <a:rPr sz="1850" spc="-13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데이터에는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고유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명칭이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있음</a:t>
            </a:r>
            <a:endParaRPr sz="1850">
              <a:latin typeface="Malgun Gothic"/>
              <a:cs typeface="Malgun Gothic"/>
            </a:endParaRPr>
          </a:p>
          <a:p>
            <a:pPr marL="643255" lvl="1" indent="-2108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643255" algn="l"/>
                <a:tab pos="643890" algn="l"/>
              </a:tabLst>
            </a:pP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계층에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상관없이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사용할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때는</a:t>
            </a:r>
            <a:r>
              <a:rPr sz="1850" spc="-13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통칭하여</a:t>
            </a:r>
            <a:r>
              <a:rPr sz="1850" spc="-14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10" dirty="0">
                <a:solidFill>
                  <a:srgbClr val="003265"/>
                </a:solidFill>
                <a:latin typeface="Arial MT"/>
                <a:cs typeface="Arial MT"/>
              </a:rPr>
              <a:t>PDU</a:t>
            </a:r>
            <a:r>
              <a:rPr sz="1850" spc="10" dirty="0">
                <a:solidFill>
                  <a:srgbClr val="003265"/>
                </a:solidFill>
                <a:latin typeface="Malgun Gothic"/>
                <a:cs typeface="Malgun Gothic"/>
              </a:rPr>
              <a:t>라</a:t>
            </a:r>
            <a:r>
              <a:rPr sz="1850" spc="-15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1850" spc="20" dirty="0">
                <a:solidFill>
                  <a:srgbClr val="003265"/>
                </a:solidFill>
                <a:latin typeface="Malgun Gothic"/>
                <a:cs typeface="Malgun Gothic"/>
              </a:rPr>
              <a:t>부름</a:t>
            </a:r>
            <a:endParaRPr sz="185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529" y="3061716"/>
            <a:ext cx="6471129" cy="34096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521" y="584707"/>
            <a:ext cx="15513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0" dirty="0">
                <a:latin typeface="Arial MT"/>
                <a:cs typeface="Arial MT"/>
              </a:rPr>
              <a:t>Summary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521" y="1537958"/>
            <a:ext cx="3181350" cy="13081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69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컴퓨터네트워크</a:t>
            </a:r>
            <a:r>
              <a:rPr sz="2300" spc="-18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개요</a:t>
            </a:r>
            <a:endParaRPr sz="23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610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네트워크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용어</a:t>
            </a:r>
            <a:r>
              <a:rPr sz="2300" spc="-170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정리</a:t>
            </a:r>
            <a:endParaRPr sz="2300">
              <a:latin typeface="Malgun Gothic"/>
              <a:cs typeface="Malgun Gothic"/>
            </a:endParaRPr>
          </a:p>
          <a:p>
            <a:pPr marL="413384" indent="-401320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413384" algn="l"/>
                <a:tab pos="414020" algn="l"/>
              </a:tabLst>
            </a:pP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계층적</a:t>
            </a:r>
            <a:r>
              <a:rPr sz="2300" spc="-175" dirty="0">
                <a:solidFill>
                  <a:srgbClr val="003265"/>
                </a:solidFill>
                <a:latin typeface="Malgun Gothic"/>
                <a:cs typeface="Malgun Gothic"/>
              </a:rPr>
              <a:t> </a:t>
            </a:r>
            <a:r>
              <a:rPr sz="2300" spc="40" dirty="0">
                <a:solidFill>
                  <a:srgbClr val="003265"/>
                </a:solidFill>
                <a:latin typeface="Malgun Gothic"/>
                <a:cs typeface="Malgun Gothic"/>
              </a:rPr>
              <a:t>프로토콜</a:t>
            </a:r>
            <a:endParaRPr sz="23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791" y="1599549"/>
            <a:ext cx="3826764" cy="49947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39517" y="6651750"/>
            <a:ext cx="26911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i="1" spc="5" dirty="0">
                <a:solidFill>
                  <a:srgbClr val="B0B0B0"/>
                </a:solidFill>
                <a:latin typeface="Verdana"/>
                <a:cs typeface="Verdana"/>
              </a:rPr>
              <a:t>Image</a:t>
            </a:r>
            <a:r>
              <a:rPr sz="800" i="1" spc="-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800" i="1" spc="5" dirty="0">
                <a:solidFill>
                  <a:srgbClr val="B0B0B0"/>
                </a:solidFill>
                <a:latin typeface="Verdana"/>
                <a:cs typeface="Verdana"/>
              </a:rPr>
              <a:t>from</a:t>
            </a:r>
            <a:r>
              <a:rPr sz="800" i="1" spc="-10" dirty="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sz="800" i="1" spc="5" dirty="0">
                <a:solidFill>
                  <a:srgbClr val="B0B0B0"/>
                </a:solidFill>
                <a:latin typeface="Verdana"/>
                <a:cs typeface="Verdana"/>
                <a:hlinkClick r:id="rId3"/>
              </a:rPr>
              <a:t>http://www.promotionalpro.com/blog/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i="0" spc="35" dirty="0">
                <a:latin typeface="Verdana"/>
                <a:cs typeface="Verdana"/>
              </a:rPr>
              <a:t>©</a:t>
            </a:r>
            <a:r>
              <a:rPr i="0" spc="10" dirty="0">
                <a:latin typeface="Verdana"/>
                <a:cs typeface="Verdana"/>
              </a:rPr>
              <a:t> </a:t>
            </a:r>
            <a:r>
              <a:rPr spc="20" dirty="0"/>
              <a:t>2018-2022</a:t>
            </a:r>
            <a:r>
              <a:rPr spc="55" dirty="0"/>
              <a:t> </a:t>
            </a:r>
            <a:r>
              <a:rPr spc="15" dirty="0"/>
              <a:t>Lecture</a:t>
            </a:r>
            <a:r>
              <a:rPr spc="5" dirty="0"/>
              <a:t> </a:t>
            </a:r>
            <a:r>
              <a:rPr spc="20" dirty="0"/>
              <a:t>Note </a:t>
            </a:r>
            <a:r>
              <a:rPr spc="15" dirty="0"/>
              <a:t>of</a:t>
            </a:r>
            <a:r>
              <a:rPr spc="25" dirty="0"/>
              <a:t> </a:t>
            </a:r>
            <a:r>
              <a:rPr spc="15" dirty="0"/>
              <a:t>Computer</a:t>
            </a:r>
            <a:r>
              <a:rPr spc="10" dirty="0"/>
              <a:t> </a:t>
            </a:r>
            <a:r>
              <a:rPr spc="20" dirty="0"/>
              <a:t>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1697</Words>
  <Application>Microsoft Office PowerPoint</Application>
  <PresentationFormat>사용자 지정</PresentationFormat>
  <Paragraphs>238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Arial MT</vt:lpstr>
      <vt:lpstr>MS Gothic</vt:lpstr>
      <vt:lpstr>Malgun Gothic</vt:lpstr>
      <vt:lpstr>Arial</vt:lpstr>
      <vt:lpstr>Calibri</vt:lpstr>
      <vt:lpstr>Verdana</vt:lpstr>
      <vt:lpstr>Wingdings</vt:lpstr>
      <vt:lpstr>Office Theme</vt:lpstr>
      <vt:lpstr>PowerPoint 프레젠테이션</vt:lpstr>
      <vt:lpstr>Computer Network</vt:lpstr>
      <vt:lpstr>수업 관련 사항</vt:lpstr>
      <vt:lpstr>Course Schedule</vt:lpstr>
      <vt:lpstr>데이터 통신과 네트워크</vt:lpstr>
      <vt:lpstr>데이터통신 네트워크의 구성요소</vt:lpstr>
      <vt:lpstr>네트워크 구조(1)</vt:lpstr>
      <vt:lpstr>Client-server Network Model</vt:lpstr>
      <vt:lpstr>Peer-to-peer Network Model</vt:lpstr>
      <vt:lpstr>네트워크 종류(1)</vt:lpstr>
      <vt:lpstr>네트워크 종류(2)</vt:lpstr>
      <vt:lpstr>네트워크 및 인터넷의 발전</vt:lpstr>
      <vt:lpstr>무선 이동 네트워크  기술의 발전</vt:lpstr>
      <vt:lpstr>Questionnaires</vt:lpstr>
      <vt:lpstr>네트워크 기초</vt:lpstr>
      <vt:lpstr>용어의 정의 (1)</vt:lpstr>
      <vt:lpstr>용어의 정의 (2)</vt:lpstr>
      <vt:lpstr>용어의 정의 (3)</vt:lpstr>
      <vt:lpstr>용어의 정의 (4)</vt:lpstr>
      <vt:lpstr>시스템 기초 용어 (1)</vt:lpstr>
      <vt:lpstr>시스템 기초 용어 (2)</vt:lpstr>
      <vt:lpstr>계층적 네트워크 프로토콜</vt:lpstr>
      <vt:lpstr>프로토콜 예시</vt:lpstr>
      <vt:lpstr>OSI 7계층 모델 (1)</vt:lpstr>
      <vt:lpstr>PowerPoint 프레젠테이션</vt:lpstr>
      <vt:lpstr>OSI 7계층 모델 (2)</vt:lpstr>
      <vt:lpstr>OSI 7계층 모델 (3)</vt:lpstr>
      <vt:lpstr>OSI 7계층 모델 (4)</vt:lpstr>
      <vt:lpstr>OSI 7계층 모델 (5)</vt:lpstr>
      <vt:lpstr>인터네트워킹 (1)</vt:lpstr>
      <vt:lpstr>인터네트워킹 (2)</vt:lpstr>
      <vt:lpstr>프로토콜 (1)</vt:lpstr>
      <vt:lpstr>프로토콜 (2)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SCN-01_Introduction(2023)</dc:title>
  <dc:creator>&lt;B9DAC0E7C7F6&gt;</dc:creator>
  <cp:lastModifiedBy>노동주</cp:lastModifiedBy>
  <cp:revision>1</cp:revision>
  <dcterms:created xsi:type="dcterms:W3CDTF">2024-09-11T01:31:32Z</dcterms:created>
  <dcterms:modified xsi:type="dcterms:W3CDTF">2024-09-11T03:21:20Z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2024-09-10T00:00:00Z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2024-09-11T00:00:00Z</vt:filetime>
  </property>
</Properties>
</file>