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708" r:id="rId4"/>
    <p:sldMasterId id="2147483756" r:id="rId5"/>
    <p:sldMasterId id="2147483768" r:id="rId6"/>
  </p:sldMasterIdLst>
  <p:notesMasterIdLst>
    <p:notesMasterId r:id="rId62"/>
  </p:notesMasterIdLst>
  <p:sldIdLst>
    <p:sldId id="318" r:id="rId7"/>
    <p:sldId id="321" r:id="rId8"/>
    <p:sldId id="322" r:id="rId9"/>
    <p:sldId id="369" r:id="rId10"/>
    <p:sldId id="334" r:id="rId11"/>
    <p:sldId id="335" r:id="rId12"/>
    <p:sldId id="336" r:id="rId13"/>
    <p:sldId id="337" r:id="rId14"/>
    <p:sldId id="338" r:id="rId15"/>
    <p:sldId id="339" r:id="rId16"/>
    <p:sldId id="340" r:id="rId17"/>
    <p:sldId id="341" r:id="rId18"/>
    <p:sldId id="342" r:id="rId19"/>
    <p:sldId id="343" r:id="rId20"/>
    <p:sldId id="344" r:id="rId21"/>
    <p:sldId id="326" r:id="rId22"/>
    <p:sldId id="349" r:id="rId23"/>
    <p:sldId id="370" r:id="rId24"/>
    <p:sldId id="327" r:id="rId25"/>
    <p:sldId id="347" r:id="rId26"/>
    <p:sldId id="329" r:id="rId27"/>
    <p:sldId id="346" r:id="rId28"/>
    <p:sldId id="350" r:id="rId29"/>
    <p:sldId id="351" r:id="rId30"/>
    <p:sldId id="352" r:id="rId31"/>
    <p:sldId id="353" r:id="rId32"/>
    <p:sldId id="298" r:id="rId33"/>
    <p:sldId id="331" r:id="rId34"/>
    <p:sldId id="333" r:id="rId35"/>
    <p:sldId id="299" r:id="rId36"/>
    <p:sldId id="300" r:id="rId37"/>
    <p:sldId id="301" r:id="rId38"/>
    <p:sldId id="355" r:id="rId39"/>
    <p:sldId id="302" r:id="rId40"/>
    <p:sldId id="303" r:id="rId41"/>
    <p:sldId id="304" r:id="rId42"/>
    <p:sldId id="305" r:id="rId43"/>
    <p:sldId id="359" r:id="rId44"/>
    <p:sldId id="357" r:id="rId45"/>
    <p:sldId id="358" r:id="rId46"/>
    <p:sldId id="311" r:id="rId47"/>
    <p:sldId id="308" r:id="rId48"/>
    <p:sldId id="309" r:id="rId49"/>
    <p:sldId id="310" r:id="rId50"/>
    <p:sldId id="360" r:id="rId51"/>
    <p:sldId id="307" r:id="rId52"/>
    <p:sldId id="364" r:id="rId53"/>
    <p:sldId id="368" r:id="rId54"/>
    <p:sldId id="365" r:id="rId55"/>
    <p:sldId id="363" r:id="rId56"/>
    <p:sldId id="314" r:id="rId57"/>
    <p:sldId id="315" r:id="rId58"/>
    <p:sldId id="366" r:id="rId59"/>
    <p:sldId id="325" r:id="rId60"/>
    <p:sldId id="371" r:id="rId6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CFF1"/>
    <a:srgbClr val="CBDFFD"/>
    <a:srgbClr val="D6BBEB"/>
    <a:srgbClr val="93BDFB"/>
    <a:srgbClr val="F2EDF9"/>
    <a:srgbClr val="669900"/>
    <a:srgbClr val="F3EBF9"/>
    <a:srgbClr val="009900"/>
    <a:srgbClr val="DAE9FE"/>
    <a:srgbClr val="E9DB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36" autoAdjust="0"/>
    <p:restoredTop sz="70268" autoAdjust="0"/>
  </p:normalViewPr>
  <p:slideViewPr>
    <p:cSldViewPr>
      <p:cViewPr varScale="1">
        <p:scale>
          <a:sx n="60" d="100"/>
          <a:sy n="60" d="100"/>
        </p:scale>
        <p:origin x="53" y="40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63" Type="http://schemas.openxmlformats.org/officeDocument/2006/relationships/presProps" Target="presProp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5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viewProps" Target="viewProp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28.36041" units="1/cm"/>
          <inkml:channelProperty channel="Y" name="resolution" value="28.34646" units="1/cm"/>
          <inkml:channelProperty channel="T" name="resolution" value="1" units="1/dev"/>
        </inkml:channelProperties>
      </inkml:inkSource>
      <inkml:timestamp xml:id="ts0" timeString="2020-05-04T17:32:57.5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12180 16038 0,'0'0'624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8B6E2-6FFE-4E43-9128-2FC654A0449F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FAFDC-D838-4221-905A-6979C4A368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3045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1600</a:t>
            </a:r>
            <a:r>
              <a:rPr lang="ko-KR" altLang="en-US" dirty="0"/>
              <a:t>년대 전후 </a:t>
            </a:r>
            <a:r>
              <a:rPr lang="en-US" altLang="ko-KR" dirty="0"/>
              <a:t>– </a:t>
            </a:r>
            <a:r>
              <a:rPr lang="ko-KR" altLang="en-US" dirty="0" err="1"/>
              <a:t>중세봉건시대</a:t>
            </a:r>
            <a:r>
              <a:rPr lang="ko-KR" altLang="en-US" dirty="0"/>
              <a:t> 붕괴</a:t>
            </a:r>
            <a:endParaRPr lang="en-US" altLang="ko-KR" dirty="0"/>
          </a:p>
          <a:p>
            <a:r>
              <a:rPr lang="ko-KR" altLang="en-US" dirty="0"/>
              <a:t>산업자본주의</a:t>
            </a:r>
            <a:endParaRPr lang="en-US" altLang="ko-KR" dirty="0"/>
          </a:p>
          <a:p>
            <a:r>
              <a:rPr lang="ko-KR" altLang="en-US" dirty="0"/>
              <a:t>다양한 빈곤의 문제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1930</a:t>
            </a:r>
            <a:r>
              <a:rPr lang="ko-KR" altLang="en-US" dirty="0"/>
              <a:t>년대 </a:t>
            </a:r>
            <a:r>
              <a:rPr lang="en-US" altLang="ko-KR" dirty="0"/>
              <a:t>-&gt; </a:t>
            </a:r>
            <a:r>
              <a:rPr lang="ko-KR" altLang="en-US" dirty="0"/>
              <a:t>대공황</a:t>
            </a:r>
            <a:r>
              <a:rPr lang="en-US" altLang="ko-KR" dirty="0"/>
              <a:t>; </a:t>
            </a:r>
            <a:r>
              <a:rPr lang="ko-KR" altLang="en-US" dirty="0"/>
              <a:t>발전 </a:t>
            </a:r>
            <a:r>
              <a:rPr lang="en-US" altLang="ko-KR" dirty="0"/>
              <a:t>(</a:t>
            </a:r>
            <a:r>
              <a:rPr lang="ko-KR" altLang="en-US" dirty="0"/>
              <a:t>미 사회보장법</a:t>
            </a:r>
            <a:r>
              <a:rPr lang="en-US" altLang="ko-KR" dirty="0"/>
              <a:t>); </a:t>
            </a:r>
            <a:r>
              <a:rPr lang="ko-KR" altLang="en-US" dirty="0"/>
              <a:t>신자유주의 경제정책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FAFDC-D838-4221-905A-6979C4A3685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1271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FAFDC-D838-4221-905A-6979C4A3685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85304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장원경제 </a:t>
            </a:r>
            <a:r>
              <a:rPr lang="en-US" altLang="ko-KR" dirty="0"/>
              <a:t>– </a:t>
            </a:r>
            <a:r>
              <a:rPr lang="ko-KR" altLang="en-US" dirty="0"/>
              <a:t>왕과 영주들 존재</a:t>
            </a:r>
            <a:r>
              <a:rPr lang="en-US" altLang="ko-KR" dirty="0"/>
              <a:t>; </a:t>
            </a:r>
            <a:r>
              <a:rPr lang="ko-KR" altLang="en-US" dirty="0"/>
              <a:t>영주 </a:t>
            </a:r>
            <a:r>
              <a:rPr lang="en-US" altLang="ko-KR" dirty="0"/>
              <a:t>– </a:t>
            </a:r>
            <a:r>
              <a:rPr lang="ko-KR" altLang="en-US" dirty="0"/>
              <a:t>기사 </a:t>
            </a:r>
            <a:r>
              <a:rPr lang="en-US" altLang="ko-KR" dirty="0"/>
              <a:t>– </a:t>
            </a:r>
            <a:r>
              <a:rPr lang="ko-KR" altLang="en-US" dirty="0"/>
              <a:t>농노</a:t>
            </a:r>
            <a:r>
              <a:rPr lang="en-US" altLang="ko-KR" dirty="0"/>
              <a:t>;</a:t>
            </a:r>
          </a:p>
          <a:p>
            <a:r>
              <a:rPr lang="ko-KR" altLang="en-US" dirty="0"/>
              <a:t>노동지대</a:t>
            </a:r>
            <a:r>
              <a:rPr lang="en-US" altLang="ko-KR" dirty="0"/>
              <a:t> – </a:t>
            </a:r>
            <a:r>
              <a:rPr lang="ko-KR" altLang="en-US" dirty="0"/>
              <a:t>생산물지대 </a:t>
            </a:r>
            <a:r>
              <a:rPr lang="en-US" altLang="ko-KR" dirty="0"/>
              <a:t>– </a:t>
            </a:r>
            <a:r>
              <a:rPr lang="ko-KR" altLang="en-US" dirty="0"/>
              <a:t>자본주의의 화폐지대 </a:t>
            </a:r>
            <a:r>
              <a:rPr lang="en-US" altLang="ko-KR" dirty="0"/>
              <a:t>;</a:t>
            </a:r>
          </a:p>
          <a:p>
            <a:r>
              <a:rPr lang="ko-KR" altLang="en-US" dirty="0"/>
              <a:t>봉건제 말기 </a:t>
            </a:r>
            <a:r>
              <a:rPr lang="en-US" altLang="ko-KR" dirty="0"/>
              <a:t>= </a:t>
            </a:r>
            <a:r>
              <a:rPr lang="ko-KR" altLang="en-US" dirty="0"/>
              <a:t>모직물 수요 증가</a:t>
            </a:r>
            <a:r>
              <a:rPr lang="en-US" altLang="ko-KR" dirty="0"/>
              <a:t>; </a:t>
            </a:r>
            <a:r>
              <a:rPr lang="ko-KR" altLang="en-US" dirty="0"/>
              <a:t>영주들이 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FAFDC-D838-4221-905A-6979C4A3685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4644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FAFDC-D838-4221-905A-6979C4A3685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232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FAFDC-D838-4221-905A-6979C4A3685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69067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공적부조제도의 효시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FAFDC-D838-4221-905A-6979C4A3685D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9100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FAFDC-D838-4221-905A-6979C4A3685D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40143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메디케어 </a:t>
            </a:r>
            <a:r>
              <a:rPr lang="en-US" altLang="ko-KR" dirty="0"/>
              <a:t>= </a:t>
            </a:r>
            <a:r>
              <a:rPr lang="ko-KR" altLang="en-US" dirty="0"/>
              <a:t>빈곤층</a:t>
            </a:r>
            <a:endParaRPr lang="en-US" altLang="ko-KR" dirty="0"/>
          </a:p>
          <a:p>
            <a:r>
              <a:rPr lang="ko-KR" altLang="en-US" dirty="0"/>
              <a:t>메디케이드 </a:t>
            </a:r>
            <a:r>
              <a:rPr lang="en-US" altLang="ko-KR" dirty="0"/>
              <a:t>= </a:t>
            </a:r>
            <a:r>
              <a:rPr lang="ko-KR" altLang="en-US" dirty="0"/>
              <a:t>일반적 보험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FAFDC-D838-4221-905A-6979C4A3685D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90902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FAFDC-D838-4221-905A-6979C4A3685D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86925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편모가정 지원 </a:t>
            </a:r>
            <a:r>
              <a:rPr lang="en-US" altLang="ko-KR" dirty="0"/>
              <a:t>-&gt; </a:t>
            </a:r>
            <a:r>
              <a:rPr lang="ko-KR" altLang="en-US" dirty="0"/>
              <a:t>수급조건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FAFDC-D838-4221-905A-6979C4A3685D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93226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생활보호제도 </a:t>
            </a:r>
            <a:r>
              <a:rPr lang="en-US" altLang="ko-KR" dirty="0"/>
              <a:t>-&gt; </a:t>
            </a:r>
            <a:r>
              <a:rPr lang="ko-KR" altLang="en-US" dirty="0" err="1"/>
              <a:t>국민기초생활보장제도로</a:t>
            </a:r>
            <a:r>
              <a:rPr lang="ko-KR" altLang="en-US" dirty="0"/>
              <a:t> 개편</a:t>
            </a:r>
            <a:r>
              <a:rPr lang="en-US" altLang="ko-KR" dirty="0"/>
              <a:t>(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자활을 조건으로 보장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FAFDC-D838-4221-905A-6979C4A3685D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2045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6730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8497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042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9681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379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3638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4605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5658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5899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912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3035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4522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29355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95389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33956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59387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31427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53452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99959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28874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59422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26003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82319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18576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150519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03215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93858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83733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3557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70727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78819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9890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28490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957715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91458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93226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030088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28897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301753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852164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982556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504396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185192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85120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10114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137053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936654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426722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665899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810741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651145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354783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54931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755730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311740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302159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066536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368373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633466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698342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509286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969178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80781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15323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65367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2652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88B42-F8C6-4862-A5EE-D91B2F7D75DA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03CDB-7AA6-4F29-AA9A-4487F4F3DF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4132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6210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2182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9238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1875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2024-09-19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678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971600" y="1366315"/>
            <a:ext cx="809837" cy="400110"/>
          </a:xfrm>
        </p:spPr>
        <p:txBody>
          <a:bodyPr wrap="none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</a:t>
            </a:r>
            <a:r>
              <a:rPr lang="en-US" altLang="ko-KR" sz="2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</a:t>
            </a:r>
            <a:r>
              <a:rPr lang="ko-KR" altLang="en-US" sz="2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장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395536" y="1799949"/>
            <a:ext cx="24096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2400" dirty="0">
                <a:solidFill>
                  <a:srgbClr val="FFFF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사회보장의</a:t>
            </a:r>
            <a:r>
              <a:rPr lang="en-US" altLang="ko-KR" sz="2400" dirty="0">
                <a:solidFill>
                  <a:srgbClr val="FFFF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2400" dirty="0">
                <a:solidFill>
                  <a:srgbClr val="FFFF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역사</a:t>
            </a:r>
            <a:endParaRPr lang="ko-KR" altLang="en-US" sz="2400" dirty="0">
              <a:solidFill>
                <a:srgbClr val="FFFF00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18127" y="260648"/>
            <a:ext cx="193033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en-US" altLang="ko-KR" sz="1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Ⅰ</a:t>
            </a:r>
            <a:r>
              <a:rPr lang="ko-KR" altLang="en-US" sz="1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제 </a:t>
            </a:r>
            <a:r>
              <a:rPr lang="en-US" altLang="ko-KR" sz="1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</a:t>
            </a:r>
            <a:r>
              <a:rPr lang="ko-KR" altLang="en-US" sz="1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부 사회보장의 총론</a:t>
            </a:r>
            <a:r>
              <a:rPr lang="en-US" altLang="ko-KR" sz="1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Ⅰ</a:t>
            </a:r>
            <a:endParaRPr lang="ko-KR" altLang="en-US" sz="1200" dirty="0">
              <a:solidFill>
                <a:prstClr val="white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699792" y="3573016"/>
            <a:ext cx="6048672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dirty="0">
                <a:solidFill>
                  <a:srgbClr val="7030A0"/>
                </a:solidFill>
                <a:latin typeface="HY울릉도M"/>
                <a:ea typeface="HY울릉도M"/>
              </a:rPr>
              <a:t>                        ▲ 수업목표</a:t>
            </a:r>
            <a:endParaRPr lang="en-US" altLang="ko-KR" sz="2000" dirty="0">
              <a:solidFill>
                <a:srgbClr val="7030A0"/>
              </a:solidFill>
              <a:latin typeface="HY울릉도M"/>
              <a:ea typeface="HY울릉도M"/>
            </a:endParaRPr>
          </a:p>
          <a:p>
            <a:endParaRPr lang="en-US" altLang="ko-KR" sz="2000" dirty="0">
              <a:solidFill>
                <a:srgbClr val="7030A0"/>
              </a:solidFill>
              <a:latin typeface="HY울릉도M"/>
              <a:ea typeface="HY울릉도M"/>
            </a:endParaRPr>
          </a:p>
          <a:p>
            <a:pPr marL="342900" indent="1800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7030A0"/>
                </a:solidFill>
              </a:rPr>
              <a:t>공공부조가 시작된 영국의 </a:t>
            </a:r>
            <a:r>
              <a:rPr lang="ko-KR" altLang="en-US" sz="1600" dirty="0" err="1">
                <a:solidFill>
                  <a:srgbClr val="7030A0"/>
                </a:solidFill>
              </a:rPr>
              <a:t>빈민법</a:t>
            </a:r>
            <a:r>
              <a:rPr lang="ko-KR" altLang="en-US" sz="1600" dirty="0">
                <a:solidFill>
                  <a:srgbClr val="7030A0"/>
                </a:solidFill>
              </a:rPr>
              <a:t> 역사를 설명할 수 있다</a:t>
            </a:r>
            <a:r>
              <a:rPr lang="en-US" altLang="ko-KR" sz="1600" dirty="0">
                <a:solidFill>
                  <a:srgbClr val="7030A0"/>
                </a:solidFill>
              </a:rPr>
              <a:t>.</a:t>
            </a:r>
          </a:p>
          <a:p>
            <a:pPr marL="342900" indent="18000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7030A0"/>
              </a:solidFill>
            </a:endParaRPr>
          </a:p>
          <a:p>
            <a:pPr marL="342900" indent="1800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7030A0"/>
                </a:solidFill>
              </a:rPr>
              <a:t>독일과 영국의 사회보험 도입 역사를 설명할 수 있다</a:t>
            </a:r>
            <a:r>
              <a:rPr lang="en-US" altLang="ko-KR" sz="1600" dirty="0">
                <a:solidFill>
                  <a:srgbClr val="7030A0"/>
                </a:solidFill>
              </a:rPr>
              <a:t>.</a:t>
            </a:r>
          </a:p>
          <a:p>
            <a:pPr marL="342900" indent="18000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7030A0"/>
              </a:solidFill>
            </a:endParaRPr>
          </a:p>
          <a:p>
            <a:pPr marL="342900" indent="1800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7030A0"/>
                </a:solidFill>
              </a:rPr>
              <a:t>사회보장의 형성과 확대시기의 역사를 설명할 수 있다</a:t>
            </a:r>
            <a:r>
              <a:rPr lang="en-US" altLang="ko-KR" sz="1600" dirty="0">
                <a:solidFill>
                  <a:srgbClr val="7030A0"/>
                </a:solidFill>
              </a:rPr>
              <a:t>.</a:t>
            </a:r>
          </a:p>
          <a:p>
            <a:pPr marL="342900" indent="18000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7030A0"/>
              </a:solidFill>
            </a:endParaRPr>
          </a:p>
          <a:p>
            <a:pPr marL="342900" indent="1800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7030A0"/>
                </a:solidFill>
              </a:rPr>
              <a:t>사회보장의 위기와 재편시기의 역사를 설명할 수 있다</a:t>
            </a:r>
            <a:r>
              <a:rPr lang="en-US" altLang="ko-KR" sz="1600" dirty="0">
                <a:solidFill>
                  <a:srgbClr val="7030A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78563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/>
        </p:nvCxnSpPr>
        <p:spPr>
          <a:xfrm>
            <a:off x="2613991" y="2393582"/>
            <a:ext cx="0" cy="3096344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/>
          <p:cNvSpPr/>
          <p:nvPr/>
        </p:nvSpPr>
        <p:spPr>
          <a:xfrm>
            <a:off x="321087" y="548680"/>
            <a:ext cx="1738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dirty="0">
                <a:solidFill>
                  <a:srgbClr val="FFFF00"/>
                </a:solidFill>
              </a:rPr>
              <a:t>CONTENTS</a:t>
            </a:r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2771800" y="2568301"/>
            <a:ext cx="6228184" cy="2746906"/>
          </a:xfrm>
        </p:spPr>
        <p:txBody>
          <a:bodyPr wrap="square" anchor="t" anchorCtr="0">
            <a:spAutoFit/>
          </a:bodyPr>
          <a:lstStyle/>
          <a:p>
            <a:pPr marL="355600" indent="-355600" fontAlgn="base">
              <a:lnSpc>
                <a:spcPct val="200000"/>
              </a:lnSpc>
              <a:spcBef>
                <a:spcPts val="500"/>
              </a:spcBef>
              <a:buClr>
                <a:srgbClr val="7030A0"/>
              </a:buClr>
              <a:buSzPct val="90000"/>
              <a:buFont typeface="+mj-lt"/>
              <a:buAutoNum type="arabicPeriod"/>
            </a:pPr>
            <a:r>
              <a:rPr lang="ko-KR" altLang="en-US" sz="20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영국의 </a:t>
            </a:r>
            <a:r>
              <a:rPr lang="ko-KR" altLang="en-US" sz="2000" dirty="0" err="1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빈민법</a:t>
            </a:r>
            <a:r>
              <a:rPr lang="ko-KR" altLang="en-US" sz="20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시대</a:t>
            </a:r>
            <a:r>
              <a:rPr lang="en-US" altLang="ko-KR" sz="1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(1600</a:t>
            </a:r>
            <a:r>
              <a:rPr lang="ko-KR" altLang="en-US" sz="1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년대</a:t>
            </a:r>
            <a:r>
              <a:rPr lang="en-US" altLang="ko-KR" sz="1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-1800</a:t>
            </a:r>
            <a:r>
              <a:rPr lang="ko-KR" altLang="en-US" sz="1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년대 후반</a:t>
            </a:r>
            <a:r>
              <a:rPr lang="en-US" altLang="ko-KR" sz="1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)</a:t>
            </a:r>
          </a:p>
          <a:p>
            <a:pPr marL="355600" indent="-355600" fontAlgn="base">
              <a:lnSpc>
                <a:spcPct val="200000"/>
              </a:lnSpc>
              <a:spcBef>
                <a:spcPts val="500"/>
              </a:spcBef>
              <a:buClr>
                <a:srgbClr val="7030A0"/>
              </a:buClr>
              <a:buSzPct val="90000"/>
              <a:buFont typeface="+mj-lt"/>
              <a:buAutoNum type="arabicPeriod"/>
            </a:pPr>
            <a:r>
              <a:rPr lang="ko-KR" altLang="en-US" sz="20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사회보험 시대</a:t>
            </a:r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(1880</a:t>
            </a:r>
            <a:r>
              <a:rPr lang="ko-KR" altLang="en-US" sz="1800" b="1" dirty="0">
                <a:solidFill>
                  <a:schemeClr val="bg1">
                    <a:lumMod val="50000"/>
                  </a:schemeClr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년대</a:t>
            </a:r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-1920</a:t>
            </a:r>
            <a:r>
              <a:rPr lang="ko-KR" altLang="en-US" sz="1800" b="1" dirty="0">
                <a:solidFill>
                  <a:schemeClr val="bg1">
                    <a:lumMod val="50000"/>
                  </a:schemeClr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년대</a:t>
            </a:r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)</a:t>
            </a:r>
            <a:endParaRPr lang="en-US" altLang="ko-KR" sz="1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marL="355600" indent="-355600" fontAlgn="base">
              <a:lnSpc>
                <a:spcPct val="200000"/>
              </a:lnSpc>
              <a:spcBef>
                <a:spcPts val="500"/>
              </a:spcBef>
              <a:buClr>
                <a:srgbClr val="7030A0"/>
              </a:buClr>
              <a:buSzPct val="90000"/>
              <a:buFont typeface="+mj-lt"/>
              <a:buAutoNum type="arabicPeriod"/>
            </a:pPr>
            <a:r>
              <a:rPr lang="ko-KR" altLang="en-US" sz="20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사회보장의 형성과 확대기</a:t>
            </a:r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(1930</a:t>
            </a:r>
            <a:r>
              <a:rPr lang="ko-KR" altLang="en-US" sz="1800" b="1" dirty="0">
                <a:solidFill>
                  <a:schemeClr val="bg1">
                    <a:lumMod val="50000"/>
                  </a:schemeClr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년대</a:t>
            </a:r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-1970</a:t>
            </a:r>
            <a:r>
              <a:rPr lang="ko-KR" altLang="en-US" sz="1800" b="1" dirty="0">
                <a:solidFill>
                  <a:schemeClr val="bg1">
                    <a:lumMod val="50000"/>
                  </a:schemeClr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년대 중반</a:t>
            </a:r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)</a:t>
            </a:r>
            <a:endParaRPr lang="ko-KR" altLang="en-US" sz="1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marL="355600" indent="-355600" fontAlgn="base">
              <a:lnSpc>
                <a:spcPct val="200000"/>
              </a:lnSpc>
              <a:spcBef>
                <a:spcPts val="500"/>
              </a:spcBef>
              <a:buClr>
                <a:srgbClr val="7030A0"/>
              </a:buClr>
              <a:buSzPct val="90000"/>
              <a:buFont typeface="+mj-lt"/>
              <a:buAutoNum type="arabicPeriod"/>
            </a:pPr>
            <a:r>
              <a:rPr lang="ko-KR" altLang="en-US" sz="20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사회보장의 </a:t>
            </a:r>
            <a:r>
              <a:rPr lang="ko-KR" altLang="en-US" sz="2000" dirty="0" err="1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재편기</a:t>
            </a:r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(1970</a:t>
            </a:r>
            <a:r>
              <a:rPr lang="ko-KR" altLang="en-US" sz="1800" b="1" dirty="0">
                <a:solidFill>
                  <a:schemeClr val="bg1">
                    <a:lumMod val="50000"/>
                  </a:schemeClr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년대 중반 이후</a:t>
            </a:r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)</a:t>
            </a:r>
            <a:endParaRPr lang="ko-KR" altLang="en-US" sz="1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07504" y="3356992"/>
            <a:ext cx="2506487" cy="856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lang="ko-KR" altLang="en-US" sz="2400" dirty="0">
                <a:solidFill>
                  <a:prstClr val="black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제</a:t>
            </a:r>
            <a:r>
              <a:rPr lang="en-US" altLang="ko-KR" sz="2400" dirty="0">
                <a:solidFill>
                  <a:prstClr val="black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4</a:t>
            </a:r>
            <a:r>
              <a:rPr lang="ko-KR" altLang="en-US" sz="2400" dirty="0">
                <a:solidFill>
                  <a:prstClr val="black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 </a:t>
            </a:r>
            <a:endParaRPr lang="en-US" altLang="ko-KR" sz="2400" dirty="0">
              <a:solidFill>
                <a:prstClr val="black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algn="ctr">
              <a:spcBef>
                <a:spcPts val="200"/>
              </a:spcBef>
            </a:pPr>
            <a:r>
              <a:rPr lang="ko-KR" altLang="en-US" sz="2400" dirty="0">
                <a:solidFill>
                  <a:prstClr val="black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사회보장의 역사</a:t>
            </a:r>
          </a:p>
        </p:txBody>
      </p:sp>
    </p:spTree>
    <p:extLst>
      <p:ext uri="{BB962C8B-B14F-4D97-AF65-F5344CB8AC3E}">
        <p14:creationId xmlns:p14="http://schemas.microsoft.com/office/powerpoint/2010/main" val="4275931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224111" y="420678"/>
            <a:ext cx="4094391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3200" spc="-15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제</a:t>
            </a:r>
            <a:r>
              <a:rPr lang="en-US" altLang="ko-KR" sz="3200" spc="-15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4</a:t>
            </a:r>
            <a:r>
              <a:rPr lang="ko-KR" altLang="en-US" sz="3200" spc="-15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장</a:t>
            </a:r>
            <a:r>
              <a:rPr lang="en-US" altLang="ko-KR" sz="3200" spc="-15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3200" spc="-15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사회보장의 역사</a:t>
            </a:r>
            <a:endParaRPr lang="ko-KR" altLang="en-US" sz="2000" dirty="0">
              <a:solidFill>
                <a:prstClr val="white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323528" y="1628800"/>
            <a:ext cx="8424936" cy="3499315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vert="horz" wrap="square" lIns="144000" tIns="144000" rIns="144000" bIns="180000" rtlCol="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-177800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</a:pPr>
            <a:r>
              <a:rPr lang="ko-KR" altLang="en-US" sz="2000" dirty="0"/>
              <a:t>사회보장은 역사적으로 공공부조와 사회보험을 근간으로 함</a:t>
            </a:r>
            <a:endParaRPr lang="en-US" altLang="ko-KR" sz="2000" dirty="0"/>
          </a:p>
          <a:p>
            <a:pPr marL="177800" indent="-177800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</a:pPr>
            <a:r>
              <a:rPr lang="ko-KR" altLang="en-US" sz="2000" dirty="0"/>
              <a:t>공공부조는 </a:t>
            </a:r>
            <a:r>
              <a:rPr lang="en-US" altLang="ko-KR" sz="2000" dirty="0"/>
              <a:t>1601</a:t>
            </a:r>
            <a:r>
              <a:rPr lang="ko-KR" altLang="en-US" sz="2000" dirty="0"/>
              <a:t>년 영국의 </a:t>
            </a:r>
            <a:r>
              <a:rPr lang="ko-KR" altLang="en-US" sz="2000" dirty="0" err="1"/>
              <a:t>엘리자베스</a:t>
            </a:r>
            <a:r>
              <a:rPr lang="ko-KR" altLang="en-US" sz="2000" dirty="0"/>
              <a:t> </a:t>
            </a:r>
            <a:r>
              <a:rPr lang="ko-KR" altLang="en-US" sz="2000" dirty="0" err="1"/>
              <a:t>빈민법에</a:t>
            </a:r>
            <a:r>
              <a:rPr lang="ko-KR" altLang="en-US" sz="2000" dirty="0"/>
              <a:t> 그 기원을 두고 있음</a:t>
            </a:r>
            <a:endParaRPr lang="en-US" altLang="ko-KR" sz="2000" dirty="0"/>
          </a:p>
          <a:p>
            <a:pPr marL="177800" indent="-177800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</a:pPr>
            <a:r>
              <a:rPr lang="ko-KR" altLang="en-US" sz="2000" dirty="0"/>
              <a:t>사회보험은 </a:t>
            </a:r>
            <a:r>
              <a:rPr lang="en-US" altLang="ko-KR" sz="2000" dirty="0"/>
              <a:t>1880</a:t>
            </a:r>
            <a:r>
              <a:rPr lang="ko-KR" altLang="en-US" sz="2000" dirty="0"/>
              <a:t>년대 독일의 비스마르크 질병보험과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r>
              <a:rPr lang="en-US" altLang="ko-KR" sz="2000" dirty="0"/>
              <a:t>1911</a:t>
            </a:r>
            <a:r>
              <a:rPr lang="ko-KR" altLang="en-US" sz="2000" dirty="0"/>
              <a:t>년 영국의 국민보험법에서 시작해서 </a:t>
            </a:r>
            <a:r>
              <a:rPr lang="en-US" altLang="ko-KR" sz="2000" dirty="0"/>
              <a:t>20</a:t>
            </a:r>
            <a:r>
              <a:rPr lang="ko-KR" altLang="en-US" sz="2000" dirty="0"/>
              <a:t>세기 초 사회보장제도로 수렴</a:t>
            </a:r>
            <a:r>
              <a:rPr lang="en-US" altLang="ko-KR" sz="2000" dirty="0"/>
              <a:t>·</a:t>
            </a:r>
            <a:r>
              <a:rPr lang="ko-KR" altLang="en-US" sz="2000" dirty="0"/>
              <a:t>확대되었음</a:t>
            </a:r>
            <a:endParaRPr lang="en-US" altLang="ko-KR" sz="2000" dirty="0"/>
          </a:p>
          <a:p>
            <a:pPr marL="177800" indent="-177800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</a:pPr>
            <a:r>
              <a:rPr lang="ko-KR" altLang="en-US" sz="2000" dirty="0"/>
              <a:t>이 장에서는 사회보장의 역사를 영국의 </a:t>
            </a:r>
            <a:r>
              <a:rPr lang="ko-KR" altLang="en-US" sz="2000" dirty="0" err="1"/>
              <a:t>빈민법</a:t>
            </a:r>
            <a:r>
              <a:rPr lang="ko-KR" altLang="en-US" sz="2000" dirty="0"/>
              <a:t> 시대</a:t>
            </a:r>
            <a:r>
              <a:rPr lang="en-US" altLang="ko-KR" sz="2000" dirty="0"/>
              <a:t>, </a:t>
            </a:r>
            <a:r>
              <a:rPr lang="ko-KR" altLang="en-US" sz="2000" dirty="0"/>
              <a:t>사회보험 시대</a:t>
            </a:r>
            <a:r>
              <a:rPr lang="en-US" altLang="ko-KR" sz="2000" dirty="0"/>
              <a:t>, </a:t>
            </a:r>
            <a:r>
              <a:rPr lang="ko-KR" altLang="en-US" sz="2000" dirty="0"/>
              <a:t>사회보장의 형성과 확대기</a:t>
            </a:r>
            <a:r>
              <a:rPr lang="en-US" altLang="ko-KR" sz="2000" dirty="0"/>
              <a:t>, </a:t>
            </a:r>
            <a:r>
              <a:rPr lang="ko-KR" altLang="en-US" sz="2000" dirty="0"/>
              <a:t>사회보장의 </a:t>
            </a:r>
            <a:r>
              <a:rPr lang="ko-KR" altLang="en-US" sz="2000" dirty="0" err="1"/>
              <a:t>재편기</a:t>
            </a:r>
            <a:r>
              <a:rPr lang="ko-KR" altLang="en-US" sz="2000" dirty="0"/>
              <a:t> 네 단계로 구분하여  살펴보고자 함</a:t>
            </a:r>
          </a:p>
        </p:txBody>
      </p:sp>
    </p:spTree>
    <p:extLst>
      <p:ext uri="{BB962C8B-B14F-4D97-AF65-F5344CB8AC3E}">
        <p14:creationId xmlns:p14="http://schemas.microsoft.com/office/powerpoint/2010/main" val="3927988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4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역사</a:t>
            </a: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224111" y="420678"/>
            <a:ext cx="6521337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1. </a:t>
            </a: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영국의 </a:t>
            </a:r>
            <a:r>
              <a:rPr kumimoji="0" lang="ko-KR" altLang="en-US" sz="3200" b="0" i="0" u="none" strike="noStrike" kern="1200" cap="none" spc="-15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빈민법</a:t>
            </a: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 시대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(1600</a:t>
            </a:r>
            <a:r>
              <a:rPr kumimoji="0" lang="ko-KR" altLang="en-US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-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1800</a:t>
            </a:r>
            <a:r>
              <a:rPr kumimoji="0" lang="ko-KR" altLang="en-US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후반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)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  <a:cs typeface="+mj-cs"/>
            </a:endParaRPr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368005" y="2060848"/>
            <a:ext cx="8528544" cy="3499315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vert="horz" wrap="square" lIns="144000" tIns="144000" rIns="144000" bIns="180000" rtlCol="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빈곤문제에 대해 국가가 개입하여 해결하고자 했던 공공부조의 역사는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영국의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엘리자베스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빈민법에서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시작됨</a:t>
            </a:r>
          </a:p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15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세기 말부터 모직물 공업의 발달로 양모 수요가 늘자 지주들은 소작인을 내쫓고 농경지를 목장으로 바꿔 양을 기르기 위해 울타리를 치는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인클로저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(encloser)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운동이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일어남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이로 인해 일자리를 잃은 농민들이 도시로 유입되어 저임금 노동자나 부랑자로 떠돌게 되고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이들 빈민은 영국의 기존 질서에 위협이 됨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24110" y="1487644"/>
            <a:ext cx="85285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1) </a:t>
            </a:r>
            <a:r>
              <a:rPr kumimoji="0" lang="ko-KR" altLang="en-US" sz="2400" b="1" i="0" u="none" strike="noStrike" kern="1200" cap="none" spc="-15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엘리자베스</a:t>
            </a:r>
            <a:r>
              <a:rPr kumimoji="0" lang="ko-KR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2400" b="1" i="0" u="none" strike="noStrike" kern="1200" cap="none" spc="-15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빈민법</a:t>
            </a: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(The Elizabethan Poor Law of 1601)</a:t>
            </a:r>
          </a:p>
        </p:txBody>
      </p:sp>
    </p:spTree>
    <p:extLst>
      <p:ext uri="{BB962C8B-B14F-4D97-AF65-F5344CB8AC3E}">
        <p14:creationId xmlns:p14="http://schemas.microsoft.com/office/powerpoint/2010/main" val="2240936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4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역사</a:t>
            </a: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224111" y="420678"/>
            <a:ext cx="6521337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1. </a:t>
            </a: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영국의 </a:t>
            </a:r>
            <a:r>
              <a:rPr kumimoji="0" lang="ko-KR" altLang="en-US" sz="3200" b="0" i="0" u="none" strike="noStrike" kern="1200" cap="none" spc="-15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빈민법</a:t>
            </a: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 시대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(1600</a:t>
            </a:r>
            <a:r>
              <a:rPr kumimoji="0" lang="ko-KR" altLang="en-US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-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1800</a:t>
            </a:r>
            <a:r>
              <a:rPr kumimoji="0" lang="ko-KR" altLang="en-US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후반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)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  <a:cs typeface="+mj-cs"/>
            </a:endParaRPr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368005" y="2060848"/>
            <a:ext cx="8352928" cy="1652655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vert="horz" wrap="square" lIns="144000" tIns="144000" rIns="144000" bIns="180000" rtlCol="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-177800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  <a:defRPr/>
            </a:pPr>
            <a:r>
              <a:rPr lang="ko-KR" altLang="en-US" sz="2000" dirty="0">
                <a:latin typeface="맑은 고딕" panose="020B0503020000020004" pitchFamily="50" charset="-127"/>
              </a:rPr>
              <a:t>헨리</a:t>
            </a:r>
            <a:r>
              <a:rPr lang="en-US" altLang="ko-KR" sz="2000" dirty="0">
                <a:latin typeface="맑은 고딕" panose="020B0503020000020004" pitchFamily="50" charset="-127"/>
              </a:rPr>
              <a:t>8</a:t>
            </a:r>
            <a:r>
              <a:rPr lang="ko-KR" altLang="en-US" sz="2000" dirty="0">
                <a:latin typeface="맑은 고딕" panose="020B0503020000020004" pitchFamily="50" charset="-127"/>
              </a:rPr>
              <a:t>세의 대법관이었던 토머스 모어는 그의 저서 유토피아에서   </a:t>
            </a:r>
            <a:r>
              <a:rPr lang="en-US" altLang="ko-KR" sz="2000" dirty="0">
                <a:latin typeface="맑은 고딕" panose="020B0503020000020004" pitchFamily="50" charset="-127"/>
              </a:rPr>
              <a:t>“</a:t>
            </a:r>
            <a:r>
              <a:rPr lang="ko-KR" altLang="en-US" sz="2000" dirty="0">
                <a:latin typeface="맑은 고딕" panose="020B0503020000020004" pitchFamily="50" charset="-127"/>
              </a:rPr>
              <a:t>전에는 사람이 양을 먹었지만 지금은 양이 사람을 잡아 먹는다</a:t>
            </a:r>
            <a:r>
              <a:rPr lang="en-US" altLang="ko-KR" sz="2000" dirty="0">
                <a:latin typeface="맑은 고딕" panose="020B0503020000020004" pitchFamily="50" charset="-127"/>
              </a:rPr>
              <a:t>.” </a:t>
            </a:r>
            <a:r>
              <a:rPr lang="ko-KR" altLang="en-US" sz="2000" dirty="0">
                <a:latin typeface="맑은 고딕" panose="020B0503020000020004" pitchFamily="50" charset="-127"/>
              </a:rPr>
              <a:t>라는 유명한 표현으로 </a:t>
            </a:r>
            <a:r>
              <a:rPr lang="ko-KR" altLang="en-US" sz="2000" dirty="0" err="1">
                <a:latin typeface="맑은 고딕" panose="020B0503020000020004" pitchFamily="50" charset="-127"/>
              </a:rPr>
              <a:t>인클로저</a:t>
            </a:r>
            <a:r>
              <a:rPr lang="ko-KR" altLang="en-US" sz="2000" dirty="0">
                <a:latin typeface="맑은 고딕" panose="020B0503020000020004" pitchFamily="50" charset="-127"/>
              </a:rPr>
              <a:t> 운동을 표현함</a:t>
            </a:r>
            <a:endParaRPr lang="en-US" altLang="ko-KR" sz="2000" dirty="0">
              <a:latin typeface="맑은 고딕" panose="020B0503020000020004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24110" y="1487644"/>
            <a:ext cx="85285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1) </a:t>
            </a:r>
            <a:r>
              <a:rPr kumimoji="0" lang="ko-KR" altLang="en-US" sz="2400" b="1" i="0" u="none" strike="noStrike" kern="1200" cap="none" spc="-15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엘리자베스</a:t>
            </a:r>
            <a:r>
              <a:rPr kumimoji="0" lang="ko-KR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2400" b="1" i="0" u="none" strike="noStrike" kern="1200" cap="none" spc="-15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빈민법</a:t>
            </a: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(The Elizabethan Poor Law of 1601)</a:t>
            </a:r>
          </a:p>
        </p:txBody>
      </p:sp>
    </p:spTree>
    <p:extLst>
      <p:ext uri="{BB962C8B-B14F-4D97-AF65-F5344CB8AC3E}">
        <p14:creationId xmlns:p14="http://schemas.microsoft.com/office/powerpoint/2010/main" val="4278799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4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역사</a:t>
            </a: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224111" y="420678"/>
            <a:ext cx="6521337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1. </a:t>
            </a: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영국의 </a:t>
            </a:r>
            <a:r>
              <a:rPr kumimoji="0" lang="ko-KR" altLang="en-US" sz="3200" b="0" i="0" u="none" strike="noStrike" kern="1200" cap="none" spc="-15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빈민법</a:t>
            </a: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 시대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(1600</a:t>
            </a:r>
            <a:r>
              <a:rPr kumimoji="0" lang="ko-KR" altLang="en-US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-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1800</a:t>
            </a:r>
            <a:r>
              <a:rPr kumimoji="0" lang="ko-KR" altLang="en-US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후반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)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  <a:cs typeface="+mj-cs"/>
            </a:endParaRPr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368004" y="2060848"/>
            <a:ext cx="8528545" cy="3499315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vert="horz" wrap="square" lIns="144000" tIns="144000" rIns="144000" bIns="180000" rtlCol="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이러한 빈민들을 구제하고 지역차원에서 관리하기 위해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1601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년 엘리자베스 빈민법이 제정됨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엘리자베스 빈민법은 이후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1834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년에 신빈민법으로 개정되기 때문에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구빈민법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이라고 함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이 법은 이전까지 빈민구제를 위해 제정된 여러 법령들을 집대성하여 공식화하고 체계화한 것으로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영국 빈민법의 기본 토대가 되었으며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 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또한 국가가 복지의 책임을 인정하기 시작한 효시가 되었음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공공부조의 효시가 됨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24110" y="1487644"/>
            <a:ext cx="85285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1) </a:t>
            </a:r>
            <a:r>
              <a:rPr kumimoji="0" lang="ko-KR" altLang="en-US" sz="2400" b="1" i="0" u="none" strike="noStrike" kern="1200" cap="none" spc="-15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엘리자베스</a:t>
            </a:r>
            <a:r>
              <a:rPr kumimoji="0" lang="ko-KR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2400" b="1" i="0" u="none" strike="noStrike" kern="1200" cap="none" spc="-15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빈민법</a:t>
            </a: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(The Elizabethan Poor Law of 1601)</a:t>
            </a:r>
          </a:p>
        </p:txBody>
      </p:sp>
    </p:spTree>
    <p:extLst>
      <p:ext uri="{BB962C8B-B14F-4D97-AF65-F5344CB8AC3E}">
        <p14:creationId xmlns:p14="http://schemas.microsoft.com/office/powerpoint/2010/main" val="281867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544" y="420678"/>
            <a:ext cx="6486071" cy="584775"/>
          </a:xfrm>
        </p:spPr>
        <p:txBody>
          <a:bodyPr wrap="none">
            <a:spAutoFit/>
          </a:bodyPr>
          <a:lstStyle/>
          <a:p>
            <a:pPr algn="l"/>
            <a:r>
              <a:rPr lang="en-US" altLang="ko-KR" sz="3200" spc="-15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 </a:t>
            </a:r>
            <a:r>
              <a:rPr lang="ko-KR" altLang="en-US" sz="3200" spc="-15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영국의 </a:t>
            </a:r>
            <a:r>
              <a:rPr lang="ko-KR" altLang="en-US" sz="3200" spc="-150" dirty="0" err="1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빈민법</a:t>
            </a:r>
            <a:r>
              <a:rPr lang="ko-KR" altLang="en-US" sz="3200" spc="-15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시대 </a:t>
            </a:r>
            <a:r>
              <a:rPr lang="en-US" altLang="ko-KR" sz="2000" spc="-15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(1600</a:t>
            </a:r>
            <a:r>
              <a:rPr lang="ko-KR" altLang="en-US" sz="2000" spc="-15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년대 </a:t>
            </a:r>
            <a:r>
              <a:rPr lang="en-US" altLang="ko-KR" sz="2000" spc="-15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-</a:t>
            </a:r>
            <a:r>
              <a:rPr lang="en-US" altLang="ko-KR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2000" spc="-15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1800</a:t>
            </a:r>
            <a:r>
              <a:rPr lang="ko-KR" altLang="en-US" sz="2000" spc="-15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년대 후반</a:t>
            </a:r>
            <a:r>
              <a:rPr lang="en-US" altLang="ko-KR" sz="2000" spc="-15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endParaRPr lang="ko-KR" altLang="en-US" sz="2000" spc="-15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4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역사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683568" y="1716489"/>
            <a:ext cx="79928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1) </a:t>
            </a:r>
            <a:r>
              <a:rPr kumimoji="0" lang="ko-KR" altLang="en-US" sz="2400" b="1" i="0" u="none" strike="noStrike" kern="1200" cap="none" spc="-15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엘리자베스</a:t>
            </a:r>
            <a:r>
              <a:rPr kumimoji="0" lang="ko-KR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2400" b="1" i="0" u="none" strike="noStrike" kern="1200" cap="none" spc="-15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빈민법</a:t>
            </a: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(The Elizabethan Poor Law of 1601)</a:t>
            </a:r>
          </a:p>
        </p:txBody>
      </p:sp>
      <p:grpSp>
        <p:nvGrpSpPr>
          <p:cNvPr id="8" name="Group 38"/>
          <p:cNvGrpSpPr>
            <a:grpSpLocks/>
          </p:cNvGrpSpPr>
          <p:nvPr/>
        </p:nvGrpSpPr>
        <p:grpSpPr bwMode="auto">
          <a:xfrm>
            <a:off x="467544" y="2612830"/>
            <a:ext cx="8064895" cy="3024187"/>
            <a:chOff x="975" y="1434"/>
            <a:chExt cx="3810" cy="1905"/>
          </a:xfrm>
          <a:solidFill>
            <a:srgbClr val="F3EBF9"/>
          </a:solidFill>
        </p:grpSpPr>
        <p:sp>
          <p:nvSpPr>
            <p:cNvPr id="9" name="AutoShape 8"/>
            <p:cNvSpPr>
              <a:spLocks noChangeArrowheads="1"/>
            </p:cNvSpPr>
            <p:nvPr/>
          </p:nvSpPr>
          <p:spPr bwMode="auto">
            <a:xfrm rot="5400000">
              <a:off x="2698" y="-289"/>
              <a:ext cx="363" cy="3810"/>
            </a:xfrm>
            <a:prstGeom prst="moon">
              <a:avLst>
                <a:gd name="adj" fmla="val 875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itchFamily="2" charset="2"/>
                <a:buChar char="v"/>
                <a:defRPr sz="2800" b="1">
                  <a:solidFill>
                    <a:schemeClr val="tx2"/>
                  </a:solidFill>
                  <a:latin typeface="Verdana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굴림" pitchFamily="50" charset="-127"/>
                <a:cs typeface="+mn-cs"/>
              </a:endParaRP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1861" y="1480"/>
              <a:ext cx="1860" cy="22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itchFamily="2" charset="2"/>
                <a:buChar char="v"/>
                <a:defRPr sz="2800" b="1">
                  <a:solidFill>
                    <a:schemeClr val="tx2"/>
                  </a:solidFill>
                  <a:latin typeface="Verdana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HY울릉도B" pitchFamily="18" charset="-127"/>
                  <a:ea typeface="HY울릉도B" pitchFamily="18" charset="-127"/>
                  <a:cs typeface="+mn-cs"/>
                </a:rPr>
                <a:t>엘리자베스</a:t>
              </a:r>
              <a:r>
                <a: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HY울릉도B" pitchFamily="18" charset="-127"/>
                  <a:ea typeface="HY울릉도B" pitchFamily="18" charset="-127"/>
                  <a:cs typeface="+mn-cs"/>
                </a:rPr>
                <a:t> </a:t>
              </a:r>
              <a:r>
                <a:rPr kumimoji="0" lang="ko-KR" alt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HY울릉도B" pitchFamily="18" charset="-127"/>
                  <a:ea typeface="HY울릉도B" pitchFamily="18" charset="-127"/>
                  <a:cs typeface="+mn-cs"/>
                </a:rPr>
                <a:t>빈빈법</a:t>
              </a:r>
              <a:r>
                <a:rPr kumimoji="0" lang="en-US" altLang="ko-KR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HY울릉도B" pitchFamily="18" charset="-127"/>
                  <a:ea typeface="HY울릉도B" pitchFamily="18" charset="-127"/>
                  <a:cs typeface="+mn-cs"/>
                </a:rPr>
                <a:t>(</a:t>
              </a:r>
              <a:r>
                <a: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HY울릉도B" pitchFamily="18" charset="-127"/>
                  <a:ea typeface="HY울릉도B" pitchFamily="18" charset="-127"/>
                  <a:cs typeface="+mn-cs"/>
                </a:rPr>
                <a:t>빈민 구분</a:t>
              </a:r>
              <a:r>
                <a:rPr kumimoji="0" lang="en-US" altLang="ko-KR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HY울릉도B" pitchFamily="18" charset="-127"/>
                  <a:ea typeface="HY울릉도B" pitchFamily="18" charset="-127"/>
                  <a:cs typeface="+mn-cs"/>
                </a:rPr>
                <a:t>)</a:t>
              </a: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Y울릉도B" pitchFamily="18" charset="-127"/>
                <a:ea typeface="HY울릉도B" pitchFamily="18" charset="-127"/>
                <a:cs typeface="+mn-cs"/>
              </a:endParaRPr>
            </a:p>
          </p:txBody>
        </p:sp>
        <p:sp>
          <p:nvSpPr>
            <p:cNvPr id="13" name="AutoShape 12"/>
            <p:cNvSpPr>
              <a:spLocks noChangeArrowheads="1"/>
            </p:cNvSpPr>
            <p:nvPr/>
          </p:nvSpPr>
          <p:spPr bwMode="auto">
            <a:xfrm>
              <a:off x="975" y="1842"/>
              <a:ext cx="1240" cy="1497"/>
            </a:xfrm>
            <a:prstGeom prst="roundRect">
              <a:avLst>
                <a:gd name="adj" fmla="val 16667"/>
              </a:avLst>
            </a:prstGeom>
            <a:grpFill/>
            <a:ln w="38100">
              <a:solidFill>
                <a:srgbClr val="FF7C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itchFamily="2" charset="2"/>
                <a:buChar char="v"/>
                <a:defRPr sz="2800" b="1">
                  <a:solidFill>
                    <a:schemeClr val="tx2"/>
                  </a:solidFill>
                  <a:latin typeface="Verdana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굴림" pitchFamily="50" charset="-127"/>
                <a:cs typeface="+mn-cs"/>
              </a:endParaRPr>
            </a:p>
          </p:txBody>
        </p:sp>
        <p:sp>
          <p:nvSpPr>
            <p:cNvPr id="14" name="AutoShape 16"/>
            <p:cNvSpPr>
              <a:spLocks noChangeArrowheads="1"/>
            </p:cNvSpPr>
            <p:nvPr/>
          </p:nvSpPr>
          <p:spPr bwMode="auto">
            <a:xfrm>
              <a:off x="2259" y="1842"/>
              <a:ext cx="1241" cy="1497"/>
            </a:xfrm>
            <a:prstGeom prst="roundRect">
              <a:avLst>
                <a:gd name="adj" fmla="val 16667"/>
              </a:avLst>
            </a:prstGeom>
            <a:grpFill/>
            <a:ln w="38100">
              <a:solidFill>
                <a:srgbClr val="FF7C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itchFamily="2" charset="2"/>
                <a:buChar char="v"/>
                <a:defRPr sz="2800" b="1">
                  <a:solidFill>
                    <a:schemeClr val="tx2"/>
                  </a:solidFill>
                  <a:latin typeface="Verdana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굴림" pitchFamily="50" charset="-127"/>
                <a:cs typeface="+mn-cs"/>
              </a:endParaRPr>
            </a:p>
          </p:txBody>
        </p:sp>
        <p:sp>
          <p:nvSpPr>
            <p:cNvPr id="15" name="AutoShape 17"/>
            <p:cNvSpPr>
              <a:spLocks noChangeArrowheads="1"/>
            </p:cNvSpPr>
            <p:nvPr/>
          </p:nvSpPr>
          <p:spPr bwMode="auto">
            <a:xfrm>
              <a:off x="3545" y="1842"/>
              <a:ext cx="1240" cy="1497"/>
            </a:xfrm>
            <a:prstGeom prst="roundRect">
              <a:avLst>
                <a:gd name="adj" fmla="val 16667"/>
              </a:avLst>
            </a:prstGeom>
            <a:grpFill/>
            <a:ln w="38100">
              <a:solidFill>
                <a:srgbClr val="FF7C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itchFamily="2" charset="2"/>
                <a:buChar char="v"/>
                <a:defRPr sz="2800" b="1">
                  <a:solidFill>
                    <a:schemeClr val="tx2"/>
                  </a:solidFill>
                  <a:latin typeface="Verdana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굴림" pitchFamily="50" charset="-127"/>
                <a:cs typeface="+mn-cs"/>
              </a:endParaRPr>
            </a:p>
          </p:txBody>
        </p:sp>
        <p:sp>
          <p:nvSpPr>
            <p:cNvPr id="16" name="Line 21"/>
            <p:cNvSpPr>
              <a:spLocks noChangeShapeType="1"/>
            </p:cNvSpPr>
            <p:nvPr/>
          </p:nvSpPr>
          <p:spPr bwMode="auto">
            <a:xfrm>
              <a:off x="975" y="2205"/>
              <a:ext cx="1260" cy="1"/>
            </a:xfrm>
            <a:prstGeom prst="line">
              <a:avLst/>
            </a:prstGeom>
            <a:grpFill/>
            <a:ln w="28575">
              <a:solidFill>
                <a:srgbClr val="FF7C8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Line 22"/>
            <p:cNvSpPr>
              <a:spLocks noChangeShapeType="1"/>
            </p:cNvSpPr>
            <p:nvPr/>
          </p:nvSpPr>
          <p:spPr bwMode="auto">
            <a:xfrm>
              <a:off x="2291" y="2205"/>
              <a:ext cx="1210" cy="1"/>
            </a:xfrm>
            <a:prstGeom prst="line">
              <a:avLst/>
            </a:prstGeom>
            <a:grpFill/>
            <a:ln w="28575">
              <a:solidFill>
                <a:srgbClr val="FF7C8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Line 23"/>
            <p:cNvSpPr>
              <a:spLocks noChangeShapeType="1"/>
            </p:cNvSpPr>
            <p:nvPr/>
          </p:nvSpPr>
          <p:spPr bwMode="auto">
            <a:xfrm>
              <a:off x="3575" y="2205"/>
              <a:ext cx="1210" cy="1"/>
            </a:xfrm>
            <a:prstGeom prst="line">
              <a:avLst/>
            </a:prstGeom>
            <a:grpFill/>
            <a:ln w="28575">
              <a:solidFill>
                <a:srgbClr val="FF7C8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Text Box 24"/>
            <p:cNvSpPr txBox="1">
              <a:spLocks noChangeArrowheads="1"/>
            </p:cNvSpPr>
            <p:nvPr/>
          </p:nvSpPr>
          <p:spPr bwMode="auto">
            <a:xfrm>
              <a:off x="1020" y="1948"/>
              <a:ext cx="1151" cy="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itchFamily="2" charset="2"/>
                <a:buChar char="v"/>
                <a:defRPr sz="2800" b="1">
                  <a:solidFill>
                    <a:schemeClr val="tx2"/>
                  </a:solidFill>
                  <a:latin typeface="Verdana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HY울릉도B" pitchFamily="18" charset="-127"/>
                  <a:ea typeface="HY울릉도B" pitchFamily="18" charset="-127"/>
                  <a:cs typeface="+mn-cs"/>
                </a:rPr>
                <a:t>노동능력 있는 빈민</a:t>
              </a:r>
            </a:p>
          </p:txBody>
        </p:sp>
        <p:sp>
          <p:nvSpPr>
            <p:cNvPr id="20" name="Text Box 25"/>
            <p:cNvSpPr txBox="1">
              <a:spLocks noChangeArrowheads="1"/>
            </p:cNvSpPr>
            <p:nvPr/>
          </p:nvSpPr>
          <p:spPr bwMode="auto">
            <a:xfrm>
              <a:off x="2313" y="1964"/>
              <a:ext cx="1133" cy="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itchFamily="2" charset="2"/>
                <a:buChar char="v"/>
                <a:defRPr sz="2800" b="1">
                  <a:solidFill>
                    <a:schemeClr val="tx2"/>
                  </a:solidFill>
                  <a:latin typeface="Verdana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9900"/>
                  </a:solidFill>
                  <a:effectLst/>
                  <a:uLnTx/>
                  <a:uFillTx/>
                  <a:latin typeface="HY울릉도B" pitchFamily="18" charset="-127"/>
                  <a:ea typeface="HY울릉도B" pitchFamily="18" charset="-127"/>
                  <a:cs typeface="+mn-cs"/>
                </a:rPr>
                <a:t>노동능력 없는 빈민</a:t>
              </a:r>
            </a:p>
          </p:txBody>
        </p:sp>
        <p:sp>
          <p:nvSpPr>
            <p:cNvPr id="21" name="Text Box 26"/>
            <p:cNvSpPr txBox="1">
              <a:spLocks noChangeArrowheads="1"/>
            </p:cNvSpPr>
            <p:nvPr/>
          </p:nvSpPr>
          <p:spPr bwMode="auto">
            <a:xfrm>
              <a:off x="3590" y="1948"/>
              <a:ext cx="1151" cy="2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itchFamily="2" charset="2"/>
                <a:buChar char="v"/>
                <a:defRPr sz="2800" b="1">
                  <a:solidFill>
                    <a:schemeClr val="tx2"/>
                  </a:solidFill>
                  <a:latin typeface="Verdana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3399FF"/>
                  </a:solidFill>
                  <a:effectLst/>
                  <a:uLnTx/>
                  <a:uFillTx/>
                  <a:latin typeface="HY울릉도B" pitchFamily="18" charset="-127"/>
                  <a:ea typeface="HY울릉도B" pitchFamily="18" charset="-127"/>
                  <a:cs typeface="+mn-cs"/>
                </a:rPr>
                <a:t>요보호</a:t>
              </a:r>
              <a:r>
                <a:rPr kumimoji="0" lang="ko-KR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3399FF"/>
                  </a:solidFill>
                  <a:effectLst/>
                  <a:uLnTx/>
                  <a:uFillTx/>
                  <a:latin typeface="HY울릉도B" pitchFamily="18" charset="-127"/>
                  <a:ea typeface="HY울릉도B" pitchFamily="18" charset="-127"/>
                  <a:cs typeface="+mn-cs"/>
                </a:rPr>
                <a:t> 아동</a:t>
              </a:r>
            </a:p>
          </p:txBody>
        </p:sp>
        <p:sp>
          <p:nvSpPr>
            <p:cNvPr id="22" name="Text Box 27"/>
            <p:cNvSpPr txBox="1">
              <a:spLocks noChangeArrowheads="1"/>
            </p:cNvSpPr>
            <p:nvPr/>
          </p:nvSpPr>
          <p:spPr bwMode="auto">
            <a:xfrm>
              <a:off x="1108" y="2296"/>
              <a:ext cx="974" cy="18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itchFamily="2" charset="2"/>
                <a:buChar char="v"/>
                <a:defRPr sz="2800" b="1">
                  <a:solidFill>
                    <a:schemeClr val="tx2"/>
                  </a:solidFill>
                  <a:latin typeface="Verdana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HY울릉도B" pitchFamily="18" charset="-127"/>
                <a:cs typeface="+mn-cs"/>
              </a:endParaRPr>
            </a:p>
          </p:txBody>
        </p:sp>
        <p:sp>
          <p:nvSpPr>
            <p:cNvPr id="24" name="Text Box 29"/>
            <p:cNvSpPr txBox="1">
              <a:spLocks noChangeArrowheads="1"/>
            </p:cNvSpPr>
            <p:nvPr/>
          </p:nvSpPr>
          <p:spPr bwMode="auto">
            <a:xfrm>
              <a:off x="3678" y="2296"/>
              <a:ext cx="974" cy="18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itchFamily="2" charset="2"/>
                <a:buChar char="v"/>
                <a:defRPr sz="2800" b="1">
                  <a:solidFill>
                    <a:schemeClr val="tx2"/>
                  </a:solidFill>
                  <a:latin typeface="Verdana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HY울릉도B" pitchFamily="18" charset="-127"/>
                <a:cs typeface="+mn-cs"/>
              </a:endParaRPr>
            </a:p>
          </p:txBody>
        </p:sp>
      </p:grpSp>
      <p:sp>
        <p:nvSpPr>
          <p:cNvPr id="6" name="직사각형 5"/>
          <p:cNvSpPr/>
          <p:nvPr/>
        </p:nvSpPr>
        <p:spPr>
          <a:xfrm>
            <a:off x="537889" y="3911714"/>
            <a:ext cx="248622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작업장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(workhouse)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에서 일을 하는 조건으로 최소한의 구호를 제공하고 입소를 거부하는 경우 감옥에 보내 처벌하였음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3205612" y="4288115"/>
            <a:ext cx="2656496" cy="7104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7800" marR="0" lvl="0" indent="-177800" algn="l" defTabSz="9144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노인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병자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장애인 등은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구빈원에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수용하여 보호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5987552" y="3963078"/>
            <a:ext cx="2451750" cy="14798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부모의 양육을 받을 수 없는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요보호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아동은 도제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徒弟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와 입양을 통하여 보호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남자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24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세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여자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21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세까지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5661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4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역사</a:t>
            </a: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224111" y="420678"/>
            <a:ext cx="6521337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1. </a:t>
            </a: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영국의 </a:t>
            </a:r>
            <a:r>
              <a:rPr kumimoji="0" lang="ko-KR" altLang="en-US" sz="3200" b="0" i="0" u="none" strike="noStrike" kern="1200" cap="none" spc="-15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빈민법</a:t>
            </a: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 시대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(1600</a:t>
            </a:r>
            <a:r>
              <a:rPr kumimoji="0" lang="ko-KR" altLang="en-US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-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1800</a:t>
            </a:r>
            <a:r>
              <a:rPr kumimoji="0" lang="ko-KR" altLang="en-US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후반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)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  <a:cs typeface="+mj-cs"/>
            </a:endParaRPr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395536" y="2204864"/>
            <a:ext cx="8352928" cy="3597611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vert="horz" wrap="square" lIns="144000" tIns="144000" rIns="144000" bIns="180000" rtlCol="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엘리자베스 빈민법은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빈민구제의 책임을 교회가 아닌 지방정부가 지도록 함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이를 위해 구빈세를 징수함으로써 지방세액을 증가하고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구빈행정체계 마련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즉 모든 교구에 구빈감독관 임명하여 구빈업무와 지방세 징수업무 관장함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구빈감독관은 왕립관료인 치안판사의 지시를 받음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빈민법은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1834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년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신빈민법으로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개정될 때까지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지방기금에 의한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지방관리에 의한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지방빈민에 대한 구빈행정의 원칙 유지 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그러나 모든 빈민들을 구제할 능력을 가진 교구는 극소수였고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치안판사가  임명하는 무보수 구빈감독관은 불성실하거나 부패하기까지 함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224110" y="1487644"/>
            <a:ext cx="85285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1) </a:t>
            </a:r>
            <a:r>
              <a:rPr kumimoji="0" lang="ko-KR" altLang="en-US" sz="2400" b="1" i="0" u="none" strike="noStrike" kern="1200" cap="none" spc="-15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엘리자베스</a:t>
            </a:r>
            <a:r>
              <a:rPr kumimoji="0" lang="ko-KR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2400" b="1" i="0" u="none" strike="noStrike" kern="1200" cap="none" spc="-15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빈민법</a:t>
            </a: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(The Elizabethan Poor Law of 1601)</a:t>
            </a:r>
          </a:p>
        </p:txBody>
      </p:sp>
    </p:spTree>
    <p:extLst>
      <p:ext uri="{BB962C8B-B14F-4D97-AF65-F5344CB8AC3E}">
        <p14:creationId xmlns:p14="http://schemas.microsoft.com/office/powerpoint/2010/main" val="3730425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4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역사</a:t>
            </a: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224111" y="420678"/>
            <a:ext cx="6521337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1. </a:t>
            </a: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영국의 </a:t>
            </a:r>
            <a:r>
              <a:rPr kumimoji="0" lang="ko-KR" altLang="en-US" sz="3200" b="0" i="0" u="none" strike="noStrike" kern="1200" cap="none" spc="-15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빈민법</a:t>
            </a: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 시대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(1600</a:t>
            </a:r>
            <a:r>
              <a:rPr kumimoji="0" lang="ko-KR" altLang="en-US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-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1800</a:t>
            </a:r>
            <a:r>
              <a:rPr kumimoji="0" lang="ko-KR" altLang="en-US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후반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)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  <a:cs typeface="+mj-cs"/>
            </a:endParaRPr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395536" y="2204864"/>
            <a:ext cx="8352928" cy="2766614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vert="horz" wrap="square" lIns="144000" tIns="144000" rIns="144000" bIns="180000" rtlCol="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구빈민법의 역사적 의의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 ① 구빈의 책임이 국가에 있다는 것을 인식하였다는 점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 ② 그 책임을 다하기 위해 법률로써 제도화하였다는 점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③ 구빈행정기구를 설립하였다는 점 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 ④ 구빈재원을 위해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구빈세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(poor rate)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를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징수하였다는 점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 ⑤ 빈민을 구분하고 적절한 구제를 하였다는 점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224110" y="1487644"/>
            <a:ext cx="85285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1) </a:t>
            </a:r>
            <a:r>
              <a:rPr kumimoji="0" lang="ko-KR" altLang="en-US" sz="2400" b="1" i="0" u="none" strike="noStrike" kern="1200" cap="none" spc="-15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엘리자베스</a:t>
            </a:r>
            <a:r>
              <a:rPr kumimoji="0" lang="ko-KR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2400" b="1" i="0" u="none" strike="noStrike" kern="1200" cap="none" spc="-15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빈민법</a:t>
            </a: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(The Elizabethan Poor Law of 1601)</a:t>
            </a:r>
          </a:p>
        </p:txBody>
      </p:sp>
    </p:spTree>
    <p:extLst>
      <p:ext uri="{BB962C8B-B14F-4D97-AF65-F5344CB8AC3E}">
        <p14:creationId xmlns:p14="http://schemas.microsoft.com/office/powerpoint/2010/main" val="3232348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4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역사</a:t>
            </a: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224111" y="420678"/>
            <a:ext cx="6521337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1. </a:t>
            </a: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영국의 </a:t>
            </a:r>
            <a:r>
              <a:rPr kumimoji="0" lang="ko-KR" altLang="en-US" sz="3200" b="0" i="0" u="none" strike="noStrike" kern="1200" cap="none" spc="-15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빈민법</a:t>
            </a: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 시대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(1600</a:t>
            </a:r>
            <a:r>
              <a:rPr kumimoji="0" lang="ko-KR" altLang="en-US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-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1800</a:t>
            </a:r>
            <a:r>
              <a:rPr kumimoji="0" lang="ko-KR" altLang="en-US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후반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)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  <a:cs typeface="+mj-cs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CDC383A-3154-4C3E-8F31-481D930CF40C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619778"/>
          <a:ext cx="8229600" cy="3969462"/>
        </p:xfrm>
        <a:graphic>
          <a:graphicData uri="http://schemas.openxmlformats.org/drawingml/2006/table">
            <a:tbl>
              <a:tblPr/>
              <a:tblGrid>
                <a:gridCol w="8229600">
                  <a:extLst>
                    <a:ext uri="{9D8B030D-6E8A-4147-A177-3AD203B41FA5}">
                      <a16:colId xmlns:a16="http://schemas.microsoft.com/office/drawing/2014/main" val="3430647288"/>
                    </a:ext>
                  </a:extLst>
                </a:gridCol>
              </a:tblGrid>
              <a:tr h="542593">
                <a:tc>
                  <a:txBody>
                    <a:bodyPr/>
                    <a:lstStyle/>
                    <a:p>
                      <a:pPr marL="0" marR="0" indent="0" algn="just" fontAlgn="ctr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altLang="ko-KR" sz="2000" kern="0" spc="-2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Yoon가변 윤고딕 120_TT"/>
                        </a:rPr>
                        <a:t>※ </a:t>
                      </a:r>
                      <a:r>
                        <a:rPr lang="ko-KR" altLang="en-US" sz="2000" kern="0" spc="-2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Yoon가변 윤고딕 120_TT"/>
                        </a:rPr>
                        <a:t>엘리자베스 </a:t>
                      </a:r>
                      <a:r>
                        <a:rPr lang="en-US" altLang="ko-KR" sz="2000" kern="0" spc="-2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r>
                        <a:rPr lang="ko-KR" altLang="en-US" sz="2000" kern="0" spc="-2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Yoon가변 윤고딕 120_TT"/>
                        </a:rPr>
                        <a:t>세 여왕</a:t>
                      </a:r>
                      <a:r>
                        <a:rPr lang="en-US" altLang="ko-KR" sz="2000" kern="0" spc="-2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(Elizabeth I, 1533~1603)</a:t>
                      </a:r>
                      <a:endParaRPr lang="ko-KR" altLang="en-US" sz="2000" kern="0" spc="-2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4770" marR="64770" marT="17907" marB="17907" anchor="ctr">
                    <a:lnL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848533"/>
                  </a:ext>
                </a:extLst>
              </a:tr>
              <a:tr h="3426869">
                <a:tc>
                  <a:txBody>
                    <a:bodyPr/>
                    <a:lstStyle/>
                    <a:p>
                      <a:pPr marL="0" marR="0" indent="0" algn="just" fontAlgn="ctr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ko-KR" altLang="en-US" sz="2000" kern="0" spc="-2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Yoon가변 윤고딕 110_TT"/>
                        </a:rPr>
                        <a:t>엘리자베스 </a:t>
                      </a:r>
                      <a:r>
                        <a:rPr lang="en-US" altLang="ko-KR" sz="2000" kern="0" spc="-2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r>
                        <a:rPr lang="ko-KR" altLang="en-US" sz="2000" kern="0" spc="-2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Yoon가변 윤고딕 110_TT"/>
                        </a:rPr>
                        <a:t>세 여왕은 </a:t>
                      </a:r>
                      <a:r>
                        <a:rPr lang="en-US" altLang="ko-KR" sz="2000" kern="0" spc="-2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1558</a:t>
                      </a:r>
                      <a:r>
                        <a:rPr lang="ko-KR" altLang="en-US" sz="2000" kern="0" spc="-2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Yoon가변 윤고딕 110_TT"/>
                        </a:rPr>
                        <a:t>년 </a:t>
                      </a:r>
                      <a:r>
                        <a:rPr lang="en-US" altLang="ko-KR" sz="2000" kern="0" spc="-2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  <a:r>
                        <a:rPr lang="ko-KR" altLang="en-US" sz="2000" kern="0" spc="-2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Yoon가변 윤고딕 110_TT"/>
                        </a:rPr>
                        <a:t>월 </a:t>
                      </a:r>
                      <a:r>
                        <a:rPr lang="en-US" altLang="ko-KR" sz="2000" kern="0" spc="-2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</a:t>
                      </a:r>
                      <a:r>
                        <a:rPr lang="ko-KR" altLang="en-US" sz="2000" kern="0" spc="-2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Yoon가변 윤고딕 110_TT"/>
                        </a:rPr>
                        <a:t>일부터 </a:t>
                      </a:r>
                      <a:r>
                        <a:rPr lang="en-US" altLang="ko-KR" sz="2000" kern="0" spc="-2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1603</a:t>
                      </a:r>
                      <a:r>
                        <a:rPr lang="ko-KR" altLang="en-US" sz="2000" kern="0" spc="-2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Yoon가변 윤고딕 110_TT"/>
                        </a:rPr>
                        <a:t>년 </a:t>
                      </a:r>
                      <a:r>
                        <a:rPr lang="en-US" altLang="ko-KR" sz="2000" kern="0" spc="-2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  <a:r>
                        <a:rPr lang="ko-KR" altLang="en-US" sz="2000" kern="0" spc="-2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Yoon가변 윤고딕 110_TT"/>
                        </a:rPr>
                        <a:t>월 </a:t>
                      </a:r>
                      <a:r>
                        <a:rPr lang="en-US" altLang="ko-KR" sz="2000" kern="0" spc="-2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</a:t>
                      </a:r>
                      <a:r>
                        <a:rPr lang="ko-KR" altLang="en-US" sz="2000" kern="0" spc="-2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Yoon가변 윤고딕 110_TT"/>
                        </a:rPr>
                        <a:t>일까지 </a:t>
                      </a:r>
                      <a:r>
                        <a:rPr lang="en-US" altLang="ko-KR" sz="2000" kern="0" spc="-2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44</a:t>
                      </a:r>
                      <a:r>
                        <a:rPr lang="ko-KR" altLang="en-US" sz="2000" kern="0" spc="-2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Yoon가변 윤고딕 110_TT"/>
                        </a:rPr>
                        <a:t>년간 잉글랜드 왕국 및 아일랜드 왕국을 다스린 여왕이다</a:t>
                      </a:r>
                      <a:r>
                        <a:rPr lang="en-US" altLang="ko-KR" sz="2000" kern="0" spc="-2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 </a:t>
                      </a:r>
                      <a:r>
                        <a:rPr lang="ko-KR" altLang="en-US" sz="2000" kern="0" spc="-2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Yoon가변 윤고딕 110_TT"/>
                        </a:rPr>
                        <a:t>본명은 엘리자베스 </a:t>
                      </a:r>
                      <a:r>
                        <a:rPr lang="ko-KR" altLang="en-US" sz="2000" kern="0" spc="-2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Yoon가변 윤고딕 110_TT"/>
                        </a:rPr>
                        <a:t>튜더</a:t>
                      </a:r>
                      <a:r>
                        <a:rPr lang="en-US" altLang="ko-KR" sz="2000" kern="0" spc="-2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(Elizabeth Tudor)</a:t>
                      </a:r>
                      <a:r>
                        <a:rPr lang="ko-KR" altLang="en-US" sz="2000" kern="0" spc="-2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Yoon가변 윤고딕 110_TT"/>
                        </a:rPr>
                        <a:t>이다</a:t>
                      </a:r>
                      <a:r>
                        <a:rPr lang="en-US" altLang="ko-KR" sz="2000" kern="0" spc="-2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 </a:t>
                      </a:r>
                      <a:r>
                        <a:rPr lang="ko-KR" altLang="en-US" sz="2000" kern="0" spc="-2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Yoon가변 윤고딕 110_TT"/>
                        </a:rPr>
                        <a:t>열강들의 위협</a:t>
                      </a:r>
                      <a:r>
                        <a:rPr lang="en-US" altLang="ko-KR" sz="2000" kern="0" spc="-2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ko-KR" altLang="en-US" sz="2000" kern="0" spc="-2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Yoon가변 윤고딕 110_TT"/>
                        </a:rPr>
                        <a:t>급격한 인플레이션</a:t>
                      </a:r>
                      <a:r>
                        <a:rPr lang="en-US" altLang="ko-KR" sz="2000" kern="0" spc="-2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ko-KR" altLang="en-US" sz="2000" kern="0" spc="-2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Yoon가변 윤고딕 110_TT"/>
                        </a:rPr>
                        <a:t>종교 전쟁 등으로 혼란스럽기 그지없던 </a:t>
                      </a:r>
                      <a:r>
                        <a:rPr lang="en-US" altLang="ko-KR" sz="2000" kern="0" spc="-2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16</a:t>
                      </a:r>
                      <a:r>
                        <a:rPr lang="ko-KR" altLang="en-US" sz="2000" kern="0" spc="-2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Yoon가변 윤고딕 110_TT"/>
                        </a:rPr>
                        <a:t>세기 초반 당시 유럽의 후진국이었던 영국을 세계 최대의 제국으로 발전시키는 데 이바지하였다</a:t>
                      </a:r>
                      <a:r>
                        <a:rPr lang="en-US" altLang="ko-KR" sz="2000" kern="0" spc="-2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 </a:t>
                      </a:r>
                      <a:r>
                        <a:rPr lang="ko-KR" altLang="en-US" sz="2000" kern="0" spc="-2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Yoon가변 윤고딕 110_TT"/>
                        </a:rPr>
                        <a:t>평생을 독신으로 지냈기 때문에 </a:t>
                      </a:r>
                      <a:r>
                        <a:rPr lang="ko-KR" altLang="en-US" sz="2000" kern="0" spc="-2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‘</a:t>
                      </a:r>
                      <a:r>
                        <a:rPr lang="ko-KR" altLang="en-US" sz="2000" kern="0" spc="-2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Yoon가변 윤고딕 110_TT"/>
                        </a:rPr>
                        <a:t>처녀 여왕</a:t>
                      </a:r>
                      <a:r>
                        <a:rPr lang="en-US" altLang="ko-KR" sz="2000" kern="0" spc="-2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(The Virgin Queen)’</a:t>
                      </a:r>
                      <a:r>
                        <a:rPr lang="ko-KR" altLang="en-US" sz="2000" kern="0" spc="-2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Yoon가변 윤고딕 110_TT"/>
                        </a:rPr>
                        <a:t>이라 불렸고</a:t>
                      </a:r>
                      <a:r>
                        <a:rPr lang="en-US" altLang="ko-KR" sz="2000" kern="0" spc="-2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ko-KR" altLang="en-US" sz="2000" kern="0" spc="-2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Yoon가변 윤고딕 110_TT"/>
                        </a:rPr>
                        <a:t>그녀를 마지막으로 </a:t>
                      </a:r>
                      <a:r>
                        <a:rPr lang="ko-KR" altLang="en-US" sz="2000" kern="0" spc="-2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Yoon가변 윤고딕 110_TT"/>
                        </a:rPr>
                        <a:t>튜더</a:t>
                      </a:r>
                      <a:r>
                        <a:rPr lang="ko-KR" altLang="en-US" sz="2000" kern="0" spc="-2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Yoon가변 윤고딕 110_TT"/>
                        </a:rPr>
                        <a:t> 왕가는 단절되었다</a:t>
                      </a:r>
                      <a:r>
                        <a:rPr lang="en-US" altLang="ko-KR" sz="2000" kern="0" spc="-2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 </a:t>
                      </a:r>
                      <a:endParaRPr lang="ko-KR" altLang="en-US" sz="2000" kern="0" spc="-2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4770" marR="64770" marT="17907" marB="17907" anchor="ctr">
                    <a:lnL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6190805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5D9EC9EA-C17A-4E58-AAE5-156CCB7DF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03688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2088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4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역사</a:t>
            </a: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224111" y="420678"/>
            <a:ext cx="6521337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1. </a:t>
            </a: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영국의 </a:t>
            </a:r>
            <a:r>
              <a:rPr kumimoji="0" lang="ko-KR" altLang="en-US" sz="3200" b="0" i="0" u="none" strike="noStrike" kern="1200" cap="none" spc="-15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빈민법</a:t>
            </a: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 시대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(1600</a:t>
            </a:r>
            <a:r>
              <a:rPr kumimoji="0" lang="ko-KR" altLang="en-US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-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1800</a:t>
            </a:r>
            <a:r>
              <a:rPr kumimoji="0" lang="ko-KR" altLang="en-US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후반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)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  <a:cs typeface="+mj-cs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399727" y="2060848"/>
            <a:ext cx="8352928" cy="4482148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vert="horz" wrap="square" lIns="144000" tIns="144000" rIns="144000" bIns="180000" rtlCol="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정주법은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빈민의 자유로운 이동을 금지하기 위해 제정된 법</a:t>
            </a:r>
          </a:p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빈민법은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교구단위로 각 교구 내 빈민들을 지방행정기관이 재정적 책임을 지고 빈민사업을 시행하도록 하였기 때문에 다른 지역의 빈민이 이주해 오는 것을 원치 않았음</a:t>
            </a:r>
          </a:p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그러나 좀 더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나은 처우를 받기 위해 재정이 어려운 교구의 빈민들은 재정형편이 좋은 부유한 교구로 이동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하는 현상이 나타나게 되었음</a:t>
            </a:r>
          </a:p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한편 귀족계급들은 자신의 사유지 경작에 필요한 농촌노동력 확보를 위해 노동력을 가진 빈민들을 필요로 하였고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이들이 이동하지 않도록 조치를 취해줄 것을 원함 </a:t>
            </a:r>
          </a:p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이에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찰스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세에 의해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1662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년 빈민의 거주자격을 규정한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정주법이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제정됨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224110" y="1487644"/>
            <a:ext cx="85285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2)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정주법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(The Settlement Act of 1662) </a:t>
            </a:r>
          </a:p>
        </p:txBody>
      </p:sp>
    </p:spTree>
    <p:extLst>
      <p:ext uri="{BB962C8B-B14F-4D97-AF65-F5344CB8AC3E}">
        <p14:creationId xmlns:p14="http://schemas.microsoft.com/office/powerpoint/2010/main" val="2480916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4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역사</a:t>
            </a: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224111" y="420678"/>
            <a:ext cx="6521337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1. </a:t>
            </a: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영국의 </a:t>
            </a:r>
            <a:r>
              <a:rPr kumimoji="0" lang="ko-KR" altLang="en-US" sz="3200" b="0" i="0" u="none" strike="noStrike" kern="1200" cap="none" spc="-15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빈민법</a:t>
            </a: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 시대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(1600</a:t>
            </a:r>
            <a:r>
              <a:rPr kumimoji="0" lang="ko-KR" altLang="en-US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-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1800</a:t>
            </a:r>
            <a:r>
              <a:rPr kumimoji="0" lang="ko-KR" altLang="en-US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후반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)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  <a:cs typeface="+mj-cs"/>
            </a:endParaRPr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395536" y="2104171"/>
            <a:ext cx="8352928" cy="4482148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vert="horz" wrap="square" lIns="144000" tIns="144000" rIns="144000" bIns="180000" rtlCol="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작업장법은 노동능력이 있는 빈민을 고용함으로써 구빈재정을 줄이고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국가적인 부의 증대에 기여하고자 하는 목적으로 제정되었음</a:t>
            </a:r>
          </a:p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작업장에서 빈민에게 노동을 강제하고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작업장 수용을 거부하는 빈민은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구제등록부에서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이름을 삭제하여 구제 받을 자격을 박탈함 </a:t>
            </a:r>
          </a:p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1722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년 작업장심사법으로 개정된 후 심사를 통해 근로능력이 있는 경우 무조건 작업장에 강제 수용함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작업장은 세금으로 원료를 공급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생산제품을 팔아 빈민들에게 노임을 지급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제품의 질 저하와 경쟁력 약화로 세금 낭비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구빈감독관과 교회 집사들에게 작업장 건립 권한과 고용 및 수용계약의 권한을 부여함→빈민의 혹사와 노동력 착취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인권문제는 심각한 사회문제로 대두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24110" y="1487644"/>
            <a:ext cx="85285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3)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작업장법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작업장심사법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(1696/1722)</a:t>
            </a:r>
          </a:p>
        </p:txBody>
      </p:sp>
    </p:spTree>
    <p:extLst>
      <p:ext uri="{BB962C8B-B14F-4D97-AF65-F5344CB8AC3E}">
        <p14:creationId xmlns:p14="http://schemas.microsoft.com/office/powerpoint/2010/main" val="1443664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4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역사</a:t>
            </a: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224111" y="420678"/>
            <a:ext cx="6521337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1. </a:t>
            </a: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영국의 </a:t>
            </a:r>
            <a:r>
              <a:rPr kumimoji="0" lang="ko-KR" altLang="en-US" sz="3200" b="0" i="0" u="none" strike="noStrike" kern="1200" cap="none" spc="-15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빈민법</a:t>
            </a: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 시대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(1600</a:t>
            </a:r>
            <a:r>
              <a:rPr kumimoji="0" lang="ko-KR" altLang="en-US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-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1800</a:t>
            </a:r>
            <a:r>
              <a:rPr kumimoji="0" lang="ko-KR" altLang="en-US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후반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)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  <a:cs typeface="+mj-cs"/>
            </a:endParaRPr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395536" y="2204864"/>
            <a:ext cx="8352928" cy="2479356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vert="horz" wrap="square" lIns="144000" tIns="144000" rIns="144000" bIns="180000" rtlCol="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길버트법은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작업장이 심각한 사회문제가 되자 당시 하원의원이었던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길버트가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작업장을 조사하고 보다 인도적인 규제를 도입하기 위해 만들어진 법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① 노동능력이 있는 빈민들의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원외구제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실시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거택보호의 효시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②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노동능력이 없는 빈민들을 위해 작은 규모의 교구들이 연합하여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구빈원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을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 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설립하여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구빈세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징수와 지출을 합동으로 함으로써 효율적으로 빈민구제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224110" y="1487644"/>
            <a:ext cx="85285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4)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길버트법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(The Gilbert Act of 1782) </a:t>
            </a:r>
          </a:p>
        </p:txBody>
      </p:sp>
    </p:spTree>
    <p:extLst>
      <p:ext uri="{BB962C8B-B14F-4D97-AF65-F5344CB8AC3E}">
        <p14:creationId xmlns:p14="http://schemas.microsoft.com/office/powerpoint/2010/main" val="3318439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4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역사</a:t>
            </a: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224111" y="420678"/>
            <a:ext cx="6521337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1. </a:t>
            </a: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영국의 </a:t>
            </a:r>
            <a:r>
              <a:rPr kumimoji="0" lang="ko-KR" altLang="en-US" sz="3200" b="0" i="0" u="none" strike="noStrike" kern="1200" cap="none" spc="-15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빈민법</a:t>
            </a: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 시대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(1600</a:t>
            </a:r>
            <a:r>
              <a:rPr kumimoji="0" lang="ko-KR" altLang="en-US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-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1800</a:t>
            </a:r>
            <a:r>
              <a:rPr kumimoji="0" lang="ko-KR" altLang="en-US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후반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)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  <a:cs typeface="+mj-cs"/>
            </a:endParaRPr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395536" y="2204864"/>
            <a:ext cx="8352928" cy="4141350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vert="horz" wrap="square" lIns="144000" tIns="144000" rIns="144000" bIns="180000" rtlCol="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스핀햄랜드법은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영국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버크셔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주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스핀햄랜드에서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개최된 치안판사 총회에서 제정된 법으로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근로빈민에 대한 일종의 임금보조제도임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일명 버크셔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빵법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최저생활 기준에 미달되는 저임금 노동자에 대해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빵의 가격과 가족 수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에 따라 임금을 보조해 주는 제도로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오늘날의 최저생활보장제도의 기반이 되었으며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또한 보충급여제도의 효시가 되었다고 할 수 있음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highlight>
                <a:srgbClr val="FFFF00"/>
              </a:highlight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자녀가 많으면 더 많이 지급함으로써 아동수당적 성격도 지님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빵 가격의 변동을 반영하는 물가연동제가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실시됨</a:t>
            </a:r>
          </a:p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반면 고용주의 저임금화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노동자의 근로의욕 저하 등의 부작용으로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신빈민법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탄생의 배경이 됨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224110" y="1487644"/>
            <a:ext cx="85285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5)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스핀햄랜드법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Speenhamland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Act of 1795)</a:t>
            </a:r>
          </a:p>
        </p:txBody>
      </p:sp>
    </p:spTree>
    <p:extLst>
      <p:ext uri="{BB962C8B-B14F-4D97-AF65-F5344CB8AC3E}">
        <p14:creationId xmlns:p14="http://schemas.microsoft.com/office/powerpoint/2010/main" val="516113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4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역사</a:t>
            </a: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224111" y="420678"/>
            <a:ext cx="6521337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1. </a:t>
            </a: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영국의 </a:t>
            </a:r>
            <a:r>
              <a:rPr kumimoji="0" lang="ko-KR" altLang="en-US" sz="3200" b="0" i="0" u="none" strike="noStrike" kern="1200" cap="none" spc="-15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빈민법</a:t>
            </a: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 시대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(1600</a:t>
            </a:r>
            <a:r>
              <a:rPr kumimoji="0" lang="ko-KR" altLang="en-US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-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1800</a:t>
            </a:r>
            <a:r>
              <a:rPr kumimoji="0" lang="ko-KR" altLang="en-US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후반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)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  <a:cs typeface="+mj-cs"/>
            </a:endParaRPr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395536" y="2204864"/>
            <a:ext cx="8352928" cy="3299773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vert="horz" wrap="square" lIns="144000" tIns="144000" rIns="144000" bIns="180000" rtlCol="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빈민구제를 위한 여러 차례의 조치에도 불구하고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수급자는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급증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구빈비용의 증대는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나폴레옹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전쟁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흉작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산업화로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인한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농촌경제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붕괴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등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의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여러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요인이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겹쳐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발생한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것이었으나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비판은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빈민법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자체와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스핀햄랜드제도에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집중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특히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맬서스를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비롯한 고전 정치경제학자들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이에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1832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년에 왕립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빈민법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조사위원회가 만들어져 빈민법의 문제를 조사함</a:t>
            </a:r>
          </a:p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1834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년에 의회에 제출된 조사보고서를 토대로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신빈민법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또는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개정빈민법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 만들어짐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224110" y="1487644"/>
            <a:ext cx="85285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6)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신빈민법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(the New Poor Law of 1834)</a:t>
            </a:r>
          </a:p>
        </p:txBody>
      </p:sp>
    </p:spTree>
    <p:extLst>
      <p:ext uri="{BB962C8B-B14F-4D97-AF65-F5344CB8AC3E}">
        <p14:creationId xmlns:p14="http://schemas.microsoft.com/office/powerpoint/2010/main" val="4530313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4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역사</a:t>
            </a:r>
          </a:p>
        </p:txBody>
      </p:sp>
      <p:graphicFrame>
        <p:nvGraphicFramePr>
          <p:cNvPr id="9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9012193"/>
              </p:ext>
            </p:extLst>
          </p:nvPr>
        </p:nvGraphicFramePr>
        <p:xfrm>
          <a:off x="395536" y="1960293"/>
          <a:ext cx="8352928" cy="4267007"/>
        </p:xfrm>
        <a:graphic>
          <a:graphicData uri="http://schemas.openxmlformats.org/drawingml/2006/table">
            <a:tbl>
              <a:tblPr/>
              <a:tblGrid>
                <a:gridCol w="1726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26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32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spc="-50" baseline="0" dirty="0" err="1">
                          <a:solidFill>
                            <a:schemeClr val="tx1"/>
                          </a:solidFill>
                        </a:rPr>
                        <a:t>신빈민법의</a:t>
                      </a:r>
                      <a:r>
                        <a:rPr lang="ko-KR" altLang="en-US" sz="1600" b="1" spc="-50" baseline="0" dirty="0">
                          <a:solidFill>
                            <a:schemeClr val="tx1"/>
                          </a:solidFill>
                        </a:rPr>
                        <a:t> 주요 원칙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7030A0">
                            <a:tint val="66000"/>
                            <a:satMod val="160000"/>
                          </a:srgbClr>
                        </a:gs>
                        <a:gs pos="50000">
                          <a:srgbClr val="7030A0">
                            <a:tint val="44500"/>
                            <a:satMod val="160000"/>
                          </a:srgbClr>
                        </a:gs>
                        <a:gs pos="100000">
                          <a:srgbClr val="7030A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spc="-5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7030A0">
                            <a:tint val="66000"/>
                            <a:satMod val="160000"/>
                          </a:srgbClr>
                        </a:gs>
                        <a:gs pos="50000">
                          <a:srgbClr val="7030A0">
                            <a:tint val="44500"/>
                            <a:satMod val="160000"/>
                          </a:srgbClr>
                        </a:gs>
                        <a:gs pos="100000">
                          <a:srgbClr val="7030A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368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spc="-150" baseline="0" dirty="0"/>
                        <a:t>전국적</a:t>
                      </a:r>
                      <a:endParaRPr lang="en-US" altLang="ko-KR" sz="1600" spc="-150" baseline="0" dirty="0"/>
                    </a:p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spc="-150" baseline="0" dirty="0"/>
                        <a:t>균일처우의 원칙</a:t>
                      </a:r>
                      <a:endParaRPr lang="en-US" altLang="ko-KR" sz="1600" spc="-150" baseline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177800" marR="0" indent="-177800" algn="l" fontAlgn="base" latinLnBrk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spc="-150" baseline="0" dirty="0"/>
                        <a:t>행정기구를 기초단위인 교구에서 중앙행정기관인 </a:t>
                      </a:r>
                      <a:r>
                        <a:rPr lang="ko-KR" altLang="en-US" sz="1600" spc="-150" baseline="0" dirty="0" err="1"/>
                        <a:t>빈민법위원회로</a:t>
                      </a:r>
                      <a:r>
                        <a:rPr lang="ko-KR" altLang="en-US" sz="1600" spc="-150" baseline="0" dirty="0"/>
                        <a:t> 개편 하여  전국적으로 통일한다는 것</a:t>
                      </a:r>
                      <a:endParaRPr lang="en-US" altLang="ko-KR" sz="1600" spc="-150" baseline="0" dirty="0"/>
                    </a:p>
                    <a:p>
                      <a:pPr marL="177800" marR="0" lvl="0" indent="-177800" algn="l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행정수준을 통일하여 전국에 균일한 구제를 시행하는 원칙을 마련함으로써 구빈행정의 중앙집권화를 이루게 됨</a:t>
                      </a:r>
                      <a:endParaRPr lang="ko-KR" altLang="en-US" sz="1600" spc="-150" baseline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368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spc="-150" baseline="0" dirty="0"/>
                        <a:t>열등처우의 </a:t>
                      </a:r>
                    </a:p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spc="-150" baseline="0" dirty="0"/>
                        <a:t>원칙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indent="-177800" algn="l" fontAlgn="base" latinLnBrk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spc="-150" baseline="0" dirty="0">
                          <a:highlight>
                            <a:srgbClr val="FFFF00"/>
                          </a:highlight>
                        </a:rPr>
                        <a:t>국가의 도움을 받는 빈민들의 처우는 스스로 벌어서 생활하는 최하위  노동자의 생활보다 열등해야 된다는 것</a:t>
                      </a:r>
                      <a:endParaRPr lang="en-US" altLang="ko-KR" sz="1600" spc="-150" baseline="0" dirty="0">
                        <a:highlight>
                          <a:srgbClr val="FFFF00"/>
                        </a:highlight>
                      </a:endParaRPr>
                    </a:p>
                    <a:p>
                      <a:pPr marL="177800" marR="0" indent="-177800" algn="l" fontAlgn="base" latinLnBrk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spc="-150" baseline="0" dirty="0"/>
                        <a:t>노동자가 빈민이 되는 것을 방지하고 노동을 장려하기 위해서는 빈민구제의 수준은 </a:t>
                      </a:r>
                      <a:r>
                        <a:rPr lang="ko-KR" altLang="en-US" sz="1600" spc="-150" baseline="0" dirty="0">
                          <a:highlight>
                            <a:srgbClr val="FFFF00"/>
                          </a:highlight>
                        </a:rPr>
                        <a:t>노동자의 생활수준을 결코 상회해서는 안된다는 원칙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368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spc="-150" baseline="0" dirty="0"/>
                        <a:t>작업장 활용의 </a:t>
                      </a:r>
                    </a:p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spc="-150" baseline="0" dirty="0"/>
                        <a:t>원칙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EDF9"/>
                    </a:solidFill>
                  </a:tcPr>
                </a:tc>
                <a:tc>
                  <a:txBody>
                    <a:bodyPr/>
                    <a:lstStyle/>
                    <a:p>
                      <a:pPr marL="177800" marR="0" indent="-177800" algn="l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600" spc="-150" baseline="0" dirty="0"/>
                        <a:t>노동능력이 있는 빈민이 구제를 받고자 할 때는 작업장 수용에 한정하여 구제를 받도록 한다는 원칙</a:t>
                      </a:r>
                      <a:r>
                        <a:rPr lang="en-US" altLang="ko-KR" sz="1600" spc="-150" baseline="0" dirty="0"/>
                        <a:t>(</a:t>
                      </a:r>
                      <a:r>
                        <a:rPr lang="ko-KR" altLang="en-US" sz="1600" spc="-150" baseline="0" dirty="0"/>
                        <a:t>작업장은 열등처우의 원칙을 실현하기 위한 수단이 됨</a:t>
                      </a:r>
                      <a:r>
                        <a:rPr lang="en-US" altLang="ko-KR" sz="1600" spc="-150" baseline="0" dirty="0"/>
                        <a:t>)</a:t>
                      </a:r>
                    </a:p>
                    <a:p>
                      <a:pPr marL="177800" marR="0" lvl="0" indent="-177800" algn="l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600" spc="-150" baseline="0" dirty="0"/>
                        <a:t>임금보조와 아동수당</a:t>
                      </a:r>
                      <a:r>
                        <a:rPr lang="en-US" altLang="ko-KR" sz="1600" spc="-150" baseline="0" dirty="0"/>
                        <a:t>, </a:t>
                      </a:r>
                      <a:r>
                        <a:rPr lang="ko-KR" altLang="en-US" sz="1600" spc="-150" baseline="0" dirty="0"/>
                        <a:t>가족수당 폐지</a:t>
                      </a:r>
                      <a:r>
                        <a:rPr lang="en-US" altLang="ko-KR" sz="1600" spc="-150" baseline="0" dirty="0"/>
                        <a:t>, </a:t>
                      </a:r>
                      <a:r>
                        <a:rPr lang="ko-KR" altLang="en-US" sz="1600" spc="-150" baseline="0" dirty="0"/>
                        <a:t>노동능력자에 대한 원외구제를 금지</a:t>
                      </a:r>
                      <a:endParaRPr lang="en-US" altLang="ko-KR" sz="1600" spc="-150" baseline="0" dirty="0"/>
                    </a:p>
                    <a:p>
                      <a:pPr marL="177800" marR="0" lvl="0" indent="-177800" algn="l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600" spc="-150" baseline="0" dirty="0"/>
                        <a:t>다만 노약자</a:t>
                      </a:r>
                      <a:r>
                        <a:rPr lang="en-US" altLang="ko-KR" sz="1600" spc="-150" baseline="0" dirty="0"/>
                        <a:t>, </a:t>
                      </a:r>
                      <a:r>
                        <a:rPr lang="ko-KR" altLang="en-US" sz="1600" spc="-150" baseline="0" dirty="0" err="1"/>
                        <a:t>질병자</a:t>
                      </a:r>
                      <a:r>
                        <a:rPr lang="ko-KR" altLang="en-US" sz="1600" spc="-150" baseline="0" dirty="0"/>
                        <a:t> 등의 의료 부조와  도제교육에만 원외구제를 인정함</a:t>
                      </a:r>
                      <a:endParaRPr lang="en-US" altLang="ko-KR" sz="1600" spc="-150" baseline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ED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제목 1"/>
          <p:cNvSpPr txBox="1">
            <a:spLocks/>
          </p:cNvSpPr>
          <p:nvPr/>
        </p:nvSpPr>
        <p:spPr>
          <a:xfrm>
            <a:off x="224111" y="420678"/>
            <a:ext cx="6521337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1. </a:t>
            </a: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영국의 </a:t>
            </a:r>
            <a:r>
              <a:rPr kumimoji="0" lang="ko-KR" altLang="en-US" sz="3200" b="0" i="0" u="none" strike="noStrike" kern="1200" cap="none" spc="-15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빈민법</a:t>
            </a: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 시대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(1600</a:t>
            </a:r>
            <a:r>
              <a:rPr kumimoji="0" lang="ko-KR" altLang="en-US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-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1800</a:t>
            </a:r>
            <a:r>
              <a:rPr kumimoji="0" lang="ko-KR" altLang="en-US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후반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)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  <a:cs typeface="+mj-cs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24110" y="1487644"/>
            <a:ext cx="85285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6)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신빈민법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(the New Poor Law of 1834)</a:t>
            </a:r>
          </a:p>
        </p:txBody>
      </p:sp>
    </p:spTree>
    <p:extLst>
      <p:ext uri="{BB962C8B-B14F-4D97-AF65-F5344CB8AC3E}">
        <p14:creationId xmlns:p14="http://schemas.microsoft.com/office/powerpoint/2010/main" val="23778027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4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역사</a:t>
            </a: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224111" y="420678"/>
            <a:ext cx="6521337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1. </a:t>
            </a: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영국의 </a:t>
            </a:r>
            <a:r>
              <a:rPr kumimoji="0" lang="ko-KR" altLang="en-US" sz="3200" b="0" i="0" u="none" strike="noStrike" kern="1200" cap="none" spc="-15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빈민법</a:t>
            </a: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 시대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(1600</a:t>
            </a:r>
            <a:r>
              <a:rPr kumimoji="0" lang="ko-KR" altLang="en-US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-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1800</a:t>
            </a:r>
            <a:r>
              <a:rPr kumimoji="0" lang="ko-KR" altLang="en-US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후반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)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  <a:cs typeface="+mj-cs"/>
            </a:endParaRPr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395536" y="2204864"/>
            <a:ext cx="8352928" cy="2178440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vert="horz" wrap="square" lIns="144000" tIns="144000" rIns="144000" bIns="180000" rtlCol="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당시는 빈곤의 원인을 게으름이나 독립심의 결여 등 개인의 도덕적 결함에 있다고 봄으로써 빈민을 범죄자와 같이 취급해서 억압함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이처럼 신빈민법은 그 목적이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빈민구제적 성격보다 구빈비용 감소에 있었기 때문에 빈민에 대한 반인권적 요소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 다분히 포함됨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224110" y="1487644"/>
            <a:ext cx="85285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6)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신빈민법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(the New Poor Law of 1834)</a:t>
            </a:r>
          </a:p>
        </p:txBody>
      </p:sp>
    </p:spTree>
    <p:extLst>
      <p:ext uri="{BB962C8B-B14F-4D97-AF65-F5344CB8AC3E}">
        <p14:creationId xmlns:p14="http://schemas.microsoft.com/office/powerpoint/2010/main" val="11518822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4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역사</a:t>
            </a:r>
          </a:p>
        </p:txBody>
      </p:sp>
      <p:sp>
        <p:nvSpPr>
          <p:cNvPr id="11" name="제목 1"/>
          <p:cNvSpPr txBox="1">
            <a:spLocks/>
          </p:cNvSpPr>
          <p:nvPr/>
        </p:nvSpPr>
        <p:spPr>
          <a:xfrm>
            <a:off x="224111" y="420678"/>
            <a:ext cx="6521337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1. </a:t>
            </a: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영국의 </a:t>
            </a:r>
            <a:r>
              <a:rPr kumimoji="0" lang="ko-KR" altLang="en-US" sz="3200" b="0" i="0" u="none" strike="noStrike" kern="1200" cap="none" spc="-15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빈민법</a:t>
            </a: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 시대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(1600</a:t>
            </a:r>
            <a:r>
              <a:rPr kumimoji="0" lang="ko-KR" altLang="en-US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-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1800</a:t>
            </a:r>
            <a:r>
              <a:rPr kumimoji="0" lang="ko-KR" altLang="en-US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후반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)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  <a:cs typeface="+mj-cs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24110" y="1487644"/>
            <a:ext cx="85285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7)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자선조직협회와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인보관 운동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466932" y="2060849"/>
            <a:ext cx="8229600" cy="4392488"/>
          </a:xfrm>
          <a:noFill/>
          <a:ln w="19050">
            <a:solidFill>
              <a:srgbClr val="7030A0"/>
            </a:solidFill>
          </a:ln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/>
              <a:t>신빈민법이 제정된 이후에도 노동계층의 빈곤은 해소되지 않고    여전히 경제적 위기와 실업은 만연하였고</a:t>
            </a:r>
            <a:r>
              <a:rPr lang="en-US" altLang="ko-KR" sz="2000" dirty="0"/>
              <a:t>, </a:t>
            </a:r>
            <a:r>
              <a:rPr lang="ko-KR" altLang="en-US" sz="2000" dirty="0"/>
              <a:t>비인도적인 신빈민법에 대한 비판이 거세지게 됨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ko-KR" altLang="en-US" sz="2000" dirty="0"/>
              <a:t>이에 온정주의적 인도주의가 확산되면서 </a:t>
            </a:r>
            <a:r>
              <a:rPr lang="en-US" altLang="ko-KR" sz="2000" dirty="0"/>
              <a:t>1860</a:t>
            </a:r>
            <a:r>
              <a:rPr lang="ko-KR" altLang="en-US" sz="2000" dirty="0"/>
              <a:t>년대에는 신흥자본가 및 기업가의 기부와 제공으로 설립된 자선조직기관들의 구호활동이 우후죽순으로 나타남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ko-KR" altLang="en-US" sz="2000" dirty="0"/>
              <a:t>이러한 </a:t>
            </a:r>
            <a:r>
              <a:rPr lang="ko-KR" altLang="en-US" sz="2000" dirty="0">
                <a:solidFill>
                  <a:schemeClr val="accent6">
                    <a:lumMod val="75000"/>
                  </a:schemeClr>
                </a:solidFill>
              </a:rPr>
              <a:t>자선조직기관을 조직적으로 관리하기 위한 자선조직협회</a:t>
            </a:r>
            <a:r>
              <a:rPr lang="en-US" altLang="ko-KR" sz="2000" dirty="0">
                <a:solidFill>
                  <a:schemeClr val="accent6">
                    <a:lumMod val="75000"/>
                  </a:schemeClr>
                </a:solidFill>
              </a:rPr>
              <a:t>(COS: Charity Organization Society)</a:t>
            </a:r>
            <a:r>
              <a:rPr lang="ko-KR" altLang="en-US" sz="2000" dirty="0">
                <a:solidFill>
                  <a:schemeClr val="accent6">
                    <a:lumMod val="75000"/>
                  </a:schemeClr>
                </a:solidFill>
              </a:rPr>
              <a:t>가 </a:t>
            </a:r>
            <a:r>
              <a:rPr lang="en-US" altLang="ko-KR" sz="2000" dirty="0">
                <a:solidFill>
                  <a:schemeClr val="accent6">
                    <a:lumMod val="75000"/>
                  </a:schemeClr>
                </a:solidFill>
              </a:rPr>
              <a:t>1869</a:t>
            </a:r>
            <a:r>
              <a:rPr lang="ko-KR" altLang="en-US" sz="2000" dirty="0">
                <a:solidFill>
                  <a:schemeClr val="accent6">
                    <a:lumMod val="75000"/>
                  </a:schemeClr>
                </a:solidFill>
              </a:rPr>
              <a:t>년 영국 런던에서 최초로 창립됨</a:t>
            </a:r>
            <a:endParaRPr lang="en-US" altLang="ko-KR" sz="2000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ko-KR" altLang="en-US" sz="1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4331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4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역사</a:t>
            </a:r>
          </a:p>
        </p:txBody>
      </p:sp>
      <p:sp>
        <p:nvSpPr>
          <p:cNvPr id="11" name="제목 1"/>
          <p:cNvSpPr txBox="1">
            <a:spLocks/>
          </p:cNvSpPr>
          <p:nvPr/>
        </p:nvSpPr>
        <p:spPr>
          <a:xfrm>
            <a:off x="224111" y="420678"/>
            <a:ext cx="6521337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1. </a:t>
            </a: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영국의 </a:t>
            </a:r>
            <a:r>
              <a:rPr kumimoji="0" lang="ko-KR" altLang="en-US" sz="3200" b="0" i="0" u="none" strike="noStrike" kern="1200" cap="none" spc="-15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빈민법</a:t>
            </a: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 시대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(1600</a:t>
            </a:r>
            <a:r>
              <a:rPr kumimoji="0" lang="ko-KR" altLang="en-US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-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1800</a:t>
            </a:r>
            <a:r>
              <a:rPr kumimoji="0" lang="ko-KR" altLang="en-US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후반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)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  <a:cs typeface="+mj-cs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24110" y="1487644"/>
            <a:ext cx="85285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7)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자선조직협회와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인보관 운동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466932" y="2060849"/>
            <a:ext cx="8229600" cy="4392488"/>
          </a:xfrm>
          <a:noFill/>
          <a:ln w="19050">
            <a:solidFill>
              <a:srgbClr val="7030A0"/>
            </a:solidFill>
          </a:ln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/>
              <a:t>자선조직협회의 </a:t>
            </a:r>
            <a:r>
              <a:rPr lang="ko-KR" altLang="en-US" sz="2000" dirty="0">
                <a:solidFill>
                  <a:srgbClr val="00B050"/>
                </a:solidFill>
              </a:rPr>
              <a:t>목적은 </a:t>
            </a:r>
            <a:endParaRPr lang="en-US" altLang="ko-KR" sz="2000" dirty="0">
              <a:solidFill>
                <a:srgbClr val="00B05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solidFill>
                  <a:srgbClr val="00B050"/>
                </a:solidFill>
              </a:rPr>
              <a:t>    </a:t>
            </a:r>
            <a:r>
              <a:rPr lang="ko-KR" altLang="en-US" sz="2000" dirty="0">
                <a:solidFill>
                  <a:srgbClr val="00B050"/>
                </a:solidFill>
                <a:highlight>
                  <a:srgbClr val="FFFF00"/>
                </a:highlight>
              </a:rPr>
              <a:t>① 구제의 중복과 누락을 없애기 위해 여러 자선활동을 조정하고</a:t>
            </a:r>
            <a:r>
              <a:rPr lang="en-US" altLang="ko-KR" sz="2000" dirty="0">
                <a:solidFill>
                  <a:srgbClr val="00B050"/>
                </a:solidFill>
                <a:highlight>
                  <a:srgbClr val="FFFF00"/>
                </a:highlight>
              </a:rPr>
              <a:t>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solidFill>
                  <a:srgbClr val="00B050"/>
                </a:solidFill>
                <a:highlight>
                  <a:srgbClr val="FFFF00"/>
                </a:highlight>
              </a:rPr>
              <a:t>    </a:t>
            </a:r>
            <a:r>
              <a:rPr lang="ko-KR" altLang="en-US" sz="2000" dirty="0">
                <a:solidFill>
                  <a:srgbClr val="00B050"/>
                </a:solidFill>
                <a:highlight>
                  <a:srgbClr val="FFFF00"/>
                </a:highlight>
              </a:rPr>
              <a:t>② 빈민에 대한 환경조사와 적절한 원조 제공에 있었음</a:t>
            </a:r>
            <a:endParaRPr lang="en-US" altLang="ko-KR" sz="2000" dirty="0">
              <a:solidFill>
                <a:srgbClr val="00B050"/>
              </a:solidFill>
              <a:highlight>
                <a:srgbClr val="FFFF00"/>
              </a:highlight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/>
              <a:t>자선조직협회는 중산계층의 자원봉사자인 </a:t>
            </a:r>
            <a:r>
              <a:rPr lang="ko-KR" altLang="en-US" sz="2000" dirty="0" err="1">
                <a:solidFill>
                  <a:srgbClr val="FF0000"/>
                </a:solidFill>
              </a:rPr>
              <a:t>우애방문원</a:t>
            </a:r>
            <a:r>
              <a:rPr lang="en-US" altLang="ko-KR" sz="2000" dirty="0">
                <a:solidFill>
                  <a:srgbClr val="FF0000"/>
                </a:solidFill>
              </a:rPr>
              <a:t>(friendly visitors)</a:t>
            </a:r>
            <a:r>
              <a:rPr lang="ko-KR" altLang="en-US" sz="2000" dirty="0"/>
              <a:t>이 가난한 가정을 방문하여 빈민상태에서 벗어나도록 원조하는 형태로 이루어짐</a:t>
            </a:r>
            <a:r>
              <a:rPr lang="en-US" altLang="ko-KR" sz="2000" dirty="0"/>
              <a:t> </a:t>
            </a:r>
            <a:endParaRPr lang="ko-KR" altLang="en-US" sz="2000" dirty="0"/>
          </a:p>
          <a:p>
            <a:pPr>
              <a:lnSpc>
                <a:spcPct val="150000"/>
              </a:lnSpc>
            </a:pPr>
            <a:endParaRPr lang="ko-KR" altLang="en-US" sz="1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35107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4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역사</a:t>
            </a:r>
          </a:p>
        </p:txBody>
      </p:sp>
      <p:sp>
        <p:nvSpPr>
          <p:cNvPr id="11" name="제목 1"/>
          <p:cNvSpPr txBox="1">
            <a:spLocks/>
          </p:cNvSpPr>
          <p:nvPr/>
        </p:nvSpPr>
        <p:spPr>
          <a:xfrm>
            <a:off x="224111" y="420678"/>
            <a:ext cx="6521337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1. </a:t>
            </a: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영국의 </a:t>
            </a:r>
            <a:r>
              <a:rPr kumimoji="0" lang="ko-KR" altLang="en-US" sz="3200" b="0" i="0" u="none" strike="noStrike" kern="1200" cap="none" spc="-15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빈민법</a:t>
            </a: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 시대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(1600</a:t>
            </a:r>
            <a:r>
              <a:rPr kumimoji="0" lang="ko-KR" altLang="en-US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-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1800</a:t>
            </a:r>
            <a:r>
              <a:rPr kumimoji="0" lang="ko-KR" altLang="en-US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후반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)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  <a:cs typeface="+mj-cs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24110" y="1487644"/>
            <a:ext cx="85285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7)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자선조직협회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인보관 운동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359226" y="2060848"/>
            <a:ext cx="8425548" cy="4376474"/>
          </a:xfrm>
          <a:noFill/>
          <a:ln w="19050">
            <a:solidFill>
              <a:srgbClr val="7030A0"/>
            </a:solidFill>
          </a:ln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altLang="ko-KR" sz="1900" dirty="0" err="1"/>
              <a:t>자선조직협회와</a:t>
            </a:r>
            <a:r>
              <a:rPr lang="en-US" altLang="ko-KR" sz="1900" dirty="0"/>
              <a:t> </a:t>
            </a:r>
            <a:r>
              <a:rPr lang="en-US" altLang="ko-KR" sz="1900" dirty="0" err="1"/>
              <a:t>거의</a:t>
            </a:r>
            <a:r>
              <a:rPr lang="en-US" altLang="ko-KR" sz="1900" dirty="0"/>
              <a:t> </a:t>
            </a:r>
            <a:r>
              <a:rPr lang="en-US" altLang="ko-KR" sz="1900" dirty="0" err="1"/>
              <a:t>비슷한</a:t>
            </a:r>
            <a:r>
              <a:rPr lang="en-US" altLang="ko-KR" sz="1900" dirty="0"/>
              <a:t> </a:t>
            </a:r>
            <a:r>
              <a:rPr lang="en-US" altLang="ko-KR" sz="1900" dirty="0" err="1"/>
              <a:t>시기에</a:t>
            </a:r>
            <a:r>
              <a:rPr lang="en-US" altLang="ko-KR" sz="1900" dirty="0"/>
              <a:t> </a:t>
            </a:r>
            <a:r>
              <a:rPr lang="en-US" altLang="ko-KR" sz="1900" dirty="0" err="1"/>
              <a:t>일어난</a:t>
            </a:r>
            <a:r>
              <a:rPr lang="en-US" altLang="ko-KR" sz="1900" dirty="0"/>
              <a:t> </a:t>
            </a:r>
            <a:r>
              <a:rPr lang="en-US" altLang="ko-KR" sz="1900" dirty="0" err="1"/>
              <a:t>대표적인</a:t>
            </a:r>
            <a:r>
              <a:rPr lang="en-US" altLang="ko-KR" sz="1900" dirty="0"/>
              <a:t> </a:t>
            </a:r>
            <a:r>
              <a:rPr lang="en-US" altLang="ko-KR" sz="1900" dirty="0" err="1"/>
              <a:t>민간운동</a:t>
            </a:r>
            <a:endParaRPr lang="en-US" altLang="ko-KR" sz="1900" dirty="0"/>
          </a:p>
          <a:p>
            <a:pPr>
              <a:lnSpc>
                <a:spcPct val="150000"/>
              </a:lnSpc>
            </a:pPr>
            <a:r>
              <a:rPr lang="en-US" altLang="ko-KR" sz="1900" dirty="0"/>
              <a:t>1854년 </a:t>
            </a:r>
            <a:r>
              <a:rPr lang="en-US" altLang="ko-KR" sz="1900" dirty="0" err="1"/>
              <a:t>데니슨</a:t>
            </a:r>
            <a:r>
              <a:rPr lang="en-US" altLang="ko-KR" sz="1900" dirty="0"/>
              <a:t> </a:t>
            </a:r>
            <a:r>
              <a:rPr lang="en-US" altLang="ko-KR" sz="1900" dirty="0" err="1"/>
              <a:t>목사가</a:t>
            </a:r>
            <a:r>
              <a:rPr lang="en-US" altLang="ko-KR" sz="1900" dirty="0"/>
              <a:t> </a:t>
            </a:r>
            <a:r>
              <a:rPr lang="en-US" altLang="ko-KR" sz="1900" dirty="0" err="1"/>
              <a:t>주축이</a:t>
            </a:r>
            <a:r>
              <a:rPr lang="en-US" altLang="ko-KR" sz="1900" dirty="0"/>
              <a:t> </a:t>
            </a:r>
            <a:r>
              <a:rPr lang="en-US" altLang="ko-KR" sz="1900" dirty="0" err="1"/>
              <a:t>되어</a:t>
            </a:r>
            <a:r>
              <a:rPr lang="en-US" altLang="ko-KR" sz="1900" dirty="0"/>
              <a:t> </a:t>
            </a:r>
            <a:r>
              <a:rPr lang="en-US" altLang="ko-KR" sz="1900" dirty="0" err="1"/>
              <a:t>런던빈민의</a:t>
            </a:r>
            <a:r>
              <a:rPr lang="en-US" altLang="ko-KR" sz="1900" dirty="0"/>
              <a:t> </a:t>
            </a:r>
            <a:r>
              <a:rPr lang="en-US" altLang="ko-KR" sz="1900" dirty="0" err="1"/>
              <a:t>비참한</a:t>
            </a:r>
            <a:r>
              <a:rPr lang="en-US" altLang="ko-KR" sz="1900" dirty="0"/>
              <a:t> </a:t>
            </a:r>
            <a:r>
              <a:rPr lang="en-US" altLang="ko-KR" sz="1900" dirty="0" err="1"/>
              <a:t>생활을</a:t>
            </a:r>
            <a:r>
              <a:rPr lang="en-US" altLang="ko-KR" sz="1900" dirty="0"/>
              <a:t> </a:t>
            </a:r>
            <a:r>
              <a:rPr lang="en-US" altLang="ko-KR" sz="1900" dirty="0" err="1"/>
              <a:t>파헤치고</a:t>
            </a:r>
            <a:r>
              <a:rPr lang="en-US" altLang="ko-KR" sz="1900" dirty="0"/>
              <a:t> </a:t>
            </a:r>
            <a:r>
              <a:rPr lang="en-US" altLang="ko-KR" sz="1900" dirty="0" err="1"/>
              <a:t>해결하기</a:t>
            </a:r>
            <a:r>
              <a:rPr lang="en-US" altLang="ko-KR" sz="1900" dirty="0"/>
              <a:t> </a:t>
            </a:r>
            <a:r>
              <a:rPr lang="en-US" altLang="ko-KR" sz="1900" dirty="0" err="1"/>
              <a:t>위해</a:t>
            </a:r>
            <a:r>
              <a:rPr lang="en-US" altLang="ko-KR" sz="1900" dirty="0"/>
              <a:t> </a:t>
            </a:r>
            <a:r>
              <a:rPr lang="en-US" altLang="ko-KR" sz="1900" dirty="0" err="1"/>
              <a:t>시작된</a:t>
            </a:r>
            <a:r>
              <a:rPr lang="en-US" altLang="ko-KR" sz="1900" dirty="0"/>
              <a:t> </a:t>
            </a:r>
            <a:r>
              <a:rPr lang="en-US" altLang="ko-KR" sz="1900" dirty="0" err="1"/>
              <a:t>일종의</a:t>
            </a:r>
            <a:r>
              <a:rPr lang="en-US" altLang="ko-KR" sz="1900" dirty="0"/>
              <a:t> </a:t>
            </a:r>
            <a:r>
              <a:rPr lang="en-US" altLang="ko-KR" sz="1900" dirty="0" err="1"/>
              <a:t>사회운동</a:t>
            </a:r>
            <a:r>
              <a:rPr lang="ko-KR" altLang="en-US" sz="1900" dirty="0"/>
              <a:t>으로 </a:t>
            </a:r>
            <a:r>
              <a:rPr lang="en-US" altLang="ko-KR" sz="1900" dirty="0" err="1"/>
              <a:t>이후</a:t>
            </a:r>
            <a:r>
              <a:rPr lang="en-US" altLang="ko-KR" sz="1900" dirty="0"/>
              <a:t> </a:t>
            </a:r>
            <a:r>
              <a:rPr lang="en-US" altLang="ko-KR" sz="1900" spc="-150" dirty="0"/>
              <a:t>1880년대 </a:t>
            </a:r>
            <a:r>
              <a:rPr lang="en-US" altLang="ko-KR" sz="1900" spc="-150" dirty="0">
                <a:solidFill>
                  <a:srgbClr val="00B0F0"/>
                </a:solidFill>
              </a:rPr>
              <a:t>바</a:t>
            </a:r>
            <a:r>
              <a:rPr lang="ko-KR" altLang="en-US" sz="1900" spc="-150" dirty="0">
                <a:solidFill>
                  <a:srgbClr val="00B0F0"/>
                </a:solidFill>
              </a:rPr>
              <a:t>네트 </a:t>
            </a:r>
            <a:r>
              <a:rPr lang="en-US" altLang="ko-KR" sz="1900" spc="-150" dirty="0" err="1">
                <a:solidFill>
                  <a:srgbClr val="00B0F0"/>
                </a:solidFill>
              </a:rPr>
              <a:t>목사가</a:t>
            </a:r>
            <a:r>
              <a:rPr lang="en-US" altLang="ko-KR" sz="1900" spc="-150" dirty="0">
                <a:solidFill>
                  <a:srgbClr val="00B0F0"/>
                </a:solidFill>
              </a:rPr>
              <a:t> </a:t>
            </a:r>
            <a:r>
              <a:rPr lang="en-US" altLang="ko-KR" sz="1900" spc="-150" dirty="0" err="1">
                <a:solidFill>
                  <a:srgbClr val="00B0F0"/>
                </a:solidFill>
              </a:rPr>
              <a:t>계승발전</a:t>
            </a:r>
            <a:endParaRPr lang="en-US" altLang="ko-KR" sz="1900" spc="-15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900" dirty="0" err="1">
                <a:solidFill>
                  <a:srgbClr val="FF0000"/>
                </a:solidFill>
              </a:rPr>
              <a:t>인보관</a:t>
            </a:r>
            <a:r>
              <a:rPr lang="en-US" altLang="ko-KR" sz="1900" dirty="0">
                <a:solidFill>
                  <a:srgbClr val="FF0000"/>
                </a:solidFill>
              </a:rPr>
              <a:t> </a:t>
            </a:r>
            <a:r>
              <a:rPr lang="en-US" altLang="ko-KR" sz="1900" dirty="0" err="1">
                <a:solidFill>
                  <a:srgbClr val="FF0000"/>
                </a:solidFill>
              </a:rPr>
              <a:t>운동은</a:t>
            </a:r>
            <a:r>
              <a:rPr lang="en-US" altLang="ko-KR" sz="1900" dirty="0">
                <a:solidFill>
                  <a:srgbClr val="FF0000"/>
                </a:solidFill>
              </a:rPr>
              <a:t> </a:t>
            </a:r>
            <a:r>
              <a:rPr lang="en-US" altLang="ko-KR" sz="1900" dirty="0" err="1">
                <a:solidFill>
                  <a:srgbClr val="FF0000"/>
                </a:solidFill>
              </a:rPr>
              <a:t>주로</a:t>
            </a:r>
            <a:r>
              <a:rPr lang="en-US" altLang="ko-KR" sz="1900" dirty="0">
                <a:solidFill>
                  <a:srgbClr val="FF0000"/>
                </a:solidFill>
              </a:rPr>
              <a:t> </a:t>
            </a:r>
            <a:r>
              <a:rPr lang="en-US" altLang="ko-KR" sz="1900" dirty="0" err="1">
                <a:solidFill>
                  <a:srgbClr val="FF0000"/>
                </a:solidFill>
              </a:rPr>
              <a:t>대학생들과</a:t>
            </a:r>
            <a:r>
              <a:rPr lang="en-US" altLang="ko-KR" sz="1900" dirty="0">
                <a:solidFill>
                  <a:srgbClr val="FF0000"/>
                </a:solidFill>
              </a:rPr>
              <a:t> </a:t>
            </a:r>
            <a:r>
              <a:rPr lang="en-US" altLang="ko-KR" sz="1900" dirty="0" err="1">
                <a:solidFill>
                  <a:srgbClr val="FF0000"/>
                </a:solidFill>
              </a:rPr>
              <a:t>지식인층이</a:t>
            </a:r>
            <a:r>
              <a:rPr lang="en-US" altLang="ko-KR" sz="1900" dirty="0">
                <a:solidFill>
                  <a:srgbClr val="FF0000"/>
                </a:solidFill>
              </a:rPr>
              <a:t> </a:t>
            </a:r>
            <a:r>
              <a:rPr lang="en-US" altLang="ko-KR" sz="1900" dirty="0" err="1">
                <a:solidFill>
                  <a:srgbClr val="FF0000"/>
                </a:solidFill>
              </a:rPr>
              <a:t>빈민가에서</a:t>
            </a:r>
            <a:r>
              <a:rPr lang="en-US" altLang="ko-KR" sz="1900" dirty="0">
                <a:solidFill>
                  <a:srgbClr val="FF0000"/>
                </a:solidFill>
              </a:rPr>
              <a:t> </a:t>
            </a:r>
            <a:r>
              <a:rPr lang="en-US" altLang="ko-KR" sz="1900" dirty="0" err="1">
                <a:solidFill>
                  <a:srgbClr val="FF0000"/>
                </a:solidFill>
              </a:rPr>
              <a:t>빈민들과</a:t>
            </a:r>
            <a:r>
              <a:rPr lang="en-US" altLang="ko-KR" sz="1900" dirty="0">
                <a:solidFill>
                  <a:srgbClr val="FF0000"/>
                </a:solidFill>
              </a:rPr>
              <a:t> </a:t>
            </a:r>
            <a:r>
              <a:rPr lang="en-US" altLang="ko-KR" sz="1900" dirty="0" err="1">
                <a:solidFill>
                  <a:srgbClr val="FF0000"/>
                </a:solidFill>
              </a:rPr>
              <a:t>같이</a:t>
            </a:r>
            <a:r>
              <a:rPr lang="en-US" altLang="ko-KR" sz="1900" dirty="0">
                <a:solidFill>
                  <a:srgbClr val="FF0000"/>
                </a:solidFill>
              </a:rPr>
              <a:t> </a:t>
            </a:r>
            <a:r>
              <a:rPr lang="en-US" altLang="ko-KR" sz="1900" dirty="0" err="1">
                <a:solidFill>
                  <a:srgbClr val="FF0000"/>
                </a:solidFill>
              </a:rPr>
              <a:t>거주하면서</a:t>
            </a:r>
            <a:r>
              <a:rPr lang="en-US" altLang="ko-KR" sz="1900" dirty="0">
                <a:solidFill>
                  <a:srgbClr val="FF0000"/>
                </a:solidFill>
              </a:rPr>
              <a:t> 3R, 즉 Residence(</a:t>
            </a:r>
            <a:r>
              <a:rPr lang="en-US" altLang="ko-KR" sz="1900" dirty="0" err="1">
                <a:solidFill>
                  <a:srgbClr val="FF0000"/>
                </a:solidFill>
              </a:rPr>
              <a:t>거주</a:t>
            </a:r>
            <a:r>
              <a:rPr lang="en-US" altLang="ko-KR" sz="1900" dirty="0">
                <a:solidFill>
                  <a:srgbClr val="FF0000"/>
                </a:solidFill>
              </a:rPr>
              <a:t>), Research(</a:t>
            </a:r>
            <a:r>
              <a:rPr lang="en-US" altLang="ko-KR" sz="1900" dirty="0" err="1">
                <a:solidFill>
                  <a:srgbClr val="FF0000"/>
                </a:solidFill>
              </a:rPr>
              <a:t>연구조사</a:t>
            </a:r>
            <a:r>
              <a:rPr lang="en-US" altLang="ko-KR" sz="1900" dirty="0">
                <a:solidFill>
                  <a:srgbClr val="FF0000"/>
                </a:solidFill>
              </a:rPr>
              <a:t>), Reform(</a:t>
            </a:r>
            <a:r>
              <a:rPr lang="en-US" altLang="ko-KR" sz="1900" dirty="0" err="1">
                <a:solidFill>
                  <a:srgbClr val="FF0000"/>
                </a:solidFill>
              </a:rPr>
              <a:t>개혁</a:t>
            </a:r>
            <a:r>
              <a:rPr lang="en-US" altLang="ko-KR" sz="1900" dirty="0">
                <a:solidFill>
                  <a:srgbClr val="FF0000"/>
                </a:solidFill>
              </a:rPr>
              <a:t>)을 </a:t>
            </a:r>
            <a:r>
              <a:rPr lang="en-US" altLang="ko-KR" sz="1900" dirty="0" err="1">
                <a:solidFill>
                  <a:srgbClr val="FF0000"/>
                </a:solidFill>
              </a:rPr>
              <a:t>강조하며</a:t>
            </a:r>
            <a:r>
              <a:rPr lang="en-US" altLang="ko-KR" sz="1900" dirty="0">
                <a:solidFill>
                  <a:srgbClr val="FF0000"/>
                </a:solidFill>
              </a:rPr>
              <a:t>    </a:t>
            </a:r>
            <a:r>
              <a:rPr lang="en-US" altLang="ko-KR" sz="1900" dirty="0" err="1">
                <a:solidFill>
                  <a:srgbClr val="FF0000"/>
                </a:solidFill>
              </a:rPr>
              <a:t>주택개선</a:t>
            </a:r>
            <a:r>
              <a:rPr lang="en-US" altLang="ko-KR" sz="1900" dirty="0">
                <a:solidFill>
                  <a:srgbClr val="FF0000"/>
                </a:solidFill>
              </a:rPr>
              <a:t>, </a:t>
            </a:r>
            <a:r>
              <a:rPr lang="en-US" altLang="ko-KR" sz="1900" dirty="0" err="1">
                <a:solidFill>
                  <a:srgbClr val="FF0000"/>
                </a:solidFill>
              </a:rPr>
              <a:t>공중보건</a:t>
            </a:r>
            <a:r>
              <a:rPr lang="en-US" altLang="ko-KR" sz="1900" dirty="0">
                <a:solidFill>
                  <a:srgbClr val="FF0000"/>
                </a:solidFill>
              </a:rPr>
              <a:t> </a:t>
            </a:r>
            <a:r>
              <a:rPr lang="en-US" altLang="ko-KR" sz="1900" dirty="0" err="1">
                <a:solidFill>
                  <a:srgbClr val="FF0000"/>
                </a:solidFill>
              </a:rPr>
              <a:t>향상</a:t>
            </a:r>
            <a:r>
              <a:rPr lang="en-US" altLang="ko-KR" sz="1900" dirty="0">
                <a:solidFill>
                  <a:srgbClr val="FF0000"/>
                </a:solidFill>
              </a:rPr>
              <a:t>, </a:t>
            </a:r>
            <a:r>
              <a:rPr lang="en-US" altLang="ko-KR" sz="1900" dirty="0" err="1">
                <a:solidFill>
                  <a:srgbClr val="FF0000"/>
                </a:solidFill>
              </a:rPr>
              <a:t>고용주들의</a:t>
            </a:r>
            <a:r>
              <a:rPr lang="en-US" altLang="ko-KR" sz="1900" dirty="0">
                <a:solidFill>
                  <a:srgbClr val="FF0000"/>
                </a:solidFill>
              </a:rPr>
              <a:t> </a:t>
            </a:r>
            <a:r>
              <a:rPr lang="en-US" altLang="ko-KR" sz="1900" dirty="0" err="1">
                <a:solidFill>
                  <a:srgbClr val="FF0000"/>
                </a:solidFill>
              </a:rPr>
              <a:t>빈민노동</a:t>
            </a:r>
            <a:r>
              <a:rPr lang="en-US" altLang="ko-KR" sz="1900" dirty="0">
                <a:solidFill>
                  <a:srgbClr val="FF0000"/>
                </a:solidFill>
              </a:rPr>
              <a:t> </a:t>
            </a:r>
            <a:r>
              <a:rPr lang="en-US" altLang="ko-KR" sz="1900" dirty="0" err="1">
                <a:solidFill>
                  <a:srgbClr val="FF0000"/>
                </a:solidFill>
              </a:rPr>
              <a:t>착취를</a:t>
            </a:r>
            <a:r>
              <a:rPr lang="en-US" altLang="ko-KR" sz="1900" dirty="0">
                <a:solidFill>
                  <a:srgbClr val="FF0000"/>
                </a:solidFill>
              </a:rPr>
              <a:t> </a:t>
            </a:r>
            <a:r>
              <a:rPr lang="en-US" altLang="ko-KR" sz="1900" dirty="0" err="1">
                <a:solidFill>
                  <a:srgbClr val="FF0000"/>
                </a:solidFill>
              </a:rPr>
              <a:t>방지하기</a:t>
            </a:r>
            <a:r>
              <a:rPr lang="en-US" altLang="ko-KR" sz="1900" dirty="0">
                <a:solidFill>
                  <a:srgbClr val="FF0000"/>
                </a:solidFill>
              </a:rPr>
              <a:t> </a:t>
            </a:r>
            <a:r>
              <a:rPr lang="en-US" altLang="ko-KR" sz="1900" dirty="0" err="1">
                <a:solidFill>
                  <a:srgbClr val="FF0000"/>
                </a:solidFill>
              </a:rPr>
              <a:t>위한</a:t>
            </a:r>
            <a:r>
              <a:rPr lang="en-US" altLang="ko-KR" sz="1900" dirty="0">
                <a:solidFill>
                  <a:srgbClr val="FF0000"/>
                </a:solidFill>
              </a:rPr>
              <a:t> </a:t>
            </a:r>
            <a:r>
              <a:rPr lang="en-US" altLang="ko-KR" sz="1900" dirty="0" err="1">
                <a:solidFill>
                  <a:srgbClr val="FF0000"/>
                </a:solidFill>
              </a:rPr>
              <a:t>활동</a:t>
            </a:r>
            <a:r>
              <a:rPr lang="en-US" altLang="ko-KR" sz="1900" dirty="0">
                <a:solidFill>
                  <a:srgbClr val="FF0000"/>
                </a:solidFill>
              </a:rPr>
              <a:t> 등 </a:t>
            </a:r>
            <a:r>
              <a:rPr lang="en-US" altLang="ko-KR" sz="1900" dirty="0" err="1">
                <a:solidFill>
                  <a:srgbClr val="FF0000"/>
                </a:solidFill>
              </a:rPr>
              <a:t>사회문제</a:t>
            </a:r>
            <a:r>
              <a:rPr lang="en-US" altLang="ko-KR" sz="1900" dirty="0">
                <a:solidFill>
                  <a:srgbClr val="FF0000"/>
                </a:solidFill>
              </a:rPr>
              <a:t> </a:t>
            </a:r>
            <a:r>
              <a:rPr lang="en-US" altLang="ko-KR" sz="1900" dirty="0" err="1">
                <a:solidFill>
                  <a:srgbClr val="FF0000"/>
                </a:solidFill>
              </a:rPr>
              <a:t>해결에</a:t>
            </a:r>
            <a:r>
              <a:rPr lang="en-US" altLang="ko-KR" sz="1900" dirty="0">
                <a:solidFill>
                  <a:srgbClr val="FF0000"/>
                </a:solidFill>
              </a:rPr>
              <a:t> 힘</a:t>
            </a:r>
            <a:r>
              <a:rPr lang="ko-KR" altLang="en-US" sz="1900" dirty="0">
                <a:solidFill>
                  <a:srgbClr val="FF0000"/>
                </a:solidFill>
              </a:rPr>
              <a:t>씀</a:t>
            </a:r>
            <a:endParaRPr lang="en-US" altLang="ko-KR" sz="19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900" dirty="0" err="1"/>
              <a:t>또한</a:t>
            </a:r>
            <a:r>
              <a:rPr lang="en-US" altLang="ko-KR" sz="1900" dirty="0"/>
              <a:t> </a:t>
            </a:r>
            <a:r>
              <a:rPr lang="en-US" altLang="ko-KR" sz="1900" dirty="0" err="1"/>
              <a:t>문화와</a:t>
            </a:r>
            <a:r>
              <a:rPr lang="en-US" altLang="ko-KR" sz="1900" dirty="0"/>
              <a:t> </a:t>
            </a:r>
            <a:r>
              <a:rPr lang="en-US" altLang="ko-KR" sz="1900" dirty="0" err="1"/>
              <a:t>교양을</a:t>
            </a:r>
            <a:r>
              <a:rPr lang="en-US" altLang="ko-KR" sz="1900" dirty="0"/>
              <a:t> </a:t>
            </a:r>
            <a:r>
              <a:rPr lang="en-US" altLang="ko-KR" sz="1900" dirty="0" err="1"/>
              <a:t>깨우쳐</a:t>
            </a:r>
            <a:r>
              <a:rPr lang="en-US" altLang="ko-KR" sz="1900" dirty="0"/>
              <a:t> </a:t>
            </a:r>
            <a:r>
              <a:rPr lang="en-US" altLang="ko-KR" sz="1900" dirty="0" err="1"/>
              <a:t>줌으로써</a:t>
            </a:r>
            <a:r>
              <a:rPr lang="en-US" altLang="ko-KR" sz="1900" dirty="0"/>
              <a:t> </a:t>
            </a:r>
            <a:r>
              <a:rPr lang="en-US" altLang="ko-KR" sz="1900" dirty="0" err="1"/>
              <a:t>빈민의</a:t>
            </a:r>
            <a:r>
              <a:rPr lang="en-US" altLang="ko-KR" sz="1900" dirty="0"/>
              <a:t> </a:t>
            </a:r>
            <a:r>
              <a:rPr lang="en-US" altLang="ko-KR" sz="1900" dirty="0" err="1"/>
              <a:t>인간적</a:t>
            </a:r>
            <a:r>
              <a:rPr lang="en-US" altLang="ko-KR" sz="1900" dirty="0"/>
              <a:t> </a:t>
            </a:r>
            <a:r>
              <a:rPr lang="en-US" altLang="ko-KR" sz="1900" dirty="0" err="1"/>
              <a:t>성장을</a:t>
            </a:r>
            <a:r>
              <a:rPr lang="en-US" altLang="ko-KR" sz="1900" dirty="0"/>
              <a:t> </a:t>
            </a:r>
            <a:r>
              <a:rPr lang="en-US" altLang="ko-KR" sz="1900" dirty="0" err="1"/>
              <a:t>돕기</a:t>
            </a:r>
            <a:r>
              <a:rPr lang="en-US" altLang="ko-KR" sz="1900" dirty="0"/>
              <a:t> </a:t>
            </a:r>
            <a:r>
              <a:rPr lang="en-US" altLang="ko-KR" sz="1900" dirty="0" err="1"/>
              <a:t>위해</a:t>
            </a:r>
            <a:r>
              <a:rPr lang="en-US" altLang="ko-KR" sz="1900" dirty="0"/>
              <a:t> </a:t>
            </a:r>
            <a:r>
              <a:rPr lang="en-US" altLang="ko-KR" sz="1900" dirty="0" err="1"/>
              <a:t>노력</a:t>
            </a:r>
            <a:r>
              <a:rPr lang="ko-KR" altLang="en-US" sz="1900" dirty="0"/>
              <a:t>함</a:t>
            </a:r>
            <a:endParaRPr lang="en-US" altLang="ko-KR" sz="1900" dirty="0"/>
          </a:p>
          <a:p>
            <a:pPr>
              <a:lnSpc>
                <a:spcPct val="150000"/>
              </a:lnSpc>
            </a:pPr>
            <a:r>
              <a:rPr lang="en-US" altLang="ko-KR" sz="1900" dirty="0">
                <a:solidFill>
                  <a:srgbClr val="00B050"/>
                </a:solidFill>
              </a:rPr>
              <a:t>1884년에는 </a:t>
            </a:r>
            <a:r>
              <a:rPr lang="en-US" altLang="ko-KR" sz="1900" dirty="0" err="1">
                <a:solidFill>
                  <a:srgbClr val="00B050"/>
                </a:solidFill>
              </a:rPr>
              <a:t>토인비홀이</a:t>
            </a:r>
            <a:r>
              <a:rPr lang="en-US" altLang="ko-KR" sz="1900" dirty="0">
                <a:solidFill>
                  <a:srgbClr val="00B050"/>
                </a:solidFill>
              </a:rPr>
              <a:t> </a:t>
            </a:r>
            <a:r>
              <a:rPr lang="en-US" altLang="ko-KR" sz="1900" dirty="0" err="1">
                <a:solidFill>
                  <a:srgbClr val="00B050"/>
                </a:solidFill>
              </a:rPr>
              <a:t>설립되었는데</a:t>
            </a:r>
            <a:r>
              <a:rPr lang="en-US" altLang="ko-KR" sz="1900" dirty="0">
                <a:solidFill>
                  <a:srgbClr val="00B050"/>
                </a:solidFill>
              </a:rPr>
              <a:t> </a:t>
            </a:r>
            <a:r>
              <a:rPr lang="en-US" altLang="ko-KR" sz="1900" dirty="0" err="1">
                <a:solidFill>
                  <a:srgbClr val="00B050"/>
                </a:solidFill>
              </a:rPr>
              <a:t>이것은</a:t>
            </a:r>
            <a:r>
              <a:rPr lang="en-US" altLang="ko-KR" sz="1900" dirty="0">
                <a:solidFill>
                  <a:srgbClr val="00B050"/>
                </a:solidFill>
              </a:rPr>
              <a:t> </a:t>
            </a:r>
            <a:r>
              <a:rPr lang="en-US" altLang="ko-KR" sz="1900" dirty="0" err="1">
                <a:solidFill>
                  <a:srgbClr val="00B050"/>
                </a:solidFill>
              </a:rPr>
              <a:t>세계</a:t>
            </a:r>
            <a:r>
              <a:rPr lang="en-US" altLang="ko-KR" sz="1900" dirty="0">
                <a:solidFill>
                  <a:srgbClr val="00B050"/>
                </a:solidFill>
              </a:rPr>
              <a:t> </a:t>
            </a:r>
            <a:r>
              <a:rPr lang="en-US" altLang="ko-KR" sz="1900" dirty="0" err="1">
                <a:solidFill>
                  <a:srgbClr val="00B050"/>
                </a:solidFill>
              </a:rPr>
              <a:t>최초의</a:t>
            </a:r>
            <a:r>
              <a:rPr lang="en-US" altLang="ko-KR" sz="1900" dirty="0">
                <a:solidFill>
                  <a:srgbClr val="00B050"/>
                </a:solidFill>
              </a:rPr>
              <a:t> </a:t>
            </a:r>
            <a:r>
              <a:rPr lang="en-US" altLang="ko-KR" sz="1900" dirty="0" err="1">
                <a:solidFill>
                  <a:srgbClr val="00B050"/>
                </a:solidFill>
              </a:rPr>
              <a:t>지역사회복지관</a:t>
            </a:r>
            <a:endParaRPr lang="ko-KR" altLang="en-US" sz="1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37586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4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역사</a:t>
            </a:r>
          </a:p>
        </p:txBody>
      </p:sp>
      <p:sp>
        <p:nvSpPr>
          <p:cNvPr id="11" name="제목 1"/>
          <p:cNvSpPr txBox="1">
            <a:spLocks/>
          </p:cNvSpPr>
          <p:nvPr/>
        </p:nvSpPr>
        <p:spPr>
          <a:xfrm>
            <a:off x="224111" y="420678"/>
            <a:ext cx="6521337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1. </a:t>
            </a: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영국의 </a:t>
            </a:r>
            <a:r>
              <a:rPr kumimoji="0" lang="ko-KR" altLang="en-US" sz="3200" b="0" i="0" u="none" strike="noStrike" kern="1200" cap="none" spc="-15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빈민법</a:t>
            </a: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 시대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(1600</a:t>
            </a:r>
            <a:r>
              <a:rPr kumimoji="0" lang="ko-KR" altLang="en-US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-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1800</a:t>
            </a:r>
            <a:r>
              <a:rPr kumimoji="0" lang="ko-KR" altLang="en-US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후반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)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  <a:cs typeface="+mj-cs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24110" y="1487644"/>
            <a:ext cx="85285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8)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빈곤조사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399115" y="2044834"/>
            <a:ext cx="8353540" cy="4392488"/>
          </a:xfrm>
          <a:noFill/>
          <a:ln w="19050">
            <a:solidFill>
              <a:srgbClr val="7030A0"/>
            </a:solidFill>
          </a:ln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ko-KR" sz="1900" dirty="0"/>
              <a:t>1880</a:t>
            </a:r>
            <a:r>
              <a:rPr lang="ko-KR" altLang="en-US" sz="1900" dirty="0"/>
              <a:t>년대 이후 빈곤에 대한 실증적이고 과학적인 연구들이 이루어짐</a:t>
            </a:r>
            <a:endParaRPr lang="en-US" altLang="ko-KR" sz="1900" dirty="0"/>
          </a:p>
          <a:p>
            <a:pPr>
              <a:lnSpc>
                <a:spcPct val="150000"/>
              </a:lnSpc>
            </a:pPr>
            <a:r>
              <a:rPr lang="ko-KR" altLang="en-US" sz="1900" dirty="0"/>
              <a:t>부스</a:t>
            </a:r>
            <a:r>
              <a:rPr lang="en-US" altLang="ko-KR" sz="1900" dirty="0"/>
              <a:t>(Charles Booth)</a:t>
            </a:r>
            <a:r>
              <a:rPr lang="ko-KR" altLang="en-US" sz="1900" dirty="0"/>
              <a:t>와 </a:t>
            </a:r>
            <a:r>
              <a:rPr lang="ko-KR" altLang="en-US" sz="1900" dirty="0" err="1"/>
              <a:t>라운트리</a:t>
            </a:r>
            <a:r>
              <a:rPr lang="en-US" altLang="ko-KR" sz="1900" dirty="0"/>
              <a:t>(Seebohm Rowntree)</a:t>
            </a:r>
            <a:r>
              <a:rPr lang="ko-KR" altLang="en-US" sz="1900" dirty="0"/>
              <a:t>에 의한 런던과 </a:t>
            </a:r>
            <a:r>
              <a:rPr lang="ko-KR" altLang="en-US" sz="1900" dirty="0" err="1"/>
              <a:t>요크시의</a:t>
            </a:r>
            <a:r>
              <a:rPr lang="ko-KR" altLang="en-US" sz="1900" dirty="0"/>
              <a:t> 빈민의 생활실태 조사임</a:t>
            </a:r>
            <a:endParaRPr lang="en-US" altLang="ko-KR" sz="1900" dirty="0"/>
          </a:p>
          <a:p>
            <a:pPr>
              <a:lnSpc>
                <a:spcPct val="150000"/>
              </a:lnSpc>
            </a:pPr>
            <a:r>
              <a:rPr lang="en-US" altLang="ko-KR" sz="1900" dirty="0"/>
              <a:t>1889</a:t>
            </a:r>
            <a:r>
              <a:rPr lang="ko-KR" altLang="en-US" sz="1900" dirty="0"/>
              <a:t>년 부스는 런던시민의 약 </a:t>
            </a:r>
            <a:r>
              <a:rPr lang="en-US" altLang="ko-KR" sz="1900" dirty="0"/>
              <a:t>3</a:t>
            </a:r>
            <a:r>
              <a:rPr lang="ko-KR" altLang="en-US" sz="1900" dirty="0"/>
              <a:t>분의 </a:t>
            </a:r>
            <a:r>
              <a:rPr lang="en-US" altLang="ko-KR" sz="1900" dirty="0"/>
              <a:t>1</a:t>
            </a:r>
            <a:r>
              <a:rPr lang="ko-KR" altLang="en-US" sz="1900" dirty="0"/>
              <a:t>이 빈곤상태에 있으며 빈곤의 원인이 실업과 노령에 있다고 발표함</a:t>
            </a:r>
            <a:endParaRPr lang="en-US" altLang="ko-KR" sz="1900" dirty="0"/>
          </a:p>
          <a:p>
            <a:pPr>
              <a:lnSpc>
                <a:spcPct val="150000"/>
              </a:lnSpc>
            </a:pPr>
            <a:r>
              <a:rPr lang="en-US" altLang="ko-KR" sz="1900" dirty="0"/>
              <a:t>1901</a:t>
            </a:r>
            <a:r>
              <a:rPr lang="ko-KR" altLang="en-US" sz="1900" dirty="0"/>
              <a:t>년 </a:t>
            </a:r>
            <a:r>
              <a:rPr lang="ko-KR" altLang="en-US" sz="1900" dirty="0" err="1"/>
              <a:t>라운트리는</a:t>
            </a:r>
            <a:r>
              <a:rPr lang="ko-KR" altLang="en-US" sz="1900" dirty="0"/>
              <a:t> </a:t>
            </a:r>
            <a:r>
              <a:rPr lang="ko-KR" altLang="en-US" sz="1900" dirty="0" err="1"/>
              <a:t>요크시</a:t>
            </a:r>
            <a:r>
              <a:rPr lang="ko-KR" altLang="en-US" sz="1900" dirty="0"/>
              <a:t> 주민 중 </a:t>
            </a:r>
            <a:r>
              <a:rPr lang="en-US" altLang="ko-KR" sz="1900" dirty="0"/>
              <a:t>28%</a:t>
            </a:r>
            <a:r>
              <a:rPr lang="ko-KR" altLang="en-US" sz="1900" dirty="0"/>
              <a:t>가 빈곤 상태에 있고</a:t>
            </a:r>
            <a:r>
              <a:rPr lang="en-US" altLang="ko-KR" sz="1900" dirty="0"/>
              <a:t>, </a:t>
            </a:r>
            <a:r>
              <a:rPr lang="ko-KR" altLang="en-US" sz="1900" dirty="0"/>
              <a:t>이 중 </a:t>
            </a:r>
            <a:r>
              <a:rPr lang="en-US" altLang="ko-KR" sz="1900" dirty="0"/>
              <a:t>10%</a:t>
            </a:r>
            <a:r>
              <a:rPr lang="ko-KR" altLang="en-US" sz="1900" dirty="0"/>
              <a:t>는   </a:t>
            </a:r>
            <a:r>
              <a:rPr lang="en-US" altLang="ko-KR" sz="1900" dirty="0"/>
              <a:t>1</a:t>
            </a:r>
            <a:r>
              <a:rPr lang="ko-KR" altLang="en-US" sz="1900" dirty="0"/>
              <a:t>차적 빈곤</a:t>
            </a:r>
            <a:r>
              <a:rPr lang="en-US" altLang="ko-KR" sz="1900" dirty="0"/>
              <a:t>, </a:t>
            </a:r>
            <a:r>
              <a:rPr lang="ko-KR" altLang="en-US" sz="1900" dirty="0"/>
              <a:t>즉 신체적 효율성을 유지하기가 불가능할 정도의 저임금 상태에 있으며</a:t>
            </a:r>
            <a:r>
              <a:rPr lang="en-US" altLang="ko-KR" sz="1900" dirty="0"/>
              <a:t>, 18%</a:t>
            </a:r>
            <a:r>
              <a:rPr lang="ko-KR" altLang="en-US" sz="1900" dirty="0"/>
              <a:t>는 </a:t>
            </a:r>
            <a:r>
              <a:rPr lang="en-US" altLang="ko-KR" sz="1900" dirty="0"/>
              <a:t>2</a:t>
            </a:r>
            <a:r>
              <a:rPr lang="ko-KR" altLang="en-US" sz="1900" dirty="0"/>
              <a:t>차적 빈곤</a:t>
            </a:r>
            <a:r>
              <a:rPr lang="en-US" altLang="ko-KR" sz="1900" dirty="0"/>
              <a:t>, </a:t>
            </a:r>
            <a:r>
              <a:rPr lang="ko-KR" altLang="en-US" sz="1900" dirty="0"/>
              <a:t>즉 소비를 합리적으로 하면 최소한의 생활만큼은 영위할 수 있는 빈민이라고 발표함</a:t>
            </a:r>
            <a:endParaRPr lang="en-US" altLang="ko-KR" sz="1900" dirty="0"/>
          </a:p>
          <a:p>
            <a:pPr>
              <a:lnSpc>
                <a:spcPct val="150000"/>
              </a:lnSpc>
            </a:pPr>
            <a:r>
              <a:rPr lang="ko-KR" altLang="en-US" sz="1900" dirty="0"/>
              <a:t>이들은 조사를 통해 빈곤 원인이 </a:t>
            </a:r>
            <a:r>
              <a:rPr lang="ko-KR" altLang="en-US" sz="1900" dirty="0">
                <a:highlight>
                  <a:srgbClr val="FFFF00"/>
                </a:highlight>
              </a:rPr>
              <a:t>개인의 도덕적 결함이 아니라 사회와 경제의 구조적 결함이라고 밝힘</a:t>
            </a:r>
            <a:endParaRPr lang="en-US" altLang="ko-KR" sz="1900" dirty="0">
              <a:highlight>
                <a:srgbClr val="FFFF00"/>
              </a:highlight>
            </a:endParaRPr>
          </a:p>
          <a:p>
            <a:pPr>
              <a:lnSpc>
                <a:spcPct val="150000"/>
              </a:lnSpc>
            </a:pPr>
            <a:endParaRPr lang="ko-KR" altLang="en-US" sz="1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25544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4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역사</a:t>
            </a:r>
          </a:p>
        </p:txBody>
      </p:sp>
      <p:sp>
        <p:nvSpPr>
          <p:cNvPr id="11" name="제목 1"/>
          <p:cNvSpPr txBox="1">
            <a:spLocks/>
          </p:cNvSpPr>
          <p:nvPr/>
        </p:nvSpPr>
        <p:spPr>
          <a:xfrm>
            <a:off x="224111" y="420678"/>
            <a:ext cx="6521337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1. </a:t>
            </a: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영국의 </a:t>
            </a:r>
            <a:r>
              <a:rPr kumimoji="0" lang="ko-KR" altLang="en-US" sz="3200" b="0" i="0" u="none" strike="noStrike" kern="1200" cap="none" spc="-15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빈민법</a:t>
            </a: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 시대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(1600</a:t>
            </a:r>
            <a:r>
              <a:rPr kumimoji="0" lang="ko-KR" altLang="en-US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-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 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1800</a:t>
            </a:r>
            <a:r>
              <a:rPr kumimoji="0" lang="ko-KR" altLang="en-US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후반</a:t>
            </a:r>
            <a:r>
              <a:rPr kumimoji="0" lang="en-US" altLang="ko-KR" sz="20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)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  <a:cs typeface="+mj-cs"/>
            </a:endParaRP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466932" y="2060849"/>
            <a:ext cx="8229600" cy="4392488"/>
          </a:xfrm>
          <a:noFill/>
          <a:ln w="19050">
            <a:solidFill>
              <a:srgbClr val="7030A0"/>
            </a:solidFill>
          </a:ln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/>
              <a:t>빈곤실태에 대한 체계적인 연구들이 발표되자 영국사회는 더 이상 </a:t>
            </a:r>
            <a:r>
              <a:rPr lang="ko-KR" altLang="en-US" sz="2000" dirty="0">
                <a:highlight>
                  <a:srgbClr val="FFFF00"/>
                </a:highlight>
              </a:rPr>
              <a:t>빈곤을 개인책임만이 아닌 사회문제</a:t>
            </a:r>
            <a:r>
              <a:rPr lang="ko-KR" altLang="en-US" sz="2000" dirty="0"/>
              <a:t>로 인식하기에 이르렀고</a:t>
            </a:r>
            <a:r>
              <a:rPr lang="en-US" altLang="ko-KR" sz="2000" dirty="0"/>
              <a:t>, </a:t>
            </a:r>
            <a:r>
              <a:rPr lang="ko-KR" altLang="en-US" sz="2000" dirty="0"/>
              <a:t>전통적인 </a:t>
            </a:r>
            <a:r>
              <a:rPr lang="ko-KR" altLang="en-US" sz="2000" dirty="0" err="1"/>
              <a:t>빈민법에</a:t>
            </a:r>
            <a:r>
              <a:rPr lang="ko-KR" altLang="en-US" sz="2000" dirty="0"/>
              <a:t> 대한 새로운 변화로의 요구가 증대되기 시작함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ko-KR" altLang="en-US" sz="2000" dirty="0"/>
              <a:t>더구나 봉건적이고 중상주의적 정책인 빈민법은 봉건제의 붕괴와 자본주의의 진전으로 노동계급의 권리가 성장함에 따라 더 이상   시대에 맞지 않게 되었음</a:t>
            </a:r>
            <a:r>
              <a:rPr lang="en-US" altLang="ko-KR" sz="2000" dirty="0"/>
              <a:t> </a:t>
            </a:r>
            <a:endParaRPr lang="en-US" altLang="ko-KR" sz="1800" dirty="0">
              <a:solidFill>
                <a:srgbClr val="FF0000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ACDEC7C-0EE4-43FF-8800-0A31633A3A08}"/>
              </a:ext>
            </a:extLst>
          </p:cNvPr>
          <p:cNvSpPr/>
          <p:nvPr/>
        </p:nvSpPr>
        <p:spPr>
          <a:xfrm>
            <a:off x="224110" y="1487644"/>
            <a:ext cx="85285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8)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빈곤조사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32992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4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역사</a:t>
            </a: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224111" y="420678"/>
            <a:ext cx="5900974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2.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사회보험 시대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(1880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- 1920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)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  <a:cs typeface="+mj-cs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395536" y="1772816"/>
            <a:ext cx="8352928" cy="4422644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vert="horz" wrap="square" lIns="144000" tIns="144000" rIns="144000" bIns="180000" rtlCol="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자본주의의 등장은 농촌의 노동력을 대거 흡수하여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농촌부랑자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문제를 해결했지만 그 대신 봉건시대에는 존재하지 않았던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노동자 계급과 새로운 사회적 문제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산업재해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노령으로 인한 정년퇴직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실업 등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들을 출현시키게 됨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노동자 계급은 임금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근로환경 등 보다 나은 근로조건을 요구했고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 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자본가와 국가는 산업화 속에서 숙련된 노동자들을 지속적으로 확보하기 위해 사회보장제도를 도입할 수 밖에 없었음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이렇게 등장한 것이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사회보험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으로 진정한 의미에서의 사회보장제도의 시초라고 할 수 있음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05259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4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역사</a:t>
            </a: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224111" y="420678"/>
            <a:ext cx="5900974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2.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사회보험 시대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(1880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- 1920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)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  <a:cs typeface="+mj-cs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395536" y="1604200"/>
            <a:ext cx="8352928" cy="4844106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vert="horz" wrap="square" lIns="144000" tIns="144000" rIns="144000" bIns="180000" rtlCol="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사회보험의 원시적 형태는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공제조합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에서 출발함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공제조합은 조합원 상호간의 부조와 복지를 목적으로 하는 상호부조 조직임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공제조합은 노동자의 복지문제에 국가가 본격적으로 개입하기 전까지 노동자의 위험을 스스로 해결하고자 했던 민간의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highlight>
                  <a:srgbClr val="FFFF00"/>
                </a:highlight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자조 조직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이었음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그러나 산업화가 본격화되면서 공제조합은 모든 사회적 위험에 대처하는데 역부족이 되었고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이때 등장한 것이 사회보험임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사회보험의 주된 대상자는 노동자로 그 재정은 자본가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노동자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국가 삼자가 부담함으로써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권리로서의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복지개념에 부합하는 자본주의적 복지정책이라고 할 수 있음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사회보험은 사회문제의 책임과 의무를 국가가 맡았다는 점에서 복지국가를 향한 중요한 출발점으로 볼 수 있음</a:t>
            </a:r>
          </a:p>
        </p:txBody>
      </p:sp>
    </p:spTree>
    <p:extLst>
      <p:ext uri="{BB962C8B-B14F-4D97-AF65-F5344CB8AC3E}">
        <p14:creationId xmlns:p14="http://schemas.microsoft.com/office/powerpoint/2010/main" val="21764266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4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역사</a:t>
            </a: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224111" y="420678"/>
            <a:ext cx="5900974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2.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사회보험 시대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(1880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- 1920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)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  <a:cs typeface="+mj-cs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395536" y="2204864"/>
            <a:ext cx="8352928" cy="3597611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vert="horz" wrap="square" lIns="144000" tIns="144000" rIns="144000" bIns="180000" rtlCol="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독일은 자본주의 확립과 함께 급격한 경제성장을 이루지만 노동자들의 노동환경은 매우 열악해서 생활은 매우 어려웠음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또한 정치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·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경제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·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사회 등 모든 영역에서 노동자들은 소외되고 차별 당함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이러한 노동자들이 계급의식에 눈뜨기 시작하면서 조직화된 노동운동은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급진적인 사회주의 운동으로 발전하게 됨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1879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년 이후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30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년간 유럽에서 가장 강력한 사회주의 운동이 행해졌던 곳이 독일이었음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노동자계급은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사회주의 노동당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을 결성하여 정치적으로 지지도가 높아짐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224110" y="1487644"/>
            <a:ext cx="85285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1)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독일의 비스마르크 사회보험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06606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4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역사</a:t>
            </a: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224111" y="420678"/>
            <a:ext cx="5900974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2.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사회보험 시대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(1880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- 1920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)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  <a:cs typeface="+mj-cs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395536" y="2204864"/>
            <a:ext cx="8352928" cy="2830735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vert="horz" wrap="square" lIns="144000" tIns="144000" rIns="144000" bIns="180000" rtlCol="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이러한 정치조직의 급속한 발전을 보고 당시 재상이던 비스마르크는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1878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년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‘사회주의자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탄압법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’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을 제정하여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사회주의 성향을 가진 모든 단체를 불법화시키고 결사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·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집회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·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출판의 자유를 금지함으로써 철저하게 사회주의자를 탄압함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채칙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반면 사회주의운동에 가담하지 않은 노동자 계급을 체제 내로 끌어들이고자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노동자들의 생존을 보장해주는 사회보험을 입법함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당근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24110" y="1487644"/>
            <a:ext cx="85285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1)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독일의 비스마르크 사회보험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36506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제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4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</a:t>
            </a:r>
            <a:endParaRPr lang="en-US" altLang="ko-KR" sz="1200" dirty="0">
              <a:solidFill>
                <a:schemeClr val="bg1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사회보장의 역사</a:t>
            </a:r>
          </a:p>
        </p:txBody>
      </p:sp>
      <p:graphicFrame>
        <p:nvGraphicFramePr>
          <p:cNvPr id="9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7635824"/>
              </p:ext>
            </p:extLst>
          </p:nvPr>
        </p:nvGraphicFramePr>
        <p:xfrm>
          <a:off x="364455" y="2060848"/>
          <a:ext cx="8352928" cy="2022480"/>
        </p:xfrm>
        <a:graphic>
          <a:graphicData uri="http://schemas.openxmlformats.org/drawingml/2006/table">
            <a:tbl>
              <a:tblPr/>
              <a:tblGrid>
                <a:gridCol w="1728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24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8000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spc="-50" baseline="0" dirty="0">
                          <a:solidFill>
                            <a:schemeClr val="tx1"/>
                          </a:solidFill>
                        </a:rPr>
                        <a:t>비스마르크 사회보험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7030A0">
                            <a:tint val="66000"/>
                            <a:satMod val="160000"/>
                          </a:srgbClr>
                        </a:gs>
                        <a:gs pos="50000">
                          <a:srgbClr val="7030A0">
                            <a:tint val="44500"/>
                            <a:satMod val="160000"/>
                          </a:srgbClr>
                        </a:gs>
                        <a:gs pos="100000">
                          <a:srgbClr val="7030A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spc="-5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7030A0">
                            <a:tint val="66000"/>
                            <a:satMod val="160000"/>
                          </a:srgbClr>
                        </a:gs>
                        <a:gs pos="50000">
                          <a:srgbClr val="7030A0">
                            <a:tint val="44500"/>
                            <a:satMod val="160000"/>
                          </a:srgbClr>
                        </a:gs>
                        <a:gs pos="100000">
                          <a:srgbClr val="7030A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spc="0" baseline="0" dirty="0"/>
                        <a:t>1883</a:t>
                      </a:r>
                      <a:r>
                        <a:rPr lang="ko-KR" altLang="en-US" sz="1600" spc="0" baseline="0" dirty="0"/>
                        <a:t>년</a:t>
                      </a:r>
                      <a:endParaRPr lang="en-US" altLang="ko-KR" sz="1600" spc="0" baseline="0" dirty="0"/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ko-KR" altLang="en-US" sz="1600" spc="0" baseline="0" dirty="0"/>
                        <a:t>질병보험법</a:t>
                      </a:r>
                      <a:r>
                        <a:rPr lang="en-US" altLang="ko-KR" sz="1600" spc="0" baseline="0" dirty="0"/>
                        <a:t>(</a:t>
                      </a:r>
                      <a:r>
                        <a:rPr lang="ko-KR" altLang="en-US" sz="1600" spc="0" baseline="0" dirty="0"/>
                        <a:t>노동자 </a:t>
                      </a:r>
                      <a:r>
                        <a:rPr lang="en-US" altLang="ko-KR" sz="1600" spc="0" baseline="0" dirty="0"/>
                        <a:t>2/3 </a:t>
                      </a:r>
                      <a:r>
                        <a:rPr lang="ko-KR" altLang="en-US" sz="1600" spc="0" baseline="0" dirty="0"/>
                        <a:t>부담</a:t>
                      </a:r>
                      <a:r>
                        <a:rPr lang="en-US" altLang="ko-KR" sz="1600" spc="0" baseline="0" dirty="0"/>
                        <a:t>, </a:t>
                      </a:r>
                      <a:r>
                        <a:rPr lang="ko-KR" altLang="en-US" sz="1600" spc="0" baseline="0" dirty="0"/>
                        <a:t>사용자 </a:t>
                      </a:r>
                      <a:r>
                        <a:rPr lang="en-US" altLang="ko-KR" sz="1600" spc="0" baseline="0" dirty="0"/>
                        <a:t>1/3 </a:t>
                      </a:r>
                      <a:r>
                        <a:rPr lang="ko-KR" altLang="en-US" sz="1600" spc="0" baseline="0" dirty="0"/>
                        <a:t>부담</a:t>
                      </a:r>
                      <a:r>
                        <a:rPr lang="en-US" altLang="ko-KR" sz="1600" spc="0" baseline="0" dirty="0"/>
                        <a:t>)</a:t>
                      </a:r>
                      <a:endParaRPr lang="ko-KR" altLang="en-US" sz="1600" spc="0" baseline="0" dirty="0"/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spc="0" baseline="0" dirty="0"/>
                        <a:t>1884</a:t>
                      </a:r>
                      <a:r>
                        <a:rPr lang="ko-KR" altLang="en-US" sz="1600" spc="0" baseline="0" dirty="0"/>
                        <a:t>년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ko-KR" altLang="en-US" sz="1600" spc="0" baseline="0" dirty="0"/>
                        <a:t>산업재해보상보험법</a:t>
                      </a:r>
                      <a:r>
                        <a:rPr lang="en-US" altLang="ko-KR" sz="1600" spc="0" baseline="0" dirty="0"/>
                        <a:t>(</a:t>
                      </a:r>
                      <a:r>
                        <a:rPr lang="ko-KR" altLang="en-US" sz="1600" spc="0" baseline="0" dirty="0"/>
                        <a:t>사용자가 전액 부담</a:t>
                      </a:r>
                      <a:r>
                        <a:rPr lang="en-US" altLang="ko-KR" sz="1600" spc="0" baseline="0" dirty="0"/>
                        <a:t>)</a:t>
                      </a:r>
                      <a:endParaRPr lang="ko-KR" altLang="en-US" sz="1600" spc="0" baseline="0" dirty="0"/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spc="0" baseline="0" dirty="0"/>
                        <a:t>1889</a:t>
                      </a:r>
                      <a:r>
                        <a:rPr lang="ko-KR" altLang="en-US" sz="1600" spc="0" baseline="0" dirty="0"/>
                        <a:t>년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ED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spc="0" baseline="0" dirty="0"/>
                        <a:t>장애 및 노령연금법</a:t>
                      </a:r>
                      <a:r>
                        <a:rPr lang="en-US" altLang="ko-KR" sz="1600" spc="0" baseline="0" dirty="0"/>
                        <a:t>(</a:t>
                      </a:r>
                      <a:r>
                        <a:rPr lang="ko-KR" altLang="en-US" sz="1600" spc="0" baseline="0" dirty="0"/>
                        <a:t>노사 양측이 각각 </a:t>
                      </a:r>
                      <a:r>
                        <a:rPr lang="en-US" altLang="ko-KR" sz="1600" spc="0" baseline="0" dirty="0"/>
                        <a:t>1/2</a:t>
                      </a:r>
                      <a:r>
                        <a:rPr lang="ko-KR" altLang="en-US" sz="1600" spc="0" baseline="0" dirty="0"/>
                        <a:t>씩 공동 부담</a:t>
                      </a:r>
                      <a:r>
                        <a:rPr lang="en-US" altLang="ko-KR" sz="1600" spc="0" baseline="0" dirty="0"/>
                        <a:t>)</a:t>
                      </a:r>
                      <a:endParaRPr lang="ko-KR" altLang="en-US" sz="1600" spc="0" baseline="0" dirty="0"/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ED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제목 1"/>
          <p:cNvSpPr txBox="1">
            <a:spLocks/>
          </p:cNvSpPr>
          <p:nvPr/>
        </p:nvSpPr>
        <p:spPr>
          <a:xfrm>
            <a:off x="224111" y="420678"/>
            <a:ext cx="5900974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2. </a:t>
            </a:r>
            <a:r>
              <a:rPr lang="ko-KR" altLang="en-US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사회보험 시대 </a:t>
            </a:r>
            <a:r>
              <a:rPr lang="en-US" altLang="ko-KR" sz="20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(1880</a:t>
            </a:r>
            <a:r>
              <a:rPr lang="ko-KR" altLang="en-US" sz="20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년대 </a:t>
            </a:r>
            <a:r>
              <a:rPr lang="en-US" altLang="ko-KR" sz="20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- 1920</a:t>
            </a:r>
            <a:r>
              <a:rPr lang="ko-KR" altLang="en-US" sz="20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년</a:t>
            </a:r>
            <a:r>
              <a:rPr lang="en-US" altLang="ko-KR" sz="20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endParaRPr lang="ko-KR" altLang="en-US" sz="200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24110" y="1487644"/>
            <a:ext cx="85285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en-US" altLang="ko-KR" sz="2400" b="1" dirty="0">
                <a:solidFill>
                  <a:srgbClr val="7030A0"/>
                </a:solidFill>
                <a:latin typeface="+mn-ea"/>
              </a:rPr>
              <a:t>1) </a:t>
            </a:r>
            <a:r>
              <a:rPr lang="ko-KR" altLang="en-US" sz="2400" b="1" dirty="0">
                <a:solidFill>
                  <a:srgbClr val="7030A0"/>
                </a:solidFill>
                <a:latin typeface="+mn-ea"/>
              </a:rPr>
              <a:t>독일의 비스마르크 사회보험</a:t>
            </a:r>
            <a:endParaRPr lang="en-US" altLang="ko-KR" sz="2400" b="1" dirty="0">
              <a:solidFill>
                <a:srgbClr val="7030A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043073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prstClr val="whit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제</a:t>
            </a:r>
            <a:r>
              <a:rPr lang="en-US" altLang="ko-KR" sz="1200" dirty="0">
                <a:solidFill>
                  <a:prstClr val="whit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4</a:t>
            </a:r>
            <a:r>
              <a:rPr lang="ko-KR" altLang="en-US" sz="1200" dirty="0">
                <a:solidFill>
                  <a:prstClr val="whit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</a:t>
            </a:r>
            <a:endParaRPr lang="en-US" altLang="ko-KR" sz="1200" dirty="0">
              <a:solidFill>
                <a:prstClr val="white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prstClr val="whit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사회보장의 역사</a:t>
            </a: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224111" y="420678"/>
            <a:ext cx="5900974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2. </a:t>
            </a:r>
            <a:r>
              <a:rPr lang="ko-KR" altLang="en-US" sz="3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사회보험 시대 </a:t>
            </a:r>
            <a:r>
              <a:rPr lang="en-US" altLang="ko-KR" sz="20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(1880</a:t>
            </a:r>
            <a:r>
              <a:rPr lang="ko-KR" altLang="en-US" sz="20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년대 </a:t>
            </a:r>
            <a:r>
              <a:rPr lang="en-US" altLang="ko-KR" sz="20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- 1920</a:t>
            </a:r>
            <a:r>
              <a:rPr lang="ko-KR" altLang="en-US" sz="20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년</a:t>
            </a:r>
            <a:r>
              <a:rPr lang="en-US" altLang="ko-KR" sz="20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endParaRPr lang="ko-KR" altLang="en-US" sz="2000" dirty="0">
              <a:solidFill>
                <a:prstClr val="white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369961" y="2060848"/>
            <a:ext cx="8352928" cy="2289240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vert="horz" wrap="square" lIns="144000" tIns="144000" rIns="144000" bIns="180000" rtlCol="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-177800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</a:pPr>
            <a:r>
              <a:rPr lang="en-US" altLang="ko-KR" sz="1700" dirty="0" err="1"/>
              <a:t>영국은</a:t>
            </a:r>
            <a:r>
              <a:rPr lang="en-US" altLang="ko-KR" sz="1700" dirty="0"/>
              <a:t> 1800년대 </a:t>
            </a:r>
            <a:r>
              <a:rPr lang="en-US" altLang="ko-KR" sz="1700" dirty="0" err="1"/>
              <a:t>후반부터</a:t>
            </a:r>
            <a:r>
              <a:rPr lang="en-US" altLang="ko-KR" sz="1700" dirty="0"/>
              <a:t> </a:t>
            </a:r>
            <a:r>
              <a:rPr lang="en-US" altLang="ko-KR" sz="1700" dirty="0" err="1"/>
              <a:t>빈민들의</a:t>
            </a:r>
            <a:r>
              <a:rPr lang="en-US" altLang="ko-KR" sz="1700" dirty="0"/>
              <a:t> </a:t>
            </a:r>
            <a:r>
              <a:rPr lang="en-US" altLang="ko-KR" sz="1700" dirty="0" err="1"/>
              <a:t>실태에</a:t>
            </a:r>
            <a:r>
              <a:rPr lang="en-US" altLang="ko-KR" sz="1700" dirty="0"/>
              <a:t> </a:t>
            </a:r>
            <a:r>
              <a:rPr lang="en-US" altLang="ko-KR" sz="1700" dirty="0" err="1"/>
              <a:t>대한</a:t>
            </a:r>
            <a:r>
              <a:rPr lang="en-US" altLang="ko-KR" sz="1700" dirty="0"/>
              <a:t> </a:t>
            </a:r>
            <a:r>
              <a:rPr lang="en-US" altLang="ko-KR" sz="1700" dirty="0" err="1"/>
              <a:t>인도주의적</a:t>
            </a:r>
            <a:r>
              <a:rPr lang="en-US" altLang="ko-KR" sz="1700" dirty="0"/>
              <a:t> </a:t>
            </a:r>
            <a:r>
              <a:rPr lang="en-US" altLang="ko-KR" sz="1700" dirty="0" err="1"/>
              <a:t>관심이</a:t>
            </a:r>
            <a:r>
              <a:rPr lang="en-US" altLang="ko-KR" sz="1700" dirty="0"/>
              <a:t> </a:t>
            </a:r>
            <a:r>
              <a:rPr lang="en-US" altLang="ko-KR" sz="1700" dirty="0" err="1"/>
              <a:t>증대</a:t>
            </a:r>
            <a:endParaRPr lang="en-US" altLang="ko-KR" sz="1700" dirty="0"/>
          </a:p>
          <a:p>
            <a:pPr marL="177800" indent="-177800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</a:pPr>
            <a:r>
              <a:rPr lang="en-US" altLang="ko-KR" sz="1700" dirty="0" err="1"/>
              <a:t>이에</a:t>
            </a:r>
            <a:r>
              <a:rPr lang="en-US" altLang="ko-KR" sz="1700" dirty="0"/>
              <a:t> </a:t>
            </a:r>
            <a:r>
              <a:rPr lang="en-US" altLang="ko-KR" sz="1700" dirty="0" err="1"/>
              <a:t>빈민법</a:t>
            </a:r>
            <a:r>
              <a:rPr lang="en-US" altLang="ko-KR" sz="1700" dirty="0"/>
              <a:t> </a:t>
            </a:r>
            <a:r>
              <a:rPr lang="en-US" altLang="ko-KR" sz="1700" dirty="0" err="1"/>
              <a:t>개정을</a:t>
            </a:r>
            <a:r>
              <a:rPr lang="en-US" altLang="ko-KR" sz="1700" dirty="0"/>
              <a:t> </a:t>
            </a:r>
            <a:r>
              <a:rPr lang="en-US" altLang="ko-KR" sz="1700" dirty="0" err="1"/>
              <a:t>공약으로</a:t>
            </a:r>
            <a:r>
              <a:rPr lang="en-US" altLang="ko-KR" sz="1700" dirty="0"/>
              <a:t> </a:t>
            </a:r>
            <a:r>
              <a:rPr lang="en-US" altLang="ko-KR" sz="1700" dirty="0" err="1"/>
              <a:t>내세우며</a:t>
            </a:r>
            <a:r>
              <a:rPr lang="en-US" altLang="ko-KR" sz="1700" dirty="0"/>
              <a:t> </a:t>
            </a:r>
            <a:r>
              <a:rPr lang="en-US" altLang="ko-KR" sz="1700" dirty="0" err="1"/>
              <a:t>집권한</a:t>
            </a:r>
            <a:r>
              <a:rPr lang="en-US" altLang="ko-KR" sz="1700" dirty="0"/>
              <a:t> </a:t>
            </a:r>
            <a:r>
              <a:rPr lang="en-US" altLang="ko-KR" sz="1700" dirty="0" err="1"/>
              <a:t>자유당</a:t>
            </a:r>
            <a:r>
              <a:rPr lang="en-US" altLang="ko-KR" sz="1700" dirty="0"/>
              <a:t> </a:t>
            </a:r>
            <a:r>
              <a:rPr lang="en-US" altLang="ko-KR" sz="1700" dirty="0" err="1"/>
              <a:t>정부</a:t>
            </a:r>
            <a:r>
              <a:rPr lang="en-US" altLang="ko-KR" sz="1700" dirty="0"/>
              <a:t>(1906-1915</a:t>
            </a:r>
            <a:r>
              <a:rPr lang="ko-KR" altLang="en-US" sz="1700" dirty="0"/>
              <a:t>년</a:t>
            </a:r>
            <a:r>
              <a:rPr lang="en-US" altLang="ko-KR" sz="1700" dirty="0"/>
              <a:t>)</a:t>
            </a:r>
            <a:r>
              <a:rPr lang="ko-KR" altLang="en-US" sz="1700" dirty="0"/>
              <a:t>는</a:t>
            </a:r>
            <a:r>
              <a:rPr lang="en-US" altLang="ko-KR" sz="1700" dirty="0"/>
              <a:t> </a:t>
            </a:r>
            <a:r>
              <a:rPr lang="en-US" altLang="ko-KR" sz="1700" dirty="0" err="1"/>
              <a:t>왕립조사위원회를</a:t>
            </a:r>
            <a:r>
              <a:rPr lang="en-US" altLang="ko-KR" sz="1700" dirty="0"/>
              <a:t> </a:t>
            </a:r>
            <a:r>
              <a:rPr lang="en-US" altLang="ko-KR" sz="1700" dirty="0" err="1"/>
              <a:t>설립하여</a:t>
            </a:r>
            <a:r>
              <a:rPr lang="en-US" altLang="ko-KR" sz="1700" dirty="0"/>
              <a:t> </a:t>
            </a:r>
            <a:r>
              <a:rPr lang="en-US" altLang="ko-KR" sz="1700" dirty="0" err="1"/>
              <a:t>빈민실태에</a:t>
            </a:r>
            <a:r>
              <a:rPr lang="en-US" altLang="ko-KR" sz="1700" dirty="0"/>
              <a:t> </a:t>
            </a:r>
            <a:r>
              <a:rPr lang="en-US" altLang="ko-KR" sz="1700" dirty="0" err="1"/>
              <a:t>대한</a:t>
            </a:r>
            <a:r>
              <a:rPr lang="en-US" altLang="ko-KR" sz="1700" dirty="0"/>
              <a:t> </a:t>
            </a:r>
            <a:r>
              <a:rPr lang="en-US" altLang="ko-KR" sz="1700" dirty="0" err="1"/>
              <a:t>조사를</a:t>
            </a:r>
            <a:r>
              <a:rPr lang="en-US" altLang="ko-KR" sz="1700" dirty="0"/>
              <a:t> </a:t>
            </a:r>
            <a:r>
              <a:rPr lang="ko-KR" altLang="en-US" sz="1700" dirty="0"/>
              <a:t>함</a:t>
            </a:r>
            <a:endParaRPr lang="en-US" altLang="ko-KR" sz="1700" dirty="0"/>
          </a:p>
          <a:p>
            <a:pPr marL="177800" indent="-177800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</a:pPr>
            <a:r>
              <a:rPr lang="en-US" altLang="ko-KR" sz="1700" dirty="0"/>
              <a:t>3년간의 </a:t>
            </a:r>
            <a:r>
              <a:rPr lang="en-US" altLang="ko-KR" sz="1700" dirty="0" err="1"/>
              <a:t>조사</a:t>
            </a:r>
            <a:r>
              <a:rPr lang="en-US" altLang="ko-KR" sz="1700" dirty="0"/>
              <a:t> </a:t>
            </a:r>
            <a:r>
              <a:rPr lang="en-US" altLang="ko-KR" sz="1700" dirty="0" err="1"/>
              <a:t>끝에</a:t>
            </a:r>
            <a:r>
              <a:rPr lang="en-US" altLang="ko-KR" sz="1700" dirty="0"/>
              <a:t> </a:t>
            </a:r>
            <a:r>
              <a:rPr lang="en-US" altLang="ko-KR" sz="1700" dirty="0" err="1"/>
              <a:t>다수파</a:t>
            </a:r>
            <a:r>
              <a:rPr lang="en-US" altLang="ko-KR" sz="1700" dirty="0"/>
              <a:t> </a:t>
            </a:r>
            <a:r>
              <a:rPr lang="en-US" altLang="ko-KR" sz="1700" dirty="0" err="1"/>
              <a:t>보고서와</a:t>
            </a:r>
            <a:r>
              <a:rPr lang="en-US" altLang="ko-KR" sz="1700" dirty="0"/>
              <a:t> </a:t>
            </a:r>
            <a:r>
              <a:rPr lang="en-US" altLang="ko-KR" sz="1700" dirty="0" err="1"/>
              <a:t>소수파</a:t>
            </a:r>
            <a:r>
              <a:rPr lang="en-US" altLang="ko-KR" sz="1700" dirty="0"/>
              <a:t> </a:t>
            </a:r>
            <a:r>
              <a:rPr lang="en-US" altLang="ko-KR" sz="1700" dirty="0" err="1"/>
              <a:t>보고서라는</a:t>
            </a:r>
            <a:r>
              <a:rPr lang="en-US" altLang="ko-KR" sz="1700" dirty="0"/>
              <a:t> 2개의 </a:t>
            </a:r>
            <a:r>
              <a:rPr lang="en-US" altLang="ko-KR" sz="1700" dirty="0" err="1"/>
              <a:t>보고서를</a:t>
            </a:r>
            <a:r>
              <a:rPr lang="en-US" altLang="ko-KR" sz="1700" dirty="0"/>
              <a:t> </a:t>
            </a:r>
            <a:r>
              <a:rPr lang="en-US" altLang="ko-KR" sz="1700" dirty="0" err="1"/>
              <a:t>제출</a:t>
            </a:r>
            <a:endParaRPr lang="en-US" altLang="ko-KR" sz="1700" dirty="0"/>
          </a:p>
          <a:p>
            <a:pPr marL="177800" indent="-177800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</a:pPr>
            <a:r>
              <a:rPr lang="ko-KR" altLang="en-US" sz="1700" dirty="0"/>
              <a:t>자유당 정부는 다수파 보고서를 채택함</a:t>
            </a:r>
            <a:endParaRPr lang="en-US" altLang="ko-KR" sz="1700" dirty="0"/>
          </a:p>
        </p:txBody>
      </p:sp>
      <p:sp>
        <p:nvSpPr>
          <p:cNvPr id="12" name="직사각형 11"/>
          <p:cNvSpPr/>
          <p:nvPr/>
        </p:nvSpPr>
        <p:spPr>
          <a:xfrm>
            <a:off x="224110" y="1487644"/>
            <a:ext cx="85285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en-US" altLang="ko-KR" sz="2400" b="1" dirty="0">
                <a:solidFill>
                  <a:srgbClr val="7030A0"/>
                </a:solidFill>
              </a:rPr>
              <a:t>2) </a:t>
            </a:r>
            <a:r>
              <a:rPr lang="ko-KR" altLang="en-US" sz="2400" b="1" dirty="0">
                <a:solidFill>
                  <a:srgbClr val="7030A0"/>
                </a:solidFill>
              </a:rPr>
              <a:t>영국의 사회보험</a:t>
            </a:r>
            <a:endParaRPr lang="en-US" altLang="ko-KR" sz="2400" b="1" dirty="0">
              <a:solidFill>
                <a:srgbClr val="7030A0"/>
              </a:solidFill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270517"/>
              </p:ext>
            </p:extLst>
          </p:nvPr>
        </p:nvGraphicFramePr>
        <p:xfrm>
          <a:off x="320525" y="4437112"/>
          <a:ext cx="8424377" cy="2042755"/>
        </p:xfrm>
        <a:graphic>
          <a:graphicData uri="http://schemas.openxmlformats.org/drawingml/2006/table">
            <a:tbl>
              <a:tblPr/>
              <a:tblGrid>
                <a:gridCol w="1312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2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88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 분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다수파 보고서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소수파 보고서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39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이념적 배경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자유주의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자선조직협회 출신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페이비언 사회주의</a:t>
                      </a:r>
                      <a:r>
                        <a:rPr lang="en-US" altLang="ko-KR" sz="1600" kern="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600" kern="0" spc="-15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인보관</a:t>
                      </a:r>
                      <a:r>
                        <a:rPr lang="ko-KR" altLang="en-US" sz="1600" kern="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운동 지지자</a:t>
                      </a:r>
                      <a:r>
                        <a:rPr lang="en-US" altLang="ko-KR" sz="1600" kern="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600" kern="0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75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빈곤원인 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빈민의 나태와 무책임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개인적 원인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사회구조적 원인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13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빈곤해결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관대한 동정보다는 가혹한 통제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기초적인 최저수준만을 지원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공공지출의 확대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21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운영방식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현행 제도의 개혁을 통한 유지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존속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현행 빈민법의 완전한 폐지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66170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prstClr val="whit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제</a:t>
            </a:r>
            <a:r>
              <a:rPr lang="en-US" altLang="ko-KR" sz="1200" dirty="0">
                <a:solidFill>
                  <a:prstClr val="whit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4</a:t>
            </a:r>
            <a:r>
              <a:rPr lang="ko-KR" altLang="en-US" sz="1200" dirty="0">
                <a:solidFill>
                  <a:prstClr val="whit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</a:t>
            </a:r>
            <a:endParaRPr lang="en-US" altLang="ko-KR" sz="1200" dirty="0">
              <a:solidFill>
                <a:prstClr val="white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prstClr val="whit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사회보장의 역사</a:t>
            </a: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224111" y="420678"/>
            <a:ext cx="5900974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2. </a:t>
            </a:r>
            <a:r>
              <a:rPr lang="ko-KR" altLang="en-US" sz="3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사회보험 시대 </a:t>
            </a:r>
            <a:r>
              <a:rPr lang="en-US" altLang="ko-KR" sz="20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(1880</a:t>
            </a:r>
            <a:r>
              <a:rPr lang="ko-KR" altLang="en-US" sz="20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년대 </a:t>
            </a:r>
            <a:r>
              <a:rPr lang="en-US" altLang="ko-KR" sz="20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- 1920</a:t>
            </a:r>
            <a:r>
              <a:rPr lang="ko-KR" altLang="en-US" sz="20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년</a:t>
            </a:r>
            <a:r>
              <a:rPr lang="en-US" altLang="ko-KR" sz="20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endParaRPr lang="ko-KR" altLang="en-US" sz="2000" dirty="0">
              <a:solidFill>
                <a:prstClr val="white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356250" y="2132856"/>
            <a:ext cx="8352928" cy="3651151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vert="horz" wrap="square" lIns="144000" tIns="144000" rIns="144000" bIns="180000" rtlCol="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-177800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</a:pPr>
            <a:r>
              <a:rPr lang="ko-KR" altLang="en-US" sz="1800" dirty="0"/>
              <a:t>비록 다수파 보고서의 의견이 개혁안으로 채택하였으나</a:t>
            </a:r>
            <a:r>
              <a:rPr lang="en-US" altLang="ko-KR" sz="1800" dirty="0"/>
              <a:t>, </a:t>
            </a:r>
            <a:r>
              <a:rPr lang="ko-KR" altLang="en-US" sz="1800" dirty="0"/>
              <a:t>자유당 정부시절   여러 사회복지 법령들이 적극적으로 제정됨</a:t>
            </a:r>
            <a:endParaRPr lang="en-US" altLang="ko-KR" sz="1800" dirty="0"/>
          </a:p>
          <a:p>
            <a:pPr marL="177800" indent="-177800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</a:pPr>
            <a:r>
              <a:rPr lang="en-US" altLang="ko-KR" sz="1800" dirty="0">
                <a:solidFill>
                  <a:srgbClr val="00B0F0"/>
                </a:solidFill>
                <a:highlight>
                  <a:srgbClr val="FFFF00"/>
                </a:highlight>
              </a:rPr>
              <a:t>1908</a:t>
            </a:r>
            <a:r>
              <a:rPr lang="ko-KR" altLang="en-US" sz="1800" dirty="0">
                <a:solidFill>
                  <a:srgbClr val="00B0F0"/>
                </a:solidFill>
                <a:highlight>
                  <a:srgbClr val="FFFF00"/>
                </a:highlight>
              </a:rPr>
              <a:t>년에는 사회부조식 연금제도인 노령연금법</a:t>
            </a:r>
            <a:r>
              <a:rPr lang="ko-KR" altLang="en-US" sz="1800" dirty="0"/>
              <a:t>이 제정됨</a:t>
            </a:r>
            <a:endParaRPr lang="en-US" altLang="ko-KR" sz="1800" dirty="0"/>
          </a:p>
          <a:p>
            <a:pPr marL="177800" indent="-177800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</a:pPr>
            <a:r>
              <a:rPr lang="en-US" altLang="ko-KR" sz="1800" dirty="0">
                <a:solidFill>
                  <a:srgbClr val="00B050"/>
                </a:solidFill>
                <a:highlight>
                  <a:srgbClr val="FFFF00"/>
                </a:highlight>
              </a:rPr>
              <a:t>1909</a:t>
            </a:r>
            <a:r>
              <a:rPr lang="ko-KR" altLang="en-US" sz="1800" dirty="0">
                <a:solidFill>
                  <a:srgbClr val="00B050"/>
                </a:solidFill>
                <a:highlight>
                  <a:srgbClr val="FFFF00"/>
                </a:highlight>
              </a:rPr>
              <a:t>년에는 최저임금법</a:t>
            </a:r>
            <a:r>
              <a:rPr lang="ko-KR" altLang="en-US" sz="1800" dirty="0"/>
              <a:t>과 </a:t>
            </a:r>
            <a:r>
              <a:rPr lang="ko-KR" altLang="en-US" sz="1800" dirty="0" err="1"/>
              <a:t>직업소개소법</a:t>
            </a:r>
            <a:r>
              <a:rPr lang="ko-KR" altLang="en-US" sz="1800" dirty="0"/>
              <a:t> 등이 제정됨</a:t>
            </a:r>
            <a:endParaRPr lang="en-US" altLang="ko-KR" sz="1800" dirty="0"/>
          </a:p>
          <a:p>
            <a:pPr marL="177800" indent="-177800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</a:pPr>
            <a:r>
              <a:rPr lang="en-US" altLang="ko-KR" sz="1800" dirty="0">
                <a:solidFill>
                  <a:srgbClr val="FF0000"/>
                </a:solidFill>
                <a:highlight>
                  <a:srgbClr val="FFFF00"/>
                </a:highlight>
              </a:rPr>
              <a:t>1911</a:t>
            </a:r>
            <a:r>
              <a:rPr lang="ko-KR" altLang="en-US" sz="1800" dirty="0">
                <a:solidFill>
                  <a:srgbClr val="FF0000"/>
                </a:solidFill>
                <a:highlight>
                  <a:srgbClr val="FFFF00"/>
                </a:highlight>
              </a:rPr>
              <a:t>년 국민보험법</a:t>
            </a:r>
            <a:r>
              <a:rPr lang="en-US" altLang="ko-KR" sz="1800" dirty="0">
                <a:solidFill>
                  <a:srgbClr val="FF0000"/>
                </a:solidFill>
                <a:highlight>
                  <a:srgbClr val="FFFF00"/>
                </a:highlight>
              </a:rPr>
              <a:t>((National Insurance Act)</a:t>
            </a:r>
            <a:r>
              <a:rPr lang="ko-KR" altLang="en-US" sz="1800" dirty="0">
                <a:solidFill>
                  <a:srgbClr val="FF0000"/>
                </a:solidFill>
                <a:highlight>
                  <a:srgbClr val="FFFF00"/>
                </a:highlight>
              </a:rPr>
              <a:t>이 제정됨</a:t>
            </a:r>
            <a:endParaRPr lang="en-US" altLang="ko-KR" sz="1800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marL="177800" indent="-177800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</a:pPr>
            <a:r>
              <a:rPr lang="ko-KR" altLang="en-US" sz="1800" dirty="0"/>
              <a:t>노령연금법과 국민보험법은 전통적인 </a:t>
            </a:r>
            <a:r>
              <a:rPr lang="ko-KR" altLang="en-US" sz="1800" dirty="0" err="1"/>
              <a:t>빈민법을</a:t>
            </a:r>
            <a:r>
              <a:rPr lang="ko-KR" altLang="en-US" sz="1800" dirty="0"/>
              <a:t> 중심으로 하던 공공부조 정책이 노동자와 그 가족에 대한 사회보험 정책으로 이행하여 가고 있음을 반증하는 것이었음</a:t>
            </a:r>
            <a:r>
              <a:rPr lang="en-US" altLang="ko-KR" sz="1800" dirty="0"/>
              <a:t> </a:t>
            </a:r>
            <a:endParaRPr lang="ko-KR" altLang="en-US" sz="1800" dirty="0"/>
          </a:p>
        </p:txBody>
      </p:sp>
      <p:sp>
        <p:nvSpPr>
          <p:cNvPr id="12" name="직사각형 11"/>
          <p:cNvSpPr/>
          <p:nvPr/>
        </p:nvSpPr>
        <p:spPr>
          <a:xfrm>
            <a:off x="224110" y="1487644"/>
            <a:ext cx="85285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en-US" altLang="ko-KR" sz="2400" b="1" dirty="0">
                <a:solidFill>
                  <a:srgbClr val="7030A0"/>
                </a:solidFill>
              </a:rPr>
              <a:t>2) </a:t>
            </a:r>
            <a:r>
              <a:rPr lang="ko-KR" altLang="en-US" sz="2400" b="1" dirty="0">
                <a:solidFill>
                  <a:srgbClr val="7030A0"/>
                </a:solidFill>
              </a:rPr>
              <a:t>영국의 사회보험</a:t>
            </a:r>
            <a:endParaRPr lang="en-US" altLang="ko-KR" sz="24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09283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제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4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</a:t>
            </a:r>
            <a:endParaRPr lang="en-US" altLang="ko-KR" sz="1200" dirty="0">
              <a:solidFill>
                <a:schemeClr val="bg1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사회보장의 역사</a:t>
            </a: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224111" y="420678"/>
            <a:ext cx="5900974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2. </a:t>
            </a:r>
            <a:r>
              <a:rPr lang="ko-KR" altLang="en-US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사회보험 시대 </a:t>
            </a:r>
            <a:r>
              <a:rPr lang="en-US" altLang="ko-KR" sz="20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(1880</a:t>
            </a:r>
            <a:r>
              <a:rPr lang="ko-KR" altLang="en-US" sz="20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년대 </a:t>
            </a:r>
            <a:r>
              <a:rPr lang="en-US" altLang="ko-KR" sz="20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- 1920</a:t>
            </a:r>
            <a:r>
              <a:rPr lang="ko-KR" altLang="en-US" sz="20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년</a:t>
            </a:r>
            <a:r>
              <a:rPr lang="en-US" altLang="ko-KR" sz="20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endParaRPr lang="ko-KR" altLang="en-US" sz="200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356250" y="2204864"/>
            <a:ext cx="8352928" cy="4066649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vert="horz" wrap="square" lIns="144000" tIns="144000" rIns="144000" bIns="180000" rtlCol="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-177800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</a:pPr>
            <a:r>
              <a:rPr lang="ko-KR" altLang="en-US" sz="1800" spc="-150" dirty="0">
                <a:solidFill>
                  <a:srgbClr val="00B0F0"/>
                </a:solidFill>
                <a:highlight>
                  <a:srgbClr val="FFFF00"/>
                </a:highlight>
                <a:latin typeface="+mn-ea"/>
              </a:rPr>
              <a:t>국민보험법은 재정을 고용주와 근로자로부터 조달 받는 영국 최초의 사회보험</a:t>
            </a:r>
            <a:endParaRPr lang="en-US" altLang="ko-KR" sz="1800" spc="-150" dirty="0">
              <a:solidFill>
                <a:srgbClr val="00B0F0"/>
              </a:solidFill>
              <a:highlight>
                <a:srgbClr val="FFFF00"/>
              </a:highlight>
              <a:latin typeface="+mn-ea"/>
            </a:endParaRPr>
          </a:p>
          <a:p>
            <a:pPr marL="177800" indent="-177800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</a:pPr>
            <a:r>
              <a:rPr lang="en-US" altLang="ko-KR" sz="1800" dirty="0" err="1"/>
              <a:t>당시</a:t>
            </a:r>
            <a:r>
              <a:rPr lang="en-US" altLang="ko-KR" sz="1800" dirty="0"/>
              <a:t> </a:t>
            </a:r>
            <a:r>
              <a:rPr lang="en-US" altLang="ko-KR" sz="1800" dirty="0" err="1"/>
              <a:t>자유당</a:t>
            </a:r>
            <a:r>
              <a:rPr lang="en-US" altLang="ko-KR" sz="1800" dirty="0"/>
              <a:t> </a:t>
            </a:r>
            <a:r>
              <a:rPr lang="en-US" altLang="ko-KR" sz="1800" dirty="0" err="1"/>
              <a:t>정부의</a:t>
            </a:r>
            <a:r>
              <a:rPr lang="en-US" altLang="ko-KR" sz="1800" dirty="0"/>
              <a:t> </a:t>
            </a:r>
            <a:r>
              <a:rPr lang="en-US" altLang="ko-KR" sz="1800" dirty="0" err="1"/>
              <a:t>개혁을</a:t>
            </a:r>
            <a:r>
              <a:rPr lang="en-US" altLang="ko-KR" sz="1800" dirty="0"/>
              <a:t> </a:t>
            </a:r>
            <a:r>
              <a:rPr lang="en-US" altLang="ko-KR" sz="1800" dirty="0" err="1"/>
              <a:t>주도했던</a:t>
            </a:r>
            <a:r>
              <a:rPr lang="en-US" altLang="ko-KR" sz="1800" dirty="0"/>
              <a:t> </a:t>
            </a:r>
            <a:r>
              <a:rPr lang="en-US" altLang="ko-KR" sz="1800" dirty="0" err="1"/>
              <a:t>로이드</a:t>
            </a:r>
            <a:r>
              <a:rPr lang="en-US" altLang="ko-KR" sz="1800" dirty="0"/>
              <a:t> </a:t>
            </a:r>
            <a:r>
              <a:rPr lang="en-US" altLang="ko-KR" sz="1800" dirty="0" err="1"/>
              <a:t>조지와</a:t>
            </a:r>
            <a:r>
              <a:rPr lang="en-US" altLang="ko-KR" sz="1800" dirty="0"/>
              <a:t> </a:t>
            </a:r>
            <a:r>
              <a:rPr lang="en-US" altLang="ko-KR" sz="1800" dirty="0" err="1"/>
              <a:t>윈스턴</a:t>
            </a:r>
            <a:r>
              <a:rPr lang="en-US" altLang="ko-KR" sz="1800" dirty="0"/>
              <a:t> </a:t>
            </a:r>
            <a:r>
              <a:rPr lang="en-US" altLang="ko-KR" sz="1800" dirty="0" err="1"/>
              <a:t>처칠의</a:t>
            </a:r>
            <a:r>
              <a:rPr lang="en-US" altLang="ko-KR" sz="1800" dirty="0"/>
              <a:t> </a:t>
            </a:r>
            <a:r>
              <a:rPr lang="en-US" altLang="ko-KR" sz="1800" dirty="0" err="1"/>
              <a:t>합작품</a:t>
            </a:r>
            <a:r>
              <a:rPr lang="en-US" altLang="ko-KR" sz="1800" dirty="0"/>
              <a:t> </a:t>
            </a:r>
            <a:r>
              <a:rPr lang="ko-KR" altLang="en-US" sz="1800" b="1" dirty="0">
                <a:solidFill>
                  <a:srgbClr val="FF0000"/>
                </a:solidFill>
                <a:latin typeface="+mn-ea"/>
              </a:rPr>
              <a:t>국민건강보험</a:t>
            </a:r>
            <a:r>
              <a:rPr lang="en-US" altLang="ko-KR" sz="18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800" b="1" dirty="0">
                <a:solidFill>
                  <a:srgbClr val="FF0000"/>
                </a:solidFill>
                <a:latin typeface="+mn-ea"/>
              </a:rPr>
              <a:t>제</a:t>
            </a:r>
            <a:r>
              <a:rPr lang="en-US" altLang="ko-KR" sz="1800" b="1" dirty="0">
                <a:solidFill>
                  <a:srgbClr val="FF0000"/>
                </a:solidFill>
                <a:latin typeface="+mn-ea"/>
              </a:rPr>
              <a:t>1</a:t>
            </a:r>
            <a:r>
              <a:rPr lang="ko-KR" altLang="en-US" sz="1800" b="1" dirty="0">
                <a:solidFill>
                  <a:srgbClr val="FF0000"/>
                </a:solidFill>
                <a:latin typeface="+mn-ea"/>
              </a:rPr>
              <a:t>부</a:t>
            </a:r>
            <a:r>
              <a:rPr lang="en-US" altLang="ko-KR" sz="1800" b="1" dirty="0">
                <a:solidFill>
                  <a:srgbClr val="FF0000"/>
                </a:solidFill>
                <a:latin typeface="+mn-ea"/>
              </a:rPr>
              <a:t>)</a:t>
            </a:r>
            <a:r>
              <a:rPr lang="ko-KR" altLang="en-US" sz="1800" dirty="0">
                <a:latin typeface="+mn-ea"/>
              </a:rPr>
              <a:t>과 </a:t>
            </a:r>
            <a:r>
              <a:rPr lang="ko-KR" altLang="en-US" sz="1800" b="1" dirty="0">
                <a:solidFill>
                  <a:srgbClr val="00B050"/>
                </a:solidFill>
                <a:latin typeface="+mn-ea"/>
              </a:rPr>
              <a:t>실업보험</a:t>
            </a:r>
            <a:r>
              <a:rPr lang="en-US" altLang="ko-KR" sz="1800" b="1" dirty="0">
                <a:solidFill>
                  <a:srgbClr val="00B050"/>
                </a:solidFill>
                <a:latin typeface="+mn-ea"/>
              </a:rPr>
              <a:t>(</a:t>
            </a:r>
            <a:r>
              <a:rPr lang="ko-KR" altLang="en-US" sz="1800" b="1" dirty="0">
                <a:solidFill>
                  <a:srgbClr val="00B050"/>
                </a:solidFill>
                <a:latin typeface="+mn-ea"/>
              </a:rPr>
              <a:t>제</a:t>
            </a:r>
            <a:r>
              <a:rPr lang="en-US" altLang="ko-KR" sz="1800" b="1" dirty="0">
                <a:solidFill>
                  <a:srgbClr val="00B050"/>
                </a:solidFill>
                <a:latin typeface="+mn-ea"/>
              </a:rPr>
              <a:t>2</a:t>
            </a:r>
            <a:r>
              <a:rPr lang="ko-KR" altLang="en-US" sz="1800" b="1" dirty="0">
                <a:solidFill>
                  <a:srgbClr val="00B050"/>
                </a:solidFill>
                <a:latin typeface="+mn-ea"/>
              </a:rPr>
              <a:t>부</a:t>
            </a:r>
            <a:r>
              <a:rPr lang="en-US" altLang="ko-KR" sz="1800" b="1" dirty="0">
                <a:solidFill>
                  <a:srgbClr val="00B050"/>
                </a:solidFill>
                <a:latin typeface="+mn-ea"/>
              </a:rPr>
              <a:t>)</a:t>
            </a:r>
            <a:r>
              <a:rPr lang="ko-KR" altLang="en-US" sz="1800" dirty="0">
                <a:latin typeface="+mn-ea"/>
              </a:rPr>
              <a:t>으로 구성됨</a:t>
            </a:r>
            <a:endParaRPr lang="en-US" altLang="ko-KR" sz="1800" dirty="0">
              <a:latin typeface="+mn-ea"/>
            </a:endParaRPr>
          </a:p>
          <a:p>
            <a:pPr marL="177800" indent="-177800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</a:pPr>
            <a:r>
              <a:rPr lang="ko-KR" altLang="en-US" sz="1800" dirty="0">
                <a:latin typeface="+mn-ea"/>
              </a:rPr>
              <a:t>국민건강보험</a:t>
            </a:r>
            <a:r>
              <a:rPr lang="en-US" altLang="ko-KR" sz="1800" dirty="0">
                <a:latin typeface="+mn-ea"/>
              </a:rPr>
              <a:t>(</a:t>
            </a:r>
            <a:r>
              <a:rPr lang="ko-KR" altLang="en-US" sz="1800" dirty="0" err="1"/>
              <a:t>로이드</a:t>
            </a:r>
            <a:r>
              <a:rPr lang="ko-KR" altLang="en-US" sz="1800" dirty="0"/>
              <a:t> </a:t>
            </a:r>
            <a:r>
              <a:rPr lang="ko-KR" altLang="en-US" sz="1800" dirty="0" err="1"/>
              <a:t>조지가</a:t>
            </a:r>
            <a:r>
              <a:rPr lang="ko-KR" altLang="en-US" sz="1800" dirty="0"/>
              <a:t> 주관</a:t>
            </a:r>
            <a:r>
              <a:rPr lang="en-US" altLang="ko-KR" sz="1800" dirty="0"/>
              <a:t>)</a:t>
            </a:r>
            <a:r>
              <a:rPr lang="ko-KR" altLang="en-US" sz="1800" dirty="0"/>
              <a:t>은</a:t>
            </a:r>
            <a:r>
              <a:rPr lang="en-US" altLang="ko-KR" sz="1800" dirty="0"/>
              <a:t> </a:t>
            </a:r>
            <a:r>
              <a:rPr lang="ko-KR" altLang="en-US" sz="1800" dirty="0">
                <a:latin typeface="+mn-ea"/>
              </a:rPr>
              <a:t>의료서비스 외에 </a:t>
            </a:r>
            <a:r>
              <a:rPr lang="ko-KR" altLang="en-US" sz="1800" b="1" dirty="0">
                <a:solidFill>
                  <a:srgbClr val="7030A0"/>
                </a:solidFill>
                <a:latin typeface="+mn-ea"/>
              </a:rPr>
              <a:t>상병수당</a:t>
            </a:r>
            <a:r>
              <a:rPr lang="en-US" altLang="ko-KR" sz="1800" b="1" dirty="0">
                <a:solidFill>
                  <a:srgbClr val="7030A0"/>
                </a:solidFill>
                <a:latin typeface="+mn-ea"/>
              </a:rPr>
              <a:t>, </a:t>
            </a:r>
            <a:r>
              <a:rPr lang="ko-KR" altLang="en-US" sz="1800" b="1" dirty="0">
                <a:solidFill>
                  <a:srgbClr val="7030A0"/>
                </a:solidFill>
                <a:latin typeface="+mn-ea"/>
              </a:rPr>
              <a:t>장애수당</a:t>
            </a:r>
            <a:r>
              <a:rPr lang="en-US" altLang="ko-KR" sz="1800" b="1" dirty="0">
                <a:solidFill>
                  <a:srgbClr val="7030A0"/>
                </a:solidFill>
                <a:latin typeface="+mn-ea"/>
              </a:rPr>
              <a:t>,  </a:t>
            </a:r>
            <a:r>
              <a:rPr lang="ko-KR" altLang="en-US" sz="1800" b="1" dirty="0">
                <a:solidFill>
                  <a:srgbClr val="7030A0"/>
                </a:solidFill>
                <a:latin typeface="+mn-ea"/>
              </a:rPr>
              <a:t>출산수당</a:t>
            </a:r>
            <a:r>
              <a:rPr lang="ko-KR" altLang="en-US" sz="1800" dirty="0">
                <a:latin typeface="+mn-ea"/>
              </a:rPr>
              <a:t>을 지급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운영은 정부가 인정한 공제조합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정부는 감독권 행사</a:t>
            </a:r>
            <a:endParaRPr lang="en-US" altLang="ko-KR" sz="1800" dirty="0">
              <a:latin typeface="+mn-ea"/>
            </a:endParaRPr>
          </a:p>
          <a:p>
            <a:pPr marL="177800" indent="-177800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</a:pPr>
            <a:r>
              <a:rPr lang="ko-KR" altLang="en-US" sz="1800" dirty="0">
                <a:latin typeface="+mn-ea"/>
              </a:rPr>
              <a:t>피보험자는 </a:t>
            </a:r>
            <a:r>
              <a:rPr lang="ko-KR" altLang="en-US" sz="1800" dirty="0"/>
              <a:t>지역보험위원회의 의사명부에서 의사를 선택하여 무료로 진료를 받고</a:t>
            </a:r>
            <a:r>
              <a:rPr lang="en-US" altLang="ko-KR" sz="1800" dirty="0"/>
              <a:t>, </a:t>
            </a:r>
            <a:r>
              <a:rPr lang="ko-KR" altLang="en-US" sz="1800" dirty="0"/>
              <a:t>의사들은 자신의 명부에 등록된 피보험자 수에 비례하여 진료비를 받음</a:t>
            </a:r>
            <a:endParaRPr lang="en-US" altLang="ko-KR" sz="1800" dirty="0"/>
          </a:p>
          <a:p>
            <a:pPr marL="177800" indent="-177800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</a:pPr>
            <a:r>
              <a:rPr lang="ko-KR" altLang="en-US" sz="1800" dirty="0">
                <a:latin typeface="+mn-ea"/>
              </a:rPr>
              <a:t>실업보험</a:t>
            </a:r>
            <a:r>
              <a:rPr lang="en-US" altLang="ko-KR" sz="1800" dirty="0">
                <a:latin typeface="+mn-ea"/>
              </a:rPr>
              <a:t>(</a:t>
            </a:r>
            <a:r>
              <a:rPr lang="ko-KR" altLang="en-US" sz="1800" dirty="0" err="1">
                <a:latin typeface="+mn-ea"/>
              </a:rPr>
              <a:t>윈스턴</a:t>
            </a:r>
            <a:r>
              <a:rPr lang="ko-KR" altLang="en-US" sz="1800" dirty="0">
                <a:latin typeface="+mn-ea"/>
              </a:rPr>
              <a:t> </a:t>
            </a:r>
            <a:r>
              <a:rPr lang="ko-KR" altLang="en-US" sz="1800" dirty="0" err="1">
                <a:latin typeface="+mn-ea"/>
              </a:rPr>
              <a:t>처칠이</a:t>
            </a:r>
            <a:r>
              <a:rPr lang="ko-KR" altLang="en-US" sz="1800" dirty="0">
                <a:latin typeface="+mn-ea"/>
              </a:rPr>
              <a:t> 주관</a:t>
            </a:r>
            <a:r>
              <a:rPr lang="en-US" altLang="ko-KR" sz="1800" dirty="0">
                <a:latin typeface="+mn-ea"/>
              </a:rPr>
              <a:t>)</a:t>
            </a:r>
            <a:r>
              <a:rPr lang="ko-KR" altLang="en-US" sz="1800" dirty="0">
                <a:latin typeface="+mn-ea"/>
              </a:rPr>
              <a:t>은</a:t>
            </a:r>
            <a:r>
              <a:rPr lang="en-US" altLang="ko-KR" sz="1800" dirty="0">
                <a:latin typeface="+mn-ea"/>
              </a:rPr>
              <a:t> </a:t>
            </a:r>
            <a:r>
              <a:rPr lang="ko-KR" altLang="en-US" sz="1800" dirty="0" err="1">
                <a:latin typeface="+mn-ea"/>
              </a:rPr>
              <a:t>베버리지의</a:t>
            </a:r>
            <a:r>
              <a:rPr lang="ko-KR" altLang="en-US" sz="1800" dirty="0">
                <a:latin typeface="+mn-ea"/>
              </a:rPr>
              <a:t> 도움을 받아 입안하였고</a:t>
            </a:r>
            <a:r>
              <a:rPr lang="en-US" altLang="ko-KR" sz="1800" dirty="0">
                <a:latin typeface="+mn-ea"/>
              </a:rPr>
              <a:t>,         </a:t>
            </a:r>
            <a:r>
              <a:rPr lang="ko-KR" altLang="en-US" sz="1800" dirty="0">
                <a:latin typeface="+mn-ea"/>
              </a:rPr>
              <a:t>보험료에 비례하여 급여가 정해지도록 함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224110" y="1487644"/>
            <a:ext cx="85285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en-US" altLang="ko-KR" sz="2400" b="1" dirty="0">
                <a:solidFill>
                  <a:srgbClr val="7030A0"/>
                </a:solidFill>
                <a:latin typeface="+mn-ea"/>
              </a:rPr>
              <a:t>2) </a:t>
            </a:r>
            <a:r>
              <a:rPr lang="ko-KR" altLang="en-US" sz="2400" b="1" dirty="0">
                <a:solidFill>
                  <a:srgbClr val="7030A0"/>
                </a:solidFill>
                <a:latin typeface="+mn-ea"/>
              </a:rPr>
              <a:t>영국의 사회보험</a:t>
            </a:r>
            <a:endParaRPr lang="en-US" altLang="ko-KR" sz="2400" b="1" dirty="0">
              <a:solidFill>
                <a:srgbClr val="7030A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87998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제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4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</a:t>
            </a:r>
            <a:endParaRPr lang="en-US" altLang="ko-KR" sz="1200" dirty="0">
              <a:solidFill>
                <a:schemeClr val="bg1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사회보장의 역사</a:t>
            </a:r>
          </a:p>
        </p:txBody>
      </p:sp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8213824" y="6309320"/>
            <a:ext cx="36420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latinLnBrk="0">
              <a:spcBef>
                <a:spcPct val="0"/>
              </a:spcBef>
              <a:buFontTx/>
              <a:buNone/>
            </a:pPr>
            <a:r>
              <a:rPr lang="en-US" altLang="ko-KR" sz="1200" b="1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00</a:t>
            </a: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224111" y="420678"/>
            <a:ext cx="6776214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 </a:t>
            </a:r>
            <a:r>
              <a:rPr lang="ko-KR" altLang="en-US" sz="32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사회보장의 형성과 확대기 </a:t>
            </a:r>
            <a:r>
              <a:rPr lang="en-US" altLang="ko-KR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(1930</a:t>
            </a:r>
            <a:r>
              <a:rPr lang="ko-KR" altLang="en-US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년대 </a:t>
            </a:r>
            <a:r>
              <a:rPr lang="en-US" altLang="ko-KR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- 1970</a:t>
            </a:r>
            <a:r>
              <a:rPr lang="ko-KR" altLang="en-US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년대 초반</a:t>
            </a:r>
            <a:r>
              <a:rPr lang="en-US" altLang="ko-KR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endParaRPr lang="ko-KR" altLang="en-US" sz="200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395536" y="2204864"/>
            <a:ext cx="8352928" cy="4323130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vert="horz" wrap="square" lIns="144000" tIns="144000" rIns="144000" bIns="180000" rtlCol="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-177800">
              <a:lnSpc>
                <a:spcPct val="150000"/>
              </a:lnSpc>
              <a:spcBef>
                <a:spcPts val="1000"/>
              </a:spcBef>
              <a:buClr>
                <a:srgbClr val="7030A0"/>
              </a:buClr>
            </a:pPr>
            <a:r>
              <a:rPr lang="ko-KR" altLang="en-US" sz="1800" dirty="0"/>
              <a:t>제 </a:t>
            </a:r>
            <a:r>
              <a:rPr lang="en-US" altLang="ko-KR" sz="1800" dirty="0"/>
              <a:t>1</a:t>
            </a:r>
            <a:r>
              <a:rPr lang="ko-KR" altLang="en-US" sz="1800" dirty="0"/>
              <a:t>차 세계대전 후 미국은 경제적으로 번영을 누리고 있었지만 농업부문의 만성적 불황과 공업부문의 생산과잉</a:t>
            </a:r>
            <a:r>
              <a:rPr lang="en-US" altLang="ko-KR" sz="1800" dirty="0"/>
              <a:t>, </a:t>
            </a:r>
            <a:r>
              <a:rPr lang="ko-KR" altLang="en-US" sz="1800" dirty="0"/>
              <a:t>그리고 금융 산업의 방만한 운영 등의 원인으로 </a:t>
            </a:r>
            <a:r>
              <a:rPr lang="en-US" altLang="ko-KR" sz="1800" dirty="0">
                <a:latin typeface="+mn-ea"/>
              </a:rPr>
              <a:t>1929</a:t>
            </a:r>
            <a:r>
              <a:rPr lang="ko-KR" altLang="en-US" sz="1800" dirty="0">
                <a:latin typeface="+mn-ea"/>
              </a:rPr>
              <a:t>년 경제대공황이 발생함</a:t>
            </a:r>
            <a:endParaRPr lang="en-US" altLang="ko-KR" sz="1800" dirty="0">
              <a:latin typeface="+mn-ea"/>
            </a:endParaRPr>
          </a:p>
          <a:p>
            <a:pPr marL="177800" indent="-177800">
              <a:lnSpc>
                <a:spcPct val="150000"/>
              </a:lnSpc>
              <a:spcBef>
                <a:spcPts val="1000"/>
              </a:spcBef>
              <a:buClr>
                <a:srgbClr val="7030A0"/>
              </a:buClr>
            </a:pPr>
            <a:r>
              <a:rPr lang="ko-KR" altLang="en-US" sz="18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물가하락</a:t>
            </a:r>
            <a:r>
              <a:rPr lang="en-US" altLang="ko-KR" sz="18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(</a:t>
            </a:r>
            <a:r>
              <a:rPr lang="ko-KR" altLang="en-US" sz="18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디플레이션</a:t>
            </a:r>
            <a:r>
              <a:rPr lang="en-US" altLang="ko-KR" sz="18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) </a:t>
            </a:r>
            <a:r>
              <a:rPr lang="ko-KR" altLang="en-US" sz="18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및 경기침체와 대량실업이 발생함</a:t>
            </a:r>
          </a:p>
          <a:p>
            <a:pPr marL="177800" indent="-177800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</a:pPr>
            <a:r>
              <a:rPr lang="ko-KR" altLang="en-US" sz="1800" dirty="0">
                <a:latin typeface="+mn-ea"/>
              </a:rPr>
              <a:t>루즈벨트는 이러한 경제대공황을 극복하기 위해 영국의 경제학자인 케인즈의 이론을 기반으로 하는 </a:t>
            </a:r>
            <a:r>
              <a:rPr lang="en-US" altLang="ko-KR" sz="1800" dirty="0">
                <a:latin typeface="+mn-ea"/>
              </a:rPr>
              <a:t>7</a:t>
            </a:r>
            <a:r>
              <a:rPr lang="ko-KR" altLang="en-US" sz="1800" dirty="0">
                <a:latin typeface="+mn-ea"/>
              </a:rPr>
              <a:t>년간</a:t>
            </a:r>
            <a:r>
              <a:rPr lang="en-US" altLang="ko-KR" sz="1800" dirty="0">
                <a:latin typeface="+mn-ea"/>
              </a:rPr>
              <a:t>(1933-1939</a:t>
            </a:r>
            <a:r>
              <a:rPr lang="ko-KR" altLang="en-US" sz="1800" dirty="0">
                <a:latin typeface="+mn-ea"/>
              </a:rPr>
              <a:t>년</a:t>
            </a:r>
            <a:r>
              <a:rPr lang="en-US" altLang="ko-KR" sz="1800" dirty="0">
                <a:latin typeface="+mn-ea"/>
              </a:rPr>
              <a:t>)</a:t>
            </a:r>
            <a:r>
              <a:rPr lang="ko-KR" altLang="en-US" sz="1800" dirty="0">
                <a:latin typeface="+mn-ea"/>
              </a:rPr>
              <a:t>의 </a:t>
            </a:r>
            <a:r>
              <a:rPr lang="en-US" altLang="ko-KR" sz="1800" dirty="0">
                <a:latin typeface="+mn-ea"/>
              </a:rPr>
              <a:t>‘</a:t>
            </a:r>
            <a:r>
              <a:rPr lang="ko-KR" altLang="en-US" sz="1800" dirty="0">
                <a:highlight>
                  <a:srgbClr val="FFFF00"/>
                </a:highlight>
                <a:latin typeface="+mn-ea"/>
              </a:rPr>
              <a:t>뉴딜정책</a:t>
            </a:r>
            <a:r>
              <a:rPr lang="en-US" altLang="ko-KR" sz="1800" dirty="0">
                <a:latin typeface="+mn-ea"/>
              </a:rPr>
              <a:t>’</a:t>
            </a:r>
            <a:r>
              <a:rPr lang="ko-KR" altLang="en-US" sz="1800" dirty="0">
                <a:latin typeface="+mn-ea"/>
              </a:rPr>
              <a:t>을 채택</a:t>
            </a:r>
            <a:endParaRPr lang="en-US" altLang="ko-KR" sz="1800" dirty="0">
              <a:latin typeface="+mn-ea"/>
            </a:endParaRPr>
          </a:p>
          <a:p>
            <a:pPr marL="177800" indent="-177800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</a:pPr>
            <a:r>
              <a:rPr lang="ko-KR" altLang="en-US" sz="1800" dirty="0">
                <a:solidFill>
                  <a:srgbClr val="00B050"/>
                </a:solidFill>
                <a:highlight>
                  <a:srgbClr val="FFFF00"/>
                </a:highlight>
                <a:latin typeface="+mn-ea"/>
              </a:rPr>
              <a:t>뉴딜정책은 국가가 자유방임적 자본주의 경제활동에 개입하였다는데 의의</a:t>
            </a:r>
          </a:p>
          <a:p>
            <a:pPr marL="177800" indent="-177800">
              <a:lnSpc>
                <a:spcPct val="150000"/>
              </a:lnSpc>
              <a:spcBef>
                <a:spcPts val="1000"/>
              </a:spcBef>
              <a:buClr>
                <a:srgbClr val="7030A0"/>
              </a:buClr>
            </a:pPr>
            <a:r>
              <a:rPr lang="ko-KR" altLang="en-US" sz="1800" dirty="0">
                <a:latin typeface="+mn-ea"/>
              </a:rPr>
              <a:t>뉴딜정책을 위해 창설된 경제보장위원회의 제안들을 반영하여</a:t>
            </a:r>
            <a:r>
              <a:rPr lang="ko-KR" altLang="en-US" sz="1800" dirty="0">
                <a:highlight>
                  <a:srgbClr val="FFFF00"/>
                </a:highlight>
                <a:latin typeface="+mn-ea"/>
              </a:rPr>
              <a:t> </a:t>
            </a:r>
            <a:r>
              <a:rPr lang="en-US" altLang="ko-KR" sz="18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1935</a:t>
            </a:r>
            <a:r>
              <a:rPr lang="ko-KR" altLang="en-US" sz="18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년 세계 최초의 </a:t>
            </a:r>
            <a:r>
              <a:rPr lang="ko-KR" altLang="en-US" sz="1800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사회보장법이</a:t>
            </a:r>
            <a:r>
              <a:rPr lang="ko-KR" altLang="en-US" sz="18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제정됨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224110" y="1487644"/>
            <a:ext cx="85285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en-US" altLang="ko-KR" sz="2400" b="1" dirty="0">
                <a:solidFill>
                  <a:srgbClr val="7030A0"/>
                </a:solidFill>
                <a:latin typeface="+mn-ea"/>
              </a:rPr>
              <a:t>1) </a:t>
            </a:r>
            <a:r>
              <a:rPr lang="ko-KR" altLang="en-US" sz="2400" b="1" dirty="0">
                <a:solidFill>
                  <a:srgbClr val="7030A0"/>
                </a:solidFill>
                <a:latin typeface="+mn-ea"/>
              </a:rPr>
              <a:t>미국의 </a:t>
            </a:r>
            <a:r>
              <a:rPr lang="ko-KR" altLang="en-US" sz="2400" b="1" dirty="0" err="1">
                <a:solidFill>
                  <a:srgbClr val="7030A0"/>
                </a:solidFill>
                <a:latin typeface="+mn-ea"/>
              </a:rPr>
              <a:t>사회보장법</a:t>
            </a:r>
            <a:r>
              <a:rPr lang="en-US" altLang="ko-KR" sz="2400" b="1" dirty="0">
                <a:solidFill>
                  <a:srgbClr val="7030A0"/>
                </a:solidFill>
                <a:latin typeface="+mn-ea"/>
              </a:rPr>
              <a:t>(1935</a:t>
            </a:r>
            <a:r>
              <a:rPr lang="ko-KR" altLang="en-US" sz="2400" b="1" dirty="0">
                <a:solidFill>
                  <a:srgbClr val="7030A0"/>
                </a:solidFill>
                <a:latin typeface="+mn-ea"/>
              </a:rPr>
              <a:t>년</a:t>
            </a:r>
            <a:r>
              <a:rPr lang="en-US" altLang="ko-KR" sz="2400" b="1" dirty="0">
                <a:solidFill>
                  <a:srgbClr val="7030A0"/>
                </a:solidFill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270709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제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4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</a:t>
            </a:r>
            <a:endParaRPr lang="en-US" altLang="ko-KR" sz="1200" dirty="0">
              <a:solidFill>
                <a:schemeClr val="bg1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사회보장의 역사</a:t>
            </a:r>
          </a:p>
        </p:txBody>
      </p:sp>
      <p:sp>
        <p:nvSpPr>
          <p:cNvPr id="11" name="내용 개체 틀 2"/>
          <p:cNvSpPr>
            <a:spLocks noGrp="1"/>
          </p:cNvSpPr>
          <p:nvPr>
            <p:ph idx="1"/>
          </p:nvPr>
        </p:nvSpPr>
        <p:spPr>
          <a:xfrm>
            <a:off x="339302" y="5445224"/>
            <a:ext cx="8352928" cy="751415"/>
          </a:xfrm>
          <a:prstGeom prst="roundRect">
            <a:avLst>
              <a:gd name="adj" fmla="val 775"/>
            </a:avLst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108000" tIns="36000" rIns="108000" bIns="36000">
            <a:spAutoFit/>
          </a:bodyPr>
          <a:lstStyle/>
          <a:p>
            <a:pPr>
              <a:lnSpc>
                <a:spcPts val="2800"/>
              </a:lnSpc>
              <a:spcBef>
                <a:spcPts val="0"/>
              </a:spcBef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ko-KR" altLang="en-US" sz="1800" dirty="0">
                <a:highlight>
                  <a:srgbClr val="FFFF00"/>
                </a:highlight>
                <a:latin typeface="+mn-ea"/>
              </a:rPr>
              <a:t>이 당시 사회보험에 의료보험이 포함되지 못한 것은 보험회사와 의사들의 반발 때문</a:t>
            </a:r>
            <a:r>
              <a:rPr lang="ko-KR" altLang="en-US" sz="1800" dirty="0">
                <a:latin typeface="+mn-ea"/>
              </a:rPr>
              <a:t>이었음 </a:t>
            </a:r>
            <a:endParaRPr lang="en-US" altLang="ko-KR" sz="1800" dirty="0">
              <a:latin typeface="+mn-ea"/>
            </a:endParaRPr>
          </a:p>
        </p:txBody>
      </p:sp>
      <p:graphicFrame>
        <p:nvGraphicFramePr>
          <p:cNvPr id="8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601541"/>
              </p:ext>
            </p:extLst>
          </p:nvPr>
        </p:nvGraphicFramePr>
        <p:xfrm>
          <a:off x="395536" y="2060848"/>
          <a:ext cx="8352928" cy="2955544"/>
        </p:xfrm>
        <a:graphic>
          <a:graphicData uri="http://schemas.openxmlformats.org/drawingml/2006/table">
            <a:tbl>
              <a:tblPr/>
              <a:tblGrid>
                <a:gridCol w="216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9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3670">
                <a:tc grid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spc="-50" baseline="0" dirty="0">
                          <a:solidFill>
                            <a:schemeClr val="tx1"/>
                          </a:solidFill>
                        </a:rPr>
                        <a:t>사회보장법의 내용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7030A0">
                            <a:tint val="66000"/>
                            <a:satMod val="160000"/>
                          </a:srgbClr>
                        </a:gs>
                        <a:gs pos="50000">
                          <a:srgbClr val="7030A0">
                            <a:tint val="44500"/>
                            <a:satMod val="160000"/>
                          </a:srgbClr>
                        </a:gs>
                        <a:gs pos="100000">
                          <a:srgbClr val="7030A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spc="-5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7030A0">
                            <a:tint val="66000"/>
                            <a:satMod val="160000"/>
                          </a:srgbClr>
                        </a:gs>
                        <a:gs pos="50000">
                          <a:srgbClr val="7030A0">
                            <a:tint val="44500"/>
                            <a:satMod val="160000"/>
                          </a:srgbClr>
                        </a:gs>
                        <a:gs pos="100000">
                          <a:srgbClr val="7030A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670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spc="0" baseline="0" dirty="0"/>
                        <a:t>사회보험</a:t>
                      </a:r>
                      <a:endParaRPr lang="en-US" altLang="ko-KR" sz="1600" spc="0" baseline="0" dirty="0"/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ko-KR" altLang="en-US" sz="1600" spc="0" baseline="0" dirty="0"/>
                        <a:t>노령연금보험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spc="0" baseline="0" dirty="0"/>
                        <a:t>연방정부가 운영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670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spc="0" baseline="0" dirty="0"/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spc="0" baseline="0" dirty="0"/>
                        <a:t>실업보험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ko-KR" altLang="en-US" sz="1600" spc="0" baseline="0" dirty="0"/>
                        <a:t>주정부가 운영하고</a:t>
                      </a:r>
                      <a:endParaRPr lang="en-US" altLang="ko-KR" sz="1600" spc="0" baseline="0" dirty="0"/>
                    </a:p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ko-KR" altLang="en-US" sz="1600" spc="0" baseline="0" dirty="0"/>
                        <a:t>연방정부가  재정보조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6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spc="0" baseline="0" dirty="0"/>
                        <a:t>공공부조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600" spc="0" baseline="0" dirty="0"/>
                        <a:t>65</a:t>
                      </a:r>
                      <a:r>
                        <a:rPr lang="ko-KR" altLang="en-US" sz="1600" spc="0" baseline="0" dirty="0"/>
                        <a:t>세 이상의 빈곤노인</a:t>
                      </a:r>
                      <a:r>
                        <a:rPr lang="en-US" altLang="ko-KR" sz="1600" spc="0" baseline="0" dirty="0"/>
                        <a:t> </a:t>
                      </a:r>
                    </a:p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ko-KR" altLang="en-US" sz="1600" spc="0" baseline="0" dirty="0" err="1"/>
                        <a:t>요보호맹인</a:t>
                      </a:r>
                      <a:r>
                        <a:rPr lang="ko-KR" altLang="en-US" sz="1600" spc="0" baseline="0" dirty="0"/>
                        <a:t> 및 장애인</a:t>
                      </a:r>
                      <a:r>
                        <a:rPr lang="en-US" altLang="ko-KR" sz="1600" spc="0" baseline="0" dirty="0"/>
                        <a:t> </a:t>
                      </a:r>
                    </a:p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ko-KR" altLang="en-US" sz="1600" spc="0" baseline="0" dirty="0" err="1"/>
                        <a:t>요보호아동</a:t>
                      </a:r>
                      <a:r>
                        <a:rPr lang="ko-KR" altLang="en-US" sz="1600" spc="0" baseline="0" dirty="0"/>
                        <a:t> 집단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endParaRPr lang="ko-KR" altLang="en-US" sz="1600" spc="0" baseline="0" dirty="0"/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6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spc="0" baseline="0" dirty="0"/>
                        <a:t>보건 및 복지서비스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ED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spc="0" baseline="0" dirty="0"/>
                        <a:t>모자보건</a:t>
                      </a:r>
                      <a:r>
                        <a:rPr lang="en-US" altLang="ko-KR" sz="1600" spc="0" baseline="0" dirty="0"/>
                        <a:t>·</a:t>
                      </a:r>
                      <a:r>
                        <a:rPr lang="ko-KR" altLang="en-US" sz="1600" spc="0" baseline="0" dirty="0"/>
                        <a:t>아동복지서비스</a:t>
                      </a:r>
                      <a:endParaRPr lang="en-US" altLang="ko-KR" sz="1600" spc="0" baseline="0" dirty="0"/>
                    </a:p>
                    <a:p>
                      <a:pPr marL="0" marR="0" indent="0" algn="ctr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spc="0" baseline="0" dirty="0"/>
                        <a:t> </a:t>
                      </a:r>
                      <a:r>
                        <a:rPr lang="ko-KR" altLang="en-US" sz="1600" spc="0" baseline="0" dirty="0"/>
                        <a:t>직업재활 및 공중보건서비스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EDF9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spc="0" baseline="0" dirty="0"/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ED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제목 1"/>
          <p:cNvSpPr txBox="1">
            <a:spLocks/>
          </p:cNvSpPr>
          <p:nvPr/>
        </p:nvSpPr>
        <p:spPr>
          <a:xfrm>
            <a:off x="224111" y="420678"/>
            <a:ext cx="6776214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 </a:t>
            </a:r>
            <a:r>
              <a:rPr lang="ko-KR" altLang="en-US" sz="32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사회보장의 형성과 확대기 </a:t>
            </a:r>
            <a:r>
              <a:rPr lang="en-US" altLang="ko-KR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(1930</a:t>
            </a:r>
            <a:r>
              <a:rPr lang="ko-KR" altLang="en-US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년대 </a:t>
            </a:r>
            <a:r>
              <a:rPr lang="en-US" altLang="ko-KR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- 1970</a:t>
            </a:r>
            <a:r>
              <a:rPr lang="ko-KR" altLang="en-US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년대 초반</a:t>
            </a:r>
            <a:r>
              <a:rPr lang="en-US" altLang="ko-KR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endParaRPr lang="ko-KR" altLang="en-US" sz="200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24110" y="1487644"/>
            <a:ext cx="85285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en-US" altLang="ko-KR" sz="2400" b="1" dirty="0">
                <a:solidFill>
                  <a:srgbClr val="7030A0"/>
                </a:solidFill>
                <a:latin typeface="+mn-ea"/>
              </a:rPr>
              <a:t>1) </a:t>
            </a:r>
            <a:r>
              <a:rPr lang="ko-KR" altLang="en-US" sz="2400" b="1" dirty="0">
                <a:solidFill>
                  <a:srgbClr val="7030A0"/>
                </a:solidFill>
                <a:latin typeface="+mn-ea"/>
              </a:rPr>
              <a:t>미국의 </a:t>
            </a:r>
            <a:r>
              <a:rPr lang="ko-KR" altLang="en-US" sz="2400" b="1" dirty="0" err="1">
                <a:solidFill>
                  <a:srgbClr val="7030A0"/>
                </a:solidFill>
                <a:latin typeface="+mn-ea"/>
              </a:rPr>
              <a:t>사회보장법</a:t>
            </a:r>
            <a:r>
              <a:rPr lang="en-US" altLang="ko-KR" sz="2400" b="1" dirty="0">
                <a:solidFill>
                  <a:srgbClr val="7030A0"/>
                </a:solidFill>
                <a:latin typeface="+mn-ea"/>
              </a:rPr>
              <a:t>(1935</a:t>
            </a:r>
            <a:r>
              <a:rPr lang="ko-KR" altLang="en-US" sz="2400" b="1" dirty="0">
                <a:solidFill>
                  <a:srgbClr val="7030A0"/>
                </a:solidFill>
                <a:latin typeface="+mn-ea"/>
              </a:rPr>
              <a:t>년</a:t>
            </a:r>
            <a:r>
              <a:rPr lang="en-US" altLang="ko-KR" sz="2400" b="1" dirty="0">
                <a:solidFill>
                  <a:srgbClr val="7030A0"/>
                </a:solidFill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438664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4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역사</a:t>
            </a:r>
          </a:p>
        </p:txBody>
      </p:sp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8213824" y="6309320"/>
            <a:ext cx="36420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00</a:t>
            </a: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224111" y="420678"/>
            <a:ext cx="6776214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3. 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사회보장의 형성과 확대기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(1930</a:t>
            </a:r>
            <a:r>
              <a:rPr kumimoji="0" lang="ko-KR" altLang="en-US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- 1970</a:t>
            </a:r>
            <a:r>
              <a:rPr kumimoji="0" lang="ko-KR" altLang="en-US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초반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)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  <a:cs typeface="+mj-cs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395536" y="2204864"/>
            <a:ext cx="8352928" cy="2894855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vert="horz" wrap="square" lIns="144000" tIns="144000" rIns="144000" bIns="180000" rtlCol="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1935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년에 제정된 미국의 사회보장법은 독일이 처음 질병보험법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(1883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년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을  도입한 때보다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52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년이 늦었고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영국이 국민보험법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(1911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년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을 도입한 때보다도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24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년이나 늦었음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비록 유럽국가들보다 시기적으로 늦었지만 미국의 사회보장법은 미국 최초의 연방정부 차원의 복지프로그램으로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미국 사회보장제도의 역사적 근간이 되었음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24110" y="1487644"/>
            <a:ext cx="85285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1)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미국의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사회보장법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(1935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년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073D871-C05F-494A-A0F1-D5F3FD025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061" y="502228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55149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제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4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</a:t>
            </a:r>
            <a:endParaRPr lang="en-US" altLang="ko-KR" sz="1200" dirty="0">
              <a:solidFill>
                <a:schemeClr val="bg1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사회보장의 역사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405855" y="2780928"/>
            <a:ext cx="8342609" cy="3182113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wrap="square" lIns="144000" tIns="144000" rIns="144000" bIns="180000">
            <a:spAutoFit/>
          </a:bodyPr>
          <a:lstStyle/>
          <a:p>
            <a:pPr marL="177800" indent="-177800" fontAlgn="base">
              <a:lnSpc>
                <a:spcPct val="150000"/>
              </a:lnSpc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dirty="0"/>
              <a:t>제</a:t>
            </a:r>
            <a:r>
              <a:rPr lang="en-US" altLang="ko-KR" dirty="0"/>
              <a:t>2</a:t>
            </a:r>
            <a:r>
              <a:rPr lang="ko-KR" altLang="en-US" dirty="0"/>
              <a:t>차 세계대전 중 영국에서는 전쟁 후 전쟁사상자와 빈민을 구제하기 위해 종래의 구빈제도가 더 이상 작동할 수 없다는 것을 인식함</a:t>
            </a:r>
            <a:endParaRPr lang="en-US" altLang="ko-KR" dirty="0"/>
          </a:p>
          <a:p>
            <a:pPr marL="177800" indent="-177800" fontAlgn="base">
              <a:lnSpc>
                <a:spcPct val="150000"/>
              </a:lnSpc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dirty="0"/>
              <a:t>전후의 국가재건 프로그램이 필요하다고 생각한 당시 </a:t>
            </a:r>
            <a:r>
              <a:rPr lang="ko-KR" altLang="en-US" dirty="0" err="1"/>
              <a:t>윈스턴</a:t>
            </a:r>
            <a:r>
              <a:rPr lang="ko-KR" altLang="en-US" dirty="0"/>
              <a:t> 처칠 수상은  </a:t>
            </a:r>
            <a:r>
              <a:rPr lang="ko-KR" altLang="en-US" dirty="0" err="1"/>
              <a:t>베버리지를</a:t>
            </a:r>
            <a:r>
              <a:rPr lang="ko-KR" altLang="en-US" dirty="0"/>
              <a:t> 위원장으로 하는 부처 간 위원회를 조직하여 복지개혁에 착수함</a:t>
            </a:r>
          </a:p>
          <a:p>
            <a:pPr marL="177800" indent="-177800" fontAlgn="base">
              <a:lnSpc>
                <a:spcPct val="150000"/>
              </a:lnSpc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en-US" altLang="ko-KR" dirty="0"/>
              <a:t>1942</a:t>
            </a:r>
            <a:r>
              <a:rPr lang="ko-KR" altLang="en-US" dirty="0"/>
              <a:t>년 </a:t>
            </a:r>
            <a:r>
              <a:rPr lang="en-US" altLang="ko-KR" dirty="0"/>
              <a:t>9</a:t>
            </a:r>
            <a:r>
              <a:rPr lang="ko-KR" altLang="en-US" dirty="0"/>
              <a:t>월에 획기적인 사회보장 개혁안이 담긴 베버리지 보고서가 완성되었으며</a:t>
            </a:r>
            <a:r>
              <a:rPr lang="en-US" altLang="ko-KR" dirty="0"/>
              <a:t>, </a:t>
            </a:r>
            <a:r>
              <a:rPr lang="ko-KR" altLang="en-US" dirty="0"/>
              <a:t>보고서의 정식명칭은</a:t>
            </a:r>
            <a:r>
              <a:rPr lang="ko-KR" altLang="en-US" dirty="0">
                <a:highlight>
                  <a:srgbClr val="FFFF00"/>
                </a:highlight>
              </a:rPr>
              <a:t> </a:t>
            </a:r>
            <a:r>
              <a:rPr lang="ko-KR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‘사회보험과 관련 서비스’</a:t>
            </a:r>
            <a:r>
              <a:rPr lang="en-US" altLang="ko-KR" dirty="0">
                <a:solidFill>
                  <a:srgbClr val="FF0000"/>
                </a:solidFill>
                <a:highlight>
                  <a:srgbClr val="FFFF00"/>
                </a:highlight>
              </a:rPr>
              <a:t>(Social Insurance and Allied Services)</a:t>
            </a:r>
            <a:endParaRPr lang="ko-KR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224111" y="1487644"/>
            <a:ext cx="67751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en-US" altLang="ko-KR" sz="2400" b="1" dirty="0">
                <a:solidFill>
                  <a:srgbClr val="7030A0"/>
                </a:solidFill>
                <a:latin typeface="+mn-ea"/>
              </a:rPr>
              <a:t>2) </a:t>
            </a:r>
            <a:r>
              <a:rPr lang="ko-KR" altLang="en-US" sz="2400" b="1" dirty="0">
                <a:solidFill>
                  <a:srgbClr val="7030A0"/>
                </a:solidFill>
                <a:latin typeface="+mn-ea"/>
              </a:rPr>
              <a:t>영국의 베버리지 보고서와 입법</a:t>
            </a:r>
          </a:p>
        </p:txBody>
      </p:sp>
      <p:grpSp>
        <p:nvGrpSpPr>
          <p:cNvPr id="21" name="그룹 20"/>
          <p:cNvGrpSpPr/>
          <p:nvPr/>
        </p:nvGrpSpPr>
        <p:grpSpPr>
          <a:xfrm>
            <a:off x="405855" y="2134307"/>
            <a:ext cx="3376352" cy="400110"/>
            <a:chOff x="971600" y="2380818"/>
            <a:chExt cx="3376352" cy="400110"/>
          </a:xfrm>
        </p:grpSpPr>
        <p:pic>
          <p:nvPicPr>
            <p:cNvPr id="22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1600" y="2493482"/>
              <a:ext cx="215563" cy="215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" name="내용 개체 틀 2"/>
            <p:cNvSpPr txBox="1">
              <a:spLocks/>
            </p:cNvSpPr>
            <p:nvPr/>
          </p:nvSpPr>
          <p:spPr>
            <a:xfrm>
              <a:off x="1223994" y="2380818"/>
              <a:ext cx="3123958" cy="400110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1800"/>
                </a:spcBef>
                <a:buNone/>
              </a:pPr>
              <a:r>
                <a:rPr lang="ko-KR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베버리지 보고서</a:t>
              </a:r>
              <a:r>
                <a:rPr lang="en-US" altLang="ko-KR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(1942</a:t>
              </a:r>
              <a:r>
                <a:rPr lang="ko-KR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년</a:t>
              </a:r>
              <a:r>
                <a:rPr lang="en-US" altLang="ko-KR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)</a:t>
              </a:r>
              <a:endParaRPr lang="ko-KR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24" name="제목 1"/>
          <p:cNvSpPr txBox="1">
            <a:spLocks/>
          </p:cNvSpPr>
          <p:nvPr/>
        </p:nvSpPr>
        <p:spPr>
          <a:xfrm>
            <a:off x="224111" y="420678"/>
            <a:ext cx="6776214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 </a:t>
            </a:r>
            <a:r>
              <a:rPr lang="ko-KR" altLang="en-US" sz="32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사회보장의 형성과 확대기 </a:t>
            </a:r>
            <a:r>
              <a:rPr lang="en-US" altLang="ko-KR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(1930</a:t>
            </a:r>
            <a:r>
              <a:rPr lang="ko-KR" altLang="en-US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년대 </a:t>
            </a:r>
            <a:r>
              <a:rPr lang="en-US" altLang="ko-KR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- 1970</a:t>
            </a:r>
            <a:r>
              <a:rPr lang="ko-KR" altLang="en-US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년대 초반</a:t>
            </a:r>
            <a:r>
              <a:rPr lang="en-US" altLang="ko-KR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endParaRPr lang="ko-KR" altLang="en-US" sz="200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68441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제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4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</a:t>
            </a:r>
            <a:endParaRPr lang="en-US" altLang="ko-KR" sz="1200" dirty="0">
              <a:solidFill>
                <a:schemeClr val="bg1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사회보장의 역사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405855" y="2564904"/>
            <a:ext cx="8342609" cy="3651151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wrap="square" lIns="144000" tIns="144000" rIns="144000" bIns="180000">
            <a:spAutoFit/>
          </a:bodyPr>
          <a:lstStyle/>
          <a:p>
            <a:pPr marL="177800" indent="-177800" fontAlgn="base">
              <a:lnSpc>
                <a:spcPct val="150000"/>
              </a:lnSpc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dirty="0"/>
              <a:t>베버리지는 보고서에서 </a:t>
            </a:r>
            <a:r>
              <a:rPr lang="ko-KR" altLang="en-US" dirty="0">
                <a:highlight>
                  <a:srgbClr val="FFFF00"/>
                </a:highlight>
              </a:rPr>
              <a:t>궁핍</a:t>
            </a:r>
            <a:r>
              <a:rPr lang="en-US" altLang="ko-KR" dirty="0">
                <a:highlight>
                  <a:srgbClr val="FFFF00"/>
                </a:highlight>
              </a:rPr>
              <a:t>(want), </a:t>
            </a:r>
            <a:r>
              <a:rPr lang="ko-KR" altLang="en-US" dirty="0">
                <a:highlight>
                  <a:srgbClr val="FFFF00"/>
                </a:highlight>
              </a:rPr>
              <a:t>질병</a:t>
            </a:r>
            <a:r>
              <a:rPr lang="en-US" altLang="ko-KR" dirty="0">
                <a:highlight>
                  <a:srgbClr val="FFFF00"/>
                </a:highlight>
              </a:rPr>
              <a:t>(disease), </a:t>
            </a:r>
            <a:r>
              <a:rPr lang="ko-KR" altLang="en-US" dirty="0">
                <a:highlight>
                  <a:srgbClr val="FFFF00"/>
                </a:highlight>
              </a:rPr>
              <a:t>무지</a:t>
            </a:r>
            <a:r>
              <a:rPr lang="en-US" altLang="ko-KR" dirty="0">
                <a:highlight>
                  <a:srgbClr val="FFFF00"/>
                </a:highlight>
              </a:rPr>
              <a:t>(ignorance), </a:t>
            </a:r>
            <a:r>
              <a:rPr lang="ko-KR" altLang="en-US" dirty="0">
                <a:highlight>
                  <a:srgbClr val="FFFF00"/>
                </a:highlight>
              </a:rPr>
              <a:t>불결</a:t>
            </a:r>
            <a:r>
              <a:rPr lang="en-US" altLang="ko-KR" dirty="0">
                <a:highlight>
                  <a:srgbClr val="FFFF00"/>
                </a:highlight>
              </a:rPr>
              <a:t>(squalor), </a:t>
            </a:r>
            <a:r>
              <a:rPr lang="ko-KR" altLang="en-US" dirty="0">
                <a:highlight>
                  <a:srgbClr val="FFFF00"/>
                </a:highlight>
              </a:rPr>
              <a:t>나태</a:t>
            </a:r>
            <a:r>
              <a:rPr lang="en-US" altLang="ko-KR" dirty="0">
                <a:highlight>
                  <a:srgbClr val="FFFF00"/>
                </a:highlight>
              </a:rPr>
              <a:t>(idleness)</a:t>
            </a:r>
            <a:r>
              <a:rPr lang="ko-KR" altLang="en-US" dirty="0"/>
              <a:t>를 영국이 극복해야 할 </a:t>
            </a:r>
            <a:r>
              <a:rPr lang="en-US" altLang="ko-KR" dirty="0"/>
              <a:t>5</a:t>
            </a:r>
            <a:r>
              <a:rPr lang="ko-KR" altLang="en-US" dirty="0"/>
              <a:t>대 사회악으로 구분하였음</a:t>
            </a:r>
            <a:endParaRPr lang="en-US" altLang="ko-KR" dirty="0"/>
          </a:p>
          <a:p>
            <a:pPr marL="177800" indent="-177800" fontAlgn="base">
              <a:lnSpc>
                <a:spcPct val="150000"/>
              </a:lnSpc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dirty="0"/>
              <a:t>국가가 사회보험제도를 정비하여 이에 대응하여야 하며</a:t>
            </a:r>
            <a:r>
              <a:rPr lang="en-US" altLang="ko-KR" dirty="0"/>
              <a:t>, </a:t>
            </a:r>
            <a:r>
              <a:rPr lang="ko-KR" altLang="en-US" dirty="0"/>
              <a:t>불가능할 경우에는 국민부조</a:t>
            </a:r>
            <a:r>
              <a:rPr lang="en-US" altLang="ko-KR" dirty="0"/>
              <a:t>(</a:t>
            </a:r>
            <a:r>
              <a:rPr lang="ko-KR" altLang="en-US" dirty="0"/>
              <a:t>공공부조</a:t>
            </a:r>
            <a:r>
              <a:rPr lang="en-US" altLang="ko-KR" dirty="0"/>
              <a:t>)</a:t>
            </a:r>
            <a:r>
              <a:rPr lang="ko-KR" altLang="en-US" dirty="0"/>
              <a:t>를 설계해야 한다고 주장함</a:t>
            </a:r>
          </a:p>
          <a:p>
            <a:pPr marL="177800" indent="-177800" fontAlgn="base">
              <a:lnSpc>
                <a:spcPct val="150000"/>
              </a:lnSpc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dirty="0"/>
              <a:t>베버리지는 특히 궁핍에 초점을 맞추고 사회보험을 통한 국민최저</a:t>
            </a:r>
            <a:r>
              <a:rPr lang="en-US" altLang="ko-KR" dirty="0"/>
              <a:t>(national minimum) </a:t>
            </a:r>
            <a:r>
              <a:rPr lang="ko-KR" altLang="en-US" dirty="0"/>
              <a:t>수준의 소득보장을 기하는 데 중점을 두었음</a:t>
            </a:r>
          </a:p>
          <a:p>
            <a:pPr marL="177800" indent="-177800" fontAlgn="base">
              <a:lnSpc>
                <a:spcPct val="150000"/>
              </a:lnSpc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dirty="0"/>
              <a:t>그리고 사회보험이 성공하기 위한 </a:t>
            </a:r>
            <a:r>
              <a:rPr lang="ko-KR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세 가지 전제조건과 사회보험의 운영원칙 여섯 가지를 제시함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224111" y="1487644"/>
            <a:ext cx="67751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en-US" altLang="ko-KR" sz="2400" b="1" dirty="0">
                <a:solidFill>
                  <a:srgbClr val="7030A0"/>
                </a:solidFill>
                <a:latin typeface="+mn-ea"/>
              </a:rPr>
              <a:t>2) </a:t>
            </a:r>
            <a:r>
              <a:rPr lang="ko-KR" altLang="en-US" sz="2400" b="1" dirty="0">
                <a:solidFill>
                  <a:srgbClr val="7030A0"/>
                </a:solidFill>
                <a:latin typeface="+mn-ea"/>
              </a:rPr>
              <a:t>영국의 베버리지 보고서와 입법</a:t>
            </a:r>
          </a:p>
        </p:txBody>
      </p:sp>
      <p:grpSp>
        <p:nvGrpSpPr>
          <p:cNvPr id="16" name="그룹 15"/>
          <p:cNvGrpSpPr/>
          <p:nvPr/>
        </p:nvGrpSpPr>
        <p:grpSpPr>
          <a:xfrm>
            <a:off x="405855" y="2020778"/>
            <a:ext cx="3376352" cy="400110"/>
            <a:chOff x="971600" y="2380818"/>
            <a:chExt cx="3376352" cy="400110"/>
          </a:xfrm>
        </p:grpSpPr>
        <p:pic>
          <p:nvPicPr>
            <p:cNvPr id="1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1600" y="2493482"/>
              <a:ext cx="215563" cy="215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내용 개체 틀 2"/>
            <p:cNvSpPr txBox="1">
              <a:spLocks/>
            </p:cNvSpPr>
            <p:nvPr/>
          </p:nvSpPr>
          <p:spPr>
            <a:xfrm>
              <a:off x="1223994" y="2380818"/>
              <a:ext cx="3123958" cy="400110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1800"/>
                </a:spcBef>
                <a:buNone/>
              </a:pPr>
              <a:r>
                <a:rPr lang="ko-KR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베버리지 보고서</a:t>
              </a:r>
              <a:r>
                <a:rPr lang="en-US" altLang="ko-KR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(1942</a:t>
              </a:r>
              <a:r>
                <a:rPr lang="ko-KR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년</a:t>
              </a:r>
              <a:r>
                <a:rPr lang="en-US" altLang="ko-KR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)</a:t>
              </a:r>
              <a:endParaRPr lang="ko-KR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19" name="제목 1"/>
          <p:cNvSpPr txBox="1">
            <a:spLocks/>
          </p:cNvSpPr>
          <p:nvPr/>
        </p:nvSpPr>
        <p:spPr>
          <a:xfrm>
            <a:off x="224111" y="420678"/>
            <a:ext cx="6776214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 </a:t>
            </a:r>
            <a:r>
              <a:rPr lang="ko-KR" altLang="en-US" sz="32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사회보장의 형성과 확대기 </a:t>
            </a:r>
            <a:r>
              <a:rPr lang="en-US" altLang="ko-KR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(1930</a:t>
            </a:r>
            <a:r>
              <a:rPr lang="ko-KR" altLang="en-US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년대 </a:t>
            </a:r>
            <a:r>
              <a:rPr lang="en-US" altLang="ko-KR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- 1970</a:t>
            </a:r>
            <a:r>
              <a:rPr lang="ko-KR" altLang="en-US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년대 초반</a:t>
            </a:r>
            <a:r>
              <a:rPr lang="en-US" altLang="ko-KR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endParaRPr lang="ko-KR" altLang="en-US" sz="200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441287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제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4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</a:t>
            </a:r>
            <a:endParaRPr lang="en-US" altLang="ko-KR" sz="1200" dirty="0">
              <a:solidFill>
                <a:schemeClr val="bg1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사회보장의 역사</a:t>
            </a:r>
          </a:p>
        </p:txBody>
      </p:sp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8213824" y="6309320"/>
            <a:ext cx="36420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latinLnBrk="0">
              <a:spcBef>
                <a:spcPct val="0"/>
              </a:spcBef>
              <a:buFontTx/>
              <a:buNone/>
            </a:pPr>
            <a:r>
              <a:rPr lang="en-US" altLang="ko-KR" sz="1200" b="1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00</a:t>
            </a:r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3345542" y="1412776"/>
            <a:ext cx="2452916" cy="33855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600" spc="-150" dirty="0">
                <a:latin typeface="+mn-ea"/>
                <a:ea typeface="+mn-ea"/>
              </a:rPr>
              <a:t>&lt;</a:t>
            </a:r>
            <a:r>
              <a:rPr lang="ko-KR" altLang="en-US" sz="1600" spc="-150" dirty="0">
                <a:latin typeface="+mn-ea"/>
                <a:ea typeface="+mn-ea"/>
              </a:rPr>
              <a:t>표</a:t>
            </a:r>
            <a:r>
              <a:rPr lang="en-US" altLang="ko-KR" sz="1600" spc="-150" dirty="0">
                <a:latin typeface="+mn-ea"/>
                <a:ea typeface="+mn-ea"/>
              </a:rPr>
              <a:t>&gt; </a:t>
            </a:r>
            <a:r>
              <a:rPr lang="ko-KR" altLang="en-US" sz="1600" spc="-150" dirty="0">
                <a:latin typeface="+mn-ea"/>
                <a:ea typeface="+mn-ea"/>
              </a:rPr>
              <a:t>베버리지 보고서 내용</a:t>
            </a:r>
          </a:p>
        </p:txBody>
      </p:sp>
      <p:graphicFrame>
        <p:nvGraphicFramePr>
          <p:cNvPr id="11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08756364"/>
              </p:ext>
            </p:extLst>
          </p:nvPr>
        </p:nvGraphicFramePr>
        <p:xfrm>
          <a:off x="405855" y="1871790"/>
          <a:ext cx="8342609" cy="4685948"/>
        </p:xfrm>
        <a:graphic>
          <a:graphicData uri="http://schemas.openxmlformats.org/drawingml/2006/table">
            <a:tbl>
              <a:tblPr/>
              <a:tblGrid>
                <a:gridCol w="788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499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53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50" b="1" spc="-50" baseline="0" dirty="0">
                          <a:solidFill>
                            <a:schemeClr val="tx1"/>
                          </a:solidFill>
                        </a:rPr>
                        <a:t>구 분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7030A0">
                            <a:tint val="66000"/>
                            <a:satMod val="160000"/>
                          </a:srgbClr>
                        </a:gs>
                        <a:gs pos="50000">
                          <a:srgbClr val="7030A0">
                            <a:tint val="44500"/>
                            <a:satMod val="160000"/>
                          </a:srgbClr>
                        </a:gs>
                        <a:gs pos="100000">
                          <a:srgbClr val="7030A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50" b="1" spc="-50" baseline="0" dirty="0">
                          <a:solidFill>
                            <a:schemeClr val="tx1"/>
                          </a:solidFill>
                        </a:rPr>
                        <a:t>내 용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7030A0">
                            <a:tint val="66000"/>
                            <a:satMod val="160000"/>
                          </a:srgbClr>
                        </a:gs>
                        <a:gs pos="50000">
                          <a:srgbClr val="7030A0">
                            <a:tint val="44500"/>
                            <a:satMod val="160000"/>
                          </a:srgbClr>
                        </a:gs>
                        <a:gs pos="100000">
                          <a:srgbClr val="7030A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98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50" spc="-50" baseline="0" dirty="0"/>
                        <a:t>사회보험</a:t>
                      </a:r>
                      <a:endParaRPr lang="en-US" altLang="ko-KR" sz="1150" spc="-50" baseline="0" dirty="0"/>
                    </a:p>
                    <a:p>
                      <a:pPr marL="0" marR="0" indent="0" algn="ctr" fontAlgn="base" latinLnBrk="0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50" spc="-50" baseline="0" dirty="0"/>
                        <a:t>전제조건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50" spc="-50" baseline="0" dirty="0"/>
                        <a:t>① 가족수당</a:t>
                      </a:r>
                      <a:r>
                        <a:rPr lang="en-US" altLang="ko-KR" sz="1150" spc="-50" baseline="0" dirty="0"/>
                        <a:t>(</a:t>
                      </a:r>
                      <a:r>
                        <a:rPr lang="ko-KR" altLang="en-US" sz="1150" spc="-50" baseline="0" dirty="0"/>
                        <a:t>아동수당</a:t>
                      </a:r>
                      <a:r>
                        <a:rPr lang="en-US" altLang="ko-KR" sz="1150" spc="-50" baseline="0" dirty="0"/>
                        <a:t>) </a:t>
                      </a:r>
                      <a:r>
                        <a:rPr lang="ko-KR" altLang="en-US" sz="1150" spc="-50" baseline="0" dirty="0"/>
                        <a:t>② 포괄적 보건서비스 ③ 완전고용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500" spc="-50" baseline="0" dirty="0"/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4439">
                <a:tc rowSpan="1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50" spc="-50" baseline="0" dirty="0"/>
                        <a:t>사회보험</a:t>
                      </a:r>
                      <a:endParaRPr lang="en-US" altLang="ko-KR" sz="1150" spc="-50" baseline="0" dirty="0"/>
                    </a:p>
                    <a:p>
                      <a:pPr marL="0" marR="0" indent="0" algn="ctr" fontAlgn="base" latinLnBrk="0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50" spc="-50" baseline="0" dirty="0"/>
                        <a:t>운영원칙</a:t>
                      </a:r>
                      <a:endParaRPr lang="en-US" altLang="ko-KR" sz="1150" spc="-50" baseline="0" dirty="0"/>
                    </a:p>
                    <a:p>
                      <a:pPr marL="0" marR="0" indent="0" algn="ctr" fontAlgn="base" latinLnBrk="0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50" spc="-50" baseline="0" dirty="0"/>
                        <a:t>(6</a:t>
                      </a:r>
                      <a:r>
                        <a:rPr lang="ko-KR" altLang="en-US" sz="1150" spc="-50" baseline="0" dirty="0"/>
                        <a:t>가지</a:t>
                      </a:r>
                      <a:r>
                        <a:rPr lang="en-US" altLang="ko-KR" sz="1150" spc="-50" baseline="0" dirty="0"/>
                        <a:t>)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50" spc="0" baseline="0" dirty="0">
                          <a:highlight>
                            <a:srgbClr val="FFFF00"/>
                          </a:highlight>
                        </a:rPr>
                        <a:t>① 정액의 생계급여</a:t>
                      </a:r>
                      <a:endParaRPr lang="en-US" altLang="ko-KR" sz="1150" spc="0" baseline="0" dirty="0">
                        <a:highlight>
                          <a:srgbClr val="FFFF00"/>
                        </a:highlight>
                      </a:endParaRPr>
                    </a:p>
                    <a:p>
                      <a:pPr marL="0" marR="0" indent="0" algn="ctr" fontAlgn="base" latinLnBrk="1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50" spc="0" dirty="0">
                          <a:highlight>
                            <a:srgbClr val="FFFF00"/>
                          </a:highlight>
                        </a:rPr>
                        <a:t>(Flat rate of subsistence benefit)</a:t>
                      </a:r>
                      <a:endParaRPr lang="ko-KR" altLang="en-US" sz="1150" spc="0" baseline="0" dirty="0">
                        <a:highlight>
                          <a:srgbClr val="FFFF00"/>
                        </a:highlight>
                      </a:endParaRP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50" spc="-50" baseline="0" dirty="0"/>
                        <a:t>급여는 실업이나 질병</a:t>
                      </a:r>
                      <a:r>
                        <a:rPr lang="en-US" altLang="ko-KR" sz="1150" spc="-50" baseline="0" dirty="0"/>
                        <a:t>, </a:t>
                      </a:r>
                      <a:r>
                        <a:rPr lang="ko-KR" altLang="en-US" sz="1150" spc="-50" baseline="0" dirty="0"/>
                        <a:t>퇴직으로 인해 단절된 소득 정도에 상관없이 모두에게 최저생계를 유지할 수 있는 균일한 정액급여 지급</a:t>
                      </a:r>
                      <a:r>
                        <a:rPr lang="en-US" altLang="ko-KR" sz="1150" spc="-50" baseline="0" dirty="0"/>
                        <a:t>(</a:t>
                      </a:r>
                      <a:r>
                        <a:rPr lang="ko-KR" altLang="en-US" sz="1150" spc="-50" baseline="0" dirty="0"/>
                        <a:t>산업재해나 산업질병으로 인해 장해가 장기화될 경우는 예외로 함</a:t>
                      </a:r>
                      <a:r>
                        <a:rPr lang="en-US" altLang="ko-KR" sz="1150" spc="-50" baseline="0" dirty="0"/>
                        <a:t>.)</a:t>
                      </a:r>
                      <a:endParaRPr lang="ko-KR" altLang="en-US" sz="1150" spc="-50" baseline="0" dirty="0"/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985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500" spc="-50" baseline="0" dirty="0"/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50" spc="0" baseline="0" dirty="0">
                          <a:highlight>
                            <a:srgbClr val="FFFF00"/>
                          </a:highlight>
                        </a:rPr>
                        <a:t>② 정액기여</a:t>
                      </a:r>
                      <a:endParaRPr lang="en-US" altLang="ko-KR" sz="1150" spc="0" baseline="0" dirty="0">
                        <a:highlight>
                          <a:srgbClr val="FFFF00"/>
                        </a:highlight>
                      </a:endParaRPr>
                    </a:p>
                    <a:p>
                      <a:pPr marL="0" marR="0" indent="0" algn="ctr" defTabSz="914400" rtl="0" eaLnBrk="1" fontAlgn="base" latinLnBrk="1" hangingPunct="1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50" spc="0" dirty="0">
                          <a:highlight>
                            <a:srgbClr val="FFFF00"/>
                          </a:highlight>
                        </a:rPr>
                        <a:t>(Flat rate of contribution)</a:t>
                      </a:r>
                      <a:endParaRPr lang="ko-KR" altLang="en-US" sz="1150" spc="0" baseline="0" dirty="0">
                        <a:highlight>
                          <a:srgbClr val="FFFF00"/>
                        </a:highlight>
                      </a:endParaRP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50" spc="-50" baseline="0" dirty="0"/>
                        <a:t>보험가입자와 고용주는 부자이든 빈자이든 그들의 자산 정도에 상관없이 모두 정액으로 기여금을 납입함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4439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500" spc="-50" baseline="0" dirty="0"/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50" spc="0" baseline="0" dirty="0">
                          <a:highlight>
                            <a:srgbClr val="FFFF00"/>
                          </a:highlight>
                          <a:latin typeface="+mn-ea"/>
                          <a:ea typeface="+mn-ea"/>
                        </a:rPr>
                        <a:t>③ 행정책임의 단일화</a:t>
                      </a:r>
                      <a:br>
                        <a:rPr lang="en-US" altLang="ko-KR" sz="1150" spc="0" dirty="0">
                          <a:highlight>
                            <a:srgbClr val="FFFF00"/>
                          </a:highlight>
                          <a:latin typeface="+mn-ea"/>
                          <a:ea typeface="+mn-ea"/>
                        </a:rPr>
                      </a:br>
                      <a:r>
                        <a:rPr lang="en-US" altLang="ko-KR" sz="1150" spc="0" dirty="0">
                          <a:highlight>
                            <a:srgbClr val="FFFF00"/>
                          </a:highlight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150" b="0" i="0" kern="1200" spc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+mn-cs"/>
                        </a:rPr>
                        <a:t>Unification of administrative responsibility)</a:t>
                      </a:r>
                      <a:endParaRPr lang="ko-KR" altLang="en-US" sz="1150" spc="0" baseline="0" dirty="0">
                        <a:highlight>
                          <a:srgbClr val="FFFF00"/>
                        </a:highlight>
                        <a:latin typeface="+mn-ea"/>
                        <a:ea typeface="+mn-ea"/>
                      </a:endParaRP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50" spc="-50" baseline="0" dirty="0"/>
                        <a:t>효율적이고 경제적인 운영을 위해 모든 기여금은 단일한 사회보험기금에 적립하고</a:t>
                      </a:r>
                      <a:r>
                        <a:rPr lang="en-US" altLang="ko-KR" sz="1150" spc="-50" baseline="0" dirty="0"/>
                        <a:t>, </a:t>
                      </a:r>
                      <a:r>
                        <a:rPr lang="ko-KR" altLang="en-US" sz="1150" spc="-50" baseline="0" dirty="0"/>
                        <a:t>모든 급여는 이 기금에서 지급되도록 함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985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500" spc="-50" baseline="0" dirty="0"/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50" spc="0" baseline="0" dirty="0">
                          <a:highlight>
                            <a:srgbClr val="FFFF00"/>
                          </a:highlight>
                        </a:rPr>
                        <a:t>④ 급여의 적절성</a:t>
                      </a:r>
                      <a:endParaRPr lang="en-US" altLang="ko-KR" sz="1150" spc="0" baseline="0" dirty="0">
                        <a:highlight>
                          <a:srgbClr val="FFFF00"/>
                        </a:highlight>
                      </a:endParaRPr>
                    </a:p>
                    <a:p>
                      <a:pPr marL="0" marR="0" indent="0" algn="ctr" fontAlgn="base" latinLnBrk="1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50" spc="0" baseline="0" dirty="0">
                          <a:highlight>
                            <a:srgbClr val="FFFF00"/>
                          </a:highlight>
                        </a:rPr>
                        <a:t>(Adequacy of benefit)</a:t>
                      </a:r>
                      <a:endParaRPr lang="ko-KR" altLang="en-US" sz="1150" spc="0" baseline="0" dirty="0">
                        <a:highlight>
                          <a:srgbClr val="FFFF00"/>
                        </a:highlight>
                      </a:endParaRP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50" spc="-50" baseline="0" dirty="0"/>
                        <a:t>자산조사 없이 수혜자의 기본적인 욕구를 충족할 수 있는 급여 지급</a:t>
                      </a:r>
                      <a:endParaRPr lang="en-US" altLang="ko-KR" sz="1150" spc="-50" baseline="0" dirty="0"/>
                    </a:p>
                    <a:p>
                      <a:pPr marL="0" marR="0" indent="0" algn="l" fontAlgn="base" latinLnBrk="1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50" spc="-50" baseline="0" dirty="0"/>
                        <a:t>(</a:t>
                      </a:r>
                      <a:r>
                        <a:rPr lang="ko-KR" altLang="en-US" sz="1150" spc="-50" baseline="0" dirty="0"/>
                        <a:t>급여수준과 급여기간의 적절성</a:t>
                      </a:r>
                      <a:r>
                        <a:rPr lang="en-US" altLang="ko-KR" sz="1150" spc="-50" baseline="0" dirty="0"/>
                        <a:t>)</a:t>
                      </a:r>
                      <a:endParaRPr lang="ko-KR" altLang="en-US" sz="1150" spc="-50" baseline="0" dirty="0"/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985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500" spc="-50" baseline="0" dirty="0"/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50" spc="0" baseline="0" dirty="0">
                          <a:highlight>
                            <a:srgbClr val="FFFF00"/>
                          </a:highlight>
                          <a:latin typeface="+mn-ea"/>
                          <a:ea typeface="+mn-ea"/>
                        </a:rPr>
                        <a:t>⑤ 적용범위의 포괄성</a:t>
                      </a:r>
                      <a:endParaRPr lang="en-US" altLang="ko-KR" sz="1150" spc="0" baseline="0" dirty="0">
                        <a:highlight>
                          <a:srgbClr val="FFFF00"/>
                        </a:highlight>
                        <a:latin typeface="+mn-ea"/>
                        <a:ea typeface="+mn-ea"/>
                      </a:endParaRPr>
                    </a:p>
                    <a:p>
                      <a:pPr algn="ctr">
                        <a:lnSpc>
                          <a:spcPts val="1700"/>
                        </a:lnSpc>
                      </a:pPr>
                      <a:r>
                        <a:rPr lang="en-US" altLang="ko-KR" sz="1150" spc="0" baseline="0" dirty="0">
                          <a:highlight>
                            <a:srgbClr val="FFFF00"/>
                          </a:highlight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150" b="0" i="0" kern="1200" spc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+mn-cs"/>
                        </a:rPr>
                        <a:t>Comprehensiveness)</a:t>
                      </a:r>
                      <a:endParaRPr lang="ko-KR" altLang="en-US" sz="1150" spc="0" baseline="0" dirty="0">
                        <a:highlight>
                          <a:srgbClr val="FFFF00"/>
                        </a:highlight>
                        <a:latin typeface="+mn-ea"/>
                        <a:ea typeface="+mn-ea"/>
                      </a:endParaRP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50" spc="-50" baseline="0" dirty="0"/>
                        <a:t>대상의 포괄</a:t>
                      </a:r>
                      <a:r>
                        <a:rPr lang="en-US" altLang="ko-KR" sz="1150" spc="-50" baseline="0" dirty="0"/>
                        <a:t>(</a:t>
                      </a:r>
                      <a:r>
                        <a:rPr lang="ko-KR" altLang="en-US" sz="1150" spc="-50" baseline="0" dirty="0"/>
                        <a:t>모든 국민</a:t>
                      </a:r>
                      <a:r>
                        <a:rPr lang="en-US" altLang="ko-KR" sz="1150" spc="-50" baseline="0" dirty="0"/>
                        <a:t>)</a:t>
                      </a:r>
                    </a:p>
                    <a:p>
                      <a:pPr marL="0" marR="0" indent="0" algn="l" fontAlgn="base" latinLnBrk="1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50" spc="-50" baseline="0" dirty="0"/>
                        <a:t>욕구의 포괄</a:t>
                      </a:r>
                      <a:r>
                        <a:rPr lang="en-US" altLang="ko-KR" sz="1150" spc="-50" baseline="0" dirty="0"/>
                        <a:t>(</a:t>
                      </a:r>
                      <a:r>
                        <a:rPr lang="ko-KR" altLang="en-US" sz="1150" spc="-50" baseline="0" dirty="0"/>
                        <a:t>모든 사회적 위험</a:t>
                      </a:r>
                      <a:r>
                        <a:rPr lang="en-US" altLang="ko-KR" sz="1150" spc="-50" baseline="0" dirty="0"/>
                        <a:t>)</a:t>
                      </a:r>
                      <a:endParaRPr lang="ko-KR" altLang="en-US" sz="1150" spc="-50" baseline="0" dirty="0"/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530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500" spc="-50" baseline="0" dirty="0"/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50" spc="0" baseline="0" dirty="0">
                          <a:highlight>
                            <a:srgbClr val="FFFF00"/>
                          </a:highlight>
                        </a:rPr>
                        <a:t>⑥ 수혜대상의 분류</a:t>
                      </a:r>
                      <a:endParaRPr lang="en-US" altLang="ko-KR" sz="1150" spc="0" baseline="0" dirty="0">
                        <a:highlight>
                          <a:srgbClr val="FFFF00"/>
                        </a:highlight>
                      </a:endParaRPr>
                    </a:p>
                    <a:p>
                      <a:pPr marL="0" marR="0" indent="0" algn="ctr" fontAlgn="base" latinLnBrk="1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50" spc="0" baseline="0" dirty="0">
                          <a:highlight>
                            <a:srgbClr val="FFFF00"/>
                          </a:highlight>
                        </a:rPr>
                        <a:t>(Classification)</a:t>
                      </a:r>
                      <a:endParaRPr lang="ko-KR" altLang="en-US" sz="1150" spc="0" baseline="0" dirty="0">
                        <a:highlight>
                          <a:srgbClr val="FFFF00"/>
                        </a:highlight>
                      </a:endParaRP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50" spc="-50" baseline="0" dirty="0"/>
                        <a:t> 피고용자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530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500" spc="-50" baseline="0" dirty="0"/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500" spc="-50" baseline="0" dirty="0"/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50" spc="-50" baseline="0" dirty="0"/>
                        <a:t> 고용주</a:t>
                      </a:r>
                      <a:r>
                        <a:rPr lang="en-US" altLang="ko-KR" sz="1150" spc="-50" baseline="0" dirty="0"/>
                        <a:t>, </a:t>
                      </a:r>
                      <a:r>
                        <a:rPr lang="ko-KR" altLang="en-US" sz="1150" spc="-50" baseline="0" dirty="0"/>
                        <a:t>자영업자 등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530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500" spc="-50" baseline="0" dirty="0"/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500" spc="-50" baseline="0" dirty="0"/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50" spc="-50" baseline="0" dirty="0"/>
                        <a:t> 기혼여성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530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500" spc="-50" baseline="0" dirty="0"/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500" spc="-50" baseline="0" dirty="0"/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50" spc="-50" baseline="0" dirty="0"/>
                        <a:t> 취업연령자 중 미취업자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530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500" spc="-50" baseline="0" dirty="0"/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500" spc="-50" baseline="0" dirty="0"/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50" spc="-50" baseline="0" dirty="0"/>
                        <a:t> 취업연령 전 청소년</a:t>
                      </a:r>
                      <a:r>
                        <a:rPr lang="en-US" altLang="ko-KR" sz="1150" spc="-50" baseline="0" dirty="0"/>
                        <a:t>(15</a:t>
                      </a:r>
                      <a:r>
                        <a:rPr lang="ko-KR" altLang="en-US" sz="1150" spc="-50" baseline="0" dirty="0"/>
                        <a:t>세 미만</a:t>
                      </a:r>
                      <a:r>
                        <a:rPr lang="en-US" altLang="ko-KR" sz="1150" spc="-50" baseline="0" dirty="0"/>
                        <a:t>)</a:t>
                      </a:r>
                      <a:endParaRPr lang="ko-KR" altLang="en-US" sz="1150" spc="-50" baseline="0" dirty="0"/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530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500" spc="-50" baseline="0" dirty="0"/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500" dirty="0"/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50" spc="-50" baseline="0" dirty="0"/>
                        <a:t> 취업연령이 지난 퇴직자</a:t>
                      </a:r>
                      <a:r>
                        <a:rPr lang="en-US" altLang="ko-KR" sz="1150" spc="-50" baseline="0" dirty="0"/>
                        <a:t>(</a:t>
                      </a:r>
                      <a:r>
                        <a:rPr lang="ko-KR" altLang="en-US" sz="1150" spc="-50" baseline="0" dirty="0"/>
                        <a:t>남자 </a:t>
                      </a:r>
                      <a:r>
                        <a:rPr lang="en-US" altLang="ko-KR" sz="1150" spc="-50" baseline="0" dirty="0"/>
                        <a:t>65</a:t>
                      </a:r>
                      <a:r>
                        <a:rPr lang="ko-KR" altLang="en-US" sz="1150" spc="-50" baseline="0" dirty="0"/>
                        <a:t>세 이상</a:t>
                      </a:r>
                      <a:r>
                        <a:rPr lang="en-US" altLang="ko-KR" sz="1150" spc="-50" baseline="0" dirty="0"/>
                        <a:t>, </a:t>
                      </a:r>
                      <a:r>
                        <a:rPr lang="ko-KR" altLang="en-US" sz="1150" spc="-50" baseline="0" dirty="0"/>
                        <a:t>여자 </a:t>
                      </a:r>
                      <a:r>
                        <a:rPr lang="en-US" altLang="ko-KR" sz="1150" spc="-50" baseline="0" dirty="0"/>
                        <a:t>60</a:t>
                      </a:r>
                      <a:r>
                        <a:rPr lang="ko-KR" altLang="en-US" sz="1150" spc="-50" baseline="0" dirty="0"/>
                        <a:t>세 이상</a:t>
                      </a:r>
                      <a:r>
                        <a:rPr lang="en-US" altLang="ko-KR" sz="1150" spc="-50" baseline="0" dirty="0"/>
                        <a:t>)</a:t>
                      </a:r>
                      <a:endParaRPr lang="ko-KR" altLang="en-US" sz="1150" spc="-50" baseline="0" dirty="0"/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9" name="제목 1"/>
          <p:cNvSpPr txBox="1">
            <a:spLocks/>
          </p:cNvSpPr>
          <p:nvPr/>
        </p:nvSpPr>
        <p:spPr>
          <a:xfrm>
            <a:off x="224111" y="420678"/>
            <a:ext cx="6776214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 </a:t>
            </a:r>
            <a:r>
              <a:rPr lang="ko-KR" altLang="en-US" sz="32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사회보장의 형성과 확대기 </a:t>
            </a:r>
            <a:r>
              <a:rPr lang="en-US" altLang="ko-KR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(1930</a:t>
            </a:r>
            <a:r>
              <a:rPr lang="ko-KR" altLang="en-US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년대 </a:t>
            </a:r>
            <a:r>
              <a:rPr lang="en-US" altLang="ko-KR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- 1970</a:t>
            </a:r>
            <a:r>
              <a:rPr lang="ko-KR" altLang="en-US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년대 초반</a:t>
            </a:r>
            <a:r>
              <a:rPr lang="en-US" altLang="ko-KR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endParaRPr lang="ko-KR" altLang="en-US" sz="200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14217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제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4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</a:t>
            </a:r>
            <a:endParaRPr lang="en-US" altLang="ko-KR" sz="1200" dirty="0">
              <a:solidFill>
                <a:schemeClr val="bg1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사회보장의 역사</a:t>
            </a:r>
          </a:p>
        </p:txBody>
      </p:sp>
      <p:sp>
        <p:nvSpPr>
          <p:cNvPr id="11" name="제목 1"/>
          <p:cNvSpPr txBox="1">
            <a:spLocks/>
          </p:cNvSpPr>
          <p:nvPr/>
        </p:nvSpPr>
        <p:spPr>
          <a:xfrm>
            <a:off x="224111" y="420678"/>
            <a:ext cx="6776214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 </a:t>
            </a:r>
            <a:r>
              <a:rPr lang="ko-KR" altLang="en-US" sz="32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사회보장의 형성과 확대기 </a:t>
            </a:r>
            <a:r>
              <a:rPr lang="en-US" altLang="ko-KR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(1930</a:t>
            </a:r>
            <a:r>
              <a:rPr lang="ko-KR" altLang="en-US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년대 </a:t>
            </a:r>
            <a:r>
              <a:rPr lang="en-US" altLang="ko-KR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- 1970</a:t>
            </a:r>
            <a:r>
              <a:rPr lang="ko-KR" altLang="en-US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년대 초반</a:t>
            </a:r>
            <a:r>
              <a:rPr lang="en-US" altLang="ko-KR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endParaRPr lang="ko-KR" altLang="en-US" sz="200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05855" y="2553672"/>
            <a:ext cx="8342609" cy="3897693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wrap="square" lIns="144000" tIns="144000" rIns="144000" bIns="180000">
            <a:spAutoFit/>
          </a:bodyPr>
          <a:lstStyle/>
          <a:p>
            <a:pPr marL="285750" indent="-285750" fontAlgn="base">
              <a:spcBef>
                <a:spcPts val="0"/>
              </a:spcBef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ko-KR" altLang="en-US" b="1" dirty="0">
                <a:solidFill>
                  <a:srgbClr val="FF0000"/>
                </a:solidFill>
              </a:rPr>
              <a:t>베버리지 이념의 핵심</a:t>
            </a:r>
            <a:endParaRPr lang="en-US" altLang="ko-KR" b="1" dirty="0">
              <a:solidFill>
                <a:srgbClr val="FF0000"/>
              </a:solidFill>
            </a:endParaRPr>
          </a:p>
          <a:p>
            <a:pPr fontAlgn="base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</a:pPr>
            <a:r>
              <a:rPr lang="ko-KR" altLang="en-US" b="1" dirty="0">
                <a:solidFill>
                  <a:srgbClr val="00B050"/>
                </a:solidFill>
                <a:highlight>
                  <a:srgbClr val="FFFF00"/>
                </a:highlight>
              </a:rPr>
              <a:t>① 보편주의</a:t>
            </a:r>
            <a:r>
              <a:rPr lang="en-US" altLang="ko-KR" b="1" dirty="0">
                <a:solidFill>
                  <a:srgbClr val="00B050"/>
                </a:solidFill>
                <a:highlight>
                  <a:srgbClr val="FFFF00"/>
                </a:highlight>
              </a:rPr>
              <a:t>(universalism)</a:t>
            </a:r>
          </a:p>
          <a:p>
            <a:pPr marL="177800" indent="-177800" fontAlgn="base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dirty="0"/>
              <a:t>보편주의는 모든 국민을 대상으로 </a:t>
            </a:r>
            <a:r>
              <a:rPr lang="ko-KR" altLang="en-US" dirty="0">
                <a:highlight>
                  <a:srgbClr val="FFFF00"/>
                </a:highlight>
              </a:rPr>
              <a:t>동일한 급여</a:t>
            </a:r>
            <a:r>
              <a:rPr lang="ko-KR" altLang="en-US" dirty="0"/>
              <a:t>를 제공하며</a:t>
            </a:r>
            <a:r>
              <a:rPr lang="en-US" altLang="ko-KR" dirty="0"/>
              <a:t>, </a:t>
            </a:r>
            <a:r>
              <a:rPr lang="ko-KR" altLang="en-US" dirty="0"/>
              <a:t>빈민에 대한 자산조사의 </a:t>
            </a:r>
            <a:r>
              <a:rPr lang="ko-KR" altLang="en-US" dirty="0">
                <a:highlight>
                  <a:srgbClr val="FFFF00"/>
                </a:highlight>
              </a:rPr>
              <a:t>낙인을 없애자</a:t>
            </a:r>
            <a:r>
              <a:rPr lang="ko-KR" altLang="en-US" dirty="0"/>
              <a:t>는 관념으로 평등정신을 담고 있음</a:t>
            </a:r>
            <a:endParaRPr lang="en-US" altLang="ko-KR" dirty="0"/>
          </a:p>
          <a:p>
            <a:pPr marL="177800" indent="-177800" fontAlgn="base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  <a:buFont typeface="Arial" panose="020B0604020202020204" pitchFamily="34" charset="0"/>
              <a:buChar char="•"/>
            </a:pPr>
            <a:endParaRPr lang="ko-KR" altLang="en-US" sz="100" dirty="0"/>
          </a:p>
          <a:p>
            <a:pPr fontAlgn="base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</a:pPr>
            <a:r>
              <a:rPr lang="ko-KR" altLang="en-US" b="1" dirty="0">
                <a:solidFill>
                  <a:srgbClr val="00B050"/>
                </a:solidFill>
                <a:highlight>
                  <a:srgbClr val="FFFF00"/>
                </a:highlight>
              </a:rPr>
              <a:t>② 국민최저선 원칙</a:t>
            </a:r>
            <a:r>
              <a:rPr lang="en-US" altLang="ko-KR" b="1" dirty="0">
                <a:solidFill>
                  <a:srgbClr val="00B050"/>
                </a:solidFill>
                <a:highlight>
                  <a:srgbClr val="FFFF00"/>
                </a:highlight>
              </a:rPr>
              <a:t>(principle of national minimum)</a:t>
            </a:r>
          </a:p>
          <a:p>
            <a:pPr marL="177800" indent="-177800" fontAlgn="base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ko-KR" altLang="en-US" dirty="0"/>
              <a:t>국가는 </a:t>
            </a:r>
            <a:r>
              <a:rPr lang="ko-KR" altLang="en-US" dirty="0">
                <a:highlight>
                  <a:srgbClr val="FFFF00"/>
                </a:highlight>
              </a:rPr>
              <a:t>국민최저 수준만을 보장</a:t>
            </a:r>
            <a:r>
              <a:rPr lang="ko-KR" altLang="en-US" dirty="0"/>
              <a:t>하고 그 이상은 </a:t>
            </a:r>
            <a:r>
              <a:rPr lang="ko-KR" altLang="en-US" dirty="0">
                <a:highlight>
                  <a:srgbClr val="FFFF00"/>
                </a:highlight>
              </a:rPr>
              <a:t>개인과 가족이 책임져야 </a:t>
            </a:r>
            <a:r>
              <a:rPr lang="ko-KR" altLang="en-US" dirty="0"/>
              <a:t>한다는 것으로</a:t>
            </a:r>
            <a:r>
              <a:rPr lang="en-US" altLang="ko-KR" dirty="0"/>
              <a:t>, </a:t>
            </a:r>
            <a:r>
              <a:rPr lang="ko-KR" altLang="en-US" spc="-150" dirty="0"/>
              <a:t>사회보장은 국가와 개인의 협력을 통해 달성되어야 한다는 것을 의미함</a:t>
            </a:r>
            <a:endParaRPr lang="en-US" altLang="ko-KR" spc="-150" dirty="0"/>
          </a:p>
          <a:p>
            <a:pPr marL="285750" indent="-285750" fontAlgn="base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ko-KR" altLang="en-US" dirty="0" err="1">
                <a:solidFill>
                  <a:srgbClr val="C00000"/>
                </a:solidFill>
                <a:highlight>
                  <a:srgbClr val="FFFF00"/>
                </a:highlight>
              </a:rPr>
              <a:t>베버리지</a:t>
            </a:r>
            <a:r>
              <a:rPr lang="ko-KR" altLang="en-US" dirty="0">
                <a:solidFill>
                  <a:srgbClr val="C00000"/>
                </a:solidFill>
                <a:highlight>
                  <a:srgbClr val="FFFF00"/>
                </a:highlight>
              </a:rPr>
              <a:t> 보고서는 무엇보다 자산조사 없이 권리로서 받는 생존수준의 급여를 제안함</a:t>
            </a:r>
            <a:r>
              <a:rPr lang="ko-KR" altLang="en-US" dirty="0">
                <a:solidFill>
                  <a:srgbClr val="C00000"/>
                </a:solidFill>
              </a:rPr>
              <a:t>으로써 전후 새로운 사회의 청사진으로 </a:t>
            </a:r>
            <a:r>
              <a:rPr lang="ko-KR" altLang="en-US" dirty="0" err="1">
                <a:solidFill>
                  <a:srgbClr val="C00000"/>
                </a:solidFill>
              </a:rPr>
              <a:t>여겨졌음</a:t>
            </a:r>
            <a:endParaRPr lang="ko-KR" altLang="en-US" dirty="0">
              <a:solidFill>
                <a:srgbClr val="C00000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224111" y="1487644"/>
            <a:ext cx="67751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en-US" altLang="ko-KR" sz="2400" b="1" dirty="0">
                <a:solidFill>
                  <a:srgbClr val="7030A0"/>
                </a:solidFill>
                <a:latin typeface="+mn-ea"/>
              </a:rPr>
              <a:t>2) </a:t>
            </a:r>
            <a:r>
              <a:rPr lang="ko-KR" altLang="en-US" sz="2400" b="1" dirty="0">
                <a:solidFill>
                  <a:srgbClr val="7030A0"/>
                </a:solidFill>
                <a:latin typeface="+mn-ea"/>
              </a:rPr>
              <a:t>영국의 베버리지 보고서와 입법</a:t>
            </a:r>
          </a:p>
        </p:txBody>
      </p:sp>
      <p:grpSp>
        <p:nvGrpSpPr>
          <p:cNvPr id="17" name="그룹 16"/>
          <p:cNvGrpSpPr/>
          <p:nvPr/>
        </p:nvGrpSpPr>
        <p:grpSpPr>
          <a:xfrm>
            <a:off x="405855" y="2134307"/>
            <a:ext cx="3376352" cy="400110"/>
            <a:chOff x="971600" y="2380818"/>
            <a:chExt cx="3376352" cy="400110"/>
          </a:xfrm>
        </p:grpSpPr>
        <p:pic>
          <p:nvPicPr>
            <p:cNvPr id="18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1600" y="2493482"/>
              <a:ext cx="215563" cy="215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" name="내용 개체 틀 2"/>
            <p:cNvSpPr txBox="1">
              <a:spLocks/>
            </p:cNvSpPr>
            <p:nvPr/>
          </p:nvSpPr>
          <p:spPr>
            <a:xfrm>
              <a:off x="1223994" y="2380818"/>
              <a:ext cx="3123958" cy="400110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1800"/>
                </a:spcBef>
                <a:buNone/>
              </a:pPr>
              <a:r>
                <a:rPr lang="ko-KR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베버리지 보고서</a:t>
              </a:r>
              <a:r>
                <a:rPr lang="en-US" altLang="ko-KR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(1942</a:t>
              </a:r>
              <a:r>
                <a:rPr lang="ko-KR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년</a:t>
              </a:r>
              <a:r>
                <a:rPr lang="en-US" altLang="ko-KR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)</a:t>
              </a:r>
              <a:endParaRPr lang="ko-KR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94625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4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역사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419398" y="2534417"/>
            <a:ext cx="8342609" cy="4013110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wrap="square" lIns="144000" tIns="144000" rIns="144000" bIns="180000">
            <a:spAutoFit/>
          </a:bodyPr>
          <a:lstStyle/>
          <a:p>
            <a:pPr marL="177800" marR="0" lvl="0" indent="-177800" algn="l" defTabSz="9144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처칠은 보고서에 회의적인 반응을 보였지만 영국국민의 반응은 대단하였음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국민들은 전후 새로운 사회질서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즉 새롭고 보다 평등한 청사진으로 간주함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또한 대중신문은 이 보고서를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‘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highlight>
                  <a:srgbClr val="FFFF00"/>
                </a:highlight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요람에서 무덤까지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highlight>
                  <a:srgbClr val="FFFF00"/>
                </a:highlight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(from to cradle to grave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)’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의 사회보장이라고 표현함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그래서 가능한 빨리 정부가 보고서의 내용을 충실하게 이행하기를 희망함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이러한 열망은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1945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년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베버리지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보고서를 열렬히 지지하던 노동당이 압도적으로 승리함으로써 입법으로 이어짐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노동당은 베버리지 보고서의 내용을 받아들여 소위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‘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베버리지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입법＇이라는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4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개의 법을 제정함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224111" y="1487644"/>
            <a:ext cx="67751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2)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영국의 베버리지 보고서와 입법</a:t>
            </a:r>
          </a:p>
        </p:txBody>
      </p:sp>
      <p:grpSp>
        <p:nvGrpSpPr>
          <p:cNvPr id="16" name="그룹 15"/>
          <p:cNvGrpSpPr/>
          <p:nvPr/>
        </p:nvGrpSpPr>
        <p:grpSpPr>
          <a:xfrm>
            <a:off x="405855" y="2134307"/>
            <a:ext cx="3376352" cy="400110"/>
            <a:chOff x="971600" y="2380818"/>
            <a:chExt cx="3376352" cy="400110"/>
          </a:xfrm>
        </p:grpSpPr>
        <p:pic>
          <p:nvPicPr>
            <p:cNvPr id="1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1600" y="2493482"/>
              <a:ext cx="215563" cy="215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내용 개체 틀 2"/>
            <p:cNvSpPr txBox="1">
              <a:spLocks/>
            </p:cNvSpPr>
            <p:nvPr/>
          </p:nvSpPr>
          <p:spPr>
            <a:xfrm>
              <a:off x="1223994" y="2380818"/>
              <a:ext cx="3123958" cy="400110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ko-KR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베버리지 입법</a:t>
              </a:r>
            </a:p>
          </p:txBody>
        </p:sp>
      </p:grpSp>
      <p:sp>
        <p:nvSpPr>
          <p:cNvPr id="19" name="제목 1"/>
          <p:cNvSpPr txBox="1">
            <a:spLocks/>
          </p:cNvSpPr>
          <p:nvPr/>
        </p:nvSpPr>
        <p:spPr>
          <a:xfrm>
            <a:off x="224111" y="420678"/>
            <a:ext cx="6776214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3. 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사회보장의 형성과 확대기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(1930</a:t>
            </a:r>
            <a:r>
              <a:rPr kumimoji="0" lang="ko-KR" altLang="en-US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- 1970</a:t>
            </a:r>
            <a:r>
              <a:rPr kumimoji="0" lang="ko-KR" altLang="en-US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초반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)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125146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4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역사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405855" y="2780928"/>
            <a:ext cx="8342609" cy="3597611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wrap="square" lIns="144000" tIns="144000" rIns="144000" bIns="180000">
            <a:spAutoFit/>
          </a:bodyPr>
          <a:lstStyle/>
          <a:p>
            <a:pPr marL="182200" marR="0" lvl="0" indent="0" algn="l" defTabSz="9144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t>①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1945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년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highlight>
                  <a:srgbClr val="FFFF00"/>
                </a:highlight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가족수당법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제정</a:t>
            </a:r>
          </a:p>
          <a:p>
            <a:pPr marL="182200" marR="0" lvl="0" indent="0" algn="l" defTabSz="9144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t>②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1946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년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highlight>
                  <a:srgbClr val="FFFF00"/>
                </a:highlight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국민보험법 및 산업재해법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제정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82200" marR="0" lvl="0" indent="0" algn="l" defTabSz="9144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-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국가연금제도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정액기여와 정액급여의 기초연금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의 국민보험법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82200" marR="0" lvl="0" indent="0" algn="l" defTabSz="9144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-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산재보상을 규정한 산업재해법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82200" marR="0" lvl="0" indent="0" algn="l" defTabSz="9144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t>③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1946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년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highlight>
                  <a:srgbClr val="FFFF00"/>
                </a:highlight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국민보건서비스법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highlight>
                  <a:srgbClr val="FFFF00"/>
                </a:highlight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(NHS)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제정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</a:p>
          <a:p>
            <a:pPr marL="182200" marR="0" lvl="0" indent="0" algn="l" defTabSz="9144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-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모든 병원을 국영화하고 의료서비스를 무료로 하는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‘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의료의 사회화＇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82200" marR="0" lvl="0" indent="0" algn="l" defTabSz="9144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t>④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1948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년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highlight>
                  <a:srgbClr val="FFFF00"/>
                </a:highlight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국민부조법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제정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82200" marR="0" lvl="0" indent="0" algn="l" defTabSz="9144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-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근대적 공공부조법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약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350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년의 긴 역사를 가진 빈민법이 폐지됨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24111" y="1487644"/>
            <a:ext cx="67751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2)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영국의 베버리지 보고서와 입법</a:t>
            </a:r>
          </a:p>
        </p:txBody>
      </p:sp>
      <p:grpSp>
        <p:nvGrpSpPr>
          <p:cNvPr id="16" name="그룹 15"/>
          <p:cNvGrpSpPr/>
          <p:nvPr/>
        </p:nvGrpSpPr>
        <p:grpSpPr>
          <a:xfrm>
            <a:off x="405855" y="2134307"/>
            <a:ext cx="3376352" cy="400110"/>
            <a:chOff x="971600" y="2380818"/>
            <a:chExt cx="3376352" cy="400110"/>
          </a:xfrm>
        </p:grpSpPr>
        <p:pic>
          <p:nvPicPr>
            <p:cNvPr id="1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1600" y="2493482"/>
              <a:ext cx="215563" cy="215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내용 개체 틀 2"/>
            <p:cNvSpPr txBox="1">
              <a:spLocks/>
            </p:cNvSpPr>
            <p:nvPr/>
          </p:nvSpPr>
          <p:spPr>
            <a:xfrm>
              <a:off x="1223994" y="2380818"/>
              <a:ext cx="3123958" cy="400110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ko-KR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베버리지 입법</a:t>
              </a:r>
            </a:p>
          </p:txBody>
        </p:sp>
      </p:grpSp>
      <p:sp>
        <p:nvSpPr>
          <p:cNvPr id="19" name="제목 1"/>
          <p:cNvSpPr txBox="1">
            <a:spLocks/>
          </p:cNvSpPr>
          <p:nvPr/>
        </p:nvSpPr>
        <p:spPr>
          <a:xfrm>
            <a:off x="224111" y="420678"/>
            <a:ext cx="6776214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3. 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사회보장의 형성과 확대기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(1930</a:t>
            </a:r>
            <a:r>
              <a:rPr kumimoji="0" lang="ko-KR" altLang="en-US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- 1970</a:t>
            </a:r>
            <a:r>
              <a:rPr kumimoji="0" lang="ko-KR" altLang="en-US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초반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)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239386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4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역사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405855" y="2780928"/>
            <a:ext cx="8342609" cy="2766614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wrap="square" lIns="144000" tIns="144000" rIns="144000" bIns="180000">
            <a:spAutoFit/>
          </a:bodyPr>
          <a:lstStyle/>
          <a:p>
            <a:pPr marL="360000" marR="0" lvl="0" indent="-177800" algn="l" defTabSz="9144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베버리지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보고서는 최저생활수준 보장을 권리로 규정하고 생존권을 처음으로 사회보장제도에 받아들여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빈민법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사상을 근본적으로 전환시켰음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360000" marR="0" lvl="0" indent="-177800" algn="l" defTabSz="9144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임금노동자에 한정된 </a:t>
            </a:r>
            <a:r>
              <a:rPr lang="ko-KR" altLang="en-US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적용자</a:t>
            </a:r>
            <a:r>
              <a:rPr lang="ko-KR" altLang="en-US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범위를 전 국민에게 확대한 것도 획기적임</a:t>
            </a:r>
            <a:endParaRPr lang="en-US" altLang="ko-KR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360000" marR="0" lvl="0" indent="-177800" algn="l" defTabSz="9144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이로서 제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2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차 세계대전 후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‘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요람에서 무덤까지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’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라는 영국의 사회보장제도 확립의 기초가 되었고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세계 자본주의 국가들의 사회보장제도 확립에도 큰 영향을 주었음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224111" y="1487644"/>
            <a:ext cx="67751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2)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영국의 베버리지 보고서와 입법</a:t>
            </a:r>
          </a:p>
        </p:txBody>
      </p:sp>
      <p:grpSp>
        <p:nvGrpSpPr>
          <p:cNvPr id="16" name="그룹 15"/>
          <p:cNvGrpSpPr/>
          <p:nvPr/>
        </p:nvGrpSpPr>
        <p:grpSpPr>
          <a:xfrm>
            <a:off x="405855" y="2134307"/>
            <a:ext cx="3376352" cy="400110"/>
            <a:chOff x="971600" y="2380818"/>
            <a:chExt cx="3376352" cy="400110"/>
          </a:xfrm>
        </p:grpSpPr>
        <p:pic>
          <p:nvPicPr>
            <p:cNvPr id="1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1600" y="2493482"/>
              <a:ext cx="215563" cy="215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내용 개체 틀 2"/>
            <p:cNvSpPr txBox="1">
              <a:spLocks/>
            </p:cNvSpPr>
            <p:nvPr/>
          </p:nvSpPr>
          <p:spPr>
            <a:xfrm>
              <a:off x="1223994" y="2380818"/>
              <a:ext cx="3123958" cy="400110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ko-KR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베버리지 입법</a:t>
              </a:r>
            </a:p>
          </p:txBody>
        </p:sp>
      </p:grpSp>
      <p:sp>
        <p:nvSpPr>
          <p:cNvPr id="19" name="제목 1"/>
          <p:cNvSpPr txBox="1">
            <a:spLocks/>
          </p:cNvSpPr>
          <p:nvPr/>
        </p:nvSpPr>
        <p:spPr>
          <a:xfrm>
            <a:off x="224111" y="420678"/>
            <a:ext cx="6776214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3. 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사회보장의 형성과 확대기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(1930</a:t>
            </a:r>
            <a:r>
              <a:rPr kumimoji="0" lang="ko-KR" altLang="en-US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- 1970</a:t>
            </a:r>
            <a:r>
              <a:rPr kumimoji="0" lang="ko-KR" altLang="en-US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초반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)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968539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제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4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</a:t>
            </a:r>
            <a:endParaRPr lang="en-US" altLang="ko-KR" sz="1200" dirty="0">
              <a:solidFill>
                <a:schemeClr val="bg1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사회보장의 역사</a:t>
            </a:r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95536" y="2204864"/>
            <a:ext cx="8352928" cy="3779391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vert="horz" wrap="square" lIns="144000" tIns="144000" rIns="144000" bIns="180000" rtlCol="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-177800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</a:pPr>
            <a:r>
              <a:rPr lang="ko-KR" altLang="en-US" sz="1800" dirty="0">
                <a:latin typeface="+mn-ea"/>
              </a:rPr>
              <a:t>제</a:t>
            </a:r>
            <a:r>
              <a:rPr lang="en-US" altLang="ko-KR" sz="1800" dirty="0">
                <a:latin typeface="+mn-ea"/>
              </a:rPr>
              <a:t>2</a:t>
            </a:r>
            <a:r>
              <a:rPr lang="ko-KR" altLang="en-US" sz="1800" dirty="0">
                <a:latin typeface="+mn-ea"/>
              </a:rPr>
              <a:t>차 세계대전이 종결된 후 </a:t>
            </a:r>
            <a:r>
              <a:rPr lang="en-US" altLang="ko-KR" sz="1800" dirty="0">
                <a:solidFill>
                  <a:srgbClr val="00B050"/>
                </a:solidFill>
                <a:highlight>
                  <a:srgbClr val="FFFF00"/>
                </a:highlight>
                <a:latin typeface="+mn-ea"/>
              </a:rPr>
              <a:t>1945</a:t>
            </a:r>
            <a:r>
              <a:rPr lang="ko-KR" altLang="en-US" sz="1800" dirty="0">
                <a:solidFill>
                  <a:srgbClr val="00B050"/>
                </a:solidFill>
                <a:highlight>
                  <a:srgbClr val="FFFF00"/>
                </a:highlight>
                <a:latin typeface="+mn-ea"/>
              </a:rPr>
              <a:t>년</a:t>
            </a:r>
            <a:r>
              <a:rPr lang="en-US" altLang="ko-KR" sz="1800" dirty="0">
                <a:solidFill>
                  <a:srgbClr val="00B050"/>
                </a:solidFill>
                <a:highlight>
                  <a:srgbClr val="FFFF00"/>
                </a:highlight>
                <a:latin typeface="+mn-ea"/>
              </a:rPr>
              <a:t>-1975</a:t>
            </a:r>
            <a:r>
              <a:rPr lang="ko-KR" altLang="en-US" sz="1800" dirty="0">
                <a:solidFill>
                  <a:srgbClr val="00B050"/>
                </a:solidFill>
                <a:highlight>
                  <a:srgbClr val="FFFF00"/>
                </a:highlight>
                <a:latin typeface="+mn-ea"/>
              </a:rPr>
              <a:t>년까지의 약 </a:t>
            </a:r>
            <a:r>
              <a:rPr lang="en-US" altLang="ko-KR" sz="1800" dirty="0">
                <a:solidFill>
                  <a:srgbClr val="00B050"/>
                </a:solidFill>
                <a:highlight>
                  <a:srgbClr val="FFFF00"/>
                </a:highlight>
                <a:latin typeface="+mn-ea"/>
              </a:rPr>
              <a:t>30</a:t>
            </a:r>
            <a:r>
              <a:rPr lang="ko-KR" altLang="en-US" sz="1800" dirty="0">
                <a:solidFill>
                  <a:srgbClr val="00B050"/>
                </a:solidFill>
                <a:highlight>
                  <a:srgbClr val="FFFF00"/>
                </a:highlight>
                <a:latin typeface="+mn-ea"/>
              </a:rPr>
              <a:t>년간은 경제적 번영에 힘입어 역사적으로 사회보장제도가 가장 발전한 ‘복지국가 황금기’</a:t>
            </a:r>
            <a:r>
              <a:rPr lang="en-US" altLang="ko-KR" sz="1800" dirty="0">
                <a:solidFill>
                  <a:srgbClr val="00B050"/>
                </a:solidFill>
                <a:highlight>
                  <a:srgbClr val="FFFF00"/>
                </a:highlight>
                <a:latin typeface="+mn-ea"/>
              </a:rPr>
              <a:t>(Golden Age)</a:t>
            </a:r>
            <a:r>
              <a:rPr lang="ko-KR" altLang="en-US" sz="1800" dirty="0">
                <a:solidFill>
                  <a:srgbClr val="00B050"/>
                </a:solidFill>
                <a:highlight>
                  <a:srgbClr val="FFFF00"/>
                </a:highlight>
                <a:latin typeface="+mn-ea"/>
              </a:rPr>
              <a:t>가 전개</a:t>
            </a:r>
          </a:p>
          <a:p>
            <a:pPr marL="177800" indent="-177800">
              <a:lnSpc>
                <a:spcPct val="150000"/>
              </a:lnSpc>
              <a:spcBef>
                <a:spcPts val="500"/>
              </a:spcBef>
              <a:buClr>
                <a:srgbClr val="7030A0"/>
              </a:buClr>
            </a:pPr>
            <a:r>
              <a:rPr lang="ko-KR" altLang="en-US" sz="1800" dirty="0">
                <a:latin typeface="+mn-ea"/>
              </a:rPr>
              <a:t>소득보장제도 및 건강보장제도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사회복지서비스 프로그램의 확대로 </a:t>
            </a:r>
            <a:r>
              <a:rPr lang="en-US" altLang="ko-KR" sz="1800" dirty="0">
                <a:latin typeface="+mn-ea"/>
              </a:rPr>
              <a:t>1975</a:t>
            </a:r>
            <a:r>
              <a:rPr lang="ko-KR" altLang="en-US" sz="1800" dirty="0">
                <a:latin typeface="+mn-ea"/>
              </a:rPr>
              <a:t>년 선진자본주의 국가들의 </a:t>
            </a:r>
            <a:r>
              <a:rPr lang="ko-KR" altLang="en-US" sz="1800" dirty="0" err="1">
                <a:latin typeface="+mn-ea"/>
              </a:rPr>
              <a:t>사회보장비</a:t>
            </a:r>
            <a:r>
              <a:rPr lang="ko-KR" altLang="en-US" sz="1800" dirty="0">
                <a:latin typeface="+mn-ea"/>
              </a:rPr>
              <a:t> 평균지출은 </a:t>
            </a:r>
            <a:r>
              <a:rPr lang="en-US" altLang="ko-KR" sz="1800" dirty="0">
                <a:latin typeface="+mn-ea"/>
              </a:rPr>
              <a:t>GDP</a:t>
            </a:r>
            <a:r>
              <a:rPr lang="ko-KR" altLang="en-US" sz="1800" dirty="0">
                <a:latin typeface="+mn-ea"/>
              </a:rPr>
              <a:t>대비 </a:t>
            </a:r>
            <a:r>
              <a:rPr lang="en-US" altLang="ko-KR" sz="1800" dirty="0">
                <a:latin typeface="+mn-ea"/>
              </a:rPr>
              <a:t>19.4%</a:t>
            </a:r>
            <a:r>
              <a:rPr lang="ko-KR" altLang="en-US" sz="1800" dirty="0">
                <a:latin typeface="+mn-ea"/>
              </a:rPr>
              <a:t>로 </a:t>
            </a:r>
            <a:r>
              <a:rPr lang="en-US" altLang="ko-KR" sz="1800" dirty="0">
                <a:latin typeface="+mn-ea"/>
              </a:rPr>
              <a:t>1950</a:t>
            </a:r>
            <a:r>
              <a:rPr lang="ko-KR" altLang="en-US" sz="1800" dirty="0">
                <a:latin typeface="+mn-ea"/>
              </a:rPr>
              <a:t>년의 </a:t>
            </a:r>
            <a:r>
              <a:rPr lang="en-US" altLang="ko-KR" sz="1800" dirty="0">
                <a:latin typeface="+mn-ea"/>
              </a:rPr>
              <a:t>9.3%</a:t>
            </a:r>
            <a:r>
              <a:rPr lang="ko-KR" altLang="en-US" sz="1800" dirty="0">
                <a:latin typeface="+mn-ea"/>
              </a:rPr>
              <a:t>보다 무려 </a:t>
            </a:r>
            <a:r>
              <a:rPr lang="en-US" altLang="ko-KR" sz="1800" dirty="0">
                <a:latin typeface="+mn-ea"/>
              </a:rPr>
              <a:t>10.1%</a:t>
            </a:r>
            <a:r>
              <a:rPr lang="ko-KR" altLang="en-US" sz="1800" dirty="0">
                <a:latin typeface="+mn-ea"/>
              </a:rPr>
              <a:t>나 증가함</a:t>
            </a:r>
            <a:endParaRPr lang="en-US" altLang="ko-KR" sz="1800" dirty="0">
              <a:latin typeface="+mn-ea"/>
            </a:endParaRPr>
          </a:p>
          <a:p>
            <a:pPr marL="177800" indent="-177800">
              <a:lnSpc>
                <a:spcPct val="150000"/>
              </a:lnSpc>
              <a:spcBef>
                <a:spcPts val="500"/>
              </a:spcBef>
              <a:buClr>
                <a:srgbClr val="7030A0"/>
              </a:buClr>
            </a:pPr>
            <a:r>
              <a:rPr lang="ko-KR" altLang="en-US" sz="1800" dirty="0"/>
              <a:t>이 시기는 복지제도의 포괄성</a:t>
            </a:r>
            <a:r>
              <a:rPr lang="en-US" altLang="ko-KR" sz="1800" dirty="0"/>
              <a:t>, </a:t>
            </a:r>
            <a:r>
              <a:rPr lang="ko-KR" altLang="en-US" sz="1800" dirty="0"/>
              <a:t>복지수혜자의 보편성</a:t>
            </a:r>
            <a:r>
              <a:rPr lang="en-US" altLang="ko-KR" sz="1800" dirty="0"/>
              <a:t>, </a:t>
            </a:r>
            <a:r>
              <a:rPr lang="ko-KR" altLang="en-US" sz="1800" dirty="0"/>
              <a:t>복지혜택의 적절성으로 사회보장의 절정기라고 할 수 있음</a:t>
            </a:r>
            <a:endParaRPr lang="ko-KR" altLang="en-US" sz="1800" dirty="0"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24110" y="1487644"/>
            <a:ext cx="85285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en-US" altLang="ko-KR" sz="2400" b="1" dirty="0">
                <a:solidFill>
                  <a:srgbClr val="7030A0"/>
                </a:solidFill>
                <a:latin typeface="+mn-ea"/>
              </a:rPr>
              <a:t>3) </a:t>
            </a:r>
            <a:r>
              <a:rPr lang="ko-KR" altLang="en-US" sz="2400" b="1" dirty="0">
                <a:solidFill>
                  <a:srgbClr val="7030A0"/>
                </a:solidFill>
                <a:latin typeface="+mn-ea"/>
              </a:rPr>
              <a:t>사회보장의 확대</a:t>
            </a:r>
          </a:p>
        </p:txBody>
      </p:sp>
      <p:sp>
        <p:nvSpPr>
          <p:cNvPr id="13" name="제목 1"/>
          <p:cNvSpPr txBox="1">
            <a:spLocks/>
          </p:cNvSpPr>
          <p:nvPr/>
        </p:nvSpPr>
        <p:spPr>
          <a:xfrm>
            <a:off x="224111" y="420678"/>
            <a:ext cx="6776214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 </a:t>
            </a:r>
            <a:r>
              <a:rPr lang="ko-KR" altLang="en-US" sz="32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사회보장의 형성과 확대기 </a:t>
            </a:r>
            <a:r>
              <a:rPr lang="en-US" altLang="ko-KR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(1930</a:t>
            </a:r>
            <a:r>
              <a:rPr lang="ko-KR" altLang="en-US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년대 </a:t>
            </a:r>
            <a:r>
              <a:rPr lang="en-US" altLang="ko-KR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- 1970</a:t>
            </a:r>
            <a:r>
              <a:rPr lang="ko-KR" altLang="en-US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년대 초반</a:t>
            </a:r>
            <a:r>
              <a:rPr lang="en-US" altLang="ko-KR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endParaRPr lang="ko-KR" altLang="en-US" sz="200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369060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제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4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</a:t>
            </a:r>
            <a:endParaRPr lang="en-US" altLang="ko-KR" sz="1200" dirty="0">
              <a:solidFill>
                <a:schemeClr val="bg1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사회보장의 역사</a:t>
            </a:r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1238319" y="1844824"/>
            <a:ext cx="6688049" cy="369332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00" spc="-150" dirty="0">
                <a:latin typeface="+mn-ea"/>
                <a:ea typeface="+mn-ea"/>
              </a:rPr>
              <a:t>&lt;</a:t>
            </a:r>
            <a:r>
              <a:rPr lang="ko-KR" altLang="en-US" sz="1800" spc="-150" dirty="0">
                <a:latin typeface="+mn-ea"/>
                <a:ea typeface="+mn-ea"/>
              </a:rPr>
              <a:t>표</a:t>
            </a:r>
            <a:r>
              <a:rPr lang="en-US" altLang="ko-KR" sz="1800" spc="-150" dirty="0">
                <a:latin typeface="+mn-ea"/>
                <a:ea typeface="+mn-ea"/>
              </a:rPr>
              <a:t>&gt; </a:t>
            </a:r>
            <a:r>
              <a:rPr lang="ko-KR" altLang="en-US" sz="1800" spc="-150" dirty="0">
                <a:latin typeface="+mn-ea"/>
                <a:ea typeface="+mn-ea"/>
              </a:rPr>
              <a:t>선진자본주의 국가들의 </a:t>
            </a:r>
            <a:r>
              <a:rPr lang="ko-KR" altLang="en-US" sz="1800" spc="-150" dirty="0" err="1">
                <a:latin typeface="+mn-ea"/>
                <a:ea typeface="+mn-ea"/>
              </a:rPr>
              <a:t>사회보장비</a:t>
            </a:r>
            <a:r>
              <a:rPr lang="ko-KR" altLang="en-US" sz="1800" spc="-150" dirty="0">
                <a:latin typeface="+mn-ea"/>
                <a:ea typeface="+mn-ea"/>
              </a:rPr>
              <a:t> 지출 </a:t>
            </a:r>
            <a:r>
              <a:rPr lang="en-US" altLang="ko-KR" sz="1800" spc="-150" dirty="0">
                <a:latin typeface="+mn-ea"/>
                <a:ea typeface="+mn-ea"/>
              </a:rPr>
              <a:t>1950-1975(GDP</a:t>
            </a:r>
            <a:r>
              <a:rPr lang="ko-KR" altLang="en-US" sz="1800" spc="-150" dirty="0">
                <a:latin typeface="+mn-ea"/>
                <a:ea typeface="+mn-ea"/>
              </a:rPr>
              <a:t>대비 </a:t>
            </a:r>
            <a:r>
              <a:rPr lang="en-US" altLang="ko-KR" sz="1800" spc="-150" dirty="0">
                <a:latin typeface="+mn-ea"/>
                <a:ea typeface="+mn-ea"/>
              </a:rPr>
              <a:t>%)</a:t>
            </a:r>
            <a:endParaRPr lang="ko-KR" altLang="en-US" sz="1800" spc="-150" dirty="0">
              <a:latin typeface="+mn-ea"/>
              <a:ea typeface="+mn-ea"/>
            </a:endParaRPr>
          </a:p>
        </p:txBody>
      </p:sp>
      <p:graphicFrame>
        <p:nvGraphicFramePr>
          <p:cNvPr id="9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1584055"/>
              </p:ext>
            </p:extLst>
          </p:nvPr>
        </p:nvGraphicFramePr>
        <p:xfrm>
          <a:off x="395536" y="2276872"/>
          <a:ext cx="8352930" cy="3888435"/>
        </p:xfrm>
        <a:graphic>
          <a:graphicData uri="http://schemas.openxmlformats.org/drawingml/2006/table">
            <a:tbl>
              <a:tblPr/>
              <a:tblGrid>
                <a:gridCol w="1392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2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2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21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21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9229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spc="-50" baseline="0" dirty="0">
                          <a:solidFill>
                            <a:schemeClr val="tx1"/>
                          </a:solidFill>
                        </a:rPr>
                        <a:t>국 가 명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7030A0">
                            <a:tint val="66000"/>
                            <a:satMod val="160000"/>
                          </a:srgbClr>
                        </a:gs>
                        <a:gs pos="50000">
                          <a:srgbClr val="7030A0">
                            <a:tint val="44500"/>
                            <a:satMod val="160000"/>
                          </a:srgbClr>
                        </a:gs>
                        <a:gs pos="100000">
                          <a:srgbClr val="7030A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spc="-50" baseline="0" dirty="0">
                          <a:solidFill>
                            <a:schemeClr val="tx1"/>
                          </a:solidFill>
                        </a:rPr>
                        <a:t>1950</a:t>
                      </a:r>
                      <a:endParaRPr lang="ko-KR" altLang="en-US" sz="1300" b="1" spc="-5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7030A0">
                            <a:tint val="66000"/>
                            <a:satMod val="160000"/>
                          </a:srgbClr>
                        </a:gs>
                        <a:gs pos="50000">
                          <a:srgbClr val="7030A0">
                            <a:tint val="44500"/>
                            <a:satMod val="160000"/>
                          </a:srgbClr>
                        </a:gs>
                        <a:gs pos="100000">
                          <a:srgbClr val="7030A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spc="-50" baseline="0" dirty="0">
                          <a:solidFill>
                            <a:schemeClr val="tx1"/>
                          </a:solidFill>
                        </a:rPr>
                        <a:t>1960</a:t>
                      </a:r>
                      <a:endParaRPr lang="ko-KR" altLang="en-US" sz="1300" b="1" spc="-5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7030A0">
                            <a:tint val="66000"/>
                            <a:satMod val="160000"/>
                          </a:srgbClr>
                        </a:gs>
                        <a:gs pos="50000">
                          <a:srgbClr val="7030A0">
                            <a:tint val="44500"/>
                            <a:satMod val="160000"/>
                          </a:srgbClr>
                        </a:gs>
                        <a:gs pos="100000">
                          <a:srgbClr val="7030A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spc="-50" baseline="0" dirty="0">
                          <a:solidFill>
                            <a:schemeClr val="tx1"/>
                          </a:solidFill>
                        </a:rPr>
                        <a:t>1965</a:t>
                      </a:r>
                      <a:endParaRPr lang="ko-KR" altLang="en-US" sz="1300" b="1" spc="-5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7030A0">
                            <a:tint val="66000"/>
                            <a:satMod val="160000"/>
                          </a:srgbClr>
                        </a:gs>
                        <a:gs pos="50000">
                          <a:srgbClr val="7030A0">
                            <a:tint val="44500"/>
                            <a:satMod val="160000"/>
                          </a:srgbClr>
                        </a:gs>
                        <a:gs pos="100000">
                          <a:srgbClr val="7030A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spc="-50" baseline="0" dirty="0">
                          <a:solidFill>
                            <a:schemeClr val="tx1"/>
                          </a:solidFill>
                        </a:rPr>
                        <a:t>1970</a:t>
                      </a:r>
                      <a:endParaRPr lang="ko-KR" altLang="en-US" sz="1300" b="1" spc="-5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7030A0">
                            <a:tint val="66000"/>
                            <a:satMod val="160000"/>
                          </a:srgbClr>
                        </a:gs>
                        <a:gs pos="50000">
                          <a:srgbClr val="7030A0">
                            <a:tint val="44500"/>
                            <a:satMod val="160000"/>
                          </a:srgbClr>
                        </a:gs>
                        <a:gs pos="100000">
                          <a:srgbClr val="7030A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 spc="-50" baseline="0" dirty="0">
                          <a:solidFill>
                            <a:schemeClr val="tx1"/>
                          </a:solidFill>
                        </a:rPr>
                        <a:t>1975</a:t>
                      </a:r>
                      <a:endParaRPr lang="ko-KR" altLang="en-US" sz="1300" b="1" spc="-5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7030A0">
                            <a:tint val="66000"/>
                            <a:satMod val="160000"/>
                          </a:srgbClr>
                        </a:gs>
                        <a:gs pos="50000">
                          <a:srgbClr val="7030A0">
                            <a:tint val="44500"/>
                            <a:satMod val="160000"/>
                          </a:srgbClr>
                        </a:gs>
                        <a:gs pos="100000">
                          <a:srgbClr val="7030A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spc="-150" baseline="0" dirty="0" err="1"/>
                        <a:t>스</a:t>
                      </a:r>
                      <a:r>
                        <a:rPr lang="ko-KR" altLang="en-US" sz="1300" spc="-150" baseline="0" dirty="0"/>
                        <a:t> </a:t>
                      </a:r>
                      <a:r>
                        <a:rPr lang="ko-KR" altLang="en-US" sz="1300" spc="-150" baseline="0" dirty="0" err="1"/>
                        <a:t>웨</a:t>
                      </a:r>
                      <a:r>
                        <a:rPr lang="ko-KR" altLang="en-US" sz="1300" spc="-150" baseline="0" dirty="0"/>
                        <a:t> 덴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9.7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10.9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13.8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18.6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25.0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spc="-150" baseline="0" dirty="0" err="1"/>
                        <a:t>네델란드</a:t>
                      </a:r>
                      <a:endParaRPr lang="ko-KR" altLang="en-US" sz="1300" spc="-150" baseline="0" dirty="0"/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8.0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11.0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15.5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18.9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25.5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spc="-150" baseline="0" dirty="0"/>
                        <a:t>독일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14.8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15.5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16.6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17.1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23.7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spc="-150" baseline="0" dirty="0"/>
                        <a:t>벨기에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11.6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15.3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16.1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18.1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23.6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spc="-150" baseline="0" dirty="0"/>
                        <a:t>프랑스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11.5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13.2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15.8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15.3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24.1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spc="-150" baseline="0" dirty="0"/>
                        <a:t>덴마크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7.9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11.7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12.2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16.4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22.5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spc="-150" baseline="0" dirty="0"/>
                        <a:t>이탈리아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8.4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11.6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13.8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15.0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21.2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spc="-150" baseline="0" dirty="0"/>
                        <a:t>노르웨이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6.2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9.4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11.0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15.5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18.5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spc="-150" baseline="0" dirty="0"/>
                        <a:t>영국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9.6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10.8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11.7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13.7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16.0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spc="-150" baseline="0" dirty="0"/>
                        <a:t>핀란드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7.4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8.8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10.5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12.5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15.7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spc="-150" baseline="0" dirty="0"/>
                        <a:t>스위스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9.7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10.9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8.5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10.1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15.1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spc="-150" baseline="0" dirty="0"/>
                        <a:t>미국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-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-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7.0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9.5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13.1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spc="-150" baseline="0" dirty="0"/>
                        <a:t>일본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-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-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5.1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5.3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7.6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spc="-150" baseline="0" dirty="0"/>
                        <a:t>평균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spc="0" baseline="0" dirty="0"/>
                        <a:t>9.3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spc="0" baseline="0" dirty="0"/>
                        <a:t>11.6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spc="0" baseline="0" dirty="0"/>
                        <a:t>12.5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spc="0" baseline="0" dirty="0"/>
                        <a:t>14.6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Tx/>
                        <a:buNone/>
                      </a:pPr>
                      <a:r>
                        <a:rPr lang="en-US" altLang="ko-KR" sz="1300" spc="0" baseline="0" dirty="0"/>
                        <a:t>19.4</a:t>
                      </a:r>
                      <a:endParaRPr lang="ko-KR" altLang="en-US" sz="1300" spc="0" baseline="0" dirty="0"/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395535" y="5913304"/>
            <a:ext cx="8357119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24110" y="1383159"/>
            <a:ext cx="85285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en-US" altLang="ko-KR" sz="2400" b="1" dirty="0">
                <a:solidFill>
                  <a:srgbClr val="7030A0"/>
                </a:solidFill>
                <a:latin typeface="+mn-ea"/>
              </a:rPr>
              <a:t>3) </a:t>
            </a:r>
            <a:r>
              <a:rPr lang="ko-KR" altLang="en-US" sz="2400" b="1" dirty="0">
                <a:solidFill>
                  <a:srgbClr val="7030A0"/>
                </a:solidFill>
                <a:latin typeface="+mn-ea"/>
              </a:rPr>
              <a:t>사회보장의 확대</a:t>
            </a:r>
          </a:p>
        </p:txBody>
      </p:sp>
      <p:sp>
        <p:nvSpPr>
          <p:cNvPr id="13" name="제목 1"/>
          <p:cNvSpPr txBox="1">
            <a:spLocks/>
          </p:cNvSpPr>
          <p:nvPr/>
        </p:nvSpPr>
        <p:spPr>
          <a:xfrm>
            <a:off x="224111" y="420678"/>
            <a:ext cx="6776214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 </a:t>
            </a:r>
            <a:r>
              <a:rPr lang="ko-KR" altLang="en-US" sz="32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사회보장의 형성과 확대기 </a:t>
            </a:r>
            <a:r>
              <a:rPr lang="en-US" altLang="ko-KR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(1930</a:t>
            </a:r>
            <a:r>
              <a:rPr lang="ko-KR" altLang="en-US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년대 </a:t>
            </a:r>
            <a:r>
              <a:rPr lang="en-US" altLang="ko-KR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- 1970</a:t>
            </a:r>
            <a:r>
              <a:rPr lang="ko-KR" altLang="en-US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년대 초반</a:t>
            </a:r>
            <a:r>
              <a:rPr lang="en-US" altLang="ko-KR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endParaRPr lang="ko-KR" altLang="en-US" sz="200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45407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제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4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</a:t>
            </a:r>
            <a:endParaRPr lang="en-US" altLang="ko-KR" sz="1200" dirty="0">
              <a:solidFill>
                <a:schemeClr val="bg1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사회보장의 역사</a:t>
            </a:r>
          </a:p>
        </p:txBody>
      </p:sp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8213824" y="6309320"/>
            <a:ext cx="36420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latinLnBrk="0">
              <a:spcBef>
                <a:spcPct val="0"/>
              </a:spcBef>
              <a:buFontTx/>
              <a:buNone/>
            </a:pPr>
            <a:r>
              <a:rPr lang="en-US" altLang="ko-KR" sz="1200" b="1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00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405855" y="2780928"/>
            <a:ext cx="8342609" cy="1158161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wrap="square" lIns="144000" tIns="144000" rIns="144000" bIns="180000">
            <a:spAutoFit/>
          </a:bodyPr>
          <a:lstStyle/>
          <a:p>
            <a:pPr marL="177800" indent="-177800" fontAlgn="base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en-US" altLang="ko-KR" dirty="0"/>
              <a:t>‘</a:t>
            </a:r>
            <a:r>
              <a:rPr lang="ko-KR" altLang="en-US" dirty="0"/>
              <a:t>베버리지 입법’의 </a:t>
            </a:r>
            <a:r>
              <a:rPr lang="en-US" altLang="ko-KR" dirty="0"/>
              <a:t>4</a:t>
            </a:r>
            <a:r>
              <a:rPr lang="ko-KR" altLang="en-US" dirty="0"/>
              <a:t>대 법 제정 이후 </a:t>
            </a:r>
            <a:r>
              <a:rPr lang="en-US" altLang="ko-KR" dirty="0"/>
              <a:t>1960</a:t>
            </a:r>
            <a:r>
              <a:rPr lang="ko-KR" altLang="en-US" dirty="0"/>
              <a:t>년대 중반부터 가족수당의 확대</a:t>
            </a:r>
            <a:r>
              <a:rPr lang="en-US" altLang="ko-KR" dirty="0"/>
              <a:t>,   </a:t>
            </a:r>
            <a:r>
              <a:rPr lang="ko-KR" altLang="en-US" dirty="0"/>
              <a:t>저소득층에 대한 임금보충</a:t>
            </a:r>
            <a:r>
              <a:rPr lang="en-US" altLang="ko-KR" dirty="0"/>
              <a:t>, </a:t>
            </a:r>
            <a:r>
              <a:rPr lang="ko-KR" altLang="en-US" dirty="0"/>
              <a:t>최저임금제 정책들이 법제화되기 시작함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224111" y="1487644"/>
            <a:ext cx="67751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en-US" altLang="ko-KR" sz="2400" b="1" dirty="0">
                <a:solidFill>
                  <a:srgbClr val="7030A0"/>
                </a:solidFill>
                <a:latin typeface="+mn-ea"/>
              </a:rPr>
              <a:t>3) </a:t>
            </a:r>
            <a:r>
              <a:rPr lang="ko-KR" altLang="en-US" sz="2400" b="1" dirty="0">
                <a:solidFill>
                  <a:srgbClr val="7030A0"/>
                </a:solidFill>
                <a:latin typeface="+mn-ea"/>
              </a:rPr>
              <a:t>사회보장의 확대</a:t>
            </a:r>
          </a:p>
        </p:txBody>
      </p:sp>
      <p:grpSp>
        <p:nvGrpSpPr>
          <p:cNvPr id="16" name="그룹 15"/>
          <p:cNvGrpSpPr/>
          <p:nvPr/>
        </p:nvGrpSpPr>
        <p:grpSpPr>
          <a:xfrm>
            <a:off x="405855" y="2134307"/>
            <a:ext cx="3376352" cy="400110"/>
            <a:chOff x="971600" y="2380818"/>
            <a:chExt cx="3376352" cy="400110"/>
          </a:xfrm>
        </p:grpSpPr>
        <p:pic>
          <p:nvPicPr>
            <p:cNvPr id="1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1600" y="2493482"/>
              <a:ext cx="215563" cy="215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내용 개체 틀 2"/>
            <p:cNvSpPr txBox="1">
              <a:spLocks/>
            </p:cNvSpPr>
            <p:nvPr/>
          </p:nvSpPr>
          <p:spPr>
            <a:xfrm>
              <a:off x="1223994" y="2380818"/>
              <a:ext cx="3123958" cy="400110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1800"/>
                </a:spcBef>
                <a:buNone/>
              </a:pPr>
              <a:r>
                <a:rPr lang="ko-KR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영국</a:t>
              </a:r>
            </a:p>
          </p:txBody>
        </p:sp>
      </p:grpSp>
      <p:sp>
        <p:nvSpPr>
          <p:cNvPr id="19" name="제목 1"/>
          <p:cNvSpPr txBox="1">
            <a:spLocks/>
          </p:cNvSpPr>
          <p:nvPr/>
        </p:nvSpPr>
        <p:spPr>
          <a:xfrm>
            <a:off x="224111" y="420678"/>
            <a:ext cx="6776214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 </a:t>
            </a:r>
            <a:r>
              <a:rPr lang="ko-KR" altLang="en-US" sz="32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사회보장의 형성과 확대기 </a:t>
            </a:r>
            <a:r>
              <a:rPr lang="en-US" altLang="ko-KR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(1930</a:t>
            </a:r>
            <a:r>
              <a:rPr lang="ko-KR" altLang="en-US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년대 </a:t>
            </a:r>
            <a:r>
              <a:rPr lang="en-US" altLang="ko-KR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- 1970</a:t>
            </a:r>
            <a:r>
              <a:rPr lang="ko-KR" altLang="en-US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년대 초반</a:t>
            </a:r>
            <a:r>
              <a:rPr lang="en-US" altLang="ko-KR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endParaRPr lang="ko-KR" altLang="en-US" sz="200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43746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제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4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</a:t>
            </a:r>
            <a:endParaRPr lang="en-US" altLang="ko-KR" sz="1200" dirty="0">
              <a:solidFill>
                <a:schemeClr val="bg1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사회보장의 역사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405855" y="2691854"/>
            <a:ext cx="8342609" cy="2766614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wrap="square" lIns="144000" tIns="144000" rIns="144000" bIns="180000">
            <a:spAutoFit/>
          </a:bodyPr>
          <a:lstStyle/>
          <a:p>
            <a:pPr marL="177800" indent="-177800" fontAlgn="base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FF0000"/>
                </a:solidFill>
              </a:rPr>
              <a:t>1962</a:t>
            </a:r>
            <a:r>
              <a:rPr lang="ko-KR" altLang="en-US" dirty="0">
                <a:solidFill>
                  <a:srgbClr val="FF0000"/>
                </a:solidFill>
              </a:rPr>
              <a:t>년 </a:t>
            </a:r>
            <a:r>
              <a:rPr lang="ko-KR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부양아동가족부조</a:t>
            </a:r>
            <a:r>
              <a:rPr lang="en-US" altLang="ko-KR" dirty="0">
                <a:solidFill>
                  <a:srgbClr val="FF0000"/>
                </a:solidFill>
                <a:highlight>
                  <a:srgbClr val="FFFF00"/>
                </a:highlight>
              </a:rPr>
              <a:t>(AFDC)</a:t>
            </a:r>
            <a:r>
              <a:rPr lang="ko-KR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 제정</a:t>
            </a:r>
            <a:endParaRPr lang="en-US" altLang="ko-KR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fontAlgn="base">
              <a:lnSpc>
                <a:spcPct val="150000"/>
              </a:lnSpc>
              <a:buClr>
                <a:srgbClr val="7030A0"/>
              </a:buClr>
            </a:pPr>
            <a:r>
              <a:rPr lang="en-US" altLang="ko-KR" dirty="0"/>
              <a:t> - 1935</a:t>
            </a:r>
            <a:r>
              <a:rPr lang="ko-KR" altLang="en-US" dirty="0"/>
              <a:t>년 사회보장법에서 제정된 </a:t>
            </a:r>
            <a:r>
              <a:rPr lang="ko-KR" altLang="en-US" dirty="0" err="1"/>
              <a:t>부양아동부조제도인</a:t>
            </a:r>
            <a:r>
              <a:rPr lang="ko-KR" altLang="en-US" dirty="0"/>
              <a:t> </a:t>
            </a:r>
            <a:r>
              <a:rPr lang="en-US" altLang="ko-KR" dirty="0"/>
              <a:t>ADC(Aid to Dependent </a:t>
            </a:r>
          </a:p>
          <a:p>
            <a:pPr fontAlgn="base">
              <a:lnSpc>
                <a:spcPct val="150000"/>
              </a:lnSpc>
              <a:buClr>
                <a:srgbClr val="7030A0"/>
              </a:buClr>
            </a:pPr>
            <a:r>
              <a:rPr lang="en-US" altLang="ko-KR" dirty="0"/>
              <a:t>   Children)</a:t>
            </a:r>
            <a:r>
              <a:rPr lang="ko-KR" altLang="en-US" dirty="0"/>
              <a:t>가 변경된 것</a:t>
            </a:r>
          </a:p>
          <a:p>
            <a:pPr fontAlgn="base">
              <a:lnSpc>
                <a:spcPct val="150000"/>
              </a:lnSpc>
              <a:buClr>
                <a:srgbClr val="7030A0"/>
              </a:buClr>
            </a:pPr>
            <a:r>
              <a:rPr lang="en-US" altLang="ko-KR" dirty="0"/>
              <a:t> - </a:t>
            </a:r>
            <a:r>
              <a:rPr lang="en-US" altLang="ko-KR" dirty="0">
                <a:highlight>
                  <a:srgbClr val="FFFF00"/>
                </a:highlight>
              </a:rPr>
              <a:t>18</a:t>
            </a:r>
            <a:r>
              <a:rPr lang="ko-KR" altLang="en-US" dirty="0">
                <a:highlight>
                  <a:srgbClr val="FFFF00"/>
                </a:highlight>
              </a:rPr>
              <a:t>세 미만의 </a:t>
            </a:r>
            <a:r>
              <a:rPr lang="ko-KR" altLang="en-US" dirty="0" err="1">
                <a:highlight>
                  <a:srgbClr val="FFFF00"/>
                </a:highlight>
              </a:rPr>
              <a:t>요보호</a:t>
            </a:r>
            <a:r>
              <a:rPr lang="ko-KR" altLang="en-US" dirty="0">
                <a:highlight>
                  <a:srgbClr val="FFFF00"/>
                </a:highlight>
              </a:rPr>
              <a:t> 아동이 있는 편모가정에 대한 경제적 부조제도</a:t>
            </a:r>
          </a:p>
          <a:p>
            <a:pPr fontAlgn="base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</a:pPr>
            <a:r>
              <a:rPr lang="en-US" altLang="ko-KR" dirty="0"/>
              <a:t> </a:t>
            </a:r>
          </a:p>
          <a:p>
            <a:pPr marL="285750" indent="-285750" fontAlgn="base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FF0000"/>
                </a:solidFill>
              </a:rPr>
              <a:t>1965</a:t>
            </a:r>
            <a:r>
              <a:rPr lang="ko-KR" altLang="en-US" dirty="0">
                <a:solidFill>
                  <a:srgbClr val="FF0000"/>
                </a:solidFill>
              </a:rPr>
              <a:t>년 </a:t>
            </a:r>
            <a:r>
              <a:rPr lang="ko-KR" altLang="en-US" dirty="0" err="1">
                <a:solidFill>
                  <a:srgbClr val="FF0000"/>
                </a:solidFill>
                <a:highlight>
                  <a:srgbClr val="FFFF00"/>
                </a:highlight>
              </a:rPr>
              <a:t>메디케어</a:t>
            </a:r>
            <a:r>
              <a:rPr lang="en-US" altLang="ko-KR" dirty="0">
                <a:solidFill>
                  <a:srgbClr val="FF0000"/>
                </a:solidFill>
                <a:highlight>
                  <a:srgbClr val="FFFF00"/>
                </a:highlight>
              </a:rPr>
              <a:t>(Medicare)</a:t>
            </a:r>
            <a:r>
              <a:rPr lang="ko-KR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와 </a:t>
            </a:r>
            <a:r>
              <a:rPr lang="ko-KR" altLang="en-US" dirty="0" err="1">
                <a:solidFill>
                  <a:srgbClr val="FF0000"/>
                </a:solidFill>
                <a:highlight>
                  <a:srgbClr val="FFFF00"/>
                </a:highlight>
              </a:rPr>
              <a:t>메디케이드</a:t>
            </a:r>
            <a:r>
              <a:rPr lang="en-US" altLang="ko-KR" dirty="0">
                <a:solidFill>
                  <a:srgbClr val="FF0000"/>
                </a:solidFill>
                <a:highlight>
                  <a:srgbClr val="FFFF00"/>
                </a:highlight>
              </a:rPr>
              <a:t>(Medicaid) </a:t>
            </a:r>
            <a:r>
              <a:rPr lang="ko-KR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제정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224111" y="1487644"/>
            <a:ext cx="67751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en-US" altLang="ko-KR" sz="2400" b="1" dirty="0">
                <a:solidFill>
                  <a:srgbClr val="7030A0"/>
                </a:solidFill>
                <a:latin typeface="+mn-ea"/>
              </a:rPr>
              <a:t>3) </a:t>
            </a:r>
            <a:r>
              <a:rPr lang="ko-KR" altLang="en-US" sz="2400" b="1" dirty="0">
                <a:solidFill>
                  <a:srgbClr val="7030A0"/>
                </a:solidFill>
                <a:latin typeface="+mn-ea"/>
              </a:rPr>
              <a:t>사회보장의 확대</a:t>
            </a:r>
          </a:p>
        </p:txBody>
      </p:sp>
      <p:grpSp>
        <p:nvGrpSpPr>
          <p:cNvPr id="23" name="그룹 22"/>
          <p:cNvGrpSpPr/>
          <p:nvPr/>
        </p:nvGrpSpPr>
        <p:grpSpPr>
          <a:xfrm>
            <a:off x="405855" y="2134307"/>
            <a:ext cx="3376352" cy="400110"/>
            <a:chOff x="971600" y="2380818"/>
            <a:chExt cx="3376352" cy="400110"/>
          </a:xfrm>
        </p:grpSpPr>
        <p:pic>
          <p:nvPicPr>
            <p:cNvPr id="24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1600" y="2493482"/>
              <a:ext cx="215563" cy="215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내용 개체 틀 2"/>
            <p:cNvSpPr txBox="1">
              <a:spLocks/>
            </p:cNvSpPr>
            <p:nvPr/>
          </p:nvSpPr>
          <p:spPr>
            <a:xfrm>
              <a:off x="1223994" y="2380818"/>
              <a:ext cx="3123958" cy="400110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1800"/>
                </a:spcBef>
                <a:buNone/>
              </a:pPr>
              <a:r>
                <a:rPr lang="ko-KR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미국</a:t>
              </a:r>
            </a:p>
          </p:txBody>
        </p:sp>
      </p:grpSp>
      <p:sp>
        <p:nvSpPr>
          <p:cNvPr id="26" name="제목 1"/>
          <p:cNvSpPr txBox="1">
            <a:spLocks/>
          </p:cNvSpPr>
          <p:nvPr/>
        </p:nvSpPr>
        <p:spPr>
          <a:xfrm>
            <a:off x="224111" y="420678"/>
            <a:ext cx="6776214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 </a:t>
            </a:r>
            <a:r>
              <a:rPr lang="ko-KR" altLang="en-US" sz="32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사회보장의 형성과 확대기 </a:t>
            </a:r>
            <a:r>
              <a:rPr lang="en-US" altLang="ko-KR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(1930</a:t>
            </a:r>
            <a:r>
              <a:rPr lang="ko-KR" altLang="en-US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년대 </a:t>
            </a:r>
            <a:r>
              <a:rPr lang="en-US" altLang="ko-KR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- 1970</a:t>
            </a:r>
            <a:r>
              <a:rPr lang="ko-KR" altLang="en-US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년대 초반</a:t>
            </a:r>
            <a:r>
              <a:rPr lang="en-US" altLang="ko-KR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endParaRPr lang="ko-KR" altLang="en-US" sz="200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27634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4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역사</a:t>
            </a:r>
          </a:p>
        </p:txBody>
      </p:sp>
      <p:graphicFrame>
        <p:nvGraphicFramePr>
          <p:cNvPr id="11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3661789"/>
              </p:ext>
            </p:extLst>
          </p:nvPr>
        </p:nvGraphicFramePr>
        <p:xfrm>
          <a:off x="323528" y="2458405"/>
          <a:ext cx="8352928" cy="3451152"/>
        </p:xfrm>
        <a:graphic>
          <a:graphicData uri="http://schemas.openxmlformats.org/drawingml/2006/table">
            <a:tbl>
              <a:tblPr/>
              <a:tblGrid>
                <a:gridCol w="8352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9494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spc="0" baseline="0" dirty="0" err="1">
                          <a:solidFill>
                            <a:schemeClr val="tx1"/>
                          </a:solidFill>
                        </a:rPr>
                        <a:t>메디케어와</a:t>
                      </a:r>
                      <a:r>
                        <a:rPr lang="ko-KR" altLang="en-US" sz="1800" b="1" spc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800" b="1" spc="0" baseline="0" dirty="0" err="1">
                          <a:solidFill>
                            <a:schemeClr val="tx1"/>
                          </a:solidFill>
                        </a:rPr>
                        <a:t>메디케이드</a:t>
                      </a:r>
                      <a:endParaRPr lang="ko-KR" altLang="en-US" sz="1800" b="1" spc="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7030A0">
                            <a:tint val="66000"/>
                            <a:satMod val="160000"/>
                          </a:srgbClr>
                        </a:gs>
                        <a:gs pos="50000">
                          <a:srgbClr val="7030A0">
                            <a:tint val="44500"/>
                            <a:satMod val="160000"/>
                          </a:srgbClr>
                        </a:gs>
                        <a:gs pos="100000">
                          <a:srgbClr val="7030A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1301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spc="0" baseline="0" dirty="0">
                          <a:solidFill>
                            <a:srgbClr val="FF0000"/>
                          </a:solidFill>
                        </a:rPr>
                        <a:t>① </a:t>
                      </a:r>
                      <a:r>
                        <a:rPr lang="ko-KR" altLang="en-US" sz="1800" spc="0" baseline="0" dirty="0" err="1">
                          <a:solidFill>
                            <a:srgbClr val="FF0000"/>
                          </a:solidFill>
                        </a:rPr>
                        <a:t>메디케어</a:t>
                      </a:r>
                      <a:endParaRPr lang="ko-KR" altLang="en-US" sz="1800" spc="0" baseline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indent="0" algn="l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spc="0" baseline="0" dirty="0"/>
                        <a:t>   </a:t>
                      </a:r>
                      <a:r>
                        <a:rPr lang="en-US" altLang="ko-KR" sz="1800" spc="0" baseline="0" dirty="0">
                          <a:highlight>
                            <a:srgbClr val="FFFF00"/>
                          </a:highlight>
                        </a:rPr>
                        <a:t>65</a:t>
                      </a:r>
                      <a:r>
                        <a:rPr lang="ko-KR" altLang="en-US" sz="1800" spc="0" baseline="0" dirty="0">
                          <a:highlight>
                            <a:srgbClr val="FFFF00"/>
                          </a:highlight>
                        </a:rPr>
                        <a:t>세 이상의 노인들과 </a:t>
                      </a:r>
                      <a:r>
                        <a:rPr lang="en-US" altLang="ko-KR" sz="1800" spc="0" baseline="0" dirty="0"/>
                        <a:t>65</a:t>
                      </a:r>
                      <a:r>
                        <a:rPr lang="ko-KR" altLang="en-US" sz="1800" spc="0" baseline="0" dirty="0"/>
                        <a:t>세 미만이더라도 </a:t>
                      </a:r>
                      <a:r>
                        <a:rPr lang="ko-KR" altLang="en-US" sz="1800" spc="0" baseline="0" dirty="0">
                          <a:highlight>
                            <a:srgbClr val="FFFF00"/>
                          </a:highlight>
                        </a:rPr>
                        <a:t>특정한 장애나 질병을 가지고    </a:t>
                      </a:r>
                      <a:endParaRPr lang="en-US" altLang="ko-KR" sz="1800" spc="0" baseline="0" dirty="0">
                        <a:highlight>
                          <a:srgbClr val="FFFF00"/>
                        </a:highlight>
                      </a:endParaRPr>
                    </a:p>
                    <a:p>
                      <a:pPr marL="0" marR="0" indent="0" algn="l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spc="0" baseline="0" dirty="0">
                          <a:highlight>
                            <a:srgbClr val="FFFF00"/>
                          </a:highlight>
                        </a:rPr>
                        <a:t>   </a:t>
                      </a:r>
                      <a:r>
                        <a:rPr lang="ko-KR" altLang="en-US" sz="1800" spc="0" baseline="0" dirty="0">
                          <a:highlight>
                            <a:srgbClr val="FFFF00"/>
                          </a:highlight>
                        </a:rPr>
                        <a:t>있는 사람들을 대상</a:t>
                      </a:r>
                      <a:r>
                        <a:rPr lang="ko-KR" altLang="en-US" sz="1800" spc="0" baseline="0" dirty="0"/>
                        <a:t>으로 하는 의료보험제도로</a:t>
                      </a:r>
                      <a:r>
                        <a:rPr lang="en-US" altLang="ko-KR" sz="1800" spc="0" baseline="0" dirty="0"/>
                        <a:t>, </a:t>
                      </a:r>
                      <a:r>
                        <a:rPr lang="ko-KR" altLang="en-US" sz="1800" spc="0" baseline="0" dirty="0"/>
                        <a:t>사회보장세와 수혜자가   </a:t>
                      </a:r>
                      <a:endParaRPr lang="en-US" altLang="ko-KR" sz="1800" spc="0" baseline="0" dirty="0"/>
                    </a:p>
                    <a:p>
                      <a:pPr marL="0" marR="0" indent="0" algn="l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spc="0" baseline="0" dirty="0"/>
                        <a:t>   </a:t>
                      </a:r>
                      <a:r>
                        <a:rPr lang="ko-KR" altLang="en-US" sz="1800" spc="0" baseline="0" dirty="0"/>
                        <a:t>납부하는 보험료</a:t>
                      </a:r>
                      <a:r>
                        <a:rPr lang="en-US" altLang="ko-KR" sz="1800" spc="0" baseline="0" dirty="0"/>
                        <a:t>, </a:t>
                      </a:r>
                      <a:r>
                        <a:rPr lang="ko-KR" altLang="en-US" sz="1800" spc="0" baseline="0" dirty="0"/>
                        <a:t>연방정부에서 지원하는 재정으로 운영되는 프로그램</a:t>
                      </a:r>
                      <a:endParaRPr lang="en-US" altLang="ko-KR" sz="1800" spc="0" baseline="0" dirty="0"/>
                    </a:p>
                    <a:p>
                      <a:pPr marL="0" marR="0" indent="0" algn="l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spc="0" baseline="0" dirty="0">
                          <a:solidFill>
                            <a:srgbClr val="FF0000"/>
                          </a:solidFill>
                        </a:rPr>
                        <a:t>② </a:t>
                      </a:r>
                      <a:r>
                        <a:rPr lang="ko-KR" altLang="en-US" sz="1800" spc="0" baseline="0" dirty="0" err="1">
                          <a:solidFill>
                            <a:srgbClr val="FF0000"/>
                          </a:solidFill>
                        </a:rPr>
                        <a:t>메디케이드</a:t>
                      </a:r>
                      <a:endParaRPr lang="ko-KR" altLang="en-US" sz="1800" spc="0" baseline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indent="0" algn="l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spc="0" baseline="0" dirty="0">
                          <a:highlight>
                            <a:srgbClr val="FFFF00"/>
                          </a:highlight>
                        </a:rPr>
                        <a:t>    빈곤층과 장애인에 대한 의료 부조제도로</a:t>
                      </a:r>
                      <a:r>
                        <a:rPr lang="en-US" altLang="ko-KR" sz="1800" spc="0" baseline="0" dirty="0"/>
                        <a:t>, </a:t>
                      </a:r>
                      <a:r>
                        <a:rPr lang="ko-KR" altLang="en-US" sz="1800" spc="0" baseline="0" dirty="0"/>
                        <a:t>연방정부와 주정부가 공동으로</a:t>
                      </a:r>
                      <a:r>
                        <a:rPr lang="en-US" altLang="ko-KR" sz="1800" spc="0" baseline="0" dirty="0"/>
                        <a:t> </a:t>
                      </a:r>
                    </a:p>
                    <a:p>
                      <a:pPr marL="0" marR="0" indent="0" algn="l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spc="0" baseline="0" dirty="0"/>
                        <a:t>    </a:t>
                      </a:r>
                      <a:r>
                        <a:rPr lang="ko-KR" altLang="en-US" sz="1800" spc="0" baseline="0" dirty="0"/>
                        <a:t>재정을 조하고 운영은 주정부가 맡고 있음</a:t>
                      </a:r>
                      <a:r>
                        <a:rPr lang="en-US" altLang="ko-KR" sz="1800" spc="0" baseline="0" dirty="0"/>
                        <a:t> 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직사각형 21"/>
          <p:cNvSpPr/>
          <p:nvPr/>
        </p:nvSpPr>
        <p:spPr>
          <a:xfrm>
            <a:off x="224111" y="1487644"/>
            <a:ext cx="67751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3)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사회보장의 확대</a:t>
            </a:r>
          </a:p>
        </p:txBody>
      </p:sp>
      <p:sp>
        <p:nvSpPr>
          <p:cNvPr id="26" name="제목 1"/>
          <p:cNvSpPr txBox="1">
            <a:spLocks/>
          </p:cNvSpPr>
          <p:nvPr/>
        </p:nvSpPr>
        <p:spPr>
          <a:xfrm>
            <a:off x="224111" y="420678"/>
            <a:ext cx="6776214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3. 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사회보장의 형성과 확대기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(1930</a:t>
            </a:r>
            <a:r>
              <a:rPr kumimoji="0" lang="ko-KR" altLang="en-US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- 1970</a:t>
            </a:r>
            <a:r>
              <a:rPr kumimoji="0" lang="ko-KR" altLang="en-US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초반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)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220643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제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4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</a:t>
            </a:r>
            <a:endParaRPr lang="en-US" altLang="ko-KR" sz="1200" dirty="0">
              <a:solidFill>
                <a:schemeClr val="bg1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사회보장의 역사</a:t>
            </a: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224111" y="420678"/>
            <a:ext cx="5306261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4.  </a:t>
            </a:r>
            <a:r>
              <a:rPr lang="ko-KR" altLang="en-US" sz="32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사회보장의 </a:t>
            </a:r>
            <a:r>
              <a:rPr lang="ko-KR" altLang="en-US" sz="3200" spc="-300" dirty="0" err="1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재편기</a:t>
            </a:r>
            <a:r>
              <a:rPr lang="ko-KR" altLang="en-US" sz="32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(1970</a:t>
            </a:r>
            <a:r>
              <a:rPr lang="ko-KR" altLang="en-US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년대 중반 이후</a:t>
            </a:r>
            <a:r>
              <a:rPr lang="en-US" altLang="ko-KR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endParaRPr lang="ko-KR" altLang="en-US" sz="200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393440" y="1628800"/>
            <a:ext cx="8499040" cy="3960979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vert="horz" wrap="square" lIns="144000" tIns="144000" rIns="144000" bIns="180000" rtlCol="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-177800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</a:pPr>
            <a:r>
              <a:rPr lang="en-US" altLang="ko-KR" sz="2000" dirty="0">
                <a:latin typeface="+mn-ea"/>
              </a:rPr>
              <a:t>1970</a:t>
            </a:r>
            <a:r>
              <a:rPr lang="ko-KR" altLang="en-US" sz="2000" dirty="0">
                <a:latin typeface="+mn-ea"/>
              </a:rPr>
              <a:t>년대 초반까지 세계적인 자본주의 호황 속에서 안정적으로 발전되던 서구 복지국가들은 </a:t>
            </a:r>
            <a:r>
              <a:rPr lang="en-US" altLang="ko-KR" sz="2000" dirty="0">
                <a:latin typeface="+mn-ea"/>
              </a:rPr>
              <a:t>1970</a:t>
            </a:r>
            <a:r>
              <a:rPr lang="ko-KR" altLang="en-US" sz="2000" dirty="0">
                <a:latin typeface="+mn-ea"/>
              </a:rPr>
              <a:t>년대 중반에 이르러 위기를 맞이함</a:t>
            </a:r>
            <a:endParaRPr lang="en-US" altLang="ko-KR" sz="2000" dirty="0">
              <a:latin typeface="+mn-ea"/>
            </a:endParaRPr>
          </a:p>
          <a:p>
            <a:pPr marL="177800" indent="-177800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</a:pPr>
            <a:r>
              <a:rPr lang="en-US" altLang="ko-KR" sz="2000" dirty="0">
                <a:latin typeface="+mn-ea"/>
              </a:rPr>
              <a:t>1973</a:t>
            </a:r>
            <a:r>
              <a:rPr lang="ko-KR" altLang="en-US" sz="2000" dirty="0">
                <a:latin typeface="+mn-ea"/>
              </a:rPr>
              <a:t>년 석유파동과 함께 </a:t>
            </a:r>
            <a:r>
              <a:rPr lang="ko-KR" altLang="en-US" sz="2000" dirty="0">
                <a:highlight>
                  <a:srgbClr val="FFFF00"/>
                </a:highlight>
                <a:latin typeface="+mn-ea"/>
              </a:rPr>
              <a:t>경기침체</a:t>
            </a:r>
            <a:r>
              <a:rPr lang="en-US" altLang="ko-KR" sz="2000" dirty="0">
                <a:highlight>
                  <a:srgbClr val="FFFF00"/>
                </a:highlight>
                <a:latin typeface="+mn-ea"/>
              </a:rPr>
              <a:t>, </a:t>
            </a:r>
            <a:r>
              <a:rPr lang="ko-KR" altLang="en-US" sz="2000" dirty="0">
                <a:highlight>
                  <a:srgbClr val="FFFF00"/>
                </a:highlight>
                <a:latin typeface="+mn-ea"/>
              </a:rPr>
              <a:t>성장둔화 및 실업의 증대는 극심한 재정적자</a:t>
            </a:r>
            <a:r>
              <a:rPr lang="ko-KR" altLang="en-US" sz="2000" dirty="0">
                <a:latin typeface="+mn-ea"/>
              </a:rPr>
              <a:t>를 가져오게 되고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이로 인해 </a:t>
            </a:r>
            <a:r>
              <a:rPr lang="ko-KR" altLang="en-US" sz="2000" dirty="0">
                <a:highlight>
                  <a:srgbClr val="FFFF00"/>
                </a:highlight>
                <a:latin typeface="+mn-ea"/>
              </a:rPr>
              <a:t>복지국가들은 사회보장급여를 축소하는 개혁을 단행하게 됨</a:t>
            </a:r>
            <a:endParaRPr lang="en-US" altLang="ko-KR" sz="2000" dirty="0">
              <a:highlight>
                <a:srgbClr val="FFFF00"/>
              </a:highlight>
              <a:latin typeface="+mn-ea"/>
            </a:endParaRPr>
          </a:p>
          <a:p>
            <a:pPr marL="177800" indent="-177800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</a:pPr>
            <a:r>
              <a:rPr lang="ko-KR" altLang="en-US" sz="2000" dirty="0">
                <a:latin typeface="+mn-ea"/>
              </a:rPr>
              <a:t>이러한 흐름은 신자유주의 혹은 신보수주의로의 재편의 변화를 의미함</a:t>
            </a:r>
            <a:endParaRPr lang="en-US" altLang="ko-KR" sz="2000" dirty="0">
              <a:latin typeface="+mn-ea"/>
            </a:endParaRPr>
          </a:p>
          <a:p>
            <a:pPr marL="177800" indent="-177800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</a:pPr>
            <a:r>
              <a:rPr lang="ko-KR" altLang="en-US" sz="2000" dirty="0">
                <a:latin typeface="+mn-ea"/>
              </a:rPr>
              <a:t>신자유주의의 대표적인 주자는 영국의 대처수상과 미국의 레이건 대통령임</a:t>
            </a:r>
            <a:endParaRPr lang="en-US" altLang="ko-KR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287735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4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역사</a:t>
            </a: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224111" y="420678"/>
            <a:ext cx="5306261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4.  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사회보장의 </a:t>
            </a:r>
            <a:r>
              <a:rPr kumimoji="0" lang="ko-KR" altLang="en-US" sz="3200" b="0" i="0" u="none" strike="noStrike" kern="1200" cap="none" spc="-3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재편기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(1970</a:t>
            </a:r>
            <a:r>
              <a:rPr kumimoji="0" lang="ko-KR" altLang="en-US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중반 이후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)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  <a:cs typeface="+mj-cs"/>
            </a:endParaRPr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395536" y="2204864"/>
            <a:ext cx="8357119" cy="4128526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vert="horz" wrap="square" lIns="144000" tIns="144000" rIns="144000" bIns="180000" rtlCol="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marR="0" lvl="0" indent="-177800" algn="l" defTabSz="914400" rtl="0" eaLnBrk="1" fontAlgn="auto" latinLnBrk="1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필요 이상의 복지혜택으로 인한 재정의 비효율성과 노동의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비능률성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문제가 제기되면서 소위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‘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영국병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’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으로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불리는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고복지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고비용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저효율의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문제에 따른 경기침체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를 경험하게 됨</a:t>
            </a:r>
          </a:p>
          <a:p>
            <a:pPr marL="177800" marR="0" lvl="0" indent="-177800" algn="l" defTabSz="914400" rtl="0" eaLnBrk="1" fontAlgn="auto" latinLnBrk="1" hangingPunct="1">
              <a:lnSpc>
                <a:spcPts val="3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높은 실업률과 높은 물가상승을 동반하는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스태그플레이션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(stagflation)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발생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auto" latinLnBrk="1" hangingPunct="1">
              <a:lnSpc>
                <a:spcPts val="3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스태그플레이션이란 경기침체 현상인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스태그네이션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(stagnation)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과 인플레이션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(inflation)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의 합성어임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auto" latinLnBrk="1" hangingPunct="1">
              <a:lnSpc>
                <a:spcPts val="3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원래 경기가 침체되면 물가가 하락하고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경기가 상승하면 인플레이션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 나타나는 것이 일반적이지만 당시는 경기가 침체됨에도 불구하고 물가가 오르는 </a:t>
            </a:r>
            <a:r>
              <a:rPr kumimoji="0" lang="ko-KR" altLang="en-US" sz="1800" b="0" i="0" u="none" strike="noStrike" kern="1200" cap="none" spc="-15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인플레이션이 발생함</a:t>
            </a:r>
            <a:endParaRPr kumimoji="0" lang="en-US" altLang="ko-KR" sz="1800" b="0" i="0" u="none" strike="noStrike" kern="1200" cap="none" spc="-15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24110" y="1487644"/>
            <a:ext cx="85285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1)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영국</a:t>
            </a:r>
          </a:p>
        </p:txBody>
      </p:sp>
    </p:spTree>
    <p:extLst>
      <p:ext uri="{BB962C8B-B14F-4D97-AF65-F5344CB8AC3E}">
        <p14:creationId xmlns:p14="http://schemas.microsoft.com/office/powerpoint/2010/main" val="341072614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4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역사</a:t>
            </a: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224111" y="420678"/>
            <a:ext cx="5306261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4.  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사회보장의 </a:t>
            </a:r>
            <a:r>
              <a:rPr kumimoji="0" lang="ko-KR" altLang="en-US" sz="3200" b="0" i="0" u="none" strike="noStrike" kern="1200" cap="none" spc="-3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재편기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(1970</a:t>
            </a:r>
            <a:r>
              <a:rPr kumimoji="0" lang="ko-KR" altLang="en-US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중반 이후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)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  <a:cs typeface="+mj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42479A2C-ED92-4C22-BF21-A0E67954A037}"/>
                  </a:ext>
                </a:extLst>
              </p14:cNvPr>
              <p14:cNvContentPartPr/>
              <p14:nvPr/>
            </p14:nvContentPartPr>
            <p14:xfrm>
              <a:off x="4384800" y="5773680"/>
              <a:ext cx="360" cy="360"/>
            </p14:xfrm>
          </p:contentPart>
        </mc:Choice>
        <mc:Fallback xmlns=""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42479A2C-ED92-4C22-BF21-A0E67954A03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75440" y="5764320"/>
                <a:ext cx="19080" cy="1908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직사각형 1">
            <a:extLst>
              <a:ext uri="{FF2B5EF4-FFF2-40B4-BE49-F238E27FC236}">
                <a16:creationId xmlns:a16="http://schemas.microsoft.com/office/drawing/2014/main" id="{B8B05D28-8036-4F22-AB8C-A03A4AF293FE}"/>
              </a:ext>
            </a:extLst>
          </p:cNvPr>
          <p:cNvSpPr/>
          <p:nvPr/>
        </p:nvSpPr>
        <p:spPr>
          <a:xfrm>
            <a:off x="2771800" y="1691348"/>
            <a:ext cx="3089307" cy="5249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just" defTabSz="914400" rtl="0" eaLnBrk="1" fontAlgn="base" latinLnBrk="1" hangingPunct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한양신명조"/>
                <a:ea typeface="맑은 고딕" panose="020B0503020000020004" pitchFamily="50" charset="-127"/>
                <a:cs typeface="+mn-cs"/>
              </a:rPr>
              <a:t>&lt;</a:t>
            </a: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한양신명조"/>
                <a:cs typeface="+mn-cs"/>
              </a:rPr>
              <a:t>그림</a:t>
            </a: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한양신명조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한양신명조"/>
                <a:cs typeface="+mn-cs"/>
              </a:rPr>
              <a:t>경기순환법칙과 현상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4A97370-E546-4585-9481-CA9BD064E2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308461"/>
              </p:ext>
            </p:extLst>
          </p:nvPr>
        </p:nvGraphicFramePr>
        <p:xfrm>
          <a:off x="533400" y="2493257"/>
          <a:ext cx="8077200" cy="3279703"/>
        </p:xfrm>
        <a:graphic>
          <a:graphicData uri="http://schemas.openxmlformats.org/drawingml/2006/table">
            <a:tbl>
              <a:tblPr/>
              <a:tblGrid>
                <a:gridCol w="172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29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25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76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781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52293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rial" pitchFamily="34" charset="0"/>
                          <a:ea typeface="한양신명조"/>
                          <a:cs typeface="한양신명조"/>
                        </a:rPr>
                        <a:t>일반적인</a:t>
                      </a:r>
                      <a:endParaRPr kumimoji="0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itchFamily="34" charset="0"/>
                        <a:ea typeface="굴림" pitchFamily="50" charset="-127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rial" pitchFamily="34" charset="0"/>
                          <a:ea typeface="한양신명조"/>
                          <a:cs typeface="한양신명조"/>
                        </a:rPr>
                        <a:t>경기순환법칙</a:t>
                      </a:r>
                      <a:endParaRPr kumimoji="0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itchFamily="34" charset="0"/>
                        <a:ea typeface="굴림" pitchFamily="50" charset="-127"/>
                      </a:endParaRPr>
                    </a:p>
                  </a:txBody>
                  <a:tcPr marL="64770" marR="64770" marT="17899" marB="1789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DED"/>
                    </a:solidFill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한양신명조"/>
                        <a:ea typeface="굴림" pitchFamily="50" charset="-127"/>
                      </a:endParaRPr>
                    </a:p>
                  </a:txBody>
                  <a:tcPr marL="64770" marR="64770" marT="17899" marB="1789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rial" pitchFamily="34" charset="0"/>
                          <a:ea typeface="한양신명조"/>
                          <a:cs typeface="한양신명조"/>
                        </a:rPr>
                        <a:t>경기침체기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rial" pitchFamily="34" charset="0"/>
                          <a:ea typeface="한양신명조"/>
                          <a:cs typeface="한양신명조"/>
                        </a:rPr>
                        <a:t>(stagnation)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rial" pitchFamily="34" charset="0"/>
                          <a:ea typeface="한양신명조"/>
                          <a:cs typeface="한양신명조"/>
                        </a:rPr>
                        <a:t> </a:t>
                      </a:r>
                      <a:endParaRPr kumimoji="0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itchFamily="34" charset="0"/>
                        <a:ea typeface="굴림" pitchFamily="50" charset="-127"/>
                      </a:endParaRPr>
                    </a:p>
                  </a:txBody>
                  <a:tcPr marL="64770" marR="64770" marT="17899" marB="1789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rial" pitchFamily="34" charset="0"/>
                          <a:ea typeface="한양신명조"/>
                          <a:cs typeface="한양신명조"/>
                        </a:rPr>
                        <a:t>→</a:t>
                      </a:r>
                      <a:endParaRPr kumimoji="0" lang="ko-KR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itchFamily="34" charset="0"/>
                        <a:ea typeface="굴림" pitchFamily="50" charset="-127"/>
                      </a:endParaRPr>
                    </a:p>
                  </a:txBody>
                  <a:tcPr marL="64770" marR="64770" marT="17899" marB="1789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rial" pitchFamily="34" charset="0"/>
                          <a:ea typeface="한양신명조"/>
                          <a:cs typeface="한양신명조"/>
                        </a:rPr>
                        <a:t>실업률은 증가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한양신명조"/>
                          <a:ea typeface="굴림" pitchFamily="50" charset="-127"/>
                        </a:rPr>
                        <a:t>, 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rial" pitchFamily="34" charset="0"/>
                          <a:ea typeface="한양신명조"/>
                          <a:cs typeface="한양신명조"/>
                        </a:rPr>
                        <a:t>물가는 하락</a:t>
                      </a:r>
                      <a:endParaRPr kumimoji="0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itchFamily="34" charset="0"/>
                        <a:ea typeface="굴림" pitchFamily="50" charset="-127"/>
                      </a:endParaRPr>
                    </a:p>
                  </a:txBody>
                  <a:tcPr marL="64770" marR="64770" marT="17899" marB="1789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81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rial" pitchFamily="34" charset="0"/>
                          <a:ea typeface="한양신명조"/>
                          <a:cs typeface="한양신명조"/>
                        </a:rPr>
                        <a:t>경기호황기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rial" pitchFamily="34" charset="0"/>
                          <a:ea typeface="한양신명조"/>
                          <a:cs typeface="한양신명조"/>
                        </a:rPr>
                        <a:t>(boom)</a:t>
                      </a:r>
                      <a:endParaRPr kumimoji="0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itchFamily="34" charset="0"/>
                        <a:ea typeface="굴림" pitchFamily="50" charset="-127"/>
                      </a:endParaRPr>
                    </a:p>
                  </a:txBody>
                  <a:tcPr marL="64770" marR="64770" marT="17899" marB="1789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4F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rial" pitchFamily="34" charset="0"/>
                          <a:ea typeface="한양신명조"/>
                          <a:cs typeface="한양신명조"/>
                        </a:rPr>
                        <a:t>→</a:t>
                      </a:r>
                      <a:endParaRPr kumimoji="0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itchFamily="34" charset="0"/>
                        <a:ea typeface="굴림" pitchFamily="50" charset="-127"/>
                      </a:endParaRPr>
                    </a:p>
                  </a:txBody>
                  <a:tcPr marL="64770" marR="64770" marT="17899" marB="1789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rial" pitchFamily="34" charset="0"/>
                          <a:ea typeface="한양신명조"/>
                          <a:cs typeface="한양신명조"/>
                        </a:rPr>
                        <a:t>실업률은 하락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한양신명조"/>
                          <a:ea typeface="굴림" pitchFamily="50" charset="-127"/>
                        </a:rPr>
                        <a:t>, 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rial" pitchFamily="34" charset="0"/>
                          <a:ea typeface="한양신명조"/>
                          <a:cs typeface="한양신명조"/>
                        </a:rPr>
                        <a:t>물가는 상승</a:t>
                      </a:r>
                      <a:endParaRPr kumimoji="0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itchFamily="34" charset="0"/>
                        <a:ea typeface="굴림" pitchFamily="50" charset="-127"/>
                      </a:endParaRPr>
                    </a:p>
                  </a:txBody>
                  <a:tcPr marL="64770" marR="64770" marT="17899" marB="1789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14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한양신명조"/>
                        <a:ea typeface="굴림" pitchFamily="50" charset="-127"/>
                      </a:endParaRPr>
                    </a:p>
                  </a:txBody>
                  <a:tcPr marL="64770" marR="64770" marT="17899" marB="17899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한양신명조"/>
                        <a:ea typeface="굴림" pitchFamily="50" charset="-127"/>
                      </a:endParaRPr>
                    </a:p>
                  </a:txBody>
                  <a:tcPr marL="64770" marR="64770" marT="17899" marB="1789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한양신명조"/>
                        <a:ea typeface="굴림" pitchFamily="50" charset="-127"/>
                      </a:endParaRPr>
                    </a:p>
                  </a:txBody>
                  <a:tcPr marL="64770" marR="64770" marT="17899" marB="17899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한양신명조"/>
                        <a:ea typeface="굴림" pitchFamily="50" charset="-127"/>
                      </a:endParaRPr>
                    </a:p>
                  </a:txBody>
                  <a:tcPr marL="64770" marR="64770" marT="17899" marB="17899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63500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6350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한양신명조"/>
                        <a:ea typeface="굴림" pitchFamily="50" charset="-127"/>
                      </a:endParaRPr>
                    </a:p>
                  </a:txBody>
                  <a:tcPr marL="64770" marR="64770" marT="17899" marB="17899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한양신명조"/>
                        <a:ea typeface="굴림" pitchFamily="50" charset="-127"/>
                      </a:endParaRPr>
                    </a:p>
                  </a:txBody>
                  <a:tcPr marL="64770" marR="64770" marT="17899" marB="1789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한양신명조"/>
                        <a:ea typeface="굴림" pitchFamily="50" charset="-127"/>
                      </a:endParaRPr>
                    </a:p>
                  </a:txBody>
                  <a:tcPr marL="64770" marR="64770" marT="17899" marB="17899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313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rial" pitchFamily="34" charset="0"/>
                          <a:ea typeface="한양신명조"/>
                          <a:cs typeface="한양신명조"/>
                        </a:rPr>
                        <a:t>1970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rial" pitchFamily="34" charset="0"/>
                          <a:ea typeface="한양신명조"/>
                          <a:cs typeface="한양신명조"/>
                        </a:rPr>
                        <a:t>년대 중반 장기불황</a:t>
                      </a:r>
                      <a:endParaRPr kumimoji="0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itchFamily="34" charset="0"/>
                        <a:ea typeface="굴림" pitchFamily="50" charset="-127"/>
                      </a:endParaRPr>
                    </a:p>
                  </a:txBody>
                  <a:tcPr marL="64770" marR="64770" marT="17899" marB="1789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DE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한양신명조"/>
                        <a:ea typeface="굴림" pitchFamily="50" charset="-127"/>
                      </a:endParaRPr>
                    </a:p>
                  </a:txBody>
                  <a:tcPr marL="64770" marR="64770" marT="17899" marB="1789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한양신명조"/>
                          <a:ea typeface="굴림" pitchFamily="50" charset="-127"/>
                        </a:rPr>
                        <a:t>스태그플레이션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한양신명조"/>
                          <a:ea typeface="굴림" pitchFamily="50" charset="-127"/>
                        </a:rPr>
                        <a:t>(stagflation)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한양신명조"/>
                          <a:ea typeface="굴림" pitchFamily="50" charset="-127"/>
                        </a:rPr>
                        <a:t>(stagnation + inflation)</a:t>
                      </a:r>
                      <a:endParaRPr kumimoji="0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itchFamily="34" charset="0"/>
                        <a:ea typeface="굴림" pitchFamily="50" charset="-127"/>
                      </a:endParaRPr>
                    </a:p>
                  </a:txBody>
                  <a:tcPr marL="64770" marR="64770" marT="17899" marB="1789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DF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rial" pitchFamily="34" charset="0"/>
                          <a:ea typeface="한양신명조"/>
                          <a:cs typeface="한양신명조"/>
                        </a:rPr>
                        <a:t>→</a:t>
                      </a:r>
                      <a:endParaRPr kumimoji="0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itchFamily="34" charset="0"/>
                        <a:ea typeface="굴림" pitchFamily="50" charset="-127"/>
                      </a:endParaRPr>
                    </a:p>
                  </a:txBody>
                  <a:tcPr marL="64770" marR="64770" marT="17899" marB="1789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rial" pitchFamily="34" charset="0"/>
                          <a:ea typeface="한양신명조"/>
                          <a:cs typeface="한양신명조"/>
                        </a:rPr>
                        <a:t>실업률은 증가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한양신명조"/>
                          <a:ea typeface="굴림" pitchFamily="50" charset="-127"/>
                        </a:rPr>
                        <a:t>, 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rial" pitchFamily="34" charset="0"/>
                          <a:ea typeface="한양신명조"/>
                          <a:cs typeface="한양신명조"/>
                        </a:rPr>
                        <a:t>물가는 상승</a:t>
                      </a:r>
                      <a:endParaRPr kumimoji="0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itchFamily="34" charset="0"/>
                        <a:ea typeface="굴림" pitchFamily="50" charset="-127"/>
                      </a:endParaRPr>
                    </a:p>
                  </a:txBody>
                  <a:tcPr marL="64770" marR="64770" marT="17899" marB="1789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40892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4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역사</a:t>
            </a: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224111" y="420678"/>
            <a:ext cx="5306261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4.  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사회보장의 </a:t>
            </a:r>
            <a:r>
              <a:rPr kumimoji="0" lang="ko-KR" altLang="en-US" sz="3200" b="0" i="0" u="none" strike="noStrike" kern="1200" cap="none" spc="-3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재편기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(1970</a:t>
            </a:r>
            <a:r>
              <a:rPr kumimoji="0" lang="ko-KR" altLang="en-US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중반 이후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)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  <a:cs typeface="+mj-cs"/>
            </a:endParaRPr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395536" y="2204864"/>
            <a:ext cx="8357119" cy="3023095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vert="horz" wrap="square" lIns="144000" tIns="144000" rIns="144000" bIns="180000" rtlCol="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연평균 인플레이션은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14.8%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 다른 유럽 국가들보다 월등히 높은 수치였는데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1975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년은 무려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24.2%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까지 치솟음</a:t>
            </a:r>
          </a:p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또한 영국은 고물가와 함께 낮은 생산성과 높은 임금 상승률을 보였는데 </a:t>
            </a:r>
            <a:r>
              <a:rPr kumimoji="0" lang="ko-KR" altLang="en-US" sz="18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이는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강력한 노동조합이 존재했기 때문임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결국 영국정부는 극심한 재정 적자에 빠지게 되었고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더구나 외환보유고 감소 등으로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1976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년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9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월에는 국제통화기금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(IMF)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의 구제 금융을 받게 됨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24110" y="1487644"/>
            <a:ext cx="85285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1)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영국</a:t>
            </a:r>
          </a:p>
        </p:txBody>
      </p:sp>
    </p:spTree>
    <p:extLst>
      <p:ext uri="{BB962C8B-B14F-4D97-AF65-F5344CB8AC3E}">
        <p14:creationId xmlns:p14="http://schemas.microsoft.com/office/powerpoint/2010/main" val="37080940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4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역사</a:t>
            </a: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224111" y="420678"/>
            <a:ext cx="5306261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4.  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사회보장의 </a:t>
            </a:r>
            <a:r>
              <a:rPr kumimoji="0" lang="ko-KR" altLang="en-US" sz="3200" b="0" i="0" u="none" strike="noStrike" kern="1200" cap="none" spc="-3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재편기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(1970</a:t>
            </a:r>
            <a:r>
              <a:rPr kumimoji="0" lang="ko-KR" altLang="en-US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중반 이후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)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  <a:cs typeface="+mj-cs"/>
            </a:endParaRPr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395536" y="2204864"/>
            <a:ext cx="8357119" cy="3566833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vert="horz" wrap="square" lIns="144000" tIns="144000" rIns="144000" bIns="180000" rtlCol="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이에 노동당 정부가 실각하고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1979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년 마거릿 대처의 보수당 정부가 들어서면서 사회보장제도 개혁을 단행</a:t>
            </a:r>
          </a:p>
          <a:p>
            <a:pPr marL="177800" marR="0" lvl="0" indent="-177800" algn="l" defTabSz="914400" rtl="0" eaLnBrk="1" fontAlgn="auto" latin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대처의 경제정책을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대처리즘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(Thatcherism)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이라고 함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177800" marR="0" lvl="0" indent="-177800" algn="l" defTabSz="914400" rtl="0" eaLnBrk="1" fontAlgn="base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노동시장개혁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반노조입법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공기업 민영화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공공지출 억제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금융개혁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외국인 투자유치 등을 내용으로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하는 강력한 경제개혁을 추진함</a:t>
            </a:r>
          </a:p>
          <a:p>
            <a:pPr marL="177800" marR="0" lvl="0" indent="-177800" algn="l" defTabSz="914400" rtl="0" eaLnBrk="1" fontAlgn="base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공적 연금급여 수준을 하향하고 대신 사적 개인연금제도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를 실행하였으며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각종 사회보장급여를 축소하는 정책을 시행함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24110" y="1487644"/>
            <a:ext cx="85285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1)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영국</a:t>
            </a:r>
          </a:p>
        </p:txBody>
      </p:sp>
    </p:spTree>
    <p:extLst>
      <p:ext uri="{BB962C8B-B14F-4D97-AF65-F5344CB8AC3E}">
        <p14:creationId xmlns:p14="http://schemas.microsoft.com/office/powerpoint/2010/main" val="13886216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제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4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</a:t>
            </a:r>
            <a:endParaRPr lang="en-US" altLang="ko-KR" sz="1200" dirty="0">
              <a:solidFill>
                <a:schemeClr val="bg1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사회보장의 역사</a:t>
            </a: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224111" y="420678"/>
            <a:ext cx="5306261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4.  </a:t>
            </a:r>
            <a:r>
              <a:rPr lang="ko-KR" altLang="en-US" sz="32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사회보장의 </a:t>
            </a:r>
            <a:r>
              <a:rPr lang="ko-KR" altLang="en-US" sz="3200" spc="-300" dirty="0" err="1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재편기</a:t>
            </a:r>
            <a:r>
              <a:rPr lang="ko-KR" altLang="en-US" sz="32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(1970</a:t>
            </a:r>
            <a:r>
              <a:rPr lang="ko-KR" altLang="en-US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년대 중반 이후</a:t>
            </a:r>
            <a:r>
              <a:rPr lang="en-US" altLang="ko-KR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endParaRPr lang="ko-KR" altLang="en-US" sz="200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95536" y="2145744"/>
            <a:ext cx="8352928" cy="3789971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vert="horz" wrap="square" lIns="144000" tIns="144000" rIns="144000" bIns="180000" rtlCol="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-177800" fontAlgn="base">
              <a:lnSpc>
                <a:spcPct val="150000"/>
              </a:lnSpc>
              <a:spcBef>
                <a:spcPts val="500"/>
              </a:spcBef>
              <a:buClr>
                <a:srgbClr val="7030A0"/>
              </a:buClr>
            </a:pPr>
            <a:r>
              <a:rPr lang="ko-KR" altLang="en-US" sz="1800" dirty="0"/>
              <a:t>뉴딜정책의 결과로 여러 가지 노동입법</a:t>
            </a:r>
            <a:r>
              <a:rPr lang="en-US" altLang="ko-KR" sz="1800" dirty="0"/>
              <a:t>, </a:t>
            </a:r>
            <a:r>
              <a:rPr lang="ko-KR" altLang="en-US" sz="1800" dirty="0"/>
              <a:t>연방정부 주도의 사회보장제도 수립 등으로 지나친 과세와 정부지출의 문제가 발생하게 됨</a:t>
            </a:r>
          </a:p>
          <a:p>
            <a:pPr marL="177800" indent="-177800" fontAlgn="base">
              <a:lnSpc>
                <a:spcPct val="150000"/>
              </a:lnSpc>
              <a:spcBef>
                <a:spcPts val="500"/>
              </a:spcBef>
              <a:buClr>
                <a:srgbClr val="7030A0"/>
              </a:buClr>
            </a:pPr>
            <a:r>
              <a:rPr lang="en-US" altLang="ko-KR" sz="1800" dirty="0"/>
              <a:t>1981</a:t>
            </a:r>
            <a:r>
              <a:rPr lang="ko-KR" altLang="en-US" sz="1800" dirty="0"/>
              <a:t>년 레이건 공화당 정부가 수립되면서 사회보장에 대한 개혁을 단행함</a:t>
            </a:r>
            <a:endParaRPr lang="en-US" altLang="ko-KR" sz="1800" dirty="0"/>
          </a:p>
          <a:p>
            <a:pPr marL="177800" indent="-177800" fontAlgn="base" latinLnBrk="0">
              <a:lnSpc>
                <a:spcPct val="150000"/>
              </a:lnSpc>
              <a:spcBef>
                <a:spcPts val="1000"/>
              </a:spcBef>
              <a:buClr>
                <a:srgbClr val="7030A0"/>
              </a:buClr>
            </a:pPr>
            <a:r>
              <a:rPr lang="ko-KR" altLang="en-US" sz="1800" dirty="0"/>
              <a:t>레이건의 경제정책을 </a:t>
            </a:r>
            <a:r>
              <a:rPr lang="ko-KR" altLang="en-US" sz="1800" dirty="0" err="1">
                <a:solidFill>
                  <a:srgbClr val="FF0000"/>
                </a:solidFill>
              </a:rPr>
              <a:t>레이거노믹스</a:t>
            </a:r>
            <a:r>
              <a:rPr lang="en-US" altLang="ko-KR" sz="1800" dirty="0">
                <a:solidFill>
                  <a:srgbClr val="FF0000"/>
                </a:solidFill>
              </a:rPr>
              <a:t>(</a:t>
            </a:r>
            <a:r>
              <a:rPr lang="en-US" altLang="ko-KR" sz="1800" dirty="0" err="1">
                <a:solidFill>
                  <a:srgbClr val="FF0000"/>
                </a:solidFill>
              </a:rPr>
              <a:t>Reagnnomics</a:t>
            </a:r>
            <a:r>
              <a:rPr lang="en-US" altLang="ko-KR" sz="1800" dirty="0">
                <a:solidFill>
                  <a:srgbClr val="FF0000"/>
                </a:solidFill>
              </a:rPr>
              <a:t>)</a:t>
            </a:r>
            <a:r>
              <a:rPr lang="ko-KR" altLang="en-US" sz="1800" dirty="0"/>
              <a:t>라고 함</a:t>
            </a:r>
          </a:p>
          <a:p>
            <a:pPr marL="177800" indent="-177800" fontAlgn="base" latinLnBrk="0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</a:pPr>
            <a:r>
              <a:rPr lang="ko-KR" altLang="en-US" sz="1800" dirty="0">
                <a:highlight>
                  <a:srgbClr val="FFFF00"/>
                </a:highlight>
              </a:rPr>
              <a:t>정부의 지출 축소</a:t>
            </a:r>
            <a:r>
              <a:rPr lang="en-US" altLang="ko-KR" sz="1800" dirty="0">
                <a:highlight>
                  <a:srgbClr val="FFFF00"/>
                </a:highlight>
              </a:rPr>
              <a:t>, </a:t>
            </a:r>
            <a:r>
              <a:rPr lang="ko-KR" altLang="en-US" sz="1800" dirty="0">
                <a:highlight>
                  <a:srgbClr val="FFFF00"/>
                </a:highlight>
              </a:rPr>
              <a:t>노동과 자본에 대한 소득세 한계세율 인하</a:t>
            </a:r>
            <a:r>
              <a:rPr lang="en-US" altLang="ko-KR" sz="1800" dirty="0">
                <a:highlight>
                  <a:srgbClr val="FFFF00"/>
                </a:highlight>
              </a:rPr>
              <a:t>, </a:t>
            </a:r>
            <a:r>
              <a:rPr lang="ko-KR" altLang="en-US" sz="1800" dirty="0">
                <a:highlight>
                  <a:srgbClr val="FFFF00"/>
                </a:highlight>
              </a:rPr>
              <a:t>규제철폐</a:t>
            </a:r>
            <a:r>
              <a:rPr lang="en-US" altLang="ko-KR" sz="1800" dirty="0">
                <a:highlight>
                  <a:srgbClr val="FFFF00"/>
                </a:highlight>
              </a:rPr>
              <a:t>, </a:t>
            </a:r>
            <a:r>
              <a:rPr lang="ko-KR" altLang="en-US" sz="1800" dirty="0">
                <a:highlight>
                  <a:srgbClr val="FFFF00"/>
                </a:highlight>
              </a:rPr>
              <a:t>인플레이션을 줄이기 위한 화폐공급량 조절</a:t>
            </a:r>
            <a:r>
              <a:rPr lang="ko-KR" altLang="en-US" sz="1800" dirty="0"/>
              <a:t>을 중점적으로 추진함</a:t>
            </a:r>
            <a:endParaRPr lang="en-US" altLang="ko-KR" sz="1800" dirty="0"/>
          </a:p>
          <a:p>
            <a:pPr marL="177800" indent="-177800" algn="just" fontAlgn="base" latinLnBrk="0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</a:pPr>
            <a:r>
              <a:rPr lang="ko-KR" altLang="en-US" sz="1800" dirty="0"/>
              <a:t>공공부조 수혜자의 엄격한 제한</a:t>
            </a:r>
            <a:r>
              <a:rPr lang="en-US" altLang="ko-KR" sz="1800" dirty="0"/>
              <a:t>, </a:t>
            </a:r>
            <a:r>
              <a:rPr lang="ko-KR" altLang="en-US" sz="1800" dirty="0"/>
              <a:t>공공부조프로그램 감축</a:t>
            </a:r>
            <a:r>
              <a:rPr lang="en-US" altLang="ko-KR" sz="1800" dirty="0"/>
              <a:t>, </a:t>
            </a:r>
            <a:r>
              <a:rPr lang="ko-KR" altLang="en-US" sz="1800" dirty="0">
                <a:highlight>
                  <a:srgbClr val="FFFF00"/>
                </a:highlight>
              </a:rPr>
              <a:t>복지서비스의 민영화</a:t>
            </a:r>
            <a:r>
              <a:rPr lang="ko-KR" altLang="en-US" sz="1800" dirty="0"/>
              <a:t>를 추진함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224110" y="1487644"/>
            <a:ext cx="85285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en-US" altLang="ko-KR" sz="2400" b="1" dirty="0">
                <a:solidFill>
                  <a:srgbClr val="7030A0"/>
                </a:solidFill>
                <a:latin typeface="+mn-ea"/>
              </a:rPr>
              <a:t>1) </a:t>
            </a:r>
            <a:r>
              <a:rPr lang="ko-KR" altLang="en-US" sz="2400" b="1" dirty="0">
                <a:solidFill>
                  <a:srgbClr val="7030A0"/>
                </a:solidFill>
                <a:latin typeface="+mn-ea"/>
              </a:rPr>
              <a:t>미국</a:t>
            </a:r>
          </a:p>
        </p:txBody>
      </p:sp>
    </p:spTree>
    <p:extLst>
      <p:ext uri="{BB962C8B-B14F-4D97-AF65-F5344CB8AC3E}">
        <p14:creationId xmlns:p14="http://schemas.microsoft.com/office/powerpoint/2010/main" val="23638778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제</a:t>
            </a:r>
            <a:r>
              <a:rPr lang="en-US" altLang="ko-KR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4</a:t>
            </a: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</a:t>
            </a:r>
            <a:endParaRPr lang="en-US" altLang="ko-KR" sz="1200" dirty="0">
              <a:solidFill>
                <a:schemeClr val="bg1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사회보장의 역사</a:t>
            </a: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224111" y="420678"/>
            <a:ext cx="5306261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4. </a:t>
            </a:r>
            <a:r>
              <a:rPr lang="ko-KR" altLang="en-US" sz="32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사회보장의 </a:t>
            </a:r>
            <a:r>
              <a:rPr lang="ko-KR" altLang="en-US" sz="3200" spc="-300" dirty="0" err="1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재편기</a:t>
            </a:r>
            <a:r>
              <a:rPr lang="ko-KR" altLang="en-US" sz="32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(1970</a:t>
            </a:r>
            <a:r>
              <a:rPr lang="ko-KR" altLang="en-US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년대 중반 이후</a:t>
            </a:r>
            <a:r>
              <a:rPr lang="en-US" altLang="ko-KR" sz="2000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endParaRPr lang="ko-KR" altLang="en-US" sz="200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95536" y="2204864"/>
            <a:ext cx="8352928" cy="1999738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vert="horz" wrap="square" lIns="144000" tIns="144000" rIns="144000" bIns="180000" rtlCol="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-177800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</a:pPr>
            <a:r>
              <a:rPr lang="en-US" altLang="ko-KR" sz="1800" dirty="0">
                <a:latin typeface="+mn-ea"/>
              </a:rPr>
              <a:t>1993</a:t>
            </a:r>
            <a:r>
              <a:rPr lang="ko-KR" altLang="en-US" sz="1800" dirty="0">
                <a:latin typeface="+mn-ea"/>
              </a:rPr>
              <a:t>년 집권한 민주당의 빌 클린턴</a:t>
            </a:r>
            <a:r>
              <a:rPr lang="en-US" altLang="ko-KR" sz="1800" dirty="0">
                <a:latin typeface="+mn-ea"/>
              </a:rPr>
              <a:t>(Bill Clinton) </a:t>
            </a:r>
            <a:r>
              <a:rPr lang="ko-KR" altLang="en-US" sz="1800" dirty="0">
                <a:latin typeface="+mn-ea"/>
              </a:rPr>
              <a:t>정부에서도 </a:t>
            </a:r>
            <a:r>
              <a:rPr lang="en-US" altLang="ko-KR" sz="1800" dirty="0">
                <a:latin typeface="+mn-ea"/>
              </a:rPr>
              <a:t>1996</a:t>
            </a:r>
            <a:r>
              <a:rPr lang="ko-KR" altLang="en-US" sz="1800" dirty="0">
                <a:latin typeface="+mn-ea"/>
              </a:rPr>
              <a:t>년에 복지제도에 대한 의존을 줄이고 개인의 책임과 노동을 통한 자활을 주요 내용으로 하는 ‘개인책임 및 노동기회 조정법’ 제정</a:t>
            </a:r>
          </a:p>
          <a:p>
            <a:pPr marL="177800" indent="-177800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</a:pPr>
            <a:r>
              <a:rPr lang="ko-KR" altLang="en-US" sz="1800" dirty="0">
                <a:latin typeface="+mn-ea"/>
              </a:rPr>
              <a:t>복지개혁 실시의 대표적인 사례는 </a:t>
            </a:r>
            <a:r>
              <a:rPr lang="en-US" altLang="ko-KR" sz="1800" dirty="0">
                <a:latin typeface="+mn-ea"/>
              </a:rPr>
              <a:t>1962</a:t>
            </a:r>
            <a:r>
              <a:rPr lang="ko-KR" altLang="en-US" sz="1800" dirty="0">
                <a:latin typeface="+mn-ea"/>
              </a:rPr>
              <a:t>년에 제정된 </a:t>
            </a:r>
            <a:r>
              <a:rPr lang="ko-KR" altLang="en-US" sz="18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‘</a:t>
            </a:r>
            <a:r>
              <a:rPr lang="en-US" altLang="ko-KR" sz="18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AFDC’</a:t>
            </a:r>
            <a:r>
              <a:rPr lang="ko-KR" altLang="en-US" sz="18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를 ‘</a:t>
            </a:r>
            <a:r>
              <a:rPr lang="en-US" altLang="ko-KR" sz="18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TANF‘</a:t>
            </a:r>
            <a:r>
              <a:rPr lang="ko-KR" altLang="en-US" sz="18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로 대체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224110" y="1487644"/>
            <a:ext cx="85285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en-US" altLang="ko-KR" sz="2400" b="1" dirty="0">
                <a:solidFill>
                  <a:srgbClr val="7030A0"/>
                </a:solidFill>
                <a:latin typeface="+mn-ea"/>
              </a:rPr>
              <a:t>1) </a:t>
            </a:r>
            <a:r>
              <a:rPr lang="ko-KR" altLang="en-US" sz="2400" b="1" dirty="0">
                <a:solidFill>
                  <a:srgbClr val="7030A0"/>
                </a:solidFill>
                <a:latin typeface="+mn-ea"/>
              </a:rPr>
              <a:t>미국</a:t>
            </a:r>
          </a:p>
        </p:txBody>
      </p:sp>
    </p:spTree>
    <p:extLst>
      <p:ext uri="{BB962C8B-B14F-4D97-AF65-F5344CB8AC3E}">
        <p14:creationId xmlns:p14="http://schemas.microsoft.com/office/powerpoint/2010/main" val="3543077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4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사회보장의 역사</a:t>
            </a:r>
          </a:p>
        </p:txBody>
      </p:sp>
      <p:graphicFrame>
        <p:nvGraphicFramePr>
          <p:cNvPr id="8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8340771"/>
              </p:ext>
            </p:extLst>
          </p:nvPr>
        </p:nvGraphicFramePr>
        <p:xfrm>
          <a:off x="399727" y="2060848"/>
          <a:ext cx="8352928" cy="4502677"/>
        </p:xfrm>
        <a:graphic>
          <a:graphicData uri="http://schemas.openxmlformats.org/drawingml/2006/table">
            <a:tbl>
              <a:tblPr/>
              <a:tblGrid>
                <a:gridCol w="1144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9357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1" spc="-50" baseline="0" dirty="0">
                          <a:solidFill>
                            <a:schemeClr val="tx1"/>
                          </a:solidFill>
                        </a:rPr>
                        <a:t>AFDC</a:t>
                      </a:r>
                      <a:r>
                        <a:rPr lang="ko-KR" altLang="en-US" sz="1600" b="1" spc="-50" baseline="0" dirty="0">
                          <a:solidFill>
                            <a:schemeClr val="tx1"/>
                          </a:solidFill>
                        </a:rPr>
                        <a:t>와 </a:t>
                      </a:r>
                      <a:r>
                        <a:rPr lang="en-US" altLang="ko-KR" sz="1600" b="1" spc="-50" baseline="0" dirty="0">
                          <a:solidFill>
                            <a:schemeClr val="tx1"/>
                          </a:solidFill>
                        </a:rPr>
                        <a:t>TANF </a:t>
                      </a:r>
                      <a:r>
                        <a:rPr lang="ko-KR" altLang="en-US" sz="1600" b="1" spc="-50" baseline="0" dirty="0">
                          <a:solidFill>
                            <a:schemeClr val="tx1"/>
                          </a:solidFill>
                        </a:rPr>
                        <a:t>비교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7030A0">
                            <a:tint val="66000"/>
                            <a:satMod val="160000"/>
                          </a:srgbClr>
                        </a:gs>
                        <a:gs pos="50000">
                          <a:srgbClr val="7030A0">
                            <a:tint val="44500"/>
                            <a:satMod val="160000"/>
                          </a:srgbClr>
                        </a:gs>
                        <a:gs pos="100000">
                          <a:srgbClr val="7030A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spc="-5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1118" marR="61118" marT="16897" marB="1689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7030A0">
                            <a:tint val="66000"/>
                            <a:satMod val="160000"/>
                          </a:srgbClr>
                        </a:gs>
                        <a:gs pos="50000">
                          <a:srgbClr val="7030A0">
                            <a:tint val="44500"/>
                            <a:satMod val="160000"/>
                          </a:srgbClr>
                        </a:gs>
                        <a:gs pos="100000">
                          <a:srgbClr val="7030A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922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spc="0" baseline="0" dirty="0"/>
                        <a:t>AFDC</a:t>
                      </a: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spc="0" baseline="0" dirty="0"/>
                        <a:t>(1962)</a:t>
                      </a:r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600" spc="0" baseline="0" dirty="0"/>
                        <a:t>부양아동가족부조</a:t>
                      </a:r>
                      <a:r>
                        <a:rPr lang="en-US" altLang="ko-KR" sz="1600" spc="0" baseline="0" dirty="0"/>
                        <a:t>(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Aid to Families with Dependent Children)</a:t>
                      </a:r>
                    </a:p>
                    <a:p>
                      <a:pPr marL="177800" marR="0" indent="-17780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spc="0" baseline="0" dirty="0">
                          <a:highlight>
                            <a:srgbClr val="FFFF00"/>
                          </a:highlight>
                        </a:rPr>
                        <a:t>편모가정으로 아동이 </a:t>
                      </a:r>
                      <a:r>
                        <a:rPr lang="en-US" altLang="ko-KR" sz="1600" spc="0" baseline="0" dirty="0">
                          <a:highlight>
                            <a:srgbClr val="FFFF00"/>
                          </a:highlight>
                        </a:rPr>
                        <a:t>18</a:t>
                      </a:r>
                      <a:r>
                        <a:rPr lang="ko-KR" altLang="en-US" sz="1600" spc="0" baseline="0" dirty="0">
                          <a:highlight>
                            <a:srgbClr val="FFFF00"/>
                          </a:highlight>
                        </a:rPr>
                        <a:t>세가 될 때까지 </a:t>
                      </a:r>
                      <a:r>
                        <a:rPr lang="ko-KR" altLang="en-US" sz="1600" spc="0" baseline="0" dirty="0"/>
                        <a:t>지원함</a:t>
                      </a:r>
                    </a:p>
                    <a:p>
                      <a:pPr marL="177800" marR="0" indent="-17780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spc="0" baseline="0" dirty="0"/>
                        <a:t>지급기간이 제한되어 있지 않고 </a:t>
                      </a:r>
                      <a:r>
                        <a:rPr lang="ko-KR" altLang="en-US" sz="1600" spc="0" baseline="0" dirty="0">
                          <a:highlight>
                            <a:srgbClr val="FFFF00"/>
                          </a:highlight>
                        </a:rPr>
                        <a:t>소득기준만 충족하면</a:t>
                      </a:r>
                      <a:r>
                        <a:rPr lang="ko-KR" altLang="en-US" sz="1600" spc="0" baseline="0" dirty="0"/>
                        <a:t> 수급자로 지정됨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186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spc="0" baseline="0" dirty="0"/>
                        <a:t>TANF</a:t>
                      </a: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spc="0" baseline="0" dirty="0"/>
                        <a:t>(1996)</a:t>
                      </a:r>
                      <a:endParaRPr lang="ko-KR" altLang="en-US" sz="1600" spc="0" baseline="0" dirty="0"/>
                    </a:p>
                  </a:txBody>
                  <a:tcPr marL="61118" marR="61118" marT="16897" marB="168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600" spc="0" baseline="0" dirty="0"/>
                        <a:t>빈곤가구한시부조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(Temporary Assistance for Needy Families)</a:t>
                      </a:r>
                      <a:endParaRPr lang="ko-KR" altLang="en-US" sz="1600" spc="0" baseline="0" dirty="0"/>
                    </a:p>
                    <a:p>
                      <a:pPr marL="177800" marR="0" indent="-17780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600" spc="0" baseline="0" dirty="0"/>
                        <a:t>부양아동이 있는 </a:t>
                      </a:r>
                      <a:r>
                        <a:rPr lang="ko-KR" altLang="en-US" sz="1600" spc="0" baseline="0" dirty="0" err="1"/>
                        <a:t>편부모가족에</a:t>
                      </a:r>
                      <a:r>
                        <a:rPr lang="ko-KR" altLang="en-US" sz="1600" spc="0" baseline="0" dirty="0"/>
                        <a:t> 대해 급여를 제공함</a:t>
                      </a:r>
                    </a:p>
                    <a:p>
                      <a:pPr marL="177800" marR="0" indent="-17780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600" spc="0" baseline="0" dirty="0"/>
                        <a:t>지급기간을 기존의 무기한에서 평생 </a:t>
                      </a:r>
                      <a:r>
                        <a:rPr lang="en-US" altLang="ko-KR" sz="1600" spc="0" baseline="0" dirty="0"/>
                        <a:t>60</a:t>
                      </a:r>
                      <a:r>
                        <a:rPr lang="ko-KR" altLang="en-US" sz="1600" spc="0" baseline="0" dirty="0"/>
                        <a:t>개월로 제한함</a:t>
                      </a:r>
                    </a:p>
                    <a:p>
                      <a:pPr marL="177800" marR="0" indent="-17780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600" spc="0" baseline="0" dirty="0" err="1"/>
                        <a:t>수급자로</a:t>
                      </a:r>
                      <a:r>
                        <a:rPr lang="ko-KR" altLang="en-US" sz="1600" spc="0" baseline="0" dirty="0"/>
                        <a:t> 지정된 후 </a:t>
                      </a:r>
                      <a:r>
                        <a:rPr lang="en-US" altLang="ko-KR" sz="1600" spc="0" baseline="0" dirty="0"/>
                        <a:t>24</a:t>
                      </a:r>
                      <a:r>
                        <a:rPr lang="ko-KR" altLang="en-US" sz="1600" spc="0" baseline="0" dirty="0"/>
                        <a:t>개월 내에 직업을 가져야 계속 지원함</a:t>
                      </a:r>
                    </a:p>
                    <a:p>
                      <a:pPr marL="177800" marR="0" indent="-17780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600" spc="0" baseline="0" dirty="0"/>
                        <a:t>미혼모의 노동활동 요구와 결혼을 장려함</a:t>
                      </a:r>
                    </a:p>
                    <a:p>
                      <a:pPr marL="177800" marR="0" indent="-17780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600" spc="0" baseline="0" dirty="0"/>
                        <a:t>십대 부모들</a:t>
                      </a:r>
                      <a:r>
                        <a:rPr lang="en-US" altLang="ko-KR" sz="1600" spc="0" baseline="0" dirty="0"/>
                        <a:t>(teens parents)</a:t>
                      </a:r>
                      <a:r>
                        <a:rPr lang="ko-KR" altLang="en-US" sz="1600" spc="0" baseline="0" dirty="0"/>
                        <a:t>은 부모와 함께 거주하거나 성인의 통제를 받아야 함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제목 1"/>
          <p:cNvSpPr txBox="1">
            <a:spLocks/>
          </p:cNvSpPr>
          <p:nvPr/>
        </p:nvSpPr>
        <p:spPr>
          <a:xfrm>
            <a:off x="224111" y="420678"/>
            <a:ext cx="5306261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4. 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사회보장의 </a:t>
            </a:r>
            <a:r>
              <a:rPr kumimoji="0" lang="ko-KR" altLang="en-US" sz="3200" b="0" i="0" u="none" strike="noStrike" kern="1200" cap="none" spc="-3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재편기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(1970</a:t>
            </a:r>
            <a:r>
              <a:rPr kumimoji="0" lang="ko-KR" altLang="en-US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년대 중반 이후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rPr>
              <a:t>)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  <a:cs typeface="+mj-cs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24110" y="1487644"/>
            <a:ext cx="85285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1)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미국</a:t>
            </a:r>
          </a:p>
        </p:txBody>
      </p:sp>
    </p:spTree>
    <p:extLst>
      <p:ext uri="{BB962C8B-B14F-4D97-AF65-F5344CB8AC3E}">
        <p14:creationId xmlns:p14="http://schemas.microsoft.com/office/powerpoint/2010/main" val="423709086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77090" y="518140"/>
            <a:ext cx="1199366" cy="487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prstClr val="whit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제</a:t>
            </a:r>
            <a:r>
              <a:rPr lang="en-US" altLang="ko-KR" sz="1200" dirty="0">
                <a:solidFill>
                  <a:prstClr val="whit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4</a:t>
            </a:r>
            <a:r>
              <a:rPr lang="ko-KR" altLang="en-US" sz="1200" dirty="0">
                <a:solidFill>
                  <a:prstClr val="whit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</a:t>
            </a:r>
            <a:endParaRPr lang="en-US" altLang="ko-KR" sz="1200" dirty="0">
              <a:solidFill>
                <a:prstClr val="white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  <a:p>
            <a:pPr algn="r">
              <a:spcBef>
                <a:spcPts val="200"/>
              </a:spcBef>
            </a:pPr>
            <a:r>
              <a:rPr lang="ko-KR" altLang="en-US" sz="1200" dirty="0">
                <a:solidFill>
                  <a:prstClr val="whit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사회보장의 역사</a:t>
            </a: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224111" y="420678"/>
            <a:ext cx="5306261" cy="58477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spc="-3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4. </a:t>
            </a:r>
            <a:r>
              <a:rPr lang="ko-KR" altLang="en-US" sz="3200" spc="-3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사회보장의 </a:t>
            </a:r>
            <a:r>
              <a:rPr lang="ko-KR" altLang="en-US" sz="3200" spc="-300" dirty="0" err="1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재편기</a:t>
            </a:r>
            <a:r>
              <a:rPr lang="ko-KR" altLang="en-US" sz="3200" spc="-3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2000" spc="-3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(1970</a:t>
            </a:r>
            <a:r>
              <a:rPr lang="ko-KR" altLang="en-US" sz="2000" spc="-3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년대 중반 이후</a:t>
            </a:r>
            <a:r>
              <a:rPr lang="en-US" altLang="ko-KR" sz="2000" spc="-3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endParaRPr lang="ko-KR" altLang="en-US" sz="2000" dirty="0">
              <a:solidFill>
                <a:prstClr val="white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95536" y="1772816"/>
            <a:ext cx="8352928" cy="3499315"/>
          </a:xfrm>
          <a:prstGeom prst="rect">
            <a:avLst/>
          </a:prstGeom>
          <a:ln w="19050">
            <a:solidFill>
              <a:srgbClr val="7030A0"/>
            </a:solidFill>
          </a:ln>
        </p:spPr>
        <p:txBody>
          <a:bodyPr vert="horz" wrap="square" lIns="144000" tIns="144000" rIns="144000" bIns="180000" rtlCol="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-177800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</a:pPr>
            <a:r>
              <a:rPr lang="en-US" altLang="ko-KR" sz="2000" dirty="0" err="1">
                <a:highlight>
                  <a:srgbClr val="FFFF00"/>
                </a:highlight>
              </a:rPr>
              <a:t>각국의</a:t>
            </a:r>
            <a:r>
              <a:rPr lang="en-US" altLang="ko-KR" sz="2000" dirty="0">
                <a:highlight>
                  <a:srgbClr val="FFFF00"/>
                </a:highlight>
              </a:rPr>
              <a:t> </a:t>
            </a:r>
            <a:r>
              <a:rPr lang="en-US" altLang="ko-KR" sz="2000" dirty="0" err="1">
                <a:highlight>
                  <a:srgbClr val="FFFF00"/>
                </a:highlight>
              </a:rPr>
              <a:t>사회보장제도</a:t>
            </a:r>
            <a:r>
              <a:rPr lang="en-US" altLang="ko-KR" sz="2000" dirty="0">
                <a:highlight>
                  <a:srgbClr val="FFFF00"/>
                </a:highlight>
              </a:rPr>
              <a:t> </a:t>
            </a:r>
            <a:r>
              <a:rPr lang="en-US" altLang="ko-KR" sz="2000" dirty="0" err="1">
                <a:highlight>
                  <a:srgbClr val="FFFF00"/>
                </a:highlight>
              </a:rPr>
              <a:t>재편의</a:t>
            </a:r>
            <a:r>
              <a:rPr lang="en-US" altLang="ko-KR" sz="2000" dirty="0">
                <a:highlight>
                  <a:srgbClr val="FFFF00"/>
                </a:highlight>
              </a:rPr>
              <a:t> </a:t>
            </a:r>
            <a:r>
              <a:rPr lang="en-US" altLang="ko-KR" sz="2000" dirty="0" err="1">
                <a:highlight>
                  <a:srgbClr val="FFFF00"/>
                </a:highlight>
              </a:rPr>
              <a:t>특성은</a:t>
            </a:r>
            <a:r>
              <a:rPr lang="en-US" altLang="ko-KR" sz="2000" dirty="0">
                <a:highlight>
                  <a:srgbClr val="FFFF00"/>
                </a:highlight>
              </a:rPr>
              <a:t> </a:t>
            </a:r>
            <a:r>
              <a:rPr lang="en-US" altLang="ko-KR" sz="2000" dirty="0" err="1">
                <a:highlight>
                  <a:srgbClr val="FFFF00"/>
                </a:highlight>
              </a:rPr>
              <a:t>급여의</a:t>
            </a:r>
            <a:r>
              <a:rPr lang="en-US" altLang="ko-KR" sz="2000" dirty="0">
                <a:highlight>
                  <a:srgbClr val="FFFF00"/>
                </a:highlight>
              </a:rPr>
              <a:t> </a:t>
            </a:r>
            <a:r>
              <a:rPr lang="en-US" altLang="ko-KR" sz="2000" dirty="0" err="1">
                <a:highlight>
                  <a:srgbClr val="FFFF00"/>
                </a:highlight>
              </a:rPr>
              <a:t>축소와</a:t>
            </a:r>
            <a:r>
              <a:rPr lang="en-US" altLang="ko-KR" sz="2000" dirty="0">
                <a:highlight>
                  <a:srgbClr val="FFFF00"/>
                </a:highlight>
              </a:rPr>
              <a:t> </a:t>
            </a:r>
            <a:r>
              <a:rPr lang="en-US" altLang="ko-KR" sz="2000" dirty="0" err="1">
                <a:highlight>
                  <a:srgbClr val="FFFF00"/>
                </a:highlight>
              </a:rPr>
              <a:t>급여자격의</a:t>
            </a:r>
            <a:r>
              <a:rPr lang="en-US" altLang="ko-KR" sz="2000" dirty="0">
                <a:highlight>
                  <a:srgbClr val="FFFF00"/>
                </a:highlight>
              </a:rPr>
              <a:t> </a:t>
            </a:r>
            <a:r>
              <a:rPr lang="en-US" altLang="ko-KR" sz="2000" dirty="0" err="1">
                <a:highlight>
                  <a:srgbClr val="FFFF00"/>
                </a:highlight>
              </a:rPr>
              <a:t>강화로</a:t>
            </a:r>
            <a:r>
              <a:rPr lang="en-US" altLang="ko-KR" sz="2000" dirty="0">
                <a:highlight>
                  <a:srgbClr val="FFFF00"/>
                </a:highlight>
              </a:rPr>
              <a:t> </a:t>
            </a:r>
            <a:r>
              <a:rPr lang="en-US" altLang="ko-KR" sz="2000" dirty="0" err="1">
                <a:highlight>
                  <a:srgbClr val="FFFF00"/>
                </a:highlight>
              </a:rPr>
              <a:t>요약</a:t>
            </a:r>
            <a:endParaRPr lang="en-US" altLang="ko-KR" sz="2000" dirty="0">
              <a:highlight>
                <a:srgbClr val="FFFF00"/>
              </a:highlight>
            </a:endParaRPr>
          </a:p>
          <a:p>
            <a:pPr marL="177800" indent="-177800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</a:pPr>
            <a:r>
              <a:rPr lang="en-US" altLang="ko-KR" sz="2000" dirty="0" err="1">
                <a:highlight>
                  <a:srgbClr val="FFFF00"/>
                </a:highlight>
              </a:rPr>
              <a:t>연금수급연령의</a:t>
            </a:r>
            <a:r>
              <a:rPr lang="en-US" altLang="ko-KR" sz="2000" dirty="0">
                <a:highlight>
                  <a:srgbClr val="FFFF00"/>
                </a:highlight>
              </a:rPr>
              <a:t> </a:t>
            </a:r>
            <a:r>
              <a:rPr lang="en-US" altLang="ko-KR" sz="2000" dirty="0" err="1">
                <a:highlight>
                  <a:srgbClr val="FFFF00"/>
                </a:highlight>
              </a:rPr>
              <a:t>상향과</a:t>
            </a:r>
            <a:r>
              <a:rPr lang="en-US" altLang="ko-KR" sz="2000" dirty="0">
                <a:highlight>
                  <a:srgbClr val="FFFF00"/>
                </a:highlight>
              </a:rPr>
              <a:t> </a:t>
            </a:r>
            <a:r>
              <a:rPr lang="en-US" altLang="ko-KR" sz="2000" dirty="0" err="1">
                <a:highlight>
                  <a:srgbClr val="FFFF00"/>
                </a:highlight>
              </a:rPr>
              <a:t>소득대체율</a:t>
            </a:r>
            <a:r>
              <a:rPr lang="en-US" altLang="ko-KR" sz="2000" dirty="0">
                <a:highlight>
                  <a:srgbClr val="FFFF00"/>
                </a:highlight>
              </a:rPr>
              <a:t> </a:t>
            </a:r>
            <a:r>
              <a:rPr lang="en-US" altLang="ko-KR" sz="2000" dirty="0" err="1">
                <a:highlight>
                  <a:srgbClr val="FFFF00"/>
                </a:highlight>
              </a:rPr>
              <a:t>인하</a:t>
            </a:r>
            <a:r>
              <a:rPr lang="en-US" altLang="ko-KR" sz="2000" dirty="0">
                <a:highlight>
                  <a:srgbClr val="FFFF00"/>
                </a:highlight>
              </a:rPr>
              <a:t>, </a:t>
            </a:r>
            <a:r>
              <a:rPr lang="en-US" altLang="ko-KR" sz="2000" dirty="0" err="1">
                <a:highlight>
                  <a:srgbClr val="FFFF00"/>
                </a:highlight>
              </a:rPr>
              <a:t>장애급여에</a:t>
            </a:r>
            <a:r>
              <a:rPr lang="en-US" altLang="ko-KR" sz="2000" dirty="0">
                <a:highlight>
                  <a:srgbClr val="FFFF00"/>
                </a:highlight>
              </a:rPr>
              <a:t> </a:t>
            </a:r>
            <a:r>
              <a:rPr lang="en-US" altLang="ko-KR" sz="2000" dirty="0" err="1">
                <a:highlight>
                  <a:srgbClr val="FFFF00"/>
                </a:highlight>
              </a:rPr>
              <a:t>대한</a:t>
            </a:r>
            <a:r>
              <a:rPr lang="en-US" altLang="ko-KR" sz="2000" dirty="0">
                <a:highlight>
                  <a:srgbClr val="FFFF00"/>
                </a:highlight>
              </a:rPr>
              <a:t> </a:t>
            </a:r>
            <a:r>
              <a:rPr lang="en-US" altLang="ko-KR" sz="2000" dirty="0" err="1">
                <a:highlight>
                  <a:srgbClr val="FFFF00"/>
                </a:highlight>
              </a:rPr>
              <a:t>장애심사</a:t>
            </a:r>
            <a:r>
              <a:rPr lang="en-US" altLang="ko-KR" sz="2000" dirty="0">
                <a:highlight>
                  <a:srgbClr val="FFFF00"/>
                </a:highlight>
              </a:rPr>
              <a:t> </a:t>
            </a:r>
            <a:r>
              <a:rPr lang="en-US" altLang="ko-KR" sz="2000" dirty="0" err="1">
                <a:highlight>
                  <a:srgbClr val="FFFF00"/>
                </a:highlight>
              </a:rPr>
              <a:t>강화</a:t>
            </a:r>
            <a:r>
              <a:rPr lang="en-US" altLang="ko-KR" sz="2000" dirty="0">
                <a:highlight>
                  <a:srgbClr val="FFFF00"/>
                </a:highlight>
              </a:rPr>
              <a:t>, </a:t>
            </a:r>
            <a:r>
              <a:rPr lang="en-US" altLang="ko-KR" sz="2000" dirty="0" err="1">
                <a:highlight>
                  <a:srgbClr val="FFFF00"/>
                </a:highlight>
              </a:rPr>
              <a:t>실업급여의</a:t>
            </a:r>
            <a:r>
              <a:rPr lang="en-US" altLang="ko-KR" sz="2000" dirty="0">
                <a:highlight>
                  <a:srgbClr val="FFFF00"/>
                </a:highlight>
              </a:rPr>
              <a:t> </a:t>
            </a:r>
            <a:r>
              <a:rPr lang="en-US" altLang="ko-KR" sz="2000" dirty="0" err="1">
                <a:highlight>
                  <a:srgbClr val="FFFF00"/>
                </a:highlight>
              </a:rPr>
              <a:t>지급기간과</a:t>
            </a:r>
            <a:r>
              <a:rPr lang="en-US" altLang="ko-KR" sz="2000" dirty="0">
                <a:highlight>
                  <a:srgbClr val="FFFF00"/>
                </a:highlight>
              </a:rPr>
              <a:t> </a:t>
            </a:r>
            <a:r>
              <a:rPr lang="en-US" altLang="ko-KR" sz="2000" dirty="0" err="1">
                <a:highlight>
                  <a:srgbClr val="FFFF00"/>
                </a:highlight>
              </a:rPr>
              <a:t>급여수준의</a:t>
            </a:r>
            <a:r>
              <a:rPr lang="en-US" altLang="ko-KR" sz="2000" dirty="0">
                <a:highlight>
                  <a:srgbClr val="FFFF00"/>
                </a:highlight>
              </a:rPr>
              <a:t> </a:t>
            </a:r>
            <a:r>
              <a:rPr lang="en-US" altLang="ko-KR" sz="2000" dirty="0" err="1">
                <a:highlight>
                  <a:srgbClr val="FFFF00"/>
                </a:highlight>
              </a:rPr>
              <a:t>축소</a:t>
            </a:r>
            <a:r>
              <a:rPr lang="en-US" altLang="ko-KR" sz="2000" dirty="0">
                <a:highlight>
                  <a:srgbClr val="FFFF00"/>
                </a:highlight>
              </a:rPr>
              <a:t> </a:t>
            </a:r>
            <a:r>
              <a:rPr lang="en-US" altLang="ko-KR" sz="2000" dirty="0"/>
              <a:t>등</a:t>
            </a:r>
          </a:p>
          <a:p>
            <a:pPr marL="177800" indent="-177800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</a:pPr>
            <a:r>
              <a:rPr lang="en-US" altLang="ko-KR" sz="2000" dirty="0" err="1"/>
              <a:t>또한</a:t>
            </a:r>
            <a:r>
              <a:rPr lang="en-US" altLang="ko-KR" sz="2000" dirty="0"/>
              <a:t> </a:t>
            </a:r>
            <a:r>
              <a:rPr lang="en-US" altLang="ko-KR" sz="2000" dirty="0" err="1"/>
              <a:t>대상자</a:t>
            </a:r>
            <a:r>
              <a:rPr lang="ko-KR" altLang="en-US" sz="2000" dirty="0"/>
              <a:t>에 대한</a:t>
            </a:r>
            <a:r>
              <a:rPr lang="en-US" altLang="ko-KR" sz="2000" dirty="0"/>
              <a:t> </a:t>
            </a:r>
            <a:r>
              <a:rPr lang="en-US" altLang="ko-KR" sz="2000" dirty="0" err="1">
                <a:highlight>
                  <a:srgbClr val="FFFF00"/>
                </a:highlight>
              </a:rPr>
              <a:t>선별주의와</a:t>
            </a:r>
            <a:r>
              <a:rPr lang="en-US" altLang="ko-KR" sz="2000" dirty="0">
                <a:highlight>
                  <a:srgbClr val="FFFF00"/>
                </a:highlight>
              </a:rPr>
              <a:t> </a:t>
            </a:r>
            <a:r>
              <a:rPr lang="ko-KR" altLang="en-US" sz="2000" dirty="0">
                <a:highlight>
                  <a:srgbClr val="FFFF00"/>
                </a:highlight>
              </a:rPr>
              <a:t>노동</a:t>
            </a:r>
            <a:r>
              <a:rPr lang="en-US" altLang="ko-KR" sz="2000" dirty="0" err="1">
                <a:highlight>
                  <a:srgbClr val="FFFF00"/>
                </a:highlight>
              </a:rPr>
              <a:t>연계복지</a:t>
            </a:r>
            <a:r>
              <a:rPr lang="en-US" altLang="ko-KR" sz="2000" dirty="0"/>
              <a:t>(workfare) </a:t>
            </a:r>
            <a:r>
              <a:rPr lang="ko-KR" altLang="en-US" sz="2000" dirty="0"/>
              <a:t>를 통해 노동능력자들의 </a:t>
            </a:r>
            <a:r>
              <a:rPr lang="ko-KR" altLang="en-US" sz="2000" dirty="0">
                <a:highlight>
                  <a:srgbClr val="FFFF00"/>
                </a:highlight>
              </a:rPr>
              <a:t>복지종속</a:t>
            </a:r>
            <a:r>
              <a:rPr lang="en-US" altLang="ko-KR" sz="2000" dirty="0"/>
              <a:t>(welfare dependency), </a:t>
            </a:r>
            <a:r>
              <a:rPr lang="ko-KR" altLang="en-US" sz="2000" dirty="0"/>
              <a:t>또는 </a:t>
            </a:r>
            <a:r>
              <a:rPr lang="ko-KR" altLang="en-US" sz="2000" dirty="0">
                <a:highlight>
                  <a:srgbClr val="FFFF00"/>
                </a:highlight>
              </a:rPr>
              <a:t>복지함정</a:t>
            </a:r>
            <a:r>
              <a:rPr lang="en-US" altLang="ko-KR" sz="2000" dirty="0"/>
              <a:t>(welfare trap)</a:t>
            </a:r>
            <a:r>
              <a:rPr lang="ko-KR" altLang="en-US" sz="2000" dirty="0"/>
              <a:t>에 빠지는 것을 근절하고자 하였음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218605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ko-KR" altLang="en-US" sz="3200" dirty="0"/>
              <a:t>한국의 사회보장제도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2566404"/>
              </p:ext>
            </p:extLst>
          </p:nvPr>
        </p:nvGraphicFramePr>
        <p:xfrm>
          <a:off x="827585" y="1052736"/>
          <a:ext cx="7704855" cy="5112568"/>
        </p:xfrm>
        <a:graphic>
          <a:graphicData uri="http://schemas.openxmlformats.org/drawingml/2006/table">
            <a:tbl>
              <a:tblPr/>
              <a:tblGrid>
                <a:gridCol w="816164">
                  <a:extLst>
                    <a:ext uri="{9D8B030D-6E8A-4147-A177-3AD203B41FA5}">
                      <a16:colId xmlns:a16="http://schemas.microsoft.com/office/drawing/2014/main" val="361289059"/>
                    </a:ext>
                  </a:extLst>
                </a:gridCol>
                <a:gridCol w="984035">
                  <a:extLst>
                    <a:ext uri="{9D8B030D-6E8A-4147-A177-3AD203B41FA5}">
                      <a16:colId xmlns:a16="http://schemas.microsoft.com/office/drawing/2014/main" val="1339197604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1551412989"/>
                    </a:ext>
                  </a:extLst>
                </a:gridCol>
                <a:gridCol w="1842168">
                  <a:extLst>
                    <a:ext uri="{9D8B030D-6E8A-4147-A177-3AD203B41FA5}">
                      <a16:colId xmlns:a16="http://schemas.microsoft.com/office/drawing/2014/main" val="868623418"/>
                    </a:ext>
                  </a:extLst>
                </a:gridCol>
                <a:gridCol w="1167148">
                  <a:extLst>
                    <a:ext uri="{9D8B030D-6E8A-4147-A177-3AD203B41FA5}">
                      <a16:colId xmlns:a16="http://schemas.microsoft.com/office/drawing/2014/main" val="236617188"/>
                    </a:ext>
                  </a:extLst>
                </a:gridCol>
                <a:gridCol w="1167148">
                  <a:extLst>
                    <a:ext uri="{9D8B030D-6E8A-4147-A177-3AD203B41FA5}">
                      <a16:colId xmlns:a16="http://schemas.microsoft.com/office/drawing/2014/main" val="2965251705"/>
                    </a:ext>
                  </a:extLst>
                </a:gridCol>
              </a:tblGrid>
              <a:tr h="328093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제도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도입시기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 err="1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대상위험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보장형태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가입대상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596997"/>
                  </a:ext>
                </a:extLst>
              </a:tr>
              <a:tr h="628802">
                <a:tc rowSpan="4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 err="1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공적연금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공무원연금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1960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노령</a:t>
                      </a:r>
                      <a:r>
                        <a:rPr lang="en-US" altLang="ko-KR" sz="1200" b="1" kern="0" spc="-10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, </a:t>
                      </a: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장애</a:t>
                      </a:r>
                      <a:r>
                        <a:rPr lang="en-US" altLang="ko-KR" sz="1200" b="1" kern="0" spc="-10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, </a:t>
                      </a: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사망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 err="1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산재포함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소득보장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공무원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247296"/>
                  </a:ext>
                </a:extLst>
              </a:tr>
              <a:tr h="6288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군인연금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1960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(1963 </a:t>
                      </a: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분리</a:t>
                      </a:r>
                      <a:r>
                        <a:rPr lang="en-US" altLang="ko-KR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)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노령</a:t>
                      </a:r>
                      <a:r>
                        <a:rPr lang="en-US" altLang="ko-KR" sz="1200" b="1" kern="0" spc="-10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, </a:t>
                      </a: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장애</a:t>
                      </a:r>
                      <a:r>
                        <a:rPr lang="en-US" altLang="ko-KR" sz="1200" b="1" kern="0" spc="-10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, </a:t>
                      </a: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사망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 err="1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산재포함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소득보장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장기하사관 이상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4540446"/>
                  </a:ext>
                </a:extLst>
              </a:tr>
              <a:tr h="6288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사학연금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1973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노령</a:t>
                      </a:r>
                      <a:r>
                        <a:rPr lang="en-US" altLang="ko-KR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, </a:t>
                      </a: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장애</a:t>
                      </a:r>
                      <a:r>
                        <a:rPr lang="en-US" altLang="ko-KR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, </a:t>
                      </a: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사망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산재포함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소득보장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사립학교 교직원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0073060"/>
                  </a:ext>
                </a:extLst>
              </a:tr>
              <a:tr h="3280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국민연금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1988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노령</a:t>
                      </a:r>
                      <a:r>
                        <a:rPr lang="en-US" altLang="ko-KR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, </a:t>
                      </a: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장애</a:t>
                      </a:r>
                      <a:r>
                        <a:rPr lang="en-US" altLang="ko-KR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, </a:t>
                      </a: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사망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소득보장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1</a:t>
                      </a: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인 이상 사업장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8421918"/>
                  </a:ext>
                </a:extLst>
              </a:tr>
              <a:tr h="929511"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국민건강보험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 err="1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직장의료</a:t>
                      </a:r>
                      <a:r>
                        <a:rPr lang="en-US" altLang="ko-KR" sz="1200" b="1" kern="0" spc="-10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(1977)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지역의료</a:t>
                      </a:r>
                      <a:r>
                        <a:rPr lang="en-US" altLang="ko-KR" sz="1200" b="1" kern="0" spc="-10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(1988)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 err="1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공무원ㆍ사립교원</a:t>
                      </a:r>
                      <a:r>
                        <a:rPr lang="en-US" altLang="ko-KR" sz="1200" b="1" kern="0" spc="-10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(1979)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질병에 의한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비용 손실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의료보장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모든 국민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6736052"/>
                  </a:ext>
                </a:extLst>
              </a:tr>
              <a:tr h="328093"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산재보험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1964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업무상 재해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소득</a:t>
                      </a:r>
                      <a:r>
                        <a:rPr lang="en-US" altLang="ko-KR" sz="1200" b="1" kern="0" spc="-10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, </a:t>
                      </a: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의료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모든 근로자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7636787"/>
                  </a:ext>
                </a:extLst>
              </a:tr>
              <a:tr h="328093"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고용보험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1995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소득 손실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소득</a:t>
                      </a:r>
                      <a:r>
                        <a:rPr lang="en-US" altLang="ko-KR" sz="1200" b="1" kern="0" spc="-10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, </a:t>
                      </a: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비용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모든 근로자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7127346"/>
                  </a:ext>
                </a:extLst>
              </a:tr>
              <a:tr h="328093"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노인장기요양보험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2008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장기요양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사회서비스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모든 국민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9004498"/>
                  </a:ext>
                </a:extLst>
              </a:tr>
              <a:tr h="328093"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생활보호제도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1961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빈곤</a:t>
                      </a:r>
                      <a:r>
                        <a:rPr lang="en-US" altLang="ko-KR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(</a:t>
                      </a: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무능력자</a:t>
                      </a:r>
                      <a:r>
                        <a:rPr lang="en-US" altLang="ko-KR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)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소득보장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빈곤층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0174151"/>
                  </a:ext>
                </a:extLst>
              </a:tr>
              <a:tr h="328093"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국민기초생활보장제도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2000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빈곤</a:t>
                      </a:r>
                      <a:r>
                        <a:rPr lang="en-US" altLang="ko-KR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(</a:t>
                      </a: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능력자포함</a:t>
                      </a:r>
                      <a:r>
                        <a:rPr lang="en-US" altLang="ko-KR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)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소득보장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빈곤층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44173" marR="44173" marT="12213" marB="1221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3728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7342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5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9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10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3922</TotalTime>
  <Words>4933</Words>
  <Application>Microsoft Office PowerPoint</Application>
  <PresentationFormat>화면 슬라이드 쇼(4:3)</PresentationFormat>
  <Paragraphs>710</Paragraphs>
  <Slides>55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6</vt:i4>
      </vt:variant>
      <vt:variant>
        <vt:lpstr>슬라이드 제목</vt:lpstr>
      </vt:variant>
      <vt:variant>
        <vt:i4>55</vt:i4>
      </vt:variant>
    </vt:vector>
  </HeadingPairs>
  <TitlesOfParts>
    <vt:vector size="73" baseType="lpstr">
      <vt:lpstr>HY울릉도B</vt:lpstr>
      <vt:lpstr>HY울릉도M</vt:lpstr>
      <vt:lpstr>굴림</vt:lpstr>
      <vt:lpstr>나눔스퀘어 Bold</vt:lpstr>
      <vt:lpstr>나눔스퀘어 ExtraBold</vt:lpstr>
      <vt:lpstr>나눔스퀘어라운드 Bold</vt:lpstr>
      <vt:lpstr>맑은 고딕</vt:lpstr>
      <vt:lpstr>바탕</vt:lpstr>
      <vt:lpstr>한양신명조</vt:lpstr>
      <vt:lpstr>Arial</vt:lpstr>
      <vt:lpstr>Verdana</vt:lpstr>
      <vt:lpstr>Wingdings</vt:lpstr>
      <vt:lpstr>Office 테마</vt:lpstr>
      <vt:lpstr>1_Office 테마</vt:lpstr>
      <vt:lpstr>2_Office 테마</vt:lpstr>
      <vt:lpstr>5_Office 테마</vt:lpstr>
      <vt:lpstr>9_Office 테마</vt:lpstr>
      <vt:lpstr>10_Office 테마</vt:lpstr>
      <vt:lpstr>제4장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1. 영국의 빈민법 시대 (1600년대 - 1800년대 후반)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한국의 사회보장제도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My</dc:creator>
  <cp:lastModifiedBy>노동주</cp:lastModifiedBy>
  <cp:revision>498</cp:revision>
  <dcterms:created xsi:type="dcterms:W3CDTF">2018-02-02T09:48:03Z</dcterms:created>
  <dcterms:modified xsi:type="dcterms:W3CDTF">2024-09-19T07:02:56Z</dcterms:modified>
</cp:coreProperties>
</file>