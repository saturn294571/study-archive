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0680700" cy="7556500"/>
  <p:notesSz cx="10680700" cy="75565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379" autoAdjust="0"/>
  </p:normalViewPr>
  <p:slideViewPr>
    <p:cSldViewPr>
      <p:cViewPr varScale="1">
        <p:scale>
          <a:sx n="54" d="100"/>
          <a:sy n="54" d="100"/>
        </p:scale>
        <p:origin x="82" y="5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2756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049963" y="0"/>
            <a:ext cx="4627562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BFBBB3-5A28-48EF-B6B0-DD345F0F3B8D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536950" y="944563"/>
            <a:ext cx="3606800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68388" y="3636963"/>
            <a:ext cx="8543925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2756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049963" y="7177088"/>
            <a:ext cx="4627562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36B3E1-8F58-4822-B343-B7362D0D8C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716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6B3E1-8F58-4822-B343-B7362D0D8CD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848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6B3E1-8F58-4822-B343-B7362D0D8CD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9589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1052" y="2342515"/>
            <a:ext cx="9078595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2105" y="4231640"/>
            <a:ext cx="747649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t>‹#›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t>‹#›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035" y="1737995"/>
            <a:ext cx="4646104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0560" y="1737995"/>
            <a:ext cx="4646104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t>‹#›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t>‹#›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t>‹#›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98206" y="1208885"/>
            <a:ext cx="4684287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65058" y="1919294"/>
            <a:ext cx="8550582" cy="4494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1438" y="7027545"/>
            <a:ext cx="3417824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035" y="7027545"/>
            <a:ext cx="2456561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13006" y="6877765"/>
            <a:ext cx="494664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t>‹#›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5608" y="1201270"/>
            <a:ext cx="602996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20" dirty="0"/>
              <a:t>제3강.</a:t>
            </a:r>
            <a:r>
              <a:rPr sz="2400" spc="350" dirty="0"/>
              <a:t> </a:t>
            </a:r>
            <a:r>
              <a:rPr sz="2400" spc="-5" dirty="0"/>
              <a:t>복지국가의</a:t>
            </a:r>
            <a:r>
              <a:rPr sz="2400" spc="340" dirty="0"/>
              <a:t> </a:t>
            </a:r>
            <a:r>
              <a:rPr sz="2400" spc="-5" dirty="0"/>
              <a:t>역사</a:t>
            </a:r>
            <a:r>
              <a:rPr sz="2400" spc="340" dirty="0"/>
              <a:t> </a:t>
            </a:r>
            <a:r>
              <a:rPr sz="2400" spc="170" dirty="0"/>
              <a:t>:</a:t>
            </a:r>
            <a:r>
              <a:rPr sz="2400" spc="335" dirty="0"/>
              <a:t> </a:t>
            </a:r>
            <a:r>
              <a:rPr sz="2400" spc="-5" dirty="0"/>
              <a:t>영국을</a:t>
            </a:r>
            <a:r>
              <a:rPr sz="2400" spc="340" dirty="0"/>
              <a:t> </a:t>
            </a:r>
            <a:r>
              <a:rPr sz="2400" spc="-5" dirty="0"/>
              <a:t>중심으로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066636" y="2101466"/>
            <a:ext cx="8140065" cy="317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Font typeface="MS UI Gothic"/>
              <a:buChar char="○"/>
              <a:tabLst>
                <a:tab pos="266700" algn="l"/>
                <a:tab pos="267335" algn="l"/>
              </a:tabLst>
            </a:pPr>
            <a:r>
              <a:rPr sz="2000" b="1" spc="-5" dirty="0">
                <a:latin typeface="Malgun Gothic"/>
                <a:cs typeface="Malgun Gothic"/>
              </a:rPr>
              <a:t>복지국가는</a:t>
            </a:r>
            <a:r>
              <a:rPr sz="2000" b="1" spc="254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어떻게</a:t>
            </a:r>
            <a:r>
              <a:rPr sz="2000" b="1" spc="260" dirty="0">
                <a:latin typeface="Malgun Gothic"/>
                <a:cs typeface="Malgun Gothic"/>
              </a:rPr>
              <a:t> </a:t>
            </a:r>
            <a:r>
              <a:rPr sz="2000" b="1" spc="10" dirty="0">
                <a:latin typeface="Malgun Gothic"/>
                <a:cs typeface="Malgun Gothic"/>
              </a:rPr>
              <a:t>성립되었는가?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MS UI Gothic"/>
              <a:buChar char="○"/>
            </a:pPr>
            <a:endParaRPr sz="22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buFont typeface="MS UI Gothic"/>
              <a:buChar char="○"/>
              <a:tabLst>
                <a:tab pos="266700" algn="l"/>
                <a:tab pos="267335" algn="l"/>
              </a:tabLst>
            </a:pPr>
            <a:r>
              <a:rPr sz="2000" b="1" spc="-10" dirty="0">
                <a:latin typeface="Malgun Gothic"/>
                <a:cs typeface="Malgun Gothic"/>
              </a:rPr>
              <a:t>영국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복지국가의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형성과정은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4단계로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구분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MS UI Gothic"/>
              <a:buChar char="○"/>
            </a:pPr>
            <a:endParaRPr sz="2200">
              <a:latin typeface="Malgun Gothic"/>
              <a:cs typeface="Malgun Gothic"/>
            </a:endParaRPr>
          </a:p>
          <a:p>
            <a:pPr marL="138430">
              <a:lnSpc>
                <a:spcPct val="100000"/>
              </a:lnSpc>
            </a:pPr>
            <a:r>
              <a:rPr sz="2000" b="1" spc="420" dirty="0">
                <a:latin typeface="Malgun Gothic"/>
                <a:cs typeface="Malgun Gothic"/>
              </a:rPr>
              <a:t>-</a:t>
            </a:r>
            <a:r>
              <a:rPr sz="2000" b="1" spc="260" dirty="0">
                <a:latin typeface="Malgun Gothic"/>
                <a:cs typeface="Malgun Gothic"/>
              </a:rPr>
              <a:t> </a:t>
            </a:r>
            <a:r>
              <a:rPr sz="2000" b="1" spc="15" dirty="0">
                <a:latin typeface="Malgun Gothic"/>
                <a:cs typeface="Malgun Gothic"/>
              </a:rPr>
              <a:t>구빈법(1601)</a:t>
            </a:r>
            <a:endParaRPr sz="2000">
              <a:latin typeface="Malgun Gothic"/>
              <a:cs typeface="Malgun Gothic"/>
            </a:endParaRPr>
          </a:p>
          <a:p>
            <a:pPr marL="424815" lvl="1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sz="2000" b="1" spc="5" dirty="0">
                <a:latin typeface="Malgun Gothic"/>
                <a:cs typeface="Malgun Gothic"/>
              </a:rPr>
              <a:t>수정구빈법(신구빈법,</a:t>
            </a:r>
            <a:r>
              <a:rPr sz="2000" b="1" spc="250" dirty="0">
                <a:latin typeface="Malgun Gothic"/>
                <a:cs typeface="Malgun Gothic"/>
              </a:rPr>
              <a:t> </a:t>
            </a:r>
            <a:r>
              <a:rPr sz="2000" b="1" spc="25" dirty="0">
                <a:latin typeface="Malgun Gothic"/>
                <a:cs typeface="Malgun Gothic"/>
              </a:rPr>
              <a:t>1834)</a:t>
            </a:r>
            <a:endParaRPr sz="2000">
              <a:latin typeface="Malgun Gothic"/>
              <a:cs typeface="Malgun Gothic"/>
            </a:endParaRPr>
          </a:p>
          <a:p>
            <a:pPr marL="138430">
              <a:lnSpc>
                <a:spcPct val="100000"/>
              </a:lnSpc>
              <a:spcBef>
                <a:spcPts val="790"/>
              </a:spcBef>
            </a:pPr>
            <a:r>
              <a:rPr sz="2000" b="1" spc="420" dirty="0">
                <a:latin typeface="Malgun Gothic"/>
                <a:cs typeface="Malgun Gothic"/>
              </a:rPr>
              <a:t>-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자유당의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15" dirty="0">
                <a:latin typeface="Malgun Gothic"/>
                <a:cs typeface="Malgun Gothic"/>
              </a:rPr>
              <a:t>개혁(1906</a:t>
            </a:r>
            <a:r>
              <a:rPr sz="2000" dirty="0">
                <a:latin typeface="MS UI Gothic"/>
                <a:cs typeface="MS UI Gothic"/>
              </a:rPr>
              <a:t>〜</a:t>
            </a:r>
            <a:r>
              <a:rPr sz="2000" b="1" spc="25" dirty="0">
                <a:latin typeface="Malgun Gothic"/>
                <a:cs typeface="Malgun Gothic"/>
              </a:rPr>
              <a:t>1914)</a:t>
            </a:r>
            <a:endParaRPr sz="2000">
              <a:latin typeface="Malgun Gothic"/>
              <a:cs typeface="Malgun Gothic"/>
            </a:endParaRPr>
          </a:p>
          <a:p>
            <a:pPr marL="424815" lvl="1" indent="-287020">
              <a:lnSpc>
                <a:spcPct val="100000"/>
              </a:lnSpc>
              <a:spcBef>
                <a:spcPts val="805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전후의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20" dirty="0">
                <a:latin typeface="Malgun Gothic"/>
                <a:cs typeface="Malgun Gothic"/>
              </a:rPr>
              <a:t>입법(1944</a:t>
            </a:r>
            <a:r>
              <a:rPr sz="2000" spc="-15" dirty="0">
                <a:latin typeface="MS UI Gothic"/>
                <a:cs typeface="MS UI Gothic"/>
              </a:rPr>
              <a:t>〜</a:t>
            </a:r>
            <a:r>
              <a:rPr sz="2000" b="1" spc="25" dirty="0">
                <a:latin typeface="Malgun Gothic"/>
                <a:cs typeface="Malgun Gothic"/>
              </a:rPr>
              <a:t>1948)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오늘날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영국형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복지국가의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기반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조성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spc="285" dirty="0">
                <a:latin typeface="Arial MT"/>
                <a:cs typeface="Arial MT"/>
              </a:rPr>
              <a:t>-</a:t>
            </a:r>
            <a:r>
              <a:rPr sz="1000" spc="175" dirty="0">
                <a:latin typeface="Arial MT"/>
                <a:cs typeface="Arial MT"/>
              </a:rPr>
              <a:t> </a:t>
            </a:r>
            <a:fld id="{81D60167-4931-47E6-BA6A-407CBD079E47}" type="slidenum">
              <a:rPr sz="1000" spc="15" dirty="0">
                <a:latin typeface="Arial MT"/>
                <a:cs typeface="Arial MT"/>
              </a:rPr>
              <a:t>1</a:t>
            </a:fld>
            <a:r>
              <a:rPr sz="1000" spc="195" dirty="0">
                <a:latin typeface="Arial MT"/>
                <a:cs typeface="Arial MT"/>
              </a:rPr>
              <a:t> </a:t>
            </a:r>
            <a:r>
              <a:rPr sz="1000" spc="285" dirty="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D6C886-4139-B5C0-3D2E-EF54C0827B71}"/>
              </a:ext>
            </a:extLst>
          </p:cNvPr>
          <p:cNvSpPr txBox="1"/>
          <p:nvPr/>
        </p:nvSpPr>
        <p:spPr>
          <a:xfrm>
            <a:off x="2597150" y="533329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18531B-62C0-B70D-4BDE-26491381618F}"/>
              </a:ext>
            </a:extLst>
          </p:cNvPr>
          <p:cNvSpPr txBox="1"/>
          <p:nvPr/>
        </p:nvSpPr>
        <p:spPr>
          <a:xfrm>
            <a:off x="3816350" y="533329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spc="285" dirty="0">
                <a:latin typeface="Arial MT"/>
                <a:cs typeface="Arial MT"/>
              </a:rPr>
              <a:t>-</a:t>
            </a:r>
            <a:r>
              <a:rPr sz="1000" spc="175" dirty="0">
                <a:latin typeface="Arial MT"/>
                <a:cs typeface="Arial MT"/>
              </a:rPr>
              <a:t> </a:t>
            </a:r>
            <a:fld id="{81D60167-4931-47E6-BA6A-407CBD079E47}" type="slidenum">
              <a:rPr sz="1000" spc="15" dirty="0">
                <a:latin typeface="Arial MT"/>
                <a:cs typeface="Arial MT"/>
              </a:rPr>
              <a:t>2</a:t>
            </a:fld>
            <a:r>
              <a:rPr sz="1000" spc="195" dirty="0">
                <a:latin typeface="Arial MT"/>
                <a:cs typeface="Arial MT"/>
              </a:rPr>
              <a:t> </a:t>
            </a:r>
            <a:r>
              <a:rPr sz="1000" spc="285" dirty="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20275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" dirty="0"/>
              <a:t>제1절.</a:t>
            </a:r>
            <a:r>
              <a:rPr spc="250" dirty="0"/>
              <a:t> </a:t>
            </a:r>
            <a:r>
              <a:rPr spc="-10" dirty="0"/>
              <a:t>초기</a:t>
            </a:r>
            <a:r>
              <a:rPr spc="250" dirty="0"/>
              <a:t> </a:t>
            </a:r>
            <a:r>
              <a:rPr dirty="0"/>
              <a:t>시대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143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1.</a:t>
            </a:r>
            <a:r>
              <a:rPr spc="240" dirty="0"/>
              <a:t> </a:t>
            </a:r>
            <a:r>
              <a:rPr spc="-5" dirty="0"/>
              <a:t>빈곤구제</a:t>
            </a:r>
          </a:p>
          <a:p>
            <a:pPr marL="1270">
              <a:lnSpc>
                <a:spcPct val="100000"/>
              </a:lnSpc>
              <a:spcBef>
                <a:spcPts val="5"/>
              </a:spcBef>
            </a:pPr>
            <a:endParaRPr sz="2200"/>
          </a:p>
          <a:p>
            <a:pPr marL="13970">
              <a:lnSpc>
                <a:spcPct val="100000"/>
              </a:lnSpc>
            </a:pPr>
            <a:r>
              <a:rPr spc="30" dirty="0"/>
              <a:t>1)</a:t>
            </a:r>
            <a:r>
              <a:rPr spc="254" dirty="0"/>
              <a:t> </a:t>
            </a:r>
            <a:r>
              <a:rPr spc="15" dirty="0"/>
              <a:t>구빈법(1601)</a:t>
            </a:r>
          </a:p>
          <a:p>
            <a:pPr marL="1270">
              <a:lnSpc>
                <a:spcPct val="100000"/>
              </a:lnSpc>
              <a:spcBef>
                <a:spcPts val="40"/>
              </a:spcBef>
            </a:pPr>
            <a:endParaRPr sz="1750"/>
          </a:p>
          <a:p>
            <a:pPr marL="273685" marR="5080" indent="-260350">
              <a:lnSpc>
                <a:spcPct val="132900"/>
              </a:lnSpc>
              <a:buFont typeface="MS UI Gothic"/>
              <a:buChar char="○"/>
              <a:tabLst>
                <a:tab pos="273685" algn="l"/>
                <a:tab pos="274320" algn="l"/>
                <a:tab pos="662305" algn="l"/>
                <a:tab pos="1557020" algn="l"/>
                <a:tab pos="3093085" algn="l"/>
                <a:tab pos="6492875" algn="l"/>
                <a:tab pos="8028940" algn="l"/>
              </a:tabLst>
            </a:pPr>
            <a:r>
              <a:rPr dirty="0"/>
              <a:t>각	</a:t>
            </a:r>
            <a:r>
              <a:rPr spc="-15" dirty="0"/>
              <a:t>교</a:t>
            </a:r>
            <a:r>
              <a:rPr dirty="0"/>
              <a:t>구가	</a:t>
            </a:r>
            <a:r>
              <a:rPr spc="-15" dirty="0"/>
              <a:t>빈</a:t>
            </a:r>
            <a:r>
              <a:rPr dirty="0"/>
              <a:t>민에</a:t>
            </a:r>
            <a:r>
              <a:rPr spc="335" dirty="0"/>
              <a:t> </a:t>
            </a:r>
            <a:r>
              <a:rPr dirty="0"/>
              <a:t>대한	</a:t>
            </a:r>
            <a:r>
              <a:rPr spc="-15" dirty="0"/>
              <a:t>책</a:t>
            </a:r>
            <a:r>
              <a:rPr dirty="0"/>
              <a:t>임을</a:t>
            </a:r>
            <a:r>
              <a:rPr spc="335" dirty="0"/>
              <a:t> </a:t>
            </a:r>
            <a:r>
              <a:rPr dirty="0"/>
              <a:t>맡도록</a:t>
            </a:r>
            <a:r>
              <a:rPr spc="335" dirty="0"/>
              <a:t> </a:t>
            </a:r>
            <a:r>
              <a:rPr dirty="0"/>
              <a:t>하고</a:t>
            </a:r>
            <a:r>
              <a:rPr spc="60" dirty="0"/>
              <a:t>,</a:t>
            </a:r>
            <a:r>
              <a:rPr spc="340" dirty="0"/>
              <a:t> </a:t>
            </a:r>
            <a:r>
              <a:rPr dirty="0"/>
              <a:t>빈</a:t>
            </a:r>
            <a:r>
              <a:rPr spc="-15" dirty="0"/>
              <a:t>민</a:t>
            </a:r>
            <a:r>
              <a:rPr dirty="0"/>
              <a:t>을	세</a:t>
            </a:r>
            <a:r>
              <a:rPr spc="335" dirty="0"/>
              <a:t> </a:t>
            </a:r>
            <a:r>
              <a:rPr dirty="0"/>
              <a:t>집단</a:t>
            </a:r>
            <a:r>
              <a:rPr spc="-15" dirty="0"/>
              <a:t>으</a:t>
            </a:r>
            <a:r>
              <a:rPr dirty="0"/>
              <a:t>로	분류  하여</a:t>
            </a:r>
            <a:r>
              <a:rPr spc="285" dirty="0"/>
              <a:t> </a:t>
            </a:r>
            <a:r>
              <a:rPr spc="-5" dirty="0"/>
              <a:t>차별적으로</a:t>
            </a:r>
            <a:r>
              <a:rPr spc="290" dirty="0"/>
              <a:t> </a:t>
            </a:r>
            <a:r>
              <a:rPr spc="-10" dirty="0"/>
              <a:t>대우</a:t>
            </a:r>
          </a:p>
          <a:p>
            <a:pPr marL="426084" lvl="1" indent="-287020">
              <a:lnSpc>
                <a:spcPct val="100000"/>
              </a:lnSpc>
              <a:spcBef>
                <a:spcPts val="805"/>
              </a:spcBef>
              <a:buChar char="-"/>
              <a:tabLst>
                <a:tab pos="426720" algn="l"/>
              </a:tabLst>
            </a:pPr>
            <a:r>
              <a:rPr sz="2000" b="1" spc="-5" dirty="0">
                <a:latin typeface="Malgun Gothic"/>
                <a:cs typeface="Malgun Gothic"/>
              </a:rPr>
              <a:t>근로능력이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없는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노약자와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병자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구빈원에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수용</a:t>
            </a:r>
            <a:endParaRPr sz="2000">
              <a:latin typeface="Malgun Gothic"/>
              <a:cs typeface="Malgun Gothic"/>
            </a:endParaRPr>
          </a:p>
          <a:p>
            <a:pPr marL="426084" lvl="1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6720" algn="l"/>
              </a:tabLst>
            </a:pPr>
            <a:r>
              <a:rPr sz="2000" b="1" spc="-5" dirty="0">
                <a:latin typeface="Malgun Gothic"/>
                <a:cs typeface="Malgun Gothic"/>
              </a:rPr>
              <a:t>근로능력이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있는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건강한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빈자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교정원에서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일자리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제공</a:t>
            </a:r>
            <a:endParaRPr sz="2000">
              <a:latin typeface="Malgun Gothic"/>
              <a:cs typeface="Malgun Gothic"/>
            </a:endParaRPr>
          </a:p>
          <a:p>
            <a:pPr marL="426084" lvl="1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6720" algn="l"/>
              </a:tabLst>
            </a:pPr>
            <a:r>
              <a:rPr sz="2000" b="1" spc="-5" dirty="0">
                <a:latin typeface="Malgun Gothic"/>
                <a:cs typeface="Malgun Gothic"/>
              </a:rPr>
              <a:t>일하기를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거부하는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건강한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형벌</a:t>
            </a:r>
            <a:endParaRPr sz="2000">
              <a:latin typeface="Malgun Gothic"/>
              <a:cs typeface="Malgun Gothic"/>
            </a:endParaRPr>
          </a:p>
          <a:p>
            <a:pPr marL="436880" marR="6350" lvl="1" indent="-297180">
              <a:lnSpc>
                <a:spcPct val="133400"/>
              </a:lnSpc>
              <a:buChar char="-"/>
              <a:tabLst>
                <a:tab pos="436880" algn="l"/>
                <a:tab pos="437515" algn="l"/>
                <a:tab pos="902335" algn="l"/>
                <a:tab pos="1546860" algn="l"/>
                <a:tab pos="1938020" algn="l"/>
                <a:tab pos="2329180" algn="l"/>
                <a:tab pos="2974340" algn="l"/>
                <a:tab pos="4126865" algn="l"/>
                <a:tab pos="5606415" algn="l"/>
                <a:tab pos="7774305" algn="l"/>
              </a:tabLst>
            </a:pPr>
            <a:r>
              <a:rPr sz="2000" b="1" dirty="0">
                <a:latin typeface="Malgun Gothic"/>
                <a:cs typeface="Malgun Gothic"/>
              </a:rPr>
              <a:t>즉</a:t>
            </a:r>
            <a:r>
              <a:rPr sz="2000" b="1" spc="60" dirty="0">
                <a:latin typeface="Malgun Gothic"/>
                <a:cs typeface="Malgun Gothic"/>
              </a:rPr>
              <a:t>,	</a:t>
            </a:r>
            <a:r>
              <a:rPr sz="2000" b="1" spc="-15" dirty="0">
                <a:latin typeface="Malgun Gothic"/>
                <a:cs typeface="Malgun Gothic"/>
              </a:rPr>
              <a:t>일</a:t>
            </a:r>
            <a:r>
              <a:rPr sz="2000" b="1" dirty="0">
                <a:latin typeface="Malgun Gothic"/>
                <a:cs typeface="Malgun Gothic"/>
              </a:rPr>
              <a:t>을	할	수	없는	극</a:t>
            </a:r>
            <a:r>
              <a:rPr sz="2000" b="1" spc="-15" dirty="0">
                <a:latin typeface="Malgun Gothic"/>
                <a:cs typeface="Malgun Gothic"/>
              </a:rPr>
              <a:t>빈</a:t>
            </a:r>
            <a:r>
              <a:rPr sz="2000" b="1" dirty="0">
                <a:latin typeface="Malgun Gothic"/>
                <a:cs typeface="Malgun Gothic"/>
              </a:rPr>
              <a:t>자는	보</a:t>
            </a:r>
            <a:r>
              <a:rPr sz="2000" b="1" spc="-15" dirty="0">
                <a:latin typeface="Malgun Gothic"/>
                <a:cs typeface="Malgun Gothic"/>
              </a:rPr>
              <a:t>호</a:t>
            </a:r>
            <a:r>
              <a:rPr sz="2000" b="1" dirty="0">
                <a:latin typeface="Malgun Gothic"/>
                <a:cs typeface="Malgun Gothic"/>
              </a:rPr>
              <a:t>하지</a:t>
            </a:r>
            <a:r>
              <a:rPr sz="2000" b="1" spc="-15" dirty="0">
                <a:latin typeface="Malgun Gothic"/>
                <a:cs typeface="Malgun Gothic"/>
              </a:rPr>
              <a:t>만</a:t>
            </a:r>
            <a:r>
              <a:rPr sz="2000" b="1" spc="60" dirty="0">
                <a:latin typeface="Malgun Gothic"/>
                <a:cs typeface="Malgun Gothic"/>
              </a:rPr>
              <a:t>,</a:t>
            </a:r>
            <a:r>
              <a:rPr sz="2000" b="1" dirty="0">
                <a:latin typeface="Malgun Gothic"/>
                <a:cs typeface="Malgun Gothic"/>
              </a:rPr>
              <a:t>	근로</a:t>
            </a:r>
            <a:r>
              <a:rPr sz="2000" b="1" spc="-15" dirty="0">
                <a:latin typeface="Malgun Gothic"/>
                <a:cs typeface="Malgun Gothic"/>
              </a:rPr>
              <a:t>능</a:t>
            </a:r>
            <a:r>
              <a:rPr sz="2000" b="1" dirty="0">
                <a:latin typeface="Malgun Gothic"/>
                <a:cs typeface="Malgun Gothic"/>
              </a:rPr>
              <a:t>력자</a:t>
            </a:r>
            <a:r>
              <a:rPr sz="2000" b="1" spc="-15" dirty="0">
                <a:latin typeface="Malgun Gothic"/>
                <a:cs typeface="Malgun Gothic"/>
              </a:rPr>
              <a:t>에</a:t>
            </a:r>
            <a:r>
              <a:rPr sz="2000" b="1" dirty="0">
                <a:latin typeface="Malgun Gothic"/>
                <a:cs typeface="Malgun Gothic"/>
              </a:rPr>
              <a:t>게는	일</a:t>
            </a:r>
            <a:r>
              <a:rPr sz="2000" b="1" spc="-15" dirty="0">
                <a:latin typeface="Malgun Gothic"/>
                <a:cs typeface="Malgun Gothic"/>
              </a:rPr>
              <a:t>자</a:t>
            </a:r>
            <a:r>
              <a:rPr sz="2000" b="1" dirty="0">
                <a:latin typeface="Malgun Gothic"/>
                <a:cs typeface="Malgun Gothic"/>
              </a:rPr>
              <a:t>리  를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제공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spc="285" dirty="0">
                <a:latin typeface="Arial MT"/>
                <a:cs typeface="Arial MT"/>
              </a:rPr>
              <a:t>-</a:t>
            </a:r>
            <a:r>
              <a:rPr sz="1000" spc="175" dirty="0">
                <a:latin typeface="Arial MT"/>
                <a:cs typeface="Arial MT"/>
              </a:rPr>
              <a:t> </a:t>
            </a:r>
            <a:fld id="{81D60167-4931-47E6-BA6A-407CBD079E47}" type="slidenum">
              <a:rPr sz="1000" spc="15" dirty="0">
                <a:latin typeface="Arial MT"/>
                <a:cs typeface="Arial MT"/>
              </a:rPr>
              <a:t>3</a:t>
            </a:fld>
            <a:r>
              <a:rPr sz="1000" spc="195" dirty="0">
                <a:latin typeface="Arial MT"/>
                <a:cs typeface="Arial MT"/>
              </a:rPr>
              <a:t> </a:t>
            </a:r>
            <a:r>
              <a:rPr sz="1000" spc="285" dirty="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66636" y="1108965"/>
            <a:ext cx="6486525" cy="367982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890"/>
              </a:spcBef>
              <a:buFont typeface="MS UI Gothic"/>
              <a:buChar char="○"/>
              <a:tabLst>
                <a:tab pos="266700" algn="l"/>
                <a:tab pos="267335" algn="l"/>
              </a:tabLst>
            </a:pPr>
            <a:r>
              <a:rPr sz="2000" b="1" spc="-30" dirty="0">
                <a:latin typeface="Malgun Gothic"/>
                <a:cs typeface="Malgun Gothic"/>
              </a:rPr>
              <a:t>Speenhamland</a:t>
            </a:r>
            <a:r>
              <a:rPr sz="2000" b="1" spc="240" dirty="0">
                <a:latin typeface="Malgun Gothic"/>
                <a:cs typeface="Malgun Gothic"/>
              </a:rPr>
              <a:t> </a:t>
            </a:r>
            <a:r>
              <a:rPr sz="2000" b="1" spc="25" dirty="0">
                <a:latin typeface="Malgun Gothic"/>
                <a:cs typeface="Malgun Gothic"/>
              </a:rPr>
              <a:t>system</a:t>
            </a:r>
            <a:endParaRPr sz="2000" dirty="0">
              <a:latin typeface="Malgun Gothic"/>
              <a:cs typeface="Malgun Gothic"/>
            </a:endParaRPr>
          </a:p>
          <a:p>
            <a:pPr marL="424815" lvl="1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sz="2000" b="1" dirty="0">
                <a:latin typeface="Malgun Gothic"/>
                <a:cs typeface="Malgun Gothic"/>
              </a:rPr>
              <a:t>빵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가격에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연동하여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임금보조금을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40" dirty="0">
                <a:latin typeface="Malgun Gothic"/>
                <a:cs typeface="Malgun Gothic"/>
              </a:rPr>
              <a:t>지원: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물가연동제</a:t>
            </a:r>
            <a:endParaRPr sz="2000" dirty="0">
              <a:latin typeface="Malgun Gothic"/>
              <a:cs typeface="Malgun Gothic"/>
            </a:endParaRPr>
          </a:p>
          <a:p>
            <a:pPr marL="424815" lvl="1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취업자에게까지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사회적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원조를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확대</a:t>
            </a:r>
            <a:endParaRPr sz="2000" dirty="0">
              <a:latin typeface="Malgun Gothic"/>
              <a:cs typeface="Malgun Gothic"/>
            </a:endParaRPr>
          </a:p>
          <a:p>
            <a:pPr marL="424815" lvl="1" indent="-287020">
              <a:lnSpc>
                <a:spcPct val="100000"/>
              </a:lnSpc>
              <a:spcBef>
                <a:spcPts val="805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사회적</a:t>
            </a:r>
            <a:r>
              <a:rPr sz="2000" b="1" spc="26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낙인효과(stigma)를</a:t>
            </a:r>
            <a:r>
              <a:rPr sz="2000" b="1" spc="26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최소화</a:t>
            </a:r>
            <a:endParaRPr sz="2000" dirty="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buFont typeface="Malgun Gothic"/>
              <a:buChar char="-"/>
            </a:pPr>
            <a:endParaRPr sz="2200" dirty="0">
              <a:latin typeface="Malgun Gothic"/>
              <a:cs typeface="Malgun Gothic"/>
            </a:endParaRPr>
          </a:p>
          <a:p>
            <a:pPr marL="424815" lvl="1" indent="-287020">
              <a:lnSpc>
                <a:spcPct val="100000"/>
              </a:lnSpc>
              <a:buChar char="-"/>
              <a:tabLst>
                <a:tab pos="425450" algn="l"/>
              </a:tabLst>
            </a:pPr>
            <a:r>
              <a:rPr sz="2000" b="1" dirty="0">
                <a:latin typeface="Malgun Gothic"/>
                <a:cs typeface="Malgun Gothic"/>
              </a:rPr>
              <a:t>비판</a:t>
            </a:r>
            <a:endParaRPr sz="2000" dirty="0">
              <a:latin typeface="Malgun Gothic"/>
              <a:cs typeface="Malgun Gothic"/>
            </a:endParaRPr>
          </a:p>
          <a:p>
            <a:pPr marL="393065">
              <a:lnSpc>
                <a:spcPct val="100000"/>
              </a:lnSpc>
              <a:spcBef>
                <a:spcPts val="805"/>
              </a:spcBef>
            </a:pPr>
            <a:r>
              <a:rPr sz="2000" spc="100" dirty="0">
                <a:latin typeface="MS UI Gothic"/>
                <a:cs typeface="MS UI Gothic"/>
              </a:rPr>
              <a:t>▸</a:t>
            </a:r>
            <a:r>
              <a:rPr sz="2000" b="1" spc="100" dirty="0">
                <a:latin typeface="Malgun Gothic"/>
                <a:cs typeface="Malgun Gothic"/>
              </a:rPr>
              <a:t>Bentham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수혜자들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사이에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도덕적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타락의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원인</a:t>
            </a:r>
            <a:endParaRPr sz="2000" dirty="0">
              <a:latin typeface="Malgun Gothic"/>
              <a:cs typeface="Malgun Gothic"/>
            </a:endParaRPr>
          </a:p>
          <a:p>
            <a:pPr marL="393065">
              <a:lnSpc>
                <a:spcPct val="100000"/>
              </a:lnSpc>
              <a:spcBef>
                <a:spcPts val="790"/>
              </a:spcBef>
            </a:pPr>
            <a:r>
              <a:rPr sz="2000" spc="95" dirty="0">
                <a:latin typeface="MS UI Gothic"/>
                <a:cs typeface="MS UI Gothic"/>
              </a:rPr>
              <a:t>▸</a:t>
            </a:r>
            <a:r>
              <a:rPr sz="2000" b="1" spc="95" dirty="0">
                <a:latin typeface="Malgun Gothic"/>
                <a:cs typeface="Malgun Gothic"/>
              </a:rPr>
              <a:t>Malthus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빈민구제로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인한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과도한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인구증가</a:t>
            </a:r>
            <a:endParaRPr sz="2000" dirty="0">
              <a:latin typeface="Malgun Gothic"/>
              <a:cs typeface="Malgun Gothic"/>
            </a:endParaRPr>
          </a:p>
          <a:p>
            <a:pPr marL="393065">
              <a:lnSpc>
                <a:spcPct val="100000"/>
              </a:lnSpc>
              <a:spcBef>
                <a:spcPts val="800"/>
              </a:spcBef>
            </a:pPr>
            <a:r>
              <a:rPr sz="2000" spc="130" dirty="0">
                <a:latin typeface="MS UI Gothic"/>
                <a:cs typeface="MS UI Gothic"/>
              </a:rPr>
              <a:t>▸</a:t>
            </a:r>
            <a:r>
              <a:rPr sz="2000" b="1" spc="130" dirty="0">
                <a:latin typeface="Malgun Gothic"/>
                <a:cs typeface="Malgun Gothic"/>
              </a:rPr>
              <a:t>Ricardo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임금을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낮추고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빈곤을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악화</a:t>
            </a:r>
            <a:endParaRPr sz="20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spc="285" dirty="0">
                <a:latin typeface="Arial MT"/>
                <a:cs typeface="Arial MT"/>
              </a:rPr>
              <a:t>-</a:t>
            </a:r>
            <a:r>
              <a:rPr sz="1000" spc="175" dirty="0">
                <a:latin typeface="Arial MT"/>
                <a:cs typeface="Arial MT"/>
              </a:rPr>
              <a:t> </a:t>
            </a:r>
            <a:fld id="{81D60167-4931-47E6-BA6A-407CBD079E47}" type="slidenum">
              <a:rPr sz="1000" spc="15" dirty="0">
                <a:latin typeface="Arial MT"/>
                <a:cs typeface="Arial MT"/>
              </a:rPr>
              <a:t>4</a:t>
            </a:fld>
            <a:r>
              <a:rPr sz="1000" spc="195" dirty="0">
                <a:latin typeface="Arial MT"/>
                <a:cs typeface="Arial MT"/>
              </a:rPr>
              <a:t> </a:t>
            </a:r>
            <a:r>
              <a:rPr sz="1000" spc="285" dirty="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24644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" dirty="0"/>
              <a:t>2)</a:t>
            </a:r>
            <a:r>
              <a:rPr spc="215" dirty="0"/>
              <a:t> </a:t>
            </a:r>
            <a:r>
              <a:rPr spc="15" dirty="0"/>
              <a:t>수정구빈법(1834)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1919294"/>
            <a:ext cx="8547735" cy="4494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1145" marR="5080" indent="-259079">
              <a:lnSpc>
                <a:spcPct val="133400"/>
              </a:lnSpc>
              <a:spcBef>
                <a:spcPts val="100"/>
              </a:spcBef>
              <a:buFont typeface="MS UI Gothic"/>
              <a:buChar char="○"/>
              <a:tabLst>
                <a:tab pos="271145" algn="l"/>
                <a:tab pos="271780" algn="l"/>
              </a:tabLst>
            </a:pPr>
            <a:r>
              <a:rPr sz="2000" b="1" spc="15" dirty="0">
                <a:latin typeface="Malgun Gothic"/>
                <a:cs typeface="Malgun Gothic"/>
              </a:rPr>
              <a:t>1601년의</a:t>
            </a:r>
            <a:r>
              <a:rPr sz="2000" b="1" spc="33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구빈법과는</a:t>
            </a:r>
            <a:r>
              <a:rPr sz="2000" b="1" spc="33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달리</a:t>
            </a:r>
            <a:r>
              <a:rPr sz="2000" b="1" spc="33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낙인과</a:t>
            </a:r>
            <a:r>
              <a:rPr sz="2000" b="1" spc="33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작업장</a:t>
            </a:r>
            <a:r>
              <a:rPr sz="2000" b="1" spc="33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검사</a:t>
            </a:r>
            <a:r>
              <a:rPr sz="2000" b="1" spc="33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등을</a:t>
            </a:r>
            <a:r>
              <a:rPr sz="2000" b="1" spc="33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통해</a:t>
            </a:r>
            <a:r>
              <a:rPr sz="2000" b="1" spc="32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빈곤구제의 </a:t>
            </a:r>
            <a:r>
              <a:rPr sz="2000" b="1" spc="-6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신청을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억제</a:t>
            </a:r>
            <a:endParaRPr sz="2000">
              <a:latin typeface="Malgun Gothic"/>
              <a:cs typeface="Malgun Gothic"/>
            </a:endParaRPr>
          </a:p>
          <a:p>
            <a:pPr marL="310515" marR="5080" indent="-298450">
              <a:lnSpc>
                <a:spcPts val="3200"/>
              </a:lnSpc>
              <a:spcBef>
                <a:spcPts val="229"/>
              </a:spcBef>
              <a:buFont typeface="MS UI Gothic"/>
              <a:buChar char="○"/>
              <a:tabLst>
                <a:tab pos="310515" algn="l"/>
                <a:tab pos="311150" algn="l"/>
                <a:tab pos="1242060" algn="l"/>
                <a:tab pos="4140835" algn="l"/>
                <a:tab pos="5074285" algn="l"/>
                <a:tab pos="6259830" algn="l"/>
                <a:tab pos="7266305" algn="l"/>
              </a:tabLst>
            </a:pPr>
            <a:r>
              <a:rPr sz="2000" b="1" spc="-15" dirty="0">
                <a:latin typeface="Malgun Gothic"/>
                <a:cs typeface="Malgun Gothic"/>
              </a:rPr>
              <a:t>고</a:t>
            </a:r>
            <a:r>
              <a:rPr sz="2000" b="1" dirty="0">
                <a:latin typeface="Malgun Gothic"/>
                <a:cs typeface="Malgun Gothic"/>
              </a:rPr>
              <a:t>전파	경</a:t>
            </a:r>
            <a:r>
              <a:rPr sz="2000" b="1" spc="-15" dirty="0">
                <a:latin typeface="Malgun Gothic"/>
                <a:cs typeface="Malgun Gothic"/>
              </a:rPr>
              <a:t>제</a:t>
            </a:r>
            <a:r>
              <a:rPr sz="2000" b="1" dirty="0">
                <a:latin typeface="Malgun Gothic"/>
                <a:cs typeface="Malgun Gothic"/>
              </a:rPr>
              <a:t>학</a:t>
            </a:r>
            <a:r>
              <a:rPr sz="2000" b="1" spc="35" dirty="0">
                <a:latin typeface="Malgun Gothic"/>
                <a:cs typeface="Malgun Gothic"/>
              </a:rPr>
              <a:t>(</a:t>
            </a:r>
            <a:r>
              <a:rPr sz="2000" b="1" spc="-15" dirty="0">
                <a:latin typeface="Malgun Gothic"/>
                <a:cs typeface="Malgun Gothic"/>
              </a:rPr>
              <a:t>자</a:t>
            </a:r>
            <a:r>
              <a:rPr sz="2000" b="1" dirty="0">
                <a:latin typeface="Malgun Gothic"/>
                <a:cs typeface="Malgun Gothic"/>
              </a:rPr>
              <a:t>유방</a:t>
            </a:r>
            <a:r>
              <a:rPr sz="2000" b="1" spc="-15" dirty="0">
                <a:latin typeface="Malgun Gothic"/>
                <a:cs typeface="Malgun Gothic"/>
              </a:rPr>
              <a:t>임</a:t>
            </a:r>
            <a:r>
              <a:rPr sz="2000" b="1" dirty="0">
                <a:latin typeface="Malgun Gothic"/>
                <a:cs typeface="Malgun Gothic"/>
              </a:rPr>
              <a:t>주의</a:t>
            </a:r>
            <a:r>
              <a:rPr sz="2000" b="1" spc="20" dirty="0">
                <a:latin typeface="Malgun Gothic"/>
                <a:cs typeface="Malgun Gothic"/>
              </a:rPr>
              <a:t>)</a:t>
            </a:r>
            <a:r>
              <a:rPr sz="2000" b="1" dirty="0">
                <a:latin typeface="Malgun Gothic"/>
                <a:cs typeface="Malgun Gothic"/>
              </a:rPr>
              <a:t>을	이론적	</a:t>
            </a:r>
            <a:r>
              <a:rPr sz="2000" b="1" spc="-15" dirty="0">
                <a:latin typeface="Malgun Gothic"/>
                <a:cs typeface="Malgun Gothic"/>
              </a:rPr>
              <a:t>배</a:t>
            </a:r>
            <a:r>
              <a:rPr sz="2000" b="1" dirty="0">
                <a:latin typeface="Malgun Gothic"/>
                <a:cs typeface="Malgun Gothic"/>
              </a:rPr>
              <a:t>경으로	</a:t>
            </a:r>
            <a:r>
              <a:rPr sz="2000" b="1" spc="-15" dirty="0">
                <a:latin typeface="Malgun Gothic"/>
                <a:cs typeface="Malgun Gothic"/>
              </a:rPr>
              <a:t>하</a:t>
            </a:r>
            <a:r>
              <a:rPr sz="2000" b="1" dirty="0">
                <a:latin typeface="Malgun Gothic"/>
                <a:cs typeface="Malgun Gothic"/>
              </a:rPr>
              <a:t>지만</a:t>
            </a:r>
            <a:r>
              <a:rPr sz="2000" b="1" spc="60" dirty="0">
                <a:latin typeface="Malgun Gothic"/>
                <a:cs typeface="Malgun Gothic"/>
              </a:rPr>
              <a:t>,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5" dirty="0">
                <a:latin typeface="Malgun Gothic"/>
                <a:cs typeface="Malgun Gothic"/>
              </a:rPr>
              <a:t>예</a:t>
            </a:r>
            <a:r>
              <a:rPr sz="2000" b="1" dirty="0">
                <a:latin typeface="Malgun Gothic"/>
                <a:cs typeface="Malgun Gothic"/>
              </a:rPr>
              <a:t>외적</a:t>
            </a:r>
            <a:r>
              <a:rPr sz="2000" b="1" spc="-15" dirty="0">
                <a:latin typeface="Malgun Gothic"/>
                <a:cs typeface="Malgun Gothic"/>
              </a:rPr>
              <a:t>으</a:t>
            </a:r>
            <a:r>
              <a:rPr sz="2000" b="1" dirty="0">
                <a:latin typeface="Malgun Gothic"/>
                <a:cs typeface="Malgun Gothic"/>
              </a:rPr>
              <a:t>로  </a:t>
            </a:r>
            <a:r>
              <a:rPr sz="2000" b="1" spc="15" dirty="0">
                <a:latin typeface="Malgun Gothic"/>
                <a:cs typeface="Malgun Gothic"/>
              </a:rPr>
              <a:t>고아,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5" dirty="0">
                <a:latin typeface="Malgun Gothic"/>
                <a:cs typeface="Malgun Gothic"/>
              </a:rPr>
              <a:t>시각장애인,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신체장애인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등에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대해서는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사회보장을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주장</a:t>
            </a:r>
            <a:endParaRPr sz="20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spcBef>
                <a:spcPts val="565"/>
              </a:spcBef>
              <a:buFont typeface="MS UI Gothic"/>
              <a:buChar char="○"/>
              <a:tabLst>
                <a:tab pos="266700" algn="l"/>
                <a:tab pos="267335" algn="l"/>
              </a:tabLst>
            </a:pPr>
            <a:r>
              <a:rPr sz="2000" b="1" spc="-5" dirty="0">
                <a:latin typeface="Malgun Gothic"/>
                <a:cs typeface="Malgun Gothic"/>
              </a:rPr>
              <a:t>새로운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제도가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지향해야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할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요소</a:t>
            </a:r>
            <a:endParaRPr sz="2000">
              <a:latin typeface="Malgun Gothic"/>
              <a:cs typeface="Malgun Gothic"/>
            </a:endParaRPr>
          </a:p>
          <a:p>
            <a:pPr marL="424815" lvl="1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열등처우의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5" dirty="0">
                <a:latin typeface="Malgun Gothic"/>
                <a:cs typeface="Malgun Gothic"/>
              </a:rPr>
              <a:t>원리(principle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45" dirty="0">
                <a:latin typeface="Malgun Gothic"/>
                <a:cs typeface="Malgun Gothic"/>
              </a:rPr>
              <a:t>of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75" dirty="0">
                <a:latin typeface="Malgun Gothic"/>
                <a:cs typeface="Malgun Gothic"/>
              </a:rPr>
              <a:t>less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spc="10" dirty="0">
                <a:latin typeface="Malgun Gothic"/>
                <a:cs typeface="Malgun Gothic"/>
              </a:rPr>
              <a:t>eligibility)</a:t>
            </a:r>
            <a:endParaRPr sz="2000">
              <a:latin typeface="Malgun Gothic"/>
              <a:cs typeface="Malgun Gothic"/>
            </a:endParaRPr>
          </a:p>
          <a:p>
            <a:pPr marL="455295" marR="5080" lvl="1" indent="-316865">
              <a:lnSpc>
                <a:spcPct val="133400"/>
              </a:lnSpc>
              <a:buChar char="-"/>
              <a:tabLst>
                <a:tab pos="438784" algn="l"/>
                <a:tab pos="439420" algn="l"/>
                <a:tab pos="1341120" algn="l"/>
                <a:tab pos="3409950" algn="l"/>
                <a:tab pos="4192904" algn="l"/>
                <a:tab pos="5347970" algn="l"/>
                <a:tab pos="7266305" algn="l"/>
              </a:tabLst>
            </a:pPr>
            <a:r>
              <a:rPr sz="2000" b="1" dirty="0">
                <a:latin typeface="Malgun Gothic"/>
                <a:cs typeface="Malgun Gothic"/>
              </a:rPr>
              <a:t>작업장	검</a:t>
            </a:r>
            <a:r>
              <a:rPr sz="2000" b="1" spc="-15" dirty="0">
                <a:latin typeface="Malgun Gothic"/>
                <a:cs typeface="Malgun Gothic"/>
              </a:rPr>
              <a:t>사</a:t>
            </a:r>
            <a:r>
              <a:rPr sz="2000" b="1" spc="45" dirty="0">
                <a:latin typeface="Malgun Gothic"/>
                <a:cs typeface="Malgun Gothic"/>
              </a:rPr>
              <a:t>(</a:t>
            </a:r>
            <a:r>
              <a:rPr sz="2000" b="1" spc="10" dirty="0">
                <a:latin typeface="Malgun Gothic"/>
                <a:cs typeface="Malgun Gothic"/>
              </a:rPr>
              <a:t>w</a:t>
            </a:r>
            <a:r>
              <a:rPr sz="2000" b="1" spc="-80" dirty="0">
                <a:latin typeface="Malgun Gothic"/>
                <a:cs typeface="Malgun Gothic"/>
              </a:rPr>
              <a:t>o</a:t>
            </a:r>
            <a:r>
              <a:rPr sz="2000" b="1" spc="95" dirty="0">
                <a:latin typeface="Malgun Gothic"/>
                <a:cs typeface="Malgun Gothic"/>
              </a:rPr>
              <a:t>r</a:t>
            </a:r>
            <a:r>
              <a:rPr sz="2000" b="1" spc="25" dirty="0">
                <a:latin typeface="Malgun Gothic"/>
                <a:cs typeface="Malgun Gothic"/>
              </a:rPr>
              <a:t>k</a:t>
            </a:r>
            <a:r>
              <a:rPr sz="2000" b="1" spc="-65" dirty="0">
                <a:latin typeface="Malgun Gothic"/>
                <a:cs typeface="Malgun Gothic"/>
              </a:rPr>
              <a:t>h</a:t>
            </a:r>
            <a:r>
              <a:rPr sz="2000" b="1" spc="-80" dirty="0">
                <a:latin typeface="Malgun Gothic"/>
                <a:cs typeface="Malgun Gothic"/>
              </a:rPr>
              <a:t>ou</a:t>
            </a:r>
            <a:r>
              <a:rPr sz="2000" b="1" spc="105" dirty="0">
                <a:latin typeface="Malgun Gothic"/>
                <a:cs typeface="Malgun Gothic"/>
              </a:rPr>
              <a:t>s</a:t>
            </a:r>
            <a:r>
              <a:rPr sz="2000" b="1" spc="50" dirty="0">
                <a:latin typeface="Malgun Gothic"/>
                <a:cs typeface="Malgun Gothic"/>
              </a:rPr>
              <a:t>e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55" dirty="0">
                <a:latin typeface="Malgun Gothic"/>
                <a:cs typeface="Malgun Gothic"/>
              </a:rPr>
              <a:t>t</a:t>
            </a:r>
            <a:r>
              <a:rPr sz="2000" b="1" spc="55" dirty="0">
                <a:latin typeface="Malgun Gothic"/>
                <a:cs typeface="Malgun Gothic"/>
              </a:rPr>
              <a:t>e</a:t>
            </a:r>
            <a:r>
              <a:rPr sz="2000" b="1" spc="105" dirty="0">
                <a:latin typeface="Malgun Gothic"/>
                <a:cs typeface="Malgun Gothic"/>
              </a:rPr>
              <a:t>s</a:t>
            </a:r>
            <a:r>
              <a:rPr sz="2000" b="1" spc="-55" dirty="0">
                <a:latin typeface="Malgun Gothic"/>
                <a:cs typeface="Malgun Gothic"/>
              </a:rPr>
              <a:t>t</a:t>
            </a:r>
            <a:r>
              <a:rPr sz="2000" b="1" spc="35" dirty="0">
                <a:latin typeface="Malgun Gothic"/>
                <a:cs typeface="Malgun Gothic"/>
              </a:rPr>
              <a:t>)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dirty="0">
                <a:latin typeface="Malgun Gothic"/>
                <a:cs typeface="Malgun Gothic"/>
              </a:rPr>
              <a:t>	작</a:t>
            </a:r>
            <a:r>
              <a:rPr sz="2000" b="1" spc="-15" dirty="0">
                <a:latin typeface="Malgun Gothic"/>
                <a:cs typeface="Malgun Gothic"/>
              </a:rPr>
              <a:t>업</a:t>
            </a:r>
            <a:r>
              <a:rPr sz="2000" b="1" dirty="0">
                <a:latin typeface="Malgun Gothic"/>
                <a:cs typeface="Malgun Gothic"/>
              </a:rPr>
              <a:t>장은	저임</a:t>
            </a:r>
            <a:r>
              <a:rPr sz="2000" b="1" spc="-15" dirty="0">
                <a:latin typeface="Malgun Gothic"/>
                <a:cs typeface="Malgun Gothic"/>
              </a:rPr>
              <a:t>금</a:t>
            </a:r>
            <a:r>
              <a:rPr sz="2000" b="1" dirty="0">
                <a:latin typeface="Malgun Gothic"/>
                <a:cs typeface="Malgun Gothic"/>
              </a:rPr>
              <a:t>노동</a:t>
            </a:r>
            <a:r>
              <a:rPr sz="2000" b="1" spc="-15" dirty="0">
                <a:latin typeface="Malgun Gothic"/>
                <a:cs typeface="Malgun Gothic"/>
              </a:rPr>
              <a:t>자</a:t>
            </a:r>
            <a:r>
              <a:rPr sz="2000" b="1" dirty="0">
                <a:latin typeface="Malgun Gothic"/>
                <a:cs typeface="Malgun Gothic"/>
              </a:rPr>
              <a:t>의	</a:t>
            </a:r>
            <a:r>
              <a:rPr sz="2000" b="1" spc="-15" dirty="0">
                <a:latin typeface="Malgun Gothic"/>
                <a:cs typeface="Malgun Gothic"/>
              </a:rPr>
              <a:t>생</a:t>
            </a:r>
            <a:r>
              <a:rPr sz="2000" b="1" dirty="0">
                <a:latin typeface="Malgun Gothic"/>
                <a:cs typeface="Malgun Gothic"/>
              </a:rPr>
              <a:t>활수</a:t>
            </a:r>
            <a:r>
              <a:rPr sz="2000" b="1" spc="-15" dirty="0">
                <a:latin typeface="Malgun Gothic"/>
                <a:cs typeface="Malgun Gothic"/>
              </a:rPr>
              <a:t>준</a:t>
            </a:r>
            <a:r>
              <a:rPr sz="2000" b="1" dirty="0">
                <a:latin typeface="Malgun Gothic"/>
                <a:cs typeface="Malgun Gothic"/>
              </a:rPr>
              <a:t>보  다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상대적으로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열등한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수준에서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보호를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제공</a:t>
            </a:r>
            <a:endParaRPr sz="2000">
              <a:latin typeface="Malgun Gothic"/>
              <a:cs typeface="Malgun Gothic"/>
            </a:endParaRPr>
          </a:p>
          <a:p>
            <a:pPr marL="424815" lvl="1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행정관리의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30" dirty="0">
                <a:latin typeface="Malgun Gothic"/>
                <a:cs typeface="Malgun Gothic"/>
              </a:rPr>
              <a:t>중앙화: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spc="20" dirty="0">
                <a:latin typeface="Malgun Gothic"/>
                <a:cs typeface="Malgun Gothic"/>
              </a:rPr>
              <a:t>부패·무능력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15" dirty="0">
                <a:latin typeface="Malgun Gothic"/>
                <a:cs typeface="Malgun Gothic"/>
              </a:rPr>
              <a:t>극복,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5" dirty="0">
                <a:latin typeface="Malgun Gothic"/>
                <a:cs typeface="Malgun Gothic"/>
              </a:rPr>
              <a:t>비용효율성,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노동력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이동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촉진</a:t>
            </a:r>
            <a:endParaRPr sz="2000">
              <a:latin typeface="Malgun Gothic"/>
              <a:cs typeface="Malgun Gothic"/>
            </a:endParaRPr>
          </a:p>
          <a:p>
            <a:pPr marL="441959" marR="5080" lvl="1" indent="-303530">
              <a:lnSpc>
                <a:spcPct val="133400"/>
              </a:lnSpc>
              <a:buChar char="-"/>
              <a:tabLst>
                <a:tab pos="441325" algn="l"/>
                <a:tab pos="442595" algn="l"/>
                <a:tab pos="2106930" algn="l"/>
                <a:tab pos="3361690" algn="l"/>
                <a:tab pos="4519930" algn="l"/>
                <a:tab pos="5170170" algn="l"/>
                <a:tab pos="6074410" algn="l"/>
                <a:tab pos="6978650" algn="l"/>
                <a:tab pos="7630159" algn="l"/>
                <a:tab pos="8280400" algn="l"/>
              </a:tabLst>
            </a:pPr>
            <a:r>
              <a:rPr sz="2000" b="1" spc="-15" dirty="0">
                <a:latin typeface="Malgun Gothic"/>
                <a:cs typeface="Malgun Gothic"/>
              </a:rPr>
              <a:t>수</a:t>
            </a:r>
            <a:r>
              <a:rPr sz="2000" b="1" dirty="0">
                <a:latin typeface="Malgun Gothic"/>
                <a:cs typeface="Malgun Gothic"/>
              </a:rPr>
              <a:t>정구</a:t>
            </a:r>
            <a:r>
              <a:rPr sz="2000" b="1" spc="-15" dirty="0">
                <a:latin typeface="Malgun Gothic"/>
                <a:cs typeface="Malgun Gothic"/>
              </a:rPr>
              <a:t>빈</a:t>
            </a:r>
            <a:r>
              <a:rPr sz="2000" b="1" dirty="0">
                <a:latin typeface="Malgun Gothic"/>
                <a:cs typeface="Malgun Gothic"/>
              </a:rPr>
              <a:t>법은	</a:t>
            </a:r>
            <a:r>
              <a:rPr sz="2000" b="1" spc="20" dirty="0">
                <a:latin typeface="Malgun Gothic"/>
                <a:cs typeface="Malgun Gothic"/>
              </a:rPr>
              <a:t>16</a:t>
            </a:r>
            <a:r>
              <a:rPr sz="2000" b="1" spc="35" dirty="0">
                <a:latin typeface="Malgun Gothic"/>
                <a:cs typeface="Malgun Gothic"/>
              </a:rPr>
              <a:t>0</a:t>
            </a:r>
            <a:r>
              <a:rPr sz="2000" b="1" spc="20" dirty="0">
                <a:latin typeface="Malgun Gothic"/>
                <a:cs typeface="Malgun Gothic"/>
              </a:rPr>
              <a:t>1</a:t>
            </a:r>
            <a:r>
              <a:rPr sz="2000" b="1" dirty="0">
                <a:latin typeface="Malgun Gothic"/>
                <a:cs typeface="Malgun Gothic"/>
              </a:rPr>
              <a:t>년의	구빈</a:t>
            </a:r>
            <a:r>
              <a:rPr sz="2000" b="1" spc="-15" dirty="0">
                <a:latin typeface="Malgun Gothic"/>
                <a:cs typeface="Malgun Gothic"/>
              </a:rPr>
              <a:t>법</a:t>
            </a:r>
            <a:r>
              <a:rPr sz="2000" b="1" dirty="0">
                <a:latin typeface="Malgun Gothic"/>
                <a:cs typeface="Malgun Gothic"/>
              </a:rPr>
              <a:t>과	달리	낙인과	작업장	검사	</a:t>
            </a:r>
            <a:r>
              <a:rPr sz="2000" b="1" spc="-15" dirty="0">
                <a:latin typeface="Malgun Gothic"/>
                <a:cs typeface="Malgun Gothic"/>
              </a:rPr>
              <a:t>등</a:t>
            </a:r>
            <a:r>
              <a:rPr sz="2000" b="1" dirty="0">
                <a:latin typeface="Malgun Gothic"/>
                <a:cs typeface="Malgun Gothic"/>
              </a:rPr>
              <a:t>의	통  </a:t>
            </a:r>
            <a:r>
              <a:rPr sz="2000" b="1" spc="-5" dirty="0">
                <a:latin typeface="Malgun Gothic"/>
                <a:cs typeface="Malgun Gothic"/>
              </a:rPr>
              <a:t>제수단을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이용하여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빈곤구제의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신청을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억제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spc="285" dirty="0">
                <a:latin typeface="Arial MT"/>
                <a:cs typeface="Arial MT"/>
              </a:rPr>
              <a:t>-</a:t>
            </a:r>
            <a:r>
              <a:rPr sz="1000" spc="175" dirty="0">
                <a:latin typeface="Arial MT"/>
                <a:cs typeface="Arial MT"/>
              </a:rPr>
              <a:t> </a:t>
            </a:r>
            <a:fld id="{81D60167-4931-47E6-BA6A-407CBD079E47}" type="slidenum">
              <a:rPr sz="1000" spc="15" dirty="0">
                <a:latin typeface="Arial MT"/>
                <a:cs typeface="Arial MT"/>
              </a:rPr>
              <a:t>5</a:t>
            </a:fld>
            <a:r>
              <a:rPr sz="1000" spc="195" dirty="0">
                <a:latin typeface="Arial MT"/>
                <a:cs typeface="Arial MT"/>
              </a:rPr>
              <a:t> </a:t>
            </a:r>
            <a:r>
              <a:rPr sz="1000" spc="285" dirty="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658131"/>
              </p:ext>
            </p:extLst>
          </p:nvPr>
        </p:nvGraphicFramePr>
        <p:xfrm>
          <a:off x="1047586" y="1257605"/>
          <a:ext cx="8587740" cy="30966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8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111">
                <a:tc>
                  <a:txBody>
                    <a:bodyPr/>
                    <a:lstStyle/>
                    <a:p>
                      <a:pPr marL="31750">
                        <a:lnSpc>
                          <a:spcPts val="2120"/>
                        </a:lnSpc>
                      </a:pPr>
                      <a:r>
                        <a:rPr sz="2000" b="1" spc="40" dirty="0">
                          <a:latin typeface="Malgun Gothic"/>
                          <a:cs typeface="Malgun Gothic"/>
                        </a:rPr>
                        <a:t>2.</a:t>
                      </a:r>
                      <a:r>
                        <a:rPr sz="2000" b="1" spc="229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초기의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2120"/>
                        </a:lnSpc>
                      </a:pP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사회입법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8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 dirty="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2000" b="1" spc="30" dirty="0">
                          <a:latin typeface="Malgun Gothic"/>
                          <a:cs typeface="Malgun Gothic"/>
                        </a:rPr>
                        <a:t>1)</a:t>
                      </a:r>
                      <a:r>
                        <a:rPr sz="2000" b="1" spc="2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공장법</a:t>
                      </a:r>
                      <a:endParaRPr sz="2000" dirty="0">
                        <a:highlight>
                          <a:srgbClr val="FFFF00"/>
                        </a:highlight>
                        <a:latin typeface="Malgun Gothic"/>
                        <a:cs typeface="Malgun Gothic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85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 dirty="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2000" spc="430" dirty="0"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sz="200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20" dirty="0">
                          <a:latin typeface="Malgun Gothic"/>
                          <a:cs typeface="Malgun Gothic"/>
                        </a:rPr>
                        <a:t>1802년</a:t>
                      </a:r>
                      <a:endParaRPr sz="2000" dirty="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 dirty="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  <a:tabLst>
                          <a:tab pos="908050" algn="l"/>
                        </a:tabLst>
                      </a:pP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공장법	</a:t>
                      </a:r>
                      <a:r>
                        <a:rPr sz="2000" b="1" spc="140" dirty="0">
                          <a:latin typeface="Malgun Gothic"/>
                          <a:cs typeface="Malgun Gothic"/>
                        </a:rPr>
                        <a:t>:</a:t>
                      </a:r>
                      <a:endParaRPr sz="2000" dirty="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81915" marR="24130">
                        <a:lnSpc>
                          <a:spcPct val="133400"/>
                        </a:lnSpc>
                        <a:spcBef>
                          <a:spcPts val="1110"/>
                        </a:spcBef>
                        <a:tabLst>
                          <a:tab pos="1489710" algn="l"/>
                          <a:tab pos="2645410" algn="l"/>
                          <a:tab pos="4055110" algn="l"/>
                          <a:tab pos="5210810" algn="l"/>
                        </a:tabLst>
                      </a:pPr>
                      <a:r>
                        <a:rPr sz="2000" b="1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근</a:t>
                      </a:r>
                      <a:r>
                        <a:rPr sz="2000" b="1" spc="-1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로</a:t>
                      </a:r>
                      <a:r>
                        <a:rPr sz="2000" b="1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시간을	제한</a:t>
                      </a:r>
                      <a:r>
                        <a:rPr sz="2000" b="1" spc="-1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하</a:t>
                      </a:r>
                      <a:r>
                        <a:rPr sz="2000" b="1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고	작업</a:t>
                      </a:r>
                      <a:r>
                        <a:rPr sz="2000" b="1" spc="-1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환</a:t>
                      </a:r>
                      <a:r>
                        <a:rPr sz="2000" b="1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경을	</a:t>
                      </a:r>
                      <a:r>
                        <a:rPr sz="2000" b="1" spc="-1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규</a:t>
                      </a:r>
                      <a:r>
                        <a:rPr sz="2000" b="1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제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하여	</a:t>
                      </a:r>
                      <a:r>
                        <a:rPr sz="2000" b="1" spc="-1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부</a:t>
                      </a:r>
                      <a:r>
                        <a:rPr sz="2000" b="1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녀자와  </a:t>
                      </a:r>
                      <a:r>
                        <a:rPr sz="2000" b="1" spc="-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어린이를</a:t>
                      </a:r>
                      <a:r>
                        <a:rPr sz="2000" b="1" spc="28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보호</a:t>
                      </a:r>
                      <a:endParaRPr sz="2000" dirty="0">
                        <a:highlight>
                          <a:srgbClr val="FFFF00"/>
                        </a:highlight>
                        <a:latin typeface="Malgun Gothic"/>
                        <a:cs typeface="Malgun Gothic"/>
                      </a:endParaRPr>
                    </a:p>
                  </a:txBody>
                  <a:tcPr marL="0" marR="0" marT="14097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1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2185"/>
                        </a:lnSpc>
                      </a:pPr>
                      <a:r>
                        <a:rPr sz="2000" spc="430" dirty="0"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sz="200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20" dirty="0">
                          <a:latin typeface="Malgun Gothic"/>
                          <a:cs typeface="Malgun Gothic"/>
                        </a:rPr>
                        <a:t>1833년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R="26034" algn="ctr">
                        <a:lnSpc>
                          <a:spcPts val="2185"/>
                        </a:lnSpc>
                      </a:pP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공장법</a:t>
                      </a:r>
                      <a:r>
                        <a:rPr sz="2000" b="1" spc="2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140" dirty="0">
                          <a:latin typeface="Malgun Gothic"/>
                          <a:cs typeface="Malgun Gothic"/>
                        </a:rPr>
                        <a:t>: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 dirty="0">
                        <a:latin typeface="Times New Roman"/>
                        <a:cs typeface="Times New Roman"/>
                      </a:endParaRPr>
                    </a:p>
                    <a:p>
                      <a:pPr marL="40640">
                        <a:lnSpc>
                          <a:spcPts val="2185"/>
                        </a:lnSpc>
                      </a:pPr>
                      <a:r>
                        <a:rPr sz="2000" b="1" dirty="0">
                          <a:latin typeface="Malgun Gothic"/>
                          <a:cs typeface="Malgun Gothic"/>
                        </a:rPr>
                        <a:t>이러한</a:t>
                      </a:r>
                      <a:r>
                        <a:rPr sz="2000" b="1" spc="28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규제를</a:t>
                      </a:r>
                      <a:r>
                        <a:rPr sz="2000" b="1" spc="28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더욱</a:t>
                      </a:r>
                      <a:r>
                        <a:rPr sz="2000" b="1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15" dirty="0">
                          <a:latin typeface="Malgun Gothic"/>
                          <a:cs typeface="Malgun Gothic"/>
                        </a:rPr>
                        <a:t>강화,</a:t>
                      </a:r>
                      <a:r>
                        <a:rPr sz="2000" b="1" spc="28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5" dirty="0">
                          <a:latin typeface="Malgun Gothic"/>
                          <a:cs typeface="Malgun Gothic"/>
                        </a:rPr>
                        <a:t>4명의</a:t>
                      </a:r>
                      <a:r>
                        <a:rPr sz="2000" b="1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감독관을</a:t>
                      </a:r>
                      <a:r>
                        <a:rPr sz="2000" b="1" spc="28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임명</a:t>
                      </a:r>
                      <a:endParaRPr sz="2000" dirty="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066636" y="4764584"/>
            <a:ext cx="8549005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marR="5080" indent="-254635">
              <a:lnSpc>
                <a:spcPct val="132900"/>
              </a:lnSpc>
              <a:spcBef>
                <a:spcPts val="100"/>
              </a:spcBef>
            </a:pPr>
            <a:r>
              <a:rPr sz="2000" spc="430" dirty="0">
                <a:latin typeface="Malgun Gothic"/>
                <a:cs typeface="Malgun Gothic"/>
              </a:rPr>
              <a:t>-</a:t>
            </a:r>
            <a:r>
              <a:rPr sz="2000" spc="4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특정한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사회적</a:t>
            </a:r>
            <a:r>
              <a:rPr sz="2000" b="1" spc="31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목적을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위하여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국가가</a:t>
            </a:r>
            <a:r>
              <a:rPr sz="2000" b="1" spc="31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강제적인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권력행사를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할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있는 </a:t>
            </a:r>
            <a:r>
              <a:rPr sz="2000" b="1" spc="-6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권한을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암묵적으로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인정</a:t>
            </a:r>
            <a:endParaRPr sz="20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spc="285" dirty="0">
                <a:latin typeface="Arial MT"/>
                <a:cs typeface="Arial MT"/>
              </a:rPr>
              <a:t>-</a:t>
            </a:r>
            <a:r>
              <a:rPr sz="1000" spc="175" dirty="0">
                <a:latin typeface="Arial MT"/>
                <a:cs typeface="Arial MT"/>
              </a:rPr>
              <a:t> </a:t>
            </a:r>
            <a:fld id="{81D60167-4931-47E6-BA6A-407CBD079E47}" type="slidenum">
              <a:rPr sz="1000" spc="15" dirty="0">
                <a:latin typeface="Arial MT"/>
                <a:cs typeface="Arial MT"/>
              </a:rPr>
              <a:t>6</a:t>
            </a:fld>
            <a:r>
              <a:rPr sz="1000" spc="195" dirty="0">
                <a:latin typeface="Arial MT"/>
                <a:cs typeface="Arial MT"/>
              </a:rPr>
              <a:t> </a:t>
            </a:r>
            <a:r>
              <a:rPr sz="1000" spc="285" dirty="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66636" y="1208885"/>
            <a:ext cx="8549005" cy="4798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30" dirty="0">
                <a:latin typeface="Malgun Gothic"/>
                <a:cs typeface="Malgun Gothic"/>
              </a:rPr>
              <a:t>2)</a:t>
            </a:r>
            <a:r>
              <a:rPr sz="2000" b="1" spc="229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교육법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Malgun Gothic"/>
              <a:cs typeface="Malgun Gothic"/>
            </a:endParaRPr>
          </a:p>
          <a:p>
            <a:pPr marL="266700" marR="6350" indent="-254635">
              <a:lnSpc>
                <a:spcPct val="133400"/>
              </a:lnSpc>
              <a:buFont typeface="Malgun Gothic"/>
              <a:buChar char="-"/>
              <a:tabLst>
                <a:tab pos="267335" algn="l"/>
                <a:tab pos="6238875" algn="l"/>
                <a:tab pos="8027670" algn="l"/>
              </a:tabLst>
            </a:pPr>
            <a:r>
              <a:rPr sz="2000" b="1" spc="-15" dirty="0">
                <a:latin typeface="Malgun Gothic"/>
                <a:cs typeface="Malgun Gothic"/>
              </a:rPr>
              <a:t>교</a:t>
            </a:r>
            <a:r>
              <a:rPr sz="2000" b="1" dirty="0">
                <a:latin typeface="Malgun Gothic"/>
                <a:cs typeface="Malgun Gothic"/>
              </a:rPr>
              <a:t>육에</a:t>
            </a:r>
            <a:r>
              <a:rPr sz="2000" b="1" spc="33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대한</a:t>
            </a:r>
            <a:r>
              <a:rPr sz="2000" b="1" spc="33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국가의</a:t>
            </a:r>
            <a:r>
              <a:rPr sz="2000" b="1" spc="335" dirty="0">
                <a:latin typeface="Malgun Gothic"/>
                <a:cs typeface="Malgun Gothic"/>
              </a:rPr>
              <a:t> </a:t>
            </a:r>
            <a:r>
              <a:rPr sz="2000" b="1" spc="-15" dirty="0">
                <a:latin typeface="Malgun Gothic"/>
                <a:cs typeface="Malgun Gothic"/>
              </a:rPr>
              <a:t>개</a:t>
            </a:r>
            <a:r>
              <a:rPr sz="2000" b="1" dirty="0">
                <a:latin typeface="Malgun Gothic"/>
                <a:cs typeface="Malgun Gothic"/>
              </a:rPr>
              <a:t>입은</a:t>
            </a:r>
            <a:r>
              <a:rPr sz="2000" b="1" spc="335" dirty="0">
                <a:latin typeface="Malgun Gothic"/>
                <a:cs typeface="Malgun Gothic"/>
              </a:rPr>
              <a:t> </a:t>
            </a:r>
            <a:r>
              <a:rPr sz="2000" b="1" spc="35" dirty="0">
                <a:latin typeface="Malgun Gothic"/>
                <a:cs typeface="Malgun Gothic"/>
              </a:rPr>
              <a:t>1</a:t>
            </a:r>
            <a:r>
              <a:rPr sz="2000" b="1" spc="20" dirty="0">
                <a:latin typeface="Malgun Gothic"/>
                <a:cs typeface="Malgun Gothic"/>
              </a:rPr>
              <a:t>83</a:t>
            </a:r>
            <a:r>
              <a:rPr sz="2000" b="1" spc="35" dirty="0">
                <a:latin typeface="Malgun Gothic"/>
                <a:cs typeface="Malgun Gothic"/>
              </a:rPr>
              <a:t>3</a:t>
            </a:r>
            <a:r>
              <a:rPr sz="2000" b="1" dirty="0">
                <a:latin typeface="Malgun Gothic"/>
                <a:cs typeface="Malgun Gothic"/>
              </a:rPr>
              <a:t>년</a:t>
            </a:r>
            <a:r>
              <a:rPr sz="2000" b="1" spc="33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프</a:t>
            </a:r>
            <a:r>
              <a:rPr sz="2000" b="1" spc="-15" dirty="0">
                <a:latin typeface="Malgun Gothic"/>
                <a:cs typeface="Malgun Gothic"/>
              </a:rPr>
              <a:t>로</a:t>
            </a:r>
            <a:r>
              <a:rPr sz="2000" b="1" dirty="0">
                <a:latin typeface="Malgun Gothic"/>
                <a:cs typeface="Malgun Gothic"/>
              </a:rPr>
              <a:t>테스</a:t>
            </a:r>
            <a:r>
              <a:rPr sz="2000" b="1" spc="-15" dirty="0">
                <a:latin typeface="Malgun Gothic"/>
                <a:cs typeface="Malgun Gothic"/>
              </a:rPr>
              <a:t>탄</a:t>
            </a:r>
            <a:r>
              <a:rPr sz="2000" b="1" dirty="0">
                <a:latin typeface="Malgun Gothic"/>
                <a:cs typeface="Malgun Gothic"/>
              </a:rPr>
              <a:t>트	</a:t>
            </a:r>
            <a:r>
              <a:rPr sz="2000" b="1" spc="-15" dirty="0">
                <a:latin typeface="Malgun Gothic"/>
                <a:cs typeface="Malgun Gothic"/>
              </a:rPr>
              <a:t>학</a:t>
            </a:r>
            <a:r>
              <a:rPr sz="2000" b="1" dirty="0">
                <a:latin typeface="Malgun Gothic"/>
                <a:cs typeface="Malgun Gothic"/>
              </a:rPr>
              <a:t>교의</a:t>
            </a:r>
            <a:r>
              <a:rPr sz="2000" b="1" spc="33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건</a:t>
            </a:r>
            <a:r>
              <a:rPr sz="2000" b="1" spc="-15" dirty="0">
                <a:latin typeface="Malgun Gothic"/>
                <a:cs typeface="Malgun Gothic"/>
              </a:rPr>
              <a:t>립</a:t>
            </a:r>
            <a:r>
              <a:rPr sz="2000" b="1" dirty="0">
                <a:latin typeface="Malgun Gothic"/>
                <a:cs typeface="Malgun Gothic"/>
              </a:rPr>
              <a:t>을	</a:t>
            </a:r>
            <a:r>
              <a:rPr sz="2000" b="1" spc="-15" dirty="0">
                <a:latin typeface="Malgun Gothic"/>
                <a:cs typeface="Malgun Gothic"/>
              </a:rPr>
              <a:t>위</a:t>
            </a:r>
            <a:r>
              <a:rPr sz="2000" b="1" dirty="0">
                <a:latin typeface="Malgun Gothic"/>
                <a:cs typeface="Malgun Gothic"/>
              </a:rPr>
              <a:t>하  여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보조금을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지급함으로써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시작</a:t>
            </a:r>
            <a:endParaRPr sz="20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spcBef>
                <a:spcPts val="790"/>
              </a:spcBef>
              <a:buFont typeface="Malgun Gothic"/>
              <a:buChar char="-"/>
              <a:tabLst>
                <a:tab pos="267335" algn="l"/>
              </a:tabLst>
            </a:pPr>
            <a:r>
              <a:rPr sz="2000" b="1" spc="20" dirty="0">
                <a:latin typeface="Malgun Gothic"/>
                <a:cs typeface="Malgun Gothic"/>
              </a:rPr>
              <a:t>1870년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교육법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모든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아동에게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교육의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권리를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선언적으로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천명</a:t>
            </a:r>
            <a:endParaRPr sz="2000">
              <a:latin typeface="Malgun Gothic"/>
              <a:cs typeface="Malgun Gothic"/>
            </a:endParaRPr>
          </a:p>
          <a:p>
            <a:pPr marL="266700" marR="6350" indent="-254635">
              <a:lnSpc>
                <a:spcPct val="133400"/>
              </a:lnSpc>
              <a:buFont typeface="Malgun Gothic"/>
              <a:buChar char="-"/>
              <a:tabLst>
                <a:tab pos="267335" algn="l"/>
                <a:tab pos="1259205" algn="l"/>
                <a:tab pos="2487930" algn="l"/>
                <a:tab pos="3382645" algn="l"/>
                <a:tab pos="3601720" algn="l"/>
                <a:tab pos="4649470" algn="l"/>
                <a:tab pos="5340350" algn="l"/>
                <a:tab pos="6235700" algn="l"/>
                <a:tab pos="7385050" algn="l"/>
                <a:tab pos="8027670" algn="l"/>
              </a:tabLst>
            </a:pPr>
            <a:r>
              <a:rPr sz="2000" b="1" spc="20" dirty="0">
                <a:latin typeface="Malgun Gothic"/>
                <a:cs typeface="Malgun Gothic"/>
              </a:rPr>
              <a:t>18</a:t>
            </a:r>
            <a:r>
              <a:rPr sz="2000" b="1" spc="35" dirty="0">
                <a:latin typeface="Malgun Gothic"/>
                <a:cs typeface="Malgun Gothic"/>
              </a:rPr>
              <a:t>8</a:t>
            </a:r>
            <a:r>
              <a:rPr sz="2000" b="1" spc="20" dirty="0">
                <a:latin typeface="Malgun Gothic"/>
                <a:cs typeface="Malgun Gothic"/>
              </a:rPr>
              <a:t>0</a:t>
            </a:r>
            <a:r>
              <a:rPr sz="2000" b="1" dirty="0">
                <a:latin typeface="Malgun Gothic"/>
                <a:cs typeface="Malgun Gothic"/>
              </a:rPr>
              <a:t>년	</a:t>
            </a:r>
            <a:r>
              <a:rPr sz="2000" b="1" spc="-145" dirty="0">
                <a:latin typeface="Malgun Gothic"/>
                <a:cs typeface="Malgun Gothic"/>
              </a:rPr>
              <a:t>M</a:t>
            </a:r>
            <a:r>
              <a:rPr sz="2000" b="1" spc="-95" dirty="0">
                <a:latin typeface="Malgun Gothic"/>
                <a:cs typeface="Malgun Gothic"/>
              </a:rPr>
              <a:t>u</a:t>
            </a:r>
            <a:r>
              <a:rPr sz="2000" b="1" spc="-85" dirty="0">
                <a:latin typeface="Malgun Gothic"/>
                <a:cs typeface="Malgun Gothic"/>
              </a:rPr>
              <a:t>n</a:t>
            </a:r>
            <a:r>
              <a:rPr sz="2000" b="1" spc="-105" dirty="0">
                <a:latin typeface="Malgun Gothic"/>
                <a:cs typeface="Malgun Gothic"/>
              </a:rPr>
              <a:t>d</a:t>
            </a:r>
            <a:r>
              <a:rPr sz="2000" b="1" spc="45" dirty="0">
                <a:latin typeface="Malgun Gothic"/>
                <a:cs typeface="Malgun Gothic"/>
              </a:rPr>
              <a:t>e</a:t>
            </a:r>
            <a:r>
              <a:rPr sz="2000" b="1" spc="25" dirty="0">
                <a:latin typeface="Malgun Gothic"/>
                <a:cs typeface="Malgun Gothic"/>
              </a:rPr>
              <a:t>l</a:t>
            </a:r>
            <a:r>
              <a:rPr sz="2000" b="1" spc="35" dirty="0">
                <a:latin typeface="Malgun Gothic"/>
                <a:cs typeface="Malgun Gothic"/>
              </a:rPr>
              <a:t>l</a:t>
            </a:r>
            <a:r>
              <a:rPr sz="2000" b="1" spc="-5" dirty="0">
                <a:latin typeface="Malgun Gothic"/>
                <a:cs typeface="Malgun Gothic"/>
              </a:rPr>
              <a:t>a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5" dirty="0">
                <a:latin typeface="Malgun Gothic"/>
                <a:cs typeface="Malgun Gothic"/>
              </a:rPr>
              <a:t>교</a:t>
            </a:r>
            <a:r>
              <a:rPr sz="2000" b="1" dirty="0">
                <a:latin typeface="Malgun Gothic"/>
                <a:cs typeface="Malgun Gothic"/>
              </a:rPr>
              <a:t>육법	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20" dirty="0">
                <a:latin typeface="Malgun Gothic"/>
                <a:cs typeface="Malgun Gothic"/>
              </a:rPr>
              <a:t>5</a:t>
            </a:r>
            <a:r>
              <a:rPr sz="2000" b="1" dirty="0">
                <a:latin typeface="Malgun Gothic"/>
                <a:cs typeface="Malgun Gothic"/>
              </a:rPr>
              <a:t>세부터	</a:t>
            </a:r>
            <a:r>
              <a:rPr sz="2000" b="1" spc="20" dirty="0">
                <a:latin typeface="Malgun Gothic"/>
                <a:cs typeface="Malgun Gothic"/>
              </a:rPr>
              <a:t>10</a:t>
            </a:r>
            <a:r>
              <a:rPr sz="2000" b="1" dirty="0">
                <a:latin typeface="Malgun Gothic"/>
                <a:cs typeface="Malgun Gothic"/>
              </a:rPr>
              <a:t>세	</a:t>
            </a:r>
            <a:r>
              <a:rPr sz="2000" b="1" spc="-15" dirty="0">
                <a:latin typeface="Malgun Gothic"/>
                <a:cs typeface="Malgun Gothic"/>
              </a:rPr>
              <a:t>사</a:t>
            </a:r>
            <a:r>
              <a:rPr sz="2000" b="1" dirty="0">
                <a:latin typeface="Malgun Gothic"/>
                <a:cs typeface="Malgun Gothic"/>
              </a:rPr>
              <a:t>이의	아</a:t>
            </a:r>
            <a:r>
              <a:rPr sz="2000" b="1" spc="-15" dirty="0">
                <a:latin typeface="Malgun Gothic"/>
                <a:cs typeface="Malgun Gothic"/>
              </a:rPr>
              <a:t>동</a:t>
            </a:r>
            <a:r>
              <a:rPr sz="2000" b="1" dirty="0">
                <a:latin typeface="Malgun Gothic"/>
                <a:cs typeface="Malgun Gothic"/>
              </a:rPr>
              <a:t>들에	대한	</a:t>
            </a:r>
            <a:r>
              <a:rPr sz="2000" b="1" spc="-15" dirty="0">
                <a:latin typeface="Malgun Gothic"/>
                <a:cs typeface="Malgun Gothic"/>
              </a:rPr>
              <a:t>초</a:t>
            </a:r>
            <a:r>
              <a:rPr sz="2000" b="1" dirty="0">
                <a:latin typeface="Malgun Gothic"/>
                <a:cs typeface="Malgun Gothic"/>
              </a:rPr>
              <a:t>등  </a:t>
            </a:r>
            <a:r>
              <a:rPr sz="2000" b="1" spc="-5" dirty="0">
                <a:latin typeface="Malgun Gothic"/>
                <a:cs typeface="Malgun Gothic"/>
              </a:rPr>
              <a:t>교육이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사실상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무상으로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실시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22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spcBef>
                <a:spcPts val="5"/>
              </a:spcBef>
              <a:buFont typeface="MS UI Gothic"/>
              <a:buChar char="○"/>
              <a:tabLst>
                <a:tab pos="266700" algn="l"/>
                <a:tab pos="267335" algn="l"/>
              </a:tabLst>
            </a:pPr>
            <a:r>
              <a:rPr sz="2000" b="1" spc="-5" dirty="0">
                <a:latin typeface="Malgun Gothic"/>
                <a:cs typeface="Malgun Gothic"/>
              </a:rPr>
              <a:t>우리나라</a:t>
            </a:r>
            <a:endParaRPr sz="2000">
              <a:latin typeface="Malgun Gothic"/>
              <a:cs typeface="Malgun Gothic"/>
            </a:endParaRPr>
          </a:p>
          <a:p>
            <a:pPr marL="298450" indent="-286385">
              <a:lnSpc>
                <a:spcPct val="100000"/>
              </a:lnSpc>
              <a:spcBef>
                <a:spcPts val="800"/>
              </a:spcBef>
              <a:buChar char="-"/>
              <a:tabLst>
                <a:tab pos="299085" algn="l"/>
              </a:tabLst>
            </a:pPr>
            <a:r>
              <a:rPr sz="2000" b="1" spc="20" dirty="0">
                <a:latin typeface="Malgun Gothic"/>
                <a:cs typeface="Malgun Gothic"/>
              </a:rPr>
              <a:t>1949년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20" dirty="0">
                <a:latin typeface="Malgun Gothic"/>
                <a:cs typeface="Malgun Gothic"/>
              </a:rPr>
              <a:t>12월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교육법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25" dirty="0">
                <a:latin typeface="Malgun Gothic"/>
                <a:cs typeface="Malgun Gothic"/>
              </a:rPr>
              <a:t>제정·공포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초등학교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의무교육제도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25" dirty="0">
                <a:latin typeface="Malgun Gothic"/>
                <a:cs typeface="Malgun Gothic"/>
              </a:rPr>
              <a:t>채택·시행</a:t>
            </a:r>
            <a:endParaRPr sz="2000">
              <a:latin typeface="Malgun Gothic"/>
              <a:cs typeface="Malgun Gothic"/>
            </a:endParaRPr>
          </a:p>
          <a:p>
            <a:pPr marL="328930" marR="5080" indent="-316865">
              <a:lnSpc>
                <a:spcPts val="3200"/>
              </a:lnSpc>
              <a:spcBef>
                <a:spcPts val="95"/>
              </a:spcBef>
              <a:buChar char="-"/>
              <a:tabLst>
                <a:tab pos="328930" algn="l"/>
                <a:tab pos="329565" algn="l"/>
                <a:tab pos="1347470" algn="l"/>
                <a:tab pos="2012950" algn="l"/>
                <a:tab pos="2256155" algn="l"/>
                <a:tab pos="2921635" algn="l"/>
                <a:tab pos="3841115" algn="l"/>
                <a:tab pos="5014595" algn="l"/>
                <a:tab pos="5934075" algn="l"/>
                <a:tab pos="6599555" algn="l"/>
                <a:tab pos="8281670" algn="l"/>
              </a:tabLst>
            </a:pPr>
            <a:r>
              <a:rPr sz="2000" b="1" spc="35" dirty="0">
                <a:latin typeface="Malgun Gothic"/>
                <a:cs typeface="Malgun Gothic"/>
              </a:rPr>
              <a:t>1</a:t>
            </a:r>
            <a:r>
              <a:rPr sz="2000" b="1" spc="20" dirty="0">
                <a:latin typeface="Malgun Gothic"/>
                <a:cs typeface="Malgun Gothic"/>
              </a:rPr>
              <a:t>98</a:t>
            </a:r>
            <a:r>
              <a:rPr sz="2000" b="1" spc="35" dirty="0">
                <a:latin typeface="Malgun Gothic"/>
                <a:cs typeface="Malgun Gothic"/>
              </a:rPr>
              <a:t>5</a:t>
            </a:r>
            <a:r>
              <a:rPr sz="2000" b="1" dirty="0">
                <a:latin typeface="Malgun Gothic"/>
                <a:cs typeface="Malgun Gothic"/>
              </a:rPr>
              <a:t>년	</a:t>
            </a:r>
            <a:r>
              <a:rPr sz="2000" b="1" spc="-15" dirty="0">
                <a:latin typeface="Malgun Gothic"/>
                <a:cs typeface="Malgun Gothic"/>
              </a:rPr>
              <a:t>도</a:t>
            </a:r>
            <a:r>
              <a:rPr sz="2000" b="1" dirty="0">
                <a:latin typeface="Malgun Gothic"/>
                <a:cs typeface="Malgun Gothic"/>
              </a:rPr>
              <a:t>서	</a:t>
            </a:r>
            <a:r>
              <a:rPr sz="2000" b="1" spc="140" dirty="0">
                <a:latin typeface="Malgun Gothic"/>
                <a:cs typeface="Malgun Gothic"/>
              </a:rPr>
              <a:t>·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5" dirty="0">
                <a:latin typeface="Malgun Gothic"/>
                <a:cs typeface="Malgun Gothic"/>
              </a:rPr>
              <a:t>벽</a:t>
            </a:r>
            <a:r>
              <a:rPr sz="2000" b="1" dirty="0">
                <a:latin typeface="Malgun Gothic"/>
                <a:cs typeface="Malgun Gothic"/>
              </a:rPr>
              <a:t>지	지</a:t>
            </a:r>
            <a:r>
              <a:rPr sz="2000" b="1" spc="-15" dirty="0">
                <a:latin typeface="Malgun Gothic"/>
                <a:cs typeface="Malgun Gothic"/>
              </a:rPr>
              <a:t>역</a:t>
            </a:r>
            <a:r>
              <a:rPr sz="2000" b="1" dirty="0">
                <a:latin typeface="Malgun Gothic"/>
                <a:cs typeface="Malgun Gothic"/>
              </a:rPr>
              <a:t>을	대상</a:t>
            </a:r>
            <a:r>
              <a:rPr sz="2000" b="1" spc="-15" dirty="0">
                <a:latin typeface="Malgun Gothic"/>
                <a:cs typeface="Malgun Gothic"/>
              </a:rPr>
              <a:t>으</a:t>
            </a:r>
            <a:r>
              <a:rPr sz="2000" b="1" dirty="0">
                <a:latin typeface="Malgun Gothic"/>
                <a:cs typeface="Malgun Gothic"/>
              </a:rPr>
              <a:t>로	중</a:t>
            </a:r>
            <a:r>
              <a:rPr sz="2000" b="1" spc="-15" dirty="0">
                <a:latin typeface="Malgun Gothic"/>
                <a:cs typeface="Malgun Gothic"/>
              </a:rPr>
              <a:t>학</a:t>
            </a:r>
            <a:r>
              <a:rPr sz="2000" b="1" dirty="0">
                <a:latin typeface="Malgun Gothic"/>
                <a:cs typeface="Malgun Gothic"/>
              </a:rPr>
              <a:t>교	무상	의무</a:t>
            </a:r>
            <a:r>
              <a:rPr sz="2000" b="1" spc="-15" dirty="0">
                <a:latin typeface="Malgun Gothic"/>
                <a:cs typeface="Malgun Gothic"/>
              </a:rPr>
              <a:t>교</a:t>
            </a:r>
            <a:r>
              <a:rPr sz="2000" b="1" dirty="0">
                <a:latin typeface="Malgun Gothic"/>
                <a:cs typeface="Malgun Gothic"/>
              </a:rPr>
              <a:t>육제가	실  </a:t>
            </a:r>
            <a:r>
              <a:rPr sz="2000" b="1" spc="30" dirty="0">
                <a:latin typeface="Malgun Gothic"/>
                <a:cs typeface="Malgun Gothic"/>
              </a:rPr>
              <a:t>시,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20" dirty="0">
                <a:latin typeface="Malgun Gothic"/>
                <a:cs typeface="Malgun Gothic"/>
              </a:rPr>
              <a:t>1994년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읍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140" dirty="0">
                <a:latin typeface="Malgun Gothic"/>
                <a:cs typeface="Malgun Gothic"/>
              </a:rPr>
              <a:t>·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면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10" dirty="0">
                <a:latin typeface="Malgun Gothic"/>
                <a:cs typeface="Malgun Gothic"/>
              </a:rPr>
              <a:t>지역에,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25" dirty="0">
                <a:latin typeface="Malgun Gothic"/>
                <a:cs typeface="Malgun Gothic"/>
              </a:rPr>
              <a:t>2004년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모든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지역에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실시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spc="285" dirty="0">
                <a:latin typeface="Arial MT"/>
                <a:cs typeface="Arial MT"/>
              </a:rPr>
              <a:t>-</a:t>
            </a:r>
            <a:r>
              <a:rPr sz="1000" spc="175" dirty="0">
                <a:latin typeface="Arial MT"/>
                <a:cs typeface="Arial MT"/>
              </a:rPr>
              <a:t> </a:t>
            </a:r>
            <a:fld id="{81D60167-4931-47E6-BA6A-407CBD079E47}" type="slidenum">
              <a:rPr sz="1000" spc="15" dirty="0">
                <a:latin typeface="Arial MT"/>
                <a:cs typeface="Arial MT"/>
              </a:rPr>
              <a:t>7</a:t>
            </a:fld>
            <a:r>
              <a:rPr sz="1000" spc="195" dirty="0">
                <a:latin typeface="Arial MT"/>
                <a:cs typeface="Arial MT"/>
              </a:rPr>
              <a:t> </a:t>
            </a:r>
            <a:r>
              <a:rPr sz="1000" spc="285" dirty="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66636" y="1208885"/>
            <a:ext cx="6924675" cy="1954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30" dirty="0">
                <a:latin typeface="Malgun Gothic"/>
                <a:cs typeface="Malgun Gothic"/>
              </a:rPr>
              <a:t>3)</a:t>
            </a:r>
            <a:r>
              <a:rPr sz="2000" b="1" spc="24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공중위생법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buFont typeface="Malgun Gothic"/>
              <a:buChar char="-"/>
              <a:tabLst>
                <a:tab pos="267335" algn="l"/>
              </a:tabLst>
            </a:pPr>
            <a:r>
              <a:rPr sz="2000" b="1" spc="10" dirty="0">
                <a:latin typeface="Malgun Gothic"/>
                <a:cs typeface="Malgun Gothic"/>
              </a:rPr>
              <a:t>19세기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전반의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산업화와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인구증가로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도시가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급속히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팽창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buFont typeface="Malgun Gothic"/>
              <a:buChar char="-"/>
            </a:pPr>
            <a:endParaRPr sz="22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buFont typeface="Malgun Gothic"/>
              <a:buChar char="-"/>
              <a:tabLst>
                <a:tab pos="267335" algn="l"/>
              </a:tabLst>
            </a:pPr>
            <a:r>
              <a:rPr sz="2000" b="1" spc="15" dirty="0">
                <a:latin typeface="Malgun Gothic"/>
                <a:cs typeface="Malgun Gothic"/>
              </a:rPr>
              <a:t>1875년에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공중위생법이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최초로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제정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spc="285" dirty="0">
                <a:latin typeface="Arial MT"/>
                <a:cs typeface="Arial MT"/>
              </a:rPr>
              <a:t>-</a:t>
            </a:r>
            <a:r>
              <a:rPr sz="1000" spc="175" dirty="0">
                <a:latin typeface="Arial MT"/>
                <a:cs typeface="Arial MT"/>
              </a:rPr>
              <a:t> </a:t>
            </a:r>
            <a:fld id="{81D60167-4931-47E6-BA6A-407CBD079E47}" type="slidenum">
              <a:rPr sz="1000" spc="15" dirty="0">
                <a:latin typeface="Arial MT"/>
                <a:cs typeface="Arial MT"/>
              </a:rPr>
              <a:t>8</a:t>
            </a:fld>
            <a:r>
              <a:rPr sz="1000" spc="195" dirty="0">
                <a:latin typeface="Arial MT"/>
                <a:cs typeface="Arial MT"/>
              </a:rPr>
              <a:t> </a:t>
            </a:r>
            <a:r>
              <a:rPr sz="1000" spc="285" dirty="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25342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" dirty="0"/>
              <a:t>제2절.</a:t>
            </a:r>
            <a:r>
              <a:rPr spc="254" dirty="0"/>
              <a:t> </a:t>
            </a:r>
            <a:r>
              <a:rPr spc="-5" dirty="0"/>
              <a:t>자유당의</a:t>
            </a:r>
            <a:r>
              <a:rPr spc="254" dirty="0"/>
              <a:t> </a:t>
            </a:r>
            <a:r>
              <a:rPr spc="-10" dirty="0"/>
              <a:t>개혁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143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1.</a:t>
            </a:r>
            <a:r>
              <a:rPr spc="275" dirty="0"/>
              <a:t> </a:t>
            </a:r>
            <a:r>
              <a:rPr dirty="0"/>
              <a:t>개혁의</a:t>
            </a:r>
            <a:r>
              <a:rPr spc="275" dirty="0"/>
              <a:t> </a:t>
            </a:r>
            <a:r>
              <a:rPr spc="15" dirty="0"/>
              <a:t>발단(1906</a:t>
            </a:r>
            <a:r>
              <a:rPr b="0" dirty="0">
                <a:latin typeface="MS UI Gothic"/>
                <a:cs typeface="MS UI Gothic"/>
              </a:rPr>
              <a:t>〜</a:t>
            </a:r>
            <a:r>
              <a:rPr spc="25" dirty="0"/>
              <a:t>1914)</a:t>
            </a:r>
          </a:p>
          <a:p>
            <a:pPr marL="1270">
              <a:lnSpc>
                <a:spcPct val="100000"/>
              </a:lnSpc>
              <a:spcBef>
                <a:spcPts val="5"/>
              </a:spcBef>
            </a:pPr>
            <a:endParaRPr sz="2200" dirty="0"/>
          </a:p>
          <a:p>
            <a:pPr marL="267970" indent="-254635">
              <a:lnSpc>
                <a:spcPct val="100000"/>
              </a:lnSpc>
              <a:buFont typeface="MS UI Gothic"/>
              <a:buChar char="○"/>
              <a:tabLst>
                <a:tab pos="267970" algn="l"/>
                <a:tab pos="268605" algn="l"/>
              </a:tabLst>
            </a:pPr>
            <a:r>
              <a:rPr spc="-5" dirty="0"/>
              <a:t>아래로부터의</a:t>
            </a:r>
            <a:r>
              <a:rPr spc="235" dirty="0"/>
              <a:t> </a:t>
            </a:r>
            <a:r>
              <a:rPr dirty="0"/>
              <a:t>압력</a:t>
            </a:r>
          </a:p>
          <a:p>
            <a:pPr marL="426084" lvl="1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6720" algn="l"/>
              </a:tabLst>
            </a:pPr>
            <a:r>
              <a:rPr sz="2000" b="1" spc="-5" dirty="0">
                <a:latin typeface="Malgun Gothic"/>
                <a:cs typeface="Malgun Gothic"/>
              </a:rPr>
              <a:t>노동자계급의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결속과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정치적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40" dirty="0">
                <a:latin typeface="Malgun Gothic"/>
                <a:cs typeface="Malgun Gothic"/>
              </a:rPr>
              <a:t>압력: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25" dirty="0">
                <a:latin typeface="Malgun Gothic"/>
                <a:cs typeface="Malgun Gothic"/>
              </a:rPr>
              <a:t>1867년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950" dirty="0">
                <a:latin typeface="Malgun Gothic"/>
                <a:cs typeface="Malgun Gothic"/>
              </a:rPr>
              <a:t>『</a:t>
            </a:r>
            <a:r>
              <a:rPr sz="2000" b="1" spc="-5" dirty="0">
                <a:latin typeface="Malgun Gothic"/>
                <a:cs typeface="Malgun Gothic"/>
              </a:rPr>
              <a:t>자본론</a:t>
            </a:r>
            <a:r>
              <a:rPr sz="2000" b="1" spc="965" dirty="0">
                <a:latin typeface="Malgun Gothic"/>
                <a:cs typeface="Malgun Gothic"/>
              </a:rPr>
              <a:t>』</a:t>
            </a:r>
            <a:r>
              <a:rPr sz="2000" b="1" spc="5" dirty="0">
                <a:latin typeface="Malgun Gothic"/>
                <a:cs typeface="Malgun Gothic"/>
              </a:rPr>
              <a:t>제1권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출간</a:t>
            </a:r>
            <a:endParaRPr sz="2000" dirty="0">
              <a:latin typeface="Malgun Gothic"/>
              <a:cs typeface="Malgun Gothic"/>
            </a:endParaRPr>
          </a:p>
          <a:p>
            <a:pPr marL="267970" indent="-254635">
              <a:lnSpc>
                <a:spcPct val="100000"/>
              </a:lnSpc>
              <a:spcBef>
                <a:spcPts val="805"/>
              </a:spcBef>
              <a:buFont typeface="MS UI Gothic"/>
              <a:buChar char="○"/>
              <a:tabLst>
                <a:tab pos="267970" algn="l"/>
                <a:tab pos="268605" algn="l"/>
              </a:tabLst>
            </a:pPr>
            <a:r>
              <a:rPr spc="-5" dirty="0"/>
              <a:t>복지공급에</a:t>
            </a:r>
            <a:r>
              <a:rPr spc="265" dirty="0"/>
              <a:t> </a:t>
            </a:r>
            <a:r>
              <a:rPr dirty="0"/>
              <a:t>대한</a:t>
            </a:r>
            <a:r>
              <a:rPr spc="265" dirty="0"/>
              <a:t> </a:t>
            </a:r>
            <a:r>
              <a:rPr spc="-5" dirty="0"/>
              <a:t>변화된</a:t>
            </a:r>
            <a:r>
              <a:rPr spc="270" dirty="0"/>
              <a:t> </a:t>
            </a:r>
            <a:r>
              <a:rPr dirty="0"/>
              <a:t>자세</a:t>
            </a:r>
          </a:p>
          <a:p>
            <a:pPr marL="441325" marR="5080" lvl="1" indent="-301625">
              <a:lnSpc>
                <a:spcPts val="3200"/>
              </a:lnSpc>
              <a:spcBef>
                <a:spcPts val="229"/>
              </a:spcBef>
              <a:buChar char="-"/>
              <a:tabLst>
                <a:tab pos="441325" algn="l"/>
                <a:tab pos="441959" algn="l"/>
                <a:tab pos="1851025" algn="l"/>
                <a:tab pos="3007995" algn="l"/>
                <a:tab pos="4163695" algn="l"/>
                <a:tab pos="5320665" algn="l"/>
                <a:tab pos="5969000" algn="l"/>
                <a:tab pos="6871970" algn="l"/>
                <a:tab pos="8028940" algn="l"/>
              </a:tabLst>
            </a:pPr>
            <a:r>
              <a:rPr sz="2000" b="1" spc="-15" dirty="0">
                <a:latin typeface="Malgun Gothic"/>
                <a:cs typeface="Malgun Gothic"/>
              </a:rPr>
              <a:t>경</a:t>
            </a:r>
            <a:r>
              <a:rPr sz="2000" b="1" dirty="0">
                <a:latin typeface="Malgun Gothic"/>
                <a:cs typeface="Malgun Gothic"/>
              </a:rPr>
              <a:t>제성</a:t>
            </a:r>
            <a:r>
              <a:rPr sz="2000" b="1" spc="-15" dirty="0">
                <a:latin typeface="Malgun Gothic"/>
                <a:cs typeface="Malgun Gothic"/>
              </a:rPr>
              <a:t>장</a:t>
            </a:r>
            <a:r>
              <a:rPr sz="2000" b="1" dirty="0">
                <a:latin typeface="Malgun Gothic"/>
                <a:cs typeface="Malgun Gothic"/>
              </a:rPr>
              <a:t>은	건</a:t>
            </a:r>
            <a:r>
              <a:rPr sz="2000" b="1" spc="-15" dirty="0">
                <a:latin typeface="Malgun Gothic"/>
                <a:cs typeface="Malgun Gothic"/>
              </a:rPr>
              <a:t>강</a:t>
            </a:r>
            <a:r>
              <a:rPr sz="2000" b="1" dirty="0">
                <a:latin typeface="Malgun Gothic"/>
                <a:cs typeface="Malgun Gothic"/>
              </a:rPr>
              <a:t>하고	</a:t>
            </a:r>
            <a:r>
              <a:rPr sz="2000" b="1" spc="-15" dirty="0">
                <a:latin typeface="Malgun Gothic"/>
                <a:cs typeface="Malgun Gothic"/>
              </a:rPr>
              <a:t>교</a:t>
            </a:r>
            <a:r>
              <a:rPr sz="2000" b="1" dirty="0">
                <a:latin typeface="Malgun Gothic"/>
                <a:cs typeface="Malgun Gothic"/>
              </a:rPr>
              <a:t>육받은	노동</a:t>
            </a:r>
            <a:r>
              <a:rPr sz="2000" b="1" spc="-15" dirty="0">
                <a:latin typeface="Malgun Gothic"/>
                <a:cs typeface="Malgun Gothic"/>
              </a:rPr>
              <a:t>력</a:t>
            </a:r>
            <a:r>
              <a:rPr sz="2000" b="1" dirty="0">
                <a:latin typeface="Malgun Gothic"/>
                <a:cs typeface="Malgun Gothic"/>
              </a:rPr>
              <a:t>에	의해	영향을	받는</a:t>
            </a:r>
            <a:r>
              <a:rPr sz="2000" b="1" spc="-15" dirty="0">
                <a:latin typeface="Malgun Gothic"/>
                <a:cs typeface="Malgun Gothic"/>
              </a:rPr>
              <a:t>다</a:t>
            </a:r>
            <a:r>
              <a:rPr sz="2000" b="1" dirty="0">
                <a:latin typeface="Malgun Gothic"/>
                <a:cs typeface="Malgun Gothic"/>
              </a:rPr>
              <a:t>는	믿음  </a:t>
            </a:r>
            <a:r>
              <a:rPr sz="2000" b="1" spc="-10" dirty="0">
                <a:latin typeface="Malgun Gothic"/>
                <a:cs typeface="Malgun Gothic"/>
              </a:rPr>
              <a:t>확산</a:t>
            </a:r>
            <a:endParaRPr sz="2000" dirty="0">
              <a:latin typeface="Malgun Gothic"/>
              <a:cs typeface="Malgun Gothic"/>
            </a:endParaRPr>
          </a:p>
          <a:p>
            <a:pPr marL="426084" lvl="1" indent="-287020">
              <a:lnSpc>
                <a:spcPct val="100000"/>
              </a:lnSpc>
              <a:spcBef>
                <a:spcPts val="565"/>
              </a:spcBef>
              <a:buChar char="-"/>
              <a:tabLst>
                <a:tab pos="426720" algn="l"/>
              </a:tabLst>
            </a:pPr>
            <a:r>
              <a:rPr sz="2000" b="1" dirty="0">
                <a:latin typeface="Malgun Gothic"/>
                <a:cs typeface="Malgun Gothic"/>
              </a:rPr>
              <a:t>민간</a:t>
            </a:r>
            <a:r>
              <a:rPr sz="2000" b="1" spc="26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자선행위의</a:t>
            </a:r>
            <a:r>
              <a:rPr sz="2000" b="1" spc="2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한계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인식</a:t>
            </a:r>
            <a:endParaRPr sz="2000" dirty="0">
              <a:latin typeface="Malgun Gothic"/>
              <a:cs typeface="Malgun Gothic"/>
            </a:endParaRPr>
          </a:p>
          <a:p>
            <a:pPr marL="441325" marR="5080" lvl="1" indent="-301625">
              <a:lnSpc>
                <a:spcPts val="3200"/>
              </a:lnSpc>
              <a:spcBef>
                <a:spcPts val="229"/>
              </a:spcBef>
              <a:buChar char="-"/>
              <a:tabLst>
                <a:tab pos="453390" algn="l"/>
                <a:tab pos="454025" algn="l"/>
                <a:tab pos="1622425" algn="l"/>
                <a:tab pos="2537460" algn="l"/>
                <a:tab pos="3452495" algn="l"/>
                <a:tab pos="4621530" algn="l"/>
                <a:tab pos="5536565" algn="l"/>
                <a:tab pos="6451600" algn="l"/>
                <a:tab pos="7366634" algn="l"/>
                <a:tab pos="8282940" algn="l"/>
              </a:tabLst>
            </a:pPr>
            <a:r>
              <a:rPr sz="2000" b="1" dirty="0">
                <a:highlight>
                  <a:srgbClr val="FFFF00"/>
                </a:highlight>
                <a:latin typeface="Malgun Gothic"/>
                <a:cs typeface="Malgun Gothic"/>
              </a:rPr>
              <a:t>적</a:t>
            </a:r>
            <a:r>
              <a:rPr sz="2000" b="1" spc="-15" dirty="0">
                <a:highlight>
                  <a:srgbClr val="FFFF00"/>
                </a:highlight>
                <a:latin typeface="Malgun Gothic"/>
                <a:cs typeface="Malgun Gothic"/>
              </a:rPr>
              <a:t>극</a:t>
            </a:r>
            <a:r>
              <a:rPr sz="2000" b="1" dirty="0">
                <a:highlight>
                  <a:srgbClr val="FFFF00"/>
                </a:highlight>
                <a:latin typeface="Malgun Gothic"/>
                <a:cs typeface="Malgun Gothic"/>
              </a:rPr>
              <a:t>적인	</a:t>
            </a:r>
            <a:r>
              <a:rPr sz="2000" b="1" spc="-15" dirty="0">
                <a:highlight>
                  <a:srgbClr val="FFFF00"/>
                </a:highlight>
                <a:latin typeface="Malgun Gothic"/>
                <a:cs typeface="Malgun Gothic"/>
              </a:rPr>
              <a:t>자</a:t>
            </a:r>
            <a:r>
              <a:rPr sz="2000" b="1" dirty="0">
                <a:highlight>
                  <a:srgbClr val="FFFF00"/>
                </a:highlight>
                <a:latin typeface="Malgun Gothic"/>
                <a:cs typeface="Malgun Gothic"/>
              </a:rPr>
              <a:t>유는	경</a:t>
            </a:r>
            <a:r>
              <a:rPr sz="2000" b="1" spc="-15" dirty="0">
                <a:highlight>
                  <a:srgbClr val="FFFF00"/>
                </a:highlight>
                <a:latin typeface="Malgun Gothic"/>
                <a:cs typeface="Malgun Gothic"/>
              </a:rPr>
              <a:t>제</a:t>
            </a:r>
            <a:r>
              <a:rPr sz="2000" b="1" dirty="0">
                <a:highlight>
                  <a:srgbClr val="FFFF00"/>
                </a:highlight>
                <a:latin typeface="Malgun Gothic"/>
                <a:cs typeface="Malgun Gothic"/>
              </a:rPr>
              <a:t>적	자</a:t>
            </a:r>
            <a:r>
              <a:rPr sz="2000" b="1" spc="-15" dirty="0">
                <a:highlight>
                  <a:srgbClr val="FFFF00"/>
                </a:highlight>
                <a:latin typeface="Malgun Gothic"/>
                <a:cs typeface="Malgun Gothic"/>
              </a:rPr>
              <a:t>유</a:t>
            </a:r>
            <a:r>
              <a:rPr sz="2000" b="1" dirty="0">
                <a:highlight>
                  <a:srgbClr val="FFFF00"/>
                </a:highlight>
                <a:latin typeface="Malgun Gothic"/>
                <a:cs typeface="Malgun Gothic"/>
              </a:rPr>
              <a:t>뿐만	아</a:t>
            </a:r>
            <a:r>
              <a:rPr sz="2000" b="1" spc="-15" dirty="0">
                <a:highlight>
                  <a:srgbClr val="FFFF00"/>
                </a:highlight>
                <a:latin typeface="Malgun Gothic"/>
                <a:cs typeface="Malgun Gothic"/>
              </a:rPr>
              <a:t>니</a:t>
            </a:r>
            <a:r>
              <a:rPr sz="2000" b="1" dirty="0">
                <a:highlight>
                  <a:srgbClr val="FFFF00"/>
                </a:highlight>
                <a:latin typeface="Malgun Gothic"/>
                <a:cs typeface="Malgun Gothic"/>
              </a:rPr>
              <a:t>라	경</a:t>
            </a:r>
            <a:r>
              <a:rPr sz="2000" b="1" spc="-15" dirty="0">
                <a:highlight>
                  <a:srgbClr val="FFFF00"/>
                </a:highlight>
                <a:latin typeface="Malgun Gothic"/>
                <a:cs typeface="Malgun Gothic"/>
              </a:rPr>
              <a:t>제</a:t>
            </a:r>
            <a:r>
              <a:rPr sz="2000" b="1" dirty="0">
                <a:highlight>
                  <a:srgbClr val="FFFF00"/>
                </a:highlight>
                <a:latin typeface="Malgun Gothic"/>
                <a:cs typeface="Malgun Gothic"/>
              </a:rPr>
              <a:t>적	보장의	수단도	포  함</a:t>
            </a:r>
            <a:r>
              <a:rPr sz="2000" b="1" spc="2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2000" b="1" spc="140" dirty="0">
                <a:highlight>
                  <a:srgbClr val="FFFF00"/>
                </a:highlight>
                <a:latin typeface="Malgun Gothic"/>
                <a:cs typeface="Malgun Gothic"/>
              </a:rPr>
              <a:t>:</a:t>
            </a:r>
            <a:r>
              <a:rPr sz="2000" b="1" spc="29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2000" b="1" spc="-5" dirty="0">
                <a:solidFill>
                  <a:srgbClr val="0000FF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빈곤으로부터의</a:t>
            </a:r>
            <a:r>
              <a:rPr sz="2000" b="1" spc="290" dirty="0">
                <a:solidFill>
                  <a:srgbClr val="0000FF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2000" b="1" spc="-10" dirty="0">
                <a:solidFill>
                  <a:srgbClr val="0000FF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자유</a:t>
            </a:r>
            <a:endParaRPr sz="2000" dirty="0">
              <a:highlight>
                <a:srgbClr val="FFFF00"/>
              </a:highlight>
              <a:latin typeface="Malgun Gothic"/>
              <a:cs typeface="Malgun Gothic"/>
            </a:endParaRPr>
          </a:p>
          <a:p>
            <a:pPr marL="267970" indent="-254635">
              <a:lnSpc>
                <a:spcPct val="100000"/>
              </a:lnSpc>
              <a:spcBef>
                <a:spcPts val="565"/>
              </a:spcBef>
              <a:buFont typeface="MS UI Gothic"/>
              <a:buChar char="○"/>
              <a:tabLst>
                <a:tab pos="267970" algn="l"/>
                <a:tab pos="268605" algn="l"/>
              </a:tabLst>
            </a:pPr>
            <a:r>
              <a:rPr spc="-5" dirty="0"/>
              <a:t>노동자계급의</a:t>
            </a:r>
            <a:r>
              <a:rPr spc="275" dirty="0"/>
              <a:t> </a:t>
            </a:r>
            <a:r>
              <a:rPr spc="-5" dirty="0"/>
              <a:t>자립이념을</a:t>
            </a:r>
            <a:r>
              <a:rPr spc="280" dirty="0"/>
              <a:t> </a:t>
            </a:r>
            <a:r>
              <a:rPr spc="-5" dirty="0"/>
              <a:t>대변하는</a:t>
            </a:r>
            <a:r>
              <a:rPr spc="280" dirty="0"/>
              <a:t> </a:t>
            </a:r>
            <a:r>
              <a:rPr spc="-5" dirty="0"/>
              <a:t>압력단체의</a:t>
            </a:r>
            <a:r>
              <a:rPr spc="280" dirty="0"/>
              <a:t> </a:t>
            </a:r>
            <a:r>
              <a:rPr dirty="0"/>
              <a:t>활동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spc="285" dirty="0">
                <a:latin typeface="Arial MT"/>
                <a:cs typeface="Arial MT"/>
              </a:rPr>
              <a:t>-</a:t>
            </a:r>
            <a:r>
              <a:rPr sz="1000" spc="175" dirty="0">
                <a:latin typeface="Arial MT"/>
                <a:cs typeface="Arial MT"/>
              </a:rPr>
              <a:t> </a:t>
            </a:r>
            <a:fld id="{81D60167-4931-47E6-BA6A-407CBD079E47}" type="slidenum">
              <a:rPr sz="1000" spc="15" dirty="0">
                <a:latin typeface="Arial MT"/>
                <a:cs typeface="Arial MT"/>
              </a:rPr>
              <a:t>9</a:t>
            </a:fld>
            <a:r>
              <a:rPr sz="1000" spc="195" dirty="0">
                <a:latin typeface="Arial MT"/>
                <a:cs typeface="Arial MT"/>
              </a:rPr>
              <a:t> </a:t>
            </a:r>
            <a:r>
              <a:rPr sz="1000" spc="285" dirty="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20275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2.</a:t>
            </a:r>
            <a:r>
              <a:rPr spc="250" dirty="0"/>
              <a:t> </a:t>
            </a:r>
            <a:r>
              <a:rPr dirty="0"/>
              <a:t>새로운</a:t>
            </a:r>
            <a:r>
              <a:rPr spc="250" dirty="0"/>
              <a:t> </a:t>
            </a:r>
            <a:r>
              <a:rPr spc="-5" dirty="0"/>
              <a:t>법안들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67970" indent="-254635">
              <a:lnSpc>
                <a:spcPct val="100000"/>
              </a:lnSpc>
              <a:spcBef>
                <a:spcPts val="900"/>
              </a:spcBef>
              <a:buFont typeface="MS UI Gothic"/>
              <a:buChar char="○"/>
              <a:tabLst>
                <a:tab pos="267970" algn="l"/>
                <a:tab pos="268605" algn="l"/>
              </a:tabLst>
            </a:pPr>
            <a:r>
              <a:rPr spc="15" dirty="0"/>
              <a:t>노령연금법(1908)</a:t>
            </a:r>
          </a:p>
          <a:p>
            <a:pPr marL="438150" marR="6985" lvl="1" indent="-298450">
              <a:lnSpc>
                <a:spcPct val="132900"/>
              </a:lnSpc>
              <a:spcBef>
                <a:spcPts val="15"/>
              </a:spcBef>
              <a:buChar char="-"/>
              <a:tabLst>
                <a:tab pos="438150" algn="l"/>
                <a:tab pos="438784" algn="l"/>
                <a:tab pos="1846580" algn="l"/>
                <a:tab pos="3253104" algn="l"/>
                <a:tab pos="3834765" algn="l"/>
                <a:tab pos="4734560" algn="l"/>
                <a:tab pos="5429885" algn="l"/>
                <a:tab pos="6329680" algn="l"/>
                <a:tab pos="7738109" algn="l"/>
                <a:tab pos="8383270" algn="l"/>
              </a:tabLst>
            </a:pPr>
            <a:r>
              <a:rPr sz="2000" b="1" dirty="0">
                <a:latin typeface="Malgun Gothic"/>
                <a:cs typeface="Malgun Gothic"/>
              </a:rPr>
              <a:t>원</a:t>
            </a:r>
            <a:r>
              <a:rPr sz="2000" b="1" spc="-15" dirty="0">
                <a:latin typeface="Malgun Gothic"/>
                <a:cs typeface="Malgun Gothic"/>
              </a:rPr>
              <a:t>칙</a:t>
            </a:r>
            <a:r>
              <a:rPr sz="2000" b="1" dirty="0">
                <a:latin typeface="Malgun Gothic"/>
                <a:cs typeface="Malgun Gothic"/>
              </a:rPr>
              <a:t>적으로	</a:t>
            </a:r>
            <a:r>
              <a:rPr sz="2000" b="1" spc="-15" dirty="0">
                <a:latin typeface="Malgun Gothic"/>
                <a:cs typeface="Malgun Gothic"/>
              </a:rPr>
              <a:t>연</a:t>
            </a:r>
            <a:r>
              <a:rPr sz="2000" b="1" dirty="0">
                <a:latin typeface="Malgun Gothic"/>
                <a:cs typeface="Malgun Gothic"/>
              </a:rPr>
              <a:t>간소</a:t>
            </a:r>
            <a:r>
              <a:rPr sz="2000" b="1" spc="-15" dirty="0">
                <a:latin typeface="Malgun Gothic"/>
                <a:cs typeface="Malgun Gothic"/>
              </a:rPr>
              <a:t>득</a:t>
            </a:r>
            <a:r>
              <a:rPr sz="2000" b="1" dirty="0">
                <a:latin typeface="Malgun Gothic"/>
                <a:cs typeface="Malgun Gothic"/>
              </a:rPr>
              <a:t>이	</a:t>
            </a:r>
            <a:r>
              <a:rPr sz="2000" b="1" spc="-65" dirty="0">
                <a:latin typeface="Malgun Gothic"/>
                <a:cs typeface="Malgun Gothic"/>
              </a:rPr>
              <a:t>₤</a:t>
            </a:r>
            <a:r>
              <a:rPr sz="2000" b="1" spc="20" dirty="0">
                <a:latin typeface="Malgun Gothic"/>
                <a:cs typeface="Malgun Gothic"/>
              </a:rPr>
              <a:t>3</a:t>
            </a:r>
            <a:r>
              <a:rPr sz="2000" b="1" spc="30" dirty="0">
                <a:latin typeface="Malgun Gothic"/>
                <a:cs typeface="Malgun Gothic"/>
              </a:rPr>
              <a:t>1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5" dirty="0">
                <a:latin typeface="Malgun Gothic"/>
                <a:cs typeface="Malgun Gothic"/>
              </a:rPr>
              <a:t>이</a:t>
            </a:r>
            <a:r>
              <a:rPr sz="2000" b="1" dirty="0">
                <a:latin typeface="Malgun Gothic"/>
                <a:cs typeface="Malgun Gothic"/>
              </a:rPr>
              <a:t>하인	</a:t>
            </a:r>
            <a:r>
              <a:rPr sz="2000" b="1" spc="20" dirty="0">
                <a:latin typeface="Malgun Gothic"/>
                <a:cs typeface="Malgun Gothic"/>
              </a:rPr>
              <a:t>7</a:t>
            </a:r>
            <a:r>
              <a:rPr sz="2000" b="1" spc="35" dirty="0">
                <a:latin typeface="Malgun Gothic"/>
                <a:cs typeface="Malgun Gothic"/>
              </a:rPr>
              <a:t>0</a:t>
            </a:r>
            <a:r>
              <a:rPr sz="2000" b="1" dirty="0">
                <a:latin typeface="Malgun Gothic"/>
                <a:cs typeface="Malgun Gothic"/>
              </a:rPr>
              <a:t>세	</a:t>
            </a:r>
            <a:r>
              <a:rPr sz="2000" b="1" spc="-15" dirty="0">
                <a:latin typeface="Malgun Gothic"/>
                <a:cs typeface="Malgun Gothic"/>
              </a:rPr>
              <a:t>이</a:t>
            </a:r>
            <a:r>
              <a:rPr sz="2000" b="1" dirty="0">
                <a:latin typeface="Malgun Gothic"/>
                <a:cs typeface="Malgun Gothic"/>
              </a:rPr>
              <a:t>상의	국</a:t>
            </a:r>
            <a:r>
              <a:rPr sz="2000" b="1" spc="-15" dirty="0">
                <a:latin typeface="Malgun Gothic"/>
                <a:cs typeface="Malgun Gothic"/>
              </a:rPr>
              <a:t>민</a:t>
            </a:r>
            <a:r>
              <a:rPr sz="2000" b="1" dirty="0">
                <a:latin typeface="Malgun Gothic"/>
                <a:cs typeface="Malgun Gothic"/>
              </a:rPr>
              <a:t>들에게	</a:t>
            </a:r>
            <a:r>
              <a:rPr sz="2000" b="1" spc="-15" dirty="0">
                <a:latin typeface="Malgun Gothic"/>
                <a:cs typeface="Malgun Gothic"/>
              </a:rPr>
              <a:t>주</a:t>
            </a:r>
            <a:r>
              <a:rPr sz="2000" b="1" dirty="0">
                <a:latin typeface="Malgun Gothic"/>
                <a:cs typeface="Malgun Gothic"/>
              </a:rPr>
              <a:t>당	</a:t>
            </a:r>
            <a:r>
              <a:rPr sz="2000" b="1" spc="20" dirty="0">
                <a:latin typeface="Malgun Gothic"/>
                <a:cs typeface="Malgun Gothic"/>
              </a:rPr>
              <a:t>5  </a:t>
            </a:r>
            <a:r>
              <a:rPr sz="2000" b="1" spc="-5" dirty="0">
                <a:latin typeface="Malgun Gothic"/>
                <a:cs typeface="Malgun Gothic"/>
              </a:rPr>
              <a:t>실링의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노후소득을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보장하는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비기여형</a:t>
            </a:r>
            <a:r>
              <a:rPr sz="2000" b="1" spc="285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연금제도</a:t>
            </a:r>
            <a:endParaRPr sz="2000">
              <a:latin typeface="Malgun Gothic"/>
              <a:cs typeface="Malgun Gothic"/>
            </a:endParaRPr>
          </a:p>
          <a:p>
            <a:pPr marL="426084" lvl="1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6720" algn="l"/>
              </a:tabLst>
            </a:pPr>
            <a:r>
              <a:rPr sz="2000" b="1" spc="40" dirty="0">
                <a:solidFill>
                  <a:srgbClr val="0000FF"/>
                </a:solidFill>
                <a:latin typeface="Malgun Gothic"/>
                <a:cs typeface="Malgun Gothic"/>
              </a:rPr>
              <a:t>한국:</a:t>
            </a:r>
            <a:r>
              <a:rPr sz="2000" b="1" spc="245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기초연금</a:t>
            </a:r>
            <a:endParaRPr sz="2000">
              <a:latin typeface="Malgun Gothic"/>
              <a:cs typeface="Malgun Gothic"/>
            </a:endParaRPr>
          </a:p>
          <a:p>
            <a:pPr marL="1270" lvl="1">
              <a:lnSpc>
                <a:spcPct val="100000"/>
              </a:lnSpc>
              <a:buChar char="-"/>
            </a:pPr>
            <a:endParaRPr sz="2200"/>
          </a:p>
          <a:p>
            <a:pPr marL="267970" indent="-254635">
              <a:lnSpc>
                <a:spcPct val="100000"/>
              </a:lnSpc>
              <a:spcBef>
                <a:spcPts val="5"/>
              </a:spcBef>
              <a:buFont typeface="MS UI Gothic"/>
              <a:buChar char="○"/>
              <a:tabLst>
                <a:tab pos="267970" algn="l"/>
                <a:tab pos="268605" algn="l"/>
              </a:tabLst>
            </a:pPr>
            <a:r>
              <a:rPr spc="-5" dirty="0"/>
              <a:t>실업과</a:t>
            </a:r>
            <a:r>
              <a:rPr spc="240" dirty="0"/>
              <a:t> </a:t>
            </a:r>
            <a:r>
              <a:rPr spc="-5" dirty="0"/>
              <a:t>최저임금</a:t>
            </a:r>
          </a:p>
          <a:p>
            <a:pPr marL="430530" marR="5080" lvl="1" indent="-290830">
              <a:lnSpc>
                <a:spcPct val="133400"/>
              </a:lnSpc>
              <a:buChar char="-"/>
              <a:tabLst>
                <a:tab pos="431165" algn="l"/>
              </a:tabLst>
            </a:pPr>
            <a:r>
              <a:rPr sz="2000" b="1" spc="-5" dirty="0">
                <a:latin typeface="Malgun Gothic"/>
                <a:cs typeface="Malgun Gothic"/>
              </a:rPr>
              <a:t>실업보험제도는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일부</a:t>
            </a:r>
            <a:r>
              <a:rPr sz="2000" b="1" spc="32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산업과</a:t>
            </a:r>
            <a:r>
              <a:rPr sz="2000" b="1" spc="32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연소득</a:t>
            </a:r>
            <a:r>
              <a:rPr sz="2000" b="1" spc="320" dirty="0">
                <a:latin typeface="Malgun Gothic"/>
                <a:cs typeface="Malgun Gothic"/>
              </a:rPr>
              <a:t> </a:t>
            </a:r>
            <a:r>
              <a:rPr sz="2000" b="1" spc="5" dirty="0">
                <a:latin typeface="Malgun Gothic"/>
                <a:cs typeface="Malgun Gothic"/>
              </a:rPr>
              <a:t>₤160</a:t>
            </a:r>
            <a:r>
              <a:rPr sz="2000" b="1" spc="31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이하의</a:t>
            </a:r>
            <a:r>
              <a:rPr sz="2000" b="1" spc="32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저임금근로자를</a:t>
            </a:r>
            <a:r>
              <a:rPr sz="2000" b="1" spc="32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대 </a:t>
            </a:r>
            <a:r>
              <a:rPr sz="2000" b="1" spc="-6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상으로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시행</a:t>
            </a:r>
            <a:endParaRPr sz="2000">
              <a:latin typeface="Malgun Gothic"/>
              <a:cs typeface="Malgun Gothic"/>
            </a:endParaRPr>
          </a:p>
          <a:p>
            <a:pPr marL="426084" lvl="1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6720" algn="l"/>
              </a:tabLst>
            </a:pPr>
            <a:r>
              <a:rPr sz="2000" b="1" dirty="0">
                <a:latin typeface="Malgun Gothic"/>
                <a:cs typeface="Malgun Gothic"/>
              </a:rPr>
              <a:t>낮은</a:t>
            </a:r>
            <a:r>
              <a:rPr sz="2000" b="1" spc="229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소득대체율</a:t>
            </a:r>
            <a:endParaRPr sz="2000">
              <a:latin typeface="Malgun Gothic"/>
              <a:cs typeface="Malgun Gothic"/>
            </a:endParaRPr>
          </a:p>
          <a:p>
            <a:pPr marL="426084" lvl="1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6720" algn="l"/>
              </a:tabLst>
            </a:pPr>
            <a:r>
              <a:rPr sz="2000" b="1" spc="-5" dirty="0">
                <a:latin typeface="Malgun Gothic"/>
                <a:cs typeface="Malgun Gothic"/>
              </a:rPr>
              <a:t>제한적인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범위에서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최저임금을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책정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t>10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108965"/>
            <a:ext cx="8549005" cy="530479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890"/>
              </a:spcBef>
              <a:buFont typeface="MS UI Gothic"/>
              <a:buChar char="○"/>
              <a:tabLst>
                <a:tab pos="266700" algn="l"/>
                <a:tab pos="267335" algn="l"/>
              </a:tabLst>
            </a:pPr>
            <a:r>
              <a:rPr sz="2000" b="1" spc="-5" dirty="0">
                <a:latin typeface="Malgun Gothic"/>
                <a:cs typeface="Malgun Gothic"/>
              </a:rPr>
              <a:t>보건의료</a:t>
            </a:r>
            <a:endParaRPr sz="2000">
              <a:latin typeface="Malgun Gothic"/>
              <a:cs typeface="Malgun Gothic"/>
            </a:endParaRPr>
          </a:p>
          <a:p>
            <a:pPr marL="424815" lvl="1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건강보험은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국가적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차원의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효율성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관점에서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입법화</a:t>
            </a:r>
            <a:endParaRPr sz="2000">
              <a:latin typeface="Malgun Gothic"/>
              <a:cs typeface="Malgun Gothic"/>
            </a:endParaRPr>
          </a:p>
          <a:p>
            <a:pPr marL="424815" lvl="1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sz="2000" b="1" spc="20" dirty="0">
                <a:latin typeface="Malgun Gothic"/>
                <a:cs typeface="Malgun Gothic"/>
              </a:rPr>
              <a:t>1911년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재정된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국민보험법에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건강보험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포함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Malgun Gothic"/>
              <a:buChar char="-"/>
            </a:pPr>
            <a:endParaRPr sz="22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buFont typeface="MS UI Gothic"/>
              <a:buChar char="○"/>
              <a:tabLst>
                <a:tab pos="266700" algn="l"/>
                <a:tab pos="267335" algn="l"/>
              </a:tabLst>
            </a:pPr>
            <a:r>
              <a:rPr sz="2000" b="1" spc="-5" dirty="0">
                <a:latin typeface="Malgun Gothic"/>
                <a:cs typeface="Malgun Gothic"/>
              </a:rPr>
              <a:t>재정정책</a:t>
            </a:r>
            <a:endParaRPr sz="2000">
              <a:latin typeface="Malgun Gothic"/>
              <a:cs typeface="Malgun Gothic"/>
            </a:endParaRPr>
          </a:p>
          <a:p>
            <a:pPr marL="424815" lvl="1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누진세의</a:t>
            </a:r>
            <a:r>
              <a:rPr sz="2000" b="1" spc="26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도입이</a:t>
            </a:r>
            <a:r>
              <a:rPr sz="2000" b="1" spc="26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정당화</a:t>
            </a:r>
            <a:endParaRPr sz="2000">
              <a:latin typeface="Malgun Gothic"/>
              <a:cs typeface="Malgun Gothic"/>
            </a:endParaRPr>
          </a:p>
          <a:p>
            <a:pPr marL="459740" marR="6350" lvl="1" indent="-321310">
              <a:lnSpc>
                <a:spcPct val="132900"/>
              </a:lnSpc>
              <a:spcBef>
                <a:spcPts val="15"/>
              </a:spcBef>
              <a:buChar char="-"/>
              <a:tabLst>
                <a:tab pos="459740" algn="l"/>
                <a:tab pos="460375" algn="l"/>
                <a:tab pos="1382395" algn="l"/>
                <a:tab pos="2813685" algn="l"/>
                <a:tab pos="3735704" algn="l"/>
                <a:tab pos="4405630" algn="l"/>
                <a:tab pos="6343650" algn="l"/>
                <a:tab pos="7266305" algn="l"/>
              </a:tabLst>
            </a:pPr>
            <a:r>
              <a:rPr sz="2000" b="1" dirty="0">
                <a:latin typeface="Malgun Gothic"/>
                <a:cs typeface="Malgun Gothic"/>
              </a:rPr>
              <a:t>균</a:t>
            </a:r>
            <a:r>
              <a:rPr sz="2000" b="1" spc="-15" dirty="0">
                <a:latin typeface="Malgun Gothic"/>
                <a:cs typeface="Malgun Gothic"/>
              </a:rPr>
              <a:t>등</a:t>
            </a:r>
            <a:r>
              <a:rPr sz="2000" b="1" dirty="0">
                <a:latin typeface="Malgun Gothic"/>
                <a:cs typeface="Malgun Gothic"/>
              </a:rPr>
              <a:t>한	한계</a:t>
            </a:r>
            <a:r>
              <a:rPr sz="2000" b="1" spc="-15" dirty="0">
                <a:latin typeface="Malgun Gothic"/>
                <a:cs typeface="Malgun Gothic"/>
              </a:rPr>
              <a:t>희</a:t>
            </a:r>
            <a:r>
              <a:rPr sz="2000" b="1" dirty="0">
                <a:latin typeface="Malgun Gothic"/>
                <a:cs typeface="Malgun Gothic"/>
              </a:rPr>
              <a:t>생과	</a:t>
            </a:r>
            <a:r>
              <a:rPr sz="2000" b="1" spc="-15" dirty="0">
                <a:latin typeface="Malgun Gothic"/>
                <a:cs typeface="Malgun Gothic"/>
              </a:rPr>
              <a:t>소</a:t>
            </a:r>
            <a:r>
              <a:rPr sz="2000" b="1" dirty="0">
                <a:latin typeface="Malgun Gothic"/>
                <a:cs typeface="Malgun Gothic"/>
              </a:rPr>
              <a:t>득에	대한	</a:t>
            </a:r>
            <a:r>
              <a:rPr sz="2000" b="1" spc="-15" dirty="0">
                <a:latin typeface="Malgun Gothic"/>
                <a:cs typeface="Malgun Gothic"/>
              </a:rPr>
              <a:t>한</a:t>
            </a:r>
            <a:r>
              <a:rPr sz="2000" b="1" dirty="0">
                <a:latin typeface="Malgun Gothic"/>
                <a:cs typeface="Malgun Gothic"/>
              </a:rPr>
              <a:t>계효</a:t>
            </a:r>
            <a:r>
              <a:rPr sz="2000" b="1" spc="-15" dirty="0">
                <a:latin typeface="Malgun Gothic"/>
                <a:cs typeface="Malgun Gothic"/>
              </a:rPr>
              <a:t>용</a:t>
            </a:r>
            <a:r>
              <a:rPr sz="2000" b="1" dirty="0">
                <a:latin typeface="Malgun Gothic"/>
                <a:cs typeface="Malgun Gothic"/>
              </a:rPr>
              <a:t>체감의	</a:t>
            </a:r>
            <a:r>
              <a:rPr sz="2000" b="1" spc="-15" dirty="0">
                <a:latin typeface="Malgun Gothic"/>
                <a:cs typeface="Malgun Gothic"/>
              </a:rPr>
              <a:t>법</a:t>
            </a:r>
            <a:r>
              <a:rPr sz="2000" b="1" dirty="0">
                <a:latin typeface="Malgun Gothic"/>
                <a:cs typeface="Malgun Gothic"/>
              </a:rPr>
              <a:t>칙은	</a:t>
            </a:r>
            <a:r>
              <a:rPr sz="2000" b="1" spc="-15" dirty="0">
                <a:latin typeface="Malgun Gothic"/>
                <a:cs typeface="Malgun Gothic"/>
              </a:rPr>
              <a:t>누</a:t>
            </a:r>
            <a:r>
              <a:rPr sz="2000" b="1" dirty="0">
                <a:latin typeface="Malgun Gothic"/>
                <a:cs typeface="Malgun Gothic"/>
              </a:rPr>
              <a:t>진세</a:t>
            </a:r>
            <a:r>
              <a:rPr sz="2000" b="1" spc="-15" dirty="0">
                <a:latin typeface="Malgun Gothic"/>
                <a:cs typeface="Malgun Gothic"/>
              </a:rPr>
              <a:t>제</a:t>
            </a:r>
            <a:r>
              <a:rPr sz="2000" b="1" dirty="0">
                <a:latin typeface="Malgun Gothic"/>
                <a:cs typeface="Malgun Gothic"/>
              </a:rPr>
              <a:t>도  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이론적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기초</a:t>
            </a:r>
            <a:endParaRPr sz="2000">
              <a:latin typeface="Malgun Gothic"/>
              <a:cs typeface="Malgun Gothic"/>
            </a:endParaRPr>
          </a:p>
          <a:p>
            <a:pPr marL="432434" marR="5080" lvl="1" indent="-294005">
              <a:lnSpc>
                <a:spcPct val="129299"/>
              </a:lnSpc>
              <a:spcBef>
                <a:spcPts val="100"/>
              </a:spcBef>
              <a:buChar char="-"/>
              <a:tabLst>
                <a:tab pos="432434" algn="l"/>
                <a:tab pos="433070" algn="l"/>
                <a:tab pos="2531745" algn="l"/>
                <a:tab pos="3935095" algn="l"/>
                <a:tab pos="5339080" algn="l"/>
                <a:tab pos="6234430" algn="l"/>
                <a:tab pos="7131050" algn="l"/>
                <a:tab pos="8027670" algn="l"/>
              </a:tabLst>
            </a:pPr>
            <a:r>
              <a:rPr sz="2000" b="1" spc="-10" dirty="0">
                <a:latin typeface="Malgun Gothic"/>
                <a:cs typeface="Malgun Gothic"/>
              </a:rPr>
              <a:t>H</a:t>
            </a:r>
            <a:r>
              <a:rPr sz="2000" b="1" spc="-80" dirty="0">
                <a:latin typeface="Malgun Gothic"/>
                <a:cs typeface="Malgun Gothic"/>
              </a:rPr>
              <a:t>o</a:t>
            </a:r>
            <a:r>
              <a:rPr sz="2000" b="1" spc="-105" dirty="0">
                <a:latin typeface="Malgun Gothic"/>
                <a:cs typeface="Malgun Gothic"/>
              </a:rPr>
              <a:t>b</a:t>
            </a:r>
            <a:r>
              <a:rPr sz="2000" b="1" spc="114" dirty="0">
                <a:latin typeface="Malgun Gothic"/>
                <a:cs typeface="Malgun Gothic"/>
              </a:rPr>
              <a:t>s</a:t>
            </a:r>
            <a:r>
              <a:rPr sz="2000" b="1" spc="-80" dirty="0">
                <a:latin typeface="Malgun Gothic"/>
                <a:cs typeface="Malgun Gothic"/>
              </a:rPr>
              <a:t>o</a:t>
            </a:r>
            <a:r>
              <a:rPr sz="2000" b="1" spc="-85" dirty="0">
                <a:latin typeface="Malgun Gothic"/>
                <a:cs typeface="Malgun Gothic"/>
              </a:rPr>
              <a:t>n</a:t>
            </a:r>
            <a:r>
              <a:rPr sz="2000" b="1" spc="35" dirty="0">
                <a:latin typeface="Malgun Gothic"/>
                <a:cs typeface="Malgun Gothic"/>
              </a:rPr>
              <a:t>(</a:t>
            </a:r>
            <a:r>
              <a:rPr sz="2000" b="1" spc="20" dirty="0">
                <a:latin typeface="Malgun Gothic"/>
                <a:cs typeface="Malgun Gothic"/>
              </a:rPr>
              <a:t>1</a:t>
            </a:r>
            <a:r>
              <a:rPr sz="2000" b="1" spc="35" dirty="0">
                <a:latin typeface="Malgun Gothic"/>
                <a:cs typeface="Malgun Gothic"/>
              </a:rPr>
              <a:t>9</a:t>
            </a:r>
            <a:r>
              <a:rPr sz="2000" b="1" spc="20" dirty="0">
                <a:latin typeface="Malgun Gothic"/>
                <a:cs typeface="Malgun Gothic"/>
              </a:rPr>
              <a:t>08</a:t>
            </a:r>
            <a:r>
              <a:rPr sz="2000" b="1" spc="35" dirty="0">
                <a:latin typeface="Malgun Gothic"/>
                <a:cs typeface="Malgun Gothic"/>
              </a:rPr>
              <a:t>)</a:t>
            </a:r>
            <a:r>
              <a:rPr sz="2000" b="1" dirty="0">
                <a:latin typeface="Malgun Gothic"/>
                <a:cs typeface="Malgun Gothic"/>
              </a:rPr>
              <a:t>은	</a:t>
            </a:r>
            <a:r>
              <a:rPr sz="2000" b="1" spc="-15" dirty="0">
                <a:latin typeface="Malgun Gothic"/>
                <a:cs typeface="Malgun Gothic"/>
              </a:rPr>
              <a:t>독</a:t>
            </a:r>
            <a:r>
              <a:rPr sz="2000" b="1" dirty="0">
                <a:latin typeface="Malgun Gothic"/>
                <a:cs typeface="Malgun Gothic"/>
              </a:rPr>
              <a:t>점시</a:t>
            </a:r>
            <a:r>
              <a:rPr sz="2000" b="1" spc="-15" dirty="0">
                <a:latin typeface="Malgun Gothic"/>
                <a:cs typeface="Malgun Gothic"/>
              </a:rPr>
              <a:t>장</a:t>
            </a:r>
            <a:r>
              <a:rPr sz="2000" b="1" dirty="0">
                <a:latin typeface="Malgun Gothic"/>
                <a:cs typeface="Malgun Gothic"/>
              </a:rPr>
              <a:t>의	</a:t>
            </a:r>
            <a:r>
              <a:rPr sz="2000" b="1" spc="-15" dirty="0">
                <a:latin typeface="Malgun Gothic"/>
                <a:cs typeface="Malgun Gothic"/>
              </a:rPr>
              <a:t>부</a:t>
            </a:r>
            <a:r>
              <a:rPr sz="2000" b="1" dirty="0">
                <a:latin typeface="Malgun Gothic"/>
                <a:cs typeface="Malgun Gothic"/>
              </a:rPr>
              <a:t>작용</a:t>
            </a:r>
            <a:r>
              <a:rPr sz="2000" b="1" spc="-15" dirty="0">
                <a:latin typeface="Malgun Gothic"/>
                <a:cs typeface="Malgun Gothic"/>
              </a:rPr>
              <a:t>으</a:t>
            </a:r>
            <a:r>
              <a:rPr sz="2000" b="1" dirty="0">
                <a:latin typeface="Malgun Gothic"/>
                <a:cs typeface="Malgun Gothic"/>
              </a:rPr>
              <a:t>로	</a:t>
            </a:r>
            <a:r>
              <a:rPr sz="2000" b="1" spc="-15" dirty="0">
                <a:latin typeface="Malgun Gothic"/>
                <a:cs typeface="Malgun Gothic"/>
              </a:rPr>
              <a:t>분</a:t>
            </a:r>
            <a:r>
              <a:rPr sz="2000" b="1" dirty="0">
                <a:latin typeface="Malgun Gothic"/>
                <a:cs typeface="Malgun Gothic"/>
              </a:rPr>
              <a:t>배의	왜곡과	소비의	부족  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지적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100" b="1" spc="40" dirty="0">
                <a:latin typeface="Malgun Gothic"/>
                <a:cs typeface="Malgun Gothic"/>
              </a:rPr>
              <a:t>The</a:t>
            </a:r>
            <a:r>
              <a:rPr sz="2100" b="1" spc="265" dirty="0">
                <a:latin typeface="Malgun Gothic"/>
                <a:cs typeface="Malgun Gothic"/>
              </a:rPr>
              <a:t> </a:t>
            </a:r>
            <a:r>
              <a:rPr sz="2100" b="1" spc="-70" dirty="0">
                <a:latin typeface="Malgun Gothic"/>
                <a:cs typeface="Malgun Gothic"/>
              </a:rPr>
              <a:t>Problem</a:t>
            </a:r>
            <a:r>
              <a:rPr sz="2100" b="1" spc="265" dirty="0">
                <a:latin typeface="Malgun Gothic"/>
                <a:cs typeface="Malgun Gothic"/>
              </a:rPr>
              <a:t> </a:t>
            </a:r>
            <a:r>
              <a:rPr sz="2100" b="1" spc="-100" dirty="0">
                <a:latin typeface="Malgun Gothic"/>
                <a:cs typeface="Malgun Gothic"/>
              </a:rPr>
              <a:t>of</a:t>
            </a:r>
            <a:r>
              <a:rPr sz="2100" b="1" spc="254" dirty="0">
                <a:latin typeface="Malgun Gothic"/>
                <a:cs typeface="Malgun Gothic"/>
              </a:rPr>
              <a:t> </a:t>
            </a:r>
            <a:r>
              <a:rPr sz="2100" b="1" spc="-75" dirty="0">
                <a:latin typeface="Malgun Gothic"/>
                <a:cs typeface="Malgun Gothic"/>
              </a:rPr>
              <a:t>the</a:t>
            </a:r>
            <a:r>
              <a:rPr sz="2100" b="1" spc="250" dirty="0">
                <a:latin typeface="Malgun Gothic"/>
                <a:cs typeface="Malgun Gothic"/>
              </a:rPr>
              <a:t> </a:t>
            </a:r>
            <a:r>
              <a:rPr sz="2100" b="1" spc="-85" dirty="0">
                <a:latin typeface="Malgun Gothic"/>
                <a:cs typeface="Malgun Gothic"/>
              </a:rPr>
              <a:t>Unemployed</a:t>
            </a:r>
            <a:endParaRPr sz="2100">
              <a:latin typeface="Malgun Gothic"/>
              <a:cs typeface="Malgun Gothic"/>
            </a:endParaRPr>
          </a:p>
          <a:p>
            <a:pPr marL="511809" lvl="2" indent="-119380">
              <a:lnSpc>
                <a:spcPct val="100000"/>
              </a:lnSpc>
              <a:spcBef>
                <a:spcPts val="770"/>
              </a:spcBef>
              <a:buClr>
                <a:srgbClr val="000000"/>
              </a:buClr>
              <a:buSzPct val="95000"/>
              <a:buFont typeface="MS UI Gothic"/>
              <a:buChar char="‣"/>
              <a:tabLst>
                <a:tab pos="512445" algn="l"/>
              </a:tabLst>
            </a:pPr>
            <a:r>
              <a:rPr sz="2000" b="1" spc="-35" dirty="0">
                <a:solidFill>
                  <a:srgbClr val="0000FF"/>
                </a:solidFill>
                <a:latin typeface="Malgun Gothic"/>
                <a:cs typeface="Malgun Gothic"/>
              </a:rPr>
              <a:t>Hobson은</a:t>
            </a:r>
            <a:r>
              <a:rPr sz="2000" b="1" spc="280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실업문제의</a:t>
            </a:r>
            <a:r>
              <a:rPr sz="2000" b="1" spc="280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해소방안으로</a:t>
            </a:r>
            <a:r>
              <a:rPr sz="2000" b="1" spc="280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소득재분배정책을</a:t>
            </a:r>
            <a:r>
              <a:rPr sz="2000" b="1" spc="285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주장</a:t>
            </a:r>
            <a:endParaRPr sz="2000">
              <a:latin typeface="Malgun Gothic"/>
              <a:cs typeface="Malgun Gothic"/>
            </a:endParaRPr>
          </a:p>
          <a:p>
            <a:pPr marL="511809" lvl="2" indent="-119380">
              <a:lnSpc>
                <a:spcPct val="100000"/>
              </a:lnSpc>
              <a:spcBef>
                <a:spcPts val="800"/>
              </a:spcBef>
              <a:buSzPct val="95000"/>
              <a:buFont typeface="MS UI Gothic"/>
              <a:buChar char="‣"/>
              <a:tabLst>
                <a:tab pos="512445" algn="l"/>
              </a:tabLst>
            </a:pPr>
            <a:r>
              <a:rPr sz="2000" b="1" spc="60" dirty="0">
                <a:latin typeface="Malgun Gothic"/>
                <a:cs typeface="Malgun Gothic"/>
              </a:rPr>
              <a:t>Keynes의</a:t>
            </a:r>
            <a:r>
              <a:rPr sz="2000" b="1" spc="24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일반이론</a:t>
            </a:r>
            <a:endParaRPr sz="2000">
              <a:latin typeface="Malgun Gothic"/>
              <a:cs typeface="Malgun Gothic"/>
            </a:endParaRPr>
          </a:p>
          <a:p>
            <a:pPr marL="511809" lvl="2" indent="-119380">
              <a:lnSpc>
                <a:spcPct val="100000"/>
              </a:lnSpc>
              <a:spcBef>
                <a:spcPts val="800"/>
              </a:spcBef>
              <a:buSzPct val="95000"/>
              <a:buFont typeface="MS UI Gothic"/>
              <a:buChar char="‣"/>
              <a:tabLst>
                <a:tab pos="512445" algn="l"/>
              </a:tabLst>
            </a:pPr>
            <a:r>
              <a:rPr sz="2000" b="1" spc="-5" dirty="0">
                <a:latin typeface="Malgun Gothic"/>
                <a:cs typeface="Malgun Gothic"/>
              </a:rPr>
              <a:t>사회주의자들은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누진세를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사회정의의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차원에서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옹호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t>11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36734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" dirty="0"/>
              <a:t>제3절.</a:t>
            </a:r>
            <a:r>
              <a:rPr spc="275" dirty="0"/>
              <a:t> </a:t>
            </a:r>
            <a:r>
              <a:rPr spc="20" dirty="0"/>
              <a:t>제1,</a:t>
            </a:r>
            <a:r>
              <a:rPr spc="290" dirty="0"/>
              <a:t> </a:t>
            </a:r>
            <a:r>
              <a:rPr spc="10" dirty="0"/>
              <a:t>2차</a:t>
            </a:r>
            <a:r>
              <a:rPr spc="275" dirty="0"/>
              <a:t> </a:t>
            </a:r>
            <a:r>
              <a:rPr spc="-5" dirty="0"/>
              <a:t>세계대전</a:t>
            </a:r>
            <a:r>
              <a:rPr spc="275" dirty="0"/>
              <a:t> </a:t>
            </a:r>
            <a:r>
              <a:rPr dirty="0"/>
              <a:t>사이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2020737"/>
            <a:ext cx="7259955" cy="4393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40" dirty="0">
                <a:latin typeface="Malgun Gothic"/>
                <a:cs typeface="Malgun Gothic"/>
              </a:rPr>
              <a:t>1.</a:t>
            </a:r>
            <a:r>
              <a:rPr sz="2000" b="1" spc="24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주거복지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buFont typeface="MS UI Gothic"/>
              <a:buChar char="○"/>
              <a:tabLst>
                <a:tab pos="266700" algn="l"/>
                <a:tab pos="267335" algn="l"/>
              </a:tabLst>
            </a:pPr>
            <a:r>
              <a:rPr sz="2000" b="1" spc="20" dirty="0">
                <a:latin typeface="Malgun Gothic"/>
                <a:cs typeface="Malgun Gothic"/>
              </a:rPr>
              <a:t>1918년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정부의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주거문제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개입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배경</a:t>
            </a:r>
            <a:endParaRPr sz="2000">
              <a:latin typeface="Malgun Gothic"/>
              <a:cs typeface="Malgun Gothic"/>
            </a:endParaRPr>
          </a:p>
          <a:p>
            <a:pPr marL="424815" lvl="1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sz="2000" b="1" dirty="0">
                <a:latin typeface="Malgun Gothic"/>
                <a:cs typeface="Malgun Gothic"/>
              </a:rPr>
              <a:t>전후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심각한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주택수급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불균형</a:t>
            </a:r>
            <a:endParaRPr sz="2000">
              <a:latin typeface="Malgun Gothic"/>
              <a:cs typeface="Malgun Gothic"/>
            </a:endParaRPr>
          </a:p>
          <a:p>
            <a:pPr marL="424815" lvl="1" indent="-287020">
              <a:lnSpc>
                <a:spcPct val="100000"/>
              </a:lnSpc>
              <a:spcBef>
                <a:spcPts val="805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민간의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자선이나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지방당국의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자유재량에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일임하기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어려움</a:t>
            </a:r>
            <a:endParaRPr sz="2000">
              <a:latin typeface="Malgun Gothic"/>
              <a:cs typeface="Malgun Gothic"/>
            </a:endParaRPr>
          </a:p>
          <a:p>
            <a:pPr marL="424815" lvl="1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sz="2000" b="1" spc="20" dirty="0">
                <a:latin typeface="Malgun Gothic"/>
                <a:cs typeface="Malgun Gothic"/>
              </a:rPr>
              <a:t>1915년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임대료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통제장치의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해제에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따른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정치적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불안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해소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Malgun Gothic"/>
              <a:buChar char="-"/>
            </a:pPr>
            <a:endParaRPr sz="22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buFont typeface="MS UI Gothic"/>
              <a:buChar char="○"/>
              <a:tabLst>
                <a:tab pos="266700" algn="l"/>
                <a:tab pos="267335" algn="l"/>
              </a:tabLst>
            </a:pPr>
            <a:r>
              <a:rPr sz="2000" b="1" spc="20" dirty="0">
                <a:latin typeface="Malgun Gothic"/>
                <a:cs typeface="Malgun Gothic"/>
              </a:rPr>
              <a:t>1919년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‘주택과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도시계획법’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제정</a:t>
            </a:r>
            <a:endParaRPr sz="2000">
              <a:latin typeface="Malgun Gothic"/>
              <a:cs typeface="Malgun Gothic"/>
            </a:endParaRPr>
          </a:p>
          <a:p>
            <a:pPr marL="424815" lvl="1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주택부족문제의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개선에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대한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지방정부의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의무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강화</a:t>
            </a:r>
            <a:endParaRPr sz="2000">
              <a:latin typeface="Malgun Gothic"/>
              <a:cs typeface="Malgun Gothic"/>
            </a:endParaRPr>
          </a:p>
          <a:p>
            <a:pPr marL="424815" lvl="1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주택건설은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국민의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일상적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욕구를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충족</a:t>
            </a:r>
            <a:endParaRPr sz="2000">
              <a:latin typeface="Malgun Gothic"/>
              <a:cs typeface="Malgun Gothic"/>
            </a:endParaRPr>
          </a:p>
          <a:p>
            <a:pPr marL="424815" lvl="1" indent="-287020">
              <a:lnSpc>
                <a:spcPct val="100000"/>
              </a:lnSpc>
              <a:spcBef>
                <a:spcPts val="805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중앙정부의</a:t>
            </a:r>
            <a:r>
              <a:rPr sz="2000" b="1" spc="26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보조금</a:t>
            </a:r>
            <a:r>
              <a:rPr sz="2000" b="1" spc="2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지원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t>12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13925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2.</a:t>
            </a:r>
            <a:r>
              <a:rPr spc="215" dirty="0"/>
              <a:t> </a:t>
            </a:r>
            <a:r>
              <a:rPr spc="-5" dirty="0"/>
              <a:t>실업보험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1919294"/>
            <a:ext cx="8549005" cy="124396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000" b="1" spc="30" dirty="0">
                <a:latin typeface="Malgun Gothic"/>
                <a:cs typeface="Malgun Gothic"/>
              </a:rPr>
              <a:t>1)</a:t>
            </a:r>
            <a:r>
              <a:rPr sz="2000" b="1" spc="265" dirty="0">
                <a:latin typeface="Malgun Gothic"/>
                <a:cs typeface="Malgun Gothic"/>
              </a:rPr>
              <a:t> </a:t>
            </a:r>
            <a:r>
              <a:rPr sz="2000" b="1" spc="15" dirty="0">
                <a:latin typeface="Malgun Gothic"/>
                <a:cs typeface="Malgun Gothic"/>
              </a:rPr>
              <a:t>1920년대의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제도적</a:t>
            </a:r>
            <a:r>
              <a:rPr sz="2000" b="1" spc="2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발전</a:t>
            </a:r>
            <a:endParaRPr sz="2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  <a:tabLst>
                <a:tab pos="1260475" algn="l"/>
                <a:tab pos="2665730" algn="l"/>
                <a:tab pos="2886710" algn="l"/>
                <a:tab pos="4037329" algn="l"/>
                <a:tab pos="4754245" algn="l"/>
                <a:tab pos="5905500" algn="l"/>
                <a:tab pos="6622415" algn="l"/>
                <a:tab pos="8027670" algn="l"/>
              </a:tabLst>
            </a:pPr>
            <a:r>
              <a:rPr sz="2000" spc="430" dirty="0">
                <a:latin typeface="Malgun Gothic"/>
                <a:cs typeface="Malgun Gothic"/>
              </a:rPr>
              <a:t>-</a:t>
            </a:r>
            <a:r>
              <a:rPr sz="2000" spc="45" dirty="0">
                <a:latin typeface="Malgun Gothic"/>
                <a:cs typeface="Malgun Gothic"/>
              </a:rPr>
              <a:t> </a:t>
            </a:r>
            <a:r>
              <a:rPr sz="2000" b="1" spc="20" dirty="0">
                <a:latin typeface="Malgun Gothic"/>
                <a:cs typeface="Malgun Gothic"/>
              </a:rPr>
              <a:t>19</a:t>
            </a:r>
            <a:r>
              <a:rPr sz="2000" b="1" spc="35" dirty="0">
                <a:latin typeface="Malgun Gothic"/>
                <a:cs typeface="Malgun Gothic"/>
              </a:rPr>
              <a:t>2</a:t>
            </a:r>
            <a:r>
              <a:rPr sz="2000" b="1" spc="20" dirty="0">
                <a:latin typeface="Malgun Gothic"/>
                <a:cs typeface="Malgun Gothic"/>
              </a:rPr>
              <a:t>0</a:t>
            </a:r>
            <a:r>
              <a:rPr sz="2000" b="1" dirty="0">
                <a:latin typeface="Malgun Gothic"/>
                <a:cs typeface="Malgun Gothic"/>
              </a:rPr>
              <a:t>년	실</a:t>
            </a:r>
            <a:r>
              <a:rPr sz="2000" b="1" spc="-15" dirty="0">
                <a:latin typeface="Malgun Gothic"/>
                <a:cs typeface="Malgun Gothic"/>
              </a:rPr>
              <a:t>업</a:t>
            </a:r>
            <a:r>
              <a:rPr sz="2000" b="1" dirty="0">
                <a:latin typeface="Malgun Gothic"/>
                <a:cs typeface="Malgun Gothic"/>
              </a:rPr>
              <a:t>보험법	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5" dirty="0">
                <a:latin typeface="Malgun Gothic"/>
                <a:cs typeface="Malgun Gothic"/>
              </a:rPr>
              <a:t>적</a:t>
            </a:r>
            <a:r>
              <a:rPr sz="2000" b="1" dirty="0">
                <a:latin typeface="Malgun Gothic"/>
                <a:cs typeface="Malgun Gothic"/>
              </a:rPr>
              <a:t>용대상	</a:t>
            </a:r>
            <a:r>
              <a:rPr sz="2000" b="1" spc="-15" dirty="0">
                <a:latin typeface="Malgun Gothic"/>
                <a:cs typeface="Malgun Gothic"/>
              </a:rPr>
              <a:t>확</a:t>
            </a:r>
            <a:r>
              <a:rPr sz="2000" b="1" dirty="0">
                <a:latin typeface="Malgun Gothic"/>
                <a:cs typeface="Malgun Gothic"/>
              </a:rPr>
              <a:t>대</a:t>
            </a:r>
            <a:r>
              <a:rPr sz="2000" b="1" spc="60" dirty="0">
                <a:latin typeface="Malgun Gothic"/>
                <a:cs typeface="Malgun Gothic"/>
              </a:rPr>
              <a:t>,</a:t>
            </a:r>
            <a:r>
              <a:rPr sz="2000" b="1" dirty="0">
                <a:latin typeface="Malgun Gothic"/>
                <a:cs typeface="Malgun Gothic"/>
              </a:rPr>
              <a:t>	가</a:t>
            </a:r>
            <a:r>
              <a:rPr sz="2000" b="1" spc="-15" dirty="0">
                <a:latin typeface="Malgun Gothic"/>
                <a:cs typeface="Malgun Gothic"/>
              </a:rPr>
              <a:t>족</a:t>
            </a:r>
            <a:r>
              <a:rPr sz="2000" b="1" dirty="0">
                <a:latin typeface="Malgun Gothic"/>
                <a:cs typeface="Malgun Gothic"/>
              </a:rPr>
              <a:t>수당	도</a:t>
            </a:r>
            <a:r>
              <a:rPr sz="2000" b="1" spc="-15" dirty="0">
                <a:latin typeface="Malgun Gothic"/>
                <a:cs typeface="Malgun Gothic"/>
              </a:rPr>
              <a:t>입</a:t>
            </a:r>
            <a:r>
              <a:rPr sz="2000" b="1" spc="60" dirty="0">
                <a:latin typeface="Malgun Gothic"/>
                <a:cs typeface="Malgun Gothic"/>
              </a:rPr>
              <a:t>,</a:t>
            </a:r>
            <a:r>
              <a:rPr sz="2000" b="1" dirty="0">
                <a:latin typeface="Malgun Gothic"/>
                <a:cs typeface="Malgun Gothic"/>
              </a:rPr>
              <a:t>	퇴역</a:t>
            </a:r>
            <a:r>
              <a:rPr sz="2000" b="1" spc="-15" dirty="0">
                <a:latin typeface="Malgun Gothic"/>
                <a:cs typeface="Malgun Gothic"/>
              </a:rPr>
              <a:t>군</a:t>
            </a:r>
            <a:r>
              <a:rPr sz="2000" b="1" dirty="0">
                <a:latin typeface="Malgun Gothic"/>
                <a:cs typeface="Malgun Gothic"/>
              </a:rPr>
              <a:t>인의	실업</a:t>
            </a:r>
            <a:endParaRPr sz="2000">
              <a:latin typeface="Malgun Gothic"/>
              <a:cs typeface="Malgun Gothic"/>
            </a:endParaRPr>
          </a:p>
          <a:p>
            <a:pPr marL="2886710">
              <a:lnSpc>
                <a:spcPct val="100000"/>
              </a:lnSpc>
              <a:spcBef>
                <a:spcPts val="795"/>
              </a:spcBef>
            </a:pPr>
            <a:r>
              <a:rPr sz="2000" b="1" spc="-5" dirty="0">
                <a:latin typeface="Malgun Gothic"/>
                <a:cs typeface="Malgun Gothic"/>
              </a:rPr>
              <a:t>문제에</a:t>
            </a:r>
            <a:r>
              <a:rPr sz="2000" b="1" spc="23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대응</a:t>
            </a:r>
            <a:endParaRPr sz="2000">
              <a:latin typeface="Malgun Gothic"/>
              <a:cs typeface="Malgun Gothic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47586" y="3287996"/>
          <a:ext cx="8586468" cy="14729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91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7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7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528">
                <a:tc>
                  <a:txBody>
                    <a:bodyPr/>
                    <a:lstStyle/>
                    <a:p>
                      <a:pPr marL="31750">
                        <a:lnSpc>
                          <a:spcPts val="2120"/>
                        </a:lnSpc>
                      </a:pPr>
                      <a:r>
                        <a:rPr sz="2000" spc="430" dirty="0"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sz="2000" spc="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20" dirty="0">
                          <a:latin typeface="Malgun Gothic"/>
                          <a:cs typeface="Malgun Gothic"/>
                        </a:rPr>
                        <a:t>1927년</a:t>
                      </a:r>
                      <a:r>
                        <a:rPr sz="2000" b="1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140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2000" b="1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표준급여와</a:t>
                      </a:r>
                      <a:r>
                        <a:rPr sz="2000" b="1" spc="28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임시급여</a:t>
                      </a:r>
                      <a:r>
                        <a:rPr sz="2000" b="1" spc="28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10" dirty="0">
                          <a:latin typeface="Malgun Gothic"/>
                          <a:cs typeface="Malgun Gothic"/>
                        </a:rPr>
                        <a:t>도입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926">
                <a:tc>
                  <a:txBody>
                    <a:bodyPr/>
                    <a:lstStyle/>
                    <a:p>
                      <a:pPr marL="119380" marR="67945" indent="-119380" algn="r">
                        <a:lnSpc>
                          <a:spcPct val="100000"/>
                        </a:lnSpc>
                        <a:spcBef>
                          <a:spcPts val="315"/>
                        </a:spcBef>
                        <a:buSzPct val="95000"/>
                        <a:buFont typeface="MS UI Gothic"/>
                        <a:buChar char="‣"/>
                        <a:tabLst>
                          <a:tab pos="119380" algn="l"/>
                          <a:tab pos="1284605" algn="l"/>
                          <a:tab pos="1520190" algn="l"/>
                          <a:tab pos="2433955" algn="l"/>
                          <a:tab pos="3599815" algn="l"/>
                          <a:tab pos="5020310" algn="l"/>
                        </a:tabLst>
                      </a:pP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표준급여	</a:t>
                      </a:r>
                      <a:r>
                        <a:rPr sz="2000" b="1" spc="140" dirty="0">
                          <a:latin typeface="Malgun Gothic"/>
                          <a:cs typeface="Malgun Gothic"/>
                        </a:rPr>
                        <a:t>:	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일정한	</a:t>
                      </a: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보험료의 	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납부경력을	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가진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실업자를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43180" algn="ctr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1209040" algn="l"/>
                        </a:tabLst>
                      </a:pP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대상으로	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기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926">
                <a:tc>
                  <a:txBody>
                    <a:bodyPr/>
                    <a:lstStyle/>
                    <a:p>
                      <a:pPr marL="13335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latin typeface="Malgun Gothic"/>
                          <a:cs typeface="Malgun Gothic"/>
                        </a:rPr>
                        <a:t>간의</a:t>
                      </a:r>
                      <a:r>
                        <a:rPr sz="2000" b="1" spc="2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제한</a:t>
                      </a:r>
                      <a:r>
                        <a:rPr sz="2000" b="1" spc="27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10" dirty="0">
                          <a:latin typeface="Malgun Gothic"/>
                          <a:cs typeface="Malgun Gothic"/>
                        </a:rPr>
                        <a:t>없이</a:t>
                      </a:r>
                      <a:r>
                        <a:rPr sz="2000" b="1" spc="2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제공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528">
                <a:tc>
                  <a:txBody>
                    <a:bodyPr/>
                    <a:lstStyle/>
                    <a:p>
                      <a:pPr marL="119380" marR="67945" indent="-119380" algn="r">
                        <a:lnSpc>
                          <a:spcPts val="2185"/>
                        </a:lnSpc>
                        <a:spcBef>
                          <a:spcPts val="315"/>
                        </a:spcBef>
                        <a:buSzPct val="95000"/>
                        <a:buFont typeface="MS UI Gothic"/>
                        <a:buChar char="‣"/>
                        <a:tabLst>
                          <a:tab pos="119380" algn="l"/>
                          <a:tab pos="1284605" algn="l"/>
                          <a:tab pos="1520190" algn="l"/>
                          <a:tab pos="2433955" algn="l"/>
                          <a:tab pos="3093085" algn="l"/>
                          <a:tab pos="4258945" algn="l"/>
                        </a:tabLst>
                      </a:pP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임시급여	</a:t>
                      </a:r>
                      <a:r>
                        <a:rPr sz="2000" b="1" spc="140" dirty="0">
                          <a:latin typeface="Malgun Gothic"/>
                          <a:cs typeface="Malgun Gothic"/>
                        </a:rPr>
                        <a:t>:	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법에서	정한	</a:t>
                      </a: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최소한의	가입요건을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185"/>
                        </a:lnSpc>
                        <a:spcBef>
                          <a:spcPts val="315"/>
                        </a:spcBef>
                      </a:pP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충족하지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43180" algn="ctr">
                        <a:lnSpc>
                          <a:spcPts val="2185"/>
                        </a:lnSpc>
                        <a:spcBef>
                          <a:spcPts val="315"/>
                        </a:spcBef>
                        <a:tabLst>
                          <a:tab pos="702310" algn="l"/>
                        </a:tabLst>
                      </a:pPr>
                      <a:r>
                        <a:rPr sz="2000" b="1" dirty="0">
                          <a:latin typeface="Malgun Gothic"/>
                          <a:cs typeface="Malgun Gothic"/>
                        </a:rPr>
                        <a:t>못한	</a:t>
                      </a: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실업자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598106" y="4764584"/>
            <a:ext cx="3111500" cy="1242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904" marR="5080">
              <a:lnSpc>
                <a:spcPct val="132900"/>
              </a:lnSpc>
              <a:spcBef>
                <a:spcPts val="100"/>
              </a:spcBef>
              <a:tabLst>
                <a:tab pos="915035" algn="l"/>
                <a:tab pos="2082800" algn="l"/>
              </a:tabLst>
            </a:pPr>
            <a:r>
              <a:rPr sz="2000" b="1" dirty="0">
                <a:latin typeface="Malgun Gothic"/>
                <a:cs typeface="Malgun Gothic"/>
              </a:rPr>
              <a:t>들을	대상</a:t>
            </a:r>
            <a:r>
              <a:rPr sz="2000" b="1" spc="-15" dirty="0">
                <a:latin typeface="Malgun Gothic"/>
                <a:cs typeface="Malgun Gothic"/>
              </a:rPr>
              <a:t>으</a:t>
            </a:r>
            <a:r>
              <a:rPr sz="2000" b="1" dirty="0">
                <a:latin typeface="Malgun Gothic"/>
                <a:cs typeface="Malgun Gothic"/>
              </a:rPr>
              <a:t>로	</a:t>
            </a:r>
            <a:r>
              <a:rPr sz="2000" b="1" spc="-15" dirty="0">
                <a:latin typeface="Malgun Gothic"/>
                <a:cs typeface="Malgun Gothic"/>
              </a:rPr>
              <a:t>적</a:t>
            </a:r>
            <a:r>
              <a:rPr sz="2000" b="1" dirty="0">
                <a:latin typeface="Malgun Gothic"/>
                <a:cs typeface="Malgun Gothic"/>
              </a:rPr>
              <a:t>극적인  업급여</a:t>
            </a:r>
            <a:endParaRPr sz="2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  <a:tabLst>
                <a:tab pos="263525" algn="l"/>
                <a:tab pos="1697355" algn="l"/>
              </a:tabLst>
            </a:pPr>
            <a:r>
              <a:rPr sz="2000" b="1" spc="140" dirty="0">
                <a:latin typeface="Malgun Gothic"/>
                <a:cs typeface="Malgun Gothic"/>
              </a:rPr>
              <a:t>:	</a:t>
            </a:r>
            <a:r>
              <a:rPr sz="2000" b="1" spc="-5" dirty="0">
                <a:latin typeface="Malgun Gothic"/>
                <a:cs typeface="Malgun Gothic"/>
              </a:rPr>
              <a:t>임시급여를	보험기금이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34593" y="4864504"/>
            <a:ext cx="37795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2560" algn="l"/>
                <a:tab pos="2346325" algn="l"/>
                <a:tab pos="3512185" algn="l"/>
              </a:tabLst>
            </a:pPr>
            <a:r>
              <a:rPr sz="2000" b="1" dirty="0">
                <a:latin typeface="Malgun Gothic"/>
                <a:cs typeface="Malgun Gothic"/>
              </a:rPr>
              <a:t>구</a:t>
            </a:r>
            <a:r>
              <a:rPr sz="2000" b="1" spc="-15" dirty="0">
                <a:latin typeface="Malgun Gothic"/>
                <a:cs typeface="Malgun Gothic"/>
              </a:rPr>
              <a:t>직</a:t>
            </a:r>
            <a:r>
              <a:rPr sz="2000" b="1" dirty="0">
                <a:latin typeface="Malgun Gothic"/>
                <a:cs typeface="Malgun Gothic"/>
              </a:rPr>
              <a:t>활동을	전제로	지</a:t>
            </a:r>
            <a:r>
              <a:rPr sz="2000" b="1" spc="-15" dirty="0">
                <a:latin typeface="Malgun Gothic"/>
                <a:cs typeface="Malgun Gothic"/>
              </a:rPr>
              <a:t>급</a:t>
            </a:r>
            <a:r>
              <a:rPr sz="2000" b="1" dirty="0">
                <a:latin typeface="Malgun Gothic"/>
                <a:cs typeface="Malgun Gothic"/>
              </a:rPr>
              <a:t>되는	실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6636" y="5676356"/>
            <a:ext cx="13925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430" dirty="0">
                <a:latin typeface="Malgun Gothic"/>
                <a:cs typeface="Malgun Gothic"/>
              </a:rPr>
              <a:t>-</a:t>
            </a:r>
            <a:r>
              <a:rPr sz="2000" spc="-25" dirty="0">
                <a:latin typeface="Malgun Gothic"/>
                <a:cs typeface="Malgun Gothic"/>
              </a:rPr>
              <a:t> </a:t>
            </a:r>
            <a:r>
              <a:rPr sz="2000" b="1" spc="15" dirty="0">
                <a:latin typeface="Malgun Gothic"/>
                <a:cs typeface="Malgun Gothic"/>
              </a:rPr>
              <a:t>1930년대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18896" y="5676356"/>
            <a:ext cx="38950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5165" algn="l"/>
                <a:tab pos="1612265" algn="l"/>
                <a:tab pos="3300729" algn="l"/>
              </a:tabLst>
            </a:pPr>
            <a:r>
              <a:rPr sz="2000" b="1" spc="-15" dirty="0">
                <a:latin typeface="Malgun Gothic"/>
                <a:cs typeface="Malgun Gothic"/>
              </a:rPr>
              <a:t>아</a:t>
            </a:r>
            <a:r>
              <a:rPr sz="2000" b="1" dirty="0">
                <a:latin typeface="Malgun Gothic"/>
                <a:cs typeface="Malgun Gothic"/>
              </a:rPr>
              <a:t>닌	정</a:t>
            </a:r>
            <a:r>
              <a:rPr sz="2000" b="1" spc="-15" dirty="0">
                <a:latin typeface="Malgun Gothic"/>
                <a:cs typeface="Malgun Gothic"/>
              </a:rPr>
              <a:t>부</a:t>
            </a:r>
            <a:r>
              <a:rPr sz="2000" b="1" dirty="0">
                <a:latin typeface="Malgun Gothic"/>
                <a:cs typeface="Malgun Gothic"/>
              </a:rPr>
              <a:t>의	일</a:t>
            </a:r>
            <a:r>
              <a:rPr sz="2000" b="1" spc="-15" dirty="0">
                <a:latin typeface="Malgun Gothic"/>
                <a:cs typeface="Malgun Gothic"/>
              </a:rPr>
              <a:t>반</a:t>
            </a:r>
            <a:r>
              <a:rPr sz="2000" b="1" dirty="0">
                <a:latin typeface="Malgun Gothic"/>
                <a:cs typeface="Malgun Gothic"/>
              </a:rPr>
              <a:t>재정</a:t>
            </a:r>
            <a:r>
              <a:rPr sz="2000" b="1" spc="-15" dirty="0">
                <a:latin typeface="Malgun Gothic"/>
                <a:cs typeface="Malgun Gothic"/>
              </a:rPr>
              <a:t>으</a:t>
            </a:r>
            <a:r>
              <a:rPr sz="2000" b="1" dirty="0">
                <a:latin typeface="Malgun Gothic"/>
                <a:cs typeface="Malgun Gothic"/>
              </a:rPr>
              <a:t>로	지</a:t>
            </a:r>
            <a:r>
              <a:rPr sz="2000" b="1" spc="-15" dirty="0">
                <a:latin typeface="Malgun Gothic"/>
                <a:cs typeface="Malgun Gothic"/>
              </a:rPr>
              <a:t>급</a:t>
            </a:r>
            <a:r>
              <a:rPr sz="2000" b="1" spc="60" dirty="0">
                <a:latin typeface="Malgun Gothic"/>
                <a:cs typeface="Malgun Gothic"/>
              </a:rPr>
              <a:t>,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49292" y="6083044"/>
            <a:ext cx="34512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latin typeface="Malgun Gothic"/>
                <a:cs typeface="Malgun Gothic"/>
              </a:rPr>
              <a:t>엄격한</a:t>
            </a:r>
            <a:r>
              <a:rPr sz="2000" b="1" spc="26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구직활동의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요건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완화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t>13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44297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" dirty="0"/>
              <a:t>2)</a:t>
            </a:r>
            <a:r>
              <a:rPr spc="275" dirty="0"/>
              <a:t> </a:t>
            </a:r>
            <a:r>
              <a:rPr spc="15" dirty="0"/>
              <a:t>1931년의</a:t>
            </a:r>
            <a:r>
              <a:rPr spc="275" dirty="0"/>
              <a:t> </a:t>
            </a:r>
            <a:r>
              <a:rPr dirty="0"/>
              <a:t>경제적</a:t>
            </a:r>
            <a:r>
              <a:rPr spc="280" dirty="0"/>
              <a:t> </a:t>
            </a:r>
            <a:r>
              <a:rPr spc="-5" dirty="0"/>
              <a:t>위기와</a:t>
            </a:r>
            <a:r>
              <a:rPr spc="275" dirty="0"/>
              <a:t> </a:t>
            </a:r>
            <a:r>
              <a:rPr spc="-5" dirty="0"/>
              <a:t>급여삭감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2020737"/>
            <a:ext cx="8549005" cy="32688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6385">
              <a:lnSpc>
                <a:spcPct val="100000"/>
              </a:lnSpc>
              <a:spcBef>
                <a:spcPts val="100"/>
              </a:spcBef>
              <a:buChar char="-"/>
              <a:tabLst>
                <a:tab pos="299085" algn="l"/>
              </a:tabLst>
            </a:pPr>
            <a:r>
              <a:rPr sz="2000" b="1" spc="60" dirty="0">
                <a:highlight>
                  <a:srgbClr val="FFFF00"/>
                </a:highlight>
                <a:latin typeface="Malgun Gothic"/>
                <a:cs typeface="Malgun Gothic"/>
              </a:rPr>
              <a:t>Keynes는</a:t>
            </a:r>
            <a:r>
              <a:rPr sz="2000" b="1" spc="2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2000" b="1" spc="-5" dirty="0">
                <a:highlight>
                  <a:srgbClr val="FFFF00"/>
                </a:highlight>
                <a:latin typeface="Malgun Gothic"/>
                <a:cs typeface="Malgun Gothic"/>
              </a:rPr>
              <a:t>자유당의</a:t>
            </a:r>
            <a:r>
              <a:rPr sz="2000" b="1" spc="2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2000" b="1" spc="-5" dirty="0">
                <a:highlight>
                  <a:srgbClr val="FFFF00"/>
                </a:highlight>
                <a:latin typeface="Malgun Gothic"/>
                <a:cs typeface="Malgun Gothic"/>
              </a:rPr>
              <a:t>지지를</a:t>
            </a:r>
            <a:r>
              <a:rPr sz="2000" b="1" spc="2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2000" b="1" spc="-5" dirty="0">
                <a:highlight>
                  <a:srgbClr val="FFFF00"/>
                </a:highlight>
                <a:latin typeface="Malgun Gothic"/>
                <a:cs typeface="Malgun Gothic"/>
              </a:rPr>
              <a:t>배경으로</a:t>
            </a:r>
            <a:r>
              <a:rPr sz="2000" b="1" spc="290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2000" b="1" spc="-5" dirty="0">
                <a:highlight>
                  <a:srgbClr val="FFFF00"/>
                </a:highlight>
                <a:latin typeface="Malgun Gothic"/>
                <a:cs typeface="Malgun Gothic"/>
              </a:rPr>
              <a:t>공공지출의</a:t>
            </a:r>
            <a:r>
              <a:rPr sz="2000" b="1" spc="2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2000" b="1" spc="-5" dirty="0">
                <a:highlight>
                  <a:srgbClr val="FFFF00"/>
                </a:highlight>
                <a:latin typeface="Malgun Gothic"/>
                <a:cs typeface="Malgun Gothic"/>
              </a:rPr>
              <a:t>확대를</a:t>
            </a:r>
            <a:r>
              <a:rPr sz="2000" b="1" spc="2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2000" b="1" spc="-5" dirty="0">
                <a:highlight>
                  <a:srgbClr val="FFFF00"/>
                </a:highlight>
                <a:latin typeface="Malgun Gothic"/>
                <a:cs typeface="Malgun Gothic"/>
              </a:rPr>
              <a:t>주장한</a:t>
            </a:r>
            <a:r>
              <a:rPr sz="2000" b="1" spc="290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2000" b="1" spc="20" dirty="0">
                <a:latin typeface="Malgun Gothic"/>
                <a:cs typeface="Malgun Gothic"/>
              </a:rPr>
              <a:t>반면,</a:t>
            </a:r>
            <a:endParaRPr sz="20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Malgun Gothic"/>
              <a:buChar char="-"/>
            </a:pPr>
            <a:endParaRPr sz="1750" dirty="0">
              <a:latin typeface="Malgun Gothic"/>
              <a:cs typeface="Malgun Gothic"/>
            </a:endParaRPr>
          </a:p>
          <a:p>
            <a:pPr marL="271145" marR="6350" indent="-259079">
              <a:lnSpc>
                <a:spcPct val="133400"/>
              </a:lnSpc>
              <a:buFont typeface="Malgun Gothic"/>
              <a:buChar char="-"/>
              <a:tabLst>
                <a:tab pos="330200" algn="l"/>
                <a:tab pos="331470" algn="l"/>
                <a:tab pos="2265680" algn="l"/>
                <a:tab pos="3691890" algn="l"/>
                <a:tab pos="4431665" algn="l"/>
                <a:tab pos="5859780" algn="l"/>
                <a:tab pos="6599555" algn="l"/>
                <a:tab pos="8027670" algn="l"/>
              </a:tabLst>
            </a:pPr>
            <a:r>
              <a:rPr dirty="0"/>
              <a:t>	</a:t>
            </a:r>
            <a:r>
              <a:rPr sz="2000" b="1" spc="-15" dirty="0">
                <a:latin typeface="Malgun Gothic"/>
                <a:cs typeface="Malgun Gothic"/>
              </a:rPr>
              <a:t>보</a:t>
            </a:r>
            <a:r>
              <a:rPr sz="2000" b="1" dirty="0">
                <a:latin typeface="Malgun Gothic"/>
                <a:cs typeface="Malgun Gothic"/>
              </a:rPr>
              <a:t>수주</a:t>
            </a:r>
            <a:r>
              <a:rPr sz="2000" b="1" spc="-15" dirty="0">
                <a:latin typeface="Malgun Gothic"/>
                <a:cs typeface="Malgun Gothic"/>
              </a:rPr>
              <a:t>의</a:t>
            </a:r>
            <a:r>
              <a:rPr sz="2000" b="1" dirty="0">
                <a:latin typeface="Malgun Gothic"/>
                <a:cs typeface="Malgun Gothic"/>
              </a:rPr>
              <a:t>자들은	</a:t>
            </a:r>
            <a:r>
              <a:rPr sz="2000" b="1" spc="-15" dirty="0">
                <a:latin typeface="Malgun Gothic"/>
                <a:cs typeface="Malgun Gothic"/>
              </a:rPr>
              <a:t>재</a:t>
            </a:r>
            <a:r>
              <a:rPr sz="2000" b="1" dirty="0">
                <a:latin typeface="Malgun Gothic"/>
                <a:cs typeface="Malgun Gothic"/>
              </a:rPr>
              <a:t>정지</a:t>
            </a:r>
            <a:r>
              <a:rPr sz="2000" b="1" spc="-15" dirty="0">
                <a:latin typeface="Malgun Gothic"/>
                <a:cs typeface="Malgun Gothic"/>
              </a:rPr>
              <a:t>출</a:t>
            </a:r>
            <a:r>
              <a:rPr sz="2000" b="1" dirty="0">
                <a:latin typeface="Malgun Gothic"/>
                <a:cs typeface="Malgun Gothic"/>
              </a:rPr>
              <a:t>의	삭</a:t>
            </a:r>
            <a:r>
              <a:rPr sz="2000" b="1" spc="-15" dirty="0">
                <a:latin typeface="Malgun Gothic"/>
                <a:cs typeface="Malgun Gothic"/>
              </a:rPr>
              <a:t>감</a:t>
            </a:r>
            <a:r>
              <a:rPr sz="2000" b="1" spc="60" dirty="0">
                <a:latin typeface="Malgun Gothic"/>
                <a:cs typeface="Malgun Gothic"/>
              </a:rPr>
              <a:t>,</a:t>
            </a:r>
            <a:r>
              <a:rPr sz="2000" b="1" dirty="0">
                <a:latin typeface="Malgun Gothic"/>
                <a:cs typeface="Malgun Gothic"/>
              </a:rPr>
              <a:t>	균형</a:t>
            </a:r>
            <a:r>
              <a:rPr sz="2000" b="1" spc="-15" dirty="0">
                <a:latin typeface="Malgun Gothic"/>
                <a:cs typeface="Malgun Gothic"/>
              </a:rPr>
              <a:t>예</a:t>
            </a:r>
            <a:r>
              <a:rPr sz="2000" b="1" dirty="0">
                <a:latin typeface="Malgun Gothic"/>
                <a:cs typeface="Malgun Gothic"/>
              </a:rPr>
              <a:t>산의	유</a:t>
            </a:r>
            <a:r>
              <a:rPr sz="2000" b="1" spc="-15" dirty="0">
                <a:latin typeface="Malgun Gothic"/>
                <a:cs typeface="Malgun Gothic"/>
              </a:rPr>
              <a:t>지</a:t>
            </a:r>
            <a:r>
              <a:rPr sz="2000" b="1" spc="60" dirty="0">
                <a:latin typeface="Malgun Gothic"/>
                <a:cs typeface="Malgun Gothic"/>
              </a:rPr>
              <a:t>,</a:t>
            </a:r>
            <a:r>
              <a:rPr sz="2000" b="1" dirty="0">
                <a:latin typeface="Malgun Gothic"/>
                <a:cs typeface="Malgun Gothic"/>
              </a:rPr>
              <a:t>	정부</a:t>
            </a:r>
            <a:r>
              <a:rPr sz="2000" b="1" spc="-15" dirty="0">
                <a:latin typeface="Malgun Gothic"/>
                <a:cs typeface="Malgun Gothic"/>
              </a:rPr>
              <a:t>차</a:t>
            </a:r>
            <a:r>
              <a:rPr sz="2000" b="1" dirty="0">
                <a:latin typeface="Malgun Gothic"/>
                <a:cs typeface="Malgun Gothic"/>
              </a:rPr>
              <a:t>입의	</a:t>
            </a:r>
            <a:r>
              <a:rPr sz="2000" b="1" spc="-15" dirty="0">
                <a:latin typeface="Malgun Gothic"/>
                <a:cs typeface="Malgun Gothic"/>
              </a:rPr>
              <a:t>축</a:t>
            </a:r>
            <a:r>
              <a:rPr sz="2000" b="1" dirty="0">
                <a:latin typeface="Malgun Gothic"/>
                <a:cs typeface="Malgun Gothic"/>
              </a:rPr>
              <a:t>소  를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주장</a:t>
            </a:r>
            <a:endParaRPr sz="20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Malgun Gothic"/>
              <a:buChar char="-"/>
            </a:pPr>
            <a:endParaRPr sz="1750" dirty="0">
              <a:latin typeface="Malgun Gothic"/>
              <a:cs typeface="Malgun Gothic"/>
            </a:endParaRPr>
          </a:p>
          <a:p>
            <a:pPr marL="323850" marR="5080" indent="-323850" algn="just">
              <a:lnSpc>
                <a:spcPct val="133300"/>
              </a:lnSpc>
              <a:buChar char="-"/>
              <a:tabLst>
                <a:tab pos="323850" algn="l"/>
              </a:tabLst>
            </a:pPr>
            <a:r>
              <a:rPr sz="2000" b="1" spc="20" dirty="0">
                <a:latin typeface="Malgun Gothic"/>
                <a:cs typeface="Malgun Gothic"/>
              </a:rPr>
              <a:t>1931년 </a:t>
            </a:r>
            <a:r>
              <a:rPr sz="2000" b="1" spc="-5" dirty="0">
                <a:latin typeface="Malgun Gothic"/>
                <a:cs typeface="Malgun Gothic"/>
              </a:rPr>
              <a:t>보수주의자들은 </a:t>
            </a:r>
            <a:r>
              <a:rPr sz="2000" b="1" dirty="0">
                <a:latin typeface="Malgun Gothic"/>
                <a:cs typeface="Malgun Gothic"/>
              </a:rPr>
              <a:t>엄격한 </a:t>
            </a:r>
            <a:r>
              <a:rPr sz="2000" b="1" spc="-5" dirty="0">
                <a:latin typeface="Malgun Gothic"/>
                <a:cs typeface="Malgun Gothic"/>
              </a:rPr>
              <a:t>재정정책과 금융정책으로 금본위제를 </a:t>
            </a:r>
            <a:r>
              <a:rPr sz="2000" b="1" dirty="0">
                <a:latin typeface="Malgun Gothic"/>
                <a:cs typeface="Malgun Gothic"/>
              </a:rPr>
              <a:t> </a:t>
            </a:r>
            <a:r>
              <a:rPr sz="2000" b="1" spc="10" dirty="0">
                <a:latin typeface="Malgun Gothic"/>
                <a:cs typeface="Malgun Gothic"/>
              </a:rPr>
              <a:t>유지하고,</a:t>
            </a:r>
            <a:r>
              <a:rPr sz="2000" b="1" spc="33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실업급여를</a:t>
            </a:r>
            <a:r>
              <a:rPr sz="2000" b="1" spc="33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대폭</a:t>
            </a:r>
            <a:r>
              <a:rPr sz="2000" b="1" spc="34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삭감</a:t>
            </a:r>
            <a:r>
              <a:rPr sz="2000" b="1" spc="350" dirty="0">
                <a:latin typeface="Malgun Gothic"/>
                <a:cs typeface="Malgun Gothic"/>
              </a:rPr>
              <a:t> </a:t>
            </a:r>
            <a:r>
              <a:rPr sz="2000" spc="2000" dirty="0">
                <a:latin typeface="MS UI Gothic"/>
                <a:cs typeface="MS UI Gothic"/>
              </a:rPr>
              <a:t>⟹</a:t>
            </a:r>
            <a:r>
              <a:rPr sz="2000" spc="440" dirty="0">
                <a:latin typeface="MS UI Gothic"/>
                <a:cs typeface="MS UI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실업률의</a:t>
            </a:r>
            <a:r>
              <a:rPr sz="2000" b="1" spc="33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급증</a:t>
            </a:r>
            <a:r>
              <a:rPr sz="2000" b="1" spc="335" dirty="0">
                <a:latin typeface="Malgun Gothic"/>
                <a:cs typeface="Malgun Gothic"/>
              </a:rPr>
              <a:t> </a:t>
            </a:r>
            <a:r>
              <a:rPr sz="2000" spc="2000" dirty="0">
                <a:latin typeface="MS UI Gothic"/>
                <a:cs typeface="MS UI Gothic"/>
              </a:rPr>
              <a:t>⟹</a:t>
            </a:r>
            <a:r>
              <a:rPr sz="2000" spc="440" dirty="0">
                <a:latin typeface="MS UI Gothic"/>
                <a:cs typeface="MS UI Gothic"/>
              </a:rPr>
              <a:t> </a:t>
            </a:r>
            <a:r>
              <a:rPr sz="2000" b="1" spc="-245" dirty="0">
                <a:latin typeface="Malgun Gothic"/>
                <a:cs typeface="Malgun Gothic"/>
              </a:rPr>
              <a:t>실업급여 </a:t>
            </a:r>
            <a:r>
              <a:rPr sz="2000" b="1" spc="-6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급 증 </a:t>
            </a:r>
            <a:r>
              <a:rPr sz="2000" spc="2000" dirty="0">
                <a:latin typeface="MS UI Gothic"/>
                <a:cs typeface="MS UI Gothic"/>
              </a:rPr>
              <a:t>⟹ </a:t>
            </a:r>
            <a:r>
              <a:rPr sz="2000" b="1" spc="-5" dirty="0">
                <a:latin typeface="Malgun Gothic"/>
                <a:cs typeface="Malgun Gothic"/>
              </a:rPr>
              <a:t>실업급여 </a:t>
            </a:r>
            <a:r>
              <a:rPr sz="2000" b="1" dirty="0">
                <a:latin typeface="Malgun Gothic"/>
                <a:cs typeface="Malgun Gothic"/>
              </a:rPr>
              <a:t>수준 </a:t>
            </a:r>
            <a:r>
              <a:rPr sz="2000" b="1" spc="5" dirty="0">
                <a:latin typeface="Malgun Gothic"/>
                <a:cs typeface="Malgun Gothic"/>
              </a:rPr>
              <a:t>10% </a:t>
            </a:r>
            <a:r>
              <a:rPr sz="2000" b="1" spc="15" dirty="0">
                <a:latin typeface="Malgun Gothic"/>
                <a:cs typeface="Malgun Gothic"/>
              </a:rPr>
              <a:t>삭감, </a:t>
            </a:r>
            <a:r>
              <a:rPr sz="2000" b="1" spc="-5" dirty="0">
                <a:latin typeface="Malgun Gothic"/>
                <a:cs typeface="Malgun Gothic"/>
              </a:rPr>
              <a:t>표준급여의 지급기간을 </a:t>
            </a:r>
            <a:r>
              <a:rPr sz="2000" b="1" dirty="0">
                <a:latin typeface="Malgun Gothic"/>
                <a:cs typeface="Malgun Gothic"/>
              </a:rPr>
              <a:t> </a:t>
            </a:r>
            <a:r>
              <a:rPr sz="2000" b="1" spc="10" dirty="0">
                <a:latin typeface="Malgun Gothic"/>
                <a:cs typeface="Malgun Gothic"/>
              </a:rPr>
              <a:t>26주로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제 </a:t>
            </a:r>
            <a:r>
              <a:rPr sz="2000" b="1" spc="30" dirty="0">
                <a:latin typeface="Malgun Gothic"/>
                <a:cs typeface="Malgun Gothic"/>
              </a:rPr>
              <a:t>한,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임시급여의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운영책임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지방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이양</a:t>
            </a:r>
            <a:endParaRPr sz="20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t>14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208885"/>
            <a:ext cx="8549005" cy="4798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30" dirty="0">
                <a:latin typeface="Malgun Gothic"/>
                <a:cs typeface="Malgun Gothic"/>
              </a:rPr>
              <a:t>3)</a:t>
            </a:r>
            <a:r>
              <a:rPr sz="2000" b="1" spc="260" dirty="0">
                <a:latin typeface="Malgun Gothic"/>
                <a:cs typeface="Malgun Gothic"/>
              </a:rPr>
              <a:t> </a:t>
            </a:r>
            <a:r>
              <a:rPr sz="2000" b="1" spc="15" dirty="0">
                <a:latin typeface="Malgun Gothic"/>
                <a:cs typeface="Malgun Gothic"/>
              </a:rPr>
              <a:t>1934년의</a:t>
            </a:r>
            <a:r>
              <a:rPr sz="2000" b="1" spc="2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실업법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Malgun Gothic"/>
              <a:cs typeface="Malgun Gothic"/>
            </a:endParaRPr>
          </a:p>
          <a:p>
            <a:pPr marL="316865" marR="5080" indent="-304800">
              <a:lnSpc>
                <a:spcPct val="133400"/>
              </a:lnSpc>
              <a:buChar char="-"/>
              <a:tabLst>
                <a:tab pos="316865" algn="l"/>
                <a:tab pos="317500" algn="l"/>
                <a:tab pos="1222375" algn="l"/>
                <a:tab pos="2636520" algn="l"/>
                <a:tab pos="3796665" algn="l"/>
                <a:tab pos="5210810" algn="l"/>
                <a:tab pos="6116955" algn="l"/>
                <a:tab pos="7121525" algn="l"/>
                <a:tab pos="8027670" algn="l"/>
              </a:tabLst>
            </a:pPr>
            <a:r>
              <a:rPr sz="2000" b="1" spc="-15" dirty="0">
                <a:latin typeface="Malgun Gothic"/>
                <a:cs typeface="Malgun Gothic"/>
              </a:rPr>
              <a:t>제</a:t>
            </a:r>
            <a:r>
              <a:rPr sz="2000" b="1" dirty="0">
                <a:latin typeface="Malgun Gothic"/>
                <a:cs typeface="Malgun Gothic"/>
              </a:rPr>
              <a:t>도의	적용</a:t>
            </a:r>
            <a:r>
              <a:rPr sz="2000" b="1" spc="-15" dirty="0">
                <a:latin typeface="Malgun Gothic"/>
                <a:cs typeface="Malgun Gothic"/>
              </a:rPr>
              <a:t>대</a:t>
            </a:r>
            <a:r>
              <a:rPr sz="2000" b="1" dirty="0">
                <a:latin typeface="Malgun Gothic"/>
                <a:cs typeface="Malgun Gothic"/>
              </a:rPr>
              <a:t>상을	확</a:t>
            </a:r>
            <a:r>
              <a:rPr sz="2000" b="1" spc="-15" dirty="0">
                <a:latin typeface="Malgun Gothic"/>
                <a:cs typeface="Malgun Gothic"/>
              </a:rPr>
              <a:t>대</a:t>
            </a:r>
            <a:r>
              <a:rPr sz="2000" b="1" dirty="0">
                <a:latin typeface="Malgun Gothic"/>
                <a:cs typeface="Malgun Gothic"/>
              </a:rPr>
              <a:t>하고	실</a:t>
            </a:r>
            <a:r>
              <a:rPr sz="2000" b="1" spc="-15" dirty="0">
                <a:latin typeface="Malgun Gothic"/>
                <a:cs typeface="Malgun Gothic"/>
              </a:rPr>
              <a:t>업</a:t>
            </a:r>
            <a:r>
              <a:rPr sz="2000" b="1" dirty="0">
                <a:latin typeface="Malgun Gothic"/>
                <a:cs typeface="Malgun Gothic"/>
              </a:rPr>
              <a:t>급여의	</a:t>
            </a:r>
            <a:r>
              <a:rPr sz="2000" b="1" spc="-15" dirty="0">
                <a:latin typeface="Malgun Gothic"/>
                <a:cs typeface="Malgun Gothic"/>
              </a:rPr>
              <a:t>수</a:t>
            </a:r>
            <a:r>
              <a:rPr sz="2000" b="1" dirty="0">
                <a:latin typeface="Malgun Gothic"/>
                <a:cs typeface="Malgun Gothic"/>
              </a:rPr>
              <a:t>준을	</a:t>
            </a:r>
            <a:r>
              <a:rPr sz="2000" b="1" spc="35" dirty="0">
                <a:latin typeface="Malgun Gothic"/>
                <a:cs typeface="Malgun Gothic"/>
              </a:rPr>
              <a:t>1</a:t>
            </a:r>
            <a:r>
              <a:rPr sz="2000" b="1" spc="20" dirty="0">
                <a:latin typeface="Malgun Gothic"/>
                <a:cs typeface="Malgun Gothic"/>
              </a:rPr>
              <a:t>93</a:t>
            </a:r>
            <a:r>
              <a:rPr sz="2000" b="1" spc="35" dirty="0">
                <a:latin typeface="Malgun Gothic"/>
                <a:cs typeface="Malgun Gothic"/>
              </a:rPr>
              <a:t>1</a:t>
            </a:r>
            <a:r>
              <a:rPr sz="2000" b="1" dirty="0">
                <a:latin typeface="Malgun Gothic"/>
                <a:cs typeface="Malgun Gothic"/>
              </a:rPr>
              <a:t>년	</a:t>
            </a:r>
            <a:r>
              <a:rPr sz="2000" b="1" spc="-15" dirty="0">
                <a:latin typeface="Malgun Gothic"/>
                <a:cs typeface="Malgun Gothic"/>
              </a:rPr>
              <a:t>이</a:t>
            </a:r>
            <a:r>
              <a:rPr sz="2000" b="1" dirty="0">
                <a:latin typeface="Malgun Gothic"/>
                <a:cs typeface="Malgun Gothic"/>
              </a:rPr>
              <a:t>전의	시기  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원상회복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buFont typeface="Malgun Gothic"/>
              <a:buChar char="-"/>
            </a:pPr>
            <a:endParaRPr sz="2200">
              <a:latin typeface="Malgun Gothic"/>
              <a:cs typeface="Malgun Gothic"/>
            </a:endParaRPr>
          </a:p>
          <a:p>
            <a:pPr marL="298450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sz="2000" b="1" spc="-5" dirty="0">
                <a:latin typeface="Malgun Gothic"/>
                <a:cs typeface="Malgun Gothic"/>
              </a:rPr>
              <a:t>보험료는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10" dirty="0">
                <a:latin typeface="Malgun Gothic"/>
                <a:cs typeface="Malgun Gothic"/>
              </a:rPr>
              <a:t>근로자,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10" dirty="0">
                <a:latin typeface="Malgun Gothic"/>
                <a:cs typeface="Malgun Gothic"/>
              </a:rPr>
              <a:t>사용자,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정부가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각각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20" dirty="0">
                <a:latin typeface="Malgun Gothic"/>
                <a:cs typeface="Malgun Gothic"/>
              </a:rPr>
              <a:t>1/3씩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부담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Malgun Gothic"/>
              <a:buChar char="-"/>
            </a:pPr>
            <a:endParaRPr sz="1750">
              <a:latin typeface="Malgun Gothic"/>
              <a:cs typeface="Malgun Gothic"/>
            </a:endParaRPr>
          </a:p>
          <a:p>
            <a:pPr marL="310515" marR="5080" indent="-298450">
              <a:lnSpc>
                <a:spcPct val="133400"/>
              </a:lnSpc>
              <a:buChar char="-"/>
              <a:tabLst>
                <a:tab pos="310515" algn="l"/>
                <a:tab pos="311150" algn="l"/>
                <a:tab pos="1212215" algn="l"/>
                <a:tab pos="2367280" algn="l"/>
                <a:tab pos="3268345" algn="l"/>
                <a:tab pos="3915410" algn="l"/>
                <a:tab pos="4562475" algn="l"/>
                <a:tab pos="5970905" algn="l"/>
                <a:tab pos="7380605" algn="l"/>
                <a:tab pos="8281670" algn="l"/>
              </a:tabLst>
            </a:pPr>
            <a:r>
              <a:rPr sz="2000" b="1" dirty="0">
                <a:latin typeface="Malgun Gothic"/>
                <a:cs typeface="Malgun Gothic"/>
              </a:rPr>
              <a:t>보험의	적용</a:t>
            </a:r>
            <a:r>
              <a:rPr sz="2000" b="1" spc="-15" dirty="0">
                <a:latin typeface="Malgun Gothic"/>
                <a:cs typeface="Malgun Gothic"/>
              </a:rPr>
              <a:t>에</a:t>
            </a:r>
            <a:r>
              <a:rPr sz="2000" b="1" dirty="0">
                <a:latin typeface="Malgun Gothic"/>
                <a:cs typeface="Malgun Gothic"/>
              </a:rPr>
              <a:t>서	</a:t>
            </a:r>
            <a:r>
              <a:rPr sz="2000" b="1" spc="-15" dirty="0">
                <a:latin typeface="Malgun Gothic"/>
                <a:cs typeface="Malgun Gothic"/>
              </a:rPr>
              <a:t>배</a:t>
            </a:r>
            <a:r>
              <a:rPr sz="2000" b="1" dirty="0">
                <a:latin typeface="Malgun Gothic"/>
                <a:cs typeface="Malgun Gothic"/>
              </a:rPr>
              <a:t>제된	</a:t>
            </a:r>
            <a:r>
              <a:rPr sz="2000" b="1" spc="-15" dirty="0">
                <a:latin typeface="Malgun Gothic"/>
                <a:cs typeface="Malgun Gothic"/>
              </a:rPr>
              <a:t>사</a:t>
            </a:r>
            <a:r>
              <a:rPr sz="2000" b="1" dirty="0">
                <a:latin typeface="Malgun Gothic"/>
                <a:cs typeface="Malgun Gothic"/>
              </a:rPr>
              <a:t>람	또는	실업</a:t>
            </a:r>
            <a:r>
              <a:rPr sz="2000" b="1" spc="-15" dirty="0">
                <a:latin typeface="Malgun Gothic"/>
                <a:cs typeface="Malgun Gothic"/>
              </a:rPr>
              <a:t>금</a:t>
            </a:r>
            <a:r>
              <a:rPr sz="2000" b="1" dirty="0">
                <a:latin typeface="Malgun Gothic"/>
                <a:cs typeface="Malgun Gothic"/>
              </a:rPr>
              <a:t>여의	지급</a:t>
            </a:r>
            <a:r>
              <a:rPr sz="2000" b="1" spc="-15" dirty="0">
                <a:latin typeface="Malgun Gothic"/>
                <a:cs typeface="Malgun Gothic"/>
              </a:rPr>
              <a:t>기</a:t>
            </a:r>
            <a:r>
              <a:rPr sz="2000" b="1" dirty="0">
                <a:latin typeface="Malgun Gothic"/>
                <a:cs typeface="Malgun Gothic"/>
              </a:rPr>
              <a:t>한을	</a:t>
            </a:r>
            <a:r>
              <a:rPr sz="2000" b="1" spc="-15" dirty="0">
                <a:latin typeface="Malgun Gothic"/>
                <a:cs typeface="Malgun Gothic"/>
              </a:rPr>
              <a:t>경</a:t>
            </a:r>
            <a:r>
              <a:rPr sz="2000" b="1" dirty="0">
                <a:latin typeface="Malgun Gothic"/>
                <a:cs typeface="Malgun Gothic"/>
              </a:rPr>
              <a:t>과한	장  </a:t>
            </a:r>
            <a:r>
              <a:rPr sz="2000" b="1" spc="-5" dirty="0">
                <a:latin typeface="Malgun Gothic"/>
                <a:cs typeface="Malgun Gothic"/>
              </a:rPr>
              <a:t>기실업자를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위한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실업부조제도</a:t>
            </a:r>
            <a:r>
              <a:rPr sz="2000" b="1" spc="-5" dirty="0">
                <a:latin typeface="Malgun Gothic"/>
                <a:cs typeface="Malgun Gothic"/>
              </a:rPr>
              <a:t>를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도입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Malgun Gothic"/>
              <a:buChar char="-"/>
            </a:pPr>
            <a:endParaRPr sz="1750">
              <a:latin typeface="Malgun Gothic"/>
              <a:cs typeface="Malgun Gothic"/>
            </a:endParaRPr>
          </a:p>
          <a:p>
            <a:pPr marL="271145" marR="5080" indent="-259079">
              <a:lnSpc>
                <a:spcPct val="133400"/>
              </a:lnSpc>
              <a:buFont typeface="Malgun Gothic"/>
              <a:buChar char="-"/>
              <a:tabLst>
                <a:tab pos="320040" algn="l"/>
                <a:tab pos="320675" algn="l"/>
                <a:tab pos="1228725" algn="l"/>
                <a:tab pos="2137410" algn="l"/>
                <a:tab pos="3554729" algn="l"/>
                <a:tab pos="4718050" algn="l"/>
                <a:tab pos="5880735" algn="l"/>
                <a:tab pos="6790055" algn="l"/>
                <a:tab pos="8027670" algn="l"/>
              </a:tabLst>
            </a:pPr>
            <a:r>
              <a:rPr dirty="0"/>
              <a:t>	</a:t>
            </a:r>
            <a:r>
              <a:rPr sz="2000" b="1" spc="-15" dirty="0">
                <a:latin typeface="Malgun Gothic"/>
                <a:cs typeface="Malgun Gothic"/>
              </a:rPr>
              <a:t>가</a:t>
            </a:r>
            <a:r>
              <a:rPr sz="2000" b="1" dirty="0">
                <a:latin typeface="Malgun Gothic"/>
                <a:cs typeface="Malgun Gothic"/>
              </a:rPr>
              <a:t>족의	상</a:t>
            </a:r>
            <a:r>
              <a:rPr sz="2000" b="1" spc="-15" dirty="0">
                <a:latin typeface="Malgun Gothic"/>
                <a:cs typeface="Malgun Gothic"/>
              </a:rPr>
              <a:t>황</a:t>
            </a:r>
            <a:r>
              <a:rPr sz="2000" b="1" dirty="0">
                <a:latin typeface="Malgun Gothic"/>
                <a:cs typeface="Malgun Gothic"/>
              </a:rPr>
              <a:t>과	욕구</a:t>
            </a:r>
            <a:r>
              <a:rPr sz="2000" b="1" spc="-15" dirty="0">
                <a:latin typeface="Malgun Gothic"/>
                <a:cs typeface="Malgun Gothic"/>
              </a:rPr>
              <a:t>수</a:t>
            </a:r>
            <a:r>
              <a:rPr sz="2000" b="1" dirty="0">
                <a:latin typeface="Malgun Gothic"/>
                <a:cs typeface="Malgun Gothic"/>
              </a:rPr>
              <a:t>준에	기</a:t>
            </a:r>
            <a:r>
              <a:rPr sz="2000" b="1" spc="-15" dirty="0">
                <a:latin typeface="Malgun Gothic"/>
                <a:cs typeface="Malgun Gothic"/>
              </a:rPr>
              <a:t>초</a:t>
            </a:r>
            <a:r>
              <a:rPr sz="2000" b="1" dirty="0">
                <a:latin typeface="Malgun Gothic"/>
                <a:cs typeface="Malgun Gothic"/>
              </a:rPr>
              <a:t>하여	실</a:t>
            </a:r>
            <a:r>
              <a:rPr sz="2000" b="1" spc="-15" dirty="0">
                <a:latin typeface="Malgun Gothic"/>
                <a:cs typeface="Malgun Gothic"/>
              </a:rPr>
              <a:t>업</a:t>
            </a:r>
            <a:r>
              <a:rPr sz="2000" b="1" dirty="0">
                <a:latin typeface="Malgun Gothic"/>
                <a:cs typeface="Malgun Gothic"/>
              </a:rPr>
              <a:t>급여	수</a:t>
            </a:r>
            <a:r>
              <a:rPr sz="2000" b="1" spc="-15" dirty="0">
                <a:latin typeface="Malgun Gothic"/>
                <a:cs typeface="Malgun Gothic"/>
              </a:rPr>
              <a:t>준</a:t>
            </a:r>
            <a:r>
              <a:rPr sz="2000" b="1" dirty="0">
                <a:latin typeface="Malgun Gothic"/>
                <a:cs typeface="Malgun Gothic"/>
              </a:rPr>
              <a:t>을	결정</a:t>
            </a:r>
            <a:r>
              <a:rPr sz="2000" b="1" spc="-15" dirty="0">
                <a:latin typeface="Malgun Gothic"/>
                <a:cs typeface="Malgun Gothic"/>
              </a:rPr>
              <a:t>하</a:t>
            </a:r>
            <a:r>
              <a:rPr sz="2000" b="1" dirty="0">
                <a:latin typeface="Malgun Gothic"/>
                <a:cs typeface="Malgun Gothic"/>
              </a:rPr>
              <a:t>고</a:t>
            </a:r>
            <a:r>
              <a:rPr sz="2000" b="1" spc="60" dirty="0">
                <a:latin typeface="Malgun Gothic"/>
                <a:cs typeface="Malgun Gothic"/>
              </a:rPr>
              <a:t>,</a:t>
            </a:r>
            <a:r>
              <a:rPr sz="2000" b="1" dirty="0">
                <a:latin typeface="Malgun Gothic"/>
                <a:cs typeface="Malgun Gothic"/>
              </a:rPr>
              <a:t>	열등  처우의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원리를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제도운영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전반에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걸쳐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완전히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배제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t>15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3880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제4절</a:t>
            </a:r>
            <a:r>
              <a:rPr spc="275" dirty="0"/>
              <a:t> </a:t>
            </a:r>
            <a:r>
              <a:rPr spc="5" dirty="0"/>
              <a:t>제2차</a:t>
            </a:r>
            <a:r>
              <a:rPr spc="280" dirty="0"/>
              <a:t> </a:t>
            </a:r>
            <a:r>
              <a:rPr spc="-5" dirty="0"/>
              <a:t>세계대전과</a:t>
            </a:r>
            <a:r>
              <a:rPr spc="280" dirty="0"/>
              <a:t> </a:t>
            </a:r>
            <a:r>
              <a:rPr dirty="0"/>
              <a:t>그</a:t>
            </a:r>
            <a:r>
              <a:rPr spc="275" dirty="0"/>
              <a:t> </a:t>
            </a:r>
            <a:r>
              <a:rPr spc="-10" dirty="0"/>
              <a:t>이후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143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1.</a:t>
            </a:r>
            <a:r>
              <a:rPr spc="270" dirty="0"/>
              <a:t> </a:t>
            </a:r>
            <a:r>
              <a:rPr dirty="0"/>
              <a:t>전쟁</a:t>
            </a:r>
            <a:r>
              <a:rPr spc="275" dirty="0"/>
              <a:t> </a:t>
            </a:r>
            <a:r>
              <a:rPr spc="-5" dirty="0"/>
              <a:t>동안의</a:t>
            </a:r>
            <a:r>
              <a:rPr spc="275" dirty="0"/>
              <a:t> </a:t>
            </a:r>
            <a:r>
              <a:rPr spc="-5" dirty="0"/>
              <a:t>복지국가</a:t>
            </a:r>
            <a:r>
              <a:rPr spc="275" dirty="0"/>
              <a:t> </a:t>
            </a:r>
            <a:r>
              <a:rPr dirty="0"/>
              <a:t>활동</a:t>
            </a:r>
          </a:p>
          <a:p>
            <a:pPr marL="1270">
              <a:lnSpc>
                <a:spcPct val="100000"/>
              </a:lnSpc>
              <a:spcBef>
                <a:spcPts val="5"/>
              </a:spcBef>
            </a:pPr>
            <a:endParaRPr sz="2200"/>
          </a:p>
          <a:p>
            <a:pPr marL="267970" indent="-254635">
              <a:lnSpc>
                <a:spcPct val="100000"/>
              </a:lnSpc>
              <a:buClr>
                <a:srgbClr val="000000"/>
              </a:buClr>
              <a:buFont typeface="MS UI Gothic"/>
              <a:buChar char="○"/>
              <a:tabLst>
                <a:tab pos="267970" algn="l"/>
                <a:tab pos="268605" algn="l"/>
              </a:tabLst>
            </a:pPr>
            <a:r>
              <a:rPr spc="30" dirty="0">
                <a:solidFill>
                  <a:srgbClr val="0000FF"/>
                </a:solidFill>
              </a:rPr>
              <a:t>Beveridge</a:t>
            </a:r>
            <a:r>
              <a:rPr spc="254" dirty="0">
                <a:solidFill>
                  <a:srgbClr val="0000FF"/>
                </a:solidFill>
              </a:rPr>
              <a:t> </a:t>
            </a:r>
            <a:r>
              <a:rPr spc="15" dirty="0">
                <a:solidFill>
                  <a:srgbClr val="0000FF"/>
                </a:solidFill>
              </a:rPr>
              <a:t>보고서(1942)</a:t>
            </a:r>
          </a:p>
          <a:p>
            <a:pPr marL="440055" marR="6350" lvl="1" indent="-300355">
              <a:lnSpc>
                <a:spcPct val="133400"/>
              </a:lnSpc>
              <a:buChar char="-"/>
              <a:tabLst>
                <a:tab pos="440055" algn="l"/>
                <a:tab pos="440690" algn="l"/>
                <a:tab pos="2176780" algn="l"/>
                <a:tab pos="3077845" algn="l"/>
                <a:tab pos="4994910" algn="l"/>
                <a:tab pos="5717540" algn="l"/>
                <a:tab pos="7125970" algn="l"/>
                <a:tab pos="8028940" algn="l"/>
              </a:tabLst>
            </a:pPr>
            <a:r>
              <a:rPr sz="2000" b="1" dirty="0">
                <a:latin typeface="Malgun Gothic"/>
                <a:cs typeface="Malgun Gothic"/>
              </a:rPr>
              <a:t>가</a:t>
            </a:r>
            <a:r>
              <a:rPr sz="2000" b="1" spc="-15" dirty="0">
                <a:latin typeface="Malgun Gothic"/>
                <a:cs typeface="Malgun Gothic"/>
              </a:rPr>
              <a:t>족</a:t>
            </a:r>
            <a:r>
              <a:rPr sz="2000" b="1" dirty="0">
                <a:latin typeface="Malgun Gothic"/>
                <a:cs typeface="Malgun Gothic"/>
              </a:rPr>
              <a:t>수당</a:t>
            </a:r>
            <a:r>
              <a:rPr sz="2000" b="1" spc="-15" dirty="0">
                <a:latin typeface="Malgun Gothic"/>
                <a:cs typeface="Malgun Gothic"/>
              </a:rPr>
              <a:t>제</a:t>
            </a:r>
            <a:r>
              <a:rPr sz="2000" b="1" dirty="0">
                <a:latin typeface="Malgun Gothic"/>
                <a:cs typeface="Malgun Gothic"/>
              </a:rPr>
              <a:t>도</a:t>
            </a:r>
            <a:r>
              <a:rPr sz="2000" b="1" spc="60" dirty="0">
                <a:latin typeface="Malgun Gothic"/>
                <a:cs typeface="Malgun Gothic"/>
              </a:rPr>
              <a:t>,</a:t>
            </a:r>
            <a:r>
              <a:rPr sz="2000" b="1" dirty="0">
                <a:latin typeface="Malgun Gothic"/>
                <a:cs typeface="Malgun Gothic"/>
              </a:rPr>
              <a:t>	보</a:t>
            </a:r>
            <a:r>
              <a:rPr sz="2000" b="1" spc="-15" dirty="0">
                <a:latin typeface="Malgun Gothic"/>
                <a:cs typeface="Malgun Gothic"/>
              </a:rPr>
              <a:t>편</a:t>
            </a:r>
            <a:r>
              <a:rPr sz="2000" b="1" dirty="0">
                <a:latin typeface="Malgun Gothic"/>
                <a:cs typeface="Malgun Gothic"/>
              </a:rPr>
              <a:t>적	보건</a:t>
            </a:r>
            <a:r>
              <a:rPr sz="2000" b="1" spc="-15" dirty="0">
                <a:latin typeface="Malgun Gothic"/>
                <a:cs typeface="Malgun Gothic"/>
              </a:rPr>
              <a:t>의</a:t>
            </a:r>
            <a:r>
              <a:rPr sz="2000" b="1" dirty="0">
                <a:latin typeface="Malgun Gothic"/>
                <a:cs typeface="Malgun Gothic"/>
              </a:rPr>
              <a:t>료체</a:t>
            </a:r>
            <a:r>
              <a:rPr sz="2000" b="1" spc="-15" dirty="0">
                <a:latin typeface="Malgun Gothic"/>
                <a:cs typeface="Malgun Gothic"/>
              </a:rPr>
              <a:t>계</a:t>
            </a:r>
            <a:r>
              <a:rPr sz="2000" b="1" dirty="0">
                <a:latin typeface="Malgun Gothic"/>
                <a:cs typeface="Malgun Gothic"/>
              </a:rPr>
              <a:t>의	구축</a:t>
            </a:r>
            <a:r>
              <a:rPr sz="2000" b="1" spc="60" dirty="0">
                <a:latin typeface="Malgun Gothic"/>
                <a:cs typeface="Malgun Gothic"/>
              </a:rPr>
              <a:t>,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5" dirty="0">
                <a:latin typeface="Malgun Gothic"/>
                <a:cs typeface="Malgun Gothic"/>
              </a:rPr>
              <a:t>완</a:t>
            </a:r>
            <a:r>
              <a:rPr sz="2000" b="1" dirty="0">
                <a:latin typeface="Malgun Gothic"/>
                <a:cs typeface="Malgun Gothic"/>
              </a:rPr>
              <a:t>전고</a:t>
            </a:r>
            <a:r>
              <a:rPr sz="2000" b="1" spc="-15" dirty="0">
                <a:latin typeface="Malgun Gothic"/>
                <a:cs typeface="Malgun Gothic"/>
              </a:rPr>
              <a:t>용</a:t>
            </a:r>
            <a:r>
              <a:rPr sz="2000" b="1" dirty="0">
                <a:latin typeface="Malgun Gothic"/>
                <a:cs typeface="Malgun Gothic"/>
              </a:rPr>
              <a:t>의	유지를	</a:t>
            </a:r>
            <a:r>
              <a:rPr sz="2000" b="1" spc="-15" dirty="0">
                <a:latin typeface="Malgun Gothic"/>
                <a:cs typeface="Malgun Gothic"/>
              </a:rPr>
              <a:t>기</a:t>
            </a:r>
            <a:r>
              <a:rPr sz="2000" b="1" dirty="0">
                <a:latin typeface="Malgun Gothic"/>
                <a:cs typeface="Malgun Gothic"/>
              </a:rPr>
              <a:t>본  적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전제조건으로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20" dirty="0">
                <a:latin typeface="Malgun Gothic"/>
                <a:cs typeface="Malgun Gothic"/>
              </a:rPr>
              <a:t>하고,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사회보험제도의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도입을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궁극적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목표로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채택</a:t>
            </a:r>
            <a:endParaRPr sz="2000">
              <a:latin typeface="Malgun Gothic"/>
              <a:cs typeface="Malgun Gothic"/>
            </a:endParaRPr>
          </a:p>
          <a:p>
            <a:pPr marL="444500" marR="6350" lvl="1" indent="-304800">
              <a:lnSpc>
                <a:spcPts val="3200"/>
              </a:lnSpc>
              <a:spcBef>
                <a:spcPts val="229"/>
              </a:spcBef>
              <a:buChar char="-"/>
              <a:tabLst>
                <a:tab pos="444500" algn="l"/>
                <a:tab pos="445134" algn="l"/>
                <a:tab pos="1351915" algn="l"/>
                <a:tab pos="2259330" algn="l"/>
                <a:tab pos="2912110" algn="l"/>
                <a:tab pos="3564890" algn="l"/>
                <a:tab pos="4218305" algn="l"/>
                <a:tab pos="5379720" algn="l"/>
                <a:tab pos="6539865" algn="l"/>
                <a:tab pos="7774305" algn="l"/>
              </a:tabLst>
            </a:pPr>
            <a:r>
              <a:rPr sz="2000" b="1" dirty="0">
                <a:latin typeface="Malgun Gothic"/>
                <a:cs typeface="Malgun Gothic"/>
              </a:rPr>
              <a:t>사회적	위험의	구분	없이	단일	보험</a:t>
            </a:r>
            <a:r>
              <a:rPr sz="2000" b="1" spc="-15" dirty="0">
                <a:latin typeface="Malgun Gothic"/>
                <a:cs typeface="Malgun Gothic"/>
              </a:rPr>
              <a:t>료</a:t>
            </a:r>
            <a:r>
              <a:rPr sz="2000" b="1" dirty="0">
                <a:latin typeface="Malgun Gothic"/>
                <a:cs typeface="Malgun Gothic"/>
              </a:rPr>
              <a:t>를	</a:t>
            </a:r>
            <a:r>
              <a:rPr sz="2000" b="1" spc="-15" dirty="0">
                <a:latin typeface="Malgun Gothic"/>
                <a:cs typeface="Malgun Gothic"/>
              </a:rPr>
              <a:t>납</a:t>
            </a:r>
            <a:r>
              <a:rPr sz="2000" b="1" dirty="0">
                <a:latin typeface="Malgun Gothic"/>
                <a:cs typeface="Malgun Gothic"/>
              </a:rPr>
              <a:t>부하고	실</a:t>
            </a:r>
            <a:r>
              <a:rPr sz="2000" b="1" spc="-15" dirty="0">
                <a:latin typeface="Malgun Gothic"/>
                <a:cs typeface="Malgun Gothic"/>
              </a:rPr>
              <a:t>업</a:t>
            </a:r>
            <a:r>
              <a:rPr sz="2000" b="1" dirty="0">
                <a:latin typeface="Malgun Gothic"/>
                <a:cs typeface="Malgun Gothic"/>
              </a:rPr>
              <a:t>급여</a:t>
            </a:r>
            <a:r>
              <a:rPr sz="2000" b="1" spc="60" dirty="0">
                <a:latin typeface="Malgun Gothic"/>
                <a:cs typeface="Malgun Gothic"/>
              </a:rPr>
              <a:t>,</a:t>
            </a:r>
            <a:r>
              <a:rPr sz="2000" b="1" dirty="0">
                <a:latin typeface="Malgun Gothic"/>
                <a:cs typeface="Malgun Gothic"/>
              </a:rPr>
              <a:t>	장</a:t>
            </a:r>
            <a:r>
              <a:rPr sz="2000" b="1" spc="-15" dirty="0">
                <a:latin typeface="Malgun Gothic"/>
                <a:cs typeface="Malgun Gothic"/>
              </a:rPr>
              <a:t>애</a:t>
            </a:r>
            <a:r>
              <a:rPr sz="2000" b="1" dirty="0">
                <a:latin typeface="Malgun Gothic"/>
                <a:cs typeface="Malgun Gothic"/>
              </a:rPr>
              <a:t>급  여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및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연금급여는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소득에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관계없이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동일하게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지급</a:t>
            </a:r>
            <a:endParaRPr sz="2000">
              <a:latin typeface="Malgun Gothic"/>
              <a:cs typeface="Malgun Gothic"/>
            </a:endParaRPr>
          </a:p>
          <a:p>
            <a:pPr marL="450850" marR="5080" lvl="1" indent="-311150">
              <a:lnSpc>
                <a:spcPts val="3190"/>
              </a:lnSpc>
              <a:spcBef>
                <a:spcPts val="15"/>
              </a:spcBef>
              <a:buChar char="-"/>
              <a:tabLst>
                <a:tab pos="450215" algn="l"/>
                <a:tab pos="451484" algn="l"/>
                <a:tab pos="2378075" algn="l"/>
                <a:tab pos="3543935" algn="l"/>
                <a:tab pos="4709795" algn="l"/>
                <a:tab pos="5621655" algn="l"/>
                <a:tab pos="6535420" algn="l"/>
                <a:tab pos="7267575" algn="l"/>
              </a:tabLst>
            </a:pPr>
            <a:r>
              <a:rPr sz="2000" b="1" dirty="0">
                <a:latin typeface="Malgun Gothic"/>
                <a:cs typeface="Malgun Gothic"/>
              </a:rPr>
              <a:t>사</a:t>
            </a:r>
            <a:r>
              <a:rPr sz="2000" b="1" spc="-15" dirty="0">
                <a:latin typeface="Malgun Gothic"/>
                <a:cs typeface="Malgun Gothic"/>
              </a:rPr>
              <a:t>회</a:t>
            </a:r>
            <a:r>
              <a:rPr sz="2000" b="1" dirty="0">
                <a:latin typeface="Malgun Gothic"/>
                <a:cs typeface="Malgun Gothic"/>
              </a:rPr>
              <a:t>보험</a:t>
            </a:r>
            <a:r>
              <a:rPr sz="2000" b="1" spc="-15" dirty="0">
                <a:latin typeface="Malgun Gothic"/>
                <a:cs typeface="Malgun Gothic"/>
              </a:rPr>
              <a:t>제</a:t>
            </a:r>
            <a:r>
              <a:rPr sz="2000" b="1" dirty="0">
                <a:latin typeface="Malgun Gothic"/>
                <a:cs typeface="Malgun Gothic"/>
              </a:rPr>
              <a:t>도는	강</a:t>
            </a:r>
            <a:r>
              <a:rPr sz="2000" b="1" spc="-15" dirty="0">
                <a:latin typeface="Malgun Gothic"/>
                <a:cs typeface="Malgun Gothic"/>
              </a:rPr>
              <a:t>제</a:t>
            </a:r>
            <a:r>
              <a:rPr sz="2000" b="1" dirty="0">
                <a:latin typeface="Malgun Gothic"/>
                <a:cs typeface="Malgun Gothic"/>
              </a:rPr>
              <a:t>성과	보</a:t>
            </a:r>
            <a:r>
              <a:rPr sz="2000" b="1" spc="-15" dirty="0">
                <a:latin typeface="Malgun Gothic"/>
                <a:cs typeface="Malgun Gothic"/>
              </a:rPr>
              <a:t>편</a:t>
            </a:r>
            <a:r>
              <a:rPr sz="2000" b="1" dirty="0">
                <a:latin typeface="Malgun Gothic"/>
                <a:cs typeface="Malgun Gothic"/>
              </a:rPr>
              <a:t>성의	원</a:t>
            </a:r>
            <a:r>
              <a:rPr sz="2000" b="1" spc="-15" dirty="0">
                <a:latin typeface="Malgun Gothic"/>
                <a:cs typeface="Malgun Gothic"/>
              </a:rPr>
              <a:t>리</a:t>
            </a:r>
            <a:r>
              <a:rPr sz="2000" b="1" dirty="0">
                <a:latin typeface="Malgun Gothic"/>
                <a:cs typeface="Malgun Gothic"/>
              </a:rPr>
              <a:t>를	토대로	</a:t>
            </a:r>
            <a:r>
              <a:rPr sz="2000" b="1" spc="-15" dirty="0">
                <a:latin typeface="Malgun Gothic"/>
                <a:cs typeface="Malgun Gothic"/>
              </a:rPr>
              <a:t>하</a:t>
            </a:r>
            <a:r>
              <a:rPr sz="2000" b="1" dirty="0">
                <a:latin typeface="Malgun Gothic"/>
                <a:cs typeface="Malgun Gothic"/>
              </a:rPr>
              <a:t>고</a:t>
            </a:r>
            <a:r>
              <a:rPr sz="2000" b="1" spc="60" dirty="0">
                <a:latin typeface="Malgun Gothic"/>
                <a:cs typeface="Malgun Gothic"/>
              </a:rPr>
              <a:t>,</a:t>
            </a:r>
            <a:r>
              <a:rPr sz="2000" b="1" dirty="0">
                <a:latin typeface="Malgun Gothic"/>
                <a:cs typeface="Malgun Gothic"/>
              </a:rPr>
              <a:t>	원</a:t>
            </a:r>
            <a:r>
              <a:rPr sz="2000" b="1" spc="-15" dirty="0">
                <a:latin typeface="Malgun Gothic"/>
                <a:cs typeface="Malgun Gothic"/>
              </a:rPr>
              <a:t>칙</a:t>
            </a:r>
            <a:r>
              <a:rPr sz="2000" b="1" dirty="0">
                <a:latin typeface="Malgun Gothic"/>
                <a:cs typeface="Malgun Gothic"/>
              </a:rPr>
              <a:t>적으로  </a:t>
            </a:r>
            <a:r>
              <a:rPr sz="2000" b="1" spc="40" dirty="0">
                <a:latin typeface="Malgun Gothic"/>
                <a:cs typeface="Malgun Gothic"/>
              </a:rPr>
              <a:t>정액부담-정액급여의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원리에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기초하여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운영</a:t>
            </a:r>
            <a:endParaRPr sz="2000">
              <a:latin typeface="Malgun Gothic"/>
              <a:cs typeface="Malgun Gothic"/>
            </a:endParaRPr>
          </a:p>
          <a:p>
            <a:pPr marL="426084" lvl="1" indent="-287020">
              <a:lnSpc>
                <a:spcPct val="100000"/>
              </a:lnSpc>
              <a:spcBef>
                <a:spcPts val="560"/>
              </a:spcBef>
              <a:buChar char="-"/>
              <a:tabLst>
                <a:tab pos="426720" algn="l"/>
              </a:tabLst>
            </a:pPr>
            <a:r>
              <a:rPr sz="2000" b="1" spc="-5" dirty="0">
                <a:latin typeface="Malgun Gothic"/>
                <a:cs typeface="Malgun Gothic"/>
              </a:rPr>
              <a:t>사회보험급여는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자산조사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없이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15" dirty="0">
                <a:latin typeface="Malgun Gothic"/>
                <a:cs typeface="Malgun Gothic"/>
              </a:rPr>
              <a:t>제공,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국가차원에서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운영</a:t>
            </a:r>
            <a:endParaRPr sz="2000">
              <a:latin typeface="Malgun Gothic"/>
              <a:cs typeface="Malgun Gothic"/>
            </a:endParaRPr>
          </a:p>
          <a:p>
            <a:pPr marL="426084" lvl="1" indent="-287020">
              <a:lnSpc>
                <a:spcPct val="100000"/>
              </a:lnSpc>
              <a:spcBef>
                <a:spcPts val="805"/>
              </a:spcBef>
              <a:buChar char="-"/>
              <a:tabLst>
                <a:tab pos="426720" algn="l"/>
              </a:tabLst>
            </a:pPr>
            <a:r>
              <a:rPr sz="2000" b="1" spc="20" dirty="0">
                <a:latin typeface="Malgun Gothic"/>
                <a:cs typeface="Malgun Gothic"/>
              </a:rPr>
              <a:t>1946년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제정된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국민보험법의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기초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t>16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108965"/>
            <a:ext cx="8549005" cy="489839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890"/>
              </a:spcBef>
              <a:buFont typeface="MS UI Gothic"/>
              <a:buChar char="○"/>
              <a:tabLst>
                <a:tab pos="266700" algn="l"/>
                <a:tab pos="267335" algn="l"/>
              </a:tabLst>
            </a:pPr>
            <a:r>
              <a:rPr sz="2000" b="1" spc="30" dirty="0">
                <a:latin typeface="Malgun Gothic"/>
                <a:cs typeface="Malgun Gothic"/>
              </a:rPr>
              <a:t>Beveridge</a:t>
            </a:r>
            <a:r>
              <a:rPr sz="2000" b="1" spc="254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보고서의</a:t>
            </a:r>
            <a:r>
              <a:rPr sz="2000" b="1" spc="2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평가</a:t>
            </a:r>
            <a:endParaRPr sz="2000">
              <a:latin typeface="Malgun Gothic"/>
              <a:cs typeface="Malgun Gothic"/>
            </a:endParaRPr>
          </a:p>
          <a:p>
            <a:pPr marL="436880" lvl="1" indent="-299085">
              <a:lnSpc>
                <a:spcPct val="100000"/>
              </a:lnSpc>
              <a:spcBef>
                <a:spcPts val="790"/>
              </a:spcBef>
              <a:buChar char="-"/>
              <a:tabLst>
                <a:tab pos="436880" algn="l"/>
                <a:tab pos="437515" algn="l"/>
                <a:tab pos="2597150" algn="l"/>
                <a:tab pos="2821305" algn="l"/>
                <a:tab pos="4049395" algn="l"/>
                <a:tab pos="5276850" algn="l"/>
                <a:tab pos="6504940" algn="l"/>
              </a:tabLst>
            </a:pPr>
            <a:r>
              <a:rPr sz="2000" b="1" dirty="0">
                <a:latin typeface="Malgun Gothic"/>
                <a:cs typeface="Malgun Gothic"/>
              </a:rPr>
              <a:t>전</a:t>
            </a:r>
            <a:r>
              <a:rPr sz="2000" b="1" spc="-15" dirty="0">
                <a:latin typeface="Malgun Gothic"/>
                <a:cs typeface="Malgun Gothic"/>
              </a:rPr>
              <a:t>략</a:t>
            </a:r>
            <a:r>
              <a:rPr sz="2000" b="1" dirty="0">
                <a:latin typeface="Malgun Gothic"/>
                <a:cs typeface="Malgun Gothic"/>
              </a:rPr>
              <a:t>적</a:t>
            </a:r>
            <a:r>
              <a:rPr sz="2000" b="1" spc="35" dirty="0">
                <a:latin typeface="Malgun Gothic"/>
                <a:cs typeface="Malgun Gothic"/>
              </a:rPr>
              <a:t>(</a:t>
            </a:r>
            <a:r>
              <a:rPr sz="2000" b="1" spc="114" dirty="0">
                <a:latin typeface="Malgun Gothic"/>
                <a:cs typeface="Malgun Gothic"/>
              </a:rPr>
              <a:t>s</a:t>
            </a:r>
            <a:r>
              <a:rPr sz="2000" b="1" spc="-55" dirty="0">
                <a:latin typeface="Malgun Gothic"/>
                <a:cs typeface="Malgun Gothic"/>
              </a:rPr>
              <a:t>t</a:t>
            </a:r>
            <a:r>
              <a:rPr sz="2000" b="1" spc="85" dirty="0">
                <a:latin typeface="Malgun Gothic"/>
                <a:cs typeface="Malgun Gothic"/>
              </a:rPr>
              <a:t>r</a:t>
            </a:r>
            <a:r>
              <a:rPr sz="2000" b="1" spc="-15" dirty="0">
                <a:latin typeface="Malgun Gothic"/>
                <a:cs typeface="Malgun Gothic"/>
              </a:rPr>
              <a:t>a</a:t>
            </a:r>
            <a:r>
              <a:rPr sz="2000" b="1" spc="-55" dirty="0">
                <a:latin typeface="Malgun Gothic"/>
                <a:cs typeface="Malgun Gothic"/>
              </a:rPr>
              <a:t>t</a:t>
            </a:r>
            <a:r>
              <a:rPr sz="2000" b="1" spc="45" dirty="0">
                <a:latin typeface="Malgun Gothic"/>
                <a:cs typeface="Malgun Gothic"/>
              </a:rPr>
              <a:t>e</a:t>
            </a:r>
            <a:r>
              <a:rPr sz="2000" b="1" spc="-80" dirty="0">
                <a:latin typeface="Malgun Gothic"/>
                <a:cs typeface="Malgun Gothic"/>
              </a:rPr>
              <a:t>g</a:t>
            </a:r>
            <a:r>
              <a:rPr sz="2000" b="1" spc="20" dirty="0">
                <a:latin typeface="Malgun Gothic"/>
                <a:cs typeface="Malgun Gothic"/>
              </a:rPr>
              <a:t>i</a:t>
            </a:r>
            <a:r>
              <a:rPr sz="2000" b="1" spc="100" dirty="0">
                <a:latin typeface="Malgun Gothic"/>
                <a:cs typeface="Malgun Gothic"/>
              </a:rPr>
              <a:t>c</a:t>
            </a:r>
            <a:r>
              <a:rPr sz="2000" b="1" spc="35" dirty="0">
                <a:latin typeface="Malgun Gothic"/>
                <a:cs typeface="Malgun Gothic"/>
              </a:rPr>
              <a:t>)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dirty="0">
                <a:latin typeface="Malgun Gothic"/>
                <a:cs typeface="Malgun Gothic"/>
              </a:rPr>
              <a:t>	사</a:t>
            </a:r>
            <a:r>
              <a:rPr sz="2000" b="1" spc="-15" dirty="0">
                <a:latin typeface="Malgun Gothic"/>
                <a:cs typeface="Malgun Gothic"/>
              </a:rPr>
              <a:t>회</a:t>
            </a:r>
            <a:r>
              <a:rPr sz="2000" b="1" dirty="0">
                <a:latin typeface="Malgun Gothic"/>
                <a:cs typeface="Malgun Gothic"/>
              </a:rPr>
              <a:t>보험</a:t>
            </a:r>
            <a:r>
              <a:rPr sz="2000" b="1" spc="60" dirty="0">
                <a:latin typeface="Malgun Gothic"/>
                <a:cs typeface="Malgun Gothic"/>
              </a:rPr>
              <a:t>,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5" dirty="0">
                <a:latin typeface="Malgun Gothic"/>
                <a:cs typeface="Malgun Gothic"/>
              </a:rPr>
              <a:t>가</a:t>
            </a:r>
            <a:r>
              <a:rPr sz="2000" b="1" dirty="0">
                <a:latin typeface="Malgun Gothic"/>
                <a:cs typeface="Malgun Gothic"/>
              </a:rPr>
              <a:t>족수</a:t>
            </a:r>
            <a:r>
              <a:rPr sz="2000" b="1" spc="-15" dirty="0">
                <a:latin typeface="Malgun Gothic"/>
                <a:cs typeface="Malgun Gothic"/>
              </a:rPr>
              <a:t>당</a:t>
            </a:r>
            <a:r>
              <a:rPr sz="2000" b="1" spc="60" dirty="0">
                <a:latin typeface="Malgun Gothic"/>
                <a:cs typeface="Malgun Gothic"/>
              </a:rPr>
              <a:t>,</a:t>
            </a:r>
            <a:r>
              <a:rPr sz="2000" b="1" dirty="0">
                <a:latin typeface="Malgun Gothic"/>
                <a:cs typeface="Malgun Gothic"/>
              </a:rPr>
              <a:t>	사회</a:t>
            </a:r>
            <a:r>
              <a:rPr sz="2000" b="1" spc="-15" dirty="0">
                <a:latin typeface="Malgun Gothic"/>
                <a:cs typeface="Malgun Gothic"/>
              </a:rPr>
              <a:t>부</a:t>
            </a:r>
            <a:r>
              <a:rPr sz="2000" b="1" dirty="0">
                <a:latin typeface="Malgun Gothic"/>
                <a:cs typeface="Malgun Gothic"/>
              </a:rPr>
              <a:t>조</a:t>
            </a:r>
            <a:r>
              <a:rPr sz="2000" b="1" spc="60" dirty="0">
                <a:latin typeface="Malgun Gothic"/>
                <a:cs typeface="Malgun Gothic"/>
              </a:rPr>
              <a:t>,</a:t>
            </a:r>
            <a:r>
              <a:rPr sz="2000" b="1" dirty="0">
                <a:latin typeface="Malgun Gothic"/>
                <a:cs typeface="Malgun Gothic"/>
              </a:rPr>
              <a:t>	국</a:t>
            </a:r>
            <a:r>
              <a:rPr sz="2000" b="1" spc="-15" dirty="0">
                <a:latin typeface="Malgun Gothic"/>
                <a:cs typeface="Malgun Gothic"/>
              </a:rPr>
              <a:t>민</a:t>
            </a:r>
            <a:r>
              <a:rPr sz="2000" b="1" dirty="0">
                <a:latin typeface="Malgun Gothic"/>
                <a:cs typeface="Malgun Gothic"/>
              </a:rPr>
              <a:t>건강</a:t>
            </a:r>
            <a:r>
              <a:rPr sz="2000" b="1" spc="-15" dirty="0">
                <a:latin typeface="Malgun Gothic"/>
                <a:cs typeface="Malgun Gothic"/>
              </a:rPr>
              <a:t>서</a:t>
            </a:r>
            <a:r>
              <a:rPr sz="2000" b="1" dirty="0">
                <a:latin typeface="Malgun Gothic"/>
                <a:cs typeface="Malgun Gothic"/>
              </a:rPr>
              <a:t>비스를</a:t>
            </a:r>
            <a:endParaRPr sz="2000">
              <a:latin typeface="Malgun Gothic"/>
              <a:cs typeface="Malgun Gothic"/>
            </a:endParaRPr>
          </a:p>
          <a:p>
            <a:pPr marL="2821305">
              <a:lnSpc>
                <a:spcPct val="100000"/>
              </a:lnSpc>
              <a:spcBef>
                <a:spcPts val="800"/>
              </a:spcBef>
            </a:pPr>
            <a:r>
              <a:rPr sz="2000" b="1" dirty="0">
                <a:latin typeface="Malgun Gothic"/>
                <a:cs typeface="Malgun Gothic"/>
              </a:rPr>
              <a:t>상호</a:t>
            </a:r>
            <a:r>
              <a:rPr sz="2000" b="1" spc="26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조화롭게</a:t>
            </a:r>
            <a:r>
              <a:rPr sz="2000" b="1" spc="26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연계</a:t>
            </a:r>
            <a:endParaRPr sz="2000">
              <a:latin typeface="Malgun Gothic"/>
              <a:cs typeface="Malgun Gothic"/>
            </a:endParaRPr>
          </a:p>
          <a:p>
            <a:pPr marL="424815" lvl="1" indent="-287020">
              <a:lnSpc>
                <a:spcPct val="100000"/>
              </a:lnSpc>
              <a:spcBef>
                <a:spcPts val="805"/>
              </a:spcBef>
              <a:buChar char="-"/>
              <a:tabLst>
                <a:tab pos="425450" algn="l"/>
              </a:tabLst>
            </a:pPr>
            <a:r>
              <a:rPr sz="2000" b="1" spc="15" dirty="0">
                <a:latin typeface="Malgun Gothic"/>
                <a:cs typeface="Malgun Gothic"/>
              </a:rPr>
              <a:t>보편적(universal)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사회보험의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적용은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강제성을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토대로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모든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근로계</a:t>
            </a:r>
            <a:endParaRPr sz="2000">
              <a:latin typeface="Malgun Gothic"/>
              <a:cs typeface="Malgun Gothic"/>
            </a:endParaRPr>
          </a:p>
          <a:p>
            <a:pPr marL="2823845">
              <a:lnSpc>
                <a:spcPct val="100000"/>
              </a:lnSpc>
              <a:spcBef>
                <a:spcPts val="790"/>
              </a:spcBef>
            </a:pPr>
            <a:r>
              <a:rPr sz="2000" b="1" dirty="0">
                <a:latin typeface="Malgun Gothic"/>
                <a:cs typeface="Malgun Gothic"/>
              </a:rPr>
              <a:t>층을</a:t>
            </a:r>
            <a:r>
              <a:rPr sz="2000" b="1" spc="229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대상</a:t>
            </a:r>
            <a:endParaRPr sz="2000">
              <a:latin typeface="Malgun Gothic"/>
              <a:cs typeface="Malgun Gothic"/>
            </a:endParaRPr>
          </a:p>
          <a:p>
            <a:pPr marL="424815" lvl="1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sz="2000" b="1" spc="5" dirty="0">
                <a:latin typeface="Malgun Gothic"/>
                <a:cs typeface="Malgun Gothic"/>
              </a:rPr>
              <a:t>보험수리적(actuarial)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가능한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한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민간보험에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가깝게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설계</a:t>
            </a:r>
            <a:endParaRPr sz="2000">
              <a:latin typeface="Malgun Gothic"/>
              <a:cs typeface="Malgun Gothic"/>
            </a:endParaRPr>
          </a:p>
          <a:p>
            <a:pPr marL="444500" lvl="1" indent="-306705">
              <a:lnSpc>
                <a:spcPct val="100000"/>
              </a:lnSpc>
              <a:spcBef>
                <a:spcPts val="805"/>
              </a:spcBef>
              <a:buChar char="-"/>
              <a:tabLst>
                <a:tab pos="444500" algn="l"/>
                <a:tab pos="445134" algn="l"/>
                <a:tab pos="3402329" algn="l"/>
                <a:tab pos="3634104" algn="l"/>
                <a:tab pos="5049520" algn="l"/>
                <a:tab pos="5956935" algn="l"/>
                <a:tab pos="6865620" algn="l"/>
                <a:tab pos="7773034" algn="l"/>
              </a:tabLst>
            </a:pPr>
            <a:r>
              <a:rPr sz="2000" b="1" dirty="0">
                <a:latin typeface="Malgun Gothic"/>
                <a:cs typeface="Malgun Gothic"/>
              </a:rPr>
              <a:t>인</a:t>
            </a:r>
            <a:r>
              <a:rPr sz="2000" b="1" spc="-15" dirty="0">
                <a:latin typeface="Malgun Gothic"/>
                <a:cs typeface="Malgun Gothic"/>
              </a:rPr>
              <a:t>색</a:t>
            </a:r>
            <a:r>
              <a:rPr sz="2000" b="1" dirty="0">
                <a:latin typeface="Malgun Gothic"/>
                <a:cs typeface="Malgun Gothic"/>
              </a:rPr>
              <a:t>하다</a:t>
            </a:r>
            <a:r>
              <a:rPr sz="2000" b="1" spc="35" dirty="0">
                <a:latin typeface="Malgun Gothic"/>
                <a:cs typeface="Malgun Gothic"/>
              </a:rPr>
              <a:t>(</a:t>
            </a:r>
            <a:r>
              <a:rPr sz="2000" b="1" spc="-120" dirty="0">
                <a:latin typeface="Malgun Gothic"/>
                <a:cs typeface="Malgun Gothic"/>
              </a:rPr>
              <a:t>p</a:t>
            </a:r>
            <a:r>
              <a:rPr sz="2000" b="1" dirty="0">
                <a:latin typeface="Malgun Gothic"/>
                <a:cs typeface="Malgun Gothic"/>
              </a:rPr>
              <a:t>a</a:t>
            </a:r>
            <a:r>
              <a:rPr sz="2000" b="1" spc="85" dirty="0">
                <a:latin typeface="Malgun Gothic"/>
                <a:cs typeface="Malgun Gothic"/>
              </a:rPr>
              <a:t>r</a:t>
            </a:r>
            <a:r>
              <a:rPr sz="2000" b="1" spc="114" dirty="0">
                <a:latin typeface="Malgun Gothic"/>
                <a:cs typeface="Malgun Gothic"/>
              </a:rPr>
              <a:t>s</a:t>
            </a:r>
            <a:r>
              <a:rPr sz="2000" b="1" spc="20" dirty="0">
                <a:latin typeface="Malgun Gothic"/>
                <a:cs typeface="Malgun Gothic"/>
              </a:rPr>
              <a:t>i</a:t>
            </a:r>
            <a:r>
              <a:rPr sz="2000" b="1" spc="-160" dirty="0">
                <a:latin typeface="Malgun Gothic"/>
                <a:cs typeface="Malgun Gothic"/>
              </a:rPr>
              <a:t>m</a:t>
            </a:r>
            <a:r>
              <a:rPr sz="2000" b="1" spc="-80" dirty="0">
                <a:latin typeface="Malgun Gothic"/>
                <a:cs typeface="Malgun Gothic"/>
              </a:rPr>
              <a:t>o</a:t>
            </a:r>
            <a:r>
              <a:rPr sz="2000" b="1" spc="-85" dirty="0">
                <a:latin typeface="Malgun Gothic"/>
                <a:cs typeface="Malgun Gothic"/>
              </a:rPr>
              <a:t>n</a:t>
            </a:r>
            <a:r>
              <a:rPr sz="2000" b="1" spc="30" dirty="0">
                <a:latin typeface="Malgun Gothic"/>
                <a:cs typeface="Malgun Gothic"/>
              </a:rPr>
              <a:t>i</a:t>
            </a:r>
            <a:r>
              <a:rPr sz="2000" b="1" spc="-80" dirty="0">
                <a:latin typeface="Malgun Gothic"/>
                <a:cs typeface="Malgun Gothic"/>
              </a:rPr>
              <a:t>ou</a:t>
            </a:r>
            <a:r>
              <a:rPr sz="2000" b="1" spc="105" dirty="0">
                <a:latin typeface="Malgun Gothic"/>
                <a:cs typeface="Malgun Gothic"/>
              </a:rPr>
              <a:t>s</a:t>
            </a:r>
            <a:r>
              <a:rPr sz="2000" b="1" spc="35" dirty="0">
                <a:latin typeface="Malgun Gothic"/>
                <a:cs typeface="Malgun Gothic"/>
              </a:rPr>
              <a:t>)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dirty="0">
                <a:latin typeface="Malgun Gothic"/>
                <a:cs typeface="Malgun Gothic"/>
              </a:rPr>
              <a:t>	근</a:t>
            </a:r>
            <a:r>
              <a:rPr sz="2000" b="1" spc="-15" dirty="0">
                <a:latin typeface="Malgun Gothic"/>
                <a:cs typeface="Malgun Gothic"/>
              </a:rPr>
              <a:t>로</a:t>
            </a:r>
            <a:r>
              <a:rPr sz="2000" b="1" dirty="0">
                <a:latin typeface="Malgun Gothic"/>
                <a:cs typeface="Malgun Gothic"/>
              </a:rPr>
              <a:t>유인과	</a:t>
            </a:r>
            <a:r>
              <a:rPr sz="2000" b="1" spc="-15" dirty="0">
                <a:latin typeface="Malgun Gothic"/>
                <a:cs typeface="Malgun Gothic"/>
              </a:rPr>
              <a:t>재</a:t>
            </a:r>
            <a:r>
              <a:rPr sz="2000" b="1" dirty="0">
                <a:latin typeface="Malgun Gothic"/>
                <a:cs typeface="Malgun Gothic"/>
              </a:rPr>
              <a:t>정적	부</a:t>
            </a:r>
            <a:r>
              <a:rPr sz="2000" b="1" spc="-15" dirty="0">
                <a:latin typeface="Malgun Gothic"/>
                <a:cs typeface="Malgun Gothic"/>
              </a:rPr>
              <a:t>담</a:t>
            </a:r>
            <a:r>
              <a:rPr sz="2000" b="1" dirty="0">
                <a:latin typeface="Malgun Gothic"/>
                <a:cs typeface="Malgun Gothic"/>
              </a:rPr>
              <a:t>을	</a:t>
            </a:r>
            <a:r>
              <a:rPr sz="2000" b="1" spc="-15" dirty="0">
                <a:latin typeface="Malgun Gothic"/>
                <a:cs typeface="Malgun Gothic"/>
              </a:rPr>
              <a:t>이</a:t>
            </a:r>
            <a:r>
              <a:rPr sz="2000" b="1" dirty="0">
                <a:latin typeface="Malgun Gothic"/>
                <a:cs typeface="Malgun Gothic"/>
              </a:rPr>
              <a:t>유로	인</a:t>
            </a:r>
            <a:r>
              <a:rPr sz="2000" b="1" spc="-15" dirty="0">
                <a:latin typeface="Malgun Gothic"/>
                <a:cs typeface="Malgun Gothic"/>
              </a:rPr>
              <a:t>색</a:t>
            </a:r>
            <a:r>
              <a:rPr sz="2000" b="1" dirty="0">
                <a:latin typeface="Malgun Gothic"/>
                <a:cs typeface="Malgun Gothic"/>
              </a:rPr>
              <a:t>한</a:t>
            </a:r>
            <a:endParaRPr sz="2000">
              <a:latin typeface="Malgun Gothic"/>
              <a:cs typeface="Malgun Gothic"/>
            </a:endParaRPr>
          </a:p>
          <a:p>
            <a:pPr marL="2884805" marR="5080">
              <a:lnSpc>
                <a:spcPts val="3200"/>
              </a:lnSpc>
              <a:spcBef>
                <a:spcPts val="229"/>
              </a:spcBef>
              <a:tabLst>
                <a:tab pos="3796665" algn="l"/>
                <a:tab pos="4963160" algn="l"/>
                <a:tab pos="5695315" algn="l"/>
                <a:tab pos="7115809" algn="l"/>
                <a:tab pos="7773034" algn="l"/>
              </a:tabLst>
            </a:pPr>
            <a:r>
              <a:rPr sz="2000" b="1" spc="-15" dirty="0">
                <a:latin typeface="Malgun Gothic"/>
                <a:cs typeface="Malgun Gothic"/>
              </a:rPr>
              <a:t>수</a:t>
            </a:r>
            <a:r>
              <a:rPr sz="2000" b="1" dirty="0">
                <a:latin typeface="Malgun Gothic"/>
                <a:cs typeface="Malgun Gothic"/>
              </a:rPr>
              <a:t>준의	빈</a:t>
            </a:r>
            <a:r>
              <a:rPr sz="2000" b="1" spc="-15" dirty="0">
                <a:latin typeface="Malgun Gothic"/>
                <a:cs typeface="Malgun Gothic"/>
              </a:rPr>
              <a:t>곤</a:t>
            </a:r>
            <a:r>
              <a:rPr sz="2000" b="1" dirty="0">
                <a:latin typeface="Malgun Gothic"/>
                <a:cs typeface="Malgun Gothic"/>
              </a:rPr>
              <a:t>선을	옹</a:t>
            </a:r>
            <a:r>
              <a:rPr sz="2000" b="1" spc="-15" dirty="0">
                <a:latin typeface="Malgun Gothic"/>
                <a:cs typeface="Malgun Gothic"/>
              </a:rPr>
              <a:t>호</a:t>
            </a:r>
            <a:r>
              <a:rPr sz="2000" b="1" spc="60" dirty="0">
                <a:latin typeface="Malgun Gothic"/>
                <a:cs typeface="Malgun Gothic"/>
              </a:rPr>
              <a:t>,</a:t>
            </a:r>
            <a:r>
              <a:rPr sz="2000" b="1" dirty="0">
                <a:latin typeface="Malgun Gothic"/>
                <a:cs typeface="Malgun Gothic"/>
              </a:rPr>
              <a:t>	실업</a:t>
            </a:r>
            <a:r>
              <a:rPr sz="2000" b="1" spc="-15" dirty="0">
                <a:latin typeface="Malgun Gothic"/>
                <a:cs typeface="Malgun Gothic"/>
              </a:rPr>
              <a:t>급</a:t>
            </a:r>
            <a:r>
              <a:rPr sz="2000" b="1" dirty="0">
                <a:latin typeface="Malgun Gothic"/>
                <a:cs typeface="Malgun Gothic"/>
              </a:rPr>
              <a:t>여의	</a:t>
            </a:r>
            <a:r>
              <a:rPr sz="2000" b="1" spc="-15" dirty="0">
                <a:latin typeface="Malgun Gothic"/>
                <a:cs typeface="Malgun Gothic"/>
              </a:rPr>
              <a:t>경</a:t>
            </a:r>
            <a:r>
              <a:rPr sz="2000" b="1" dirty="0">
                <a:latin typeface="Malgun Gothic"/>
                <a:cs typeface="Malgun Gothic"/>
              </a:rPr>
              <a:t>우	도덕적  </a:t>
            </a:r>
            <a:r>
              <a:rPr sz="2000" b="1" spc="-5" dirty="0">
                <a:latin typeface="Malgun Gothic"/>
                <a:cs typeface="Malgun Gothic"/>
              </a:rPr>
              <a:t>해이를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방지하기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위해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엄격한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조사를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제안</a:t>
            </a:r>
            <a:endParaRPr sz="2000">
              <a:latin typeface="Malgun Gothic"/>
              <a:cs typeface="Malgun Gothic"/>
            </a:endParaRPr>
          </a:p>
          <a:p>
            <a:pPr marL="427990" marR="6350" lvl="1" indent="-289560">
              <a:lnSpc>
                <a:spcPts val="3190"/>
              </a:lnSpc>
              <a:spcBef>
                <a:spcPts val="10"/>
              </a:spcBef>
              <a:buChar char="-"/>
              <a:tabLst>
                <a:tab pos="428625" algn="l"/>
                <a:tab pos="815975" algn="l"/>
                <a:tab pos="1459865" algn="l"/>
                <a:tab pos="2980690" algn="l"/>
                <a:tab pos="4987290" algn="l"/>
                <a:tab pos="6137910" algn="l"/>
                <a:tab pos="7035165" algn="l"/>
                <a:tab pos="8027670" algn="l"/>
              </a:tabLst>
            </a:pPr>
            <a:r>
              <a:rPr sz="2000" b="1" spc="25" dirty="0">
                <a:latin typeface="Malgun Gothic"/>
                <a:cs typeface="Malgun Gothic"/>
              </a:rPr>
              <a:t>Beveridge가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강조하는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빈곤구제는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생활수준의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보장을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정책적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핵심으 </a:t>
            </a:r>
            <a:r>
              <a:rPr sz="2000" b="1" spc="-6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로	하는	</a:t>
            </a:r>
            <a:r>
              <a:rPr sz="2000" b="1" spc="125" dirty="0">
                <a:latin typeface="Malgun Gothic"/>
                <a:cs typeface="Malgun Gothic"/>
              </a:rPr>
              <a:t>B</a:t>
            </a:r>
            <a:r>
              <a:rPr sz="2000" b="1" spc="30" dirty="0">
                <a:latin typeface="Malgun Gothic"/>
                <a:cs typeface="Malgun Gothic"/>
              </a:rPr>
              <a:t>i</a:t>
            </a:r>
            <a:r>
              <a:rPr sz="2000" b="1" spc="114" dirty="0">
                <a:latin typeface="Malgun Gothic"/>
                <a:cs typeface="Malgun Gothic"/>
              </a:rPr>
              <a:t>s</a:t>
            </a:r>
            <a:r>
              <a:rPr sz="2000" b="1" spc="-170" dirty="0">
                <a:latin typeface="Malgun Gothic"/>
                <a:cs typeface="Malgun Gothic"/>
              </a:rPr>
              <a:t>m</a:t>
            </a:r>
            <a:r>
              <a:rPr sz="2000" b="1" dirty="0">
                <a:latin typeface="Malgun Gothic"/>
                <a:cs typeface="Malgun Gothic"/>
              </a:rPr>
              <a:t>a</a:t>
            </a:r>
            <a:r>
              <a:rPr sz="2000" b="1" spc="85" dirty="0">
                <a:latin typeface="Malgun Gothic"/>
                <a:cs typeface="Malgun Gothic"/>
              </a:rPr>
              <a:t>r</a:t>
            </a:r>
            <a:r>
              <a:rPr sz="2000" b="1" spc="100" dirty="0">
                <a:latin typeface="Malgun Gothic"/>
                <a:cs typeface="Malgun Gothic"/>
              </a:rPr>
              <a:t>c</a:t>
            </a:r>
            <a:r>
              <a:rPr sz="2000" b="1" spc="40" dirty="0">
                <a:latin typeface="Malgun Gothic"/>
                <a:cs typeface="Malgun Gothic"/>
              </a:rPr>
              <a:t>k</a:t>
            </a:r>
            <a:r>
              <a:rPr sz="2000" b="1" dirty="0">
                <a:latin typeface="Malgun Gothic"/>
                <a:cs typeface="Malgun Gothic"/>
              </a:rPr>
              <a:t>의	</a:t>
            </a:r>
            <a:r>
              <a:rPr sz="2000" b="1" spc="-15" dirty="0">
                <a:latin typeface="Malgun Gothic"/>
                <a:cs typeface="Malgun Gothic"/>
              </a:rPr>
              <a:t>접</a:t>
            </a:r>
            <a:r>
              <a:rPr sz="2000" b="1" dirty="0">
                <a:latin typeface="Malgun Gothic"/>
                <a:cs typeface="Malgun Gothic"/>
              </a:rPr>
              <a:t>근방</a:t>
            </a:r>
            <a:r>
              <a:rPr sz="2000" b="1" spc="-15" dirty="0">
                <a:latin typeface="Malgun Gothic"/>
                <a:cs typeface="Malgun Gothic"/>
              </a:rPr>
              <a:t>식</a:t>
            </a:r>
            <a:r>
              <a:rPr sz="2000" b="1" spc="35" dirty="0">
                <a:latin typeface="Malgun Gothic"/>
                <a:cs typeface="Malgun Gothic"/>
              </a:rPr>
              <a:t>(</a:t>
            </a:r>
            <a:r>
              <a:rPr sz="2000" b="1" dirty="0">
                <a:latin typeface="Malgun Gothic"/>
                <a:cs typeface="Malgun Gothic"/>
              </a:rPr>
              <a:t>소</a:t>
            </a:r>
            <a:r>
              <a:rPr sz="2000" b="1" spc="-15" dirty="0">
                <a:latin typeface="Malgun Gothic"/>
                <a:cs typeface="Malgun Gothic"/>
              </a:rPr>
              <a:t>득</a:t>
            </a:r>
            <a:r>
              <a:rPr sz="2000" b="1" dirty="0">
                <a:latin typeface="Malgun Gothic"/>
                <a:cs typeface="Malgun Gothic"/>
              </a:rPr>
              <a:t>에	비례</a:t>
            </a:r>
            <a:r>
              <a:rPr sz="2000" b="1" spc="-15" dirty="0">
                <a:latin typeface="Malgun Gothic"/>
                <a:cs typeface="Malgun Gothic"/>
              </a:rPr>
              <a:t>하</a:t>
            </a:r>
            <a:r>
              <a:rPr sz="2000" b="1" dirty="0">
                <a:latin typeface="Malgun Gothic"/>
                <a:cs typeface="Malgun Gothic"/>
              </a:rPr>
              <a:t>는	부</a:t>
            </a:r>
            <a:r>
              <a:rPr sz="2000" b="1" spc="-15" dirty="0">
                <a:latin typeface="Malgun Gothic"/>
                <a:cs typeface="Malgun Gothic"/>
              </a:rPr>
              <a:t>담</a:t>
            </a:r>
            <a:r>
              <a:rPr sz="2000" b="1" dirty="0">
                <a:latin typeface="Malgun Gothic"/>
                <a:cs typeface="Malgun Gothic"/>
              </a:rPr>
              <a:t>과	급</a:t>
            </a:r>
            <a:r>
              <a:rPr sz="2000" b="1" spc="-15" dirty="0">
                <a:latin typeface="Malgun Gothic"/>
                <a:cs typeface="Malgun Gothic"/>
              </a:rPr>
              <a:t>여</a:t>
            </a:r>
            <a:r>
              <a:rPr sz="2000" b="1" spc="35" dirty="0">
                <a:latin typeface="Malgun Gothic"/>
                <a:cs typeface="Malgun Gothic"/>
              </a:rPr>
              <a:t>)</a:t>
            </a:r>
            <a:r>
              <a:rPr sz="2000" b="1" dirty="0">
                <a:latin typeface="Malgun Gothic"/>
                <a:cs typeface="Malgun Gothic"/>
              </a:rPr>
              <a:t>과	</a:t>
            </a:r>
            <a:r>
              <a:rPr sz="2000" b="1" spc="-15" dirty="0">
                <a:latin typeface="Malgun Gothic"/>
                <a:cs typeface="Malgun Gothic"/>
              </a:rPr>
              <a:t>대</a:t>
            </a:r>
            <a:r>
              <a:rPr sz="2000" b="1" dirty="0">
                <a:latin typeface="Malgun Gothic"/>
                <a:cs typeface="Malgun Gothic"/>
              </a:rPr>
              <a:t>조</a:t>
            </a:r>
            <a:endParaRPr sz="2000">
              <a:latin typeface="Malgun Gothic"/>
              <a:cs typeface="Malgun Gothic"/>
            </a:endParaRPr>
          </a:p>
          <a:p>
            <a:pPr marL="427990">
              <a:lnSpc>
                <a:spcPct val="100000"/>
              </a:lnSpc>
              <a:spcBef>
                <a:spcPts val="565"/>
              </a:spcBef>
            </a:pPr>
            <a:r>
              <a:rPr sz="2000" b="1" spc="10" dirty="0">
                <a:latin typeface="Malgun Gothic"/>
                <a:cs typeface="Malgun Gothic"/>
              </a:rPr>
              <a:t>적이다.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t>17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208885"/>
            <a:ext cx="8549005" cy="520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40" dirty="0">
                <a:latin typeface="Malgun Gothic"/>
                <a:cs typeface="Malgun Gothic"/>
              </a:rPr>
              <a:t>2.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spc="30" dirty="0">
                <a:latin typeface="Malgun Gothic"/>
                <a:cs typeface="Malgun Gothic"/>
              </a:rPr>
              <a:t>1946</a:t>
            </a:r>
            <a:r>
              <a:rPr sz="2000" spc="-15" dirty="0">
                <a:latin typeface="MS UI Gothic"/>
                <a:cs typeface="MS UI Gothic"/>
              </a:rPr>
              <a:t>〜</a:t>
            </a:r>
            <a:r>
              <a:rPr sz="2000" b="1" spc="15" dirty="0">
                <a:latin typeface="Malgun Gothic"/>
                <a:cs typeface="Malgun Gothic"/>
              </a:rPr>
              <a:t>1948년의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사회복지정책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Malgun Gothic"/>
              <a:cs typeface="Malgun Gothic"/>
            </a:endParaRPr>
          </a:p>
          <a:p>
            <a:pPr marL="309245" marR="6350" indent="-297180">
              <a:lnSpc>
                <a:spcPct val="133400"/>
              </a:lnSpc>
              <a:buChar char="-"/>
              <a:tabLst>
                <a:tab pos="309245" algn="l"/>
                <a:tab pos="309880" algn="l"/>
                <a:tab pos="2512060" algn="l"/>
                <a:tab pos="2734310" algn="l"/>
                <a:tab pos="3125470" algn="l"/>
                <a:tab pos="4025265" algn="l"/>
                <a:tab pos="4670425" algn="l"/>
                <a:tab pos="5570220" algn="l"/>
                <a:tab pos="6976745" algn="l"/>
                <a:tab pos="8129270" algn="l"/>
              </a:tabLst>
            </a:pPr>
            <a:r>
              <a:rPr sz="2000" b="1" dirty="0">
                <a:latin typeface="Malgun Gothic"/>
                <a:cs typeface="Malgun Gothic"/>
              </a:rPr>
              <a:t>가</a:t>
            </a:r>
            <a:r>
              <a:rPr sz="2000" b="1" spc="-15" dirty="0">
                <a:latin typeface="Malgun Gothic"/>
                <a:cs typeface="Malgun Gothic"/>
              </a:rPr>
              <a:t>족</a:t>
            </a:r>
            <a:r>
              <a:rPr sz="2000" b="1" dirty="0">
                <a:latin typeface="Malgun Gothic"/>
                <a:cs typeface="Malgun Gothic"/>
              </a:rPr>
              <a:t>수당</a:t>
            </a:r>
            <a:r>
              <a:rPr sz="2000" b="1" spc="-15" dirty="0">
                <a:latin typeface="Malgun Gothic"/>
                <a:cs typeface="Malgun Gothic"/>
              </a:rPr>
              <a:t>법</a:t>
            </a:r>
            <a:r>
              <a:rPr sz="2000" b="1" spc="35" dirty="0">
                <a:latin typeface="Malgun Gothic"/>
                <a:cs typeface="Malgun Gothic"/>
              </a:rPr>
              <a:t>(1</a:t>
            </a:r>
            <a:r>
              <a:rPr sz="2000" b="1" spc="20" dirty="0">
                <a:latin typeface="Malgun Gothic"/>
                <a:cs typeface="Malgun Gothic"/>
              </a:rPr>
              <a:t>945</a:t>
            </a:r>
            <a:r>
              <a:rPr sz="2000" b="1" spc="35" dirty="0">
                <a:latin typeface="Malgun Gothic"/>
                <a:cs typeface="Malgun Gothic"/>
              </a:rPr>
              <a:t>)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dirty="0">
                <a:latin typeface="Malgun Gothic"/>
                <a:cs typeface="Malgun Gothic"/>
              </a:rPr>
              <a:t>	각	가정의	둘째	이</a:t>
            </a:r>
            <a:r>
              <a:rPr sz="2000" b="1" spc="-15" dirty="0">
                <a:latin typeface="Malgun Gothic"/>
                <a:cs typeface="Malgun Gothic"/>
              </a:rPr>
              <a:t>상</a:t>
            </a:r>
            <a:r>
              <a:rPr sz="2000" b="1" dirty="0">
                <a:latin typeface="Malgun Gothic"/>
                <a:cs typeface="Malgun Gothic"/>
              </a:rPr>
              <a:t>의	</a:t>
            </a:r>
            <a:r>
              <a:rPr sz="2000" b="1" spc="-15" dirty="0">
                <a:latin typeface="Malgun Gothic"/>
                <a:cs typeface="Malgun Gothic"/>
              </a:rPr>
              <a:t>어</a:t>
            </a:r>
            <a:r>
              <a:rPr sz="2000" b="1" dirty="0">
                <a:latin typeface="Malgun Gothic"/>
                <a:cs typeface="Malgun Gothic"/>
              </a:rPr>
              <a:t>린이</a:t>
            </a:r>
            <a:r>
              <a:rPr sz="2000" b="1" spc="-15" dirty="0">
                <a:latin typeface="Malgun Gothic"/>
                <a:cs typeface="Malgun Gothic"/>
              </a:rPr>
              <a:t>들</a:t>
            </a:r>
            <a:r>
              <a:rPr sz="2000" b="1" dirty="0">
                <a:latin typeface="Malgun Gothic"/>
                <a:cs typeface="Malgun Gothic"/>
              </a:rPr>
              <a:t>을	</a:t>
            </a:r>
            <a:r>
              <a:rPr sz="2000" b="1" spc="-15" dirty="0">
                <a:latin typeface="Malgun Gothic"/>
                <a:cs typeface="Malgun Gothic"/>
              </a:rPr>
              <a:t>대</a:t>
            </a:r>
            <a:r>
              <a:rPr sz="2000" b="1" dirty="0">
                <a:latin typeface="Malgun Gothic"/>
                <a:cs typeface="Malgun Gothic"/>
              </a:rPr>
              <a:t>상으로	</a:t>
            </a:r>
            <a:r>
              <a:rPr sz="2000" b="1" spc="20" dirty="0">
                <a:latin typeface="Malgun Gothic"/>
                <a:cs typeface="Malgun Gothic"/>
              </a:rPr>
              <a:t>5</a:t>
            </a:r>
            <a:r>
              <a:rPr sz="2000" b="1" dirty="0">
                <a:latin typeface="Malgun Gothic"/>
                <a:cs typeface="Malgun Gothic"/>
              </a:rPr>
              <a:t>실  링을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일반재정에서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보편적으로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지급</a:t>
            </a:r>
            <a:endParaRPr sz="2000">
              <a:latin typeface="Malgun Gothic"/>
              <a:cs typeface="Malgun Gothic"/>
            </a:endParaRPr>
          </a:p>
          <a:p>
            <a:pPr marL="309245" marR="6350" indent="-297180">
              <a:lnSpc>
                <a:spcPts val="3200"/>
              </a:lnSpc>
              <a:spcBef>
                <a:spcPts val="229"/>
              </a:spcBef>
              <a:buChar char="-"/>
              <a:tabLst>
                <a:tab pos="313690" algn="l"/>
                <a:tab pos="314325" algn="l"/>
                <a:tab pos="3282315" algn="l"/>
                <a:tab pos="3509010" algn="l"/>
                <a:tab pos="4159250" algn="l"/>
                <a:tab pos="5062220" algn="l"/>
                <a:tab pos="6220460" algn="l"/>
                <a:tab pos="7123430" algn="l"/>
                <a:tab pos="7773034" algn="l"/>
              </a:tabLst>
            </a:pPr>
            <a:r>
              <a:rPr sz="2000" b="1" dirty="0">
                <a:latin typeface="Malgun Gothic"/>
                <a:cs typeface="Malgun Gothic"/>
              </a:rPr>
              <a:t>국</a:t>
            </a:r>
            <a:r>
              <a:rPr sz="2000" b="1" spc="-15" dirty="0">
                <a:latin typeface="Malgun Gothic"/>
                <a:cs typeface="Malgun Gothic"/>
              </a:rPr>
              <a:t>민</a:t>
            </a:r>
            <a:r>
              <a:rPr sz="2000" b="1" dirty="0">
                <a:latin typeface="Malgun Gothic"/>
                <a:cs typeface="Malgun Gothic"/>
              </a:rPr>
              <a:t>건강</a:t>
            </a:r>
            <a:r>
              <a:rPr sz="2000" b="1" spc="-15" dirty="0">
                <a:latin typeface="Malgun Gothic"/>
                <a:cs typeface="Malgun Gothic"/>
              </a:rPr>
              <a:t>서</a:t>
            </a:r>
            <a:r>
              <a:rPr sz="2000" b="1" dirty="0">
                <a:latin typeface="Malgun Gothic"/>
                <a:cs typeface="Malgun Gothic"/>
              </a:rPr>
              <a:t>비스</a:t>
            </a:r>
            <a:r>
              <a:rPr sz="2000" b="1" spc="-15" dirty="0">
                <a:latin typeface="Malgun Gothic"/>
                <a:cs typeface="Malgun Gothic"/>
              </a:rPr>
              <a:t>법</a:t>
            </a:r>
            <a:r>
              <a:rPr sz="2000" b="1" spc="35" dirty="0">
                <a:latin typeface="Malgun Gothic"/>
                <a:cs typeface="Malgun Gothic"/>
              </a:rPr>
              <a:t>(1</a:t>
            </a:r>
            <a:r>
              <a:rPr sz="2000" b="1" spc="20" dirty="0">
                <a:latin typeface="Malgun Gothic"/>
                <a:cs typeface="Malgun Gothic"/>
              </a:rPr>
              <a:t>946</a:t>
            </a:r>
            <a:r>
              <a:rPr sz="2000" b="1" spc="35" dirty="0">
                <a:latin typeface="Malgun Gothic"/>
                <a:cs typeface="Malgun Gothic"/>
              </a:rPr>
              <a:t>)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5" dirty="0">
                <a:latin typeface="Malgun Gothic"/>
                <a:cs typeface="Malgun Gothic"/>
              </a:rPr>
              <a:t>모</a:t>
            </a:r>
            <a:r>
              <a:rPr sz="2000" b="1" dirty="0">
                <a:latin typeface="Malgun Gothic"/>
                <a:cs typeface="Malgun Gothic"/>
              </a:rPr>
              <a:t>든	</a:t>
            </a:r>
            <a:r>
              <a:rPr sz="2000" b="1" spc="-15" dirty="0">
                <a:latin typeface="Malgun Gothic"/>
                <a:cs typeface="Malgun Gothic"/>
              </a:rPr>
              <a:t>국</a:t>
            </a:r>
            <a:r>
              <a:rPr sz="2000" b="1" dirty="0">
                <a:latin typeface="Malgun Gothic"/>
                <a:cs typeface="Malgun Gothic"/>
              </a:rPr>
              <a:t>민을	대상</a:t>
            </a:r>
            <a:r>
              <a:rPr sz="2000" b="1" spc="-15" dirty="0">
                <a:latin typeface="Malgun Gothic"/>
                <a:cs typeface="Malgun Gothic"/>
              </a:rPr>
              <a:t>으</a:t>
            </a:r>
            <a:r>
              <a:rPr sz="2000" b="1" dirty="0">
                <a:latin typeface="Malgun Gothic"/>
                <a:cs typeface="Malgun Gothic"/>
              </a:rPr>
              <a:t>로	</a:t>
            </a:r>
            <a:r>
              <a:rPr sz="2000" b="1" spc="-15" dirty="0">
                <a:latin typeface="Malgun Gothic"/>
                <a:cs typeface="Malgun Gothic"/>
              </a:rPr>
              <a:t>포</a:t>
            </a:r>
            <a:r>
              <a:rPr sz="2000" b="1" dirty="0">
                <a:latin typeface="Malgun Gothic"/>
                <a:cs typeface="Malgun Gothic"/>
              </a:rPr>
              <a:t>괄적	무상	의</a:t>
            </a:r>
            <a:r>
              <a:rPr sz="2000" b="1" spc="-15" dirty="0">
                <a:latin typeface="Malgun Gothic"/>
                <a:cs typeface="Malgun Gothic"/>
              </a:rPr>
              <a:t>료</a:t>
            </a:r>
            <a:r>
              <a:rPr sz="2000" b="1" dirty="0">
                <a:latin typeface="Malgun Gothic"/>
                <a:cs typeface="Malgun Gothic"/>
              </a:rPr>
              <a:t>서  </a:t>
            </a:r>
            <a:r>
              <a:rPr sz="2000" b="1" spc="-5" dirty="0">
                <a:latin typeface="Malgun Gothic"/>
                <a:cs typeface="Malgun Gothic"/>
              </a:rPr>
              <a:t>비스를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10" dirty="0">
                <a:latin typeface="Malgun Gothic"/>
                <a:cs typeface="Malgun Gothic"/>
              </a:rPr>
              <a:t>제공하며,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대부분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일반재정에서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재원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충당</a:t>
            </a:r>
            <a:endParaRPr sz="2000">
              <a:latin typeface="Malgun Gothic"/>
              <a:cs typeface="Malgun Gothic"/>
            </a:endParaRPr>
          </a:p>
          <a:p>
            <a:pPr marL="309245" marR="5080" indent="-297180">
              <a:lnSpc>
                <a:spcPts val="3190"/>
              </a:lnSpc>
              <a:spcBef>
                <a:spcPts val="10"/>
              </a:spcBef>
              <a:buChar char="-"/>
              <a:tabLst>
                <a:tab pos="333375" algn="l"/>
                <a:tab pos="334010" algn="l"/>
                <a:tab pos="2560955" algn="l"/>
                <a:tab pos="2808605" algn="l"/>
                <a:tab pos="4239895" algn="l"/>
                <a:tab pos="4909820" algn="l"/>
                <a:tab pos="6794500" algn="l"/>
                <a:tab pos="8027670" algn="l"/>
              </a:tabLst>
            </a:pPr>
            <a:r>
              <a:rPr sz="2000" b="1" dirty="0">
                <a:latin typeface="Malgun Gothic"/>
                <a:cs typeface="Malgun Gothic"/>
              </a:rPr>
              <a:t>국민</a:t>
            </a:r>
            <a:r>
              <a:rPr sz="2000" b="1" spc="-15" dirty="0">
                <a:latin typeface="Malgun Gothic"/>
                <a:cs typeface="Malgun Gothic"/>
              </a:rPr>
              <a:t>보</a:t>
            </a:r>
            <a:r>
              <a:rPr sz="2000" b="1" dirty="0">
                <a:latin typeface="Malgun Gothic"/>
                <a:cs typeface="Malgun Gothic"/>
              </a:rPr>
              <a:t>험법</a:t>
            </a:r>
            <a:r>
              <a:rPr sz="2000" b="1" spc="35" dirty="0">
                <a:latin typeface="Malgun Gothic"/>
                <a:cs typeface="Malgun Gothic"/>
              </a:rPr>
              <a:t>(</a:t>
            </a:r>
            <a:r>
              <a:rPr sz="2000" b="1" spc="20" dirty="0">
                <a:latin typeface="Malgun Gothic"/>
                <a:cs typeface="Malgun Gothic"/>
              </a:rPr>
              <a:t>19</a:t>
            </a:r>
            <a:r>
              <a:rPr sz="2000" b="1" spc="35" dirty="0">
                <a:latin typeface="Malgun Gothic"/>
                <a:cs typeface="Malgun Gothic"/>
              </a:rPr>
              <a:t>4</a:t>
            </a:r>
            <a:r>
              <a:rPr sz="2000" b="1" spc="20" dirty="0">
                <a:latin typeface="Malgun Gothic"/>
                <a:cs typeface="Malgun Gothic"/>
              </a:rPr>
              <a:t>6</a:t>
            </a:r>
            <a:r>
              <a:rPr sz="2000" b="1" spc="35" dirty="0">
                <a:latin typeface="Malgun Gothic"/>
                <a:cs typeface="Malgun Gothic"/>
              </a:rPr>
              <a:t>)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5" dirty="0">
                <a:latin typeface="Malgun Gothic"/>
                <a:cs typeface="Malgun Gothic"/>
              </a:rPr>
              <a:t>적</a:t>
            </a:r>
            <a:r>
              <a:rPr sz="2000" b="1" dirty="0">
                <a:latin typeface="Malgun Gothic"/>
                <a:cs typeface="Malgun Gothic"/>
              </a:rPr>
              <a:t>용대</a:t>
            </a:r>
            <a:r>
              <a:rPr sz="2000" b="1" spc="-15" dirty="0">
                <a:latin typeface="Malgun Gothic"/>
                <a:cs typeface="Malgun Gothic"/>
              </a:rPr>
              <a:t>상</a:t>
            </a:r>
            <a:r>
              <a:rPr sz="2000" b="1" dirty="0">
                <a:latin typeface="Malgun Gothic"/>
                <a:cs typeface="Malgun Gothic"/>
              </a:rPr>
              <a:t>은	</a:t>
            </a:r>
            <a:r>
              <a:rPr sz="2000" b="1" spc="-15" dirty="0">
                <a:latin typeface="Malgun Gothic"/>
                <a:cs typeface="Malgun Gothic"/>
              </a:rPr>
              <a:t>매</a:t>
            </a:r>
            <a:r>
              <a:rPr sz="2000" b="1" dirty="0">
                <a:latin typeface="Malgun Gothic"/>
                <a:cs typeface="Malgun Gothic"/>
              </a:rPr>
              <a:t>주	스</a:t>
            </a:r>
            <a:r>
              <a:rPr sz="2000" b="1" spc="-15" dirty="0">
                <a:latin typeface="Malgun Gothic"/>
                <a:cs typeface="Malgun Gothic"/>
              </a:rPr>
              <a:t>탬</a:t>
            </a:r>
            <a:r>
              <a:rPr sz="2000" b="1" dirty="0">
                <a:latin typeface="Malgun Gothic"/>
                <a:cs typeface="Malgun Gothic"/>
              </a:rPr>
              <a:t>프</a:t>
            </a:r>
            <a:r>
              <a:rPr sz="2000" b="1" spc="35" dirty="0">
                <a:latin typeface="Malgun Gothic"/>
                <a:cs typeface="Malgun Gothic"/>
              </a:rPr>
              <a:t>(</a:t>
            </a:r>
            <a:r>
              <a:rPr sz="2000" b="1" spc="10" dirty="0">
                <a:solidFill>
                  <a:srgbClr val="0000FF"/>
                </a:solidFill>
                <a:latin typeface="Malgun Gothic"/>
                <a:cs typeface="Malgun Gothic"/>
              </a:rPr>
              <a:t>w</a:t>
            </a:r>
            <a:r>
              <a:rPr sz="2000" b="1" spc="45" dirty="0">
                <a:solidFill>
                  <a:srgbClr val="0000FF"/>
                </a:solidFill>
                <a:latin typeface="Malgun Gothic"/>
                <a:cs typeface="Malgun Gothic"/>
              </a:rPr>
              <a:t>ee</a:t>
            </a:r>
            <a:r>
              <a:rPr sz="2000" b="1" spc="25" dirty="0">
                <a:solidFill>
                  <a:srgbClr val="0000FF"/>
                </a:solidFill>
                <a:latin typeface="Malgun Gothic"/>
                <a:cs typeface="Malgun Gothic"/>
              </a:rPr>
              <a:t>k</a:t>
            </a:r>
            <a:r>
              <a:rPr sz="2000" b="1" spc="35" dirty="0">
                <a:solidFill>
                  <a:srgbClr val="0000FF"/>
                </a:solidFill>
                <a:latin typeface="Malgun Gothic"/>
                <a:cs typeface="Malgun Gothic"/>
              </a:rPr>
              <a:t>l</a:t>
            </a:r>
            <a:r>
              <a:rPr sz="2000" b="1" spc="105" dirty="0">
                <a:solidFill>
                  <a:srgbClr val="0000FF"/>
                </a:solidFill>
                <a:latin typeface="Malgun Gothic"/>
                <a:cs typeface="Malgun Gothic"/>
              </a:rPr>
              <a:t>y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sz="2000" b="1" spc="105" dirty="0">
                <a:solidFill>
                  <a:srgbClr val="0000FF"/>
                </a:solidFill>
                <a:latin typeface="Malgun Gothic"/>
                <a:cs typeface="Malgun Gothic"/>
              </a:rPr>
              <a:t>s</a:t>
            </a:r>
            <a:r>
              <a:rPr sz="2000" b="1" spc="-40" dirty="0">
                <a:solidFill>
                  <a:srgbClr val="0000FF"/>
                </a:solidFill>
                <a:latin typeface="Malgun Gothic"/>
                <a:cs typeface="Malgun Gothic"/>
              </a:rPr>
              <a:t>t</a:t>
            </a:r>
            <a:r>
              <a:rPr sz="2000" b="1" spc="-15" dirty="0">
                <a:solidFill>
                  <a:srgbClr val="0000FF"/>
                </a:solidFill>
                <a:latin typeface="Malgun Gothic"/>
                <a:cs typeface="Malgun Gothic"/>
              </a:rPr>
              <a:t>a</a:t>
            </a:r>
            <a:r>
              <a:rPr sz="2000" b="1" spc="-160" dirty="0">
                <a:solidFill>
                  <a:srgbClr val="0000FF"/>
                </a:solidFill>
                <a:latin typeface="Malgun Gothic"/>
                <a:cs typeface="Malgun Gothic"/>
              </a:rPr>
              <a:t>m</a:t>
            </a:r>
            <a:r>
              <a:rPr sz="2000" b="1" spc="-105" dirty="0">
                <a:solidFill>
                  <a:srgbClr val="0000FF"/>
                </a:solidFill>
                <a:latin typeface="Malgun Gothic"/>
                <a:cs typeface="Malgun Gothic"/>
              </a:rPr>
              <a:t>p</a:t>
            </a:r>
            <a:r>
              <a:rPr sz="2000" b="1" spc="20" dirty="0">
                <a:latin typeface="Malgun Gothic"/>
                <a:cs typeface="Malgun Gothic"/>
              </a:rPr>
              <a:t>)</a:t>
            </a:r>
            <a:r>
              <a:rPr sz="2000" b="1" dirty="0">
                <a:latin typeface="Malgun Gothic"/>
                <a:cs typeface="Malgun Gothic"/>
              </a:rPr>
              <a:t>를	의무  </a:t>
            </a:r>
            <a:r>
              <a:rPr sz="2000" b="1" spc="-5" dirty="0">
                <a:latin typeface="Malgun Gothic"/>
                <a:cs typeface="Malgun Gothic"/>
              </a:rPr>
              <a:t>적으로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10" dirty="0">
                <a:latin typeface="Malgun Gothic"/>
                <a:cs typeface="Malgun Gothic"/>
              </a:rPr>
              <a:t>구입하며,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보험료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수준은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개인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특성을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반영하여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차등화</a:t>
            </a:r>
            <a:endParaRPr sz="2000">
              <a:latin typeface="Malgun Gothic"/>
              <a:cs typeface="Malgun Gothic"/>
            </a:endParaRPr>
          </a:p>
          <a:p>
            <a:pPr marL="309245" indent="-297180">
              <a:lnSpc>
                <a:spcPct val="100000"/>
              </a:lnSpc>
              <a:spcBef>
                <a:spcPts val="565"/>
              </a:spcBef>
              <a:buChar char="-"/>
              <a:tabLst>
                <a:tab pos="333375" algn="l"/>
                <a:tab pos="334010" algn="l"/>
                <a:tab pos="3321685" algn="l"/>
                <a:tab pos="3569970" algn="l"/>
                <a:tab pos="4493895" algn="l"/>
                <a:tab pos="5672455" algn="l"/>
                <a:tab pos="6849109" algn="l"/>
                <a:tab pos="8027670" algn="l"/>
              </a:tabLst>
            </a:pPr>
            <a:r>
              <a:rPr sz="2000" b="1" dirty="0">
                <a:latin typeface="Malgun Gothic"/>
                <a:cs typeface="Malgun Gothic"/>
              </a:rPr>
              <a:t>산업</a:t>
            </a:r>
            <a:r>
              <a:rPr sz="2000" b="1" spc="-15" dirty="0">
                <a:latin typeface="Malgun Gothic"/>
                <a:cs typeface="Malgun Gothic"/>
              </a:rPr>
              <a:t>재</a:t>
            </a:r>
            <a:r>
              <a:rPr sz="2000" b="1" dirty="0">
                <a:latin typeface="Malgun Gothic"/>
                <a:cs typeface="Malgun Gothic"/>
              </a:rPr>
              <a:t>해보</a:t>
            </a:r>
            <a:r>
              <a:rPr sz="2000" b="1" spc="-15" dirty="0">
                <a:latin typeface="Malgun Gothic"/>
                <a:cs typeface="Malgun Gothic"/>
              </a:rPr>
              <a:t>상</a:t>
            </a:r>
            <a:r>
              <a:rPr sz="2000" b="1" dirty="0">
                <a:latin typeface="Malgun Gothic"/>
                <a:cs typeface="Malgun Gothic"/>
              </a:rPr>
              <a:t>제도</a:t>
            </a:r>
            <a:r>
              <a:rPr sz="2000" b="1" spc="35" dirty="0">
                <a:latin typeface="Malgun Gothic"/>
                <a:cs typeface="Malgun Gothic"/>
              </a:rPr>
              <a:t>(</a:t>
            </a:r>
            <a:r>
              <a:rPr sz="2000" b="1" spc="20" dirty="0">
                <a:latin typeface="Malgun Gothic"/>
                <a:cs typeface="Malgun Gothic"/>
              </a:rPr>
              <a:t>19</a:t>
            </a:r>
            <a:r>
              <a:rPr sz="2000" b="1" spc="35" dirty="0">
                <a:latin typeface="Malgun Gothic"/>
                <a:cs typeface="Malgun Gothic"/>
              </a:rPr>
              <a:t>4</a:t>
            </a:r>
            <a:r>
              <a:rPr sz="2000" b="1" spc="20" dirty="0">
                <a:latin typeface="Malgun Gothic"/>
                <a:cs typeface="Malgun Gothic"/>
              </a:rPr>
              <a:t>6</a:t>
            </a:r>
            <a:r>
              <a:rPr sz="2000" b="1" spc="35" dirty="0">
                <a:latin typeface="Malgun Gothic"/>
                <a:cs typeface="Malgun Gothic"/>
              </a:rPr>
              <a:t>)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dirty="0">
                <a:latin typeface="Malgun Gothic"/>
                <a:cs typeface="Malgun Gothic"/>
              </a:rPr>
              <a:t>	업</a:t>
            </a:r>
            <a:r>
              <a:rPr sz="2000" b="1" spc="-15" dirty="0">
                <a:latin typeface="Malgun Gothic"/>
                <a:cs typeface="Malgun Gothic"/>
              </a:rPr>
              <a:t>종</a:t>
            </a:r>
            <a:r>
              <a:rPr sz="2000" b="1" dirty="0">
                <a:latin typeface="Malgun Gothic"/>
                <a:cs typeface="Malgun Gothic"/>
              </a:rPr>
              <a:t>별	재</a:t>
            </a:r>
            <a:r>
              <a:rPr sz="2000" b="1" spc="-15" dirty="0">
                <a:latin typeface="Malgun Gothic"/>
                <a:cs typeface="Malgun Gothic"/>
              </a:rPr>
              <a:t>해</a:t>
            </a:r>
            <a:r>
              <a:rPr sz="2000" b="1" dirty="0">
                <a:latin typeface="Malgun Gothic"/>
                <a:cs typeface="Malgun Gothic"/>
              </a:rPr>
              <a:t>율의	</a:t>
            </a:r>
            <a:r>
              <a:rPr sz="2000" b="1" spc="-15" dirty="0">
                <a:latin typeface="Malgun Gothic"/>
                <a:cs typeface="Malgun Gothic"/>
              </a:rPr>
              <a:t>차</a:t>
            </a:r>
            <a:r>
              <a:rPr sz="2000" b="1" dirty="0">
                <a:latin typeface="Malgun Gothic"/>
                <a:cs typeface="Malgun Gothic"/>
              </a:rPr>
              <a:t>이에도	불구</a:t>
            </a:r>
            <a:r>
              <a:rPr sz="2000" b="1" spc="-15" dirty="0">
                <a:latin typeface="Malgun Gothic"/>
                <a:cs typeface="Malgun Gothic"/>
              </a:rPr>
              <a:t>하</a:t>
            </a:r>
            <a:r>
              <a:rPr sz="2000" b="1" dirty="0">
                <a:latin typeface="Malgun Gothic"/>
                <a:cs typeface="Malgun Gothic"/>
              </a:rPr>
              <a:t>고	원칙</a:t>
            </a:r>
            <a:endParaRPr sz="2000">
              <a:latin typeface="Malgun Gothic"/>
              <a:cs typeface="Malgun Gothic"/>
            </a:endParaRPr>
          </a:p>
          <a:p>
            <a:pPr marL="309245" marR="6350">
              <a:lnSpc>
                <a:spcPct val="132900"/>
              </a:lnSpc>
              <a:spcBef>
                <a:spcPts val="15"/>
              </a:spcBef>
              <a:tabLst>
                <a:tab pos="1222375" algn="l"/>
                <a:tab pos="2137410" algn="l"/>
                <a:tab pos="3051175" algn="l"/>
                <a:tab pos="3964304" algn="l"/>
                <a:tab pos="4879340" algn="l"/>
                <a:tab pos="5792470" algn="l"/>
                <a:tab pos="6198870" algn="l"/>
                <a:tab pos="7112634" algn="l"/>
                <a:tab pos="8280400" algn="l"/>
              </a:tabLst>
            </a:pPr>
            <a:r>
              <a:rPr sz="2000" b="1" dirty="0">
                <a:latin typeface="Malgun Gothic"/>
                <a:cs typeface="Malgun Gothic"/>
              </a:rPr>
              <a:t>적</a:t>
            </a:r>
            <a:r>
              <a:rPr sz="2000" b="1" spc="-15" dirty="0">
                <a:latin typeface="Malgun Gothic"/>
                <a:cs typeface="Malgun Gothic"/>
              </a:rPr>
              <a:t>으</a:t>
            </a:r>
            <a:r>
              <a:rPr sz="2000" b="1" dirty="0">
                <a:latin typeface="Malgun Gothic"/>
                <a:cs typeface="Malgun Gothic"/>
              </a:rPr>
              <a:t>로	동등한	</a:t>
            </a:r>
            <a:r>
              <a:rPr sz="2000" b="1" spc="-15" dirty="0">
                <a:latin typeface="Malgun Gothic"/>
                <a:cs typeface="Malgun Gothic"/>
              </a:rPr>
              <a:t>부</a:t>
            </a:r>
            <a:r>
              <a:rPr sz="2000" b="1" dirty="0">
                <a:latin typeface="Malgun Gothic"/>
                <a:cs typeface="Malgun Gothic"/>
              </a:rPr>
              <a:t>담과	동</a:t>
            </a:r>
            <a:r>
              <a:rPr sz="2000" b="1" spc="-15" dirty="0">
                <a:latin typeface="Malgun Gothic"/>
                <a:cs typeface="Malgun Gothic"/>
              </a:rPr>
              <a:t>등</a:t>
            </a:r>
            <a:r>
              <a:rPr sz="2000" b="1" dirty="0">
                <a:latin typeface="Malgun Gothic"/>
                <a:cs typeface="Malgun Gothic"/>
              </a:rPr>
              <a:t>한	혜택이	</a:t>
            </a:r>
            <a:r>
              <a:rPr sz="2000" b="1" spc="-15" dirty="0">
                <a:latin typeface="Malgun Gothic"/>
                <a:cs typeface="Malgun Gothic"/>
              </a:rPr>
              <a:t>주</a:t>
            </a:r>
            <a:r>
              <a:rPr sz="2000" b="1" dirty="0">
                <a:latin typeface="Malgun Gothic"/>
                <a:cs typeface="Malgun Gothic"/>
              </a:rPr>
              <a:t>어질	수	있</a:t>
            </a:r>
            <a:r>
              <a:rPr sz="2000" b="1" spc="-15" dirty="0">
                <a:latin typeface="Malgun Gothic"/>
                <a:cs typeface="Malgun Gothic"/>
              </a:rPr>
              <a:t>도</a:t>
            </a:r>
            <a:r>
              <a:rPr sz="2000" b="1" dirty="0">
                <a:latin typeface="Malgun Gothic"/>
                <a:cs typeface="Malgun Gothic"/>
              </a:rPr>
              <a:t>록	위험</a:t>
            </a:r>
            <a:r>
              <a:rPr sz="2000" b="1" spc="-15" dirty="0">
                <a:latin typeface="Malgun Gothic"/>
                <a:cs typeface="Malgun Gothic"/>
              </a:rPr>
              <a:t>분</a:t>
            </a:r>
            <a:r>
              <a:rPr sz="2000" b="1" dirty="0">
                <a:latin typeface="Malgun Gothic"/>
                <a:cs typeface="Malgun Gothic"/>
              </a:rPr>
              <a:t>산	기  능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수행</a:t>
            </a:r>
            <a:endParaRPr sz="2000">
              <a:latin typeface="Malgun Gothic"/>
              <a:cs typeface="Malgun Gothic"/>
            </a:endParaRPr>
          </a:p>
          <a:p>
            <a:pPr marL="313690" marR="6350" indent="-301625">
              <a:lnSpc>
                <a:spcPct val="133400"/>
              </a:lnSpc>
              <a:buChar char="-"/>
              <a:tabLst>
                <a:tab pos="313690" algn="l"/>
                <a:tab pos="314325" algn="l"/>
                <a:tab pos="2520950" algn="l"/>
                <a:tab pos="2748280" algn="l"/>
                <a:tab pos="4159250" algn="l"/>
                <a:tab pos="4809490" algn="l"/>
                <a:tab pos="5966460" algn="l"/>
                <a:tab pos="6868795" algn="l"/>
                <a:tab pos="8280400" algn="l"/>
              </a:tabLst>
            </a:pPr>
            <a:r>
              <a:rPr sz="2000" b="1" dirty="0">
                <a:latin typeface="Malgun Gothic"/>
                <a:cs typeface="Malgun Gothic"/>
              </a:rPr>
              <a:t>국</a:t>
            </a:r>
            <a:r>
              <a:rPr sz="2000" b="1" spc="-15" dirty="0">
                <a:latin typeface="Malgun Gothic"/>
                <a:cs typeface="Malgun Gothic"/>
              </a:rPr>
              <a:t>민</a:t>
            </a:r>
            <a:r>
              <a:rPr sz="2000" b="1" dirty="0">
                <a:latin typeface="Malgun Gothic"/>
                <a:cs typeface="Malgun Gothic"/>
              </a:rPr>
              <a:t>부조</a:t>
            </a:r>
            <a:r>
              <a:rPr sz="2000" b="1" spc="-15" dirty="0">
                <a:latin typeface="Malgun Gothic"/>
                <a:cs typeface="Malgun Gothic"/>
              </a:rPr>
              <a:t>법</a:t>
            </a:r>
            <a:r>
              <a:rPr sz="2000" b="1" spc="35" dirty="0">
                <a:latin typeface="Malgun Gothic"/>
                <a:cs typeface="Malgun Gothic"/>
              </a:rPr>
              <a:t>(1</a:t>
            </a:r>
            <a:r>
              <a:rPr sz="2000" b="1" spc="20" dirty="0">
                <a:latin typeface="Malgun Gothic"/>
                <a:cs typeface="Malgun Gothic"/>
              </a:rPr>
              <a:t>948</a:t>
            </a:r>
            <a:r>
              <a:rPr sz="2000" b="1" spc="35" dirty="0">
                <a:latin typeface="Malgun Gothic"/>
                <a:cs typeface="Malgun Gothic"/>
              </a:rPr>
              <a:t>)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5" dirty="0">
                <a:latin typeface="Malgun Gothic"/>
                <a:cs typeface="Malgun Gothic"/>
              </a:rPr>
              <a:t>국</a:t>
            </a:r>
            <a:r>
              <a:rPr sz="2000" b="1" dirty="0">
                <a:latin typeface="Malgun Gothic"/>
                <a:cs typeface="Malgun Gothic"/>
              </a:rPr>
              <a:t>민보</a:t>
            </a:r>
            <a:r>
              <a:rPr sz="2000" b="1" spc="-15" dirty="0">
                <a:latin typeface="Malgun Gothic"/>
                <a:cs typeface="Malgun Gothic"/>
              </a:rPr>
              <a:t>험</a:t>
            </a:r>
            <a:r>
              <a:rPr sz="2000" b="1" dirty="0">
                <a:latin typeface="Malgun Gothic"/>
                <a:cs typeface="Malgun Gothic"/>
              </a:rPr>
              <a:t>을	</a:t>
            </a:r>
            <a:r>
              <a:rPr sz="2000" b="1" spc="-15" dirty="0">
                <a:latin typeface="Malgun Gothic"/>
                <a:cs typeface="Malgun Gothic"/>
              </a:rPr>
              <a:t>통</a:t>
            </a:r>
            <a:r>
              <a:rPr sz="2000" b="1" dirty="0">
                <a:latin typeface="Malgun Gothic"/>
                <a:cs typeface="Malgun Gothic"/>
              </a:rPr>
              <a:t>해	</a:t>
            </a:r>
            <a:r>
              <a:rPr sz="2000" b="1" spc="-15" dirty="0">
                <a:latin typeface="Malgun Gothic"/>
                <a:cs typeface="Malgun Gothic"/>
              </a:rPr>
              <a:t>보</a:t>
            </a:r>
            <a:r>
              <a:rPr sz="2000" b="1" dirty="0">
                <a:latin typeface="Malgun Gothic"/>
                <a:cs typeface="Malgun Gothic"/>
              </a:rPr>
              <a:t>호받지	못</a:t>
            </a:r>
            <a:r>
              <a:rPr sz="2000" b="1" spc="-15" dirty="0">
                <a:latin typeface="Malgun Gothic"/>
                <a:cs typeface="Malgun Gothic"/>
              </a:rPr>
              <a:t>하</a:t>
            </a:r>
            <a:r>
              <a:rPr sz="2000" b="1" dirty="0">
                <a:latin typeface="Malgun Gothic"/>
                <a:cs typeface="Malgun Gothic"/>
              </a:rPr>
              <a:t>는	빈곤</a:t>
            </a:r>
            <a:r>
              <a:rPr sz="2000" b="1" spc="-15" dirty="0">
                <a:latin typeface="Malgun Gothic"/>
                <a:cs typeface="Malgun Gothic"/>
              </a:rPr>
              <a:t>계</a:t>
            </a:r>
            <a:r>
              <a:rPr sz="2000" b="1" dirty="0">
                <a:latin typeface="Malgun Gothic"/>
                <a:cs typeface="Malgun Gothic"/>
              </a:rPr>
              <a:t>층을	대  </a:t>
            </a:r>
            <a:r>
              <a:rPr sz="2000" b="1" spc="-5" dirty="0">
                <a:latin typeface="Malgun Gothic"/>
                <a:cs typeface="Malgun Gothic"/>
              </a:rPr>
              <a:t>상으로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하는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사회안전망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t>18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39839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제5절</a:t>
            </a:r>
            <a:r>
              <a:rPr spc="275" dirty="0"/>
              <a:t> </a:t>
            </a:r>
            <a:r>
              <a:rPr dirty="0"/>
              <a:t>전후</a:t>
            </a:r>
            <a:r>
              <a:rPr spc="275" dirty="0"/>
              <a:t> </a:t>
            </a:r>
            <a:r>
              <a:rPr spc="-10" dirty="0"/>
              <a:t>영국</a:t>
            </a:r>
            <a:r>
              <a:rPr spc="280" dirty="0"/>
              <a:t> </a:t>
            </a:r>
            <a:r>
              <a:rPr spc="-5" dirty="0"/>
              <a:t>복지국가의</a:t>
            </a:r>
            <a:r>
              <a:rPr spc="275" dirty="0"/>
              <a:t> </a:t>
            </a:r>
            <a:r>
              <a:rPr dirty="0"/>
              <a:t>발전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2020737"/>
            <a:ext cx="8526145" cy="39865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40" dirty="0">
                <a:latin typeface="Malgun Gothic"/>
                <a:cs typeface="Malgun Gothic"/>
              </a:rPr>
              <a:t>1.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통합과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확장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전후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컨센서스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Malgun Gothic"/>
              <a:cs typeface="Malgun Gothic"/>
            </a:endParaRPr>
          </a:p>
          <a:p>
            <a:pPr marL="298450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sz="2000" b="1" spc="-5" dirty="0">
                <a:latin typeface="Malgun Gothic"/>
                <a:cs typeface="Malgun Gothic"/>
              </a:rPr>
              <a:t>보험료를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운영재원으로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하는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국민보험제도가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복지국가의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핵심적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기능</a:t>
            </a:r>
            <a:endParaRPr sz="2000">
              <a:latin typeface="Malgun Gothic"/>
              <a:cs typeface="Malgun Gothic"/>
            </a:endParaRPr>
          </a:p>
          <a:p>
            <a:pPr marL="298450" indent="-286385">
              <a:lnSpc>
                <a:spcPct val="100000"/>
              </a:lnSpc>
              <a:spcBef>
                <a:spcPts val="800"/>
              </a:spcBef>
              <a:buChar char="-"/>
              <a:tabLst>
                <a:tab pos="299085" algn="l"/>
              </a:tabLst>
            </a:pPr>
            <a:r>
              <a:rPr sz="2000" b="1" spc="-5" dirty="0">
                <a:latin typeface="Malgun Gothic"/>
                <a:cs typeface="Malgun Gothic"/>
              </a:rPr>
              <a:t>보험료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수입총액과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급여지출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총액이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일치하는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방식으로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운영</a:t>
            </a:r>
            <a:endParaRPr sz="2000">
              <a:latin typeface="Malgun Gothic"/>
              <a:cs typeface="Malgun Gothic"/>
            </a:endParaRPr>
          </a:p>
          <a:p>
            <a:pPr marL="298450" indent="-286385">
              <a:lnSpc>
                <a:spcPct val="100000"/>
              </a:lnSpc>
              <a:spcBef>
                <a:spcPts val="805"/>
              </a:spcBef>
              <a:buChar char="-"/>
              <a:tabLst>
                <a:tab pos="299085" algn="l"/>
              </a:tabLst>
            </a:pPr>
            <a:r>
              <a:rPr sz="2000" b="1" spc="20" dirty="0">
                <a:latin typeface="Malgun Gothic"/>
                <a:cs typeface="Malgun Gothic"/>
              </a:rPr>
              <a:t>1975년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15" dirty="0">
                <a:latin typeface="Malgun Gothic"/>
                <a:cs typeface="Malgun Gothic"/>
              </a:rPr>
              <a:t>사회보장법(Social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45" dirty="0">
                <a:latin typeface="Malgun Gothic"/>
                <a:cs typeface="Malgun Gothic"/>
              </a:rPr>
              <a:t>Security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30" dirty="0">
                <a:latin typeface="Malgun Gothic"/>
                <a:cs typeface="Malgun Gothic"/>
              </a:rPr>
              <a:t>Act)</a:t>
            </a:r>
            <a:endParaRPr sz="2000">
              <a:latin typeface="Malgun Gothic"/>
              <a:cs typeface="Malgun Gothic"/>
            </a:endParaRPr>
          </a:p>
          <a:p>
            <a:pPr marL="266700">
              <a:lnSpc>
                <a:spcPct val="100000"/>
              </a:lnSpc>
              <a:spcBef>
                <a:spcPts val="790"/>
              </a:spcBef>
            </a:pPr>
            <a:r>
              <a:rPr sz="2000" spc="140" dirty="0">
                <a:latin typeface="MS UI Gothic"/>
                <a:cs typeface="MS UI Gothic"/>
              </a:rPr>
              <a:t>▸</a:t>
            </a:r>
            <a:r>
              <a:rPr sz="2000" b="1" spc="140" dirty="0">
                <a:latin typeface="Malgun Gothic"/>
                <a:cs typeface="Malgun Gothic"/>
              </a:rPr>
              <a:t>스탬프제도를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대체하여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소득에</a:t>
            </a:r>
            <a:r>
              <a:rPr sz="2000" b="1" spc="280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비례하는</a:t>
            </a:r>
            <a:r>
              <a:rPr sz="2000" b="1" spc="285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보험료를</a:t>
            </a:r>
            <a:r>
              <a:rPr sz="2000" b="1" spc="285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새로이</a:t>
            </a:r>
            <a:r>
              <a:rPr sz="2000" b="1" spc="280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부과</a:t>
            </a:r>
            <a:endParaRPr sz="2000">
              <a:latin typeface="Malgun Gothic"/>
              <a:cs typeface="Malgun Gothic"/>
            </a:endParaRPr>
          </a:p>
          <a:p>
            <a:pPr marL="519430">
              <a:lnSpc>
                <a:spcPct val="100000"/>
              </a:lnSpc>
              <a:spcBef>
                <a:spcPts val="800"/>
              </a:spcBef>
            </a:pPr>
            <a:r>
              <a:rPr sz="2000" spc="1000" dirty="0">
                <a:latin typeface="MS UI Gothic"/>
                <a:cs typeface="MS UI Gothic"/>
              </a:rPr>
              <a:t>*</a:t>
            </a:r>
            <a:r>
              <a:rPr sz="2000" spc="365" dirty="0">
                <a:latin typeface="MS UI Gothic"/>
                <a:cs typeface="MS UI Gothic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소득재분배</a:t>
            </a:r>
            <a:r>
              <a:rPr sz="2000" b="1" spc="270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기능을</a:t>
            </a:r>
            <a:r>
              <a:rPr sz="2000" b="1" spc="270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강화</a:t>
            </a:r>
            <a:endParaRPr sz="2000">
              <a:latin typeface="Malgun Gothic"/>
              <a:cs typeface="Malgun Gothic"/>
            </a:endParaRPr>
          </a:p>
          <a:p>
            <a:pPr marL="298450" indent="-286385">
              <a:lnSpc>
                <a:spcPct val="100000"/>
              </a:lnSpc>
              <a:spcBef>
                <a:spcPts val="805"/>
              </a:spcBef>
              <a:buChar char="-"/>
              <a:tabLst>
                <a:tab pos="299085" algn="l"/>
              </a:tabLst>
            </a:pPr>
            <a:r>
              <a:rPr sz="2000" b="1" spc="20" dirty="0">
                <a:latin typeface="Malgun Gothic"/>
                <a:cs typeface="Malgun Gothic"/>
              </a:rPr>
              <a:t>1975년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15" dirty="0">
                <a:latin typeface="Malgun Gothic"/>
                <a:cs typeface="Malgun Gothic"/>
              </a:rPr>
              <a:t>사회보장연금법(Social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spc="40" dirty="0">
                <a:latin typeface="Malgun Gothic"/>
                <a:cs typeface="Malgun Gothic"/>
              </a:rPr>
              <a:t>Security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Pension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spc="30" dirty="0">
                <a:latin typeface="Malgun Gothic"/>
                <a:cs typeface="Malgun Gothic"/>
              </a:rPr>
              <a:t>Act)</a:t>
            </a:r>
            <a:endParaRPr sz="2000">
              <a:latin typeface="Malgun Gothic"/>
              <a:cs typeface="Malgun Gothic"/>
            </a:endParaRPr>
          </a:p>
          <a:p>
            <a:pPr marL="266700">
              <a:lnSpc>
                <a:spcPct val="100000"/>
              </a:lnSpc>
              <a:spcBef>
                <a:spcPts val="790"/>
              </a:spcBef>
            </a:pPr>
            <a:r>
              <a:rPr sz="2000" spc="105" dirty="0">
                <a:latin typeface="MS UI Gothic"/>
                <a:cs typeface="MS UI Gothic"/>
              </a:rPr>
              <a:t>▸</a:t>
            </a:r>
            <a:r>
              <a:rPr sz="2000" b="1" spc="105" dirty="0">
                <a:latin typeface="Malgun Gothic"/>
                <a:cs typeface="Malgun Gothic"/>
              </a:rPr>
              <a:t>소득비례연금제도</a:t>
            </a:r>
            <a:r>
              <a:rPr sz="2000" b="1" spc="24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도입</a:t>
            </a:r>
            <a:endParaRPr sz="2000">
              <a:latin typeface="Malgun Gothic"/>
              <a:cs typeface="Malgun Gothic"/>
            </a:endParaRPr>
          </a:p>
          <a:p>
            <a:pPr marL="266700">
              <a:lnSpc>
                <a:spcPct val="100000"/>
              </a:lnSpc>
              <a:spcBef>
                <a:spcPts val="800"/>
              </a:spcBef>
            </a:pPr>
            <a:r>
              <a:rPr sz="2000" spc="120" dirty="0">
                <a:latin typeface="MS UI Gothic"/>
                <a:cs typeface="MS UI Gothic"/>
              </a:rPr>
              <a:t>▸</a:t>
            </a:r>
            <a:r>
              <a:rPr sz="2000" b="1" spc="120" dirty="0">
                <a:latin typeface="Malgun Gothic"/>
                <a:cs typeface="Malgun Gothic"/>
              </a:rPr>
              <a:t>급여연동장치를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통해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매년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평균소득의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상승률에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따라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연금급여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조정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t>19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108965"/>
            <a:ext cx="8547735" cy="286766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98450" indent="-286385">
              <a:lnSpc>
                <a:spcPct val="100000"/>
              </a:lnSpc>
              <a:spcBef>
                <a:spcPts val="890"/>
              </a:spcBef>
              <a:buChar char="-"/>
              <a:tabLst>
                <a:tab pos="299085" algn="l"/>
              </a:tabLst>
            </a:pPr>
            <a:r>
              <a:rPr sz="2000" b="1" spc="20" dirty="0">
                <a:latin typeface="Malgun Gothic"/>
                <a:cs typeface="Malgun Gothic"/>
              </a:rPr>
              <a:t>1975년</a:t>
            </a:r>
            <a:r>
              <a:rPr sz="2000" b="1" spc="24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아동급여법</a:t>
            </a:r>
            <a:endParaRPr sz="2000">
              <a:latin typeface="Malgun Gothic"/>
              <a:cs typeface="Malgun Gothic"/>
            </a:endParaRPr>
          </a:p>
          <a:p>
            <a:pPr marL="266700">
              <a:lnSpc>
                <a:spcPct val="100000"/>
              </a:lnSpc>
              <a:spcBef>
                <a:spcPts val="790"/>
              </a:spcBef>
            </a:pPr>
            <a:r>
              <a:rPr sz="2000" spc="90" dirty="0">
                <a:latin typeface="MS UI Gothic"/>
                <a:cs typeface="MS UI Gothic"/>
              </a:rPr>
              <a:t>▸</a:t>
            </a:r>
            <a:r>
              <a:rPr sz="2000" b="1" spc="90" dirty="0">
                <a:latin typeface="Malgun Gothic"/>
                <a:cs typeface="Malgun Gothic"/>
              </a:rPr>
              <a:t>아동수당(child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benefit)과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한부모가정의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아동에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대한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부가급여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도입</a:t>
            </a:r>
            <a:endParaRPr sz="2000">
              <a:latin typeface="Malgun Gothic"/>
              <a:cs typeface="Malgun Gothic"/>
            </a:endParaRPr>
          </a:p>
          <a:p>
            <a:pPr marL="266700">
              <a:lnSpc>
                <a:spcPct val="100000"/>
              </a:lnSpc>
              <a:spcBef>
                <a:spcPts val="800"/>
              </a:spcBef>
            </a:pPr>
            <a:r>
              <a:rPr sz="2000" spc="160" dirty="0">
                <a:latin typeface="MS UI Gothic"/>
                <a:cs typeface="MS UI Gothic"/>
              </a:rPr>
              <a:t>▸</a:t>
            </a:r>
            <a:r>
              <a:rPr sz="2000" b="1" spc="160" dirty="0">
                <a:latin typeface="Malgun Gothic"/>
                <a:cs typeface="Malgun Gothic"/>
              </a:rPr>
              <a:t>아동수당은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모든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아동에게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보편적으로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20" dirty="0">
                <a:latin typeface="Malgun Gothic"/>
                <a:cs typeface="Malgun Gothic"/>
              </a:rPr>
              <a:t>제공,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과세대상에서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제외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Malgun Gothic"/>
              <a:cs typeface="Malgun Gothic"/>
            </a:endParaRPr>
          </a:p>
          <a:p>
            <a:pPr marL="301625" marR="5080" indent="-289560" algn="just">
              <a:lnSpc>
                <a:spcPct val="133400"/>
              </a:lnSpc>
              <a:spcBef>
                <a:spcPts val="5"/>
              </a:spcBef>
              <a:buChar char="-"/>
              <a:tabLst>
                <a:tab pos="302260" algn="l"/>
              </a:tabLst>
            </a:pPr>
            <a:r>
              <a:rPr sz="2000" b="1" spc="15" dirty="0">
                <a:latin typeface="Malgun Gothic"/>
                <a:cs typeface="Malgun Gothic"/>
              </a:rPr>
              <a:t>1970년대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중반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영국형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복지국가는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소득비례보험료를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운영재원으로</a:t>
            </a:r>
            <a:r>
              <a:rPr sz="2000" b="1" spc="31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하 </a:t>
            </a:r>
            <a:r>
              <a:rPr sz="2000" b="1" spc="-6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는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국민보험제도를 중심축</a:t>
            </a:r>
            <a:r>
              <a:rPr sz="2000" b="1" spc="-5" dirty="0">
                <a:latin typeface="Malgun Gothic"/>
                <a:cs typeface="Malgun Gothic"/>
              </a:rPr>
              <a:t>으로 </a:t>
            </a:r>
            <a:r>
              <a:rPr sz="2000" b="1" spc="20" dirty="0">
                <a:latin typeface="Malgun Gothic"/>
                <a:cs typeface="Malgun Gothic"/>
              </a:rPr>
              <a:t>하고, </a:t>
            </a:r>
            <a:r>
              <a:rPr sz="2000" b="1" dirty="0">
                <a:latin typeface="Malgun Gothic"/>
                <a:cs typeface="Malgun Gothic"/>
              </a:rPr>
              <a:t>이를 </a:t>
            </a:r>
            <a:r>
              <a:rPr sz="2000" b="1" spc="-5" dirty="0">
                <a:latin typeface="Malgun Gothic"/>
                <a:cs typeface="Malgun Gothic"/>
              </a:rPr>
              <a:t>보완하는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사회부조제도</a:t>
            </a:r>
            <a:r>
              <a:rPr sz="2000" b="1" spc="-5" dirty="0">
                <a:latin typeface="Malgun Gothic"/>
                <a:cs typeface="Malgun Gothic"/>
              </a:rPr>
              <a:t>들로 </a:t>
            </a:r>
            <a:r>
              <a:rPr sz="2000" b="1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구성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t>20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29787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2.</a:t>
            </a:r>
            <a:r>
              <a:rPr spc="245" dirty="0"/>
              <a:t> </a:t>
            </a:r>
            <a:r>
              <a:rPr dirty="0"/>
              <a:t>긴축의</a:t>
            </a:r>
            <a:r>
              <a:rPr spc="250" dirty="0"/>
              <a:t> </a:t>
            </a:r>
            <a:r>
              <a:rPr spc="5" dirty="0"/>
              <a:t>시도(대처리즘)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99720" indent="-286385">
              <a:lnSpc>
                <a:spcPct val="100000"/>
              </a:lnSpc>
              <a:spcBef>
                <a:spcPts val="900"/>
              </a:spcBef>
              <a:buChar char="-"/>
              <a:tabLst>
                <a:tab pos="300355" algn="l"/>
              </a:tabLst>
            </a:pPr>
            <a:r>
              <a:rPr spc="-5" dirty="0"/>
              <a:t>실업급여의</a:t>
            </a:r>
            <a:r>
              <a:rPr spc="280" dirty="0"/>
              <a:t> </a:t>
            </a:r>
            <a:r>
              <a:rPr dirty="0"/>
              <a:t>수급</a:t>
            </a:r>
            <a:r>
              <a:rPr spc="280" dirty="0"/>
              <a:t> </a:t>
            </a:r>
            <a:r>
              <a:rPr spc="-5" dirty="0"/>
              <a:t>요건이나</a:t>
            </a:r>
            <a:r>
              <a:rPr spc="285" dirty="0"/>
              <a:t> </a:t>
            </a:r>
            <a:r>
              <a:rPr spc="-5" dirty="0"/>
              <a:t>수준은</a:t>
            </a:r>
            <a:r>
              <a:rPr spc="280" dirty="0"/>
              <a:t> </a:t>
            </a:r>
            <a:r>
              <a:rPr dirty="0"/>
              <a:t>보다</a:t>
            </a:r>
            <a:r>
              <a:rPr spc="280" dirty="0"/>
              <a:t> </a:t>
            </a:r>
            <a:r>
              <a:rPr spc="-5" dirty="0"/>
              <a:t>엄격하게</a:t>
            </a:r>
            <a:r>
              <a:rPr spc="285" dirty="0"/>
              <a:t> </a:t>
            </a:r>
            <a:r>
              <a:rPr dirty="0"/>
              <a:t>운영</a:t>
            </a:r>
          </a:p>
          <a:p>
            <a:pPr marL="299720" indent="-286385">
              <a:lnSpc>
                <a:spcPct val="100000"/>
              </a:lnSpc>
              <a:spcBef>
                <a:spcPts val="800"/>
              </a:spcBef>
              <a:buChar char="-"/>
              <a:tabLst>
                <a:tab pos="300355" algn="l"/>
              </a:tabLst>
            </a:pPr>
            <a:r>
              <a:rPr spc="-5" dirty="0"/>
              <a:t>급여의</a:t>
            </a:r>
            <a:r>
              <a:rPr spc="280" dirty="0"/>
              <a:t> </a:t>
            </a:r>
            <a:r>
              <a:rPr spc="-5" dirty="0"/>
              <a:t>조정방식이</a:t>
            </a:r>
            <a:r>
              <a:rPr spc="285" dirty="0"/>
              <a:t> </a:t>
            </a:r>
            <a:r>
              <a:rPr spc="-5" dirty="0"/>
              <a:t>소득상승률에서</a:t>
            </a:r>
            <a:r>
              <a:rPr spc="285" dirty="0"/>
              <a:t> </a:t>
            </a:r>
            <a:r>
              <a:rPr spc="-5" dirty="0">
                <a:solidFill>
                  <a:srgbClr val="0000FF"/>
                </a:solidFill>
              </a:rPr>
              <a:t>물가상승률</a:t>
            </a:r>
            <a:r>
              <a:rPr spc="280" dirty="0">
                <a:solidFill>
                  <a:srgbClr val="0000FF"/>
                </a:solidFill>
              </a:rPr>
              <a:t> </a:t>
            </a:r>
            <a:r>
              <a:rPr spc="-5" dirty="0">
                <a:solidFill>
                  <a:srgbClr val="0000FF"/>
                </a:solidFill>
              </a:rPr>
              <a:t>연동으로</a:t>
            </a:r>
            <a:r>
              <a:rPr spc="28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전환</a:t>
            </a:r>
          </a:p>
          <a:p>
            <a:pPr marL="299720" indent="-286385">
              <a:lnSpc>
                <a:spcPct val="100000"/>
              </a:lnSpc>
              <a:spcBef>
                <a:spcPts val="795"/>
              </a:spcBef>
              <a:buClr>
                <a:srgbClr val="000000"/>
              </a:buClr>
              <a:buChar char="-"/>
              <a:tabLst>
                <a:tab pos="300355" algn="l"/>
              </a:tabLst>
            </a:pPr>
            <a:r>
              <a:rPr spc="-5" dirty="0">
                <a:solidFill>
                  <a:srgbClr val="0000FF"/>
                </a:solidFill>
              </a:rPr>
              <a:t>자산조사에</a:t>
            </a:r>
            <a:r>
              <a:rPr spc="28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기반한</a:t>
            </a:r>
            <a:r>
              <a:rPr spc="280" dirty="0">
                <a:solidFill>
                  <a:srgbClr val="0000FF"/>
                </a:solidFill>
              </a:rPr>
              <a:t> </a:t>
            </a:r>
            <a:r>
              <a:rPr spc="-5" dirty="0"/>
              <a:t>사회부조급여의</a:t>
            </a:r>
            <a:r>
              <a:rPr spc="280" dirty="0"/>
              <a:t> </a:t>
            </a:r>
            <a:r>
              <a:rPr spc="-5" dirty="0"/>
              <a:t>비중이</a:t>
            </a:r>
            <a:r>
              <a:rPr spc="280" dirty="0"/>
              <a:t> </a:t>
            </a:r>
            <a:r>
              <a:rPr dirty="0"/>
              <a:t>점차</a:t>
            </a:r>
            <a:r>
              <a:rPr spc="280" dirty="0"/>
              <a:t> </a:t>
            </a:r>
            <a:r>
              <a:rPr spc="-10" dirty="0"/>
              <a:t>증가</a:t>
            </a:r>
          </a:p>
          <a:p>
            <a:pPr marL="1270">
              <a:lnSpc>
                <a:spcPct val="100000"/>
              </a:lnSpc>
              <a:spcBef>
                <a:spcPts val="10"/>
              </a:spcBef>
              <a:buFont typeface="Malgun Gothic"/>
              <a:buChar char="-"/>
            </a:pPr>
            <a:endParaRPr sz="2200"/>
          </a:p>
          <a:p>
            <a:pPr marL="299720" indent="-286385">
              <a:lnSpc>
                <a:spcPct val="100000"/>
              </a:lnSpc>
              <a:spcBef>
                <a:spcPts val="5"/>
              </a:spcBef>
              <a:buChar char="-"/>
              <a:tabLst>
                <a:tab pos="300355" algn="l"/>
              </a:tabLst>
            </a:pPr>
            <a:r>
              <a:rPr spc="-5" dirty="0"/>
              <a:t>소득이전제도에</a:t>
            </a:r>
            <a:r>
              <a:rPr spc="270" dirty="0"/>
              <a:t> </a:t>
            </a:r>
            <a:r>
              <a:rPr spc="-10" dirty="0"/>
              <a:t>대한</a:t>
            </a:r>
            <a:r>
              <a:rPr spc="275" dirty="0"/>
              <a:t> </a:t>
            </a:r>
            <a:r>
              <a:rPr spc="-5" dirty="0"/>
              <a:t>근본적인</a:t>
            </a:r>
            <a:r>
              <a:rPr spc="275" dirty="0"/>
              <a:t> </a:t>
            </a:r>
            <a:r>
              <a:rPr dirty="0"/>
              <a:t>재검토</a:t>
            </a:r>
          </a:p>
          <a:p>
            <a:pPr marL="267970">
              <a:lnSpc>
                <a:spcPct val="100000"/>
              </a:lnSpc>
              <a:spcBef>
                <a:spcPts val="790"/>
              </a:spcBef>
            </a:pPr>
            <a:r>
              <a:rPr b="0" spc="160" dirty="0">
                <a:latin typeface="MS UI Gothic"/>
                <a:cs typeface="MS UI Gothic"/>
              </a:rPr>
              <a:t>▸</a:t>
            </a:r>
            <a:r>
              <a:rPr spc="160" dirty="0"/>
              <a:t>연금제도의</a:t>
            </a:r>
            <a:r>
              <a:rPr spc="245" dirty="0"/>
              <a:t> </a:t>
            </a:r>
            <a:r>
              <a:rPr spc="-5" dirty="0"/>
              <a:t>민영화</a:t>
            </a:r>
          </a:p>
          <a:p>
            <a:pPr marL="267970">
              <a:lnSpc>
                <a:spcPct val="100000"/>
              </a:lnSpc>
              <a:spcBef>
                <a:spcPts val="800"/>
              </a:spcBef>
            </a:pPr>
            <a:r>
              <a:rPr b="0" spc="330" dirty="0">
                <a:latin typeface="MS UI Gothic"/>
                <a:cs typeface="MS UI Gothic"/>
              </a:rPr>
              <a:t>▸</a:t>
            </a:r>
            <a:r>
              <a:rPr spc="330" dirty="0"/>
              <a:t>공적</a:t>
            </a:r>
            <a:r>
              <a:rPr spc="275" dirty="0"/>
              <a:t> </a:t>
            </a:r>
            <a:r>
              <a:rPr spc="-5" dirty="0"/>
              <a:t>연금제도의</a:t>
            </a:r>
            <a:r>
              <a:rPr spc="275" dirty="0"/>
              <a:t> </a:t>
            </a:r>
            <a:r>
              <a:rPr spc="-10" dirty="0"/>
              <a:t>역할</a:t>
            </a:r>
            <a:r>
              <a:rPr spc="275" dirty="0"/>
              <a:t> </a:t>
            </a:r>
            <a:r>
              <a:rPr dirty="0"/>
              <a:t>비중</a:t>
            </a:r>
            <a:r>
              <a:rPr spc="275" dirty="0"/>
              <a:t> </a:t>
            </a:r>
            <a:r>
              <a:rPr dirty="0"/>
              <a:t>축소</a:t>
            </a:r>
          </a:p>
          <a:p>
            <a:pPr marL="520700" marR="5080" indent="-252729">
              <a:lnSpc>
                <a:spcPct val="132900"/>
              </a:lnSpc>
              <a:spcBef>
                <a:spcPts val="15"/>
              </a:spcBef>
              <a:tabLst>
                <a:tab pos="1954530" algn="l"/>
                <a:tab pos="6177280" algn="l"/>
                <a:tab pos="7103109" algn="l"/>
                <a:tab pos="8028940" algn="l"/>
              </a:tabLst>
            </a:pPr>
            <a:r>
              <a:rPr b="0" spc="985" dirty="0">
                <a:latin typeface="MS UI Gothic"/>
                <a:cs typeface="MS UI Gothic"/>
              </a:rPr>
              <a:t>▸</a:t>
            </a:r>
            <a:r>
              <a:rPr dirty="0"/>
              <a:t>개인</a:t>
            </a:r>
            <a:r>
              <a:rPr spc="-15" dirty="0"/>
              <a:t>들</a:t>
            </a:r>
            <a:r>
              <a:rPr dirty="0"/>
              <a:t>에게	</a:t>
            </a:r>
            <a:r>
              <a:rPr spc="-15" dirty="0"/>
              <a:t>소</a:t>
            </a:r>
            <a:r>
              <a:rPr dirty="0"/>
              <a:t>득비</a:t>
            </a:r>
            <a:r>
              <a:rPr spc="-15" dirty="0"/>
              <a:t>례</a:t>
            </a:r>
            <a:r>
              <a:rPr dirty="0"/>
              <a:t>연금</a:t>
            </a:r>
            <a:r>
              <a:rPr spc="-15" dirty="0"/>
              <a:t>ㆍ</a:t>
            </a:r>
            <a:r>
              <a:rPr dirty="0"/>
              <a:t>기업</a:t>
            </a:r>
            <a:r>
              <a:rPr spc="-15" dirty="0"/>
              <a:t>연</a:t>
            </a:r>
            <a:r>
              <a:rPr dirty="0"/>
              <a:t>금ㆍ</a:t>
            </a:r>
            <a:r>
              <a:rPr spc="-15" dirty="0"/>
              <a:t>개</a:t>
            </a:r>
            <a:r>
              <a:rPr dirty="0"/>
              <a:t>인연금	가운데	임</a:t>
            </a:r>
            <a:r>
              <a:rPr spc="-15" dirty="0"/>
              <a:t>의</a:t>
            </a:r>
            <a:r>
              <a:rPr dirty="0"/>
              <a:t>로	선택  할</a:t>
            </a:r>
            <a:r>
              <a:rPr spc="285" dirty="0"/>
              <a:t> </a:t>
            </a:r>
            <a:r>
              <a:rPr dirty="0"/>
              <a:t>수</a:t>
            </a:r>
            <a:r>
              <a:rPr spc="290" dirty="0"/>
              <a:t> </a:t>
            </a:r>
            <a:r>
              <a:rPr dirty="0"/>
              <a:t>있는</a:t>
            </a:r>
            <a:r>
              <a:rPr spc="285" dirty="0"/>
              <a:t> </a:t>
            </a:r>
            <a:r>
              <a:rPr dirty="0"/>
              <a:t>권한</a:t>
            </a:r>
            <a:r>
              <a:rPr spc="290" dirty="0"/>
              <a:t> </a:t>
            </a:r>
            <a:r>
              <a:rPr spc="-10" dirty="0"/>
              <a:t>부여</a:t>
            </a:r>
          </a:p>
          <a:p>
            <a:pPr marL="267970">
              <a:lnSpc>
                <a:spcPct val="100000"/>
              </a:lnSpc>
              <a:spcBef>
                <a:spcPts val="800"/>
              </a:spcBef>
            </a:pPr>
            <a:r>
              <a:rPr b="0" spc="245" dirty="0">
                <a:latin typeface="MS UI Gothic"/>
                <a:cs typeface="MS UI Gothic"/>
              </a:rPr>
              <a:t>▸</a:t>
            </a:r>
            <a:r>
              <a:rPr spc="245" dirty="0"/>
              <a:t>보완적</a:t>
            </a:r>
            <a:r>
              <a:rPr spc="275" dirty="0"/>
              <a:t> </a:t>
            </a:r>
            <a:r>
              <a:rPr spc="-5" dirty="0"/>
              <a:t>장치로서</a:t>
            </a:r>
            <a:r>
              <a:rPr spc="275" dirty="0"/>
              <a:t> </a:t>
            </a:r>
            <a:r>
              <a:rPr spc="-5" dirty="0"/>
              <a:t>사회부조제도의</a:t>
            </a:r>
            <a:r>
              <a:rPr spc="275" dirty="0"/>
              <a:t> </a:t>
            </a:r>
            <a:r>
              <a:rPr spc="-10" dirty="0"/>
              <a:t>개선</a:t>
            </a:r>
          </a:p>
          <a:p>
            <a:pPr marL="299720" indent="-286385">
              <a:lnSpc>
                <a:spcPct val="100000"/>
              </a:lnSpc>
              <a:spcBef>
                <a:spcPts val="800"/>
              </a:spcBef>
              <a:buChar char="-"/>
              <a:tabLst>
                <a:tab pos="300355" algn="l"/>
              </a:tabLst>
            </a:pPr>
            <a:r>
              <a:rPr spc="-5" dirty="0"/>
              <a:t>소득불평등</a:t>
            </a:r>
            <a:r>
              <a:rPr spc="280" dirty="0"/>
              <a:t> </a:t>
            </a:r>
            <a:r>
              <a:rPr spc="20" dirty="0"/>
              <a:t>심화,</a:t>
            </a:r>
            <a:r>
              <a:rPr spc="285" dirty="0"/>
              <a:t> </a:t>
            </a:r>
            <a:r>
              <a:rPr spc="-5" dirty="0"/>
              <a:t>외부적</a:t>
            </a:r>
            <a:r>
              <a:rPr spc="285" dirty="0"/>
              <a:t> </a:t>
            </a:r>
            <a:r>
              <a:rPr spc="-5" dirty="0"/>
              <a:t>요인으로</a:t>
            </a:r>
            <a:r>
              <a:rPr spc="285" dirty="0"/>
              <a:t> </a:t>
            </a:r>
            <a:r>
              <a:rPr spc="-5" dirty="0"/>
              <a:t>복지지출</a:t>
            </a:r>
            <a:r>
              <a:rPr spc="285" dirty="0"/>
              <a:t> </a:t>
            </a:r>
            <a:r>
              <a:rPr spc="-5" dirty="0"/>
              <a:t>규모가</a:t>
            </a:r>
            <a:r>
              <a:rPr spc="285" dirty="0"/>
              <a:t> </a:t>
            </a:r>
            <a:r>
              <a:rPr spc="-5" dirty="0"/>
              <a:t>감소하지</a:t>
            </a:r>
            <a:r>
              <a:rPr spc="285" dirty="0"/>
              <a:t> </a:t>
            </a:r>
            <a:r>
              <a:rPr dirty="0"/>
              <a:t>않음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t>21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3076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3.</a:t>
            </a:r>
            <a:r>
              <a:rPr spc="245" dirty="0"/>
              <a:t> </a:t>
            </a:r>
            <a:r>
              <a:rPr spc="25" dirty="0"/>
              <a:t>1997년</a:t>
            </a:r>
            <a:r>
              <a:rPr spc="245" dirty="0"/>
              <a:t> </a:t>
            </a:r>
            <a:r>
              <a:rPr spc="5" dirty="0"/>
              <a:t>이후(신노동당)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67970" indent="-254635">
              <a:lnSpc>
                <a:spcPct val="100000"/>
              </a:lnSpc>
              <a:spcBef>
                <a:spcPts val="900"/>
              </a:spcBef>
              <a:buFont typeface="MS UI Gothic"/>
              <a:buChar char="○"/>
              <a:tabLst>
                <a:tab pos="267970" algn="l"/>
                <a:tab pos="268605" algn="l"/>
              </a:tabLst>
            </a:pPr>
            <a:r>
              <a:rPr spc="-5" dirty="0"/>
              <a:t>신노동당의</a:t>
            </a:r>
            <a:r>
              <a:rPr spc="280" dirty="0"/>
              <a:t> </a:t>
            </a:r>
            <a:r>
              <a:rPr spc="-5" dirty="0"/>
              <a:t>정책전략은</a:t>
            </a:r>
            <a:r>
              <a:rPr spc="285" dirty="0"/>
              <a:t> </a:t>
            </a:r>
            <a:r>
              <a:rPr spc="-5" dirty="0"/>
              <a:t>이전의</a:t>
            </a:r>
            <a:r>
              <a:rPr spc="285" dirty="0"/>
              <a:t> </a:t>
            </a:r>
            <a:r>
              <a:rPr dirty="0"/>
              <a:t>보수당</a:t>
            </a:r>
            <a:r>
              <a:rPr spc="285" dirty="0"/>
              <a:t> </a:t>
            </a:r>
            <a:r>
              <a:rPr spc="-5" dirty="0"/>
              <a:t>정부와</a:t>
            </a:r>
            <a:r>
              <a:rPr spc="285" dirty="0"/>
              <a:t> </a:t>
            </a:r>
            <a:r>
              <a:rPr spc="-5" dirty="0"/>
              <a:t>상당한</a:t>
            </a:r>
            <a:r>
              <a:rPr spc="285" dirty="0"/>
              <a:t> </a:t>
            </a:r>
            <a:r>
              <a:rPr spc="-5" dirty="0"/>
              <a:t>공통점을</a:t>
            </a:r>
            <a:r>
              <a:rPr spc="285" dirty="0"/>
              <a:t> </a:t>
            </a:r>
            <a:r>
              <a:rPr dirty="0"/>
              <a:t>가짐</a:t>
            </a:r>
          </a:p>
          <a:p>
            <a:pPr marL="426084" lvl="1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6720" algn="l"/>
              </a:tabLst>
            </a:pPr>
            <a:r>
              <a:rPr sz="2000" b="1" spc="-5" dirty="0">
                <a:latin typeface="Malgun Gothic"/>
                <a:cs typeface="Malgun Gothic"/>
              </a:rPr>
              <a:t>계획보다는</a:t>
            </a:r>
            <a:r>
              <a:rPr sz="2000" b="1" spc="260" dirty="0">
                <a:latin typeface="Malgun Gothic"/>
                <a:cs typeface="Malgun Gothic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시장원리를</a:t>
            </a:r>
            <a:r>
              <a:rPr sz="2000" b="1" spc="265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중시</a:t>
            </a:r>
            <a:endParaRPr sz="2000">
              <a:latin typeface="Malgun Gothic"/>
              <a:cs typeface="Malgun Gothic"/>
            </a:endParaRPr>
          </a:p>
          <a:p>
            <a:pPr marL="426084" lvl="1" indent="-287020">
              <a:lnSpc>
                <a:spcPct val="100000"/>
              </a:lnSpc>
              <a:spcBef>
                <a:spcPts val="795"/>
              </a:spcBef>
              <a:buChar char="-"/>
              <a:tabLst>
                <a:tab pos="426720" algn="l"/>
              </a:tabLst>
            </a:pPr>
            <a:r>
              <a:rPr sz="2000" b="1" dirty="0">
                <a:latin typeface="Malgun Gothic"/>
                <a:cs typeface="Malgun Gothic"/>
              </a:rPr>
              <a:t>높은</a:t>
            </a:r>
            <a:r>
              <a:rPr sz="2000" b="1" spc="254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세율의</a:t>
            </a:r>
            <a:r>
              <a:rPr sz="2000" b="1" spc="254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자제</a:t>
            </a:r>
            <a:endParaRPr sz="2000">
              <a:latin typeface="Malgun Gothic"/>
              <a:cs typeface="Malgun Gothic"/>
            </a:endParaRPr>
          </a:p>
          <a:p>
            <a:pPr marL="488315" marR="5080" lvl="1" indent="-348615">
              <a:lnSpc>
                <a:spcPct val="133400"/>
              </a:lnSpc>
              <a:buChar char="-"/>
              <a:tabLst>
                <a:tab pos="488315" algn="l"/>
                <a:tab pos="488950" algn="l"/>
                <a:tab pos="1945639" algn="l"/>
                <a:tab pos="3149600" algn="l"/>
                <a:tab pos="3845560" algn="l"/>
                <a:tab pos="5810885" algn="l"/>
                <a:tab pos="7521575" algn="l"/>
              </a:tabLst>
            </a:pPr>
            <a:r>
              <a:rPr sz="2000" b="1" spc="-15" dirty="0">
                <a:latin typeface="Malgun Gothic"/>
                <a:cs typeface="Malgun Gothic"/>
              </a:rPr>
              <a:t>실</a:t>
            </a:r>
            <a:r>
              <a:rPr sz="2000" b="1" dirty="0">
                <a:latin typeface="Malgun Gothic"/>
                <a:cs typeface="Malgun Gothic"/>
              </a:rPr>
              <a:t>업문</a:t>
            </a:r>
            <a:r>
              <a:rPr sz="2000" b="1" spc="-15" dirty="0">
                <a:latin typeface="Malgun Gothic"/>
                <a:cs typeface="Malgun Gothic"/>
              </a:rPr>
              <a:t>제</a:t>
            </a:r>
            <a:r>
              <a:rPr sz="2000" b="1" dirty="0">
                <a:latin typeface="Malgun Gothic"/>
                <a:cs typeface="Malgun Gothic"/>
              </a:rPr>
              <a:t>를	해</a:t>
            </a:r>
            <a:r>
              <a:rPr sz="2000" b="1" spc="-15" dirty="0">
                <a:latin typeface="Malgun Gothic"/>
                <a:cs typeface="Malgun Gothic"/>
              </a:rPr>
              <a:t>소</a:t>
            </a:r>
            <a:r>
              <a:rPr sz="2000" b="1" dirty="0">
                <a:latin typeface="Malgun Gothic"/>
                <a:cs typeface="Malgun Gothic"/>
              </a:rPr>
              <a:t>하기	</a:t>
            </a:r>
            <a:r>
              <a:rPr sz="2000" b="1" spc="-15" dirty="0">
                <a:latin typeface="Malgun Gothic"/>
                <a:cs typeface="Malgun Gothic"/>
              </a:rPr>
              <a:t>위</a:t>
            </a:r>
            <a:r>
              <a:rPr sz="2000" b="1" dirty="0">
                <a:latin typeface="Malgun Gothic"/>
                <a:cs typeface="Malgun Gothic"/>
              </a:rPr>
              <a:t>해	재</a:t>
            </a:r>
            <a:r>
              <a:rPr sz="2000" b="1" spc="-15" dirty="0">
                <a:latin typeface="Malgun Gothic"/>
                <a:cs typeface="Malgun Gothic"/>
              </a:rPr>
              <a:t>정</a:t>
            </a:r>
            <a:r>
              <a:rPr sz="2000" b="1" dirty="0">
                <a:latin typeface="Malgun Gothic"/>
                <a:cs typeface="Malgun Gothic"/>
              </a:rPr>
              <a:t>정책</a:t>
            </a:r>
            <a:r>
              <a:rPr sz="2000" b="1" spc="-15" dirty="0">
                <a:latin typeface="Malgun Gothic"/>
                <a:cs typeface="Malgun Gothic"/>
              </a:rPr>
              <a:t>보</a:t>
            </a:r>
            <a:r>
              <a:rPr sz="2000" b="1" dirty="0">
                <a:latin typeface="Malgun Gothic"/>
                <a:cs typeface="Malgun Gothic"/>
              </a:rPr>
              <a:t>다는	</a:t>
            </a:r>
            <a:r>
              <a:rPr sz="2000" b="1" spc="-15" dirty="0">
                <a:latin typeface="Malgun Gothic"/>
                <a:cs typeface="Malgun Gothic"/>
              </a:rPr>
              <a:t>인</a:t>
            </a:r>
            <a:r>
              <a:rPr sz="2000" b="1" dirty="0">
                <a:latin typeface="Malgun Gothic"/>
                <a:cs typeface="Malgun Gothic"/>
              </a:rPr>
              <a:t>플레</a:t>
            </a:r>
            <a:r>
              <a:rPr sz="2000" b="1" spc="-15" dirty="0">
                <a:latin typeface="Malgun Gothic"/>
                <a:cs typeface="Malgun Gothic"/>
              </a:rPr>
              <a:t>이</a:t>
            </a:r>
            <a:r>
              <a:rPr sz="2000" b="1" dirty="0">
                <a:latin typeface="Malgun Gothic"/>
                <a:cs typeface="Malgun Gothic"/>
              </a:rPr>
              <a:t>션을	</a:t>
            </a:r>
            <a:r>
              <a:rPr sz="2000" b="1" spc="-15" dirty="0">
                <a:latin typeface="Malgun Gothic"/>
                <a:cs typeface="Malgun Gothic"/>
              </a:rPr>
              <a:t>억</a:t>
            </a:r>
            <a:r>
              <a:rPr sz="2000" b="1" dirty="0">
                <a:latin typeface="Malgun Gothic"/>
                <a:cs typeface="Malgun Gothic"/>
              </a:rPr>
              <a:t>제하는  </a:t>
            </a:r>
            <a:r>
              <a:rPr sz="2000" b="1" spc="-10" dirty="0">
                <a:latin typeface="Malgun Gothic"/>
                <a:cs typeface="Malgun Gothic"/>
              </a:rPr>
              <a:t>정책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채택</a:t>
            </a:r>
            <a:endParaRPr sz="2000">
              <a:latin typeface="Malgun Gothic"/>
              <a:cs typeface="Malgun Gothic"/>
            </a:endParaRPr>
          </a:p>
          <a:p>
            <a:pPr marL="1270" lvl="1">
              <a:lnSpc>
                <a:spcPct val="100000"/>
              </a:lnSpc>
              <a:buFont typeface="Malgun Gothic"/>
              <a:buChar char="-"/>
            </a:pPr>
            <a:endParaRPr sz="2200"/>
          </a:p>
          <a:p>
            <a:pPr marL="267970" indent="-254635">
              <a:lnSpc>
                <a:spcPct val="100000"/>
              </a:lnSpc>
              <a:buClr>
                <a:srgbClr val="000000"/>
              </a:buClr>
              <a:buFont typeface="MS UI Gothic"/>
              <a:buChar char="○"/>
              <a:tabLst>
                <a:tab pos="267970" algn="l"/>
                <a:tab pos="268605" algn="l"/>
              </a:tabLst>
            </a:pPr>
            <a:r>
              <a:rPr dirty="0">
                <a:solidFill>
                  <a:srgbClr val="0000FF"/>
                </a:solidFill>
              </a:rPr>
              <a:t>활성화(activation)전략</a:t>
            </a:r>
            <a:r>
              <a:rPr dirty="0"/>
              <a:t>에</a:t>
            </a:r>
            <a:r>
              <a:rPr spc="270" dirty="0"/>
              <a:t> </a:t>
            </a:r>
            <a:r>
              <a:rPr spc="-5" dirty="0"/>
              <a:t>기초하여</a:t>
            </a:r>
            <a:r>
              <a:rPr spc="270" dirty="0"/>
              <a:t> </a:t>
            </a:r>
            <a:r>
              <a:rPr spc="-5" dirty="0"/>
              <a:t>재분배기능을</a:t>
            </a:r>
            <a:r>
              <a:rPr spc="270" dirty="0"/>
              <a:t> </a:t>
            </a:r>
            <a:r>
              <a:rPr dirty="0"/>
              <a:t>추구</a:t>
            </a:r>
          </a:p>
          <a:p>
            <a:pPr marL="426084" lvl="1" indent="-287020">
              <a:lnSpc>
                <a:spcPct val="100000"/>
              </a:lnSpc>
              <a:spcBef>
                <a:spcPts val="805"/>
              </a:spcBef>
              <a:buChar char="-"/>
              <a:tabLst>
                <a:tab pos="426720" algn="l"/>
              </a:tabLst>
            </a:pPr>
            <a:r>
              <a:rPr sz="2000" b="1" spc="10" dirty="0">
                <a:latin typeface="Malgun Gothic"/>
                <a:cs typeface="Malgun Gothic"/>
              </a:rPr>
              <a:t>“노동이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가장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효과적인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20" dirty="0">
                <a:latin typeface="Malgun Gothic"/>
                <a:cs typeface="Malgun Gothic"/>
              </a:rPr>
              <a:t>복지”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spc="2000" dirty="0">
                <a:latin typeface="MS UI Gothic"/>
                <a:cs typeface="MS UI Gothic"/>
              </a:rPr>
              <a:t>⟹</a:t>
            </a:r>
            <a:r>
              <a:rPr sz="2000" spc="385" dirty="0">
                <a:latin typeface="MS UI Gothic"/>
                <a:cs typeface="MS UI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급여체계의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근로유인을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강조</a:t>
            </a:r>
            <a:endParaRPr sz="2000">
              <a:latin typeface="Malgun Gothic"/>
              <a:cs typeface="Malgun Gothic"/>
            </a:endParaRPr>
          </a:p>
          <a:p>
            <a:pPr marL="426084" lvl="1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6720" algn="l"/>
              </a:tabLst>
            </a:pPr>
            <a:r>
              <a:rPr sz="2000" b="1" spc="-5" dirty="0">
                <a:latin typeface="Malgun Gothic"/>
                <a:cs typeface="Malgun Gothic"/>
              </a:rPr>
              <a:t>국민들의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직업숙련도를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향상시키는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정책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강조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10" dirty="0">
                <a:latin typeface="Malgun Gothic"/>
                <a:cs typeface="Malgun Gothic"/>
              </a:rPr>
              <a:t>직업훈련,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평생교육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t>22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13195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제6절</a:t>
            </a:r>
            <a:r>
              <a:rPr spc="210" dirty="0"/>
              <a:t> </a:t>
            </a:r>
            <a:r>
              <a:rPr dirty="0"/>
              <a:t>결론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2020737"/>
            <a:ext cx="8549005" cy="40723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000" b="1" spc="40" dirty="0">
                <a:latin typeface="Malgun Gothic"/>
                <a:cs typeface="Malgun Gothic"/>
              </a:rPr>
              <a:t>1.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복지국가를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창조하는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힘에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대한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45" dirty="0">
                <a:latin typeface="Malgun Gothic"/>
                <a:cs typeface="Malgun Gothic"/>
              </a:rPr>
              <a:t>해석</a:t>
            </a:r>
            <a:r>
              <a:rPr sz="2000" b="1" spc="45" dirty="0">
                <a:highlight>
                  <a:srgbClr val="FFFF00"/>
                </a:highlight>
                <a:latin typeface="Malgun Gothic"/>
                <a:cs typeface="Malgun Gothic"/>
              </a:rPr>
              <a:t>:</a:t>
            </a:r>
            <a:r>
              <a:rPr sz="2000" b="1" spc="290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2000" b="1" spc="-5" dirty="0">
                <a:solidFill>
                  <a:srgbClr val="0000FF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민주화</a:t>
            </a:r>
            <a:r>
              <a:rPr sz="2000" b="1" spc="290" dirty="0">
                <a:solidFill>
                  <a:srgbClr val="0000FF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2000" b="1" spc="80" dirty="0">
                <a:solidFill>
                  <a:srgbClr val="0000FF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vs.</a:t>
            </a:r>
            <a:r>
              <a:rPr sz="2000" b="1" spc="285" dirty="0">
                <a:solidFill>
                  <a:srgbClr val="0000FF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2000" b="1" spc="-5" dirty="0">
                <a:solidFill>
                  <a:srgbClr val="0000FF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산업화</a:t>
            </a:r>
            <a:endParaRPr sz="2000" dirty="0">
              <a:highlight>
                <a:srgbClr val="FFFF00"/>
              </a:highlight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 dirty="0">
              <a:latin typeface="Malgun Gothic"/>
              <a:cs typeface="Malgun Gothic"/>
            </a:endParaRPr>
          </a:p>
          <a:p>
            <a:pPr marL="266700" indent="-254635" algn="just">
              <a:lnSpc>
                <a:spcPct val="100000"/>
              </a:lnSpc>
              <a:buFont typeface="MS UI Gothic"/>
              <a:buChar char="○"/>
              <a:tabLst>
                <a:tab pos="267335" algn="l"/>
              </a:tabLst>
            </a:pPr>
            <a:r>
              <a:rPr sz="2000" b="1" spc="-5" dirty="0">
                <a:latin typeface="Malgun Gothic"/>
                <a:cs typeface="Malgun Gothic"/>
              </a:rPr>
              <a:t>진보주의자</a:t>
            </a:r>
            <a:endParaRPr sz="2000" dirty="0">
              <a:latin typeface="Malgun Gothic"/>
              <a:cs typeface="Malgun Gothic"/>
            </a:endParaRPr>
          </a:p>
          <a:p>
            <a:pPr marL="424815" lvl="1" indent="-287020" algn="just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sz="2000" b="1" dirty="0">
                <a:latin typeface="Malgun Gothic"/>
                <a:cs typeface="Malgun Gothic"/>
              </a:rPr>
              <a:t>보다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나은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진보하고자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하는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solidFill>
                  <a:srgbClr val="0000FF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정치적</a:t>
            </a:r>
            <a:r>
              <a:rPr sz="2000" b="1" spc="280" dirty="0">
                <a:solidFill>
                  <a:srgbClr val="0000FF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00FF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과정</a:t>
            </a:r>
            <a:endParaRPr sz="2000" dirty="0">
              <a:highlight>
                <a:srgbClr val="FFFF00"/>
              </a:highlight>
              <a:latin typeface="Malgun Gothic"/>
              <a:cs typeface="Malgun Gothic"/>
            </a:endParaRPr>
          </a:p>
          <a:p>
            <a:pPr marL="431165" marR="5080" lvl="1" indent="-292735" algn="just">
              <a:lnSpc>
                <a:spcPct val="133200"/>
              </a:lnSpc>
              <a:spcBef>
                <a:spcPts val="5"/>
              </a:spcBef>
              <a:buChar char="-"/>
              <a:tabLst>
                <a:tab pos="431800" algn="l"/>
              </a:tabLst>
            </a:pPr>
            <a:r>
              <a:rPr sz="2000" b="1" spc="60" dirty="0">
                <a:latin typeface="Malgun Gothic"/>
                <a:cs typeface="Malgun Gothic"/>
              </a:rPr>
              <a:t>Fraser(1984) </a:t>
            </a:r>
            <a:r>
              <a:rPr sz="2000" spc="2000" dirty="0">
                <a:latin typeface="MS UI Gothic"/>
                <a:cs typeface="MS UI Gothic"/>
              </a:rPr>
              <a:t>⟹ </a:t>
            </a:r>
            <a:r>
              <a:rPr sz="2000" b="1" spc="-5" dirty="0">
                <a:solidFill>
                  <a:srgbClr val="0000FF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인민의 </a:t>
            </a:r>
            <a:r>
              <a:rPr sz="2000" b="1" spc="5" dirty="0">
                <a:solidFill>
                  <a:srgbClr val="0000FF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예산(People's </a:t>
            </a:r>
            <a:r>
              <a:rPr sz="2000" b="1" spc="-20" dirty="0">
                <a:solidFill>
                  <a:srgbClr val="0000FF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Budget)</a:t>
            </a:r>
            <a:r>
              <a:rPr sz="2000" b="1" spc="-20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spc="140" dirty="0">
                <a:latin typeface="Malgun Gothic"/>
                <a:cs typeface="Malgun Gothic"/>
              </a:rPr>
              <a:t>: </a:t>
            </a:r>
            <a:r>
              <a:rPr sz="2000" b="1" spc="10" dirty="0">
                <a:latin typeface="Malgun Gothic"/>
                <a:cs typeface="Malgun Gothic"/>
              </a:rPr>
              <a:t>“국가의 </a:t>
            </a:r>
            <a:r>
              <a:rPr sz="2000" b="1" spc="-495" dirty="0">
                <a:latin typeface="Malgun Gothic"/>
                <a:cs typeface="Malgun Gothic"/>
              </a:rPr>
              <a:t>재정정책 </a:t>
            </a:r>
            <a:r>
              <a:rPr sz="2000" b="1" spc="-4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은 국민의 사회적 </a:t>
            </a:r>
            <a:r>
              <a:rPr sz="2000" b="1" spc="-5" dirty="0">
                <a:latin typeface="Malgun Gothic"/>
                <a:cs typeface="Malgun Gothic"/>
              </a:rPr>
              <a:t>욕구에</a:t>
            </a:r>
            <a:r>
              <a:rPr sz="2000" b="1" spc="6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연계되어야 </a:t>
            </a:r>
            <a:r>
              <a:rPr sz="2000" b="1" spc="15" dirty="0">
                <a:latin typeface="Malgun Gothic"/>
                <a:cs typeface="Malgun Gothic"/>
              </a:rPr>
              <a:t>하고, </a:t>
            </a:r>
            <a:r>
              <a:rPr sz="2000" b="1" spc="-5" dirty="0">
                <a:latin typeface="Malgun Gothic"/>
                <a:cs typeface="Malgun Gothic"/>
              </a:rPr>
              <a:t>따라서</a:t>
            </a:r>
            <a:r>
              <a:rPr sz="2000" b="1" spc="69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국가의</a:t>
            </a:r>
            <a:r>
              <a:rPr sz="2000" b="1" spc="6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예산운용 </a:t>
            </a:r>
            <a:r>
              <a:rPr sz="2000" b="1" dirty="0">
                <a:latin typeface="Malgun Gothic"/>
                <a:cs typeface="Malgun Gothic"/>
              </a:rPr>
              <a:t> 은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그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자체로서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사회정책의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핵심적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수단이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될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30" dirty="0">
                <a:latin typeface="Malgun Gothic"/>
                <a:cs typeface="Malgun Gothic"/>
              </a:rPr>
              <a:t>있다.”</a:t>
            </a:r>
            <a:endParaRPr sz="2000" dirty="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Malgun Gothic"/>
              <a:buChar char="-"/>
            </a:pPr>
            <a:endParaRPr sz="2200" dirty="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buFont typeface="MS UI Gothic"/>
              <a:buChar char="○"/>
              <a:tabLst>
                <a:tab pos="266700" algn="l"/>
                <a:tab pos="267335" algn="l"/>
              </a:tabLst>
            </a:pPr>
            <a:r>
              <a:rPr sz="2000" b="1" spc="-5" dirty="0">
                <a:latin typeface="Malgun Gothic"/>
                <a:cs typeface="Malgun Gothic"/>
              </a:rPr>
              <a:t>마르크스주의자</a:t>
            </a:r>
            <a:endParaRPr sz="2000" dirty="0">
              <a:latin typeface="Malgun Gothic"/>
              <a:cs typeface="Malgun Gothic"/>
            </a:endParaRPr>
          </a:p>
          <a:p>
            <a:pPr marL="424815" lvl="1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사회복지는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자본주의체제의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보호와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유지를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일차적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목적으로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성립</a:t>
            </a:r>
            <a:endParaRPr sz="2000" dirty="0">
              <a:latin typeface="Malgun Gothic"/>
              <a:cs typeface="Malgun Gothic"/>
            </a:endParaRPr>
          </a:p>
          <a:p>
            <a:pPr marL="424815" lvl="1" indent="-287020">
              <a:lnSpc>
                <a:spcPct val="100000"/>
              </a:lnSpc>
              <a:spcBef>
                <a:spcPts val="805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지배집단의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정치적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도구로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활용</a:t>
            </a:r>
            <a:endParaRPr sz="20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t>23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108965"/>
            <a:ext cx="8547735" cy="530479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890"/>
              </a:spcBef>
              <a:buFont typeface="MS UI Gothic"/>
              <a:buChar char="○"/>
              <a:tabLst>
                <a:tab pos="266700" algn="l"/>
                <a:tab pos="267335" algn="l"/>
              </a:tabLst>
            </a:pPr>
            <a:r>
              <a:rPr sz="2000" b="1" spc="35" dirty="0">
                <a:latin typeface="Malgun Gothic"/>
                <a:cs typeface="Malgun Gothic"/>
              </a:rPr>
              <a:t>Esping-Andersen(1990)</a:t>
            </a:r>
            <a:endParaRPr sz="2000" dirty="0">
              <a:latin typeface="Malgun Gothic"/>
              <a:cs typeface="Malgun Gothic"/>
            </a:endParaRPr>
          </a:p>
          <a:p>
            <a:pPr marL="424815" lvl="1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노동력의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spc="-25" dirty="0">
                <a:solidFill>
                  <a:srgbClr val="0000FF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탈상품화(decommodification)</a:t>
            </a:r>
            <a:r>
              <a:rPr sz="2000" b="1" spc="-25" dirty="0">
                <a:latin typeface="Malgun Gothic"/>
                <a:cs typeface="Malgun Gothic"/>
              </a:rPr>
              <a:t>를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기준으로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복지국가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유형화</a:t>
            </a:r>
            <a:endParaRPr sz="2000" dirty="0">
              <a:latin typeface="Malgun Gothic"/>
              <a:cs typeface="Malgun Gothic"/>
            </a:endParaRPr>
          </a:p>
          <a:p>
            <a:pPr marL="647065" marR="5080" indent="-254635">
              <a:lnSpc>
                <a:spcPct val="133400"/>
              </a:lnSpc>
              <a:tabLst>
                <a:tab pos="1810385" algn="l"/>
                <a:tab pos="3225800" algn="l"/>
                <a:tab pos="3882390" algn="l"/>
                <a:tab pos="4538345" algn="l"/>
                <a:tab pos="5447030" algn="l"/>
                <a:tab pos="6610350" algn="l"/>
                <a:tab pos="7519034" algn="l"/>
              </a:tabLst>
            </a:pPr>
            <a:r>
              <a:rPr sz="2000" spc="1000" dirty="0">
                <a:latin typeface="MS UI Gothic"/>
                <a:cs typeface="MS UI Gothic"/>
              </a:rPr>
              <a:t>▸</a:t>
            </a:r>
            <a:r>
              <a:rPr sz="2000" b="1" spc="-15" dirty="0">
                <a:latin typeface="Malgun Gothic"/>
                <a:cs typeface="Malgun Gothic"/>
              </a:rPr>
              <a:t>노</a:t>
            </a:r>
            <a:r>
              <a:rPr sz="2000" b="1" dirty="0">
                <a:latin typeface="Malgun Gothic"/>
                <a:cs typeface="Malgun Gothic"/>
              </a:rPr>
              <a:t>동력의	</a:t>
            </a:r>
            <a:r>
              <a:rPr sz="2000" b="1" spc="-15" dirty="0">
                <a:latin typeface="Malgun Gothic"/>
                <a:cs typeface="Malgun Gothic"/>
              </a:rPr>
              <a:t>탈</a:t>
            </a:r>
            <a:r>
              <a:rPr sz="2000" b="1" dirty="0">
                <a:latin typeface="Malgun Gothic"/>
                <a:cs typeface="Malgun Gothic"/>
              </a:rPr>
              <a:t>상품</a:t>
            </a:r>
            <a:r>
              <a:rPr sz="2000" b="1" spc="-15" dirty="0">
                <a:latin typeface="Malgun Gothic"/>
                <a:cs typeface="Malgun Gothic"/>
              </a:rPr>
              <a:t>화</a:t>
            </a:r>
            <a:r>
              <a:rPr sz="2000" b="1" dirty="0">
                <a:latin typeface="Malgun Gothic"/>
                <a:cs typeface="Malgun Gothic"/>
              </a:rPr>
              <a:t>란	개인	또는	</a:t>
            </a:r>
            <a:r>
              <a:rPr sz="2000" b="1" spc="-15" dirty="0">
                <a:latin typeface="Malgun Gothic"/>
                <a:cs typeface="Malgun Gothic"/>
              </a:rPr>
              <a:t>가</a:t>
            </a:r>
            <a:r>
              <a:rPr sz="2000" b="1" dirty="0">
                <a:latin typeface="Malgun Gothic"/>
                <a:cs typeface="Malgun Gothic"/>
              </a:rPr>
              <a:t>족이	시</a:t>
            </a:r>
            <a:r>
              <a:rPr sz="2000" b="1" spc="-15" dirty="0">
                <a:latin typeface="Malgun Gothic"/>
                <a:cs typeface="Malgun Gothic"/>
              </a:rPr>
              <a:t>장</a:t>
            </a:r>
            <a:r>
              <a:rPr sz="2000" b="1" dirty="0">
                <a:latin typeface="Malgun Gothic"/>
                <a:cs typeface="Malgun Gothic"/>
              </a:rPr>
              <a:t>에의	참</a:t>
            </a:r>
            <a:r>
              <a:rPr sz="2000" b="1" spc="-15" dirty="0">
                <a:latin typeface="Malgun Gothic"/>
                <a:cs typeface="Malgun Gothic"/>
              </a:rPr>
              <a:t>여</a:t>
            </a:r>
            <a:r>
              <a:rPr sz="2000" b="1" dirty="0">
                <a:latin typeface="Malgun Gothic"/>
                <a:cs typeface="Malgun Gothic"/>
              </a:rPr>
              <a:t>와	관계</a:t>
            </a:r>
            <a:r>
              <a:rPr sz="2000" b="1" spc="-15" dirty="0">
                <a:latin typeface="Malgun Gothic"/>
                <a:cs typeface="Malgun Gothic"/>
              </a:rPr>
              <a:t>없</a:t>
            </a:r>
            <a:r>
              <a:rPr sz="2000" b="1" dirty="0">
                <a:latin typeface="Malgun Gothic"/>
                <a:cs typeface="Malgun Gothic"/>
              </a:rPr>
              <a:t>이  </a:t>
            </a:r>
            <a:r>
              <a:rPr sz="2000" b="1" spc="-5" dirty="0">
                <a:latin typeface="Malgun Gothic"/>
                <a:cs typeface="Malgun Gothic"/>
              </a:rPr>
              <a:t>사회적으로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수용할만한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수준의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생활을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보장받을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있는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정도</a:t>
            </a:r>
            <a:endParaRPr sz="2000" dirty="0">
              <a:latin typeface="Malgun Gothic"/>
              <a:cs typeface="Malgun Gothic"/>
            </a:endParaRPr>
          </a:p>
          <a:p>
            <a:pPr marL="647065" marR="3114040" indent="-254635">
              <a:lnSpc>
                <a:spcPts val="3200"/>
              </a:lnSpc>
              <a:spcBef>
                <a:spcPts val="229"/>
              </a:spcBef>
            </a:pPr>
            <a:r>
              <a:rPr sz="2000" spc="80" dirty="0">
                <a:latin typeface="MS UI Gothic"/>
                <a:cs typeface="MS UI Gothic"/>
              </a:rPr>
              <a:t>▸</a:t>
            </a:r>
            <a:r>
              <a:rPr sz="2000" b="1" spc="80" dirty="0">
                <a:highlight>
                  <a:srgbClr val="FFFF00"/>
                </a:highlight>
                <a:latin typeface="Malgun Gothic"/>
                <a:cs typeface="Malgun Gothic"/>
              </a:rPr>
              <a:t>자유주의(liberal),</a:t>
            </a:r>
            <a:r>
              <a:rPr sz="2000" b="1" spc="30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2000" b="1" spc="5" dirty="0">
                <a:highlight>
                  <a:srgbClr val="FFFF00"/>
                </a:highlight>
                <a:latin typeface="Malgun Gothic"/>
                <a:cs typeface="Malgun Gothic"/>
              </a:rPr>
              <a:t>조합주의(corporatist), </a:t>
            </a:r>
            <a:r>
              <a:rPr sz="2000" b="1" spc="-6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2000" b="1" spc="20" dirty="0">
                <a:highlight>
                  <a:srgbClr val="FFFF00"/>
                </a:highlight>
                <a:latin typeface="Malgun Gothic"/>
                <a:cs typeface="Malgun Gothic"/>
              </a:rPr>
              <a:t>사민주의(social</a:t>
            </a:r>
            <a:r>
              <a:rPr sz="2000" b="1" spc="280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2000" b="1" dirty="0">
                <a:highlight>
                  <a:srgbClr val="FFFF00"/>
                </a:highlight>
                <a:latin typeface="Malgun Gothic"/>
                <a:cs typeface="Malgun Gothic"/>
              </a:rPr>
              <a:t>democratic)</a:t>
            </a:r>
            <a:endParaRPr sz="2000" dirty="0">
              <a:highlight>
                <a:srgbClr val="FFFF00"/>
              </a:highlight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50" dirty="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buFont typeface="MS UI Gothic"/>
              <a:buChar char="○"/>
              <a:tabLst>
                <a:tab pos="266700" algn="l"/>
                <a:tab pos="267335" algn="l"/>
              </a:tabLst>
            </a:pPr>
            <a:r>
              <a:rPr sz="2000" b="1" spc="-5" dirty="0">
                <a:latin typeface="Malgun Gothic"/>
                <a:cs typeface="Malgun Gothic"/>
              </a:rPr>
              <a:t>복지국가의</a:t>
            </a:r>
            <a:r>
              <a:rPr sz="2000" b="1" spc="26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유형화에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대한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해석</a:t>
            </a:r>
            <a:endParaRPr sz="2000" dirty="0">
              <a:latin typeface="Malgun Gothic"/>
              <a:cs typeface="Malgun Gothic"/>
            </a:endParaRPr>
          </a:p>
          <a:p>
            <a:pPr marL="424815" lvl="1" indent="-287020">
              <a:lnSpc>
                <a:spcPct val="100000"/>
              </a:lnSpc>
              <a:spcBef>
                <a:spcPts val="805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각국의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복지제도가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고유의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역사적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전통을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배경으로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상이하게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발전</a:t>
            </a:r>
            <a:endParaRPr sz="2000" dirty="0">
              <a:latin typeface="Malgun Gothic"/>
              <a:cs typeface="Malgun Gothic"/>
            </a:endParaRPr>
          </a:p>
          <a:p>
            <a:pPr marL="393065">
              <a:lnSpc>
                <a:spcPct val="100000"/>
              </a:lnSpc>
              <a:spcBef>
                <a:spcPts val="800"/>
              </a:spcBef>
            </a:pPr>
            <a:r>
              <a:rPr sz="2000" spc="195" dirty="0">
                <a:latin typeface="MS UI Gothic"/>
                <a:cs typeface="MS UI Gothic"/>
              </a:rPr>
              <a:t>▸</a:t>
            </a:r>
            <a:r>
              <a:rPr sz="2000" b="1" spc="195" dirty="0">
                <a:latin typeface="Malgun Gothic"/>
                <a:cs typeface="Malgun Gothic"/>
              </a:rPr>
              <a:t>분산이론</a:t>
            </a:r>
            <a:endParaRPr sz="2000" dirty="0">
              <a:latin typeface="Malgun Gothic"/>
              <a:cs typeface="Malgun Gothic"/>
            </a:endParaRPr>
          </a:p>
          <a:p>
            <a:pPr marL="424815" lvl="1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복지국가의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발전을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주도하는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힘은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이데올로기보다는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산업화이다</a:t>
            </a:r>
            <a:endParaRPr sz="2000" dirty="0">
              <a:latin typeface="Malgun Gothic"/>
              <a:cs typeface="Malgun Gothic"/>
            </a:endParaRPr>
          </a:p>
          <a:p>
            <a:pPr marL="393065">
              <a:lnSpc>
                <a:spcPct val="100000"/>
              </a:lnSpc>
              <a:spcBef>
                <a:spcPts val="805"/>
              </a:spcBef>
            </a:pPr>
            <a:r>
              <a:rPr sz="2000" spc="170" dirty="0">
                <a:latin typeface="MS UI Gothic"/>
                <a:cs typeface="MS UI Gothic"/>
              </a:rPr>
              <a:t>▸</a:t>
            </a:r>
            <a:r>
              <a:rPr sz="2000" b="1" spc="170" dirty="0">
                <a:latin typeface="Malgun Gothic"/>
                <a:cs typeface="Malgun Gothic"/>
              </a:rPr>
              <a:t>수렴이론,</a:t>
            </a:r>
            <a:r>
              <a:rPr sz="2000" b="1" spc="25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기술결정론</a:t>
            </a:r>
            <a:endParaRPr sz="2000" dirty="0">
              <a:latin typeface="Malgun Gothic"/>
              <a:cs typeface="Malgun Gothic"/>
            </a:endParaRPr>
          </a:p>
          <a:p>
            <a:pPr marL="424815" lvl="1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잔여적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또는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제도적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복지모형의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선택은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이데올로기나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가치에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기초</a:t>
            </a:r>
            <a:endParaRPr sz="20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t>24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29159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2.</a:t>
            </a:r>
            <a:r>
              <a:rPr spc="250" dirty="0"/>
              <a:t> </a:t>
            </a:r>
            <a:r>
              <a:rPr dirty="0"/>
              <a:t>무엇이</a:t>
            </a:r>
            <a:r>
              <a:rPr spc="250" dirty="0"/>
              <a:t> </a:t>
            </a:r>
            <a:r>
              <a:rPr spc="10" dirty="0"/>
              <a:t>창조되었는가?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2020737"/>
            <a:ext cx="5325110" cy="114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Font typeface="MS UI Gothic"/>
              <a:buChar char="○"/>
              <a:tabLst>
                <a:tab pos="266700" algn="l"/>
                <a:tab pos="267335" algn="l"/>
              </a:tabLst>
            </a:pPr>
            <a:r>
              <a:rPr sz="2000" b="1" spc="20" dirty="0">
                <a:latin typeface="Malgun Gothic"/>
                <a:cs typeface="Malgun Gothic"/>
              </a:rPr>
              <a:t>1948년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이후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영국형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복지국가에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대한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평가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Malgun Gothic"/>
              <a:cs typeface="Malgun Gothic"/>
            </a:endParaRPr>
          </a:p>
          <a:p>
            <a:pPr marL="138430">
              <a:lnSpc>
                <a:spcPct val="100000"/>
              </a:lnSpc>
            </a:pPr>
            <a:r>
              <a:rPr sz="2000" b="1" spc="420" dirty="0">
                <a:latin typeface="Malgun Gothic"/>
                <a:cs typeface="Malgun Gothic"/>
              </a:rPr>
              <a:t>-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포괄적인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소득보장제도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구축</a:t>
            </a:r>
            <a:endParaRPr sz="2000">
              <a:latin typeface="Malgun Gothic"/>
              <a:cs typeface="Malgun Gothic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73940" y="3287996"/>
          <a:ext cx="8216898" cy="14938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5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6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0528">
                <a:tc>
                  <a:txBody>
                    <a:bodyPr/>
                    <a:lstStyle/>
                    <a:p>
                      <a:pPr marL="159385">
                        <a:lnSpc>
                          <a:spcPts val="2120"/>
                        </a:lnSpc>
                      </a:pPr>
                      <a:r>
                        <a:rPr sz="2000" spc="250" dirty="0">
                          <a:latin typeface="MS UI Gothic"/>
                          <a:cs typeface="MS UI Gothic"/>
                        </a:rPr>
                        <a:t>▸</a:t>
                      </a:r>
                      <a:r>
                        <a:rPr sz="2000" b="1" spc="250" dirty="0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1차적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ts val="2120"/>
                        </a:lnSpc>
                      </a:pPr>
                      <a:r>
                        <a:rPr sz="2000" b="1" spc="-5" dirty="0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사회안전망</a:t>
                      </a:r>
                      <a:r>
                        <a:rPr sz="2000" b="1" spc="265" dirty="0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140" dirty="0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2000" b="1" spc="270" dirty="0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사회보험제도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2380"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250" dirty="0">
                          <a:latin typeface="MS UI Gothic"/>
                          <a:cs typeface="MS UI Gothic"/>
                        </a:rPr>
                        <a:t>▸</a:t>
                      </a:r>
                      <a:r>
                        <a:rPr sz="2000" b="1" spc="250" dirty="0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2차적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2185"/>
                        </a:lnSpc>
                        <a:spcBef>
                          <a:spcPts val="1695"/>
                        </a:spcBef>
                      </a:pPr>
                      <a:r>
                        <a:rPr sz="2000" b="1" spc="420" dirty="0"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sz="2000" b="1" spc="20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무상의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b="1" spc="-5" dirty="0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사회안전망</a:t>
                      </a:r>
                      <a:r>
                        <a:rPr sz="2000" b="1" spc="265" dirty="0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140" dirty="0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2000" b="1" spc="270" dirty="0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사회부조제도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ts val="2185"/>
                        </a:lnSpc>
                        <a:spcBef>
                          <a:spcPts val="1695"/>
                        </a:spcBef>
                      </a:pP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보건의료서비스제도인</a:t>
                      </a:r>
                      <a:r>
                        <a:rPr sz="2000" b="1" spc="2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15" dirty="0">
                          <a:latin typeface="Malgun Gothic"/>
                          <a:cs typeface="Malgun Gothic"/>
                        </a:rPr>
                        <a:t>NHS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ts val="2185"/>
                        </a:lnSpc>
                      </a:pPr>
                      <a:r>
                        <a:rPr sz="2000" b="1" dirty="0">
                          <a:latin typeface="Malgun Gothic"/>
                          <a:cs typeface="Malgun Gothic"/>
                        </a:rPr>
                        <a:t>도입</a:t>
                      </a:r>
                      <a:r>
                        <a:rPr sz="2000" b="1" spc="2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140" dirty="0">
                          <a:latin typeface="Malgun Gothic"/>
                          <a:cs typeface="Malgun Gothic"/>
                        </a:rPr>
                        <a:t>: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2865">
                        <a:lnSpc>
                          <a:spcPts val="2185"/>
                        </a:lnSpc>
                      </a:pP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영국형</a:t>
                      </a:r>
                      <a:r>
                        <a:rPr sz="2000" b="1" spc="26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복지국가의</a:t>
                      </a:r>
                      <a:r>
                        <a:rPr sz="2000" b="1" spc="26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10" dirty="0">
                          <a:latin typeface="Malgun Gothic"/>
                          <a:cs typeface="Malgun Gothic"/>
                        </a:rPr>
                        <a:t>상징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192990" y="5168226"/>
            <a:ext cx="5610860" cy="8388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000" b="1" spc="420" dirty="0">
                <a:latin typeface="Malgun Gothic"/>
                <a:cs typeface="Malgun Gothic"/>
              </a:rPr>
              <a:t>-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15" dirty="0">
                <a:latin typeface="Malgun Gothic"/>
                <a:cs typeface="Malgun Gothic"/>
              </a:rPr>
              <a:t>1980년대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이래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빈곤문제의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지속적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증가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경향</a:t>
            </a:r>
            <a:endParaRPr sz="2000">
              <a:latin typeface="Malgun Gothic"/>
              <a:cs typeface="Malgun Gothic"/>
            </a:endParaRPr>
          </a:p>
          <a:p>
            <a:pPr marL="140335">
              <a:lnSpc>
                <a:spcPct val="100000"/>
              </a:lnSpc>
              <a:spcBef>
                <a:spcPts val="800"/>
              </a:spcBef>
            </a:pPr>
            <a:r>
              <a:rPr sz="2000" spc="170" dirty="0">
                <a:latin typeface="MS UI Gothic"/>
                <a:cs typeface="MS UI Gothic"/>
              </a:rPr>
              <a:t>▸</a:t>
            </a:r>
            <a:r>
              <a:rPr sz="2000" b="1" spc="170" dirty="0">
                <a:latin typeface="Malgun Gothic"/>
                <a:cs typeface="Malgun Gothic"/>
              </a:rPr>
              <a:t>불확실성,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5" dirty="0">
                <a:latin typeface="Malgun Gothic"/>
                <a:cs typeface="Malgun Gothic"/>
              </a:rPr>
              <a:t>생활불안정,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소득불평등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확대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t>25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&lt;표</a:t>
            </a:r>
            <a:r>
              <a:rPr spc="275" dirty="0"/>
              <a:t> </a:t>
            </a:r>
            <a:r>
              <a:rPr spc="-85" dirty="0"/>
              <a:t>1&gt;</a:t>
            </a:r>
            <a:r>
              <a:rPr spc="280" dirty="0"/>
              <a:t> </a:t>
            </a:r>
            <a:r>
              <a:rPr spc="-5" dirty="0"/>
              <a:t>복지국가의</a:t>
            </a:r>
            <a:r>
              <a:rPr spc="280" dirty="0"/>
              <a:t> </a:t>
            </a:r>
            <a:r>
              <a:rPr dirty="0"/>
              <a:t>유형과</a:t>
            </a:r>
            <a:r>
              <a:rPr spc="275" dirty="0"/>
              <a:t> </a:t>
            </a:r>
            <a:r>
              <a:rPr spc="-5" dirty="0"/>
              <a:t>제도적</a:t>
            </a:r>
            <a:r>
              <a:rPr spc="280" dirty="0"/>
              <a:t> </a:t>
            </a:r>
            <a:r>
              <a:rPr dirty="0"/>
              <a:t>특징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980634"/>
              </p:ext>
            </p:extLst>
          </p:nvPr>
        </p:nvGraphicFramePr>
        <p:xfrm>
          <a:off x="1113586" y="1750898"/>
          <a:ext cx="8446132" cy="39419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8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9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8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9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97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3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Malgun Gothic"/>
                          <a:cs typeface="Malgun Gothic"/>
                        </a:rPr>
                        <a:t>구분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0" marR="431800">
                        <a:lnSpc>
                          <a:spcPct val="133700"/>
                        </a:lnSpc>
                        <a:spcBef>
                          <a:spcPts val="30"/>
                        </a:spcBef>
                      </a:pPr>
                      <a:r>
                        <a:rPr sz="1600" b="1" spc="10" dirty="0">
                          <a:latin typeface="Malgun Gothic"/>
                          <a:cs typeface="Malgun Gothic"/>
                        </a:rPr>
                        <a:t>사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민주의  </a:t>
                      </a:r>
                      <a:r>
                        <a:rPr sz="1600" b="1" spc="10" dirty="0">
                          <a:latin typeface="Malgun Gothic"/>
                          <a:cs typeface="Malgun Gothic"/>
                        </a:rPr>
                        <a:t>복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지체제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0" marR="430530">
                        <a:lnSpc>
                          <a:spcPct val="133700"/>
                        </a:lnSpc>
                        <a:spcBef>
                          <a:spcPts val="30"/>
                        </a:spcBef>
                      </a:pPr>
                      <a:r>
                        <a:rPr sz="1600" b="1" dirty="0">
                          <a:latin typeface="Malgun Gothic"/>
                          <a:cs typeface="Malgun Gothic"/>
                        </a:rPr>
                        <a:t>보수</a:t>
                      </a:r>
                      <a:r>
                        <a:rPr sz="1600" b="1" spc="10" dirty="0">
                          <a:latin typeface="Malgun Gothic"/>
                          <a:cs typeface="Malgun Gothic"/>
                        </a:rPr>
                        <a:t>주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의  복지</a:t>
                      </a:r>
                      <a:r>
                        <a:rPr sz="1600" b="1" spc="10" dirty="0">
                          <a:latin typeface="Malgun Gothic"/>
                          <a:cs typeface="Malgun Gothic"/>
                        </a:rPr>
                        <a:t>체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제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0" marR="431800">
                        <a:lnSpc>
                          <a:spcPct val="133700"/>
                        </a:lnSpc>
                        <a:spcBef>
                          <a:spcPts val="30"/>
                        </a:spcBef>
                      </a:pPr>
                      <a:r>
                        <a:rPr sz="1600" b="1" spc="10" dirty="0">
                          <a:latin typeface="Malgun Gothic"/>
                          <a:cs typeface="Malgun Gothic"/>
                        </a:rPr>
                        <a:t>자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유주의  </a:t>
                      </a:r>
                      <a:r>
                        <a:rPr sz="1600" b="1" spc="10" dirty="0">
                          <a:latin typeface="Malgun Gothic"/>
                          <a:cs typeface="Malgun Gothic"/>
                        </a:rPr>
                        <a:t>복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지체제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0" marR="431800">
                        <a:lnSpc>
                          <a:spcPct val="133700"/>
                        </a:lnSpc>
                        <a:spcBef>
                          <a:spcPts val="30"/>
                        </a:spcBef>
                      </a:pPr>
                      <a:r>
                        <a:rPr sz="1600" b="1" dirty="0">
                          <a:latin typeface="Malgun Gothic"/>
                          <a:cs typeface="Malgun Gothic"/>
                        </a:rPr>
                        <a:t>남</a:t>
                      </a:r>
                      <a:r>
                        <a:rPr sz="1600" b="1" spc="10" dirty="0">
                          <a:latin typeface="Malgun Gothic"/>
                          <a:cs typeface="Malgun Gothic"/>
                        </a:rPr>
                        <a:t>유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렵형  복</a:t>
                      </a:r>
                      <a:r>
                        <a:rPr sz="1600" b="1" spc="10" dirty="0">
                          <a:latin typeface="Malgun Gothic"/>
                          <a:cs typeface="Malgun Gothic"/>
                        </a:rPr>
                        <a:t>지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체제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8777">
                <a:tc>
                  <a:txBody>
                    <a:bodyPr/>
                    <a:lstStyle/>
                    <a:p>
                      <a:pPr marL="640715" marR="430530" indent="-202565">
                        <a:lnSpc>
                          <a:spcPct val="133100"/>
                        </a:lnSpc>
                        <a:spcBef>
                          <a:spcPts val="550"/>
                        </a:spcBef>
                      </a:pPr>
                      <a:r>
                        <a:rPr sz="1600" b="1" dirty="0">
                          <a:latin typeface="Malgun Gothic"/>
                          <a:cs typeface="Malgun Gothic"/>
                        </a:rPr>
                        <a:t>탈상</a:t>
                      </a:r>
                      <a:r>
                        <a:rPr sz="1600" b="1" spc="10" dirty="0">
                          <a:latin typeface="Malgun Gothic"/>
                          <a:cs typeface="Malgun Gothic"/>
                        </a:rPr>
                        <a:t>품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화  </a:t>
                      </a:r>
                      <a:r>
                        <a:rPr sz="1600" b="1" spc="-10" dirty="0">
                          <a:latin typeface="Malgun Gothic"/>
                          <a:cs typeface="Malgun Gothic"/>
                        </a:rPr>
                        <a:t>정도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698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100" dirty="0">
                        <a:highlight>
                          <a:srgbClr val="FFFF00"/>
                        </a:highlight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spc="-10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높음</a:t>
                      </a:r>
                      <a:endParaRPr sz="1600" dirty="0">
                        <a:highlight>
                          <a:srgbClr val="FFFF00"/>
                        </a:highlight>
                        <a:latin typeface="Malgun Gothic"/>
                        <a:cs typeface="Malgun Gothic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100" dirty="0">
                        <a:highlight>
                          <a:srgbClr val="FFFF00"/>
                        </a:highlight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spc="-10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높음</a:t>
                      </a:r>
                      <a:endParaRPr sz="1600" dirty="0">
                        <a:highlight>
                          <a:srgbClr val="FFFF00"/>
                        </a:highlight>
                        <a:latin typeface="Malgun Gothic"/>
                        <a:cs typeface="Malgun Gothic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100">
                        <a:highlight>
                          <a:srgbClr val="FFFF00"/>
                        </a:highlight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spc="-10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낮음</a:t>
                      </a:r>
                      <a:endParaRPr sz="1600">
                        <a:highlight>
                          <a:srgbClr val="FFFF00"/>
                        </a:highlight>
                        <a:latin typeface="Malgun Gothic"/>
                        <a:cs typeface="Malgun Gothic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5"/>
                        </a:lnSpc>
                      </a:pPr>
                      <a:r>
                        <a:rPr sz="1600" b="1" spc="-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높음</a:t>
                      </a:r>
                      <a:endParaRPr sz="1600">
                        <a:highlight>
                          <a:srgbClr val="FFFF00"/>
                        </a:highlight>
                        <a:latin typeface="Malgun Gothic"/>
                        <a:cs typeface="Malgun Gothic"/>
                      </a:endParaRPr>
                    </a:p>
                    <a:p>
                      <a:pPr marL="348615" marR="343535" algn="ctr">
                        <a:lnSpc>
                          <a:spcPts val="2570"/>
                        </a:lnSpc>
                      </a:pPr>
                      <a:r>
                        <a:rPr sz="1600" b="1" spc="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(남성</a:t>
                      </a:r>
                      <a:r>
                        <a:rPr sz="1600" b="1" spc="160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10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정규 </a:t>
                      </a:r>
                      <a:r>
                        <a:rPr sz="1600" b="1" spc="-55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노동자)</a:t>
                      </a:r>
                      <a:endParaRPr sz="1600">
                        <a:highlight>
                          <a:srgbClr val="FFFF00"/>
                        </a:highlight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628">
                <a:tc>
                  <a:txBody>
                    <a:bodyPr/>
                    <a:lstStyle/>
                    <a:p>
                      <a:pPr marL="640715" marR="532765" indent="-102235">
                        <a:lnSpc>
                          <a:spcPct val="133100"/>
                        </a:lnSpc>
                        <a:spcBef>
                          <a:spcPts val="55"/>
                        </a:spcBef>
                      </a:pPr>
                      <a:r>
                        <a:rPr sz="1600" b="1" spc="10" dirty="0">
                          <a:latin typeface="Malgun Gothic"/>
                          <a:cs typeface="Malgun Gothic"/>
                        </a:rPr>
                        <a:t>계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층화  </a:t>
                      </a:r>
                      <a:r>
                        <a:rPr sz="1600" b="1" spc="-10" dirty="0">
                          <a:latin typeface="Malgun Gothic"/>
                          <a:cs typeface="Malgun Gothic"/>
                        </a:rPr>
                        <a:t>유형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700" dirty="0">
                        <a:highlight>
                          <a:srgbClr val="FFFF00"/>
                        </a:highlight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spc="-10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없음</a:t>
                      </a:r>
                      <a:endParaRPr sz="1600" dirty="0">
                        <a:highlight>
                          <a:srgbClr val="FFFF00"/>
                        </a:highlight>
                        <a:latin typeface="Malgun Gothic"/>
                        <a:cs typeface="Malgun Gothic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75565" indent="254000">
                        <a:lnSpc>
                          <a:spcPct val="133100"/>
                        </a:lnSpc>
                        <a:spcBef>
                          <a:spcPts val="55"/>
                        </a:spcBef>
                      </a:pPr>
                      <a:r>
                        <a:rPr sz="1600" b="1" spc="-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지위차별화 </a:t>
                      </a:r>
                      <a:r>
                        <a:rPr sz="1600" b="1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직종별</a:t>
                      </a:r>
                      <a:r>
                        <a:rPr sz="1600" b="1" spc="15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사회보험</a:t>
                      </a:r>
                      <a:endParaRPr sz="1600" dirty="0">
                        <a:highlight>
                          <a:srgbClr val="FFFF00"/>
                        </a:highlight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700">
                        <a:highlight>
                          <a:srgbClr val="FFFF00"/>
                        </a:highlight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spc="-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이중주의</a:t>
                      </a:r>
                      <a:endParaRPr sz="1600">
                        <a:highlight>
                          <a:srgbClr val="FFFF00"/>
                        </a:highlight>
                        <a:latin typeface="Malgun Gothic"/>
                        <a:cs typeface="Malgun Gothic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5585" marR="229235" indent="100330">
                        <a:lnSpc>
                          <a:spcPct val="133100"/>
                        </a:lnSpc>
                        <a:spcBef>
                          <a:spcPts val="55"/>
                        </a:spcBef>
                      </a:pPr>
                      <a:r>
                        <a:rPr sz="1600" b="1" spc="-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지위차별화 </a:t>
                      </a:r>
                      <a:r>
                        <a:rPr sz="1600" b="1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 복지</a:t>
                      </a:r>
                      <a:r>
                        <a:rPr sz="1600" b="1" spc="10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사</a:t>
                      </a:r>
                      <a:r>
                        <a:rPr sz="1600" b="1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각지대</a:t>
                      </a:r>
                      <a:endParaRPr sz="1600">
                        <a:highlight>
                          <a:srgbClr val="FFFF00"/>
                        </a:highlight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3117">
                <a:tc>
                  <a:txBody>
                    <a:bodyPr/>
                    <a:lstStyle/>
                    <a:p>
                      <a:pPr marL="640715" marR="330200" indent="-304800">
                        <a:lnSpc>
                          <a:spcPct val="133700"/>
                        </a:lnSpc>
                        <a:spcBef>
                          <a:spcPts val="30"/>
                        </a:spcBef>
                      </a:pPr>
                      <a:r>
                        <a:rPr sz="1600" b="1" dirty="0">
                          <a:latin typeface="Malgun Gothic"/>
                          <a:cs typeface="Malgun Gothic"/>
                        </a:rPr>
                        <a:t>탈</a:t>
                      </a:r>
                      <a:r>
                        <a:rPr sz="1600" b="1" spc="10" dirty="0">
                          <a:latin typeface="Malgun Gothic"/>
                          <a:cs typeface="Malgun Gothic"/>
                        </a:rPr>
                        <a:t>가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족주의  </a:t>
                      </a:r>
                      <a:r>
                        <a:rPr sz="1600" b="1" spc="-10" dirty="0">
                          <a:latin typeface="Malgun Gothic"/>
                          <a:cs typeface="Malgun Gothic"/>
                        </a:rPr>
                        <a:t>정도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 marR="101600" indent="534035">
                        <a:lnSpc>
                          <a:spcPct val="133700"/>
                        </a:lnSpc>
                        <a:spcBef>
                          <a:spcPts val="30"/>
                        </a:spcBef>
                      </a:pPr>
                      <a:r>
                        <a:rPr sz="1600" b="1" spc="-10" dirty="0" err="1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높음</a:t>
                      </a:r>
                      <a:r>
                        <a:rPr sz="1600" b="1" spc="-10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 </a:t>
                      </a:r>
                      <a:br>
                        <a:rPr lang="en-US" sz="1600" b="1" spc="-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</a:br>
                      <a:r>
                        <a:rPr sz="1600" b="1" spc="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(높은</a:t>
                      </a:r>
                      <a:r>
                        <a:rPr sz="1600" b="1" spc="16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국가책임)</a:t>
                      </a:r>
                      <a:endParaRPr sz="1600" dirty="0">
                        <a:highlight>
                          <a:srgbClr val="FFFF00"/>
                        </a:highlight>
                        <a:latin typeface="Malgun Gothic"/>
                        <a:cs typeface="Malgun Gothic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 marR="99695" indent="532765">
                        <a:lnSpc>
                          <a:spcPct val="133700"/>
                        </a:lnSpc>
                        <a:spcBef>
                          <a:spcPts val="30"/>
                        </a:spcBef>
                      </a:pPr>
                      <a:r>
                        <a:rPr sz="1600" b="1" spc="-10" dirty="0" err="1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낮음</a:t>
                      </a:r>
                      <a:r>
                        <a:rPr sz="1600" b="1" spc="-10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 </a:t>
                      </a:r>
                      <a:br>
                        <a:rPr lang="en-US" sz="1600" b="1" spc="-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</a:br>
                      <a:r>
                        <a:rPr sz="1600" b="1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(높은</a:t>
                      </a:r>
                      <a:r>
                        <a:rPr sz="1600" b="1" spc="150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가족책임)</a:t>
                      </a:r>
                      <a:endParaRPr sz="1600" dirty="0">
                        <a:highlight>
                          <a:srgbClr val="FFFF00"/>
                        </a:highlight>
                        <a:latin typeface="Malgun Gothic"/>
                        <a:cs typeface="Malgun Gothic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 marR="101600" indent="534035">
                        <a:lnSpc>
                          <a:spcPct val="133700"/>
                        </a:lnSpc>
                        <a:spcBef>
                          <a:spcPts val="30"/>
                        </a:spcBef>
                      </a:pPr>
                      <a:r>
                        <a:rPr sz="1600" b="1" spc="-10" dirty="0" err="1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높음</a:t>
                      </a:r>
                      <a:r>
                        <a:rPr sz="1600" b="1" spc="-10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 </a:t>
                      </a:r>
                      <a:br>
                        <a:rPr lang="en-US" sz="1600" b="1" spc="-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</a:br>
                      <a:r>
                        <a:rPr sz="1600" b="1" spc="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(높은</a:t>
                      </a:r>
                      <a:r>
                        <a:rPr sz="1600" b="1" spc="16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시장구매)</a:t>
                      </a:r>
                      <a:endParaRPr sz="1600" dirty="0">
                        <a:highlight>
                          <a:srgbClr val="FFFF00"/>
                        </a:highlight>
                        <a:latin typeface="Malgun Gothic"/>
                        <a:cs typeface="Malgun Gothic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 marR="101600" indent="532765">
                        <a:lnSpc>
                          <a:spcPct val="133700"/>
                        </a:lnSpc>
                        <a:spcBef>
                          <a:spcPts val="30"/>
                        </a:spcBef>
                      </a:pPr>
                      <a:r>
                        <a:rPr sz="1600" b="1" spc="-5" dirty="0" err="1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낮음</a:t>
                      </a:r>
                      <a:r>
                        <a:rPr sz="1600" b="1" spc="-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 </a:t>
                      </a:r>
                      <a:br>
                        <a:rPr lang="en-US" sz="1600" b="1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</a:br>
                      <a:r>
                        <a:rPr sz="1600" b="1" spc="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(높은</a:t>
                      </a:r>
                      <a:r>
                        <a:rPr sz="1600" b="1" spc="160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가족책임)</a:t>
                      </a:r>
                      <a:endParaRPr sz="1600" dirty="0">
                        <a:highlight>
                          <a:srgbClr val="FFFF00"/>
                        </a:highlight>
                        <a:latin typeface="Malgun Gothic"/>
                        <a:cs typeface="Malgun Gothic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31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Malgun Gothic"/>
                          <a:cs typeface="Malgun Gothic"/>
                        </a:rPr>
                        <a:t>대표</a:t>
                      </a:r>
                      <a:r>
                        <a:rPr sz="1600" b="1" spc="19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10" dirty="0">
                          <a:latin typeface="Malgun Gothic"/>
                          <a:cs typeface="Malgun Gothic"/>
                        </a:rPr>
                        <a:t>국가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 dirty="0">
                        <a:highlight>
                          <a:srgbClr val="FFFF00"/>
                        </a:highlight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스웨덴,</a:t>
                      </a:r>
                      <a:r>
                        <a:rPr sz="1600" b="1" spc="19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10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핀란드</a:t>
                      </a:r>
                      <a:endParaRPr sz="1600" dirty="0">
                        <a:highlight>
                          <a:srgbClr val="FFFF00"/>
                        </a:highlight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>
                        <a:highlight>
                          <a:srgbClr val="FFFF00"/>
                        </a:highlight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10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독일,</a:t>
                      </a:r>
                      <a:r>
                        <a:rPr sz="1600" b="1" spc="190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프랑스,</a:t>
                      </a:r>
                      <a:endParaRPr sz="1600">
                        <a:highlight>
                          <a:srgbClr val="FFFF00"/>
                        </a:highlight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>
                        <a:highlight>
                          <a:srgbClr val="FFFF00"/>
                        </a:highlight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10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미국,</a:t>
                      </a:r>
                      <a:r>
                        <a:rPr sz="1600" b="1" spc="185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10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영국</a:t>
                      </a:r>
                      <a:endParaRPr sz="1600">
                        <a:highlight>
                          <a:srgbClr val="FFFF00"/>
                        </a:highlight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0385" marR="401955" indent="-132715">
                        <a:lnSpc>
                          <a:spcPct val="133700"/>
                        </a:lnSpc>
                        <a:spcBef>
                          <a:spcPts val="30"/>
                        </a:spcBef>
                      </a:pPr>
                      <a:r>
                        <a:rPr sz="1600" b="1" spc="10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이</a:t>
                      </a:r>
                      <a:r>
                        <a:rPr sz="1600" b="1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탈리</a:t>
                      </a:r>
                      <a:r>
                        <a:rPr sz="1600" b="1" spc="10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아</a:t>
                      </a:r>
                      <a:r>
                        <a:rPr sz="1600" b="1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,  </a:t>
                      </a:r>
                      <a:r>
                        <a:rPr sz="1600" b="1" spc="-10" dirty="0">
                          <a:highlight>
                            <a:srgbClr val="FFFF00"/>
                          </a:highlight>
                          <a:latin typeface="Malgun Gothic"/>
                          <a:cs typeface="Malgun Gothic"/>
                        </a:rPr>
                        <a:t>스페인</a:t>
                      </a:r>
                      <a:endParaRPr sz="1600" dirty="0">
                        <a:highlight>
                          <a:srgbClr val="FFFF00"/>
                        </a:highlight>
                        <a:latin typeface="Malgun Gothic"/>
                        <a:cs typeface="Malgun Gothic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66636" y="5741853"/>
            <a:ext cx="4540250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35" dirty="0">
                <a:latin typeface="Malgun Gothic"/>
                <a:cs typeface="Malgun Gothic"/>
              </a:rPr>
              <a:t>출처:</a:t>
            </a:r>
            <a:r>
              <a:rPr sz="1000" spc="135" dirty="0">
                <a:latin typeface="Malgun Gothic"/>
                <a:cs typeface="Malgun Gothic"/>
              </a:rPr>
              <a:t> </a:t>
            </a:r>
            <a:r>
              <a:rPr sz="1000" spc="15" dirty="0">
                <a:latin typeface="Malgun Gothic"/>
                <a:cs typeface="Malgun Gothic"/>
              </a:rPr>
              <a:t>김연명.</a:t>
            </a:r>
            <a:r>
              <a:rPr sz="1000" spc="145" dirty="0">
                <a:latin typeface="Malgun Gothic"/>
                <a:cs typeface="Malgun Gothic"/>
              </a:rPr>
              <a:t> </a:t>
            </a:r>
            <a:r>
              <a:rPr sz="1000" spc="45" dirty="0">
                <a:latin typeface="Malgun Gothic"/>
                <a:cs typeface="Malgun Gothic"/>
              </a:rPr>
              <a:t>2015.</a:t>
            </a:r>
            <a:r>
              <a:rPr sz="1000" spc="140" dirty="0">
                <a:latin typeface="Malgun Gothic"/>
                <a:cs typeface="Malgun Gothic"/>
              </a:rPr>
              <a:t> </a:t>
            </a:r>
            <a:r>
              <a:rPr sz="1000" spc="35" dirty="0">
                <a:latin typeface="Malgun Gothic"/>
                <a:cs typeface="Malgun Gothic"/>
              </a:rPr>
              <a:t>“한국</a:t>
            </a:r>
            <a:r>
              <a:rPr sz="1000" spc="150" dirty="0">
                <a:latin typeface="Malgun Gothic"/>
                <a:cs typeface="Malgun Gothic"/>
              </a:rPr>
              <a:t> </a:t>
            </a:r>
            <a:r>
              <a:rPr sz="1000" spc="-5" dirty="0">
                <a:latin typeface="Malgun Gothic"/>
                <a:cs typeface="Malgun Gothic"/>
              </a:rPr>
              <a:t>사회복지의</a:t>
            </a:r>
            <a:r>
              <a:rPr sz="1000" spc="145" dirty="0">
                <a:latin typeface="Malgun Gothic"/>
                <a:cs typeface="Malgun Gothic"/>
              </a:rPr>
              <a:t> </a:t>
            </a:r>
            <a:r>
              <a:rPr sz="1000" spc="-5" dirty="0">
                <a:latin typeface="Malgun Gothic"/>
                <a:cs typeface="Malgun Gothic"/>
              </a:rPr>
              <a:t>현단계와</a:t>
            </a:r>
            <a:r>
              <a:rPr sz="1000" spc="150" dirty="0">
                <a:latin typeface="Malgun Gothic"/>
                <a:cs typeface="Malgun Gothic"/>
              </a:rPr>
              <a:t> </a:t>
            </a:r>
            <a:r>
              <a:rPr sz="1000" spc="-5" dirty="0">
                <a:latin typeface="Malgun Gothic"/>
                <a:cs typeface="Malgun Gothic"/>
              </a:rPr>
              <a:t>보편주의</a:t>
            </a:r>
            <a:r>
              <a:rPr sz="1000" spc="145" dirty="0">
                <a:latin typeface="Malgun Gothic"/>
                <a:cs typeface="Malgun Gothic"/>
              </a:rPr>
              <a:t> </a:t>
            </a:r>
            <a:r>
              <a:rPr sz="1000" spc="-5" dirty="0">
                <a:latin typeface="Malgun Gothic"/>
                <a:cs typeface="Malgun Gothic"/>
              </a:rPr>
              <a:t>복지국가의</a:t>
            </a:r>
            <a:r>
              <a:rPr sz="1000" spc="150" dirty="0">
                <a:latin typeface="Malgun Gothic"/>
                <a:cs typeface="Malgun Gothic"/>
              </a:rPr>
              <a:t> </a:t>
            </a:r>
            <a:r>
              <a:rPr sz="1000" spc="45" dirty="0">
                <a:latin typeface="Malgun Gothic"/>
                <a:cs typeface="Malgun Gothic"/>
              </a:rPr>
              <a:t>과제.”</a:t>
            </a:r>
            <a:endParaRPr sz="1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t>26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&lt;표</a:t>
            </a:r>
            <a:r>
              <a:rPr spc="280" dirty="0"/>
              <a:t> </a:t>
            </a:r>
            <a:r>
              <a:rPr spc="-85" dirty="0"/>
              <a:t>2&gt;</a:t>
            </a:r>
            <a:r>
              <a:rPr spc="285" dirty="0"/>
              <a:t> </a:t>
            </a:r>
            <a:r>
              <a:rPr spc="-5" dirty="0"/>
              <a:t>우리나라</a:t>
            </a:r>
            <a:r>
              <a:rPr spc="280" dirty="0"/>
              <a:t> </a:t>
            </a:r>
            <a:r>
              <a:rPr spc="-5" dirty="0"/>
              <a:t>사회보험</a:t>
            </a:r>
            <a:r>
              <a:rPr spc="280" dirty="0"/>
              <a:t> </a:t>
            </a:r>
            <a:r>
              <a:rPr dirty="0"/>
              <a:t>및</a:t>
            </a:r>
            <a:r>
              <a:rPr spc="285" dirty="0"/>
              <a:t> </a:t>
            </a:r>
            <a:r>
              <a:rPr spc="-5" dirty="0"/>
              <a:t>사회부조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13586" y="1699107"/>
          <a:ext cx="8451214" cy="44598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5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5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3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8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32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229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b="1" spc="-90" dirty="0">
                          <a:latin typeface="Malgun Gothic"/>
                          <a:cs typeface="Malgun Gothic"/>
                        </a:rPr>
                        <a:t>제도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476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b="1" spc="-130" dirty="0">
                          <a:latin typeface="Malgun Gothic"/>
                          <a:cs typeface="Malgun Gothic"/>
                        </a:rPr>
                        <a:t>도입시기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476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846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b="1" spc="-130" dirty="0">
                          <a:latin typeface="Malgun Gothic"/>
                          <a:cs typeface="Malgun Gothic"/>
                        </a:rPr>
                        <a:t>대상위험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476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b="1" spc="-130" dirty="0">
                          <a:latin typeface="Malgun Gothic"/>
                          <a:cs typeface="Malgun Gothic"/>
                        </a:rPr>
                        <a:t>보장형태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476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b="1" spc="-130" dirty="0">
                          <a:latin typeface="Malgun Gothic"/>
                          <a:cs typeface="Malgun Gothic"/>
                        </a:rPr>
                        <a:t>가입대상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476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343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sz="1600" b="1" spc="-130" dirty="0">
                          <a:latin typeface="Malgun Gothic"/>
                          <a:cs typeface="Malgun Gothic"/>
                        </a:rPr>
                        <a:t>공적연금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600" b="1" spc="-135" dirty="0">
                          <a:latin typeface="Malgun Gothic"/>
                          <a:cs typeface="Malgun Gothic"/>
                        </a:rPr>
                        <a:t>공무원연금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492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600" b="1" spc="-55" dirty="0">
                          <a:latin typeface="Malgun Gothic"/>
                          <a:cs typeface="Malgun Gothic"/>
                        </a:rPr>
                        <a:t>1960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492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825"/>
                        </a:lnSpc>
                      </a:pPr>
                      <a:r>
                        <a:rPr sz="1600" b="1" spc="-95" dirty="0">
                          <a:latin typeface="Malgun Gothic"/>
                          <a:cs typeface="Malgun Gothic"/>
                        </a:rPr>
                        <a:t>노령,</a:t>
                      </a:r>
                      <a:r>
                        <a:rPr sz="1600" b="1" spc="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95" dirty="0">
                          <a:latin typeface="Malgun Gothic"/>
                          <a:cs typeface="Malgun Gothic"/>
                        </a:rPr>
                        <a:t>장애,</a:t>
                      </a:r>
                      <a:r>
                        <a:rPr sz="1600" b="1" spc="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90" dirty="0">
                          <a:latin typeface="Malgun Gothic"/>
                          <a:cs typeface="Malgun Gothic"/>
                        </a:rPr>
                        <a:t>사망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  <a:p>
                      <a:pPr marL="65405">
                        <a:lnSpc>
                          <a:spcPts val="1885"/>
                        </a:lnSpc>
                        <a:spcBef>
                          <a:spcPts val="635"/>
                        </a:spcBef>
                      </a:pPr>
                      <a:r>
                        <a:rPr sz="1600" b="1" spc="-130" dirty="0">
                          <a:latin typeface="Malgun Gothic"/>
                          <a:cs typeface="Malgun Gothic"/>
                        </a:rPr>
                        <a:t>산재포함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600" b="1" spc="-130" dirty="0">
                          <a:latin typeface="Malgun Gothic"/>
                          <a:cs typeface="Malgun Gothic"/>
                        </a:rPr>
                        <a:t>소득보장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492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600" b="1" spc="-114" dirty="0">
                          <a:latin typeface="Malgun Gothic"/>
                          <a:cs typeface="Malgun Gothic"/>
                        </a:rPr>
                        <a:t>공무원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492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600" b="1" spc="-130" dirty="0">
                          <a:latin typeface="Malgun Gothic"/>
                          <a:cs typeface="Malgun Gothic"/>
                        </a:rPr>
                        <a:t>군인연금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48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</a:pPr>
                      <a:r>
                        <a:rPr sz="1600" b="1" spc="-55" dirty="0">
                          <a:latin typeface="Malgun Gothic"/>
                          <a:cs typeface="Malgun Gothic"/>
                        </a:rPr>
                        <a:t>1960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  <a:p>
                      <a:pPr algn="ctr">
                        <a:lnSpc>
                          <a:spcPts val="1885"/>
                        </a:lnSpc>
                        <a:spcBef>
                          <a:spcPts val="635"/>
                        </a:spcBef>
                      </a:pPr>
                      <a:r>
                        <a:rPr sz="1600" b="1" spc="-50" dirty="0">
                          <a:latin typeface="Malgun Gothic"/>
                          <a:cs typeface="Malgun Gothic"/>
                        </a:rPr>
                        <a:t>(1963</a:t>
                      </a:r>
                      <a:r>
                        <a:rPr sz="16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105" dirty="0">
                          <a:latin typeface="Malgun Gothic"/>
                          <a:cs typeface="Malgun Gothic"/>
                        </a:rPr>
                        <a:t>분리)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820"/>
                        </a:lnSpc>
                      </a:pPr>
                      <a:r>
                        <a:rPr sz="1600" b="1" spc="-95" dirty="0">
                          <a:latin typeface="Malgun Gothic"/>
                          <a:cs typeface="Malgun Gothic"/>
                        </a:rPr>
                        <a:t>노령,</a:t>
                      </a:r>
                      <a:r>
                        <a:rPr sz="1600" b="1" spc="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95" dirty="0">
                          <a:latin typeface="Malgun Gothic"/>
                          <a:cs typeface="Malgun Gothic"/>
                        </a:rPr>
                        <a:t>장애,</a:t>
                      </a:r>
                      <a:r>
                        <a:rPr sz="1600" b="1" spc="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90" dirty="0">
                          <a:latin typeface="Malgun Gothic"/>
                          <a:cs typeface="Malgun Gothic"/>
                        </a:rPr>
                        <a:t>사망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  <a:p>
                      <a:pPr marL="65405">
                        <a:lnSpc>
                          <a:spcPts val="1885"/>
                        </a:lnSpc>
                        <a:spcBef>
                          <a:spcPts val="635"/>
                        </a:spcBef>
                      </a:pPr>
                      <a:r>
                        <a:rPr sz="1600" b="1" spc="-130" dirty="0">
                          <a:latin typeface="Malgun Gothic"/>
                          <a:cs typeface="Malgun Gothic"/>
                        </a:rPr>
                        <a:t>산재포함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600" b="1" spc="-130" dirty="0">
                          <a:latin typeface="Malgun Gothic"/>
                          <a:cs typeface="Malgun Gothic"/>
                        </a:rPr>
                        <a:t>소득보장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48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600" b="1" spc="-160" dirty="0">
                          <a:latin typeface="Malgun Gothic"/>
                          <a:cs typeface="Malgun Gothic"/>
                        </a:rPr>
                        <a:t>장기하사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관 </a:t>
                      </a:r>
                      <a:r>
                        <a:rPr sz="1600" b="1" spc="-160" dirty="0">
                          <a:latin typeface="Malgun Gothic"/>
                          <a:cs typeface="Malgun Gothic"/>
                        </a:rPr>
                        <a:t>이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상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48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5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600" b="1" spc="-130" dirty="0">
                          <a:latin typeface="Malgun Gothic"/>
                          <a:cs typeface="Malgun Gothic"/>
                        </a:rPr>
                        <a:t>사학연금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49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600" b="1" spc="-55" dirty="0">
                          <a:latin typeface="Malgun Gothic"/>
                          <a:cs typeface="Malgun Gothic"/>
                        </a:rPr>
                        <a:t>1973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49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820"/>
                        </a:lnSpc>
                      </a:pPr>
                      <a:r>
                        <a:rPr sz="1600" b="1" spc="-95" dirty="0">
                          <a:latin typeface="Malgun Gothic"/>
                          <a:cs typeface="Malgun Gothic"/>
                        </a:rPr>
                        <a:t>노령,</a:t>
                      </a:r>
                      <a:r>
                        <a:rPr sz="1600" b="1" spc="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95" dirty="0">
                          <a:latin typeface="Malgun Gothic"/>
                          <a:cs typeface="Malgun Gothic"/>
                        </a:rPr>
                        <a:t>장애,</a:t>
                      </a:r>
                      <a:r>
                        <a:rPr sz="1600" b="1" spc="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90" dirty="0">
                          <a:latin typeface="Malgun Gothic"/>
                          <a:cs typeface="Malgun Gothic"/>
                        </a:rPr>
                        <a:t>사망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  <a:p>
                      <a:pPr marL="65405">
                        <a:lnSpc>
                          <a:spcPts val="1885"/>
                        </a:lnSpc>
                        <a:spcBef>
                          <a:spcPts val="635"/>
                        </a:spcBef>
                      </a:pPr>
                      <a:r>
                        <a:rPr sz="1600" b="1" spc="-130" dirty="0">
                          <a:latin typeface="Malgun Gothic"/>
                          <a:cs typeface="Malgun Gothic"/>
                        </a:rPr>
                        <a:t>산재포함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600" b="1" spc="-130" dirty="0">
                          <a:latin typeface="Malgun Gothic"/>
                          <a:cs typeface="Malgun Gothic"/>
                        </a:rPr>
                        <a:t>소득보장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49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600" b="1" spc="-160" dirty="0">
                          <a:latin typeface="Malgun Gothic"/>
                          <a:cs typeface="Malgun Gothic"/>
                        </a:rPr>
                        <a:t>사립학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교 </a:t>
                      </a:r>
                      <a:r>
                        <a:rPr sz="1600" b="1" spc="-160" dirty="0">
                          <a:latin typeface="Malgun Gothic"/>
                          <a:cs typeface="Malgun Gothic"/>
                        </a:rPr>
                        <a:t>교직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원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49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43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600" b="1" spc="-130" dirty="0">
                          <a:latin typeface="Malgun Gothic"/>
                          <a:cs typeface="Malgun Gothic"/>
                        </a:rPr>
                        <a:t>국민연금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298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600" b="1" spc="-55" dirty="0">
                          <a:latin typeface="Malgun Gothic"/>
                          <a:cs typeface="Malgun Gothic"/>
                        </a:rPr>
                        <a:t>1988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298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600" b="1" spc="-95" dirty="0">
                          <a:latin typeface="Malgun Gothic"/>
                          <a:cs typeface="Malgun Gothic"/>
                        </a:rPr>
                        <a:t>노령,</a:t>
                      </a:r>
                      <a:r>
                        <a:rPr sz="1600" b="1" spc="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95" dirty="0">
                          <a:latin typeface="Malgun Gothic"/>
                          <a:cs typeface="Malgun Gothic"/>
                        </a:rPr>
                        <a:t>장애,</a:t>
                      </a:r>
                      <a:r>
                        <a:rPr sz="1600" b="1" spc="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90" dirty="0">
                          <a:latin typeface="Malgun Gothic"/>
                          <a:cs typeface="Malgun Gothic"/>
                        </a:rPr>
                        <a:t>사망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298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600" b="1" spc="-130" dirty="0">
                          <a:latin typeface="Malgun Gothic"/>
                          <a:cs typeface="Malgun Gothic"/>
                        </a:rPr>
                        <a:t>소득보장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298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600" b="1" spc="-45" dirty="0">
                          <a:latin typeface="Malgun Gothic"/>
                          <a:cs typeface="Malgun Gothic"/>
                        </a:rPr>
                        <a:t>1인</a:t>
                      </a:r>
                      <a:r>
                        <a:rPr sz="1600" b="1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90" dirty="0">
                          <a:latin typeface="Malgun Gothic"/>
                          <a:cs typeface="Malgun Gothic"/>
                        </a:rPr>
                        <a:t>이상</a:t>
                      </a:r>
                      <a:r>
                        <a:rPr sz="16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114" dirty="0">
                          <a:latin typeface="Malgun Gothic"/>
                          <a:cs typeface="Malgun Gothic"/>
                        </a:rPr>
                        <a:t>사업장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298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9546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600" b="1" spc="-140" dirty="0">
                          <a:latin typeface="Malgun Gothic"/>
                          <a:cs typeface="Malgun Gothic"/>
                        </a:rPr>
                        <a:t>국민건강보험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1009">
                        <a:lnSpc>
                          <a:spcPts val="1820"/>
                        </a:lnSpc>
                      </a:pPr>
                      <a:r>
                        <a:rPr sz="1600" b="1" spc="-100" dirty="0">
                          <a:latin typeface="Malgun Gothic"/>
                          <a:cs typeface="Malgun Gothic"/>
                        </a:rPr>
                        <a:t>직장의료(1977)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  <a:p>
                      <a:pPr marL="95885" marR="89535" indent="365125">
                        <a:lnSpc>
                          <a:spcPct val="133100"/>
                        </a:lnSpc>
                      </a:pPr>
                      <a:r>
                        <a:rPr sz="1600" b="1" spc="-100" dirty="0">
                          <a:latin typeface="Malgun Gothic"/>
                          <a:cs typeface="Malgun Gothic"/>
                        </a:rPr>
                        <a:t>지역의료(1988) </a:t>
                      </a:r>
                      <a:r>
                        <a:rPr sz="1600" b="1" spc="-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160" dirty="0">
                          <a:latin typeface="Malgun Gothic"/>
                          <a:cs typeface="Malgun Gothic"/>
                        </a:rPr>
                        <a:t>공무원ㆍ사립교원</a:t>
                      </a:r>
                      <a:r>
                        <a:rPr sz="1600" b="1" spc="-6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1600" b="1" spc="-100" dirty="0"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sz="1600" b="1" spc="-90" dirty="0">
                          <a:latin typeface="Malgun Gothic"/>
                          <a:cs typeface="Malgun Gothic"/>
                        </a:rPr>
                        <a:t>9</a:t>
                      </a:r>
                      <a:r>
                        <a:rPr sz="1600" b="1" spc="-100" dirty="0">
                          <a:latin typeface="Malgun Gothic"/>
                          <a:cs typeface="Malgun Gothic"/>
                        </a:rPr>
                        <a:t>79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)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 marR="489584">
                        <a:lnSpc>
                          <a:spcPct val="133100"/>
                        </a:lnSpc>
                        <a:spcBef>
                          <a:spcPts val="545"/>
                        </a:spcBef>
                      </a:pPr>
                      <a:r>
                        <a:rPr sz="1600" b="1" spc="-160" dirty="0">
                          <a:latin typeface="Malgun Gothic"/>
                          <a:cs typeface="Malgun Gothic"/>
                        </a:rPr>
                        <a:t>질병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에 </a:t>
                      </a:r>
                      <a:r>
                        <a:rPr sz="1600" b="1" spc="-160" dirty="0"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한  </a:t>
                      </a:r>
                      <a:r>
                        <a:rPr sz="1600" b="1" spc="-90" dirty="0">
                          <a:latin typeface="Malgun Gothic"/>
                          <a:cs typeface="Malgun Gothic"/>
                        </a:rPr>
                        <a:t>비용</a:t>
                      </a:r>
                      <a:r>
                        <a:rPr sz="16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90" dirty="0">
                          <a:latin typeface="Malgun Gothic"/>
                          <a:cs typeface="Malgun Gothic"/>
                        </a:rPr>
                        <a:t>손실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65405">
                        <a:lnSpc>
                          <a:spcPct val="100000"/>
                        </a:lnSpc>
                      </a:pPr>
                      <a:r>
                        <a:rPr sz="1600" b="1" spc="-130" dirty="0">
                          <a:latin typeface="Malgun Gothic"/>
                          <a:cs typeface="Malgun Gothic"/>
                        </a:rPr>
                        <a:t>의료보장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65405">
                        <a:lnSpc>
                          <a:spcPct val="100000"/>
                        </a:lnSpc>
                      </a:pPr>
                      <a:r>
                        <a:rPr sz="1600" b="1" spc="-90" dirty="0">
                          <a:latin typeface="Malgun Gothic"/>
                          <a:cs typeface="Malgun Gothic"/>
                        </a:rPr>
                        <a:t>모든</a:t>
                      </a:r>
                      <a:r>
                        <a:rPr sz="1600" b="1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90" dirty="0">
                          <a:latin typeface="Malgun Gothic"/>
                          <a:cs typeface="Malgun Gothic"/>
                        </a:rPr>
                        <a:t>국민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140">
                <a:tc gridSpan="2">
                  <a:txBody>
                    <a:bodyPr/>
                    <a:lstStyle/>
                    <a:p>
                      <a:pPr marL="63500">
                        <a:lnSpc>
                          <a:spcPts val="1785"/>
                        </a:lnSpc>
                      </a:pPr>
                      <a:r>
                        <a:rPr sz="1600" b="1" spc="-130" dirty="0">
                          <a:latin typeface="Malgun Gothic"/>
                          <a:cs typeface="Malgun Gothic"/>
                        </a:rPr>
                        <a:t>산재보험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5"/>
                        </a:lnSpc>
                      </a:pPr>
                      <a:r>
                        <a:rPr sz="1600" b="1" spc="-55" dirty="0">
                          <a:latin typeface="Malgun Gothic"/>
                          <a:cs typeface="Malgun Gothic"/>
                        </a:rPr>
                        <a:t>1964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785"/>
                        </a:lnSpc>
                      </a:pPr>
                      <a:r>
                        <a:rPr sz="1600" b="1" spc="-160" dirty="0">
                          <a:latin typeface="Malgun Gothic"/>
                          <a:cs typeface="Malgun Gothic"/>
                        </a:rPr>
                        <a:t>업무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상 </a:t>
                      </a:r>
                      <a:r>
                        <a:rPr sz="1600" b="1" spc="-160" dirty="0">
                          <a:latin typeface="Malgun Gothic"/>
                          <a:cs typeface="Malgun Gothic"/>
                        </a:rPr>
                        <a:t>재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해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785"/>
                        </a:lnSpc>
                      </a:pPr>
                      <a:r>
                        <a:rPr sz="1600" b="1" spc="-95" dirty="0">
                          <a:latin typeface="Malgun Gothic"/>
                          <a:cs typeface="Malgun Gothic"/>
                        </a:rPr>
                        <a:t>소득,</a:t>
                      </a:r>
                      <a:r>
                        <a:rPr sz="1600" b="1" spc="5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90" dirty="0">
                          <a:latin typeface="Malgun Gothic"/>
                          <a:cs typeface="Malgun Gothic"/>
                        </a:rPr>
                        <a:t>의료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785"/>
                        </a:lnSpc>
                      </a:pPr>
                      <a:r>
                        <a:rPr sz="1600" b="1" spc="-90" dirty="0">
                          <a:latin typeface="Malgun Gothic"/>
                          <a:cs typeface="Malgun Gothic"/>
                        </a:rPr>
                        <a:t>모든</a:t>
                      </a:r>
                      <a:r>
                        <a:rPr sz="1600" b="1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114" dirty="0">
                          <a:latin typeface="Malgun Gothic"/>
                          <a:cs typeface="Malgun Gothic"/>
                        </a:rPr>
                        <a:t>근로자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128">
                <a:tc gridSpan="2">
                  <a:txBody>
                    <a:bodyPr/>
                    <a:lstStyle/>
                    <a:p>
                      <a:pPr marL="63500">
                        <a:lnSpc>
                          <a:spcPts val="1785"/>
                        </a:lnSpc>
                      </a:pPr>
                      <a:r>
                        <a:rPr sz="1600" b="1" spc="-130" dirty="0">
                          <a:latin typeface="Malgun Gothic"/>
                          <a:cs typeface="Malgun Gothic"/>
                        </a:rPr>
                        <a:t>고용보험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5"/>
                        </a:lnSpc>
                      </a:pPr>
                      <a:r>
                        <a:rPr sz="1600" b="1" spc="-55" dirty="0">
                          <a:latin typeface="Malgun Gothic"/>
                          <a:cs typeface="Malgun Gothic"/>
                        </a:rPr>
                        <a:t>1995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785"/>
                        </a:lnSpc>
                      </a:pPr>
                      <a:r>
                        <a:rPr sz="1600" b="1" spc="-90" dirty="0">
                          <a:latin typeface="Malgun Gothic"/>
                          <a:cs typeface="Malgun Gothic"/>
                        </a:rPr>
                        <a:t>소득</a:t>
                      </a:r>
                      <a:r>
                        <a:rPr sz="1600" b="1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90" dirty="0">
                          <a:latin typeface="Malgun Gothic"/>
                          <a:cs typeface="Malgun Gothic"/>
                        </a:rPr>
                        <a:t>손실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785"/>
                        </a:lnSpc>
                      </a:pPr>
                      <a:r>
                        <a:rPr sz="1600" b="1" spc="-95" dirty="0">
                          <a:latin typeface="Malgun Gothic"/>
                          <a:cs typeface="Malgun Gothic"/>
                        </a:rPr>
                        <a:t>소득,</a:t>
                      </a:r>
                      <a:r>
                        <a:rPr sz="1600" b="1" spc="5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90" dirty="0">
                          <a:latin typeface="Malgun Gothic"/>
                          <a:cs typeface="Malgun Gothic"/>
                        </a:rPr>
                        <a:t>비용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785"/>
                        </a:lnSpc>
                      </a:pPr>
                      <a:r>
                        <a:rPr sz="1600" b="1" spc="-90" dirty="0">
                          <a:latin typeface="Malgun Gothic"/>
                          <a:cs typeface="Malgun Gothic"/>
                        </a:rPr>
                        <a:t>모든</a:t>
                      </a:r>
                      <a:r>
                        <a:rPr sz="1600" b="1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114" dirty="0">
                          <a:latin typeface="Malgun Gothic"/>
                          <a:cs typeface="Malgun Gothic"/>
                        </a:rPr>
                        <a:t>근로자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617">
                <a:tc gridSpan="2">
                  <a:txBody>
                    <a:bodyPr/>
                    <a:lstStyle/>
                    <a:p>
                      <a:pPr marL="63500">
                        <a:lnSpc>
                          <a:spcPts val="1770"/>
                        </a:lnSpc>
                      </a:pPr>
                      <a:r>
                        <a:rPr sz="1600" b="1" spc="-150" dirty="0">
                          <a:latin typeface="Malgun Gothic"/>
                          <a:cs typeface="Malgun Gothic"/>
                        </a:rPr>
                        <a:t>노인장기요양보험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70"/>
                        </a:lnSpc>
                      </a:pPr>
                      <a:r>
                        <a:rPr sz="1600" b="1" spc="-55" dirty="0">
                          <a:latin typeface="Malgun Gothic"/>
                          <a:cs typeface="Malgun Gothic"/>
                        </a:rPr>
                        <a:t>2008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770"/>
                        </a:lnSpc>
                      </a:pPr>
                      <a:r>
                        <a:rPr sz="1600" b="1" spc="-130" dirty="0">
                          <a:latin typeface="Malgun Gothic"/>
                          <a:cs typeface="Malgun Gothic"/>
                        </a:rPr>
                        <a:t>장기요양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770"/>
                        </a:lnSpc>
                      </a:pPr>
                      <a:r>
                        <a:rPr sz="1600" b="1" spc="-135" dirty="0">
                          <a:latin typeface="Malgun Gothic"/>
                          <a:cs typeface="Malgun Gothic"/>
                        </a:rPr>
                        <a:t>사회서비스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770"/>
                        </a:lnSpc>
                      </a:pPr>
                      <a:r>
                        <a:rPr sz="1600" b="1" spc="-90" dirty="0">
                          <a:latin typeface="Malgun Gothic"/>
                          <a:cs typeface="Malgun Gothic"/>
                        </a:rPr>
                        <a:t>모든</a:t>
                      </a:r>
                      <a:r>
                        <a:rPr sz="1600" b="1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90" dirty="0">
                          <a:latin typeface="Malgun Gothic"/>
                          <a:cs typeface="Malgun Gothic"/>
                        </a:rPr>
                        <a:t>국민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140">
                <a:tc gridSpan="2">
                  <a:txBody>
                    <a:bodyPr/>
                    <a:lstStyle/>
                    <a:p>
                      <a:pPr marL="63500">
                        <a:lnSpc>
                          <a:spcPts val="1785"/>
                        </a:lnSpc>
                      </a:pPr>
                      <a:r>
                        <a:rPr sz="1600" b="1" spc="-140" dirty="0">
                          <a:latin typeface="Malgun Gothic"/>
                          <a:cs typeface="Malgun Gothic"/>
                        </a:rPr>
                        <a:t>생활보호제도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5"/>
                        </a:lnSpc>
                      </a:pPr>
                      <a:r>
                        <a:rPr sz="1600" b="1" spc="-55" dirty="0">
                          <a:latin typeface="Malgun Gothic"/>
                          <a:cs typeface="Malgun Gothic"/>
                        </a:rPr>
                        <a:t>1961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785"/>
                        </a:lnSpc>
                      </a:pPr>
                      <a:r>
                        <a:rPr sz="1600" b="1" spc="-130" dirty="0">
                          <a:latin typeface="Malgun Gothic"/>
                          <a:cs typeface="Malgun Gothic"/>
                        </a:rPr>
                        <a:t>빈곤(무능력자)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785"/>
                        </a:lnSpc>
                      </a:pPr>
                      <a:r>
                        <a:rPr sz="1600" b="1" spc="-130" dirty="0">
                          <a:latin typeface="Malgun Gothic"/>
                          <a:cs typeface="Malgun Gothic"/>
                        </a:rPr>
                        <a:t>소득보장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785"/>
                        </a:lnSpc>
                      </a:pPr>
                      <a:r>
                        <a:rPr sz="1600" b="1" spc="-114" dirty="0">
                          <a:latin typeface="Malgun Gothic"/>
                          <a:cs typeface="Malgun Gothic"/>
                        </a:rPr>
                        <a:t>빈곤층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140">
                <a:tc gridSpan="2">
                  <a:txBody>
                    <a:bodyPr/>
                    <a:lstStyle/>
                    <a:p>
                      <a:pPr marL="63500">
                        <a:lnSpc>
                          <a:spcPts val="1785"/>
                        </a:lnSpc>
                      </a:pPr>
                      <a:r>
                        <a:rPr sz="1600" b="1" spc="-150" dirty="0">
                          <a:latin typeface="Malgun Gothic"/>
                          <a:cs typeface="Malgun Gothic"/>
                        </a:rPr>
                        <a:t>국민기초생활보장제도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5"/>
                        </a:lnSpc>
                      </a:pPr>
                      <a:r>
                        <a:rPr sz="1600" b="1" spc="-55" dirty="0">
                          <a:latin typeface="Malgun Gothic"/>
                          <a:cs typeface="Malgun Gothic"/>
                        </a:rPr>
                        <a:t>2000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785"/>
                        </a:lnSpc>
                      </a:pPr>
                      <a:r>
                        <a:rPr sz="1600" b="1" spc="-130" dirty="0">
                          <a:latin typeface="Malgun Gothic"/>
                          <a:cs typeface="Malgun Gothic"/>
                        </a:rPr>
                        <a:t>빈곤(능력자포함)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785"/>
                        </a:lnSpc>
                      </a:pPr>
                      <a:r>
                        <a:rPr sz="1600" b="1" spc="-130" dirty="0">
                          <a:latin typeface="Malgun Gothic"/>
                          <a:cs typeface="Malgun Gothic"/>
                        </a:rPr>
                        <a:t>소득보장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785"/>
                        </a:lnSpc>
                      </a:pPr>
                      <a:r>
                        <a:rPr sz="1600" b="1" spc="-114" dirty="0">
                          <a:latin typeface="Malgun Gothic"/>
                          <a:cs typeface="Malgun Gothic"/>
                        </a:rPr>
                        <a:t>빈곤층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t>27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9611" y="1208885"/>
            <a:ext cx="44634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&lt;표</a:t>
            </a:r>
            <a:r>
              <a:rPr spc="265" dirty="0"/>
              <a:t> </a:t>
            </a:r>
            <a:r>
              <a:rPr spc="-85" dirty="0"/>
              <a:t>3&gt;</a:t>
            </a:r>
            <a:r>
              <a:rPr spc="275" dirty="0"/>
              <a:t> </a:t>
            </a:r>
            <a:r>
              <a:rPr spc="-5" dirty="0"/>
              <a:t>우리나라의</a:t>
            </a:r>
            <a:r>
              <a:rPr spc="270" dirty="0"/>
              <a:t> </a:t>
            </a:r>
            <a:r>
              <a:rPr spc="15" dirty="0"/>
              <a:t>사회보험(2016년)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64665"/>
              </p:ext>
            </p:extLst>
          </p:nvPr>
        </p:nvGraphicFramePr>
        <p:xfrm>
          <a:off x="1113586" y="1750898"/>
          <a:ext cx="8481058" cy="40060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0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8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4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77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0918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35255">
                        <a:lnSpc>
                          <a:spcPct val="100000"/>
                        </a:lnSpc>
                      </a:pPr>
                      <a:r>
                        <a:rPr sz="1600" b="1" spc="-155" dirty="0">
                          <a:latin typeface="Malgun Gothic"/>
                          <a:cs typeface="Malgun Gothic"/>
                        </a:rPr>
                        <a:t>국민연금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600" b="1" spc="-155" dirty="0">
                          <a:latin typeface="Malgun Gothic"/>
                          <a:cs typeface="Malgun Gothic"/>
                        </a:rPr>
                        <a:t>고용보험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78130">
                        <a:lnSpc>
                          <a:spcPct val="100000"/>
                        </a:lnSpc>
                      </a:pPr>
                      <a:r>
                        <a:rPr sz="1600" b="1" spc="-155" dirty="0">
                          <a:latin typeface="Malgun Gothic"/>
                          <a:cs typeface="Malgun Gothic"/>
                        </a:rPr>
                        <a:t>산재보험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20345">
                        <a:lnSpc>
                          <a:spcPct val="100000"/>
                        </a:lnSpc>
                      </a:pPr>
                      <a:r>
                        <a:rPr sz="1600" b="1" spc="-155" dirty="0">
                          <a:latin typeface="Malgun Gothic"/>
                          <a:cs typeface="Malgun Gothic"/>
                        </a:rPr>
                        <a:t>건강보험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93040" marR="189865">
                        <a:lnSpc>
                          <a:spcPct val="133100"/>
                        </a:lnSpc>
                        <a:spcBef>
                          <a:spcPts val="414"/>
                        </a:spcBef>
                      </a:pPr>
                      <a:r>
                        <a:rPr sz="1600" b="1" spc="-40" dirty="0">
                          <a:latin typeface="Malgun Gothic"/>
                          <a:cs typeface="Malgun Gothic"/>
                        </a:rPr>
                        <a:t>노인</a:t>
                      </a:r>
                      <a:r>
                        <a:rPr sz="1600" b="1" spc="-30" dirty="0">
                          <a:latin typeface="Malgun Gothic"/>
                          <a:cs typeface="Malgun Gothic"/>
                        </a:rPr>
                        <a:t>장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기  </a:t>
                      </a:r>
                      <a:r>
                        <a:rPr sz="1600" b="1" spc="-40" dirty="0">
                          <a:latin typeface="Malgun Gothic"/>
                          <a:cs typeface="Malgun Gothic"/>
                        </a:rPr>
                        <a:t>요양</a:t>
                      </a:r>
                      <a:r>
                        <a:rPr sz="1600" b="1" spc="-30" dirty="0">
                          <a:latin typeface="Malgun Gothic"/>
                          <a:cs typeface="Malgun Gothic"/>
                        </a:rPr>
                        <a:t>보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험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527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0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ts val="1820"/>
                        </a:lnSpc>
                      </a:pPr>
                      <a:r>
                        <a:rPr sz="1600" b="1" spc="-145" dirty="0">
                          <a:latin typeface="Malgun Gothic"/>
                          <a:cs typeface="Malgun Gothic"/>
                        </a:rPr>
                        <a:t>실업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  <a:p>
                      <a:pPr marL="219075">
                        <a:lnSpc>
                          <a:spcPts val="1885"/>
                        </a:lnSpc>
                        <a:spcBef>
                          <a:spcPts val="645"/>
                        </a:spcBef>
                      </a:pPr>
                      <a:r>
                        <a:rPr sz="1600" b="1" spc="-145" dirty="0">
                          <a:latin typeface="Malgun Gothic"/>
                          <a:cs typeface="Malgun Gothic"/>
                        </a:rPr>
                        <a:t>급여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</a:pPr>
                      <a:r>
                        <a:rPr sz="1600" b="1" spc="-155" dirty="0">
                          <a:latin typeface="Malgun Gothic"/>
                          <a:cs typeface="Malgun Gothic"/>
                        </a:rPr>
                        <a:t>고용안정사업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  <a:p>
                      <a:pPr algn="ctr">
                        <a:lnSpc>
                          <a:spcPts val="1885"/>
                        </a:lnSpc>
                        <a:spcBef>
                          <a:spcPts val="645"/>
                        </a:spcBef>
                      </a:pPr>
                      <a:r>
                        <a:rPr sz="1600" b="1" spc="-160" dirty="0">
                          <a:latin typeface="Malgun Gothic"/>
                          <a:cs typeface="Malgun Gothic"/>
                        </a:rPr>
                        <a:t>직업능력개발사업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27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931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600" b="1" spc="-155" dirty="0">
                          <a:latin typeface="Malgun Gothic"/>
                          <a:cs typeface="Malgun Gothic"/>
                        </a:rPr>
                        <a:t>직장가입자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909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600" b="1" spc="-105" dirty="0">
                          <a:latin typeface="Malgun Gothic"/>
                          <a:cs typeface="Malgun Gothic"/>
                        </a:rPr>
                        <a:t>9%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600" b="1" spc="-75" dirty="0">
                          <a:latin typeface="Malgun Gothic"/>
                          <a:cs typeface="Malgun Gothic"/>
                        </a:rPr>
                        <a:t>1.3%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600" b="1" spc="-75" dirty="0">
                          <a:latin typeface="Malgun Gothic"/>
                          <a:cs typeface="Malgun Gothic"/>
                        </a:rPr>
                        <a:t>0.25～0.85%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600" b="1" spc="-75" dirty="0">
                          <a:latin typeface="Malgun Gothic"/>
                          <a:cs typeface="Malgun Gothic"/>
                        </a:rPr>
                        <a:t>0.7～34.0%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600" b="1" spc="-75" dirty="0">
                          <a:latin typeface="Malgun Gothic"/>
                          <a:cs typeface="Malgun Gothic"/>
                        </a:rPr>
                        <a:t>6.12%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600" b="1" spc="-75" dirty="0">
                          <a:latin typeface="Malgun Gothic"/>
                          <a:cs typeface="Malgun Gothic"/>
                        </a:rPr>
                        <a:t>0.40086%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92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550" dirty="0">
                        <a:latin typeface="Times New Roman"/>
                        <a:cs typeface="Times New Roman"/>
                      </a:endParaRPr>
                    </a:p>
                    <a:p>
                      <a:pPr marL="337820" marR="340360">
                        <a:lnSpc>
                          <a:spcPct val="133700"/>
                        </a:lnSpc>
                      </a:pPr>
                      <a:r>
                        <a:rPr sz="1600" b="1" spc="-40" dirty="0">
                          <a:latin typeface="Malgun Gothic"/>
                          <a:cs typeface="Malgun Gothic"/>
                        </a:rPr>
                        <a:t>사</a:t>
                      </a:r>
                      <a:r>
                        <a:rPr lang="ko-KR" altLang="en-US" sz="1600" b="1" spc="-30" dirty="0">
                          <a:latin typeface="Malgun Gothic"/>
                          <a:cs typeface="Malgun Gothic"/>
                        </a:rPr>
                        <a:t>업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주  </a:t>
                      </a:r>
                      <a:r>
                        <a:rPr sz="1600" b="1" spc="-40" dirty="0">
                          <a:latin typeface="Malgun Gothic"/>
                          <a:cs typeface="Malgun Gothic"/>
                        </a:rPr>
                        <a:t>근</a:t>
                      </a:r>
                      <a:r>
                        <a:rPr sz="1600" b="1" spc="-30" dirty="0">
                          <a:latin typeface="Malgun Gothic"/>
                          <a:cs typeface="Malgun Gothic"/>
                        </a:rPr>
                        <a:t>로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자</a:t>
                      </a:r>
                      <a:endParaRPr sz="16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288925">
                        <a:lnSpc>
                          <a:spcPct val="100000"/>
                        </a:lnSpc>
                      </a:pPr>
                      <a:r>
                        <a:rPr sz="1600" b="1" spc="-75" dirty="0">
                          <a:latin typeface="Malgun Gothic"/>
                          <a:cs typeface="Malgun Gothic"/>
                        </a:rPr>
                        <a:t>4.5%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  <a:p>
                      <a:pPr marL="28892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b="1" spc="-75" dirty="0">
                          <a:latin typeface="Malgun Gothic"/>
                          <a:cs typeface="Malgun Gothic"/>
                        </a:rPr>
                        <a:t>4.5%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133350">
                        <a:lnSpc>
                          <a:spcPct val="100000"/>
                        </a:lnSpc>
                      </a:pPr>
                      <a:r>
                        <a:rPr sz="1600" b="1" spc="-75" dirty="0">
                          <a:latin typeface="Malgun Gothic"/>
                          <a:cs typeface="Malgun Gothic"/>
                        </a:rPr>
                        <a:t>0.65%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  <a:p>
                      <a:pPr marL="13335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b="1" spc="-75" dirty="0">
                          <a:latin typeface="Malgun Gothic"/>
                          <a:cs typeface="Malgun Gothic"/>
                        </a:rPr>
                        <a:t>0.65%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-55" dirty="0">
                          <a:latin typeface="Malgun Gothic"/>
                          <a:cs typeface="Malgun Gothic"/>
                        </a:rPr>
                        <a:t>0.25</a:t>
                      </a:r>
                      <a:r>
                        <a:rPr sz="1600" spc="-165" dirty="0">
                          <a:latin typeface="MS UI Gothic"/>
                          <a:cs typeface="MS UI Gothic"/>
                        </a:rPr>
                        <a:t>〜</a:t>
                      </a:r>
                      <a:r>
                        <a:rPr sz="1600" b="1" spc="-75" dirty="0">
                          <a:latin typeface="Malgun Gothic"/>
                          <a:cs typeface="Malgun Gothic"/>
                        </a:rPr>
                        <a:t>0.85%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b="1" dirty="0">
                          <a:latin typeface="Malgun Gothic"/>
                          <a:cs typeface="Malgun Gothic"/>
                        </a:rPr>
                        <a:t>-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-50" dirty="0">
                          <a:latin typeface="Malgun Gothic"/>
                          <a:cs typeface="Malgun Gothic"/>
                        </a:rPr>
                        <a:t>0.7</a:t>
                      </a:r>
                      <a:r>
                        <a:rPr sz="1600" spc="-155" dirty="0">
                          <a:latin typeface="MS UI Gothic"/>
                          <a:cs typeface="MS UI Gothic"/>
                        </a:rPr>
                        <a:t>〜</a:t>
                      </a:r>
                      <a:r>
                        <a:rPr sz="1600" b="1" spc="-75" dirty="0">
                          <a:latin typeface="Malgun Gothic"/>
                          <a:cs typeface="Malgun Gothic"/>
                        </a:rPr>
                        <a:t>34.0%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b="1" dirty="0">
                          <a:latin typeface="Malgun Gothic"/>
                          <a:cs typeface="Malgun Gothic"/>
                        </a:rPr>
                        <a:t>-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319405">
                        <a:lnSpc>
                          <a:spcPct val="100000"/>
                        </a:lnSpc>
                      </a:pPr>
                      <a:r>
                        <a:rPr sz="1600" b="1" spc="-75" dirty="0">
                          <a:latin typeface="Malgun Gothic"/>
                          <a:cs typeface="Malgun Gothic"/>
                        </a:rPr>
                        <a:t>3.06%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  <a:p>
                      <a:pPr marL="31940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b="1" spc="-75" dirty="0">
                          <a:latin typeface="Malgun Gothic"/>
                          <a:cs typeface="Malgun Gothic"/>
                        </a:rPr>
                        <a:t>3.06%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127635">
                        <a:lnSpc>
                          <a:spcPct val="100000"/>
                        </a:lnSpc>
                      </a:pPr>
                      <a:r>
                        <a:rPr sz="1600" b="1" spc="-75" dirty="0">
                          <a:latin typeface="Malgun Gothic"/>
                          <a:cs typeface="Malgun Gothic"/>
                        </a:rPr>
                        <a:t>0.20043%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  <a:p>
                      <a:pPr marL="12763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b="1" spc="-75" dirty="0">
                          <a:latin typeface="Malgun Gothic"/>
                          <a:cs typeface="Malgun Gothic"/>
                        </a:rPr>
                        <a:t>0.20043%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35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600" b="1" spc="-155" dirty="0">
                          <a:latin typeface="Malgun Gothic"/>
                          <a:cs typeface="Malgun Gothic"/>
                        </a:rPr>
                        <a:t>지역가입자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marL="369570">
                        <a:lnSpc>
                          <a:spcPct val="100000"/>
                        </a:lnSpc>
                      </a:pPr>
                      <a:r>
                        <a:rPr sz="1600" b="1" spc="-105" dirty="0">
                          <a:latin typeface="Malgun Gothic"/>
                          <a:cs typeface="Malgun Gothic"/>
                        </a:rPr>
                        <a:t>9%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-75" dirty="0">
                          <a:latin typeface="Malgun Gothic"/>
                          <a:cs typeface="Malgun Gothic"/>
                        </a:rPr>
                        <a:t>2.00%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-75" dirty="0">
                          <a:latin typeface="Malgun Gothic"/>
                          <a:cs typeface="Malgun Gothic"/>
                        </a:rPr>
                        <a:t>0.25%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Malgun Gothic"/>
                          <a:cs typeface="Malgun Gothic"/>
                        </a:rPr>
                        <a:t>-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0825" marR="127000" indent="-121920">
                        <a:lnSpc>
                          <a:spcPct val="133100"/>
                        </a:lnSpc>
                        <a:spcBef>
                          <a:spcPts val="795"/>
                        </a:spcBef>
                      </a:pPr>
                      <a:r>
                        <a:rPr sz="1600" b="1" spc="-40" dirty="0">
                          <a:latin typeface="Malgun Gothic"/>
                          <a:cs typeface="Malgun Gothic"/>
                        </a:rPr>
                        <a:t>부</a:t>
                      </a:r>
                      <a:r>
                        <a:rPr sz="1600" b="1" spc="-30" dirty="0">
                          <a:latin typeface="Malgun Gothic"/>
                          <a:cs typeface="Malgun Gothic"/>
                        </a:rPr>
                        <a:t>과</a:t>
                      </a:r>
                      <a:r>
                        <a:rPr sz="1600" b="1" spc="-40" dirty="0">
                          <a:latin typeface="Malgun Gothic"/>
                          <a:cs typeface="Malgun Gothic"/>
                        </a:rPr>
                        <a:t>점수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당  </a:t>
                      </a:r>
                      <a:r>
                        <a:rPr sz="1600" b="1" spc="-70" dirty="0">
                          <a:latin typeface="Malgun Gothic"/>
                          <a:cs typeface="Malgun Gothic"/>
                        </a:rPr>
                        <a:t>179.6원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100" marR="98425" indent="-190500">
                        <a:lnSpc>
                          <a:spcPct val="133100"/>
                        </a:lnSpc>
                        <a:spcBef>
                          <a:spcPts val="795"/>
                        </a:spcBef>
                      </a:pPr>
                      <a:r>
                        <a:rPr sz="1600" b="1" spc="-40" dirty="0">
                          <a:latin typeface="Malgun Gothic"/>
                          <a:cs typeface="Malgun Gothic"/>
                        </a:rPr>
                        <a:t>건강</a:t>
                      </a:r>
                      <a:r>
                        <a:rPr sz="1600" b="1" spc="-30" dirty="0">
                          <a:latin typeface="Malgun Gothic"/>
                          <a:cs typeface="Malgun Gothic"/>
                        </a:rPr>
                        <a:t>보</a:t>
                      </a:r>
                      <a:r>
                        <a:rPr sz="1600" b="1" spc="-40" dirty="0">
                          <a:latin typeface="Malgun Gothic"/>
                          <a:cs typeface="Malgun Gothic"/>
                        </a:rPr>
                        <a:t>험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료  </a:t>
                      </a:r>
                      <a:r>
                        <a:rPr sz="1600" b="1" spc="-75" dirty="0">
                          <a:latin typeface="Malgun Gothic"/>
                          <a:cs typeface="Malgun Gothic"/>
                        </a:rPr>
                        <a:t>6.55%</a:t>
                      </a:r>
                      <a:endParaRPr sz="1600" dirty="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66636" y="5611774"/>
            <a:ext cx="8548370" cy="706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445" marR="5080" indent="-373380">
              <a:lnSpc>
                <a:spcPct val="107900"/>
              </a:lnSpc>
              <a:spcBef>
                <a:spcPts val="100"/>
              </a:spcBef>
            </a:pPr>
            <a:r>
              <a:rPr sz="1000" spc="-10" dirty="0">
                <a:latin typeface="Malgun Gothic"/>
                <a:cs typeface="Malgun Gothic"/>
              </a:rPr>
              <a:t>주</a:t>
            </a:r>
            <a:r>
              <a:rPr sz="1000" spc="190" dirty="0">
                <a:latin typeface="Malgun Gothic"/>
                <a:cs typeface="Malgun Gothic"/>
              </a:rPr>
              <a:t> </a:t>
            </a:r>
            <a:r>
              <a:rPr sz="1000" spc="70" dirty="0">
                <a:latin typeface="Malgun Gothic"/>
                <a:cs typeface="Malgun Gothic"/>
              </a:rPr>
              <a:t>1:</a:t>
            </a:r>
            <a:r>
              <a:rPr sz="1000" spc="195" dirty="0">
                <a:latin typeface="Malgun Gothic"/>
                <a:cs typeface="Malgun Gothic"/>
              </a:rPr>
              <a:t> </a:t>
            </a:r>
            <a:r>
              <a:rPr sz="1000" spc="5" dirty="0">
                <a:latin typeface="Malgun Gothic"/>
                <a:cs typeface="Malgun Gothic"/>
              </a:rPr>
              <a:t>고용안정사업·직업능력개발사업의</a:t>
            </a:r>
            <a:r>
              <a:rPr sz="1000" spc="195" dirty="0">
                <a:latin typeface="Malgun Gothic"/>
                <a:cs typeface="Malgun Gothic"/>
              </a:rPr>
              <a:t> </a:t>
            </a:r>
            <a:r>
              <a:rPr sz="1000" spc="-5" dirty="0">
                <a:latin typeface="Malgun Gothic"/>
                <a:cs typeface="Malgun Gothic"/>
              </a:rPr>
              <a:t>고용보험료율은</a:t>
            </a:r>
            <a:r>
              <a:rPr sz="1000" spc="190" dirty="0">
                <a:latin typeface="Malgun Gothic"/>
                <a:cs typeface="Malgun Gothic"/>
              </a:rPr>
              <a:t> </a:t>
            </a:r>
            <a:r>
              <a:rPr sz="1000" spc="-5" dirty="0">
                <a:latin typeface="Malgun Gothic"/>
                <a:cs typeface="Malgun Gothic"/>
              </a:rPr>
              <a:t>상시근로자</a:t>
            </a:r>
            <a:r>
              <a:rPr sz="1000" spc="200" dirty="0">
                <a:latin typeface="Malgun Gothic"/>
                <a:cs typeface="Malgun Gothic"/>
              </a:rPr>
              <a:t> </a:t>
            </a:r>
            <a:r>
              <a:rPr sz="1000" spc="30" dirty="0">
                <a:latin typeface="Malgun Gothic"/>
                <a:cs typeface="Malgun Gothic"/>
              </a:rPr>
              <a:t>150인</a:t>
            </a:r>
            <a:r>
              <a:rPr sz="1000" spc="195" dirty="0">
                <a:latin typeface="Malgun Gothic"/>
                <a:cs typeface="Malgun Gothic"/>
              </a:rPr>
              <a:t> </a:t>
            </a:r>
            <a:r>
              <a:rPr sz="1000" spc="40" dirty="0">
                <a:latin typeface="Malgun Gothic"/>
                <a:cs typeface="Malgun Gothic"/>
              </a:rPr>
              <a:t>미만(0.25%),</a:t>
            </a:r>
            <a:r>
              <a:rPr sz="1000" spc="185" dirty="0">
                <a:latin typeface="Malgun Gothic"/>
                <a:cs typeface="Malgun Gothic"/>
              </a:rPr>
              <a:t> </a:t>
            </a:r>
            <a:r>
              <a:rPr sz="1000" spc="-5" dirty="0">
                <a:latin typeface="Malgun Gothic"/>
                <a:cs typeface="Malgun Gothic"/>
              </a:rPr>
              <a:t>상시근로자</a:t>
            </a:r>
            <a:r>
              <a:rPr sz="1000" spc="190" dirty="0">
                <a:latin typeface="Malgun Gothic"/>
                <a:cs typeface="Malgun Gothic"/>
              </a:rPr>
              <a:t> </a:t>
            </a:r>
            <a:r>
              <a:rPr sz="1000" spc="30" dirty="0">
                <a:latin typeface="Malgun Gothic"/>
                <a:cs typeface="Malgun Gothic"/>
              </a:rPr>
              <a:t>150인</a:t>
            </a:r>
            <a:r>
              <a:rPr sz="1000" spc="204" dirty="0">
                <a:latin typeface="Malgun Gothic"/>
                <a:cs typeface="Malgun Gothic"/>
              </a:rPr>
              <a:t> </a:t>
            </a:r>
            <a:r>
              <a:rPr sz="1000" spc="-5" dirty="0">
                <a:latin typeface="Malgun Gothic"/>
                <a:cs typeface="Malgun Gothic"/>
              </a:rPr>
              <a:t>이상으로</a:t>
            </a:r>
            <a:r>
              <a:rPr sz="1000" spc="190" dirty="0">
                <a:latin typeface="Malgun Gothic"/>
                <a:cs typeface="Malgun Gothic"/>
              </a:rPr>
              <a:t> </a:t>
            </a:r>
            <a:r>
              <a:rPr sz="1000" spc="20" dirty="0">
                <a:latin typeface="Malgun Gothic"/>
                <a:cs typeface="Malgun Gothic"/>
              </a:rPr>
              <a:t>우선지원대상기업(0.45%), </a:t>
            </a:r>
            <a:r>
              <a:rPr sz="1000" spc="-335" dirty="0">
                <a:latin typeface="Malgun Gothic"/>
                <a:cs typeface="Malgun Gothic"/>
              </a:rPr>
              <a:t> </a:t>
            </a:r>
            <a:r>
              <a:rPr sz="1000" spc="-5" dirty="0">
                <a:latin typeface="Malgun Gothic"/>
                <a:cs typeface="Malgun Gothic"/>
              </a:rPr>
              <a:t>상시근로자</a:t>
            </a:r>
            <a:r>
              <a:rPr sz="1000" spc="150" dirty="0">
                <a:latin typeface="Malgun Gothic"/>
                <a:cs typeface="Malgun Gothic"/>
              </a:rPr>
              <a:t> </a:t>
            </a:r>
            <a:r>
              <a:rPr sz="1000" spc="30" dirty="0">
                <a:latin typeface="Malgun Gothic"/>
                <a:cs typeface="Malgun Gothic"/>
              </a:rPr>
              <a:t>1000인</a:t>
            </a:r>
            <a:r>
              <a:rPr sz="1000" spc="150" dirty="0">
                <a:latin typeface="Malgun Gothic"/>
                <a:cs typeface="Malgun Gothic"/>
              </a:rPr>
              <a:t> </a:t>
            </a:r>
            <a:r>
              <a:rPr sz="1000" spc="-10" dirty="0">
                <a:latin typeface="Malgun Gothic"/>
                <a:cs typeface="Malgun Gothic"/>
              </a:rPr>
              <a:t>미만</a:t>
            </a:r>
            <a:r>
              <a:rPr sz="1000" spc="155" dirty="0">
                <a:latin typeface="Malgun Gothic"/>
                <a:cs typeface="Malgun Gothic"/>
              </a:rPr>
              <a:t> </a:t>
            </a:r>
            <a:r>
              <a:rPr sz="1000" spc="-5" dirty="0">
                <a:latin typeface="Malgun Gothic"/>
                <a:cs typeface="Malgun Gothic"/>
              </a:rPr>
              <a:t>우선지원대상기업</a:t>
            </a:r>
            <a:r>
              <a:rPr sz="1000" spc="150" dirty="0">
                <a:latin typeface="Malgun Gothic"/>
                <a:cs typeface="Malgun Gothic"/>
              </a:rPr>
              <a:t> </a:t>
            </a:r>
            <a:r>
              <a:rPr sz="1000" spc="30" dirty="0">
                <a:latin typeface="Malgun Gothic"/>
                <a:cs typeface="Malgun Gothic"/>
              </a:rPr>
              <a:t>제외업체(0.65%),</a:t>
            </a:r>
            <a:r>
              <a:rPr sz="1000" spc="145" dirty="0">
                <a:latin typeface="Malgun Gothic"/>
                <a:cs typeface="Malgun Gothic"/>
              </a:rPr>
              <a:t> </a:t>
            </a:r>
            <a:r>
              <a:rPr sz="1000" spc="-5" dirty="0">
                <a:latin typeface="Malgun Gothic"/>
                <a:cs typeface="Malgun Gothic"/>
              </a:rPr>
              <a:t>상시근로자</a:t>
            </a:r>
            <a:r>
              <a:rPr sz="1000" spc="155" dirty="0">
                <a:latin typeface="Malgun Gothic"/>
                <a:cs typeface="Malgun Gothic"/>
              </a:rPr>
              <a:t> </a:t>
            </a:r>
            <a:r>
              <a:rPr sz="1000" spc="30" dirty="0">
                <a:latin typeface="Malgun Gothic"/>
                <a:cs typeface="Malgun Gothic"/>
              </a:rPr>
              <a:t>1000인</a:t>
            </a:r>
            <a:r>
              <a:rPr sz="1000" spc="150" dirty="0">
                <a:latin typeface="Malgun Gothic"/>
                <a:cs typeface="Malgun Gothic"/>
              </a:rPr>
              <a:t> </a:t>
            </a:r>
            <a:r>
              <a:rPr sz="1000" spc="35" dirty="0">
                <a:latin typeface="Malgun Gothic"/>
                <a:cs typeface="Malgun Gothic"/>
              </a:rPr>
              <a:t>이상(0.85%)</a:t>
            </a:r>
            <a:endParaRPr sz="1000">
              <a:latin typeface="Malgun Gothic"/>
              <a:cs typeface="Malgun Gothic"/>
            </a:endParaRPr>
          </a:p>
          <a:p>
            <a:pPr marL="202565">
              <a:lnSpc>
                <a:spcPct val="100000"/>
              </a:lnSpc>
              <a:spcBef>
                <a:spcPts val="95"/>
              </a:spcBef>
            </a:pPr>
            <a:r>
              <a:rPr sz="1000" spc="70" dirty="0">
                <a:latin typeface="Malgun Gothic"/>
                <a:cs typeface="Malgun Gothic"/>
              </a:rPr>
              <a:t>2:</a:t>
            </a:r>
            <a:r>
              <a:rPr sz="1000" spc="155" dirty="0">
                <a:latin typeface="Malgun Gothic"/>
                <a:cs typeface="Malgun Gothic"/>
              </a:rPr>
              <a:t> </a:t>
            </a:r>
            <a:r>
              <a:rPr sz="1000" spc="10" dirty="0">
                <a:latin typeface="Malgun Gothic"/>
                <a:cs typeface="Malgun Gothic"/>
              </a:rPr>
              <a:t>국민연금,</a:t>
            </a:r>
            <a:r>
              <a:rPr sz="1000" spc="150" dirty="0">
                <a:latin typeface="Malgun Gothic"/>
                <a:cs typeface="Malgun Gothic"/>
              </a:rPr>
              <a:t> </a:t>
            </a:r>
            <a:r>
              <a:rPr sz="1000" spc="10" dirty="0">
                <a:latin typeface="Malgun Gothic"/>
                <a:cs typeface="Malgun Gothic"/>
              </a:rPr>
              <a:t>건강보험,</a:t>
            </a:r>
            <a:r>
              <a:rPr sz="1000" spc="150" dirty="0">
                <a:latin typeface="Malgun Gothic"/>
                <a:cs typeface="Malgun Gothic"/>
              </a:rPr>
              <a:t> </a:t>
            </a:r>
            <a:r>
              <a:rPr sz="1000" spc="10" dirty="0">
                <a:latin typeface="Malgun Gothic"/>
                <a:cs typeface="Malgun Gothic"/>
              </a:rPr>
              <a:t>고용·산재보험의</a:t>
            </a:r>
            <a:r>
              <a:rPr sz="1000" spc="150" dirty="0">
                <a:latin typeface="Malgun Gothic"/>
                <a:cs typeface="Malgun Gothic"/>
              </a:rPr>
              <a:t> </a:t>
            </a:r>
            <a:r>
              <a:rPr sz="1000" spc="-5" dirty="0">
                <a:latin typeface="Malgun Gothic"/>
                <a:cs typeface="Malgun Gothic"/>
              </a:rPr>
              <a:t>기준소득은</a:t>
            </a:r>
            <a:r>
              <a:rPr sz="1000" spc="155" dirty="0">
                <a:latin typeface="Malgun Gothic"/>
                <a:cs typeface="Malgun Gothic"/>
              </a:rPr>
              <a:t> </a:t>
            </a:r>
            <a:r>
              <a:rPr sz="1000" spc="-10" dirty="0">
                <a:latin typeface="Malgun Gothic"/>
                <a:cs typeface="Malgun Gothic"/>
              </a:rPr>
              <a:t>각각</a:t>
            </a:r>
            <a:r>
              <a:rPr sz="1000" spc="155" dirty="0">
                <a:latin typeface="Malgun Gothic"/>
                <a:cs typeface="Malgun Gothic"/>
              </a:rPr>
              <a:t> </a:t>
            </a:r>
            <a:r>
              <a:rPr sz="1000" spc="5" dirty="0">
                <a:latin typeface="Malgun Gothic"/>
                <a:cs typeface="Malgun Gothic"/>
              </a:rPr>
              <a:t>기준소득월액,</a:t>
            </a:r>
            <a:r>
              <a:rPr sz="1000" spc="145" dirty="0">
                <a:latin typeface="Malgun Gothic"/>
                <a:cs typeface="Malgun Gothic"/>
              </a:rPr>
              <a:t> </a:t>
            </a:r>
            <a:r>
              <a:rPr sz="1000" spc="10" dirty="0">
                <a:latin typeface="Malgun Gothic"/>
                <a:cs typeface="Malgun Gothic"/>
              </a:rPr>
              <a:t>보수월액,</a:t>
            </a:r>
            <a:r>
              <a:rPr sz="1000" spc="150" dirty="0">
                <a:latin typeface="Malgun Gothic"/>
                <a:cs typeface="Malgun Gothic"/>
              </a:rPr>
              <a:t> </a:t>
            </a:r>
            <a:r>
              <a:rPr sz="1000" spc="-5" dirty="0">
                <a:latin typeface="Malgun Gothic"/>
                <a:cs typeface="Malgun Gothic"/>
              </a:rPr>
              <a:t>월평균보수임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000" spc="35" dirty="0">
                <a:latin typeface="Malgun Gothic"/>
                <a:cs typeface="Malgun Gothic"/>
              </a:rPr>
              <a:t>자료:</a:t>
            </a:r>
            <a:r>
              <a:rPr sz="1000" spc="140" dirty="0">
                <a:latin typeface="Malgun Gothic"/>
                <a:cs typeface="Malgun Gothic"/>
              </a:rPr>
              <a:t> </a:t>
            </a:r>
            <a:r>
              <a:rPr sz="1000" spc="5" dirty="0">
                <a:latin typeface="Malgun Gothic"/>
                <a:cs typeface="Malgun Gothic"/>
              </a:rPr>
              <a:t>국민연금공단,</a:t>
            </a:r>
            <a:r>
              <a:rPr sz="1000" spc="145" dirty="0">
                <a:latin typeface="Malgun Gothic"/>
                <a:cs typeface="Malgun Gothic"/>
              </a:rPr>
              <a:t> </a:t>
            </a:r>
            <a:r>
              <a:rPr sz="1000" spc="5" dirty="0">
                <a:latin typeface="Malgun Gothic"/>
                <a:cs typeface="Malgun Gothic"/>
              </a:rPr>
              <a:t>근로복지공단,</a:t>
            </a:r>
            <a:r>
              <a:rPr sz="1000" spc="145" dirty="0">
                <a:latin typeface="Malgun Gothic"/>
                <a:cs typeface="Malgun Gothic"/>
              </a:rPr>
              <a:t> </a:t>
            </a:r>
            <a:r>
              <a:rPr sz="1000" spc="-5" dirty="0">
                <a:latin typeface="Malgun Gothic"/>
                <a:cs typeface="Malgun Gothic"/>
              </a:rPr>
              <a:t>국민건강보험공단</a:t>
            </a:r>
            <a:r>
              <a:rPr sz="1000" spc="150" dirty="0">
                <a:latin typeface="Malgun Gothic"/>
                <a:cs typeface="Malgun Gothic"/>
              </a:rPr>
              <a:t> </a:t>
            </a:r>
            <a:r>
              <a:rPr sz="1000" spc="10" dirty="0">
                <a:latin typeface="Malgun Gothic"/>
                <a:cs typeface="Malgun Gothic"/>
              </a:rPr>
              <a:t>홈페이지,</a:t>
            </a:r>
            <a:endParaRPr sz="1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2209</Words>
  <Application>Microsoft Office PowerPoint</Application>
  <PresentationFormat>사용자 지정</PresentationFormat>
  <Paragraphs>444</Paragraphs>
  <Slides>27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4" baseType="lpstr">
      <vt:lpstr>Arial MT</vt:lpstr>
      <vt:lpstr>MS UI Gothic</vt:lpstr>
      <vt:lpstr>Malgun Gothic</vt:lpstr>
      <vt:lpstr>Malgun Gothic</vt:lpstr>
      <vt:lpstr>Calibri</vt:lpstr>
      <vt:lpstr>Times New Roman</vt:lpstr>
      <vt:lpstr>Office Theme</vt:lpstr>
      <vt:lpstr>제3강. 복지국가의 역사 : 영국을 중심으로</vt:lpstr>
      <vt:lpstr>제1절. 초기 시대</vt:lpstr>
      <vt:lpstr>PowerPoint 프레젠테이션</vt:lpstr>
      <vt:lpstr>2) 수정구빈법(1834)</vt:lpstr>
      <vt:lpstr>PowerPoint 프레젠테이션</vt:lpstr>
      <vt:lpstr>PowerPoint 프레젠테이션</vt:lpstr>
      <vt:lpstr>PowerPoint 프레젠테이션</vt:lpstr>
      <vt:lpstr>제2절. 자유당의 개혁</vt:lpstr>
      <vt:lpstr>2. 새로운 법안들</vt:lpstr>
      <vt:lpstr>PowerPoint 프레젠테이션</vt:lpstr>
      <vt:lpstr>제3절. 제1, 2차 세계대전 사이</vt:lpstr>
      <vt:lpstr>2. 실업보험</vt:lpstr>
      <vt:lpstr>2) 1931년의 경제적 위기와 급여삭감</vt:lpstr>
      <vt:lpstr>PowerPoint 프레젠테이션</vt:lpstr>
      <vt:lpstr>제4절 제2차 세계대전과 그 이후</vt:lpstr>
      <vt:lpstr>PowerPoint 프레젠테이션</vt:lpstr>
      <vt:lpstr>PowerPoint 프레젠테이션</vt:lpstr>
      <vt:lpstr>제5절 전후 영국 복지국가의 발전</vt:lpstr>
      <vt:lpstr>PowerPoint 프레젠테이션</vt:lpstr>
      <vt:lpstr>2. 긴축의 시도(대처리즘)</vt:lpstr>
      <vt:lpstr>3. 1997년 이후(신노동당)</vt:lpstr>
      <vt:lpstr>제6절 결론</vt:lpstr>
      <vt:lpstr>PowerPoint 프레젠테이션</vt:lpstr>
      <vt:lpstr>2. 무엇이 창조되었는가?</vt:lpstr>
      <vt:lpstr>&lt;표 1&gt; 복지국가의 유형과 제도적 특징</vt:lpstr>
      <vt:lpstr>&lt;표 2&gt; 우리나라 사회보험 및 사회부조</vt:lpstr>
      <vt:lpstr>&lt;표 3&gt; 우리나라의 사회보험(2016년)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노동주</cp:lastModifiedBy>
  <cp:revision>1</cp:revision>
  <dcterms:created xsi:type="dcterms:W3CDTF">2024-09-19T06:01:50Z</dcterms:created>
  <dcterms:modified xsi:type="dcterms:W3CDTF">2024-09-19T07:10:14Z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Call PDF</vt:lpwstr>
  </property>
</Properties>
</file>