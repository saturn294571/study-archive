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906000" cy="6858000" type="A4"/>
  <p:notesSz cx="10020300" cy="6888163"/>
  <p:defaultTextStyle>
    <a:defPPr>
      <a:defRPr lang="ko-KR"/>
    </a:defPPr>
    <a:lvl1pPr marL="0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1pPr>
    <a:lvl2pPr marL="420258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2pPr>
    <a:lvl3pPr marL="840516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3pPr>
    <a:lvl4pPr marL="1260775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4pPr>
    <a:lvl5pPr marL="1681033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5pPr>
    <a:lvl6pPr marL="2101291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6pPr>
    <a:lvl7pPr marL="2521549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7pPr>
    <a:lvl8pPr marL="2941808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8pPr>
    <a:lvl9pPr marL="3362066" algn="l" defTabSz="840516" rtl="0" eaLnBrk="1" latinLnBrk="1" hangingPunct="1">
      <a:defRPr sz="165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58771" autoAdjust="0"/>
  </p:normalViewPr>
  <p:slideViewPr>
    <p:cSldViewPr>
      <p:cViewPr varScale="1">
        <p:scale>
          <a:sx n="56" d="100"/>
          <a:sy n="56" d="100"/>
        </p:scale>
        <p:origin x="2280" y="43"/>
      </p:cViewPr>
      <p:guideLst>
        <p:guide orient="horz" pos="2614"/>
        <p:guide pos="200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164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D715DA1-8A4A-0A51-606B-5408CC7B50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41435" cy="345856"/>
          </a:xfrm>
          <a:prstGeom prst="rect">
            <a:avLst/>
          </a:prstGeom>
        </p:spPr>
        <p:txBody>
          <a:bodyPr vert="horz" lIns="84774" tIns="42387" rIns="84774" bIns="42387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15F5AB-4548-0F97-8855-1A3EA5F97D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5887" y="0"/>
            <a:ext cx="4341435" cy="345856"/>
          </a:xfrm>
          <a:prstGeom prst="rect">
            <a:avLst/>
          </a:prstGeom>
        </p:spPr>
        <p:txBody>
          <a:bodyPr vert="horz" lIns="84774" tIns="42387" rIns="84774" bIns="42387" rtlCol="0"/>
          <a:lstStyle>
            <a:lvl1pPr algn="r">
              <a:defRPr sz="1100"/>
            </a:lvl1pPr>
          </a:lstStyle>
          <a:p>
            <a:fld id="{FD609019-2DF4-49DD-9630-F9598FF8932A}" type="datetimeFigureOut">
              <a:rPr lang="ko-KR" altLang="en-US" smtClean="0"/>
              <a:t>2024-09-15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369F88-50F3-2FF0-A2AF-5B0E578F0D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542308"/>
            <a:ext cx="4341435" cy="345855"/>
          </a:xfrm>
          <a:prstGeom prst="rect">
            <a:avLst/>
          </a:prstGeom>
        </p:spPr>
        <p:txBody>
          <a:bodyPr vert="horz" lIns="84774" tIns="42387" rIns="84774" bIns="42387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4F5E5F-2EF6-6D1D-57DF-1B6FBB02C1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5887" y="6542308"/>
            <a:ext cx="4341435" cy="345855"/>
          </a:xfrm>
          <a:prstGeom prst="rect">
            <a:avLst/>
          </a:prstGeom>
        </p:spPr>
        <p:txBody>
          <a:bodyPr vert="horz" lIns="84774" tIns="42387" rIns="84774" bIns="42387" rtlCol="0" anchor="b"/>
          <a:lstStyle>
            <a:lvl1pPr algn="r">
              <a:defRPr sz="1100"/>
            </a:lvl1pPr>
          </a:lstStyle>
          <a:p>
            <a:fld id="{B7227567-398F-4497-9F13-6A7DA4DD8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393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41435" cy="345856"/>
          </a:xfrm>
          <a:prstGeom prst="rect">
            <a:avLst/>
          </a:prstGeom>
        </p:spPr>
        <p:txBody>
          <a:bodyPr vert="horz" lIns="84774" tIns="42387" rIns="84774" bIns="42387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75887" y="0"/>
            <a:ext cx="4341435" cy="345856"/>
          </a:xfrm>
          <a:prstGeom prst="rect">
            <a:avLst/>
          </a:prstGeom>
        </p:spPr>
        <p:txBody>
          <a:bodyPr vert="horz" lIns="84774" tIns="42387" rIns="84774" bIns="42387" rtlCol="0"/>
          <a:lstStyle>
            <a:lvl1pPr algn="r">
              <a:defRPr sz="1100"/>
            </a:lvl1pPr>
          </a:lstStyle>
          <a:p>
            <a:fld id="{021FFDA1-79EB-4108-BD1A-77764D57BD31}" type="datetimeFigureOut">
              <a:rPr lang="ko-KR" altLang="en-US" smtClean="0"/>
              <a:t>2024-09-15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30575" y="860425"/>
            <a:ext cx="3359150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4774" tIns="42387" rIns="84774" bIns="4238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02329" y="3315291"/>
            <a:ext cx="8015644" cy="2711852"/>
          </a:xfrm>
          <a:prstGeom prst="rect">
            <a:avLst/>
          </a:prstGeom>
        </p:spPr>
        <p:txBody>
          <a:bodyPr vert="horz" lIns="84774" tIns="42387" rIns="84774" bIns="4238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542308"/>
            <a:ext cx="4341435" cy="345855"/>
          </a:xfrm>
          <a:prstGeom prst="rect">
            <a:avLst/>
          </a:prstGeom>
        </p:spPr>
        <p:txBody>
          <a:bodyPr vert="horz" lIns="84774" tIns="42387" rIns="84774" bIns="42387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75887" y="6542308"/>
            <a:ext cx="4341435" cy="345855"/>
          </a:xfrm>
          <a:prstGeom prst="rect">
            <a:avLst/>
          </a:prstGeom>
        </p:spPr>
        <p:txBody>
          <a:bodyPr vert="horz" lIns="84774" tIns="42387" rIns="84774" bIns="42387" rtlCol="0" anchor="b"/>
          <a:lstStyle>
            <a:lvl1pPr algn="r">
              <a:defRPr sz="1100"/>
            </a:lvl1pPr>
          </a:lstStyle>
          <a:p>
            <a:fld id="{B6A9E2DF-79AF-4391-A820-7909E0812D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29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1pPr>
    <a:lvl2pPr marL="420258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2pPr>
    <a:lvl3pPr marL="840516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3pPr>
    <a:lvl4pPr marL="1260775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4pPr>
    <a:lvl5pPr marL="1681033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5pPr>
    <a:lvl6pPr marL="2101291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6pPr>
    <a:lvl7pPr marL="2521549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7pPr>
    <a:lvl8pPr marL="2941808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8pPr>
    <a:lvl9pPr marL="3362066" algn="l" defTabSz="840516" rtl="0" eaLnBrk="1" latinLnBrk="1" hangingPunct="1">
      <a:defRPr sz="11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사회보장체계가 복지국가론에서 어떤 의미를 갖나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복지국가론 </a:t>
            </a:r>
            <a:r>
              <a:rPr lang="en-US" altLang="ko-KR" dirty="0"/>
              <a:t>: </a:t>
            </a:r>
            <a:r>
              <a:rPr lang="ko-KR" altLang="en-US" dirty="0"/>
              <a:t>탈 상품화</a:t>
            </a:r>
            <a:r>
              <a:rPr lang="en-US" altLang="ko-KR" dirty="0"/>
              <a:t>(</a:t>
            </a:r>
            <a:r>
              <a:rPr lang="en-US" altLang="ko-KR" dirty="0" err="1"/>
              <a:t>decommoditication</a:t>
            </a:r>
            <a:r>
              <a:rPr lang="en-US" altLang="ko-KR" dirty="0"/>
              <a:t>) -&gt; </a:t>
            </a:r>
            <a:r>
              <a:rPr lang="ko-KR" altLang="en-US" dirty="0"/>
              <a:t>자본주의</a:t>
            </a:r>
            <a:r>
              <a:rPr lang="en-US" altLang="ko-KR" dirty="0"/>
              <a:t> </a:t>
            </a:r>
            <a:r>
              <a:rPr lang="ko-KR" altLang="en-US" dirty="0"/>
              <a:t>핵심적인 특징</a:t>
            </a:r>
            <a:r>
              <a:rPr lang="en-US" altLang="ko-KR" dirty="0"/>
              <a:t>: </a:t>
            </a:r>
            <a:r>
              <a:rPr lang="ko-KR" altLang="en-US" dirty="0"/>
              <a:t>자본주의 체제하에선 노동력이 상품화 </a:t>
            </a:r>
            <a:r>
              <a:rPr lang="en-US" altLang="ko-KR" dirty="0"/>
              <a:t>; -&gt; </a:t>
            </a:r>
            <a:r>
              <a:rPr lang="ko-KR" altLang="en-US" dirty="0"/>
              <a:t>노동력을 판매하지 </a:t>
            </a:r>
            <a:r>
              <a:rPr lang="ko-KR" altLang="en-US" dirty="0" err="1"/>
              <a:t>않고선</a:t>
            </a:r>
            <a:r>
              <a:rPr lang="ko-KR" altLang="en-US" dirty="0"/>
              <a:t> 생계를 유지하기 </a:t>
            </a:r>
            <a:r>
              <a:rPr lang="ko-KR" altLang="en-US" dirty="0" err="1"/>
              <a:t>힘듬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탈상품화 </a:t>
            </a:r>
            <a:r>
              <a:rPr lang="en-US" altLang="ko-KR" dirty="0"/>
              <a:t>= </a:t>
            </a:r>
            <a:r>
              <a:rPr lang="ko-KR" altLang="en-US" dirty="0"/>
              <a:t>개인이 노동력을 판매하지 않고도 살 수 있는 것 </a:t>
            </a:r>
            <a:r>
              <a:rPr lang="en-US" altLang="ko-KR" dirty="0"/>
              <a:t>-&gt; </a:t>
            </a:r>
            <a:r>
              <a:rPr lang="ko-KR" altLang="en-US" dirty="0"/>
              <a:t>사민주의 복지국가</a:t>
            </a:r>
            <a:r>
              <a:rPr lang="en-US" altLang="ko-KR" dirty="0"/>
              <a:t>(</a:t>
            </a:r>
            <a:r>
              <a:rPr lang="ko-KR" altLang="en-US" dirty="0"/>
              <a:t>스웨덴</a:t>
            </a:r>
            <a:r>
              <a:rPr lang="en-US" altLang="ko-KR" dirty="0"/>
              <a:t>,</a:t>
            </a:r>
            <a:r>
              <a:rPr lang="ko-KR" altLang="en-US" dirty="0"/>
              <a:t> 노르웨이</a:t>
            </a:r>
            <a:r>
              <a:rPr lang="en-US" altLang="ko-KR" dirty="0"/>
              <a:t>, </a:t>
            </a:r>
            <a:r>
              <a:rPr lang="ko-KR" altLang="en-US" dirty="0"/>
              <a:t>핀란드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자유주의 복지국가</a:t>
            </a:r>
            <a:r>
              <a:rPr lang="en-US" altLang="ko-KR" dirty="0"/>
              <a:t>(</a:t>
            </a:r>
            <a:r>
              <a:rPr lang="ko-KR" altLang="en-US" dirty="0"/>
              <a:t>미 영 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보수주의 복지국가</a:t>
            </a:r>
            <a:r>
              <a:rPr lang="en-US" altLang="ko-KR" dirty="0"/>
              <a:t>(</a:t>
            </a:r>
            <a:r>
              <a:rPr lang="ko-KR" altLang="en-US" dirty="0" err="1"/>
              <a:t>프</a:t>
            </a:r>
            <a:r>
              <a:rPr lang="ko-KR" altLang="en-US" dirty="0"/>
              <a:t> 독 </a:t>
            </a:r>
            <a:r>
              <a:rPr lang="ko-KR" altLang="en-US" dirty="0" err="1"/>
              <a:t>네덜</a:t>
            </a:r>
            <a:r>
              <a:rPr lang="ko-KR" altLang="en-US" dirty="0"/>
              <a:t> </a:t>
            </a:r>
            <a:r>
              <a:rPr lang="ko-KR" altLang="en-US" dirty="0" err="1"/>
              <a:t>오스트라아</a:t>
            </a:r>
            <a:r>
              <a:rPr lang="en-US" altLang="ko-KR" dirty="0"/>
              <a:t>, </a:t>
            </a:r>
            <a:r>
              <a:rPr lang="ko-KR" altLang="en-US" dirty="0"/>
              <a:t>사회보험 발달</a:t>
            </a:r>
            <a:r>
              <a:rPr lang="en-US" altLang="ko-KR" dirty="0"/>
              <a:t>);</a:t>
            </a:r>
          </a:p>
          <a:p>
            <a:r>
              <a:rPr lang="ko-KR" altLang="en-US" dirty="0"/>
              <a:t>복지국가를 이야기할 때 노동력의 탈상품화가 중요한 기준이다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정책목표 </a:t>
            </a:r>
            <a:r>
              <a:rPr lang="en-US" altLang="ko-KR" dirty="0"/>
              <a:t>– </a:t>
            </a:r>
            <a:r>
              <a:rPr lang="ko-KR" altLang="en-US" dirty="0"/>
              <a:t>규범적인 성격</a:t>
            </a:r>
            <a:r>
              <a:rPr lang="en-US" altLang="ko-KR" dirty="0"/>
              <a:t>(</a:t>
            </a:r>
            <a:r>
              <a:rPr lang="ko-KR" altLang="en-US" dirty="0" err="1"/>
              <a:t>어느정도로</a:t>
            </a:r>
            <a:r>
              <a:rPr lang="ko-KR" altLang="en-US" dirty="0"/>
              <a:t> 불평등을 개선</a:t>
            </a:r>
            <a:r>
              <a:rPr lang="en-US" altLang="ko-KR" dirty="0"/>
              <a:t>/ </a:t>
            </a:r>
            <a:r>
              <a:rPr lang="ko-KR" altLang="en-US" dirty="0"/>
              <a:t>빈곤을 </a:t>
            </a:r>
            <a:r>
              <a:rPr lang="ko-KR" altLang="en-US" dirty="0" err="1"/>
              <a:t>해소해야하나</a:t>
            </a:r>
            <a:r>
              <a:rPr lang="en-US" altLang="ko-KR" dirty="0"/>
              <a:t>?); </a:t>
            </a:r>
            <a:r>
              <a:rPr lang="ko-KR" altLang="en-US" dirty="0"/>
              <a:t>어떠한 세제 제도를 활용했을 때 완화할 수 있나</a:t>
            </a:r>
            <a:r>
              <a:rPr lang="en-US" altLang="ko-KR" dirty="0"/>
              <a:t>?; -&gt; </a:t>
            </a:r>
            <a:r>
              <a:rPr lang="ko-KR" altLang="en-US" dirty="0"/>
              <a:t>당위적</a:t>
            </a:r>
            <a:r>
              <a:rPr lang="en-US" altLang="ko-KR" dirty="0"/>
              <a:t>/</a:t>
            </a:r>
            <a:r>
              <a:rPr lang="ko-KR" altLang="en-US" dirty="0"/>
              <a:t>규범적 문제에 접근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297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Welfare : </a:t>
            </a:r>
            <a:r>
              <a:rPr lang="ko-KR" altLang="en-US" dirty="0"/>
              <a:t>다양하고</a:t>
            </a:r>
            <a:r>
              <a:rPr lang="en-US" altLang="ko-KR" dirty="0"/>
              <a:t> </a:t>
            </a:r>
            <a:r>
              <a:rPr lang="ko-KR" altLang="en-US" dirty="0"/>
              <a:t>다차원적으로 복지가 형성</a:t>
            </a:r>
            <a:r>
              <a:rPr lang="en-US" altLang="ko-KR" dirty="0"/>
              <a:t>; </a:t>
            </a:r>
            <a:r>
              <a:rPr lang="ko-KR" altLang="en-US" dirty="0"/>
              <a:t>다양한 원천에서 복지가 형성</a:t>
            </a:r>
            <a:r>
              <a:rPr lang="en-US" altLang="ko-KR" dirty="0"/>
              <a:t>; </a:t>
            </a:r>
            <a:r>
              <a:rPr lang="ko-KR" altLang="en-US" sz="1100" spc="-5" dirty="0">
                <a:latin typeface="Malgun Gothic"/>
                <a:cs typeface="Malgun Gothic"/>
              </a:rPr>
              <a:t>노동시장에서</a:t>
            </a:r>
            <a:r>
              <a:rPr lang="ko-KR" altLang="en-US" sz="1100" spc="260" dirty="0">
                <a:latin typeface="Malgun Gothic"/>
                <a:cs typeface="Malgun Gothic"/>
              </a:rPr>
              <a:t> </a:t>
            </a:r>
            <a:r>
              <a:rPr lang="ko-KR" altLang="en-US" sz="1100" spc="-5" dirty="0">
                <a:latin typeface="Malgun Gothic"/>
                <a:cs typeface="Malgun Gothic"/>
              </a:rPr>
              <a:t>발생하는</a:t>
            </a:r>
            <a:r>
              <a:rPr lang="ko-KR" altLang="en-US" sz="1100" spc="264" dirty="0">
                <a:latin typeface="Malgun Gothic"/>
                <a:cs typeface="Malgun Gothic"/>
              </a:rPr>
              <a:t> </a:t>
            </a:r>
            <a:r>
              <a:rPr lang="ko-KR" altLang="en-US" sz="1100" spc="9" dirty="0">
                <a:latin typeface="Malgun Gothic"/>
                <a:cs typeface="Malgun Gothic"/>
              </a:rPr>
              <a:t>임금소득 </a:t>
            </a:r>
            <a:r>
              <a:rPr lang="en-US" altLang="ko-KR" sz="1100" spc="9" dirty="0">
                <a:latin typeface="Malgun Gothic"/>
                <a:cs typeface="Malgun Gothic"/>
              </a:rPr>
              <a:t>-&gt; </a:t>
            </a:r>
            <a:r>
              <a:rPr lang="ko-KR" altLang="en-US" sz="1100" spc="9" dirty="0">
                <a:latin typeface="Malgun Gothic"/>
                <a:cs typeface="Malgun Gothic"/>
              </a:rPr>
              <a:t>가장 기본적인 원천</a:t>
            </a:r>
            <a:r>
              <a:rPr lang="en-US" altLang="ko-KR" sz="1100" spc="9" dirty="0">
                <a:latin typeface="Malgun Gothic"/>
                <a:cs typeface="Malgun Gothic"/>
              </a:rPr>
              <a:t>; </a:t>
            </a:r>
            <a:r>
              <a:rPr lang="ko-KR" altLang="en-US" sz="1100" spc="9" dirty="0">
                <a:latin typeface="Malgun Gothic"/>
                <a:cs typeface="Malgun Gothic"/>
              </a:rPr>
              <a:t>다양한 차원에서 기업복지 존재 </a:t>
            </a:r>
            <a:r>
              <a:rPr lang="en-US" altLang="ko-KR" sz="1100" spc="9" dirty="0">
                <a:latin typeface="Malgun Gothic"/>
                <a:cs typeface="Malgun Gothic"/>
              </a:rPr>
              <a:t>-&gt; </a:t>
            </a:r>
            <a:r>
              <a:rPr lang="ko-KR" altLang="en-US" sz="1100" spc="9" dirty="0">
                <a:latin typeface="Malgun Gothic"/>
                <a:cs typeface="Malgun Gothic"/>
              </a:rPr>
              <a:t>노동시장에서 개인의 </a:t>
            </a:r>
            <a:endParaRPr lang="en-US" altLang="ko-KR" sz="1100" spc="9" dirty="0">
              <a:latin typeface="Malgun Gothic"/>
              <a:cs typeface="Malgun Gothic"/>
            </a:endParaRPr>
          </a:p>
          <a:p>
            <a:r>
              <a:rPr lang="ko-KR" altLang="en-US" sz="1100" spc="9" dirty="0">
                <a:latin typeface="Malgun Gothic"/>
              </a:rPr>
              <a:t>임금소득과 기업복지가 상당한 차이를 보임 </a:t>
            </a:r>
            <a:r>
              <a:rPr lang="en-US" altLang="ko-KR" sz="1100" spc="9" dirty="0">
                <a:latin typeface="Malgun Gothic"/>
              </a:rPr>
              <a:t>-&gt; </a:t>
            </a:r>
            <a:r>
              <a:rPr lang="ko-KR" altLang="en-US" sz="1100" spc="9" dirty="0">
                <a:latin typeface="Malgun Gothic"/>
              </a:rPr>
              <a:t>대</a:t>
            </a:r>
            <a:r>
              <a:rPr lang="en-US" altLang="ko-KR" sz="1100" spc="9" dirty="0">
                <a:latin typeface="Malgun Gothic"/>
              </a:rPr>
              <a:t>/</a:t>
            </a:r>
            <a:r>
              <a:rPr lang="ko-KR" altLang="en-US" sz="1100" spc="9" dirty="0" err="1">
                <a:latin typeface="Malgun Gothic"/>
              </a:rPr>
              <a:t>중소간의</a:t>
            </a:r>
            <a:r>
              <a:rPr lang="ko-KR" altLang="en-US" sz="1100" spc="9" dirty="0">
                <a:latin typeface="Malgun Gothic"/>
              </a:rPr>
              <a:t> 복지는 </a:t>
            </a:r>
            <a:r>
              <a:rPr lang="en-US" altLang="ko-KR" sz="1100" spc="9" dirty="0">
                <a:latin typeface="Malgun Gothic"/>
              </a:rPr>
              <a:t>50% ; </a:t>
            </a:r>
            <a:r>
              <a:rPr lang="ko-KR" altLang="en-US" sz="1100" spc="9" dirty="0">
                <a:latin typeface="Malgun Gothic"/>
              </a:rPr>
              <a:t>비정규직</a:t>
            </a:r>
            <a:r>
              <a:rPr lang="en-US" altLang="ko-KR" sz="1100" spc="9" dirty="0">
                <a:latin typeface="Malgun Gothic"/>
              </a:rPr>
              <a:t>/</a:t>
            </a:r>
            <a:r>
              <a:rPr lang="ko-KR" altLang="en-US" sz="1100" spc="9" dirty="0" err="1">
                <a:latin typeface="Malgun Gothic"/>
              </a:rPr>
              <a:t>정규직간의</a:t>
            </a:r>
            <a:r>
              <a:rPr lang="ko-KR" altLang="en-US" sz="1100" spc="9" dirty="0">
                <a:latin typeface="Malgun Gothic"/>
              </a:rPr>
              <a:t> 사회보험 가입여부도 차이가 있음</a:t>
            </a:r>
            <a:r>
              <a:rPr lang="en-US" altLang="ko-KR" sz="1100" spc="9" dirty="0">
                <a:latin typeface="Malgun Gothic"/>
              </a:rPr>
              <a:t>; </a:t>
            </a:r>
            <a:r>
              <a:rPr lang="ko-KR" altLang="en-US" sz="1100" spc="9" dirty="0">
                <a:latin typeface="Malgun Gothic"/>
              </a:rPr>
              <a:t>사회보험을 </a:t>
            </a:r>
            <a:endParaRPr lang="en-US" altLang="ko-KR" sz="1100" spc="9" dirty="0">
              <a:latin typeface="Malgun Gothic"/>
            </a:endParaRPr>
          </a:p>
          <a:p>
            <a:r>
              <a:rPr lang="ko-KR" altLang="en-US" sz="1100" spc="9" dirty="0">
                <a:latin typeface="Malgun Gothic"/>
              </a:rPr>
              <a:t>기존의 사회보험은 취업자를 중심으로 </a:t>
            </a:r>
            <a:r>
              <a:rPr lang="en-US" altLang="ko-KR" sz="1100" spc="9" dirty="0">
                <a:latin typeface="Malgun Gothic"/>
              </a:rPr>
              <a:t>-&gt; </a:t>
            </a:r>
            <a:r>
              <a:rPr lang="ko-KR" altLang="en-US" sz="1100" spc="9" dirty="0">
                <a:latin typeface="Malgun Gothic"/>
              </a:rPr>
              <a:t>소득기반사회보험은 비정규직자들을 포괄하는 내용</a:t>
            </a:r>
            <a:r>
              <a:rPr lang="en-US" altLang="ko-KR" sz="1100" spc="9" dirty="0">
                <a:latin typeface="Malgun Gothic"/>
              </a:rPr>
              <a:t>;</a:t>
            </a:r>
          </a:p>
          <a:p>
            <a:r>
              <a:rPr lang="ko-KR" altLang="en-US" sz="1100" spc="9" dirty="0">
                <a:latin typeface="Malgun Gothic"/>
              </a:rPr>
              <a:t>자발적 민간보험과 저축 </a:t>
            </a:r>
            <a:r>
              <a:rPr lang="en-US" altLang="ko-KR" sz="1100" spc="9" dirty="0">
                <a:latin typeface="Malgun Gothic"/>
              </a:rPr>
              <a:t>-&gt; </a:t>
            </a:r>
            <a:r>
              <a:rPr lang="ko-KR" altLang="en-US" sz="1100" spc="9" dirty="0">
                <a:latin typeface="Malgun Gothic"/>
              </a:rPr>
              <a:t>가계에서 장래와 미래를 위해 교육비 투자</a:t>
            </a:r>
            <a:r>
              <a:rPr lang="en-US" altLang="ko-KR" sz="1100" spc="9" dirty="0">
                <a:latin typeface="Malgun Gothic"/>
              </a:rPr>
              <a:t>, </a:t>
            </a:r>
            <a:r>
              <a:rPr lang="ko-KR" altLang="en-US" sz="1100" spc="9" dirty="0">
                <a:latin typeface="Malgun Gothic"/>
              </a:rPr>
              <a:t>상속 등 </a:t>
            </a:r>
            <a:r>
              <a:rPr lang="en-US" altLang="ko-KR" sz="1100" spc="9" dirty="0">
                <a:latin typeface="Malgun Gothic"/>
              </a:rPr>
              <a:t>; </a:t>
            </a:r>
            <a:r>
              <a:rPr lang="ko-KR" altLang="en-US" sz="1100" spc="9" dirty="0">
                <a:latin typeface="Malgun Gothic"/>
              </a:rPr>
              <a:t>소득이전</a:t>
            </a:r>
            <a:endParaRPr lang="en-US" altLang="ko-KR" sz="1100" spc="9" dirty="0">
              <a:latin typeface="Malgun Gothic"/>
            </a:endParaRPr>
          </a:p>
          <a:p>
            <a:r>
              <a:rPr lang="ko-KR" altLang="en-US" sz="1100" spc="9" dirty="0">
                <a:latin typeface="Malgun Gothic"/>
              </a:rPr>
              <a:t>개인의 복지는 다양한 원천에서 복합적으로 작용</a:t>
            </a:r>
            <a:r>
              <a:rPr lang="en-US" altLang="ko-KR" sz="1100" spc="9" dirty="0">
                <a:latin typeface="Malgun Gothic"/>
              </a:rPr>
              <a:t> -&gt;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834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국가복지 </a:t>
            </a:r>
            <a:r>
              <a:rPr lang="en-US" altLang="ko-KR" dirty="0"/>
              <a:t>= </a:t>
            </a:r>
            <a:r>
              <a:rPr lang="ko-KR" altLang="en-US" dirty="0"/>
              <a:t>탈상품화에 이어 사민주의복지국가의 비중이 큼</a:t>
            </a:r>
            <a:endParaRPr lang="en-US" altLang="ko-KR" dirty="0"/>
          </a:p>
          <a:p>
            <a:r>
              <a:rPr lang="ko-KR" altLang="en-US" dirty="0"/>
              <a:t>영미일은 기업복지의 우선도</a:t>
            </a:r>
            <a:endParaRPr lang="en-US" altLang="ko-KR" dirty="0"/>
          </a:p>
          <a:p>
            <a:r>
              <a:rPr lang="ko-KR" altLang="en-US" dirty="0"/>
              <a:t>남유럽 </a:t>
            </a:r>
            <a:r>
              <a:rPr lang="en-US" altLang="ko-KR" dirty="0"/>
              <a:t>= </a:t>
            </a:r>
            <a:r>
              <a:rPr lang="ko-KR" altLang="en-US" dirty="0"/>
              <a:t>가족복지</a:t>
            </a:r>
            <a:r>
              <a:rPr lang="en-US" altLang="ko-KR" dirty="0"/>
              <a:t>(</a:t>
            </a:r>
            <a:r>
              <a:rPr lang="ko-KR" altLang="en-US" dirty="0"/>
              <a:t>우리나라는 가족복지 </a:t>
            </a:r>
            <a:r>
              <a:rPr lang="en-US" altLang="ko-KR" dirty="0"/>
              <a:t>-&gt; </a:t>
            </a:r>
            <a:r>
              <a:rPr lang="ko-KR" altLang="en-US" dirty="0"/>
              <a:t>기업</a:t>
            </a:r>
            <a:r>
              <a:rPr lang="en-US" altLang="ko-KR" dirty="0"/>
              <a:t>/</a:t>
            </a:r>
            <a:r>
              <a:rPr lang="ko-KR" altLang="en-US" dirty="0"/>
              <a:t>국가 복지로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290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제도적 관습적</a:t>
            </a:r>
            <a:endParaRPr lang="en-US" altLang="ko-KR" dirty="0"/>
          </a:p>
          <a:p>
            <a:r>
              <a:rPr lang="ko-KR" altLang="en-US" dirty="0"/>
              <a:t>경우에 </a:t>
            </a:r>
            <a:r>
              <a:rPr lang="ko-KR" altLang="en-US" dirty="0" err="1"/>
              <a:t>따라선</a:t>
            </a:r>
            <a:r>
              <a:rPr lang="ko-KR" altLang="en-US" dirty="0"/>
              <a:t> 명확히 정의할 수 없는 영역</a:t>
            </a:r>
            <a:r>
              <a:rPr lang="en-US" altLang="ko-KR" dirty="0"/>
              <a:t>: </a:t>
            </a:r>
            <a:r>
              <a:rPr lang="ko-KR" altLang="en-US" dirty="0"/>
              <a:t>사회보험</a:t>
            </a:r>
            <a:r>
              <a:rPr lang="en-US" altLang="ko-KR" dirty="0"/>
              <a:t>/</a:t>
            </a:r>
            <a:r>
              <a:rPr lang="ko-KR" altLang="en-US" dirty="0"/>
              <a:t>사회부조</a:t>
            </a:r>
            <a:r>
              <a:rPr lang="en-US" altLang="ko-KR" dirty="0"/>
              <a:t>/</a:t>
            </a:r>
            <a:r>
              <a:rPr lang="ko-KR" altLang="en-US" dirty="0"/>
              <a:t>사회서비스 </a:t>
            </a:r>
            <a:r>
              <a:rPr lang="en-US" altLang="ko-KR" dirty="0"/>
              <a:t>: </a:t>
            </a:r>
            <a:r>
              <a:rPr lang="ko-KR" altLang="en-US" dirty="0"/>
              <a:t>교육</a:t>
            </a:r>
            <a:r>
              <a:rPr lang="en-US" altLang="ko-KR" dirty="0"/>
              <a:t>/</a:t>
            </a:r>
            <a:r>
              <a:rPr lang="ko-KR" altLang="en-US" dirty="0"/>
              <a:t>환경의 경우 직접적으론 사회보장에는 관련 없지만 개인의 </a:t>
            </a:r>
            <a:r>
              <a:rPr lang="en-US" altLang="ko-KR" dirty="0"/>
              <a:t>welfare</a:t>
            </a:r>
            <a:r>
              <a:rPr lang="ko-KR" altLang="en-US" dirty="0"/>
              <a:t>에는 영향을 미침 </a:t>
            </a:r>
            <a:r>
              <a:rPr lang="en-US" altLang="ko-KR" dirty="0"/>
              <a:t>(</a:t>
            </a:r>
            <a:r>
              <a:rPr lang="ko-KR" altLang="en-US" dirty="0"/>
              <a:t>의료대란</a:t>
            </a:r>
            <a:r>
              <a:rPr lang="en-US" altLang="ko-KR" dirty="0"/>
              <a:t>, </a:t>
            </a:r>
            <a:r>
              <a:rPr lang="ko-KR" altLang="en-US" dirty="0"/>
              <a:t>교육</a:t>
            </a:r>
            <a:r>
              <a:rPr lang="en-US" altLang="ko-KR" dirty="0"/>
              <a:t>, </a:t>
            </a:r>
            <a:r>
              <a:rPr lang="ko-KR" altLang="en-US" dirty="0"/>
              <a:t>기후위기 등</a:t>
            </a:r>
            <a:r>
              <a:rPr lang="en-US" altLang="ko-KR" dirty="0"/>
              <a:t>)</a:t>
            </a:r>
          </a:p>
          <a:p>
            <a:pPr marL="158951" indent="-158951">
              <a:buFont typeface="Wingdings" panose="05000000000000000000" pitchFamily="2" charset="2"/>
              <a:buChar char="è"/>
            </a:pPr>
            <a:r>
              <a:rPr lang="ko-KR" altLang="en-US" dirty="0"/>
              <a:t>가치재의 문제로 환원 </a:t>
            </a:r>
            <a:r>
              <a:rPr lang="ko-KR" altLang="en-US" dirty="0" err="1"/>
              <a:t>가치재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재화의 소비에 있어서 긍정적인 외부효과가 커 사회적관점에서 비추어 적정량보다 적게 생산될 것</a:t>
            </a:r>
            <a:endParaRPr lang="en-US" altLang="ko-KR" dirty="0"/>
          </a:p>
          <a:p>
            <a:r>
              <a:rPr lang="ko-KR" altLang="en-US" dirty="0"/>
              <a:t>재화</a:t>
            </a:r>
            <a:endParaRPr lang="en-US" altLang="ko-KR" dirty="0"/>
          </a:p>
          <a:p>
            <a:pPr marL="211935" indent="-211935">
              <a:buFont typeface="Wingdings" panose="05000000000000000000" pitchFamily="2" charset="2"/>
              <a:buAutoNum type="arabicPeriod"/>
            </a:pPr>
            <a:r>
              <a:rPr lang="ko-KR" altLang="en-US" dirty="0"/>
              <a:t>민간재화</a:t>
            </a:r>
            <a:endParaRPr lang="en-US" altLang="ko-KR" dirty="0"/>
          </a:p>
          <a:p>
            <a:pPr marL="635805" lvl="1" indent="-211935">
              <a:buFont typeface="Wingdings" panose="05000000000000000000" pitchFamily="2" charset="2"/>
              <a:buAutoNum type="arabicPeriod"/>
            </a:pPr>
            <a:r>
              <a:rPr lang="ko-KR" altLang="en-US" dirty="0" err="1"/>
              <a:t>소비에있어</a:t>
            </a:r>
            <a:r>
              <a:rPr lang="ko-KR" altLang="en-US" dirty="0"/>
              <a:t> 배재성</a:t>
            </a:r>
            <a:r>
              <a:rPr lang="en-US" altLang="ko-KR" dirty="0"/>
              <a:t>(</a:t>
            </a:r>
            <a:r>
              <a:rPr lang="ko-KR" altLang="en-US" dirty="0"/>
              <a:t>경쟁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경합성</a:t>
            </a:r>
            <a:r>
              <a:rPr lang="en-US" altLang="ko-KR" dirty="0"/>
              <a:t>(</a:t>
            </a:r>
            <a:r>
              <a:rPr lang="ko-KR" altLang="en-US" dirty="0"/>
              <a:t>하나를 쓰면 없어짐</a:t>
            </a:r>
            <a:r>
              <a:rPr lang="en-US" altLang="ko-KR" dirty="0"/>
              <a:t>); </a:t>
            </a:r>
          </a:p>
          <a:p>
            <a:pPr marL="211935" indent="-211935">
              <a:buFont typeface="Wingdings" panose="05000000000000000000" pitchFamily="2" charset="2"/>
              <a:buAutoNum type="arabicPeriod"/>
            </a:pPr>
            <a:r>
              <a:rPr lang="ko-KR" altLang="en-US" dirty="0"/>
              <a:t>공공재화</a:t>
            </a:r>
            <a:endParaRPr lang="en-US" altLang="ko-KR" dirty="0"/>
          </a:p>
          <a:p>
            <a:pPr marL="635805" lvl="1" indent="-211935">
              <a:buFont typeface="Wingdings" panose="05000000000000000000" pitchFamily="2" charset="2"/>
              <a:buAutoNum type="arabicPeriod"/>
            </a:pPr>
            <a:r>
              <a:rPr lang="ko-KR" altLang="en-US" dirty="0"/>
              <a:t>경합성과 배재성이 없다는 것</a:t>
            </a:r>
            <a:endParaRPr lang="en-US" altLang="ko-KR" dirty="0"/>
          </a:p>
          <a:p>
            <a:r>
              <a:rPr lang="ko-KR" altLang="en-US" dirty="0"/>
              <a:t>가치재의 경우 민간재화의 특성을 띔</a:t>
            </a:r>
            <a:r>
              <a:rPr lang="en-US" altLang="ko-KR" dirty="0"/>
              <a:t>, </a:t>
            </a:r>
            <a:r>
              <a:rPr lang="ko-KR" altLang="en-US" dirty="0"/>
              <a:t>그것의 소비가 미치는 긍정적인 외부효과가 크다 </a:t>
            </a:r>
            <a:r>
              <a:rPr lang="en-US" altLang="ko-KR" dirty="0"/>
              <a:t>(</a:t>
            </a:r>
            <a:r>
              <a:rPr lang="ko-KR" altLang="en-US" dirty="0"/>
              <a:t>교육의 경우 내 주위에 지식이 있는 사람들이 </a:t>
            </a:r>
            <a:r>
              <a:rPr lang="ko-KR" altLang="en-US" dirty="0" err="1"/>
              <a:t>많을경우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균형점은 수요와 공급 </a:t>
            </a:r>
            <a:r>
              <a:rPr lang="en-US" altLang="ko-KR" dirty="0"/>
              <a:t>; </a:t>
            </a:r>
            <a:r>
              <a:rPr lang="ko-KR" altLang="en-US" dirty="0"/>
              <a:t>가치재의 경우 </a:t>
            </a:r>
            <a:r>
              <a:rPr lang="en-US" altLang="ko-KR" dirty="0"/>
              <a:t>D(=MB)</a:t>
            </a:r>
            <a:r>
              <a:rPr lang="ko-KR" altLang="en-US" dirty="0"/>
              <a:t>가 됨 수요곡선은 </a:t>
            </a:r>
            <a:r>
              <a:rPr lang="en-US" altLang="ko-KR" dirty="0"/>
              <a:t>D=MR</a:t>
            </a:r>
            <a:r>
              <a:rPr lang="ko-KR" altLang="en-US" dirty="0"/>
              <a:t>이기에 </a:t>
            </a:r>
            <a:endParaRPr lang="en-US" altLang="ko-KR" dirty="0"/>
          </a:p>
          <a:p>
            <a:r>
              <a:rPr lang="ko-KR" altLang="en-US" dirty="0"/>
              <a:t>외부효과 가치재의 경우 외부효과를 높이기 위해 보조금을 지불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사회보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757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분야별 예상비중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보건복지고용 </a:t>
            </a:r>
            <a:r>
              <a:rPr lang="en-US" altLang="ko-KR" dirty="0"/>
              <a:t>-&gt; 2025</a:t>
            </a:r>
            <a:r>
              <a:rPr lang="ko-KR" altLang="en-US" dirty="0"/>
              <a:t>에 합계액 </a:t>
            </a:r>
            <a:r>
              <a:rPr lang="en-US" altLang="ko-KR" dirty="0"/>
              <a:t>684</a:t>
            </a:r>
            <a:r>
              <a:rPr lang="ko-KR" altLang="en-US" dirty="0"/>
              <a:t>조</a:t>
            </a:r>
            <a:r>
              <a:rPr lang="en-US" altLang="ko-KR" dirty="0"/>
              <a:t>/ </a:t>
            </a:r>
            <a:r>
              <a:rPr lang="ko-KR" altLang="en-US" dirty="0"/>
              <a:t>보건복지고용분야에서 가장 많은 퍼센트</a:t>
            </a:r>
            <a:r>
              <a:rPr lang="en-US" altLang="ko-KR" dirty="0"/>
              <a:t>;</a:t>
            </a:r>
          </a:p>
          <a:p>
            <a:r>
              <a:rPr lang="ko-KR" altLang="en-US" dirty="0" err="1"/>
              <a:t>가장큰</a:t>
            </a:r>
            <a:r>
              <a:rPr lang="ko-KR" altLang="en-US" dirty="0"/>
              <a:t> 증가율은 </a:t>
            </a:r>
            <a:r>
              <a:rPr lang="en-US" altLang="ko-KR" dirty="0" err="1"/>
              <a:t>RnD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조세지출</a:t>
            </a:r>
            <a:r>
              <a:rPr lang="en-US" altLang="ko-KR" dirty="0"/>
              <a:t> = </a:t>
            </a:r>
            <a:r>
              <a:rPr lang="ko-KR" altLang="en-US" dirty="0"/>
              <a:t>각 영역별로 세금을 </a:t>
            </a:r>
            <a:r>
              <a:rPr lang="ko-KR" altLang="en-US" dirty="0" err="1"/>
              <a:t>걷지않고</a:t>
            </a:r>
            <a:r>
              <a:rPr lang="ko-KR" altLang="en-US" dirty="0"/>
              <a:t> 깎아주는 것</a:t>
            </a:r>
            <a:r>
              <a:rPr lang="en-US" altLang="ko-KR" dirty="0"/>
              <a:t>(</a:t>
            </a:r>
            <a:r>
              <a:rPr lang="ko-KR" altLang="en-US" dirty="0"/>
              <a:t>조세공제와 감면</a:t>
            </a:r>
            <a:r>
              <a:rPr lang="en-US" altLang="ko-KR" dirty="0"/>
              <a:t>) -&gt; </a:t>
            </a:r>
            <a:r>
              <a:rPr lang="ko-KR" altLang="en-US" dirty="0"/>
              <a:t>보건</a:t>
            </a:r>
            <a:r>
              <a:rPr lang="en-US" altLang="ko-KR" dirty="0"/>
              <a:t>/</a:t>
            </a:r>
            <a:r>
              <a:rPr lang="ko-KR" altLang="en-US" dirty="0"/>
              <a:t>복지분야가 가장 크다</a:t>
            </a:r>
            <a:r>
              <a:rPr lang="en-US" altLang="ko-KR" dirty="0"/>
              <a:t>; </a:t>
            </a:r>
            <a:r>
              <a:rPr lang="ko-KR" altLang="en-US" dirty="0"/>
              <a:t>조세지출과 예산을 봐야만 총체적으로 얼마나 지출하는지 파악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보건복지고용의 분야는 예산</a:t>
            </a:r>
            <a:r>
              <a:rPr lang="en-US" altLang="ko-KR" dirty="0"/>
              <a:t>+</a:t>
            </a:r>
            <a:r>
              <a:rPr lang="ko-KR" altLang="en-US" dirty="0"/>
              <a:t>조세지출을 합산했을 때 가장 큰 퍼센트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060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현금급여 </a:t>
            </a:r>
            <a:r>
              <a:rPr lang="en-US" altLang="ko-KR" dirty="0"/>
              <a:t>= </a:t>
            </a:r>
            <a:r>
              <a:rPr lang="ko-KR" altLang="en-US" dirty="0"/>
              <a:t>사회보험급여</a:t>
            </a:r>
            <a:r>
              <a:rPr lang="en-US" altLang="ko-KR" dirty="0"/>
              <a:t>; </a:t>
            </a:r>
          </a:p>
          <a:p>
            <a:r>
              <a:rPr lang="ko-KR" altLang="en-US" dirty="0"/>
              <a:t>보편적급여 선별적급여 </a:t>
            </a:r>
            <a:r>
              <a:rPr lang="en-US" altLang="ko-KR" dirty="0"/>
              <a:t>: </a:t>
            </a:r>
            <a:r>
              <a:rPr lang="ko-KR" altLang="en-US" dirty="0"/>
              <a:t>아동수당 일정이상나이의 경우 소득을 구분하지 않고 </a:t>
            </a:r>
            <a:endParaRPr lang="en-US" altLang="ko-KR" dirty="0"/>
          </a:p>
          <a:p>
            <a:r>
              <a:rPr lang="ko-KR" altLang="en-US" dirty="0"/>
              <a:t>선별적 급여 </a:t>
            </a:r>
            <a:r>
              <a:rPr lang="en-US" altLang="ko-KR" dirty="0"/>
              <a:t>: </a:t>
            </a:r>
            <a:r>
              <a:rPr lang="ko-KR" altLang="en-US" dirty="0"/>
              <a:t>소득이나 </a:t>
            </a:r>
            <a:endParaRPr lang="en-US" altLang="ko-KR" dirty="0"/>
          </a:p>
          <a:p>
            <a:r>
              <a:rPr lang="ko-KR" altLang="en-US" dirty="0"/>
              <a:t>보편적급여의 경우</a:t>
            </a:r>
            <a:endParaRPr lang="en-US" altLang="ko-KR" dirty="0"/>
          </a:p>
          <a:p>
            <a:r>
              <a:rPr lang="ko-KR" altLang="en-US" dirty="0"/>
              <a:t>사회부조</a:t>
            </a:r>
            <a:r>
              <a:rPr lang="en-US" altLang="ko-KR" dirty="0"/>
              <a:t>(</a:t>
            </a:r>
            <a:r>
              <a:rPr lang="ko-KR" altLang="en-US" dirty="0"/>
              <a:t>우리나라는 공적부조</a:t>
            </a:r>
            <a:r>
              <a:rPr lang="en-US" altLang="ko-KR" dirty="0"/>
              <a:t>) </a:t>
            </a:r>
            <a:r>
              <a:rPr lang="ko-KR" altLang="en-US" dirty="0"/>
              <a:t>선별급여의 대표적 예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096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정부가 대가 없이 </a:t>
            </a:r>
            <a:r>
              <a:rPr lang="ko-KR" altLang="en-US" dirty="0" err="1"/>
              <a:t>지급하는걸</a:t>
            </a:r>
            <a:r>
              <a:rPr lang="ko-KR" altLang="en-US" dirty="0"/>
              <a:t> 공공사회복지유형별 항목별로 보게 되면</a:t>
            </a:r>
            <a:r>
              <a:rPr lang="en-US" altLang="ko-KR" dirty="0"/>
              <a:t> -&gt; </a:t>
            </a:r>
            <a:r>
              <a:rPr lang="ko-KR" altLang="en-US" dirty="0"/>
              <a:t>스칸디나비아</a:t>
            </a:r>
            <a:r>
              <a:rPr lang="en-US" altLang="ko-KR" dirty="0"/>
              <a:t>(</a:t>
            </a:r>
            <a:r>
              <a:rPr lang="ko-KR" altLang="en-US" dirty="0"/>
              <a:t>사민주의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앵글</a:t>
            </a:r>
            <a:r>
              <a:rPr lang="en-US" altLang="ko-KR" dirty="0"/>
              <a:t>(</a:t>
            </a:r>
            <a:r>
              <a:rPr lang="ko-KR" altLang="en-US" dirty="0" err="1"/>
              <a:t>자유주이</a:t>
            </a:r>
            <a:r>
              <a:rPr lang="en-US" altLang="ko-KR" dirty="0"/>
              <a:t>) </a:t>
            </a:r>
            <a:r>
              <a:rPr lang="ko-KR" altLang="en-US" dirty="0"/>
              <a:t>서유럽</a:t>
            </a:r>
            <a:r>
              <a:rPr lang="en-US" altLang="ko-KR" dirty="0"/>
              <a:t>(</a:t>
            </a:r>
            <a:r>
              <a:rPr lang="ko-KR" altLang="en-US" dirty="0"/>
              <a:t>보수주의</a:t>
            </a:r>
            <a:r>
              <a:rPr lang="en-US" altLang="ko-KR" dirty="0"/>
              <a:t>) </a:t>
            </a:r>
            <a:r>
              <a:rPr lang="ko-KR" altLang="en-US" dirty="0"/>
              <a:t>남유럽 복지국가</a:t>
            </a:r>
            <a:endParaRPr lang="en-US" altLang="ko-KR" dirty="0"/>
          </a:p>
          <a:p>
            <a:r>
              <a:rPr lang="ko-KR" altLang="en-US" dirty="0"/>
              <a:t>우리나라 복지</a:t>
            </a:r>
            <a:r>
              <a:rPr lang="en-US" altLang="ko-KR" dirty="0"/>
              <a:t>? </a:t>
            </a:r>
            <a:r>
              <a:rPr lang="ko-KR" altLang="en-US" dirty="0"/>
              <a:t>연금제도가 가장 늦게 도입이 되었기 때문에 연금보험급여가 작기 때문에 발생</a:t>
            </a:r>
            <a:endParaRPr lang="en-US" altLang="ko-KR" dirty="0"/>
          </a:p>
          <a:p>
            <a:r>
              <a:rPr lang="ko-KR" altLang="en-US" dirty="0"/>
              <a:t>주거의 </a:t>
            </a:r>
            <a:r>
              <a:rPr lang="ko-KR" altLang="en-US" dirty="0" err="1"/>
              <a:t>겅유</a:t>
            </a:r>
            <a:r>
              <a:rPr lang="ko-KR" altLang="en-US" dirty="0"/>
              <a:t> 비중이 낮다</a:t>
            </a:r>
            <a:r>
              <a:rPr lang="en-US" altLang="ko-KR" dirty="0"/>
              <a:t>(</a:t>
            </a:r>
            <a:r>
              <a:rPr lang="ko-KR" altLang="en-US" dirty="0"/>
              <a:t>서구는 공공임대에 관련한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347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국민들이 부담하는 세금의 규모에 비해 정부로부터 지급받는 영역이 상대적으로 적다 </a:t>
            </a:r>
            <a:r>
              <a:rPr lang="en-US" altLang="ko-KR" dirty="0"/>
              <a:t>-&gt; </a:t>
            </a:r>
            <a:r>
              <a:rPr lang="ko-KR" altLang="en-US" dirty="0"/>
              <a:t>어떻게 개선할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5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사회지출의 규모가 클수록 급여의 관대성도 커진다</a:t>
            </a:r>
            <a:r>
              <a:rPr lang="en-US" altLang="ko-KR" dirty="0"/>
              <a:t>. </a:t>
            </a:r>
            <a:r>
              <a:rPr lang="ko-KR" altLang="en-US" dirty="0"/>
              <a:t>한국은 가장 밑에 존재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10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복지국가의 목표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자원배분의 효율성 </a:t>
            </a:r>
            <a:r>
              <a:rPr lang="en-US" altLang="ko-KR" dirty="0"/>
              <a:t>– </a:t>
            </a:r>
            <a:r>
              <a:rPr lang="ko-KR" altLang="en-US" dirty="0" err="1"/>
              <a:t>어딘가에선</a:t>
            </a:r>
            <a:r>
              <a:rPr lang="ko-KR" altLang="en-US" dirty="0"/>
              <a:t> 재정을 수급해야 한다</a:t>
            </a:r>
            <a:endParaRPr lang="en-US" altLang="ko-KR" dirty="0"/>
          </a:p>
          <a:p>
            <a:r>
              <a:rPr lang="ko-KR" altLang="en-US" dirty="0"/>
              <a:t>정부가 쓸 수 있는 재원은 일정시점에서 한계가 있다</a:t>
            </a:r>
            <a:r>
              <a:rPr lang="en-US" altLang="ko-KR" dirty="0"/>
              <a:t>. </a:t>
            </a:r>
            <a:r>
              <a:rPr lang="ko-KR" altLang="en-US" dirty="0"/>
              <a:t>정부도 </a:t>
            </a:r>
            <a:r>
              <a:rPr lang="ko-KR" altLang="en-US" dirty="0" err="1"/>
              <a:t>예산제약하에</a:t>
            </a:r>
            <a:r>
              <a:rPr lang="ko-KR" altLang="en-US" dirty="0"/>
              <a:t> 효율을 </a:t>
            </a:r>
            <a:endParaRPr lang="en-US" altLang="ko-KR" dirty="0"/>
          </a:p>
          <a:p>
            <a:r>
              <a:rPr lang="ko-KR" altLang="en-US" dirty="0"/>
              <a:t>복지국가의 목표 </a:t>
            </a:r>
            <a:r>
              <a:rPr lang="en-US" altLang="ko-KR" dirty="0"/>
              <a:t>= </a:t>
            </a:r>
            <a:r>
              <a:rPr lang="ko-KR" altLang="en-US" dirty="0"/>
              <a:t>자원의 효율성 추구도 중요하다</a:t>
            </a:r>
            <a:endParaRPr lang="en-US" altLang="ko-KR" dirty="0"/>
          </a:p>
          <a:p>
            <a:r>
              <a:rPr lang="ko-KR" altLang="en-US" dirty="0"/>
              <a:t>일반적으로 모든 국가에 적용되는 기준을 적용할 순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정부가 지출하려면</a:t>
            </a:r>
          </a:p>
          <a:p>
            <a:endParaRPr lang="en-US" altLang="ko-KR" dirty="0"/>
          </a:p>
          <a:p>
            <a:r>
              <a:rPr lang="ko-KR" altLang="en-US" dirty="0"/>
              <a:t>거시적 효율성 </a:t>
            </a:r>
            <a:r>
              <a:rPr lang="en-US" altLang="ko-KR" dirty="0"/>
              <a:t>+ </a:t>
            </a:r>
            <a:r>
              <a:rPr lang="ko-KR" altLang="en-US" dirty="0"/>
              <a:t>미시적 효율성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인센티브 </a:t>
            </a:r>
            <a:r>
              <a:rPr lang="en-US" altLang="ko-KR" dirty="0"/>
              <a:t>= </a:t>
            </a:r>
            <a:r>
              <a:rPr lang="ko-KR" altLang="en-US" dirty="0"/>
              <a:t>국민기초생활보장의 경우 생계급여에 있어서 가구에서 벌어들이는 소득에 의해 최저생계비</a:t>
            </a:r>
            <a:endParaRPr lang="en-US" altLang="ko-KR" dirty="0"/>
          </a:p>
          <a:p>
            <a:r>
              <a:rPr lang="ko-KR" altLang="en-US" dirty="0"/>
              <a:t>벌어들이는</a:t>
            </a:r>
            <a:endParaRPr lang="en-US" altLang="ko-KR" dirty="0"/>
          </a:p>
          <a:p>
            <a:r>
              <a:rPr lang="ko-KR" altLang="en-US" dirty="0"/>
              <a:t>재원조달</a:t>
            </a:r>
            <a:endParaRPr lang="en-US" altLang="ko-KR" dirty="0"/>
          </a:p>
          <a:p>
            <a:r>
              <a:rPr lang="ko-KR" altLang="en-US" dirty="0"/>
              <a:t>법인세 인상이 투자에 </a:t>
            </a:r>
            <a:r>
              <a:rPr lang="ko-KR" altLang="en-US" dirty="0" err="1"/>
              <a:t>부정적일것인가</a:t>
            </a:r>
            <a:r>
              <a:rPr lang="en-US" altLang="ko-KR" dirty="0"/>
              <a:t>? </a:t>
            </a:r>
            <a:r>
              <a:rPr lang="ko-KR" altLang="en-US" dirty="0"/>
              <a:t>실증적으로 </a:t>
            </a:r>
            <a:r>
              <a:rPr lang="ko-KR" altLang="en-US" dirty="0" err="1"/>
              <a:t>따져봐야한다</a:t>
            </a:r>
            <a:r>
              <a:rPr lang="en-US" altLang="ko-KR" dirty="0"/>
              <a:t>. </a:t>
            </a:r>
            <a:r>
              <a:rPr lang="ko-KR" altLang="en-US" dirty="0"/>
              <a:t>인상했을 때 투자가 </a:t>
            </a:r>
            <a:r>
              <a:rPr lang="ko-KR" altLang="en-US" dirty="0" err="1"/>
              <a:t>감소할것인가</a:t>
            </a:r>
            <a:r>
              <a:rPr lang="en-US" altLang="ko-KR" dirty="0"/>
              <a:t>? </a:t>
            </a:r>
            <a:r>
              <a:rPr lang="ko-KR" altLang="en-US" dirty="0"/>
              <a:t>자원배분의 효율성도 무시할 수 없는 주제이다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00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생활수준 </a:t>
            </a:r>
            <a:r>
              <a:rPr lang="en-US" altLang="ko-KR" dirty="0"/>
              <a:t>= </a:t>
            </a:r>
            <a:r>
              <a:rPr lang="ko-KR" altLang="en-US" dirty="0"/>
              <a:t>최저수준이 </a:t>
            </a:r>
            <a:r>
              <a:rPr lang="ko-KR" altLang="en-US" dirty="0" err="1"/>
              <a:t>될수도</a:t>
            </a:r>
            <a:r>
              <a:rPr lang="ko-KR" altLang="en-US" dirty="0"/>
              <a:t> 있고 </a:t>
            </a:r>
            <a:r>
              <a:rPr lang="en-US" altLang="ko-KR" dirty="0"/>
              <a:t>decent(</a:t>
            </a:r>
            <a:r>
              <a:rPr lang="ko-KR" altLang="en-US" dirty="0"/>
              <a:t>괜찮은</a:t>
            </a:r>
            <a:r>
              <a:rPr lang="en-US" altLang="ko-KR" dirty="0"/>
              <a:t>)</a:t>
            </a:r>
            <a:r>
              <a:rPr lang="ko-KR" altLang="en-US" dirty="0"/>
              <a:t>을 기준으로 해서 지원체계를 구축할 수 있다</a:t>
            </a:r>
            <a:endParaRPr lang="en-US" altLang="ko-KR" dirty="0"/>
          </a:p>
          <a:p>
            <a:r>
              <a:rPr lang="ko-KR" altLang="en-US" dirty="0" err="1"/>
              <a:t>정부가보장하는</a:t>
            </a:r>
            <a:r>
              <a:rPr lang="ko-KR" altLang="en-US" dirty="0"/>
              <a:t> 생활수준에 따라 생활수준이나 예산이 달라질 수 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234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빈곤구제 </a:t>
            </a:r>
            <a:r>
              <a:rPr lang="en-US" altLang="ko-KR" dirty="0"/>
              <a:t>: </a:t>
            </a:r>
            <a:r>
              <a:rPr lang="ko-KR" altLang="en-US" dirty="0"/>
              <a:t>국가가 개입을 해서 </a:t>
            </a:r>
            <a:r>
              <a:rPr lang="ko-KR" altLang="en-US" dirty="0" err="1"/>
              <a:t>줄여나가야됨</a:t>
            </a:r>
            <a:endParaRPr lang="en-US" altLang="ko-KR" dirty="0"/>
          </a:p>
          <a:p>
            <a:r>
              <a:rPr lang="ko-KR" altLang="en-US" dirty="0"/>
              <a:t>절대적빈곤과 상대적빈곤</a:t>
            </a:r>
            <a:endParaRPr lang="en-US" altLang="ko-KR" dirty="0"/>
          </a:p>
          <a:p>
            <a:r>
              <a:rPr lang="ko-KR" altLang="en-US" dirty="0"/>
              <a:t>절대적빈곤 </a:t>
            </a:r>
            <a:r>
              <a:rPr lang="en-US" altLang="ko-KR" dirty="0"/>
              <a:t>= </a:t>
            </a:r>
            <a:r>
              <a:rPr lang="ko-KR" altLang="en-US" dirty="0"/>
              <a:t>최소한으로 살 수 있는 수준 </a:t>
            </a:r>
            <a:r>
              <a:rPr lang="en-US" altLang="ko-KR" dirty="0"/>
              <a:t>– </a:t>
            </a:r>
            <a:r>
              <a:rPr lang="ko-KR" altLang="en-US" dirty="0"/>
              <a:t>절대적 빈곤선 바스켓방식 개인이 최저수준의 생활을 유지하기 위해 바스켓에 담아야 하는 물품이 무엇이 있나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상대적빈곤 </a:t>
            </a:r>
            <a:r>
              <a:rPr lang="en-US" altLang="ko-KR" dirty="0"/>
              <a:t>= </a:t>
            </a:r>
            <a:r>
              <a:rPr lang="ko-KR" altLang="en-US" dirty="0"/>
              <a:t>중위소득 </a:t>
            </a:r>
            <a:r>
              <a:rPr lang="en-US" altLang="ko-KR" dirty="0"/>
              <a:t>50~60</a:t>
            </a:r>
            <a:r>
              <a:rPr lang="ko-KR" altLang="en-US" dirty="0"/>
              <a:t>를 기준으로 해서 그 이하를 빈곤계층</a:t>
            </a:r>
            <a:endParaRPr lang="en-US" altLang="ko-KR" dirty="0"/>
          </a:p>
          <a:p>
            <a:r>
              <a:rPr lang="ko-KR" altLang="en-US" dirty="0"/>
              <a:t>우리나라는 절대적 </a:t>
            </a:r>
            <a:r>
              <a:rPr lang="en-US" altLang="ko-KR" dirty="0"/>
              <a:t>-&gt; </a:t>
            </a:r>
            <a:r>
              <a:rPr lang="ko-KR" altLang="en-US" dirty="0"/>
              <a:t>상대적빈곤으로 전환</a:t>
            </a:r>
            <a:endParaRPr lang="en-US" altLang="ko-KR" dirty="0"/>
          </a:p>
          <a:p>
            <a:r>
              <a:rPr lang="ko-KR" altLang="en-US" dirty="0"/>
              <a:t>빈곤선 이하의 사람일수록 소득이 </a:t>
            </a:r>
            <a:r>
              <a:rPr lang="en-US" altLang="ko-KR" dirty="0"/>
              <a:t>100</a:t>
            </a:r>
            <a:r>
              <a:rPr lang="ko-KR" altLang="en-US" dirty="0"/>
              <a:t>만원인 경우와 빈곤의 정도는 다르다</a:t>
            </a:r>
            <a:endParaRPr lang="en-US" altLang="ko-KR" dirty="0"/>
          </a:p>
          <a:p>
            <a:r>
              <a:rPr lang="ko-KR" altLang="en-US" dirty="0" err="1"/>
              <a:t>빈곤갭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빈곤의 수준에 대한 차이</a:t>
            </a:r>
            <a:endParaRPr lang="en-US" altLang="ko-KR" dirty="0"/>
          </a:p>
          <a:p>
            <a:r>
              <a:rPr lang="ko-KR" altLang="en-US" dirty="0"/>
              <a:t>빈곤이 일시적 현상이라면 상관이 없지만 지속적으로 발생할 경우 구조적인 대우가 필요하다</a:t>
            </a:r>
            <a:endParaRPr lang="en-US" altLang="ko-KR" dirty="0"/>
          </a:p>
          <a:p>
            <a:r>
              <a:rPr lang="ko-KR" altLang="en-US" dirty="0"/>
              <a:t>사회보험</a:t>
            </a:r>
            <a:r>
              <a:rPr lang="en-US" altLang="ko-KR" dirty="0"/>
              <a:t>: </a:t>
            </a:r>
            <a:r>
              <a:rPr lang="ko-KR" altLang="en-US" dirty="0"/>
              <a:t>국민연금</a:t>
            </a:r>
            <a:r>
              <a:rPr lang="en-US" altLang="ko-KR" dirty="0"/>
              <a:t>: </a:t>
            </a:r>
            <a:r>
              <a:rPr lang="ko-KR" altLang="en-US" dirty="0"/>
              <a:t>초기자들은 소득대체율이 </a:t>
            </a:r>
            <a:r>
              <a:rPr lang="en-US" altLang="ko-KR" dirty="0"/>
              <a:t>7-8</a:t>
            </a:r>
            <a:r>
              <a:rPr lang="ko-KR" altLang="en-US" dirty="0"/>
              <a:t>배</a:t>
            </a:r>
            <a:r>
              <a:rPr lang="en-US" altLang="ko-KR" dirty="0"/>
              <a:t>; </a:t>
            </a:r>
            <a:r>
              <a:rPr lang="ko-KR" altLang="en-US" dirty="0"/>
              <a:t>소득대체율이 높은 것은 가입을 위해서 잡았는데 기금의 고갈등으로 돌아올 수 있다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850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개인이 합리적이라면 </a:t>
            </a:r>
            <a:endParaRPr lang="en-US" altLang="ko-KR" dirty="0"/>
          </a:p>
          <a:p>
            <a:r>
              <a:rPr lang="ko-KR" altLang="en-US" dirty="0"/>
              <a:t>인간의 불완전성에 대해 모든 소득을 저축에 투자하지 않기 때문에 개입을 하게 되고 </a:t>
            </a:r>
            <a:endParaRPr lang="en-US" altLang="ko-KR" dirty="0"/>
          </a:p>
          <a:p>
            <a:r>
              <a:rPr lang="ko-KR" altLang="en-US" dirty="0"/>
              <a:t>민간부문의 사적 연금제도</a:t>
            </a:r>
            <a:endParaRPr lang="en-US" altLang="ko-KR" dirty="0"/>
          </a:p>
          <a:p>
            <a:r>
              <a:rPr lang="ko-KR" altLang="en-US" dirty="0"/>
              <a:t>보험수리의 원칙</a:t>
            </a:r>
            <a:endParaRPr lang="en-US" altLang="ko-KR" dirty="0"/>
          </a:p>
          <a:p>
            <a:r>
              <a:rPr lang="ko-KR" altLang="en-US" dirty="0"/>
              <a:t>부가방식에 의한 공적연금제도</a:t>
            </a:r>
            <a:endParaRPr lang="en-US" altLang="ko-KR" dirty="0"/>
          </a:p>
          <a:p>
            <a:r>
              <a:rPr lang="ko-KR" altLang="en-US" dirty="0"/>
              <a:t>현실에선 부과방식만 있진 </a:t>
            </a:r>
            <a:r>
              <a:rPr lang="ko-KR" altLang="en-US" dirty="0" err="1"/>
              <a:t>ㅏㅇㄶ다</a:t>
            </a:r>
            <a:endParaRPr lang="en-US" altLang="ko-KR" dirty="0"/>
          </a:p>
          <a:p>
            <a:r>
              <a:rPr lang="ko-KR" altLang="en-US" dirty="0"/>
              <a:t>적립식</a:t>
            </a:r>
            <a:r>
              <a:rPr lang="en-US" altLang="ko-KR" dirty="0"/>
              <a:t>(</a:t>
            </a:r>
            <a:r>
              <a:rPr lang="ko-KR" altLang="en-US" dirty="0"/>
              <a:t>우리나라</a:t>
            </a:r>
            <a:r>
              <a:rPr lang="en-US" altLang="ko-KR" dirty="0"/>
              <a:t>)</a:t>
            </a:r>
            <a:r>
              <a:rPr lang="ko-KR" altLang="en-US" dirty="0"/>
              <a:t>자신이 적립한 연금이 쌓여서 일정연령이상이 되면 연금급여를 지급받음</a:t>
            </a:r>
            <a:endParaRPr lang="en-US" altLang="ko-KR" dirty="0"/>
          </a:p>
          <a:p>
            <a:r>
              <a:rPr lang="ko-KR" altLang="en-US" dirty="0"/>
              <a:t>부과방식 </a:t>
            </a:r>
            <a:r>
              <a:rPr lang="en-US" altLang="ko-KR" dirty="0"/>
              <a:t>= </a:t>
            </a:r>
            <a:r>
              <a:rPr lang="ko-KR" altLang="en-US" dirty="0"/>
              <a:t>연금수급자와 생산활동인구가 있다</a:t>
            </a:r>
            <a:r>
              <a:rPr lang="en-US" altLang="ko-KR" dirty="0"/>
              <a:t>; </a:t>
            </a:r>
          </a:p>
          <a:p>
            <a:r>
              <a:rPr lang="ko-KR" altLang="en-US" dirty="0"/>
              <a:t>생산활동 </a:t>
            </a:r>
            <a:endParaRPr lang="en-US" altLang="ko-KR" dirty="0"/>
          </a:p>
          <a:p>
            <a:r>
              <a:rPr lang="ko-KR" altLang="en-US" dirty="0"/>
              <a:t>연금제도의 개혁방향 </a:t>
            </a:r>
            <a:r>
              <a:rPr lang="en-US" altLang="ko-KR" dirty="0"/>
              <a:t>-&gt; </a:t>
            </a:r>
            <a:r>
              <a:rPr lang="ko-KR" altLang="en-US" dirty="0"/>
              <a:t>기존의 보험료와 급여체제 </a:t>
            </a:r>
            <a:r>
              <a:rPr lang="en-US" altLang="ko-KR" dirty="0"/>
              <a:t>; 50</a:t>
            </a:r>
            <a:r>
              <a:rPr lang="ko-KR" altLang="en-US" dirty="0"/>
              <a:t>년에 </a:t>
            </a:r>
            <a:r>
              <a:rPr lang="en-US" altLang="ko-KR" dirty="0"/>
              <a:t>; </a:t>
            </a:r>
            <a:r>
              <a:rPr lang="ko-KR" altLang="en-US" dirty="0"/>
              <a:t>납부액은 높이고 소득대체율은 높인다</a:t>
            </a:r>
            <a:r>
              <a:rPr lang="en-US" altLang="ko-KR" dirty="0"/>
              <a:t>; </a:t>
            </a:r>
            <a:r>
              <a:rPr lang="ko-KR" altLang="en-US" dirty="0"/>
              <a:t>개혁이 없다면 </a:t>
            </a:r>
            <a:endParaRPr lang="en-US" altLang="ko-KR" dirty="0"/>
          </a:p>
          <a:p>
            <a:r>
              <a:rPr lang="ko-KR" altLang="en-US" dirty="0"/>
              <a:t>부과방식으로 전환한다면 소득자에게 현재 일하고 있는 사람들에게 보험료를 얻어서 </a:t>
            </a:r>
            <a:r>
              <a:rPr lang="en-US" altLang="ko-KR" dirty="0"/>
              <a:t>30%</a:t>
            </a:r>
            <a:r>
              <a:rPr lang="ko-KR" altLang="en-US" dirty="0"/>
              <a:t>이상의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27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담보가 없기 때문에</a:t>
            </a:r>
            <a:endParaRPr lang="en-US" altLang="ko-KR" dirty="0"/>
          </a:p>
          <a:p>
            <a:r>
              <a:rPr lang="ko-KR" altLang="en-US" dirty="0"/>
              <a:t>은행의 입장에선 불확실한 </a:t>
            </a:r>
            <a:r>
              <a:rPr lang="ko-KR" altLang="en-US" dirty="0" err="1"/>
              <a:t>미해에</a:t>
            </a:r>
            <a:r>
              <a:rPr lang="ko-KR" altLang="en-US" dirty="0"/>
              <a:t> 대해 대출하지 않음</a:t>
            </a:r>
            <a:r>
              <a:rPr lang="en-US" altLang="ko-KR" dirty="0"/>
              <a:t>; -&gt; </a:t>
            </a:r>
            <a:r>
              <a:rPr lang="ko-KR" altLang="en-US" dirty="0"/>
              <a:t>국가가 장학금을 지원</a:t>
            </a:r>
            <a:r>
              <a:rPr lang="en-US" altLang="ko-KR" dirty="0"/>
              <a:t>. </a:t>
            </a:r>
            <a:r>
              <a:rPr lang="ko-KR" altLang="en-US" dirty="0"/>
              <a:t>국가가 대신 담보자로 설정</a:t>
            </a:r>
            <a:r>
              <a:rPr lang="en-US" altLang="ko-KR" dirty="0"/>
              <a:t>; </a:t>
            </a:r>
            <a:r>
              <a:rPr lang="ko-KR" altLang="en-US" dirty="0"/>
              <a:t>국</a:t>
            </a:r>
            <a:endParaRPr lang="en-US" altLang="ko-KR" dirty="0"/>
          </a:p>
          <a:p>
            <a:r>
              <a:rPr lang="ko-KR" altLang="en-US" dirty="0"/>
              <a:t>급여방식은 수직형</a:t>
            </a:r>
            <a:endParaRPr lang="en-US" altLang="ko-KR" dirty="0"/>
          </a:p>
          <a:p>
            <a:r>
              <a:rPr lang="ko-KR" altLang="en-US" dirty="0"/>
              <a:t>자산조사의 경우 급여혜택이 더 </a:t>
            </a:r>
            <a:r>
              <a:rPr lang="ko-KR" altLang="en-US" dirty="0" err="1"/>
              <a:t>크게되나</a:t>
            </a:r>
            <a:endParaRPr lang="en-US" altLang="ko-KR" dirty="0"/>
          </a:p>
          <a:p>
            <a:r>
              <a:rPr lang="ko-KR" altLang="en-US" dirty="0"/>
              <a:t>기초연금의 경우 </a:t>
            </a:r>
            <a:endParaRPr lang="en-US" altLang="ko-KR" dirty="0"/>
          </a:p>
          <a:p>
            <a:r>
              <a:rPr lang="ko-KR" altLang="en-US" dirty="0"/>
              <a:t>우리나라기초연금 </a:t>
            </a:r>
            <a:r>
              <a:rPr lang="en-US" altLang="ko-KR" dirty="0"/>
              <a:t>= </a:t>
            </a:r>
            <a:r>
              <a:rPr lang="ko-KR" altLang="en-US" dirty="0"/>
              <a:t>하위소득에게 지급</a:t>
            </a:r>
            <a:r>
              <a:rPr lang="en-US" altLang="ko-KR" dirty="0"/>
              <a:t>; </a:t>
            </a:r>
            <a:r>
              <a:rPr lang="ko-KR" altLang="en-US" dirty="0"/>
              <a:t>선별적복지에 포함된다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231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330575" y="860425"/>
            <a:ext cx="3359150" cy="23256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수평적공평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아동수당 </a:t>
            </a:r>
            <a:r>
              <a:rPr lang="en-US" altLang="ko-KR" dirty="0"/>
              <a:t>= </a:t>
            </a:r>
            <a:r>
              <a:rPr lang="ko-KR" altLang="en-US" dirty="0"/>
              <a:t>연령 등 소득이 아닌 다른 지표로 재분배 이루어짐</a:t>
            </a:r>
            <a:endParaRPr lang="en-US" altLang="ko-KR" dirty="0"/>
          </a:p>
          <a:p>
            <a:r>
              <a:rPr lang="ko-KR" altLang="en-US" dirty="0"/>
              <a:t>개인적인 차이는 고려할 수 있으나 인종</a:t>
            </a:r>
            <a:r>
              <a:rPr lang="en-US" altLang="ko-KR" dirty="0"/>
              <a:t>/</a:t>
            </a:r>
            <a:r>
              <a:rPr lang="ko-KR" altLang="en-US" dirty="0" err="1"/>
              <a:t>출신등은</a:t>
            </a:r>
            <a:r>
              <a:rPr lang="ko-KR" altLang="en-US" dirty="0"/>
              <a:t> 고려에서 배제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9E2DF-79AF-4391-A820-7909E0812D0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444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lang="en-US" altLang="ko-KR" spc="285"/>
              <a:t>-</a:t>
            </a:r>
            <a:r>
              <a:rPr lang="ko-KR" altLang="en-US" spc="175"/>
              <a:t> </a:t>
            </a:r>
            <a:fld id="{81D60167-4931-47E6-BA6A-407CBD079E47}" type="slidenum">
              <a:rPr spc="15" smtClean="0"/>
              <a:pPr marL="12700">
                <a:lnSpc>
                  <a:spcPts val="1155"/>
                </a:lnSpc>
              </a:pPr>
              <a:t>‹#›</a:t>
            </a:fld>
            <a:r>
              <a:rPr spc="195"/>
              <a:t> </a:t>
            </a:r>
            <a:r>
              <a:rPr spc="285"/>
              <a:t>-</a:t>
            </a:r>
            <a:endParaRPr spc="28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lang="en-US" altLang="ko-KR" spc="285"/>
              <a:t>-</a:t>
            </a:r>
            <a:r>
              <a:rPr lang="ko-KR" altLang="en-US" spc="175"/>
              <a:t> </a:t>
            </a:r>
            <a:fld id="{81D60167-4931-47E6-BA6A-407CBD079E47}" type="slidenum">
              <a:rPr spc="15" smtClean="0"/>
              <a:pPr marL="12700">
                <a:lnSpc>
                  <a:spcPts val="1155"/>
                </a:lnSpc>
              </a:pPr>
              <a:t>‹#›</a:t>
            </a:fld>
            <a:r>
              <a:rPr spc="195"/>
              <a:t> </a:t>
            </a:r>
            <a:r>
              <a:rPr spc="285"/>
              <a:t>-</a:t>
            </a:r>
            <a:endParaRPr spc="28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89" y="1577340"/>
            <a:ext cx="430911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lang="en-US" altLang="ko-KR" spc="285"/>
              <a:t>-</a:t>
            </a:r>
            <a:r>
              <a:rPr lang="ko-KR" altLang="en-US" spc="175"/>
              <a:t> </a:t>
            </a:r>
            <a:fld id="{81D60167-4931-47E6-BA6A-407CBD079E47}" type="slidenum">
              <a:rPr spc="15" smtClean="0"/>
              <a:pPr marL="12700">
                <a:lnSpc>
                  <a:spcPts val="1155"/>
                </a:lnSpc>
              </a:pPr>
              <a:t>‹#›</a:t>
            </a:fld>
            <a:r>
              <a:rPr spc="195"/>
              <a:t> </a:t>
            </a:r>
            <a:r>
              <a:rPr spc="285"/>
              <a:t>-</a:t>
            </a:r>
            <a:endParaRPr spc="28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lang="en-US" altLang="ko-KR" spc="285"/>
              <a:t>-</a:t>
            </a:r>
            <a:r>
              <a:rPr lang="ko-KR" altLang="en-US" spc="175"/>
              <a:t> </a:t>
            </a:r>
            <a:fld id="{81D60167-4931-47E6-BA6A-407CBD079E47}" type="slidenum">
              <a:rPr spc="15" smtClean="0"/>
              <a:pPr marL="12700">
                <a:lnSpc>
                  <a:spcPts val="1155"/>
                </a:lnSpc>
              </a:pPr>
              <a:t>‹#›</a:t>
            </a:fld>
            <a:r>
              <a:rPr spc="195"/>
              <a:t> </a:t>
            </a:r>
            <a:r>
              <a:rPr spc="285"/>
              <a:t>-</a:t>
            </a:r>
            <a:endParaRPr spc="28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lang="en-US" altLang="ko-KR" spc="285"/>
              <a:t>-</a:t>
            </a:r>
            <a:r>
              <a:rPr lang="ko-KR" altLang="en-US" spc="175"/>
              <a:t> </a:t>
            </a:r>
            <a:fld id="{81D60167-4931-47E6-BA6A-407CBD079E47}" type="slidenum">
              <a:rPr spc="15" smtClean="0"/>
              <a:pPr marL="12700">
                <a:lnSpc>
                  <a:spcPts val="1155"/>
                </a:lnSpc>
              </a:pPr>
              <a:t>‹#›</a:t>
            </a:fld>
            <a:r>
              <a:rPr spc="195"/>
              <a:t> </a:t>
            </a:r>
            <a:r>
              <a:rPr spc="285"/>
              <a:t>-</a:t>
            </a:r>
            <a:endParaRPr spc="28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81724" y="1097139"/>
            <a:ext cx="574255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7807" y="1741881"/>
            <a:ext cx="793038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25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25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42146" y="6242005"/>
            <a:ext cx="45878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155"/>
              </a:lnSpc>
            </a:pPr>
            <a:r>
              <a:rPr lang="en-US" altLang="ko-KR" spc="285"/>
              <a:t>-</a:t>
            </a:r>
            <a:r>
              <a:rPr lang="ko-KR" altLang="en-US" spc="175"/>
              <a:t> </a:t>
            </a:r>
            <a:fld id="{81D60167-4931-47E6-BA6A-407CBD079E47}" type="slidenum">
              <a:rPr spc="15" smtClean="0"/>
              <a:pPr marL="12700">
                <a:lnSpc>
                  <a:spcPts val="1155"/>
                </a:lnSpc>
              </a:pPr>
              <a:t>‹#›</a:t>
            </a:fld>
            <a:r>
              <a:rPr spc="195"/>
              <a:t> </a:t>
            </a:r>
            <a:r>
              <a:rPr spc="285"/>
              <a:t>-</a:t>
            </a:r>
            <a:endParaRPr spc="28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6966" y="845927"/>
            <a:ext cx="375412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700" spc="25" dirty="0"/>
              <a:t>제2강.</a:t>
            </a:r>
            <a:r>
              <a:rPr sz="2700" spc="355" dirty="0"/>
              <a:t> </a:t>
            </a:r>
            <a:r>
              <a:rPr sz="2700" spc="-5" dirty="0"/>
              <a:t>복지국가론</a:t>
            </a:r>
            <a:r>
              <a:rPr sz="2700" spc="355" dirty="0"/>
              <a:t> </a:t>
            </a:r>
            <a:r>
              <a:rPr sz="2700" spc="-5" dirty="0"/>
              <a:t>개관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679287" y="1813143"/>
            <a:ext cx="8549005" cy="3303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20" dirty="0">
                <a:latin typeface="Malgun Gothic"/>
                <a:cs typeface="Malgun Gothic"/>
              </a:rPr>
              <a:t>제1절.</a:t>
            </a:r>
            <a:r>
              <a:rPr sz="2000" b="1" spc="204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접근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15"/>
              </a:spcBef>
            </a:pPr>
            <a:endParaRPr sz="2200" dirty="0">
              <a:latin typeface="Malgun Gothic"/>
              <a:cs typeface="Malgun Gothic"/>
            </a:endParaRPr>
          </a:p>
          <a:p>
            <a:pPr marL="12700"/>
            <a:r>
              <a:rPr sz="2000" b="1" spc="40" dirty="0">
                <a:latin typeface="Malgun Gothic"/>
                <a:cs typeface="Malgun Gothic"/>
              </a:rPr>
              <a:t>1.</a:t>
            </a:r>
            <a:r>
              <a:rPr sz="2000" b="1" spc="204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중심과제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5"/>
              </a:spcBef>
            </a:pPr>
            <a:endParaRPr sz="2200" dirty="0">
              <a:latin typeface="Malgun Gothic"/>
              <a:cs typeface="Malgun Gothic"/>
            </a:endParaRPr>
          </a:p>
          <a:p>
            <a:pPr marL="266700" indent="-254635"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운영원리와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주요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정책들을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경제학이론을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토대로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설명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Cambria"/>
              <a:buChar char="○"/>
            </a:pPr>
            <a:endParaRPr sz="2200" dirty="0">
              <a:latin typeface="Malgun Gothic"/>
              <a:cs typeface="Malgun Gothic"/>
            </a:endParaRPr>
          </a:p>
          <a:p>
            <a:pPr marL="424815" lvl="1" indent="-287020">
              <a:buClr>
                <a:srgbClr val="000000"/>
              </a:buClr>
              <a:buChar char="-"/>
              <a:tabLst>
                <a:tab pos="425450" algn="l"/>
              </a:tabLst>
            </a:pP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복지국가의</a:t>
            </a:r>
            <a:r>
              <a:rPr sz="2000" b="1" spc="29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정책목표는</a:t>
            </a:r>
            <a:r>
              <a:rPr sz="2000" b="1" spc="29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15" dirty="0">
                <a:solidFill>
                  <a:srgbClr val="0000FF"/>
                </a:solidFill>
                <a:latin typeface="Malgun Gothic"/>
                <a:cs typeface="Malgun Gothic"/>
              </a:rPr>
              <a:t>무엇인가?</a:t>
            </a:r>
            <a:r>
              <a:rPr sz="2000" b="1" spc="30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spc="-360" dirty="0">
                <a:latin typeface="Cambria"/>
                <a:cs typeface="Cambria"/>
              </a:rPr>
              <a:t>⟹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규범적(normative)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문제</a:t>
            </a:r>
            <a:endParaRPr sz="2000" dirty="0">
              <a:latin typeface="Malgun Gothic"/>
              <a:cs typeface="Malgun Gothic"/>
            </a:endParaRPr>
          </a:p>
          <a:p>
            <a:pPr lvl="1">
              <a:spcBef>
                <a:spcPts val="40"/>
              </a:spcBef>
              <a:buFont typeface="Malgun Gothic"/>
              <a:buChar char="-"/>
            </a:pPr>
            <a:endParaRPr sz="1750" dirty="0">
              <a:latin typeface="Malgun Gothic"/>
              <a:cs typeface="Malgun Gothic"/>
            </a:endParaRPr>
          </a:p>
          <a:p>
            <a:pPr marL="452120" marR="5080" lvl="1" indent="-313690">
              <a:lnSpc>
                <a:spcPct val="132900"/>
              </a:lnSpc>
              <a:spcBef>
                <a:spcPts val="5"/>
              </a:spcBef>
              <a:buChar char="-"/>
              <a:tabLst>
                <a:tab pos="452120" algn="l"/>
                <a:tab pos="452755" algn="l"/>
                <a:tab pos="1367155" algn="l"/>
                <a:tab pos="2790825" algn="l"/>
                <a:tab pos="3451225" algn="l"/>
                <a:tab pos="4874895" algn="l"/>
                <a:tab pos="5789295" algn="l"/>
                <a:tab pos="6197600" algn="l"/>
                <a:tab pos="6858000" algn="l"/>
                <a:tab pos="7773034" algn="l"/>
              </a:tabLst>
            </a:pPr>
            <a:r>
              <a:rPr sz="2000" b="1" dirty="0">
                <a:latin typeface="Malgun Gothic"/>
                <a:cs typeface="Malgun Gothic"/>
              </a:rPr>
              <a:t>이</a:t>
            </a:r>
            <a:r>
              <a:rPr sz="2000" b="1" spc="-15" dirty="0">
                <a:latin typeface="Malgun Gothic"/>
                <a:cs typeface="Malgun Gothic"/>
              </a:rPr>
              <a:t>러</a:t>
            </a:r>
            <a:r>
              <a:rPr sz="2000" b="1" dirty="0">
                <a:latin typeface="Malgun Gothic"/>
                <a:cs typeface="Malgun Gothic"/>
              </a:rPr>
              <a:t>한	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정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책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목표를	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가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장	합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리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적으로	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달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성할	수	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있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는	수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단</a:t>
            </a:r>
            <a:r>
              <a:rPr sz="2000" b="1" dirty="0">
                <a:latin typeface="Malgun Gothic"/>
                <a:cs typeface="Malgun Gothic"/>
              </a:rPr>
              <a:t>은	무엇인  </a:t>
            </a:r>
            <a:r>
              <a:rPr sz="2000" b="1" spc="45" dirty="0">
                <a:latin typeface="Malgun Gothic"/>
                <a:cs typeface="Malgun Gothic"/>
              </a:rPr>
              <a:t>가?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spc="-360" dirty="0">
                <a:latin typeface="Cambria"/>
                <a:cs typeface="Cambria"/>
              </a:rPr>
              <a:t>⟹</a:t>
            </a:r>
            <a:r>
              <a:rPr sz="2000" spc="-330" dirty="0">
                <a:latin typeface="Cambria"/>
                <a:cs typeface="Cambria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실증적(positive)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문제</a:t>
            </a:r>
            <a:endParaRPr sz="20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1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2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6" y="1264801"/>
            <a:ext cx="32956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20" dirty="0"/>
              <a:t>제2절.</a:t>
            </a:r>
            <a:r>
              <a:rPr spc="250" dirty="0"/>
              <a:t> </a:t>
            </a:r>
            <a:r>
              <a:rPr spc="-5" dirty="0"/>
              <a:t>복지국가와</a:t>
            </a:r>
            <a:r>
              <a:rPr spc="254" dirty="0"/>
              <a:t> </a:t>
            </a:r>
            <a:r>
              <a:rPr spc="-5" dirty="0"/>
              <a:t>정책목표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287" y="2078176"/>
            <a:ext cx="8410575" cy="3254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40" dirty="0">
                <a:latin typeface="Malgun Gothic"/>
                <a:cs typeface="Malgun Gothic"/>
              </a:rPr>
              <a:t>1.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정의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5"/>
              </a:spcBef>
            </a:pPr>
            <a:endParaRPr sz="2200" dirty="0">
              <a:latin typeface="Malgun Gothic"/>
              <a:cs typeface="Malgun Gothic"/>
            </a:endParaRPr>
          </a:p>
          <a:p>
            <a:pPr marL="12700"/>
            <a:r>
              <a:rPr sz="2000" b="1" spc="30" dirty="0">
                <a:latin typeface="Malgun Gothic"/>
                <a:cs typeface="Malgun Gothic"/>
              </a:rPr>
              <a:t>1)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원칙론적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차원의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복지국가: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특성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 dirty="0">
              <a:latin typeface="Malgun Gothic"/>
              <a:cs typeface="Malgun Gothic"/>
            </a:endParaRPr>
          </a:p>
          <a:p>
            <a:pPr marL="12700"/>
            <a:r>
              <a:rPr sz="2000" b="1" dirty="0">
                <a:latin typeface="Malgun Gothic"/>
                <a:cs typeface="Malgun Gothic"/>
              </a:rPr>
              <a:t>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20" dirty="0">
                <a:solidFill>
                  <a:srgbClr val="0000FF"/>
                </a:solidFill>
                <a:latin typeface="Malgun Gothic"/>
                <a:cs typeface="Malgun Gothic"/>
              </a:rPr>
              <a:t>복지(welfare)</a:t>
            </a:r>
            <a:r>
              <a:rPr sz="2000" b="1" spc="20" dirty="0">
                <a:latin typeface="Malgun Gothic"/>
                <a:cs typeface="Malgun Gothic"/>
              </a:rPr>
              <a:t>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활동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이외에도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다양한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원천</a:t>
            </a:r>
            <a:r>
              <a:rPr sz="2000" b="1" spc="-5" dirty="0">
                <a:latin typeface="Malgun Gothic"/>
                <a:cs typeface="Malgun Gothic"/>
              </a:rPr>
              <a:t>에서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생성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노동시장에서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발생하는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임금소득,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법적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또는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자발적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기업복지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가계부문의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자발적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민간보험과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저축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가족구성원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상호간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소득이전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및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이웃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상부상조: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기부,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자선,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봉사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국가에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현금급여,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현물급여,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조세감면을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통한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복지활동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지원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66585" y="868774"/>
            <a:ext cx="237299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50" dirty="0">
                <a:latin typeface="Malgun Gothic"/>
                <a:cs typeface="Malgun Gothic"/>
              </a:rPr>
              <a:t>&lt;그림</a:t>
            </a:r>
            <a:r>
              <a:rPr sz="1500" b="1" spc="195" dirty="0">
                <a:latin typeface="Malgun Gothic"/>
                <a:cs typeface="Malgun Gothic"/>
              </a:rPr>
              <a:t> </a:t>
            </a:r>
            <a:r>
              <a:rPr sz="1500" b="1" spc="-60" dirty="0">
                <a:latin typeface="Malgun Gothic"/>
                <a:cs typeface="Malgun Gothic"/>
              </a:rPr>
              <a:t>1&gt;</a:t>
            </a:r>
            <a:r>
              <a:rPr sz="1500" b="1" spc="190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복지국가의</a:t>
            </a:r>
            <a:r>
              <a:rPr sz="1500" b="1" spc="195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유형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749" y="1215060"/>
            <a:ext cx="5488012" cy="4306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19716" y="5637834"/>
            <a:ext cx="74669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25" dirty="0">
                <a:latin typeface="Malgun Gothic"/>
                <a:cs typeface="Malgun Gothic"/>
              </a:rPr>
              <a:t>출처:</a:t>
            </a:r>
            <a:r>
              <a:rPr sz="1200" b="1" spc="175" dirty="0">
                <a:latin typeface="Malgun Gothic"/>
                <a:cs typeface="Malgun Gothic"/>
              </a:rPr>
              <a:t> </a:t>
            </a:r>
            <a:r>
              <a:rPr sz="1200" b="1" spc="-5" dirty="0">
                <a:latin typeface="Malgun Gothic"/>
                <a:cs typeface="Malgun Gothic"/>
              </a:rPr>
              <a:t>윤영진ㆍ강병구</a:t>
            </a:r>
            <a:r>
              <a:rPr sz="1200" b="1" spc="185" dirty="0">
                <a:latin typeface="Malgun Gothic"/>
                <a:cs typeface="Malgun Gothic"/>
              </a:rPr>
              <a:t> </a:t>
            </a:r>
            <a:r>
              <a:rPr sz="1200" b="1" spc="15" dirty="0">
                <a:latin typeface="Malgun Gothic"/>
                <a:cs typeface="Malgun Gothic"/>
              </a:rPr>
              <a:t>외,</a:t>
            </a:r>
            <a:r>
              <a:rPr sz="1200" b="1" spc="180" dirty="0">
                <a:latin typeface="Malgun Gothic"/>
                <a:cs typeface="Malgun Gothic"/>
              </a:rPr>
              <a:t> </a:t>
            </a:r>
            <a:r>
              <a:rPr sz="1200" b="1" spc="575" dirty="0">
                <a:latin typeface="Malgun Gothic"/>
                <a:cs typeface="Malgun Gothic"/>
              </a:rPr>
              <a:t>『</a:t>
            </a:r>
            <a:r>
              <a:rPr sz="1200" b="1" spc="-5" dirty="0">
                <a:latin typeface="Malgun Gothic"/>
                <a:cs typeface="Malgun Gothic"/>
              </a:rPr>
              <a:t>한국형</a:t>
            </a:r>
            <a:r>
              <a:rPr sz="1200" b="1" spc="185" dirty="0">
                <a:latin typeface="Malgun Gothic"/>
                <a:cs typeface="Malgun Gothic"/>
              </a:rPr>
              <a:t> </a:t>
            </a:r>
            <a:r>
              <a:rPr sz="1200" b="1" spc="-5" dirty="0">
                <a:latin typeface="Malgun Gothic"/>
                <a:cs typeface="Malgun Gothic"/>
              </a:rPr>
              <a:t>복지모델</a:t>
            </a:r>
            <a:r>
              <a:rPr sz="1200" b="1" spc="180" dirty="0">
                <a:latin typeface="Malgun Gothic"/>
                <a:cs typeface="Malgun Gothic"/>
              </a:rPr>
              <a:t> </a:t>
            </a:r>
            <a:r>
              <a:rPr sz="1200" b="1" spc="-5" dirty="0">
                <a:latin typeface="Malgun Gothic"/>
                <a:cs typeface="Malgun Gothic"/>
              </a:rPr>
              <a:t>구축을</a:t>
            </a:r>
            <a:r>
              <a:rPr sz="1200" b="1" spc="185" dirty="0">
                <a:latin typeface="Malgun Gothic"/>
                <a:cs typeface="Malgun Gothic"/>
              </a:rPr>
              <a:t> </a:t>
            </a:r>
            <a:r>
              <a:rPr sz="1200" b="1" spc="-5" dirty="0">
                <a:latin typeface="Malgun Gothic"/>
                <a:cs typeface="Malgun Gothic"/>
              </a:rPr>
              <a:t>위한</a:t>
            </a:r>
            <a:r>
              <a:rPr sz="1200" b="1" spc="180" dirty="0">
                <a:latin typeface="Malgun Gothic"/>
                <a:cs typeface="Malgun Gothic"/>
              </a:rPr>
              <a:t> </a:t>
            </a:r>
            <a:r>
              <a:rPr sz="1200" b="1" spc="-5" dirty="0">
                <a:latin typeface="Malgun Gothic"/>
                <a:cs typeface="Malgun Gothic"/>
              </a:rPr>
              <a:t>조세ㆍ재정정책</a:t>
            </a:r>
            <a:r>
              <a:rPr sz="1200" b="1" spc="185" dirty="0">
                <a:latin typeface="Malgun Gothic"/>
                <a:cs typeface="Malgun Gothic"/>
              </a:rPr>
              <a:t> </a:t>
            </a:r>
            <a:r>
              <a:rPr sz="1200" b="1" spc="-5" dirty="0">
                <a:latin typeface="Malgun Gothic"/>
                <a:cs typeface="Malgun Gothic"/>
              </a:rPr>
              <a:t>방향</a:t>
            </a:r>
            <a:r>
              <a:rPr sz="1200" b="1" spc="575" dirty="0">
                <a:latin typeface="Malgun Gothic"/>
                <a:cs typeface="Malgun Gothic"/>
              </a:rPr>
              <a:t>』</a:t>
            </a:r>
            <a:r>
              <a:rPr sz="1200" b="1" spc="35" dirty="0">
                <a:latin typeface="Malgun Gothic"/>
                <a:cs typeface="Malgun Gothic"/>
              </a:rPr>
              <a:t>,</a:t>
            </a:r>
            <a:r>
              <a:rPr sz="1200" b="1" spc="19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정책기획위원회,</a:t>
            </a:r>
            <a:r>
              <a:rPr sz="1200" b="1" spc="180" dirty="0">
                <a:latin typeface="Malgun Gothic"/>
                <a:cs typeface="Malgun Gothic"/>
              </a:rPr>
              <a:t> </a:t>
            </a:r>
            <a:r>
              <a:rPr sz="1200" b="1" spc="20" dirty="0">
                <a:latin typeface="Malgun Gothic"/>
                <a:cs typeface="Malgun Gothic"/>
              </a:rPr>
              <a:t>2006.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3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4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3705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②</a:t>
            </a:r>
            <a:r>
              <a:rPr spc="270" dirty="0"/>
              <a:t> </a:t>
            </a:r>
            <a:r>
              <a:rPr spc="-5" dirty="0"/>
              <a:t>복지의</a:t>
            </a:r>
            <a:r>
              <a:rPr spc="270" dirty="0"/>
              <a:t> </a:t>
            </a:r>
            <a:r>
              <a:rPr spc="-5" dirty="0">
                <a:solidFill>
                  <a:srgbClr val="0000FF"/>
                </a:solidFill>
              </a:rPr>
              <a:t>전달유형</a:t>
            </a:r>
            <a:r>
              <a:rPr spc="-5" dirty="0"/>
              <a:t>이</a:t>
            </a:r>
            <a:r>
              <a:rPr spc="270" dirty="0"/>
              <a:t> </a:t>
            </a:r>
            <a:r>
              <a:rPr spc="-5" dirty="0"/>
              <a:t>다양하다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00458" y="1392632"/>
            <a:ext cx="7930385" cy="33088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26084" indent="-287020">
              <a:spcBef>
                <a:spcPts val="900"/>
              </a:spcBef>
              <a:buChar char="-"/>
              <a:tabLst>
                <a:tab pos="426720" algn="l"/>
              </a:tabLst>
            </a:pPr>
            <a:r>
              <a:rPr spc="-5" dirty="0"/>
              <a:t>국가가</a:t>
            </a:r>
            <a:r>
              <a:rPr spc="280" dirty="0"/>
              <a:t> </a:t>
            </a:r>
            <a:r>
              <a:rPr spc="-5" dirty="0"/>
              <a:t>사회복지서비스를</a:t>
            </a:r>
            <a:r>
              <a:rPr spc="285" dirty="0"/>
              <a:t> </a:t>
            </a:r>
            <a:r>
              <a:rPr spc="-5" dirty="0"/>
              <a:t>자체적으로</a:t>
            </a:r>
            <a:r>
              <a:rPr spc="285" dirty="0"/>
              <a:t> </a:t>
            </a:r>
            <a:r>
              <a:rPr spc="-10" dirty="0"/>
              <a:t>생산</a:t>
            </a:r>
            <a:r>
              <a:rPr spc="280" dirty="0"/>
              <a:t> </a:t>
            </a:r>
            <a:r>
              <a:rPr dirty="0"/>
              <a:t>및</a:t>
            </a:r>
            <a:r>
              <a:rPr spc="285" dirty="0"/>
              <a:t> </a:t>
            </a:r>
            <a:r>
              <a:rPr dirty="0"/>
              <a:t>제공</a:t>
            </a:r>
          </a:p>
          <a:p>
            <a:pPr marL="426084" indent="-287020">
              <a:spcBef>
                <a:spcPts val="800"/>
              </a:spcBef>
              <a:buChar char="-"/>
              <a:tabLst>
                <a:tab pos="426720" algn="l"/>
              </a:tabLst>
            </a:pPr>
            <a:r>
              <a:rPr spc="-5" dirty="0"/>
              <a:t>국가가</a:t>
            </a:r>
            <a:r>
              <a:rPr spc="280" dirty="0"/>
              <a:t> </a:t>
            </a:r>
            <a:r>
              <a:rPr dirty="0"/>
              <a:t>비용을</a:t>
            </a:r>
            <a:r>
              <a:rPr spc="280" dirty="0"/>
              <a:t> </a:t>
            </a:r>
            <a:r>
              <a:rPr spc="-5" dirty="0"/>
              <a:t>지불하고</a:t>
            </a:r>
            <a:r>
              <a:rPr spc="285" dirty="0"/>
              <a:t> </a:t>
            </a:r>
            <a:r>
              <a:rPr spc="-5" dirty="0"/>
              <a:t>민간이</a:t>
            </a:r>
            <a:r>
              <a:rPr spc="280" dirty="0"/>
              <a:t> </a:t>
            </a:r>
            <a:r>
              <a:rPr dirty="0"/>
              <a:t>생산</a:t>
            </a:r>
            <a:r>
              <a:rPr spc="285" dirty="0"/>
              <a:t> </a:t>
            </a:r>
            <a:r>
              <a:rPr spc="140" dirty="0"/>
              <a:t>:</a:t>
            </a:r>
            <a:r>
              <a:rPr spc="285" dirty="0"/>
              <a:t> </a:t>
            </a:r>
            <a:r>
              <a:rPr spc="-5" dirty="0"/>
              <a:t>민간위탁</a:t>
            </a:r>
          </a:p>
          <a:p>
            <a:pPr marL="426084" indent="-287020">
              <a:spcBef>
                <a:spcPts val="795"/>
              </a:spcBef>
              <a:buChar char="-"/>
              <a:tabLst>
                <a:tab pos="426720" algn="l"/>
              </a:tabLst>
            </a:pPr>
            <a:r>
              <a:rPr spc="-5" dirty="0"/>
              <a:t>국가가</a:t>
            </a:r>
            <a:r>
              <a:rPr spc="280" dirty="0"/>
              <a:t> </a:t>
            </a:r>
            <a:r>
              <a:rPr spc="-5" dirty="0"/>
              <a:t>개인에게</a:t>
            </a:r>
            <a:r>
              <a:rPr spc="285" dirty="0"/>
              <a:t> </a:t>
            </a:r>
            <a:r>
              <a:rPr spc="-5" dirty="0"/>
              <a:t>현금급여를</a:t>
            </a:r>
            <a:r>
              <a:rPr spc="280" dirty="0"/>
              <a:t> </a:t>
            </a:r>
            <a:r>
              <a:rPr dirty="0"/>
              <a:t>제공</a:t>
            </a:r>
            <a:r>
              <a:rPr spc="285" dirty="0"/>
              <a:t> </a:t>
            </a:r>
            <a:r>
              <a:rPr spc="-10" dirty="0"/>
              <a:t>또는</a:t>
            </a:r>
            <a:r>
              <a:rPr spc="285" dirty="0"/>
              <a:t> </a:t>
            </a:r>
            <a:r>
              <a:rPr spc="-5" dirty="0"/>
              <a:t>조세감면</a:t>
            </a:r>
          </a:p>
          <a:p>
            <a:pPr marL="1270">
              <a:spcBef>
                <a:spcPts val="10"/>
              </a:spcBef>
              <a:buFont typeface="Malgun Gothic"/>
              <a:buChar char="-"/>
            </a:pPr>
            <a:endParaRPr sz="2200" dirty="0"/>
          </a:p>
          <a:p>
            <a:pPr marL="13970">
              <a:spcBef>
                <a:spcPts val="5"/>
              </a:spcBef>
            </a:pPr>
            <a:r>
              <a:rPr dirty="0"/>
              <a:t>③</a:t>
            </a:r>
            <a:r>
              <a:rPr spc="280" dirty="0"/>
              <a:t> </a:t>
            </a:r>
            <a:r>
              <a:rPr spc="-5" dirty="0"/>
              <a:t>복지국가의</a:t>
            </a:r>
            <a:r>
              <a:rPr spc="280" dirty="0"/>
              <a:t> </a:t>
            </a:r>
            <a:r>
              <a:rPr spc="-5" dirty="0">
                <a:solidFill>
                  <a:srgbClr val="0000FF"/>
                </a:solidFill>
              </a:rPr>
              <a:t>활동영역</a:t>
            </a:r>
            <a:r>
              <a:rPr spc="-5" dirty="0"/>
              <a:t>이</a:t>
            </a:r>
            <a:r>
              <a:rPr spc="285" dirty="0"/>
              <a:t> </a:t>
            </a:r>
            <a:r>
              <a:rPr spc="-5" dirty="0"/>
              <a:t>명확하게</a:t>
            </a:r>
            <a:r>
              <a:rPr spc="280" dirty="0"/>
              <a:t> </a:t>
            </a:r>
            <a:r>
              <a:rPr dirty="0"/>
              <a:t>정의될</a:t>
            </a:r>
            <a:r>
              <a:rPr spc="285" dirty="0"/>
              <a:t> </a:t>
            </a:r>
            <a:r>
              <a:rPr dirty="0"/>
              <a:t>수</a:t>
            </a:r>
            <a:r>
              <a:rPr spc="280" dirty="0"/>
              <a:t> </a:t>
            </a:r>
            <a:r>
              <a:rPr spc="15" dirty="0"/>
              <a:t>없다.</a:t>
            </a:r>
          </a:p>
          <a:p>
            <a:pPr marL="1270"/>
            <a:endParaRPr sz="2200" dirty="0"/>
          </a:p>
          <a:p>
            <a:pPr marL="426084" indent="-287020">
              <a:buChar char="-"/>
              <a:tabLst>
                <a:tab pos="426720" algn="l"/>
              </a:tabLst>
            </a:pPr>
            <a:r>
              <a:rPr spc="-5" dirty="0"/>
              <a:t>복지국가의</a:t>
            </a:r>
            <a:r>
              <a:rPr spc="280" dirty="0"/>
              <a:t> </a:t>
            </a:r>
            <a:r>
              <a:rPr spc="-5" dirty="0"/>
              <a:t>역할이</a:t>
            </a:r>
            <a:r>
              <a:rPr spc="280" dirty="0"/>
              <a:t> </a:t>
            </a:r>
            <a:r>
              <a:rPr dirty="0"/>
              <a:t>종종</a:t>
            </a:r>
            <a:r>
              <a:rPr spc="280" dirty="0"/>
              <a:t> </a:t>
            </a:r>
            <a:r>
              <a:rPr spc="-5" dirty="0"/>
              <a:t>과대평가되거나</a:t>
            </a:r>
            <a:r>
              <a:rPr spc="280" dirty="0"/>
              <a:t> </a:t>
            </a:r>
            <a:r>
              <a:rPr spc="-5" dirty="0"/>
              <a:t>과소평가</a:t>
            </a:r>
          </a:p>
          <a:p>
            <a:pPr marL="453390" marR="5080" indent="-313690">
              <a:lnSpc>
                <a:spcPct val="132900"/>
              </a:lnSpc>
              <a:spcBef>
                <a:spcPts val="15"/>
              </a:spcBef>
              <a:buChar char="-"/>
              <a:tabLst>
                <a:tab pos="453390" algn="l"/>
                <a:tab pos="454025" algn="l"/>
                <a:tab pos="1697355" algn="l"/>
                <a:tab pos="2433955" algn="l"/>
                <a:tab pos="3096260" algn="l"/>
                <a:tab pos="3758565" algn="l"/>
                <a:tab pos="4674870" algn="l"/>
                <a:tab pos="6098540" algn="l"/>
                <a:tab pos="7774305" algn="l"/>
              </a:tabLst>
            </a:pPr>
            <a:r>
              <a:rPr dirty="0"/>
              <a:t>공중</a:t>
            </a:r>
            <a:r>
              <a:rPr spc="-15" dirty="0"/>
              <a:t>보</a:t>
            </a:r>
            <a:r>
              <a:rPr dirty="0"/>
              <a:t>건</a:t>
            </a:r>
            <a:r>
              <a:rPr spc="60" dirty="0"/>
              <a:t>,</a:t>
            </a:r>
            <a:r>
              <a:rPr dirty="0"/>
              <a:t>	교육</a:t>
            </a:r>
            <a:r>
              <a:rPr spc="60" dirty="0"/>
              <a:t>,</a:t>
            </a:r>
            <a:r>
              <a:rPr dirty="0"/>
              <a:t>	환경	등의	문</a:t>
            </a:r>
            <a:r>
              <a:rPr spc="-15" dirty="0"/>
              <a:t>제</a:t>
            </a:r>
            <a:r>
              <a:rPr dirty="0"/>
              <a:t>를	</a:t>
            </a:r>
            <a:r>
              <a:rPr spc="-15" dirty="0"/>
              <a:t>복</a:t>
            </a:r>
            <a:r>
              <a:rPr dirty="0"/>
              <a:t>지국</a:t>
            </a:r>
            <a:r>
              <a:rPr spc="-15" dirty="0"/>
              <a:t>가</a:t>
            </a:r>
            <a:r>
              <a:rPr dirty="0"/>
              <a:t>의	</a:t>
            </a:r>
            <a:r>
              <a:rPr spc="-15" dirty="0"/>
              <a:t>활</a:t>
            </a:r>
            <a:r>
              <a:rPr dirty="0"/>
              <a:t>동영</a:t>
            </a:r>
            <a:r>
              <a:rPr spc="-15" dirty="0"/>
              <a:t>역</a:t>
            </a:r>
            <a:r>
              <a:rPr dirty="0"/>
              <a:t>으로	포함할  </a:t>
            </a:r>
            <a:r>
              <a:rPr spc="20" dirty="0"/>
              <a:t>것인가?</a:t>
            </a:r>
            <a:r>
              <a:rPr spc="290" dirty="0"/>
              <a:t> </a:t>
            </a:r>
            <a:r>
              <a:rPr spc="140" dirty="0"/>
              <a:t>:</a:t>
            </a:r>
            <a:r>
              <a:rPr spc="295" dirty="0"/>
              <a:t> </a:t>
            </a:r>
            <a:r>
              <a:rPr spc="-5" dirty="0">
                <a:solidFill>
                  <a:srgbClr val="0000FF"/>
                </a:solidFill>
              </a:rPr>
              <a:t>가치재(merit</a:t>
            </a:r>
            <a:r>
              <a:rPr spc="290" dirty="0">
                <a:solidFill>
                  <a:srgbClr val="0000FF"/>
                </a:solidFill>
              </a:rPr>
              <a:t> </a:t>
            </a:r>
            <a:r>
              <a:rPr spc="-30" dirty="0">
                <a:solidFill>
                  <a:srgbClr val="0000FF"/>
                </a:solidFill>
              </a:rPr>
              <a:t>goods)</a:t>
            </a:r>
            <a:r>
              <a:rPr spc="-30" dirty="0"/>
              <a:t>의</a:t>
            </a:r>
            <a:r>
              <a:rPr spc="290" dirty="0"/>
              <a:t> </a:t>
            </a:r>
            <a:r>
              <a:rPr spc="-10" dirty="0"/>
              <a:t>문제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5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9698" y="1314819"/>
          <a:ext cx="8510902" cy="43258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1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97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6198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Malgun Gothic"/>
                          <a:cs typeface="Malgun Gothic"/>
                        </a:rPr>
                        <a:t>예산(조원)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조세지출(억원)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49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Malgun Gothic"/>
                          <a:cs typeface="Malgun Gothic"/>
                        </a:rPr>
                        <a:t>합계(조원)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2023년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2024년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2025년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465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2025년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84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2025년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금액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증감율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금액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증감율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금액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증감율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비중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금액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비중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금액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Malgun Gothic"/>
                          <a:cs typeface="Malgun Gothic"/>
                        </a:rPr>
                        <a:t>비중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dirty="0">
                          <a:latin typeface="Malgun Gothic"/>
                          <a:cs typeface="Malgun Gothic"/>
                        </a:rPr>
                        <a:t>보건·복지·고용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226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3.8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242.9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7.5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249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2.5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36.4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371,146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49.9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286.1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37.7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15" dirty="0">
                          <a:latin typeface="Malgun Gothic"/>
                          <a:cs typeface="Malgun Gothic"/>
                        </a:rPr>
                        <a:t>일반·지방행정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112.2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14.4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110.5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-1.5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111.3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0.7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16.3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93,533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12.6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120.7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15.9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35" dirty="0">
                          <a:latin typeface="Malgun Gothic"/>
                          <a:cs typeface="Malgun Gothic"/>
                        </a:rPr>
                        <a:t>교육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96.3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14.4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89.8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-6.7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98.5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9.7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14.4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10,460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1.4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99.5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8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13.1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35" dirty="0">
                          <a:latin typeface="Malgun Gothic"/>
                          <a:cs typeface="Malgun Gothic"/>
                        </a:rPr>
                        <a:t>국방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57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4.4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59.4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4.2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61.6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3.7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9.0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346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0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61.6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8.1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spc="-5" dirty="0">
                          <a:latin typeface="Malgun Gothic"/>
                          <a:cs typeface="Malgun Gothic"/>
                        </a:rPr>
                        <a:t>산업·중소·에너지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26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55" dirty="0">
                          <a:latin typeface="Malgun Gothic"/>
                          <a:cs typeface="Malgun Gothic"/>
                        </a:rPr>
                        <a:t>-16.9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28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7.7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28.3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1.1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4.1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141,834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19.1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42.5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5.6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20" dirty="0">
                          <a:latin typeface="Malgun Gothic"/>
                          <a:cs typeface="Malgun Gothic"/>
                        </a:rPr>
                        <a:t>R&amp;D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31.1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4.4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26.5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3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-14.8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29.7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8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12.1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4.3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29,939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32.7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4.3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30" dirty="0">
                          <a:latin typeface="Malgun Gothic"/>
                          <a:cs typeface="Malgun Gothic"/>
                        </a:rPr>
                        <a:t>SOC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25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55" dirty="0">
                          <a:latin typeface="Malgun Gothic"/>
                          <a:cs typeface="Malgun Gothic"/>
                        </a:rPr>
                        <a:t>-10.7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26.4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5.6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25.5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-3.4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11,203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1.5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26.6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3.5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dirty="0">
                          <a:latin typeface="Malgun Gothic"/>
                          <a:cs typeface="Malgun Gothic"/>
                        </a:rPr>
                        <a:t>농림·수산·식품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24.4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25.4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4.1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25.7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1.2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3.8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60,989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8.2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31.8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4.2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100" spc="-15" dirty="0">
                          <a:latin typeface="Malgun Gothic"/>
                          <a:cs typeface="Malgun Gothic"/>
                        </a:rPr>
                        <a:t>공공질서·안전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22.9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2.7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24.4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6.6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25.1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2.9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3.7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0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0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25.1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3.3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35" dirty="0">
                          <a:latin typeface="Malgun Gothic"/>
                          <a:cs typeface="Malgun Gothic"/>
                        </a:rPr>
                        <a:t>환경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12.2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2.5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12.5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2.5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13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4.0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1.9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21,824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2.9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5" dirty="0">
                          <a:latin typeface="Malgun Gothic"/>
                          <a:cs typeface="Malgun Gothic"/>
                        </a:rPr>
                        <a:t>15.2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2.0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dirty="0">
                          <a:latin typeface="Malgun Gothic"/>
                          <a:cs typeface="Malgun Gothic"/>
                        </a:rPr>
                        <a:t>문화·체육·관광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8.6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70" dirty="0">
                          <a:latin typeface="Malgun Gothic"/>
                          <a:cs typeface="Malgun Gothic"/>
                        </a:rPr>
                        <a:t>-5.5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8.7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1.2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8.8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1.1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1.3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2,887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0.4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9.1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1.2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9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spc="-10" dirty="0">
                          <a:latin typeface="Malgun Gothic"/>
                          <a:cs typeface="Malgun Gothic"/>
                        </a:rPr>
                        <a:t>외교·통일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6.4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6.7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7.5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8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17.2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7.8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4.0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1.1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0.001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7.8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b="1" spc="-70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1.0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1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100" spc="-35" dirty="0">
                          <a:latin typeface="Malgun Gothic"/>
                          <a:cs typeface="Malgun Gothic"/>
                        </a:rPr>
                        <a:t>합계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054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648.1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35" dirty="0">
                          <a:latin typeface="Malgun Gothic"/>
                          <a:cs typeface="Malgun Gothic"/>
                        </a:rPr>
                        <a:t>5.1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662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2.1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684.3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b="1" spc="-7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3.4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b="1" spc="-8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100.0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15" dirty="0">
                          <a:latin typeface="Malgun Gothic"/>
                          <a:cs typeface="Malgun Gothic"/>
                        </a:rPr>
                        <a:t>744,168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5" dirty="0">
                          <a:latin typeface="Malgun Gothic"/>
                          <a:cs typeface="Malgun Gothic"/>
                        </a:rPr>
                        <a:t>100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20" dirty="0">
                          <a:latin typeface="Malgun Gothic"/>
                          <a:cs typeface="Malgun Gothic"/>
                        </a:rPr>
                        <a:t>758.7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b="1" spc="-8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100.0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971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34564" y="5729225"/>
            <a:ext cx="563626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30" dirty="0">
                <a:latin typeface="Malgun Gothic"/>
                <a:cs typeface="Malgun Gothic"/>
              </a:rPr>
              <a:t>주: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2022~2024년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-35" dirty="0">
                <a:latin typeface="Malgun Gothic"/>
                <a:cs typeface="Malgun Gothic"/>
              </a:rPr>
              <a:t>자료는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-35" dirty="0">
                <a:latin typeface="Malgun Gothic"/>
                <a:cs typeface="Malgun Gothic"/>
              </a:rPr>
              <a:t>본예산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기준.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-15" dirty="0">
                <a:latin typeface="Malgun Gothic"/>
                <a:cs typeface="Malgun Gothic"/>
              </a:rPr>
              <a:t>2025년은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35" dirty="0">
                <a:latin typeface="Malgun Gothic"/>
                <a:cs typeface="Malgun Gothic"/>
              </a:rPr>
              <a:t>예산안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기준.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자료: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기획재정부,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15" dirty="0">
                <a:latin typeface="Malgun Gothic"/>
                <a:cs typeface="Malgun Gothic"/>
              </a:rPr>
              <a:t>한국재정정보원.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385317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5" dirty="0"/>
              <a:t>&lt;참고:</a:t>
            </a:r>
            <a:r>
              <a:rPr spc="275" dirty="0"/>
              <a:t> </a:t>
            </a:r>
            <a:r>
              <a:rPr spc="-5" dirty="0" err="1"/>
              <a:t>분야별</a:t>
            </a:r>
            <a:r>
              <a:rPr spc="275" dirty="0"/>
              <a:t> </a:t>
            </a:r>
            <a:r>
              <a:rPr spc="-5" dirty="0" err="1"/>
              <a:t>예산비</a:t>
            </a:r>
            <a:r>
              <a:rPr lang="ko-KR" altLang="en-US" spc="-5" dirty="0"/>
              <a:t>중</a:t>
            </a:r>
            <a:r>
              <a:rPr spc="-5" dirty="0"/>
              <a:t>의</a:t>
            </a:r>
            <a:r>
              <a:rPr spc="275" dirty="0"/>
              <a:t> </a:t>
            </a:r>
            <a:r>
              <a:rPr spc="-70" dirty="0"/>
              <a:t>추이&gt;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6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79287" y="859636"/>
            <a:ext cx="8549005" cy="4481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spcBef>
                <a:spcPts val="100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2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급여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  <a:buFont typeface="Cambria"/>
              <a:buChar char="○"/>
            </a:pPr>
            <a:endParaRPr sz="1750" dirty="0">
              <a:latin typeface="Malgun Gothic"/>
              <a:cs typeface="Malgun Gothic"/>
            </a:endParaRPr>
          </a:p>
          <a:p>
            <a:pPr marL="441959" marR="6350" lvl="1" indent="-303530">
              <a:lnSpc>
                <a:spcPct val="133400"/>
              </a:lnSpc>
              <a:buClr>
                <a:srgbClr val="000000"/>
              </a:buClr>
              <a:buChar char="-"/>
              <a:tabLst>
                <a:tab pos="455295" algn="l"/>
                <a:tab pos="455930" algn="l"/>
                <a:tab pos="1712595" algn="l"/>
                <a:tab pos="2451100" algn="l"/>
                <a:tab pos="3189605" algn="l"/>
                <a:tab pos="3929379" algn="l"/>
                <a:tab pos="4667885" algn="l"/>
                <a:tab pos="7616190" algn="l"/>
                <a:tab pos="8280400" algn="l"/>
              </a:tabLst>
            </a:pP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현</a:t>
            </a:r>
            <a:r>
              <a:rPr sz="2000" b="1" spc="-15" dirty="0">
                <a:solidFill>
                  <a:srgbClr val="0000FF"/>
                </a:solidFill>
                <a:latin typeface="Malgun Gothic"/>
                <a:cs typeface="Malgun Gothic"/>
              </a:rPr>
              <a:t>물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급여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보</a:t>
            </a:r>
            <a:r>
              <a:rPr sz="2000" b="1" dirty="0">
                <a:latin typeface="Malgun Gothic"/>
                <a:cs typeface="Malgun Gothic"/>
              </a:rPr>
              <a:t>육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급</a:t>
            </a:r>
            <a:r>
              <a:rPr sz="2000" b="1" spc="-15" dirty="0">
                <a:latin typeface="Malgun Gothic"/>
                <a:cs typeface="Malgun Gothic"/>
              </a:rPr>
              <a:t>식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교육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의</a:t>
            </a:r>
            <a:r>
              <a:rPr sz="2000" b="1" dirty="0">
                <a:latin typeface="Malgun Gothic"/>
                <a:cs typeface="Malgun Gothic"/>
              </a:rPr>
              <a:t>료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허</a:t>
            </a:r>
            <a:r>
              <a:rPr sz="2000" b="1" spc="-15" dirty="0">
                <a:latin typeface="Malgun Gothic"/>
                <a:cs typeface="Malgun Gothic"/>
              </a:rPr>
              <a:t>약</a:t>
            </a:r>
            <a:r>
              <a:rPr sz="2000" b="1" dirty="0">
                <a:latin typeface="Malgun Gothic"/>
                <a:cs typeface="Malgun Gothic"/>
              </a:rPr>
              <a:t>자ㆍ</a:t>
            </a:r>
            <a:r>
              <a:rPr sz="2000" b="1" spc="-15" dirty="0">
                <a:latin typeface="Malgun Gothic"/>
                <a:cs typeface="Malgun Gothic"/>
              </a:rPr>
              <a:t>장</a:t>
            </a:r>
            <a:r>
              <a:rPr sz="2000" b="1" dirty="0">
                <a:latin typeface="Malgun Gothic"/>
                <a:cs typeface="Malgun Gothic"/>
              </a:rPr>
              <a:t>애인</a:t>
            </a:r>
            <a:r>
              <a:rPr sz="2000" b="1" spc="-15" dirty="0">
                <a:latin typeface="Malgun Gothic"/>
                <a:cs typeface="Malgun Gothic"/>
              </a:rPr>
              <a:t>ㆍ</a:t>
            </a:r>
            <a:r>
              <a:rPr sz="2000" b="1" dirty="0">
                <a:latin typeface="Malgun Gothic"/>
                <a:cs typeface="Malgun Gothic"/>
              </a:rPr>
              <a:t>아동에	</a:t>
            </a:r>
            <a:r>
              <a:rPr sz="2000" b="1" spc="-15" dirty="0">
                <a:latin typeface="Malgun Gothic"/>
                <a:cs typeface="Malgun Gothic"/>
              </a:rPr>
              <a:t>대</a:t>
            </a:r>
            <a:r>
              <a:rPr sz="2000" b="1" dirty="0">
                <a:latin typeface="Malgun Gothic"/>
                <a:cs typeface="Malgun Gothic"/>
              </a:rPr>
              <a:t>한	돌  </a:t>
            </a:r>
            <a:r>
              <a:rPr sz="2000" b="1" spc="-5" dirty="0">
                <a:latin typeface="Malgun Gothic"/>
                <a:cs typeface="Malgun Gothic"/>
              </a:rPr>
              <a:t>봄서비스</a:t>
            </a:r>
            <a:endParaRPr sz="200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buFont typeface="Malgun Gothic"/>
              <a:buChar char="-"/>
            </a:pPr>
            <a:endParaRPr sz="2200" dirty="0">
              <a:latin typeface="Malgun Gothic"/>
              <a:cs typeface="Malgun Gothic"/>
            </a:endParaRPr>
          </a:p>
          <a:p>
            <a:pPr marL="424815" lvl="1" indent="-287020">
              <a:buClr>
                <a:srgbClr val="000000"/>
              </a:buClr>
              <a:buChar char="-"/>
              <a:tabLst>
                <a:tab pos="425450" algn="l"/>
              </a:tabLst>
            </a:pPr>
            <a:r>
              <a:rPr sz="2000" b="1" spc="25" dirty="0">
                <a:solidFill>
                  <a:srgbClr val="0000FF"/>
                </a:solidFill>
                <a:latin typeface="Malgun Gothic"/>
                <a:cs typeface="Malgun Gothic"/>
              </a:rPr>
              <a:t>현금급여</a:t>
            </a:r>
            <a:r>
              <a:rPr sz="2000" b="1" spc="25" dirty="0">
                <a:latin typeface="Malgun Gothic"/>
                <a:cs typeface="Malgun Gothic"/>
              </a:rPr>
              <a:t>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사회보험급여,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보편적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30" dirty="0">
                <a:latin typeface="Malgun Gothic"/>
                <a:cs typeface="Malgun Gothic"/>
              </a:rPr>
              <a:t>/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선별적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급여,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사회부조</a:t>
            </a:r>
            <a:endParaRPr sz="2000" dirty="0">
              <a:latin typeface="Malgun Gothic"/>
              <a:cs typeface="Malgun Gothic"/>
            </a:endParaRPr>
          </a:p>
          <a:p>
            <a:pPr marL="2390140" marR="5080" indent="-1997710">
              <a:lnSpc>
                <a:spcPct val="132900"/>
              </a:lnSpc>
              <a:spcBef>
                <a:spcPts val="15"/>
              </a:spcBef>
              <a:tabLst>
                <a:tab pos="2390140" algn="l"/>
                <a:tab pos="3286760" algn="l"/>
                <a:tab pos="4185285" algn="l"/>
                <a:tab pos="5081905" algn="l"/>
                <a:tab pos="5978525" algn="l"/>
                <a:tab pos="6876415" algn="l"/>
                <a:tab pos="7773034" algn="l"/>
              </a:tabLst>
            </a:pPr>
            <a:r>
              <a:rPr sz="2000" spc="330" dirty="0">
                <a:latin typeface="Cambria"/>
                <a:cs typeface="Cambria"/>
              </a:rPr>
              <a:t>▸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회보</a:t>
            </a:r>
            <a:r>
              <a:rPr sz="2000" b="1" spc="-15" dirty="0">
                <a:latin typeface="Malgun Gothic"/>
                <a:cs typeface="Malgun Gothic"/>
              </a:rPr>
              <a:t>험</a:t>
            </a:r>
            <a:r>
              <a:rPr sz="2000" b="1" dirty="0">
                <a:latin typeface="Malgun Gothic"/>
                <a:cs typeface="Malgun Gothic"/>
              </a:rPr>
              <a:t>급여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전적	기여와	</a:t>
            </a:r>
            <a:r>
              <a:rPr sz="2000" b="1" spc="-15" dirty="0">
                <a:latin typeface="Malgun Gothic"/>
                <a:cs typeface="Malgun Gothic"/>
              </a:rPr>
              <a:t>명</a:t>
            </a:r>
            <a:r>
              <a:rPr sz="2000" b="1" dirty="0">
                <a:latin typeface="Malgun Gothic"/>
                <a:cs typeface="Malgun Gothic"/>
              </a:rPr>
              <a:t>시된	위</a:t>
            </a:r>
            <a:r>
              <a:rPr sz="2000" b="1" spc="-15" dirty="0">
                <a:latin typeface="Malgun Gothic"/>
                <a:cs typeface="Malgun Gothic"/>
              </a:rPr>
              <a:t>험</a:t>
            </a:r>
            <a:r>
              <a:rPr sz="2000" b="1" dirty="0">
                <a:latin typeface="Malgun Gothic"/>
                <a:cs typeface="Malgun Gothic"/>
              </a:rPr>
              <a:t>의	발생을	기</a:t>
            </a:r>
            <a:r>
              <a:rPr sz="2000" b="1" spc="-15" dirty="0">
                <a:latin typeface="Malgun Gothic"/>
                <a:cs typeface="Malgun Gothic"/>
              </a:rPr>
              <a:t>초</a:t>
            </a:r>
            <a:r>
              <a:rPr sz="2000" b="1" dirty="0">
                <a:latin typeface="Malgun Gothic"/>
                <a:cs typeface="Malgun Gothic"/>
              </a:rPr>
              <a:t>로	소득이  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부의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조사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없이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지급</a:t>
            </a:r>
            <a:endParaRPr sz="2000" dirty="0">
              <a:latin typeface="Malgun Gothic"/>
              <a:cs typeface="Malgun Gothic"/>
            </a:endParaRPr>
          </a:p>
          <a:p>
            <a:pPr marL="2459990" marR="5080" indent="-2067560">
              <a:lnSpc>
                <a:spcPct val="133400"/>
              </a:lnSpc>
              <a:tabLst>
                <a:tab pos="1568450" algn="l"/>
                <a:tab pos="3440429" algn="l"/>
                <a:tab pos="4754245" algn="l"/>
                <a:tab pos="5675630" algn="l"/>
                <a:tab pos="6852284" algn="l"/>
                <a:tab pos="7520305" algn="l"/>
              </a:tabLst>
            </a:pPr>
            <a:r>
              <a:rPr sz="2000" spc="330" dirty="0">
                <a:latin typeface="Cambria"/>
                <a:cs typeface="Cambria"/>
              </a:rPr>
              <a:t>▸</a:t>
            </a:r>
            <a:r>
              <a:rPr sz="2000" b="1" spc="-15" dirty="0">
                <a:latin typeface="Malgun Gothic"/>
                <a:cs typeface="Malgun Gothic"/>
              </a:rPr>
              <a:t>보</a:t>
            </a:r>
            <a:r>
              <a:rPr sz="2000" b="1" dirty="0">
                <a:latin typeface="Malgun Gothic"/>
                <a:cs typeface="Malgun Gothic"/>
              </a:rPr>
              <a:t>편적	급여</a:t>
            </a:r>
            <a:r>
              <a:rPr sz="2000" b="1" spc="35" dirty="0">
                <a:latin typeface="Malgun Gothic"/>
                <a:cs typeface="Malgun Gothic"/>
              </a:rPr>
              <a:t>(</a:t>
            </a:r>
            <a:r>
              <a:rPr sz="2000" b="1" spc="-95" dirty="0">
                <a:latin typeface="Malgun Gothic"/>
                <a:cs typeface="Malgun Gothic"/>
              </a:rPr>
              <a:t>u</a:t>
            </a:r>
            <a:r>
              <a:rPr sz="2000" b="1" spc="-85" dirty="0">
                <a:latin typeface="Malgun Gothic"/>
                <a:cs typeface="Malgun Gothic"/>
              </a:rPr>
              <a:t>n</a:t>
            </a:r>
            <a:r>
              <a:rPr sz="2000" b="1" spc="20" dirty="0">
                <a:latin typeface="Malgun Gothic"/>
                <a:cs typeface="Malgun Gothic"/>
              </a:rPr>
              <a:t>i</a:t>
            </a:r>
            <a:r>
              <a:rPr sz="2000" b="1" spc="60" dirty="0">
                <a:latin typeface="Malgun Gothic"/>
                <a:cs typeface="Malgun Gothic"/>
              </a:rPr>
              <a:t>v</a:t>
            </a:r>
            <a:r>
              <a:rPr sz="2000" b="1" spc="55" dirty="0">
                <a:latin typeface="Malgun Gothic"/>
                <a:cs typeface="Malgun Gothic"/>
              </a:rPr>
              <a:t>e</a:t>
            </a:r>
            <a:r>
              <a:rPr sz="2000" b="1" spc="85" dirty="0">
                <a:latin typeface="Malgun Gothic"/>
                <a:cs typeface="Malgun Gothic"/>
              </a:rPr>
              <a:t>r</a:t>
            </a:r>
            <a:r>
              <a:rPr sz="2000" b="1" spc="114" dirty="0">
                <a:latin typeface="Malgun Gothic"/>
                <a:cs typeface="Malgun Gothic"/>
              </a:rPr>
              <a:t>s</a:t>
            </a:r>
            <a:r>
              <a:rPr sz="2000" b="1" spc="-15" dirty="0">
                <a:latin typeface="Malgun Gothic"/>
                <a:cs typeface="Malgun Gothic"/>
              </a:rPr>
              <a:t>a</a:t>
            </a:r>
            <a:r>
              <a:rPr sz="2000" b="1" spc="35" dirty="0">
                <a:latin typeface="Malgun Gothic"/>
                <a:cs typeface="Malgun Gothic"/>
              </a:rPr>
              <a:t>l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05" dirty="0">
                <a:latin typeface="Malgun Gothic"/>
                <a:cs typeface="Malgun Gothic"/>
              </a:rPr>
              <a:t>b</a:t>
            </a:r>
            <a:r>
              <a:rPr sz="2000" b="1" spc="45" dirty="0">
                <a:latin typeface="Malgun Gothic"/>
                <a:cs typeface="Malgun Gothic"/>
              </a:rPr>
              <a:t>e</a:t>
            </a:r>
            <a:r>
              <a:rPr sz="2000" b="1" spc="-85" dirty="0">
                <a:latin typeface="Malgun Gothic"/>
                <a:cs typeface="Malgun Gothic"/>
              </a:rPr>
              <a:t>n</a:t>
            </a:r>
            <a:r>
              <a:rPr sz="2000" b="1" spc="45" dirty="0">
                <a:latin typeface="Malgun Gothic"/>
                <a:cs typeface="Malgun Gothic"/>
              </a:rPr>
              <a:t>e</a:t>
            </a:r>
            <a:r>
              <a:rPr sz="2000" b="1" spc="-15" dirty="0">
                <a:latin typeface="Malgun Gothic"/>
                <a:cs typeface="Malgun Gothic"/>
              </a:rPr>
              <a:t>f</a:t>
            </a:r>
            <a:r>
              <a:rPr sz="2000" b="1" spc="20" dirty="0">
                <a:latin typeface="Malgun Gothic"/>
                <a:cs typeface="Malgun Gothic"/>
              </a:rPr>
              <a:t>i</a:t>
            </a:r>
            <a:r>
              <a:rPr sz="2000" b="1" spc="-40" dirty="0">
                <a:latin typeface="Malgun Gothic"/>
                <a:cs typeface="Malgun Gothic"/>
              </a:rPr>
              <a:t>t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20" dirty="0">
                <a:latin typeface="Malgun Gothic"/>
                <a:cs typeface="Malgun Gothic"/>
              </a:rPr>
              <a:t>)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기</a:t>
            </a:r>
            <a:r>
              <a:rPr sz="2000" b="1" dirty="0">
                <a:latin typeface="Malgun Gothic"/>
                <a:cs typeface="Malgun Gothic"/>
              </a:rPr>
              <a:t>여나	소득</a:t>
            </a:r>
            <a:r>
              <a:rPr sz="2000" b="1" spc="-15" dirty="0">
                <a:latin typeface="Malgun Gothic"/>
                <a:cs typeface="Malgun Gothic"/>
              </a:rPr>
              <a:t>조</a:t>
            </a:r>
            <a:r>
              <a:rPr sz="2000" b="1" dirty="0">
                <a:latin typeface="Malgun Gothic"/>
                <a:cs typeface="Malgun Gothic"/>
              </a:rPr>
              <a:t>사	</a:t>
            </a:r>
            <a:r>
              <a:rPr sz="2000" b="1" spc="-15" dirty="0">
                <a:latin typeface="Malgun Gothic"/>
                <a:cs typeface="Malgun Gothic"/>
              </a:rPr>
              <a:t>없</a:t>
            </a:r>
            <a:r>
              <a:rPr sz="2000" b="1" dirty="0">
                <a:latin typeface="Malgun Gothic"/>
                <a:cs typeface="Malgun Gothic"/>
              </a:rPr>
              <a:t>이	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전적으  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명시된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위험을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대상으로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지급(영국의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아동수당)</a:t>
            </a:r>
            <a:endParaRPr sz="2000" dirty="0">
              <a:latin typeface="Malgun Gothic"/>
              <a:cs typeface="Malgun Gothic"/>
            </a:endParaRPr>
          </a:p>
          <a:p>
            <a:pPr marL="2459990" marR="5080" indent="-2067560">
              <a:lnSpc>
                <a:spcPts val="3200"/>
              </a:lnSpc>
              <a:spcBef>
                <a:spcPts val="95"/>
              </a:spcBef>
              <a:tabLst>
                <a:tab pos="2661285" algn="l"/>
                <a:tab pos="4305300" algn="l"/>
                <a:tab pos="5775960" algn="l"/>
                <a:tab pos="6990715" algn="l"/>
                <a:tab pos="7773034" algn="l"/>
              </a:tabLst>
            </a:pPr>
            <a:r>
              <a:rPr sz="2000" spc="330" dirty="0">
                <a:latin typeface="Cambria"/>
                <a:cs typeface="Cambria"/>
              </a:rPr>
              <a:t>▸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회부</a:t>
            </a:r>
            <a:r>
              <a:rPr sz="2000" b="1" spc="-15" dirty="0">
                <a:latin typeface="Malgun Gothic"/>
                <a:cs typeface="Malgun Gothic"/>
              </a:rPr>
              <a:t>조</a:t>
            </a:r>
            <a:r>
              <a:rPr sz="2000" b="1" spc="45" dirty="0">
                <a:latin typeface="Malgun Gothic"/>
                <a:cs typeface="Malgun Gothic"/>
              </a:rPr>
              <a:t>(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-80" dirty="0">
                <a:latin typeface="Malgun Gothic"/>
                <a:cs typeface="Malgun Gothic"/>
              </a:rPr>
              <a:t>o</a:t>
            </a:r>
            <a:r>
              <a:rPr sz="2000" b="1" spc="114" dirty="0">
                <a:latin typeface="Malgun Gothic"/>
                <a:cs typeface="Malgun Gothic"/>
              </a:rPr>
              <a:t>c</a:t>
            </a:r>
            <a:r>
              <a:rPr sz="2000" b="1" spc="20" dirty="0">
                <a:latin typeface="Malgun Gothic"/>
                <a:cs typeface="Malgun Gothic"/>
              </a:rPr>
              <a:t>i</a:t>
            </a:r>
            <a:r>
              <a:rPr sz="2000" b="1" spc="-15" dirty="0">
                <a:latin typeface="Malgun Gothic"/>
                <a:cs typeface="Malgun Gothic"/>
              </a:rPr>
              <a:t>a</a:t>
            </a:r>
            <a:r>
              <a:rPr sz="2000" b="1" spc="35" dirty="0">
                <a:latin typeface="Malgun Gothic"/>
                <a:cs typeface="Malgun Gothic"/>
              </a:rPr>
              <a:t>l</a:t>
            </a:r>
            <a:r>
              <a:rPr sz="2000" b="1" dirty="0">
                <a:latin typeface="Malgun Gothic"/>
                <a:cs typeface="Malgun Gothic"/>
              </a:rPr>
              <a:t>	</a:t>
            </a:r>
            <a:r>
              <a:rPr sz="2000" b="1" spc="-15" dirty="0">
                <a:latin typeface="Malgun Gothic"/>
                <a:cs typeface="Malgun Gothic"/>
              </a:rPr>
              <a:t>a</a:t>
            </a:r>
            <a:r>
              <a:rPr sz="2000" b="1" spc="114" dirty="0">
                <a:latin typeface="Malgun Gothic"/>
                <a:cs typeface="Malgun Gothic"/>
              </a:rPr>
              <a:t>s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30" dirty="0">
                <a:latin typeface="Malgun Gothic"/>
                <a:cs typeface="Malgun Gothic"/>
              </a:rPr>
              <a:t>i</a:t>
            </a:r>
            <a:r>
              <a:rPr sz="2000" b="1" spc="105" dirty="0">
                <a:latin typeface="Malgun Gothic"/>
                <a:cs typeface="Malgun Gothic"/>
              </a:rPr>
              <a:t>s</a:t>
            </a:r>
            <a:r>
              <a:rPr sz="2000" b="1" spc="-55" dirty="0">
                <a:latin typeface="Malgun Gothic"/>
                <a:cs typeface="Malgun Gothic"/>
              </a:rPr>
              <a:t>t</a:t>
            </a:r>
            <a:r>
              <a:rPr sz="2000" b="1" dirty="0">
                <a:latin typeface="Malgun Gothic"/>
                <a:cs typeface="Malgun Gothic"/>
              </a:rPr>
              <a:t>a</a:t>
            </a:r>
            <a:r>
              <a:rPr sz="2000" b="1" spc="-85" dirty="0">
                <a:latin typeface="Malgun Gothic"/>
                <a:cs typeface="Malgun Gothic"/>
              </a:rPr>
              <a:t>n</a:t>
            </a:r>
            <a:r>
              <a:rPr sz="2000" b="1" spc="100" dirty="0">
                <a:latin typeface="Malgun Gothic"/>
                <a:cs typeface="Malgun Gothic"/>
              </a:rPr>
              <a:t>c</a:t>
            </a:r>
            <a:r>
              <a:rPr sz="2000" b="1" spc="45" dirty="0">
                <a:latin typeface="Malgun Gothic"/>
                <a:cs typeface="Malgun Gothic"/>
              </a:rPr>
              <a:t>e</a:t>
            </a:r>
            <a:r>
              <a:rPr sz="2000" b="1" spc="20" dirty="0">
                <a:latin typeface="Malgun Gothic"/>
                <a:cs typeface="Malgun Gothic"/>
              </a:rPr>
              <a:t>)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dirty="0">
                <a:latin typeface="Malgun Gothic"/>
                <a:cs typeface="Malgun Gothic"/>
              </a:rPr>
              <a:t>	소득</a:t>
            </a:r>
            <a:r>
              <a:rPr sz="2000" b="1" spc="-15" dirty="0">
                <a:latin typeface="Malgun Gothic"/>
                <a:cs typeface="Malgun Gothic"/>
              </a:rPr>
              <a:t>조</a:t>
            </a:r>
            <a:r>
              <a:rPr sz="2000" b="1" dirty="0">
                <a:latin typeface="Malgun Gothic"/>
                <a:cs typeface="Malgun Gothic"/>
              </a:rPr>
              <a:t>사에	</a:t>
            </a:r>
            <a:r>
              <a:rPr sz="2000" b="1" spc="-15" dirty="0">
                <a:latin typeface="Malgun Gothic"/>
                <a:cs typeface="Malgun Gothic"/>
              </a:rPr>
              <a:t>기</a:t>
            </a:r>
            <a:r>
              <a:rPr sz="2000" b="1" dirty="0">
                <a:latin typeface="Malgun Gothic"/>
                <a:cs typeface="Malgun Gothic"/>
              </a:rPr>
              <a:t>초해서	운영</a:t>
            </a:r>
            <a:r>
              <a:rPr sz="2000" b="1" spc="60" dirty="0">
                <a:latin typeface="Malgun Gothic"/>
                <a:cs typeface="Malgun Gothic"/>
              </a:rPr>
              <a:t>,</a:t>
            </a:r>
            <a:r>
              <a:rPr sz="2000" b="1" dirty="0">
                <a:latin typeface="Malgun Gothic"/>
                <a:cs typeface="Malgun Gothic"/>
              </a:rPr>
              <a:t>	최후의  사회안전망(국민기초생활보장제도)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spc="-360" dirty="0">
                <a:latin typeface="Cambria"/>
                <a:cs typeface="Cambria"/>
              </a:rPr>
              <a:t>⟹</a:t>
            </a:r>
            <a:r>
              <a:rPr sz="2000" spc="-340" dirty="0">
                <a:latin typeface="Cambria"/>
                <a:cs typeface="Cambria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선별적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급여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7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31908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30" dirty="0"/>
              <a:t>2)</a:t>
            </a:r>
            <a:r>
              <a:rPr spc="265" dirty="0"/>
              <a:t> </a:t>
            </a:r>
            <a:r>
              <a:rPr dirty="0"/>
              <a:t>실제적</a:t>
            </a:r>
            <a:r>
              <a:rPr spc="265" dirty="0"/>
              <a:t> </a:t>
            </a:r>
            <a:r>
              <a:rPr spc="-5" dirty="0"/>
              <a:t>차원의</a:t>
            </a:r>
            <a:r>
              <a:rPr spc="265" dirty="0"/>
              <a:t> </a:t>
            </a:r>
            <a:r>
              <a:rPr spc="-5" dirty="0"/>
              <a:t>복지국가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2070" y="1714137"/>
            <a:ext cx="6995795" cy="56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50" dirty="0">
                <a:latin typeface="Malgun Gothic"/>
                <a:cs typeface="Malgun Gothic"/>
              </a:rPr>
              <a:t>&lt;그림</a:t>
            </a:r>
            <a:r>
              <a:rPr sz="1500" b="1" spc="215" dirty="0">
                <a:latin typeface="Malgun Gothic"/>
                <a:cs typeface="Malgun Gothic"/>
              </a:rPr>
              <a:t> </a:t>
            </a:r>
            <a:r>
              <a:rPr sz="1500" b="1" spc="-60" dirty="0">
                <a:latin typeface="Malgun Gothic"/>
                <a:cs typeface="Malgun Gothic"/>
              </a:rPr>
              <a:t>2&gt;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공공사회복지지출의</a:t>
            </a:r>
            <a:r>
              <a:rPr sz="1500" b="1" spc="215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복지국가</a:t>
            </a:r>
            <a:r>
              <a:rPr sz="1500" b="1" spc="225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유형별</a:t>
            </a:r>
            <a:r>
              <a:rPr sz="1500" b="1" spc="215" dirty="0">
                <a:latin typeface="Malgun Gothic"/>
                <a:cs typeface="Malgun Gothic"/>
              </a:rPr>
              <a:t> </a:t>
            </a:r>
            <a:r>
              <a:rPr sz="1500" b="1" spc="10" dirty="0">
                <a:latin typeface="Malgun Gothic"/>
                <a:cs typeface="Malgun Gothic"/>
              </a:rPr>
              <a:t>구성(2019년)</a:t>
            </a:r>
            <a:endParaRPr sz="1500">
              <a:latin typeface="Malgun Gothic"/>
              <a:cs typeface="Malgun Gothic"/>
            </a:endParaRPr>
          </a:p>
          <a:p>
            <a:pPr marR="5080" algn="r">
              <a:spcBef>
                <a:spcPts val="1040"/>
              </a:spcBef>
            </a:pPr>
            <a:r>
              <a:rPr sz="1200" spc="55" dirty="0">
                <a:latin typeface="Malgun Gothic"/>
                <a:cs typeface="Malgun Gothic"/>
              </a:rPr>
              <a:t>(단위:</a:t>
            </a:r>
            <a:r>
              <a:rPr sz="1200" spc="150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재정지출</a:t>
            </a:r>
            <a:r>
              <a:rPr sz="1200" spc="155" dirty="0">
                <a:latin typeface="Malgun Gothic"/>
                <a:cs typeface="Malgun Gothic"/>
              </a:rPr>
              <a:t> </a:t>
            </a:r>
            <a:r>
              <a:rPr sz="1200" spc="-5" dirty="0">
                <a:latin typeface="Malgun Gothic"/>
                <a:cs typeface="Malgun Gothic"/>
              </a:rPr>
              <a:t>대비</a:t>
            </a:r>
            <a:r>
              <a:rPr sz="1200" spc="155" dirty="0">
                <a:latin typeface="Malgun Gothic"/>
                <a:cs typeface="Malgun Gothic"/>
              </a:rPr>
              <a:t> </a:t>
            </a:r>
            <a:r>
              <a:rPr sz="1200" spc="55" dirty="0">
                <a:latin typeface="Malgun Gothic"/>
                <a:cs typeface="Malgun Gothic"/>
              </a:rPr>
              <a:t>%)</a:t>
            </a:r>
            <a:endParaRPr sz="12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6236" y="2403895"/>
          <a:ext cx="8472164" cy="32824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2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70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58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124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전체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177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노인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유족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5730" marR="118110" indent="95885">
                        <a:lnSpc>
                          <a:spcPct val="133300"/>
                        </a:lnSpc>
                        <a:spcBef>
                          <a:spcPts val="5"/>
                        </a:spcBef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근로 </a:t>
                      </a:r>
                      <a:r>
                        <a:rPr sz="1500" b="1" dirty="0">
                          <a:latin typeface="Malgun Gothic"/>
                          <a:cs typeface="Malgun Gothic"/>
                        </a:rPr>
                        <a:t> 무능력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보건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가족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주거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93040" marR="185420">
                        <a:lnSpc>
                          <a:spcPct val="133300"/>
                        </a:lnSpc>
                        <a:spcBef>
                          <a:spcPts val="5"/>
                        </a:spcBef>
                      </a:pPr>
                      <a:r>
                        <a:rPr sz="1500" b="1" dirty="0">
                          <a:latin typeface="Malgun Gothic"/>
                          <a:cs typeface="Malgun Gothic"/>
                        </a:rPr>
                        <a:t>노동  시장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177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기타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스칸디나비아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53.1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20.2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0.6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7.6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12.6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6.3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1.0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3.1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1.7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4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앵글로색슨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49.3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13.0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0.7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4.3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18.6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5.0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4.1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2.1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4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서유럽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52.5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20.0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2.6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5.1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13.9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4.9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0.8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3.7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1.6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4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-5" dirty="0">
                          <a:latin typeface="Malgun Gothic"/>
                          <a:cs typeface="Malgun Gothic"/>
                        </a:rPr>
                        <a:t>남유럽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55.1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25.9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4.9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4.1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13.1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3.1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0.1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3.0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latin typeface="Malgun Gothic"/>
                          <a:cs typeface="Malgun Gothic"/>
                        </a:rPr>
                        <a:t>0.9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4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-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한국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36.2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0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9.1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1.1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2.1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14.3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4.1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0.3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2.4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001AFF"/>
                          </a:solidFill>
                          <a:latin typeface="Malgun Gothic"/>
                          <a:cs typeface="Malgun Gothic"/>
                        </a:rPr>
                        <a:t>2.9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9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5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OECD</a:t>
                      </a:r>
                      <a:r>
                        <a:rPr sz="1500" b="1" spc="1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평균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47.7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17.4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1.8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4.7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14.2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5.0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0.8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2.7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spc="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1.3</a:t>
                      </a:r>
                      <a:endParaRPr sz="1500" dirty="0">
                        <a:latin typeface="Malgun Gothic"/>
                        <a:cs typeface="Malgun Gothic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79286" y="5726178"/>
            <a:ext cx="3234690" cy="2997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100"/>
              </a:spcBef>
            </a:pPr>
            <a:r>
              <a:rPr sz="900" spc="50" dirty="0">
                <a:latin typeface="Malgun Gothic"/>
                <a:cs typeface="Malgun Gothic"/>
              </a:rPr>
              <a:t>주: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-5" dirty="0">
                <a:latin typeface="Malgun Gothic"/>
                <a:cs typeface="Malgun Gothic"/>
              </a:rPr>
              <a:t>노동시장은</a:t>
            </a:r>
            <a:r>
              <a:rPr sz="900" spc="135" dirty="0">
                <a:latin typeface="Malgun Gothic"/>
                <a:cs typeface="Malgun Gothic"/>
              </a:rPr>
              <a:t> </a:t>
            </a:r>
            <a:r>
              <a:rPr sz="900" spc="-5" dirty="0">
                <a:latin typeface="Malgun Gothic"/>
                <a:cs typeface="Malgun Gothic"/>
              </a:rPr>
              <a:t>적극적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-5" dirty="0">
                <a:latin typeface="Malgun Gothic"/>
                <a:cs typeface="Malgun Gothic"/>
              </a:rPr>
              <a:t>노동시장정책과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-5" dirty="0">
                <a:latin typeface="Malgun Gothic"/>
                <a:cs typeface="Malgun Gothic"/>
              </a:rPr>
              <a:t>실업</a:t>
            </a:r>
            <a:r>
              <a:rPr sz="900" spc="135" dirty="0">
                <a:latin typeface="Malgun Gothic"/>
                <a:cs typeface="Malgun Gothic"/>
              </a:rPr>
              <a:t> </a:t>
            </a:r>
            <a:r>
              <a:rPr sz="900" spc="-5" dirty="0">
                <a:latin typeface="Malgun Gothic"/>
                <a:cs typeface="Malgun Gothic"/>
              </a:rPr>
              <a:t>관련</a:t>
            </a:r>
            <a:r>
              <a:rPr sz="900" spc="130" dirty="0">
                <a:latin typeface="Malgun Gothic"/>
                <a:cs typeface="Malgun Gothic"/>
              </a:rPr>
              <a:t> </a:t>
            </a:r>
            <a:r>
              <a:rPr sz="900" spc="-5" dirty="0">
                <a:latin typeface="Malgun Gothic"/>
                <a:cs typeface="Malgun Gothic"/>
              </a:rPr>
              <a:t>지출의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30" dirty="0">
                <a:latin typeface="Malgun Gothic"/>
                <a:cs typeface="Malgun Gothic"/>
              </a:rPr>
              <a:t>합. </a:t>
            </a:r>
            <a:r>
              <a:rPr sz="900" spc="-300" dirty="0">
                <a:latin typeface="Malgun Gothic"/>
                <a:cs typeface="Malgun Gothic"/>
              </a:rPr>
              <a:t> </a:t>
            </a:r>
            <a:r>
              <a:rPr sz="900" spc="30" dirty="0">
                <a:latin typeface="Malgun Gothic"/>
                <a:cs typeface="Malgun Gothic"/>
              </a:rPr>
              <a:t>자료: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40" dirty="0">
                <a:latin typeface="Malgun Gothic"/>
                <a:cs typeface="Malgun Gothic"/>
              </a:rPr>
              <a:t>OECD,Stat,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35" dirty="0">
                <a:latin typeface="Malgun Gothic"/>
                <a:cs typeface="Malgun Gothic"/>
              </a:rPr>
              <a:t>Social</a:t>
            </a:r>
            <a:r>
              <a:rPr sz="900" spc="125" dirty="0">
                <a:latin typeface="Malgun Gothic"/>
                <a:cs typeface="Malgun Gothic"/>
              </a:rPr>
              <a:t> </a:t>
            </a:r>
            <a:r>
              <a:rPr sz="900" spc="30" dirty="0">
                <a:latin typeface="Malgun Gothic"/>
                <a:cs typeface="Malgun Gothic"/>
              </a:rPr>
              <a:t>Expenditure</a:t>
            </a:r>
            <a:r>
              <a:rPr sz="900" spc="140" dirty="0">
                <a:latin typeface="Malgun Gothic"/>
                <a:cs typeface="Malgun Gothic"/>
              </a:rPr>
              <a:t> </a:t>
            </a:r>
            <a:r>
              <a:rPr sz="900" spc="20" dirty="0">
                <a:latin typeface="Malgun Gothic"/>
                <a:cs typeface="Malgun Gothic"/>
              </a:rPr>
              <a:t>Database.</a:t>
            </a:r>
            <a:endParaRPr sz="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4877" y="868774"/>
            <a:ext cx="553847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50" dirty="0">
                <a:latin typeface="Malgun Gothic"/>
                <a:cs typeface="Malgun Gothic"/>
              </a:rPr>
              <a:t>&lt;그림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-65" dirty="0">
                <a:latin typeface="Malgun Gothic"/>
                <a:cs typeface="Malgun Gothic"/>
              </a:rPr>
              <a:t>3&gt;</a:t>
            </a:r>
            <a:r>
              <a:rPr sz="1500" b="1" spc="220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국민부담률과</a:t>
            </a:r>
            <a:r>
              <a:rPr sz="1500" b="1" spc="215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공공사회복지지출의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10" dirty="0">
                <a:latin typeface="Malgun Gothic"/>
                <a:cs typeface="Malgun Gothic"/>
              </a:rPr>
              <a:t>국제비교(2021년)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8023" y="1465860"/>
            <a:ext cx="12395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40" dirty="0">
                <a:latin typeface="Malgun Gothic"/>
                <a:cs typeface="Malgun Gothic"/>
              </a:rPr>
              <a:t>(단위:</a:t>
            </a:r>
            <a:r>
              <a:rPr sz="1000" spc="120" dirty="0">
                <a:latin typeface="Malgun Gothic"/>
                <a:cs typeface="Malgun Gothic"/>
              </a:rPr>
              <a:t> </a:t>
            </a:r>
            <a:r>
              <a:rPr sz="1000" spc="40" dirty="0">
                <a:latin typeface="Malgun Gothic"/>
                <a:cs typeface="Malgun Gothic"/>
              </a:rPr>
              <a:t>GDP</a:t>
            </a:r>
            <a:r>
              <a:rPr sz="1000" spc="12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대비</a:t>
            </a:r>
            <a:r>
              <a:rPr sz="1000" spc="135" dirty="0">
                <a:latin typeface="Malgun Gothic"/>
                <a:cs typeface="Malgun Gothic"/>
              </a:rPr>
              <a:t> </a:t>
            </a:r>
            <a:r>
              <a:rPr sz="1000" spc="40" dirty="0">
                <a:latin typeface="Malgun Gothic"/>
                <a:cs typeface="Malgun Gothic"/>
              </a:rPr>
              <a:t>%)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428" y="1725320"/>
            <a:ext cx="7575130" cy="37790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9287" y="5586047"/>
            <a:ext cx="48787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30" dirty="0">
                <a:latin typeface="Malgun Gothic"/>
                <a:cs typeface="Malgun Gothic"/>
              </a:rPr>
              <a:t>자료:</a:t>
            </a:r>
            <a:r>
              <a:rPr sz="900" spc="130" dirty="0">
                <a:latin typeface="Malgun Gothic"/>
                <a:cs typeface="Malgun Gothic"/>
              </a:rPr>
              <a:t> </a:t>
            </a:r>
            <a:r>
              <a:rPr sz="900" spc="45" dirty="0">
                <a:latin typeface="Malgun Gothic"/>
                <a:cs typeface="Malgun Gothic"/>
              </a:rPr>
              <a:t>OECD.</a:t>
            </a:r>
            <a:r>
              <a:rPr sz="900" spc="130" dirty="0">
                <a:latin typeface="Malgun Gothic"/>
                <a:cs typeface="Malgun Gothic"/>
              </a:rPr>
              <a:t> </a:t>
            </a:r>
            <a:r>
              <a:rPr sz="900" spc="15" dirty="0">
                <a:latin typeface="Malgun Gothic"/>
                <a:cs typeface="Malgun Gothic"/>
              </a:rPr>
              <a:t>Global</a:t>
            </a:r>
            <a:r>
              <a:rPr sz="900" spc="135" dirty="0">
                <a:latin typeface="Malgun Gothic"/>
                <a:cs typeface="Malgun Gothic"/>
              </a:rPr>
              <a:t> </a:t>
            </a:r>
            <a:r>
              <a:rPr sz="900" spc="25" dirty="0">
                <a:latin typeface="Malgun Gothic"/>
                <a:cs typeface="Malgun Gothic"/>
              </a:rPr>
              <a:t>Revenue</a:t>
            </a:r>
            <a:r>
              <a:rPr sz="900" spc="140" dirty="0">
                <a:latin typeface="Malgun Gothic"/>
                <a:cs typeface="Malgun Gothic"/>
              </a:rPr>
              <a:t> </a:t>
            </a:r>
            <a:r>
              <a:rPr sz="900" spc="40" dirty="0">
                <a:latin typeface="Malgun Gothic"/>
                <a:cs typeface="Malgun Gothic"/>
              </a:rPr>
              <a:t>Statistics</a:t>
            </a:r>
            <a:r>
              <a:rPr sz="900" spc="145" dirty="0">
                <a:latin typeface="Malgun Gothic"/>
                <a:cs typeface="Malgun Gothic"/>
              </a:rPr>
              <a:t> </a:t>
            </a:r>
            <a:r>
              <a:rPr sz="900" spc="20" dirty="0">
                <a:latin typeface="Malgun Gothic"/>
                <a:cs typeface="Malgun Gothic"/>
              </a:rPr>
              <a:t>Database.</a:t>
            </a:r>
            <a:r>
              <a:rPr sz="900" spc="150" dirty="0">
                <a:latin typeface="Malgun Gothic"/>
                <a:cs typeface="Malgun Gothic"/>
              </a:rPr>
              <a:t> </a:t>
            </a:r>
            <a:r>
              <a:rPr sz="900" spc="30" dirty="0">
                <a:latin typeface="Malgun Gothic"/>
                <a:cs typeface="Malgun Gothic"/>
              </a:rPr>
              <a:t>Social</a:t>
            </a:r>
            <a:r>
              <a:rPr sz="900" spc="145" dirty="0">
                <a:latin typeface="Malgun Gothic"/>
                <a:cs typeface="Malgun Gothic"/>
              </a:rPr>
              <a:t> </a:t>
            </a:r>
            <a:r>
              <a:rPr sz="900" spc="35" dirty="0">
                <a:latin typeface="Malgun Gothic"/>
                <a:cs typeface="Malgun Gothic"/>
              </a:rPr>
              <a:t>Expenditure.</a:t>
            </a:r>
            <a:r>
              <a:rPr sz="900" spc="135" dirty="0">
                <a:latin typeface="Malgun Gothic"/>
                <a:cs typeface="Malgun Gothic"/>
              </a:rPr>
              <a:t> </a:t>
            </a:r>
            <a:r>
              <a:rPr sz="900" spc="45" dirty="0">
                <a:latin typeface="Malgun Gothic"/>
                <a:cs typeface="Malgun Gothic"/>
              </a:rPr>
              <a:t>2023.7.18.</a:t>
            </a:r>
            <a:r>
              <a:rPr sz="900" spc="130" dirty="0">
                <a:latin typeface="Malgun Gothic"/>
                <a:cs typeface="Malgun Gothic"/>
              </a:rPr>
              <a:t> </a:t>
            </a:r>
            <a:r>
              <a:rPr sz="900" spc="20" dirty="0">
                <a:latin typeface="Malgun Gothic"/>
                <a:cs typeface="Malgun Gothic"/>
              </a:rPr>
              <a:t>추출.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8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4833" y="868774"/>
            <a:ext cx="465645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50" dirty="0">
                <a:latin typeface="Malgun Gothic"/>
                <a:cs typeface="Malgun Gothic"/>
              </a:rPr>
              <a:t>&lt;그림</a:t>
            </a:r>
            <a:r>
              <a:rPr sz="1500" b="1" spc="220" dirty="0">
                <a:latin typeface="Malgun Gothic"/>
                <a:cs typeface="Malgun Gothic"/>
              </a:rPr>
              <a:t> </a:t>
            </a:r>
            <a:r>
              <a:rPr sz="1500" b="1" spc="-65" dirty="0">
                <a:latin typeface="Malgun Gothic"/>
                <a:cs typeface="Malgun Gothic"/>
              </a:rPr>
              <a:t>4&gt;</a:t>
            </a:r>
            <a:r>
              <a:rPr sz="1500" b="1" spc="204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복지급여의</a:t>
            </a:r>
            <a:r>
              <a:rPr sz="1500" b="1" spc="220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관대성과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사회지출의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국제비교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984" y="1527314"/>
            <a:ext cx="8421560" cy="40684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9286" y="5673782"/>
            <a:ext cx="8548370" cy="331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195" marR="5080" indent="-405130">
              <a:lnSpc>
                <a:spcPct val="107900"/>
              </a:lnSpc>
              <a:spcBef>
                <a:spcPts val="100"/>
              </a:spcBef>
            </a:pPr>
            <a:r>
              <a:rPr sz="1000" spc="35" dirty="0">
                <a:latin typeface="Malgun Gothic"/>
                <a:cs typeface="Malgun Gothic"/>
              </a:rPr>
              <a:t>자료: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40" dirty="0">
                <a:latin typeface="Malgun Gothic"/>
                <a:cs typeface="Malgun Gothic"/>
              </a:rPr>
              <a:t>Scruggs,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80" dirty="0">
                <a:latin typeface="Malgun Gothic"/>
                <a:cs typeface="Malgun Gothic"/>
              </a:rPr>
              <a:t>Lyle,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Detlef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15" dirty="0">
                <a:latin typeface="Malgun Gothic"/>
                <a:cs typeface="Malgun Gothic"/>
              </a:rPr>
              <a:t>Jahn</a:t>
            </a:r>
            <a:r>
              <a:rPr sz="1000" spc="16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and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55" dirty="0">
                <a:latin typeface="Malgun Gothic"/>
                <a:cs typeface="Malgun Gothic"/>
              </a:rPr>
              <a:t>Kati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35" dirty="0">
                <a:latin typeface="Malgun Gothic"/>
                <a:cs typeface="Malgun Gothic"/>
              </a:rPr>
              <a:t>Kuitto.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45" dirty="0">
                <a:latin typeface="Malgun Gothic"/>
                <a:cs typeface="Malgun Gothic"/>
              </a:rPr>
              <a:t>2014.</a:t>
            </a:r>
            <a:r>
              <a:rPr sz="1000" spc="170" dirty="0">
                <a:latin typeface="Malgun Gothic"/>
                <a:cs typeface="Malgun Gothic"/>
              </a:rPr>
              <a:t> </a:t>
            </a:r>
            <a:r>
              <a:rPr sz="1000" spc="20" dirty="0">
                <a:latin typeface="Malgun Gothic"/>
                <a:cs typeface="Malgun Gothic"/>
              </a:rPr>
              <a:t>"Comparative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35" dirty="0">
                <a:latin typeface="Malgun Gothic"/>
                <a:cs typeface="Malgun Gothic"/>
              </a:rPr>
              <a:t>Welfare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30" dirty="0">
                <a:latin typeface="Malgun Gothic"/>
                <a:cs typeface="Malgun Gothic"/>
              </a:rPr>
              <a:t>Entitlements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25" dirty="0">
                <a:latin typeface="Malgun Gothic"/>
                <a:cs typeface="Malgun Gothic"/>
              </a:rPr>
              <a:t>Dataset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50" dirty="0">
                <a:latin typeface="Malgun Gothic"/>
                <a:cs typeface="Malgun Gothic"/>
              </a:rPr>
              <a:t>2.</a:t>
            </a:r>
            <a:r>
              <a:rPr sz="1000" spc="170" dirty="0">
                <a:latin typeface="Malgun Gothic"/>
                <a:cs typeface="Malgun Gothic"/>
              </a:rPr>
              <a:t> </a:t>
            </a:r>
            <a:r>
              <a:rPr sz="1000" spc="45" dirty="0">
                <a:latin typeface="Malgun Gothic"/>
                <a:cs typeface="Malgun Gothic"/>
              </a:rPr>
              <a:t>Version</a:t>
            </a:r>
            <a:r>
              <a:rPr sz="1000" spc="170" dirty="0">
                <a:latin typeface="Malgun Gothic"/>
                <a:cs typeface="Malgun Gothic"/>
              </a:rPr>
              <a:t> </a:t>
            </a:r>
            <a:r>
              <a:rPr sz="1000" spc="55" dirty="0">
                <a:latin typeface="Malgun Gothic"/>
                <a:cs typeface="Malgun Gothic"/>
              </a:rPr>
              <a:t>2014-03."</a:t>
            </a:r>
            <a:r>
              <a:rPr sz="1000" spc="165" dirty="0">
                <a:latin typeface="Malgun Gothic"/>
                <a:cs typeface="Malgun Gothic"/>
              </a:rPr>
              <a:t> </a:t>
            </a:r>
            <a:r>
              <a:rPr sz="1000" spc="50" dirty="0">
                <a:latin typeface="Malgun Gothic"/>
                <a:cs typeface="Malgun Gothic"/>
              </a:rPr>
              <a:t>University</a:t>
            </a:r>
            <a:r>
              <a:rPr sz="1000" spc="160" dirty="0">
                <a:latin typeface="Malgun Gothic"/>
                <a:cs typeface="Malgun Gothic"/>
              </a:rPr>
              <a:t> </a:t>
            </a:r>
            <a:r>
              <a:rPr sz="1000" spc="15" dirty="0">
                <a:latin typeface="Malgun Gothic"/>
                <a:cs typeface="Malgun Gothic"/>
              </a:rPr>
              <a:t>of </a:t>
            </a:r>
            <a:r>
              <a:rPr sz="1000" spc="-340" dirty="0">
                <a:latin typeface="Malgun Gothic"/>
                <a:cs typeface="Malgun Gothic"/>
              </a:rPr>
              <a:t> </a:t>
            </a:r>
            <a:r>
              <a:rPr sz="1000" spc="20" dirty="0">
                <a:latin typeface="Malgun Gothic"/>
                <a:cs typeface="Malgun Gothic"/>
              </a:rPr>
              <a:t>Connecticut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&amp;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50" dirty="0">
                <a:latin typeface="Malgun Gothic"/>
                <a:cs typeface="Malgun Gothic"/>
              </a:rPr>
              <a:t>University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5" dirty="0">
                <a:latin typeface="Malgun Gothic"/>
                <a:cs typeface="Malgun Gothic"/>
              </a:rPr>
              <a:t>of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45" dirty="0">
                <a:latin typeface="Malgun Gothic"/>
                <a:cs typeface="Malgun Gothic"/>
              </a:rPr>
              <a:t>Greifswald.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2192" y="6528515"/>
            <a:ext cx="4216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z="1000" spc="285" dirty="0">
                <a:latin typeface="Arial MT"/>
                <a:cs typeface="Arial MT"/>
              </a:rPr>
              <a:t>-</a:t>
            </a:r>
            <a:r>
              <a:rPr sz="1000" spc="175" dirty="0">
                <a:latin typeface="Arial MT"/>
                <a:cs typeface="Arial MT"/>
              </a:rPr>
              <a:t> </a:t>
            </a:r>
            <a:fld id="{81D60167-4931-47E6-BA6A-407CBD079E47}" type="slidenum">
              <a:rPr sz="1000" spc="15" dirty="0">
                <a:latin typeface="Arial MT"/>
                <a:cs typeface="Arial MT"/>
              </a:rPr>
              <a:pPr marL="12700">
                <a:lnSpc>
                  <a:spcPts val="1155"/>
                </a:lnSpc>
              </a:pPr>
              <a:t>9</a:t>
            </a:fld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spc="285" dirty="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10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2281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40" dirty="0"/>
              <a:t>2.</a:t>
            </a:r>
            <a:r>
              <a:rPr spc="254" dirty="0"/>
              <a:t> </a:t>
            </a:r>
            <a:r>
              <a:rPr spc="-5" dirty="0"/>
              <a:t>복지국가의</a:t>
            </a:r>
            <a:r>
              <a:rPr spc="254" dirty="0"/>
              <a:t> </a:t>
            </a:r>
            <a:r>
              <a:rPr dirty="0"/>
              <a:t>목표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287" y="1671487"/>
            <a:ext cx="8524875" cy="3901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30" dirty="0">
                <a:solidFill>
                  <a:srgbClr val="0000FF"/>
                </a:solidFill>
                <a:latin typeface="Malgun Gothic"/>
                <a:cs typeface="Malgun Gothic"/>
              </a:rPr>
              <a:t>1)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자원배분의</a:t>
            </a:r>
            <a:r>
              <a:rPr sz="2000" b="1" spc="29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10" dirty="0">
                <a:solidFill>
                  <a:srgbClr val="0000FF"/>
                </a:solidFill>
                <a:latin typeface="Malgun Gothic"/>
                <a:cs typeface="Malgun Gothic"/>
              </a:rPr>
              <a:t>효율성(allocative</a:t>
            </a:r>
            <a:r>
              <a:rPr sz="2000" b="1" spc="28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35" dirty="0">
                <a:solidFill>
                  <a:srgbClr val="0000FF"/>
                </a:solidFill>
                <a:latin typeface="Malgun Gothic"/>
                <a:cs typeface="Malgun Gothic"/>
              </a:rPr>
              <a:t>efficiency)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5"/>
              </a:spcBef>
            </a:pPr>
            <a:endParaRPr sz="2200" dirty="0">
              <a:latin typeface="Malgun Gothic"/>
              <a:cs typeface="Malgun Gothic"/>
            </a:endParaRPr>
          </a:p>
          <a:p>
            <a:pPr marL="12700"/>
            <a:r>
              <a:rPr sz="2000" b="1" dirty="0">
                <a:latin typeface="Malgun Gothic"/>
                <a:cs typeface="Malgun Gothic"/>
              </a:rPr>
              <a:t>①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거시적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효율성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국민경제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차원에서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감당할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수준의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복지정책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비용의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급증을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초래할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복지정책의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왜곡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요인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제거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 dirty="0">
              <a:latin typeface="Malgun Gothic"/>
              <a:cs typeface="Malgun Gothic"/>
            </a:endParaRPr>
          </a:p>
          <a:p>
            <a:pPr marL="12700"/>
            <a:r>
              <a:rPr sz="2000" b="1" dirty="0">
                <a:latin typeface="Malgun Gothic"/>
                <a:cs typeface="Malgun Gothic"/>
              </a:rPr>
              <a:t>②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미시적</a:t>
            </a:r>
            <a:r>
              <a:rPr sz="2000" b="1" spc="25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효율성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제한된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복지재정의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복지부문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효율적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배분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파레토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효율성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buFont typeface="Malgun Gothic"/>
              <a:buChar char="-"/>
            </a:pPr>
            <a:endParaRPr sz="2200" dirty="0">
              <a:latin typeface="Malgun Gothic"/>
              <a:cs typeface="Malgun Gothic"/>
            </a:endParaRPr>
          </a:p>
          <a:p>
            <a:pPr marL="12700"/>
            <a:r>
              <a:rPr sz="2000" b="1" dirty="0">
                <a:latin typeface="Malgun Gothic"/>
                <a:cs typeface="Malgun Gothic"/>
              </a:rPr>
              <a:t>③</a:t>
            </a:r>
            <a:r>
              <a:rPr sz="2000" b="1" spc="23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인센티브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90" dirty="0">
                <a:latin typeface="Malgun Gothic"/>
                <a:cs typeface="Malgun Gothic"/>
              </a:rPr>
              <a:t>재원조달방식과</a:t>
            </a:r>
            <a:r>
              <a:rPr sz="2000" b="1" spc="130" dirty="0">
                <a:latin typeface="Malgun Gothic"/>
                <a:cs typeface="Malgun Gothic"/>
              </a:rPr>
              <a:t> </a:t>
            </a:r>
            <a:r>
              <a:rPr sz="2000" b="1" spc="-85" dirty="0">
                <a:latin typeface="Malgun Gothic"/>
                <a:cs typeface="Malgun Gothic"/>
              </a:rPr>
              <a:t>급여체계의</a:t>
            </a:r>
            <a:r>
              <a:rPr sz="2000" b="1" spc="130" dirty="0">
                <a:latin typeface="Malgun Gothic"/>
                <a:cs typeface="Malgun Gothic"/>
              </a:rPr>
              <a:t> </a:t>
            </a:r>
            <a:r>
              <a:rPr sz="2000" b="1" spc="-100" dirty="0">
                <a:latin typeface="Malgun Gothic"/>
                <a:cs typeface="Malgun Gothic"/>
              </a:rPr>
              <a:t>노동공급ㆍ고용ㆍ저축에</a:t>
            </a:r>
            <a:r>
              <a:rPr sz="2000" b="1" spc="140" dirty="0">
                <a:latin typeface="Malgun Gothic"/>
                <a:cs typeface="Malgun Gothic"/>
              </a:rPr>
              <a:t> </a:t>
            </a:r>
            <a:r>
              <a:rPr sz="2000" b="1" spc="-55" dirty="0">
                <a:latin typeface="Malgun Gothic"/>
                <a:cs typeface="Malgun Gothic"/>
              </a:rPr>
              <a:t>대한</a:t>
            </a:r>
            <a:r>
              <a:rPr sz="2000" b="1" spc="135" dirty="0">
                <a:latin typeface="Malgun Gothic"/>
                <a:cs typeface="Malgun Gothic"/>
              </a:rPr>
              <a:t> </a:t>
            </a:r>
            <a:r>
              <a:rPr sz="2000" b="1" spc="-70" dirty="0">
                <a:latin typeface="Malgun Gothic"/>
                <a:cs typeface="Malgun Gothic"/>
              </a:rPr>
              <a:t>역효과</a:t>
            </a:r>
            <a:r>
              <a:rPr sz="2000" b="1" spc="130" dirty="0">
                <a:latin typeface="Malgun Gothic"/>
                <a:cs typeface="Malgun Gothic"/>
              </a:rPr>
              <a:t> </a:t>
            </a:r>
            <a:r>
              <a:rPr sz="2000" b="1" spc="-70" dirty="0">
                <a:latin typeface="Malgun Gothic"/>
                <a:cs typeface="Malgun Gothic"/>
              </a:rPr>
              <a:t>최소화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11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79287" y="859635"/>
            <a:ext cx="8549005" cy="3268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30" dirty="0">
                <a:solidFill>
                  <a:srgbClr val="0000FF"/>
                </a:solidFill>
                <a:latin typeface="Malgun Gothic"/>
                <a:cs typeface="Malgun Gothic"/>
              </a:rPr>
              <a:t>2)</a:t>
            </a:r>
            <a:r>
              <a:rPr sz="2000" b="1" spc="29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생활수준의</a:t>
            </a:r>
            <a:r>
              <a:rPr sz="2000" b="1" spc="29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0000FF"/>
                </a:solidFill>
                <a:latin typeface="Malgun Gothic"/>
                <a:cs typeface="Malgun Gothic"/>
              </a:rPr>
              <a:t>유지지원(supporting</a:t>
            </a:r>
            <a:r>
              <a:rPr sz="2000" b="1" spc="29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living</a:t>
            </a:r>
            <a:r>
              <a:rPr sz="2000" b="1" spc="30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standards)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25"/>
              </a:spcBef>
            </a:pPr>
            <a:endParaRPr sz="1750" dirty="0">
              <a:latin typeface="Malgun Gothic"/>
              <a:cs typeface="Malgun Gothic"/>
            </a:endParaRPr>
          </a:p>
          <a:p>
            <a:pPr marL="287655" marR="6350" indent="-275590" algn="just">
              <a:lnSpc>
                <a:spcPct val="133200"/>
              </a:lnSpc>
              <a:buFont typeface="Cambria"/>
              <a:buChar char="○"/>
              <a:tabLst>
                <a:tab pos="288290" algn="l"/>
              </a:tabLst>
            </a:pPr>
            <a:r>
              <a:rPr sz="2000" b="1" spc="-5" dirty="0">
                <a:latin typeface="Malgun Gothic"/>
                <a:cs typeface="Malgun Gothic"/>
              </a:rPr>
              <a:t>확실성과 완전경쟁이 적용되는 시장에서 </a:t>
            </a:r>
            <a:r>
              <a:rPr sz="2000" b="1" dirty="0">
                <a:latin typeface="Malgun Gothic"/>
                <a:cs typeface="Malgun Gothic"/>
              </a:rPr>
              <a:t>개인이 </a:t>
            </a:r>
            <a:r>
              <a:rPr sz="2000" b="1" spc="-5" dirty="0">
                <a:latin typeface="Malgun Gothic"/>
                <a:cs typeface="Malgun Gothic"/>
              </a:rPr>
              <a:t>합리적으로 행동하는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세계에서 복지국가의 </a:t>
            </a:r>
            <a:r>
              <a:rPr sz="2000" b="1" dirty="0">
                <a:latin typeface="Malgun Gothic"/>
                <a:cs typeface="Malgun Gothic"/>
              </a:rPr>
              <a:t>유일한 역할은 일부 계층을 </a:t>
            </a:r>
            <a:r>
              <a:rPr sz="2000" b="1" spc="-5" dirty="0">
                <a:latin typeface="Malgun Gothic"/>
                <a:cs typeface="Malgun Gothic"/>
              </a:rPr>
              <a:t>대상으로 </a:t>
            </a:r>
            <a:r>
              <a:rPr sz="2000" b="1" spc="-10" dirty="0">
                <a:latin typeface="Malgun Gothic"/>
                <a:cs typeface="Malgun Gothic"/>
              </a:rPr>
              <a:t>하는 빈곤 </a:t>
            </a:r>
            <a:r>
              <a:rPr sz="2000" b="1" spc="-5" dirty="0">
                <a:latin typeface="Malgun Gothic"/>
                <a:cs typeface="Malgun Gothic"/>
              </a:rPr>
              <a:t> 구제사업을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수행하는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40" dirty="0">
                <a:latin typeface="Malgun Gothic"/>
                <a:cs typeface="Malgun Gothic"/>
              </a:rPr>
              <a:t>: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잔여적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복지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30"/>
              </a:spcBef>
            </a:pPr>
            <a:endParaRPr sz="1750" dirty="0">
              <a:latin typeface="Malgun Gothic"/>
              <a:cs typeface="Malgun Gothic"/>
            </a:endParaRPr>
          </a:p>
          <a:p>
            <a:pPr marL="443230" marR="5080" indent="-304800" algn="just">
              <a:lnSpc>
                <a:spcPct val="133200"/>
              </a:lnSpc>
              <a:spcBef>
                <a:spcPts val="5"/>
              </a:spcBef>
            </a:pPr>
            <a:r>
              <a:rPr sz="2000" b="1" spc="420" dirty="0">
                <a:latin typeface="Malgun Gothic"/>
                <a:cs typeface="Malgun Gothic"/>
              </a:rPr>
              <a:t>- </a:t>
            </a:r>
            <a:r>
              <a:rPr sz="2000" b="1" dirty="0">
                <a:latin typeface="Malgun Gothic"/>
                <a:cs typeface="Malgun Gothic"/>
              </a:rPr>
              <a:t>그러나 정보가 </a:t>
            </a:r>
            <a:r>
              <a:rPr sz="2000" b="1" spc="-5" dirty="0">
                <a:latin typeface="Malgun Gothic"/>
                <a:cs typeface="Malgun Gothic"/>
              </a:rPr>
              <a:t>불완전하고 </a:t>
            </a:r>
            <a:r>
              <a:rPr sz="2000" b="1" dirty="0">
                <a:latin typeface="Malgun Gothic"/>
                <a:cs typeface="Malgun Gothic"/>
              </a:rPr>
              <a:t>위험 및 </a:t>
            </a:r>
            <a:r>
              <a:rPr sz="2000" b="1" spc="-5" dirty="0">
                <a:latin typeface="Malgun Gothic"/>
                <a:cs typeface="Malgun Gothic"/>
              </a:rPr>
              <a:t>불확실성이 </a:t>
            </a:r>
            <a:r>
              <a:rPr sz="2000" b="1" spc="5" dirty="0">
                <a:latin typeface="Malgun Gothic"/>
                <a:cs typeface="Malgun Gothic"/>
              </a:rPr>
              <a:t>존재하며, </a:t>
            </a:r>
            <a:r>
              <a:rPr sz="2000" b="1" spc="-5" dirty="0">
                <a:latin typeface="Malgun Gothic"/>
                <a:cs typeface="Malgun Gothic"/>
              </a:rPr>
              <a:t>인간이 </a:t>
            </a:r>
            <a:r>
              <a:rPr sz="2000" b="1" dirty="0">
                <a:latin typeface="Malgun Gothic"/>
                <a:cs typeface="Malgun Gothic"/>
              </a:rPr>
              <a:t>완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벽하게 </a:t>
            </a:r>
            <a:r>
              <a:rPr sz="2000" b="1" spc="-5" dirty="0">
                <a:latin typeface="Malgun Gothic"/>
                <a:cs typeface="Malgun Gothic"/>
              </a:rPr>
              <a:t>합리적이지 </a:t>
            </a:r>
            <a:r>
              <a:rPr sz="2000" b="1" spc="-50" dirty="0">
                <a:latin typeface="Malgun Gothic"/>
                <a:cs typeface="Malgun Gothic"/>
              </a:rPr>
              <a:t>않은(bounded</a:t>
            </a:r>
            <a:r>
              <a:rPr sz="2000" b="1" spc="-4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rationality) </a:t>
            </a:r>
            <a:r>
              <a:rPr sz="2000" b="1" spc="-5" dirty="0">
                <a:latin typeface="Malgun Gothic"/>
                <a:cs typeface="Malgun Gothic"/>
              </a:rPr>
              <a:t>세계에서 복지국가는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빈곤구제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뿐만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아니라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각종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사회보장문제에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개입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12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79287" y="759716"/>
            <a:ext cx="8470265" cy="44913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spcBef>
                <a:spcPts val="890"/>
              </a:spcBef>
            </a:pPr>
            <a:r>
              <a:rPr sz="2000" b="1" dirty="0">
                <a:latin typeface="Malgun Gothic"/>
                <a:cs typeface="Malgun Gothic"/>
              </a:rPr>
              <a:t>④</a:t>
            </a:r>
            <a:r>
              <a:rPr sz="2000" b="1" spc="23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빈곤구제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79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개인이나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가계의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소득이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최저생계비수준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이하로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떨어지는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것을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방지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빈곤정책의</a:t>
            </a:r>
            <a:r>
              <a:rPr sz="2000" b="1" spc="2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효과성</a:t>
            </a:r>
            <a:r>
              <a:rPr sz="2000" b="1" spc="26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측정</a:t>
            </a:r>
            <a:endParaRPr sz="2000" dirty="0">
              <a:latin typeface="Malgun Gothic"/>
              <a:cs typeface="Malgun Gothic"/>
            </a:endParaRPr>
          </a:p>
          <a:p>
            <a:pPr marL="266700">
              <a:spcBef>
                <a:spcPts val="805"/>
              </a:spcBef>
            </a:pPr>
            <a:r>
              <a:rPr sz="2000" spc="80" dirty="0">
                <a:latin typeface="Cambria"/>
                <a:cs typeface="Cambria"/>
              </a:rPr>
              <a:t>▸</a:t>
            </a:r>
            <a:r>
              <a:rPr sz="2000" b="1" spc="80" dirty="0">
                <a:latin typeface="Malgun Gothic"/>
                <a:cs typeface="Malgun Gothic"/>
              </a:rPr>
              <a:t>빈곤선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이하에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사람의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endParaRPr sz="2000" dirty="0">
              <a:latin typeface="Malgun Gothic"/>
              <a:cs typeface="Malgun Gothic"/>
            </a:endParaRPr>
          </a:p>
          <a:p>
            <a:pPr marL="266700">
              <a:spcBef>
                <a:spcPts val="790"/>
              </a:spcBef>
            </a:pPr>
            <a:r>
              <a:rPr sz="2000" spc="80" dirty="0">
                <a:latin typeface="Cambria"/>
                <a:cs typeface="Cambria"/>
              </a:rPr>
              <a:t>▸</a:t>
            </a:r>
            <a:r>
              <a:rPr sz="2000" b="1" spc="80" dirty="0">
                <a:latin typeface="Malgun Gothic"/>
                <a:cs typeface="Malgun Gothic"/>
              </a:rPr>
              <a:t>빈곤의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수준(빈곤갭)</a:t>
            </a:r>
            <a:endParaRPr sz="2000" dirty="0">
              <a:latin typeface="Malgun Gothic"/>
              <a:cs typeface="Malgun Gothic"/>
            </a:endParaRPr>
          </a:p>
          <a:p>
            <a:pPr marL="266700">
              <a:spcBef>
                <a:spcPts val="800"/>
              </a:spcBef>
            </a:pPr>
            <a:r>
              <a:rPr sz="2000" spc="80" dirty="0">
                <a:latin typeface="Cambria"/>
                <a:cs typeface="Cambria"/>
              </a:rPr>
              <a:t>▸</a:t>
            </a:r>
            <a:r>
              <a:rPr sz="2000" b="1" spc="80" dirty="0">
                <a:latin typeface="Malgun Gothic"/>
                <a:cs typeface="Malgun Gothic"/>
              </a:rPr>
              <a:t>빈곤의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지속기간(생애주기와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세대간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문제)</a:t>
            </a: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200" dirty="0">
              <a:latin typeface="Malgun Gothic"/>
              <a:cs typeface="Malgun Gothic"/>
            </a:endParaRPr>
          </a:p>
          <a:p>
            <a:pPr marL="12700">
              <a:spcBef>
                <a:spcPts val="5"/>
              </a:spcBef>
            </a:pPr>
            <a:r>
              <a:rPr sz="2000" b="1" dirty="0">
                <a:latin typeface="Malgun Gothic"/>
                <a:cs typeface="Malgun Gothic"/>
              </a:rPr>
              <a:t>⑤</a:t>
            </a:r>
            <a:r>
              <a:rPr sz="2000" b="1" spc="229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보험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0"/>
              </a:spcBef>
              <a:buChar char="-"/>
              <a:tabLst>
                <a:tab pos="425450" algn="l"/>
              </a:tabLst>
            </a:pPr>
            <a:r>
              <a:rPr sz="2000" b="1" spc="25" dirty="0">
                <a:latin typeface="Malgun Gothic"/>
                <a:cs typeface="Malgun Gothic"/>
              </a:rPr>
              <a:t>사회보험: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국민연금,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건강보험,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고용보험,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산재보험,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95" dirty="0">
                <a:latin typeface="Malgun Gothic"/>
                <a:cs typeface="Malgun Gothic"/>
              </a:rPr>
              <a:t>노인장기요양보험</a:t>
            </a:r>
            <a:endParaRPr sz="2000" dirty="0">
              <a:latin typeface="Malgun Gothic"/>
              <a:cs typeface="Malgun Gothic"/>
            </a:endParaRPr>
          </a:p>
          <a:p>
            <a:pPr marL="424815" indent="-287020">
              <a:spcBef>
                <a:spcPts val="805"/>
              </a:spcBef>
              <a:buChar char="-"/>
              <a:tabLst>
                <a:tab pos="42545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생활보장수준의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성과측정: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소득과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급여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상호간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대체율</a:t>
            </a:r>
            <a:endParaRPr sz="2000" dirty="0">
              <a:latin typeface="Malgun Gothic"/>
              <a:cs typeface="Malgun Gothic"/>
            </a:endParaRPr>
          </a:p>
          <a:p>
            <a:pPr marL="3691890">
              <a:spcBef>
                <a:spcPts val="790"/>
              </a:spcBef>
            </a:pP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(replacement</a:t>
            </a:r>
            <a:r>
              <a:rPr sz="2000" b="1" spc="24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ratio)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13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6" y="859636"/>
            <a:ext cx="4000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⑥</a:t>
            </a:r>
            <a:r>
              <a:rPr spc="265" dirty="0"/>
              <a:t> </a:t>
            </a:r>
            <a:r>
              <a:rPr spc="-5" dirty="0"/>
              <a:t>평생소비의</a:t>
            </a:r>
            <a:r>
              <a:rPr spc="265" dirty="0"/>
              <a:t> </a:t>
            </a:r>
            <a:r>
              <a:rPr spc="-30" dirty="0"/>
              <a:t>안정화(smoothing)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641" y="1570044"/>
            <a:ext cx="7543165" cy="27063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33400"/>
              </a:lnSpc>
              <a:spcBef>
                <a:spcPts val="100"/>
              </a:spcBef>
              <a:buFont typeface="Malgun Gothic"/>
              <a:buChar char="-"/>
              <a:tabLst>
                <a:tab pos="299085" algn="l"/>
              </a:tabLst>
            </a:pPr>
            <a:r>
              <a:rPr dirty="0"/>
              <a:t>	</a:t>
            </a:r>
            <a:r>
              <a:rPr sz="2000" b="1" spc="-5" dirty="0">
                <a:latin typeface="Malgun Gothic"/>
                <a:cs typeface="Malgun Gothic"/>
              </a:rPr>
              <a:t>생애주기에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걸친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안정적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소비생활을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소득의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재분배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spc="-15" dirty="0">
                <a:latin typeface="Malgun Gothic"/>
                <a:cs typeface="Malgun Gothic"/>
              </a:rPr>
              <a:t>(intertemporal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redistribution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45" dirty="0">
                <a:latin typeface="Malgun Gothic"/>
                <a:cs typeface="Malgun Gothic"/>
              </a:rPr>
              <a:t>of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5" dirty="0">
                <a:latin typeface="Malgun Gothic"/>
                <a:cs typeface="Malgun Gothic"/>
              </a:rPr>
              <a:t>income)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15"/>
              </a:spcBef>
              <a:buFont typeface="Malgun Gothic"/>
              <a:buChar char="-"/>
            </a:pPr>
            <a:endParaRPr sz="1750" dirty="0">
              <a:latin typeface="Malgun Gothic"/>
              <a:cs typeface="Malgun Gothic"/>
            </a:endParaRPr>
          </a:p>
          <a:p>
            <a:pPr marL="266700" marR="419100" indent="-254635">
              <a:lnSpc>
                <a:spcPct val="133400"/>
              </a:lnSpc>
              <a:buFont typeface="Malgun Gothic"/>
              <a:buChar char="-"/>
              <a:tabLst>
                <a:tab pos="299085" algn="l"/>
              </a:tabLst>
            </a:pPr>
            <a:r>
              <a:rPr dirty="0"/>
              <a:t>	</a:t>
            </a:r>
            <a:r>
              <a:rPr sz="2000" b="1" spc="5" dirty="0">
                <a:latin typeface="Malgun Gothic"/>
                <a:cs typeface="Malgun Gothic"/>
              </a:rPr>
              <a:t>보험수리(actuarial)의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원칙에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기초한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적립식</a:t>
            </a:r>
            <a:r>
              <a:rPr sz="2000" b="1" spc="29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개인연금보험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spc="80" dirty="0">
                <a:solidFill>
                  <a:srgbClr val="0000FF"/>
                </a:solidFill>
                <a:latin typeface="Malgun Gothic"/>
                <a:cs typeface="Malgun Gothic"/>
              </a:rPr>
              <a:t>부과방식(Pay-As-You-Go)</a:t>
            </a:r>
            <a:r>
              <a:rPr sz="2000" b="1" spc="80" dirty="0">
                <a:latin typeface="Malgun Gothic"/>
                <a:cs typeface="Malgun Gothic"/>
              </a:rPr>
              <a:t>에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공적연금제도</a:t>
            </a:r>
            <a:endParaRPr sz="2000" dirty="0">
              <a:latin typeface="Malgun Gothic"/>
              <a:cs typeface="Malgun Gothic"/>
            </a:endParaRPr>
          </a:p>
          <a:p>
            <a:pPr marL="266700" marR="3462020">
              <a:lnSpc>
                <a:spcPts val="3200"/>
              </a:lnSpc>
              <a:spcBef>
                <a:spcPts val="95"/>
              </a:spcBef>
            </a:pPr>
            <a:r>
              <a:rPr sz="2000" b="1" spc="-5" dirty="0">
                <a:latin typeface="Malgun Gothic"/>
                <a:cs typeface="Malgun Gothic"/>
              </a:rPr>
              <a:t>다자녀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가정에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대한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사회적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지원 </a:t>
            </a:r>
            <a:r>
              <a:rPr sz="2000" b="1" spc="-6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학생들에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학비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대부제도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14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6" y="859636"/>
            <a:ext cx="4039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⑦</a:t>
            </a:r>
            <a:r>
              <a:rPr spc="27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수직적</a:t>
            </a:r>
            <a:r>
              <a:rPr spc="280" dirty="0">
                <a:solidFill>
                  <a:srgbClr val="0000FF"/>
                </a:solidFill>
              </a:rPr>
              <a:t> </a:t>
            </a:r>
            <a:r>
              <a:rPr spc="25" dirty="0">
                <a:solidFill>
                  <a:srgbClr val="0000FF"/>
                </a:solidFill>
              </a:rPr>
              <a:t>형평성(vertical</a:t>
            </a:r>
            <a:r>
              <a:rPr spc="28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equity)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00458" y="1392631"/>
            <a:ext cx="7930385" cy="337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0" marR="6350" indent="-298450">
              <a:lnSpc>
                <a:spcPct val="133400"/>
              </a:lnSpc>
              <a:spcBef>
                <a:spcPts val="100"/>
              </a:spcBef>
              <a:buChar char="-"/>
              <a:tabLst>
                <a:tab pos="438150" algn="l"/>
                <a:tab pos="438784" algn="l"/>
                <a:tab pos="2463165" algn="l"/>
                <a:tab pos="3411220" algn="l"/>
                <a:tab pos="4565650" algn="l"/>
                <a:tab pos="5719445" algn="l"/>
                <a:tab pos="7127240" algn="l"/>
                <a:tab pos="8028940" algn="l"/>
              </a:tabLst>
            </a:pPr>
            <a:r>
              <a:rPr dirty="0"/>
              <a:t>자</a:t>
            </a:r>
            <a:r>
              <a:rPr spc="-15" dirty="0"/>
              <a:t>산</a:t>
            </a:r>
            <a:r>
              <a:rPr dirty="0"/>
              <a:t>조사</a:t>
            </a:r>
            <a:r>
              <a:rPr spc="35" dirty="0"/>
              <a:t>(</a:t>
            </a:r>
            <a:r>
              <a:rPr spc="-160" dirty="0"/>
              <a:t>m</a:t>
            </a:r>
            <a:r>
              <a:rPr spc="45" dirty="0"/>
              <a:t>e</a:t>
            </a:r>
            <a:r>
              <a:rPr spc="-15" dirty="0"/>
              <a:t>a</a:t>
            </a:r>
            <a:r>
              <a:rPr spc="-85" dirty="0"/>
              <a:t>n</a:t>
            </a:r>
            <a:r>
              <a:rPr spc="114" dirty="0"/>
              <a:t>s</a:t>
            </a:r>
            <a:r>
              <a:rPr dirty="0"/>
              <a:t>	</a:t>
            </a:r>
            <a:r>
              <a:rPr spc="-55" dirty="0"/>
              <a:t>t</a:t>
            </a:r>
            <a:r>
              <a:rPr spc="45" dirty="0"/>
              <a:t>e</a:t>
            </a:r>
            <a:r>
              <a:rPr spc="114" dirty="0"/>
              <a:t>s</a:t>
            </a:r>
            <a:r>
              <a:rPr spc="-65" dirty="0"/>
              <a:t>t</a:t>
            </a:r>
            <a:r>
              <a:rPr spc="35" dirty="0"/>
              <a:t>)</a:t>
            </a:r>
            <a:r>
              <a:rPr dirty="0"/>
              <a:t>에	근거</a:t>
            </a:r>
            <a:r>
              <a:rPr spc="-15" dirty="0"/>
              <a:t>하</a:t>
            </a:r>
            <a:r>
              <a:rPr dirty="0"/>
              <a:t>여	운영</a:t>
            </a:r>
            <a:r>
              <a:rPr spc="-15" dirty="0"/>
              <a:t>되</a:t>
            </a:r>
            <a:r>
              <a:rPr dirty="0"/>
              <a:t>는	급여</a:t>
            </a:r>
            <a:r>
              <a:rPr spc="-15" dirty="0"/>
              <a:t>방</a:t>
            </a:r>
            <a:r>
              <a:rPr dirty="0"/>
              <a:t>식은	수직적	</a:t>
            </a:r>
            <a:r>
              <a:rPr spc="-15" dirty="0"/>
              <a:t>형</a:t>
            </a:r>
            <a:r>
              <a:rPr dirty="0"/>
              <a:t>평  </a:t>
            </a:r>
            <a:r>
              <a:rPr spc="-5" dirty="0"/>
              <a:t>성이라는</a:t>
            </a:r>
            <a:r>
              <a:rPr spc="285" dirty="0"/>
              <a:t> </a:t>
            </a:r>
            <a:r>
              <a:rPr spc="-5" dirty="0"/>
              <a:t>정책목표에</a:t>
            </a:r>
            <a:r>
              <a:rPr spc="290" dirty="0"/>
              <a:t> </a:t>
            </a:r>
            <a:r>
              <a:rPr spc="-5" dirty="0"/>
              <a:t>상당히</a:t>
            </a:r>
            <a:r>
              <a:rPr spc="290" dirty="0"/>
              <a:t> </a:t>
            </a:r>
            <a:r>
              <a:rPr dirty="0"/>
              <a:t>기여</a:t>
            </a:r>
          </a:p>
          <a:p>
            <a:pPr marL="127635">
              <a:spcBef>
                <a:spcPts val="15"/>
              </a:spcBef>
              <a:buFont typeface="Malgun Gothic"/>
              <a:buChar char="-"/>
            </a:pPr>
            <a:endParaRPr sz="1750" dirty="0"/>
          </a:p>
          <a:p>
            <a:pPr marL="461009" marR="6350" indent="-321310">
              <a:lnSpc>
                <a:spcPct val="133400"/>
              </a:lnSpc>
              <a:buClr>
                <a:srgbClr val="000000"/>
              </a:buClr>
              <a:buChar char="-"/>
              <a:tabLst>
                <a:tab pos="461009" algn="l"/>
                <a:tab pos="461645" algn="l"/>
                <a:tab pos="2653030" algn="l"/>
                <a:tab pos="3575685" algn="l"/>
                <a:tab pos="4752340" algn="l"/>
                <a:tab pos="5420995" algn="l"/>
                <a:tab pos="6597650" algn="l"/>
                <a:tab pos="7774305" algn="l"/>
              </a:tabLst>
            </a:pPr>
            <a:r>
              <a:rPr dirty="0">
                <a:solidFill>
                  <a:srgbClr val="0000FF"/>
                </a:solidFill>
              </a:rPr>
              <a:t>기</a:t>
            </a:r>
            <a:r>
              <a:rPr spc="-15" dirty="0">
                <a:solidFill>
                  <a:srgbClr val="0000FF"/>
                </a:solidFill>
              </a:rPr>
              <a:t>초</a:t>
            </a:r>
            <a:r>
              <a:rPr dirty="0">
                <a:solidFill>
                  <a:srgbClr val="0000FF"/>
                </a:solidFill>
              </a:rPr>
              <a:t>연금</a:t>
            </a:r>
            <a:r>
              <a:rPr spc="-15" dirty="0"/>
              <a:t>제</a:t>
            </a:r>
            <a:r>
              <a:rPr dirty="0"/>
              <a:t>도처럼	</a:t>
            </a:r>
            <a:r>
              <a:rPr spc="-15" dirty="0"/>
              <a:t>별</a:t>
            </a:r>
            <a:r>
              <a:rPr dirty="0"/>
              <a:t>도의	</a:t>
            </a:r>
            <a:r>
              <a:rPr spc="-15" dirty="0"/>
              <a:t>자</a:t>
            </a:r>
            <a:r>
              <a:rPr dirty="0"/>
              <a:t>산조사	</a:t>
            </a:r>
            <a:r>
              <a:rPr spc="-15" dirty="0"/>
              <a:t>없</a:t>
            </a:r>
            <a:r>
              <a:rPr dirty="0"/>
              <a:t>이	모두</a:t>
            </a:r>
            <a:r>
              <a:rPr spc="-15" dirty="0"/>
              <a:t>에</a:t>
            </a:r>
            <a:r>
              <a:rPr dirty="0"/>
              <a:t>게	동일</a:t>
            </a:r>
            <a:r>
              <a:rPr spc="-15" dirty="0"/>
              <a:t>하</a:t>
            </a:r>
            <a:r>
              <a:rPr dirty="0"/>
              <a:t>게	제</a:t>
            </a:r>
            <a:r>
              <a:rPr spc="-15" dirty="0"/>
              <a:t>공</a:t>
            </a:r>
            <a:r>
              <a:rPr dirty="0"/>
              <a:t>되  는</a:t>
            </a:r>
            <a:r>
              <a:rPr spc="285" dirty="0"/>
              <a:t> </a:t>
            </a:r>
            <a:r>
              <a:rPr spc="-5" dirty="0"/>
              <a:t>급여방식</a:t>
            </a:r>
            <a:r>
              <a:rPr spc="290" dirty="0"/>
              <a:t> </a:t>
            </a:r>
            <a:r>
              <a:rPr dirty="0"/>
              <a:t>또한</a:t>
            </a:r>
            <a:r>
              <a:rPr spc="285" dirty="0"/>
              <a:t> </a:t>
            </a:r>
            <a:r>
              <a:rPr spc="-5" dirty="0"/>
              <a:t>저소득층에게</a:t>
            </a:r>
            <a:r>
              <a:rPr spc="290" dirty="0"/>
              <a:t> </a:t>
            </a:r>
            <a:r>
              <a:rPr spc="-5" dirty="0"/>
              <a:t>상대적으로</a:t>
            </a:r>
            <a:r>
              <a:rPr spc="290" dirty="0"/>
              <a:t> </a:t>
            </a:r>
            <a:r>
              <a:rPr spc="-5" dirty="0"/>
              <a:t>유리하게</a:t>
            </a:r>
            <a:r>
              <a:rPr spc="285" dirty="0"/>
              <a:t> </a:t>
            </a:r>
            <a:r>
              <a:rPr spc="-10" dirty="0"/>
              <a:t>작용</a:t>
            </a:r>
          </a:p>
          <a:p>
            <a:pPr marL="127635">
              <a:spcBef>
                <a:spcPts val="15"/>
              </a:spcBef>
              <a:buFont typeface="Malgun Gothic"/>
              <a:buChar char="-"/>
            </a:pPr>
            <a:endParaRPr sz="1750" dirty="0"/>
          </a:p>
          <a:p>
            <a:pPr marL="488950" marR="5080" indent="-348615">
              <a:lnSpc>
                <a:spcPct val="133400"/>
              </a:lnSpc>
              <a:spcBef>
                <a:spcPts val="5"/>
              </a:spcBef>
              <a:buChar char="-"/>
              <a:tabLst>
                <a:tab pos="488315" algn="l"/>
                <a:tab pos="488950" algn="l"/>
                <a:tab pos="2199640" algn="l"/>
                <a:tab pos="3656329" algn="l"/>
                <a:tab pos="4352290" algn="l"/>
                <a:tab pos="5302250" algn="l"/>
                <a:tab pos="6760845" algn="l"/>
              </a:tabLst>
            </a:pPr>
            <a:r>
              <a:rPr spc="-15" dirty="0"/>
              <a:t>저</a:t>
            </a:r>
            <a:r>
              <a:rPr dirty="0"/>
              <a:t>소득</a:t>
            </a:r>
            <a:r>
              <a:rPr spc="-15" dirty="0"/>
              <a:t>층</a:t>
            </a:r>
            <a:r>
              <a:rPr dirty="0"/>
              <a:t>에게	</a:t>
            </a:r>
            <a:r>
              <a:rPr spc="-15" dirty="0"/>
              <a:t>상</a:t>
            </a:r>
            <a:r>
              <a:rPr dirty="0"/>
              <a:t>대적</a:t>
            </a:r>
            <a:r>
              <a:rPr spc="-15" dirty="0"/>
              <a:t>으</a:t>
            </a:r>
            <a:r>
              <a:rPr dirty="0"/>
              <a:t>로	높은	혜택이	돌아</a:t>
            </a:r>
            <a:r>
              <a:rPr spc="-15" dirty="0"/>
              <a:t>가</a:t>
            </a:r>
            <a:r>
              <a:rPr dirty="0"/>
              <a:t>도록	</a:t>
            </a:r>
            <a:r>
              <a:rPr spc="-15" dirty="0"/>
              <a:t>급</a:t>
            </a:r>
            <a:r>
              <a:rPr dirty="0"/>
              <a:t>여산</a:t>
            </a:r>
            <a:r>
              <a:rPr spc="-15" dirty="0"/>
              <a:t>정</a:t>
            </a:r>
            <a:r>
              <a:rPr dirty="0"/>
              <a:t>공식을  </a:t>
            </a:r>
            <a:r>
              <a:rPr spc="-10" dirty="0"/>
              <a:t>설계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15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79287" y="859636"/>
            <a:ext cx="8549005" cy="2859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⑧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수평적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5" dirty="0">
                <a:latin typeface="Malgun Gothic"/>
                <a:cs typeface="Malgun Gothic"/>
              </a:rPr>
              <a:t>형평성(horizontal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equity)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</a:pPr>
            <a:endParaRPr sz="1750" dirty="0">
              <a:latin typeface="Malgun Gothic"/>
              <a:cs typeface="Malgun Gothic"/>
            </a:endParaRPr>
          </a:p>
          <a:p>
            <a:pPr marL="434340" marR="5080" indent="-295910" algn="just">
              <a:lnSpc>
                <a:spcPct val="133400"/>
              </a:lnSpc>
              <a:buChar char="-"/>
              <a:tabLst>
                <a:tab pos="434975" algn="l"/>
              </a:tabLst>
            </a:pPr>
            <a:r>
              <a:rPr sz="2000" b="1" spc="15" dirty="0">
                <a:latin typeface="Malgun Gothic"/>
                <a:cs typeface="Malgun Gothic"/>
              </a:rPr>
              <a:t>연령,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성,</a:t>
            </a:r>
            <a:r>
              <a:rPr sz="2000" b="1" spc="3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가족의</a:t>
            </a:r>
            <a:r>
              <a:rPr sz="2000" b="1" spc="34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규모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등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소득이</a:t>
            </a:r>
            <a:r>
              <a:rPr sz="2000" b="1" spc="35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Malgun Gothic"/>
                <a:cs typeface="Malgun Gothic"/>
              </a:rPr>
              <a:t>아닌</a:t>
            </a:r>
            <a:r>
              <a:rPr sz="2000" b="1" spc="36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다른</a:t>
            </a:r>
            <a:r>
              <a:rPr sz="2000" b="1" spc="345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지표</a:t>
            </a:r>
            <a:r>
              <a:rPr sz="2000" b="1" dirty="0">
                <a:latin typeface="Malgun Gothic"/>
                <a:cs typeface="Malgun Gothic"/>
              </a:rPr>
              <a:t>를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토대로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이루어지 </a:t>
            </a:r>
            <a:r>
              <a:rPr sz="2000" b="1" spc="-6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재분배</a:t>
            </a:r>
            <a:endParaRPr sz="2000" dirty="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  <a:buFont typeface="Malgun Gothic"/>
              <a:buChar char="-"/>
            </a:pPr>
            <a:endParaRPr sz="1750" dirty="0">
              <a:latin typeface="Malgun Gothic"/>
              <a:cs typeface="Malgun Gothic"/>
            </a:endParaRPr>
          </a:p>
          <a:p>
            <a:pPr marL="452120" marR="5080" indent="-313690" algn="just">
              <a:lnSpc>
                <a:spcPct val="133200"/>
              </a:lnSpc>
              <a:buChar char="-"/>
              <a:tabLst>
                <a:tab pos="452755" algn="l"/>
              </a:tabLst>
            </a:pPr>
            <a:r>
              <a:rPr sz="2000" b="1" spc="-5" dirty="0">
                <a:latin typeface="Malgun Gothic"/>
                <a:cs typeface="Malgun Gothic"/>
              </a:rPr>
              <a:t>급여의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내용이나</a:t>
            </a:r>
            <a:r>
              <a:rPr sz="2000" b="1" spc="5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수준에서</a:t>
            </a:r>
            <a:r>
              <a:rPr sz="2000" b="1" spc="5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개인별</a:t>
            </a:r>
            <a:r>
              <a:rPr sz="2000" b="1" spc="5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차이는</a:t>
            </a:r>
            <a:r>
              <a:rPr sz="2000" b="1" spc="5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사회적으로</a:t>
            </a:r>
            <a:r>
              <a:rPr sz="2000" b="1" spc="5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용인될</a:t>
            </a:r>
            <a:r>
              <a:rPr sz="2000" b="1" spc="50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는</a:t>
            </a:r>
            <a:r>
              <a:rPr sz="2000" b="1" spc="484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특징(부양가족의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수)에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근거하되,</a:t>
            </a:r>
            <a:r>
              <a:rPr sz="2000" b="1" spc="4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인종</a:t>
            </a:r>
            <a:r>
              <a:rPr sz="2000" b="1" spc="484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등과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같은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부적절한</a:t>
            </a:r>
            <a:r>
              <a:rPr sz="2000" b="1" spc="4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요소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들은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고려에서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배제</a:t>
            </a:r>
            <a:endParaRPr sz="2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16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1414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30" dirty="0">
                <a:solidFill>
                  <a:srgbClr val="0000FF"/>
                </a:solidFill>
              </a:rPr>
              <a:t>3)</a:t>
            </a:r>
            <a:r>
              <a:rPr spc="21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사회통합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287" y="1671487"/>
            <a:ext cx="8549005" cy="36781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⑨</a:t>
            </a:r>
            <a:r>
              <a:rPr sz="2000" b="1" spc="24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존엄성(dignity)</a:t>
            </a:r>
            <a:endParaRPr sz="200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</a:pPr>
            <a:endParaRPr sz="1750">
              <a:latin typeface="Malgun Gothic"/>
              <a:cs typeface="Malgun Gothic"/>
            </a:endParaRPr>
          </a:p>
          <a:p>
            <a:pPr marL="452120" marR="5080" indent="-313690" algn="just">
              <a:lnSpc>
                <a:spcPct val="133400"/>
              </a:lnSpc>
              <a:buChar char="-"/>
              <a:tabLst>
                <a:tab pos="44069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제반의 현금급여와 의료서비스는 개인이 스스로 존엄성을 유지할 </a:t>
            </a:r>
            <a:r>
              <a:rPr sz="2000" b="1" dirty="0">
                <a:latin typeface="Malgun Gothic"/>
                <a:cs typeface="Malgun Gothic"/>
              </a:rPr>
              <a:t>수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있고,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불필요한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Malgun Gothic"/>
                <a:cs typeface="Malgun Gothic"/>
              </a:rPr>
              <a:t>낙인(stigma)</a:t>
            </a:r>
            <a:r>
              <a:rPr sz="2000" b="1" spc="29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없이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전달되어야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함.</a:t>
            </a:r>
            <a:endParaRPr sz="200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452120" marR="5080" indent="-313690" algn="just">
              <a:lnSpc>
                <a:spcPct val="133300"/>
              </a:lnSpc>
              <a:buChar char="-"/>
              <a:tabLst>
                <a:tab pos="455930" algn="l"/>
              </a:tabLst>
            </a:pPr>
            <a:r>
              <a:rPr sz="2000" b="1" spc="10" dirty="0">
                <a:latin typeface="Malgun Gothic"/>
                <a:cs typeface="Malgun Gothic"/>
              </a:rPr>
              <a:t>“오늘날</a:t>
            </a:r>
            <a:r>
              <a:rPr sz="2000" b="1" spc="52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강제적인</a:t>
            </a:r>
            <a:r>
              <a:rPr sz="2000" b="1" spc="52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사회보험제도는</a:t>
            </a:r>
            <a:r>
              <a:rPr sz="2000" b="1" spc="52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광범위한</a:t>
            </a:r>
            <a:r>
              <a:rPr sz="2000" b="1" spc="52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대중적</a:t>
            </a:r>
            <a:r>
              <a:rPr sz="2000" b="1" spc="54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지지를</a:t>
            </a:r>
            <a:r>
              <a:rPr sz="2000" b="1" spc="52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받고</a:t>
            </a:r>
            <a:r>
              <a:rPr sz="2000" b="1" spc="52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다. </a:t>
            </a:r>
            <a:r>
              <a:rPr sz="2000" b="1" dirty="0">
                <a:latin typeface="Malgun Gothic"/>
                <a:cs typeface="Malgun Gothic"/>
              </a:rPr>
              <a:t>그 주된 </a:t>
            </a:r>
            <a:r>
              <a:rPr sz="2000" b="1" spc="-5" dirty="0">
                <a:latin typeface="Malgun Gothic"/>
                <a:cs typeface="Malgun Gothic"/>
              </a:rPr>
              <a:t>이유로서 </a:t>
            </a:r>
            <a:r>
              <a:rPr sz="2000" b="1" dirty="0">
                <a:latin typeface="Malgun Gothic"/>
                <a:cs typeface="Malgun Gothic"/>
              </a:rPr>
              <a:t>개인은 강제적 </a:t>
            </a:r>
            <a:r>
              <a:rPr sz="2000" b="1" spc="-5" dirty="0">
                <a:latin typeface="Malgun Gothic"/>
                <a:cs typeface="Malgun Gothic"/>
              </a:rPr>
              <a:t>사회보험제도에 보험료를 </a:t>
            </a:r>
            <a:r>
              <a:rPr sz="2000" b="1" dirty="0">
                <a:latin typeface="Malgun Gothic"/>
                <a:cs typeface="Malgun Gothic"/>
              </a:rPr>
              <a:t>납부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함으로써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제반의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사회적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위험에</a:t>
            </a:r>
            <a:r>
              <a:rPr sz="2000" b="1" spc="35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대비해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보호를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받을</a:t>
            </a:r>
            <a:r>
              <a:rPr sz="2000" b="1" spc="3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36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있다는</a:t>
            </a:r>
            <a:r>
              <a:rPr sz="2000" b="1" spc="37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확신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을 가질 수 </a:t>
            </a:r>
            <a:r>
              <a:rPr sz="2000" b="1" spc="15" dirty="0">
                <a:latin typeface="Malgun Gothic"/>
                <a:cs typeface="Malgun Gothic"/>
              </a:rPr>
              <a:t>있고, </a:t>
            </a:r>
            <a:r>
              <a:rPr sz="2000" b="1" spc="-5" dirty="0">
                <a:latin typeface="Malgun Gothic"/>
                <a:cs typeface="Malgun Gothic"/>
              </a:rPr>
              <a:t>나아가 </a:t>
            </a:r>
            <a:r>
              <a:rPr sz="2000" b="1" dirty="0">
                <a:latin typeface="Malgun Gothic"/>
                <a:cs typeface="Malgun Gothic"/>
              </a:rPr>
              <a:t>이러한 </a:t>
            </a:r>
            <a:r>
              <a:rPr sz="2000" b="1" spc="-5" dirty="0">
                <a:latin typeface="Malgun Gothic"/>
                <a:cs typeface="Malgun Gothic"/>
              </a:rPr>
              <a:t>보호는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자선이 </a:t>
            </a:r>
            <a:r>
              <a:rPr sz="2000" b="1" spc="-10" dirty="0">
                <a:solidFill>
                  <a:srgbClr val="0000FF"/>
                </a:solidFill>
                <a:latin typeface="Malgun Gothic"/>
                <a:cs typeface="Malgun Gothic"/>
              </a:rPr>
              <a:t>아니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하나의 </a:t>
            </a:r>
            <a:r>
              <a:rPr sz="2000" b="1" dirty="0">
                <a:solidFill>
                  <a:srgbClr val="0000FF"/>
                </a:solidFill>
                <a:latin typeface="Malgun Gothic"/>
                <a:cs typeface="Malgun Gothic"/>
              </a:rPr>
              <a:t>권리</a:t>
            </a:r>
            <a:r>
              <a:rPr sz="2000" b="1" dirty="0">
                <a:latin typeface="Malgun Gothic"/>
                <a:cs typeface="Malgun Gothic"/>
              </a:rPr>
              <a:t>로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보장받을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있기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5" dirty="0">
                <a:latin typeface="Malgun Gothic"/>
                <a:cs typeface="Malgun Gothic"/>
              </a:rPr>
              <a:t>때문이다”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(Beveridge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Report,</a:t>
            </a:r>
            <a:r>
              <a:rPr sz="2000" b="1" spc="305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1942)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17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6" y="859636"/>
            <a:ext cx="42138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⑩</a:t>
            </a:r>
            <a:r>
              <a:rPr spc="275" dirty="0"/>
              <a:t> </a:t>
            </a:r>
            <a:r>
              <a:rPr spc="-5" dirty="0"/>
              <a:t>사회적</a:t>
            </a:r>
            <a:r>
              <a:rPr spc="280" dirty="0"/>
              <a:t> </a:t>
            </a:r>
            <a:r>
              <a:rPr spc="20" dirty="0"/>
              <a:t>연대성(social</a:t>
            </a:r>
            <a:r>
              <a:rPr spc="280" dirty="0"/>
              <a:t> </a:t>
            </a:r>
            <a:r>
              <a:rPr spc="15" dirty="0"/>
              <a:t>solidarity)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641" y="1671488"/>
            <a:ext cx="4625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spc="420" dirty="0">
                <a:latin typeface="Malgun Gothic"/>
                <a:cs typeface="Malgun Gothic"/>
              </a:rPr>
              <a:t>-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특히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유럽의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대륙권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국가들에서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강조</a:t>
            </a:r>
            <a:endParaRPr sz="20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0236" y="2532059"/>
          <a:ext cx="8583930" cy="35166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4370">
                <a:tc>
                  <a:txBody>
                    <a:bodyPr/>
                    <a:lstStyle/>
                    <a:p>
                      <a:pPr marR="36195" algn="r">
                        <a:lnSpc>
                          <a:spcPts val="1905"/>
                        </a:lnSpc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-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90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일반적으로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0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대다수의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90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사회복지제도들은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0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개인별로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905"/>
                        </a:lnSpc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사회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05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경제적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905"/>
                        </a:lnSpc>
                      </a:pPr>
                      <a:r>
                        <a:rPr sz="2000" b="1" spc="-10" dirty="0">
                          <a:latin typeface="Malgun Gothic"/>
                          <a:cs typeface="Malgun Gothic"/>
                        </a:rPr>
                        <a:t>신분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915"/>
                        </a:spcBef>
                        <a:tabLst>
                          <a:tab pos="524510" algn="l"/>
                          <a:tab pos="1692275" algn="l"/>
                          <a:tab pos="2607310" algn="l"/>
                          <a:tab pos="3520440" algn="l"/>
                          <a:tab pos="4435475" algn="l"/>
                        </a:tabLst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에	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상관없이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제도의	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적용과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급여를	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제공함으로써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162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915"/>
                        </a:spcBef>
                        <a:tabLst>
                          <a:tab pos="1529715" algn="l"/>
                          <a:tab pos="1936114" algn="l"/>
                        </a:tabLst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사회구성원	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간	연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162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1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74930" algn="r">
                        <a:lnSpc>
                          <a:spcPct val="100000"/>
                        </a:lnSpc>
                      </a:pPr>
                      <a:r>
                        <a:rPr sz="2000" b="1" spc="3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4)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대의식을</a:t>
                      </a:r>
                      <a:r>
                        <a:rPr sz="2000" b="1" spc="2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제고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2000" b="1" spc="-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행정관리의</a:t>
                      </a:r>
                      <a:r>
                        <a:rPr sz="2000" b="1" spc="28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용이성(administrative</a:t>
                      </a:r>
                      <a:r>
                        <a:rPr sz="2000" b="1" spc="28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20" dirty="0">
                          <a:solidFill>
                            <a:srgbClr val="0000FF"/>
                          </a:solidFill>
                          <a:latin typeface="Malgun Gothic"/>
                          <a:cs typeface="Malgun Gothic"/>
                        </a:rPr>
                        <a:t>feasibility)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4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⑪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185"/>
                        </a:lnSpc>
                        <a:spcBef>
                          <a:spcPts val="1705"/>
                        </a:spcBef>
                      </a:pPr>
                      <a:r>
                        <a:rPr sz="2000" b="1" dirty="0">
                          <a:latin typeface="Malgun Gothic"/>
                          <a:cs typeface="Malgun Gothic"/>
                        </a:rPr>
                        <a:t>⑫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명료함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2000" b="1" spc="2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단순하고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이해하기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5" dirty="0">
                          <a:latin typeface="Malgun Gothic"/>
                          <a:cs typeface="Malgun Gothic"/>
                        </a:rPr>
                        <a:t>쉬워야하며,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관리비용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ts val="2185"/>
                        </a:lnSpc>
                        <a:spcBef>
                          <a:spcPts val="1705"/>
                        </a:spcBef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남용의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부재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14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급여의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남용이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가급적</a:t>
                      </a:r>
                      <a:r>
                        <a:rPr sz="2000" b="1" spc="2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작아야</a:t>
                      </a:r>
                      <a:r>
                        <a:rPr sz="2000" b="1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dirty="0">
                          <a:latin typeface="Malgun Gothic"/>
                          <a:cs typeface="Malgun Gothic"/>
                        </a:rPr>
                        <a:t>함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Malgun Gothic"/>
                          <a:cs typeface="Malgun Gothic"/>
                        </a:rPr>
                        <a:t>최소화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6" y="859636"/>
            <a:ext cx="40678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5" dirty="0"/>
              <a:t>제3절</a:t>
            </a:r>
            <a:r>
              <a:rPr spc="275" dirty="0"/>
              <a:t> </a:t>
            </a:r>
            <a:r>
              <a:rPr spc="-5" dirty="0"/>
              <a:t>변화하는</a:t>
            </a:r>
            <a:r>
              <a:rPr spc="280" dirty="0"/>
              <a:t> </a:t>
            </a:r>
            <a:r>
              <a:rPr spc="40" dirty="0"/>
              <a:t>세계:</a:t>
            </a:r>
            <a:r>
              <a:rPr spc="280" dirty="0"/>
              <a:t> </a:t>
            </a:r>
            <a:r>
              <a:rPr dirty="0"/>
              <a:t>변화와</a:t>
            </a:r>
            <a:r>
              <a:rPr spc="280" dirty="0"/>
              <a:t> </a:t>
            </a:r>
            <a:r>
              <a:rPr spc="-10" dirty="0"/>
              <a:t>대응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286" y="1115028"/>
            <a:ext cx="6045200" cy="82105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spcBef>
                <a:spcPts val="1280"/>
              </a:spcBef>
            </a:pPr>
            <a:r>
              <a:rPr sz="2000" b="1" spc="40" dirty="0">
                <a:solidFill>
                  <a:srgbClr val="0000FF"/>
                </a:solidFill>
                <a:latin typeface="Malgun Gothic"/>
                <a:cs typeface="Malgun Gothic"/>
              </a:rPr>
              <a:t>1.</a:t>
            </a:r>
            <a:r>
              <a:rPr sz="2000" b="1" spc="240" dirty="0">
                <a:solidFill>
                  <a:srgbClr val="0000FF"/>
                </a:solidFill>
                <a:latin typeface="Malgun Gothic"/>
                <a:cs typeface="Malgun Gothic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인구구조</a:t>
            </a:r>
            <a:endParaRPr sz="2000">
              <a:latin typeface="Malgun Gothic"/>
              <a:cs typeface="Malgun Gothic"/>
            </a:endParaRPr>
          </a:p>
          <a:p>
            <a:pPr marL="2516505">
              <a:spcBef>
                <a:spcPts val="885"/>
              </a:spcBef>
            </a:pPr>
            <a:r>
              <a:rPr sz="1500" b="1" spc="-50" dirty="0">
                <a:latin typeface="Malgun Gothic"/>
                <a:cs typeface="Malgun Gothic"/>
              </a:rPr>
              <a:t>&lt;그림</a:t>
            </a:r>
            <a:r>
              <a:rPr sz="1500" b="1" spc="190" dirty="0">
                <a:latin typeface="Malgun Gothic"/>
                <a:cs typeface="Malgun Gothic"/>
              </a:rPr>
              <a:t> </a:t>
            </a:r>
            <a:r>
              <a:rPr sz="1500" b="1" spc="-65" dirty="0">
                <a:latin typeface="Malgun Gothic"/>
                <a:cs typeface="Malgun Gothic"/>
              </a:rPr>
              <a:t>5&gt;</a:t>
            </a:r>
            <a:r>
              <a:rPr sz="1500" b="1" spc="204" dirty="0">
                <a:latin typeface="Malgun Gothic"/>
                <a:cs typeface="Malgun Gothic"/>
              </a:rPr>
              <a:t> </a:t>
            </a:r>
            <a:r>
              <a:rPr sz="1500" b="1" spc="-5" dirty="0">
                <a:latin typeface="Malgun Gothic"/>
                <a:cs typeface="Malgun Gothic"/>
              </a:rPr>
              <a:t>출산율과</a:t>
            </a:r>
            <a:r>
              <a:rPr sz="1500" b="1" spc="190" dirty="0">
                <a:latin typeface="Malgun Gothic"/>
                <a:cs typeface="Malgun Gothic"/>
              </a:rPr>
              <a:t> </a:t>
            </a:r>
            <a:r>
              <a:rPr sz="1500" b="1" spc="10" dirty="0">
                <a:latin typeface="Malgun Gothic"/>
                <a:cs typeface="Malgun Gothic"/>
              </a:rPr>
              <a:t>노년부양비(2021년)</a:t>
            </a:r>
            <a:endParaRPr sz="15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021" y="2026921"/>
            <a:ext cx="7699959" cy="37988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9870" y="5908960"/>
            <a:ext cx="490347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spc="50" dirty="0">
                <a:latin typeface="Malgun Gothic"/>
                <a:cs typeface="Malgun Gothic"/>
              </a:rPr>
              <a:t>주: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노년부양비는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20" dirty="0">
                <a:latin typeface="Malgun Gothic"/>
                <a:cs typeface="Malgun Gothic"/>
              </a:rPr>
              <a:t>생산연령인구(15~64세)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25" dirty="0">
                <a:latin typeface="Malgun Gothic"/>
                <a:cs typeface="Malgun Gothic"/>
              </a:rPr>
              <a:t>100명에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대한</a:t>
            </a:r>
            <a:r>
              <a:rPr sz="1000" spc="155" dirty="0">
                <a:latin typeface="Malgun Gothic"/>
                <a:cs typeface="Malgun Gothic"/>
              </a:rPr>
              <a:t> </a:t>
            </a:r>
            <a:r>
              <a:rPr sz="1000" spc="20" dirty="0">
                <a:latin typeface="Malgun Gothic"/>
                <a:cs typeface="Malgun Gothic"/>
              </a:rPr>
              <a:t>고령(65세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10" dirty="0">
                <a:latin typeface="Malgun Gothic"/>
                <a:cs typeface="Malgun Gothic"/>
              </a:rPr>
              <a:t>이상)인구의</a:t>
            </a:r>
            <a:r>
              <a:rPr sz="1000" spc="150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비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18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5108" y="868774"/>
            <a:ext cx="325627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b="1" spc="-50" dirty="0">
                <a:latin typeface="Malgun Gothic"/>
                <a:cs typeface="Malgun Gothic"/>
              </a:rPr>
              <a:t>&lt;그림</a:t>
            </a:r>
            <a:r>
              <a:rPr sz="1500" b="1" spc="180" dirty="0">
                <a:latin typeface="Malgun Gothic"/>
                <a:cs typeface="Malgun Gothic"/>
              </a:rPr>
              <a:t> </a:t>
            </a:r>
            <a:r>
              <a:rPr sz="1500" b="1" spc="-65" dirty="0">
                <a:latin typeface="Malgun Gothic"/>
                <a:cs typeface="Malgun Gothic"/>
              </a:rPr>
              <a:t>6&gt;</a:t>
            </a:r>
            <a:r>
              <a:rPr sz="1500" b="1" spc="165" dirty="0">
                <a:latin typeface="Malgun Gothic"/>
                <a:cs typeface="Malgun Gothic"/>
              </a:rPr>
              <a:t> </a:t>
            </a:r>
            <a:r>
              <a:rPr sz="1500" b="1" spc="30" dirty="0">
                <a:latin typeface="Malgun Gothic"/>
                <a:cs typeface="Malgun Gothic"/>
              </a:rPr>
              <a:t>노년부양비(2020-2070년)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9582" y="1123145"/>
            <a:ext cx="5880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25" dirty="0">
                <a:latin typeface="Malgun Gothic"/>
                <a:cs typeface="Malgun Gothic"/>
              </a:rPr>
              <a:t>단위:</a:t>
            </a:r>
            <a:r>
              <a:rPr sz="1200" b="1" spc="10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%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253" y="1437862"/>
            <a:ext cx="8251325" cy="39863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9286" y="5639358"/>
            <a:ext cx="3105150" cy="305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95"/>
              </a:spcBef>
            </a:pPr>
            <a:r>
              <a:rPr sz="1000" spc="-5" dirty="0">
                <a:latin typeface="Malgun Gothic"/>
                <a:cs typeface="Malgun Gothic"/>
              </a:rPr>
              <a:t>주:</a:t>
            </a:r>
            <a:r>
              <a:rPr sz="1000" spc="13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중위</a:t>
            </a:r>
            <a:r>
              <a:rPr sz="1000" spc="130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시나리오</a:t>
            </a:r>
            <a:r>
              <a:rPr sz="1000" spc="135" dirty="0">
                <a:latin typeface="Malgun Gothic"/>
                <a:cs typeface="Malgun Gothic"/>
              </a:rPr>
              <a:t> </a:t>
            </a:r>
            <a:r>
              <a:rPr sz="1000" spc="-10" dirty="0">
                <a:latin typeface="Malgun Gothic"/>
                <a:cs typeface="Malgun Gothic"/>
              </a:rPr>
              <a:t>기준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ts val="1105"/>
              </a:lnSpc>
            </a:pPr>
            <a:r>
              <a:rPr sz="1000" spc="-5" dirty="0">
                <a:latin typeface="Malgun Gothic"/>
                <a:cs typeface="Malgun Gothic"/>
              </a:rPr>
              <a:t>출처: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-5" dirty="0">
                <a:latin typeface="Malgun Gothic"/>
                <a:cs typeface="Malgun Gothic"/>
              </a:rPr>
              <a:t>통계청(2021),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430" dirty="0">
                <a:latin typeface="Malgun Gothic"/>
                <a:cs typeface="Malgun Gothic"/>
              </a:rPr>
              <a:t>「</a:t>
            </a:r>
            <a:r>
              <a:rPr sz="1000" spc="-5" dirty="0">
                <a:latin typeface="Malgun Gothic"/>
                <a:cs typeface="Malgun Gothic"/>
              </a:rPr>
              <a:t>장래인구추계</a:t>
            </a:r>
            <a:r>
              <a:rPr sz="1000" spc="145" dirty="0">
                <a:latin typeface="Malgun Gothic"/>
                <a:cs typeface="Malgun Gothic"/>
              </a:rPr>
              <a:t> </a:t>
            </a:r>
            <a:r>
              <a:rPr sz="1000" spc="35" dirty="0">
                <a:latin typeface="Malgun Gothic"/>
                <a:cs typeface="Malgun Gothic"/>
              </a:rPr>
              <a:t>2020~2070년</a:t>
            </a:r>
            <a:r>
              <a:rPr sz="1000" spc="420" dirty="0">
                <a:latin typeface="Malgun Gothic"/>
                <a:cs typeface="Malgun Gothic"/>
              </a:rPr>
              <a:t>」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19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20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96507" y="759716"/>
            <a:ext cx="8432165" cy="30998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6385" marR="6350" indent="-274320" algn="just">
              <a:lnSpc>
                <a:spcPct val="133200"/>
              </a:lnSpc>
              <a:spcBef>
                <a:spcPts val="90"/>
              </a:spcBef>
              <a:buChar char="-"/>
              <a:tabLst>
                <a:tab pos="287020" algn="l"/>
              </a:tabLst>
            </a:pPr>
            <a:r>
              <a:rPr sz="2000" b="1" spc="-45" dirty="0">
                <a:latin typeface="Malgun Gothic"/>
                <a:cs typeface="Malgun Gothic"/>
              </a:rPr>
              <a:t>2000년 </a:t>
            </a:r>
            <a:r>
              <a:rPr sz="2000" b="1" spc="-114" dirty="0">
                <a:latin typeface="Malgun Gothic"/>
                <a:cs typeface="Malgun Gothic"/>
              </a:rPr>
              <a:t>우리나라는 </a:t>
            </a:r>
            <a:r>
              <a:rPr sz="2000" b="1" spc="-95" dirty="0">
                <a:solidFill>
                  <a:srgbClr val="0000FF"/>
                </a:solidFill>
                <a:latin typeface="Malgun Gothic"/>
                <a:cs typeface="Malgun Gothic"/>
              </a:rPr>
              <a:t>고령화사회</a:t>
            </a:r>
            <a:r>
              <a:rPr sz="2000" b="1" spc="-95" dirty="0">
                <a:latin typeface="Malgun Gothic"/>
                <a:cs typeface="Malgun Gothic"/>
              </a:rPr>
              <a:t>(65세 </a:t>
            </a:r>
            <a:r>
              <a:rPr sz="2000" b="1" spc="-75" dirty="0">
                <a:latin typeface="Malgun Gothic"/>
                <a:cs typeface="Malgun Gothic"/>
              </a:rPr>
              <a:t>이상 </a:t>
            </a:r>
            <a:r>
              <a:rPr sz="2000" b="1" spc="-110" dirty="0">
                <a:latin typeface="Malgun Gothic"/>
                <a:cs typeface="Malgun Gothic"/>
              </a:rPr>
              <a:t>노인인구 </a:t>
            </a:r>
            <a:r>
              <a:rPr sz="2000" b="1" spc="-75" dirty="0">
                <a:latin typeface="Malgun Gothic"/>
                <a:cs typeface="Malgun Gothic"/>
              </a:rPr>
              <a:t>비중 </a:t>
            </a:r>
            <a:r>
              <a:rPr sz="2000" b="1" spc="-45" dirty="0">
                <a:latin typeface="Malgun Gothic"/>
                <a:cs typeface="Malgun Gothic"/>
              </a:rPr>
              <a:t>7.2%)를 </a:t>
            </a:r>
            <a:r>
              <a:rPr sz="2000" b="1" spc="-95" dirty="0">
                <a:latin typeface="Malgun Gothic"/>
                <a:cs typeface="Malgun Gothic"/>
              </a:rPr>
              <a:t>통과하 </a:t>
            </a:r>
            <a:r>
              <a:rPr sz="2000" b="1" spc="-90" dirty="0">
                <a:latin typeface="Malgun Gothic"/>
                <a:cs typeface="Malgun Gothic"/>
              </a:rPr>
              <a:t> </a:t>
            </a:r>
            <a:r>
              <a:rPr sz="2000" b="1" spc="-80" dirty="0">
                <a:latin typeface="Malgun Gothic"/>
                <a:cs typeface="Malgun Gothic"/>
              </a:rPr>
              <a:t>였고, </a:t>
            </a:r>
            <a:r>
              <a:rPr sz="2000" b="1" spc="-45" dirty="0">
                <a:latin typeface="Malgun Gothic"/>
                <a:cs typeface="Malgun Gothic"/>
              </a:rPr>
              <a:t>2018년 </a:t>
            </a:r>
            <a:r>
              <a:rPr sz="2000" b="1" spc="-90" dirty="0">
                <a:solidFill>
                  <a:srgbClr val="0000FF"/>
                </a:solidFill>
                <a:latin typeface="Malgun Gothic"/>
                <a:cs typeface="Malgun Gothic"/>
              </a:rPr>
              <a:t>고령사회</a:t>
            </a:r>
            <a:r>
              <a:rPr sz="2000" b="1" spc="-90" dirty="0">
                <a:latin typeface="Malgun Gothic"/>
                <a:cs typeface="Malgun Gothic"/>
              </a:rPr>
              <a:t>(12%)를 </a:t>
            </a:r>
            <a:r>
              <a:rPr sz="2000" b="1" spc="-75" dirty="0">
                <a:latin typeface="Malgun Gothic"/>
                <a:cs typeface="Malgun Gothic"/>
              </a:rPr>
              <a:t>지나 2026년에는 </a:t>
            </a:r>
            <a:r>
              <a:rPr sz="2000" b="1" spc="-90" dirty="0">
                <a:solidFill>
                  <a:srgbClr val="0000FF"/>
                </a:solidFill>
                <a:latin typeface="Malgun Gothic"/>
                <a:cs typeface="Malgun Gothic"/>
              </a:rPr>
              <a:t>초고령사회</a:t>
            </a:r>
            <a:r>
              <a:rPr sz="2000" b="1" spc="-90" dirty="0">
                <a:latin typeface="Malgun Gothic"/>
                <a:cs typeface="Malgun Gothic"/>
              </a:rPr>
              <a:t>(16.8%)로의 </a:t>
            </a:r>
            <a:r>
              <a:rPr sz="2000" b="1" spc="-85" dirty="0">
                <a:latin typeface="Malgun Gothic"/>
                <a:cs typeface="Malgun Gothic"/>
              </a:rPr>
              <a:t> </a:t>
            </a:r>
            <a:r>
              <a:rPr sz="2000" b="1" spc="-95" dirty="0">
                <a:latin typeface="Malgun Gothic"/>
                <a:cs typeface="Malgun Gothic"/>
              </a:rPr>
              <a:t>진입이</a:t>
            </a:r>
            <a:r>
              <a:rPr sz="2000" b="1" spc="70" dirty="0">
                <a:latin typeface="Malgun Gothic"/>
                <a:cs typeface="Malgun Gothic"/>
              </a:rPr>
              <a:t> </a:t>
            </a:r>
            <a:r>
              <a:rPr sz="2000" b="1" spc="-110" dirty="0">
                <a:latin typeface="Malgun Gothic"/>
                <a:cs typeface="Malgun Gothic"/>
              </a:rPr>
              <a:t>예상되고</a:t>
            </a:r>
            <a:r>
              <a:rPr sz="2000" b="1" spc="75" dirty="0">
                <a:latin typeface="Malgun Gothic"/>
                <a:cs typeface="Malgun Gothic"/>
              </a:rPr>
              <a:t> </a:t>
            </a:r>
            <a:r>
              <a:rPr sz="2000" b="1" spc="-80" dirty="0">
                <a:latin typeface="Malgun Gothic"/>
                <a:cs typeface="Malgun Gothic"/>
              </a:rPr>
              <a:t>있다.</a:t>
            </a:r>
            <a:endParaRPr sz="200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21310" marR="5080" indent="-300355" algn="just">
              <a:lnSpc>
                <a:spcPct val="133300"/>
              </a:lnSpc>
              <a:buChar char="-"/>
              <a:tabLst>
                <a:tab pos="321945" algn="l"/>
              </a:tabLst>
            </a:pPr>
            <a:r>
              <a:rPr sz="2000" b="1" spc="10" dirty="0">
                <a:latin typeface="Malgun Gothic"/>
                <a:cs typeface="Malgun Gothic"/>
              </a:rPr>
              <a:t>캐나다, </a:t>
            </a:r>
            <a:r>
              <a:rPr sz="2000" b="1" spc="15" dirty="0">
                <a:latin typeface="Malgun Gothic"/>
                <a:cs typeface="Malgun Gothic"/>
              </a:rPr>
              <a:t>일본, </a:t>
            </a:r>
            <a:r>
              <a:rPr sz="2000" b="1" spc="5" dirty="0">
                <a:latin typeface="Malgun Gothic"/>
                <a:cs typeface="Malgun Gothic"/>
              </a:rPr>
              <a:t>뉴질랜드, </a:t>
            </a:r>
            <a:r>
              <a:rPr sz="2000" b="1" spc="-5" dirty="0">
                <a:latin typeface="Malgun Gothic"/>
                <a:cs typeface="Malgun Gothic"/>
              </a:rPr>
              <a:t>영국의 </a:t>
            </a:r>
            <a:r>
              <a:rPr sz="2000" b="1" dirty="0">
                <a:latin typeface="Malgun Gothic"/>
                <a:cs typeface="Malgun Gothic"/>
              </a:rPr>
              <a:t>경우 </a:t>
            </a:r>
            <a:r>
              <a:rPr sz="2000" b="1" spc="20" dirty="0">
                <a:latin typeface="Malgun Gothic"/>
                <a:cs typeface="Malgun Gothic"/>
              </a:rPr>
              <a:t>1997년 65세 </a:t>
            </a:r>
            <a:r>
              <a:rPr sz="2000" b="1" dirty="0">
                <a:latin typeface="Malgun Gothic"/>
                <a:cs typeface="Malgun Gothic"/>
              </a:rPr>
              <a:t>이상 </a:t>
            </a:r>
            <a:r>
              <a:rPr sz="2000" b="1" spc="-5" dirty="0">
                <a:latin typeface="Malgun Gothic"/>
                <a:cs typeface="Malgun Gothic"/>
              </a:rPr>
              <a:t>노인인구의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평균진료비는 비노인인구에 </a:t>
            </a:r>
            <a:r>
              <a:rPr sz="2000" b="1" dirty="0">
                <a:latin typeface="Malgun Gothic"/>
                <a:cs typeface="Malgun Gothic"/>
              </a:rPr>
              <a:t>비해 각각 </a:t>
            </a:r>
            <a:r>
              <a:rPr sz="2000" b="1" spc="30" dirty="0">
                <a:latin typeface="Malgun Gothic"/>
                <a:cs typeface="Malgun Gothic"/>
              </a:rPr>
              <a:t>5.0배, 4.9배, 4.3배, </a:t>
            </a:r>
            <a:r>
              <a:rPr sz="2000" b="1" spc="20" dirty="0">
                <a:latin typeface="Malgun Gothic"/>
                <a:cs typeface="Malgun Gothic"/>
              </a:rPr>
              <a:t>3.4배를 </a:t>
            </a:r>
            <a:r>
              <a:rPr sz="2000" b="1" spc="25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기록. </a:t>
            </a:r>
            <a:r>
              <a:rPr sz="2000" b="1" spc="-10" dirty="0">
                <a:latin typeface="Malgun Gothic"/>
                <a:cs typeface="Malgun Gothic"/>
              </a:rPr>
              <a:t>또한 </a:t>
            </a:r>
            <a:r>
              <a:rPr sz="2000" b="1" spc="20" dirty="0">
                <a:latin typeface="Malgun Gothic"/>
                <a:cs typeface="Malgun Gothic"/>
              </a:rPr>
              <a:t>75세 </a:t>
            </a:r>
            <a:r>
              <a:rPr sz="2000" b="1" spc="-10" dirty="0">
                <a:latin typeface="Malgun Gothic"/>
                <a:cs typeface="Malgun Gothic"/>
              </a:rPr>
              <a:t>이상 </a:t>
            </a:r>
            <a:r>
              <a:rPr sz="2000" b="1" spc="-5" dirty="0">
                <a:latin typeface="Malgun Gothic"/>
                <a:cs typeface="Malgun Gothic"/>
              </a:rPr>
              <a:t>노인인구의 </a:t>
            </a:r>
            <a:r>
              <a:rPr sz="2000" b="1" spc="-10" dirty="0">
                <a:latin typeface="Malgun Gothic"/>
                <a:cs typeface="Malgun Gothic"/>
              </a:rPr>
              <a:t>경우 </a:t>
            </a:r>
            <a:r>
              <a:rPr sz="2000" b="1" spc="20" dirty="0">
                <a:latin typeface="Malgun Gothic"/>
                <a:cs typeface="Malgun Gothic"/>
              </a:rPr>
              <a:t>65세 </a:t>
            </a:r>
            <a:r>
              <a:rPr sz="2000" b="1" spc="-10" dirty="0">
                <a:latin typeface="Malgun Gothic"/>
                <a:cs typeface="Malgun Gothic"/>
              </a:rPr>
              <a:t>미만 </a:t>
            </a:r>
            <a:r>
              <a:rPr sz="2000" b="1" spc="-5" dirty="0">
                <a:latin typeface="Malgun Gothic"/>
                <a:cs typeface="Malgun Gothic"/>
              </a:rPr>
              <a:t>인구에 </a:t>
            </a:r>
            <a:r>
              <a:rPr sz="2000" b="1" dirty="0">
                <a:latin typeface="Malgun Gothic"/>
                <a:cs typeface="Malgun Gothic"/>
              </a:rPr>
              <a:t>비해 </a:t>
            </a:r>
            <a:r>
              <a:rPr sz="2000" b="1" spc="-10" dirty="0">
                <a:latin typeface="Malgun Gothic"/>
                <a:cs typeface="Malgun Gothic"/>
              </a:rPr>
              <a:t>평균 </a:t>
            </a:r>
            <a:r>
              <a:rPr sz="2000" b="1" spc="-5" dirty="0">
                <a:latin typeface="Malgun Gothic"/>
                <a:cs typeface="Malgun Gothic"/>
              </a:rPr>
              <a:t> 진료비가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각각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6.6배,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5.7배,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6.4배,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25" dirty="0">
                <a:latin typeface="Malgun Gothic"/>
                <a:cs typeface="Malgun Gothic"/>
              </a:rPr>
              <a:t>4.6배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20" dirty="0">
                <a:latin typeface="Malgun Gothic"/>
                <a:cs typeface="Malgun Gothic"/>
              </a:rPr>
              <a:t>높음.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902" y="1118022"/>
            <a:ext cx="7307372" cy="46640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21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22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28543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40" dirty="0">
                <a:solidFill>
                  <a:srgbClr val="0000FF"/>
                </a:solidFill>
              </a:rPr>
              <a:t>2.</a:t>
            </a:r>
            <a:r>
              <a:rPr spc="204" dirty="0">
                <a:solidFill>
                  <a:srgbClr val="0000FF"/>
                </a:solidFill>
              </a:rPr>
              <a:t> </a:t>
            </a:r>
            <a:r>
              <a:rPr spc="-15" dirty="0">
                <a:solidFill>
                  <a:srgbClr val="0000FF"/>
                </a:solidFill>
              </a:rPr>
              <a:t>세계화(globalization)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640" y="1570044"/>
            <a:ext cx="8422640" cy="337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marR="5080" indent="-323215" algn="just">
              <a:lnSpc>
                <a:spcPct val="133400"/>
              </a:lnSpc>
              <a:spcBef>
                <a:spcPts val="100"/>
              </a:spcBef>
              <a:buChar char="-"/>
              <a:tabLst>
                <a:tab pos="335915" algn="l"/>
              </a:tabLst>
            </a:pPr>
            <a:r>
              <a:rPr sz="2000" b="1" dirty="0">
                <a:latin typeface="Malgun Gothic"/>
                <a:cs typeface="Malgun Gothic"/>
              </a:rPr>
              <a:t>국가간 교역이 빠른 </a:t>
            </a:r>
            <a:r>
              <a:rPr sz="2000" b="1" spc="-5" dirty="0">
                <a:latin typeface="Malgun Gothic"/>
                <a:cs typeface="Malgun Gothic"/>
              </a:rPr>
              <a:t>속도로 </a:t>
            </a:r>
            <a:r>
              <a:rPr sz="2000" b="1" spc="5" dirty="0">
                <a:latin typeface="Malgun Gothic"/>
                <a:cs typeface="Malgun Gothic"/>
              </a:rPr>
              <a:t>증가하고, </a:t>
            </a:r>
            <a:r>
              <a:rPr sz="2000" b="1" spc="-5" dirty="0">
                <a:latin typeface="Malgun Gothic"/>
                <a:cs typeface="Malgun Gothic"/>
              </a:rPr>
              <a:t>경제활동의 중심이 전통적인 </a:t>
            </a:r>
            <a:r>
              <a:rPr sz="2000" b="1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제조업에서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서비스업으로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이전</a:t>
            </a:r>
            <a:endParaRPr sz="2000">
              <a:latin typeface="Malgun Gothic"/>
              <a:cs typeface="Malgun Gothic"/>
            </a:endParaRPr>
          </a:p>
          <a:p>
            <a:pPr>
              <a:spcBef>
                <a:spcPts val="15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14325" marR="5080" indent="-314325" algn="just">
              <a:lnSpc>
                <a:spcPct val="133400"/>
              </a:lnSpc>
              <a:buChar char="-"/>
              <a:tabLst>
                <a:tab pos="314325" algn="l"/>
              </a:tabLst>
            </a:pPr>
            <a:r>
              <a:rPr sz="2000" b="1" spc="-5" dirty="0">
                <a:latin typeface="Malgun Gothic"/>
                <a:cs typeface="Malgun Gothic"/>
              </a:rPr>
              <a:t>세계화는</a:t>
            </a:r>
            <a:r>
              <a:rPr sz="2000" b="1" spc="3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국가간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경쟁의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심화로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개별</a:t>
            </a:r>
            <a:r>
              <a:rPr sz="2000" b="1" spc="40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국가들이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기존의</a:t>
            </a:r>
            <a:r>
              <a:rPr sz="2000" b="1" spc="3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사회복지제도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독립적으로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운영할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있는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능력을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40" dirty="0">
                <a:latin typeface="Malgun Gothic"/>
                <a:cs typeface="Malgun Gothic"/>
              </a:rPr>
              <a:t>제약(race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65" dirty="0">
                <a:latin typeface="Malgun Gothic"/>
                <a:cs typeface="Malgun Gothic"/>
              </a:rPr>
              <a:t>to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the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70" dirty="0">
                <a:latin typeface="Malgun Gothic"/>
                <a:cs typeface="Malgun Gothic"/>
              </a:rPr>
              <a:t>bottom)</a:t>
            </a:r>
            <a:endParaRPr sz="2000">
              <a:latin typeface="Malgun Gothic"/>
              <a:cs typeface="Malgun Gothic"/>
            </a:endParaRPr>
          </a:p>
          <a:p>
            <a:pPr>
              <a:spcBef>
                <a:spcPts val="20"/>
              </a:spcBef>
              <a:buFont typeface="Malgun Gothic"/>
              <a:buChar char="-"/>
            </a:pPr>
            <a:endParaRPr sz="1750">
              <a:latin typeface="Malgun Gothic"/>
              <a:cs typeface="Malgun Gothic"/>
            </a:endParaRPr>
          </a:p>
          <a:p>
            <a:pPr marL="317500" marR="6350" indent="-317500" algn="just">
              <a:lnSpc>
                <a:spcPct val="133200"/>
              </a:lnSpc>
              <a:spcBef>
                <a:spcPts val="5"/>
              </a:spcBef>
              <a:buChar char="-"/>
              <a:tabLst>
                <a:tab pos="317500" algn="l"/>
              </a:tabLst>
            </a:pPr>
            <a:r>
              <a:rPr sz="2000" b="1" dirty="0">
                <a:latin typeface="Malgun Gothic"/>
                <a:cs typeface="Malgun Gothic"/>
              </a:rPr>
              <a:t>반면에 </a:t>
            </a:r>
            <a:r>
              <a:rPr sz="2000" b="1" spc="-5" dirty="0">
                <a:latin typeface="Malgun Gothic"/>
                <a:cs typeface="Malgun Gothic"/>
              </a:rPr>
              <a:t>고령화에 </a:t>
            </a:r>
            <a:r>
              <a:rPr sz="2000" b="1" spc="-10" dirty="0">
                <a:latin typeface="Malgun Gothic"/>
                <a:cs typeface="Malgun Gothic"/>
              </a:rPr>
              <a:t>따른 </a:t>
            </a:r>
            <a:r>
              <a:rPr sz="2000" b="1" spc="-5" dirty="0">
                <a:latin typeface="Malgun Gothic"/>
                <a:cs typeface="Malgun Gothic"/>
              </a:rPr>
              <a:t>노인인구의 </a:t>
            </a:r>
            <a:r>
              <a:rPr sz="2000" b="1" spc="15" dirty="0">
                <a:latin typeface="Malgun Gothic"/>
                <a:cs typeface="Malgun Gothic"/>
              </a:rPr>
              <a:t>증가, </a:t>
            </a:r>
            <a:r>
              <a:rPr sz="2000" b="1" spc="-5" dirty="0">
                <a:latin typeface="Malgun Gothic"/>
                <a:cs typeface="Malgun Gothic"/>
              </a:rPr>
              <a:t>세계화의 추세에 </a:t>
            </a:r>
            <a:r>
              <a:rPr sz="2000" b="1" spc="-10" dirty="0">
                <a:latin typeface="Malgun Gothic"/>
                <a:cs typeface="Malgun Gothic"/>
              </a:rPr>
              <a:t>따른 고용 </a:t>
            </a:r>
            <a:r>
              <a:rPr sz="2000" b="1" spc="-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불안과 </a:t>
            </a:r>
            <a:r>
              <a:rPr sz="2000" b="1" spc="-5" dirty="0">
                <a:latin typeface="Malgun Gothic"/>
                <a:cs typeface="Malgun Gothic"/>
              </a:rPr>
              <a:t>비정규직 취업의 </a:t>
            </a:r>
            <a:r>
              <a:rPr sz="2000" b="1" spc="15" dirty="0">
                <a:latin typeface="Malgun Gothic"/>
                <a:cs typeface="Malgun Gothic"/>
              </a:rPr>
              <a:t>증가, </a:t>
            </a:r>
            <a:r>
              <a:rPr sz="2000" b="1" spc="-5" dirty="0">
                <a:latin typeface="Malgun Gothic"/>
                <a:cs typeface="Malgun Gothic"/>
              </a:rPr>
              <a:t>가족의 </a:t>
            </a:r>
            <a:r>
              <a:rPr sz="2000" b="1" dirty="0">
                <a:latin typeface="Malgun Gothic"/>
                <a:cs typeface="Malgun Gothic"/>
              </a:rPr>
              <a:t>해체 </a:t>
            </a:r>
            <a:r>
              <a:rPr sz="2000" b="1" spc="-5" dirty="0">
                <a:latin typeface="Malgun Gothic"/>
                <a:cs typeface="Malgun Gothic"/>
              </a:rPr>
              <a:t>등으로 </a:t>
            </a:r>
            <a:r>
              <a:rPr sz="2000" b="1" dirty="0">
                <a:latin typeface="Malgun Gothic"/>
                <a:cs typeface="Malgun Gothic"/>
              </a:rPr>
              <a:t>인해 </a:t>
            </a:r>
            <a:r>
              <a:rPr sz="2000" b="1" spc="-5" dirty="0">
                <a:latin typeface="Malgun Gothic"/>
                <a:cs typeface="Malgun Gothic"/>
              </a:rPr>
              <a:t>복지국가에 </a:t>
            </a:r>
            <a:r>
              <a:rPr sz="2000" b="1" dirty="0">
                <a:latin typeface="Malgun Gothic"/>
                <a:cs typeface="Malgun Gothic"/>
              </a:rPr>
              <a:t> 대한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35" dirty="0">
                <a:latin typeface="Malgun Gothic"/>
                <a:cs typeface="Malgun Gothic"/>
              </a:rPr>
              <a:t>증가(steady-state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30" dirty="0">
                <a:latin typeface="Malgun Gothic"/>
                <a:cs typeface="Malgun Gothic"/>
              </a:rPr>
              <a:t>welfare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10" dirty="0">
                <a:latin typeface="Malgun Gothic"/>
                <a:cs typeface="Malgun Gothic"/>
              </a:rPr>
              <a:t>state)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23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2281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40" dirty="0">
                <a:solidFill>
                  <a:srgbClr val="0000FF"/>
                </a:solidFill>
              </a:rPr>
              <a:t>3.</a:t>
            </a:r>
            <a:r>
              <a:rPr spc="254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가족구조의</a:t>
            </a:r>
            <a:r>
              <a:rPr spc="254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변화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00458" y="1392631"/>
            <a:ext cx="7930385" cy="4514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 marR="5080" indent="-323215">
              <a:lnSpc>
                <a:spcPct val="133400"/>
              </a:lnSpc>
              <a:spcBef>
                <a:spcPts val="100"/>
              </a:spcBef>
              <a:buChar char="-"/>
              <a:tabLst>
                <a:tab pos="433070" algn="l"/>
              </a:tabLst>
            </a:pPr>
            <a:r>
              <a:rPr spc="-5" dirty="0"/>
              <a:t>핵가족화의</a:t>
            </a:r>
            <a:r>
              <a:rPr spc="325" dirty="0"/>
              <a:t> </a:t>
            </a:r>
            <a:r>
              <a:rPr spc="-5" dirty="0"/>
              <a:t>심화와</a:t>
            </a:r>
            <a:r>
              <a:rPr spc="330" dirty="0"/>
              <a:t> </a:t>
            </a:r>
            <a:r>
              <a:rPr spc="-5" dirty="0"/>
              <a:t>가족해체에</a:t>
            </a:r>
            <a:r>
              <a:rPr spc="325" dirty="0"/>
              <a:t> </a:t>
            </a:r>
            <a:r>
              <a:rPr dirty="0"/>
              <a:t>따른</a:t>
            </a:r>
            <a:r>
              <a:rPr spc="320" dirty="0"/>
              <a:t> </a:t>
            </a:r>
            <a:r>
              <a:rPr dirty="0"/>
              <a:t>아동의</a:t>
            </a:r>
            <a:r>
              <a:rPr spc="320" dirty="0"/>
              <a:t> </a:t>
            </a:r>
            <a:r>
              <a:rPr spc="20" dirty="0"/>
              <a:t>양육,</a:t>
            </a:r>
            <a:r>
              <a:rPr spc="320" dirty="0"/>
              <a:t> </a:t>
            </a:r>
            <a:r>
              <a:rPr spc="-5" dirty="0"/>
              <a:t>여성의</a:t>
            </a:r>
            <a:r>
              <a:rPr spc="330" dirty="0"/>
              <a:t> </a:t>
            </a:r>
            <a:r>
              <a:rPr spc="-5" dirty="0"/>
              <a:t>노후소득보 </a:t>
            </a:r>
            <a:r>
              <a:rPr spc="-690" dirty="0"/>
              <a:t> </a:t>
            </a:r>
            <a:r>
              <a:rPr dirty="0"/>
              <a:t>장</a:t>
            </a:r>
            <a:r>
              <a:rPr spc="285" dirty="0"/>
              <a:t> </a:t>
            </a:r>
            <a:r>
              <a:rPr dirty="0"/>
              <a:t>문제</a:t>
            </a:r>
          </a:p>
          <a:p>
            <a:pPr marL="426084" indent="-287020"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spc="-5" dirty="0"/>
              <a:t>여성의</a:t>
            </a:r>
            <a:r>
              <a:rPr spc="285" dirty="0"/>
              <a:t> </a:t>
            </a:r>
            <a:r>
              <a:rPr spc="-5" dirty="0"/>
              <a:t>경제활동참가</a:t>
            </a:r>
            <a:r>
              <a:rPr spc="285" dirty="0"/>
              <a:t> </a:t>
            </a:r>
            <a:r>
              <a:rPr spc="-5" dirty="0"/>
              <a:t>증가에</a:t>
            </a:r>
            <a:r>
              <a:rPr spc="285" dirty="0"/>
              <a:t> </a:t>
            </a:r>
            <a:r>
              <a:rPr dirty="0"/>
              <a:t>따른</a:t>
            </a:r>
            <a:r>
              <a:rPr spc="285" dirty="0"/>
              <a:t> </a:t>
            </a:r>
            <a:r>
              <a:rPr spc="-5" dirty="0"/>
              <a:t>새로운</a:t>
            </a:r>
            <a:r>
              <a:rPr spc="285" dirty="0"/>
              <a:t> </a:t>
            </a:r>
            <a:r>
              <a:rPr spc="-5" dirty="0"/>
              <a:t>복지국가</a:t>
            </a:r>
            <a:r>
              <a:rPr spc="285" dirty="0"/>
              <a:t> </a:t>
            </a:r>
            <a:r>
              <a:rPr spc="-5" dirty="0"/>
              <a:t>모형의</a:t>
            </a:r>
            <a:r>
              <a:rPr spc="290" dirty="0"/>
              <a:t> </a:t>
            </a:r>
            <a:r>
              <a:rPr dirty="0"/>
              <a:t>요구</a:t>
            </a:r>
          </a:p>
          <a:p>
            <a:pPr marL="1270">
              <a:spcBef>
                <a:spcPts val="15"/>
              </a:spcBef>
            </a:pPr>
            <a:endParaRPr sz="2200"/>
          </a:p>
          <a:p>
            <a:pPr marL="365125" indent="-351790">
              <a:buAutoNum type="arabicPeriod" startAt="4"/>
              <a:tabLst>
                <a:tab pos="365760" algn="l"/>
              </a:tabLst>
            </a:pPr>
            <a:r>
              <a:rPr spc="-5" dirty="0">
                <a:solidFill>
                  <a:srgbClr val="0000FF"/>
                </a:solidFill>
              </a:rPr>
              <a:t>직업구조의</a:t>
            </a:r>
            <a:r>
              <a:rPr spc="24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변화</a:t>
            </a:r>
          </a:p>
          <a:p>
            <a:pPr marL="1270">
              <a:spcBef>
                <a:spcPts val="15"/>
              </a:spcBef>
              <a:buClr>
                <a:srgbClr val="0000FF"/>
              </a:buClr>
              <a:buFont typeface="Malgun Gothic"/>
              <a:buAutoNum type="arabicPeriod" startAt="4"/>
            </a:pPr>
            <a:endParaRPr sz="1750"/>
          </a:p>
          <a:p>
            <a:pPr marL="462915" marR="6350" lvl="1" indent="-323215">
              <a:lnSpc>
                <a:spcPct val="133400"/>
              </a:lnSpc>
              <a:buChar char="-"/>
              <a:tabLst>
                <a:tab pos="461009" algn="l"/>
                <a:tab pos="461645" algn="l"/>
                <a:tab pos="2653030" algn="l"/>
                <a:tab pos="4083050" algn="l"/>
                <a:tab pos="5005070" algn="l"/>
                <a:tab pos="6182360" algn="l"/>
                <a:tab pos="7613015" algn="l"/>
                <a:tab pos="8281670" algn="l"/>
              </a:tabLst>
            </a:pPr>
            <a:r>
              <a:rPr sz="2000" b="1" dirty="0">
                <a:latin typeface="Malgun Gothic"/>
                <a:cs typeface="Malgun Gothic"/>
              </a:rPr>
              <a:t>후</a:t>
            </a:r>
            <a:r>
              <a:rPr sz="2000" b="1" spc="-15" dirty="0">
                <a:latin typeface="Malgun Gothic"/>
                <a:cs typeface="Malgun Gothic"/>
              </a:rPr>
              <a:t>기</a:t>
            </a:r>
            <a:r>
              <a:rPr sz="2000" b="1" dirty="0">
                <a:latin typeface="Malgun Gothic"/>
                <a:cs typeface="Malgun Gothic"/>
              </a:rPr>
              <a:t>산업</a:t>
            </a:r>
            <a:r>
              <a:rPr sz="2000" b="1" spc="-15" dirty="0">
                <a:latin typeface="Malgun Gothic"/>
                <a:cs typeface="Malgun Gothic"/>
              </a:rPr>
              <a:t>사</a:t>
            </a:r>
            <a:r>
              <a:rPr sz="2000" b="1" dirty="0">
                <a:latin typeface="Malgun Gothic"/>
                <a:cs typeface="Malgun Gothic"/>
              </a:rPr>
              <a:t>회에서	</a:t>
            </a:r>
            <a:r>
              <a:rPr sz="2000" b="1" spc="-15" dirty="0">
                <a:latin typeface="Malgun Gothic"/>
                <a:cs typeface="Malgun Gothic"/>
              </a:rPr>
              <a:t>노</a:t>
            </a:r>
            <a:r>
              <a:rPr sz="2000" b="1" dirty="0">
                <a:latin typeface="Malgun Gothic"/>
                <a:cs typeface="Malgun Gothic"/>
              </a:rPr>
              <a:t>동시</a:t>
            </a:r>
            <a:r>
              <a:rPr sz="2000" b="1" spc="-15" dirty="0">
                <a:latin typeface="Malgun Gothic"/>
                <a:cs typeface="Malgun Gothic"/>
              </a:rPr>
              <a:t>장</a:t>
            </a:r>
            <a:r>
              <a:rPr sz="2000" b="1" dirty="0">
                <a:latin typeface="Malgun Gothic"/>
                <a:cs typeface="Malgun Gothic"/>
              </a:rPr>
              <a:t>은	고</a:t>
            </a:r>
            <a:r>
              <a:rPr sz="2000" b="1" spc="-15" dirty="0">
                <a:latin typeface="Malgun Gothic"/>
                <a:cs typeface="Malgun Gothic"/>
              </a:rPr>
              <a:t>도</a:t>
            </a:r>
            <a:r>
              <a:rPr sz="2000" b="1" dirty="0">
                <a:latin typeface="Malgun Gothic"/>
                <a:cs typeface="Malgun Gothic"/>
              </a:rPr>
              <a:t>의	전문</a:t>
            </a:r>
            <a:r>
              <a:rPr sz="2000" b="1" spc="-15" dirty="0">
                <a:latin typeface="Malgun Gothic"/>
                <a:cs typeface="Malgun Gothic"/>
              </a:rPr>
              <a:t>성</a:t>
            </a:r>
            <a:r>
              <a:rPr sz="2000" b="1" dirty="0">
                <a:latin typeface="Malgun Gothic"/>
                <a:cs typeface="Malgun Gothic"/>
              </a:rPr>
              <a:t>과	숙련</a:t>
            </a:r>
            <a:r>
              <a:rPr sz="2000" b="1" spc="-15" dirty="0">
                <a:latin typeface="Malgun Gothic"/>
                <a:cs typeface="Malgun Gothic"/>
              </a:rPr>
              <a:t>기</a:t>
            </a:r>
            <a:r>
              <a:rPr sz="2000" b="1" dirty="0">
                <a:latin typeface="Malgun Gothic"/>
                <a:cs typeface="Malgun Gothic"/>
              </a:rPr>
              <a:t>술을	갖춘	노  </a:t>
            </a:r>
            <a:r>
              <a:rPr sz="2000" b="1" spc="-5" dirty="0">
                <a:latin typeface="Malgun Gothic"/>
                <a:cs typeface="Malgun Gothic"/>
              </a:rPr>
              <a:t>동력에게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유리하게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되면서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미숙련노동력에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대한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수요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감소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spcBef>
                <a:spcPts val="790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노동시장의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이중구조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40" dirty="0">
                <a:latin typeface="Malgun Gothic"/>
                <a:cs typeface="Malgun Gothic"/>
              </a:rPr>
              <a:t>심화: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중심부와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주변부</a:t>
            </a:r>
            <a:endParaRPr sz="2000">
              <a:latin typeface="Malgun Gothic"/>
              <a:cs typeface="Malgun Gothic"/>
            </a:endParaRPr>
          </a:p>
          <a:p>
            <a:pPr marL="426084" lvl="1" indent="-287020">
              <a:spcBef>
                <a:spcPts val="805"/>
              </a:spcBef>
              <a:buChar char="-"/>
              <a:tabLst>
                <a:tab pos="426720" algn="l"/>
              </a:tabLst>
            </a:pPr>
            <a:r>
              <a:rPr sz="2000" b="1" spc="-5" dirty="0">
                <a:latin typeface="Malgun Gothic"/>
                <a:cs typeface="Malgun Gothic"/>
              </a:rPr>
              <a:t>주변부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노동자는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사회보험의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적용과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급여에서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광범한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사각지대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형성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24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287" y="859636"/>
            <a:ext cx="29152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40" dirty="0">
                <a:solidFill>
                  <a:srgbClr val="0000FF"/>
                </a:solidFill>
              </a:rPr>
              <a:t>5.</a:t>
            </a:r>
            <a:r>
              <a:rPr spc="265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복지국가의</a:t>
            </a:r>
            <a:r>
              <a:rPr spc="2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지출</a:t>
            </a:r>
            <a:r>
              <a:rPr spc="270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증가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00458" y="1392631"/>
            <a:ext cx="7930385" cy="3116238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26084" indent="-287020">
              <a:spcBef>
                <a:spcPts val="900"/>
              </a:spcBef>
              <a:buChar char="-"/>
              <a:tabLst>
                <a:tab pos="426720" algn="l"/>
              </a:tabLst>
            </a:pPr>
            <a:r>
              <a:rPr spc="-5" dirty="0"/>
              <a:t>소득수준의</a:t>
            </a:r>
            <a:r>
              <a:rPr spc="285" dirty="0"/>
              <a:t> </a:t>
            </a:r>
            <a:r>
              <a:rPr spc="-5" dirty="0"/>
              <a:t>증가에</a:t>
            </a:r>
            <a:r>
              <a:rPr spc="285" dirty="0"/>
              <a:t> </a:t>
            </a:r>
            <a:r>
              <a:rPr dirty="0"/>
              <a:t>따른</a:t>
            </a:r>
            <a:r>
              <a:rPr spc="285" dirty="0"/>
              <a:t> </a:t>
            </a:r>
            <a:r>
              <a:rPr spc="-5" dirty="0"/>
              <a:t>보험급여의</a:t>
            </a:r>
            <a:r>
              <a:rPr spc="285" dirty="0"/>
              <a:t> </a:t>
            </a:r>
            <a:r>
              <a:rPr dirty="0"/>
              <a:t>인상과</a:t>
            </a:r>
            <a:r>
              <a:rPr spc="285" dirty="0"/>
              <a:t> </a:t>
            </a:r>
            <a:r>
              <a:rPr spc="-5" dirty="0"/>
              <a:t>빈곤선의</a:t>
            </a:r>
            <a:r>
              <a:rPr spc="285" dirty="0"/>
              <a:t> </a:t>
            </a:r>
            <a:r>
              <a:rPr spc="-10" dirty="0"/>
              <a:t>상향</a:t>
            </a:r>
            <a:r>
              <a:rPr spc="285" dirty="0"/>
              <a:t> </a:t>
            </a:r>
            <a:r>
              <a:rPr dirty="0"/>
              <a:t>조정</a:t>
            </a:r>
          </a:p>
          <a:p>
            <a:pPr marL="462915" marR="5080" indent="-323215">
              <a:lnSpc>
                <a:spcPct val="132900"/>
              </a:lnSpc>
              <a:spcBef>
                <a:spcPts val="15"/>
              </a:spcBef>
              <a:buChar char="-"/>
              <a:tabLst>
                <a:tab pos="453390" algn="l"/>
                <a:tab pos="454025" algn="l"/>
                <a:tab pos="1875155" algn="l"/>
                <a:tab pos="2792095" algn="l"/>
                <a:tab pos="3452495" algn="l"/>
                <a:tab pos="4367530" algn="l"/>
                <a:tab pos="5029835" algn="l"/>
                <a:tab pos="5944870" algn="l"/>
                <a:tab pos="6859270" algn="l"/>
                <a:tab pos="8282940" algn="l"/>
              </a:tabLst>
            </a:pPr>
            <a:r>
              <a:rPr dirty="0"/>
              <a:t>의</a:t>
            </a:r>
            <a:r>
              <a:rPr spc="-15" dirty="0"/>
              <a:t>료</a:t>
            </a:r>
            <a:r>
              <a:rPr dirty="0"/>
              <a:t>기술의	발전에	</a:t>
            </a:r>
            <a:r>
              <a:rPr spc="-15" dirty="0"/>
              <a:t>따</a:t>
            </a:r>
            <a:r>
              <a:rPr dirty="0"/>
              <a:t>른	의</a:t>
            </a:r>
            <a:r>
              <a:rPr spc="-15" dirty="0"/>
              <a:t>료</a:t>
            </a:r>
            <a:r>
              <a:rPr dirty="0"/>
              <a:t>비	지출	</a:t>
            </a:r>
            <a:r>
              <a:rPr spc="-15" dirty="0"/>
              <a:t>증</a:t>
            </a:r>
            <a:r>
              <a:rPr dirty="0"/>
              <a:t>가와	급</a:t>
            </a:r>
            <a:r>
              <a:rPr spc="-15" dirty="0"/>
              <a:t>속</a:t>
            </a:r>
            <a:r>
              <a:rPr dirty="0"/>
              <a:t>한	기</a:t>
            </a:r>
            <a:r>
              <a:rPr spc="-15" dirty="0"/>
              <a:t>술</a:t>
            </a:r>
            <a:r>
              <a:rPr dirty="0"/>
              <a:t>발전에	따  른</a:t>
            </a:r>
            <a:r>
              <a:rPr spc="285" dirty="0"/>
              <a:t> </a:t>
            </a:r>
            <a:r>
              <a:rPr spc="10" dirty="0"/>
              <a:t>학교교육,</a:t>
            </a:r>
            <a:r>
              <a:rPr spc="285" dirty="0"/>
              <a:t> </a:t>
            </a:r>
            <a:r>
              <a:rPr spc="10" dirty="0"/>
              <a:t>재교육,</a:t>
            </a:r>
            <a:r>
              <a:rPr spc="285" dirty="0"/>
              <a:t> </a:t>
            </a:r>
            <a:r>
              <a:rPr spc="10" dirty="0"/>
              <a:t>향상교육,</a:t>
            </a:r>
            <a:r>
              <a:rPr spc="290" dirty="0"/>
              <a:t> </a:t>
            </a:r>
            <a:r>
              <a:rPr spc="-5" dirty="0"/>
              <a:t>평생교육에</a:t>
            </a:r>
            <a:r>
              <a:rPr spc="285" dirty="0"/>
              <a:t> </a:t>
            </a:r>
            <a:r>
              <a:rPr dirty="0"/>
              <a:t>대한</a:t>
            </a:r>
            <a:r>
              <a:rPr spc="285" dirty="0"/>
              <a:t> </a:t>
            </a:r>
            <a:r>
              <a:rPr dirty="0"/>
              <a:t>수요</a:t>
            </a:r>
            <a:r>
              <a:rPr spc="285" dirty="0"/>
              <a:t> </a:t>
            </a:r>
            <a:r>
              <a:rPr spc="-10" dirty="0"/>
              <a:t>증가</a:t>
            </a:r>
          </a:p>
          <a:p>
            <a:pPr marL="462915" marR="6350" indent="-323215">
              <a:lnSpc>
                <a:spcPct val="133400"/>
              </a:lnSpc>
              <a:buChar char="-"/>
              <a:tabLst>
                <a:tab pos="456565" algn="l"/>
                <a:tab pos="457200" algn="l"/>
                <a:tab pos="1372870" algn="l"/>
                <a:tab pos="2545080" algn="l"/>
                <a:tab pos="3209290" algn="l"/>
                <a:tab pos="3947160" algn="l"/>
                <a:tab pos="5118100" algn="l"/>
                <a:tab pos="5528945" algn="l"/>
                <a:tab pos="6192520" algn="l"/>
                <a:tab pos="7110730" algn="l"/>
                <a:tab pos="8028940" algn="l"/>
              </a:tabLst>
            </a:pPr>
            <a:r>
              <a:rPr spc="-15" dirty="0"/>
              <a:t>인</a:t>
            </a:r>
            <a:r>
              <a:rPr dirty="0"/>
              <a:t>구의	고령</a:t>
            </a:r>
            <a:r>
              <a:rPr spc="-15" dirty="0"/>
              <a:t>화</a:t>
            </a:r>
            <a:r>
              <a:rPr dirty="0"/>
              <a:t>에	따른	연</a:t>
            </a:r>
            <a:r>
              <a:rPr spc="-15" dirty="0"/>
              <a:t>금</a:t>
            </a:r>
            <a:r>
              <a:rPr spc="60" dirty="0"/>
              <a:t>,</a:t>
            </a:r>
            <a:r>
              <a:rPr dirty="0"/>
              <a:t>	보</a:t>
            </a:r>
            <a:r>
              <a:rPr spc="-15" dirty="0"/>
              <a:t>건</a:t>
            </a:r>
            <a:r>
              <a:rPr dirty="0"/>
              <a:t>의료	및	기타	사</a:t>
            </a:r>
            <a:r>
              <a:rPr spc="-15" dirty="0"/>
              <a:t>회</a:t>
            </a:r>
            <a:r>
              <a:rPr dirty="0"/>
              <a:t>적	보</a:t>
            </a:r>
            <a:r>
              <a:rPr spc="-15" dirty="0"/>
              <a:t>호</a:t>
            </a:r>
            <a:r>
              <a:rPr dirty="0"/>
              <a:t>를	</a:t>
            </a:r>
            <a:r>
              <a:rPr spc="-15" dirty="0"/>
              <a:t>위</a:t>
            </a:r>
            <a:r>
              <a:rPr dirty="0"/>
              <a:t>한  지출</a:t>
            </a:r>
            <a:r>
              <a:rPr spc="285" dirty="0"/>
              <a:t> </a:t>
            </a:r>
            <a:r>
              <a:rPr dirty="0"/>
              <a:t>증가</a:t>
            </a:r>
          </a:p>
          <a:p>
            <a:pPr marL="1270"/>
            <a:endParaRPr sz="2200"/>
          </a:p>
          <a:p>
            <a:pPr marL="13970"/>
            <a:r>
              <a:rPr spc="40" dirty="0">
                <a:solidFill>
                  <a:srgbClr val="0000FF"/>
                </a:solidFill>
              </a:rPr>
              <a:t>6.</a:t>
            </a:r>
            <a:r>
              <a:rPr spc="254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도전과</a:t>
            </a:r>
            <a:r>
              <a:rPr spc="260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대응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5640" y="4415335"/>
            <a:ext cx="5676900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marR="5080" indent="-323215">
              <a:lnSpc>
                <a:spcPct val="132900"/>
              </a:lnSpc>
              <a:spcBef>
                <a:spcPts val="100"/>
              </a:spcBef>
              <a:buChar char="-"/>
              <a:tabLst>
                <a:tab pos="325755" algn="l"/>
                <a:tab pos="326390" algn="l"/>
                <a:tab pos="986790" algn="l"/>
                <a:tab pos="2409825" algn="l"/>
                <a:tab pos="3324860" algn="l"/>
                <a:tab pos="4239895" algn="l"/>
                <a:tab pos="4902200" algn="l"/>
              </a:tabLst>
            </a:pPr>
            <a:r>
              <a:rPr sz="2000" b="1" dirty="0">
                <a:latin typeface="Malgun Gothic"/>
                <a:cs typeface="Malgun Gothic"/>
              </a:rPr>
              <a:t>현행	복지</a:t>
            </a:r>
            <a:r>
              <a:rPr sz="2000" b="1" spc="-15" dirty="0">
                <a:latin typeface="Malgun Gothic"/>
                <a:cs typeface="Malgun Gothic"/>
              </a:rPr>
              <a:t>국</a:t>
            </a:r>
            <a:r>
              <a:rPr sz="2000" b="1" dirty="0">
                <a:latin typeface="Malgun Gothic"/>
                <a:cs typeface="Malgun Gothic"/>
              </a:rPr>
              <a:t>가의	전</a:t>
            </a:r>
            <a:r>
              <a:rPr sz="2000" b="1" spc="-15" dirty="0">
                <a:latin typeface="Malgun Gothic"/>
                <a:cs typeface="Malgun Gothic"/>
              </a:rPr>
              <a:t>략</a:t>
            </a:r>
            <a:r>
              <a:rPr sz="2000" b="1" dirty="0">
                <a:latin typeface="Malgun Gothic"/>
                <a:cs typeface="Malgun Gothic"/>
              </a:rPr>
              <a:t>적	설</a:t>
            </a:r>
            <a:r>
              <a:rPr sz="2000" b="1" spc="-15" dirty="0">
                <a:latin typeface="Malgun Gothic"/>
                <a:cs typeface="Malgun Gothic"/>
              </a:rPr>
              <a:t>계</a:t>
            </a:r>
            <a:r>
              <a:rPr sz="2000" b="1" dirty="0">
                <a:latin typeface="Malgun Gothic"/>
                <a:cs typeface="Malgun Gothic"/>
              </a:rPr>
              <a:t>는	높은	</a:t>
            </a:r>
            <a:r>
              <a:rPr sz="2000" b="1" spc="-15" dirty="0">
                <a:latin typeface="Malgun Gothic"/>
                <a:cs typeface="Malgun Gothic"/>
              </a:rPr>
              <a:t>수</a:t>
            </a:r>
            <a:r>
              <a:rPr sz="2000" b="1" dirty="0">
                <a:latin typeface="Malgun Gothic"/>
                <a:cs typeface="Malgun Gothic"/>
              </a:rPr>
              <a:t>준의  제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근로가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보편적인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과거의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사회질서에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기반</a:t>
            </a:r>
            <a:endParaRPr sz="2000">
              <a:latin typeface="Malgun Gothic"/>
              <a:cs typeface="Malgun Gothic"/>
            </a:endParaRPr>
          </a:p>
          <a:p>
            <a:pPr marL="298450" indent="-286385">
              <a:spcBef>
                <a:spcPts val="800"/>
              </a:spcBef>
              <a:buChar char="-"/>
              <a:tabLst>
                <a:tab pos="299085" algn="l"/>
              </a:tabLst>
            </a:pPr>
            <a:r>
              <a:rPr sz="2000" b="1" spc="-5" dirty="0">
                <a:latin typeface="Malgun Gothic"/>
                <a:cs typeface="Malgun Gothic"/>
              </a:rPr>
              <a:t>경제성장과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평등의</a:t>
            </a:r>
            <a:r>
              <a:rPr sz="2000" b="1" spc="27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충돌</a:t>
            </a:r>
            <a:r>
              <a:rPr sz="2000" b="1" spc="27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심화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10309" y="4515255"/>
            <a:ext cx="26181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927100" algn="l"/>
                <a:tab pos="2096135" algn="l"/>
              </a:tabLst>
            </a:pPr>
            <a:r>
              <a:rPr sz="2000" b="1" dirty="0">
                <a:latin typeface="Malgun Gothic"/>
                <a:cs typeface="Malgun Gothic"/>
              </a:rPr>
              <a:t>고</a:t>
            </a:r>
            <a:r>
              <a:rPr sz="2000" b="1" spc="-15" dirty="0">
                <a:latin typeface="Malgun Gothic"/>
                <a:cs typeface="Malgun Gothic"/>
              </a:rPr>
              <a:t>용</a:t>
            </a:r>
            <a:r>
              <a:rPr sz="2000" b="1" dirty="0">
                <a:latin typeface="Malgun Gothic"/>
                <a:cs typeface="Malgun Gothic"/>
              </a:rPr>
              <a:t>과	안</a:t>
            </a:r>
            <a:r>
              <a:rPr sz="2000" b="1" spc="-15" dirty="0">
                <a:latin typeface="Malgun Gothic"/>
                <a:cs typeface="Malgun Gothic"/>
              </a:rPr>
              <a:t>정</a:t>
            </a:r>
            <a:r>
              <a:rPr sz="2000" b="1" dirty="0">
                <a:latin typeface="Malgun Gothic"/>
                <a:cs typeface="Malgun Gothic"/>
              </a:rPr>
              <a:t>적인	전일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25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79287" y="711897"/>
            <a:ext cx="8549005" cy="50482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66700" indent="-254635">
              <a:spcBef>
                <a:spcPts val="1265"/>
              </a:spcBef>
              <a:buFont typeface="Cambria"/>
              <a:buChar char="○"/>
              <a:tabLst>
                <a:tab pos="266700" algn="l"/>
                <a:tab pos="267335" algn="l"/>
              </a:tabLst>
            </a:pPr>
            <a:r>
              <a:rPr sz="2000" b="1" spc="15" dirty="0">
                <a:latin typeface="Malgun Gothic"/>
                <a:cs typeface="Malgun Gothic"/>
              </a:rPr>
              <a:t>1970년대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이후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복지국가의</a:t>
            </a:r>
            <a:r>
              <a:rPr sz="2000" b="1" spc="28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대응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40" dirty="0">
                <a:latin typeface="Malgun Gothic"/>
                <a:cs typeface="Malgun Gothic"/>
              </a:rPr>
              <a:t>전략:</a:t>
            </a:r>
            <a:endParaRPr sz="2000">
              <a:latin typeface="Malgun Gothic"/>
              <a:cs typeface="Malgun Gothic"/>
            </a:endParaRPr>
          </a:p>
          <a:p>
            <a:pPr marL="202565">
              <a:spcBef>
                <a:spcPts val="869"/>
              </a:spcBef>
            </a:pPr>
            <a:r>
              <a:rPr sz="1500" b="1" dirty="0">
                <a:latin typeface="Malgun Gothic"/>
                <a:cs typeface="Malgun Gothic"/>
              </a:rPr>
              <a:t>Gosta</a:t>
            </a:r>
            <a:r>
              <a:rPr sz="1500" b="1" spc="215" dirty="0">
                <a:latin typeface="Malgun Gothic"/>
                <a:cs typeface="Malgun Gothic"/>
              </a:rPr>
              <a:t> </a:t>
            </a:r>
            <a:r>
              <a:rPr sz="1500" b="1" spc="30" dirty="0">
                <a:latin typeface="Malgun Gothic"/>
                <a:cs typeface="Malgun Gothic"/>
              </a:rPr>
              <a:t>Esping-Andersen,</a:t>
            </a:r>
            <a:r>
              <a:rPr sz="1500" b="1" spc="225" dirty="0">
                <a:latin typeface="Malgun Gothic"/>
                <a:cs typeface="Malgun Gothic"/>
              </a:rPr>
              <a:t> </a:t>
            </a:r>
            <a:r>
              <a:rPr sz="1500" b="1" spc="75" dirty="0">
                <a:latin typeface="Malgun Gothic"/>
                <a:cs typeface="Malgun Gothic"/>
              </a:rPr>
              <a:t>The</a:t>
            </a:r>
            <a:r>
              <a:rPr sz="1500" b="1" spc="215" dirty="0">
                <a:latin typeface="Malgun Gothic"/>
                <a:cs typeface="Malgun Gothic"/>
              </a:rPr>
              <a:t> </a:t>
            </a:r>
            <a:r>
              <a:rPr sz="1500" b="1" spc="65" dirty="0">
                <a:latin typeface="Malgun Gothic"/>
                <a:cs typeface="Malgun Gothic"/>
              </a:rPr>
              <a:t>Three</a:t>
            </a:r>
            <a:r>
              <a:rPr sz="1500" b="1" spc="229" dirty="0">
                <a:latin typeface="Malgun Gothic"/>
                <a:cs typeface="Malgun Gothic"/>
              </a:rPr>
              <a:t> </a:t>
            </a:r>
            <a:r>
              <a:rPr sz="1500" b="1" spc="-15" dirty="0">
                <a:latin typeface="Malgun Gothic"/>
                <a:cs typeface="Malgun Gothic"/>
              </a:rPr>
              <a:t>Worlds</a:t>
            </a:r>
            <a:r>
              <a:rPr sz="1500" b="1" spc="229" dirty="0">
                <a:latin typeface="Malgun Gothic"/>
                <a:cs typeface="Malgun Gothic"/>
              </a:rPr>
              <a:t> </a:t>
            </a:r>
            <a:r>
              <a:rPr sz="1500" b="1" spc="-35" dirty="0">
                <a:latin typeface="Malgun Gothic"/>
                <a:cs typeface="Malgun Gothic"/>
              </a:rPr>
              <a:t>of</a:t>
            </a:r>
            <a:r>
              <a:rPr sz="1500" b="1" spc="220" dirty="0">
                <a:latin typeface="Malgun Gothic"/>
                <a:cs typeface="Malgun Gothic"/>
              </a:rPr>
              <a:t> </a:t>
            </a:r>
            <a:r>
              <a:rPr sz="1500" b="1" spc="5" dirty="0">
                <a:latin typeface="Malgun Gothic"/>
                <a:cs typeface="Malgun Gothic"/>
              </a:rPr>
              <a:t>Welfare</a:t>
            </a:r>
            <a:r>
              <a:rPr sz="1500" b="1" spc="229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Capitalism,</a:t>
            </a:r>
            <a:endParaRPr sz="1500">
              <a:latin typeface="Malgun Gothic"/>
              <a:cs typeface="Malgun Gothic"/>
            </a:endParaRPr>
          </a:p>
          <a:p>
            <a:pPr marL="866140">
              <a:spcBef>
                <a:spcPts val="600"/>
              </a:spcBef>
            </a:pPr>
            <a:r>
              <a:rPr sz="1500" b="1" spc="5" dirty="0">
                <a:latin typeface="Malgun Gothic"/>
                <a:cs typeface="Malgun Gothic"/>
              </a:rPr>
              <a:t>Princeton</a:t>
            </a:r>
            <a:r>
              <a:rPr sz="1500" b="1" spc="195" dirty="0">
                <a:latin typeface="Malgun Gothic"/>
                <a:cs typeface="Malgun Gothic"/>
              </a:rPr>
              <a:t> </a:t>
            </a:r>
            <a:r>
              <a:rPr sz="1500" b="1" spc="20" dirty="0">
                <a:latin typeface="Malgun Gothic"/>
                <a:cs typeface="Malgun Gothic"/>
              </a:rPr>
              <a:t>Univ.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60" dirty="0">
                <a:latin typeface="Malgun Gothic"/>
                <a:cs typeface="Malgun Gothic"/>
              </a:rPr>
              <a:t>Press,</a:t>
            </a:r>
            <a:r>
              <a:rPr sz="1500" b="1" spc="210" dirty="0">
                <a:latin typeface="Malgun Gothic"/>
                <a:cs typeface="Malgun Gothic"/>
              </a:rPr>
              <a:t> </a:t>
            </a:r>
            <a:r>
              <a:rPr sz="1500" b="1" spc="15" dirty="0">
                <a:latin typeface="Malgun Gothic"/>
                <a:cs typeface="Malgun Gothic"/>
              </a:rPr>
              <a:t>1990</a:t>
            </a:r>
            <a:endParaRPr sz="1500">
              <a:latin typeface="Malgun Gothic"/>
              <a:cs typeface="Malgun Gothic"/>
            </a:endParaRPr>
          </a:p>
          <a:p>
            <a:pPr marL="266700">
              <a:spcBef>
                <a:spcPts val="1215"/>
              </a:spcBef>
            </a:pPr>
            <a:r>
              <a:rPr sz="1300" b="1" spc="5" dirty="0">
                <a:latin typeface="Malgun Gothic"/>
                <a:cs typeface="Malgun Gothic"/>
              </a:rPr>
              <a:t>홍기빈,</a:t>
            </a:r>
            <a:r>
              <a:rPr sz="1300" b="1" spc="175" dirty="0">
                <a:latin typeface="Malgun Gothic"/>
                <a:cs typeface="Malgun Gothic"/>
              </a:rPr>
              <a:t> </a:t>
            </a:r>
            <a:r>
              <a:rPr sz="1300" b="1" spc="20" dirty="0">
                <a:latin typeface="Malgun Gothic"/>
                <a:cs typeface="Malgun Gothic"/>
              </a:rPr>
              <a:t>2011,</a:t>
            </a:r>
            <a:r>
              <a:rPr sz="1300" b="1" spc="190" dirty="0">
                <a:latin typeface="Malgun Gothic"/>
                <a:cs typeface="Malgun Gothic"/>
              </a:rPr>
              <a:t> </a:t>
            </a:r>
            <a:r>
              <a:rPr sz="1300" b="1" spc="620" dirty="0">
                <a:latin typeface="Malgun Gothic"/>
                <a:cs typeface="Malgun Gothic"/>
              </a:rPr>
              <a:t>『</a:t>
            </a:r>
            <a:r>
              <a:rPr sz="1300" b="1" spc="5" dirty="0">
                <a:latin typeface="Malgun Gothic"/>
                <a:cs typeface="Malgun Gothic"/>
              </a:rPr>
              <a:t>비그포르스,</a:t>
            </a:r>
            <a:r>
              <a:rPr sz="1300" b="1" spc="175" dirty="0">
                <a:latin typeface="Malgun Gothic"/>
                <a:cs typeface="Malgun Gothic"/>
              </a:rPr>
              <a:t> </a:t>
            </a:r>
            <a:r>
              <a:rPr sz="1300" b="1" spc="-5" dirty="0">
                <a:latin typeface="Malgun Gothic"/>
                <a:cs typeface="Malgun Gothic"/>
              </a:rPr>
              <a:t>복지국가와</a:t>
            </a:r>
            <a:r>
              <a:rPr sz="1300" b="1" spc="185" dirty="0">
                <a:latin typeface="Malgun Gothic"/>
                <a:cs typeface="Malgun Gothic"/>
              </a:rPr>
              <a:t> </a:t>
            </a:r>
            <a:r>
              <a:rPr sz="1300" b="1" spc="-5" dirty="0">
                <a:latin typeface="Malgun Gothic"/>
                <a:cs typeface="Malgun Gothic"/>
              </a:rPr>
              <a:t>잠정적</a:t>
            </a:r>
            <a:r>
              <a:rPr sz="1300" b="1" spc="190" dirty="0">
                <a:latin typeface="Malgun Gothic"/>
                <a:cs typeface="Malgun Gothic"/>
              </a:rPr>
              <a:t> </a:t>
            </a:r>
            <a:r>
              <a:rPr sz="1300" b="1" spc="-5" dirty="0">
                <a:latin typeface="Malgun Gothic"/>
                <a:cs typeface="Malgun Gothic"/>
              </a:rPr>
              <a:t>유토피아</a:t>
            </a:r>
            <a:r>
              <a:rPr sz="1300" b="1" spc="630" dirty="0">
                <a:latin typeface="Malgun Gothic"/>
                <a:cs typeface="Malgun Gothic"/>
              </a:rPr>
              <a:t>』</a:t>
            </a:r>
            <a:r>
              <a:rPr sz="1300" b="1" spc="35" dirty="0">
                <a:latin typeface="Malgun Gothic"/>
                <a:cs typeface="Malgun Gothic"/>
              </a:rPr>
              <a:t>,</a:t>
            </a:r>
            <a:r>
              <a:rPr sz="1300" b="1" spc="175" dirty="0">
                <a:latin typeface="Malgun Gothic"/>
                <a:cs typeface="Malgun Gothic"/>
              </a:rPr>
              <a:t> </a:t>
            </a:r>
            <a:r>
              <a:rPr sz="1300" b="1" spc="5" dirty="0">
                <a:latin typeface="Malgun Gothic"/>
                <a:cs typeface="Malgun Gothic"/>
              </a:rPr>
              <a:t>책세상.</a:t>
            </a:r>
            <a:endParaRPr sz="1300">
              <a:latin typeface="Malgun Gothic"/>
              <a:cs typeface="Malgun Gothic"/>
            </a:endParaRPr>
          </a:p>
          <a:p>
            <a:pPr>
              <a:spcBef>
                <a:spcPts val="5"/>
              </a:spcBef>
            </a:pPr>
            <a:endParaRPr sz="1400">
              <a:latin typeface="Malgun Gothic"/>
              <a:cs typeface="Malgun Gothic"/>
            </a:endParaRPr>
          </a:p>
          <a:p>
            <a:pPr marL="441959" marR="5080" lvl="1" indent="-303530" algn="just">
              <a:lnSpc>
                <a:spcPct val="133200"/>
              </a:lnSpc>
              <a:spcBef>
                <a:spcPts val="5"/>
              </a:spcBef>
              <a:buClr>
                <a:srgbClr val="000000"/>
              </a:buClr>
              <a:buChar char="-"/>
              <a:tabLst>
                <a:tab pos="442595" algn="l"/>
              </a:tabLst>
            </a:pP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사민주의 복지국가 </a:t>
            </a:r>
            <a:r>
              <a:rPr sz="2000" b="1" spc="140" dirty="0">
                <a:latin typeface="Malgun Gothic"/>
                <a:cs typeface="Malgun Gothic"/>
              </a:rPr>
              <a:t>: </a:t>
            </a:r>
            <a:r>
              <a:rPr sz="2000" b="1" dirty="0">
                <a:latin typeface="Malgun Gothic"/>
                <a:cs typeface="Malgun Gothic"/>
              </a:rPr>
              <a:t>적극적 </a:t>
            </a:r>
            <a:r>
              <a:rPr sz="2000" b="1" spc="5" dirty="0">
                <a:latin typeface="Malgun Gothic"/>
                <a:cs typeface="Malgun Gothic"/>
              </a:rPr>
              <a:t>노동시장정책, </a:t>
            </a:r>
            <a:r>
              <a:rPr sz="2000" b="1" spc="-5" dirty="0">
                <a:latin typeface="Malgun Gothic"/>
                <a:cs typeface="Malgun Gothic"/>
              </a:rPr>
              <a:t>공공부문의 </a:t>
            </a:r>
            <a:r>
              <a:rPr sz="2000" b="1" spc="10" dirty="0">
                <a:latin typeface="Malgun Gothic"/>
                <a:cs typeface="Malgun Gothic"/>
              </a:rPr>
              <a:t>고용확대, </a:t>
            </a:r>
            <a:r>
              <a:rPr sz="2000" b="1" dirty="0">
                <a:latin typeface="Malgun Gothic"/>
                <a:cs typeface="Malgun Gothic"/>
              </a:rPr>
              <a:t>막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대한 수준의 비용 </a:t>
            </a:r>
            <a:r>
              <a:rPr sz="2000" b="1" spc="15" dirty="0">
                <a:latin typeface="Malgun Gothic"/>
                <a:cs typeface="Malgun Gothic"/>
              </a:rPr>
              <a:t>초래, 1990년대 </a:t>
            </a:r>
            <a:r>
              <a:rPr sz="2000" b="1" dirty="0">
                <a:latin typeface="Malgun Gothic"/>
                <a:cs typeface="Malgun Gothic"/>
              </a:rPr>
              <a:t>중반 이후 </a:t>
            </a:r>
            <a:r>
              <a:rPr sz="2000" b="1" spc="-5" dirty="0">
                <a:latin typeface="Malgun Gothic"/>
                <a:cs typeface="Malgun Gothic"/>
              </a:rPr>
              <a:t>스웨덴에서 임금의</a:t>
            </a:r>
            <a:r>
              <a:rPr sz="2000" b="1" spc="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유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연성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확대와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공적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연금제도의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개혁</a:t>
            </a:r>
            <a:endParaRPr sz="2000">
              <a:latin typeface="Malgun Gothic"/>
              <a:cs typeface="Malgun Gothic"/>
            </a:endParaRPr>
          </a:p>
          <a:p>
            <a:pPr marL="443230" marR="5080" lvl="1" indent="-304800" algn="just">
              <a:lnSpc>
                <a:spcPct val="133400"/>
              </a:lnSpc>
              <a:buClr>
                <a:srgbClr val="000000"/>
              </a:buClr>
              <a:buChar char="-"/>
              <a:tabLst>
                <a:tab pos="443865" algn="l"/>
              </a:tabLst>
            </a:pP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조합주의 복지국가 </a:t>
            </a:r>
            <a:r>
              <a:rPr sz="2000" b="1" spc="140" dirty="0">
                <a:latin typeface="Malgun Gothic"/>
                <a:cs typeface="Malgun Gothic"/>
              </a:rPr>
              <a:t>: </a:t>
            </a:r>
            <a:r>
              <a:rPr sz="2000" b="1" spc="-10" dirty="0">
                <a:latin typeface="Malgun Gothic"/>
                <a:cs typeface="Malgun Gothic"/>
              </a:rPr>
              <a:t>공적 </a:t>
            </a:r>
            <a:r>
              <a:rPr sz="2000" b="1" spc="-5" dirty="0">
                <a:latin typeface="Malgun Gothic"/>
                <a:cs typeface="Malgun Gothic"/>
              </a:rPr>
              <a:t>연금제도나 </a:t>
            </a:r>
            <a:r>
              <a:rPr sz="2000" b="1" dirty="0">
                <a:latin typeface="Malgun Gothic"/>
                <a:cs typeface="Malgun Gothic"/>
              </a:rPr>
              <a:t>기타 </a:t>
            </a:r>
            <a:r>
              <a:rPr sz="2000" b="1" spc="-5" dirty="0">
                <a:latin typeface="Malgun Gothic"/>
                <a:cs typeface="Malgun Gothic"/>
              </a:rPr>
              <a:t>사회보장제도를 </a:t>
            </a:r>
            <a:r>
              <a:rPr sz="2000" b="1" dirty="0">
                <a:latin typeface="Malgun Gothic"/>
                <a:cs typeface="Malgun Gothic"/>
              </a:rPr>
              <a:t>통해 조 </a:t>
            </a:r>
            <a:r>
              <a:rPr sz="2000" b="1" spc="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기퇴직을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유도,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막대한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사회보장비용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  <a:p>
            <a:pPr marL="461645" marR="6350" lvl="1" indent="-323215" algn="just">
              <a:lnSpc>
                <a:spcPts val="3200"/>
              </a:lnSpc>
              <a:spcBef>
                <a:spcPts val="95"/>
              </a:spcBef>
              <a:buClr>
                <a:srgbClr val="000000"/>
              </a:buClr>
              <a:buChar char="-"/>
              <a:tabLst>
                <a:tab pos="462280" algn="l"/>
              </a:tabLst>
            </a:pPr>
            <a:r>
              <a:rPr sz="2000" b="1" spc="-5" dirty="0">
                <a:solidFill>
                  <a:srgbClr val="0000FF"/>
                </a:solidFill>
                <a:latin typeface="Malgun Gothic"/>
                <a:cs typeface="Malgun Gothic"/>
              </a:rPr>
              <a:t>신자유주의 복지국가 </a:t>
            </a:r>
            <a:r>
              <a:rPr sz="2000" b="1" spc="140" dirty="0">
                <a:latin typeface="Malgun Gothic"/>
                <a:cs typeface="Malgun Gothic"/>
              </a:rPr>
              <a:t>: </a:t>
            </a:r>
            <a:r>
              <a:rPr sz="2000" b="1" spc="-5" dirty="0">
                <a:latin typeface="Malgun Gothic"/>
                <a:cs typeface="Malgun Gothic"/>
              </a:rPr>
              <a:t>노동시장의 유연성과 </a:t>
            </a:r>
            <a:r>
              <a:rPr sz="2000" b="1" dirty="0">
                <a:latin typeface="Malgun Gothic"/>
                <a:cs typeface="Malgun Gothic"/>
              </a:rPr>
              <a:t>임금의 </a:t>
            </a:r>
            <a:r>
              <a:rPr sz="2000" b="1" spc="-5" dirty="0">
                <a:latin typeface="Malgun Gothic"/>
                <a:cs typeface="Malgun Gothic"/>
              </a:rPr>
              <a:t>신축성을 </a:t>
            </a:r>
            <a:r>
              <a:rPr sz="2000" b="1" spc="-10" dirty="0">
                <a:latin typeface="Malgun Gothic"/>
                <a:cs typeface="Malgun Gothic"/>
              </a:rPr>
              <a:t>통한 </a:t>
            </a:r>
            <a:r>
              <a:rPr sz="2000" b="1" spc="-5" dirty="0">
                <a:latin typeface="Malgun Gothic"/>
                <a:cs typeface="Malgun Gothic"/>
              </a:rPr>
              <a:t> 노동수요의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확대로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과도한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재정부담의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문제가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발생하지</a:t>
            </a:r>
            <a:r>
              <a:rPr sz="2000" b="1" spc="29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않음.</a:t>
            </a:r>
            <a:r>
              <a:rPr sz="2000" b="1" spc="30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고용율 </a:t>
            </a:r>
            <a:r>
              <a:rPr sz="2000" b="1" spc="-6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의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15" dirty="0">
                <a:latin typeface="Malgun Gothic"/>
                <a:cs typeface="Malgun Gothic"/>
              </a:rPr>
              <a:t>증가.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미숙련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근로계층을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중심으로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불평등과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spc="-5" dirty="0">
                <a:latin typeface="Malgun Gothic"/>
                <a:cs typeface="Malgun Gothic"/>
              </a:rPr>
              <a:t>빈곤의</a:t>
            </a:r>
            <a:r>
              <a:rPr sz="2000" b="1" spc="29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문제</a:t>
            </a:r>
            <a:r>
              <a:rPr sz="2000" b="1" spc="28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발생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374" y="747890"/>
            <a:ext cx="574255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65" dirty="0"/>
              <a:t>&lt;그림</a:t>
            </a:r>
            <a:r>
              <a:rPr spc="285" dirty="0"/>
              <a:t> </a:t>
            </a:r>
            <a:r>
              <a:rPr spc="-75" dirty="0"/>
              <a:t>7&gt;</a:t>
            </a:r>
            <a:r>
              <a:rPr spc="280" dirty="0"/>
              <a:t> </a:t>
            </a:r>
            <a:r>
              <a:rPr spc="105" dirty="0"/>
              <a:t>The</a:t>
            </a:r>
            <a:r>
              <a:rPr spc="285" dirty="0"/>
              <a:t> </a:t>
            </a:r>
            <a:r>
              <a:rPr spc="25" dirty="0"/>
              <a:t>Trilemma</a:t>
            </a:r>
            <a:r>
              <a:rPr spc="290" dirty="0"/>
              <a:t> </a:t>
            </a:r>
            <a:r>
              <a:rPr spc="-45" dirty="0"/>
              <a:t>of</a:t>
            </a:r>
            <a:r>
              <a:rPr spc="290" dirty="0"/>
              <a:t> </a:t>
            </a:r>
            <a:r>
              <a:rPr spc="-25" dirty="0"/>
              <a:t>the</a:t>
            </a:r>
            <a:r>
              <a:rPr spc="280" dirty="0"/>
              <a:t> </a:t>
            </a:r>
            <a:r>
              <a:rPr spc="70" dirty="0"/>
              <a:t>Service</a:t>
            </a:r>
            <a:r>
              <a:rPr spc="280" dirty="0"/>
              <a:t> </a:t>
            </a:r>
            <a:r>
              <a:rPr spc="10" dirty="0"/>
              <a:t>Economy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6059" y="1372468"/>
            <a:ext cx="6478334" cy="39377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9286" y="5428551"/>
            <a:ext cx="8545830" cy="51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 marR="5080" indent="-449580">
              <a:lnSpc>
                <a:spcPct val="133000"/>
              </a:lnSpc>
              <a:spcBef>
                <a:spcPts val="100"/>
              </a:spcBef>
            </a:pPr>
            <a:r>
              <a:rPr sz="1300" b="1" spc="30" dirty="0">
                <a:latin typeface="Malgun Gothic"/>
                <a:cs typeface="Malgun Gothic"/>
              </a:rPr>
              <a:t>출처:</a:t>
            </a:r>
            <a:r>
              <a:rPr sz="1300" b="1" spc="430" dirty="0">
                <a:latin typeface="Malgun Gothic"/>
                <a:cs typeface="Malgun Gothic"/>
              </a:rPr>
              <a:t> </a:t>
            </a:r>
            <a:r>
              <a:rPr sz="1300" b="1" spc="125" dirty="0">
                <a:latin typeface="Malgun Gothic"/>
                <a:cs typeface="Malgun Gothic"/>
              </a:rPr>
              <a:t>T.</a:t>
            </a:r>
            <a:r>
              <a:rPr sz="1300" b="1" spc="434" dirty="0">
                <a:latin typeface="Malgun Gothic"/>
                <a:cs typeface="Malgun Gothic"/>
              </a:rPr>
              <a:t> </a:t>
            </a:r>
            <a:r>
              <a:rPr sz="1300" b="1" spc="25" dirty="0">
                <a:latin typeface="Malgun Gothic"/>
                <a:cs typeface="Malgun Gothic"/>
              </a:rPr>
              <a:t>Iversen</a:t>
            </a:r>
            <a:r>
              <a:rPr sz="1300" b="1" spc="425" dirty="0">
                <a:latin typeface="Malgun Gothic"/>
                <a:cs typeface="Malgun Gothic"/>
              </a:rPr>
              <a:t> </a:t>
            </a:r>
            <a:r>
              <a:rPr sz="1300" b="1" spc="-40" dirty="0">
                <a:latin typeface="Malgun Gothic"/>
                <a:cs typeface="Malgun Gothic"/>
              </a:rPr>
              <a:t>and</a:t>
            </a:r>
            <a:r>
              <a:rPr sz="1300" b="1" spc="20" dirty="0">
                <a:latin typeface="Malgun Gothic"/>
                <a:cs typeface="Malgun Gothic"/>
              </a:rPr>
              <a:t> </a:t>
            </a:r>
            <a:r>
              <a:rPr sz="1300" b="1" spc="30" dirty="0">
                <a:latin typeface="Malgun Gothic"/>
                <a:cs typeface="Malgun Gothic"/>
              </a:rPr>
              <a:t>A.</a:t>
            </a:r>
            <a:r>
              <a:rPr sz="1300" b="1" spc="434" dirty="0">
                <a:latin typeface="Malgun Gothic"/>
                <a:cs typeface="Malgun Gothic"/>
              </a:rPr>
              <a:t> </a:t>
            </a:r>
            <a:r>
              <a:rPr sz="1300" b="1" spc="-5" dirty="0">
                <a:latin typeface="Malgun Gothic"/>
                <a:cs typeface="Malgun Gothic"/>
              </a:rPr>
              <a:t>Wren,</a:t>
            </a:r>
            <a:r>
              <a:rPr sz="1300" b="1" spc="440" dirty="0">
                <a:latin typeface="Malgun Gothic"/>
                <a:cs typeface="Malgun Gothic"/>
              </a:rPr>
              <a:t> </a:t>
            </a:r>
            <a:r>
              <a:rPr sz="1300" b="1" spc="5" dirty="0">
                <a:latin typeface="Malgun Gothic"/>
                <a:cs typeface="Malgun Gothic"/>
              </a:rPr>
              <a:t>"Equality,</a:t>
            </a:r>
            <a:r>
              <a:rPr sz="1300" b="1" spc="434" dirty="0">
                <a:latin typeface="Malgun Gothic"/>
                <a:cs typeface="Malgun Gothic"/>
              </a:rPr>
              <a:t> </a:t>
            </a:r>
            <a:r>
              <a:rPr sz="1300" b="1" spc="-10" dirty="0">
                <a:latin typeface="Malgun Gothic"/>
                <a:cs typeface="Malgun Gothic"/>
              </a:rPr>
              <a:t>Employment,  </a:t>
            </a:r>
            <a:r>
              <a:rPr sz="1300" b="1" spc="-45" dirty="0">
                <a:latin typeface="Malgun Gothic"/>
                <a:cs typeface="Malgun Gothic"/>
              </a:rPr>
              <a:t>and</a:t>
            </a:r>
            <a:r>
              <a:rPr sz="1300" b="1" spc="30" dirty="0">
                <a:latin typeface="Malgun Gothic"/>
                <a:cs typeface="Malgun Gothic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Budgetary</a:t>
            </a:r>
            <a:r>
              <a:rPr sz="1300" b="1" spc="425" dirty="0">
                <a:latin typeface="Malgun Gothic"/>
                <a:cs typeface="Malgun Gothic"/>
              </a:rPr>
              <a:t> </a:t>
            </a:r>
            <a:r>
              <a:rPr sz="1300" b="1" dirty="0">
                <a:latin typeface="Malgun Gothic"/>
                <a:cs typeface="Malgun Gothic"/>
              </a:rPr>
              <a:t>Restraint",</a:t>
            </a:r>
            <a:r>
              <a:rPr sz="1300" b="1" spc="434" dirty="0">
                <a:latin typeface="Malgun Gothic"/>
                <a:cs typeface="Malgun Gothic"/>
              </a:rPr>
              <a:t> </a:t>
            </a:r>
            <a:r>
              <a:rPr sz="1300" b="1" spc="-30" dirty="0">
                <a:latin typeface="Malgun Gothic"/>
                <a:cs typeface="Malgun Gothic"/>
              </a:rPr>
              <a:t>World</a:t>
            </a:r>
            <a:r>
              <a:rPr sz="1300" b="1" spc="15" dirty="0">
                <a:latin typeface="Malgun Gothic"/>
                <a:cs typeface="Malgun Gothic"/>
              </a:rPr>
              <a:t> Politics</a:t>
            </a:r>
            <a:r>
              <a:rPr sz="1300" b="1" spc="430" dirty="0">
                <a:latin typeface="Malgun Gothic"/>
                <a:cs typeface="Malgun Gothic"/>
              </a:rPr>
              <a:t> </a:t>
            </a:r>
            <a:r>
              <a:rPr sz="1300" b="1" spc="20" dirty="0">
                <a:latin typeface="Malgun Gothic"/>
                <a:cs typeface="Malgun Gothic"/>
              </a:rPr>
              <a:t>50, </a:t>
            </a:r>
            <a:r>
              <a:rPr sz="1300" b="1" spc="-445" dirty="0">
                <a:latin typeface="Malgun Gothic"/>
                <a:cs typeface="Malgun Gothic"/>
              </a:rPr>
              <a:t> </a:t>
            </a:r>
            <a:r>
              <a:rPr sz="1300" b="1" spc="15" dirty="0">
                <a:latin typeface="Malgun Gothic"/>
                <a:cs typeface="Malgun Gothic"/>
              </a:rPr>
              <a:t>1998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26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13" y="1062863"/>
            <a:ext cx="8379071" cy="41920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5"/>
              </a:lnSpc>
            </a:pPr>
            <a:r>
              <a:rPr spc="285" dirty="0"/>
              <a:t>-</a:t>
            </a:r>
            <a:r>
              <a:rPr spc="175" dirty="0"/>
              <a:t> </a:t>
            </a:r>
            <a:fld id="{81D60167-4931-47E6-BA6A-407CBD079E47}" type="slidenum">
              <a:rPr spc="15" dirty="0"/>
              <a:pPr marL="12700">
                <a:lnSpc>
                  <a:spcPts val="1155"/>
                </a:lnSpc>
              </a:pPr>
              <a:t>27</a:t>
            </a:fld>
            <a:r>
              <a:rPr spc="195" dirty="0"/>
              <a:t> </a:t>
            </a:r>
            <a:r>
              <a:rPr spc="285" dirty="0"/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2642</Words>
  <Application>Microsoft Office PowerPoint</Application>
  <PresentationFormat>A4 용지(210x297mm)</PresentationFormat>
  <Paragraphs>559</Paragraphs>
  <Slides>27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Arial MT</vt:lpstr>
      <vt:lpstr>Malgun Gothic</vt:lpstr>
      <vt:lpstr>Malgun Gothic</vt:lpstr>
      <vt:lpstr>Calibri</vt:lpstr>
      <vt:lpstr>Cambria</vt:lpstr>
      <vt:lpstr>Tahoma</vt:lpstr>
      <vt:lpstr>Times New Roman</vt:lpstr>
      <vt:lpstr>Wingdings</vt:lpstr>
      <vt:lpstr>Office Theme</vt:lpstr>
      <vt:lpstr>제2강. 복지국가론 개관</vt:lpstr>
      <vt:lpstr>제2절. 복지국가와 정책목표</vt:lpstr>
      <vt:lpstr>PowerPoint 프레젠테이션</vt:lpstr>
      <vt:lpstr>② 복지의 전달유형이 다양하다</vt:lpstr>
      <vt:lpstr>&lt;참고: 분야별 예산비중의 추이&gt;</vt:lpstr>
      <vt:lpstr>PowerPoint 프레젠테이션</vt:lpstr>
      <vt:lpstr>2) 실제적 차원의 복지국가</vt:lpstr>
      <vt:lpstr>PowerPoint 프레젠테이션</vt:lpstr>
      <vt:lpstr>PowerPoint 프레젠테이션</vt:lpstr>
      <vt:lpstr>2. 복지국가의 목표</vt:lpstr>
      <vt:lpstr>PowerPoint 프레젠테이션</vt:lpstr>
      <vt:lpstr>PowerPoint 프레젠테이션</vt:lpstr>
      <vt:lpstr>⑥ 평생소비의 안정화(smoothing)</vt:lpstr>
      <vt:lpstr>⑦ 수직적 형평성(vertical equity)</vt:lpstr>
      <vt:lpstr>PowerPoint 프레젠테이션</vt:lpstr>
      <vt:lpstr>3) 사회통합</vt:lpstr>
      <vt:lpstr>⑩ 사회적 연대성(social solidarity)</vt:lpstr>
      <vt:lpstr>제3절 변화하는 세계: 변화와 대응</vt:lpstr>
      <vt:lpstr>PowerPoint 프레젠테이션</vt:lpstr>
      <vt:lpstr>PowerPoint 프레젠테이션</vt:lpstr>
      <vt:lpstr>PowerPoint 프레젠테이션</vt:lpstr>
      <vt:lpstr>2. 세계화(globalization)</vt:lpstr>
      <vt:lpstr>3. 가족구조의 변화</vt:lpstr>
      <vt:lpstr>5. 복지국가의 지출 증가</vt:lpstr>
      <vt:lpstr>PowerPoint 프레젠테이션</vt:lpstr>
      <vt:lpstr>&lt;그림 7&gt; The Trilemma of the Service Economy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노동주</cp:lastModifiedBy>
  <cp:revision>3</cp:revision>
  <cp:lastPrinted>2024-09-15T05:57:48Z</cp:lastPrinted>
  <dcterms:created xsi:type="dcterms:W3CDTF">2024-09-10T05:57:52Z</dcterms:created>
  <dcterms:modified xsi:type="dcterms:W3CDTF">2024-09-15T05:58:53Z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Call PDF</vt:lpwstr>
  </property>
</Properties>
</file>