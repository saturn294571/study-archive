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6234" autoAdjust="0"/>
  </p:normalViewPr>
  <p:slideViewPr>
    <p:cSldViewPr>
      <p:cViewPr varScale="1">
        <p:scale>
          <a:sx n="76" d="100"/>
          <a:sy n="76" d="100"/>
        </p:scale>
        <p:origin x="11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B51E259-AEA0-1EF7-63B9-AF84EB9B3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72B564B-6863-6EE0-DF37-269E8B72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DFF59C-E16F-077E-EE17-79AD6BE59F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5F9E61D-775B-0471-66E6-F062A2DF59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사회보험제도</a:t>
            </a:r>
            <a:endParaRPr lang="en-US" altLang="ko-KR" dirty="0"/>
          </a:p>
          <a:p>
            <a:pPr lvl="1"/>
            <a:r>
              <a:rPr lang="ko-KR" altLang="en-US" dirty="0"/>
              <a:t>사회보험제도의 의미</a:t>
            </a:r>
            <a:endParaRPr lang="en-US" altLang="ko-KR" dirty="0"/>
          </a:p>
          <a:p>
            <a:pPr lvl="1"/>
            <a:r>
              <a:rPr lang="ko-KR" altLang="en-US" dirty="0"/>
              <a:t>국민연금의 성격</a:t>
            </a:r>
            <a:endParaRPr lang="en-US" altLang="ko-KR" dirty="0"/>
          </a:p>
          <a:p>
            <a:pPr lvl="1"/>
            <a:r>
              <a:rPr lang="ko-KR" altLang="en-US" dirty="0"/>
              <a:t>국민연금의 주요 쟁점</a:t>
            </a:r>
            <a:endParaRPr lang="en-US" altLang="ko-KR" dirty="0"/>
          </a:p>
          <a:p>
            <a:pPr lvl="1"/>
            <a:r>
              <a:rPr lang="ko-KR" altLang="en-US" dirty="0"/>
              <a:t>국민연금의 경제적효과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F2F90A-A75F-16C9-30DE-BBEAF12B574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014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67B0A6D-A7C3-21BD-B064-49F74BA8D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876FEE2-160D-E01E-40A0-ED3A4F2A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사회보험제도의 의미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B83525-9AE2-0435-EAFC-E79EA577A5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7360938-0D19-726F-0B32-3F104BFBD3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사회보험제도의 취지</a:t>
            </a:r>
            <a:endParaRPr lang="en-US" altLang="ko-KR" dirty="0"/>
          </a:p>
          <a:p>
            <a:pPr lvl="1"/>
            <a:r>
              <a:rPr lang="ko-KR" altLang="en-US" dirty="0"/>
              <a:t>시장실패</a:t>
            </a:r>
            <a:r>
              <a:rPr lang="en-US" altLang="ko-KR" dirty="0"/>
              <a:t> : </a:t>
            </a:r>
            <a:r>
              <a:rPr lang="ko-KR" altLang="en-US" dirty="0"/>
              <a:t>역선택</a:t>
            </a:r>
            <a:r>
              <a:rPr lang="en-US" altLang="ko-KR" dirty="0"/>
              <a:t>, </a:t>
            </a:r>
            <a:r>
              <a:rPr lang="ko-KR" altLang="en-US" dirty="0"/>
              <a:t>도덕적 해이</a:t>
            </a:r>
            <a:endParaRPr lang="en-US" altLang="ko-KR" dirty="0"/>
          </a:p>
          <a:p>
            <a:pPr lvl="1"/>
            <a:r>
              <a:rPr lang="ko-KR" altLang="en-US" dirty="0"/>
              <a:t>온정적 간섭주의 </a:t>
            </a:r>
            <a:r>
              <a:rPr lang="en-US" altLang="ko-KR" dirty="0"/>
              <a:t>: </a:t>
            </a:r>
            <a:r>
              <a:rPr lang="ko-KR" altLang="en-US" dirty="0"/>
              <a:t>사람들 근시안적</a:t>
            </a:r>
            <a:endParaRPr lang="en-US" altLang="ko-KR" dirty="0"/>
          </a:p>
          <a:p>
            <a:pPr lvl="1"/>
            <a:r>
              <a:rPr lang="ko-KR" altLang="en-US" dirty="0"/>
              <a:t>상품 평등주의 </a:t>
            </a:r>
            <a:r>
              <a:rPr lang="en-US" altLang="ko-KR" dirty="0"/>
              <a:t>: </a:t>
            </a:r>
            <a:r>
              <a:rPr lang="ko-KR" altLang="en-US" dirty="0"/>
              <a:t>의료서비스 같은 어떤 상품들은 국민 모두가 </a:t>
            </a:r>
            <a:r>
              <a:rPr lang="ko-KR" altLang="en-US" dirty="0" err="1"/>
              <a:t>누려야함</a:t>
            </a:r>
            <a:endParaRPr lang="en-US" altLang="ko-KR" dirty="0"/>
          </a:p>
          <a:p>
            <a:r>
              <a:rPr lang="ko-KR" altLang="en-US" dirty="0"/>
              <a:t>사회보험제도의 특징</a:t>
            </a:r>
            <a:endParaRPr lang="en-US" altLang="ko-KR" dirty="0"/>
          </a:p>
          <a:p>
            <a:pPr lvl="1"/>
            <a:r>
              <a:rPr lang="ko-KR" altLang="en-US" dirty="0"/>
              <a:t>강제성 </a:t>
            </a:r>
            <a:r>
              <a:rPr lang="en-US" altLang="ko-KR" dirty="0"/>
              <a:t>: </a:t>
            </a:r>
            <a:r>
              <a:rPr lang="ko-KR" altLang="en-US" dirty="0" err="1"/>
              <a:t>모든국민</a:t>
            </a:r>
            <a:r>
              <a:rPr lang="ko-KR" altLang="en-US" dirty="0"/>
              <a:t> 가입</a:t>
            </a:r>
            <a:endParaRPr lang="en-US" altLang="ko-KR" dirty="0"/>
          </a:p>
          <a:p>
            <a:pPr lvl="1"/>
            <a:r>
              <a:rPr lang="ko-KR" altLang="en-US" dirty="0" err="1"/>
              <a:t>소득재분배적</a:t>
            </a:r>
            <a:r>
              <a:rPr lang="ko-KR" altLang="en-US" dirty="0"/>
              <a:t> 성격 </a:t>
            </a:r>
            <a:r>
              <a:rPr lang="en-US" altLang="ko-KR" dirty="0"/>
              <a:t>: </a:t>
            </a:r>
            <a:r>
              <a:rPr lang="ko-KR" altLang="en-US" dirty="0"/>
              <a:t>가입자의 보험료와 혜택의 상관이 약함</a:t>
            </a:r>
            <a:endParaRPr lang="en-US" altLang="ko-KR" dirty="0"/>
          </a:p>
          <a:p>
            <a:r>
              <a:rPr lang="ko-KR" altLang="en-US" dirty="0"/>
              <a:t>사회보험과 공공부조</a:t>
            </a:r>
            <a:endParaRPr lang="en-US" altLang="ko-KR" dirty="0"/>
          </a:p>
          <a:p>
            <a:pPr lvl="1"/>
            <a:r>
              <a:rPr lang="ko-KR" altLang="en-US" dirty="0"/>
              <a:t>사회보험 </a:t>
            </a:r>
            <a:r>
              <a:rPr lang="en-US" altLang="ko-KR" dirty="0"/>
              <a:t>: </a:t>
            </a:r>
            <a:r>
              <a:rPr lang="ko-KR" altLang="en-US" dirty="0"/>
              <a:t>보험료 운영</a:t>
            </a:r>
            <a:r>
              <a:rPr lang="en-US" altLang="ko-KR" dirty="0"/>
              <a:t>, </a:t>
            </a:r>
            <a:r>
              <a:rPr lang="ko-KR" altLang="en-US" dirty="0"/>
              <a:t>재분배성 약함</a:t>
            </a:r>
            <a:endParaRPr lang="en-US" altLang="ko-KR" dirty="0"/>
          </a:p>
          <a:p>
            <a:pPr lvl="1"/>
            <a:r>
              <a:rPr lang="ko-KR" altLang="en-US" dirty="0"/>
              <a:t>공공부조 </a:t>
            </a:r>
            <a:r>
              <a:rPr lang="en-US" altLang="ko-KR" dirty="0"/>
              <a:t>: </a:t>
            </a:r>
            <a:r>
              <a:rPr lang="ko-KR" altLang="en-US" dirty="0"/>
              <a:t>정부 예산 운영</a:t>
            </a:r>
            <a:r>
              <a:rPr lang="en-US" altLang="ko-KR" dirty="0"/>
              <a:t>, </a:t>
            </a:r>
            <a:r>
              <a:rPr lang="ko-KR" altLang="en-US" dirty="0"/>
              <a:t>재분배성 강함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5F64D8-0D83-A238-8EDE-EA58EC47342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07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F156565-FA74-14C3-DDC9-BCE3DCC29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54AF4D7-046A-9C14-C151-2B72A634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국민연금제도의 기본 성격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C6AB7B-1A7D-2DCA-0D96-E7DDBC7FCA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4073173-FEDE-D812-84E1-52A89867FA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국민연금제도</a:t>
            </a:r>
            <a:endParaRPr lang="en-US" altLang="ko-KR" dirty="0"/>
          </a:p>
          <a:p>
            <a:pPr lvl="1"/>
            <a:r>
              <a:rPr lang="ko-KR" altLang="en-US" dirty="0"/>
              <a:t>정부의 강제저축 </a:t>
            </a:r>
            <a:r>
              <a:rPr lang="en-US" altLang="ko-KR" dirty="0"/>
              <a:t>-&gt; </a:t>
            </a:r>
            <a:r>
              <a:rPr lang="ko-KR" altLang="en-US" dirty="0"/>
              <a:t>노후 생계 보장</a:t>
            </a:r>
            <a:r>
              <a:rPr lang="en-US" altLang="ko-KR" dirty="0"/>
              <a:t>; </a:t>
            </a:r>
            <a:r>
              <a:rPr lang="ko-KR" altLang="en-US" dirty="0"/>
              <a:t>보편적 연금</a:t>
            </a:r>
            <a:endParaRPr lang="en-US" altLang="ko-KR" dirty="0"/>
          </a:p>
          <a:p>
            <a:r>
              <a:rPr lang="ko-KR" altLang="en-US" dirty="0"/>
              <a:t>국민연금제도의 의의</a:t>
            </a:r>
            <a:endParaRPr lang="en-US" altLang="ko-KR" dirty="0"/>
          </a:p>
          <a:p>
            <a:pPr lvl="1"/>
            <a:r>
              <a:rPr lang="ko-KR" altLang="en-US" dirty="0"/>
              <a:t>재정수입 달성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시간이 지나면 수입보다 지출 많음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시장실패 보완</a:t>
            </a:r>
            <a:endParaRPr lang="en-US" altLang="ko-KR" dirty="0"/>
          </a:p>
          <a:p>
            <a:pPr lvl="2"/>
            <a:r>
              <a:rPr lang="ko-KR" altLang="en-US" dirty="0"/>
              <a:t>정당성의 근거</a:t>
            </a:r>
            <a:r>
              <a:rPr lang="en-US" altLang="ko-KR" dirty="0"/>
              <a:t>; </a:t>
            </a:r>
            <a:r>
              <a:rPr lang="ko-KR" altLang="en-US" dirty="0"/>
              <a:t>안전한 투자 </a:t>
            </a:r>
            <a:r>
              <a:rPr lang="en-US" altLang="ko-KR" dirty="0"/>
              <a:t>or </a:t>
            </a:r>
            <a:r>
              <a:rPr lang="ko-KR" altLang="en-US" dirty="0"/>
              <a:t>연금</a:t>
            </a:r>
            <a:r>
              <a:rPr lang="en-US" altLang="ko-KR" dirty="0"/>
              <a:t>; </a:t>
            </a:r>
            <a:r>
              <a:rPr lang="ko-KR" altLang="en-US" dirty="0"/>
              <a:t>민간연금 </a:t>
            </a:r>
            <a:r>
              <a:rPr lang="en-US" altLang="ko-KR" dirty="0"/>
              <a:t>= </a:t>
            </a:r>
            <a:r>
              <a:rPr lang="ko-KR" altLang="en-US" dirty="0"/>
              <a:t>역선택 </a:t>
            </a:r>
            <a:r>
              <a:rPr lang="en-US" altLang="ko-KR" dirty="0"/>
              <a:t>or </a:t>
            </a:r>
            <a:r>
              <a:rPr lang="ko-KR" altLang="en-US" dirty="0"/>
              <a:t>도덕적 해이</a:t>
            </a:r>
            <a:endParaRPr lang="en-US" altLang="ko-KR" dirty="0"/>
          </a:p>
          <a:p>
            <a:pPr lvl="1"/>
            <a:r>
              <a:rPr lang="ko-KR" altLang="en-US" dirty="0"/>
              <a:t>소득 재분배</a:t>
            </a:r>
            <a:endParaRPr lang="en-US" altLang="ko-KR" dirty="0"/>
          </a:p>
          <a:p>
            <a:pPr lvl="2"/>
            <a:r>
              <a:rPr lang="ko-KR" altLang="en-US" dirty="0"/>
              <a:t>세대간 </a:t>
            </a:r>
            <a:r>
              <a:rPr lang="ko-KR" altLang="en-US" dirty="0" err="1"/>
              <a:t>공평성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세대간 소득 재분배</a:t>
            </a:r>
            <a:endParaRPr lang="en-US" altLang="ko-KR" dirty="0"/>
          </a:p>
          <a:p>
            <a:pPr lvl="1"/>
            <a:r>
              <a:rPr lang="ko-KR" altLang="en-US" dirty="0"/>
              <a:t>온정적 간섭주의에 의한 개입</a:t>
            </a:r>
            <a:endParaRPr lang="en-US" altLang="ko-KR" dirty="0"/>
          </a:p>
          <a:p>
            <a:pPr lvl="2"/>
            <a:r>
              <a:rPr lang="ko-KR" altLang="en-US" dirty="0"/>
              <a:t>소비자주권 </a:t>
            </a:r>
            <a:r>
              <a:rPr lang="en-US" altLang="ko-KR" dirty="0"/>
              <a:t>: </a:t>
            </a:r>
            <a:r>
              <a:rPr lang="ko-KR" altLang="en-US" dirty="0"/>
              <a:t>본인이 노후 대책</a:t>
            </a:r>
            <a:r>
              <a:rPr lang="en-US" altLang="ko-KR" dirty="0"/>
              <a:t>; but, </a:t>
            </a:r>
            <a:r>
              <a:rPr lang="ko-KR" altLang="en-US" dirty="0"/>
              <a:t>정부가 손 놓을 일 아니다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431AA8-73B3-F789-8D08-E1229991F78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442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DCD8AB8-A5EA-25D1-C747-9B6E206B2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7F77916-DFB4-A3B6-884B-AB1A7C54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연금제도와 관련된 주요 쟁점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F12111-17C0-964D-29E6-6AC0A24CAC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5B888C7-9BAA-04B4-E49E-A953D92B84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국민연금제도를 강제적</a:t>
            </a:r>
            <a:r>
              <a:rPr lang="en-US" altLang="ko-KR" dirty="0"/>
              <a:t>, </a:t>
            </a:r>
            <a:r>
              <a:rPr lang="ko-KR" altLang="en-US" dirty="0"/>
              <a:t>공적으로 해야함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강제의 필요성 </a:t>
            </a:r>
            <a:r>
              <a:rPr lang="en-US" altLang="ko-KR" dirty="0"/>
              <a:t>: </a:t>
            </a:r>
            <a:r>
              <a:rPr lang="ko-KR" altLang="en-US" dirty="0"/>
              <a:t>개인한테 맡겼을 때 부적절함</a:t>
            </a:r>
            <a:endParaRPr lang="en-US" altLang="ko-KR" dirty="0"/>
          </a:p>
          <a:p>
            <a:pPr lvl="1"/>
            <a:r>
              <a:rPr lang="ko-KR" altLang="en-US" dirty="0"/>
              <a:t>공적의 필요성</a:t>
            </a:r>
            <a:endParaRPr lang="en-US" altLang="ko-KR" dirty="0"/>
          </a:p>
          <a:p>
            <a:pPr lvl="2"/>
            <a:r>
              <a:rPr lang="ko-KR" altLang="en-US" dirty="0"/>
              <a:t>규모의경제</a:t>
            </a:r>
            <a:r>
              <a:rPr lang="en-US" altLang="ko-KR" dirty="0"/>
              <a:t>(</a:t>
            </a:r>
            <a:r>
              <a:rPr lang="ko-KR" altLang="en-US" dirty="0"/>
              <a:t>위험 공동부담 </a:t>
            </a:r>
            <a:r>
              <a:rPr lang="en-US" altLang="ko-KR" dirty="0"/>
              <a:t>-&gt; </a:t>
            </a:r>
            <a:r>
              <a:rPr lang="ko-KR" altLang="en-US" dirty="0"/>
              <a:t>이득 커짐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역선택 문제 해소</a:t>
            </a:r>
            <a:endParaRPr lang="en-US" altLang="ko-KR" dirty="0"/>
          </a:p>
          <a:p>
            <a:pPr lvl="2"/>
            <a:r>
              <a:rPr lang="ko-KR" altLang="en-US" dirty="0"/>
              <a:t>높은</a:t>
            </a:r>
            <a:r>
              <a:rPr lang="en-US" altLang="ko-KR" dirty="0"/>
              <a:t> </a:t>
            </a:r>
            <a:r>
              <a:rPr lang="ko-KR" altLang="en-US" dirty="0"/>
              <a:t>수익</a:t>
            </a:r>
            <a:endParaRPr lang="en-US" altLang="ko-KR" dirty="0"/>
          </a:p>
          <a:p>
            <a:pPr lvl="2"/>
            <a:r>
              <a:rPr lang="ko-KR" altLang="en-US" dirty="0"/>
              <a:t>적은 </a:t>
            </a:r>
            <a:r>
              <a:rPr lang="ko-KR" altLang="en-US" dirty="0" err="1"/>
              <a:t>행정비</a:t>
            </a:r>
            <a:endParaRPr lang="en-US" altLang="ko-KR" dirty="0"/>
          </a:p>
          <a:p>
            <a:pPr lvl="2"/>
            <a:r>
              <a:rPr lang="ko-KR" altLang="en-US" dirty="0"/>
              <a:t>인플레</a:t>
            </a:r>
            <a:endParaRPr lang="en-US" altLang="ko-KR" dirty="0"/>
          </a:p>
          <a:p>
            <a:pPr lvl="1"/>
            <a:r>
              <a:rPr lang="en-US" altLang="ko-KR" dirty="0"/>
              <a:t>But, </a:t>
            </a:r>
            <a:r>
              <a:rPr lang="ko-KR" altLang="en-US" dirty="0"/>
              <a:t>공적 </a:t>
            </a:r>
            <a:r>
              <a:rPr lang="en-US" altLang="ko-KR" dirty="0"/>
              <a:t>-&gt; </a:t>
            </a:r>
            <a:r>
              <a:rPr lang="ko-KR" altLang="en-US" dirty="0"/>
              <a:t>소비자의 요구에 부응 떨어짐</a:t>
            </a:r>
            <a:endParaRPr lang="en-US" altLang="ko-KR" dirty="0"/>
          </a:p>
          <a:p>
            <a:r>
              <a:rPr lang="ko-KR" altLang="en-US" dirty="0"/>
              <a:t>적립방식과 부과방식</a:t>
            </a:r>
            <a:endParaRPr lang="en-US" altLang="ko-KR" dirty="0"/>
          </a:p>
          <a:p>
            <a:pPr lvl="1"/>
            <a:r>
              <a:rPr lang="ko-KR" altLang="en-US" dirty="0"/>
              <a:t>적립 </a:t>
            </a:r>
            <a:r>
              <a:rPr lang="en-US" altLang="ko-KR" dirty="0"/>
              <a:t>: </a:t>
            </a:r>
            <a:r>
              <a:rPr lang="ko-KR" altLang="en-US" dirty="0"/>
              <a:t>보험료 </a:t>
            </a:r>
            <a:r>
              <a:rPr lang="en-US" altLang="ko-KR" dirty="0"/>
              <a:t>-&gt; </a:t>
            </a:r>
            <a:r>
              <a:rPr lang="ko-KR" altLang="en-US" dirty="0"/>
              <a:t>기금 </a:t>
            </a:r>
            <a:r>
              <a:rPr lang="en-US" altLang="ko-KR" dirty="0"/>
              <a:t>-&gt; </a:t>
            </a:r>
            <a:r>
              <a:rPr lang="ko-KR" altLang="en-US" dirty="0"/>
              <a:t>연금 지급</a:t>
            </a:r>
            <a:endParaRPr lang="en-US" altLang="ko-KR" dirty="0"/>
          </a:p>
          <a:p>
            <a:pPr lvl="2"/>
            <a:r>
              <a:rPr lang="ko-KR" altLang="en-US" dirty="0"/>
              <a:t>적립식 장점</a:t>
            </a:r>
            <a:endParaRPr lang="en-US" altLang="ko-KR" dirty="0"/>
          </a:p>
          <a:p>
            <a:pPr lvl="3"/>
            <a:r>
              <a:rPr lang="ko-KR" altLang="en-US" dirty="0"/>
              <a:t>심리적 거부 적음 </a:t>
            </a:r>
            <a:r>
              <a:rPr lang="en-US" altLang="ko-KR" dirty="0"/>
              <a:t>: </a:t>
            </a:r>
            <a:r>
              <a:rPr lang="ko-KR" altLang="en-US" dirty="0"/>
              <a:t>본인 돈을 나중에 찾음</a:t>
            </a:r>
            <a:endParaRPr lang="en-US" altLang="ko-KR" dirty="0"/>
          </a:p>
          <a:p>
            <a:pPr lvl="3"/>
            <a:r>
              <a:rPr lang="ko-KR" altLang="en-US" dirty="0"/>
              <a:t>지불 능력이 높음</a:t>
            </a:r>
            <a:endParaRPr lang="en-US" altLang="ko-KR" dirty="0"/>
          </a:p>
          <a:p>
            <a:pPr lvl="3"/>
            <a:r>
              <a:rPr lang="ko-KR" altLang="en-US" dirty="0"/>
              <a:t>고령화 </a:t>
            </a:r>
            <a:r>
              <a:rPr lang="en-US" altLang="ko-KR" dirty="0"/>
              <a:t>-&gt; </a:t>
            </a:r>
            <a:r>
              <a:rPr lang="ko-KR" altLang="en-US" dirty="0"/>
              <a:t>기금이 완충작용</a:t>
            </a:r>
            <a:endParaRPr lang="en-US" altLang="ko-KR" dirty="0"/>
          </a:p>
          <a:p>
            <a:pPr lvl="1"/>
            <a:r>
              <a:rPr lang="ko-KR" altLang="en-US" dirty="0"/>
              <a:t>부과 </a:t>
            </a:r>
            <a:r>
              <a:rPr lang="en-US" altLang="ko-KR" dirty="0"/>
              <a:t>: </a:t>
            </a:r>
            <a:r>
              <a:rPr lang="ko-KR" altLang="en-US" dirty="0"/>
              <a:t>일하는 사람한테 거둔 세금 </a:t>
            </a:r>
            <a:r>
              <a:rPr lang="en-US" altLang="ko-KR" dirty="0"/>
              <a:t>-&gt; </a:t>
            </a:r>
            <a:r>
              <a:rPr lang="ko-KR" altLang="en-US" dirty="0"/>
              <a:t>은퇴자 연금 지급</a:t>
            </a:r>
            <a:endParaRPr lang="en-US" altLang="ko-KR" dirty="0"/>
          </a:p>
          <a:p>
            <a:pPr lvl="2"/>
            <a:r>
              <a:rPr lang="ko-KR" altLang="en-US" dirty="0"/>
              <a:t>부과식의 연금 수입과 지출 </a:t>
            </a:r>
            <a:r>
              <a:rPr lang="en-US" altLang="ko-KR" dirty="0"/>
              <a:t>= t * </a:t>
            </a:r>
            <a:r>
              <a:rPr lang="en-US" altLang="ko-KR" dirty="0" err="1"/>
              <a:t>Nw</a:t>
            </a:r>
            <a:r>
              <a:rPr lang="en-US" altLang="ko-KR" dirty="0"/>
              <a:t> * W = Nb * B -&gt; t = Nb/</a:t>
            </a:r>
            <a:r>
              <a:rPr lang="en-US" altLang="ko-KR" dirty="0" err="1"/>
              <a:t>Nw</a:t>
            </a:r>
            <a:r>
              <a:rPr lang="en-US" altLang="ko-KR" dirty="0"/>
              <a:t> * B/W</a:t>
            </a:r>
          </a:p>
          <a:p>
            <a:pPr lvl="2"/>
            <a:r>
              <a:rPr lang="ko-KR" altLang="en-US" dirty="0" err="1"/>
              <a:t>부과식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연금재정 위기</a:t>
            </a:r>
            <a:endParaRPr lang="en-US" altLang="ko-KR" dirty="0"/>
          </a:p>
          <a:p>
            <a:r>
              <a:rPr lang="ko-KR" altLang="en-US" dirty="0"/>
              <a:t>재분배적 요소</a:t>
            </a:r>
            <a:endParaRPr lang="en-US" altLang="ko-KR" dirty="0"/>
          </a:p>
          <a:p>
            <a:pPr lvl="1"/>
            <a:r>
              <a:rPr lang="ko-KR" altLang="en-US" dirty="0"/>
              <a:t>사회적 적합성</a:t>
            </a:r>
            <a:r>
              <a:rPr lang="en-US" altLang="ko-KR" dirty="0"/>
              <a:t>, </a:t>
            </a:r>
            <a:r>
              <a:rPr lang="ko-KR" altLang="en-US" dirty="0"/>
              <a:t>개인적 공평성의 기준</a:t>
            </a:r>
            <a:endParaRPr lang="en-US" altLang="ko-KR" dirty="0"/>
          </a:p>
          <a:p>
            <a:pPr lvl="1"/>
            <a:r>
              <a:rPr lang="ko-KR" altLang="en-US" dirty="0"/>
              <a:t>연금제도의 이해 </a:t>
            </a:r>
            <a:r>
              <a:rPr lang="en-US" altLang="ko-KR" dirty="0"/>
              <a:t>: </a:t>
            </a:r>
            <a:r>
              <a:rPr lang="ko-KR" altLang="en-US" dirty="0"/>
              <a:t>노후의 생계안정</a:t>
            </a:r>
            <a:r>
              <a:rPr lang="en-US" altLang="ko-KR" dirty="0"/>
              <a:t>, </a:t>
            </a:r>
            <a:r>
              <a:rPr lang="ko-KR" altLang="en-US" dirty="0"/>
              <a:t>세대의 소득격차 </a:t>
            </a:r>
            <a:r>
              <a:rPr lang="en-US" altLang="ko-KR" dirty="0"/>
              <a:t>X;</a:t>
            </a:r>
          </a:p>
          <a:p>
            <a:r>
              <a:rPr lang="ko-KR" altLang="en-US" dirty="0"/>
              <a:t>목적세</a:t>
            </a:r>
            <a:r>
              <a:rPr lang="en-US" altLang="ko-KR" dirty="0"/>
              <a:t> </a:t>
            </a:r>
            <a:r>
              <a:rPr lang="ko-KR" altLang="en-US" dirty="0"/>
              <a:t>부과의 필요성</a:t>
            </a:r>
            <a:endParaRPr lang="en-US" altLang="ko-KR" dirty="0"/>
          </a:p>
          <a:p>
            <a:pPr lvl="1"/>
            <a:r>
              <a:rPr lang="ko-KR" altLang="en-US" dirty="0"/>
              <a:t>국민연금제도의 재원 </a:t>
            </a:r>
            <a:r>
              <a:rPr lang="en-US" altLang="ko-KR" dirty="0"/>
              <a:t>: </a:t>
            </a:r>
            <a:r>
              <a:rPr lang="ko-KR" altLang="en-US" dirty="0"/>
              <a:t>목적세</a:t>
            </a:r>
            <a:r>
              <a:rPr lang="en-US" altLang="ko-KR" dirty="0"/>
              <a:t> = (</a:t>
            </a:r>
            <a:r>
              <a:rPr lang="ko-KR" altLang="en-US" dirty="0"/>
              <a:t>보험료</a:t>
            </a:r>
            <a:r>
              <a:rPr lang="en-US" altLang="ko-KR" dirty="0"/>
              <a:t>or </a:t>
            </a:r>
            <a:r>
              <a:rPr lang="ko-KR" altLang="en-US" dirty="0"/>
              <a:t>사회보장세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일반 지출과의 구별</a:t>
            </a:r>
            <a:r>
              <a:rPr lang="en-US" altLang="ko-KR" dirty="0"/>
              <a:t>; </a:t>
            </a:r>
            <a:r>
              <a:rPr lang="ko-KR" altLang="en-US" dirty="0"/>
              <a:t>기존조세만으론 국민연금제도의 조달 어렵다</a:t>
            </a:r>
            <a:r>
              <a:rPr lang="en-US" altLang="ko-KR" dirty="0"/>
              <a:t>; 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과제</a:t>
            </a:r>
            <a:r>
              <a:rPr lang="en-US" altLang="ko-KR" dirty="0"/>
              <a:t>: </a:t>
            </a:r>
            <a:r>
              <a:rPr lang="ko-KR" altLang="en-US" dirty="0"/>
              <a:t>현황 문제점 개선방안과 대안</a:t>
            </a:r>
            <a:r>
              <a:rPr lang="en-US" altLang="ko-KR" dirty="0"/>
              <a:t>; </a:t>
            </a:r>
            <a:r>
              <a:rPr lang="ko-KR" altLang="en-US" dirty="0" err="1"/>
              <a:t>팀장팀원이</a:t>
            </a:r>
            <a:r>
              <a:rPr lang="ko-KR" altLang="en-US" dirty="0"/>
              <a:t> </a:t>
            </a:r>
            <a:r>
              <a:rPr lang="en-US" altLang="ko-KR" dirty="0"/>
              <a:t>ppt</a:t>
            </a:r>
            <a:r>
              <a:rPr lang="ko-KR" altLang="en-US" dirty="0"/>
              <a:t>로 발표 </a:t>
            </a:r>
            <a:r>
              <a:rPr lang="en-US" altLang="ko-KR" dirty="0"/>
              <a:t>&amp; </a:t>
            </a:r>
            <a:r>
              <a:rPr lang="ko-KR" altLang="en-US" dirty="0"/>
              <a:t>질의응답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220CD3-7F5F-9463-3056-C44D1FC3DEA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817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67F8386-0B54-40C3-9110-34D2C2B22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4A8117B-F8D2-7F3E-D4A0-0EC982E62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50842F-802A-E5F4-59B4-51B093E5DA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F0F698-5179-B924-119F-B1EBA46BD4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사회보험 개편안</a:t>
            </a:r>
            <a:endParaRPr lang="en-US" altLang="ko-KR" dirty="0"/>
          </a:p>
          <a:p>
            <a:pPr lvl="1"/>
            <a:r>
              <a:rPr lang="ko-KR" altLang="en-US" dirty="0"/>
              <a:t>고용형태 기반의 사회보험 </a:t>
            </a:r>
            <a:r>
              <a:rPr lang="en-US" altLang="ko-KR" dirty="0"/>
              <a:t>-&gt; </a:t>
            </a:r>
            <a:r>
              <a:rPr lang="ko-KR" altLang="en-US" dirty="0"/>
              <a:t>소득기반 사회보험으로 전환</a:t>
            </a:r>
            <a:endParaRPr lang="en-US" altLang="ko-KR" dirty="0"/>
          </a:p>
          <a:p>
            <a:pPr lvl="1"/>
            <a:r>
              <a:rPr lang="ko-KR" altLang="en-US" dirty="0"/>
              <a:t>임금노동자 중심의 고용보험제도 </a:t>
            </a:r>
            <a:r>
              <a:rPr lang="en-US" altLang="ko-KR" dirty="0"/>
              <a:t>-&gt; </a:t>
            </a:r>
            <a:r>
              <a:rPr lang="ko-KR" altLang="en-US" dirty="0"/>
              <a:t>소득기반 고용보험제도</a:t>
            </a:r>
            <a:endParaRPr lang="en-US" altLang="ko-KR" dirty="0"/>
          </a:p>
          <a:p>
            <a:pPr lvl="1"/>
            <a:r>
              <a:rPr lang="ko-KR" altLang="en-US" dirty="0"/>
              <a:t>건강보험 </a:t>
            </a:r>
            <a:r>
              <a:rPr lang="ko-KR" altLang="en-US" dirty="0" err="1"/>
              <a:t>법정료율</a:t>
            </a:r>
            <a:r>
              <a:rPr lang="ko-KR" altLang="en-US" dirty="0"/>
              <a:t> 상한에 대한 법 개정 논의 필요</a:t>
            </a:r>
            <a:endParaRPr lang="en-US" altLang="ko-KR" dirty="0"/>
          </a:p>
          <a:p>
            <a:pPr lvl="2"/>
            <a:r>
              <a:rPr lang="en-US" altLang="ko-KR" dirty="0"/>
              <a:t>2026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건강보험 법적 상한 </a:t>
            </a:r>
            <a:r>
              <a:rPr lang="en-US" altLang="ko-KR" dirty="0"/>
              <a:t>8%</a:t>
            </a:r>
          </a:p>
          <a:p>
            <a:r>
              <a:rPr lang="ko-KR" altLang="en-US" dirty="0"/>
              <a:t>국민연금 개편안</a:t>
            </a:r>
            <a:endParaRPr lang="en-US" altLang="ko-KR" dirty="0"/>
          </a:p>
          <a:p>
            <a:pPr lvl="1"/>
            <a:r>
              <a:rPr lang="ko-KR" altLang="en-US" dirty="0" err="1"/>
              <a:t>모수개혁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개별 연금제도를 개선</a:t>
            </a:r>
            <a:br>
              <a:rPr lang="en-US" altLang="ko-KR" dirty="0"/>
            </a:br>
            <a:r>
              <a:rPr lang="ko-KR" altLang="en-US" dirty="0"/>
              <a:t>구조개혁 </a:t>
            </a:r>
            <a:r>
              <a:rPr lang="en-US" altLang="ko-KR" dirty="0"/>
              <a:t>= </a:t>
            </a:r>
            <a:r>
              <a:rPr lang="ko-KR" altLang="en-US" dirty="0"/>
              <a:t>제도간 역할 분담을 재구조화</a:t>
            </a:r>
            <a:endParaRPr lang="en-US" altLang="ko-KR" dirty="0"/>
          </a:p>
          <a:p>
            <a:pPr lvl="2"/>
            <a:r>
              <a:rPr lang="en-US" altLang="ko-KR" dirty="0"/>
              <a:t>2055</a:t>
            </a:r>
            <a:r>
              <a:rPr lang="ko-KR" altLang="en-US" dirty="0"/>
              <a:t>년 연금 소진</a:t>
            </a:r>
            <a:r>
              <a:rPr lang="en-US" altLang="ko-KR" dirty="0"/>
              <a:t>; 2060</a:t>
            </a:r>
            <a:r>
              <a:rPr lang="ko-KR" altLang="en-US" dirty="0"/>
              <a:t>년 부과방식 </a:t>
            </a:r>
            <a:r>
              <a:rPr lang="ko-KR" altLang="en-US" dirty="0" err="1"/>
              <a:t>비용률은</a:t>
            </a:r>
            <a:r>
              <a:rPr lang="ko-KR" altLang="en-US" dirty="0"/>
              <a:t> 약 </a:t>
            </a:r>
            <a:r>
              <a:rPr lang="en-US" altLang="ko-KR" dirty="0"/>
              <a:t>30%</a:t>
            </a:r>
          </a:p>
          <a:p>
            <a:pPr lvl="1"/>
            <a:r>
              <a:rPr lang="ko-KR" altLang="en-US" dirty="0" err="1"/>
              <a:t>모수개혁의</a:t>
            </a:r>
            <a:r>
              <a:rPr lang="ko-KR" altLang="en-US" dirty="0"/>
              <a:t> 차원에서 보장성 강화 </a:t>
            </a:r>
            <a:r>
              <a:rPr lang="en-US" altLang="ko-KR" dirty="0"/>
              <a:t>&amp; </a:t>
            </a:r>
            <a:r>
              <a:rPr lang="ko-KR" altLang="en-US" dirty="0"/>
              <a:t>수입 확충</a:t>
            </a:r>
            <a:endParaRPr lang="en-US" altLang="ko-KR" dirty="0"/>
          </a:p>
          <a:p>
            <a:pPr lvl="2"/>
            <a:r>
              <a:rPr lang="ko-KR" altLang="en-US" dirty="0"/>
              <a:t>사각지대 축소 </a:t>
            </a:r>
            <a:r>
              <a:rPr lang="en-US" altLang="ko-KR" dirty="0"/>
              <a:t>&amp; </a:t>
            </a:r>
            <a:r>
              <a:rPr lang="ko-KR" altLang="en-US" dirty="0"/>
              <a:t>소득대체율 인상</a:t>
            </a:r>
            <a:endParaRPr lang="en-US" altLang="ko-KR" dirty="0"/>
          </a:p>
          <a:p>
            <a:pPr lvl="2"/>
            <a:r>
              <a:rPr lang="ko-KR" altLang="en-US" dirty="0"/>
              <a:t>보험료 부과대상 기반 확대</a:t>
            </a:r>
            <a:endParaRPr lang="en-US" altLang="ko-KR" dirty="0"/>
          </a:p>
          <a:p>
            <a:pPr lvl="2"/>
            <a:r>
              <a:rPr lang="ko-KR" altLang="en-US" dirty="0"/>
              <a:t>보험료율 인상 및 </a:t>
            </a:r>
            <a:r>
              <a:rPr lang="ko-KR" altLang="en-US" dirty="0" err="1"/>
              <a:t>누진성</a:t>
            </a:r>
            <a:r>
              <a:rPr lang="ko-KR" altLang="en-US" dirty="0"/>
              <a:t> 강화</a:t>
            </a:r>
            <a:r>
              <a:rPr lang="en-US" altLang="ko-KR" dirty="0"/>
              <a:t>(</a:t>
            </a:r>
            <a:r>
              <a:rPr lang="ko-KR" altLang="en-US" dirty="0"/>
              <a:t>급여의 상한설정 </a:t>
            </a:r>
            <a:r>
              <a:rPr lang="en-US" altLang="ko-KR" dirty="0"/>
              <a:t>: </a:t>
            </a:r>
            <a:r>
              <a:rPr lang="ko-KR" altLang="en-US" dirty="0" err="1"/>
              <a:t>받는거에</a:t>
            </a:r>
            <a:r>
              <a:rPr lang="ko-KR" altLang="en-US" dirty="0"/>
              <a:t> 최대값을 설정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구조개혁 방안</a:t>
            </a:r>
            <a:endParaRPr lang="en-US" altLang="ko-KR" dirty="0"/>
          </a:p>
          <a:p>
            <a:pPr lvl="2"/>
            <a:r>
              <a:rPr lang="ko-KR" altLang="en-US" dirty="0"/>
              <a:t>소득보장제도를 적절히 결합하는 방식 </a:t>
            </a:r>
            <a:r>
              <a:rPr lang="en-US" altLang="ko-KR" dirty="0"/>
              <a:t>+ </a:t>
            </a:r>
            <a:r>
              <a:rPr lang="ko-KR" altLang="en-US" dirty="0"/>
              <a:t>공적연금의 통합</a:t>
            </a:r>
            <a:endParaRPr lang="en-US" altLang="ko-KR" dirty="0"/>
          </a:p>
          <a:p>
            <a:r>
              <a:rPr lang="en-US" altLang="ko-KR" dirty="0"/>
              <a:t>2024 </a:t>
            </a:r>
            <a:r>
              <a:rPr lang="ko-KR" altLang="en-US" dirty="0"/>
              <a:t>연금개혁 쟁점</a:t>
            </a:r>
            <a:endParaRPr lang="en-US" altLang="ko-KR" dirty="0"/>
          </a:p>
          <a:p>
            <a:pPr lvl="1"/>
            <a:r>
              <a:rPr lang="ko-KR" altLang="en-US" dirty="0"/>
              <a:t>연금개혁안</a:t>
            </a:r>
            <a:endParaRPr lang="en-US" altLang="ko-KR" dirty="0"/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안</a:t>
            </a:r>
            <a:r>
              <a:rPr lang="en-US" altLang="ko-KR" dirty="0"/>
              <a:t>(</a:t>
            </a:r>
            <a:r>
              <a:rPr lang="ko-KR" altLang="en-US" dirty="0"/>
              <a:t>소득보장론</a:t>
            </a:r>
            <a:r>
              <a:rPr lang="en-US" altLang="ko-KR" dirty="0"/>
              <a:t>) : </a:t>
            </a:r>
            <a:r>
              <a:rPr lang="ko-KR" altLang="en-US" dirty="0"/>
              <a:t>연금보험료율 </a:t>
            </a:r>
            <a:r>
              <a:rPr lang="en-US" altLang="ko-KR" dirty="0"/>
              <a:t>13%, </a:t>
            </a:r>
            <a:r>
              <a:rPr lang="ko-KR" altLang="en-US" dirty="0"/>
              <a:t>소득대체율 </a:t>
            </a:r>
            <a:r>
              <a:rPr lang="en-US" altLang="ko-KR" dirty="0"/>
              <a:t>50%</a:t>
            </a:r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안</a:t>
            </a:r>
            <a:r>
              <a:rPr lang="en-US" altLang="ko-KR" dirty="0"/>
              <a:t>(</a:t>
            </a:r>
            <a:r>
              <a:rPr lang="ko-KR" altLang="en-US" dirty="0"/>
              <a:t>재정안정론</a:t>
            </a:r>
            <a:r>
              <a:rPr lang="en-US" altLang="ko-KR" dirty="0"/>
              <a:t>) : </a:t>
            </a:r>
            <a:r>
              <a:rPr lang="ko-KR" altLang="en-US" dirty="0"/>
              <a:t>연금보험료율 </a:t>
            </a:r>
            <a:r>
              <a:rPr lang="en-US" altLang="ko-KR" dirty="0"/>
              <a:t>12%, </a:t>
            </a:r>
            <a:r>
              <a:rPr lang="ko-KR" altLang="en-US" dirty="0"/>
              <a:t>소득대체율 </a:t>
            </a:r>
            <a:r>
              <a:rPr lang="en-US" altLang="ko-KR" dirty="0"/>
              <a:t>40%</a:t>
            </a:r>
          </a:p>
          <a:p>
            <a:pPr lvl="1"/>
            <a:r>
              <a:rPr lang="ko-KR" altLang="en-US" dirty="0"/>
              <a:t>논의 진행</a:t>
            </a:r>
            <a:endParaRPr lang="en-US" altLang="ko-KR" dirty="0"/>
          </a:p>
          <a:p>
            <a:pPr lvl="2"/>
            <a:r>
              <a:rPr lang="ko-KR" altLang="en-US" dirty="0"/>
              <a:t>시민대표단 과반은 </a:t>
            </a:r>
            <a:r>
              <a:rPr lang="en-US" altLang="ko-KR" dirty="0"/>
              <a:t>1</a:t>
            </a:r>
            <a:r>
              <a:rPr lang="ko-KR" altLang="en-US" dirty="0"/>
              <a:t>안 </a:t>
            </a:r>
            <a:r>
              <a:rPr lang="en-US" altLang="ko-KR" dirty="0"/>
              <a:t>; </a:t>
            </a:r>
            <a:r>
              <a:rPr lang="ko-KR" altLang="en-US" dirty="0"/>
              <a:t>국회 연금개혁특위는 </a:t>
            </a:r>
            <a:r>
              <a:rPr lang="en-US" altLang="ko-KR" dirty="0"/>
              <a:t>13%</a:t>
            </a:r>
            <a:r>
              <a:rPr lang="ko-KR" altLang="en-US" dirty="0"/>
              <a:t>에는 찬성</a:t>
            </a:r>
            <a:r>
              <a:rPr lang="en-US" altLang="ko-KR" dirty="0"/>
              <a:t>, but, </a:t>
            </a:r>
            <a:r>
              <a:rPr lang="ko-KR" altLang="en-US" dirty="0"/>
              <a:t>소득대체율은 반대</a:t>
            </a:r>
            <a:endParaRPr lang="en-US" altLang="ko-KR" dirty="0"/>
          </a:p>
          <a:p>
            <a:pPr lvl="1"/>
            <a:r>
              <a:rPr lang="ko-KR" altLang="en-US" dirty="0"/>
              <a:t>연금보험료와 소득대체율 대안</a:t>
            </a:r>
            <a:endParaRPr lang="en-US" altLang="ko-KR" dirty="0"/>
          </a:p>
          <a:p>
            <a:pPr lvl="2"/>
            <a:r>
              <a:rPr lang="ko-KR" altLang="en-US" dirty="0"/>
              <a:t>소득보장 </a:t>
            </a:r>
            <a:r>
              <a:rPr lang="en-US" altLang="ko-KR" dirty="0"/>
              <a:t>&amp; </a:t>
            </a:r>
            <a:r>
              <a:rPr lang="ko-KR" altLang="en-US" dirty="0"/>
              <a:t>재정안정을 위해 소득대체율 </a:t>
            </a:r>
            <a:r>
              <a:rPr lang="en-US" altLang="ko-KR" dirty="0"/>
              <a:t>50%, </a:t>
            </a:r>
            <a:r>
              <a:rPr lang="ko-KR" altLang="en-US" dirty="0"/>
              <a:t>보험료율 </a:t>
            </a:r>
            <a:r>
              <a:rPr lang="en-US" altLang="ko-KR" dirty="0"/>
              <a:t>15%;</a:t>
            </a:r>
          </a:p>
          <a:p>
            <a:pPr lvl="2"/>
            <a:r>
              <a:rPr lang="ko-KR" altLang="en-US" dirty="0"/>
              <a:t>영세자영업자 </a:t>
            </a:r>
            <a:r>
              <a:rPr lang="en-US" altLang="ko-KR" dirty="0"/>
              <a:t>&amp; </a:t>
            </a:r>
            <a:r>
              <a:rPr lang="ko-KR" altLang="en-US" dirty="0"/>
              <a:t>취약계층 보험료 지원</a:t>
            </a:r>
            <a:endParaRPr lang="en-US" altLang="ko-KR" dirty="0"/>
          </a:p>
          <a:p>
            <a:pPr lvl="2"/>
            <a:r>
              <a:rPr lang="ko-KR" altLang="en-US" dirty="0"/>
              <a:t>보험료 부과대상 기반의 확대와 고용주의 보험료 부담비율 상향조정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E851BE-0DAA-8EEA-AA81-447850DE58D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73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2EB1644-6FC8-5D1B-004D-E9BD7AB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5D52844-F51E-5714-C90F-F88B0B6E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DB1016-499A-1EDE-74D4-F68FAE33B0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F5E9520-7619-D763-EC16-DE8FB05A17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국민연금논의</a:t>
            </a:r>
            <a:endParaRPr lang="en-US" altLang="ko-KR" dirty="0"/>
          </a:p>
          <a:p>
            <a:pPr lvl="1"/>
            <a:r>
              <a:rPr lang="ko-KR" altLang="en-US" dirty="0"/>
              <a:t>재정지속성에 문제</a:t>
            </a:r>
            <a:endParaRPr lang="en-US" altLang="ko-KR" dirty="0"/>
          </a:p>
          <a:p>
            <a:pPr lvl="1"/>
            <a:r>
              <a:rPr lang="ko-KR" altLang="en-US" dirty="0"/>
              <a:t>현재 소득대체율로는 노후소득 부족</a:t>
            </a:r>
            <a:endParaRPr lang="en-US" altLang="ko-KR" dirty="0"/>
          </a:p>
          <a:p>
            <a:r>
              <a:rPr lang="ko-KR" altLang="en-US" dirty="0"/>
              <a:t>재정지속성과 소득대체율</a:t>
            </a:r>
            <a:endParaRPr lang="en-US" altLang="ko-KR" dirty="0"/>
          </a:p>
          <a:p>
            <a:r>
              <a:rPr lang="ko-KR" altLang="en-US" dirty="0"/>
              <a:t>연금제도에 대한 국민의식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FD8C15-9678-6654-7C26-94962C95018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38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8375281-6A3C-D205-3F2F-5E690FD1D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8E18BD1-A72A-FF1B-BB17-13EB35AB2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A2CCA6-1C11-50A5-B678-8E6544B7A9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5619D2A-3E0F-4EA3-29C8-280F4CA349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재정자립도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6E6EF3-5521-42A2-8BB1-0B95160132A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142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D529834-16CA-AEDF-9B35-26D8908BA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94EEB27-51FD-5CAE-59BC-69B8D43F1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D84781-D7EF-B286-4FE8-4581DC00CE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4136B0C-4FBD-5C4B-7586-4D05CB8AB1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국민건강보험</a:t>
            </a:r>
            <a:endParaRPr lang="en-US" altLang="ko-KR" dirty="0"/>
          </a:p>
          <a:p>
            <a:pPr lvl="1"/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의료보장기능</a:t>
            </a:r>
            <a:r>
              <a:rPr lang="en-US" altLang="ko-KR" dirty="0"/>
              <a:t>, </a:t>
            </a:r>
            <a:r>
              <a:rPr lang="ko-KR" altLang="en-US" dirty="0"/>
              <a:t>사회적 연대기능</a:t>
            </a:r>
            <a:r>
              <a:rPr lang="en-US" altLang="ko-KR" dirty="0"/>
              <a:t>, </a:t>
            </a:r>
            <a:r>
              <a:rPr lang="ko-KR" altLang="en-US" dirty="0"/>
              <a:t>소득재분배 기능</a:t>
            </a:r>
            <a:endParaRPr lang="en-US" altLang="ko-KR" dirty="0"/>
          </a:p>
          <a:p>
            <a:pPr lvl="1"/>
            <a:r>
              <a:rPr lang="ko-KR" altLang="en-US" dirty="0"/>
              <a:t>배경 </a:t>
            </a:r>
            <a:r>
              <a:rPr lang="en-US" altLang="ko-KR" dirty="0"/>
              <a:t>: </a:t>
            </a:r>
            <a:r>
              <a:rPr lang="ko-KR" altLang="en-US" dirty="0"/>
              <a:t>의료보험법 </a:t>
            </a:r>
            <a:r>
              <a:rPr lang="en-US" altLang="ko-KR" dirty="0"/>
              <a:t>-&gt; </a:t>
            </a:r>
            <a:r>
              <a:rPr lang="ko-KR" altLang="en-US" dirty="0"/>
              <a:t>의료보험 </a:t>
            </a:r>
            <a:endParaRPr lang="en-US" altLang="ko-KR" dirty="0"/>
          </a:p>
          <a:p>
            <a:pPr lvl="1"/>
            <a:r>
              <a:rPr lang="ko-KR" altLang="en-US" dirty="0"/>
              <a:t>직장가입자 </a:t>
            </a:r>
            <a:r>
              <a:rPr lang="en-US" altLang="ko-KR" dirty="0"/>
              <a:t>: </a:t>
            </a:r>
            <a:r>
              <a:rPr lang="ko-KR" altLang="en-US" dirty="0"/>
              <a:t>사업자와 고용자 반반씩</a:t>
            </a:r>
            <a:r>
              <a:rPr lang="en-US" altLang="ko-KR" dirty="0"/>
              <a:t>; </a:t>
            </a:r>
            <a:r>
              <a:rPr lang="ko-KR" altLang="en-US" dirty="0"/>
              <a:t>지역가입자 </a:t>
            </a:r>
            <a:r>
              <a:rPr lang="en-US" altLang="ko-KR" dirty="0"/>
              <a:t>= </a:t>
            </a:r>
            <a:r>
              <a:rPr lang="ko-KR" altLang="en-US" dirty="0"/>
              <a:t>본인전액부담</a:t>
            </a:r>
            <a:endParaRPr lang="en-US" altLang="ko-KR" dirty="0"/>
          </a:p>
          <a:p>
            <a:r>
              <a:rPr lang="ko-KR" altLang="en-US" dirty="0"/>
              <a:t>국민건강보험</a:t>
            </a:r>
            <a:r>
              <a:rPr lang="en-US" altLang="ko-KR" dirty="0"/>
              <a:t>(NHI) vs</a:t>
            </a:r>
            <a:r>
              <a:rPr lang="ko-KR" altLang="en-US" dirty="0"/>
              <a:t> 국민보건서비스</a:t>
            </a:r>
            <a:r>
              <a:rPr lang="en-US" altLang="ko-KR" dirty="0"/>
              <a:t>(NHS)</a:t>
            </a:r>
          </a:p>
          <a:p>
            <a:pPr lvl="1"/>
            <a:r>
              <a:rPr lang="en-US" altLang="ko-KR" dirty="0"/>
              <a:t>NHI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보험료를 재원 </a:t>
            </a:r>
            <a:r>
              <a:rPr lang="en-US" altLang="ko-KR" dirty="0"/>
              <a:t>-&gt; </a:t>
            </a:r>
            <a:r>
              <a:rPr lang="ko-KR" altLang="en-US" dirty="0"/>
              <a:t>국가가 국민</a:t>
            </a:r>
            <a:r>
              <a:rPr lang="en-US" altLang="ko-KR" dirty="0"/>
              <a:t>/</a:t>
            </a:r>
            <a:r>
              <a:rPr lang="ko-KR" altLang="en-US" dirty="0"/>
              <a:t>의료 기관에 보험급여 지급</a:t>
            </a:r>
            <a:endParaRPr lang="en-US" altLang="ko-KR" dirty="0"/>
          </a:p>
          <a:p>
            <a:pPr lvl="1"/>
            <a:r>
              <a:rPr lang="en-US" altLang="ko-KR" dirty="0"/>
              <a:t>NHS: </a:t>
            </a:r>
            <a:r>
              <a:rPr lang="ko-KR" altLang="en-US" dirty="0"/>
              <a:t>세금에서 재원조달</a:t>
            </a:r>
            <a:endParaRPr lang="en-US" altLang="ko-KR" dirty="0"/>
          </a:p>
          <a:p>
            <a:r>
              <a:rPr lang="ko-KR" altLang="en-US" dirty="0"/>
              <a:t>가입대상</a:t>
            </a:r>
            <a:endParaRPr lang="en-US" altLang="ko-KR" dirty="0"/>
          </a:p>
          <a:p>
            <a:pPr lvl="1"/>
            <a:r>
              <a:rPr lang="ko-KR" altLang="en-US" dirty="0"/>
              <a:t>모든 국민은 가입자 </a:t>
            </a:r>
            <a:r>
              <a:rPr lang="en-US" altLang="ko-KR" dirty="0"/>
              <a:t>or </a:t>
            </a:r>
            <a:r>
              <a:rPr lang="ko-KR" altLang="en-US" dirty="0"/>
              <a:t>피부양자</a:t>
            </a:r>
            <a:endParaRPr lang="en-US" altLang="ko-KR" dirty="0"/>
          </a:p>
          <a:p>
            <a:r>
              <a:rPr lang="ko-KR" altLang="en-US" dirty="0"/>
              <a:t>가입자의 종류</a:t>
            </a:r>
            <a:endParaRPr lang="en-US" altLang="ko-KR" dirty="0"/>
          </a:p>
          <a:p>
            <a:pPr lvl="1"/>
            <a:r>
              <a:rPr lang="ko-KR" altLang="en-US" dirty="0"/>
              <a:t>직장가입자 </a:t>
            </a:r>
            <a:r>
              <a:rPr lang="en-US" altLang="ko-KR" dirty="0"/>
              <a:t>: </a:t>
            </a:r>
            <a:r>
              <a:rPr lang="ko-KR" altLang="en-US" dirty="0"/>
              <a:t>사업장의 노동자</a:t>
            </a:r>
            <a:r>
              <a:rPr lang="en-US" altLang="ko-KR" dirty="0"/>
              <a:t>/</a:t>
            </a:r>
            <a:r>
              <a:rPr lang="ko-KR" altLang="en-US" dirty="0"/>
              <a:t>사용자</a:t>
            </a:r>
            <a:r>
              <a:rPr lang="en-US" altLang="ko-KR" dirty="0"/>
              <a:t>, </a:t>
            </a:r>
            <a:r>
              <a:rPr lang="ko-KR" altLang="en-US" dirty="0"/>
              <a:t>공무원</a:t>
            </a:r>
            <a:r>
              <a:rPr lang="en-US" altLang="ko-KR" dirty="0"/>
              <a:t>,</a:t>
            </a:r>
            <a:r>
              <a:rPr lang="ko-KR" altLang="en-US" dirty="0"/>
              <a:t> 교직원 그 피부양자</a:t>
            </a:r>
            <a:endParaRPr lang="en-US" altLang="ko-KR" dirty="0"/>
          </a:p>
          <a:p>
            <a:pPr lvl="1"/>
            <a:r>
              <a:rPr lang="ko-KR" altLang="en-US" dirty="0"/>
              <a:t>지역가입자 </a:t>
            </a:r>
            <a:r>
              <a:rPr lang="en-US" altLang="ko-KR" dirty="0"/>
              <a:t>: </a:t>
            </a:r>
            <a:r>
              <a:rPr lang="ko-KR" altLang="en-US" dirty="0"/>
              <a:t>직장가입자와 피부양자를 제외한 가입자</a:t>
            </a:r>
            <a:endParaRPr lang="en-US" altLang="ko-KR" dirty="0"/>
          </a:p>
          <a:p>
            <a:r>
              <a:rPr lang="ko-KR" altLang="en-US" dirty="0"/>
              <a:t>급여의 종류</a:t>
            </a:r>
            <a:endParaRPr lang="en-US" altLang="ko-KR" dirty="0"/>
          </a:p>
          <a:p>
            <a:pPr lvl="1"/>
            <a:r>
              <a:rPr lang="ko-KR" altLang="en-US" dirty="0"/>
              <a:t>요양급여 </a:t>
            </a:r>
            <a:r>
              <a:rPr lang="en-US" altLang="ko-KR" dirty="0"/>
              <a:t>: </a:t>
            </a:r>
            <a:r>
              <a:rPr lang="ko-KR" altLang="en-US" dirty="0"/>
              <a:t>질병</a:t>
            </a:r>
            <a:r>
              <a:rPr lang="en-US" altLang="ko-KR" dirty="0"/>
              <a:t>/</a:t>
            </a:r>
            <a:r>
              <a:rPr lang="ko-KR" altLang="en-US" dirty="0"/>
              <a:t>부상</a:t>
            </a:r>
            <a:r>
              <a:rPr lang="en-US" altLang="ko-KR" dirty="0"/>
              <a:t>/</a:t>
            </a:r>
            <a:r>
              <a:rPr lang="ko-KR" altLang="en-US" dirty="0" err="1"/>
              <a:t>출산등에</a:t>
            </a:r>
            <a:r>
              <a:rPr lang="ko-KR" altLang="en-US" dirty="0"/>
              <a:t> 대해 요양기관이 실시하는 의료서비스</a:t>
            </a:r>
            <a:r>
              <a:rPr lang="en-US" altLang="ko-KR" dirty="0"/>
              <a:t>; </a:t>
            </a:r>
            <a:r>
              <a:rPr lang="ko-KR" altLang="en-US" dirty="0"/>
              <a:t>현물급여</a:t>
            </a:r>
            <a:endParaRPr lang="en-US" altLang="ko-KR" dirty="0"/>
          </a:p>
          <a:p>
            <a:pPr lvl="1"/>
            <a:r>
              <a:rPr lang="ko-KR" altLang="en-US" dirty="0" err="1"/>
              <a:t>요양비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요양기관과 유사한 기능을 하는 곳에서 요양을 받을 경우</a:t>
            </a:r>
            <a:r>
              <a:rPr lang="en-US" altLang="ko-KR" dirty="0"/>
              <a:t>; </a:t>
            </a:r>
            <a:r>
              <a:rPr lang="ko-KR" altLang="en-US" dirty="0"/>
              <a:t>현금급여</a:t>
            </a:r>
            <a:endParaRPr lang="en-US" altLang="ko-KR" dirty="0"/>
          </a:p>
          <a:p>
            <a:pPr lvl="1"/>
            <a:r>
              <a:rPr lang="ko-KR" altLang="en-US" dirty="0"/>
              <a:t>건강검진 </a:t>
            </a:r>
            <a:r>
              <a:rPr lang="en-US" altLang="ko-KR" dirty="0"/>
              <a:t>: </a:t>
            </a:r>
            <a:r>
              <a:rPr lang="ko-KR" altLang="en-US" dirty="0"/>
              <a:t>현물급여</a:t>
            </a:r>
            <a:endParaRPr lang="en-US" altLang="ko-KR" dirty="0"/>
          </a:p>
          <a:p>
            <a:pPr lvl="1"/>
            <a:r>
              <a:rPr lang="ko-KR" altLang="en-US" dirty="0"/>
              <a:t>부가급여 </a:t>
            </a:r>
            <a:r>
              <a:rPr lang="en-US" altLang="ko-KR" dirty="0"/>
              <a:t>: </a:t>
            </a:r>
            <a:r>
              <a:rPr lang="ko-KR" altLang="en-US" dirty="0"/>
              <a:t>임산부 </a:t>
            </a:r>
            <a:r>
              <a:rPr lang="en-US" altLang="ko-KR" dirty="0"/>
              <a:t>-&gt; </a:t>
            </a:r>
            <a:r>
              <a:rPr lang="ko-KR" altLang="en-US" dirty="0"/>
              <a:t>임신</a:t>
            </a:r>
            <a:r>
              <a:rPr lang="en-US" altLang="ko-KR" dirty="0"/>
              <a:t>/</a:t>
            </a:r>
            <a:r>
              <a:rPr lang="ko-KR" altLang="en-US" dirty="0"/>
              <a:t>출산에 관한 진료비 </a:t>
            </a:r>
            <a:r>
              <a:rPr lang="en-US" altLang="ko-KR" dirty="0"/>
              <a:t>(</a:t>
            </a:r>
            <a:r>
              <a:rPr lang="ko-KR" altLang="en-US" dirty="0"/>
              <a:t>이용권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장애인보장구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본인일부부담금 및 본인부담상한제</a:t>
            </a:r>
            <a:endParaRPr lang="en-US" altLang="ko-KR" dirty="0"/>
          </a:p>
          <a:p>
            <a:pPr lvl="1"/>
            <a:r>
              <a:rPr lang="ko-KR" altLang="en-US" dirty="0"/>
              <a:t>본인일부부담금 </a:t>
            </a:r>
            <a:r>
              <a:rPr lang="en-US" altLang="ko-KR" dirty="0"/>
              <a:t>: </a:t>
            </a:r>
            <a:r>
              <a:rPr lang="ko-KR" altLang="en-US" dirty="0"/>
              <a:t>자가비용의 일부 부담</a:t>
            </a:r>
            <a:endParaRPr lang="en-US" altLang="ko-KR" dirty="0"/>
          </a:p>
          <a:p>
            <a:pPr lvl="2"/>
            <a:r>
              <a:rPr lang="ko-KR" altLang="en-US" dirty="0"/>
              <a:t>남용억제</a:t>
            </a:r>
            <a:r>
              <a:rPr lang="en-US" altLang="ko-KR" dirty="0"/>
              <a:t>, </a:t>
            </a:r>
            <a:r>
              <a:rPr lang="ko-KR" altLang="en-US" dirty="0"/>
              <a:t>수익자</a:t>
            </a:r>
            <a:r>
              <a:rPr lang="en-US" altLang="ko-KR" dirty="0"/>
              <a:t>/</a:t>
            </a:r>
            <a:r>
              <a:rPr lang="ko-KR" altLang="en-US" dirty="0"/>
              <a:t>비수익자간 형평</a:t>
            </a:r>
            <a:r>
              <a:rPr lang="en-US" altLang="ko-KR" dirty="0"/>
              <a:t>, </a:t>
            </a:r>
          </a:p>
          <a:p>
            <a:pPr lvl="2"/>
            <a:r>
              <a:rPr lang="en-US" altLang="ko-KR" dirty="0"/>
              <a:t>6</a:t>
            </a:r>
            <a:r>
              <a:rPr lang="ko-KR" altLang="en-US" dirty="0"/>
              <a:t>세미만 </a:t>
            </a:r>
            <a:r>
              <a:rPr lang="en-US" altLang="ko-KR" dirty="0"/>
              <a:t>= </a:t>
            </a:r>
            <a:r>
              <a:rPr lang="ko-KR" altLang="en-US" dirty="0"/>
              <a:t>총액의 </a:t>
            </a:r>
            <a:r>
              <a:rPr lang="en-US" altLang="ko-KR" dirty="0"/>
              <a:t>10%, </a:t>
            </a:r>
            <a:r>
              <a:rPr lang="ko-KR" altLang="en-US" dirty="0"/>
              <a:t>외래 </a:t>
            </a:r>
            <a:r>
              <a:rPr lang="en-US" altLang="ko-KR" dirty="0"/>
              <a:t>= </a:t>
            </a:r>
            <a:r>
              <a:rPr lang="ko-KR" altLang="en-US" dirty="0" err="1"/>
              <a:t>본인부담률의</a:t>
            </a:r>
            <a:r>
              <a:rPr lang="ko-KR" altLang="en-US" dirty="0"/>
              <a:t> </a:t>
            </a:r>
            <a:r>
              <a:rPr lang="en-US" altLang="ko-KR" dirty="0"/>
              <a:t>70%</a:t>
            </a:r>
          </a:p>
          <a:p>
            <a:r>
              <a:rPr lang="ko-KR" altLang="en-US" dirty="0"/>
              <a:t>진료비지불방식</a:t>
            </a:r>
            <a:endParaRPr lang="en-US" altLang="ko-KR" dirty="0"/>
          </a:p>
          <a:p>
            <a:pPr lvl="1"/>
            <a:r>
              <a:rPr lang="ko-KR" altLang="en-US" dirty="0"/>
              <a:t>행위별 </a:t>
            </a:r>
            <a:r>
              <a:rPr lang="ko-KR" altLang="en-US" dirty="0" err="1"/>
              <a:t>수가제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개별의료행위마다 가격지불</a:t>
            </a:r>
            <a:endParaRPr lang="en-US" altLang="ko-KR" dirty="0"/>
          </a:p>
          <a:p>
            <a:pPr lvl="1"/>
            <a:r>
              <a:rPr lang="ko-KR" altLang="en-US" dirty="0"/>
              <a:t>포괄수가제 </a:t>
            </a:r>
            <a:r>
              <a:rPr lang="en-US" altLang="ko-KR" dirty="0"/>
              <a:t>: </a:t>
            </a:r>
            <a:r>
              <a:rPr lang="ko-KR" altLang="en-US" dirty="0"/>
              <a:t>질병군에 따라 표준화된 </a:t>
            </a:r>
            <a:r>
              <a:rPr lang="ko-KR" altLang="en-US" dirty="0" err="1"/>
              <a:t>질효비를</a:t>
            </a:r>
            <a:r>
              <a:rPr lang="ko-KR" altLang="en-US" dirty="0"/>
              <a:t> 의료기관에 지급</a:t>
            </a:r>
            <a:endParaRPr lang="en-US" altLang="ko-KR" dirty="0"/>
          </a:p>
          <a:p>
            <a:pPr lvl="1"/>
            <a:r>
              <a:rPr lang="ko-KR" altLang="en-US" dirty="0"/>
              <a:t>우리나라 </a:t>
            </a:r>
            <a:r>
              <a:rPr lang="en-US" altLang="ko-KR" dirty="0"/>
              <a:t>= </a:t>
            </a:r>
            <a:r>
              <a:rPr lang="ko-KR" altLang="en-US" dirty="0" err="1"/>
              <a:t>행위별수가제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포괄수가제</a:t>
            </a:r>
            <a:r>
              <a:rPr lang="en-US" altLang="ko-KR" dirty="0"/>
              <a:t>(</a:t>
            </a:r>
            <a:r>
              <a:rPr lang="ko-KR" altLang="en-US" dirty="0"/>
              <a:t>일부</a:t>
            </a:r>
            <a:r>
              <a:rPr lang="en-US" altLang="ko-KR" dirty="0"/>
              <a:t>); 2009</a:t>
            </a:r>
            <a:r>
              <a:rPr lang="ko-KR" altLang="en-US" dirty="0"/>
              <a:t>년부터 신포괄수가제</a:t>
            </a:r>
            <a:endParaRPr lang="en-US" altLang="ko-KR" dirty="0"/>
          </a:p>
          <a:p>
            <a:r>
              <a:rPr lang="ko-KR" altLang="en-US" dirty="0"/>
              <a:t>재정</a:t>
            </a:r>
            <a:endParaRPr lang="en-US" altLang="ko-KR" dirty="0"/>
          </a:p>
          <a:p>
            <a:pPr lvl="1"/>
            <a:r>
              <a:rPr lang="ko-KR" altLang="en-US" dirty="0"/>
              <a:t>급여비율 </a:t>
            </a:r>
            <a:r>
              <a:rPr lang="en-US" altLang="ko-KR" dirty="0"/>
              <a:t>100%</a:t>
            </a:r>
            <a:r>
              <a:rPr lang="ko-KR" altLang="en-US" dirty="0"/>
              <a:t>의 이상이면 수입</a:t>
            </a:r>
            <a:r>
              <a:rPr lang="en-US" altLang="ko-KR" dirty="0"/>
              <a:t>&lt;</a:t>
            </a:r>
            <a:r>
              <a:rPr lang="ko-KR" altLang="en-US" dirty="0"/>
              <a:t>지출</a:t>
            </a:r>
            <a:endParaRPr lang="en-US" altLang="ko-KR" dirty="0"/>
          </a:p>
          <a:p>
            <a:pPr lvl="1"/>
            <a:r>
              <a:rPr lang="ko-KR" altLang="en-US" dirty="0"/>
              <a:t>정부재정지원 </a:t>
            </a:r>
            <a:r>
              <a:rPr lang="en-US" altLang="ko-KR" dirty="0"/>
              <a:t>: </a:t>
            </a:r>
            <a:r>
              <a:rPr lang="ko-KR" altLang="en-US" dirty="0"/>
              <a:t>보험료 예상수입의 </a:t>
            </a:r>
            <a:r>
              <a:rPr lang="en-US" altLang="ko-KR" dirty="0"/>
              <a:t>14%</a:t>
            </a:r>
            <a:r>
              <a:rPr lang="ko-KR" altLang="en-US" dirty="0"/>
              <a:t>에 달하는 금액을 국고에서 지원함 </a:t>
            </a:r>
            <a:r>
              <a:rPr lang="en-US" altLang="ko-KR" dirty="0"/>
              <a:t>+ </a:t>
            </a:r>
            <a:r>
              <a:rPr lang="ko-KR" altLang="en-US" dirty="0"/>
              <a:t>국민건강증진기금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44A045-9C45-BDE2-DBBC-D170C7E6EE5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853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B3DD87-5189-9AE3-8C79-2B48CA3B70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129B19C-CBA2-0FE9-FA23-DBE81C84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7296F3-5356-AB08-2A22-679EC4E5C2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881C5D-49E9-BF0E-5017-4A4B97E533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운영체계</a:t>
            </a:r>
            <a:endParaRPr lang="en-US" altLang="ko-KR" dirty="0"/>
          </a:p>
          <a:p>
            <a:pPr lvl="1"/>
            <a:r>
              <a:rPr lang="ko-KR" altLang="en-US" dirty="0"/>
              <a:t>보건복지부</a:t>
            </a:r>
            <a:endParaRPr lang="en-US" altLang="ko-KR" dirty="0"/>
          </a:p>
          <a:p>
            <a:pPr lvl="2"/>
            <a:r>
              <a:rPr lang="ko-KR" altLang="en-US" dirty="0" err="1"/>
              <a:t>건보제도의</a:t>
            </a:r>
            <a:r>
              <a:rPr lang="ko-KR" altLang="en-US" dirty="0"/>
              <a:t> 운영을 담당</a:t>
            </a:r>
            <a:endParaRPr lang="en-US" altLang="ko-KR" dirty="0"/>
          </a:p>
          <a:p>
            <a:pPr lvl="1"/>
            <a:r>
              <a:rPr lang="ko-KR" altLang="en-US" dirty="0"/>
              <a:t>국민건강보험공단</a:t>
            </a:r>
            <a:endParaRPr lang="en-US" altLang="ko-KR" dirty="0"/>
          </a:p>
          <a:p>
            <a:pPr lvl="2"/>
            <a:r>
              <a:rPr lang="ko-KR" altLang="en-US"/>
              <a:t>국민연금사업을 집행</a:t>
            </a:r>
            <a:endParaRPr lang="en-US" altLang="ko-KR"/>
          </a:p>
          <a:p>
            <a:pPr lvl="1"/>
            <a:r>
              <a:rPr lang="ko-KR" altLang="en-US" dirty="0"/>
              <a:t>건강보험정책심의위원회</a:t>
            </a:r>
            <a:r>
              <a:rPr lang="en-US" altLang="ko-KR" dirty="0"/>
              <a:t>(</a:t>
            </a:r>
            <a:r>
              <a:rPr lang="ko-KR" altLang="en-US" dirty="0" err="1"/>
              <a:t>건정심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건강보험정책에 대한 사항을 심의</a:t>
            </a:r>
            <a:r>
              <a:rPr lang="en-US" altLang="ko-KR" dirty="0"/>
              <a:t>/</a:t>
            </a:r>
            <a:r>
              <a:rPr lang="ko-KR" altLang="en-US" dirty="0"/>
              <a:t>의결</a:t>
            </a:r>
            <a:endParaRPr lang="en-US" altLang="ko-KR" dirty="0"/>
          </a:p>
          <a:p>
            <a:pPr lvl="1"/>
            <a:r>
              <a:rPr lang="ko-KR" altLang="en-US" dirty="0"/>
              <a:t>건강보험심사평가원</a:t>
            </a:r>
            <a:endParaRPr lang="en-US" altLang="ko-KR" dirty="0"/>
          </a:p>
          <a:p>
            <a:pPr lvl="2"/>
            <a:r>
              <a:rPr lang="ko-KR" altLang="en-US" dirty="0"/>
              <a:t>요양급여 비용의 심사</a:t>
            </a:r>
            <a:r>
              <a:rPr lang="en-US" altLang="ko-KR" dirty="0"/>
              <a:t>/</a:t>
            </a:r>
            <a:r>
              <a:rPr lang="ko-KR" altLang="en-US" dirty="0"/>
              <a:t>적정성 평가</a:t>
            </a:r>
            <a:endParaRPr lang="en-US" altLang="ko-KR" dirty="0"/>
          </a:p>
          <a:p>
            <a:pPr lvl="2"/>
            <a:r>
              <a:rPr lang="ko-KR" altLang="en-US" dirty="0" err="1"/>
              <a:t>현황문제점개선방안</a:t>
            </a:r>
            <a:endParaRPr lang="en-US" altLang="ko-KR" dirty="0"/>
          </a:p>
          <a:p>
            <a:pPr lvl="2"/>
            <a:r>
              <a:rPr lang="ko-KR" altLang="en-US" dirty="0"/>
              <a:t>얼마나 토론을 활발히 하는가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5905F6-6FED-8D80-CFE8-AEE6692CD61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0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689699E-A3D8-24F9-3777-EB3EF17B7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65A377-A08E-35BD-3456-07C445C9B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C71426-12C5-1800-EBD3-A9CA115068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91DD9DF-0997-05D3-01F8-C2FFFE27D0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급여내용</a:t>
            </a:r>
            <a:endParaRPr lang="en-US" altLang="ko-KR" dirty="0"/>
          </a:p>
          <a:p>
            <a:pPr lvl="1"/>
            <a:r>
              <a:rPr lang="ko-KR" altLang="en-US" dirty="0"/>
              <a:t>급여의 종류</a:t>
            </a:r>
            <a:endParaRPr lang="en-US" altLang="ko-KR" dirty="0"/>
          </a:p>
          <a:p>
            <a:pPr lvl="2"/>
            <a:r>
              <a:rPr lang="ko-KR" altLang="en-US" dirty="0"/>
              <a:t>재가급여</a:t>
            </a:r>
            <a:r>
              <a:rPr lang="en-US" altLang="ko-KR" dirty="0"/>
              <a:t>, </a:t>
            </a:r>
            <a:r>
              <a:rPr lang="ko-KR" altLang="en-US" dirty="0"/>
              <a:t>시설급여</a:t>
            </a:r>
            <a:r>
              <a:rPr lang="en-US" altLang="ko-KR" dirty="0"/>
              <a:t>, </a:t>
            </a:r>
            <a:r>
              <a:rPr lang="ko-KR" altLang="en-US" dirty="0"/>
              <a:t>특별현금급여</a:t>
            </a:r>
            <a:endParaRPr lang="en-US" altLang="ko-KR" dirty="0"/>
          </a:p>
          <a:p>
            <a:pPr lvl="1"/>
            <a:r>
              <a:rPr lang="ko-KR" altLang="en-US" dirty="0"/>
              <a:t>급여의 기본원칙</a:t>
            </a:r>
            <a:endParaRPr lang="en-US" altLang="ko-KR" dirty="0"/>
          </a:p>
          <a:p>
            <a:pPr lvl="2"/>
            <a:r>
              <a:rPr lang="ko-KR" altLang="en-US" dirty="0"/>
              <a:t>재가급여를 우선적으로</a:t>
            </a:r>
            <a:endParaRPr lang="en-US" altLang="ko-KR" dirty="0"/>
          </a:p>
          <a:p>
            <a:r>
              <a:rPr lang="ko-KR" altLang="en-US" dirty="0"/>
              <a:t>재정</a:t>
            </a:r>
            <a:endParaRPr lang="en-US" altLang="ko-KR" dirty="0"/>
          </a:p>
          <a:p>
            <a:pPr lvl="1"/>
            <a:r>
              <a:rPr lang="ko-KR" altLang="en-US" dirty="0"/>
              <a:t>보험료 </a:t>
            </a:r>
            <a:r>
              <a:rPr lang="en-US" altLang="ko-KR" dirty="0"/>
              <a:t>+ </a:t>
            </a:r>
            <a:r>
              <a:rPr lang="ko-KR" altLang="en-US" dirty="0"/>
              <a:t>정부지원 </a:t>
            </a:r>
            <a:r>
              <a:rPr lang="en-US" altLang="ko-KR" dirty="0"/>
              <a:t>+ </a:t>
            </a:r>
            <a:r>
              <a:rPr lang="ko-KR" altLang="en-US" dirty="0"/>
              <a:t>본인부담금</a:t>
            </a:r>
            <a:endParaRPr lang="en-US" altLang="ko-KR" dirty="0"/>
          </a:p>
          <a:p>
            <a:r>
              <a:rPr lang="ko-KR" altLang="en-US" dirty="0"/>
              <a:t>운영체계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BDAD62-B6A8-A326-1986-AB05F23E541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02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D25F734-842F-48B3-62A3-878B073B3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A940FC6-38D0-BBB5-E1C0-2A237D05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4F37C4-D361-4EC6-CF28-F36DAEF729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1009522-556F-72F1-6B12-030CA5A9A5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국민기초생활보장제도</a:t>
            </a:r>
            <a:r>
              <a:rPr lang="ko-KR" altLang="en-US" dirty="0"/>
              <a:t> 의의 및 목적</a:t>
            </a:r>
            <a:endParaRPr lang="en-US" altLang="ko-KR" dirty="0"/>
          </a:p>
          <a:p>
            <a:pPr lvl="1"/>
            <a:r>
              <a:rPr lang="ko-KR" altLang="en-US" dirty="0"/>
              <a:t>의의 </a:t>
            </a:r>
            <a:r>
              <a:rPr lang="en-US" altLang="ko-KR" dirty="0"/>
              <a:t>: </a:t>
            </a:r>
            <a:r>
              <a:rPr lang="ko-KR" altLang="en-US" dirty="0"/>
              <a:t>헌법상 생존권 보장 이념 </a:t>
            </a:r>
            <a:r>
              <a:rPr lang="en-US" altLang="ko-KR" dirty="0"/>
              <a:t>-&gt; </a:t>
            </a:r>
            <a:r>
              <a:rPr lang="ko-KR" altLang="en-US" dirty="0"/>
              <a:t>최저생계 </a:t>
            </a:r>
            <a:r>
              <a:rPr lang="en-US" altLang="ko-KR" dirty="0"/>
              <a:t>-&gt; </a:t>
            </a:r>
            <a:r>
              <a:rPr lang="ko-KR" altLang="en-US" dirty="0"/>
              <a:t>인간다운 생활</a:t>
            </a:r>
            <a:endParaRPr lang="en-US" altLang="ko-KR" dirty="0"/>
          </a:p>
          <a:p>
            <a:pPr lvl="1"/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생계급여</a:t>
            </a:r>
            <a:r>
              <a:rPr lang="en-US" altLang="ko-KR" dirty="0"/>
              <a:t>, </a:t>
            </a:r>
            <a:r>
              <a:rPr lang="ko-KR" altLang="en-US" dirty="0"/>
              <a:t>주거급여</a:t>
            </a:r>
            <a:r>
              <a:rPr lang="en-US" altLang="ko-KR" dirty="0"/>
              <a:t>, </a:t>
            </a:r>
            <a:r>
              <a:rPr lang="ko-KR" altLang="en-US" dirty="0"/>
              <a:t>의료급여</a:t>
            </a:r>
            <a:r>
              <a:rPr lang="en-US" altLang="ko-KR" dirty="0"/>
              <a:t>, </a:t>
            </a:r>
            <a:r>
              <a:rPr lang="ko-KR" altLang="en-US" dirty="0"/>
              <a:t>해산급여</a:t>
            </a:r>
            <a:r>
              <a:rPr lang="en-US" altLang="ko-KR" dirty="0"/>
              <a:t>, </a:t>
            </a:r>
            <a:r>
              <a:rPr lang="ko-KR" altLang="en-US" dirty="0" err="1"/>
              <a:t>장제급여</a:t>
            </a:r>
            <a:r>
              <a:rPr lang="en-US" altLang="ko-KR" dirty="0"/>
              <a:t>-&gt; </a:t>
            </a:r>
            <a:r>
              <a:rPr lang="ko-KR" altLang="en-US" dirty="0"/>
              <a:t>생활상 곤란 완화 </a:t>
            </a:r>
            <a:r>
              <a:rPr lang="en-US" altLang="ko-KR" dirty="0"/>
              <a:t>&amp; </a:t>
            </a:r>
            <a:r>
              <a:rPr lang="ko-KR" altLang="en-US" dirty="0"/>
              <a:t>자활급여</a:t>
            </a:r>
            <a:endParaRPr lang="en-US" altLang="ko-KR" dirty="0"/>
          </a:p>
          <a:p>
            <a:r>
              <a:rPr lang="ko-KR" altLang="en-US" dirty="0"/>
              <a:t>도입배경</a:t>
            </a:r>
            <a:endParaRPr lang="en-US" altLang="ko-KR" dirty="0"/>
          </a:p>
          <a:p>
            <a:pPr lvl="1"/>
            <a:r>
              <a:rPr lang="en-US" altLang="ko-KR" dirty="0"/>
              <a:t>IMF -&gt; </a:t>
            </a:r>
            <a:r>
              <a:rPr lang="ko-KR" altLang="en-US" dirty="0"/>
              <a:t>근로능력과 연령에 관계없이 최저 생계 보장</a:t>
            </a:r>
            <a:endParaRPr lang="en-US" altLang="ko-KR" dirty="0"/>
          </a:p>
          <a:p>
            <a:pPr lvl="1"/>
            <a:r>
              <a:rPr lang="ko-KR" altLang="en-US" dirty="0"/>
              <a:t>생활보호법 </a:t>
            </a:r>
            <a:r>
              <a:rPr lang="en-US" altLang="ko-KR" dirty="0"/>
              <a:t>vs </a:t>
            </a:r>
            <a:r>
              <a:rPr lang="ko-KR" altLang="en-US" dirty="0" err="1"/>
              <a:t>국민기초생활보장법</a:t>
            </a:r>
            <a:endParaRPr lang="en-US" altLang="ko-KR" dirty="0"/>
          </a:p>
          <a:p>
            <a:pPr lvl="2"/>
            <a:r>
              <a:rPr lang="ko-KR" altLang="en-US" dirty="0"/>
              <a:t>기초생활 </a:t>
            </a:r>
            <a:r>
              <a:rPr lang="en-US" altLang="ko-KR" dirty="0"/>
              <a:t>: </a:t>
            </a:r>
            <a:r>
              <a:rPr lang="ko-KR" altLang="en-US" dirty="0" err="1"/>
              <a:t>권리성</a:t>
            </a:r>
            <a:r>
              <a:rPr lang="ko-KR" altLang="en-US" dirty="0"/>
              <a:t> 용어</a:t>
            </a:r>
            <a:r>
              <a:rPr lang="en-US" altLang="ko-KR" dirty="0"/>
              <a:t>, </a:t>
            </a:r>
            <a:r>
              <a:rPr lang="ko-KR" altLang="en-US" dirty="0"/>
              <a:t>인구학적 기준에 의한 대상자 폐지</a:t>
            </a:r>
            <a:endParaRPr lang="en-US" altLang="ko-KR" dirty="0"/>
          </a:p>
          <a:p>
            <a:r>
              <a:rPr lang="ko-KR" altLang="en-US" dirty="0"/>
              <a:t>실시상의 운용원칙</a:t>
            </a:r>
            <a:endParaRPr lang="en-US" altLang="ko-KR" dirty="0"/>
          </a:p>
          <a:p>
            <a:pPr lvl="1"/>
            <a:r>
              <a:rPr lang="ko-KR" altLang="en-US" dirty="0"/>
              <a:t>신청보호의 원칙 </a:t>
            </a:r>
            <a:r>
              <a:rPr lang="en-US" altLang="ko-KR" dirty="0"/>
              <a:t>: </a:t>
            </a:r>
            <a:r>
              <a:rPr lang="ko-KR" altLang="en-US" dirty="0" err="1"/>
              <a:t>수급권자와</a:t>
            </a:r>
            <a:r>
              <a:rPr lang="ko-KR" altLang="en-US" dirty="0"/>
              <a:t> 그 친족</a:t>
            </a:r>
            <a:r>
              <a:rPr lang="en-US" altLang="ko-KR" dirty="0"/>
              <a:t>, </a:t>
            </a:r>
            <a:r>
              <a:rPr lang="ko-KR" altLang="en-US" dirty="0"/>
              <a:t>그 밖의 </a:t>
            </a:r>
            <a:r>
              <a:rPr lang="ko-KR" altLang="en-US" dirty="0" err="1"/>
              <a:t>관계인등이</a:t>
            </a:r>
            <a:r>
              <a:rPr lang="ko-KR" altLang="en-US" dirty="0"/>
              <a:t> 관할 공무원에게 신청</a:t>
            </a:r>
            <a:endParaRPr lang="en-US" altLang="ko-KR" dirty="0"/>
          </a:p>
          <a:p>
            <a:r>
              <a:rPr lang="ko-KR" altLang="en-US" dirty="0"/>
              <a:t>적용대상</a:t>
            </a:r>
            <a:endParaRPr lang="en-US" altLang="ko-KR" dirty="0"/>
          </a:p>
          <a:p>
            <a:pPr lvl="1"/>
            <a:r>
              <a:rPr lang="ko-KR" altLang="en-US" dirty="0" err="1"/>
              <a:t>수급권자</a:t>
            </a:r>
            <a:r>
              <a:rPr lang="ko-KR" altLang="en-US" dirty="0"/>
              <a:t> 선정기준 </a:t>
            </a:r>
            <a:r>
              <a:rPr lang="en-US" altLang="ko-KR" dirty="0"/>
              <a:t>: </a:t>
            </a:r>
            <a:r>
              <a:rPr lang="ko-KR" altLang="en-US" dirty="0"/>
              <a:t>소득인정액 기준 </a:t>
            </a:r>
            <a:r>
              <a:rPr lang="en-US" altLang="ko-KR" dirty="0"/>
              <a:t>– </a:t>
            </a:r>
            <a:r>
              <a:rPr lang="ko-KR" altLang="en-US" dirty="0"/>
              <a:t>일정 소득 및 </a:t>
            </a:r>
            <a:r>
              <a:rPr lang="ko-KR" altLang="en-US" dirty="0" err="1"/>
              <a:t>재산이하</a:t>
            </a:r>
            <a:endParaRPr lang="en-US" altLang="ko-KR" dirty="0"/>
          </a:p>
          <a:p>
            <a:pPr lvl="1"/>
            <a:r>
              <a:rPr lang="ko-KR" altLang="en-US" dirty="0"/>
              <a:t>중위소득 </a:t>
            </a:r>
            <a:r>
              <a:rPr lang="en-US" altLang="ko-KR" dirty="0"/>
              <a:t>: </a:t>
            </a:r>
          </a:p>
          <a:p>
            <a:pPr lvl="1"/>
            <a:r>
              <a:rPr lang="ko-KR" altLang="en-US" dirty="0" err="1"/>
              <a:t>기준중위소득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국민가구소득의 </a:t>
            </a:r>
            <a:r>
              <a:rPr lang="ko-KR" altLang="en-US" dirty="0" err="1"/>
              <a:t>중위값</a:t>
            </a:r>
            <a:r>
              <a:rPr lang="en-US" altLang="ko-KR" dirty="0"/>
              <a:t>; </a:t>
            </a:r>
          </a:p>
          <a:p>
            <a:pPr lvl="1"/>
            <a:r>
              <a:rPr lang="ko-KR" altLang="en-US" dirty="0"/>
              <a:t>빈곤계층의 생산력 향상</a:t>
            </a:r>
            <a:r>
              <a:rPr lang="en-US" altLang="ko-KR" dirty="0"/>
              <a:t> – </a:t>
            </a:r>
          </a:p>
          <a:p>
            <a:r>
              <a:rPr lang="ko-KR" altLang="en-US" dirty="0"/>
              <a:t>급여내용</a:t>
            </a:r>
            <a:endParaRPr lang="en-US" altLang="ko-KR" dirty="0"/>
          </a:p>
          <a:p>
            <a:pPr lvl="1"/>
            <a:r>
              <a:rPr lang="ko-KR" altLang="en-US" dirty="0"/>
              <a:t>급여의 기본원칙 </a:t>
            </a:r>
            <a:r>
              <a:rPr lang="en-US" altLang="ko-KR" dirty="0"/>
              <a:t>: 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C6FD5B-D81C-0422-5B1E-A26276FD65A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094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C815DA8-445E-B5D9-BDC8-043489CDF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19E4AC3-9AFD-B11F-A5BB-624CFDD0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65C727-B11B-E608-5492-17739A87C0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4B4D78D-D8C6-E532-747F-D20620445D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고용보험제도의 의의와 목적</a:t>
            </a:r>
            <a:endParaRPr lang="en-US" altLang="ko-KR" dirty="0"/>
          </a:p>
          <a:p>
            <a:pPr lvl="1"/>
            <a:r>
              <a:rPr lang="ko-KR" altLang="en-US" dirty="0"/>
              <a:t>실업보험 </a:t>
            </a:r>
            <a:r>
              <a:rPr lang="en-US" altLang="ko-KR" dirty="0"/>
              <a:t>= </a:t>
            </a:r>
            <a:r>
              <a:rPr lang="ko-KR" altLang="en-US" dirty="0"/>
              <a:t>생계지원</a:t>
            </a:r>
            <a:r>
              <a:rPr lang="en-US" altLang="ko-KR" dirty="0"/>
              <a:t>		</a:t>
            </a:r>
            <a:r>
              <a:rPr lang="ko-KR" altLang="en-US" dirty="0"/>
              <a:t> 사후적</a:t>
            </a:r>
            <a:r>
              <a:rPr lang="en-US" altLang="ko-KR" dirty="0"/>
              <a:t>/</a:t>
            </a:r>
            <a:r>
              <a:rPr lang="ko-KR" altLang="en-US" dirty="0"/>
              <a:t>소극적 사회보장제도</a:t>
            </a:r>
            <a:endParaRPr lang="en-US" altLang="ko-KR" dirty="0"/>
          </a:p>
          <a:p>
            <a:pPr lvl="1"/>
            <a:r>
              <a:rPr lang="ko-KR" altLang="en-US" dirty="0"/>
              <a:t>고용보험</a:t>
            </a:r>
            <a:r>
              <a:rPr lang="en-US" altLang="ko-KR" dirty="0"/>
              <a:t> = </a:t>
            </a:r>
            <a:r>
              <a:rPr lang="ko-KR" altLang="en-US" dirty="0"/>
              <a:t>생계지원 </a:t>
            </a:r>
            <a:r>
              <a:rPr lang="en-US" altLang="ko-KR" dirty="0"/>
              <a:t>+ </a:t>
            </a:r>
            <a:r>
              <a:rPr lang="ko-KR" altLang="en-US" dirty="0" err="1"/>
              <a:t>재쥐업</a:t>
            </a:r>
            <a:r>
              <a:rPr lang="ko-KR" altLang="en-US" dirty="0"/>
              <a:t> 촉진</a:t>
            </a:r>
            <a:r>
              <a:rPr lang="en-US" altLang="ko-KR" dirty="0"/>
              <a:t>	</a:t>
            </a:r>
            <a:r>
              <a:rPr lang="ko-KR" altLang="en-US" dirty="0"/>
              <a:t>사전적</a:t>
            </a:r>
            <a:r>
              <a:rPr lang="en-US" altLang="ko-KR" dirty="0"/>
              <a:t>/</a:t>
            </a:r>
            <a:r>
              <a:rPr lang="ko-KR" altLang="en-US" dirty="0"/>
              <a:t>적극적</a:t>
            </a:r>
            <a:endParaRPr lang="en-US" altLang="ko-KR" dirty="0"/>
          </a:p>
          <a:p>
            <a:pPr lvl="1"/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실업 예방</a:t>
            </a:r>
            <a:r>
              <a:rPr lang="en-US" altLang="ko-KR" dirty="0"/>
              <a:t>, </a:t>
            </a:r>
            <a:r>
              <a:rPr lang="ko-KR" altLang="en-US" dirty="0"/>
              <a:t>고용촉진</a:t>
            </a:r>
            <a:r>
              <a:rPr lang="en-US" altLang="ko-KR" dirty="0"/>
              <a:t>, </a:t>
            </a:r>
            <a:r>
              <a:rPr lang="ko-KR" altLang="en-US" dirty="0"/>
              <a:t>직업능력 개발</a:t>
            </a:r>
            <a:r>
              <a:rPr lang="en-US" altLang="ko-KR" dirty="0"/>
              <a:t>, </a:t>
            </a:r>
            <a:r>
              <a:rPr lang="ko-KR" altLang="en-US" dirty="0"/>
              <a:t>직업지도</a:t>
            </a:r>
            <a:r>
              <a:rPr lang="en-US" altLang="ko-KR" dirty="0"/>
              <a:t>/</a:t>
            </a:r>
            <a:r>
              <a:rPr lang="ko-KR" altLang="en-US" dirty="0"/>
              <a:t>소개</a:t>
            </a:r>
            <a:r>
              <a:rPr lang="en-US" altLang="ko-KR" dirty="0"/>
              <a:t>, </a:t>
            </a:r>
            <a:r>
              <a:rPr lang="ko-KR" altLang="en-US" dirty="0"/>
              <a:t>생활안정</a:t>
            </a:r>
            <a:r>
              <a:rPr lang="en-US" altLang="ko-KR" dirty="0"/>
              <a:t>, </a:t>
            </a:r>
            <a:r>
              <a:rPr lang="ko-KR" altLang="en-US" dirty="0"/>
              <a:t>구직 촉진</a:t>
            </a:r>
            <a:endParaRPr lang="en-US" altLang="ko-KR" dirty="0"/>
          </a:p>
          <a:p>
            <a:r>
              <a:rPr lang="ko-KR" altLang="en-US" dirty="0"/>
              <a:t>도입배경 및 발전과정</a:t>
            </a:r>
            <a:endParaRPr lang="en-US" altLang="ko-KR" dirty="0"/>
          </a:p>
          <a:p>
            <a:pPr lvl="1"/>
            <a:r>
              <a:rPr lang="en-US" altLang="ko-KR" dirty="0"/>
              <a:t>1997 IMF </a:t>
            </a:r>
            <a:r>
              <a:rPr lang="ko-KR" altLang="en-US" dirty="0"/>
              <a:t>이후 대량실업 </a:t>
            </a:r>
            <a:r>
              <a:rPr lang="en-US" altLang="ko-KR" dirty="0"/>
              <a:t>-&gt; </a:t>
            </a:r>
            <a:r>
              <a:rPr lang="ko-KR" altLang="en-US" dirty="0"/>
              <a:t>확대</a:t>
            </a:r>
            <a:endParaRPr lang="en-US" altLang="ko-KR" dirty="0"/>
          </a:p>
          <a:p>
            <a:pPr lvl="1"/>
            <a:r>
              <a:rPr lang="ko-KR" altLang="en-US" dirty="0"/>
              <a:t>고용보험법 </a:t>
            </a:r>
            <a:r>
              <a:rPr lang="en-US" altLang="ko-KR" dirty="0"/>
              <a:t>-&gt; 1</a:t>
            </a:r>
            <a:r>
              <a:rPr lang="ko-KR" altLang="en-US" dirty="0" err="1"/>
              <a:t>인이상</a:t>
            </a:r>
            <a:r>
              <a:rPr lang="ko-KR" altLang="en-US" dirty="0"/>
              <a:t> 전 사업장</a:t>
            </a:r>
            <a:endParaRPr lang="en-US" altLang="ko-KR" dirty="0"/>
          </a:p>
          <a:p>
            <a:r>
              <a:rPr lang="ko-KR" altLang="en-US" dirty="0"/>
              <a:t>적용대상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인 근로자를 사용하는 모든 사업</a:t>
            </a:r>
            <a:r>
              <a:rPr lang="en-US" altLang="ko-KR" dirty="0"/>
              <a:t>/</a:t>
            </a:r>
            <a:r>
              <a:rPr lang="ko-KR" altLang="en-US" dirty="0"/>
              <a:t>사업장</a:t>
            </a:r>
            <a:endParaRPr lang="en-US" altLang="ko-KR" dirty="0"/>
          </a:p>
          <a:p>
            <a:pPr lvl="1"/>
            <a:r>
              <a:rPr lang="ko-KR" altLang="en-US" dirty="0"/>
              <a:t>적용제외 근로자</a:t>
            </a:r>
            <a:endParaRPr lang="en-US" altLang="ko-KR" dirty="0"/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개월 근로시간 </a:t>
            </a:r>
            <a:r>
              <a:rPr lang="en-US" altLang="ko-KR" dirty="0"/>
              <a:t>60</a:t>
            </a:r>
            <a:r>
              <a:rPr lang="ko-KR" altLang="en-US" dirty="0"/>
              <a:t>시간</a:t>
            </a:r>
            <a:r>
              <a:rPr lang="en-US" altLang="ko-KR" dirty="0"/>
              <a:t>(</a:t>
            </a:r>
            <a:r>
              <a:rPr lang="ko-KR" altLang="en-US" dirty="0"/>
              <a:t>주 </a:t>
            </a:r>
            <a:r>
              <a:rPr lang="en-US" altLang="ko-KR" dirty="0"/>
              <a:t>15</a:t>
            </a:r>
            <a:r>
              <a:rPr lang="ko-KR" altLang="en-US" dirty="0"/>
              <a:t>시간</a:t>
            </a:r>
            <a:r>
              <a:rPr lang="en-US" altLang="ko-KR" dirty="0"/>
              <a:t>) </a:t>
            </a:r>
            <a:r>
              <a:rPr lang="ko-KR" altLang="en-US" dirty="0"/>
              <a:t>미만</a:t>
            </a:r>
            <a:endParaRPr lang="en-US" altLang="ko-KR" dirty="0"/>
          </a:p>
          <a:p>
            <a:pPr lvl="2"/>
            <a:r>
              <a:rPr lang="ko-KR" altLang="en-US" dirty="0"/>
              <a:t>공무원</a:t>
            </a:r>
            <a:endParaRPr lang="en-US" altLang="ko-KR" dirty="0"/>
          </a:p>
          <a:p>
            <a:pPr lvl="2"/>
            <a:r>
              <a:rPr lang="ko-KR" altLang="en-US" dirty="0"/>
              <a:t>사립교직원</a:t>
            </a:r>
            <a:endParaRPr lang="en-US" altLang="ko-KR" dirty="0"/>
          </a:p>
          <a:p>
            <a:r>
              <a:rPr lang="ko-KR" altLang="en-US" dirty="0"/>
              <a:t>급여내용</a:t>
            </a:r>
            <a:endParaRPr lang="en-US" altLang="ko-KR" dirty="0"/>
          </a:p>
          <a:p>
            <a:pPr lvl="1"/>
            <a:r>
              <a:rPr lang="ko-KR" altLang="en-US" dirty="0"/>
              <a:t>실업급여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구직급여 </a:t>
            </a:r>
            <a:r>
              <a:rPr lang="en-US" altLang="ko-KR" dirty="0"/>
              <a:t>(</a:t>
            </a:r>
            <a:r>
              <a:rPr lang="ko-KR" altLang="en-US" dirty="0"/>
              <a:t>수급요건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기준기간 </a:t>
            </a:r>
            <a:r>
              <a:rPr lang="en-US" altLang="ko-KR" dirty="0"/>
              <a:t>(</a:t>
            </a:r>
            <a:r>
              <a:rPr lang="ko-KR" altLang="en-US" dirty="0"/>
              <a:t>이직일 이전 </a:t>
            </a:r>
            <a:r>
              <a:rPr lang="en-US" altLang="ko-KR" dirty="0"/>
              <a:t>18</a:t>
            </a:r>
            <a:r>
              <a:rPr lang="ko-KR" altLang="en-US" dirty="0"/>
              <a:t>개월</a:t>
            </a:r>
            <a:r>
              <a:rPr lang="en-US" altLang="ko-KR" dirty="0"/>
              <a:t>) </a:t>
            </a:r>
            <a:r>
              <a:rPr lang="ko-KR" altLang="en-US" dirty="0" err="1"/>
              <a:t>피보험</a:t>
            </a:r>
            <a:r>
              <a:rPr lang="ko-KR" altLang="en-US" dirty="0"/>
              <a:t> 단위기간이 통산 </a:t>
            </a:r>
            <a:r>
              <a:rPr lang="en-US" altLang="ko-KR" dirty="0"/>
              <a:t>180</a:t>
            </a:r>
            <a:r>
              <a:rPr lang="ko-KR" altLang="en-US" dirty="0"/>
              <a:t>일 이상</a:t>
            </a:r>
            <a:endParaRPr lang="en-US" altLang="ko-KR" dirty="0"/>
          </a:p>
          <a:p>
            <a:pPr lvl="1"/>
            <a:r>
              <a:rPr lang="ko-KR" altLang="en-US" dirty="0"/>
              <a:t>근로의사와 능력 </a:t>
            </a:r>
            <a:r>
              <a:rPr lang="en-US" altLang="ko-KR" dirty="0"/>
              <a:t>O -&gt; </a:t>
            </a:r>
            <a:r>
              <a:rPr lang="ko-KR" altLang="en-US" dirty="0"/>
              <a:t>취업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이직사유 </a:t>
            </a:r>
            <a:r>
              <a:rPr lang="en-US" altLang="ko-KR" dirty="0"/>
              <a:t>=! </a:t>
            </a:r>
            <a:r>
              <a:rPr lang="ko-KR" altLang="en-US" dirty="0"/>
              <a:t>중대한 귀책으로 인한 해고 </a:t>
            </a:r>
            <a:r>
              <a:rPr lang="en-US" altLang="ko-KR" dirty="0"/>
              <a:t>or </a:t>
            </a:r>
            <a:r>
              <a:rPr lang="ko-KR" altLang="en-US" dirty="0"/>
              <a:t>자발적 이직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계약종료 </a:t>
            </a:r>
            <a:r>
              <a:rPr lang="en-US" altLang="ko-KR" dirty="0"/>
              <a:t>or </a:t>
            </a:r>
            <a:r>
              <a:rPr lang="ko-KR" altLang="en-US" dirty="0"/>
              <a:t>경영사정으로 인한 비자발적 이직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재취업노력 적극적</a:t>
            </a:r>
            <a:endParaRPr lang="en-US" altLang="ko-KR" dirty="0"/>
          </a:p>
          <a:p>
            <a:r>
              <a:rPr lang="ko-KR" altLang="en-US" dirty="0"/>
              <a:t>구직급여 신청 절차</a:t>
            </a:r>
            <a:endParaRPr lang="en-US" altLang="ko-KR" dirty="0"/>
          </a:p>
          <a:p>
            <a:pPr lvl="1"/>
            <a:r>
              <a:rPr lang="ko-KR" altLang="en-US" dirty="0"/>
              <a:t>실업 신고 </a:t>
            </a:r>
            <a:r>
              <a:rPr lang="en-US" altLang="ko-KR" dirty="0"/>
              <a:t>: </a:t>
            </a:r>
            <a:r>
              <a:rPr lang="ko-KR" altLang="en-US" dirty="0"/>
              <a:t>고용센터 </a:t>
            </a:r>
            <a:r>
              <a:rPr lang="en-US" altLang="ko-KR" dirty="0"/>
              <a:t>-&gt; </a:t>
            </a:r>
            <a:r>
              <a:rPr lang="ko-KR" altLang="en-US" dirty="0"/>
              <a:t>실업 신고</a:t>
            </a:r>
            <a:r>
              <a:rPr lang="en-US" altLang="ko-KR" dirty="0"/>
              <a:t>, </a:t>
            </a:r>
            <a:r>
              <a:rPr lang="ko-KR" altLang="en-US" dirty="0"/>
              <a:t>수급기간 </a:t>
            </a:r>
            <a:r>
              <a:rPr lang="en-US" altLang="ko-KR" dirty="0"/>
              <a:t>= </a:t>
            </a:r>
            <a:r>
              <a:rPr lang="ko-KR" altLang="en-US" dirty="0" err="1"/>
              <a:t>이직후</a:t>
            </a:r>
            <a:r>
              <a:rPr lang="ko-KR" altLang="en-US" dirty="0"/>
              <a:t> 다음날부터 </a:t>
            </a:r>
            <a:r>
              <a:rPr lang="en-US" altLang="ko-KR" dirty="0"/>
              <a:t>12</a:t>
            </a:r>
            <a:r>
              <a:rPr lang="ko-KR" altLang="en-US" dirty="0"/>
              <a:t>개월 이내</a:t>
            </a:r>
            <a:endParaRPr lang="en-US" altLang="ko-KR" dirty="0"/>
          </a:p>
          <a:p>
            <a:pPr lvl="1"/>
            <a:r>
              <a:rPr lang="ko-KR" altLang="en-US" dirty="0"/>
              <a:t>수급자격인정 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실업의 인정 </a:t>
            </a:r>
            <a:r>
              <a:rPr lang="en-US" altLang="ko-KR" dirty="0"/>
              <a:t>: </a:t>
            </a:r>
            <a:r>
              <a:rPr lang="ko-KR" altLang="en-US" dirty="0"/>
              <a:t>실업의 인정을 </a:t>
            </a:r>
            <a:r>
              <a:rPr lang="ko-KR" altLang="en-US" dirty="0" err="1"/>
              <a:t>받아야함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75518A5-53AA-13D1-5C33-DBAE36CF7FA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_x203818568" descr="EMB00001a2c7713">
            <a:extLst>
              <a:ext uri="{FF2B5EF4-FFF2-40B4-BE49-F238E27FC236}">
                <a16:creationId xmlns:a16="http://schemas.microsoft.com/office/drawing/2014/main" id="{1799703E-31C5-C930-53E7-6F30D3ED1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7" t="34169" r="2792" b="23508"/>
          <a:stretch>
            <a:fillRect/>
          </a:stretch>
        </p:blipFill>
        <p:spPr bwMode="auto">
          <a:xfrm>
            <a:off x="3284984" y="3440832"/>
            <a:ext cx="3131686" cy="171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97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56846E-A54A-9DAF-A38A-5BCCB4227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B0E5BAA-E6F8-3D27-F111-C2C046B6C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6BB7F-6789-E990-FF42-BDC13F4CCC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98659B7-11F0-DBD2-128B-E0A0CA3D23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구직급여의 급여수준 및 수급기간</a:t>
            </a:r>
            <a:endParaRPr lang="en-US" altLang="ko-KR" dirty="0"/>
          </a:p>
          <a:p>
            <a:pPr lvl="1"/>
            <a:r>
              <a:rPr lang="ko-KR" altLang="en-US" dirty="0"/>
              <a:t>구직급여 </a:t>
            </a:r>
            <a:r>
              <a:rPr lang="en-US" altLang="ko-KR" dirty="0"/>
              <a:t>= </a:t>
            </a:r>
            <a:r>
              <a:rPr lang="ko-KR" altLang="en-US" dirty="0"/>
              <a:t>이직당시 산정된 평균임금의 </a:t>
            </a:r>
            <a:r>
              <a:rPr lang="en-US" altLang="ko-KR" dirty="0"/>
              <a:t>60% * </a:t>
            </a:r>
            <a:r>
              <a:rPr lang="ko-KR" altLang="en-US" dirty="0"/>
              <a:t>소정급여일수실업</a:t>
            </a:r>
            <a:endParaRPr lang="en-US" altLang="ko-KR" dirty="0"/>
          </a:p>
          <a:p>
            <a:pPr lvl="1"/>
            <a:r>
              <a:rPr lang="ko-KR" altLang="en-US" dirty="0"/>
              <a:t>신고일로부터 </a:t>
            </a:r>
            <a:r>
              <a:rPr lang="en-US" altLang="ko-KR" dirty="0"/>
              <a:t>7</a:t>
            </a:r>
            <a:r>
              <a:rPr lang="ko-KR" altLang="en-US" dirty="0"/>
              <a:t>일은 대기기간</a:t>
            </a:r>
            <a:endParaRPr lang="en-US" altLang="ko-KR" dirty="0"/>
          </a:p>
          <a:p>
            <a:pPr lvl="2"/>
            <a:r>
              <a:rPr lang="ko-KR" altLang="en-US" dirty="0"/>
              <a:t>수급일수 </a:t>
            </a:r>
            <a:r>
              <a:rPr lang="en-US" altLang="ko-KR" dirty="0"/>
              <a:t>= </a:t>
            </a:r>
            <a:r>
              <a:rPr lang="ko-KR" altLang="en-US" dirty="0"/>
              <a:t>피보험기간과 연령에 따라 </a:t>
            </a:r>
            <a:r>
              <a:rPr lang="en-US" altLang="ko-KR" dirty="0"/>
              <a:t>120-270</a:t>
            </a:r>
            <a:r>
              <a:rPr lang="ko-KR" altLang="en-US" dirty="0"/>
              <a:t>일</a:t>
            </a:r>
            <a:r>
              <a:rPr lang="en-US" altLang="ko-KR" dirty="0"/>
              <a:t> </a:t>
            </a:r>
            <a:r>
              <a:rPr lang="ko-KR" altLang="en-US" dirty="0"/>
              <a:t>사이</a:t>
            </a:r>
            <a:endParaRPr lang="en-US" altLang="ko-KR" dirty="0"/>
          </a:p>
          <a:p>
            <a:r>
              <a:rPr lang="ko-KR" altLang="en-US" dirty="0"/>
              <a:t>연장급여</a:t>
            </a:r>
            <a:endParaRPr lang="en-US" altLang="ko-KR" dirty="0"/>
          </a:p>
          <a:p>
            <a:pPr lvl="1"/>
            <a:r>
              <a:rPr lang="ko-KR" altLang="en-US" dirty="0"/>
              <a:t>훈련연장급여 </a:t>
            </a:r>
            <a:r>
              <a:rPr lang="en-US" altLang="ko-KR" dirty="0"/>
              <a:t>: </a:t>
            </a:r>
            <a:r>
              <a:rPr lang="ko-KR" altLang="en-US" dirty="0"/>
              <a:t>재취업 위해 직업능력훈련이 필요 </a:t>
            </a:r>
            <a:r>
              <a:rPr lang="en-US" altLang="ko-KR" dirty="0"/>
              <a:t>-&gt; </a:t>
            </a:r>
            <a:r>
              <a:rPr lang="ko-KR" altLang="en-US" dirty="0"/>
              <a:t>구직급여의 </a:t>
            </a:r>
            <a:r>
              <a:rPr lang="en-US" altLang="ko-KR" dirty="0"/>
              <a:t>100%, </a:t>
            </a:r>
            <a:r>
              <a:rPr lang="ko-KR" altLang="en-US" dirty="0"/>
              <a:t>최대 </a:t>
            </a:r>
            <a:r>
              <a:rPr lang="en-US" altLang="ko-KR" dirty="0"/>
              <a:t>2</a:t>
            </a:r>
            <a:r>
              <a:rPr lang="ko-KR" altLang="en-US" dirty="0"/>
              <a:t>년</a:t>
            </a:r>
            <a:endParaRPr lang="en-US" altLang="ko-KR" dirty="0"/>
          </a:p>
          <a:p>
            <a:pPr lvl="1"/>
            <a:r>
              <a:rPr lang="ko-KR" altLang="en-US" dirty="0"/>
              <a:t>개발연장급여 </a:t>
            </a:r>
            <a:r>
              <a:rPr lang="en-US" altLang="ko-KR" dirty="0"/>
              <a:t>: </a:t>
            </a:r>
            <a:r>
              <a:rPr lang="ko-KR" altLang="en-US" dirty="0"/>
              <a:t>취업곤란 </a:t>
            </a:r>
            <a:r>
              <a:rPr lang="en-US" altLang="ko-KR" dirty="0"/>
              <a:t>&amp; </a:t>
            </a:r>
            <a:r>
              <a:rPr lang="ko-KR" altLang="en-US" dirty="0"/>
              <a:t>생활 어려움 </a:t>
            </a:r>
            <a:r>
              <a:rPr lang="en-US" altLang="ko-KR" dirty="0"/>
              <a:t>-&gt; </a:t>
            </a:r>
            <a:r>
              <a:rPr lang="ko-KR" altLang="en-US" dirty="0"/>
              <a:t>구직급여 </a:t>
            </a:r>
            <a:r>
              <a:rPr lang="en-US" altLang="ko-KR" dirty="0"/>
              <a:t>70%, 60</a:t>
            </a:r>
            <a:r>
              <a:rPr lang="ko-KR" altLang="en-US" dirty="0"/>
              <a:t>일</a:t>
            </a:r>
            <a:endParaRPr lang="en-US" altLang="ko-KR" dirty="0"/>
          </a:p>
          <a:p>
            <a:pPr lvl="1"/>
            <a:r>
              <a:rPr lang="ko-KR" altLang="en-US" dirty="0"/>
              <a:t>특별연장급여 </a:t>
            </a:r>
            <a:r>
              <a:rPr lang="en-US" altLang="ko-KR" dirty="0"/>
              <a:t>: </a:t>
            </a:r>
            <a:r>
              <a:rPr lang="ko-KR" altLang="en-US" dirty="0"/>
              <a:t>고용사정이 좋지 않은 경우 </a:t>
            </a:r>
            <a:r>
              <a:rPr lang="en-US" altLang="ko-KR" dirty="0"/>
              <a:t>-&gt; </a:t>
            </a:r>
            <a:r>
              <a:rPr lang="ko-KR" altLang="en-US" dirty="0"/>
              <a:t>구직급여 </a:t>
            </a:r>
            <a:r>
              <a:rPr lang="en-US" altLang="ko-KR" dirty="0"/>
              <a:t>70%, 60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/>
              <a:t>상병급여</a:t>
            </a:r>
            <a:endParaRPr lang="en-US" altLang="ko-KR" dirty="0"/>
          </a:p>
          <a:p>
            <a:pPr lvl="1"/>
            <a:r>
              <a:rPr lang="ko-KR" altLang="en-US" dirty="0"/>
              <a:t>실업신고 </a:t>
            </a:r>
            <a:r>
              <a:rPr lang="en-US" altLang="ko-KR" dirty="0"/>
              <a:t>-&gt; </a:t>
            </a:r>
            <a:r>
              <a:rPr lang="ko-KR" altLang="en-US" dirty="0"/>
              <a:t>질병</a:t>
            </a:r>
            <a:r>
              <a:rPr lang="en-US" altLang="ko-KR" dirty="0"/>
              <a:t>/</a:t>
            </a:r>
            <a:r>
              <a:rPr lang="ko-KR" altLang="en-US" dirty="0"/>
              <a:t>부상</a:t>
            </a:r>
            <a:r>
              <a:rPr lang="en-US" altLang="ko-KR" dirty="0"/>
              <a:t>/</a:t>
            </a:r>
            <a:r>
              <a:rPr lang="ko-KR" altLang="en-US" dirty="0"/>
              <a:t>출산 </a:t>
            </a:r>
            <a:r>
              <a:rPr lang="en-US" altLang="ko-KR" dirty="0"/>
              <a:t>-&gt; </a:t>
            </a:r>
            <a:r>
              <a:rPr lang="ko-KR" altLang="en-US" dirty="0"/>
              <a:t>실업인정 받지 못할 때 구직급여 대체</a:t>
            </a:r>
            <a:endParaRPr lang="en-US" altLang="ko-KR" dirty="0"/>
          </a:p>
          <a:p>
            <a:r>
              <a:rPr lang="ko-KR" altLang="en-US" dirty="0"/>
              <a:t>취업촉진수당</a:t>
            </a:r>
            <a:endParaRPr lang="en-US" altLang="ko-KR" dirty="0"/>
          </a:p>
          <a:p>
            <a:pPr lvl="1"/>
            <a:r>
              <a:rPr lang="ko-KR" altLang="en-US" dirty="0" err="1"/>
              <a:t>조기재취업</a:t>
            </a:r>
            <a:r>
              <a:rPr lang="ko-KR" altLang="en-US" dirty="0"/>
              <a:t> 수당 </a:t>
            </a:r>
            <a:endParaRPr lang="en-US" altLang="ko-KR" dirty="0"/>
          </a:p>
          <a:p>
            <a:pPr lvl="1"/>
            <a:r>
              <a:rPr lang="ko-KR" altLang="en-US" dirty="0"/>
              <a:t>직업능력개발수당 </a:t>
            </a:r>
            <a:r>
              <a:rPr lang="en-US" altLang="ko-KR" dirty="0"/>
              <a:t>– </a:t>
            </a:r>
            <a:r>
              <a:rPr lang="ko-KR" altLang="en-US" dirty="0"/>
              <a:t>직업능력개발훈련 받을 때</a:t>
            </a:r>
            <a:endParaRPr lang="en-US" altLang="ko-KR" dirty="0"/>
          </a:p>
          <a:p>
            <a:pPr lvl="1"/>
            <a:r>
              <a:rPr lang="ko-KR" altLang="en-US" dirty="0" err="1"/>
              <a:t>광역구직활동비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광범위한 지역에 걸쳐 구직</a:t>
            </a:r>
            <a:endParaRPr lang="en-US" altLang="ko-KR" dirty="0"/>
          </a:p>
          <a:p>
            <a:pPr lvl="1"/>
            <a:r>
              <a:rPr lang="ko-KR" altLang="en-US" dirty="0" err="1"/>
              <a:t>이주비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취업</a:t>
            </a:r>
            <a:r>
              <a:rPr lang="en-US" altLang="ko-KR" dirty="0"/>
              <a:t>/</a:t>
            </a:r>
            <a:r>
              <a:rPr lang="ko-KR" altLang="en-US" dirty="0"/>
              <a:t>직업능력개발훈련 위해 거주 이전</a:t>
            </a:r>
            <a:endParaRPr lang="en-US" altLang="ko-KR" dirty="0"/>
          </a:p>
          <a:p>
            <a:r>
              <a:rPr lang="ko-KR" altLang="en-US" dirty="0"/>
              <a:t>모성보호급여 </a:t>
            </a:r>
            <a:r>
              <a:rPr lang="en-US" altLang="ko-KR" dirty="0"/>
              <a:t>(</a:t>
            </a:r>
            <a:r>
              <a:rPr lang="ko-KR" altLang="en-US" dirty="0" err="1"/>
              <a:t>출산전후휴가급여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휴가 </a:t>
            </a:r>
            <a:r>
              <a:rPr lang="en-US" altLang="ko-KR" dirty="0"/>
              <a:t>= 90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다태아 </a:t>
            </a:r>
            <a:r>
              <a:rPr lang="en-US" altLang="ko-KR" dirty="0"/>
              <a:t>120), </a:t>
            </a:r>
            <a:r>
              <a:rPr lang="ko-KR" altLang="en-US" dirty="0"/>
              <a:t>산후에 </a:t>
            </a:r>
            <a:r>
              <a:rPr lang="en-US" altLang="ko-KR" dirty="0"/>
              <a:t>45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다태아 </a:t>
            </a:r>
            <a:r>
              <a:rPr lang="en-US" altLang="ko-KR" dirty="0"/>
              <a:t>60</a:t>
            </a:r>
            <a:r>
              <a:rPr lang="ko-KR" altLang="en-US" dirty="0"/>
              <a:t>일</a:t>
            </a:r>
            <a:r>
              <a:rPr lang="en-US" altLang="ko-KR" dirty="0"/>
              <a:t>) </a:t>
            </a:r>
            <a:r>
              <a:rPr lang="ko-KR" altLang="en-US" dirty="0"/>
              <a:t>이상이 확보</a:t>
            </a:r>
            <a:endParaRPr lang="en-US" altLang="ko-KR" dirty="0"/>
          </a:p>
          <a:p>
            <a:pPr lvl="2"/>
            <a:r>
              <a:rPr lang="ko-KR" altLang="en-US" dirty="0"/>
              <a:t>유산</a:t>
            </a:r>
            <a:r>
              <a:rPr lang="en-US" altLang="ko-KR" dirty="0"/>
              <a:t>/</a:t>
            </a:r>
            <a:r>
              <a:rPr lang="ko-KR" altLang="en-US" dirty="0"/>
              <a:t>사산 </a:t>
            </a:r>
            <a:r>
              <a:rPr lang="en-US" altLang="ko-KR" dirty="0"/>
              <a:t>-&gt; </a:t>
            </a:r>
            <a:r>
              <a:rPr lang="ko-KR" altLang="en-US" dirty="0"/>
              <a:t>유산</a:t>
            </a:r>
            <a:r>
              <a:rPr lang="en-US" altLang="ko-KR" dirty="0"/>
              <a:t>/</a:t>
            </a:r>
            <a:r>
              <a:rPr lang="ko-KR" altLang="en-US" dirty="0"/>
              <a:t>사산휴가</a:t>
            </a:r>
            <a:endParaRPr lang="en-US" altLang="ko-KR" dirty="0"/>
          </a:p>
          <a:p>
            <a:pPr lvl="1"/>
            <a:r>
              <a:rPr lang="ko-KR" altLang="en-US" dirty="0"/>
              <a:t>급여수준 </a:t>
            </a:r>
            <a:r>
              <a:rPr lang="en-US" altLang="ko-KR" dirty="0"/>
              <a:t>= </a:t>
            </a:r>
            <a:r>
              <a:rPr lang="ko-KR" altLang="en-US" dirty="0"/>
              <a:t>통상인금 기준</a:t>
            </a:r>
            <a:endParaRPr lang="en-US" altLang="ko-KR" dirty="0"/>
          </a:p>
          <a:p>
            <a:pPr lvl="2"/>
            <a:r>
              <a:rPr lang="ko-KR" altLang="en-US" dirty="0"/>
              <a:t>상한 </a:t>
            </a:r>
            <a:r>
              <a:rPr lang="en-US" altLang="ko-KR" dirty="0"/>
              <a:t>: 90</a:t>
            </a:r>
            <a:r>
              <a:rPr lang="ko-KR" altLang="en-US" dirty="0"/>
              <a:t>일간 </a:t>
            </a:r>
            <a:r>
              <a:rPr lang="en-US" altLang="ko-KR" dirty="0"/>
              <a:t>600(</a:t>
            </a:r>
            <a:r>
              <a:rPr lang="ko-KR" altLang="en-US" dirty="0"/>
              <a:t>다태아 </a:t>
            </a:r>
            <a:r>
              <a:rPr lang="en-US" altLang="ko-KR" dirty="0"/>
              <a:t>800)</a:t>
            </a:r>
            <a:r>
              <a:rPr lang="ko-KR" altLang="en-US" dirty="0"/>
              <a:t>만원 </a:t>
            </a:r>
            <a:r>
              <a:rPr lang="en-US" altLang="ko-KR" dirty="0"/>
              <a:t>	</a:t>
            </a:r>
            <a:r>
              <a:rPr lang="ko-KR" altLang="en-US" dirty="0"/>
              <a:t>하한 </a:t>
            </a:r>
            <a:r>
              <a:rPr lang="en-US" altLang="ko-KR" dirty="0"/>
              <a:t>= </a:t>
            </a:r>
            <a:r>
              <a:rPr lang="ko-KR" altLang="en-US" dirty="0"/>
              <a:t>최저임금</a:t>
            </a:r>
            <a:endParaRPr lang="en-US" altLang="ko-KR" dirty="0"/>
          </a:p>
          <a:p>
            <a:pPr lvl="2"/>
            <a:r>
              <a:rPr lang="ko-KR" altLang="en-US" dirty="0"/>
              <a:t>대기업 </a:t>
            </a:r>
            <a:r>
              <a:rPr lang="en-US" altLang="ko-KR" dirty="0"/>
              <a:t>: 30</a:t>
            </a:r>
            <a:r>
              <a:rPr lang="ko-KR" altLang="en-US" dirty="0"/>
              <a:t>일 </a:t>
            </a:r>
            <a:r>
              <a:rPr lang="en-US" altLang="ko-KR" dirty="0"/>
              <a:t>= </a:t>
            </a:r>
            <a:r>
              <a:rPr lang="ko-KR" altLang="en-US" dirty="0"/>
              <a:t>고용보험</a:t>
            </a:r>
            <a:r>
              <a:rPr lang="en-US" altLang="ko-KR" dirty="0"/>
              <a:t>, 60</a:t>
            </a:r>
            <a:r>
              <a:rPr lang="ko-KR" altLang="en-US" dirty="0"/>
              <a:t>일 </a:t>
            </a:r>
            <a:r>
              <a:rPr lang="en-US" altLang="ko-KR" dirty="0"/>
              <a:t>= </a:t>
            </a:r>
            <a:r>
              <a:rPr lang="ko-KR" altLang="en-US" dirty="0"/>
              <a:t>사업주</a:t>
            </a:r>
            <a:endParaRPr lang="en-US" altLang="ko-KR" dirty="0"/>
          </a:p>
          <a:p>
            <a:pPr lvl="2"/>
            <a:r>
              <a:rPr lang="ko-KR" altLang="en-US" dirty="0"/>
              <a:t>우선대상기업 </a:t>
            </a:r>
            <a:r>
              <a:rPr lang="en-US" altLang="ko-KR" dirty="0"/>
              <a:t>: 90</a:t>
            </a:r>
            <a:r>
              <a:rPr lang="ko-KR" altLang="en-US" dirty="0"/>
              <a:t>일 모두 고용보험</a:t>
            </a:r>
            <a:endParaRPr lang="en-US" altLang="ko-KR" dirty="0"/>
          </a:p>
          <a:p>
            <a:r>
              <a:rPr lang="ko-KR" altLang="en-US" dirty="0"/>
              <a:t>자영업자 고용보험</a:t>
            </a:r>
            <a:endParaRPr lang="en-US" altLang="ko-KR" dirty="0"/>
          </a:p>
          <a:p>
            <a:pPr lvl="1"/>
            <a:r>
              <a:rPr lang="ko-KR" altLang="en-US" dirty="0"/>
              <a:t>가입대상 </a:t>
            </a:r>
            <a:r>
              <a:rPr lang="en-US" altLang="ko-KR" dirty="0"/>
              <a:t>: </a:t>
            </a:r>
            <a:r>
              <a:rPr lang="ko-KR" altLang="en-US" dirty="0"/>
              <a:t>근로자 </a:t>
            </a:r>
            <a:r>
              <a:rPr lang="en-US" altLang="ko-KR" dirty="0"/>
              <a:t>X or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인 미만 근로자 </a:t>
            </a:r>
            <a:r>
              <a:rPr lang="en-US" altLang="ko-KR" dirty="0"/>
              <a:t>; </a:t>
            </a:r>
            <a:r>
              <a:rPr lang="ko-KR" altLang="en-US" dirty="0"/>
              <a:t>본인 희망 </a:t>
            </a:r>
            <a:r>
              <a:rPr lang="en-US" altLang="ko-KR" dirty="0"/>
              <a:t>-&gt; </a:t>
            </a:r>
            <a:r>
              <a:rPr lang="ko-KR" altLang="en-US" dirty="0"/>
              <a:t>가입 가능</a:t>
            </a:r>
            <a:r>
              <a:rPr lang="en-US" altLang="ko-KR" dirty="0"/>
              <a:t>; </a:t>
            </a:r>
            <a:r>
              <a:rPr lang="ko-KR" altLang="en-US" dirty="0" err="1"/>
              <a:t>개업연월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/>
              <a:t>년 이내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4FB714-04DB-31A8-3070-AC59858DBC8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745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AB9677A-BF3D-B39C-73B6-EAF7DF5CF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45F630D-67F1-7510-B8E4-B86EB13F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산재보험제도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7C08E7-86BA-4AAA-6348-44A24B8E0F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E8194C9-480B-635A-2D92-7FA1419868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의의 및 목적</a:t>
            </a:r>
            <a:endParaRPr lang="en-US" altLang="ko-KR" dirty="0"/>
          </a:p>
          <a:p>
            <a:pPr lvl="1"/>
            <a:r>
              <a:rPr lang="ko-KR" altLang="en-US" dirty="0"/>
              <a:t>의의 </a:t>
            </a:r>
            <a:r>
              <a:rPr lang="en-US" altLang="ko-KR" dirty="0"/>
              <a:t>: </a:t>
            </a:r>
            <a:r>
              <a:rPr lang="ko-KR" altLang="en-US" dirty="0"/>
              <a:t>업무상 재해로 인한 소득상실 보전</a:t>
            </a:r>
            <a:r>
              <a:rPr lang="en-US" altLang="ko-KR" dirty="0"/>
              <a:t> + </a:t>
            </a:r>
            <a:r>
              <a:rPr lang="ko-KR" altLang="en-US" dirty="0"/>
              <a:t>요양</a:t>
            </a:r>
            <a:r>
              <a:rPr lang="en-US" altLang="ko-KR" dirty="0"/>
              <a:t>/</a:t>
            </a:r>
            <a:r>
              <a:rPr lang="ko-KR" altLang="en-US" dirty="0"/>
              <a:t>재활 </a:t>
            </a:r>
            <a:r>
              <a:rPr lang="en-US" altLang="ko-KR" dirty="0"/>
              <a:t>-&gt; </a:t>
            </a:r>
            <a:r>
              <a:rPr lang="ko-KR" altLang="en-US" dirty="0"/>
              <a:t>직업복귀</a:t>
            </a:r>
            <a:endParaRPr lang="en-US" altLang="ko-KR" dirty="0"/>
          </a:p>
          <a:p>
            <a:pPr lvl="1"/>
            <a:r>
              <a:rPr lang="ko-KR" altLang="en-US" dirty="0"/>
              <a:t>기능</a:t>
            </a:r>
            <a:r>
              <a:rPr lang="en-US" altLang="ko-KR" dirty="0"/>
              <a:t>/</a:t>
            </a:r>
            <a:r>
              <a:rPr lang="ko-KR" altLang="en-US" dirty="0"/>
              <a:t>특징</a:t>
            </a:r>
            <a:endParaRPr lang="en-US" altLang="ko-KR" dirty="0"/>
          </a:p>
          <a:p>
            <a:pPr lvl="2"/>
            <a:r>
              <a:rPr lang="ko-KR" altLang="en-US" dirty="0"/>
              <a:t>정부주도의 강제보험 </a:t>
            </a:r>
            <a:r>
              <a:rPr lang="en-US" altLang="ko-KR" dirty="0"/>
              <a:t>: </a:t>
            </a:r>
            <a:r>
              <a:rPr lang="ko-KR" altLang="en-US" dirty="0"/>
              <a:t>근로자와 유족보호</a:t>
            </a:r>
            <a:r>
              <a:rPr lang="en-US" altLang="ko-KR" dirty="0"/>
              <a:t>, </a:t>
            </a:r>
            <a:r>
              <a:rPr lang="ko-KR" altLang="en-US" dirty="0"/>
              <a:t>사업주산 위험분산</a:t>
            </a:r>
            <a:endParaRPr lang="en-US" altLang="ko-KR" dirty="0"/>
          </a:p>
          <a:p>
            <a:pPr lvl="2"/>
            <a:r>
              <a:rPr lang="ko-KR" altLang="en-US" dirty="0"/>
              <a:t>보험료 </a:t>
            </a:r>
            <a:r>
              <a:rPr lang="en-US" altLang="ko-KR" dirty="0"/>
              <a:t>= </a:t>
            </a:r>
            <a:r>
              <a:rPr lang="ko-KR" altLang="en-US" dirty="0"/>
              <a:t>사업주가 전액 부담</a:t>
            </a:r>
            <a:endParaRPr lang="en-US" altLang="ko-KR" dirty="0"/>
          </a:p>
          <a:p>
            <a:r>
              <a:rPr lang="ko-KR" altLang="en-US" dirty="0"/>
              <a:t>산재보험의 역사적배경</a:t>
            </a:r>
            <a:endParaRPr lang="en-US" altLang="ko-KR" dirty="0"/>
          </a:p>
          <a:p>
            <a:pPr lvl="1"/>
            <a:r>
              <a:rPr lang="ko-KR" altLang="en-US" dirty="0"/>
              <a:t>소유권 절대의 원칙 </a:t>
            </a:r>
            <a:r>
              <a:rPr lang="en-US" altLang="ko-KR" dirty="0"/>
              <a:t>: </a:t>
            </a:r>
            <a:r>
              <a:rPr lang="ko-KR" altLang="en-US" dirty="0"/>
              <a:t>소유권 제한의 원칙</a:t>
            </a:r>
            <a:endParaRPr lang="en-US" altLang="ko-KR" dirty="0"/>
          </a:p>
          <a:p>
            <a:pPr lvl="1"/>
            <a:r>
              <a:rPr lang="ko-KR" altLang="en-US" dirty="0"/>
              <a:t>계약 자유의 원칙의 수정 </a:t>
            </a:r>
            <a:r>
              <a:rPr lang="en-US" altLang="ko-KR" dirty="0"/>
              <a:t>: </a:t>
            </a:r>
            <a:r>
              <a:rPr lang="ko-KR" altLang="en-US" dirty="0"/>
              <a:t>계약 공정의 원칙</a:t>
            </a:r>
            <a:r>
              <a:rPr lang="en-US" altLang="ko-KR" dirty="0"/>
              <a:t>, </a:t>
            </a:r>
            <a:r>
              <a:rPr lang="ko-KR" altLang="en-US" dirty="0"/>
              <a:t>계약 강제의 원칙</a:t>
            </a:r>
            <a:endParaRPr lang="en-US" altLang="ko-KR" dirty="0"/>
          </a:p>
          <a:p>
            <a:pPr lvl="1"/>
            <a:r>
              <a:rPr lang="ko-KR" altLang="en-US" dirty="0"/>
              <a:t>과실 책임주의 수정 </a:t>
            </a:r>
            <a:r>
              <a:rPr lang="en-US" altLang="ko-KR" dirty="0"/>
              <a:t>: </a:t>
            </a:r>
            <a:r>
              <a:rPr lang="ko-KR" altLang="en-US" dirty="0"/>
              <a:t>무과실 책임주의</a:t>
            </a:r>
            <a:r>
              <a:rPr lang="en-US" altLang="ko-KR" dirty="0"/>
              <a:t>(</a:t>
            </a:r>
            <a:r>
              <a:rPr lang="ko-KR" altLang="en-US" dirty="0"/>
              <a:t>산재보험의 기초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적용대상</a:t>
            </a:r>
            <a:endParaRPr lang="en-US" altLang="ko-KR" dirty="0"/>
          </a:p>
          <a:p>
            <a:pPr lvl="1"/>
            <a:r>
              <a:rPr lang="ko-KR" altLang="en-US" dirty="0"/>
              <a:t>적용대상</a:t>
            </a:r>
            <a:endParaRPr lang="en-US" altLang="ko-KR" dirty="0"/>
          </a:p>
          <a:p>
            <a:pPr lvl="2"/>
            <a:r>
              <a:rPr lang="ko-KR" altLang="en-US" dirty="0"/>
              <a:t>근로자를 사용하는 모든 사업</a:t>
            </a:r>
            <a:r>
              <a:rPr lang="en-US" altLang="ko-KR" dirty="0"/>
              <a:t>/</a:t>
            </a:r>
            <a:r>
              <a:rPr lang="ko-KR" altLang="en-US" dirty="0"/>
              <a:t>사업장</a:t>
            </a:r>
            <a:endParaRPr lang="en-US" altLang="ko-KR" dirty="0"/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인 이상 근로자 사용 사업 </a:t>
            </a:r>
            <a:r>
              <a:rPr lang="en-US" altLang="ko-KR" dirty="0"/>
              <a:t>-&gt; </a:t>
            </a:r>
            <a:r>
              <a:rPr lang="ko-KR" altLang="en-US" dirty="0"/>
              <a:t>당연적용자</a:t>
            </a:r>
            <a:endParaRPr lang="en-US" altLang="ko-KR" dirty="0"/>
          </a:p>
          <a:p>
            <a:pPr lvl="1"/>
            <a:r>
              <a:rPr lang="ko-KR" altLang="en-US" dirty="0"/>
              <a:t>적용제외사업</a:t>
            </a:r>
            <a:endParaRPr lang="en-US" altLang="ko-KR" dirty="0"/>
          </a:p>
          <a:p>
            <a:pPr lvl="2"/>
            <a:r>
              <a:rPr lang="ko-KR" altLang="en-US" dirty="0"/>
              <a:t>공무원</a:t>
            </a:r>
            <a:r>
              <a:rPr lang="en-US" altLang="ko-KR" dirty="0"/>
              <a:t>/</a:t>
            </a:r>
            <a:r>
              <a:rPr lang="ko-KR" altLang="en-US" dirty="0"/>
              <a:t>군인 재해보상법에 적용</a:t>
            </a:r>
            <a:endParaRPr lang="en-US" altLang="ko-KR" dirty="0"/>
          </a:p>
          <a:p>
            <a:pPr lvl="2"/>
            <a:r>
              <a:rPr lang="ko-KR" altLang="en-US" dirty="0"/>
              <a:t>가구 내 고용활동</a:t>
            </a:r>
            <a:endParaRPr lang="en-US" altLang="ko-KR" dirty="0"/>
          </a:p>
          <a:p>
            <a:pPr lvl="1"/>
            <a:r>
              <a:rPr lang="ko-KR" altLang="en-US" dirty="0"/>
              <a:t>당연적용 가입자</a:t>
            </a:r>
            <a:endParaRPr lang="en-US" altLang="ko-KR" dirty="0"/>
          </a:p>
          <a:p>
            <a:pPr lvl="2"/>
            <a:r>
              <a:rPr lang="ko-KR" altLang="en-US" dirty="0"/>
              <a:t>산재보험법 </a:t>
            </a:r>
            <a:r>
              <a:rPr lang="ko-KR" altLang="en-US" dirty="0" err="1"/>
              <a:t>적용받는</a:t>
            </a:r>
            <a:r>
              <a:rPr lang="ko-KR" altLang="en-US" dirty="0"/>
              <a:t> 사업주 </a:t>
            </a:r>
            <a:r>
              <a:rPr lang="en-US" altLang="ko-KR" dirty="0"/>
              <a:t>-&gt; </a:t>
            </a:r>
            <a:r>
              <a:rPr lang="ko-KR" altLang="en-US" dirty="0"/>
              <a:t>당연적용 가입자</a:t>
            </a:r>
            <a:endParaRPr lang="en-US" altLang="ko-KR" dirty="0"/>
          </a:p>
          <a:p>
            <a:pPr lvl="1"/>
            <a:r>
              <a:rPr lang="ko-KR" altLang="en-US" dirty="0"/>
              <a:t>임의 적용 가입자</a:t>
            </a:r>
            <a:endParaRPr lang="en-US" altLang="ko-KR" dirty="0"/>
          </a:p>
          <a:p>
            <a:pPr lvl="2"/>
            <a:r>
              <a:rPr lang="ko-KR" altLang="en-US" dirty="0"/>
              <a:t>당연적용 </a:t>
            </a:r>
            <a:r>
              <a:rPr lang="en-US" altLang="ko-KR" dirty="0"/>
              <a:t>X </a:t>
            </a:r>
            <a:r>
              <a:rPr lang="ko-KR" altLang="en-US" dirty="0"/>
              <a:t>이면</a:t>
            </a:r>
            <a:r>
              <a:rPr lang="en-US" altLang="ko-KR" dirty="0"/>
              <a:t> -&gt; </a:t>
            </a:r>
            <a:r>
              <a:rPr lang="ko-KR" altLang="en-US" dirty="0"/>
              <a:t>공단승인 </a:t>
            </a:r>
            <a:r>
              <a:rPr lang="en-US" altLang="ko-KR" dirty="0"/>
              <a:t>-&gt; </a:t>
            </a:r>
            <a:r>
              <a:rPr lang="ko-KR" altLang="en-US" dirty="0"/>
              <a:t>임의가입</a:t>
            </a:r>
            <a:endParaRPr lang="en-US" altLang="ko-KR" dirty="0"/>
          </a:p>
          <a:p>
            <a:r>
              <a:rPr lang="ko-KR" altLang="en-US" dirty="0"/>
              <a:t>급여내용</a:t>
            </a:r>
            <a:endParaRPr lang="en-US" altLang="ko-KR" dirty="0"/>
          </a:p>
          <a:p>
            <a:pPr lvl="1"/>
            <a:r>
              <a:rPr lang="ko-KR" altLang="en-US" dirty="0"/>
              <a:t>요건</a:t>
            </a:r>
            <a:endParaRPr lang="en-US" altLang="ko-KR" dirty="0"/>
          </a:p>
          <a:p>
            <a:pPr lvl="2"/>
            <a:r>
              <a:rPr lang="ko-KR" altLang="en-US" dirty="0"/>
              <a:t>산재보험 가입 사업장의 근로자</a:t>
            </a:r>
            <a:endParaRPr lang="en-US" altLang="ko-KR" dirty="0"/>
          </a:p>
          <a:p>
            <a:pPr lvl="2"/>
            <a:r>
              <a:rPr lang="ko-KR" altLang="en-US" dirty="0"/>
              <a:t>업무상 재해</a:t>
            </a:r>
            <a:endParaRPr lang="en-US" altLang="ko-KR" dirty="0"/>
          </a:p>
          <a:p>
            <a:pPr lvl="3"/>
            <a:r>
              <a:rPr lang="ko-KR" altLang="en-US" dirty="0"/>
              <a:t>업무상 사고</a:t>
            </a:r>
            <a:r>
              <a:rPr lang="en-US" altLang="ko-KR" dirty="0"/>
              <a:t>, </a:t>
            </a:r>
            <a:r>
              <a:rPr lang="ko-KR" altLang="en-US" dirty="0"/>
              <a:t>업무상 질병</a:t>
            </a:r>
            <a:r>
              <a:rPr lang="en-US" altLang="ko-KR" dirty="0"/>
              <a:t>, </a:t>
            </a:r>
            <a:r>
              <a:rPr lang="ko-KR" altLang="en-US" dirty="0"/>
              <a:t>출퇴근재해</a:t>
            </a:r>
            <a:r>
              <a:rPr lang="en-US" altLang="ko-KR" dirty="0"/>
              <a:t>; </a:t>
            </a:r>
            <a:r>
              <a:rPr lang="ko-KR" altLang="en-US" dirty="0"/>
              <a:t>업무와 재해간 인과관계 성립해야 함</a:t>
            </a:r>
            <a:endParaRPr lang="en-US" altLang="ko-KR" dirty="0"/>
          </a:p>
          <a:p>
            <a:pPr lvl="2"/>
            <a:r>
              <a:rPr lang="en-US" altLang="ko-KR" dirty="0"/>
              <a:t>4</a:t>
            </a:r>
            <a:r>
              <a:rPr lang="ko-KR" altLang="en-US" dirty="0"/>
              <a:t>일 이상의 요양기간</a:t>
            </a:r>
            <a:endParaRPr lang="en-US" altLang="ko-KR" dirty="0"/>
          </a:p>
          <a:p>
            <a:pPr lvl="1"/>
            <a:r>
              <a:rPr lang="ko-KR" altLang="en-US" dirty="0"/>
              <a:t>업무상 사고</a:t>
            </a:r>
            <a:endParaRPr lang="en-US" altLang="ko-KR" dirty="0"/>
          </a:p>
          <a:p>
            <a:pPr lvl="2"/>
            <a:r>
              <a:rPr lang="ko-KR" altLang="en-US" dirty="0" err="1"/>
              <a:t>업무중</a:t>
            </a:r>
            <a:r>
              <a:rPr lang="ko-KR" altLang="en-US" dirty="0"/>
              <a:t> 사고</a:t>
            </a:r>
            <a:endParaRPr lang="en-US" altLang="ko-KR" dirty="0"/>
          </a:p>
          <a:p>
            <a:pPr lvl="2"/>
            <a:r>
              <a:rPr lang="ko-KR" altLang="en-US" dirty="0"/>
              <a:t>시설물</a:t>
            </a:r>
            <a:endParaRPr lang="en-US" altLang="ko-KR" dirty="0"/>
          </a:p>
          <a:p>
            <a:pPr lvl="1"/>
            <a:r>
              <a:rPr lang="ko-KR" altLang="en-US" dirty="0"/>
              <a:t>업무상 질병</a:t>
            </a:r>
            <a:endParaRPr lang="en-US" altLang="ko-KR" dirty="0"/>
          </a:p>
          <a:p>
            <a:pPr lvl="2"/>
            <a:r>
              <a:rPr lang="ko-KR" altLang="en-US" dirty="0"/>
              <a:t>업무와 관련해 발생된 질병</a:t>
            </a:r>
            <a:endParaRPr lang="en-US" altLang="ko-KR" dirty="0"/>
          </a:p>
          <a:p>
            <a:pPr lvl="2"/>
            <a:r>
              <a:rPr lang="ko-KR" altLang="en-US" dirty="0"/>
              <a:t>업무상 질병여부 심의 </a:t>
            </a:r>
            <a:r>
              <a:rPr lang="en-US" altLang="ko-KR" dirty="0"/>
              <a:t>-&gt;</a:t>
            </a:r>
            <a:r>
              <a:rPr lang="ko-KR" altLang="en-US" dirty="0"/>
              <a:t>업무상질병판정위원회</a:t>
            </a:r>
            <a:endParaRPr lang="en-US" altLang="ko-KR" dirty="0"/>
          </a:p>
          <a:p>
            <a:pPr lvl="1"/>
            <a:r>
              <a:rPr lang="ko-KR" altLang="en-US" dirty="0"/>
              <a:t>근로자의 고의</a:t>
            </a:r>
            <a:r>
              <a:rPr lang="en-US" altLang="ko-KR" dirty="0"/>
              <a:t>/</a:t>
            </a:r>
            <a:r>
              <a:rPr lang="ko-KR" altLang="en-US" dirty="0"/>
              <a:t>자해</a:t>
            </a:r>
            <a:r>
              <a:rPr lang="en-US" altLang="ko-KR" dirty="0"/>
              <a:t>, </a:t>
            </a:r>
            <a:r>
              <a:rPr lang="ko-KR" altLang="en-US" dirty="0"/>
              <a:t>범죄나 그것이 </a:t>
            </a:r>
            <a:r>
              <a:rPr lang="ko-KR" altLang="en-US" dirty="0" err="1"/>
              <a:t>원인이된</a:t>
            </a:r>
            <a:r>
              <a:rPr lang="ko-KR" altLang="en-US" dirty="0"/>
              <a:t> 질병</a:t>
            </a:r>
            <a:r>
              <a:rPr lang="en-US" altLang="ko-KR" dirty="0"/>
              <a:t>/</a:t>
            </a:r>
            <a:r>
              <a:rPr lang="ko-KR" altLang="en-US" dirty="0"/>
              <a:t>상해는 업무상 재해 </a:t>
            </a:r>
            <a:r>
              <a:rPr lang="en-US" altLang="ko-KR" dirty="0"/>
              <a:t>X</a:t>
            </a:r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34B161-6A5E-0903-DFAF-6693AE3B025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038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3E4E988-44E7-5F6C-1234-2BEFB1839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E298D72-85AB-44A0-5B7B-3D45B58E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F07552-A551-25B5-A193-246605DDA5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F4ABB9B-9549-362F-7AF4-405EE4BAE7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급여의 종류</a:t>
            </a:r>
            <a:endParaRPr lang="en-US" altLang="ko-KR" dirty="0"/>
          </a:p>
          <a:p>
            <a:pPr lvl="1"/>
            <a:r>
              <a:rPr lang="ko-KR" altLang="en-US" dirty="0"/>
              <a:t>요양급여 </a:t>
            </a:r>
            <a:r>
              <a:rPr lang="en-US" altLang="ko-KR" dirty="0"/>
              <a:t>: 3</a:t>
            </a:r>
            <a:r>
              <a:rPr lang="ko-KR" altLang="en-US" dirty="0" err="1"/>
              <a:t>일이내의</a:t>
            </a:r>
            <a:r>
              <a:rPr lang="ko-KR" altLang="en-US" dirty="0"/>
              <a:t> 요양으로 치유 </a:t>
            </a:r>
            <a:r>
              <a:rPr lang="en-US" altLang="ko-KR" dirty="0"/>
              <a:t>-&gt; </a:t>
            </a:r>
            <a:r>
              <a:rPr lang="ko-KR" altLang="en-US" dirty="0"/>
              <a:t>지급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휴업금여 </a:t>
            </a:r>
            <a:r>
              <a:rPr lang="en-US" altLang="ko-KR" dirty="0"/>
              <a:t>: </a:t>
            </a:r>
            <a:r>
              <a:rPr lang="ko-KR" altLang="en-US" dirty="0"/>
              <a:t>평균임금</a:t>
            </a:r>
            <a:r>
              <a:rPr lang="en-US" altLang="ko-KR" dirty="0"/>
              <a:t> * 0.7 * </a:t>
            </a:r>
            <a:r>
              <a:rPr lang="ko-KR" altLang="en-US" dirty="0"/>
              <a:t>요양으로</a:t>
            </a:r>
            <a:r>
              <a:rPr lang="en-US" altLang="ko-KR" dirty="0"/>
              <a:t> </a:t>
            </a:r>
            <a:r>
              <a:rPr lang="ko-KR" altLang="en-US" dirty="0"/>
              <a:t>취업하지 못한 기간</a:t>
            </a:r>
            <a:endParaRPr lang="en-US" altLang="ko-KR" dirty="0"/>
          </a:p>
          <a:p>
            <a:pPr lvl="1"/>
            <a:r>
              <a:rPr lang="ko-KR" altLang="en-US" dirty="0"/>
              <a:t>장해급여 </a:t>
            </a:r>
            <a:r>
              <a:rPr lang="en-US" altLang="ko-KR" dirty="0"/>
              <a:t>: </a:t>
            </a:r>
            <a:r>
              <a:rPr lang="ko-KR" altLang="en-US" dirty="0"/>
              <a:t>등급에 따라 치유 후 장해가 있는 경우</a:t>
            </a:r>
            <a:endParaRPr lang="en-US" altLang="ko-KR" dirty="0"/>
          </a:p>
          <a:p>
            <a:pPr lvl="1"/>
            <a:r>
              <a:rPr lang="ko-KR" altLang="en-US" dirty="0"/>
              <a:t>유족급여 </a:t>
            </a:r>
            <a:r>
              <a:rPr lang="en-US" altLang="ko-KR" dirty="0"/>
              <a:t>: </a:t>
            </a:r>
            <a:r>
              <a:rPr lang="ko-KR" altLang="en-US" dirty="0"/>
              <a:t>근로자 사망할 당시 생계를 같이 하던 유가족</a:t>
            </a:r>
            <a:endParaRPr lang="en-US" altLang="ko-KR" dirty="0"/>
          </a:p>
          <a:p>
            <a:pPr lvl="1"/>
            <a:r>
              <a:rPr lang="ko-KR" altLang="en-US" dirty="0"/>
              <a:t>상병보상연금 </a:t>
            </a:r>
            <a:r>
              <a:rPr lang="en-US" altLang="ko-KR" dirty="0"/>
              <a:t>: </a:t>
            </a:r>
            <a:r>
              <a:rPr lang="ko-KR" altLang="en-US" dirty="0"/>
              <a:t>요양시작 </a:t>
            </a:r>
            <a:r>
              <a:rPr lang="en-US" altLang="ko-KR" dirty="0"/>
              <a:t>2</a:t>
            </a:r>
            <a:r>
              <a:rPr lang="ko-KR" altLang="en-US" dirty="0" err="1"/>
              <a:t>년이후</a:t>
            </a:r>
            <a:r>
              <a:rPr lang="ko-KR" altLang="en-US" dirty="0"/>
              <a:t> 치유 </a:t>
            </a:r>
            <a:r>
              <a:rPr lang="en-US" altLang="ko-KR" dirty="0"/>
              <a:t>X -&gt; </a:t>
            </a:r>
            <a:r>
              <a:rPr lang="ko-KR" altLang="en-US" dirty="0"/>
              <a:t>등급에</a:t>
            </a:r>
            <a:r>
              <a:rPr lang="en-US" altLang="ko-KR" dirty="0"/>
              <a:t> </a:t>
            </a:r>
            <a:r>
              <a:rPr lang="ko-KR" altLang="en-US" dirty="0"/>
              <a:t>따라 휴업급여 대신 지급</a:t>
            </a:r>
            <a:endParaRPr lang="en-US" altLang="ko-KR" dirty="0"/>
          </a:p>
          <a:p>
            <a:pPr lvl="2"/>
            <a:r>
              <a:rPr lang="ko-KR" altLang="en-US" dirty="0"/>
              <a:t>요양시작후 </a:t>
            </a:r>
            <a:r>
              <a:rPr lang="en-US" altLang="ko-KR" dirty="0"/>
              <a:t>3</a:t>
            </a:r>
            <a:r>
              <a:rPr lang="ko-KR" altLang="en-US" dirty="0"/>
              <a:t>년이 지나면 사용자는 고용관계 종료 </a:t>
            </a:r>
            <a:r>
              <a:rPr lang="en-US" altLang="ko-KR" dirty="0"/>
              <a:t>-&gt; </a:t>
            </a:r>
            <a:r>
              <a:rPr lang="ko-KR" altLang="en-US" dirty="0"/>
              <a:t>손해배상 의무 면제</a:t>
            </a:r>
            <a:endParaRPr lang="en-US" altLang="ko-KR" dirty="0"/>
          </a:p>
          <a:p>
            <a:pPr lvl="1"/>
            <a:r>
              <a:rPr lang="ko-KR" altLang="en-US" dirty="0"/>
              <a:t>직업재활급여 </a:t>
            </a:r>
            <a:r>
              <a:rPr lang="en-US" altLang="ko-KR" dirty="0"/>
              <a:t>: </a:t>
            </a:r>
          </a:p>
          <a:p>
            <a:pPr lvl="1"/>
            <a:r>
              <a:rPr lang="ko-KR" altLang="en-US" dirty="0"/>
              <a:t>특별급여 </a:t>
            </a:r>
            <a:r>
              <a:rPr lang="en-US" altLang="ko-KR" dirty="0"/>
              <a:t>: </a:t>
            </a:r>
            <a:r>
              <a:rPr lang="ko-KR" altLang="en-US" dirty="0"/>
              <a:t>사업주의 고의</a:t>
            </a:r>
            <a:r>
              <a:rPr lang="en-US" altLang="ko-KR" dirty="0"/>
              <a:t>/</a:t>
            </a:r>
            <a:r>
              <a:rPr lang="ko-KR" altLang="en-US" dirty="0"/>
              <a:t>과실 </a:t>
            </a:r>
            <a:r>
              <a:rPr lang="en-US" altLang="ko-KR" dirty="0"/>
              <a:t>-&gt; </a:t>
            </a:r>
            <a:r>
              <a:rPr lang="ko-KR" altLang="en-US" dirty="0"/>
              <a:t>산업재해 로 민사 손해배상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ko-KR" altLang="en-US" dirty="0" err="1"/>
              <a:t>수급권자와</a:t>
            </a:r>
            <a:r>
              <a:rPr lang="ko-KR" altLang="en-US" dirty="0"/>
              <a:t> 사업주가 합의하고 손해배상 청구 포기</a:t>
            </a:r>
            <a:endParaRPr lang="en-US" altLang="ko-KR" dirty="0"/>
          </a:p>
          <a:p>
            <a:r>
              <a:rPr lang="ko-KR" altLang="en-US" dirty="0"/>
              <a:t>급여산정 기준</a:t>
            </a:r>
            <a:endParaRPr lang="en-US" altLang="ko-KR" dirty="0"/>
          </a:p>
          <a:p>
            <a:pPr lvl="1"/>
            <a:r>
              <a:rPr lang="ko-KR" altLang="en-US" dirty="0"/>
              <a:t>최고보상기준 </a:t>
            </a:r>
            <a:r>
              <a:rPr lang="en-US" altLang="ko-KR" dirty="0"/>
              <a:t>= </a:t>
            </a:r>
            <a:r>
              <a:rPr lang="ko-KR" altLang="en-US" dirty="0"/>
              <a:t>사업체 근로자 평균 </a:t>
            </a:r>
            <a:r>
              <a:rPr lang="en-US" altLang="ko-KR" dirty="0"/>
              <a:t>* 1.8</a:t>
            </a:r>
          </a:p>
          <a:p>
            <a:pPr lvl="1"/>
            <a:r>
              <a:rPr lang="ko-KR" altLang="en-US" dirty="0"/>
              <a:t>최저보상기준 </a:t>
            </a:r>
            <a:r>
              <a:rPr lang="en-US" altLang="ko-KR" dirty="0"/>
              <a:t>= </a:t>
            </a:r>
            <a:r>
              <a:rPr lang="ko-KR" altLang="en-US" dirty="0"/>
              <a:t>사업체 근로자 평균 </a:t>
            </a:r>
            <a:r>
              <a:rPr lang="en-US" altLang="ko-KR" dirty="0"/>
              <a:t>* 1/2</a:t>
            </a:r>
          </a:p>
          <a:p>
            <a:pPr lvl="1"/>
            <a:r>
              <a:rPr lang="ko-KR" altLang="en-US" dirty="0" err="1"/>
              <a:t>임금변동순응률제도</a:t>
            </a:r>
            <a:endParaRPr lang="en-US" altLang="ko-KR" dirty="0"/>
          </a:p>
          <a:p>
            <a:pPr lvl="2"/>
            <a:r>
              <a:rPr lang="ko-KR" altLang="en-US" dirty="0"/>
              <a:t>급여에 </a:t>
            </a:r>
            <a:r>
              <a:rPr lang="ko-KR" altLang="en-US" dirty="0" err="1"/>
              <a:t>임금증감률</a:t>
            </a:r>
            <a:r>
              <a:rPr lang="ko-KR" altLang="en-US" dirty="0"/>
              <a:t> 반영</a:t>
            </a:r>
            <a:endParaRPr lang="en-US" altLang="ko-KR" dirty="0"/>
          </a:p>
          <a:p>
            <a:r>
              <a:rPr lang="ko-KR" altLang="en-US" dirty="0"/>
              <a:t>다른 법에 의한 보상</a:t>
            </a:r>
            <a:r>
              <a:rPr lang="en-US" altLang="ko-KR" dirty="0"/>
              <a:t>/</a:t>
            </a:r>
            <a:r>
              <a:rPr lang="ko-KR" altLang="en-US" dirty="0"/>
              <a:t>재상과 중복급여</a:t>
            </a:r>
            <a:endParaRPr lang="en-US" altLang="ko-KR" dirty="0"/>
          </a:p>
          <a:p>
            <a:pPr lvl="1"/>
            <a:r>
              <a:rPr lang="ko-KR" altLang="en-US" dirty="0" err="1"/>
              <a:t>수급권자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산재보험법 </a:t>
            </a:r>
            <a:r>
              <a:rPr lang="en-US" altLang="ko-KR" dirty="0"/>
              <a:t>-&gt; </a:t>
            </a:r>
            <a:r>
              <a:rPr lang="ko-KR" altLang="en-US" dirty="0"/>
              <a:t>근로기준법에 따른 재해보상책임 면제</a:t>
            </a:r>
            <a:endParaRPr lang="en-US" altLang="ko-KR" dirty="0"/>
          </a:p>
          <a:p>
            <a:pPr lvl="1"/>
            <a:r>
              <a:rPr lang="ko-KR" altLang="en-US" dirty="0"/>
              <a:t>산재보험법에 따른 보험금여 </a:t>
            </a:r>
            <a:r>
              <a:rPr lang="en-US" altLang="ko-KR" dirty="0"/>
              <a:t>-&gt; </a:t>
            </a:r>
            <a:r>
              <a:rPr lang="ko-KR" altLang="en-US" dirty="0"/>
              <a:t>금액 한도 내에서 </a:t>
            </a:r>
            <a:r>
              <a:rPr lang="ko-KR" altLang="en-US" dirty="0" err="1"/>
              <a:t>민법등의</a:t>
            </a:r>
            <a:r>
              <a:rPr lang="ko-KR" altLang="en-US" dirty="0"/>
              <a:t> 손해배상책임 면제</a:t>
            </a:r>
            <a:endParaRPr lang="en-US" altLang="ko-KR" dirty="0"/>
          </a:p>
          <a:p>
            <a:pPr lvl="1"/>
            <a:r>
              <a:rPr lang="ko-KR" altLang="en-US" dirty="0"/>
              <a:t>국민연금법에 의한 장애연금</a:t>
            </a:r>
            <a:r>
              <a:rPr lang="en-US" altLang="ko-KR" dirty="0"/>
              <a:t>, </a:t>
            </a:r>
            <a:r>
              <a:rPr lang="ko-KR" altLang="en-US" dirty="0"/>
              <a:t>유족연금 </a:t>
            </a:r>
            <a:r>
              <a:rPr lang="en-US" altLang="ko-KR" dirty="0"/>
              <a:t>-&gt; ½</a:t>
            </a:r>
            <a:r>
              <a:rPr lang="ko-KR" altLang="en-US" dirty="0"/>
              <a:t>로 감액</a:t>
            </a:r>
            <a:endParaRPr lang="en-US" altLang="ko-KR" dirty="0"/>
          </a:p>
          <a:p>
            <a:r>
              <a:rPr lang="ko-KR" altLang="en-US" dirty="0"/>
              <a:t>재정</a:t>
            </a:r>
            <a:r>
              <a:rPr lang="en-US" altLang="ko-KR" dirty="0"/>
              <a:t>(</a:t>
            </a:r>
            <a:r>
              <a:rPr lang="ko-KR" altLang="en-US" dirty="0"/>
              <a:t>보험료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사업주가 전액 부담</a:t>
            </a:r>
            <a:r>
              <a:rPr lang="en-US" altLang="ko-KR" dirty="0"/>
              <a:t>(</a:t>
            </a:r>
            <a:r>
              <a:rPr lang="ko-KR" altLang="en-US" dirty="0"/>
              <a:t>무과실책임주의 </a:t>
            </a:r>
            <a:r>
              <a:rPr lang="en-US" altLang="ko-KR" dirty="0"/>
              <a:t>-&gt; </a:t>
            </a:r>
            <a:r>
              <a:rPr lang="ko-KR" altLang="en-US" dirty="0"/>
              <a:t>근로자보호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업종별 산재보험료율 </a:t>
            </a:r>
            <a:r>
              <a:rPr lang="en-US" altLang="ko-KR" dirty="0"/>
              <a:t>+ </a:t>
            </a:r>
            <a:r>
              <a:rPr lang="ko-KR" altLang="en-US" dirty="0" err="1"/>
              <a:t>개별실적요율</a:t>
            </a:r>
            <a:r>
              <a:rPr lang="en-US" altLang="ko-KR" dirty="0"/>
              <a:t>(</a:t>
            </a:r>
            <a:r>
              <a:rPr lang="ko-KR" altLang="en-US" dirty="0"/>
              <a:t>동일 사업에도 재해율에 따라 차등적용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개산보험료와 확정보험료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운영체계</a:t>
            </a:r>
            <a:endParaRPr lang="en-US" altLang="ko-KR" dirty="0"/>
          </a:p>
          <a:p>
            <a:pPr lvl="1"/>
            <a:r>
              <a:rPr lang="ko-KR" altLang="en-US" dirty="0"/>
              <a:t>사업운영 </a:t>
            </a:r>
            <a:r>
              <a:rPr lang="en-US" altLang="ko-KR" dirty="0"/>
              <a:t>= </a:t>
            </a:r>
            <a:r>
              <a:rPr lang="ko-KR" altLang="en-US" dirty="0"/>
              <a:t>고용노동부</a:t>
            </a:r>
            <a:r>
              <a:rPr lang="en-US" altLang="ko-KR" dirty="0"/>
              <a:t>, </a:t>
            </a:r>
            <a:r>
              <a:rPr lang="ko-KR" altLang="en-US" dirty="0"/>
              <a:t>업무 </a:t>
            </a:r>
            <a:r>
              <a:rPr lang="en-US" altLang="ko-KR" dirty="0"/>
              <a:t>= </a:t>
            </a:r>
            <a:r>
              <a:rPr lang="ko-KR" altLang="en-US" dirty="0"/>
              <a:t>근로복지공단</a:t>
            </a:r>
            <a:endParaRPr lang="en-US" altLang="ko-KR" dirty="0"/>
          </a:p>
          <a:p>
            <a:pPr lvl="1"/>
            <a:r>
              <a:rPr lang="ko-KR" altLang="en-US" dirty="0"/>
              <a:t>산재보험료 징수 </a:t>
            </a:r>
            <a:r>
              <a:rPr lang="en-US" altLang="ko-KR" dirty="0"/>
              <a:t>= </a:t>
            </a:r>
            <a:r>
              <a:rPr lang="ko-KR" altLang="en-US" dirty="0"/>
              <a:t>국민건강보험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2873AF-2BEC-C497-B7C3-CBA0CA52DA9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760134-6ABA-6C86-25CE-6DF1A8D0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644" y="5431850"/>
            <a:ext cx="3640969" cy="4589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A5C080-D695-FD19-0D6A-42C6DBCCF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316" y="6105128"/>
            <a:ext cx="3753125" cy="114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43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B4A287C-6CF1-3D8D-8E2F-DA73C52F0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73093AF-80E0-7811-5EB8-E4B8B640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59847B-58C1-096A-BD6E-1B3BEB1DEC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F3070CD-477A-8574-AD83-D9E046803B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공공부조 문제점과 개선안</a:t>
            </a:r>
            <a:endParaRPr lang="en-US" altLang="ko-KR" dirty="0"/>
          </a:p>
          <a:p>
            <a:r>
              <a:rPr lang="ko-KR" altLang="en-US" dirty="0"/>
              <a:t>공공부조 정의</a:t>
            </a:r>
            <a:r>
              <a:rPr lang="en-US" altLang="ko-KR" dirty="0"/>
              <a:t>/</a:t>
            </a:r>
            <a:r>
              <a:rPr lang="ko-KR" altLang="en-US" dirty="0"/>
              <a:t>목적</a:t>
            </a:r>
            <a:r>
              <a:rPr lang="en-US" altLang="ko-KR" dirty="0"/>
              <a:t>/</a:t>
            </a:r>
            <a:r>
              <a:rPr lang="ko-KR" altLang="en-US" dirty="0"/>
              <a:t>특성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사회보장기본법</a:t>
            </a:r>
            <a:r>
              <a:rPr lang="en-US" altLang="ko-KR" dirty="0"/>
              <a:t>, </a:t>
            </a:r>
            <a:r>
              <a:rPr lang="ko-KR" altLang="en-US" dirty="0" err="1"/>
              <a:t>행안부</a:t>
            </a:r>
            <a:r>
              <a:rPr lang="ko-KR" altLang="en-US" dirty="0"/>
              <a:t> 국기원</a:t>
            </a:r>
            <a:endParaRPr lang="en-US" altLang="ko-KR" dirty="0"/>
          </a:p>
          <a:p>
            <a:pPr lvl="1"/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최저생활보장</a:t>
            </a:r>
            <a:r>
              <a:rPr lang="en-US" altLang="ko-KR" dirty="0"/>
              <a:t>, </a:t>
            </a:r>
            <a:r>
              <a:rPr lang="ko-KR" altLang="en-US" dirty="0"/>
              <a:t>자활조성</a:t>
            </a:r>
            <a:endParaRPr lang="en-US" altLang="ko-KR" dirty="0"/>
          </a:p>
          <a:p>
            <a:pPr lvl="1"/>
            <a:r>
              <a:rPr lang="ko-KR" altLang="en-US" dirty="0"/>
              <a:t>특성 </a:t>
            </a:r>
            <a:r>
              <a:rPr lang="en-US" altLang="ko-KR" dirty="0"/>
              <a:t>: </a:t>
            </a:r>
            <a:r>
              <a:rPr lang="ko-KR" altLang="en-US" dirty="0"/>
              <a:t>수직적재분배</a:t>
            </a:r>
            <a:r>
              <a:rPr lang="en-US" altLang="ko-KR" dirty="0"/>
              <a:t>, </a:t>
            </a:r>
            <a:r>
              <a:rPr lang="ko-KR" altLang="en-US" dirty="0"/>
              <a:t>비용효율성</a:t>
            </a:r>
            <a:r>
              <a:rPr lang="en-US" altLang="ko-KR" dirty="0"/>
              <a:t>, </a:t>
            </a:r>
            <a:r>
              <a:rPr lang="ko-KR" altLang="en-US" dirty="0"/>
              <a:t>높은 </a:t>
            </a:r>
            <a:r>
              <a:rPr lang="ko-KR" altLang="en-US" dirty="0" err="1"/>
              <a:t>행정비</a:t>
            </a:r>
            <a:r>
              <a:rPr lang="en-US" altLang="ko-KR" dirty="0"/>
              <a:t>, </a:t>
            </a:r>
            <a:r>
              <a:rPr lang="ko-KR" altLang="en-US" dirty="0"/>
              <a:t>낮은 근로의욕</a:t>
            </a:r>
            <a:r>
              <a:rPr lang="en-US" altLang="ko-KR" dirty="0"/>
              <a:t>, </a:t>
            </a:r>
            <a:r>
              <a:rPr lang="ko-KR" altLang="en-US" dirty="0"/>
              <a:t>정치적 지지</a:t>
            </a:r>
            <a:endParaRPr lang="en-US" altLang="ko-KR" dirty="0"/>
          </a:p>
          <a:p>
            <a:r>
              <a:rPr lang="ko-KR" altLang="en-US" dirty="0"/>
              <a:t>공공부조제</a:t>
            </a:r>
            <a:endParaRPr lang="en-US" altLang="ko-KR" dirty="0"/>
          </a:p>
          <a:p>
            <a:pPr lvl="1"/>
            <a:r>
              <a:rPr lang="ko-KR" altLang="en-US" dirty="0"/>
              <a:t>기초생활 기초연금 긴급복지</a:t>
            </a:r>
            <a:r>
              <a:rPr lang="en-US" altLang="ko-KR" dirty="0"/>
              <a:t>, </a:t>
            </a:r>
            <a:r>
              <a:rPr lang="ko-KR" altLang="en-US" dirty="0" err="1"/>
              <a:t>국민재취업</a:t>
            </a:r>
            <a:endParaRPr lang="en-US" altLang="ko-KR" dirty="0"/>
          </a:p>
          <a:p>
            <a:pPr lvl="1"/>
            <a:r>
              <a:rPr lang="ko-KR" altLang="en-US" dirty="0"/>
              <a:t>급여종류 </a:t>
            </a:r>
            <a:r>
              <a:rPr lang="en-US" altLang="ko-KR" dirty="0"/>
              <a:t>: </a:t>
            </a:r>
            <a:r>
              <a:rPr lang="ko-KR" altLang="en-US" dirty="0"/>
              <a:t>생계급여</a:t>
            </a:r>
            <a:r>
              <a:rPr lang="en-US" altLang="ko-KR" dirty="0"/>
              <a:t>, </a:t>
            </a:r>
            <a:r>
              <a:rPr lang="ko-KR" altLang="en-US" dirty="0"/>
              <a:t>의료급여</a:t>
            </a:r>
            <a:r>
              <a:rPr lang="en-US" altLang="ko-KR" dirty="0"/>
              <a:t>, </a:t>
            </a:r>
            <a:r>
              <a:rPr lang="ko-KR" altLang="en-US" dirty="0"/>
              <a:t>주거급여</a:t>
            </a:r>
            <a:r>
              <a:rPr lang="en-US" altLang="ko-KR" dirty="0"/>
              <a:t>, </a:t>
            </a:r>
            <a:r>
              <a:rPr lang="ko-KR" altLang="en-US" dirty="0"/>
              <a:t>교육급여</a:t>
            </a:r>
            <a:r>
              <a:rPr lang="en-US" altLang="ko-KR" dirty="0"/>
              <a:t>, </a:t>
            </a:r>
            <a:r>
              <a:rPr lang="ko-KR" altLang="en-US" dirty="0"/>
              <a:t>해산</a:t>
            </a:r>
            <a:r>
              <a:rPr lang="en-US" altLang="ko-KR" dirty="0"/>
              <a:t>, </a:t>
            </a:r>
            <a:r>
              <a:rPr lang="ko-KR" altLang="en-US" dirty="0" err="1"/>
              <a:t>장제</a:t>
            </a:r>
            <a:r>
              <a:rPr lang="en-US" altLang="ko-KR" dirty="0"/>
              <a:t>, </a:t>
            </a:r>
            <a:r>
              <a:rPr lang="ko-KR" altLang="en-US" dirty="0"/>
              <a:t>자활</a:t>
            </a:r>
            <a:endParaRPr lang="en-US" altLang="ko-KR" dirty="0"/>
          </a:p>
          <a:p>
            <a:pPr lvl="1"/>
            <a:r>
              <a:rPr lang="ko-KR" altLang="en-US" dirty="0"/>
              <a:t>부양의무자</a:t>
            </a:r>
            <a:r>
              <a:rPr lang="en-US" altLang="ko-KR" dirty="0"/>
              <a:t>, </a:t>
            </a:r>
            <a:r>
              <a:rPr lang="ko-KR" altLang="en-US" dirty="0"/>
              <a:t>부양능력</a:t>
            </a:r>
            <a:endParaRPr lang="en-US" altLang="ko-KR" dirty="0"/>
          </a:p>
          <a:p>
            <a:pPr lvl="1"/>
            <a:r>
              <a:rPr lang="ko-KR" altLang="en-US" dirty="0"/>
              <a:t>긴급복지지원</a:t>
            </a:r>
            <a:endParaRPr lang="en-US" altLang="ko-KR" dirty="0"/>
          </a:p>
          <a:p>
            <a:r>
              <a:rPr lang="ko-KR" altLang="en-US" dirty="0"/>
              <a:t>문제점 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근로유인 저해 </a:t>
            </a:r>
            <a:r>
              <a:rPr lang="en-US" altLang="ko-KR" dirty="0"/>
              <a:t>: </a:t>
            </a:r>
            <a:r>
              <a:rPr lang="ko-KR" altLang="en-US" dirty="0"/>
              <a:t>탈수급유인부족 </a:t>
            </a:r>
            <a:r>
              <a:rPr lang="en-US" altLang="ko-KR" dirty="0"/>
              <a:t>-&gt; </a:t>
            </a:r>
            <a:r>
              <a:rPr lang="ko-KR" altLang="en-US" dirty="0"/>
              <a:t>소득을 고려해 적정수준의 급여를 지원</a:t>
            </a:r>
            <a:endParaRPr lang="en-US" altLang="ko-KR" dirty="0"/>
          </a:p>
          <a:p>
            <a:pPr lvl="1"/>
            <a:r>
              <a:rPr lang="ko-KR" altLang="en-US" dirty="0" err="1"/>
              <a:t>그외문제</a:t>
            </a:r>
            <a:endParaRPr lang="en-US" altLang="ko-KR" dirty="0"/>
          </a:p>
          <a:p>
            <a:pPr lvl="1"/>
            <a:r>
              <a:rPr lang="ko-KR" altLang="en-US" dirty="0"/>
              <a:t>제도의 포괄성 </a:t>
            </a:r>
            <a:r>
              <a:rPr lang="en-US" altLang="ko-KR" dirty="0"/>
              <a:t>: </a:t>
            </a:r>
          </a:p>
          <a:p>
            <a:pPr lvl="2"/>
            <a:r>
              <a:rPr lang="ko-KR" altLang="en-US" dirty="0"/>
              <a:t>탈락자 </a:t>
            </a:r>
            <a:r>
              <a:rPr lang="en-US" altLang="ko-KR" dirty="0"/>
              <a:t>: </a:t>
            </a:r>
            <a:r>
              <a:rPr lang="ko-KR" altLang="en-US" dirty="0"/>
              <a:t>잘 모르겠다 </a:t>
            </a:r>
            <a:r>
              <a:rPr lang="en-US" altLang="ko-KR" dirty="0"/>
              <a:t>– </a:t>
            </a:r>
            <a:r>
              <a:rPr lang="ko-KR" altLang="en-US" dirty="0"/>
              <a:t>거의 </a:t>
            </a:r>
            <a:r>
              <a:rPr lang="en-US" altLang="ko-KR" dirty="0"/>
              <a:t>25</a:t>
            </a:r>
            <a:r>
              <a:rPr lang="ko-KR" altLang="en-US" dirty="0"/>
              <a:t>퍼</a:t>
            </a:r>
            <a:endParaRPr lang="en-US" altLang="ko-KR" dirty="0"/>
          </a:p>
          <a:p>
            <a:pPr lvl="2"/>
            <a:r>
              <a:rPr lang="ko-KR" altLang="en-US" dirty="0"/>
              <a:t>조사결과가 달라져서 </a:t>
            </a:r>
            <a:r>
              <a:rPr lang="en-US" altLang="ko-KR" dirty="0"/>
              <a:t>- </a:t>
            </a:r>
            <a:r>
              <a:rPr lang="ko-KR" altLang="en-US" dirty="0"/>
              <a:t>선정과정에서 확인되지 않는 문제</a:t>
            </a:r>
            <a:endParaRPr lang="en-US" altLang="ko-KR" dirty="0"/>
          </a:p>
          <a:p>
            <a:pPr lvl="2"/>
            <a:r>
              <a:rPr lang="ko-KR" altLang="en-US" dirty="0"/>
              <a:t>신청주의 </a:t>
            </a:r>
            <a:r>
              <a:rPr lang="en-US" altLang="ko-KR" dirty="0"/>
              <a:t>: </a:t>
            </a:r>
            <a:r>
              <a:rPr lang="ko-KR" altLang="en-US" dirty="0"/>
              <a:t>제도를 잘 몰라서</a:t>
            </a:r>
            <a:r>
              <a:rPr lang="en-US" altLang="ko-KR" dirty="0"/>
              <a:t>, </a:t>
            </a:r>
            <a:r>
              <a:rPr lang="ko-KR" altLang="en-US" dirty="0"/>
              <a:t>번거로워서 </a:t>
            </a:r>
            <a:r>
              <a:rPr lang="en-US" altLang="ko-KR" dirty="0"/>
              <a:t>: 40~50%</a:t>
            </a:r>
          </a:p>
          <a:p>
            <a:pPr lvl="1"/>
            <a:r>
              <a:rPr lang="ko-KR" altLang="en-US" dirty="0"/>
              <a:t>급여의 </a:t>
            </a:r>
            <a:r>
              <a:rPr lang="ko-KR" altLang="en-US" dirty="0" err="1"/>
              <a:t>충분성</a:t>
            </a:r>
            <a:endParaRPr lang="en-US" altLang="ko-KR" dirty="0"/>
          </a:p>
          <a:p>
            <a:pPr lvl="2"/>
            <a:r>
              <a:rPr lang="ko-KR" altLang="en-US" dirty="0"/>
              <a:t>생계급여 </a:t>
            </a:r>
            <a:r>
              <a:rPr lang="en-US" altLang="ko-KR" dirty="0"/>
              <a:t>= </a:t>
            </a:r>
            <a:r>
              <a:rPr lang="ko-KR" altLang="en-US" dirty="0"/>
              <a:t>부족하다</a:t>
            </a:r>
            <a:endParaRPr lang="en-US" altLang="ko-KR" dirty="0"/>
          </a:p>
          <a:p>
            <a:pPr lvl="2"/>
            <a:r>
              <a:rPr lang="ko-KR" altLang="en-US" dirty="0"/>
              <a:t>주거급여 </a:t>
            </a:r>
            <a:r>
              <a:rPr lang="en-US" altLang="ko-KR" dirty="0"/>
              <a:t>= </a:t>
            </a:r>
          </a:p>
          <a:p>
            <a:pPr lvl="2"/>
            <a:r>
              <a:rPr lang="ko-KR" altLang="en-US" dirty="0"/>
              <a:t>민간임대주택 </a:t>
            </a:r>
            <a:r>
              <a:rPr lang="ko-KR" altLang="en-US" dirty="0" err="1"/>
              <a:t>기준입대료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실제 </a:t>
            </a:r>
            <a:r>
              <a:rPr lang="ko-KR" altLang="en-US" dirty="0" err="1"/>
              <a:t>임래됴보다</a:t>
            </a:r>
            <a:r>
              <a:rPr lang="ko-KR" altLang="en-US" dirty="0"/>
              <a:t> 낮음</a:t>
            </a:r>
            <a:endParaRPr lang="en-US" altLang="ko-KR" dirty="0"/>
          </a:p>
          <a:p>
            <a:pPr lvl="2"/>
            <a:r>
              <a:rPr lang="ko-KR" altLang="en-US" dirty="0"/>
              <a:t>교육급여 </a:t>
            </a:r>
            <a:r>
              <a:rPr lang="en-US" altLang="ko-KR" dirty="0"/>
              <a:t>= </a:t>
            </a:r>
            <a:r>
              <a:rPr lang="ko-KR" altLang="en-US" dirty="0"/>
              <a:t>만족도 낮음</a:t>
            </a:r>
            <a:endParaRPr lang="en-US" altLang="ko-KR" dirty="0"/>
          </a:p>
          <a:p>
            <a:pPr lvl="1"/>
            <a:r>
              <a:rPr lang="ko-KR" altLang="en-US" dirty="0"/>
              <a:t>전달체계의 </a:t>
            </a:r>
            <a:r>
              <a:rPr lang="ko-KR" altLang="en-US" dirty="0" err="1"/>
              <a:t>분절성</a:t>
            </a:r>
            <a:endParaRPr lang="en-US" altLang="ko-KR" dirty="0"/>
          </a:p>
          <a:p>
            <a:pPr lvl="2"/>
            <a:r>
              <a:rPr lang="ko-KR" altLang="en-US" dirty="0"/>
              <a:t>권한의 문제 </a:t>
            </a:r>
            <a:r>
              <a:rPr lang="en-US" altLang="ko-KR" dirty="0"/>
              <a:t>= </a:t>
            </a:r>
            <a:r>
              <a:rPr lang="ko-KR" altLang="en-US" dirty="0" err="1"/>
              <a:t>엽력</a:t>
            </a:r>
            <a:r>
              <a:rPr lang="en-US" altLang="ko-KR" dirty="0"/>
              <a:t>/</a:t>
            </a:r>
            <a:r>
              <a:rPr lang="ko-KR" altLang="en-US" dirty="0"/>
              <a:t>연계보단 각자</a:t>
            </a:r>
            <a:endParaRPr lang="en-US" altLang="ko-KR" dirty="0"/>
          </a:p>
          <a:p>
            <a:pPr lvl="1"/>
            <a:r>
              <a:rPr lang="ko-KR" altLang="en-US" dirty="0"/>
              <a:t>국민취업지원제도</a:t>
            </a:r>
            <a:endParaRPr lang="en-US" altLang="ko-KR" dirty="0"/>
          </a:p>
          <a:p>
            <a:pPr lvl="2"/>
            <a:r>
              <a:rPr lang="ko-KR" altLang="en-US" dirty="0"/>
              <a:t>낮은 급여수준</a:t>
            </a:r>
            <a:endParaRPr lang="en-US" altLang="ko-KR" dirty="0"/>
          </a:p>
          <a:p>
            <a:pPr lvl="1"/>
            <a:r>
              <a:rPr lang="ko-KR" altLang="en-US" dirty="0"/>
              <a:t>기초연금</a:t>
            </a:r>
            <a:endParaRPr lang="en-US" altLang="ko-KR" dirty="0"/>
          </a:p>
          <a:p>
            <a:pPr lvl="2"/>
            <a:r>
              <a:rPr lang="ko-KR" altLang="en-US" dirty="0" err="1"/>
              <a:t>재어ㅝㄴ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세금</a:t>
            </a:r>
            <a:r>
              <a:rPr lang="en-US" altLang="ko-KR" dirty="0"/>
              <a:t>, </a:t>
            </a:r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DB7384E-F2C5-FE1C-CAA0-782119D5EBE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0898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ADD4E9B-4093-6EA7-9C29-5DD3100B3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1A5CF00-6831-0FD5-590B-22A53749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289F72-88B8-9728-098B-E4FE62F1C6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EA66154-8C40-1D26-8926-865C33CFD5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개선안</a:t>
            </a:r>
            <a:endParaRPr lang="en-US" altLang="ko-KR" dirty="0"/>
          </a:p>
          <a:p>
            <a:pPr lvl="1"/>
            <a:r>
              <a:rPr lang="ko-KR" altLang="en-US" dirty="0"/>
              <a:t>근로유인 저해 </a:t>
            </a:r>
            <a:r>
              <a:rPr lang="en-US" altLang="ko-KR" dirty="0"/>
              <a:t>:</a:t>
            </a:r>
            <a:r>
              <a:rPr lang="ko-KR" altLang="en-US" dirty="0"/>
              <a:t> 부의소득세</a:t>
            </a:r>
            <a:endParaRPr lang="en-US" altLang="ko-KR" dirty="0"/>
          </a:p>
          <a:p>
            <a:pPr lvl="2"/>
            <a:r>
              <a:rPr lang="ko-KR" altLang="en-US" dirty="0"/>
              <a:t>노동공급 증가</a:t>
            </a:r>
            <a:endParaRPr lang="en-US" altLang="ko-KR" dirty="0"/>
          </a:p>
          <a:p>
            <a:pPr lvl="2"/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많은 예산</a:t>
            </a:r>
            <a:r>
              <a:rPr lang="en-US" altLang="ko-KR" dirty="0"/>
              <a:t>/</a:t>
            </a:r>
            <a:r>
              <a:rPr lang="ko-KR" altLang="en-US" dirty="0"/>
              <a:t>투명한 소득 신고</a:t>
            </a:r>
            <a:r>
              <a:rPr lang="en-US" altLang="ko-KR" dirty="0"/>
              <a:t>/ </a:t>
            </a:r>
            <a:r>
              <a:rPr lang="ko-KR" altLang="en-US" dirty="0"/>
              <a:t>모드 근로의욕 감소</a:t>
            </a:r>
            <a:endParaRPr lang="en-US" altLang="ko-KR" dirty="0"/>
          </a:p>
          <a:p>
            <a:pPr lvl="2"/>
            <a:r>
              <a:rPr lang="ko-KR" altLang="en-US" dirty="0"/>
              <a:t>대안 </a:t>
            </a:r>
            <a:r>
              <a:rPr lang="en-US" altLang="ko-KR" dirty="0"/>
              <a:t>: </a:t>
            </a:r>
            <a:r>
              <a:rPr lang="ko-KR" altLang="en-US" dirty="0"/>
              <a:t>근로소득 장려세제 </a:t>
            </a:r>
            <a:r>
              <a:rPr lang="en-US" altLang="ko-KR" dirty="0"/>
              <a:t>= </a:t>
            </a:r>
            <a:r>
              <a:rPr lang="ko-KR" altLang="en-US" dirty="0"/>
              <a:t>일을 할 경우 보조금</a:t>
            </a:r>
            <a:endParaRPr lang="en-US" altLang="ko-KR" dirty="0"/>
          </a:p>
          <a:p>
            <a:pPr lvl="2"/>
            <a:r>
              <a:rPr lang="ko-KR" altLang="en-US" dirty="0"/>
              <a:t>시행상의 문제 </a:t>
            </a:r>
            <a:r>
              <a:rPr lang="en-US" altLang="ko-KR" dirty="0"/>
              <a:t>: </a:t>
            </a:r>
            <a:r>
              <a:rPr lang="ko-KR" altLang="en-US" dirty="0"/>
              <a:t>한계세율 </a:t>
            </a:r>
            <a:r>
              <a:rPr lang="en-US" altLang="ko-KR" dirty="0"/>
              <a:t>= 100%, </a:t>
            </a:r>
            <a:r>
              <a:rPr lang="ko-KR" altLang="en-US" dirty="0"/>
              <a:t>고소득가구의 수급 증가</a:t>
            </a:r>
            <a:r>
              <a:rPr lang="en-US" altLang="ko-KR" dirty="0"/>
              <a:t>, </a:t>
            </a:r>
            <a:r>
              <a:rPr lang="ko-KR" altLang="en-US" dirty="0"/>
              <a:t>단기 근로자의 근로소득장려세제 총재산 </a:t>
            </a:r>
            <a:r>
              <a:rPr lang="en-US" altLang="ko-KR" dirty="0"/>
              <a:t>– </a:t>
            </a:r>
            <a:r>
              <a:rPr lang="ko-KR" altLang="en-US" dirty="0"/>
              <a:t>순재산 </a:t>
            </a:r>
            <a:r>
              <a:rPr lang="en-US" altLang="ko-KR" dirty="0"/>
              <a:t>-&gt;</a:t>
            </a:r>
          </a:p>
          <a:p>
            <a:pPr lvl="1"/>
            <a:r>
              <a:rPr lang="ko-KR" altLang="en-US" dirty="0"/>
              <a:t>제도의 포괄성</a:t>
            </a:r>
            <a:endParaRPr lang="en-US" altLang="ko-KR" dirty="0"/>
          </a:p>
          <a:p>
            <a:pPr lvl="2"/>
            <a:r>
              <a:rPr lang="ko-KR" altLang="en-US" dirty="0"/>
              <a:t>사각지대 개선방법</a:t>
            </a:r>
            <a:endParaRPr lang="en-US" altLang="ko-KR" dirty="0"/>
          </a:p>
          <a:p>
            <a:pPr lvl="3"/>
            <a:r>
              <a:rPr lang="ko-KR" altLang="en-US" dirty="0"/>
              <a:t>구조적 배제</a:t>
            </a:r>
            <a:endParaRPr lang="en-US" altLang="ko-KR" dirty="0"/>
          </a:p>
          <a:p>
            <a:pPr lvl="3"/>
            <a:r>
              <a:rPr lang="ko-KR" altLang="en-US" dirty="0"/>
              <a:t>발견 이후 적절한 프로그램으로 인계 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급여의 </a:t>
            </a:r>
            <a:r>
              <a:rPr lang="ko-KR" altLang="en-US" dirty="0" err="1"/>
              <a:t>충분성</a:t>
            </a:r>
            <a:endParaRPr lang="en-US" altLang="ko-KR" dirty="0"/>
          </a:p>
          <a:p>
            <a:pPr lvl="3"/>
            <a:r>
              <a:rPr lang="ko-KR" altLang="en-US" dirty="0"/>
              <a:t>최저생계비 이상</a:t>
            </a:r>
            <a:endParaRPr lang="en-US" altLang="ko-KR" dirty="0"/>
          </a:p>
          <a:p>
            <a:pPr lvl="3"/>
            <a:r>
              <a:rPr lang="ko-KR" altLang="en-US" dirty="0"/>
              <a:t>주거</a:t>
            </a:r>
            <a:r>
              <a:rPr lang="en-US" altLang="ko-KR" dirty="0"/>
              <a:t>/</a:t>
            </a:r>
            <a:r>
              <a:rPr lang="ko-KR" altLang="en-US" dirty="0"/>
              <a:t>교육</a:t>
            </a:r>
            <a:r>
              <a:rPr lang="en-US" altLang="ko-KR" dirty="0"/>
              <a:t>.</a:t>
            </a:r>
            <a:r>
              <a:rPr lang="ko-KR" altLang="en-US" dirty="0"/>
              <a:t>자활 의도한 만큼 줄 수 있나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국민취업제도 </a:t>
            </a:r>
            <a:r>
              <a:rPr lang="en-US" altLang="ko-KR" dirty="0"/>
              <a:t>: </a:t>
            </a:r>
            <a:r>
              <a:rPr lang="ko-KR" altLang="en-US" dirty="0"/>
              <a:t>급여수준 향상 </a:t>
            </a:r>
            <a:r>
              <a:rPr lang="en-US" altLang="ko-KR" dirty="0"/>
              <a:t>– </a:t>
            </a:r>
          </a:p>
          <a:p>
            <a:pPr lvl="1"/>
            <a:r>
              <a:rPr lang="ko-KR" altLang="en-US" dirty="0"/>
              <a:t>기초연금 </a:t>
            </a:r>
            <a:r>
              <a:rPr lang="en-US" altLang="ko-KR" dirty="0"/>
              <a:t>– </a:t>
            </a:r>
            <a:r>
              <a:rPr lang="ko-KR" altLang="en-US" dirty="0"/>
              <a:t>국민연금</a:t>
            </a:r>
            <a:r>
              <a:rPr lang="en-US" altLang="ko-KR" dirty="0"/>
              <a:t>/</a:t>
            </a:r>
          </a:p>
          <a:p>
            <a:pPr lvl="1"/>
            <a:r>
              <a:rPr lang="ko-KR" altLang="en-US" dirty="0"/>
              <a:t>동시 수급 문제</a:t>
            </a:r>
            <a:endParaRPr lang="en-US" altLang="ko-KR" dirty="0"/>
          </a:p>
          <a:p>
            <a:r>
              <a:rPr lang="ko-KR" altLang="en-US" dirty="0"/>
              <a:t>만족도 </a:t>
            </a:r>
            <a:r>
              <a:rPr lang="en-US" altLang="ko-KR" dirty="0"/>
              <a:t>– </a:t>
            </a:r>
          </a:p>
          <a:p>
            <a:r>
              <a:rPr lang="en-US" altLang="ko-KR" dirty="0"/>
              <a:t>QNA </a:t>
            </a:r>
          </a:p>
          <a:p>
            <a:pPr lvl="1"/>
            <a:r>
              <a:rPr lang="ko-KR" altLang="en-US" dirty="0"/>
              <a:t>고소득 근로소득</a:t>
            </a:r>
            <a:endParaRPr lang="en-US" altLang="ko-KR" dirty="0"/>
          </a:p>
          <a:p>
            <a:pPr lvl="1"/>
            <a:r>
              <a:rPr lang="ko-KR" altLang="en-US" dirty="0"/>
              <a:t>지원금 </a:t>
            </a:r>
            <a:r>
              <a:rPr lang="en-US" altLang="ko-KR" dirty="0"/>
              <a:t>– </a:t>
            </a:r>
            <a:r>
              <a:rPr lang="ko-KR" altLang="en-US" dirty="0"/>
              <a:t>대상을 계속 평가</a:t>
            </a:r>
            <a:endParaRPr lang="en-US" altLang="ko-KR" dirty="0"/>
          </a:p>
          <a:p>
            <a:pPr lvl="1"/>
            <a:r>
              <a:rPr lang="ko-KR" altLang="en-US" dirty="0"/>
              <a:t>통합 </a:t>
            </a:r>
            <a:r>
              <a:rPr lang="en-US" altLang="ko-KR" dirty="0"/>
              <a:t>– </a:t>
            </a:r>
            <a:r>
              <a:rPr lang="ko-KR" altLang="en-US" dirty="0"/>
              <a:t>집중</a:t>
            </a:r>
            <a:endParaRPr lang="en-US" altLang="ko-KR" dirty="0"/>
          </a:p>
          <a:p>
            <a:pPr lvl="1"/>
            <a:r>
              <a:rPr lang="ko-KR" altLang="en-US" dirty="0"/>
              <a:t>예산 </a:t>
            </a:r>
            <a:r>
              <a:rPr lang="en-US" altLang="ko-KR" dirty="0"/>
              <a:t>– </a:t>
            </a:r>
          </a:p>
          <a:p>
            <a:pPr lvl="1"/>
            <a:r>
              <a:rPr lang="ko-KR" altLang="en-US" dirty="0"/>
              <a:t>국민취업제도 </a:t>
            </a:r>
            <a:r>
              <a:rPr lang="en-US" altLang="ko-KR" dirty="0"/>
              <a:t>: </a:t>
            </a:r>
            <a:r>
              <a:rPr lang="ko-KR" altLang="en-US" dirty="0"/>
              <a:t>실직자 </a:t>
            </a:r>
            <a:r>
              <a:rPr lang="en-US" altLang="ko-KR" dirty="0"/>
              <a:t>– </a:t>
            </a:r>
            <a:r>
              <a:rPr lang="ko-KR" altLang="en-US" dirty="0"/>
              <a:t>실업급여 </a:t>
            </a:r>
            <a:r>
              <a:rPr lang="en-US" altLang="ko-KR" dirty="0"/>
              <a:t>: </a:t>
            </a:r>
          </a:p>
          <a:p>
            <a:pPr lvl="1"/>
            <a:r>
              <a:rPr lang="ko-KR" altLang="en-US" dirty="0"/>
              <a:t>사회보험과 공적부조</a:t>
            </a:r>
            <a:endParaRPr lang="en-US" altLang="ko-KR" dirty="0"/>
          </a:p>
          <a:p>
            <a:pPr lvl="1"/>
            <a:r>
              <a:rPr lang="ko-KR" altLang="en-US" dirty="0"/>
              <a:t>프로그램을 연계</a:t>
            </a:r>
            <a:r>
              <a:rPr lang="en-US" altLang="ko-KR" dirty="0"/>
              <a:t>… o, </a:t>
            </a:r>
            <a:r>
              <a:rPr lang="ko-KR" altLang="en-US" dirty="0"/>
              <a:t>재원을 통합 </a:t>
            </a:r>
            <a:r>
              <a:rPr lang="en-US" altLang="ko-KR" dirty="0"/>
              <a:t>… ?</a:t>
            </a:r>
          </a:p>
          <a:p>
            <a:pPr lvl="1"/>
            <a:r>
              <a:rPr lang="ko-KR" altLang="en-US" dirty="0"/>
              <a:t>요보호자 </a:t>
            </a:r>
            <a:r>
              <a:rPr lang="en-US" altLang="ko-KR" dirty="0"/>
              <a:t>: </a:t>
            </a:r>
            <a:r>
              <a:rPr lang="ko-KR" altLang="en-US" dirty="0"/>
              <a:t>자활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FC3402-B368-1271-E763-4371D565301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365967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22353</TotalTime>
  <Words>1735</Words>
  <Application>Microsoft Office PowerPoint</Application>
  <PresentationFormat>A4 용지(210x297mm)</PresentationFormat>
  <Paragraphs>322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Wingdings</vt:lpstr>
      <vt:lpstr>디자인 사용자 지정</vt:lpstr>
      <vt:lpstr>PowerPoint 프레젠테이션</vt:lpstr>
      <vt:lpstr>사회보험제도의 의미</vt:lpstr>
      <vt:lpstr>국민연금제도의 기본 성격</vt:lpstr>
      <vt:lpstr>연금제도와 관련된 주요 쟁점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산재보험제도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561</cp:revision>
  <dcterms:created xsi:type="dcterms:W3CDTF">2021-05-24T07:27:04Z</dcterms:created>
  <dcterms:modified xsi:type="dcterms:W3CDTF">2024-11-26T08:41:00Z</dcterms:modified>
</cp:coreProperties>
</file>