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272" r:id="rId2"/>
    <p:sldId id="273" r:id="rId3"/>
    <p:sldId id="286" r:id="rId4"/>
    <p:sldId id="274" r:id="rId5"/>
    <p:sldId id="282" r:id="rId6"/>
    <p:sldId id="283" r:id="rId7"/>
    <p:sldId id="284" r:id="rId8"/>
    <p:sldId id="279" r:id="rId9"/>
    <p:sldId id="277" r:id="rId10"/>
    <p:sldId id="278" r:id="rId11"/>
    <p:sldId id="280" r:id="rId12"/>
    <p:sldId id="285" r:id="rId13"/>
    <p:sldId id="287" r:id="rId1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09" autoAdjust="0"/>
    <p:restoredTop sz="96234" autoAdjust="0"/>
  </p:normalViewPr>
  <p:slideViewPr>
    <p:cSldViewPr>
      <p:cViewPr>
        <p:scale>
          <a:sx n="75" d="100"/>
          <a:sy n="75" d="100"/>
        </p:scale>
        <p:origin x="86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2938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3B312-57A8-47C3-BA4B-2C813ABC4C95}" type="datetimeFigureOut">
              <a:rPr lang="ko-KR" altLang="en-US" smtClean="0"/>
              <a:t>2024-10-01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EB649-B1DB-48B2-96AD-31D5AB3F7F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70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9D012-466D-4393-B88A-B81ADB903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0838"/>
            <a:ext cx="5143500" cy="344963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293A83-36FC-4C7D-BDF4-1CC359894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238"/>
            <a:ext cx="5143500" cy="23923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1C4600-5751-48C6-AC23-B11FF485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CF582-2BBE-4520-9136-34434075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29244F-145C-4D20-83D4-E8FDC985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33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코넬식 노트 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5A52A8-2805-42DC-9A4A-36BF99DF2F7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835C1085-EC86-4500-A95F-EC02D30EB5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9B82232-86F7-46BF-B25E-C1E6ACEBBC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560512"/>
            <a:ext cx="1296144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9D62C66A-A8F3-42B7-A09D-E7FA729E26C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560512"/>
            <a:ext cx="5400599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>
                <a:solidFill>
                  <a:srgbClr val="0070C0"/>
                </a:solidFill>
              </a:defRPr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46D795C-2771-4725-82A8-B114B1B4190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4" name="날짜 개체 틀 4">
            <a:extLst>
              <a:ext uri="{FF2B5EF4-FFF2-40B4-BE49-F238E27FC236}">
                <a16:creationId xmlns:a16="http://schemas.microsoft.com/office/drawing/2014/main" id="{91ABAAB3-A3F0-4DFF-BF41-441F35F9C4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2024-10-01</a:t>
            </a:fld>
            <a:endParaRPr lang="ko-KR" altLang="en-US" dirty="0"/>
          </a:p>
        </p:txBody>
      </p:sp>
      <p:sp>
        <p:nvSpPr>
          <p:cNvPr id="15" name="슬라이드 번호 개체 틀 6">
            <a:extLst>
              <a:ext uri="{FF2B5EF4-FFF2-40B4-BE49-F238E27FC236}">
                <a16:creationId xmlns:a16="http://schemas.microsoft.com/office/drawing/2014/main" id="{4E1FB95C-C14A-4C28-A50A-34497665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449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4">
            <a:extLst>
              <a:ext uri="{FF2B5EF4-FFF2-40B4-BE49-F238E27FC236}">
                <a16:creationId xmlns:a16="http://schemas.microsoft.com/office/drawing/2014/main" id="{5FBEC3BA-1878-4EC1-9EE4-BB3AA272808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740C1CF8-2810-4B8B-9E67-840108284B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944F807-3964-4082-822B-5E53CDCD8B3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344488"/>
            <a:ext cx="1296144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28" name="내용 개체 틀 3">
            <a:extLst>
              <a:ext uri="{FF2B5EF4-FFF2-40B4-BE49-F238E27FC236}">
                <a16:creationId xmlns:a16="http://schemas.microsoft.com/office/drawing/2014/main" id="{41D3E48A-F8B6-48E4-8BCD-B5A863191DE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344488"/>
            <a:ext cx="5400599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3BFED26C-166F-4DBC-8358-65449225F96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0" name="날짜 개체 틀 4">
            <a:extLst>
              <a:ext uri="{FF2B5EF4-FFF2-40B4-BE49-F238E27FC236}">
                <a16:creationId xmlns:a16="http://schemas.microsoft.com/office/drawing/2014/main" id="{8098F897-D130-4A85-926C-912EAB1A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2024-10-01</a:t>
            </a:fld>
            <a:endParaRPr lang="ko-KR" altLang="en-US" dirty="0"/>
          </a:p>
        </p:txBody>
      </p:sp>
      <p:sp>
        <p:nvSpPr>
          <p:cNvPr id="31" name="슬라이드 번호 개체 틀 6">
            <a:extLst>
              <a:ext uri="{FF2B5EF4-FFF2-40B4-BE49-F238E27FC236}">
                <a16:creationId xmlns:a16="http://schemas.microsoft.com/office/drawing/2014/main" id="{871FA819-0CC0-477C-BA85-646032956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415A8630-4555-49FF-95EA-19025017722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624" y="4376936"/>
            <a:ext cx="1296144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3" name="내용 개체 틀 3">
            <a:extLst>
              <a:ext uri="{FF2B5EF4-FFF2-40B4-BE49-F238E27FC236}">
                <a16:creationId xmlns:a16="http://schemas.microsoft.com/office/drawing/2014/main" id="{401078D4-13E2-4A15-A24E-D6ED5A3416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412776" y="4376936"/>
            <a:ext cx="5400599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36C1BE20-27A2-4680-B99C-77FF72519C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24" y="4088904"/>
            <a:ext cx="6768753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035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F1CE3-26B0-4207-BAD4-1041574E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70150"/>
            <a:ext cx="5915025" cy="41195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15FBA2-4936-4706-95C3-FAFA6A7E4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6629400"/>
            <a:ext cx="5915025" cy="216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C197-B0BD-436B-9980-EE59CBD7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4C08F-0304-4F96-B877-0B06C4B7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8234A-EDA6-43E8-AE6C-3CF677CA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38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96F35-AC99-4BF8-A397-0C1E1B4F7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29E579-ECC7-4C64-9EB8-D640165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058974-E397-415A-A6C5-25F209F6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EC53FD-3472-4366-8E73-7C38B1AD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71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833BB0-4D29-49DC-A1FE-7E66598F34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A96632-B0B8-401E-AC60-AEF38408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B7D2F-5D24-4FF6-9CD1-85539759F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7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97DC2-9736-4DB8-86D5-0677DFF9E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B6482-CF33-47BC-832B-7D18B209E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0720F2-9210-4195-98B9-0E2CBCAAB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417417-E261-4ECB-8D35-6E591646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45D919-E2FD-413A-8928-E0C39853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7E8C6-6C26-4B84-BB1D-47019112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1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E4CC0-196A-4FF3-BA7A-2A838BC7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334584-9C2E-4FB4-B223-147590AA6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63A644-9209-46E1-8503-E03E899FB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5D5566-58C8-4D6E-950D-81773B05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681FE-25FC-424A-A5C2-B8558CD8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D9E155-E9CA-4BDD-ADAC-D743596E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54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24B4C-8380-4ECE-A3C6-32F34249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5AE434-937A-4C07-B3EA-1C1EAB35C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829F06-0D5F-4146-B5FF-E0AAFF1A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5C82C-F88C-4F7F-91C3-F46031C3C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503FCB-B458-4F60-AF20-667E8325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7FC31D-270D-481C-B55E-E09DB06FD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8550" y="527050"/>
            <a:ext cx="1477963" cy="839470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FEBD54-0F8B-435E-A784-7973F6276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527050"/>
            <a:ext cx="4284662" cy="8394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D8C272-27C0-467E-8B2F-8060E69DCD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9F6D-897D-4DD0-BAAA-382522428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CE28EA-6ACB-498F-A385-71929DA3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36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BE23EC-F7A8-48CF-830D-AA10C569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4A2647-8522-4C16-9847-3E5362ED8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E217D-506C-41EC-8074-70FE9F358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A75F8-F7CF-491B-B1E4-FC201F6C4E25}" type="datetimeFigureOut">
              <a:rPr lang="ko-KR" altLang="en-US" smtClean="0"/>
              <a:t>2024-10-01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512B2E-566A-4965-92DB-6F8EB3F9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5EB1A7-DDFB-4F87-8544-6EA579152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66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7" r:id="rId2"/>
    <p:sldLayoutId id="2147483674" r:id="rId3"/>
    <p:sldLayoutId id="2147483675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AD77F37-DEB4-7276-8D80-94258071AB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주차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FC7689F-CD02-3F6B-86D3-AF7DFBE47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사회보장론의 개요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CD1876-69E6-47C7-D13F-5433392610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4722103-2419-A61A-40C1-2006076E9F0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사회보장의 생성배경과 </a:t>
            </a:r>
            <a:r>
              <a:rPr lang="ko-KR" altLang="en-US" dirty="0" err="1"/>
              <a:t>용어등장</a:t>
            </a:r>
            <a:endParaRPr lang="en-US" altLang="ko-KR" dirty="0"/>
          </a:p>
          <a:p>
            <a:pPr lvl="1"/>
            <a:r>
              <a:rPr lang="ko-KR" altLang="en-US" dirty="0"/>
              <a:t>생성배경</a:t>
            </a:r>
            <a:endParaRPr lang="en-US" altLang="ko-KR" dirty="0"/>
          </a:p>
          <a:p>
            <a:pPr lvl="2"/>
            <a:r>
              <a:rPr lang="ko-KR" altLang="en-US" dirty="0"/>
              <a:t>불평등</a:t>
            </a:r>
            <a:r>
              <a:rPr lang="en-US" altLang="ko-KR" dirty="0"/>
              <a:t>, </a:t>
            </a:r>
            <a:r>
              <a:rPr lang="ko-KR" altLang="en-US" dirty="0"/>
              <a:t>빈곤 </a:t>
            </a:r>
            <a:r>
              <a:rPr lang="en-US" altLang="ko-KR" dirty="0"/>
              <a:t>-&gt; 20C</a:t>
            </a:r>
            <a:r>
              <a:rPr lang="ko-KR" altLang="en-US" dirty="0"/>
              <a:t> 이후 복지국가 형성 </a:t>
            </a:r>
            <a:r>
              <a:rPr lang="en-US" altLang="ko-KR" dirty="0"/>
              <a:t>-&gt; </a:t>
            </a:r>
            <a:r>
              <a:rPr lang="ko-KR" altLang="en-US" dirty="0"/>
              <a:t>복지국가 이념 실현을 위한 핵심적 제도 </a:t>
            </a:r>
            <a:r>
              <a:rPr lang="en-US" altLang="ko-KR" dirty="0"/>
              <a:t>-&gt; </a:t>
            </a:r>
            <a:r>
              <a:rPr lang="ko-KR" altLang="en-US" dirty="0"/>
              <a:t>케인즈 이론과 발전</a:t>
            </a:r>
            <a:endParaRPr lang="en-US" altLang="ko-KR" dirty="0"/>
          </a:p>
          <a:p>
            <a:pPr lvl="1"/>
            <a:r>
              <a:rPr lang="ko-KR" altLang="en-US" dirty="0"/>
              <a:t>용어 등장</a:t>
            </a:r>
            <a:endParaRPr lang="en-US" altLang="ko-KR" dirty="0"/>
          </a:p>
          <a:p>
            <a:pPr lvl="2"/>
            <a:r>
              <a:rPr lang="ko-KR" altLang="en-US" dirty="0"/>
              <a:t>사회 </a:t>
            </a:r>
            <a:r>
              <a:rPr lang="en-US" altLang="ko-KR" dirty="0"/>
              <a:t>+ </a:t>
            </a:r>
            <a:r>
              <a:rPr lang="ko-KR" altLang="en-US" dirty="0"/>
              <a:t>보장</a:t>
            </a:r>
            <a:endParaRPr lang="en-US" altLang="ko-KR" dirty="0"/>
          </a:p>
          <a:p>
            <a:pPr lvl="2"/>
            <a:r>
              <a:rPr lang="ko-KR" altLang="en-US" dirty="0"/>
              <a:t>공식적 </a:t>
            </a:r>
            <a:r>
              <a:rPr lang="ko-KR" altLang="en-US" dirty="0" err="1"/>
              <a:t>법률명</a:t>
            </a:r>
            <a:r>
              <a:rPr lang="ko-KR" altLang="en-US" dirty="0"/>
              <a:t> </a:t>
            </a:r>
            <a:r>
              <a:rPr lang="en-US" altLang="ko-KR" dirty="0"/>
              <a:t>= 1935 </a:t>
            </a:r>
            <a:r>
              <a:rPr lang="ko-KR" altLang="en-US" dirty="0"/>
              <a:t>미국 </a:t>
            </a:r>
            <a:r>
              <a:rPr lang="en-US" altLang="ko-KR" dirty="0"/>
              <a:t>'</a:t>
            </a:r>
            <a:r>
              <a:rPr lang="ko-KR" altLang="en-US" dirty="0"/>
              <a:t>사회보장법</a:t>
            </a:r>
            <a:r>
              <a:rPr lang="en-US" altLang="ko-KR" dirty="0"/>
              <a:t>’</a:t>
            </a:r>
          </a:p>
          <a:p>
            <a:r>
              <a:rPr lang="ko-KR" altLang="en-US" dirty="0"/>
              <a:t>사회보장의 개념</a:t>
            </a:r>
            <a:endParaRPr lang="en-US" altLang="ko-KR" dirty="0"/>
          </a:p>
          <a:p>
            <a:pPr lvl="1"/>
            <a:r>
              <a:rPr lang="ko-KR" altLang="en-US" dirty="0"/>
              <a:t>어원적 의미</a:t>
            </a:r>
            <a:endParaRPr lang="en-US" altLang="ko-KR" dirty="0"/>
          </a:p>
          <a:p>
            <a:pPr lvl="2"/>
            <a:r>
              <a:rPr lang="ko-KR" altLang="en-US" dirty="0"/>
              <a:t>사회구성원 모두가 이러한 걱정과 근심 없이 잘 살아갈 수 있도록 사회가 마련한 제도나 보호 조치를 의미함</a:t>
            </a:r>
            <a:endParaRPr lang="en-US" altLang="ko-KR" dirty="0"/>
          </a:p>
          <a:p>
            <a:pPr lvl="1"/>
            <a:r>
              <a:rPr lang="ko-KR" altLang="en-US" dirty="0"/>
              <a:t>영국 </a:t>
            </a:r>
            <a:r>
              <a:rPr lang="ko-KR" altLang="en-US" dirty="0" err="1"/>
              <a:t>베버러지</a:t>
            </a:r>
            <a:r>
              <a:rPr lang="ko-KR" altLang="en-US" dirty="0"/>
              <a:t> 보고서의 정의</a:t>
            </a:r>
            <a:endParaRPr lang="en-US" altLang="ko-KR" dirty="0"/>
          </a:p>
          <a:p>
            <a:pPr lvl="2"/>
            <a:r>
              <a:rPr lang="ko-KR" altLang="en-US" dirty="0"/>
              <a:t>사회보장 </a:t>
            </a:r>
            <a:r>
              <a:rPr lang="en-US" altLang="ko-KR" dirty="0"/>
              <a:t>= </a:t>
            </a:r>
            <a:r>
              <a:rPr lang="ko-KR" altLang="en-US" dirty="0"/>
              <a:t>궁핍의 퇴치</a:t>
            </a:r>
            <a:r>
              <a:rPr lang="en-US" altLang="ko-KR" dirty="0"/>
              <a:t>, </a:t>
            </a:r>
            <a:r>
              <a:rPr lang="ko-KR" altLang="en-US" dirty="0"/>
              <a:t>일정소득의 보장 </a:t>
            </a:r>
            <a:r>
              <a:rPr lang="en-US" altLang="ko-KR" dirty="0"/>
              <a:t>= </a:t>
            </a:r>
            <a:r>
              <a:rPr lang="ko-KR" altLang="en-US" dirty="0"/>
              <a:t>국민생활의 최저수준 보장</a:t>
            </a:r>
            <a:endParaRPr lang="en-US" altLang="ko-KR" dirty="0"/>
          </a:p>
          <a:p>
            <a:pPr lvl="1"/>
            <a:r>
              <a:rPr lang="ko-KR" altLang="en-US" dirty="0"/>
              <a:t>국제노동기구의 정의</a:t>
            </a:r>
            <a:endParaRPr lang="en-US" altLang="ko-KR" dirty="0"/>
          </a:p>
          <a:p>
            <a:pPr lvl="2"/>
            <a:r>
              <a:rPr lang="en-US" altLang="ko-KR" dirty="0"/>
              <a:t>1. </a:t>
            </a:r>
            <a:r>
              <a:rPr lang="ko-KR" altLang="en-US" dirty="0"/>
              <a:t>전체 국민을 대상</a:t>
            </a:r>
            <a:r>
              <a:rPr lang="en-US" altLang="ko-KR" dirty="0"/>
              <a:t>		2. </a:t>
            </a:r>
            <a:r>
              <a:rPr lang="ko-KR" altLang="en-US" dirty="0"/>
              <a:t>최저 생활이 보장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모든 위험</a:t>
            </a:r>
            <a:r>
              <a:rPr lang="en-US" altLang="ko-KR" dirty="0"/>
              <a:t>/</a:t>
            </a:r>
            <a:r>
              <a:rPr lang="ko-KR" altLang="en-US" dirty="0"/>
              <a:t>사고의 보호</a:t>
            </a:r>
            <a:r>
              <a:rPr lang="en-US" altLang="ko-KR" dirty="0"/>
              <a:t> 	4. </a:t>
            </a:r>
            <a:r>
              <a:rPr lang="ko-KR" altLang="en-US" dirty="0"/>
              <a:t>공공기관을 통해서 실현</a:t>
            </a:r>
            <a:endParaRPr lang="en-US" altLang="ko-KR" dirty="0"/>
          </a:p>
          <a:p>
            <a:pPr lvl="2"/>
            <a:r>
              <a:rPr lang="ko-KR" altLang="en-US" dirty="0"/>
              <a:t>사회보장 급여를 사회보험</a:t>
            </a:r>
            <a:r>
              <a:rPr lang="en-US" altLang="ko-KR" dirty="0"/>
              <a:t>, </a:t>
            </a:r>
            <a:r>
              <a:rPr lang="ko-KR" altLang="en-US" dirty="0"/>
              <a:t>사회부조</a:t>
            </a:r>
            <a:r>
              <a:rPr lang="en-US" altLang="ko-KR" dirty="0"/>
              <a:t>, </a:t>
            </a:r>
            <a:r>
              <a:rPr lang="ko-KR" altLang="en-US" dirty="0"/>
              <a:t>사회수당</a:t>
            </a:r>
            <a:r>
              <a:rPr lang="en-US" altLang="ko-KR" dirty="0"/>
              <a:t>, </a:t>
            </a:r>
            <a:r>
              <a:rPr lang="ko-KR" altLang="en-US" dirty="0"/>
              <a:t>사회 서비스로 다양화</a:t>
            </a:r>
            <a:endParaRPr lang="en-US" altLang="ko-KR" dirty="0"/>
          </a:p>
          <a:p>
            <a:pPr lvl="1"/>
            <a:r>
              <a:rPr lang="ko-KR" altLang="en-US" dirty="0"/>
              <a:t>우리나라 사회보장기본법의 정의</a:t>
            </a:r>
            <a:endParaRPr lang="en-US" altLang="ko-KR" dirty="0"/>
          </a:p>
          <a:p>
            <a:pPr lvl="2"/>
            <a:r>
              <a:rPr lang="ko-KR" altLang="en-US" dirty="0"/>
              <a:t>출산</a:t>
            </a:r>
            <a:r>
              <a:rPr lang="en-US" altLang="ko-KR" dirty="0"/>
              <a:t>/</a:t>
            </a:r>
            <a:r>
              <a:rPr lang="ko-KR" altLang="en-US" dirty="0"/>
              <a:t>양육</a:t>
            </a:r>
            <a:r>
              <a:rPr lang="en-US" altLang="ko-KR" dirty="0"/>
              <a:t>/</a:t>
            </a:r>
            <a:r>
              <a:rPr lang="ko-KR" altLang="en-US" dirty="0"/>
              <a:t>질병</a:t>
            </a:r>
            <a:r>
              <a:rPr lang="en-US" altLang="ko-KR" dirty="0"/>
              <a:t>/</a:t>
            </a:r>
            <a:r>
              <a:rPr lang="ko-KR" altLang="en-US" dirty="0"/>
              <a:t>장애</a:t>
            </a:r>
            <a:r>
              <a:rPr lang="en-US" altLang="ko-KR" dirty="0"/>
              <a:t>/</a:t>
            </a:r>
            <a:r>
              <a:rPr lang="ko-KR" altLang="en-US" dirty="0"/>
              <a:t>실업</a:t>
            </a:r>
            <a:r>
              <a:rPr lang="en-US" altLang="ko-KR" dirty="0"/>
              <a:t>/</a:t>
            </a:r>
            <a:r>
              <a:rPr lang="ko-KR" altLang="en-US" dirty="0"/>
              <a:t>사망 등 사회적 </a:t>
            </a:r>
            <a:r>
              <a:rPr lang="ko-KR" altLang="en-US" dirty="0" err="1"/>
              <a:t>위험으로부터</a:t>
            </a:r>
            <a:r>
              <a:rPr lang="ko-KR" altLang="en-US" dirty="0"/>
              <a:t> 보호</a:t>
            </a:r>
            <a:r>
              <a:rPr lang="en-US" altLang="ko-KR" dirty="0"/>
              <a:t>, </a:t>
            </a:r>
            <a:r>
              <a:rPr lang="ko-KR" altLang="en-US" dirty="0"/>
              <a:t>빈곤 해소</a:t>
            </a:r>
            <a:r>
              <a:rPr lang="en-US" altLang="ko-KR" dirty="0"/>
              <a:t>, </a:t>
            </a:r>
            <a:r>
              <a:rPr lang="ko-KR" altLang="en-US" dirty="0"/>
              <a:t>국민 생활의 질 향상을 위한 사회보험</a:t>
            </a:r>
            <a:r>
              <a:rPr lang="en-US" altLang="ko-KR" dirty="0"/>
              <a:t>/</a:t>
            </a:r>
            <a:r>
              <a:rPr lang="ko-KR" altLang="en-US" dirty="0"/>
              <a:t>공공부조</a:t>
            </a:r>
            <a:r>
              <a:rPr lang="en-US" altLang="ko-KR" dirty="0"/>
              <a:t>/</a:t>
            </a:r>
            <a:r>
              <a:rPr lang="ko-KR" altLang="en-US" dirty="0"/>
              <a:t>사회복지서비스 및 관련복지제도</a:t>
            </a:r>
            <a:endParaRPr lang="en-US" altLang="ko-KR" dirty="0"/>
          </a:p>
          <a:p>
            <a:pPr lvl="2"/>
            <a:r>
              <a:rPr lang="ko-KR" altLang="en-US" dirty="0"/>
              <a:t>개정</a:t>
            </a:r>
            <a:r>
              <a:rPr lang="en-US" altLang="ko-KR" dirty="0"/>
              <a:t>: </a:t>
            </a:r>
            <a:r>
              <a:rPr lang="ko-KR" altLang="en-US" dirty="0"/>
              <a:t>출산</a:t>
            </a:r>
            <a:r>
              <a:rPr lang="en-US" altLang="ko-KR" dirty="0"/>
              <a:t>/</a:t>
            </a:r>
            <a:r>
              <a:rPr lang="ko-KR" altLang="en-US" dirty="0"/>
              <a:t>양육이 사회적 위험 추가</a:t>
            </a:r>
            <a:r>
              <a:rPr lang="en-US" altLang="ko-KR" dirty="0"/>
              <a:t>; </a:t>
            </a:r>
            <a:r>
              <a:rPr lang="ko-KR" altLang="en-US" dirty="0"/>
              <a:t>평생사회안전망 용어 신설</a:t>
            </a:r>
            <a:endParaRPr lang="en-US" altLang="ko-KR" dirty="0"/>
          </a:p>
          <a:p>
            <a:pPr lvl="2"/>
            <a:r>
              <a:rPr lang="ko-KR" altLang="en-US" dirty="0"/>
              <a:t>개정</a:t>
            </a:r>
            <a:r>
              <a:rPr lang="en-US" altLang="ko-KR" dirty="0"/>
              <a:t>: </a:t>
            </a:r>
            <a:r>
              <a:rPr lang="ko-KR" altLang="en-US" dirty="0"/>
              <a:t>사회복지서비스 및 관련복지 제도 </a:t>
            </a:r>
            <a:r>
              <a:rPr lang="en-US" altLang="ko-KR" dirty="0"/>
              <a:t>-&gt; </a:t>
            </a:r>
            <a:r>
              <a:rPr lang="ko-KR" altLang="en-US" dirty="0"/>
              <a:t>사회서비스</a:t>
            </a:r>
            <a:endParaRPr lang="en-US" altLang="ko-KR" dirty="0"/>
          </a:p>
          <a:p>
            <a:pPr lvl="1"/>
            <a:r>
              <a:rPr lang="ko-KR" altLang="en-US" dirty="0"/>
              <a:t>사회보장 정의 종합</a:t>
            </a:r>
            <a:endParaRPr lang="en-US" altLang="ko-KR" dirty="0"/>
          </a:p>
          <a:p>
            <a:pPr lvl="2"/>
            <a:r>
              <a:rPr lang="en-US" altLang="ko-KR" dirty="0"/>
              <a:t>1.</a:t>
            </a:r>
            <a:r>
              <a:rPr lang="ko-KR" altLang="en-US" dirty="0"/>
              <a:t> 질병</a:t>
            </a:r>
            <a:r>
              <a:rPr lang="en-US" altLang="ko-KR" dirty="0"/>
              <a:t>/</a:t>
            </a:r>
            <a:r>
              <a:rPr lang="ko-KR" altLang="en-US" dirty="0"/>
              <a:t>장애</a:t>
            </a:r>
            <a:r>
              <a:rPr lang="en-US" altLang="ko-KR" dirty="0"/>
              <a:t>/</a:t>
            </a:r>
            <a:r>
              <a:rPr lang="ko-KR" altLang="en-US" dirty="0"/>
              <a:t>재해</a:t>
            </a:r>
            <a:r>
              <a:rPr lang="en-US" altLang="ko-KR" dirty="0"/>
              <a:t>/</a:t>
            </a:r>
            <a:r>
              <a:rPr lang="ko-KR" altLang="en-US" dirty="0"/>
              <a:t>실업</a:t>
            </a:r>
            <a:r>
              <a:rPr lang="en-US" altLang="ko-KR" dirty="0"/>
              <a:t>/</a:t>
            </a:r>
            <a:r>
              <a:rPr lang="ko-KR" altLang="en-US" dirty="0"/>
              <a:t>노령</a:t>
            </a:r>
            <a:r>
              <a:rPr lang="en-US" altLang="ko-KR" dirty="0"/>
              <a:t>/</a:t>
            </a:r>
            <a:r>
              <a:rPr lang="ko-KR" altLang="en-US" dirty="0"/>
              <a:t>빈곤</a:t>
            </a:r>
            <a:r>
              <a:rPr lang="en-US" altLang="ko-KR" dirty="0"/>
              <a:t>/</a:t>
            </a:r>
            <a:r>
              <a:rPr lang="ko-KR" altLang="en-US" dirty="0"/>
              <a:t>사망 등의 위험에 따른 소득의 중단</a:t>
            </a:r>
            <a:r>
              <a:rPr lang="en-US" altLang="ko-KR" dirty="0"/>
              <a:t>/</a:t>
            </a:r>
            <a:r>
              <a:rPr lang="ko-KR" altLang="en-US" dirty="0"/>
              <a:t>상실과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결혼</a:t>
            </a:r>
            <a:r>
              <a:rPr lang="en-US" altLang="ko-KR" dirty="0"/>
              <a:t>/</a:t>
            </a:r>
            <a:r>
              <a:rPr lang="ko-KR" altLang="en-US" dirty="0"/>
              <a:t>출산</a:t>
            </a:r>
            <a:r>
              <a:rPr lang="en-US" altLang="ko-KR" dirty="0"/>
              <a:t>/</a:t>
            </a:r>
            <a:r>
              <a:rPr lang="ko-KR" altLang="en-US" dirty="0"/>
              <a:t>양육</a:t>
            </a:r>
            <a:r>
              <a:rPr lang="en-US" altLang="ko-KR" dirty="0"/>
              <a:t>/</a:t>
            </a:r>
            <a:r>
              <a:rPr lang="ko-KR" altLang="en-US" dirty="0"/>
              <a:t>교육 등의 특별 </a:t>
            </a:r>
            <a:r>
              <a:rPr lang="ko-KR" altLang="en-US" dirty="0" err="1"/>
              <a:t>지출로부터</a:t>
            </a:r>
            <a:r>
              <a:rPr lang="ko-KR" altLang="en-US" dirty="0"/>
              <a:t> 모든 국민의 보호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국가가 제공하는 법정 </a:t>
            </a:r>
            <a:r>
              <a:rPr lang="ko-KR" altLang="en-US" dirty="0" err="1"/>
              <a:t>프로그램으로서의</a:t>
            </a:r>
            <a:r>
              <a:rPr lang="ko-KR" altLang="en-US" dirty="0"/>
              <a:t> 사회보험</a:t>
            </a:r>
            <a:r>
              <a:rPr lang="en-US" altLang="ko-KR" dirty="0"/>
              <a:t>/</a:t>
            </a:r>
            <a:r>
              <a:rPr lang="ko-KR" altLang="en-US" dirty="0"/>
              <a:t>공공부조</a:t>
            </a:r>
            <a:r>
              <a:rPr lang="en-US" altLang="ko-KR" dirty="0"/>
              <a:t>/</a:t>
            </a:r>
            <a:r>
              <a:rPr lang="ko-KR" altLang="en-US" dirty="0"/>
              <a:t>사회수당 및 사회복지서비스</a:t>
            </a:r>
            <a:endParaRPr lang="en-US" altLang="ko-KR" dirty="0"/>
          </a:p>
          <a:p>
            <a:pPr lvl="2"/>
            <a:r>
              <a:rPr lang="ko-KR" altLang="en-US" dirty="0"/>
              <a:t>모든 국민을 대상으로 태아기부터 노년기까지 걱정</a:t>
            </a:r>
            <a:r>
              <a:rPr lang="en-US" altLang="ko-KR" dirty="0"/>
              <a:t>/</a:t>
            </a:r>
            <a:r>
              <a:rPr lang="ko-KR" altLang="en-US" dirty="0"/>
              <a:t>근심 없는 평안한 삶을 살 수 있도록 정부가 법정 프로그램을 통해 현금</a:t>
            </a:r>
            <a:r>
              <a:rPr lang="en-US" altLang="ko-KR" dirty="0"/>
              <a:t>, </a:t>
            </a:r>
            <a:r>
              <a:rPr lang="ko-KR" altLang="en-US" dirty="0"/>
              <a:t>현물</a:t>
            </a:r>
            <a:r>
              <a:rPr lang="en-US" altLang="ko-KR" dirty="0"/>
              <a:t>, </a:t>
            </a:r>
            <a:r>
              <a:rPr lang="ko-KR" altLang="en-US" dirty="0"/>
              <a:t>서비스를 제공해주는 제도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72771A4-9C65-1450-FA5F-D6023C433A88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4309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71AD44C-079B-804E-3050-7CA3F8EE2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F9DAE81-6407-A174-AA87-BA64A6749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사회보장론의 개요</a:t>
            </a:r>
            <a:r>
              <a:rPr lang="en-US" altLang="ko-KR" dirty="0"/>
              <a:t>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0A581EF-D203-76E7-FE36-07A6C8BD24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D0CE083-1FF1-89E3-A17E-BA0B06820D3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사회보장의 개념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사회보장과 사회복지의 관계</a:t>
            </a:r>
            <a:endParaRPr lang="en-US" altLang="ko-KR" dirty="0"/>
          </a:p>
          <a:p>
            <a:pPr lvl="1"/>
            <a:r>
              <a:rPr lang="ko-KR" altLang="en-US" dirty="0"/>
              <a:t>협의의 사회보장 </a:t>
            </a:r>
            <a:r>
              <a:rPr lang="en-US" altLang="ko-KR" dirty="0"/>
              <a:t>= </a:t>
            </a:r>
            <a:r>
              <a:rPr lang="ko-KR" altLang="en-US" dirty="0"/>
              <a:t>사회보험 </a:t>
            </a:r>
            <a:r>
              <a:rPr lang="en-US" altLang="ko-KR" dirty="0"/>
              <a:t>+ </a:t>
            </a:r>
            <a:r>
              <a:rPr lang="ko-KR" altLang="en-US" dirty="0"/>
              <a:t>공공부조</a:t>
            </a:r>
            <a:br>
              <a:rPr lang="en-US" altLang="ko-KR" dirty="0"/>
            </a:br>
            <a:r>
              <a:rPr lang="ko-KR" altLang="en-US" dirty="0"/>
              <a:t>광의의 사회보장 </a:t>
            </a:r>
            <a:r>
              <a:rPr lang="en-US" altLang="ko-KR" dirty="0"/>
              <a:t>= (</a:t>
            </a:r>
            <a:r>
              <a:rPr lang="ko-KR" altLang="en-US" dirty="0"/>
              <a:t>사회보험 </a:t>
            </a:r>
            <a:r>
              <a:rPr lang="en-US" altLang="ko-KR" dirty="0"/>
              <a:t>+ </a:t>
            </a:r>
            <a:r>
              <a:rPr lang="ko-KR" altLang="en-US" dirty="0"/>
              <a:t>공공부조</a:t>
            </a:r>
            <a:r>
              <a:rPr lang="en-US" altLang="ko-KR" dirty="0"/>
              <a:t>) + </a:t>
            </a:r>
            <a:r>
              <a:rPr lang="ko-KR" altLang="en-US" dirty="0"/>
              <a:t>사회서비스</a:t>
            </a:r>
            <a:endParaRPr lang="en-US" altLang="ko-KR" dirty="0"/>
          </a:p>
          <a:p>
            <a:pPr lvl="1"/>
            <a:r>
              <a:rPr lang="ko-KR" altLang="en-US" dirty="0"/>
              <a:t>협의의 사회복지 </a:t>
            </a:r>
            <a:r>
              <a:rPr lang="en-US" altLang="ko-KR" dirty="0"/>
              <a:t>= </a:t>
            </a:r>
            <a:r>
              <a:rPr lang="ko-KR" altLang="en-US" dirty="0"/>
              <a:t>사회서비스</a:t>
            </a:r>
            <a:br>
              <a:rPr lang="en-US" altLang="ko-KR" dirty="0"/>
            </a:br>
            <a:r>
              <a:rPr lang="ko-KR" altLang="en-US" dirty="0"/>
              <a:t>광의의 사회복지 </a:t>
            </a:r>
            <a:r>
              <a:rPr lang="en-US" altLang="ko-KR" dirty="0"/>
              <a:t>= (</a:t>
            </a:r>
            <a:r>
              <a:rPr lang="ko-KR" altLang="en-US" dirty="0"/>
              <a:t>사회서비스</a:t>
            </a:r>
            <a:r>
              <a:rPr lang="en-US" altLang="ko-KR" dirty="0"/>
              <a:t>) + </a:t>
            </a:r>
            <a:r>
              <a:rPr lang="ko-KR" altLang="en-US" dirty="0"/>
              <a:t>사회보험 </a:t>
            </a:r>
            <a:r>
              <a:rPr lang="en-US" altLang="ko-KR" dirty="0"/>
              <a:t>+ </a:t>
            </a:r>
            <a:r>
              <a:rPr lang="ko-KR" altLang="en-US" dirty="0"/>
              <a:t>공공부조</a:t>
            </a:r>
          </a:p>
          <a:p>
            <a:pPr lvl="1"/>
            <a:r>
              <a:rPr lang="ko-KR" altLang="en-US" dirty="0"/>
              <a:t>결국 사회보장과 사회복지의 관계는 어느 것을 상위의 개념</a:t>
            </a:r>
            <a:r>
              <a:rPr lang="en-US" altLang="ko-KR" dirty="0"/>
              <a:t>, </a:t>
            </a:r>
            <a:r>
              <a:rPr lang="ko-KR" altLang="en-US" dirty="0"/>
              <a:t>또는 하위의 개념으로 </a:t>
            </a:r>
            <a:r>
              <a:rPr lang="ko-KR" altLang="en-US" dirty="0" err="1"/>
              <a:t>보느냐에</a:t>
            </a:r>
            <a:r>
              <a:rPr lang="ko-KR" altLang="en-US" dirty="0"/>
              <a:t> 따라 다름 </a:t>
            </a:r>
            <a:r>
              <a:rPr lang="en-US" altLang="ko-KR" dirty="0"/>
              <a:t>(</a:t>
            </a:r>
            <a:r>
              <a:rPr lang="ko-KR" altLang="en-US" dirty="0"/>
              <a:t>교수는 사회보장 </a:t>
            </a:r>
            <a:r>
              <a:rPr lang="en-US" altLang="ko-KR" dirty="0"/>
              <a:t>&lt; </a:t>
            </a:r>
            <a:r>
              <a:rPr lang="ko-KR" altLang="en-US" dirty="0"/>
              <a:t>사회복지 의 관계로 봄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사회보장 관련 용어</a:t>
            </a:r>
            <a:endParaRPr lang="en-US" altLang="ko-KR" dirty="0"/>
          </a:p>
          <a:p>
            <a:pPr lvl="1"/>
            <a:r>
              <a:rPr lang="ko-KR" altLang="en-US" dirty="0"/>
              <a:t>사회안전망</a:t>
            </a:r>
            <a:r>
              <a:rPr lang="en-US" altLang="ko-KR" dirty="0"/>
              <a:t>: IMF, </a:t>
            </a:r>
            <a:r>
              <a:rPr lang="ko-KR" altLang="en-US" dirty="0"/>
              <a:t>월드 뱅크를 중심으로 신자유주의 경제학자들의 선호</a:t>
            </a:r>
            <a:endParaRPr lang="en-US" altLang="ko-KR" dirty="0"/>
          </a:p>
          <a:p>
            <a:pPr lvl="2"/>
            <a:r>
              <a:rPr lang="ko-KR" altLang="en-US" dirty="0"/>
              <a:t>사회안전망은 사회복지보단 협의의 개념</a:t>
            </a:r>
            <a:endParaRPr lang="en-US" altLang="ko-KR" dirty="0"/>
          </a:p>
          <a:p>
            <a:pPr lvl="2"/>
            <a:r>
              <a:rPr lang="ko-KR" altLang="en-US" dirty="0"/>
              <a:t>경쟁체제에서 탈락한 사람들에 대한 안전망으로서 사회안전망 필요 대두</a:t>
            </a:r>
            <a:endParaRPr lang="en-US" altLang="ko-KR" dirty="0"/>
          </a:p>
          <a:p>
            <a:pPr lvl="1"/>
            <a:r>
              <a:rPr lang="ko-KR" altLang="en-US" dirty="0"/>
              <a:t>사회적 보호</a:t>
            </a:r>
            <a:r>
              <a:rPr lang="en-US" altLang="ko-KR" dirty="0"/>
              <a:t>: </a:t>
            </a:r>
            <a:r>
              <a:rPr lang="ko-KR" altLang="en-US" dirty="0"/>
              <a:t>유럽이 사회보장이란 용어 대신 사용</a:t>
            </a:r>
            <a:endParaRPr lang="en-US" altLang="ko-KR" dirty="0"/>
          </a:p>
          <a:p>
            <a:r>
              <a:rPr lang="ko-KR" altLang="en-US" dirty="0"/>
              <a:t>사회보장의 주체와 대상</a:t>
            </a:r>
            <a:endParaRPr lang="en-US" altLang="ko-KR" dirty="0"/>
          </a:p>
          <a:p>
            <a:pPr lvl="1"/>
            <a:r>
              <a:rPr lang="ko-KR" altLang="en-US" dirty="0"/>
              <a:t>사회보장의 주체</a:t>
            </a:r>
            <a:r>
              <a:rPr lang="en-US" altLang="ko-KR" dirty="0"/>
              <a:t>: </a:t>
            </a:r>
            <a:r>
              <a:rPr lang="ko-KR" altLang="en-US" dirty="0"/>
              <a:t>국가와 지방자치단체</a:t>
            </a:r>
            <a:endParaRPr lang="en-US" altLang="ko-KR" dirty="0"/>
          </a:p>
          <a:p>
            <a:pPr lvl="1"/>
            <a:r>
              <a:rPr lang="ko-KR" altLang="en-US" dirty="0"/>
              <a:t>오늘날의 사회보장의 대상은 모든 국민이 됨</a:t>
            </a:r>
            <a:endParaRPr lang="en-US" altLang="ko-KR" dirty="0"/>
          </a:p>
          <a:p>
            <a:pPr lvl="2"/>
            <a:r>
              <a:rPr lang="ko-KR" altLang="en-US" dirty="0"/>
              <a:t>국내 거주 외국인의 경우 상호주의의 원칙에 따름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1BAE4FE-8488-EFA2-BE27-3F5DE96638C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A0F6CCEA-481F-D2BD-6359-7E0AF98B6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792" y="848544"/>
            <a:ext cx="4176464" cy="1657881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909615D4-7472-7276-84E0-77A50BCF3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816" y="4016896"/>
            <a:ext cx="4690864" cy="1084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868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DE7E7C5-3714-C9CD-3D62-2C414115B3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63A6D2B-7A7B-8C85-43A8-6B9825607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BB7BA8-71C4-EEF0-07AC-C3E484E3294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21F4646-03E5-48BC-FCC8-BC4B662AE1A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접근</a:t>
            </a:r>
            <a:endParaRPr lang="en-US" altLang="ko-KR" dirty="0"/>
          </a:p>
          <a:p>
            <a:r>
              <a:rPr lang="ko-KR" altLang="en-US" dirty="0"/>
              <a:t>복지국가와 정책목표</a:t>
            </a:r>
            <a:endParaRPr lang="en-US" altLang="ko-KR" dirty="0"/>
          </a:p>
          <a:p>
            <a:pPr lvl="1"/>
            <a:r>
              <a:rPr lang="ko-KR" altLang="en-US" dirty="0"/>
              <a:t>복지국가의 정의</a:t>
            </a:r>
            <a:endParaRPr lang="en-US" altLang="ko-KR" dirty="0"/>
          </a:p>
          <a:p>
            <a:pPr lvl="1"/>
            <a:r>
              <a:rPr lang="ko-KR" altLang="en-US" dirty="0"/>
              <a:t>복지국가의 목표</a:t>
            </a:r>
            <a:endParaRPr lang="en-US" altLang="ko-KR" dirty="0"/>
          </a:p>
          <a:p>
            <a:r>
              <a:rPr lang="ko-KR" altLang="en-US" dirty="0"/>
              <a:t>변화하는 세계</a:t>
            </a:r>
            <a:r>
              <a:rPr lang="en-US" altLang="ko-KR" dirty="0"/>
              <a:t>: </a:t>
            </a:r>
            <a:r>
              <a:rPr lang="ko-KR" altLang="en-US" dirty="0"/>
              <a:t>변화와 대응</a:t>
            </a:r>
            <a:endParaRPr lang="en-US" altLang="ko-KR" dirty="0"/>
          </a:p>
          <a:p>
            <a:pPr lvl="1"/>
            <a:r>
              <a:rPr lang="ko-KR" altLang="en-US" dirty="0"/>
              <a:t>인구구조</a:t>
            </a:r>
            <a:endParaRPr lang="en-US" altLang="ko-KR" dirty="0"/>
          </a:p>
          <a:p>
            <a:pPr lvl="1"/>
            <a:r>
              <a:rPr lang="ko-KR" altLang="en-US" dirty="0"/>
              <a:t>세계화</a:t>
            </a:r>
            <a:endParaRPr lang="en-US" altLang="ko-KR" dirty="0"/>
          </a:p>
          <a:p>
            <a:pPr lvl="1"/>
            <a:r>
              <a:rPr lang="ko-KR" altLang="en-US" dirty="0"/>
              <a:t>가족구조 변화</a:t>
            </a:r>
            <a:endParaRPr lang="en-US" altLang="ko-KR" dirty="0"/>
          </a:p>
          <a:p>
            <a:pPr lvl="1"/>
            <a:r>
              <a:rPr lang="ko-KR" altLang="en-US" dirty="0"/>
              <a:t>직업구조 변화</a:t>
            </a:r>
            <a:endParaRPr lang="en-US" altLang="ko-KR" dirty="0"/>
          </a:p>
          <a:p>
            <a:pPr lvl="1"/>
            <a:r>
              <a:rPr lang="ko-KR" altLang="en-US" dirty="0"/>
              <a:t>복지지출 증가</a:t>
            </a:r>
            <a:endParaRPr lang="en-US" altLang="ko-KR" dirty="0"/>
          </a:p>
          <a:p>
            <a:pPr lvl="1"/>
            <a:r>
              <a:rPr lang="ko-KR" altLang="en-US" dirty="0"/>
              <a:t>도전과 대응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AF6D89A-2411-F802-9532-7041FF5EF3FE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851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D8D3A42-7FE3-C40C-B2B4-42BC7015C7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주차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3C9E2C5-D061-08FE-4832-FDA72FEFA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장 복지국가론 개관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ADB8320-8125-6469-D87A-C4D5AD5E3B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8AEE65C-8B26-5BE1-D7D9-66564161337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복지국가의 중심과제</a:t>
            </a:r>
            <a:endParaRPr lang="en-US" altLang="ko-KR" dirty="0"/>
          </a:p>
          <a:p>
            <a:pPr lvl="1"/>
            <a:r>
              <a:rPr lang="ko-KR" altLang="en-US" dirty="0"/>
              <a:t>복지국가의 정책 목표</a:t>
            </a:r>
            <a:r>
              <a:rPr lang="en-US" altLang="ko-KR" dirty="0"/>
              <a:t>? -&gt; </a:t>
            </a:r>
            <a:r>
              <a:rPr lang="ko-KR" altLang="en-US" dirty="0"/>
              <a:t>규범적 문제</a:t>
            </a:r>
            <a:endParaRPr lang="en-US" altLang="ko-KR" dirty="0"/>
          </a:p>
          <a:p>
            <a:pPr lvl="1"/>
            <a:r>
              <a:rPr lang="ko-KR" altLang="en-US" dirty="0"/>
              <a:t>이런 정책목표를 가장 합리적으로 달성할 수 있는 수단</a:t>
            </a:r>
            <a:r>
              <a:rPr lang="en-US" altLang="ko-KR" dirty="0"/>
              <a:t>? </a:t>
            </a:r>
          </a:p>
          <a:p>
            <a:pPr lvl="1"/>
            <a:r>
              <a:rPr lang="ko-KR" altLang="en-US" dirty="0"/>
              <a:t>탈상품화와 복지국가</a:t>
            </a:r>
            <a:endParaRPr lang="en-US" altLang="ko-KR" dirty="0"/>
          </a:p>
          <a:p>
            <a:pPr lvl="2"/>
            <a:r>
              <a:rPr lang="ko-KR" altLang="en-US" dirty="0"/>
              <a:t>자본주의의 특징 </a:t>
            </a:r>
            <a:r>
              <a:rPr lang="en-US" altLang="ko-KR" dirty="0"/>
              <a:t>: </a:t>
            </a:r>
            <a:r>
              <a:rPr lang="ko-KR" altLang="en-US" dirty="0"/>
              <a:t>노동력의 상품화 </a:t>
            </a:r>
            <a:r>
              <a:rPr lang="en-US" altLang="ko-KR" dirty="0"/>
              <a:t>-&gt; </a:t>
            </a:r>
            <a:r>
              <a:rPr lang="ko-KR" altLang="en-US" dirty="0"/>
              <a:t>탈상품화</a:t>
            </a:r>
            <a:r>
              <a:rPr lang="en-US" altLang="ko-KR" dirty="0"/>
              <a:t>(</a:t>
            </a:r>
            <a:r>
              <a:rPr lang="en-US" altLang="ko-KR" dirty="0" err="1"/>
              <a:t>decommoditication</a:t>
            </a:r>
            <a:r>
              <a:rPr lang="en-US" altLang="ko-KR" dirty="0"/>
              <a:t>) : </a:t>
            </a:r>
            <a:r>
              <a:rPr lang="ko-KR" altLang="en-US" dirty="0"/>
              <a:t>노동력을 판매하지 않고도 살 수 </a:t>
            </a:r>
            <a:r>
              <a:rPr lang="ko-KR" altLang="en-US" dirty="0" err="1"/>
              <a:t>있는것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&lt;</a:t>
            </a:r>
            <a:r>
              <a:rPr lang="ko-KR" altLang="en-US" dirty="0"/>
              <a:t>복지국가와 정책목표</a:t>
            </a:r>
            <a:r>
              <a:rPr lang="en-US" altLang="ko-KR" dirty="0"/>
              <a:t>&gt;</a:t>
            </a:r>
          </a:p>
          <a:p>
            <a:r>
              <a:rPr lang="ko-KR" altLang="en-US" dirty="0"/>
              <a:t>복지국가의 정의</a:t>
            </a:r>
            <a:endParaRPr lang="en-US" altLang="ko-KR" dirty="0"/>
          </a:p>
          <a:p>
            <a:pPr lvl="1"/>
            <a:r>
              <a:rPr lang="ko-KR" altLang="en-US" dirty="0"/>
              <a:t>복지는 국가의 활동 외에서도 다양한 원천에서</a:t>
            </a:r>
            <a:br>
              <a:rPr lang="en-US" altLang="ko-KR" dirty="0"/>
            </a:br>
            <a:r>
              <a:rPr lang="ko-KR" altLang="en-US" dirty="0"/>
              <a:t> 생성</a:t>
            </a:r>
            <a:endParaRPr lang="en-US" altLang="ko-KR" dirty="0"/>
          </a:p>
          <a:p>
            <a:pPr lvl="1"/>
            <a:r>
              <a:rPr lang="ko-KR" altLang="en-US" spc="-10" dirty="0">
                <a:latin typeface="Malgun Gothic"/>
                <a:cs typeface="Malgun Gothic"/>
              </a:rPr>
              <a:t>복지의 전달 유형이 다양</a:t>
            </a:r>
            <a:endParaRPr lang="en-US" altLang="ko-KR" spc="-10" dirty="0">
              <a:latin typeface="Malgun Gothic"/>
              <a:cs typeface="Malgun Gothic"/>
            </a:endParaRPr>
          </a:p>
          <a:p>
            <a:pPr lvl="1"/>
            <a:r>
              <a:rPr lang="ko-KR" altLang="en-US" spc="-10" dirty="0">
                <a:latin typeface="Malgun Gothic"/>
                <a:cs typeface="Malgun Gothic"/>
              </a:rPr>
              <a:t>복지의 활동영역을 명확히 정의 </a:t>
            </a:r>
            <a:r>
              <a:rPr lang="en-US" altLang="ko-KR" spc="-10" dirty="0">
                <a:latin typeface="Malgun Gothic"/>
                <a:cs typeface="Malgun Gothic"/>
              </a:rPr>
              <a:t>X</a:t>
            </a:r>
          </a:p>
          <a:p>
            <a:pPr lvl="2"/>
            <a:r>
              <a:rPr lang="ko-KR" altLang="en-US" spc="-10" dirty="0">
                <a:latin typeface="Malgun Gothic"/>
                <a:cs typeface="Malgun Gothic"/>
              </a:rPr>
              <a:t>가치재의 문제 </a:t>
            </a:r>
            <a:r>
              <a:rPr lang="en-US" altLang="ko-KR" spc="-10" dirty="0">
                <a:latin typeface="Malgun Gothic"/>
                <a:cs typeface="Malgun Gothic"/>
              </a:rPr>
              <a:t>: </a:t>
            </a:r>
            <a:r>
              <a:rPr lang="ko-KR" altLang="en-US" spc="-10" dirty="0">
                <a:latin typeface="Malgun Gothic"/>
                <a:cs typeface="Malgun Gothic"/>
              </a:rPr>
              <a:t>보건 교육 환경이 복지국가의 영역</a:t>
            </a:r>
            <a:r>
              <a:rPr lang="en-US" altLang="ko-KR" spc="-10" dirty="0">
                <a:latin typeface="Malgun Gothic"/>
                <a:cs typeface="Malgun Gothic"/>
              </a:rPr>
              <a:t>?</a:t>
            </a:r>
          </a:p>
          <a:p>
            <a:pPr lvl="1"/>
            <a:r>
              <a:rPr lang="ko-KR" altLang="en-US" spc="-10" dirty="0">
                <a:latin typeface="Malgun Gothic"/>
                <a:cs typeface="Malgun Gothic"/>
              </a:rPr>
              <a:t>복지국가의 급여 </a:t>
            </a:r>
            <a:r>
              <a:rPr lang="en-US" altLang="ko-KR" spc="-10" dirty="0">
                <a:latin typeface="Malgun Gothic"/>
                <a:cs typeface="Malgun Gothic"/>
              </a:rPr>
              <a:t>: </a:t>
            </a:r>
            <a:r>
              <a:rPr lang="ko-KR" altLang="en-US" spc="-10" dirty="0">
                <a:latin typeface="Malgun Gothic"/>
                <a:cs typeface="Malgun Gothic"/>
              </a:rPr>
              <a:t>현물급여 </a:t>
            </a:r>
            <a:r>
              <a:rPr lang="en-US" altLang="ko-KR" spc="-10" dirty="0">
                <a:latin typeface="Malgun Gothic"/>
                <a:cs typeface="Malgun Gothic"/>
              </a:rPr>
              <a:t>+ </a:t>
            </a:r>
            <a:r>
              <a:rPr lang="ko-KR" altLang="en-US" spc="-10" dirty="0">
                <a:latin typeface="Malgun Gothic"/>
                <a:cs typeface="Malgun Gothic"/>
              </a:rPr>
              <a:t>현금급여</a:t>
            </a:r>
            <a:endParaRPr lang="en-US" altLang="ko-KR" spc="-10" dirty="0">
              <a:latin typeface="Malgun Gothic"/>
              <a:cs typeface="Malgun Gothic"/>
            </a:endParaRPr>
          </a:p>
          <a:p>
            <a:r>
              <a:rPr lang="ko-KR" altLang="en-US" spc="-10" dirty="0">
                <a:latin typeface="Malgun Gothic"/>
                <a:cs typeface="Malgun Gothic"/>
              </a:rPr>
              <a:t>복지국가의 목표</a:t>
            </a:r>
            <a:endParaRPr lang="en-US" altLang="ko-KR" spc="-10" dirty="0">
              <a:latin typeface="Malgun Gothic"/>
              <a:cs typeface="Malgun Gothic"/>
            </a:endParaRPr>
          </a:p>
          <a:p>
            <a:pPr lvl="1"/>
            <a:r>
              <a:rPr lang="ko-KR" altLang="en-US" spc="-10" dirty="0">
                <a:latin typeface="Malgun Gothic"/>
                <a:cs typeface="Malgun Gothic"/>
              </a:rPr>
              <a:t>자원배분의 효율성</a:t>
            </a:r>
            <a:endParaRPr lang="en-US" altLang="ko-KR" spc="-10" dirty="0">
              <a:latin typeface="Malgun Gothic"/>
              <a:cs typeface="Malgun Gothic"/>
            </a:endParaRPr>
          </a:p>
          <a:p>
            <a:pPr lvl="1"/>
            <a:r>
              <a:rPr lang="ko-KR" altLang="en-US" spc="-10" dirty="0">
                <a:latin typeface="Malgun Gothic"/>
                <a:cs typeface="Malgun Gothic"/>
              </a:rPr>
              <a:t>생활수준의 유지지원</a:t>
            </a:r>
            <a:endParaRPr lang="en-US" altLang="ko-KR" spc="-10" dirty="0">
              <a:latin typeface="Malgun Gothic"/>
              <a:cs typeface="Malgun Gothic"/>
            </a:endParaRPr>
          </a:p>
          <a:p>
            <a:pPr lvl="2"/>
            <a:r>
              <a:rPr lang="ko-KR" altLang="en-US" spc="-10" dirty="0">
                <a:latin typeface="Malgun Gothic"/>
                <a:cs typeface="Malgun Gothic"/>
              </a:rPr>
              <a:t>수직적 형평성 </a:t>
            </a:r>
            <a:r>
              <a:rPr lang="en-US" altLang="ko-KR" spc="-10" dirty="0">
                <a:latin typeface="Malgun Gothic"/>
                <a:cs typeface="Malgun Gothic"/>
              </a:rPr>
              <a:t>: </a:t>
            </a:r>
            <a:r>
              <a:rPr lang="ko-KR" altLang="en-US" spc="-10" dirty="0">
                <a:latin typeface="Malgun Gothic"/>
                <a:cs typeface="Malgun Gothic"/>
              </a:rPr>
              <a:t>기초연금처럼 자산조사 없이 동일하게 급여 제공 </a:t>
            </a:r>
            <a:r>
              <a:rPr lang="en-US" altLang="ko-KR" spc="-10" dirty="0">
                <a:latin typeface="Malgun Gothic"/>
                <a:cs typeface="Malgun Gothic"/>
              </a:rPr>
              <a:t>-&gt; </a:t>
            </a:r>
            <a:r>
              <a:rPr lang="ko-KR" altLang="en-US" spc="-10" dirty="0">
                <a:latin typeface="Malgun Gothic"/>
                <a:cs typeface="Malgun Gothic"/>
              </a:rPr>
              <a:t>저소득층 유리</a:t>
            </a:r>
            <a:endParaRPr lang="en-US" altLang="ko-KR" spc="-10" dirty="0">
              <a:latin typeface="Malgun Gothic"/>
              <a:cs typeface="Malgun Gothic"/>
            </a:endParaRPr>
          </a:p>
          <a:p>
            <a:pPr lvl="1"/>
            <a:r>
              <a:rPr lang="ko-KR" altLang="en-US" spc="-10" dirty="0">
                <a:latin typeface="Malgun Gothic"/>
                <a:cs typeface="Malgun Gothic"/>
              </a:rPr>
              <a:t>사회통합</a:t>
            </a:r>
            <a:r>
              <a:rPr lang="en-US" altLang="ko-KR" spc="-10" dirty="0">
                <a:latin typeface="Malgun Gothic"/>
                <a:cs typeface="Malgun Gothic"/>
              </a:rPr>
              <a:t>: </a:t>
            </a:r>
            <a:r>
              <a:rPr lang="ko-KR" altLang="en-US" spc="-10" dirty="0">
                <a:latin typeface="Malgun Gothic"/>
                <a:cs typeface="Malgun Gothic"/>
              </a:rPr>
              <a:t>낙인효과</a:t>
            </a:r>
            <a:r>
              <a:rPr lang="en-US" altLang="ko-KR" spc="-10" dirty="0">
                <a:latin typeface="Malgun Gothic"/>
                <a:cs typeface="Malgun Gothic"/>
              </a:rPr>
              <a:t>X, </a:t>
            </a:r>
            <a:r>
              <a:rPr lang="ko-KR" altLang="en-US" spc="-10" dirty="0">
                <a:latin typeface="Malgun Gothic"/>
                <a:cs typeface="Malgun Gothic"/>
              </a:rPr>
              <a:t>보험료 납부 </a:t>
            </a:r>
            <a:r>
              <a:rPr lang="en-US" altLang="ko-KR" spc="-10" dirty="0">
                <a:latin typeface="Malgun Gothic"/>
                <a:cs typeface="Malgun Gothic"/>
              </a:rPr>
              <a:t>-&gt; </a:t>
            </a:r>
            <a:r>
              <a:rPr lang="ko-KR" altLang="en-US" spc="-10" dirty="0">
                <a:latin typeface="Malgun Gothic"/>
                <a:cs typeface="Malgun Gothic"/>
              </a:rPr>
              <a:t>보호받는다는 확신 </a:t>
            </a:r>
            <a:r>
              <a:rPr lang="en-US" altLang="ko-KR" spc="-10" dirty="0">
                <a:latin typeface="Malgun Gothic"/>
                <a:cs typeface="Malgun Gothic"/>
              </a:rPr>
              <a:t>-&gt; </a:t>
            </a:r>
            <a:r>
              <a:rPr lang="ko-KR" altLang="en-US" spc="-10" dirty="0">
                <a:latin typeface="Malgun Gothic"/>
                <a:cs typeface="Malgun Gothic"/>
              </a:rPr>
              <a:t>자선이 아닌 하나의 권리</a:t>
            </a:r>
            <a:endParaRPr lang="en-US" altLang="ko-KR" spc="-10" dirty="0">
              <a:latin typeface="Malgun Gothic"/>
              <a:cs typeface="Malgun Gothic"/>
            </a:endParaRPr>
          </a:p>
          <a:p>
            <a:pPr lvl="1"/>
            <a:r>
              <a:rPr lang="ko-KR" altLang="en-US" spc="-10" dirty="0">
                <a:latin typeface="Malgun Gothic"/>
                <a:cs typeface="Malgun Gothic"/>
              </a:rPr>
              <a:t>행정관리의 용이성</a:t>
            </a:r>
            <a:endParaRPr lang="en-US" altLang="ko-KR" spc="-10" dirty="0">
              <a:latin typeface="Malgun Gothic"/>
              <a:cs typeface="Malgun Gothic"/>
            </a:endParaRPr>
          </a:p>
          <a:p>
            <a:pPr marL="0" indent="0">
              <a:buNone/>
            </a:pPr>
            <a:r>
              <a:rPr lang="en-US" altLang="ko-KR" spc="-10" dirty="0">
                <a:latin typeface="Malgun Gothic"/>
                <a:cs typeface="Malgun Gothic"/>
              </a:rPr>
              <a:t>&lt;</a:t>
            </a:r>
            <a:r>
              <a:rPr lang="ko-KR" altLang="en-US" spc="-10" dirty="0">
                <a:latin typeface="Malgun Gothic"/>
                <a:cs typeface="Malgun Gothic"/>
              </a:rPr>
              <a:t>변화하는</a:t>
            </a:r>
            <a:r>
              <a:rPr lang="en-US" altLang="ko-KR" spc="-10" dirty="0">
                <a:latin typeface="Malgun Gothic"/>
                <a:cs typeface="Malgun Gothic"/>
              </a:rPr>
              <a:t> </a:t>
            </a:r>
            <a:r>
              <a:rPr lang="ko-KR" altLang="en-US" spc="-10" dirty="0">
                <a:latin typeface="Malgun Gothic"/>
                <a:cs typeface="Malgun Gothic"/>
              </a:rPr>
              <a:t>세계</a:t>
            </a:r>
            <a:r>
              <a:rPr lang="en-US" altLang="ko-KR" spc="-10" dirty="0">
                <a:latin typeface="Malgun Gothic"/>
                <a:cs typeface="Malgun Gothic"/>
              </a:rPr>
              <a:t>: </a:t>
            </a:r>
            <a:r>
              <a:rPr lang="ko-KR" altLang="en-US" spc="-10" dirty="0">
                <a:latin typeface="Malgun Gothic"/>
                <a:cs typeface="Malgun Gothic"/>
              </a:rPr>
              <a:t>변화와 대응</a:t>
            </a:r>
            <a:r>
              <a:rPr lang="en-US" altLang="ko-KR" spc="-10" dirty="0">
                <a:latin typeface="Malgun Gothic"/>
                <a:cs typeface="Malgun Gothic"/>
              </a:rPr>
              <a:t>&gt;</a:t>
            </a:r>
          </a:p>
          <a:p>
            <a:r>
              <a:rPr lang="ko-KR" altLang="en-US" spc="-10" dirty="0">
                <a:latin typeface="Malgun Gothic"/>
                <a:cs typeface="Malgun Gothic"/>
              </a:rPr>
              <a:t>변화하는 세계</a:t>
            </a:r>
            <a:endParaRPr lang="en-US" altLang="ko-KR" spc="-10" dirty="0">
              <a:latin typeface="Malgun Gothic"/>
              <a:cs typeface="Malgun Gothic"/>
            </a:endParaRPr>
          </a:p>
          <a:p>
            <a:pPr lvl="1"/>
            <a:r>
              <a:rPr lang="ko-KR" altLang="en-US" dirty="0"/>
              <a:t>인구구조 </a:t>
            </a:r>
            <a:r>
              <a:rPr lang="en-US" altLang="ko-KR" dirty="0"/>
              <a:t>: </a:t>
            </a:r>
            <a:r>
              <a:rPr lang="ko-KR" altLang="en-US" dirty="0"/>
              <a:t>고령화</a:t>
            </a:r>
            <a:endParaRPr lang="en-US" altLang="ko-KR" dirty="0"/>
          </a:p>
          <a:p>
            <a:pPr lvl="1"/>
            <a:r>
              <a:rPr lang="ko-KR" altLang="en-US" dirty="0"/>
              <a:t>세계화</a:t>
            </a:r>
            <a:r>
              <a:rPr lang="en-US" altLang="ko-KR" dirty="0"/>
              <a:t>: </a:t>
            </a:r>
            <a:r>
              <a:rPr lang="ko-KR" altLang="en-US" dirty="0"/>
              <a:t>복지 능력 제약 </a:t>
            </a:r>
            <a:r>
              <a:rPr lang="en-US" altLang="ko-KR" dirty="0"/>
              <a:t>but, </a:t>
            </a:r>
            <a:r>
              <a:rPr lang="ko-KR" altLang="en-US" dirty="0"/>
              <a:t>복지 수요 증가</a:t>
            </a:r>
            <a:endParaRPr lang="en-US" altLang="ko-KR" dirty="0"/>
          </a:p>
          <a:p>
            <a:pPr lvl="1"/>
            <a:r>
              <a:rPr lang="ko-KR" altLang="en-US" dirty="0"/>
              <a:t>가족구조의 변화 </a:t>
            </a:r>
            <a:r>
              <a:rPr lang="en-US" altLang="ko-KR" dirty="0"/>
              <a:t>: </a:t>
            </a:r>
            <a:r>
              <a:rPr lang="ko-KR" altLang="en-US" dirty="0"/>
              <a:t>핵가족화 및 가족 </a:t>
            </a:r>
            <a:r>
              <a:rPr lang="ko-KR" altLang="en-US" dirty="0" err="1"/>
              <a:t>헤체</a:t>
            </a:r>
            <a:endParaRPr lang="en-US" altLang="ko-KR" dirty="0"/>
          </a:p>
          <a:p>
            <a:pPr lvl="1"/>
            <a:r>
              <a:rPr lang="ko-KR" altLang="en-US" dirty="0"/>
              <a:t>직업구조 변화 </a:t>
            </a:r>
            <a:r>
              <a:rPr lang="en-US" altLang="ko-KR" dirty="0"/>
              <a:t>: </a:t>
            </a:r>
            <a:r>
              <a:rPr lang="ko-KR" altLang="en-US" dirty="0"/>
              <a:t>미숙련 노동력에 대한 수요 감소</a:t>
            </a:r>
            <a:endParaRPr lang="en-US" altLang="ko-KR" dirty="0"/>
          </a:p>
          <a:p>
            <a:pPr lvl="1"/>
            <a:r>
              <a:rPr lang="ko-KR" altLang="en-US" dirty="0"/>
              <a:t>복지 지출 증가</a:t>
            </a:r>
            <a:endParaRPr lang="en-US" altLang="ko-KR" dirty="0"/>
          </a:p>
          <a:p>
            <a:pPr lvl="1"/>
            <a:r>
              <a:rPr lang="ko-KR" altLang="en-US" dirty="0"/>
              <a:t>도전과 대응</a:t>
            </a:r>
            <a:endParaRPr lang="en-US" altLang="ko-KR" dirty="0"/>
          </a:p>
          <a:p>
            <a:pPr lvl="2"/>
            <a:r>
              <a:rPr lang="ko-KR" altLang="en-US" dirty="0"/>
              <a:t>복지국가의 </a:t>
            </a:r>
            <a:r>
              <a:rPr lang="ko-KR" altLang="en-US" dirty="0" err="1"/>
              <a:t>트릴레마</a:t>
            </a:r>
            <a:endParaRPr lang="en-US" altLang="ko-KR" dirty="0"/>
          </a:p>
          <a:p>
            <a:pPr lvl="2"/>
            <a:r>
              <a:rPr lang="ko-KR" altLang="en-US" dirty="0"/>
              <a:t>사민주의 </a:t>
            </a:r>
            <a:r>
              <a:rPr lang="en-US" altLang="ko-KR" dirty="0"/>
              <a:t>: </a:t>
            </a:r>
            <a:r>
              <a:rPr lang="ko-KR" altLang="en-US" dirty="0"/>
              <a:t>고용 증대 </a:t>
            </a:r>
            <a:r>
              <a:rPr lang="en-US" altLang="ko-KR" dirty="0"/>
              <a:t>+ </a:t>
            </a:r>
            <a:r>
              <a:rPr lang="ko-KR" altLang="en-US" dirty="0"/>
              <a:t>소득 평등</a:t>
            </a:r>
            <a:endParaRPr lang="en-US" altLang="ko-KR" dirty="0"/>
          </a:p>
          <a:p>
            <a:pPr lvl="2"/>
            <a:r>
              <a:rPr lang="ko-KR" altLang="en-US" dirty="0"/>
              <a:t>조합주의</a:t>
            </a:r>
            <a:r>
              <a:rPr lang="en-US" altLang="ko-KR" dirty="0"/>
              <a:t> : </a:t>
            </a:r>
            <a:r>
              <a:rPr lang="ko-KR" altLang="en-US" dirty="0"/>
              <a:t>재정건전 </a:t>
            </a:r>
            <a:r>
              <a:rPr lang="en-US" altLang="ko-KR" dirty="0"/>
              <a:t>+ </a:t>
            </a:r>
            <a:r>
              <a:rPr lang="ko-KR" altLang="en-US" dirty="0"/>
              <a:t>소득평등</a:t>
            </a:r>
            <a:endParaRPr lang="en-US" altLang="ko-KR" dirty="0"/>
          </a:p>
          <a:p>
            <a:pPr lvl="2"/>
            <a:r>
              <a:rPr lang="ko-KR" altLang="en-US" dirty="0"/>
              <a:t>신자유주의 </a:t>
            </a:r>
            <a:r>
              <a:rPr lang="en-US" altLang="ko-KR" dirty="0"/>
              <a:t>: </a:t>
            </a:r>
            <a:r>
              <a:rPr lang="ko-KR" altLang="en-US" dirty="0"/>
              <a:t>재정건전 </a:t>
            </a:r>
            <a:r>
              <a:rPr lang="en-US" altLang="ko-KR" dirty="0"/>
              <a:t>+ </a:t>
            </a:r>
            <a:r>
              <a:rPr lang="ko-KR" altLang="en-US" dirty="0"/>
              <a:t>고용증대</a:t>
            </a:r>
          </a:p>
          <a:p>
            <a:pPr lvl="1"/>
            <a:endParaRPr lang="en-US" altLang="ko-KR" spc="-10" dirty="0">
              <a:latin typeface="Malgun Gothic"/>
              <a:cs typeface="Malgun Gothic"/>
            </a:endParaRP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E7E0E40-86E6-CA5A-161C-35541594C055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31FA9016-4208-9853-3CA2-3B7CCCF903C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81128" y="1640632"/>
            <a:ext cx="2088232" cy="1512168"/>
          </a:xfrm>
          <a:prstGeom prst="rect">
            <a:avLst/>
          </a:prstGeom>
        </p:spPr>
      </p:pic>
      <p:pic>
        <p:nvPicPr>
          <p:cNvPr id="8" name="object 3">
            <a:extLst>
              <a:ext uri="{FF2B5EF4-FFF2-40B4-BE49-F238E27FC236}">
                <a16:creationId xmlns:a16="http://schemas.microsoft.com/office/drawing/2014/main" id="{22C2A521-5ADD-B300-7E8F-2789A2C2061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65105" y="6465168"/>
            <a:ext cx="2422328" cy="151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904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294720D-4A5E-8CAE-D46D-03D177E837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주차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4A8CB52-EC77-4DCD-2017-516969C62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사회보장의 역사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17DA4B-93EF-D4F8-C53C-C8D906CBC1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D9DEEB0-5DC5-CBD9-5FCA-08F0AA5E760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영 </a:t>
            </a:r>
            <a:r>
              <a:rPr lang="ko-KR" altLang="en-US" dirty="0" err="1"/>
              <a:t>빈민법시대</a:t>
            </a:r>
            <a:endParaRPr lang="en-US" altLang="ko-KR" dirty="0"/>
          </a:p>
          <a:p>
            <a:pPr lvl="1"/>
            <a:r>
              <a:rPr lang="ko-KR" altLang="en-US" dirty="0"/>
              <a:t>영국 </a:t>
            </a:r>
            <a:r>
              <a:rPr lang="ko-KR" altLang="en-US" dirty="0" err="1"/>
              <a:t>빈민법</a:t>
            </a:r>
            <a:endParaRPr lang="en-US" altLang="ko-KR" dirty="0"/>
          </a:p>
          <a:p>
            <a:pPr lvl="1"/>
            <a:r>
              <a:rPr lang="ko-KR" altLang="en-US" dirty="0" err="1"/>
              <a:t>빈민법</a:t>
            </a:r>
            <a:r>
              <a:rPr lang="ko-KR" altLang="en-US" dirty="0"/>
              <a:t> 이외의 </a:t>
            </a:r>
            <a:r>
              <a:rPr lang="ko-KR" altLang="en-US" dirty="0" err="1"/>
              <a:t>법드</a:t>
            </a:r>
            <a:endParaRPr lang="en-US" altLang="ko-KR" dirty="0"/>
          </a:p>
          <a:p>
            <a:r>
              <a:rPr lang="ko-KR" altLang="en-US" dirty="0"/>
              <a:t>사회보험시대</a:t>
            </a:r>
            <a:endParaRPr lang="en-US" altLang="ko-KR" dirty="0"/>
          </a:p>
          <a:p>
            <a:r>
              <a:rPr lang="ko-KR" altLang="en-US" dirty="0"/>
              <a:t>사회보장 형성</a:t>
            </a:r>
            <a:r>
              <a:rPr lang="en-US" altLang="ko-KR" dirty="0"/>
              <a:t>, </a:t>
            </a:r>
            <a:r>
              <a:rPr lang="ko-KR" altLang="en-US" dirty="0"/>
              <a:t>확대기</a:t>
            </a:r>
            <a:endParaRPr lang="en-US" altLang="ko-KR" dirty="0"/>
          </a:p>
          <a:p>
            <a:r>
              <a:rPr lang="ko-KR" altLang="en-US" dirty="0"/>
              <a:t>사회보장 </a:t>
            </a:r>
            <a:r>
              <a:rPr lang="ko-KR" altLang="en-US" dirty="0" err="1"/>
              <a:t>재편기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B116B05-4AEE-F763-588A-222D73CB244C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1366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43D32AC-BA33-084D-8196-092EA2319E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주차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255AF63-1921-817C-3649-DBFF5FB84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0E0F86-AC28-1557-9169-0A75FA40483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74E4A5B-5A35-2C37-A43F-20F9BDBFCAC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영국 </a:t>
            </a:r>
            <a:r>
              <a:rPr lang="ko-KR" altLang="en-US" dirty="0" err="1"/>
              <a:t>빈민법</a:t>
            </a:r>
            <a:endParaRPr lang="en-US" altLang="ko-KR" dirty="0"/>
          </a:p>
          <a:p>
            <a:pPr lvl="1"/>
            <a:r>
              <a:rPr lang="ko-KR" altLang="en-US" dirty="0" err="1"/>
              <a:t>인클로저</a:t>
            </a:r>
            <a:r>
              <a:rPr lang="ko-KR" altLang="en-US" dirty="0"/>
              <a:t> 운동</a:t>
            </a:r>
            <a:r>
              <a:rPr lang="en-US" altLang="ko-KR" dirty="0"/>
              <a:t>: </a:t>
            </a:r>
            <a:r>
              <a:rPr lang="ko-KR" altLang="en-US" dirty="0"/>
              <a:t>양 기르기 위해 농민 </a:t>
            </a:r>
            <a:r>
              <a:rPr lang="ko-KR" altLang="en-US" dirty="0" err="1"/>
              <a:t>내쫒고</a:t>
            </a:r>
            <a:r>
              <a:rPr lang="ko-KR" altLang="en-US" dirty="0"/>
              <a:t> 목장 세움 </a:t>
            </a:r>
            <a:r>
              <a:rPr lang="en-US" altLang="ko-KR" dirty="0"/>
              <a:t>-&gt; </a:t>
            </a:r>
            <a:r>
              <a:rPr lang="ko-KR" altLang="en-US" dirty="0"/>
              <a:t>도시 내 빈민 증가 </a:t>
            </a:r>
            <a:r>
              <a:rPr lang="en-US" altLang="ko-KR" dirty="0"/>
              <a:t>-&gt; 1601 </a:t>
            </a:r>
            <a:r>
              <a:rPr lang="ko-KR" altLang="en-US" dirty="0" err="1"/>
              <a:t>빈민법</a:t>
            </a:r>
            <a:r>
              <a:rPr lang="ko-KR" altLang="en-US" dirty="0"/>
              <a:t> 제정</a:t>
            </a:r>
            <a:endParaRPr lang="en-US" altLang="ko-KR" dirty="0"/>
          </a:p>
          <a:p>
            <a:pPr lvl="1"/>
            <a:r>
              <a:rPr lang="ko-KR" altLang="en-US" dirty="0"/>
              <a:t>빈민 구분</a:t>
            </a:r>
            <a:endParaRPr lang="en-US" altLang="ko-KR" dirty="0"/>
          </a:p>
          <a:p>
            <a:pPr lvl="2"/>
            <a:r>
              <a:rPr lang="ko-KR" altLang="en-US" dirty="0"/>
              <a:t>노동력 </a:t>
            </a:r>
            <a:r>
              <a:rPr lang="en-US" altLang="ko-KR" dirty="0"/>
              <a:t>O </a:t>
            </a:r>
            <a:r>
              <a:rPr lang="ko-KR" altLang="en-US" dirty="0"/>
              <a:t>빈민 </a:t>
            </a:r>
            <a:r>
              <a:rPr lang="en-US" altLang="ko-KR" dirty="0"/>
              <a:t>: </a:t>
            </a:r>
            <a:r>
              <a:rPr lang="ko-KR" altLang="en-US" dirty="0"/>
              <a:t>작업장 근로 </a:t>
            </a:r>
            <a:r>
              <a:rPr lang="en-US" altLang="ko-KR" dirty="0"/>
              <a:t>-&gt; </a:t>
            </a:r>
            <a:r>
              <a:rPr lang="ko-KR" altLang="en-US" dirty="0"/>
              <a:t>구호제공 </a:t>
            </a:r>
            <a:r>
              <a:rPr lang="en-US" altLang="ko-KR" dirty="0"/>
              <a:t>; </a:t>
            </a:r>
            <a:r>
              <a:rPr lang="ko-KR" altLang="en-US" dirty="0"/>
              <a:t>입소 </a:t>
            </a:r>
            <a:r>
              <a:rPr lang="ko-KR" altLang="en-US" dirty="0" err="1"/>
              <a:t>거부시</a:t>
            </a:r>
            <a:r>
              <a:rPr lang="ko-KR" altLang="en-US" dirty="0"/>
              <a:t> 감옥</a:t>
            </a:r>
            <a:endParaRPr lang="en-US" altLang="ko-KR" dirty="0"/>
          </a:p>
          <a:p>
            <a:pPr lvl="2"/>
            <a:r>
              <a:rPr lang="ko-KR" altLang="en-US" dirty="0"/>
              <a:t>노동력 </a:t>
            </a:r>
            <a:r>
              <a:rPr lang="en-US" altLang="ko-KR" dirty="0"/>
              <a:t>X </a:t>
            </a:r>
            <a:r>
              <a:rPr lang="ko-KR" altLang="en-US" dirty="0"/>
              <a:t>빈민 </a:t>
            </a:r>
            <a:r>
              <a:rPr lang="en-US" altLang="ko-KR" dirty="0"/>
              <a:t>: </a:t>
            </a:r>
            <a:r>
              <a:rPr lang="ko-KR" altLang="en-US" dirty="0"/>
              <a:t>노인</a:t>
            </a:r>
            <a:r>
              <a:rPr lang="en-US" altLang="ko-KR" dirty="0"/>
              <a:t>/</a:t>
            </a:r>
            <a:r>
              <a:rPr lang="ko-KR" altLang="en-US" dirty="0"/>
              <a:t>병자</a:t>
            </a:r>
            <a:r>
              <a:rPr lang="en-US" altLang="ko-KR" dirty="0"/>
              <a:t>/</a:t>
            </a:r>
            <a:r>
              <a:rPr lang="ko-KR" altLang="en-US" dirty="0"/>
              <a:t>장애인 </a:t>
            </a:r>
            <a:r>
              <a:rPr lang="en-US" altLang="ko-KR" dirty="0"/>
              <a:t>-&gt; </a:t>
            </a:r>
            <a:r>
              <a:rPr lang="ko-KR" altLang="en-US" dirty="0" err="1"/>
              <a:t>구빈원</a:t>
            </a:r>
            <a:r>
              <a:rPr lang="ko-KR" altLang="en-US" dirty="0"/>
              <a:t> 수용</a:t>
            </a:r>
            <a:endParaRPr lang="en-US" altLang="ko-KR" dirty="0"/>
          </a:p>
          <a:p>
            <a:pPr lvl="2"/>
            <a:r>
              <a:rPr lang="ko-KR" altLang="en-US" dirty="0" err="1"/>
              <a:t>요보호</a:t>
            </a:r>
            <a:r>
              <a:rPr lang="ko-KR" altLang="en-US" dirty="0"/>
              <a:t> 아동 </a:t>
            </a:r>
            <a:r>
              <a:rPr lang="en-US" altLang="ko-KR" dirty="0"/>
              <a:t>: </a:t>
            </a:r>
            <a:r>
              <a:rPr lang="ko-KR" altLang="en-US" dirty="0"/>
              <a:t>도제</a:t>
            </a:r>
            <a:r>
              <a:rPr lang="en-US" altLang="ko-KR" dirty="0"/>
              <a:t>/</a:t>
            </a:r>
            <a:r>
              <a:rPr lang="ko-KR" altLang="en-US" dirty="0"/>
              <a:t>입양</a:t>
            </a:r>
            <a:endParaRPr lang="en-US" altLang="ko-KR" dirty="0"/>
          </a:p>
          <a:p>
            <a:pPr lvl="1"/>
            <a:r>
              <a:rPr lang="ko-KR" altLang="en-US" dirty="0"/>
              <a:t>역사적 의의</a:t>
            </a:r>
            <a:endParaRPr lang="en-US" altLang="ko-KR" dirty="0"/>
          </a:p>
          <a:p>
            <a:pPr lvl="2"/>
            <a:r>
              <a:rPr lang="ko-KR" altLang="en-US" dirty="0"/>
              <a:t>구빈 책임 </a:t>
            </a:r>
            <a:r>
              <a:rPr lang="en-US" altLang="ko-KR" dirty="0"/>
              <a:t>= </a:t>
            </a:r>
            <a:r>
              <a:rPr lang="ko-KR" altLang="en-US" dirty="0"/>
              <a:t>국가</a:t>
            </a:r>
            <a:endParaRPr lang="en-US" altLang="ko-KR" dirty="0"/>
          </a:p>
          <a:p>
            <a:pPr lvl="2"/>
            <a:r>
              <a:rPr lang="ko-KR" altLang="en-US" dirty="0"/>
              <a:t>법률로 제도화</a:t>
            </a:r>
            <a:endParaRPr lang="en-US" altLang="ko-KR" dirty="0"/>
          </a:p>
          <a:p>
            <a:pPr lvl="2"/>
            <a:r>
              <a:rPr lang="ko-KR" altLang="en-US" dirty="0"/>
              <a:t>구빈행정기구 설립</a:t>
            </a:r>
            <a:endParaRPr lang="en-US" altLang="ko-KR" dirty="0"/>
          </a:p>
          <a:p>
            <a:pPr lvl="2"/>
            <a:r>
              <a:rPr lang="ko-KR" altLang="en-US" dirty="0"/>
              <a:t>구빈 재원 </a:t>
            </a:r>
            <a:r>
              <a:rPr lang="en-US" altLang="ko-KR" dirty="0"/>
              <a:t>-&gt; </a:t>
            </a:r>
            <a:r>
              <a:rPr lang="ko-KR" altLang="en-US" dirty="0" err="1"/>
              <a:t>구빈세</a:t>
            </a:r>
            <a:endParaRPr lang="en-US" altLang="ko-KR" dirty="0"/>
          </a:p>
          <a:p>
            <a:pPr lvl="2"/>
            <a:r>
              <a:rPr lang="ko-KR" altLang="en-US" dirty="0"/>
              <a:t>빈민 구분 및 적절한 구제</a:t>
            </a:r>
            <a:endParaRPr lang="en-US" altLang="ko-KR" dirty="0"/>
          </a:p>
          <a:p>
            <a:r>
              <a:rPr lang="ko-KR" altLang="en-US" dirty="0" err="1"/>
              <a:t>빈민법</a:t>
            </a:r>
            <a:r>
              <a:rPr lang="ko-KR" altLang="en-US" dirty="0"/>
              <a:t> 외 법들</a:t>
            </a:r>
            <a:endParaRPr lang="en-US" altLang="ko-KR" dirty="0"/>
          </a:p>
          <a:p>
            <a:pPr lvl="1"/>
            <a:r>
              <a:rPr lang="ko-KR" altLang="en-US" dirty="0" err="1"/>
              <a:t>정주법</a:t>
            </a:r>
            <a:r>
              <a:rPr lang="en-US" altLang="ko-KR" dirty="0"/>
              <a:t> : </a:t>
            </a:r>
            <a:r>
              <a:rPr lang="ko-KR" altLang="en-US" dirty="0"/>
              <a:t>빈민의 이동을 제한하는 법</a:t>
            </a:r>
            <a:endParaRPr lang="en-US" altLang="ko-KR" dirty="0"/>
          </a:p>
          <a:p>
            <a:pPr lvl="1"/>
            <a:r>
              <a:rPr lang="ko-KR" altLang="en-US" dirty="0"/>
              <a:t>작업장법 </a:t>
            </a:r>
            <a:r>
              <a:rPr lang="en-US" altLang="ko-KR" dirty="0"/>
              <a:t>: </a:t>
            </a:r>
            <a:r>
              <a:rPr lang="ko-KR" altLang="en-US" dirty="0"/>
              <a:t>노동능력 </a:t>
            </a:r>
            <a:r>
              <a:rPr lang="en-US" altLang="ko-KR" dirty="0"/>
              <a:t>O </a:t>
            </a:r>
            <a:r>
              <a:rPr lang="ko-KR" altLang="en-US" dirty="0"/>
              <a:t>빈민 고용 </a:t>
            </a:r>
            <a:r>
              <a:rPr lang="en-US" altLang="ko-KR" dirty="0"/>
              <a:t>-&gt; </a:t>
            </a:r>
            <a:r>
              <a:rPr lang="ko-KR" altLang="en-US" dirty="0"/>
              <a:t>구빈재정 감소</a:t>
            </a:r>
            <a:r>
              <a:rPr lang="en-US" altLang="ko-KR" dirty="0"/>
              <a:t>, </a:t>
            </a:r>
            <a:r>
              <a:rPr lang="ko-KR" altLang="en-US" dirty="0"/>
              <a:t>국가 부 증대</a:t>
            </a:r>
            <a:endParaRPr lang="en-US" altLang="ko-KR" dirty="0"/>
          </a:p>
          <a:p>
            <a:pPr lvl="1"/>
            <a:r>
              <a:rPr lang="ko-KR" altLang="en-US" dirty="0" err="1"/>
              <a:t>길버트법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노동능력 </a:t>
            </a:r>
            <a:r>
              <a:rPr lang="en-US" altLang="ko-KR" dirty="0"/>
              <a:t>O : </a:t>
            </a:r>
            <a:r>
              <a:rPr lang="ko-KR" altLang="en-US" dirty="0"/>
              <a:t>원외구제</a:t>
            </a:r>
            <a:r>
              <a:rPr lang="en-US" altLang="ko-KR" dirty="0"/>
              <a:t>, </a:t>
            </a:r>
            <a:r>
              <a:rPr lang="ko-KR" altLang="en-US" dirty="0"/>
              <a:t>노동능력 </a:t>
            </a:r>
            <a:r>
              <a:rPr lang="en-US" altLang="ko-KR" dirty="0"/>
              <a:t>X : </a:t>
            </a:r>
            <a:r>
              <a:rPr lang="ko-KR" altLang="en-US" dirty="0" err="1"/>
              <a:t>구빈원</a:t>
            </a:r>
            <a:endParaRPr lang="en-US" altLang="ko-KR" dirty="0"/>
          </a:p>
          <a:p>
            <a:pPr lvl="1"/>
            <a:r>
              <a:rPr lang="ko-KR" altLang="en-US" dirty="0" err="1"/>
              <a:t>스핀햄랜드법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근로빈민에 대한</a:t>
            </a:r>
            <a:r>
              <a:rPr lang="en-US" altLang="ko-KR" dirty="0"/>
              <a:t> </a:t>
            </a:r>
            <a:r>
              <a:rPr lang="ko-KR" altLang="en-US" dirty="0"/>
              <a:t>임금보조제</a:t>
            </a:r>
            <a:endParaRPr lang="en-US" altLang="ko-KR" dirty="0"/>
          </a:p>
          <a:p>
            <a:pPr lvl="2"/>
            <a:r>
              <a:rPr lang="ko-KR" altLang="en-US" dirty="0" err="1"/>
              <a:t>빵가격</a:t>
            </a:r>
            <a:r>
              <a:rPr lang="en-US" altLang="ko-KR" dirty="0"/>
              <a:t>, </a:t>
            </a:r>
            <a:r>
              <a:rPr lang="ko-KR" altLang="en-US" dirty="0" err="1"/>
              <a:t>가족수에</a:t>
            </a:r>
            <a:r>
              <a:rPr lang="ko-KR" altLang="en-US" dirty="0"/>
              <a:t> 따라 임금 보충 </a:t>
            </a:r>
            <a:r>
              <a:rPr lang="en-US" altLang="ko-KR" dirty="0"/>
              <a:t>-&gt; </a:t>
            </a:r>
            <a:r>
              <a:rPr lang="ko-KR" altLang="en-US" dirty="0"/>
              <a:t>최저생활제도 </a:t>
            </a:r>
            <a:r>
              <a:rPr lang="en-US" altLang="ko-KR" dirty="0"/>
              <a:t>+ </a:t>
            </a:r>
            <a:r>
              <a:rPr lang="ko-KR" altLang="en-US" dirty="0"/>
              <a:t>보충급여제도</a:t>
            </a:r>
            <a:endParaRPr lang="en-US" altLang="ko-KR" dirty="0"/>
          </a:p>
          <a:p>
            <a:pPr lvl="1"/>
            <a:r>
              <a:rPr lang="ko-KR" altLang="en-US" dirty="0"/>
              <a:t>신빈민법 </a:t>
            </a:r>
            <a:r>
              <a:rPr lang="en-US" altLang="ko-KR" dirty="0"/>
              <a:t>: </a:t>
            </a:r>
            <a:r>
              <a:rPr lang="ko-KR" altLang="en-US" dirty="0"/>
              <a:t>빈민구제의 수준 </a:t>
            </a:r>
            <a:r>
              <a:rPr lang="en-US" altLang="ko-KR" dirty="0"/>
              <a:t>&lt; </a:t>
            </a:r>
            <a:r>
              <a:rPr lang="ko-KR" altLang="en-US" dirty="0"/>
              <a:t>최하위 노동자의 수준</a:t>
            </a:r>
            <a:endParaRPr lang="en-US" altLang="ko-KR" dirty="0"/>
          </a:p>
          <a:p>
            <a:pPr lvl="1"/>
            <a:r>
              <a:rPr lang="ko-KR" altLang="en-US" dirty="0"/>
              <a:t>자선조직협회 </a:t>
            </a:r>
            <a:r>
              <a:rPr lang="en-US" altLang="ko-KR" dirty="0"/>
              <a:t>: </a:t>
            </a:r>
            <a:r>
              <a:rPr lang="ko-KR" altLang="en-US" dirty="0"/>
              <a:t>구제 중복</a:t>
            </a:r>
            <a:r>
              <a:rPr lang="en-US" altLang="ko-KR" dirty="0"/>
              <a:t>X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ko-KR" altLang="en-US" dirty="0"/>
              <a:t>누락</a:t>
            </a:r>
            <a:r>
              <a:rPr lang="en-US" altLang="ko-KR" dirty="0"/>
              <a:t>X ; </a:t>
            </a:r>
            <a:r>
              <a:rPr lang="ko-KR" altLang="en-US" dirty="0"/>
              <a:t>빈민의 환경조사 </a:t>
            </a:r>
            <a:r>
              <a:rPr lang="en-US" altLang="ko-KR" dirty="0"/>
              <a:t>&amp; </a:t>
            </a:r>
            <a:r>
              <a:rPr lang="ko-KR" altLang="en-US" dirty="0"/>
              <a:t>원조제공</a:t>
            </a:r>
            <a:endParaRPr lang="en-US" altLang="ko-KR" dirty="0"/>
          </a:p>
          <a:p>
            <a:r>
              <a:rPr lang="ko-KR" altLang="en-US" dirty="0"/>
              <a:t>사회보험 시대</a:t>
            </a:r>
            <a:endParaRPr lang="en-US" altLang="ko-KR" dirty="0"/>
          </a:p>
          <a:p>
            <a:pPr lvl="1"/>
            <a:r>
              <a:rPr lang="ko-KR" altLang="en-US" dirty="0"/>
              <a:t>노동자 계급과 새로운 사회적 문제 </a:t>
            </a:r>
            <a:r>
              <a:rPr lang="en-US" altLang="ko-KR" dirty="0"/>
              <a:t>-&gt; </a:t>
            </a:r>
            <a:r>
              <a:rPr lang="ko-KR" altLang="en-US" dirty="0"/>
              <a:t>사회보험 탄생</a:t>
            </a:r>
            <a:endParaRPr lang="en-US" altLang="ko-KR" dirty="0"/>
          </a:p>
          <a:p>
            <a:pPr lvl="1"/>
            <a:r>
              <a:rPr lang="ko-KR" altLang="en-US" dirty="0"/>
              <a:t>독 비스마르크 </a:t>
            </a:r>
            <a:r>
              <a:rPr lang="en-US" altLang="ko-KR" dirty="0"/>
              <a:t>:</a:t>
            </a:r>
            <a:r>
              <a:rPr lang="ko-KR" altLang="en-US" dirty="0"/>
              <a:t> 노동자 사회주의 운동 </a:t>
            </a:r>
            <a:r>
              <a:rPr lang="en-US" altLang="ko-KR" dirty="0"/>
              <a:t>-&gt; </a:t>
            </a:r>
            <a:r>
              <a:rPr lang="ko-KR" altLang="en-US" dirty="0"/>
              <a:t>사회주의 </a:t>
            </a:r>
            <a:r>
              <a:rPr lang="ko-KR" altLang="en-US" dirty="0" err="1"/>
              <a:t>탄압법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ko-KR" altLang="en-US" dirty="0"/>
              <a:t>노동자 사회보험</a:t>
            </a:r>
            <a:endParaRPr lang="en-US" altLang="ko-KR" dirty="0"/>
          </a:p>
          <a:p>
            <a:pPr lvl="1"/>
            <a:r>
              <a:rPr lang="ko-KR" altLang="en-US" dirty="0"/>
              <a:t>영 사회보험</a:t>
            </a:r>
            <a:r>
              <a:rPr lang="en-US" altLang="ko-KR" dirty="0"/>
              <a:t>: </a:t>
            </a:r>
            <a:r>
              <a:rPr lang="ko-KR" altLang="en-US" dirty="0"/>
              <a:t>노령연금법 </a:t>
            </a:r>
            <a:r>
              <a:rPr lang="en-US" altLang="ko-KR" dirty="0"/>
              <a:t>-&gt; </a:t>
            </a:r>
            <a:r>
              <a:rPr lang="ko-KR" altLang="en-US" dirty="0"/>
              <a:t>최저임금법 </a:t>
            </a:r>
            <a:r>
              <a:rPr lang="en-US" altLang="ko-KR" dirty="0"/>
              <a:t>-&gt; </a:t>
            </a:r>
            <a:r>
              <a:rPr lang="ko-KR" altLang="en-US" dirty="0"/>
              <a:t>국민보험법</a:t>
            </a:r>
            <a:endParaRPr lang="en-US" altLang="ko-KR" dirty="0"/>
          </a:p>
          <a:p>
            <a:pPr lvl="2"/>
            <a:r>
              <a:rPr lang="ko-KR" altLang="en-US" dirty="0"/>
              <a:t>국민보험법 </a:t>
            </a:r>
            <a:r>
              <a:rPr lang="en-US" altLang="ko-KR" dirty="0"/>
              <a:t>: </a:t>
            </a:r>
            <a:r>
              <a:rPr lang="ko-KR" altLang="en-US" dirty="0"/>
              <a:t>재정 </a:t>
            </a:r>
            <a:r>
              <a:rPr lang="en-US" altLang="ko-KR" dirty="0"/>
              <a:t>= </a:t>
            </a:r>
            <a:r>
              <a:rPr lang="ko-KR" altLang="en-US" dirty="0"/>
              <a:t>고용주 </a:t>
            </a:r>
            <a:r>
              <a:rPr lang="en-US" altLang="ko-KR" dirty="0"/>
              <a:t>+ </a:t>
            </a:r>
            <a:r>
              <a:rPr lang="ko-KR" altLang="en-US" dirty="0"/>
              <a:t>근로자 </a:t>
            </a:r>
            <a:r>
              <a:rPr lang="en-US" altLang="ko-KR" dirty="0"/>
              <a:t>; </a:t>
            </a:r>
            <a:r>
              <a:rPr lang="ko-KR" altLang="en-US" dirty="0"/>
              <a:t>영 최초 사회보험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B54D834-B516-FE13-D84C-2C6717D86407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0850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01F0861-A598-EE31-B0AA-D6ECD91F67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DD4FA47-61B6-E463-5BF7-F70697DF6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25F762-C2B1-44C6-1F60-D74B63AFBE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3C564C1-A1F8-7B33-2052-6AF29860E66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미 사회보장법 </a:t>
            </a:r>
            <a:r>
              <a:rPr lang="en-US" altLang="ko-KR" dirty="0"/>
              <a:t>(1935)</a:t>
            </a:r>
          </a:p>
          <a:p>
            <a:pPr lvl="1"/>
            <a:r>
              <a:rPr lang="ko-KR" altLang="en-US" dirty="0"/>
              <a:t>대공황 </a:t>
            </a:r>
            <a:r>
              <a:rPr lang="en-US" altLang="ko-KR" dirty="0"/>
              <a:t>-&gt; </a:t>
            </a:r>
            <a:r>
              <a:rPr lang="ko-KR" altLang="en-US" dirty="0"/>
              <a:t>뉴딜정책 </a:t>
            </a:r>
            <a:r>
              <a:rPr lang="en-US" altLang="ko-KR" dirty="0"/>
              <a:t>-&gt; 1935 </a:t>
            </a:r>
            <a:r>
              <a:rPr lang="ko-KR" altLang="en-US" dirty="0"/>
              <a:t>미 사회보장법</a:t>
            </a:r>
            <a:endParaRPr lang="en-US" altLang="ko-KR" dirty="0"/>
          </a:p>
          <a:p>
            <a:pPr lvl="1"/>
            <a:r>
              <a:rPr lang="ko-KR" altLang="en-US" dirty="0"/>
              <a:t>의료보험이 포함되지 </a:t>
            </a:r>
            <a:r>
              <a:rPr lang="ko-KR" altLang="en-US" dirty="0" err="1"/>
              <a:t>않은건</a:t>
            </a:r>
            <a:r>
              <a:rPr lang="ko-KR" altLang="en-US" dirty="0"/>
              <a:t> 의사 </a:t>
            </a:r>
            <a:r>
              <a:rPr lang="en-US" altLang="ko-KR" dirty="0"/>
              <a:t>+ </a:t>
            </a:r>
            <a:r>
              <a:rPr lang="ko-KR" altLang="en-US" dirty="0"/>
              <a:t>보험사의 반발</a:t>
            </a:r>
            <a:endParaRPr lang="en-US" altLang="ko-KR" dirty="0"/>
          </a:p>
          <a:p>
            <a:r>
              <a:rPr lang="ko-KR" altLang="en-US" dirty="0"/>
              <a:t>영 </a:t>
            </a:r>
            <a:r>
              <a:rPr lang="ko-KR" altLang="en-US" dirty="0" err="1"/>
              <a:t>베버리지</a:t>
            </a:r>
            <a:r>
              <a:rPr lang="ko-KR" altLang="en-US" dirty="0"/>
              <a:t> 보고서 </a:t>
            </a:r>
            <a:r>
              <a:rPr lang="en-US" altLang="ko-KR" dirty="0"/>
              <a:t>(1942)</a:t>
            </a:r>
          </a:p>
          <a:p>
            <a:pPr lvl="1"/>
            <a:r>
              <a:rPr lang="ko-KR" altLang="en-US" dirty="0"/>
              <a:t>정식명칭 </a:t>
            </a:r>
            <a:r>
              <a:rPr lang="en-US" altLang="ko-KR" dirty="0"/>
              <a:t>: </a:t>
            </a:r>
            <a:r>
              <a:rPr lang="ko-KR" altLang="en-US" dirty="0"/>
              <a:t>사회보험과 관련 서비스</a:t>
            </a:r>
            <a:endParaRPr lang="en-US" altLang="ko-KR" dirty="0"/>
          </a:p>
          <a:p>
            <a:pPr lvl="1"/>
            <a:r>
              <a:rPr lang="ko-KR" altLang="en-US" dirty="0"/>
              <a:t>이념의 핵심</a:t>
            </a:r>
            <a:endParaRPr lang="en-US" altLang="ko-KR" dirty="0"/>
          </a:p>
          <a:p>
            <a:pPr lvl="2"/>
            <a:r>
              <a:rPr lang="ko-KR" altLang="en-US" dirty="0"/>
              <a:t>보편주의 </a:t>
            </a:r>
            <a:r>
              <a:rPr lang="en-US" altLang="ko-KR" dirty="0"/>
              <a:t>: </a:t>
            </a:r>
            <a:r>
              <a:rPr lang="ko-KR" altLang="en-US" dirty="0"/>
              <a:t>동일 급여</a:t>
            </a:r>
            <a:r>
              <a:rPr lang="en-US" altLang="ko-KR" dirty="0"/>
              <a:t>, </a:t>
            </a:r>
            <a:r>
              <a:rPr lang="ko-KR" altLang="en-US" dirty="0"/>
              <a:t>낙인</a:t>
            </a:r>
            <a:r>
              <a:rPr lang="en-US" altLang="ko-KR" dirty="0"/>
              <a:t>X</a:t>
            </a:r>
          </a:p>
          <a:p>
            <a:pPr lvl="2"/>
            <a:r>
              <a:rPr lang="ko-KR" altLang="en-US" dirty="0"/>
              <a:t>국민최저선 원칙 </a:t>
            </a:r>
            <a:r>
              <a:rPr lang="en-US" altLang="ko-KR" dirty="0"/>
              <a:t>: </a:t>
            </a:r>
            <a:r>
              <a:rPr lang="ko-KR" altLang="en-US" dirty="0"/>
              <a:t>최저수준 이상은 개인</a:t>
            </a:r>
            <a:r>
              <a:rPr lang="en-US" altLang="ko-KR" dirty="0"/>
              <a:t>/</a:t>
            </a:r>
            <a:r>
              <a:rPr lang="ko-KR" altLang="en-US" dirty="0"/>
              <a:t>가족 몫</a:t>
            </a:r>
            <a:endParaRPr lang="en-US" altLang="ko-KR" dirty="0"/>
          </a:p>
          <a:p>
            <a:pPr lvl="2"/>
            <a:r>
              <a:rPr lang="ko-KR" altLang="en-US" dirty="0"/>
              <a:t>자산조사 없이 받는 생존수준 급여 제안</a:t>
            </a:r>
            <a:endParaRPr lang="en-US" altLang="ko-KR" dirty="0"/>
          </a:p>
          <a:p>
            <a:r>
              <a:rPr lang="ko-KR" altLang="en-US" dirty="0"/>
              <a:t>사회보장의 확대</a:t>
            </a:r>
            <a:endParaRPr lang="en-US" altLang="ko-KR" dirty="0"/>
          </a:p>
          <a:p>
            <a:pPr lvl="1"/>
            <a:r>
              <a:rPr lang="ko-KR" altLang="en-US" dirty="0"/>
              <a:t>메디케어 </a:t>
            </a:r>
            <a:r>
              <a:rPr lang="en-US" altLang="ko-KR" dirty="0"/>
              <a:t>; 65 </a:t>
            </a:r>
            <a:r>
              <a:rPr lang="ko-KR" altLang="en-US" dirty="0"/>
              <a:t>이상 노인 </a:t>
            </a:r>
            <a:r>
              <a:rPr lang="en-US" altLang="ko-KR" dirty="0"/>
              <a:t>+ </a:t>
            </a:r>
            <a:r>
              <a:rPr lang="ko-KR" altLang="en-US" dirty="0"/>
              <a:t>장애</a:t>
            </a:r>
            <a:r>
              <a:rPr lang="en-US" altLang="ko-KR" dirty="0"/>
              <a:t>/</a:t>
            </a:r>
            <a:r>
              <a:rPr lang="ko-KR" altLang="en-US" dirty="0"/>
              <a:t>질병</a:t>
            </a:r>
            <a:endParaRPr lang="en-US" altLang="ko-KR" dirty="0"/>
          </a:p>
          <a:p>
            <a:pPr lvl="1"/>
            <a:r>
              <a:rPr lang="ko-KR" altLang="en-US" dirty="0"/>
              <a:t>메디케이드 </a:t>
            </a:r>
            <a:r>
              <a:rPr lang="en-US" altLang="ko-KR" dirty="0"/>
              <a:t>: </a:t>
            </a:r>
            <a:r>
              <a:rPr lang="ko-KR" altLang="en-US" dirty="0"/>
              <a:t>빈곤</a:t>
            </a:r>
            <a:r>
              <a:rPr lang="en-US" altLang="ko-KR" dirty="0"/>
              <a:t>/</a:t>
            </a:r>
            <a:r>
              <a:rPr lang="ko-KR" altLang="en-US" dirty="0"/>
              <a:t>장애 의료부조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&lt;</a:t>
            </a:r>
            <a:r>
              <a:rPr lang="ko-KR" altLang="en-US" dirty="0"/>
              <a:t>사회보장의 재편</a:t>
            </a:r>
            <a:r>
              <a:rPr lang="en-US" altLang="ko-KR" dirty="0"/>
              <a:t>&gt;</a:t>
            </a:r>
          </a:p>
          <a:p>
            <a:r>
              <a:rPr lang="ko-KR" altLang="en-US" dirty="0"/>
              <a:t>영국 사례</a:t>
            </a:r>
            <a:endParaRPr lang="en-US" altLang="ko-KR" dirty="0"/>
          </a:p>
          <a:p>
            <a:pPr lvl="1"/>
            <a:r>
              <a:rPr lang="ko-KR" altLang="en-US" dirty="0" err="1"/>
              <a:t>영국병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 err="1"/>
              <a:t>고복지</a:t>
            </a:r>
            <a:r>
              <a:rPr lang="ko-KR" altLang="en-US" dirty="0"/>
              <a:t> 고비용 </a:t>
            </a:r>
            <a:r>
              <a:rPr lang="ko-KR" altLang="en-US" dirty="0" err="1"/>
              <a:t>저효율</a:t>
            </a:r>
            <a:endParaRPr lang="en-US" altLang="ko-KR" dirty="0"/>
          </a:p>
          <a:p>
            <a:pPr lvl="2"/>
            <a:r>
              <a:rPr lang="ko-KR" altLang="en-US" dirty="0"/>
              <a:t>스태그플레이션 </a:t>
            </a:r>
            <a:r>
              <a:rPr lang="en-US" altLang="ko-KR" dirty="0"/>
              <a:t>: </a:t>
            </a:r>
            <a:r>
              <a:rPr lang="ko-KR" altLang="en-US" dirty="0"/>
              <a:t>물가상승 </a:t>
            </a:r>
            <a:r>
              <a:rPr lang="en-US" altLang="ko-KR" dirty="0"/>
              <a:t>+ </a:t>
            </a:r>
            <a:r>
              <a:rPr lang="ko-KR" altLang="en-US" dirty="0"/>
              <a:t>실업률 상승</a:t>
            </a:r>
            <a:endParaRPr lang="en-US" altLang="ko-KR" dirty="0"/>
          </a:p>
          <a:p>
            <a:pPr lvl="1"/>
            <a:r>
              <a:rPr lang="ko-KR" altLang="en-US" dirty="0" err="1"/>
              <a:t>대처리즘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경제개혁 </a:t>
            </a:r>
            <a:r>
              <a:rPr lang="en-US" altLang="ko-KR" dirty="0"/>
              <a:t>+ </a:t>
            </a:r>
            <a:r>
              <a:rPr lang="ko-KR" altLang="en-US" dirty="0"/>
              <a:t>사적 개인연금</a:t>
            </a:r>
            <a:endParaRPr lang="en-US" altLang="ko-KR" dirty="0"/>
          </a:p>
          <a:p>
            <a:r>
              <a:rPr lang="ko-KR" altLang="en-US" dirty="0"/>
              <a:t>미국 사례</a:t>
            </a:r>
            <a:endParaRPr lang="en-US" altLang="ko-KR" dirty="0"/>
          </a:p>
          <a:p>
            <a:pPr lvl="1"/>
            <a:r>
              <a:rPr lang="ko-KR" altLang="en-US" dirty="0" err="1"/>
              <a:t>레이거노믹스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정부지출 감소</a:t>
            </a:r>
            <a:r>
              <a:rPr lang="en-US" altLang="ko-KR" dirty="0"/>
              <a:t>, </a:t>
            </a:r>
            <a:r>
              <a:rPr lang="ko-KR" altLang="en-US" dirty="0"/>
              <a:t>소득세 인하</a:t>
            </a:r>
            <a:r>
              <a:rPr lang="en-US" altLang="ko-KR" dirty="0"/>
              <a:t>, </a:t>
            </a:r>
            <a:r>
              <a:rPr lang="ko-KR" altLang="en-US" dirty="0" err="1"/>
              <a:t>규체</a:t>
            </a:r>
            <a:r>
              <a:rPr lang="ko-KR" altLang="en-US" dirty="0"/>
              <a:t> 철폐</a:t>
            </a:r>
            <a:r>
              <a:rPr lang="en-US" altLang="ko-KR" dirty="0"/>
              <a:t>, </a:t>
            </a:r>
            <a:r>
              <a:rPr lang="ko-KR" altLang="en-US" dirty="0"/>
              <a:t>화폐공급량 감소</a:t>
            </a:r>
            <a:r>
              <a:rPr lang="en-US" altLang="ko-KR" dirty="0"/>
              <a:t>, </a:t>
            </a:r>
            <a:r>
              <a:rPr lang="ko-KR" altLang="en-US" dirty="0"/>
              <a:t>복지 민영화</a:t>
            </a:r>
            <a:endParaRPr lang="en-US" altLang="ko-KR" dirty="0"/>
          </a:p>
          <a:p>
            <a:pPr lvl="2"/>
            <a:r>
              <a:rPr lang="ko-KR" altLang="en-US" dirty="0"/>
              <a:t>복지개혁 </a:t>
            </a:r>
            <a:r>
              <a:rPr lang="en-US" altLang="ko-KR" dirty="0"/>
              <a:t>: AFDC -&gt; TANF</a:t>
            </a:r>
          </a:p>
          <a:p>
            <a:r>
              <a:rPr lang="ko-KR" altLang="en-US" dirty="0"/>
              <a:t>재편기의</a:t>
            </a:r>
            <a:r>
              <a:rPr lang="en-US" altLang="ko-KR" dirty="0"/>
              <a:t> </a:t>
            </a:r>
            <a:r>
              <a:rPr lang="ko-KR" altLang="en-US" dirty="0"/>
              <a:t>결론</a:t>
            </a:r>
            <a:endParaRPr lang="en-US" altLang="ko-KR" dirty="0"/>
          </a:p>
          <a:p>
            <a:pPr lvl="1"/>
            <a:r>
              <a:rPr lang="ko-KR" altLang="en-US" dirty="0"/>
              <a:t>복지 급여 축소 </a:t>
            </a:r>
            <a:r>
              <a:rPr lang="en-US" altLang="ko-KR" dirty="0"/>
              <a:t>+ </a:t>
            </a:r>
            <a:r>
              <a:rPr lang="ko-KR" altLang="en-US" dirty="0"/>
              <a:t>급여 자격 강화</a:t>
            </a:r>
            <a:endParaRPr lang="en-US" altLang="ko-KR" dirty="0"/>
          </a:p>
          <a:p>
            <a:pPr lvl="1"/>
            <a:r>
              <a:rPr lang="ko-KR" altLang="en-US" dirty="0"/>
              <a:t>선별주의 </a:t>
            </a:r>
            <a:r>
              <a:rPr lang="en-US" altLang="ko-KR" dirty="0"/>
              <a:t>+ </a:t>
            </a:r>
            <a:r>
              <a:rPr lang="ko-KR" altLang="en-US" dirty="0"/>
              <a:t>노동연계복지 </a:t>
            </a:r>
            <a:r>
              <a:rPr lang="en-US" altLang="ko-KR" dirty="0"/>
              <a:t>-&gt; </a:t>
            </a:r>
            <a:r>
              <a:rPr lang="ko-KR" altLang="en-US" dirty="0"/>
              <a:t>복지종속</a:t>
            </a:r>
            <a:r>
              <a:rPr lang="en-US" altLang="ko-KR" dirty="0"/>
              <a:t>/</a:t>
            </a:r>
            <a:r>
              <a:rPr lang="ko-KR" altLang="en-US" dirty="0"/>
              <a:t>복지함정 근절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9E7DC5D-229F-1584-B84A-E46DAD70069C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8370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BF5F0D9-9AC8-2823-C3E0-D2D3D8818A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ko-KR" altLang="en-US" dirty="0"/>
              <a:t>주차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6D83538-F893-A3A6-8B5C-3DFC119D4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사회정의와 국가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DEC072A-BE82-C7A9-7DE7-F5B5E130D6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A4248D1-9B89-F456-FF59-D828756E531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사회이론</a:t>
            </a:r>
            <a:endParaRPr lang="en-US" altLang="ko-KR" dirty="0"/>
          </a:p>
          <a:p>
            <a:pPr lvl="1"/>
            <a:r>
              <a:rPr lang="ko-KR" altLang="en-US" dirty="0"/>
              <a:t>자유주의 이론</a:t>
            </a:r>
            <a:endParaRPr lang="en-US" altLang="ko-KR" dirty="0"/>
          </a:p>
          <a:p>
            <a:pPr lvl="1"/>
            <a:r>
              <a:rPr lang="ko-KR" altLang="en-US" dirty="0"/>
              <a:t>진보주의 이론</a:t>
            </a:r>
            <a:endParaRPr lang="en-US" altLang="ko-KR" dirty="0"/>
          </a:p>
          <a:p>
            <a:pPr lvl="1"/>
            <a:r>
              <a:rPr lang="ko-KR" altLang="en-US" dirty="0"/>
              <a:t>집단주의 이론</a:t>
            </a:r>
            <a:endParaRPr lang="en-US" altLang="ko-KR" dirty="0"/>
          </a:p>
          <a:p>
            <a:r>
              <a:rPr lang="ko-KR" altLang="en-US" dirty="0"/>
              <a:t>자유주의자의 견해</a:t>
            </a:r>
            <a:endParaRPr lang="en-US" altLang="ko-KR" dirty="0"/>
          </a:p>
          <a:p>
            <a:pPr lvl="1"/>
            <a:r>
              <a:rPr lang="ko-KR" altLang="en-US" dirty="0"/>
              <a:t>자연권적 자유주의</a:t>
            </a:r>
            <a:endParaRPr lang="en-US" altLang="ko-KR" dirty="0"/>
          </a:p>
          <a:p>
            <a:pPr lvl="1"/>
            <a:r>
              <a:rPr lang="ko-KR" altLang="en-US" dirty="0"/>
              <a:t>경험적 자유주의</a:t>
            </a:r>
            <a:endParaRPr lang="en-US" altLang="ko-KR" dirty="0"/>
          </a:p>
          <a:p>
            <a:r>
              <a:rPr lang="ko-KR" altLang="en-US" dirty="0"/>
              <a:t>진보주의자의 사회이론</a:t>
            </a:r>
            <a:endParaRPr lang="en-US" altLang="ko-KR" dirty="0"/>
          </a:p>
          <a:p>
            <a:pPr lvl="1"/>
            <a:r>
              <a:rPr lang="ko-KR" altLang="en-US" dirty="0"/>
              <a:t>공리주의</a:t>
            </a:r>
            <a:endParaRPr lang="en-US" altLang="ko-KR" dirty="0"/>
          </a:p>
          <a:p>
            <a:pPr lvl="1"/>
            <a:r>
              <a:rPr lang="ko-KR" altLang="en-US" dirty="0" err="1"/>
              <a:t>롤즈의</a:t>
            </a:r>
            <a:r>
              <a:rPr lang="ko-KR" altLang="en-US" dirty="0"/>
              <a:t> 사회정의</a:t>
            </a:r>
            <a:endParaRPr lang="en-US" altLang="ko-KR" dirty="0"/>
          </a:p>
          <a:p>
            <a:r>
              <a:rPr lang="ko-KR" altLang="en-US" dirty="0"/>
              <a:t>집단주의자들의 견해</a:t>
            </a:r>
            <a:endParaRPr lang="en-US" altLang="ko-KR" dirty="0"/>
          </a:p>
          <a:p>
            <a:pPr lvl="1"/>
            <a:r>
              <a:rPr lang="ko-KR" altLang="en-US" dirty="0"/>
              <a:t>사회민주주의</a:t>
            </a:r>
            <a:endParaRPr lang="en-US" altLang="ko-KR" dirty="0"/>
          </a:p>
          <a:p>
            <a:pPr lvl="1"/>
            <a:r>
              <a:rPr lang="ko-KR" altLang="en-US" dirty="0"/>
              <a:t>마르크스주의</a:t>
            </a:r>
            <a:endParaRPr lang="en-US" altLang="ko-KR" dirty="0"/>
          </a:p>
          <a:p>
            <a:r>
              <a:rPr lang="ko-KR" altLang="en-US" dirty="0"/>
              <a:t>국가의 역할에 대한 함의</a:t>
            </a:r>
            <a:endParaRPr lang="en-US" altLang="ko-KR" dirty="0"/>
          </a:p>
          <a:p>
            <a:pPr lvl="1"/>
            <a:r>
              <a:rPr lang="ko-KR" altLang="en-US" dirty="0"/>
              <a:t>이론적 문제</a:t>
            </a:r>
            <a:endParaRPr lang="en-US" altLang="ko-KR" dirty="0"/>
          </a:p>
          <a:p>
            <a:pPr lvl="1"/>
            <a:r>
              <a:rPr lang="ko-KR" altLang="en-US" dirty="0"/>
              <a:t>정책적 함의</a:t>
            </a:r>
            <a:endParaRPr lang="en-US" altLang="ko-KR" dirty="0"/>
          </a:p>
          <a:p>
            <a:pPr lvl="1"/>
            <a:r>
              <a:rPr lang="ko-KR" altLang="en-US" dirty="0"/>
              <a:t>복지국가에 대한 입장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3A2294F-1134-42E6-1BA2-64E02BE1864B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7598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99BDFC0-CE9F-9950-7E77-B619FCAE22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3190AD3-A188-9AB5-09F9-407385465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사회이론</a:t>
            </a:r>
            <a:br>
              <a:rPr lang="en-US" altLang="ko-KR" dirty="0"/>
            </a:br>
            <a:r>
              <a:rPr lang="ko-KR" altLang="en-US" dirty="0"/>
              <a:t>자유주의자의 견해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AC07594-5E00-95C5-2926-2041971427B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E3528FE-1482-7C42-3304-B771738D68B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&lt;</a:t>
            </a:r>
            <a:r>
              <a:rPr lang="ko-KR" altLang="en-US" dirty="0"/>
              <a:t>사회이론</a:t>
            </a:r>
            <a:r>
              <a:rPr lang="en-US" altLang="ko-KR" dirty="0"/>
              <a:t>&gt;</a:t>
            </a:r>
          </a:p>
          <a:p>
            <a:r>
              <a:rPr lang="ko-KR" altLang="en-US" dirty="0"/>
              <a:t>자유이론</a:t>
            </a:r>
            <a:endParaRPr lang="en-US" altLang="ko-KR" dirty="0"/>
          </a:p>
          <a:p>
            <a:pPr lvl="1"/>
            <a:r>
              <a:rPr lang="ko-KR" altLang="en-US" dirty="0"/>
              <a:t>자연권적 자유주의자</a:t>
            </a:r>
            <a:r>
              <a:rPr lang="en-US" altLang="ko-KR" dirty="0"/>
              <a:t>: </a:t>
            </a:r>
            <a:r>
              <a:rPr lang="en-US" altLang="ko-KR" dirty="0" err="1"/>
              <a:t>norzick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과정이 공정하면 결과의 불평등은 문제 </a:t>
            </a:r>
            <a:r>
              <a:rPr lang="en-US" altLang="ko-KR" dirty="0"/>
              <a:t>X</a:t>
            </a:r>
          </a:p>
          <a:p>
            <a:pPr lvl="1"/>
            <a:r>
              <a:rPr lang="ko-KR" altLang="en-US" dirty="0"/>
              <a:t>경험적 자유주의자 </a:t>
            </a:r>
            <a:r>
              <a:rPr lang="en-US" altLang="ko-KR" dirty="0"/>
              <a:t>: </a:t>
            </a:r>
            <a:r>
              <a:rPr lang="ko-KR" altLang="en-US" dirty="0"/>
              <a:t>하이에크</a:t>
            </a:r>
            <a:r>
              <a:rPr lang="en-US" altLang="ko-KR" dirty="0"/>
              <a:t>, </a:t>
            </a:r>
            <a:r>
              <a:rPr lang="ko-KR" altLang="en-US" dirty="0"/>
              <a:t>프리드먼</a:t>
            </a:r>
            <a:r>
              <a:rPr lang="en-US" altLang="ko-KR" dirty="0"/>
              <a:t>, </a:t>
            </a:r>
            <a:r>
              <a:rPr lang="ko-KR" altLang="en-US" dirty="0"/>
              <a:t>대처</a:t>
            </a:r>
            <a:endParaRPr lang="en-US" altLang="ko-KR" dirty="0"/>
          </a:p>
          <a:p>
            <a:r>
              <a:rPr lang="ko-KR" altLang="en-US" dirty="0"/>
              <a:t>진보주의 이론</a:t>
            </a:r>
            <a:endParaRPr lang="en-US" altLang="ko-KR" dirty="0"/>
          </a:p>
          <a:p>
            <a:pPr lvl="1"/>
            <a:r>
              <a:rPr lang="ko-KR" altLang="en-US" dirty="0"/>
              <a:t>새자유주의의 계승</a:t>
            </a:r>
            <a:r>
              <a:rPr lang="en-US" altLang="ko-KR" dirty="0"/>
              <a:t> -&gt; </a:t>
            </a:r>
            <a:r>
              <a:rPr lang="ko-KR" altLang="en-US" dirty="0"/>
              <a:t>공리주의 및 </a:t>
            </a:r>
            <a:r>
              <a:rPr lang="ko-KR" altLang="en-US" dirty="0" err="1"/>
              <a:t>롤즈를</a:t>
            </a:r>
            <a:r>
              <a:rPr lang="ko-KR" altLang="en-US" dirty="0"/>
              <a:t> 배경</a:t>
            </a:r>
            <a:endParaRPr lang="en-US" altLang="ko-KR" dirty="0"/>
          </a:p>
          <a:p>
            <a:pPr lvl="2"/>
            <a:r>
              <a:rPr lang="ko-KR" altLang="en-US" dirty="0"/>
              <a:t>새 자유주의 특징</a:t>
            </a:r>
            <a:r>
              <a:rPr lang="en-US" altLang="ko-KR" dirty="0"/>
              <a:t> : </a:t>
            </a:r>
            <a:r>
              <a:rPr lang="ko-KR" altLang="en-US" dirty="0"/>
              <a:t>사적재산권 </a:t>
            </a:r>
            <a:r>
              <a:rPr lang="en-US" altLang="ko-KR" dirty="0"/>
              <a:t>= </a:t>
            </a:r>
            <a:r>
              <a:rPr lang="ko-KR" altLang="en-US" dirty="0"/>
              <a:t>정책목표의 수단</a:t>
            </a:r>
            <a:r>
              <a:rPr lang="en-US" altLang="ko-KR" dirty="0"/>
              <a:t>, </a:t>
            </a:r>
            <a:r>
              <a:rPr lang="ko-KR" altLang="en-US" dirty="0"/>
              <a:t>평등주의 차원에서 적절한 분배정책 지지</a:t>
            </a:r>
            <a:endParaRPr lang="en-US" altLang="ko-KR" dirty="0"/>
          </a:p>
          <a:p>
            <a:pPr lvl="2"/>
            <a:r>
              <a:rPr lang="ko-KR" altLang="en-US" dirty="0"/>
              <a:t>새자유주의 </a:t>
            </a:r>
            <a:r>
              <a:rPr lang="en-US" altLang="ko-KR" dirty="0"/>
              <a:t>=! </a:t>
            </a:r>
            <a:r>
              <a:rPr lang="ko-KR" altLang="en-US" dirty="0"/>
              <a:t>신자유주의</a:t>
            </a:r>
            <a:endParaRPr lang="en-US" altLang="ko-KR" dirty="0"/>
          </a:p>
          <a:p>
            <a:pPr lvl="1"/>
            <a:r>
              <a:rPr lang="ko-KR" altLang="en-US" dirty="0"/>
              <a:t>적극적 자유 </a:t>
            </a:r>
            <a:r>
              <a:rPr lang="en-US" altLang="ko-KR" dirty="0"/>
              <a:t>= </a:t>
            </a:r>
            <a:r>
              <a:rPr lang="ko-KR" altLang="en-US" dirty="0"/>
              <a:t>경제적자유</a:t>
            </a:r>
            <a:r>
              <a:rPr lang="en-US" altLang="ko-KR" dirty="0"/>
              <a:t> + </a:t>
            </a:r>
            <a:r>
              <a:rPr lang="ko-KR" altLang="en-US" dirty="0"/>
              <a:t>경제적 보장</a:t>
            </a:r>
            <a:endParaRPr lang="en-US" altLang="ko-KR" dirty="0"/>
          </a:p>
          <a:p>
            <a:r>
              <a:rPr lang="ko-KR" altLang="en-US" dirty="0"/>
              <a:t>집단주의이론</a:t>
            </a:r>
            <a:endParaRPr lang="en-US" altLang="ko-KR" dirty="0"/>
          </a:p>
          <a:p>
            <a:pPr lvl="1"/>
            <a:r>
              <a:rPr lang="ko-KR" altLang="en-US" dirty="0"/>
              <a:t>마르크스이론 </a:t>
            </a:r>
            <a:r>
              <a:rPr lang="en-US" altLang="ko-KR" dirty="0"/>
              <a:t>: </a:t>
            </a:r>
            <a:r>
              <a:rPr lang="ko-KR" altLang="en-US" dirty="0"/>
              <a:t>계급적 관점에서 생산수단</a:t>
            </a:r>
            <a:r>
              <a:rPr lang="en-US" altLang="ko-KR" dirty="0"/>
              <a:t>, </a:t>
            </a:r>
            <a:r>
              <a:rPr lang="ko-KR" altLang="en-US" dirty="0"/>
              <a:t>소유 관계를 둘러싼 갈등</a:t>
            </a:r>
            <a:r>
              <a:rPr lang="en-US" altLang="ko-KR" dirty="0"/>
              <a:t>; </a:t>
            </a:r>
            <a:r>
              <a:rPr lang="ko-KR" altLang="en-US" dirty="0"/>
              <a:t>개인의 필요에 따라 자원 배분</a:t>
            </a:r>
            <a:endParaRPr lang="en-US" altLang="ko-KR" dirty="0"/>
          </a:p>
          <a:p>
            <a:pPr lvl="1"/>
            <a:r>
              <a:rPr lang="ko-KR" altLang="en-US" dirty="0"/>
              <a:t>사민주의자 </a:t>
            </a:r>
            <a:r>
              <a:rPr lang="en-US" altLang="ko-KR" dirty="0"/>
              <a:t>: </a:t>
            </a:r>
            <a:r>
              <a:rPr lang="ko-KR" altLang="en-US" dirty="0"/>
              <a:t>평등주의 </a:t>
            </a:r>
            <a:r>
              <a:rPr lang="en-US" altLang="ko-KR" dirty="0"/>
              <a:t>+ </a:t>
            </a:r>
            <a:r>
              <a:rPr lang="ko-KR" altLang="en-US" dirty="0"/>
              <a:t>진보주의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&lt;</a:t>
            </a:r>
            <a:r>
              <a:rPr lang="ko-KR" altLang="en-US" dirty="0"/>
              <a:t>자유주의자의 견해</a:t>
            </a:r>
            <a:r>
              <a:rPr lang="en-US" altLang="ko-KR" dirty="0"/>
              <a:t>&gt;</a:t>
            </a:r>
          </a:p>
          <a:p>
            <a:r>
              <a:rPr lang="ko-KR" altLang="en-US" dirty="0"/>
              <a:t>자연권적 자유주의</a:t>
            </a:r>
            <a:endParaRPr lang="en-US" altLang="ko-KR" dirty="0"/>
          </a:p>
          <a:p>
            <a:pPr lvl="1"/>
            <a:r>
              <a:rPr lang="en-US" altLang="ko-KR" dirty="0"/>
              <a:t>Nozick : </a:t>
            </a:r>
            <a:r>
              <a:rPr lang="ko-KR" altLang="en-US" dirty="0"/>
              <a:t>보유의 정의</a:t>
            </a:r>
            <a:r>
              <a:rPr lang="en-US" altLang="ko-KR" dirty="0"/>
              <a:t>: </a:t>
            </a:r>
            <a:r>
              <a:rPr lang="ko-KR" altLang="en-US" dirty="0"/>
              <a:t>노동에 상응하는 대가를 받을 권리</a:t>
            </a:r>
            <a:endParaRPr lang="en-US" altLang="ko-KR" dirty="0"/>
          </a:p>
          <a:p>
            <a:pPr lvl="2"/>
            <a:r>
              <a:rPr lang="ko-KR" altLang="en-US" dirty="0"/>
              <a:t>획득의 정의 </a:t>
            </a:r>
            <a:r>
              <a:rPr lang="en-US" altLang="ko-KR" dirty="0"/>
              <a:t>: </a:t>
            </a:r>
            <a:r>
              <a:rPr lang="ko-KR" altLang="en-US" dirty="0"/>
              <a:t>소득활동 </a:t>
            </a:r>
            <a:r>
              <a:rPr lang="en-US" altLang="ko-KR" dirty="0"/>
              <a:t>-&gt; </a:t>
            </a:r>
            <a:r>
              <a:rPr lang="ko-KR" altLang="en-US" dirty="0"/>
              <a:t>보유</a:t>
            </a:r>
            <a:endParaRPr lang="en-US" altLang="ko-KR" dirty="0"/>
          </a:p>
          <a:p>
            <a:pPr lvl="2"/>
            <a:r>
              <a:rPr lang="ko-KR" altLang="en-US" dirty="0"/>
              <a:t>이전의 정의 </a:t>
            </a:r>
            <a:r>
              <a:rPr lang="en-US" altLang="ko-KR" dirty="0"/>
              <a:t>: (</a:t>
            </a:r>
            <a:r>
              <a:rPr lang="ko-KR" altLang="en-US" dirty="0"/>
              <a:t>부의 상속 </a:t>
            </a:r>
            <a:r>
              <a:rPr lang="en-US" altLang="ko-KR" dirty="0"/>
              <a:t>-&gt; </a:t>
            </a:r>
            <a:r>
              <a:rPr lang="ko-KR" altLang="en-US" dirty="0"/>
              <a:t>보유</a:t>
            </a:r>
            <a:r>
              <a:rPr lang="en-US" altLang="ko-KR" dirty="0"/>
              <a:t>) -&gt; </a:t>
            </a:r>
            <a:r>
              <a:rPr lang="ko-KR" altLang="en-US" dirty="0"/>
              <a:t>허용</a:t>
            </a:r>
            <a:endParaRPr lang="en-US" altLang="ko-KR" dirty="0"/>
          </a:p>
          <a:p>
            <a:pPr lvl="2"/>
            <a:r>
              <a:rPr lang="ko-KR" altLang="en-US" dirty="0"/>
              <a:t>교정의 원리 </a:t>
            </a:r>
            <a:r>
              <a:rPr lang="en-US" altLang="ko-KR" dirty="0"/>
              <a:t>: </a:t>
            </a:r>
            <a:r>
              <a:rPr lang="ko-KR" altLang="en-US" dirty="0"/>
              <a:t>정부 </a:t>
            </a:r>
            <a:r>
              <a:rPr lang="en-US" altLang="ko-KR" dirty="0"/>
              <a:t>: </a:t>
            </a:r>
            <a:r>
              <a:rPr lang="ko-KR" altLang="en-US" dirty="0"/>
              <a:t>부당하게 얻은 부요 </a:t>
            </a:r>
            <a:r>
              <a:rPr lang="en-US" altLang="ko-KR" dirty="0"/>
              <a:t>-&gt; </a:t>
            </a:r>
            <a:r>
              <a:rPr lang="ko-KR" altLang="en-US" dirty="0"/>
              <a:t>재분배</a:t>
            </a:r>
            <a:endParaRPr lang="en-US" altLang="ko-KR" dirty="0"/>
          </a:p>
          <a:p>
            <a:pPr lvl="1"/>
            <a:r>
              <a:rPr lang="ko-KR" altLang="en-US" dirty="0"/>
              <a:t>자연권 자유주의 </a:t>
            </a:r>
            <a:r>
              <a:rPr lang="en-US" altLang="ko-KR" dirty="0"/>
              <a:t>: </a:t>
            </a:r>
            <a:r>
              <a:rPr lang="ko-KR" altLang="en-US" dirty="0"/>
              <a:t>야경국가</a:t>
            </a:r>
            <a:endParaRPr lang="en-US" altLang="ko-KR" dirty="0"/>
          </a:p>
          <a:p>
            <a:pPr lvl="2"/>
            <a:r>
              <a:rPr lang="ko-KR" altLang="en-US" dirty="0"/>
              <a:t>기본적 공공재만 생산</a:t>
            </a:r>
            <a:endParaRPr lang="en-US" altLang="ko-KR" dirty="0"/>
          </a:p>
          <a:p>
            <a:pPr lvl="2"/>
            <a:r>
              <a:rPr lang="ko-KR" altLang="en-US" dirty="0"/>
              <a:t>조세 </a:t>
            </a:r>
            <a:r>
              <a:rPr lang="en-US" altLang="ko-KR" dirty="0"/>
              <a:t>= </a:t>
            </a:r>
            <a:r>
              <a:rPr lang="ko-KR" altLang="en-US" dirty="0"/>
              <a:t>시민의 소득 착취</a:t>
            </a:r>
            <a:endParaRPr lang="en-US" altLang="ko-KR" dirty="0"/>
          </a:p>
          <a:p>
            <a:pPr lvl="2"/>
            <a:r>
              <a:rPr lang="ko-KR" altLang="en-US" dirty="0"/>
              <a:t>조세부담 </a:t>
            </a:r>
            <a:r>
              <a:rPr lang="en-US" altLang="ko-KR" dirty="0"/>
              <a:t>= </a:t>
            </a:r>
            <a:r>
              <a:rPr lang="ko-KR" altLang="en-US" dirty="0"/>
              <a:t>국가를 위해 일함</a:t>
            </a:r>
            <a:endParaRPr lang="en-US" altLang="ko-KR" dirty="0"/>
          </a:p>
          <a:p>
            <a:r>
              <a:rPr lang="ko-KR" altLang="en-US" dirty="0"/>
              <a:t>경험적 자유주의</a:t>
            </a:r>
            <a:r>
              <a:rPr lang="en-US" altLang="ko-KR" dirty="0"/>
              <a:t> (Hayek</a:t>
            </a:r>
            <a:r>
              <a:rPr lang="ko-KR" altLang="en-US" dirty="0"/>
              <a:t> </a:t>
            </a:r>
            <a:r>
              <a:rPr lang="en-US" altLang="ko-KR" dirty="0"/>
              <a:t>, Friedman)</a:t>
            </a:r>
          </a:p>
          <a:p>
            <a:pPr lvl="1"/>
            <a:r>
              <a:rPr lang="ko-KR" altLang="en-US" dirty="0"/>
              <a:t>개인의 자유 중시</a:t>
            </a:r>
            <a:endParaRPr lang="en-US" altLang="ko-KR" dirty="0"/>
          </a:p>
          <a:p>
            <a:pPr lvl="1"/>
            <a:r>
              <a:rPr lang="ko-KR" altLang="en-US" dirty="0"/>
              <a:t>시장 </a:t>
            </a:r>
            <a:r>
              <a:rPr lang="en-US" altLang="ko-KR" dirty="0"/>
              <a:t>= </a:t>
            </a:r>
            <a:r>
              <a:rPr lang="ko-KR" altLang="en-US" dirty="0"/>
              <a:t>개인 자유 보호</a:t>
            </a:r>
            <a:r>
              <a:rPr lang="en-US" altLang="ko-KR" dirty="0"/>
              <a:t>, </a:t>
            </a:r>
            <a:r>
              <a:rPr lang="ko-KR" altLang="en-US" dirty="0"/>
              <a:t>경제적 편익</a:t>
            </a:r>
            <a:r>
              <a:rPr lang="en-US" altLang="ko-KR" dirty="0"/>
              <a:t> </a:t>
            </a:r>
            <a:r>
              <a:rPr lang="ko-KR" altLang="en-US" dirty="0"/>
              <a:t>창조</a:t>
            </a:r>
            <a:endParaRPr lang="en-US" altLang="ko-KR" dirty="0"/>
          </a:p>
          <a:p>
            <a:pPr lvl="1"/>
            <a:r>
              <a:rPr lang="ko-KR" altLang="en-US" dirty="0"/>
              <a:t>신호기능 작동 </a:t>
            </a:r>
            <a:r>
              <a:rPr lang="en-US" altLang="ko-KR" dirty="0"/>
              <a:t>-&gt; </a:t>
            </a:r>
            <a:r>
              <a:rPr lang="ko-KR" altLang="en-US" dirty="0"/>
              <a:t>시장기구 이점</a:t>
            </a:r>
            <a:endParaRPr lang="en-US" altLang="ko-KR" dirty="0"/>
          </a:p>
          <a:p>
            <a:pPr lvl="1"/>
            <a:r>
              <a:rPr lang="ko-KR" altLang="en-US" dirty="0"/>
              <a:t>개인의 경제적 보상 </a:t>
            </a:r>
            <a:r>
              <a:rPr lang="en-US" altLang="ko-KR" dirty="0"/>
              <a:t>-&gt; </a:t>
            </a:r>
            <a:r>
              <a:rPr lang="ko-KR" altLang="en-US" dirty="0"/>
              <a:t>공동선을 수행할 기제</a:t>
            </a:r>
            <a:endParaRPr lang="en-US" altLang="ko-KR" dirty="0"/>
          </a:p>
          <a:p>
            <a:pPr lvl="1"/>
            <a:r>
              <a:rPr lang="ko-KR" altLang="en-US" dirty="0"/>
              <a:t>사회정의 </a:t>
            </a:r>
            <a:r>
              <a:rPr lang="en-US" altLang="ko-KR" dirty="0"/>
              <a:t>= </a:t>
            </a:r>
            <a:r>
              <a:rPr lang="ko-KR" altLang="en-US" dirty="0"/>
              <a:t>무익 </a:t>
            </a:r>
            <a:r>
              <a:rPr lang="en-US" altLang="ko-KR" dirty="0"/>
              <a:t>+ </a:t>
            </a:r>
            <a:r>
              <a:rPr lang="ko-KR" altLang="en-US" dirty="0"/>
              <a:t>유해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AD8D1C5-833C-1FB7-E754-501CDE67291E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2231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3DA2A28-4C2F-4F2E-4BE5-CBD082DBA0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0E420B9-427B-939F-C494-E63EF4918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진보주의자의 사회이론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866CC90-E10B-4A15-88AE-2EE52B9394E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28F4A1F2-7DB4-710A-65B8-830D3F3E6C5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진보주의의 주장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뉴라이트와 차이 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자본주의 </a:t>
                </a:r>
                <a:r>
                  <a:rPr lang="en-US" altLang="ko-KR" dirty="0"/>
                  <a:t>= </a:t>
                </a:r>
                <a:r>
                  <a:rPr lang="ko-KR" altLang="en-US" dirty="0"/>
                  <a:t>가장 효율적 사회제도</a:t>
                </a:r>
                <a:r>
                  <a:rPr lang="en-US" altLang="ko-KR" dirty="0"/>
                  <a:t>; </a:t>
                </a:r>
                <a:r>
                  <a:rPr lang="ko-KR" altLang="en-US" dirty="0"/>
                  <a:t>자본주의</a:t>
                </a:r>
                <a:r>
                  <a:rPr lang="en-US" altLang="ko-KR" dirty="0"/>
                  <a:t>= </a:t>
                </a:r>
                <a:r>
                  <a:rPr lang="ko-KR" altLang="en-US" dirty="0"/>
                  <a:t>빈곤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불평등 초래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공리주의 </a:t>
                </a:r>
                <a:r>
                  <a:rPr lang="en-US" altLang="ko-KR" dirty="0"/>
                  <a:t>+ </a:t>
                </a:r>
                <a:r>
                  <a:rPr lang="ko-KR" altLang="en-US" dirty="0" err="1"/>
                  <a:t>롤즈의</a:t>
                </a:r>
                <a:r>
                  <a:rPr lang="ko-KR" altLang="en-US" dirty="0"/>
                  <a:t> 사상 </a:t>
                </a:r>
                <a:r>
                  <a:rPr lang="en-US" altLang="ko-KR" dirty="0"/>
                  <a:t>-&gt; </a:t>
                </a:r>
                <a:r>
                  <a:rPr lang="ko-KR" altLang="en-US" dirty="0"/>
                  <a:t>자본주의가 효율</a:t>
                </a:r>
                <a:r>
                  <a:rPr lang="en-US" altLang="ko-KR" dirty="0"/>
                  <a:t>/</a:t>
                </a:r>
                <a:r>
                  <a:rPr lang="ko-KR" altLang="en-US" dirty="0" err="1"/>
                  <a:t>형편성</a:t>
                </a:r>
                <a:endParaRPr lang="en-US" altLang="ko-KR" dirty="0"/>
              </a:p>
              <a:p>
                <a:r>
                  <a:rPr lang="ko-KR" altLang="en-US" dirty="0"/>
                  <a:t>공리주의 목표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사회구성원의 총효용 극대화되도록 배분</a:t>
                </a:r>
                <a:endParaRPr lang="en-US" altLang="ko-KR" dirty="0"/>
              </a:p>
              <a:p>
                <a:r>
                  <a:rPr lang="en-US" altLang="ko-KR" dirty="0"/>
                  <a:t>Edgeworth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: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if</a:t>
                </a:r>
                <a:r>
                  <a:rPr lang="ko-KR" altLang="en-US" dirty="0"/>
                  <a:t> 다음의 조건들</a:t>
                </a:r>
                <a:r>
                  <a:rPr lang="en-US" altLang="ko-KR" dirty="0"/>
                  <a:t>, -&gt; </a:t>
                </a:r>
                <a:r>
                  <a:rPr lang="ko-KR" altLang="en-US" dirty="0"/>
                  <a:t>모두에게 소득을 완전균등 분배 </a:t>
                </a:r>
                <a:r>
                  <a:rPr lang="en-US" altLang="ko-KR" dirty="0"/>
                  <a:t>-&gt; </a:t>
                </a:r>
                <a:r>
                  <a:rPr lang="ko-KR" altLang="en-US" dirty="0"/>
                  <a:t>총효용 극대화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사회후생 </a:t>
                </a:r>
                <a:r>
                  <a:rPr lang="en-US" altLang="ko-KR" dirty="0"/>
                  <a:t>= </a:t>
                </a:r>
                <a:r>
                  <a:rPr lang="ko-KR" altLang="en-US" dirty="0"/>
                  <a:t>개인들의 효용의 합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모든 사람 </a:t>
                </a:r>
                <a:r>
                  <a:rPr lang="en-US" altLang="ko-KR" dirty="0"/>
                  <a:t>-&gt; </a:t>
                </a:r>
                <a:r>
                  <a:rPr lang="ko-KR" altLang="en-US" dirty="0"/>
                  <a:t>동일한 효용함수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효용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소득수준에만 의존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소득에서 한계효용체감법칙 작용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사회후생함수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pPr lvl="1"/>
                <a:r>
                  <a:rPr lang="ko-KR" altLang="en-US" dirty="0"/>
                  <a:t>한계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효용함수가 각기 다르고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개인의 효용이 타인의 소득에 영향을 받을 수 있다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(</a:t>
                </a:r>
                <a:r>
                  <a:rPr lang="ko-KR" altLang="en-US" dirty="0"/>
                  <a:t>그림</a:t>
                </a:r>
                <a:r>
                  <a:rPr lang="en-US" altLang="ko-KR" dirty="0"/>
                  <a:t>) : </a:t>
                </a:r>
                <a:br>
                  <a:rPr lang="en-US" altLang="ko-KR" dirty="0"/>
                </a:br>
                <a:r>
                  <a:rPr lang="ko-KR" altLang="en-US" dirty="0"/>
                  <a:t>위 그림에서 총 효용은 균형점 그래프 아래의 넓이의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합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효용수준이 같을 때</a:t>
                </a:r>
                <a:endParaRPr lang="en-US" altLang="ko-KR" dirty="0"/>
              </a:p>
              <a:p>
                <a:pPr lvl="3"/>
                <a:r>
                  <a:rPr lang="ko-KR" altLang="en-US" dirty="0"/>
                  <a:t>그래프 </a:t>
                </a:r>
                <a:r>
                  <a:rPr lang="en-US" altLang="ko-KR" dirty="0"/>
                  <a:t>a, b</a:t>
                </a:r>
                <a:r>
                  <a:rPr lang="ko-KR" altLang="en-US" dirty="0"/>
                  <a:t>의 균형점인 </a:t>
                </a:r>
                <a:r>
                  <a:rPr lang="en-US" altLang="ko-KR" dirty="0"/>
                  <a:t>E1</a:t>
                </a:r>
                <a:r>
                  <a:rPr lang="ko-KR" altLang="en-US" dirty="0"/>
                  <a:t>에서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총효용수준은 최대화된다</a:t>
                </a:r>
                <a:br>
                  <a:rPr lang="en-US" altLang="ko-KR" dirty="0"/>
                </a:br>
                <a:r>
                  <a:rPr lang="ko-KR" altLang="en-US" dirty="0"/>
                  <a:t>총 효용 </a:t>
                </a:r>
                <a:r>
                  <a:rPr lang="en-US" altLang="ko-KR" dirty="0"/>
                  <a:t>= </a:t>
                </a:r>
                <a:br>
                  <a:rPr lang="en-US" altLang="ko-KR" dirty="0"/>
                </a:br>
                <a:r>
                  <a:rPr lang="en-US" altLang="ko-KR" dirty="0"/>
                  <a:t>(a E1 C D</a:t>
                </a:r>
                <a:r>
                  <a:rPr lang="ko-KR" altLang="en-US" dirty="0"/>
                  <a:t>의 넓이</a:t>
                </a:r>
                <a:r>
                  <a:rPr lang="en-US" altLang="ko-KR" dirty="0"/>
                  <a:t>)</a:t>
                </a:r>
                <a:br>
                  <a:rPr lang="en-US" altLang="ko-KR" dirty="0"/>
                </a:br>
                <a:r>
                  <a:rPr lang="en-US" altLang="ko-KR" dirty="0"/>
                  <a:t>+ (b E1 C B</a:t>
                </a:r>
                <a:r>
                  <a:rPr lang="ko-KR" altLang="en-US" dirty="0"/>
                  <a:t>의 넓이</a:t>
                </a:r>
                <a:r>
                  <a:rPr lang="en-US" altLang="ko-KR" dirty="0"/>
                  <a:t>)</a:t>
                </a:r>
              </a:p>
              <a:p>
                <a:pPr lvl="3"/>
                <a:r>
                  <a:rPr lang="en-US" altLang="ko-KR" dirty="0"/>
                  <a:t>D</a:t>
                </a:r>
                <a:r>
                  <a:rPr lang="ko-KR" altLang="en-US" dirty="0"/>
                  <a:t>수준에서 분배가</a:t>
                </a:r>
                <a:br>
                  <a:rPr lang="en-US" altLang="ko-KR" dirty="0"/>
                </a:br>
                <a:r>
                  <a:rPr lang="ko-KR" altLang="en-US" dirty="0" err="1"/>
                  <a:t>이루어질시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총 효용</a:t>
                </a:r>
                <a:r>
                  <a:rPr lang="en-US" altLang="ko-KR" dirty="0"/>
                  <a:t>) =</a:t>
                </a:r>
                <a:br>
                  <a:rPr lang="en-US" altLang="ko-KR" dirty="0"/>
                </a:br>
                <a:r>
                  <a:rPr lang="en-US" altLang="ko-KR" dirty="0"/>
                  <a:t>(a E2 D A) + (b B2 D B)</a:t>
                </a:r>
                <a:br>
                  <a:rPr lang="en-US" altLang="ko-KR" dirty="0"/>
                </a:br>
                <a:r>
                  <a:rPr lang="ko-KR" altLang="en-US" dirty="0"/>
                  <a:t>효용손실 </a:t>
                </a:r>
                <a:r>
                  <a:rPr lang="en-US" altLang="ko-KR" dirty="0"/>
                  <a:t>= (E1, B2, E2)</a:t>
                </a:r>
              </a:p>
              <a:p>
                <a:pPr lvl="2"/>
                <a:r>
                  <a:rPr lang="ko-KR" altLang="en-US" dirty="0"/>
                  <a:t>효용수준이 다를 때</a:t>
                </a:r>
                <a:endParaRPr lang="en-US" altLang="ko-KR" dirty="0"/>
              </a:p>
              <a:p>
                <a:pPr lvl="3"/>
                <a:r>
                  <a:rPr lang="en-US" altLang="ko-KR" dirty="0"/>
                  <a:t>a, b’</a:t>
                </a:r>
                <a:r>
                  <a:rPr lang="ko-KR" altLang="en-US" dirty="0"/>
                  <a:t>과 같은 효용수준</a:t>
                </a:r>
                <a:br>
                  <a:rPr lang="en-US" altLang="ko-KR" dirty="0"/>
                </a:br>
                <a:r>
                  <a:rPr lang="ko-KR" altLang="en-US" dirty="0"/>
                  <a:t>이라고 했을 때</a:t>
                </a:r>
                <a:br>
                  <a:rPr lang="en-US" altLang="ko-KR" dirty="0"/>
                </a:br>
                <a:r>
                  <a:rPr lang="en-US" altLang="ko-KR" dirty="0"/>
                  <a:t>D</a:t>
                </a:r>
                <a:r>
                  <a:rPr lang="ko-KR" altLang="en-US" dirty="0"/>
                  <a:t>수준에서의 각각의 넓이</a:t>
                </a:r>
                <a:br>
                  <a:rPr lang="en-US" altLang="ko-KR" dirty="0"/>
                </a:br>
                <a:r>
                  <a:rPr lang="ko-KR" altLang="en-US" dirty="0"/>
                  <a:t>에서 분배가 </a:t>
                </a:r>
                <a:r>
                  <a:rPr lang="ko-KR" altLang="en-US" dirty="0" err="1"/>
                  <a:t>일어남</a:t>
                </a:r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공리주의에 대한 비판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불공정한 분배</a:t>
                </a:r>
                <a:r>
                  <a:rPr lang="en-US" altLang="ko-KR" dirty="0"/>
                  <a:t>: </a:t>
                </a:r>
              </a:p>
              <a:p>
                <a:pPr lvl="1"/>
                <a:r>
                  <a:rPr lang="ko-KR" altLang="en-US" dirty="0"/>
                  <a:t>개인의 자유에 대한 침해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28F4A1F2-7DB4-710A-65B8-830D3F3E6C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t="-1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B0B9186-0F1E-C9C6-82BE-2BC57D092A9A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A9552746-7AD9-BA15-5C14-FBFADDC74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2781" y="3944888"/>
            <a:ext cx="3270594" cy="257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630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4DA754A-B2FB-0889-228C-C521A732E6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56528B0-A26B-3E1C-69B2-18BF0111E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진보주의자의 사회이론</a:t>
            </a:r>
            <a:r>
              <a:rPr lang="en-US" altLang="ko-KR" dirty="0"/>
              <a:t>(</a:t>
            </a:r>
            <a:r>
              <a:rPr lang="ko-KR" altLang="en-US" dirty="0"/>
              <a:t>계속</a:t>
            </a:r>
            <a:r>
              <a:rPr lang="en-US" altLang="ko-KR" dirty="0"/>
              <a:t>) </a:t>
            </a:r>
            <a:r>
              <a:rPr lang="ko-KR" altLang="en-US" dirty="0"/>
              <a:t>집단주의자들의 견해</a:t>
            </a:r>
            <a:br>
              <a:rPr lang="en-US" altLang="ko-KR" dirty="0"/>
            </a:br>
            <a:r>
              <a:rPr lang="ko-KR" altLang="en-US" dirty="0"/>
              <a:t>국가의 역할에 대한 함의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0F0B33-C410-5F23-42BE-4CD2D84E8CC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A5FE66E-7D41-AB41-E2F4-9797D38C305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롤즈의</a:t>
            </a:r>
            <a:r>
              <a:rPr lang="ko-KR" altLang="en-US" dirty="0"/>
              <a:t> 사회정의</a:t>
            </a:r>
            <a:endParaRPr lang="en-US" altLang="ko-KR" dirty="0"/>
          </a:p>
          <a:p>
            <a:pPr lvl="1"/>
            <a:r>
              <a:rPr lang="ko-KR" altLang="en-US" dirty="0"/>
              <a:t>사회정의 </a:t>
            </a:r>
            <a:r>
              <a:rPr lang="en-US" altLang="ko-KR" dirty="0"/>
              <a:t>: </a:t>
            </a:r>
            <a:r>
              <a:rPr lang="ko-KR" altLang="en-US" dirty="0"/>
              <a:t>사회복지 차원에서 무시할 수 없는 자연권으로서 각 개인이 소유하는 신성한 권리</a:t>
            </a:r>
            <a:endParaRPr lang="en-US" altLang="ko-KR" dirty="0"/>
          </a:p>
          <a:p>
            <a:r>
              <a:rPr lang="ko-KR" altLang="en-US" dirty="0"/>
              <a:t>원초적 상황</a:t>
            </a:r>
            <a:endParaRPr lang="en-US" altLang="ko-KR" dirty="0"/>
          </a:p>
          <a:p>
            <a:pPr lvl="1"/>
            <a:r>
              <a:rPr lang="ko-KR" altLang="en-US" dirty="0"/>
              <a:t>사회질서 </a:t>
            </a:r>
            <a:r>
              <a:rPr lang="en-US" altLang="ko-KR" dirty="0"/>
              <a:t>X, </a:t>
            </a:r>
            <a:r>
              <a:rPr lang="ko-KR" altLang="en-US" dirty="0"/>
              <a:t>무지의 장막 </a:t>
            </a:r>
            <a:r>
              <a:rPr lang="en-US" altLang="ko-KR" dirty="0"/>
              <a:t>-&gt; </a:t>
            </a:r>
            <a:r>
              <a:rPr lang="ko-KR" altLang="en-US" dirty="0"/>
              <a:t>내가 어떻게 될지 아는 상태에선 자신에게 유리한 방향으로</a:t>
            </a:r>
            <a:r>
              <a:rPr lang="en-US" altLang="ko-KR" dirty="0"/>
              <a:t>, </a:t>
            </a:r>
            <a:r>
              <a:rPr lang="ko-KR" altLang="en-US" dirty="0"/>
              <a:t>하지만 무지의 상황에선 약자에게 큰 혜택 </a:t>
            </a:r>
            <a:r>
              <a:rPr lang="en-US" altLang="ko-KR" dirty="0"/>
              <a:t>-&gt; </a:t>
            </a:r>
            <a:r>
              <a:rPr lang="ko-KR" altLang="en-US" dirty="0" err="1"/>
              <a:t>공정으로서의</a:t>
            </a:r>
            <a:r>
              <a:rPr lang="ko-KR" altLang="en-US" dirty="0"/>
              <a:t> 정의</a:t>
            </a:r>
            <a:endParaRPr lang="en-US" altLang="ko-KR" dirty="0"/>
          </a:p>
          <a:p>
            <a:pPr lvl="1"/>
            <a:r>
              <a:rPr lang="ko-KR" altLang="en-US" dirty="0"/>
              <a:t>원초적 상황의 두가지의 역할</a:t>
            </a:r>
            <a:endParaRPr lang="en-US" altLang="ko-KR" dirty="0"/>
          </a:p>
          <a:p>
            <a:pPr lvl="2"/>
            <a:r>
              <a:rPr lang="ko-KR" altLang="en-US" dirty="0"/>
              <a:t>사회정의의 원칙 </a:t>
            </a:r>
            <a:r>
              <a:rPr lang="en-US" altLang="ko-KR" dirty="0"/>
              <a:t>-&gt; </a:t>
            </a:r>
            <a:r>
              <a:rPr lang="ko-KR" altLang="en-US" dirty="0"/>
              <a:t>합리적 개인선택의 문제로 단순화</a:t>
            </a:r>
            <a:r>
              <a:rPr lang="en-US" altLang="ko-KR" dirty="0"/>
              <a:t>, </a:t>
            </a:r>
            <a:r>
              <a:rPr lang="ko-KR" altLang="en-US" dirty="0"/>
              <a:t>도출 과정에 정당성</a:t>
            </a:r>
            <a:endParaRPr lang="en-US" altLang="ko-KR" dirty="0"/>
          </a:p>
          <a:p>
            <a:r>
              <a:rPr lang="ko-KR" altLang="en-US" dirty="0"/>
              <a:t>사회정의의 원칙</a:t>
            </a:r>
            <a:endParaRPr lang="en-US" altLang="ko-KR" dirty="0"/>
          </a:p>
          <a:p>
            <a:pPr lvl="1"/>
            <a:r>
              <a:rPr lang="ko-KR" altLang="en-US" dirty="0"/>
              <a:t>제</a:t>
            </a:r>
            <a:r>
              <a:rPr lang="en-US" altLang="ko-KR" dirty="0"/>
              <a:t>1</a:t>
            </a:r>
            <a:r>
              <a:rPr lang="ko-KR" altLang="en-US" dirty="0"/>
              <a:t>원칙 </a:t>
            </a:r>
            <a:r>
              <a:rPr lang="en-US" altLang="ko-KR" dirty="0"/>
              <a:t>: </a:t>
            </a:r>
            <a:r>
              <a:rPr lang="ko-KR" altLang="en-US" dirty="0"/>
              <a:t>자유의 원칙</a:t>
            </a:r>
            <a:r>
              <a:rPr lang="en-US" altLang="ko-KR" dirty="0"/>
              <a:t>: </a:t>
            </a:r>
            <a:r>
              <a:rPr lang="ko-KR" altLang="en-US" dirty="0"/>
              <a:t>타인 자유 침해 </a:t>
            </a:r>
            <a:r>
              <a:rPr lang="en-US" altLang="ko-KR" dirty="0"/>
              <a:t>X -&gt; </a:t>
            </a:r>
            <a:r>
              <a:rPr lang="ko-KR" altLang="en-US" dirty="0"/>
              <a:t>자유 보장</a:t>
            </a:r>
            <a:endParaRPr lang="en-US" altLang="ko-KR" dirty="0"/>
          </a:p>
          <a:p>
            <a:pPr lvl="1"/>
            <a:r>
              <a:rPr lang="ko-KR" altLang="en-US" dirty="0"/>
              <a:t>제</a:t>
            </a:r>
            <a:r>
              <a:rPr lang="en-US" altLang="ko-KR" dirty="0"/>
              <a:t>2</a:t>
            </a:r>
            <a:r>
              <a:rPr lang="ko-KR" altLang="en-US" dirty="0"/>
              <a:t>원칙 </a:t>
            </a:r>
            <a:r>
              <a:rPr lang="en-US" altLang="ko-KR" dirty="0"/>
              <a:t>: </a:t>
            </a:r>
            <a:r>
              <a:rPr lang="ko-KR" altLang="en-US" dirty="0"/>
              <a:t>차등의 원칙 </a:t>
            </a:r>
            <a:r>
              <a:rPr lang="en-US" altLang="ko-KR" dirty="0"/>
              <a:t>: </a:t>
            </a:r>
            <a:r>
              <a:rPr lang="ko-KR" altLang="en-US" dirty="0"/>
              <a:t>불평등이 모두한테 이득일때 정당화됨</a:t>
            </a:r>
            <a:endParaRPr lang="en-US" altLang="ko-KR" dirty="0"/>
          </a:p>
          <a:p>
            <a:pPr lvl="2"/>
            <a:r>
              <a:rPr lang="ko-KR" altLang="en-US" dirty="0"/>
              <a:t>최소극대의 원칙 </a:t>
            </a:r>
            <a:r>
              <a:rPr lang="en-US" altLang="ko-KR" dirty="0"/>
              <a:t>: </a:t>
            </a:r>
            <a:r>
              <a:rPr lang="ko-KR" altLang="en-US" dirty="0"/>
              <a:t>가장 못사는 사람에게 가장 큰 이득</a:t>
            </a:r>
            <a:endParaRPr lang="en-US" altLang="ko-KR" dirty="0"/>
          </a:p>
          <a:p>
            <a:pPr lvl="1"/>
            <a:r>
              <a:rPr lang="ko-KR" altLang="en-US" dirty="0"/>
              <a:t>두 원칙이 충돌할 경우 </a:t>
            </a:r>
            <a:r>
              <a:rPr lang="en-US" altLang="ko-KR" dirty="0"/>
              <a:t>1</a:t>
            </a:r>
            <a:r>
              <a:rPr lang="ko-KR" altLang="en-US" dirty="0"/>
              <a:t>원칙을 우선으로 적용</a:t>
            </a:r>
            <a:endParaRPr lang="en-US" altLang="ko-KR" dirty="0"/>
          </a:p>
          <a:p>
            <a:r>
              <a:rPr lang="ko-KR" altLang="en-US" dirty="0" err="1"/>
              <a:t>롤즈와</a:t>
            </a:r>
            <a:r>
              <a:rPr lang="ko-KR" altLang="en-US" dirty="0"/>
              <a:t> 공리주의</a:t>
            </a:r>
            <a:endParaRPr lang="en-US" altLang="ko-KR" dirty="0"/>
          </a:p>
          <a:p>
            <a:pPr lvl="1"/>
            <a:r>
              <a:rPr lang="ko-KR" altLang="en-US" dirty="0"/>
              <a:t>공리주의 반대</a:t>
            </a:r>
            <a:r>
              <a:rPr lang="en-US" altLang="ko-KR" dirty="0"/>
              <a:t>: </a:t>
            </a:r>
            <a:r>
              <a:rPr lang="ko-KR" altLang="en-US" dirty="0"/>
              <a:t>불공평한 사회이론이다</a:t>
            </a:r>
            <a:endParaRPr lang="en-US" altLang="ko-KR" dirty="0"/>
          </a:p>
          <a:p>
            <a:pPr lvl="1"/>
            <a:r>
              <a:rPr lang="ko-KR" altLang="en-US" dirty="0"/>
              <a:t>파레토 개선이 되어도 차등원칙에 의해 반대</a:t>
            </a:r>
            <a:r>
              <a:rPr lang="en-US" altLang="ko-KR" dirty="0"/>
              <a:t>(</a:t>
            </a:r>
            <a:r>
              <a:rPr lang="ko-KR" altLang="en-US" dirty="0"/>
              <a:t>부자 </a:t>
            </a:r>
            <a:r>
              <a:rPr lang="en-US" altLang="ko-KR" dirty="0"/>
              <a:t>&gt; </a:t>
            </a:r>
            <a:r>
              <a:rPr lang="ko-KR" altLang="en-US" dirty="0"/>
              <a:t>빈자 </a:t>
            </a:r>
            <a:r>
              <a:rPr lang="en-US" altLang="ko-KR" dirty="0"/>
              <a:t>X)</a:t>
            </a:r>
          </a:p>
          <a:p>
            <a:r>
              <a:rPr lang="ko-KR" altLang="en-US" dirty="0" err="1"/>
              <a:t>롤즈</a:t>
            </a:r>
            <a:r>
              <a:rPr lang="en-US" altLang="ko-KR" dirty="0"/>
              <a:t> </a:t>
            </a:r>
            <a:r>
              <a:rPr lang="ko-KR" altLang="en-US" dirty="0"/>
              <a:t>이론 비판</a:t>
            </a:r>
            <a:endParaRPr lang="en-US" altLang="ko-KR" dirty="0"/>
          </a:p>
          <a:p>
            <a:pPr lvl="1"/>
            <a:r>
              <a:rPr lang="ko-KR" altLang="en-US" dirty="0"/>
              <a:t>제 </a:t>
            </a:r>
            <a:r>
              <a:rPr lang="en-US" altLang="ko-KR" dirty="0"/>
              <a:t>1</a:t>
            </a:r>
            <a:r>
              <a:rPr lang="ko-KR" altLang="en-US" dirty="0"/>
              <a:t>원칙에 대한 비판 </a:t>
            </a:r>
            <a:r>
              <a:rPr lang="en-US" altLang="ko-KR" dirty="0"/>
              <a:t>: </a:t>
            </a:r>
            <a:r>
              <a:rPr lang="ko-KR" altLang="en-US" dirty="0"/>
              <a:t>자유의 개념 협소</a:t>
            </a:r>
            <a:r>
              <a:rPr lang="en-US" altLang="ko-KR" dirty="0"/>
              <a:t>, </a:t>
            </a:r>
            <a:r>
              <a:rPr lang="ko-KR" altLang="en-US" dirty="0"/>
              <a:t>인종주의자의 자유에 대한 문제</a:t>
            </a:r>
            <a:endParaRPr lang="en-US" altLang="ko-KR" dirty="0"/>
          </a:p>
          <a:p>
            <a:r>
              <a:rPr lang="ko-KR" altLang="en-US" dirty="0"/>
              <a:t>밀러의 비판</a:t>
            </a:r>
            <a:r>
              <a:rPr lang="en-US" altLang="ko-KR" dirty="0"/>
              <a:t>: </a:t>
            </a:r>
            <a:r>
              <a:rPr lang="ko-KR" altLang="en-US" dirty="0"/>
              <a:t>차등의 원칙은 사회적 합의에 따라야 한다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&lt;</a:t>
            </a:r>
            <a:r>
              <a:rPr lang="ko-KR" altLang="en-US" dirty="0"/>
              <a:t>집단주의자들의 견해</a:t>
            </a:r>
            <a:r>
              <a:rPr lang="en-US" altLang="ko-KR" dirty="0"/>
              <a:t>&gt;</a:t>
            </a:r>
          </a:p>
          <a:p>
            <a:r>
              <a:rPr lang="ko-KR" altLang="en-US" dirty="0"/>
              <a:t>집단주의자들의 견해 </a:t>
            </a:r>
            <a:r>
              <a:rPr lang="en-US" altLang="ko-KR" dirty="0"/>
              <a:t>: </a:t>
            </a:r>
            <a:r>
              <a:rPr lang="ko-KR" altLang="en-US" dirty="0"/>
              <a:t>집단주의의 핵심적 목표는 평등이다</a:t>
            </a:r>
            <a:endParaRPr lang="en-US" altLang="ko-KR" dirty="0"/>
          </a:p>
          <a:p>
            <a:pPr lvl="1"/>
            <a:r>
              <a:rPr lang="ko-KR" altLang="en-US" dirty="0"/>
              <a:t>사민주의 </a:t>
            </a:r>
            <a:r>
              <a:rPr lang="en-US" altLang="ko-KR" dirty="0"/>
              <a:t>: </a:t>
            </a:r>
            <a:r>
              <a:rPr lang="ko-KR" altLang="en-US" dirty="0"/>
              <a:t>자유시장에 대한 비판 </a:t>
            </a:r>
            <a:r>
              <a:rPr lang="en-US" altLang="ko-KR" dirty="0"/>
              <a:t>: </a:t>
            </a:r>
            <a:r>
              <a:rPr lang="ko-KR" altLang="en-US" dirty="0"/>
              <a:t>개인의 이익 ≠ 사회의 이익</a:t>
            </a:r>
            <a:endParaRPr lang="en-US" altLang="ko-KR" dirty="0"/>
          </a:p>
          <a:p>
            <a:pPr lvl="1"/>
            <a:r>
              <a:rPr lang="ko-KR" altLang="en-US" dirty="0"/>
              <a:t>마르크스주의 </a:t>
            </a:r>
            <a:r>
              <a:rPr lang="en-US" altLang="ko-KR" dirty="0"/>
              <a:t>: </a:t>
            </a:r>
            <a:r>
              <a:rPr lang="ko-KR" altLang="en-US" dirty="0"/>
              <a:t>자유 </a:t>
            </a:r>
            <a:r>
              <a:rPr lang="en-US" altLang="ko-KR" dirty="0"/>
              <a:t>= </a:t>
            </a:r>
            <a:r>
              <a:rPr lang="ko-KR" altLang="en-US" dirty="0"/>
              <a:t>실질적 평등 </a:t>
            </a:r>
            <a:r>
              <a:rPr lang="en-US" altLang="ko-KR" dirty="0"/>
              <a:t>+ </a:t>
            </a:r>
            <a:r>
              <a:rPr lang="ko-KR" altLang="en-US" dirty="0"/>
              <a:t>경제적 보상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&lt;</a:t>
            </a:r>
            <a:r>
              <a:rPr lang="ko-KR" altLang="en-US" dirty="0"/>
              <a:t>국가의 역할에 대한 함의</a:t>
            </a:r>
            <a:r>
              <a:rPr lang="en-US" altLang="ko-KR" dirty="0"/>
              <a:t>&gt;</a:t>
            </a:r>
          </a:p>
          <a:p>
            <a:r>
              <a:rPr lang="ko-KR" altLang="en-US" dirty="0"/>
              <a:t>복지국가에 대한 입장</a:t>
            </a:r>
            <a:endParaRPr lang="en-US" altLang="ko-KR" dirty="0"/>
          </a:p>
          <a:p>
            <a:pPr lvl="1"/>
            <a:r>
              <a:rPr lang="ko-KR" altLang="en-US" dirty="0"/>
              <a:t>자연권적 자유주의 </a:t>
            </a:r>
            <a:r>
              <a:rPr lang="en-US" altLang="ko-KR" dirty="0"/>
              <a:t>: </a:t>
            </a:r>
            <a:r>
              <a:rPr lang="ko-KR" altLang="en-US" dirty="0"/>
              <a:t>복지국가 </a:t>
            </a:r>
            <a:r>
              <a:rPr lang="en-US" altLang="ko-KR" dirty="0"/>
              <a:t>= </a:t>
            </a:r>
            <a:r>
              <a:rPr lang="ko-KR" altLang="en-US" dirty="0"/>
              <a:t>자유침해 및 비논리적 평등추구</a:t>
            </a:r>
            <a:endParaRPr lang="en-US" altLang="ko-KR" dirty="0"/>
          </a:p>
          <a:p>
            <a:pPr lvl="1"/>
            <a:r>
              <a:rPr lang="ko-KR" altLang="en-US" dirty="0"/>
              <a:t>경험적 자유주의</a:t>
            </a:r>
            <a:r>
              <a:rPr lang="en-US" altLang="ko-KR" dirty="0"/>
              <a:t>: </a:t>
            </a:r>
            <a:r>
              <a:rPr lang="ko-KR" altLang="en-US" dirty="0"/>
              <a:t>잔여적 복지국가 선호</a:t>
            </a:r>
            <a:endParaRPr lang="en-US" altLang="ko-KR" dirty="0"/>
          </a:p>
          <a:p>
            <a:pPr lvl="1"/>
            <a:r>
              <a:rPr lang="ko-KR" altLang="en-US" dirty="0"/>
              <a:t>진보주의</a:t>
            </a:r>
            <a:r>
              <a:rPr lang="en-US" altLang="ko-KR" dirty="0"/>
              <a:t>, </a:t>
            </a:r>
            <a:r>
              <a:rPr lang="ko-KR" altLang="en-US" dirty="0"/>
              <a:t>사민주의 </a:t>
            </a:r>
            <a:r>
              <a:rPr lang="en-US" altLang="ko-KR" dirty="0"/>
              <a:t>: </a:t>
            </a:r>
            <a:r>
              <a:rPr lang="ko-KR" altLang="en-US" dirty="0"/>
              <a:t>명백하게 복지국가 지향</a:t>
            </a:r>
            <a:endParaRPr lang="en-US" altLang="ko-KR" dirty="0"/>
          </a:p>
          <a:p>
            <a:pPr lvl="1"/>
            <a:r>
              <a:rPr lang="ko-KR" altLang="en-US" dirty="0"/>
              <a:t>마르크스주의 </a:t>
            </a:r>
            <a:r>
              <a:rPr lang="en-US" altLang="ko-KR" dirty="0"/>
              <a:t>: </a:t>
            </a:r>
            <a:r>
              <a:rPr lang="ko-KR" altLang="en-US" dirty="0"/>
              <a:t>자본가의 억압의 도구</a:t>
            </a:r>
            <a:r>
              <a:rPr lang="en-US" altLang="ko-KR" dirty="0"/>
              <a:t>? Or </a:t>
            </a:r>
            <a:r>
              <a:rPr lang="ko-KR" altLang="en-US" dirty="0"/>
              <a:t>노동자에 의해 탄생</a:t>
            </a:r>
            <a:r>
              <a:rPr lang="en-US" altLang="ko-KR" dirty="0"/>
              <a:t>?</a:t>
            </a:r>
          </a:p>
          <a:p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F6F8D27-33C8-2862-3FB3-6DFDCCD8E5F0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77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D357343-3FEF-6396-8352-9237A4F13B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ko-KR" altLang="en-US" dirty="0"/>
              <a:t>주차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1A06A7A-9C3E-465C-F851-035C4C141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사회후생과 국가의 역할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2A7411-4473-9495-44F1-113E9F2CD5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AFB5037-4010-B178-DE51-655697F2556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논의의 형식적 체계</a:t>
            </a:r>
            <a:endParaRPr lang="en-US" altLang="ko-KR" dirty="0"/>
          </a:p>
          <a:p>
            <a:pPr lvl="1"/>
            <a:r>
              <a:rPr lang="ko-KR" altLang="en-US" dirty="0"/>
              <a:t>사회후생의 극대화</a:t>
            </a:r>
            <a:endParaRPr lang="en-US" altLang="ko-KR" dirty="0"/>
          </a:p>
          <a:p>
            <a:pPr lvl="1"/>
            <a:r>
              <a:rPr lang="ko-KR" altLang="en-US" dirty="0"/>
              <a:t>최선의 경제와 차선의 경제</a:t>
            </a:r>
            <a:endParaRPr lang="en-US" altLang="ko-KR" dirty="0"/>
          </a:p>
          <a:p>
            <a:r>
              <a:rPr lang="ko-KR" altLang="en-US" dirty="0"/>
              <a:t>경제적 효율성의 중요성</a:t>
            </a:r>
            <a:endParaRPr lang="en-US" altLang="ko-KR" dirty="0"/>
          </a:p>
          <a:p>
            <a:pPr lvl="1"/>
            <a:r>
              <a:rPr lang="ko-KR" altLang="en-US" dirty="0"/>
              <a:t>경제적 효율성의 개념</a:t>
            </a:r>
            <a:endParaRPr lang="en-US" altLang="ko-KR" dirty="0"/>
          </a:p>
          <a:p>
            <a:pPr lvl="1"/>
            <a:r>
              <a:rPr lang="ko-KR" altLang="en-US" dirty="0"/>
              <a:t>사회이론과 효율성의 관련성</a:t>
            </a:r>
            <a:endParaRPr lang="en-US" altLang="ko-KR" dirty="0"/>
          </a:p>
          <a:p>
            <a:r>
              <a:rPr lang="ko-KR" altLang="en-US" dirty="0"/>
              <a:t>효율성을 위한 국가개입</a:t>
            </a:r>
            <a:endParaRPr lang="en-US" altLang="ko-KR" dirty="0"/>
          </a:p>
          <a:p>
            <a:r>
              <a:rPr lang="ko-KR" altLang="en-US" dirty="0"/>
              <a:t>사회정의를 위한 개입</a:t>
            </a:r>
            <a:endParaRPr lang="en-US" altLang="ko-KR" dirty="0"/>
          </a:p>
          <a:p>
            <a:r>
              <a:rPr lang="ko-KR" altLang="en-US" dirty="0"/>
              <a:t>공공선택과 정부의 실패</a:t>
            </a:r>
            <a:endParaRPr lang="en-US" altLang="ko-KR" dirty="0"/>
          </a:p>
          <a:p>
            <a:r>
              <a:rPr lang="ko-KR" altLang="en-US" dirty="0"/>
              <a:t>이론에서 정치로 </a:t>
            </a:r>
            <a:r>
              <a:rPr lang="en-US" altLang="ko-KR" dirty="0"/>
              <a:t>: </a:t>
            </a:r>
            <a:r>
              <a:rPr lang="ko-KR" altLang="en-US" dirty="0"/>
              <a:t>민영화의 문제</a:t>
            </a:r>
            <a:endParaRPr lang="en-US" altLang="ko-KR" dirty="0"/>
          </a:p>
          <a:p>
            <a:r>
              <a:rPr lang="ko-KR" altLang="en-US" dirty="0"/>
              <a:t>결론</a:t>
            </a:r>
            <a:r>
              <a:rPr lang="en-US" altLang="ko-KR" dirty="0"/>
              <a:t>: </a:t>
            </a:r>
            <a:r>
              <a:rPr lang="ko-KR" altLang="en-US" dirty="0"/>
              <a:t>경제이론과 정치이론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7BE2557-7BBA-C0BD-B69C-C27147F5456E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856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1CC6252-3549-299F-392B-5DF7559192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A9C7ECC-97F4-DADA-930B-074724FBA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논의의 형식적 체계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4AAC8B-3061-DC1F-2629-B79077F9D1C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DDA35AE-A0B8-B20A-0B2B-AC4AD091E44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사회후생의 극대화</a:t>
            </a:r>
            <a:endParaRPr lang="en-US" altLang="ko-KR" dirty="0"/>
          </a:p>
          <a:p>
            <a:pPr lvl="1"/>
            <a:r>
              <a:rPr lang="en-US" altLang="ko-KR" dirty="0"/>
              <a:t>W</a:t>
            </a:r>
            <a:r>
              <a:rPr lang="ko-KR" altLang="en-US" dirty="0"/>
              <a:t>는 </a:t>
            </a:r>
            <a:r>
              <a:rPr lang="en-US" altLang="ko-KR" dirty="0"/>
              <a:t>A</a:t>
            </a:r>
            <a:r>
              <a:rPr lang="ko-KR" altLang="en-US" dirty="0"/>
              <a:t>와 </a:t>
            </a:r>
            <a:r>
              <a:rPr lang="en-US" altLang="ko-KR" dirty="0"/>
              <a:t>B</a:t>
            </a:r>
            <a:r>
              <a:rPr lang="ko-KR" altLang="en-US" dirty="0"/>
              <a:t>의 효용</a:t>
            </a:r>
            <a:r>
              <a:rPr lang="en-US" altLang="ko-KR" dirty="0"/>
              <a:t>, W</a:t>
            </a:r>
            <a:r>
              <a:rPr lang="ko-KR" altLang="en-US" dirty="0"/>
              <a:t>를 극대화</a:t>
            </a:r>
            <a:br>
              <a:rPr lang="en-US" altLang="ko-KR" dirty="0"/>
            </a:br>
            <a:r>
              <a:rPr lang="ko-KR" altLang="en-US" dirty="0"/>
              <a:t>해야함</a:t>
            </a:r>
            <a:endParaRPr lang="en-US" altLang="ko-KR" dirty="0"/>
          </a:p>
          <a:p>
            <a:pPr lvl="1"/>
            <a:r>
              <a:rPr lang="en-US" altLang="ko-KR" dirty="0"/>
              <a:t>U</a:t>
            </a:r>
            <a:r>
              <a:rPr lang="ko-KR" altLang="en-US" dirty="0"/>
              <a:t>는</a:t>
            </a:r>
            <a:r>
              <a:rPr lang="en-US" altLang="ko-KR" dirty="0"/>
              <a:t> X,Y</a:t>
            </a:r>
            <a:r>
              <a:rPr lang="ko-KR" altLang="en-US" dirty="0"/>
              <a:t>재의 소비로 구성됨</a:t>
            </a:r>
            <a:endParaRPr lang="en-US" altLang="ko-KR" dirty="0"/>
          </a:p>
          <a:p>
            <a:pPr lvl="1"/>
            <a:r>
              <a:rPr lang="en-US" altLang="ko-KR" dirty="0"/>
              <a:t>X</a:t>
            </a:r>
            <a:r>
              <a:rPr lang="ko-KR" altLang="en-US" dirty="0"/>
              <a:t>재</a:t>
            </a:r>
            <a:r>
              <a:rPr lang="en-US" altLang="ko-KR" dirty="0"/>
              <a:t>, Y</a:t>
            </a:r>
            <a:r>
              <a:rPr lang="ko-KR" altLang="en-US" dirty="0"/>
              <a:t>재 생산은 각각 </a:t>
            </a:r>
            <a:r>
              <a:rPr lang="en-US" altLang="ko-KR" dirty="0"/>
              <a:t>L,K</a:t>
            </a:r>
            <a:r>
              <a:rPr lang="ko-KR" altLang="en-US" dirty="0"/>
              <a:t>의 투입량</a:t>
            </a:r>
            <a:br>
              <a:rPr lang="en-US" altLang="ko-KR" dirty="0"/>
            </a:br>
            <a:r>
              <a:rPr lang="ko-KR" altLang="en-US" dirty="0"/>
              <a:t>에 의해 좌우되며 </a:t>
            </a:r>
            <a:r>
              <a:rPr lang="en-US" altLang="ko-KR" dirty="0"/>
              <a:t>L,K</a:t>
            </a:r>
            <a:r>
              <a:rPr lang="ko-KR" altLang="en-US" dirty="0"/>
              <a:t>투입량은 한정됨</a:t>
            </a:r>
            <a:endParaRPr lang="en-US" altLang="ko-KR" dirty="0"/>
          </a:p>
          <a:p>
            <a:r>
              <a:rPr lang="ko-KR" altLang="en-US" dirty="0"/>
              <a:t>최선의 경제</a:t>
            </a:r>
            <a:r>
              <a:rPr lang="en-US" altLang="ko-KR" dirty="0"/>
              <a:t>, </a:t>
            </a:r>
            <a:r>
              <a:rPr lang="ko-KR" altLang="en-US" dirty="0"/>
              <a:t>차선의 경제</a:t>
            </a:r>
            <a:endParaRPr lang="en-US" altLang="ko-KR" dirty="0"/>
          </a:p>
          <a:p>
            <a:pPr lvl="1"/>
            <a:r>
              <a:rPr lang="ko-KR" altLang="en-US" dirty="0"/>
              <a:t>최선의 경제 </a:t>
            </a:r>
            <a:r>
              <a:rPr lang="en-US" altLang="ko-KR" dirty="0"/>
              <a:t>: </a:t>
            </a:r>
            <a:r>
              <a:rPr lang="ko-KR" altLang="en-US" dirty="0"/>
              <a:t>자원이 최적으로 분배</a:t>
            </a:r>
            <a:r>
              <a:rPr lang="en-US" altLang="ko-KR" dirty="0"/>
              <a:t>, </a:t>
            </a:r>
            <a:r>
              <a:rPr lang="ko-KR" altLang="en-US" dirty="0"/>
              <a:t>국가개입을 통해 비효율</a:t>
            </a:r>
            <a:r>
              <a:rPr lang="en-US" altLang="ko-KR" dirty="0"/>
              <a:t>/</a:t>
            </a:r>
            <a:r>
              <a:rPr lang="ko-KR" altLang="en-US" dirty="0"/>
              <a:t>불균형 해소</a:t>
            </a:r>
            <a:endParaRPr lang="en-US" altLang="ko-KR" dirty="0"/>
          </a:p>
          <a:p>
            <a:pPr lvl="1"/>
            <a:r>
              <a:rPr lang="ko-KR" altLang="en-US" dirty="0"/>
              <a:t>차선의 경제 </a:t>
            </a:r>
            <a:r>
              <a:rPr lang="en-US" altLang="ko-KR" dirty="0"/>
              <a:t>: </a:t>
            </a:r>
            <a:r>
              <a:rPr lang="ko-KR" altLang="en-US" dirty="0"/>
              <a:t>시장실패 </a:t>
            </a:r>
            <a:r>
              <a:rPr lang="en-US" altLang="ko-KR" dirty="0"/>
              <a:t>-&gt; </a:t>
            </a:r>
            <a:r>
              <a:rPr lang="ko-KR" altLang="en-US" dirty="0"/>
              <a:t>국가개입</a:t>
            </a:r>
            <a:endParaRPr lang="en-US" altLang="ko-KR" dirty="0"/>
          </a:p>
          <a:p>
            <a:r>
              <a:rPr lang="ko-KR" altLang="en-US" dirty="0"/>
              <a:t>파레토 개선</a:t>
            </a:r>
            <a:r>
              <a:rPr lang="en-US" altLang="ko-KR" dirty="0"/>
              <a:t>(</a:t>
            </a:r>
            <a:r>
              <a:rPr lang="ko-KR" altLang="en-US" dirty="0" err="1"/>
              <a:t>에지워스</a:t>
            </a:r>
            <a:r>
              <a:rPr lang="ko-KR" altLang="en-US" dirty="0"/>
              <a:t> 박스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모든 점은 </a:t>
            </a:r>
            <a:r>
              <a:rPr lang="en-US" altLang="ko-KR" dirty="0"/>
              <a:t>X</a:t>
            </a:r>
            <a:r>
              <a:rPr lang="ko-KR" altLang="en-US" dirty="0"/>
              <a:t>재</a:t>
            </a:r>
            <a:r>
              <a:rPr lang="en-US" altLang="ko-KR" dirty="0"/>
              <a:t>, Y</a:t>
            </a:r>
            <a:r>
              <a:rPr lang="ko-KR" altLang="en-US" dirty="0"/>
              <a:t>재 수량의 조합</a:t>
            </a:r>
            <a:endParaRPr lang="en-US" altLang="ko-KR" dirty="0"/>
          </a:p>
          <a:p>
            <a:pPr lvl="1"/>
            <a:r>
              <a:rPr lang="en-US" altLang="ko-KR" dirty="0"/>
              <a:t>A </a:t>
            </a:r>
            <a:r>
              <a:rPr lang="ko-KR" altLang="en-US" dirty="0"/>
              <a:t>입장에선 </a:t>
            </a:r>
            <a:r>
              <a:rPr lang="ko-KR" altLang="en-US" dirty="0" err="1"/>
              <a:t>ㄴ자로</a:t>
            </a:r>
            <a:r>
              <a:rPr lang="ko-KR" altLang="en-US" dirty="0"/>
              <a:t> 원점에서 멀어질</a:t>
            </a:r>
            <a:br>
              <a:rPr lang="en-US" altLang="ko-KR" dirty="0"/>
            </a:br>
            <a:r>
              <a:rPr lang="ko-KR" altLang="en-US" dirty="0"/>
              <a:t>수록</a:t>
            </a:r>
            <a:r>
              <a:rPr lang="en-US" altLang="ko-KR" dirty="0"/>
              <a:t>, B</a:t>
            </a:r>
            <a:r>
              <a:rPr lang="ko-KR" altLang="en-US" dirty="0"/>
              <a:t>입장에선 </a:t>
            </a:r>
            <a:r>
              <a:rPr lang="ko-KR" altLang="en-US" dirty="0" err="1"/>
              <a:t>ㄱ자로</a:t>
            </a:r>
            <a:r>
              <a:rPr lang="ko-KR" altLang="en-US" dirty="0"/>
              <a:t> 원점에서 멀</a:t>
            </a:r>
            <a:br>
              <a:rPr lang="en-US" altLang="ko-KR" dirty="0"/>
            </a:br>
            <a:r>
              <a:rPr lang="ko-KR" altLang="en-US" dirty="0"/>
              <a:t>어질수록 효용이 상승</a:t>
            </a:r>
            <a:endParaRPr lang="en-US" altLang="ko-KR" dirty="0"/>
          </a:p>
          <a:p>
            <a:pPr lvl="1"/>
            <a:r>
              <a:rPr lang="ko-KR" altLang="en-US" dirty="0" err="1"/>
              <a:t>파래토</a:t>
            </a:r>
            <a:r>
              <a:rPr lang="ko-KR" altLang="en-US" dirty="0"/>
              <a:t> 개선은 한 사람이 피해를 보지</a:t>
            </a:r>
            <a:br>
              <a:rPr lang="en-US" altLang="ko-KR" dirty="0"/>
            </a:br>
            <a:r>
              <a:rPr lang="ko-KR" altLang="en-US" dirty="0"/>
              <a:t>않고 한</a:t>
            </a:r>
            <a:r>
              <a:rPr lang="en-US" altLang="ko-KR" dirty="0"/>
              <a:t> </a:t>
            </a:r>
            <a:r>
              <a:rPr lang="ko-KR" altLang="en-US" dirty="0"/>
              <a:t>사람 이상의 효용을 상승시킬</a:t>
            </a:r>
            <a:br>
              <a:rPr lang="en-US" altLang="ko-KR" dirty="0"/>
            </a:br>
            <a:r>
              <a:rPr lang="ko-KR" altLang="en-US" dirty="0"/>
              <a:t> 수</a:t>
            </a:r>
            <a:r>
              <a:rPr lang="en-US" altLang="ko-KR" dirty="0"/>
              <a:t> </a:t>
            </a:r>
            <a:r>
              <a:rPr lang="ko-KR" altLang="en-US" dirty="0"/>
              <a:t>있는 변화</a:t>
            </a:r>
            <a:endParaRPr lang="en-US" altLang="ko-KR" dirty="0"/>
          </a:p>
          <a:p>
            <a:pPr lvl="1"/>
            <a:r>
              <a:rPr lang="ko-KR" altLang="en-US" dirty="0" err="1"/>
              <a:t>파래토</a:t>
            </a:r>
            <a:r>
              <a:rPr lang="ko-KR" altLang="en-US" dirty="0"/>
              <a:t> 개선</a:t>
            </a:r>
            <a:r>
              <a:rPr lang="en-US" altLang="ko-KR" dirty="0"/>
              <a:t>(PI): d, e, f </a:t>
            </a:r>
            <a:r>
              <a:rPr lang="ko-KR" altLang="en-US" dirty="0"/>
              <a:t>등 계약곡선</a:t>
            </a:r>
            <a:br>
              <a:rPr lang="en-US" altLang="ko-KR" dirty="0"/>
            </a:br>
            <a:r>
              <a:rPr lang="ko-KR" altLang="en-US" dirty="0"/>
              <a:t>위로의 이동</a:t>
            </a:r>
            <a:endParaRPr lang="en-US" altLang="ko-KR" dirty="0"/>
          </a:p>
          <a:p>
            <a:pPr lvl="1"/>
            <a:r>
              <a:rPr lang="ko-KR" altLang="en-US" dirty="0" err="1"/>
              <a:t>롤지안</a:t>
            </a:r>
            <a:r>
              <a:rPr lang="ko-KR" altLang="en-US" dirty="0"/>
              <a:t> 개선</a:t>
            </a:r>
            <a:r>
              <a:rPr lang="en-US" altLang="ko-KR" dirty="0"/>
              <a:t>(RI) : </a:t>
            </a:r>
            <a:r>
              <a:rPr lang="ko-KR" altLang="en-US" dirty="0"/>
              <a:t>최소 </a:t>
            </a:r>
            <a:r>
              <a:rPr lang="en-US" altLang="ko-KR" dirty="0"/>
              <a:t>f</a:t>
            </a:r>
            <a:r>
              <a:rPr lang="ko-KR" altLang="en-US" dirty="0"/>
              <a:t>에서 </a:t>
            </a:r>
            <a:r>
              <a:rPr lang="en-US" altLang="ko-KR" dirty="0"/>
              <a:t>e</a:t>
            </a:r>
            <a:r>
              <a:rPr lang="ko-KR" altLang="en-US" dirty="0"/>
              <a:t>까지의 배분</a:t>
            </a:r>
            <a:endParaRPr lang="en-US" altLang="ko-KR" dirty="0"/>
          </a:p>
          <a:p>
            <a:r>
              <a:rPr lang="ko-KR" altLang="en-US" dirty="0"/>
              <a:t>생산요소 공급량이 고정된 경우</a:t>
            </a:r>
            <a:endParaRPr lang="en-US" altLang="ko-KR" dirty="0"/>
          </a:p>
          <a:p>
            <a:pPr lvl="1"/>
            <a:r>
              <a:rPr lang="ko-KR" altLang="en-US" dirty="0"/>
              <a:t>자유주의</a:t>
            </a:r>
            <a:endParaRPr lang="en-US" altLang="ko-KR" dirty="0"/>
          </a:p>
          <a:p>
            <a:pPr lvl="2"/>
            <a:r>
              <a:rPr lang="ko-KR" altLang="en-US" dirty="0"/>
              <a:t>자연권적 자유주의 </a:t>
            </a:r>
            <a:r>
              <a:rPr lang="en-US" altLang="ko-KR" dirty="0"/>
              <a:t>: </a:t>
            </a:r>
            <a:r>
              <a:rPr lang="ko-KR" altLang="en-US" dirty="0"/>
              <a:t>보유의 정의 </a:t>
            </a:r>
            <a:r>
              <a:rPr lang="en-US" altLang="ko-KR" dirty="0"/>
              <a:t>-&gt; </a:t>
            </a:r>
            <a:r>
              <a:rPr lang="ko-KR" altLang="en-US" dirty="0"/>
              <a:t>계약곡선상 어떤 점으로도 최적배분</a:t>
            </a:r>
            <a:endParaRPr lang="en-US" altLang="ko-KR" dirty="0"/>
          </a:p>
          <a:p>
            <a:pPr lvl="2"/>
            <a:r>
              <a:rPr lang="ko-KR" altLang="en-US" dirty="0"/>
              <a:t>경험적 자유주의 </a:t>
            </a:r>
            <a:r>
              <a:rPr lang="en-US" altLang="ko-KR" dirty="0"/>
              <a:t>: A,B</a:t>
            </a:r>
            <a:r>
              <a:rPr lang="ko-KR" altLang="en-US" dirty="0"/>
              <a:t>의 최저 생계수준 </a:t>
            </a:r>
            <a:r>
              <a:rPr lang="en-US" altLang="ko-KR" dirty="0"/>
              <a:t>= b, I</a:t>
            </a:r>
            <a:r>
              <a:rPr lang="ko-KR" altLang="en-US" dirty="0"/>
              <a:t> </a:t>
            </a:r>
            <a:r>
              <a:rPr lang="en-US" altLang="ko-KR" dirty="0"/>
              <a:t>;</a:t>
            </a:r>
            <a:r>
              <a:rPr lang="ko-KR" altLang="en-US" dirty="0"/>
              <a:t> </a:t>
            </a:r>
            <a:r>
              <a:rPr lang="en-US" altLang="ko-KR" dirty="0"/>
              <a:t>, </a:t>
            </a:r>
            <a:r>
              <a:rPr lang="en-US" altLang="ko-KR" dirty="0" err="1"/>
              <a:t>b,I</a:t>
            </a:r>
            <a:r>
              <a:rPr lang="en-US" altLang="ko-KR" dirty="0"/>
              <a:t> </a:t>
            </a:r>
            <a:r>
              <a:rPr lang="ko-KR" altLang="en-US" dirty="0"/>
              <a:t>위의 어떤 점도 최적배분</a:t>
            </a:r>
            <a:endParaRPr lang="en-US" altLang="ko-KR" dirty="0"/>
          </a:p>
          <a:p>
            <a:pPr lvl="1"/>
            <a:r>
              <a:rPr lang="ko-KR" altLang="en-US" dirty="0"/>
              <a:t>진보주의</a:t>
            </a:r>
            <a:endParaRPr lang="en-US" altLang="ko-KR" dirty="0"/>
          </a:p>
          <a:p>
            <a:pPr lvl="2"/>
            <a:r>
              <a:rPr lang="ko-KR" altLang="en-US" dirty="0"/>
              <a:t>공리주의 </a:t>
            </a:r>
            <a:r>
              <a:rPr lang="en-US" altLang="ko-KR" dirty="0"/>
              <a:t>: c -&gt; d, e = </a:t>
            </a:r>
            <a:r>
              <a:rPr lang="ko-KR" altLang="en-US" dirty="0" err="1"/>
              <a:t>총복지</a:t>
            </a:r>
            <a:r>
              <a:rPr lang="ko-KR" altLang="en-US" dirty="0"/>
              <a:t> 증대</a:t>
            </a:r>
            <a:endParaRPr lang="en-US" altLang="ko-KR" dirty="0"/>
          </a:p>
          <a:p>
            <a:pPr lvl="2"/>
            <a:r>
              <a:rPr lang="en-US" altLang="ko-KR" dirty="0"/>
              <a:t>A,B </a:t>
            </a:r>
            <a:r>
              <a:rPr lang="ko-KR" altLang="en-US" dirty="0"/>
              <a:t>소득의 한계효용이 동일하다 가정 </a:t>
            </a:r>
            <a:r>
              <a:rPr lang="en-US" altLang="ko-KR" dirty="0"/>
              <a:t>-&gt; g</a:t>
            </a:r>
            <a:r>
              <a:rPr lang="ko-KR" altLang="en-US" dirty="0"/>
              <a:t>점에서 사회후생 극대화</a:t>
            </a:r>
            <a:endParaRPr lang="en-US" altLang="ko-KR" dirty="0"/>
          </a:p>
          <a:p>
            <a:pPr lvl="2"/>
            <a:r>
              <a:rPr lang="en-US" altLang="ko-KR" dirty="0"/>
              <a:t>g</a:t>
            </a:r>
            <a:r>
              <a:rPr lang="ko-KR" altLang="en-US" dirty="0"/>
              <a:t> </a:t>
            </a:r>
            <a:r>
              <a:rPr lang="en-US" altLang="ko-KR" dirty="0"/>
              <a:t>-&gt; k</a:t>
            </a:r>
            <a:r>
              <a:rPr lang="ko-KR" altLang="en-US" dirty="0"/>
              <a:t>는 </a:t>
            </a:r>
            <a:r>
              <a:rPr lang="ko-KR" altLang="en-US" dirty="0" err="1"/>
              <a:t>파래토</a:t>
            </a:r>
            <a:r>
              <a:rPr lang="ko-KR" altLang="en-US" dirty="0"/>
              <a:t> 개선 </a:t>
            </a:r>
            <a:r>
              <a:rPr lang="en-US" altLang="ko-KR" dirty="0"/>
              <a:t>; e</a:t>
            </a:r>
            <a:r>
              <a:rPr lang="ko-KR" altLang="en-US" dirty="0"/>
              <a:t>에서 </a:t>
            </a:r>
            <a:r>
              <a:rPr lang="en-US" altLang="ko-KR" dirty="0"/>
              <a:t>k</a:t>
            </a:r>
            <a:r>
              <a:rPr lang="ko-KR" altLang="en-US" dirty="0"/>
              <a:t>는 공리주의적 개선</a:t>
            </a:r>
            <a:endParaRPr lang="en-US" altLang="ko-KR" dirty="0"/>
          </a:p>
          <a:p>
            <a:pPr lvl="2"/>
            <a:r>
              <a:rPr lang="ko-KR" altLang="en-US" dirty="0" err="1"/>
              <a:t>롤즈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en-US" altLang="ko-KR" dirty="0"/>
              <a:t>c-&gt;e  = RI, PI	c -&gt; d = PI</a:t>
            </a:r>
            <a:br>
              <a:rPr lang="en-US" altLang="ko-KR" dirty="0"/>
            </a:br>
            <a:r>
              <a:rPr lang="en-US" altLang="ko-KR" dirty="0"/>
              <a:t>c -&gt; d ~ e = RI, PI	c -&gt; </a:t>
            </a:r>
            <a:r>
              <a:rPr lang="en-US" altLang="ko-KR" dirty="0" err="1"/>
              <a:t>e~k</a:t>
            </a:r>
            <a:r>
              <a:rPr lang="en-US" altLang="ko-KR" dirty="0"/>
              <a:t> = RI</a:t>
            </a:r>
          </a:p>
          <a:p>
            <a:pPr lvl="1"/>
            <a:r>
              <a:rPr lang="ko-KR" altLang="en-US" dirty="0"/>
              <a:t>사회주의 </a:t>
            </a:r>
            <a:r>
              <a:rPr lang="en-US" altLang="ko-KR" dirty="0"/>
              <a:t>: </a:t>
            </a:r>
            <a:r>
              <a:rPr lang="ko-KR" altLang="en-US" dirty="0"/>
              <a:t>자원의 평등한 분배</a:t>
            </a:r>
            <a:endParaRPr lang="en-US" altLang="ko-KR" dirty="0"/>
          </a:p>
          <a:p>
            <a:pPr lvl="2"/>
            <a:r>
              <a:rPr lang="en-US" altLang="ko-KR" dirty="0"/>
              <a:t>SI = </a:t>
            </a:r>
            <a:r>
              <a:rPr lang="ko-KR" altLang="en-US" dirty="0"/>
              <a:t>생산물의 상대적 배분이 증가해 상대적 불평등 감소하는 계약곡선상 이동</a:t>
            </a:r>
            <a:br>
              <a:rPr lang="en-US" altLang="ko-KR" dirty="0"/>
            </a:br>
            <a:r>
              <a:rPr lang="en-US" altLang="ko-KR" dirty="0"/>
              <a:t>c -&gt; e : SI	c -&gt; d </a:t>
            </a:r>
            <a:r>
              <a:rPr lang="en-US" altLang="ko-KR"/>
              <a:t>: SI X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00DD872-DC72-8836-783A-BA7040E9F4CA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10" name="그림 9" descr="텍스트, 친필, 폰트이(가) 표시된 사진">
            <a:extLst>
              <a:ext uri="{FF2B5EF4-FFF2-40B4-BE49-F238E27FC236}">
                <a16:creationId xmlns:a16="http://schemas.microsoft.com/office/drawing/2014/main" id="{BEEFE8D4-421D-24F3-DD89-DAF9EECB08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6318" y="569972"/>
            <a:ext cx="2677812" cy="1282650"/>
          </a:xfrm>
          <a:prstGeom prst="rect">
            <a:avLst/>
          </a:prstGeom>
        </p:spPr>
      </p:pic>
      <p:pic>
        <p:nvPicPr>
          <p:cNvPr id="12" name="그림 11" descr="라인, 도표, 그래프이(가) 표시된 사진&#10;&#10;자동 생성된 설명">
            <a:extLst>
              <a:ext uri="{FF2B5EF4-FFF2-40B4-BE49-F238E27FC236}">
                <a16:creationId xmlns:a16="http://schemas.microsoft.com/office/drawing/2014/main" id="{B15FFBAA-64B7-3DEF-522C-0622FD688A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7072" y="2432720"/>
            <a:ext cx="2677813" cy="1909063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FCCFB5-2D76-D654-EB78-1DD082AD8C01}"/>
              </a:ext>
            </a:extLst>
          </p:cNvPr>
          <p:cNvCxnSpPr>
            <a:cxnSpLocks/>
          </p:cNvCxnSpPr>
          <p:nvPr/>
        </p:nvCxnSpPr>
        <p:spPr>
          <a:xfrm>
            <a:off x="4365105" y="2720752"/>
            <a:ext cx="720079" cy="136815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DF4057BF-BC95-CDDF-F7CD-1D7FBE39CA54}"/>
              </a:ext>
            </a:extLst>
          </p:cNvPr>
          <p:cNvCxnSpPr>
            <a:cxnSpLocks/>
          </p:cNvCxnSpPr>
          <p:nvPr/>
        </p:nvCxnSpPr>
        <p:spPr>
          <a:xfrm>
            <a:off x="4921892" y="2504728"/>
            <a:ext cx="595340" cy="100811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4674142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17854</TotalTime>
  <Words>1891</Words>
  <Application>Microsoft Office PowerPoint</Application>
  <PresentationFormat>A4 용지(210x297mm)</PresentationFormat>
  <Paragraphs>289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Malgun Gothic</vt:lpstr>
      <vt:lpstr>Malgun Gothic</vt:lpstr>
      <vt:lpstr>Arial</vt:lpstr>
      <vt:lpstr>Cambria Math</vt:lpstr>
      <vt:lpstr>Wingdings</vt:lpstr>
      <vt:lpstr>디자인 사용자 지정</vt:lpstr>
      <vt:lpstr>사회보장론의 개요</vt:lpstr>
      <vt:lpstr>사회보장론의 개요(계속)</vt:lpstr>
      <vt:lpstr>PowerPoint 프레젠테이션</vt:lpstr>
      <vt:lpstr>2장 복지국가론 개관</vt:lpstr>
      <vt:lpstr>사회보장의 역사</vt:lpstr>
      <vt:lpstr>PowerPoint 프레젠테이션</vt:lpstr>
      <vt:lpstr>PowerPoint 프레젠테이션</vt:lpstr>
      <vt:lpstr>사회정의와 국가</vt:lpstr>
      <vt:lpstr>사회이론 자유주의자의 견해</vt:lpstr>
      <vt:lpstr>진보주의자의 사회이론</vt:lpstr>
      <vt:lpstr>진보주의자의 사회이론(계속) 집단주의자들의 견해 국가의 역할에 대한 함의</vt:lpstr>
      <vt:lpstr>사회후생과 국가의 역할</vt:lpstr>
      <vt:lpstr>논의의 형식적 체계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13640</dc:creator>
  <cp:lastModifiedBy>노동주</cp:lastModifiedBy>
  <cp:revision>548</cp:revision>
  <dcterms:created xsi:type="dcterms:W3CDTF">2021-05-24T07:27:04Z</dcterms:created>
  <dcterms:modified xsi:type="dcterms:W3CDTF">2024-10-01T01:17:26Z</dcterms:modified>
</cp:coreProperties>
</file>