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556500" cy="10693400"/>
  <p:notesSz cx="7556500" cy="10693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168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CA148-2526-4CF8-8EC0-94D1AD5710BE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03488" y="1336675"/>
            <a:ext cx="25495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BC847-CD66-4680-8DBD-8E0B8AC6A4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896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C847-CD66-4680-8DBD-8E0B8AC6A44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905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C847-CD66-4680-8DBD-8E0B8AC6A44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418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3834" y="88890"/>
            <a:ext cx="370941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Malgun Gothic"/>
                <a:cs typeface="Malgun Gothic"/>
              </a:rPr>
              <a:t>울트라러닝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계획실행</a:t>
            </a:r>
            <a:r>
              <a:rPr sz="1400" b="1" spc="-60" dirty="0">
                <a:latin typeface="Malgun Gothic"/>
                <a:cs typeface="Malgun Gothic"/>
              </a:rPr>
              <a:t> </a:t>
            </a:r>
            <a:r>
              <a:rPr sz="1400" b="1" dirty="0" err="1">
                <a:latin typeface="Malgun Gothic"/>
                <a:cs typeface="Malgun Gothic"/>
              </a:rPr>
              <a:t>체크리스트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spc="25" dirty="0">
                <a:latin typeface="Malgun Gothic"/>
                <a:cs typeface="Malgun Gothic"/>
              </a:rPr>
              <a:t>(</a:t>
            </a:r>
            <a:r>
              <a:rPr lang="en-US" sz="1400" b="1" spc="25" dirty="0">
                <a:latin typeface="Malgun Gothic"/>
                <a:cs typeface="Malgun Gothic"/>
              </a:rPr>
              <a:t>	            )	</a:t>
            </a:r>
            <a:endParaRPr sz="1400" dirty="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958621"/>
              </p:ext>
            </p:extLst>
          </p:nvPr>
        </p:nvGraphicFramePr>
        <p:xfrm>
          <a:off x="120650" y="393701"/>
          <a:ext cx="7315201" cy="10221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73785502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5573651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34028969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34104348"/>
                    </a:ext>
                  </a:extLst>
                </a:gridCol>
              </a:tblGrid>
              <a:tr h="358636">
                <a:tc>
                  <a:txBody>
                    <a:bodyPr/>
                    <a:lstStyle/>
                    <a:p>
                      <a:pPr marL="166370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단계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질문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1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2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3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4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5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6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579">
                <a:tc rowSpan="3">
                  <a:txBody>
                    <a:bodyPr/>
                    <a:lstStyle/>
                    <a:p>
                      <a:pPr marL="207010" marR="166370" algn="ctr">
                        <a:lnSpc>
                          <a:spcPct val="155500"/>
                        </a:lnSpc>
                        <a:spcBef>
                          <a:spcPts val="11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메타  학습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주제의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일반적인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학습과정을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조사했는가?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성공적으로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공부한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사람들에게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자원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등을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물어봤는가?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10%를</a:t>
                      </a:r>
                      <a:r>
                        <a:rPr sz="900" spc="-3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사전준비에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들였는가?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579">
                <a:tc rowSpan="6">
                  <a:txBody>
                    <a:bodyPr/>
                    <a:lstStyle/>
                    <a:p>
                      <a:pPr marL="207010" marR="166370" algn="ctr">
                        <a:lnSpc>
                          <a:spcPct val="155600"/>
                        </a:lnSpc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집중</a:t>
                      </a:r>
                      <a:r>
                        <a:rPr sz="900" b="1" dirty="0">
                          <a:latin typeface="Malgun Gothic"/>
                          <a:cs typeface="Malgun Gothic"/>
                        </a:rPr>
                        <a:t>  하기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집중하고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산만하지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않은가?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학습일정을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건너뛰거나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꾸물대고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있지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않은가?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몰입하기까지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시간이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얼마나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걸리나?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집중력의</a:t>
                      </a:r>
                      <a:r>
                        <a:rPr sz="900" spc="-5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유지시간은?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내</a:t>
                      </a:r>
                      <a:r>
                        <a:rPr sz="90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주의력은</a:t>
                      </a:r>
                      <a:r>
                        <a:rPr sz="90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충분히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날카로운가?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더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강도를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높이기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집중해야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?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90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or</a:t>
                      </a:r>
                      <a:r>
                        <a:rPr sz="900" spc="-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창조적이기위해 느슨해져야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579">
                <a:tc rowSpan="3">
                  <a:txBody>
                    <a:bodyPr/>
                    <a:lstStyle/>
                    <a:p>
                      <a:pPr marL="207010" marR="166370" algn="ctr">
                        <a:lnSpc>
                          <a:spcPct val="155600"/>
                        </a:lnSpc>
                        <a:spcBef>
                          <a:spcPts val="11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직접  하기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나중에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사용할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방식으로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중인가?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현실에서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실행하게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일에서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어떤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과정을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놓치고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9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수동적학습에서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현실로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적용하기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어떻게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연습해야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할까?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101">
                <a:tc rowSpan="4">
                  <a:txBody>
                    <a:bodyPr/>
                    <a:lstStyle/>
                    <a:p>
                      <a:pPr marL="207010" marR="166370" algn="ctr">
                        <a:lnSpc>
                          <a:spcPct val="155500"/>
                        </a:lnSpc>
                        <a:spcBef>
                          <a:spcPts val="103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특화  학습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이룬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성과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중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취약부분에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집중적으로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시간을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들이고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나를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지체시키는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율속단계는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무엇인가?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배워야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기술이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복잡해서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느려지고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있지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않은가?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복잡한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기술을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어떻게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잘게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쪼개서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각각을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다룰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것인가?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579">
                <a:tc rowSpan="6">
                  <a:txBody>
                    <a:bodyPr/>
                    <a:lstStyle/>
                    <a:p>
                      <a:pPr marL="14351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인출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대부분의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시간을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읽기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복습에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쓰고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있지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않은가?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3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문제풀이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노트를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보지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않고</a:t>
                      </a:r>
                      <a:br>
                        <a:rPr 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기억을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끌어올리는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데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쓰고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자체</a:t>
                      </a:r>
                      <a:r>
                        <a:rPr sz="900" spc="-3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시험방법이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단순히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기억하고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있으려고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어제,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지난주,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작년에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배웠던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지금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잘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설명할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그렇게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어떻게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알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7579">
                <a:tc rowSpan="5"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피</a:t>
                      </a:r>
                      <a:r>
                        <a:rPr lang="ko-KR" altLang="en-US" sz="900" b="1" dirty="0" err="1">
                          <a:latin typeface="Malgun Gothic"/>
                          <a:cs typeface="Malgun Gothic"/>
                        </a:rPr>
                        <a:t>드</a:t>
                      </a:r>
                      <a:r>
                        <a:rPr sz="900" b="1" dirty="0">
                          <a:latin typeface="Malgun Gothic"/>
                          <a:cs typeface="Malgun Gothic"/>
                        </a:rPr>
                        <a:t>백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자신의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성과에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대해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정직한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받고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비판적인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피하기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애쓰고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내가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습득한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못한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알고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올바르게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사용하고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소음에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과잉반응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하고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37579">
                <a:tc rowSpan="4">
                  <a:txBody>
                    <a:bodyPr/>
                    <a:lstStyle/>
                    <a:p>
                      <a:pPr marL="14351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유지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장기간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배웠던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기억할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계획이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마련되어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정보를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충분히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접함으로써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오래도록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기억할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사실적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지식을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내게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필요한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절차적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지식으로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바꿔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나가고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기술에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숙련된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뒤에도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중요한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부분들을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계속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공부하고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39101">
                <a:tc rowSpan="4">
                  <a:txBody>
                    <a:bodyPr/>
                    <a:lstStyle/>
                    <a:p>
                      <a:pPr marL="14351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직관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깊이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이해하고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or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암기만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하고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공부한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개념이나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절차를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다른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누군가에게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가르칠</a:t>
                      </a:r>
                      <a:r>
                        <a:rPr sz="900" spc="-3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내가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배운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참인지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분명히</a:t>
                      </a:r>
                      <a:r>
                        <a:rPr sz="900" spc="28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알고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모두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임의적이고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관련성이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없어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보이는가?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237579">
                <a:tc rowSpan="3">
                  <a:txBody>
                    <a:bodyPr/>
                    <a:lstStyle/>
                    <a:p>
                      <a:pPr marL="1435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실험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현재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가지고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자원이나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기술에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갇혀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273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뻗어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나가서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목표를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달성하기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새로운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방법을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시도해야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72144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기본적인</a:t>
                      </a:r>
                      <a:r>
                        <a:rPr lang="ko-KR" altLang="en-US" sz="900" spc="1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사항들을</a:t>
                      </a:r>
                      <a:r>
                        <a:rPr lang="ko-KR" altLang="en-US" sz="900" spc="1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다</a:t>
                      </a:r>
                      <a:r>
                        <a:rPr lang="ko-KR" altLang="en-US" sz="900" spc="19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배우는</a:t>
                      </a:r>
                      <a:r>
                        <a:rPr lang="ko-KR" altLang="en-US" sz="900" spc="1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걸</a:t>
                      </a:r>
                      <a:r>
                        <a:rPr lang="ko-KR" altLang="en-US" sz="900" spc="19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넘어서</a:t>
                      </a:r>
                      <a:br>
                        <a:rPr lang="en-US" altLang="ko-KR" sz="900" spc="1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문제를</a:t>
                      </a:r>
                      <a:r>
                        <a:rPr lang="ko-KR" altLang="en-US" sz="900" spc="19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창조적으로</a:t>
                      </a:r>
                      <a:r>
                        <a:rPr lang="ko-KR" altLang="en-US" sz="900" spc="19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해결하는</a:t>
                      </a:r>
                      <a:r>
                        <a:rPr lang="ko-KR" altLang="en-US" sz="900" spc="19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독자적인</a:t>
                      </a: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양식을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만들고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다른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사람들이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탐색하지</a:t>
                      </a:r>
                      <a:r>
                        <a:rPr lang="ko-KR" altLang="en-US"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못한일을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하려면</a:t>
                      </a:r>
                      <a:br>
                        <a:rPr lang="en-US" altLang="ko-KR"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어떻게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해야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</a:t>
                      </a:r>
                      <a:r>
                        <a:rPr lang="en-US" altLang="ko-KR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?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  <a:p>
                      <a:pPr marL="673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73834" y="88890"/>
            <a:ext cx="370941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Malgun Gothic"/>
                <a:cs typeface="Malgun Gothic"/>
              </a:rPr>
              <a:t>울트라러닝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계획실행</a:t>
            </a:r>
            <a:r>
              <a:rPr sz="1400" b="1" spc="-60" dirty="0">
                <a:latin typeface="Malgun Gothic"/>
                <a:cs typeface="Malgun Gothic"/>
              </a:rPr>
              <a:t> </a:t>
            </a:r>
            <a:r>
              <a:rPr sz="1400" b="1" dirty="0" err="1">
                <a:latin typeface="Malgun Gothic"/>
                <a:cs typeface="Malgun Gothic"/>
              </a:rPr>
              <a:t>체크리스트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spc="25" dirty="0">
                <a:latin typeface="Malgun Gothic"/>
                <a:cs typeface="Malgun Gothic"/>
              </a:rPr>
              <a:t>(</a:t>
            </a:r>
            <a:r>
              <a:rPr lang="en-US" sz="1400" b="1" spc="25" dirty="0">
                <a:latin typeface="Malgun Gothic"/>
                <a:cs typeface="Malgun Gothic"/>
              </a:rPr>
              <a:t>	            )	</a:t>
            </a:r>
            <a:endParaRPr sz="1400" dirty="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0650" y="393701"/>
          <a:ext cx="7315201" cy="10221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73785502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45573651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340289693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34104348"/>
                    </a:ext>
                  </a:extLst>
                </a:gridCol>
              </a:tblGrid>
              <a:tr h="358636">
                <a:tc>
                  <a:txBody>
                    <a:bodyPr/>
                    <a:lstStyle/>
                    <a:p>
                      <a:pPr marL="166370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단계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질문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1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2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3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4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5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70"/>
                        </a:lnSpc>
                        <a:spcBef>
                          <a:spcPts val="390"/>
                        </a:spcBef>
                      </a:pPr>
                      <a:r>
                        <a:rPr lang="ko-KR" altLang="en-US" sz="900" b="1" dirty="0">
                          <a:latin typeface="Malgun Gothic"/>
                          <a:cs typeface="Malgun Gothic"/>
                        </a:rPr>
                        <a:t>과목</a:t>
                      </a:r>
                      <a:r>
                        <a:rPr lang="en-US" altLang="ko-KR" sz="900" b="1" dirty="0">
                          <a:latin typeface="Malgun Gothic"/>
                          <a:cs typeface="Malgun Gothic"/>
                        </a:rPr>
                        <a:t>6</a:t>
                      </a:r>
                      <a:endParaRPr sz="900" b="1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579">
                <a:tc rowSpan="3">
                  <a:txBody>
                    <a:bodyPr/>
                    <a:lstStyle/>
                    <a:p>
                      <a:pPr marL="207010" marR="166370" algn="ctr">
                        <a:lnSpc>
                          <a:spcPct val="155500"/>
                        </a:lnSpc>
                        <a:spcBef>
                          <a:spcPts val="11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메타  학습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주제의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일반적인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학습과정을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조사했는가?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성공적으로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공부한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사람들에게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자원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등을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물어봤는가?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9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10%를</a:t>
                      </a:r>
                      <a:r>
                        <a:rPr sz="900" spc="-3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사전준비에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들였는가?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579">
                <a:tc rowSpan="6">
                  <a:txBody>
                    <a:bodyPr/>
                    <a:lstStyle/>
                    <a:p>
                      <a:pPr marL="207010" marR="166370" algn="ctr">
                        <a:lnSpc>
                          <a:spcPct val="155600"/>
                        </a:lnSpc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집중</a:t>
                      </a:r>
                      <a:r>
                        <a:rPr sz="900" b="1" dirty="0">
                          <a:latin typeface="Malgun Gothic"/>
                          <a:cs typeface="Malgun Gothic"/>
                        </a:rPr>
                        <a:t>  하기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집중하고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산만하지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않은가?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학습일정을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건너뛰거나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꾸물대고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있지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않은가?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몰입하기까지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시간이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얼마나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걸리나?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집중력의</a:t>
                      </a:r>
                      <a:r>
                        <a:rPr sz="900" spc="-5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유지시간은?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latin typeface="Malgun Gothic"/>
                          <a:cs typeface="Malgun Gothic"/>
                        </a:rPr>
                        <a:t>내</a:t>
                      </a:r>
                      <a:r>
                        <a:rPr sz="90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주의력은</a:t>
                      </a:r>
                      <a:r>
                        <a:rPr sz="90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충분히</a:t>
                      </a:r>
                      <a:r>
                        <a:rPr sz="9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latin typeface="Malgun Gothic"/>
                          <a:cs typeface="Malgun Gothic"/>
                        </a:rPr>
                        <a:t>날카로운가?</a:t>
                      </a: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3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더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강도를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높이기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집중해야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?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90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or</a:t>
                      </a:r>
                      <a:r>
                        <a:rPr sz="900" spc="-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창조적이기위해 느슨해져야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579">
                <a:tc rowSpan="3">
                  <a:txBody>
                    <a:bodyPr/>
                    <a:lstStyle/>
                    <a:p>
                      <a:pPr marL="207010" marR="166370" algn="ctr">
                        <a:lnSpc>
                          <a:spcPct val="155600"/>
                        </a:lnSpc>
                        <a:spcBef>
                          <a:spcPts val="11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직접  하기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나중에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사용할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방식으로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학습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중인가?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현실에서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실행하게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일에서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어떤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과정을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놓치고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792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97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수동적학습에서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현실로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적용하기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어떻게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연습해야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할까?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9101">
                <a:tc rowSpan="4">
                  <a:txBody>
                    <a:bodyPr/>
                    <a:lstStyle/>
                    <a:p>
                      <a:pPr marL="207010" marR="166370" algn="ctr">
                        <a:lnSpc>
                          <a:spcPct val="155500"/>
                        </a:lnSpc>
                        <a:spcBef>
                          <a:spcPts val="1030"/>
                        </a:spcBef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특화  학습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이룬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성과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중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취약부분에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집중적으로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시간을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들이고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나를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지체시키는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율속단계는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무엇인가?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배워야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기술이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복잡해서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느려지고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있지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않은가?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30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복잡한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기술을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어떻게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잘게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쪼개서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각각을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다룰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것인가?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579">
                <a:tc rowSpan="6">
                  <a:txBody>
                    <a:bodyPr/>
                    <a:lstStyle/>
                    <a:p>
                      <a:pPr marL="14351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인출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대부분의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시간을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읽기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복습에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쓰고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있지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않은가?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3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문제풀이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노트를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보지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않고</a:t>
                      </a:r>
                      <a:br>
                        <a:rPr 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기억을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끌어올리는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데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쓰고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자체</a:t>
                      </a:r>
                      <a:r>
                        <a:rPr sz="900" spc="-3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시험방법이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단순히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내용을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기억하고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있으려고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어제,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지난주,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작년에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배웠던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지금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잘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설명할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그렇게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어떻게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알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37579">
                <a:tc rowSpan="5"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</a:pPr>
                      <a:r>
                        <a:rPr sz="900" b="1" dirty="0">
                          <a:latin typeface="Malgun Gothic"/>
                          <a:cs typeface="Malgun Gothic"/>
                        </a:rPr>
                        <a:t>피</a:t>
                      </a:r>
                      <a:r>
                        <a:rPr lang="ko-KR" altLang="en-US" sz="900" b="1" dirty="0" err="1">
                          <a:latin typeface="Malgun Gothic"/>
                          <a:cs typeface="Malgun Gothic"/>
                        </a:rPr>
                        <a:t>드</a:t>
                      </a:r>
                      <a:r>
                        <a:rPr sz="900" b="1" dirty="0">
                          <a:latin typeface="Malgun Gothic"/>
                          <a:cs typeface="Malgun Gothic"/>
                        </a:rPr>
                        <a:t>백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자신의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성과에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대해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정직한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받고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비판적인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피하기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애쓰고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내가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습득한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못한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알고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피드백을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올바르게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사용하고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소음에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과잉반응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하고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237579">
                <a:tc rowSpan="4">
                  <a:txBody>
                    <a:bodyPr/>
                    <a:lstStyle/>
                    <a:p>
                      <a:pPr marL="14351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유지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장기간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배웠던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기억할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계획이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마련되어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정보를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충분히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접함으로써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오래도록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기억할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사실적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지식을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내게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필요한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절차적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지식으로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바꿔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나가고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기술에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숙련된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뒤에도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중요한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부분들을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계속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공부하고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39101">
                <a:tc rowSpan="4">
                  <a:txBody>
                    <a:bodyPr/>
                    <a:lstStyle/>
                    <a:p>
                      <a:pPr marL="14351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직관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깊이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이해하고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or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암기만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하고</a:t>
                      </a:r>
                      <a:r>
                        <a:rPr sz="900" spc="-3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2391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공부한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개념이나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절차를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다른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누군가에게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가르칠</a:t>
                      </a:r>
                      <a:r>
                        <a:rPr sz="900" spc="-3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내가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배운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것이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왜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참인지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분명히</a:t>
                      </a:r>
                      <a:r>
                        <a:rPr sz="900" spc="28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알고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375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모두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임의적이고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관련성이</a:t>
                      </a:r>
                      <a:r>
                        <a:rPr sz="900" spc="-2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없어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보이는가?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237579">
                <a:tc rowSpan="3">
                  <a:txBody>
                    <a:bodyPr/>
                    <a:lstStyle/>
                    <a:p>
                      <a:pPr marL="1435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900" b="1" dirty="0" err="1">
                          <a:latin typeface="Malgun Gothic"/>
                          <a:cs typeface="Malgun Gothic"/>
                        </a:rPr>
                        <a:t>실험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현재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가지고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자원이나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기술에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갇혀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있는가?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27339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뻗어</a:t>
                      </a:r>
                      <a:r>
                        <a:rPr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나가서</a:t>
                      </a:r>
                      <a:r>
                        <a:rPr sz="900" spc="-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목표를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달성하기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br>
                        <a:rPr lang="en-US"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sz="900" dirty="0" err="1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새로운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방법을</a:t>
                      </a:r>
                      <a:r>
                        <a:rPr sz="900" spc="-2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시도해야</a:t>
                      </a:r>
                      <a:r>
                        <a:rPr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하는가?</a:t>
                      </a: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72144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DDDEE"/>
                    </a:solidFill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기본적인</a:t>
                      </a:r>
                      <a:r>
                        <a:rPr lang="ko-KR" altLang="en-US" sz="900" spc="1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사항들을</a:t>
                      </a:r>
                      <a:r>
                        <a:rPr lang="ko-KR" altLang="en-US" sz="900" spc="1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다</a:t>
                      </a:r>
                      <a:r>
                        <a:rPr lang="ko-KR" altLang="en-US" sz="900" spc="19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배우는</a:t>
                      </a:r>
                      <a:r>
                        <a:rPr lang="ko-KR" altLang="en-US" sz="900" spc="1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걸</a:t>
                      </a:r>
                      <a:r>
                        <a:rPr lang="ko-KR" altLang="en-US" sz="900" spc="19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넘어서</a:t>
                      </a:r>
                      <a:br>
                        <a:rPr lang="en-US" altLang="ko-KR" sz="900" spc="18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문제를</a:t>
                      </a:r>
                      <a:r>
                        <a:rPr lang="ko-KR" altLang="en-US" sz="900" spc="19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창조적으로</a:t>
                      </a:r>
                      <a:r>
                        <a:rPr lang="ko-KR" altLang="en-US" sz="900" spc="19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해결하는</a:t>
                      </a:r>
                      <a:r>
                        <a:rPr lang="ko-KR" altLang="en-US" sz="900" spc="19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독자적인</a:t>
                      </a:r>
                      <a:br>
                        <a:rPr lang="en-US" altLang="ko-KR" sz="900" dirty="0">
                          <a:solidFill>
                            <a:schemeClr val="tx1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양식을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만들고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다른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사람들이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탐색하지</a:t>
                      </a:r>
                      <a:r>
                        <a:rPr lang="ko-KR" altLang="en-US"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못한일을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하려면</a:t>
                      </a:r>
                      <a:br>
                        <a:rPr lang="en-US" altLang="ko-KR" sz="900" spc="-1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</a:b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어떻게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해야</a:t>
                      </a:r>
                      <a:r>
                        <a:rPr lang="ko-KR" altLang="en-US" sz="900" spc="-15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하는가</a:t>
                      </a:r>
                      <a:r>
                        <a:rPr lang="en-US" altLang="ko-KR" sz="900" dirty="0">
                          <a:solidFill>
                            <a:srgbClr val="373737"/>
                          </a:solidFill>
                          <a:latin typeface="Malgun Gothic"/>
                          <a:cs typeface="Malgun Gothic"/>
                        </a:rPr>
                        <a:t>?</a:t>
                      </a:r>
                      <a:endParaRPr lang="ko-KR" altLang="en-US" sz="900" dirty="0">
                        <a:latin typeface="Malgun Gothic"/>
                        <a:cs typeface="Malgun Gothic"/>
                      </a:endParaRPr>
                    </a:p>
                    <a:p>
                      <a:pPr marL="673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900" dirty="0">
                        <a:latin typeface="Malgun Gothic"/>
                        <a:cs typeface="Malgun Gothic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3175">
                      <a:solidFill>
                        <a:srgbClr val="000000"/>
                      </a:solidFill>
                      <a:prstDash val="soli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62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</TotalTime>
  <Words>710</Words>
  <Application>Microsoft Office PowerPoint</Application>
  <PresentationFormat>사용자 지정</PresentationFormat>
  <Paragraphs>114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Malgun Gothic</vt:lpstr>
      <vt:lpstr>Malgun Gothic</vt:lpstr>
      <vt:lpstr>Calibri</vt:lpstr>
      <vt:lpstr>Times New Roman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노동주</dc:creator>
  <cp:lastModifiedBy>노동주</cp:lastModifiedBy>
  <cp:revision>2</cp:revision>
  <dcterms:created xsi:type="dcterms:W3CDTF">2024-09-09T13:33:45Z</dcterms:created>
  <dcterms:modified xsi:type="dcterms:W3CDTF">2024-09-09T23:46:46Z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2024-09-09T00:00:00Z</vt:filetime>
  </property>
  <property fmtid="{D5CDD505-2E9C-101B-9397-08002B2CF9AE}" pid="3" name="Creator">
    <vt:lpwstr>Microsoft® Word Microsoft 365용</vt:lpwstr>
  </property>
  <property fmtid="{D5CDD505-2E9C-101B-9397-08002B2CF9AE}" pid="4" name="LastSaved">
    <vt:filetime>2024-09-09T00:00:00Z</vt:filetime>
  </property>
</Properties>
</file>