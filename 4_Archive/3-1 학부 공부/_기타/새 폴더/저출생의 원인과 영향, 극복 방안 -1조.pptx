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0"/>
  </p:notesMasterIdLst>
  <p:sldIdLst>
    <p:sldId id="256" r:id="rId4"/>
    <p:sldId id="257" r:id="rId5"/>
    <p:sldId id="258" r:id="rId6"/>
    <p:sldId id="274" r:id="rId7"/>
    <p:sldId id="314" r:id="rId8"/>
    <p:sldId id="259" r:id="rId9"/>
    <p:sldId id="282" r:id="rId11"/>
    <p:sldId id="283" r:id="rId12"/>
    <p:sldId id="287" r:id="rId13"/>
    <p:sldId id="288" r:id="rId14"/>
    <p:sldId id="284" r:id="rId15"/>
    <p:sldId id="295" r:id="rId16"/>
    <p:sldId id="294" r:id="rId17"/>
    <p:sldId id="289" r:id="rId18"/>
    <p:sldId id="285" r:id="rId19"/>
    <p:sldId id="286" r:id="rId20"/>
    <p:sldId id="292" r:id="rId21"/>
    <p:sldId id="297" r:id="rId22"/>
    <p:sldId id="298" r:id="rId23"/>
    <p:sldId id="300" r:id="rId24"/>
    <p:sldId id="299" r:id="rId25"/>
    <p:sldId id="301" r:id="rId26"/>
    <p:sldId id="303" r:id="rId27"/>
    <p:sldId id="304" r:id="rId28"/>
    <p:sldId id="296" r:id="rId29"/>
    <p:sldId id="293" r:id="rId30"/>
    <p:sldId id="309" r:id="rId31"/>
    <p:sldId id="310" r:id="rId32"/>
    <p:sldId id="311" r:id="rId33"/>
    <p:sldId id="312" r:id="rId34"/>
    <p:sldId id="313" r:id="rId35"/>
    <p:sldId id="305" r:id="rId36"/>
    <p:sldId id="307" r:id="rId37"/>
    <p:sldId id="308" r:id="rId38"/>
    <p:sldId id="291" r:id="rId39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75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ACBFE"/>
    <a:srgbClr val="7888CE"/>
    <a:srgbClr val="475DBD"/>
    <a:srgbClr val="304086"/>
    <a:srgbClr val="2A3874"/>
    <a:srgbClr val="3F54AF"/>
    <a:srgbClr val="8BA2F0"/>
    <a:srgbClr val="6275C6"/>
    <a:srgbClr val="131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01"/>
    <p:restoredTop sz="95679" autoAdjust="0"/>
  </p:normalViewPr>
  <p:slideViewPr>
    <p:cSldViewPr snapToGrid="0" showGuides="1">
      <p:cViewPr varScale="1">
        <p:scale>
          <a:sx n="107" d="100"/>
          <a:sy n="107" d="100"/>
        </p:scale>
        <p:origin x="176" y="336"/>
      </p:cViewPr>
      <p:guideLst>
        <p:guide orient="horz" pos="2183"/>
        <p:guide pos="75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92A4D-2091-4E84-9922-C300901BBD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0EF76-4528-4350-998B-6DF515A87F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0EF76-4528-4350-998B-6DF515A87F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80EF76-4528-4350-998B-6DF515A87F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80EF76-4528-4350-998B-6DF515A87F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80EF76-4528-4350-998B-6DF515A87F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0EF76-4528-4350-998B-6DF515A87F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0EF76-4528-4350-998B-6DF515A87F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80EF76-4528-4350-998B-6DF515A87F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276004" y="646716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25.png"/><Relationship Id="rId15" Type="http://schemas.openxmlformats.org/officeDocument/2006/relationships/image" Target="../media/image24.pn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6.png"/><Relationship Id="rId10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0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jpeg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15902" y="710647"/>
            <a:ext cx="812802" cy="1066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76392" y="1441896"/>
            <a:ext cx="944032" cy="58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2287" y="2189541"/>
            <a:ext cx="1244600" cy="774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39913" y="2494719"/>
            <a:ext cx="1066800" cy="1066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3244" y="4837492"/>
            <a:ext cx="685800" cy="6159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732" y="2224922"/>
            <a:ext cx="1588557" cy="983391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1469533" y="2184275"/>
            <a:ext cx="10363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b="1" spc="100" dirty="0" err="1">
                <a:solidFill>
                  <a:srgbClr val="304086"/>
                </a:solidFill>
                <a:cs typeface="+mn-ea"/>
                <a:sym typeface="+mn-lt"/>
              </a:rPr>
              <a:t>저출생의</a:t>
            </a:r>
            <a:r>
              <a:rPr lang="ko-KR" altLang="en-US" sz="7200" b="1" spc="100" dirty="0">
                <a:solidFill>
                  <a:srgbClr val="304086"/>
                </a:solidFill>
                <a:cs typeface="+mn-ea"/>
                <a:sym typeface="+mn-lt"/>
              </a:rPr>
              <a:t> 원인과 영향</a:t>
            </a:r>
            <a:r>
              <a:rPr lang="en-US" altLang="ko-KR" sz="7200" b="1" spc="100" dirty="0">
                <a:solidFill>
                  <a:srgbClr val="304086"/>
                </a:solidFill>
                <a:cs typeface="+mn-ea"/>
                <a:sym typeface="+mn-lt"/>
              </a:rPr>
              <a:t>,</a:t>
            </a:r>
            <a:endParaRPr lang="en-US" altLang="ko-KR" sz="7200" b="1" spc="100" dirty="0">
              <a:solidFill>
                <a:srgbClr val="304086"/>
              </a:solidFill>
              <a:cs typeface="+mn-ea"/>
              <a:sym typeface="+mn-lt"/>
            </a:endParaRPr>
          </a:p>
          <a:p>
            <a:pPr algn="ctr"/>
            <a:r>
              <a:rPr lang="ko-KR" altLang="en-US" sz="7200" b="1" spc="100" dirty="0">
                <a:solidFill>
                  <a:srgbClr val="304086"/>
                </a:solidFill>
                <a:cs typeface="+mn-ea"/>
                <a:sym typeface="+mn-lt"/>
              </a:rPr>
              <a:t>극복 방안</a:t>
            </a:r>
            <a:endParaRPr lang="en-US" altLang="zh-CN" sz="7200" b="1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811068" y="5064215"/>
            <a:ext cx="5380932" cy="1484217"/>
            <a:chOff x="9177997" y="5404429"/>
            <a:chExt cx="2810811" cy="1484217"/>
          </a:xfrm>
        </p:grpSpPr>
        <p:sp>
          <p:nvSpPr>
            <p:cNvPr id="4" name="矩形: 圆角 3"/>
            <p:cNvSpPr/>
            <p:nvPr/>
          </p:nvSpPr>
          <p:spPr>
            <a:xfrm>
              <a:off x="9177997" y="5404429"/>
              <a:ext cx="2810811" cy="148421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485153" y="5536509"/>
              <a:ext cx="1942778" cy="12325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spc="100" dirty="0">
                  <a:solidFill>
                    <a:schemeClr val="bg1"/>
                  </a:solidFill>
                  <a:cs typeface="+mn-ea"/>
                  <a:sym typeface="+mn-lt"/>
                </a:rPr>
                <a:t>1.</a:t>
              </a:r>
              <a:r>
                <a:rPr lang="ko-KR" altLang="en-US" sz="1400" spc="100" dirty="0">
                  <a:solidFill>
                    <a:schemeClr val="bg1"/>
                  </a:solidFill>
                  <a:cs typeface="+mn-ea"/>
                  <a:sym typeface="+mn-lt"/>
                </a:rPr>
                <a:t>이름</a:t>
              </a:r>
              <a:r>
                <a:rPr lang="en-US" altLang="ko-KR" sz="1400" spc="100" dirty="0">
                  <a:solidFill>
                    <a:schemeClr val="bg1"/>
                  </a:solidFill>
                  <a:cs typeface="+mn-ea"/>
                  <a:sym typeface="+mn-lt"/>
                </a:rPr>
                <a:t>(</a:t>
              </a:r>
              <a:r>
                <a:rPr lang="ko-KR" altLang="en-US" sz="1400" spc="100" dirty="0">
                  <a:solidFill>
                    <a:schemeClr val="bg1"/>
                  </a:solidFill>
                  <a:cs typeface="+mn-ea"/>
                  <a:sym typeface="+mn-lt"/>
                </a:rPr>
                <a:t>학번</a:t>
              </a:r>
              <a:r>
                <a:rPr lang="en-US" altLang="ko-KR" sz="1400" spc="100" dirty="0">
                  <a:solidFill>
                    <a:schemeClr val="bg1"/>
                  </a:solidFill>
                  <a:cs typeface="+mn-ea"/>
                  <a:sym typeface="+mn-lt"/>
                </a:rPr>
                <a:t>)</a:t>
              </a:r>
              <a:endParaRPr lang="en-US" altLang="ko-KR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ko-KR" altLang="en-US" sz="1400" spc="100" dirty="0">
                  <a:solidFill>
                    <a:schemeClr val="bg1"/>
                  </a:solidFill>
                  <a:cs typeface="+mn-ea"/>
                  <a:sym typeface="+mn-lt"/>
                </a:rPr>
                <a:t>박진우</a:t>
              </a:r>
              <a:r>
                <a:rPr lang="en-US" altLang="ko-KR" sz="1400" spc="100" dirty="0">
                  <a:solidFill>
                    <a:schemeClr val="bg1"/>
                  </a:solidFill>
                  <a:cs typeface="+mn-ea"/>
                  <a:sym typeface="+mn-lt"/>
                </a:rPr>
                <a:t>:12215293</a:t>
              </a:r>
              <a:endParaRPr lang="en-US" altLang="ko-KR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ko-KR" altLang="en-US" sz="1400" spc="100" dirty="0">
                  <a:solidFill>
                    <a:schemeClr val="bg1"/>
                  </a:solidFill>
                  <a:cs typeface="+mn-ea"/>
                  <a:sym typeface="+mn-lt"/>
                </a:rPr>
                <a:t>향가우</a:t>
              </a:r>
              <a:r>
                <a:rPr lang="en-US" altLang="ko-KR" sz="1400" spc="100" dirty="0">
                  <a:solidFill>
                    <a:schemeClr val="bg1"/>
                  </a:solidFill>
                  <a:cs typeface="+mn-ea"/>
                  <a:sym typeface="+mn-lt"/>
                </a:rPr>
                <a:t>:12204485</a:t>
              </a:r>
              <a:endParaRPr lang="en-US" altLang="ko-KR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ko-KR" altLang="en-US" sz="1400" spc="100" dirty="0">
                  <a:solidFill>
                    <a:schemeClr val="bg1"/>
                  </a:solidFill>
                  <a:cs typeface="+mn-ea"/>
                  <a:sym typeface="+mn-lt"/>
                </a:rPr>
                <a:t>응웬티후엔</a:t>
              </a:r>
              <a:r>
                <a:rPr lang="en-US" altLang="ko-KR" sz="1400" spc="100" dirty="0">
                  <a:solidFill>
                    <a:schemeClr val="bg1"/>
                  </a:solidFill>
                  <a:cs typeface="+mn-ea"/>
                  <a:sym typeface="+mn-lt"/>
                </a:rPr>
                <a:t>:12210189</a:t>
              </a:r>
              <a:endParaRPr lang="en-US" altLang="ko-KR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ko-KR" altLang="en-US" sz="1400" spc="100" dirty="0">
                  <a:solidFill>
                    <a:schemeClr val="bg1"/>
                  </a:solidFill>
                  <a:cs typeface="+mn-ea"/>
                  <a:sym typeface="+mn-lt"/>
                </a:rPr>
                <a:t>응웬티네</a:t>
              </a:r>
              <a:r>
                <a:rPr lang="en-US" altLang="ko-KR" sz="1400" spc="100" dirty="0">
                  <a:solidFill>
                    <a:schemeClr val="bg1"/>
                  </a:solidFill>
                  <a:cs typeface="+mn-ea"/>
                  <a:sym typeface="+mn-lt"/>
                </a:rPr>
                <a:t>:12210188</a:t>
              </a:r>
              <a:endParaRPr lang="en-US" altLang="ko-KR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4712" y="4314220"/>
            <a:ext cx="1281451" cy="269498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8665" y="4427361"/>
            <a:ext cx="271774" cy="3564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2464" y="3325522"/>
            <a:ext cx="1054139" cy="18000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3053" y="4783844"/>
            <a:ext cx="822557" cy="111662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061" y="4172472"/>
            <a:ext cx="1196891" cy="180005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1152" y="4837491"/>
            <a:ext cx="209983" cy="2754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136" y="5084473"/>
            <a:ext cx="509182" cy="1484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>
        <p:circle/>
      </p:transition>
    </mc:Choice>
    <mc:Fallback>
      <p:transition advClick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81774" y="3243925"/>
            <a:ext cx="617535" cy="1800056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08845" y="2820567"/>
            <a:ext cx="1163627" cy="24471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1723" y="4639089"/>
            <a:ext cx="509182" cy="1484217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358508" y="2713204"/>
            <a:ext cx="1054139" cy="180005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23453" y="2352143"/>
            <a:ext cx="950829" cy="1623641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58120" y="3654830"/>
            <a:ext cx="470974" cy="137284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7104" y="3739062"/>
            <a:ext cx="1054139" cy="1800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84575" y="4194267"/>
            <a:ext cx="357300" cy="468667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1626" y="4679378"/>
            <a:ext cx="899387" cy="1179717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08385" y="2256338"/>
            <a:ext cx="1547791" cy="325511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84608" y="2250702"/>
            <a:ext cx="1066800" cy="1066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05569" y="2128822"/>
            <a:ext cx="1588557" cy="983391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85578" y="2073305"/>
            <a:ext cx="685461" cy="424332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13295" y="1532908"/>
            <a:ext cx="1588557" cy="98339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99086" y="4829053"/>
            <a:ext cx="973649" cy="1464311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19420" y="1874375"/>
            <a:ext cx="681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01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405839" y="1879827"/>
            <a:ext cx="401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  <a:cs typeface="+mn-ea"/>
                <a:sym typeface="+mn-lt"/>
              </a:rPr>
              <a:t>저출산의</a:t>
            </a:r>
            <a:r>
              <a:rPr lang="ko-KR" altLang="en-US" sz="2800" b="1" dirty="0">
                <a:solidFill>
                  <a:schemeClr val="bg1"/>
                </a:solidFill>
                <a:cs typeface="+mn-ea"/>
                <a:sym typeface="+mn-lt"/>
              </a:rPr>
              <a:t> 정의와 현황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728054" y="902538"/>
            <a:ext cx="2423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cs typeface="+mn-ea"/>
                <a:sym typeface="+mn-lt"/>
              </a:rPr>
              <a:t>목차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29840" y="2759028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02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05839" y="2764480"/>
            <a:ext cx="401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  <a:cs typeface="+mn-ea"/>
                <a:sym typeface="+mn-lt"/>
              </a:rPr>
              <a:t>저출산의</a:t>
            </a:r>
            <a:r>
              <a:rPr lang="ko-KR" altLang="en-US" sz="2800" b="1" dirty="0">
                <a:solidFill>
                  <a:schemeClr val="bg1"/>
                </a:solidFill>
                <a:cs typeface="+mn-ea"/>
                <a:sym typeface="+mn-lt"/>
              </a:rPr>
              <a:t> 원인 분석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27435" y="3643681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03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405839" y="3649133"/>
            <a:ext cx="401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  <a:cs typeface="+mn-ea"/>
                <a:sym typeface="+mn-lt"/>
              </a:rPr>
              <a:t>저출생으로</a:t>
            </a:r>
            <a:r>
              <a:rPr lang="ko-KR" altLang="en-US" sz="2800" b="1" dirty="0">
                <a:solidFill>
                  <a:schemeClr val="bg1"/>
                </a:solidFill>
                <a:cs typeface="+mn-ea"/>
                <a:sym typeface="+mn-lt"/>
              </a:rPr>
              <a:t> 인한 영향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30641" y="4520689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04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405839" y="4526141"/>
            <a:ext cx="401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zh-CN" sz="2800" b="1" dirty="0">
                <a:solidFill>
                  <a:schemeClr val="bg1"/>
                </a:solidFill>
                <a:cs typeface="+mn-ea"/>
              </a:rPr>
              <a:t>한국의 출산장려정책</a:t>
            </a:r>
            <a:r>
              <a:rPr lang="zh-CN" altLang="zh-CN" sz="2800" b="1" dirty="0">
                <a:solidFill>
                  <a:schemeClr val="bg1"/>
                </a:solidFill>
                <a:cs typeface="+mn-ea"/>
              </a:rPr>
              <a:t> 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17313" y="3280291"/>
            <a:ext cx="179581" cy="235555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67807" y="3873360"/>
            <a:ext cx="267721" cy="35116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1715" y="4107067"/>
            <a:ext cx="517023" cy="70186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93470" y="290689"/>
            <a:ext cx="246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7820" y="5262304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05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3018" y="5267756"/>
            <a:ext cx="6849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cs typeface="+mn-ea"/>
              </a:rPr>
              <a:t>저출산 문제는 해외에서 사례 연구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7820" y="5961450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06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23018" y="5966902"/>
            <a:ext cx="10553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cs typeface="+mn-ea"/>
              </a:rPr>
              <a:t>한국의 저출산 문제 해결을 위한 생명윤리적 고찰과 정책적 제언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5" grpId="0"/>
      <p:bldP spid="66" grpId="0"/>
      <p:bldP spid="67" grpId="0"/>
      <p:bldP spid="69" grpId="0"/>
      <p:bldP spid="70" grpId="0"/>
      <p:bldP spid="72" grpId="0"/>
      <p:bldP spid="73" grpId="0"/>
      <p:bldP spid="3" grpId="0"/>
      <p:bldP spid="5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45494" y="4504138"/>
            <a:ext cx="1163627" cy="2447189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sp>
        <p:nvSpPr>
          <p:cNvPr id="88" name="文本框 87"/>
          <p:cNvSpPr txBox="1"/>
          <p:nvPr/>
        </p:nvSpPr>
        <p:spPr>
          <a:xfrm>
            <a:off x="2222860" y="2708257"/>
            <a:ext cx="88718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 err="1">
                <a:solidFill>
                  <a:schemeClr val="bg1"/>
                </a:solidFill>
                <a:cs typeface="+mn-ea"/>
                <a:sym typeface="+mn-lt"/>
              </a:rPr>
              <a:t>저출산의</a:t>
            </a:r>
            <a:r>
              <a:rPr lang="ko-KR" altLang="en-US" sz="6600" b="1" dirty="0">
                <a:solidFill>
                  <a:schemeClr val="bg1"/>
                </a:solidFill>
                <a:cs typeface="+mn-ea"/>
                <a:sym typeface="+mn-lt"/>
              </a:rPr>
              <a:t> 정의와 현황 </a:t>
            </a:r>
            <a:endParaRPr lang="zh-CN" altLang="en-US" sz="6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dirty="0">
                  <a:solidFill>
                    <a:srgbClr val="304086"/>
                  </a:solidFill>
                  <a:cs typeface="+mn-ea"/>
                  <a:sym typeface="+mn-lt"/>
                </a:rPr>
                <a:t>01</a:t>
              </a:r>
              <a:endParaRPr lang="zh-CN" altLang="en-US" sz="6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/>
        </p:nvSpPr>
        <p:spPr>
          <a:xfrm>
            <a:off x="-2156250" y="21801"/>
            <a:ext cx="8394700" cy="7823200"/>
          </a:xfrm>
          <a:prstGeom prst="parallelogram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98922" y="81701"/>
            <a:ext cx="4509389" cy="490528"/>
            <a:chOff x="632295" y="294582"/>
            <a:chExt cx="2405663" cy="248500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704458" cy="248500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圆角矩形 10"/>
          <p:cNvSpPr/>
          <p:nvPr/>
        </p:nvSpPr>
        <p:spPr>
          <a:xfrm>
            <a:off x="6132120" y="1211449"/>
            <a:ext cx="766467" cy="68270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6034463" y="678549"/>
            <a:ext cx="272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rgbClr val="304086"/>
                </a:solidFill>
                <a:cs typeface="+mn-ea"/>
                <a:sym typeface="+mn-lt"/>
              </a:rPr>
              <a:t>저출산의</a:t>
            </a:r>
            <a:r>
              <a:rPr lang="ko-KR" altLang="en-US" sz="2800" b="1" dirty="0">
                <a:solidFill>
                  <a:srgbClr val="304086"/>
                </a:solidFill>
                <a:cs typeface="+mn-ea"/>
                <a:sym typeface="+mn-lt"/>
              </a:rPr>
              <a:t> 정의</a:t>
            </a:r>
            <a:endParaRPr lang="zh-CN" altLang="en-US" sz="2800" b="1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545414" y="1589160"/>
            <a:ext cx="3957438" cy="4126415"/>
            <a:chOff x="1322945" y="1892542"/>
            <a:chExt cx="3797521" cy="3959670"/>
          </a:xfrm>
        </p:grpSpPr>
        <p:grpSp>
          <p:nvGrpSpPr>
            <p:cNvPr id="6" name="组合 5"/>
            <p:cNvGrpSpPr/>
            <p:nvPr/>
          </p:nvGrpSpPr>
          <p:grpSpPr>
            <a:xfrm>
              <a:off x="1361311" y="1892542"/>
              <a:ext cx="3759155" cy="3851312"/>
              <a:chOff x="1247011" y="2059510"/>
              <a:chExt cx="3280974" cy="336140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247011" y="2059510"/>
                <a:ext cx="3280974" cy="3361408"/>
                <a:chOff x="1361311" y="2110310"/>
                <a:chExt cx="3280974" cy="3361408"/>
              </a:xfrm>
            </p:grpSpPr>
            <p:sp>
              <p:nvSpPr>
                <p:cNvPr id="18" name="Google Shape;283;p20"/>
                <p:cNvSpPr/>
                <p:nvPr/>
              </p:nvSpPr>
              <p:spPr>
                <a:xfrm>
                  <a:off x="2443263" y="2748065"/>
                  <a:ext cx="518812" cy="212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9" h="30934" extrusionOk="0">
                      <a:moveTo>
                        <a:pt x="1" y="1"/>
                      </a:moveTo>
                      <a:lnTo>
                        <a:pt x="1" y="28081"/>
                      </a:lnTo>
                      <a:lnTo>
                        <a:pt x="7549" y="30934"/>
                      </a:lnTo>
                      <a:lnTo>
                        <a:pt x="7549" y="287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Google Shape;284;p20"/>
                <p:cNvSpPr/>
                <p:nvPr/>
              </p:nvSpPr>
              <p:spPr>
                <a:xfrm>
                  <a:off x="2962006" y="2748065"/>
                  <a:ext cx="519293" cy="212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" h="30934" extrusionOk="0">
                      <a:moveTo>
                        <a:pt x="7556" y="1"/>
                      </a:moveTo>
                      <a:lnTo>
                        <a:pt x="1" y="2876"/>
                      </a:lnTo>
                      <a:lnTo>
                        <a:pt x="1" y="30934"/>
                      </a:lnTo>
                      <a:lnTo>
                        <a:pt x="7556" y="28081"/>
                      </a:lnTo>
                      <a:lnTo>
                        <a:pt x="7556" y="1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4" name="组合 3"/>
                <p:cNvGrpSpPr/>
                <p:nvPr/>
              </p:nvGrpSpPr>
              <p:grpSpPr>
                <a:xfrm>
                  <a:off x="2485042" y="2923242"/>
                  <a:ext cx="385524" cy="703219"/>
                  <a:chOff x="2485042" y="2923242"/>
                  <a:chExt cx="385524" cy="703219"/>
                </a:xfrm>
              </p:grpSpPr>
              <p:sp>
                <p:nvSpPr>
                  <p:cNvPr id="3" name="矩形 2"/>
                  <p:cNvSpPr/>
                  <p:nvPr/>
                </p:nvSpPr>
                <p:spPr>
                  <a:xfrm>
                    <a:off x="2495254" y="2923242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矩形 2"/>
                  <p:cNvSpPr/>
                  <p:nvPr/>
                </p:nvSpPr>
                <p:spPr>
                  <a:xfrm>
                    <a:off x="2491850" y="3096668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矩形 2"/>
                  <p:cNvSpPr/>
                  <p:nvPr/>
                </p:nvSpPr>
                <p:spPr>
                  <a:xfrm>
                    <a:off x="2488446" y="3270094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矩形 2"/>
                  <p:cNvSpPr/>
                  <p:nvPr/>
                </p:nvSpPr>
                <p:spPr>
                  <a:xfrm>
                    <a:off x="2485042" y="3443520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01" name="组合 100"/>
                <p:cNvGrpSpPr/>
                <p:nvPr/>
              </p:nvGrpSpPr>
              <p:grpSpPr>
                <a:xfrm flipH="1">
                  <a:off x="3044424" y="2931213"/>
                  <a:ext cx="385524" cy="703219"/>
                  <a:chOff x="2485042" y="2923242"/>
                  <a:chExt cx="385524" cy="703219"/>
                </a:xfrm>
              </p:grpSpPr>
              <p:sp>
                <p:nvSpPr>
                  <p:cNvPr id="102" name="矩形 2"/>
                  <p:cNvSpPr/>
                  <p:nvPr/>
                </p:nvSpPr>
                <p:spPr>
                  <a:xfrm>
                    <a:off x="2495254" y="2923242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矩形 2"/>
                  <p:cNvSpPr/>
                  <p:nvPr/>
                </p:nvSpPr>
                <p:spPr>
                  <a:xfrm>
                    <a:off x="2491850" y="3096668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矩形 2"/>
                  <p:cNvSpPr/>
                  <p:nvPr/>
                </p:nvSpPr>
                <p:spPr>
                  <a:xfrm>
                    <a:off x="2488446" y="3270094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矩形 2"/>
                  <p:cNvSpPr/>
                  <p:nvPr/>
                </p:nvSpPr>
                <p:spPr>
                  <a:xfrm>
                    <a:off x="2485042" y="3443520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7" name="Google Shape;282;p20"/>
                <p:cNvSpPr/>
                <p:nvPr/>
              </p:nvSpPr>
              <p:spPr>
                <a:xfrm>
                  <a:off x="2443263" y="2551996"/>
                  <a:ext cx="1038036" cy="39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04" h="5729" extrusionOk="0">
                      <a:moveTo>
                        <a:pt x="7549" y="0"/>
                      </a:moveTo>
                      <a:lnTo>
                        <a:pt x="1" y="2854"/>
                      </a:lnTo>
                      <a:lnTo>
                        <a:pt x="7549" y="5729"/>
                      </a:lnTo>
                      <a:lnTo>
                        <a:pt x="15104" y="2854"/>
                      </a:lnTo>
                      <a:lnTo>
                        <a:pt x="7549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Google Shape;285;p20"/>
                <p:cNvSpPr/>
                <p:nvPr/>
              </p:nvSpPr>
              <p:spPr>
                <a:xfrm>
                  <a:off x="2734935" y="2110310"/>
                  <a:ext cx="477233" cy="62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4" h="9099" extrusionOk="0">
                      <a:moveTo>
                        <a:pt x="3457" y="1"/>
                      </a:moveTo>
                      <a:cubicBezTo>
                        <a:pt x="1550" y="1"/>
                        <a:pt x="0" y="1544"/>
                        <a:pt x="0" y="3487"/>
                      </a:cubicBezTo>
                      <a:cubicBezTo>
                        <a:pt x="0" y="6427"/>
                        <a:pt x="3457" y="9099"/>
                        <a:pt x="3457" y="9099"/>
                      </a:cubicBezTo>
                      <a:cubicBezTo>
                        <a:pt x="3457" y="9099"/>
                        <a:pt x="6944" y="6639"/>
                        <a:pt x="6944" y="3487"/>
                      </a:cubicBezTo>
                      <a:cubicBezTo>
                        <a:pt x="6944" y="1544"/>
                        <a:pt x="5401" y="1"/>
                        <a:pt x="34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Google Shape;286;p20"/>
                <p:cNvSpPr/>
                <p:nvPr/>
              </p:nvSpPr>
              <p:spPr>
                <a:xfrm>
                  <a:off x="2770398" y="2145359"/>
                  <a:ext cx="406789" cy="406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9" h="5918" extrusionOk="0">
                      <a:moveTo>
                        <a:pt x="2971" y="0"/>
                      </a:moveTo>
                      <a:cubicBezTo>
                        <a:pt x="1333" y="0"/>
                        <a:pt x="1" y="1339"/>
                        <a:pt x="1" y="2977"/>
                      </a:cubicBezTo>
                      <a:cubicBezTo>
                        <a:pt x="1" y="4585"/>
                        <a:pt x="1333" y="5917"/>
                        <a:pt x="2971" y="5917"/>
                      </a:cubicBezTo>
                      <a:cubicBezTo>
                        <a:pt x="4579" y="5917"/>
                        <a:pt x="5918" y="4585"/>
                        <a:pt x="5918" y="2977"/>
                      </a:cubicBezTo>
                      <a:cubicBezTo>
                        <a:pt x="5918" y="1339"/>
                        <a:pt x="4579" y="0"/>
                        <a:pt x="2971" y="0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Google Shape;287;p20"/>
                <p:cNvSpPr/>
                <p:nvPr/>
              </p:nvSpPr>
              <p:spPr>
                <a:xfrm>
                  <a:off x="1361311" y="4321216"/>
                  <a:ext cx="1557260" cy="590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59" h="8589" extrusionOk="0">
                      <a:moveTo>
                        <a:pt x="11348" y="0"/>
                      </a:moveTo>
                      <a:lnTo>
                        <a:pt x="1" y="4309"/>
                      </a:lnTo>
                      <a:lnTo>
                        <a:pt x="11348" y="8589"/>
                      </a:lnTo>
                      <a:lnTo>
                        <a:pt x="22658" y="4309"/>
                      </a:lnTo>
                      <a:lnTo>
                        <a:pt x="11348" y="0"/>
                      </a:lnTo>
                      <a:close/>
                    </a:path>
                  </a:pathLst>
                </a:custGeom>
                <a:solidFill>
                  <a:srgbClr val="E4E4E4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Google Shape;288;p20"/>
                <p:cNvSpPr/>
                <p:nvPr/>
              </p:nvSpPr>
              <p:spPr>
                <a:xfrm>
                  <a:off x="1361311" y="4617278"/>
                  <a:ext cx="779901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8" h="7404" extrusionOk="0">
                      <a:moveTo>
                        <a:pt x="1" y="1"/>
                      </a:moveTo>
                      <a:lnTo>
                        <a:pt x="1" y="3123"/>
                      </a:lnTo>
                      <a:lnTo>
                        <a:pt x="11348" y="7403"/>
                      </a:lnTo>
                      <a:lnTo>
                        <a:pt x="11348" y="428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ACACA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Google Shape;289;p20"/>
                <p:cNvSpPr/>
                <p:nvPr/>
              </p:nvSpPr>
              <p:spPr>
                <a:xfrm>
                  <a:off x="2141144" y="4617278"/>
                  <a:ext cx="777427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2" h="7404" extrusionOk="0">
                      <a:moveTo>
                        <a:pt x="11311" y="1"/>
                      </a:moveTo>
                      <a:lnTo>
                        <a:pt x="1" y="4281"/>
                      </a:lnTo>
                      <a:lnTo>
                        <a:pt x="1" y="7403"/>
                      </a:lnTo>
                      <a:lnTo>
                        <a:pt x="11311" y="3123"/>
                      </a:lnTo>
                      <a:lnTo>
                        <a:pt x="11311" y="1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Google Shape;290;p20"/>
                <p:cNvSpPr/>
                <p:nvPr/>
              </p:nvSpPr>
              <p:spPr>
                <a:xfrm>
                  <a:off x="1621920" y="3927568"/>
                  <a:ext cx="1038036" cy="39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04" h="5729" extrusionOk="0">
                      <a:moveTo>
                        <a:pt x="7556" y="0"/>
                      </a:moveTo>
                      <a:lnTo>
                        <a:pt x="1" y="2882"/>
                      </a:lnTo>
                      <a:lnTo>
                        <a:pt x="7556" y="5728"/>
                      </a:lnTo>
                      <a:lnTo>
                        <a:pt x="15103" y="2882"/>
                      </a:lnTo>
                      <a:lnTo>
                        <a:pt x="7556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Google Shape;291;p20"/>
                <p:cNvSpPr/>
                <p:nvPr/>
              </p:nvSpPr>
              <p:spPr>
                <a:xfrm>
                  <a:off x="1621920" y="4125629"/>
                  <a:ext cx="519293" cy="706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" h="10278" extrusionOk="0">
                      <a:moveTo>
                        <a:pt x="1" y="0"/>
                      </a:moveTo>
                      <a:lnTo>
                        <a:pt x="1" y="7432"/>
                      </a:lnTo>
                      <a:lnTo>
                        <a:pt x="7556" y="10277"/>
                      </a:lnTo>
                      <a:lnTo>
                        <a:pt x="7556" y="281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Google Shape;292;p20"/>
                <p:cNvSpPr/>
                <p:nvPr/>
              </p:nvSpPr>
              <p:spPr>
                <a:xfrm>
                  <a:off x="2141144" y="4125629"/>
                  <a:ext cx="518812" cy="706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9" h="10278" extrusionOk="0">
                      <a:moveTo>
                        <a:pt x="7548" y="0"/>
                      </a:moveTo>
                      <a:lnTo>
                        <a:pt x="1" y="2846"/>
                      </a:lnTo>
                      <a:lnTo>
                        <a:pt x="1" y="10277"/>
                      </a:lnTo>
                      <a:lnTo>
                        <a:pt x="7548" y="7432"/>
                      </a:lnTo>
                      <a:lnTo>
                        <a:pt x="7548" y="0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Google Shape;293;p20"/>
                <p:cNvSpPr/>
                <p:nvPr/>
              </p:nvSpPr>
              <p:spPr>
                <a:xfrm>
                  <a:off x="1901565" y="3445815"/>
                  <a:ext cx="479294" cy="627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4" h="9136" extrusionOk="0">
                      <a:moveTo>
                        <a:pt x="3487" y="1"/>
                      </a:moveTo>
                      <a:cubicBezTo>
                        <a:pt x="1543" y="1"/>
                        <a:pt x="0" y="1580"/>
                        <a:pt x="0" y="3495"/>
                      </a:cubicBezTo>
                      <a:cubicBezTo>
                        <a:pt x="0" y="6464"/>
                        <a:pt x="3487" y="9135"/>
                        <a:pt x="3487" y="9135"/>
                      </a:cubicBezTo>
                      <a:cubicBezTo>
                        <a:pt x="3487" y="9135"/>
                        <a:pt x="6973" y="6675"/>
                        <a:pt x="6973" y="3495"/>
                      </a:cubicBezTo>
                      <a:cubicBezTo>
                        <a:pt x="6973" y="1580"/>
                        <a:pt x="5394" y="1"/>
                        <a:pt x="3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Google Shape;294;p20"/>
                <p:cNvSpPr/>
                <p:nvPr/>
              </p:nvSpPr>
              <p:spPr>
                <a:xfrm>
                  <a:off x="1936547" y="3483339"/>
                  <a:ext cx="406789" cy="40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9" h="5919" extrusionOk="0">
                      <a:moveTo>
                        <a:pt x="2978" y="1"/>
                      </a:moveTo>
                      <a:cubicBezTo>
                        <a:pt x="1340" y="1"/>
                        <a:pt x="1" y="1340"/>
                        <a:pt x="1" y="2949"/>
                      </a:cubicBezTo>
                      <a:cubicBezTo>
                        <a:pt x="1" y="4586"/>
                        <a:pt x="1340" y="5918"/>
                        <a:pt x="2978" y="5918"/>
                      </a:cubicBezTo>
                      <a:cubicBezTo>
                        <a:pt x="4615" y="5918"/>
                        <a:pt x="5918" y="4586"/>
                        <a:pt x="5918" y="2949"/>
                      </a:cubicBezTo>
                      <a:cubicBezTo>
                        <a:pt x="5918" y="1340"/>
                        <a:pt x="4615" y="1"/>
                        <a:pt x="2978" y="1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Google Shape;295;p20"/>
                <p:cNvSpPr/>
                <p:nvPr/>
              </p:nvSpPr>
              <p:spPr>
                <a:xfrm>
                  <a:off x="3085094" y="4321216"/>
                  <a:ext cx="1557191" cy="590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58" h="8589" extrusionOk="0">
                      <a:moveTo>
                        <a:pt x="11311" y="0"/>
                      </a:moveTo>
                      <a:lnTo>
                        <a:pt x="0" y="4309"/>
                      </a:lnTo>
                      <a:lnTo>
                        <a:pt x="11311" y="8589"/>
                      </a:lnTo>
                      <a:lnTo>
                        <a:pt x="22658" y="4309"/>
                      </a:lnTo>
                      <a:lnTo>
                        <a:pt x="11311" y="0"/>
                      </a:lnTo>
                      <a:close/>
                    </a:path>
                  </a:pathLst>
                </a:custGeom>
                <a:solidFill>
                  <a:srgbClr val="E4E4E4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Google Shape;296;p20"/>
                <p:cNvSpPr/>
                <p:nvPr/>
              </p:nvSpPr>
              <p:spPr>
                <a:xfrm>
                  <a:off x="3085094" y="4617278"/>
                  <a:ext cx="777359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1" h="7404" extrusionOk="0">
                      <a:moveTo>
                        <a:pt x="0" y="1"/>
                      </a:moveTo>
                      <a:lnTo>
                        <a:pt x="0" y="3123"/>
                      </a:lnTo>
                      <a:lnTo>
                        <a:pt x="11311" y="7403"/>
                      </a:lnTo>
                      <a:lnTo>
                        <a:pt x="11311" y="428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ACACA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Google Shape;297;p20"/>
                <p:cNvSpPr/>
                <p:nvPr/>
              </p:nvSpPr>
              <p:spPr>
                <a:xfrm>
                  <a:off x="3862384" y="4617278"/>
                  <a:ext cx="779901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8" h="7404" extrusionOk="0">
                      <a:moveTo>
                        <a:pt x="11348" y="1"/>
                      </a:moveTo>
                      <a:lnTo>
                        <a:pt x="1" y="4281"/>
                      </a:lnTo>
                      <a:lnTo>
                        <a:pt x="1" y="7403"/>
                      </a:lnTo>
                      <a:lnTo>
                        <a:pt x="11348" y="3123"/>
                      </a:lnTo>
                      <a:lnTo>
                        <a:pt x="11348" y="1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Google Shape;298;p20"/>
                <p:cNvSpPr/>
                <p:nvPr/>
              </p:nvSpPr>
              <p:spPr>
                <a:xfrm>
                  <a:off x="3345702" y="3156214"/>
                  <a:ext cx="1035974" cy="392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4" h="5707" extrusionOk="0">
                      <a:moveTo>
                        <a:pt x="7519" y="1"/>
                      </a:moveTo>
                      <a:lnTo>
                        <a:pt x="0" y="2854"/>
                      </a:lnTo>
                      <a:lnTo>
                        <a:pt x="7519" y="5707"/>
                      </a:lnTo>
                      <a:lnTo>
                        <a:pt x="15074" y="2854"/>
                      </a:lnTo>
                      <a:lnTo>
                        <a:pt x="7519" y="1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Google Shape;299;p20"/>
                <p:cNvSpPr/>
                <p:nvPr/>
              </p:nvSpPr>
              <p:spPr>
                <a:xfrm>
                  <a:off x="3345702" y="3352283"/>
                  <a:ext cx="516750" cy="147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9" h="21531" extrusionOk="0">
                      <a:moveTo>
                        <a:pt x="0" y="1"/>
                      </a:moveTo>
                      <a:lnTo>
                        <a:pt x="0" y="18685"/>
                      </a:lnTo>
                      <a:lnTo>
                        <a:pt x="7519" y="21530"/>
                      </a:lnTo>
                      <a:lnTo>
                        <a:pt x="7519" y="285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Google Shape;300;p20"/>
                <p:cNvSpPr/>
                <p:nvPr/>
              </p:nvSpPr>
              <p:spPr>
                <a:xfrm>
                  <a:off x="3862384" y="3352283"/>
                  <a:ext cx="519293" cy="147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" h="21531" extrusionOk="0">
                      <a:moveTo>
                        <a:pt x="7556" y="1"/>
                      </a:moveTo>
                      <a:lnTo>
                        <a:pt x="1" y="2854"/>
                      </a:lnTo>
                      <a:lnTo>
                        <a:pt x="1" y="21530"/>
                      </a:lnTo>
                      <a:lnTo>
                        <a:pt x="7556" y="18685"/>
                      </a:lnTo>
                      <a:lnTo>
                        <a:pt x="7556" y="1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Google Shape;301;p20"/>
                <p:cNvSpPr/>
                <p:nvPr/>
              </p:nvSpPr>
              <p:spPr>
                <a:xfrm>
                  <a:off x="3624798" y="2702020"/>
                  <a:ext cx="477782" cy="62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9099" extrusionOk="0">
                      <a:moveTo>
                        <a:pt x="3458" y="1"/>
                      </a:moveTo>
                      <a:cubicBezTo>
                        <a:pt x="1551" y="1"/>
                        <a:pt x="0" y="1580"/>
                        <a:pt x="0" y="3487"/>
                      </a:cubicBezTo>
                      <a:cubicBezTo>
                        <a:pt x="0" y="6457"/>
                        <a:pt x="3458" y="9099"/>
                        <a:pt x="3458" y="9099"/>
                      </a:cubicBezTo>
                      <a:cubicBezTo>
                        <a:pt x="3458" y="9099"/>
                        <a:pt x="6951" y="6675"/>
                        <a:pt x="6951" y="3487"/>
                      </a:cubicBezTo>
                      <a:cubicBezTo>
                        <a:pt x="6951" y="1580"/>
                        <a:pt x="5401" y="1"/>
                        <a:pt x="345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Google Shape;302;p20"/>
                <p:cNvSpPr/>
                <p:nvPr/>
              </p:nvSpPr>
              <p:spPr>
                <a:xfrm>
                  <a:off x="3660329" y="2737550"/>
                  <a:ext cx="406720" cy="408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8" h="5940" extrusionOk="0">
                      <a:moveTo>
                        <a:pt x="2941" y="1"/>
                      </a:moveTo>
                      <a:cubicBezTo>
                        <a:pt x="1339" y="1"/>
                        <a:pt x="0" y="1333"/>
                        <a:pt x="0" y="2970"/>
                      </a:cubicBezTo>
                      <a:cubicBezTo>
                        <a:pt x="0" y="4608"/>
                        <a:pt x="1339" y="5940"/>
                        <a:pt x="2941" y="5940"/>
                      </a:cubicBezTo>
                      <a:cubicBezTo>
                        <a:pt x="4578" y="5940"/>
                        <a:pt x="5918" y="4608"/>
                        <a:pt x="5918" y="2970"/>
                      </a:cubicBezTo>
                      <a:cubicBezTo>
                        <a:pt x="5918" y="1333"/>
                        <a:pt x="4578" y="1"/>
                        <a:pt x="2941" y="1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Google Shape;303;p20"/>
                <p:cNvSpPr/>
                <p:nvPr/>
              </p:nvSpPr>
              <p:spPr>
                <a:xfrm>
                  <a:off x="2220178" y="4667308"/>
                  <a:ext cx="1557260" cy="58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59" h="8582" extrusionOk="0">
                      <a:moveTo>
                        <a:pt x="11340" y="1"/>
                      </a:moveTo>
                      <a:lnTo>
                        <a:pt x="1" y="4310"/>
                      </a:lnTo>
                      <a:lnTo>
                        <a:pt x="11340" y="8582"/>
                      </a:lnTo>
                      <a:lnTo>
                        <a:pt x="22658" y="4310"/>
                      </a:lnTo>
                      <a:lnTo>
                        <a:pt x="11340" y="1"/>
                      </a:lnTo>
                      <a:close/>
                    </a:path>
                  </a:pathLst>
                </a:custGeom>
                <a:solidFill>
                  <a:srgbClr val="E4E4E4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Google Shape;304;p20"/>
                <p:cNvSpPr/>
                <p:nvPr/>
              </p:nvSpPr>
              <p:spPr>
                <a:xfrm>
                  <a:off x="2220178" y="4963438"/>
                  <a:ext cx="779420" cy="508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1" h="7396" extrusionOk="0">
                      <a:moveTo>
                        <a:pt x="1" y="1"/>
                      </a:moveTo>
                      <a:lnTo>
                        <a:pt x="1" y="3123"/>
                      </a:lnTo>
                      <a:lnTo>
                        <a:pt x="11340" y="7395"/>
                      </a:lnTo>
                      <a:lnTo>
                        <a:pt x="11340" y="4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ACACA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Google Shape;305;p20"/>
                <p:cNvSpPr/>
                <p:nvPr/>
              </p:nvSpPr>
              <p:spPr>
                <a:xfrm>
                  <a:off x="2999530" y="4963438"/>
                  <a:ext cx="777908" cy="508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9" h="7396" extrusionOk="0">
                      <a:moveTo>
                        <a:pt x="11318" y="1"/>
                      </a:moveTo>
                      <a:lnTo>
                        <a:pt x="0" y="4273"/>
                      </a:lnTo>
                      <a:lnTo>
                        <a:pt x="0" y="7395"/>
                      </a:lnTo>
                      <a:lnTo>
                        <a:pt x="11318" y="3123"/>
                      </a:lnTo>
                      <a:lnTo>
                        <a:pt x="11318" y="1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Google Shape;306;p20"/>
                <p:cNvSpPr/>
                <p:nvPr/>
              </p:nvSpPr>
              <p:spPr>
                <a:xfrm>
                  <a:off x="2480787" y="3760982"/>
                  <a:ext cx="1036043" cy="391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5" h="5700" extrusionOk="0">
                      <a:moveTo>
                        <a:pt x="7548" y="0"/>
                      </a:moveTo>
                      <a:lnTo>
                        <a:pt x="1" y="2846"/>
                      </a:lnTo>
                      <a:lnTo>
                        <a:pt x="7548" y="5699"/>
                      </a:lnTo>
                      <a:lnTo>
                        <a:pt x="15074" y="2846"/>
                      </a:lnTo>
                      <a:lnTo>
                        <a:pt x="7548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Google Shape;307;p20"/>
                <p:cNvSpPr/>
                <p:nvPr/>
              </p:nvSpPr>
              <p:spPr>
                <a:xfrm>
                  <a:off x="2480787" y="3956569"/>
                  <a:ext cx="518812" cy="1221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9" h="17774" extrusionOk="0">
                      <a:moveTo>
                        <a:pt x="1" y="0"/>
                      </a:moveTo>
                      <a:lnTo>
                        <a:pt x="1" y="14921"/>
                      </a:lnTo>
                      <a:lnTo>
                        <a:pt x="7548" y="17774"/>
                      </a:lnTo>
                      <a:lnTo>
                        <a:pt x="7548" y="28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Google Shape;308;p20"/>
                <p:cNvSpPr/>
                <p:nvPr/>
              </p:nvSpPr>
              <p:spPr>
                <a:xfrm>
                  <a:off x="2999530" y="3956569"/>
                  <a:ext cx="517300" cy="1221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7" h="17774" extrusionOk="0">
                      <a:moveTo>
                        <a:pt x="7526" y="0"/>
                      </a:moveTo>
                      <a:lnTo>
                        <a:pt x="0" y="2853"/>
                      </a:lnTo>
                      <a:lnTo>
                        <a:pt x="0" y="17774"/>
                      </a:lnTo>
                      <a:lnTo>
                        <a:pt x="7526" y="14921"/>
                      </a:lnTo>
                      <a:lnTo>
                        <a:pt x="7526" y="0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Google Shape;309;p20"/>
                <p:cNvSpPr/>
                <p:nvPr/>
              </p:nvSpPr>
              <p:spPr>
                <a:xfrm>
                  <a:off x="2759952" y="3354276"/>
                  <a:ext cx="477233" cy="62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4" h="9099" extrusionOk="0">
                      <a:moveTo>
                        <a:pt x="3486" y="1"/>
                      </a:moveTo>
                      <a:cubicBezTo>
                        <a:pt x="1550" y="1"/>
                        <a:pt x="0" y="1551"/>
                        <a:pt x="0" y="3487"/>
                      </a:cubicBezTo>
                      <a:cubicBezTo>
                        <a:pt x="0" y="6428"/>
                        <a:pt x="3486" y="9099"/>
                        <a:pt x="3486" y="9099"/>
                      </a:cubicBezTo>
                      <a:cubicBezTo>
                        <a:pt x="3486" y="9099"/>
                        <a:pt x="6944" y="6646"/>
                        <a:pt x="6944" y="3487"/>
                      </a:cubicBezTo>
                      <a:cubicBezTo>
                        <a:pt x="6944" y="1551"/>
                        <a:pt x="5401" y="1"/>
                        <a:pt x="34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Google Shape;310;p20"/>
                <p:cNvSpPr/>
                <p:nvPr/>
              </p:nvSpPr>
              <p:spPr>
                <a:xfrm>
                  <a:off x="2795414" y="3389806"/>
                  <a:ext cx="406789" cy="40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9" h="5911" extrusionOk="0">
                      <a:moveTo>
                        <a:pt x="2970" y="1"/>
                      </a:moveTo>
                      <a:cubicBezTo>
                        <a:pt x="1333" y="1"/>
                        <a:pt x="1" y="1333"/>
                        <a:pt x="1" y="2970"/>
                      </a:cubicBezTo>
                      <a:cubicBezTo>
                        <a:pt x="1" y="4608"/>
                        <a:pt x="1333" y="5911"/>
                        <a:pt x="2970" y="5911"/>
                      </a:cubicBezTo>
                      <a:cubicBezTo>
                        <a:pt x="4579" y="5911"/>
                        <a:pt x="5918" y="4608"/>
                        <a:pt x="5918" y="2970"/>
                      </a:cubicBezTo>
                      <a:cubicBezTo>
                        <a:pt x="5918" y="1333"/>
                        <a:pt x="4579" y="1"/>
                        <a:pt x="2970" y="1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08" name="Google Shape;1002;p32"/>
              <p:cNvGrpSpPr/>
              <p:nvPr/>
            </p:nvGrpSpPr>
            <p:grpSpPr>
              <a:xfrm>
                <a:off x="2765923" y="2184942"/>
                <a:ext cx="186656" cy="218219"/>
                <a:chOff x="-48237000" y="2342650"/>
                <a:chExt cx="256800" cy="300225"/>
              </a:xfrm>
              <a:solidFill>
                <a:schemeClr val="bg1"/>
              </a:solidFill>
            </p:grpSpPr>
            <p:sp>
              <p:nvSpPr>
                <p:cNvPr id="109" name="Google Shape;1003;p32"/>
                <p:cNvSpPr/>
                <p:nvPr/>
              </p:nvSpPr>
              <p:spPr>
                <a:xfrm>
                  <a:off x="-48237000" y="2342650"/>
                  <a:ext cx="256800" cy="3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2" h="12009" extrusionOk="0">
                      <a:moveTo>
                        <a:pt x="4507" y="679"/>
                      </a:moveTo>
                      <a:cubicBezTo>
                        <a:pt x="4774" y="679"/>
                        <a:pt x="5048" y="706"/>
                        <a:pt x="5325" y="762"/>
                      </a:cubicBezTo>
                      <a:cubicBezTo>
                        <a:pt x="6774" y="1077"/>
                        <a:pt x="7940" y="2274"/>
                        <a:pt x="8255" y="3723"/>
                      </a:cubicBezTo>
                      <a:cubicBezTo>
                        <a:pt x="8381" y="4227"/>
                        <a:pt x="8381" y="4763"/>
                        <a:pt x="8318" y="5267"/>
                      </a:cubicBezTo>
                      <a:cubicBezTo>
                        <a:pt x="8318" y="5330"/>
                        <a:pt x="8318" y="5424"/>
                        <a:pt x="8350" y="5487"/>
                      </a:cubicBezTo>
                      <a:lnTo>
                        <a:pt x="9263" y="7220"/>
                      </a:lnTo>
                      <a:cubicBezTo>
                        <a:pt x="9389" y="7441"/>
                        <a:pt x="9232" y="7756"/>
                        <a:pt x="8980" y="7756"/>
                      </a:cubicBezTo>
                      <a:lnTo>
                        <a:pt x="8034" y="7756"/>
                      </a:lnTo>
                      <a:cubicBezTo>
                        <a:pt x="7845" y="7756"/>
                        <a:pt x="7688" y="7913"/>
                        <a:pt x="7688" y="8102"/>
                      </a:cubicBezTo>
                      <a:lnTo>
                        <a:pt x="7688" y="9867"/>
                      </a:lnTo>
                      <a:lnTo>
                        <a:pt x="5892" y="9867"/>
                      </a:lnTo>
                      <a:cubicBezTo>
                        <a:pt x="5703" y="9867"/>
                        <a:pt x="5546" y="10024"/>
                        <a:pt x="5546" y="10213"/>
                      </a:cubicBezTo>
                      <a:lnTo>
                        <a:pt x="5546" y="11284"/>
                      </a:lnTo>
                      <a:lnTo>
                        <a:pt x="2049" y="11284"/>
                      </a:lnTo>
                      <a:lnTo>
                        <a:pt x="2049" y="7693"/>
                      </a:lnTo>
                      <a:cubicBezTo>
                        <a:pt x="2049" y="7598"/>
                        <a:pt x="2017" y="7504"/>
                        <a:pt x="1923" y="7441"/>
                      </a:cubicBezTo>
                      <a:cubicBezTo>
                        <a:pt x="1103" y="6685"/>
                        <a:pt x="631" y="5645"/>
                        <a:pt x="631" y="4542"/>
                      </a:cubicBezTo>
                      <a:cubicBezTo>
                        <a:pt x="631" y="2387"/>
                        <a:pt x="2372" y="679"/>
                        <a:pt x="4507" y="679"/>
                      </a:cubicBezTo>
                      <a:close/>
                      <a:moveTo>
                        <a:pt x="4570" y="0"/>
                      </a:moveTo>
                      <a:cubicBezTo>
                        <a:pt x="2059" y="0"/>
                        <a:pt x="1" y="1999"/>
                        <a:pt x="1" y="4542"/>
                      </a:cubicBezTo>
                      <a:cubicBezTo>
                        <a:pt x="1" y="5802"/>
                        <a:pt x="505" y="7000"/>
                        <a:pt x="1418" y="7850"/>
                      </a:cubicBezTo>
                      <a:lnTo>
                        <a:pt x="1418" y="11631"/>
                      </a:lnTo>
                      <a:cubicBezTo>
                        <a:pt x="1418" y="11851"/>
                        <a:pt x="1576" y="12009"/>
                        <a:pt x="1765" y="12009"/>
                      </a:cubicBezTo>
                      <a:lnTo>
                        <a:pt x="5987" y="12009"/>
                      </a:lnTo>
                      <a:cubicBezTo>
                        <a:pt x="6176" y="12009"/>
                        <a:pt x="6333" y="11851"/>
                        <a:pt x="6333" y="11631"/>
                      </a:cubicBezTo>
                      <a:lnTo>
                        <a:pt x="6333" y="10591"/>
                      </a:lnTo>
                      <a:lnTo>
                        <a:pt x="8097" y="10591"/>
                      </a:lnTo>
                      <a:cubicBezTo>
                        <a:pt x="8287" y="10591"/>
                        <a:pt x="8444" y="10434"/>
                        <a:pt x="8444" y="10213"/>
                      </a:cubicBezTo>
                      <a:lnTo>
                        <a:pt x="8444" y="8449"/>
                      </a:lnTo>
                      <a:lnTo>
                        <a:pt x="9043" y="8449"/>
                      </a:lnTo>
                      <a:cubicBezTo>
                        <a:pt x="9799" y="8417"/>
                        <a:pt x="10271" y="7598"/>
                        <a:pt x="9925" y="6874"/>
                      </a:cubicBezTo>
                      <a:lnTo>
                        <a:pt x="9043" y="5267"/>
                      </a:lnTo>
                      <a:cubicBezTo>
                        <a:pt x="9137" y="4700"/>
                        <a:pt x="9137" y="4164"/>
                        <a:pt x="9011" y="3597"/>
                      </a:cubicBezTo>
                      <a:cubicBezTo>
                        <a:pt x="8665" y="1864"/>
                        <a:pt x="7247" y="510"/>
                        <a:pt x="5546" y="100"/>
                      </a:cubicBezTo>
                      <a:cubicBezTo>
                        <a:pt x="5215" y="33"/>
                        <a:pt x="4889" y="0"/>
                        <a:pt x="45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Google Shape;1004;p32"/>
                <p:cNvSpPr/>
                <p:nvPr/>
              </p:nvSpPr>
              <p:spPr>
                <a:xfrm>
                  <a:off x="-48195250" y="2377425"/>
                  <a:ext cx="1441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6" h="5609" extrusionOk="0">
                      <a:moveTo>
                        <a:pt x="3214" y="757"/>
                      </a:moveTo>
                      <a:lnTo>
                        <a:pt x="3214" y="883"/>
                      </a:lnTo>
                      <a:cubicBezTo>
                        <a:pt x="3214" y="1040"/>
                        <a:pt x="3277" y="1135"/>
                        <a:pt x="3435" y="1198"/>
                      </a:cubicBezTo>
                      <a:cubicBezTo>
                        <a:pt x="3624" y="1261"/>
                        <a:pt x="3844" y="1387"/>
                        <a:pt x="4002" y="1513"/>
                      </a:cubicBezTo>
                      <a:cubicBezTo>
                        <a:pt x="4061" y="1553"/>
                        <a:pt x="4146" y="1593"/>
                        <a:pt x="4233" y="1593"/>
                      </a:cubicBezTo>
                      <a:cubicBezTo>
                        <a:pt x="4283" y="1593"/>
                        <a:pt x="4333" y="1579"/>
                        <a:pt x="4380" y="1545"/>
                      </a:cubicBezTo>
                      <a:lnTo>
                        <a:pt x="4506" y="1482"/>
                      </a:lnTo>
                      <a:lnTo>
                        <a:pt x="4852" y="2049"/>
                      </a:lnTo>
                      <a:lnTo>
                        <a:pt x="4726" y="2143"/>
                      </a:lnTo>
                      <a:cubicBezTo>
                        <a:pt x="4632" y="2206"/>
                        <a:pt x="4537" y="2364"/>
                        <a:pt x="4569" y="2490"/>
                      </a:cubicBezTo>
                      <a:cubicBezTo>
                        <a:pt x="4632" y="2710"/>
                        <a:pt x="4632" y="2899"/>
                        <a:pt x="4569" y="3120"/>
                      </a:cubicBezTo>
                      <a:cubicBezTo>
                        <a:pt x="4537" y="3277"/>
                        <a:pt x="4632" y="3403"/>
                        <a:pt x="4726" y="3466"/>
                      </a:cubicBezTo>
                      <a:lnTo>
                        <a:pt x="4852" y="3561"/>
                      </a:lnTo>
                      <a:lnTo>
                        <a:pt x="4506" y="4159"/>
                      </a:lnTo>
                      <a:lnTo>
                        <a:pt x="4380" y="4065"/>
                      </a:lnTo>
                      <a:cubicBezTo>
                        <a:pt x="4323" y="4037"/>
                        <a:pt x="4260" y="4021"/>
                        <a:pt x="4199" y="4021"/>
                      </a:cubicBezTo>
                      <a:cubicBezTo>
                        <a:pt x="4125" y="4021"/>
                        <a:pt x="4054" y="4044"/>
                        <a:pt x="4002" y="4096"/>
                      </a:cubicBezTo>
                      <a:cubicBezTo>
                        <a:pt x="3844" y="4254"/>
                        <a:pt x="3624" y="4348"/>
                        <a:pt x="3435" y="4411"/>
                      </a:cubicBezTo>
                      <a:cubicBezTo>
                        <a:pt x="3277" y="4475"/>
                        <a:pt x="3214" y="4632"/>
                        <a:pt x="3214" y="4727"/>
                      </a:cubicBezTo>
                      <a:lnTo>
                        <a:pt x="3214" y="4853"/>
                      </a:lnTo>
                      <a:lnTo>
                        <a:pt x="2489" y="4853"/>
                      </a:lnTo>
                      <a:lnTo>
                        <a:pt x="2489" y="4727"/>
                      </a:lnTo>
                      <a:cubicBezTo>
                        <a:pt x="2489" y="4569"/>
                        <a:pt x="2426" y="4475"/>
                        <a:pt x="2269" y="4411"/>
                      </a:cubicBezTo>
                      <a:cubicBezTo>
                        <a:pt x="2048" y="4348"/>
                        <a:pt x="1859" y="4222"/>
                        <a:pt x="1702" y="4096"/>
                      </a:cubicBezTo>
                      <a:cubicBezTo>
                        <a:pt x="1622" y="4057"/>
                        <a:pt x="1530" y="4017"/>
                        <a:pt x="1449" y="4017"/>
                      </a:cubicBezTo>
                      <a:cubicBezTo>
                        <a:pt x="1402" y="4017"/>
                        <a:pt x="1358" y="4030"/>
                        <a:pt x="1324" y="4065"/>
                      </a:cubicBezTo>
                      <a:lnTo>
                        <a:pt x="1198" y="4159"/>
                      </a:lnTo>
                      <a:lnTo>
                        <a:pt x="851" y="3561"/>
                      </a:lnTo>
                      <a:lnTo>
                        <a:pt x="946" y="3466"/>
                      </a:lnTo>
                      <a:cubicBezTo>
                        <a:pt x="1072" y="3403"/>
                        <a:pt x="1166" y="3246"/>
                        <a:pt x="1103" y="3120"/>
                      </a:cubicBezTo>
                      <a:cubicBezTo>
                        <a:pt x="1072" y="2899"/>
                        <a:pt x="1072" y="2710"/>
                        <a:pt x="1103" y="2490"/>
                      </a:cubicBezTo>
                      <a:cubicBezTo>
                        <a:pt x="1166" y="2332"/>
                        <a:pt x="1072" y="2206"/>
                        <a:pt x="946" y="2143"/>
                      </a:cubicBezTo>
                      <a:lnTo>
                        <a:pt x="851" y="2049"/>
                      </a:lnTo>
                      <a:lnTo>
                        <a:pt x="1198" y="1482"/>
                      </a:lnTo>
                      <a:lnTo>
                        <a:pt x="1324" y="1545"/>
                      </a:lnTo>
                      <a:cubicBezTo>
                        <a:pt x="1366" y="1573"/>
                        <a:pt x="1421" y="1588"/>
                        <a:pt x="1481" y="1588"/>
                      </a:cubicBezTo>
                      <a:cubicBezTo>
                        <a:pt x="1553" y="1588"/>
                        <a:pt x="1632" y="1565"/>
                        <a:pt x="1702" y="1513"/>
                      </a:cubicBezTo>
                      <a:cubicBezTo>
                        <a:pt x="1859" y="1356"/>
                        <a:pt x="2048" y="1261"/>
                        <a:pt x="2269" y="1198"/>
                      </a:cubicBezTo>
                      <a:cubicBezTo>
                        <a:pt x="2426" y="1135"/>
                        <a:pt x="2489" y="977"/>
                        <a:pt x="2489" y="883"/>
                      </a:cubicBezTo>
                      <a:lnTo>
                        <a:pt x="2489" y="757"/>
                      </a:lnTo>
                      <a:close/>
                      <a:moveTo>
                        <a:pt x="2174" y="1"/>
                      </a:moveTo>
                      <a:cubicBezTo>
                        <a:pt x="1985" y="1"/>
                        <a:pt x="1828" y="158"/>
                        <a:pt x="1828" y="379"/>
                      </a:cubicBezTo>
                      <a:lnTo>
                        <a:pt x="1828" y="599"/>
                      </a:lnTo>
                      <a:cubicBezTo>
                        <a:pt x="1702" y="631"/>
                        <a:pt x="1576" y="725"/>
                        <a:pt x="1513" y="788"/>
                      </a:cubicBezTo>
                      <a:lnTo>
                        <a:pt x="1324" y="694"/>
                      </a:lnTo>
                      <a:cubicBezTo>
                        <a:pt x="1265" y="658"/>
                        <a:pt x="1192" y="641"/>
                        <a:pt x="1122" y="641"/>
                      </a:cubicBezTo>
                      <a:cubicBezTo>
                        <a:pt x="1004" y="641"/>
                        <a:pt x="890" y="690"/>
                        <a:pt x="851" y="788"/>
                      </a:cubicBezTo>
                      <a:lnTo>
                        <a:pt x="126" y="2017"/>
                      </a:lnTo>
                      <a:cubicBezTo>
                        <a:pt x="63" y="2175"/>
                        <a:pt x="95" y="2427"/>
                        <a:pt x="253" y="2490"/>
                      </a:cubicBezTo>
                      <a:lnTo>
                        <a:pt x="442" y="2616"/>
                      </a:lnTo>
                      <a:lnTo>
                        <a:pt x="442" y="2994"/>
                      </a:lnTo>
                      <a:lnTo>
                        <a:pt x="253" y="3120"/>
                      </a:lnTo>
                      <a:cubicBezTo>
                        <a:pt x="95" y="3214"/>
                        <a:pt x="0" y="3435"/>
                        <a:pt x="126" y="3592"/>
                      </a:cubicBezTo>
                      <a:lnTo>
                        <a:pt x="851" y="4821"/>
                      </a:lnTo>
                      <a:cubicBezTo>
                        <a:pt x="894" y="4928"/>
                        <a:pt x="1024" y="4991"/>
                        <a:pt x="1152" y="4991"/>
                      </a:cubicBezTo>
                      <a:cubicBezTo>
                        <a:pt x="1213" y="4991"/>
                        <a:pt x="1273" y="4977"/>
                        <a:pt x="1324" y="4947"/>
                      </a:cubicBezTo>
                      <a:lnTo>
                        <a:pt x="1513" y="4821"/>
                      </a:lnTo>
                      <a:cubicBezTo>
                        <a:pt x="1639" y="4884"/>
                        <a:pt x="1733" y="4979"/>
                        <a:pt x="1828" y="5010"/>
                      </a:cubicBezTo>
                      <a:lnTo>
                        <a:pt x="1828" y="5262"/>
                      </a:lnTo>
                      <a:cubicBezTo>
                        <a:pt x="1828" y="5451"/>
                        <a:pt x="1985" y="5609"/>
                        <a:pt x="2174" y="5609"/>
                      </a:cubicBezTo>
                      <a:lnTo>
                        <a:pt x="3592" y="5609"/>
                      </a:lnTo>
                      <a:cubicBezTo>
                        <a:pt x="3781" y="5609"/>
                        <a:pt x="3939" y="5451"/>
                        <a:pt x="3939" y="5262"/>
                      </a:cubicBezTo>
                      <a:lnTo>
                        <a:pt x="3939" y="5010"/>
                      </a:lnTo>
                      <a:cubicBezTo>
                        <a:pt x="4065" y="4979"/>
                        <a:pt x="4191" y="4884"/>
                        <a:pt x="4254" y="4821"/>
                      </a:cubicBezTo>
                      <a:lnTo>
                        <a:pt x="4474" y="4947"/>
                      </a:lnTo>
                      <a:cubicBezTo>
                        <a:pt x="4524" y="4967"/>
                        <a:pt x="4580" y="4978"/>
                        <a:pt x="4637" y="4978"/>
                      </a:cubicBezTo>
                      <a:cubicBezTo>
                        <a:pt x="4759" y="4978"/>
                        <a:pt x="4882" y="4929"/>
                        <a:pt x="4947" y="4821"/>
                      </a:cubicBezTo>
                      <a:lnTo>
                        <a:pt x="5640" y="3592"/>
                      </a:lnTo>
                      <a:cubicBezTo>
                        <a:pt x="5734" y="3435"/>
                        <a:pt x="5671" y="3214"/>
                        <a:pt x="5514" y="3120"/>
                      </a:cubicBezTo>
                      <a:lnTo>
                        <a:pt x="5325" y="2994"/>
                      </a:lnTo>
                      <a:lnTo>
                        <a:pt x="5325" y="2616"/>
                      </a:lnTo>
                      <a:lnTo>
                        <a:pt x="5514" y="2490"/>
                      </a:lnTo>
                      <a:cubicBezTo>
                        <a:pt x="5671" y="2427"/>
                        <a:pt x="5766" y="2206"/>
                        <a:pt x="5640" y="2017"/>
                      </a:cubicBezTo>
                      <a:lnTo>
                        <a:pt x="4947" y="788"/>
                      </a:lnTo>
                      <a:cubicBezTo>
                        <a:pt x="4887" y="689"/>
                        <a:pt x="4777" y="627"/>
                        <a:pt x="4664" y="627"/>
                      </a:cubicBezTo>
                      <a:cubicBezTo>
                        <a:pt x="4598" y="627"/>
                        <a:pt x="4532" y="648"/>
                        <a:pt x="4474" y="694"/>
                      </a:cubicBezTo>
                      <a:lnTo>
                        <a:pt x="4254" y="788"/>
                      </a:lnTo>
                      <a:cubicBezTo>
                        <a:pt x="4159" y="725"/>
                        <a:pt x="4033" y="631"/>
                        <a:pt x="3939" y="599"/>
                      </a:cubicBezTo>
                      <a:lnTo>
                        <a:pt x="3939" y="379"/>
                      </a:lnTo>
                      <a:cubicBezTo>
                        <a:pt x="3939" y="158"/>
                        <a:pt x="3781" y="1"/>
                        <a:pt x="35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Google Shape;1005;p32"/>
                <p:cNvSpPr/>
                <p:nvPr/>
              </p:nvSpPr>
              <p:spPr>
                <a:xfrm>
                  <a:off x="-48150350" y="2422325"/>
                  <a:ext cx="527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2112" extrusionOk="0">
                      <a:moveTo>
                        <a:pt x="1040" y="662"/>
                      </a:moveTo>
                      <a:cubicBezTo>
                        <a:pt x="1260" y="662"/>
                        <a:pt x="1418" y="820"/>
                        <a:pt x="1418" y="1009"/>
                      </a:cubicBezTo>
                      <a:cubicBezTo>
                        <a:pt x="1418" y="1198"/>
                        <a:pt x="1260" y="1355"/>
                        <a:pt x="1040" y="1355"/>
                      </a:cubicBezTo>
                      <a:cubicBezTo>
                        <a:pt x="851" y="1355"/>
                        <a:pt x="693" y="1198"/>
                        <a:pt x="693" y="1009"/>
                      </a:cubicBezTo>
                      <a:cubicBezTo>
                        <a:pt x="693" y="820"/>
                        <a:pt x="851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639"/>
                        <a:pt x="473" y="2111"/>
                        <a:pt x="1040" y="2111"/>
                      </a:cubicBezTo>
                      <a:cubicBezTo>
                        <a:pt x="1639" y="2111"/>
                        <a:pt x="2111" y="1639"/>
                        <a:pt x="2111" y="1040"/>
                      </a:cubicBezTo>
                      <a:cubicBezTo>
                        <a:pt x="2111" y="473"/>
                        <a:pt x="163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4" name="Google Shape;973;p32"/>
              <p:cNvSpPr/>
              <p:nvPr/>
            </p:nvSpPr>
            <p:spPr>
              <a:xfrm>
                <a:off x="3671824" y="2798799"/>
                <a:ext cx="213918" cy="212805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17" name="Google Shape;1014;p32"/>
              <p:cNvGrpSpPr/>
              <p:nvPr/>
            </p:nvGrpSpPr>
            <p:grpSpPr>
              <a:xfrm>
                <a:off x="1928265" y="3536562"/>
                <a:ext cx="210156" cy="210714"/>
                <a:chOff x="-1700225" y="2768875"/>
                <a:chExt cx="291450" cy="292225"/>
              </a:xfrm>
              <a:solidFill>
                <a:schemeClr val="bg1"/>
              </a:solidFill>
            </p:grpSpPr>
            <p:sp>
              <p:nvSpPr>
                <p:cNvPr id="118" name="Google Shape;1015;p32"/>
                <p:cNvSpPr/>
                <p:nvPr/>
              </p:nvSpPr>
              <p:spPr>
                <a:xfrm>
                  <a:off x="-170022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17" y="662"/>
                      </a:moveTo>
                      <a:cubicBezTo>
                        <a:pt x="10806" y="662"/>
                        <a:pt x="10964" y="820"/>
                        <a:pt x="10964" y="1009"/>
                      </a:cubicBezTo>
                      <a:lnTo>
                        <a:pt x="10964" y="2710"/>
                      </a:lnTo>
                      <a:lnTo>
                        <a:pt x="662" y="2710"/>
                      </a:ln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933" y="3372"/>
                      </a:moveTo>
                      <a:lnTo>
                        <a:pt x="10933" y="9232"/>
                      </a:lnTo>
                      <a:cubicBezTo>
                        <a:pt x="10964" y="9484"/>
                        <a:pt x="10806" y="9610"/>
                        <a:pt x="10617" y="9610"/>
                      </a:cubicBezTo>
                      <a:lnTo>
                        <a:pt x="8916" y="9610"/>
                      </a:lnTo>
                      <a:lnTo>
                        <a:pt x="8570" y="9232"/>
                      </a:lnTo>
                      <a:cubicBezTo>
                        <a:pt x="8601" y="9169"/>
                        <a:pt x="8664" y="9043"/>
                        <a:pt x="8696" y="8917"/>
                      </a:cubicBezTo>
                      <a:lnTo>
                        <a:pt x="9200" y="8917"/>
                      </a:lnTo>
                      <a:cubicBezTo>
                        <a:pt x="9389" y="8917"/>
                        <a:pt x="9546" y="8759"/>
                        <a:pt x="9546" y="8570"/>
                      </a:cubicBezTo>
                      <a:lnTo>
                        <a:pt x="9546" y="7184"/>
                      </a:lnTo>
                      <a:cubicBezTo>
                        <a:pt x="9546" y="6995"/>
                        <a:pt x="9389" y="6837"/>
                        <a:pt x="9200" y="6837"/>
                      </a:cubicBezTo>
                      <a:lnTo>
                        <a:pt x="8696" y="6837"/>
                      </a:lnTo>
                      <a:cubicBezTo>
                        <a:pt x="8664" y="6711"/>
                        <a:pt x="8601" y="6648"/>
                        <a:pt x="8570" y="6522"/>
                      </a:cubicBezTo>
                      <a:lnTo>
                        <a:pt x="8916" y="6176"/>
                      </a:lnTo>
                      <a:cubicBezTo>
                        <a:pt x="9042" y="6050"/>
                        <a:pt x="9042" y="5798"/>
                        <a:pt x="8916" y="5703"/>
                      </a:cubicBezTo>
                      <a:lnTo>
                        <a:pt x="7940" y="4695"/>
                      </a:lnTo>
                      <a:cubicBezTo>
                        <a:pt x="7877" y="4648"/>
                        <a:pt x="7790" y="4624"/>
                        <a:pt x="7703" y="4624"/>
                      </a:cubicBezTo>
                      <a:cubicBezTo>
                        <a:pt x="7617" y="4624"/>
                        <a:pt x="7530" y="4648"/>
                        <a:pt x="7467" y="4695"/>
                      </a:cubicBezTo>
                      <a:lnTo>
                        <a:pt x="7120" y="5073"/>
                      </a:lnTo>
                      <a:cubicBezTo>
                        <a:pt x="7026" y="5041"/>
                        <a:pt x="6931" y="4978"/>
                        <a:pt x="6805" y="4947"/>
                      </a:cubicBezTo>
                      <a:lnTo>
                        <a:pt x="6805" y="4443"/>
                      </a:lnTo>
                      <a:cubicBezTo>
                        <a:pt x="6805" y="4222"/>
                        <a:pt x="6648" y="4065"/>
                        <a:pt x="6459" y="4065"/>
                      </a:cubicBezTo>
                      <a:lnTo>
                        <a:pt x="5073" y="4065"/>
                      </a:lnTo>
                      <a:cubicBezTo>
                        <a:pt x="4884" y="4065"/>
                        <a:pt x="4726" y="4222"/>
                        <a:pt x="4726" y="4443"/>
                      </a:cubicBezTo>
                      <a:lnTo>
                        <a:pt x="4726" y="4947"/>
                      </a:lnTo>
                      <a:cubicBezTo>
                        <a:pt x="4600" y="4978"/>
                        <a:pt x="4506" y="5010"/>
                        <a:pt x="4411" y="5073"/>
                      </a:cubicBezTo>
                      <a:lnTo>
                        <a:pt x="4033" y="4695"/>
                      </a:lnTo>
                      <a:cubicBezTo>
                        <a:pt x="3986" y="4648"/>
                        <a:pt x="3899" y="4624"/>
                        <a:pt x="3808" y="4624"/>
                      </a:cubicBezTo>
                      <a:cubicBezTo>
                        <a:pt x="3718" y="4624"/>
                        <a:pt x="3623" y="4648"/>
                        <a:pt x="3560" y="4695"/>
                      </a:cubicBezTo>
                      <a:lnTo>
                        <a:pt x="2584" y="5703"/>
                      </a:lnTo>
                      <a:cubicBezTo>
                        <a:pt x="2458" y="5829"/>
                        <a:pt x="2458" y="6050"/>
                        <a:pt x="2584" y="6176"/>
                      </a:cubicBezTo>
                      <a:lnTo>
                        <a:pt x="2930" y="6522"/>
                      </a:lnTo>
                      <a:cubicBezTo>
                        <a:pt x="2899" y="6585"/>
                        <a:pt x="2867" y="6711"/>
                        <a:pt x="2836" y="6837"/>
                      </a:cubicBezTo>
                      <a:lnTo>
                        <a:pt x="2300" y="6837"/>
                      </a:lnTo>
                      <a:cubicBezTo>
                        <a:pt x="2111" y="6837"/>
                        <a:pt x="1954" y="6995"/>
                        <a:pt x="1954" y="7184"/>
                      </a:cubicBezTo>
                      <a:lnTo>
                        <a:pt x="1954" y="8570"/>
                      </a:lnTo>
                      <a:cubicBezTo>
                        <a:pt x="1954" y="8759"/>
                        <a:pt x="2111" y="8917"/>
                        <a:pt x="2300" y="8917"/>
                      </a:cubicBezTo>
                      <a:lnTo>
                        <a:pt x="2836" y="8917"/>
                      </a:lnTo>
                      <a:cubicBezTo>
                        <a:pt x="2867" y="9043"/>
                        <a:pt x="2899" y="9137"/>
                        <a:pt x="2930" y="9232"/>
                      </a:cubicBezTo>
                      <a:lnTo>
                        <a:pt x="2584" y="9610"/>
                      </a:lnTo>
                      <a:lnTo>
                        <a:pt x="977" y="9610"/>
                      </a:lnTo>
                      <a:cubicBezTo>
                        <a:pt x="788" y="9610"/>
                        <a:pt x="630" y="9452"/>
                        <a:pt x="630" y="9232"/>
                      </a:cubicBezTo>
                      <a:lnTo>
                        <a:pt x="630" y="3372"/>
                      </a:lnTo>
                      <a:close/>
                      <a:moveTo>
                        <a:pt x="6112" y="4726"/>
                      </a:moveTo>
                      <a:lnTo>
                        <a:pt x="6112" y="5136"/>
                      </a:lnTo>
                      <a:cubicBezTo>
                        <a:pt x="6112" y="5294"/>
                        <a:pt x="6207" y="5420"/>
                        <a:pt x="6364" y="5451"/>
                      </a:cubicBezTo>
                      <a:cubicBezTo>
                        <a:pt x="6553" y="5514"/>
                        <a:pt x="6805" y="5609"/>
                        <a:pt x="6994" y="5735"/>
                      </a:cubicBezTo>
                      <a:cubicBezTo>
                        <a:pt x="7041" y="5769"/>
                        <a:pt x="7096" y="5783"/>
                        <a:pt x="7153" y="5783"/>
                      </a:cubicBezTo>
                      <a:cubicBezTo>
                        <a:pt x="7251" y="5783"/>
                        <a:pt x="7356" y="5743"/>
                        <a:pt x="7435" y="5703"/>
                      </a:cubicBezTo>
                      <a:lnTo>
                        <a:pt x="7751" y="5388"/>
                      </a:lnTo>
                      <a:lnTo>
                        <a:pt x="8223" y="5861"/>
                      </a:lnTo>
                      <a:lnTo>
                        <a:pt x="7908" y="6176"/>
                      </a:lnTo>
                      <a:cubicBezTo>
                        <a:pt x="7782" y="6302"/>
                        <a:pt x="7782" y="6459"/>
                        <a:pt x="7877" y="6617"/>
                      </a:cubicBezTo>
                      <a:cubicBezTo>
                        <a:pt x="7971" y="6806"/>
                        <a:pt x="8066" y="6995"/>
                        <a:pt x="8129" y="7247"/>
                      </a:cubicBezTo>
                      <a:cubicBezTo>
                        <a:pt x="8192" y="7404"/>
                        <a:pt x="8286" y="7499"/>
                        <a:pt x="8444" y="7499"/>
                      </a:cubicBezTo>
                      <a:lnTo>
                        <a:pt x="8885" y="7499"/>
                      </a:lnTo>
                      <a:lnTo>
                        <a:pt x="8885" y="8192"/>
                      </a:lnTo>
                      <a:lnTo>
                        <a:pt x="8444" y="8192"/>
                      </a:lnTo>
                      <a:cubicBezTo>
                        <a:pt x="8286" y="8192"/>
                        <a:pt x="8192" y="8286"/>
                        <a:pt x="8129" y="8444"/>
                      </a:cubicBezTo>
                      <a:cubicBezTo>
                        <a:pt x="8097" y="8665"/>
                        <a:pt x="7971" y="8885"/>
                        <a:pt x="7877" y="9074"/>
                      </a:cubicBezTo>
                      <a:cubicBezTo>
                        <a:pt x="7782" y="9200"/>
                        <a:pt x="7814" y="9389"/>
                        <a:pt x="7908" y="9515"/>
                      </a:cubicBezTo>
                      <a:lnTo>
                        <a:pt x="8223" y="9830"/>
                      </a:lnTo>
                      <a:lnTo>
                        <a:pt x="7751" y="10303"/>
                      </a:lnTo>
                      <a:lnTo>
                        <a:pt x="7435" y="9988"/>
                      </a:lnTo>
                      <a:cubicBezTo>
                        <a:pt x="7368" y="9920"/>
                        <a:pt x="7291" y="9889"/>
                        <a:pt x="7211" y="9889"/>
                      </a:cubicBezTo>
                      <a:cubicBezTo>
                        <a:pt x="7141" y="9889"/>
                        <a:pt x="7068" y="9912"/>
                        <a:pt x="6994" y="9956"/>
                      </a:cubicBezTo>
                      <a:cubicBezTo>
                        <a:pt x="6805" y="10082"/>
                        <a:pt x="6616" y="10145"/>
                        <a:pt x="6364" y="10208"/>
                      </a:cubicBezTo>
                      <a:cubicBezTo>
                        <a:pt x="6207" y="10271"/>
                        <a:pt x="6112" y="10366"/>
                        <a:pt x="6112" y="10555"/>
                      </a:cubicBezTo>
                      <a:lnTo>
                        <a:pt x="6112" y="10964"/>
                      </a:lnTo>
                      <a:lnTo>
                        <a:pt x="5419" y="10964"/>
                      </a:lnTo>
                      <a:lnTo>
                        <a:pt x="5419" y="10555"/>
                      </a:lnTo>
                      <a:cubicBezTo>
                        <a:pt x="5419" y="10366"/>
                        <a:pt x="5325" y="10271"/>
                        <a:pt x="5167" y="10208"/>
                      </a:cubicBezTo>
                      <a:cubicBezTo>
                        <a:pt x="4947" y="10177"/>
                        <a:pt x="4726" y="10051"/>
                        <a:pt x="4537" y="9956"/>
                      </a:cubicBezTo>
                      <a:cubicBezTo>
                        <a:pt x="4491" y="9921"/>
                        <a:pt x="4436" y="9908"/>
                        <a:pt x="4379" y="9908"/>
                      </a:cubicBezTo>
                      <a:cubicBezTo>
                        <a:pt x="4281" y="9908"/>
                        <a:pt x="4176" y="9948"/>
                        <a:pt x="4096" y="9988"/>
                      </a:cubicBezTo>
                      <a:lnTo>
                        <a:pt x="3781" y="10303"/>
                      </a:lnTo>
                      <a:lnTo>
                        <a:pt x="3308" y="9830"/>
                      </a:lnTo>
                      <a:lnTo>
                        <a:pt x="3623" y="9515"/>
                      </a:lnTo>
                      <a:cubicBezTo>
                        <a:pt x="3749" y="9389"/>
                        <a:pt x="3749" y="9232"/>
                        <a:pt x="3655" y="9074"/>
                      </a:cubicBezTo>
                      <a:cubicBezTo>
                        <a:pt x="3529" y="8885"/>
                        <a:pt x="3466" y="8696"/>
                        <a:pt x="3371" y="8444"/>
                      </a:cubicBezTo>
                      <a:cubicBezTo>
                        <a:pt x="3340" y="8286"/>
                        <a:pt x="3214" y="8192"/>
                        <a:pt x="3056" y="8192"/>
                      </a:cubicBezTo>
                      <a:lnTo>
                        <a:pt x="2647" y="8192"/>
                      </a:lnTo>
                      <a:lnTo>
                        <a:pt x="2647" y="7499"/>
                      </a:lnTo>
                      <a:lnTo>
                        <a:pt x="3056" y="7499"/>
                      </a:lnTo>
                      <a:cubicBezTo>
                        <a:pt x="3214" y="7499"/>
                        <a:pt x="3340" y="7404"/>
                        <a:pt x="3371" y="7247"/>
                      </a:cubicBezTo>
                      <a:cubicBezTo>
                        <a:pt x="3434" y="7026"/>
                        <a:pt x="3529" y="6806"/>
                        <a:pt x="3655" y="6617"/>
                      </a:cubicBezTo>
                      <a:cubicBezTo>
                        <a:pt x="3749" y="6491"/>
                        <a:pt x="3686" y="6302"/>
                        <a:pt x="3623" y="6176"/>
                      </a:cubicBezTo>
                      <a:lnTo>
                        <a:pt x="3308" y="5861"/>
                      </a:lnTo>
                      <a:lnTo>
                        <a:pt x="3781" y="5388"/>
                      </a:lnTo>
                      <a:lnTo>
                        <a:pt x="4096" y="5703"/>
                      </a:lnTo>
                      <a:cubicBezTo>
                        <a:pt x="4163" y="5771"/>
                        <a:pt x="4240" y="5802"/>
                        <a:pt x="4321" y="5802"/>
                      </a:cubicBezTo>
                      <a:cubicBezTo>
                        <a:pt x="4391" y="5802"/>
                        <a:pt x="4464" y="5778"/>
                        <a:pt x="4537" y="5735"/>
                      </a:cubicBezTo>
                      <a:cubicBezTo>
                        <a:pt x="4726" y="5609"/>
                        <a:pt x="4915" y="5546"/>
                        <a:pt x="5167" y="5451"/>
                      </a:cubicBezTo>
                      <a:cubicBezTo>
                        <a:pt x="5325" y="5420"/>
                        <a:pt x="5419" y="5294"/>
                        <a:pt x="5419" y="5136"/>
                      </a:cubicBezTo>
                      <a:lnTo>
                        <a:pt x="5419" y="4726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295"/>
                      </a:lnTo>
                      <a:cubicBezTo>
                        <a:pt x="0" y="9830"/>
                        <a:pt x="473" y="10303"/>
                        <a:pt x="1008" y="10303"/>
                      </a:cubicBezTo>
                      <a:lnTo>
                        <a:pt x="2867" y="10303"/>
                      </a:lnTo>
                      <a:lnTo>
                        <a:pt x="3623" y="11059"/>
                      </a:lnTo>
                      <a:cubicBezTo>
                        <a:pt x="3671" y="11122"/>
                        <a:pt x="3757" y="11153"/>
                        <a:pt x="3848" y="11153"/>
                      </a:cubicBezTo>
                      <a:cubicBezTo>
                        <a:pt x="3938" y="11153"/>
                        <a:pt x="4033" y="11122"/>
                        <a:pt x="4096" y="11059"/>
                      </a:cubicBezTo>
                      <a:lnTo>
                        <a:pt x="4442" y="10712"/>
                      </a:lnTo>
                      <a:cubicBezTo>
                        <a:pt x="4506" y="10744"/>
                        <a:pt x="4632" y="10775"/>
                        <a:pt x="4758" y="10807"/>
                      </a:cubicBezTo>
                      <a:lnTo>
                        <a:pt x="4758" y="11342"/>
                      </a:lnTo>
                      <a:cubicBezTo>
                        <a:pt x="4758" y="11531"/>
                        <a:pt x="4915" y="11689"/>
                        <a:pt x="5104" y="11689"/>
                      </a:cubicBezTo>
                      <a:lnTo>
                        <a:pt x="6490" y="11689"/>
                      </a:lnTo>
                      <a:cubicBezTo>
                        <a:pt x="6679" y="11689"/>
                        <a:pt x="6837" y="11531"/>
                        <a:pt x="6837" y="11342"/>
                      </a:cubicBezTo>
                      <a:lnTo>
                        <a:pt x="6837" y="10807"/>
                      </a:lnTo>
                      <a:cubicBezTo>
                        <a:pt x="6963" y="10775"/>
                        <a:pt x="7026" y="10744"/>
                        <a:pt x="7152" y="10712"/>
                      </a:cubicBezTo>
                      <a:lnTo>
                        <a:pt x="7498" y="11059"/>
                      </a:lnTo>
                      <a:cubicBezTo>
                        <a:pt x="7561" y="11122"/>
                        <a:pt x="7656" y="11153"/>
                        <a:pt x="7747" y="11153"/>
                      </a:cubicBezTo>
                      <a:cubicBezTo>
                        <a:pt x="7837" y="11153"/>
                        <a:pt x="7924" y="11122"/>
                        <a:pt x="7971" y="11059"/>
                      </a:cubicBezTo>
                      <a:lnTo>
                        <a:pt x="8727" y="10303"/>
                      </a:lnTo>
                      <a:lnTo>
                        <a:pt x="10617" y="10303"/>
                      </a:lnTo>
                      <a:cubicBezTo>
                        <a:pt x="11185" y="10303"/>
                        <a:pt x="11657" y="9830"/>
                        <a:pt x="11657" y="9295"/>
                      </a:cubicBezTo>
                      <a:lnTo>
                        <a:pt x="11657" y="1009"/>
                      </a:lnTo>
                      <a:cubicBezTo>
                        <a:pt x="11657" y="473"/>
                        <a:pt x="11216" y="1"/>
                        <a:pt x="10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Google Shape;1016;p32"/>
                <p:cNvSpPr/>
                <p:nvPr/>
              </p:nvSpPr>
              <p:spPr>
                <a:xfrm>
                  <a:off x="-1667150" y="2801950"/>
                  <a:ext cx="181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726"/>
                        <a:pt x="347" y="726"/>
                      </a:cubicBezTo>
                      <a:cubicBezTo>
                        <a:pt x="568" y="726"/>
                        <a:pt x="725" y="536"/>
                        <a:pt x="725" y="347"/>
                      </a:cubicBezTo>
                      <a:cubicBezTo>
                        <a:pt x="725" y="158"/>
                        <a:pt x="568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Google Shape;1017;p32"/>
                <p:cNvSpPr/>
                <p:nvPr/>
              </p:nvSpPr>
              <p:spPr>
                <a:xfrm>
                  <a:off x="-1632500" y="2801950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6" y="726"/>
                        <a:pt x="694" y="568"/>
                        <a:pt x="694" y="347"/>
                      </a:cubicBez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Google Shape;1018;p32"/>
                <p:cNvSpPr/>
                <p:nvPr/>
              </p:nvSpPr>
              <p:spPr>
                <a:xfrm>
                  <a:off x="-1597850" y="2801950"/>
                  <a:ext cx="173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7" y="726"/>
                        <a:pt x="694" y="568"/>
                        <a:pt x="694" y="347"/>
                      </a:cubicBezTo>
                      <a:cubicBezTo>
                        <a:pt x="694" y="158"/>
                        <a:pt x="537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Google Shape;1019;p32"/>
                <p:cNvSpPr/>
                <p:nvPr/>
              </p:nvSpPr>
              <p:spPr>
                <a:xfrm>
                  <a:off x="-1564750" y="280195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32" y="568"/>
                        <a:pt x="189" y="726"/>
                        <a:pt x="347" y="726"/>
                      </a:cubicBezTo>
                      <a:lnTo>
                        <a:pt x="4442" y="726"/>
                      </a:lnTo>
                      <a:cubicBezTo>
                        <a:pt x="4663" y="726"/>
                        <a:pt x="4820" y="568"/>
                        <a:pt x="4820" y="347"/>
                      </a:cubicBezTo>
                      <a:cubicBezTo>
                        <a:pt x="4820" y="158"/>
                        <a:pt x="4663" y="1"/>
                        <a:pt x="44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Google Shape;1020;p32"/>
                <p:cNvSpPr/>
                <p:nvPr/>
              </p:nvSpPr>
              <p:spPr>
                <a:xfrm>
                  <a:off x="-1597850" y="2924050"/>
                  <a:ext cx="8510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4" h="3403" extrusionOk="0">
                      <a:moveTo>
                        <a:pt x="1671" y="662"/>
                      </a:moveTo>
                      <a:cubicBezTo>
                        <a:pt x="2238" y="662"/>
                        <a:pt x="2710" y="1134"/>
                        <a:pt x="2710" y="1701"/>
                      </a:cubicBezTo>
                      <a:cubicBezTo>
                        <a:pt x="2710" y="2237"/>
                        <a:pt x="2269" y="2710"/>
                        <a:pt x="1671" y="2710"/>
                      </a:cubicBezTo>
                      <a:cubicBezTo>
                        <a:pt x="1135" y="2710"/>
                        <a:pt x="663" y="2237"/>
                        <a:pt x="663" y="1701"/>
                      </a:cubicBezTo>
                      <a:cubicBezTo>
                        <a:pt x="663" y="1134"/>
                        <a:pt x="1135" y="662"/>
                        <a:pt x="1671" y="662"/>
                      </a:cubicBezTo>
                      <a:close/>
                      <a:moveTo>
                        <a:pt x="1671" y="0"/>
                      </a:moveTo>
                      <a:cubicBezTo>
                        <a:pt x="726" y="0"/>
                        <a:pt x="1" y="756"/>
                        <a:pt x="1" y="1701"/>
                      </a:cubicBezTo>
                      <a:cubicBezTo>
                        <a:pt x="1" y="2647"/>
                        <a:pt x="726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1"/>
                      </a:cubicBezTo>
                      <a:cubicBezTo>
                        <a:pt x="3403" y="756"/>
                        <a:pt x="2616" y="0"/>
                        <a:pt x="16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26" name="Google Shape;982;p32"/>
              <p:cNvGrpSpPr/>
              <p:nvPr/>
            </p:nvGrpSpPr>
            <p:grpSpPr>
              <a:xfrm>
                <a:off x="2787561" y="3416113"/>
                <a:ext cx="217055" cy="215301"/>
                <a:chOff x="-31166825" y="1939525"/>
                <a:chExt cx="293800" cy="291425"/>
              </a:xfrm>
              <a:solidFill>
                <a:schemeClr val="bg1"/>
              </a:solidFill>
            </p:grpSpPr>
            <p:sp>
              <p:nvSpPr>
                <p:cNvPr id="127" name="Google Shape;983;p32"/>
                <p:cNvSpPr/>
                <p:nvPr/>
              </p:nvSpPr>
              <p:spPr>
                <a:xfrm>
                  <a:off x="-31166825" y="1939525"/>
                  <a:ext cx="224500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7" extrusionOk="0">
                      <a:moveTo>
                        <a:pt x="5892" y="662"/>
                      </a:moveTo>
                      <a:cubicBezTo>
                        <a:pt x="6081" y="662"/>
                        <a:pt x="6239" y="819"/>
                        <a:pt x="6239" y="1040"/>
                      </a:cubicBezTo>
                      <a:lnTo>
                        <a:pt x="6239" y="1386"/>
                      </a:lnTo>
                      <a:lnTo>
                        <a:pt x="2805" y="1386"/>
                      </a:lnTo>
                      <a:lnTo>
                        <a:pt x="2805" y="1040"/>
                      </a:lnTo>
                      <a:cubicBezTo>
                        <a:pt x="2805" y="819"/>
                        <a:pt x="2962" y="662"/>
                        <a:pt x="3120" y="662"/>
                      </a:cubicBezTo>
                      <a:close/>
                      <a:moveTo>
                        <a:pt x="8035" y="1323"/>
                      </a:moveTo>
                      <a:cubicBezTo>
                        <a:pt x="8255" y="1323"/>
                        <a:pt x="8413" y="1512"/>
                        <a:pt x="8413" y="1701"/>
                      </a:cubicBezTo>
                      <a:lnTo>
                        <a:pt x="8413" y="10617"/>
                      </a:lnTo>
                      <a:cubicBezTo>
                        <a:pt x="8413" y="10838"/>
                        <a:pt x="8255" y="10995"/>
                        <a:pt x="8035" y="10995"/>
                      </a:cubicBezTo>
                      <a:lnTo>
                        <a:pt x="1166" y="10995"/>
                      </a:lnTo>
                      <a:cubicBezTo>
                        <a:pt x="946" y="10995"/>
                        <a:pt x="788" y="10838"/>
                        <a:pt x="788" y="10617"/>
                      </a:cubicBezTo>
                      <a:lnTo>
                        <a:pt x="788" y="1701"/>
                      </a:lnTo>
                      <a:lnTo>
                        <a:pt x="757" y="1701"/>
                      </a:lnTo>
                      <a:cubicBezTo>
                        <a:pt x="757" y="1512"/>
                        <a:pt x="914" y="1323"/>
                        <a:pt x="1103" y="1323"/>
                      </a:cubicBezTo>
                      <a:lnTo>
                        <a:pt x="2143" y="1323"/>
                      </a:lnTo>
                      <a:lnTo>
                        <a:pt x="2143" y="1701"/>
                      </a:lnTo>
                      <a:cubicBezTo>
                        <a:pt x="2143" y="1890"/>
                        <a:pt x="2301" y="2048"/>
                        <a:pt x="2490" y="2048"/>
                      </a:cubicBezTo>
                      <a:lnTo>
                        <a:pt x="6617" y="2048"/>
                      </a:lnTo>
                      <a:cubicBezTo>
                        <a:pt x="6837" y="2048"/>
                        <a:pt x="6995" y="1890"/>
                        <a:pt x="6995" y="1701"/>
                      </a:cubicBezTo>
                      <a:lnTo>
                        <a:pt x="6995" y="1323"/>
                      </a:lnTo>
                      <a:close/>
                      <a:moveTo>
                        <a:pt x="3120" y="0"/>
                      </a:moveTo>
                      <a:cubicBezTo>
                        <a:pt x="2679" y="0"/>
                        <a:pt x="2301" y="284"/>
                        <a:pt x="2143" y="662"/>
                      </a:cubicBezTo>
                      <a:lnTo>
                        <a:pt x="1040" y="662"/>
                      </a:lnTo>
                      <a:cubicBezTo>
                        <a:pt x="473" y="662"/>
                        <a:pt x="1" y="1134"/>
                        <a:pt x="1" y="1701"/>
                      </a:cubicBezTo>
                      <a:lnTo>
                        <a:pt x="1" y="10649"/>
                      </a:lnTo>
                      <a:cubicBezTo>
                        <a:pt x="64" y="11216"/>
                        <a:pt x="536" y="11657"/>
                        <a:pt x="1072" y="11657"/>
                      </a:cubicBezTo>
                      <a:lnTo>
                        <a:pt x="7971" y="11657"/>
                      </a:lnTo>
                      <a:cubicBezTo>
                        <a:pt x="8507" y="11657"/>
                        <a:pt x="8980" y="11184"/>
                        <a:pt x="8980" y="10649"/>
                      </a:cubicBezTo>
                      <a:lnTo>
                        <a:pt x="8980" y="1701"/>
                      </a:lnTo>
                      <a:cubicBezTo>
                        <a:pt x="8980" y="1134"/>
                        <a:pt x="8507" y="662"/>
                        <a:pt x="7971" y="662"/>
                      </a:cubicBezTo>
                      <a:lnTo>
                        <a:pt x="6869" y="662"/>
                      </a:lnTo>
                      <a:cubicBezTo>
                        <a:pt x="6711" y="284"/>
                        <a:pt x="6365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Google Shape;984;p32"/>
                <p:cNvSpPr/>
                <p:nvPr/>
              </p:nvSpPr>
              <p:spPr>
                <a:xfrm>
                  <a:off x="-31131375" y="2145075"/>
                  <a:ext cx="528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112" extrusionOk="0">
                      <a:moveTo>
                        <a:pt x="1355" y="726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726"/>
                      </a:lnTo>
                      <a:close/>
                      <a:moveTo>
                        <a:pt x="379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lnTo>
                        <a:pt x="0" y="1734"/>
                      </a:lnTo>
                      <a:cubicBezTo>
                        <a:pt x="0" y="1954"/>
                        <a:pt x="158" y="2112"/>
                        <a:pt x="379" y="2112"/>
                      </a:cubicBezTo>
                      <a:lnTo>
                        <a:pt x="1733" y="2112"/>
                      </a:lnTo>
                      <a:cubicBezTo>
                        <a:pt x="1954" y="2112"/>
                        <a:pt x="2111" y="1954"/>
                        <a:pt x="2111" y="1734"/>
                      </a:cubicBezTo>
                      <a:lnTo>
                        <a:pt x="2111" y="379"/>
                      </a:lnTo>
                      <a:cubicBezTo>
                        <a:pt x="2111" y="158"/>
                        <a:pt x="1954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Google Shape;985;p32"/>
                <p:cNvSpPr/>
                <p:nvPr/>
              </p:nvSpPr>
              <p:spPr>
                <a:xfrm>
                  <a:off x="-31131375" y="207655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55" y="694"/>
                      </a:moveTo>
                      <a:lnTo>
                        <a:pt x="1355" y="1356"/>
                      </a:lnTo>
                      <a:lnTo>
                        <a:pt x="694" y="1356"/>
                      </a:lnTo>
                      <a:lnTo>
                        <a:pt x="694" y="694"/>
                      </a:lnTo>
                      <a:close/>
                      <a:moveTo>
                        <a:pt x="379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79" y="2080"/>
                      </a:cubicBezTo>
                      <a:lnTo>
                        <a:pt x="1733" y="2080"/>
                      </a:lnTo>
                      <a:cubicBezTo>
                        <a:pt x="1954" y="2080"/>
                        <a:pt x="2111" y="1923"/>
                        <a:pt x="2111" y="1734"/>
                      </a:cubicBezTo>
                      <a:lnTo>
                        <a:pt x="2111" y="348"/>
                      </a:lnTo>
                      <a:cubicBezTo>
                        <a:pt x="2111" y="159"/>
                        <a:pt x="1954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Google Shape;986;p32"/>
                <p:cNvSpPr/>
                <p:nvPr/>
              </p:nvSpPr>
              <p:spPr>
                <a:xfrm>
                  <a:off x="-31131375" y="2007250"/>
                  <a:ext cx="528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112" extrusionOk="0">
                      <a:moveTo>
                        <a:pt x="1355" y="725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725"/>
                      </a:lnTo>
                      <a:close/>
                      <a:moveTo>
                        <a:pt x="379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lnTo>
                        <a:pt x="0" y="1733"/>
                      </a:lnTo>
                      <a:cubicBezTo>
                        <a:pt x="0" y="1954"/>
                        <a:pt x="158" y="2111"/>
                        <a:pt x="379" y="2111"/>
                      </a:cubicBezTo>
                      <a:lnTo>
                        <a:pt x="1733" y="2111"/>
                      </a:lnTo>
                      <a:cubicBezTo>
                        <a:pt x="1954" y="2111"/>
                        <a:pt x="2111" y="1954"/>
                        <a:pt x="2111" y="1733"/>
                      </a:cubicBezTo>
                      <a:lnTo>
                        <a:pt x="2111" y="379"/>
                      </a:lnTo>
                      <a:cubicBezTo>
                        <a:pt x="2111" y="158"/>
                        <a:pt x="1954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Google Shape;987;p32"/>
                <p:cNvSpPr/>
                <p:nvPr/>
              </p:nvSpPr>
              <p:spPr>
                <a:xfrm>
                  <a:off x="-31062075" y="2007250"/>
                  <a:ext cx="858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3057" y="725"/>
                      </a:lnTo>
                      <a:cubicBezTo>
                        <a:pt x="3277" y="725"/>
                        <a:pt x="3435" y="568"/>
                        <a:pt x="3435" y="379"/>
                      </a:cubicBezTo>
                      <a:cubicBezTo>
                        <a:pt x="3435" y="158"/>
                        <a:pt x="3277" y="1"/>
                        <a:pt x="30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Google Shape;988;p32"/>
                <p:cNvSpPr/>
                <p:nvPr/>
              </p:nvSpPr>
              <p:spPr>
                <a:xfrm>
                  <a:off x="-31062075" y="2041900"/>
                  <a:ext cx="520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734" y="725"/>
                      </a:lnTo>
                      <a:cubicBezTo>
                        <a:pt x="1923" y="725"/>
                        <a:pt x="2080" y="568"/>
                        <a:pt x="2080" y="347"/>
                      </a:cubicBezTo>
                      <a:cubicBezTo>
                        <a:pt x="2080" y="158"/>
                        <a:pt x="1923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Google Shape;989;p32"/>
                <p:cNvSpPr/>
                <p:nvPr/>
              </p:nvSpPr>
              <p:spPr>
                <a:xfrm>
                  <a:off x="-31062075" y="2076550"/>
                  <a:ext cx="858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695" extrusionOk="0">
                      <a:moveTo>
                        <a:pt x="347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47" y="694"/>
                      </a:cubicBezTo>
                      <a:lnTo>
                        <a:pt x="3057" y="694"/>
                      </a:lnTo>
                      <a:cubicBezTo>
                        <a:pt x="3277" y="694"/>
                        <a:pt x="3435" y="537"/>
                        <a:pt x="3435" y="348"/>
                      </a:cubicBezTo>
                      <a:cubicBezTo>
                        <a:pt x="3435" y="159"/>
                        <a:pt x="3277" y="1"/>
                        <a:pt x="30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Google Shape;990;p32"/>
                <p:cNvSpPr/>
                <p:nvPr/>
              </p:nvSpPr>
              <p:spPr>
                <a:xfrm>
                  <a:off x="-31062075" y="2110425"/>
                  <a:ext cx="520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726" extrusionOk="0">
                      <a:moveTo>
                        <a:pt x="347" y="1"/>
                      </a:moveTo>
                      <a:cubicBezTo>
                        <a:pt x="158" y="1"/>
                        <a:pt x="1" y="190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734" y="725"/>
                      </a:lnTo>
                      <a:cubicBezTo>
                        <a:pt x="1923" y="725"/>
                        <a:pt x="2080" y="568"/>
                        <a:pt x="2080" y="379"/>
                      </a:cubicBezTo>
                      <a:cubicBezTo>
                        <a:pt x="2080" y="190"/>
                        <a:pt x="1923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Google Shape;991;p32"/>
                <p:cNvSpPr/>
                <p:nvPr/>
              </p:nvSpPr>
              <p:spPr>
                <a:xfrm>
                  <a:off x="-31062075" y="2145075"/>
                  <a:ext cx="858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lnTo>
                        <a:pt x="3057" y="726"/>
                      </a:lnTo>
                      <a:cubicBezTo>
                        <a:pt x="3277" y="726"/>
                        <a:pt x="3435" y="568"/>
                        <a:pt x="3435" y="379"/>
                      </a:cubicBezTo>
                      <a:cubicBezTo>
                        <a:pt x="3435" y="158"/>
                        <a:pt x="3277" y="1"/>
                        <a:pt x="30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Google Shape;992;p32"/>
                <p:cNvSpPr/>
                <p:nvPr/>
              </p:nvSpPr>
              <p:spPr>
                <a:xfrm>
                  <a:off x="-31062075" y="2179750"/>
                  <a:ext cx="520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734" y="725"/>
                      </a:lnTo>
                      <a:cubicBezTo>
                        <a:pt x="1923" y="725"/>
                        <a:pt x="2080" y="567"/>
                        <a:pt x="2080" y="347"/>
                      </a:cubicBez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Google Shape;993;p32"/>
                <p:cNvSpPr/>
                <p:nvPr/>
              </p:nvSpPr>
              <p:spPr>
                <a:xfrm>
                  <a:off x="-30924225" y="1974175"/>
                  <a:ext cx="51200" cy="24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9610" extrusionOk="0">
                      <a:moveTo>
                        <a:pt x="1008" y="662"/>
                      </a:moveTo>
                      <a:cubicBezTo>
                        <a:pt x="1229" y="662"/>
                        <a:pt x="1386" y="819"/>
                        <a:pt x="1386" y="1009"/>
                      </a:cubicBezTo>
                      <a:lnTo>
                        <a:pt x="1386" y="2080"/>
                      </a:lnTo>
                      <a:lnTo>
                        <a:pt x="725" y="2080"/>
                      </a:lnTo>
                      <a:lnTo>
                        <a:pt x="725" y="1009"/>
                      </a:lnTo>
                      <a:lnTo>
                        <a:pt x="662" y="1009"/>
                      </a:lnTo>
                      <a:cubicBezTo>
                        <a:pt x="662" y="819"/>
                        <a:pt x="819" y="662"/>
                        <a:pt x="1008" y="662"/>
                      </a:cubicBezTo>
                      <a:close/>
                      <a:moveTo>
                        <a:pt x="1323" y="2741"/>
                      </a:moveTo>
                      <a:lnTo>
                        <a:pt x="1323" y="6900"/>
                      </a:lnTo>
                      <a:lnTo>
                        <a:pt x="662" y="6900"/>
                      </a:lnTo>
                      <a:lnTo>
                        <a:pt x="662" y="2741"/>
                      </a:lnTo>
                      <a:close/>
                      <a:moveTo>
                        <a:pt x="1260" y="7562"/>
                      </a:moveTo>
                      <a:lnTo>
                        <a:pt x="1008" y="8192"/>
                      </a:lnTo>
                      <a:lnTo>
                        <a:pt x="819" y="7562"/>
                      </a:ln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lnTo>
                        <a:pt x="0" y="7215"/>
                      </a:lnTo>
                      <a:lnTo>
                        <a:pt x="0" y="7309"/>
                      </a:lnTo>
                      <a:lnTo>
                        <a:pt x="662" y="9357"/>
                      </a:lnTo>
                      <a:cubicBezTo>
                        <a:pt x="693" y="9515"/>
                        <a:pt x="819" y="9609"/>
                        <a:pt x="977" y="9609"/>
                      </a:cubicBezTo>
                      <a:cubicBezTo>
                        <a:pt x="1134" y="9609"/>
                        <a:pt x="1260" y="9515"/>
                        <a:pt x="1292" y="9357"/>
                      </a:cubicBezTo>
                      <a:lnTo>
                        <a:pt x="1954" y="7309"/>
                      </a:lnTo>
                      <a:lnTo>
                        <a:pt x="1954" y="7215"/>
                      </a:lnTo>
                      <a:lnTo>
                        <a:pt x="1954" y="1009"/>
                      </a:lnTo>
                      <a:cubicBezTo>
                        <a:pt x="2048" y="441"/>
                        <a:pt x="1576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144" name="图片 143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322945" y="4618774"/>
              <a:ext cx="908606" cy="1233438"/>
            </a:xfrm>
            <a:prstGeom prst="rect">
              <a:avLst/>
            </a:prstGeom>
          </p:spPr>
        </p:pic>
      </p:grpSp>
      <p:cxnSp>
        <p:nvCxnSpPr>
          <p:cNvPr id="145" name="直接连接符 144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897747" y="15445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1.</a:t>
            </a:r>
            <a:r>
              <a:rPr lang="ko-KR" altLang="en-US" sz="1800" b="1" dirty="0" err="1">
                <a:solidFill>
                  <a:schemeClr val="bg1"/>
                </a:solidFill>
                <a:cs typeface="+mn-ea"/>
                <a:sym typeface="+mn-lt"/>
              </a:rPr>
              <a:t>저출산의</a:t>
            </a:r>
            <a:r>
              <a:rPr lang="ko-KR" altLang="en-US" sz="1800" b="1" dirty="0">
                <a:solidFill>
                  <a:schemeClr val="bg1"/>
                </a:solidFill>
                <a:cs typeface="+mn-ea"/>
                <a:sym typeface="+mn-lt"/>
              </a:rPr>
              <a:t> 정의와 현황 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0" y="1388183"/>
            <a:ext cx="52332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0" i="0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저출산은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기본적으로 </a:t>
            </a:r>
            <a:r>
              <a:rPr lang="ko-KR" altLang="en-US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한 나라의 인구가 유지될 수 있는 </a:t>
            </a:r>
            <a:r>
              <a:rPr lang="ko-KR" altLang="en-US" sz="2000" b="0" i="0" dirty="0" err="1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합계출산율인</a:t>
            </a:r>
            <a:r>
              <a:rPr lang="ko-KR" altLang="en-US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2.1</a:t>
            </a:r>
            <a:r>
              <a:rPr lang="ko-KR" altLang="en-US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보다 출산율이 낮은 상태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. </a:t>
            </a:r>
            <a:endParaRPr kumimoji="1"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6124485" y="2426986"/>
            <a:ext cx="5387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0" i="0" dirty="0">
                <a:solidFill>
                  <a:srgbClr val="2D2D2D"/>
                </a:solidFill>
                <a:effectLst/>
                <a:latin typeface="Pretendard"/>
              </a:rPr>
              <a:t>아이를 적게 낳아 사회 전반적으로 출산율이 감소하는 사회현상</a:t>
            </a:r>
            <a:r>
              <a:rPr lang="en-US" altLang="ko-KR" sz="2000" b="0" i="0" dirty="0">
                <a:solidFill>
                  <a:srgbClr val="2D2D2D"/>
                </a:solidFill>
                <a:effectLst/>
                <a:latin typeface="Pretendard"/>
              </a:rPr>
              <a:t>.</a:t>
            </a:r>
            <a:endParaRPr kumimoji="1"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995653" y="3870622"/>
            <a:ext cx="272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rgbClr val="304086"/>
                </a:solidFill>
                <a:cs typeface="+mn-ea"/>
                <a:sym typeface="+mn-lt"/>
              </a:rPr>
              <a:t>저출산의</a:t>
            </a:r>
            <a:r>
              <a:rPr lang="ko-KR" altLang="en-US" sz="2800" b="1" dirty="0">
                <a:solidFill>
                  <a:srgbClr val="304086"/>
                </a:solidFill>
                <a:cs typeface="+mn-ea"/>
                <a:sym typeface="+mn-lt"/>
              </a:rPr>
              <a:t> 현황</a:t>
            </a:r>
            <a:endParaRPr lang="zh-CN" altLang="en-US" sz="2800" b="1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13" name="圆角矩形 10"/>
          <p:cNvSpPr/>
          <p:nvPr/>
        </p:nvSpPr>
        <p:spPr>
          <a:xfrm>
            <a:off x="6121578" y="4389506"/>
            <a:ext cx="766467" cy="68270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6109" y="4521711"/>
            <a:ext cx="54201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2024</a:t>
            </a:r>
            <a:r>
              <a:rPr lang="ko-KR" altLang="en-US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년 합계출산율은 </a:t>
            </a:r>
            <a:r>
              <a:rPr lang="en-US" altLang="ko-KR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0.68</a:t>
            </a:r>
            <a:r>
              <a:rPr lang="ko-KR" altLang="en-US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명을 기록할 전망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이다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. 2022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년 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0.78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명으로 처음 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0.7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명대에 진입했고 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2023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년 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0.72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명으로 낮아진 데 이어 이제 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0.7</a:t>
            </a:r>
            <a:r>
              <a:rPr lang="ko-KR" altLang="en-US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명대 밑으로 떨어졌다</a:t>
            </a:r>
            <a:r>
              <a:rPr lang="en-US" altLang="ko-KR" sz="20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.</a:t>
            </a:r>
            <a:endParaRPr kumimoji="1"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6238450" y="5860183"/>
            <a:ext cx="42867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출처</a:t>
            </a:r>
            <a:r>
              <a:rPr kumimoji="1" lang="en-US" altLang="ko-KR" sz="1100" dirty="0"/>
              <a:t>:</a:t>
            </a:r>
            <a:endParaRPr kumimoji="1" lang="en-GB" altLang="zh-CN" sz="1100" dirty="0"/>
          </a:p>
          <a:p>
            <a:r>
              <a:rPr kumimoji="1" lang="en-GB" altLang="zh-CN" sz="1100" dirty="0"/>
              <a:t>https://</a:t>
            </a:r>
            <a:r>
              <a:rPr kumimoji="1" lang="en-GB" altLang="zh-CN" sz="1100" dirty="0" err="1"/>
              <a:t>www.sisain.co.kr</a:t>
            </a:r>
            <a:r>
              <a:rPr kumimoji="1" lang="en-GB" altLang="zh-CN" sz="1100" dirty="0"/>
              <a:t>/news/</a:t>
            </a:r>
            <a:r>
              <a:rPr kumimoji="1" lang="en-GB" altLang="zh-CN" sz="1100" dirty="0" err="1"/>
              <a:t>articleView.html?idxno</a:t>
            </a:r>
            <a:r>
              <a:rPr kumimoji="1" lang="en-GB" altLang="zh-CN" sz="1100" dirty="0"/>
              <a:t>=51890</a:t>
            </a:r>
            <a:endParaRPr kumimoji="1" lang="zh-CN" altLang="en-US" sz="11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202641" y="3163855"/>
            <a:ext cx="376256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출처</a:t>
            </a:r>
            <a:r>
              <a:rPr kumimoji="1" lang="en-US" altLang="ko-KR" sz="1100" dirty="0"/>
              <a:t>:</a:t>
            </a:r>
            <a:endParaRPr kumimoji="1" lang="en-US" altLang="ko-KR" sz="1100" dirty="0"/>
          </a:p>
          <a:p>
            <a:r>
              <a:rPr kumimoji="1" lang="ko-KR" altLang="en-US" sz="1100" dirty="0"/>
              <a:t>저출산 실태의 이원론적 분석과 제도적 개선방안 신 재 욱</a:t>
            </a:r>
            <a:endParaRPr kumimoji="1" lang="en-GB" altLang="zh-CN" sz="1100" dirty="0"/>
          </a:p>
          <a:p>
            <a:r>
              <a:rPr kumimoji="1" lang="en-GB" altLang="zh-CN" sz="1100" dirty="0"/>
              <a:t>https://</a:t>
            </a:r>
            <a:r>
              <a:rPr kumimoji="1" lang="en-GB" altLang="zh-CN" sz="1100" dirty="0" err="1"/>
              <a:t>encykorea.aks.ac.kr</a:t>
            </a:r>
            <a:r>
              <a:rPr kumimoji="1" lang="en-GB" altLang="zh-CN" sz="1100" dirty="0"/>
              <a:t>/Article/E0079694</a:t>
            </a:r>
            <a:endParaRPr kumimoji="1" lang="zh-CN" alt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8" grpId="0" animBg="1"/>
      <p:bldP spid="140" grpId="0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5506" y="1043130"/>
            <a:ext cx="6595303" cy="535531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유엔 자료에 따르면 합계출산율이 현 수준의 인구를 유지하는 데 필요한 대체출산율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(2.1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명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미만으로 떨어진 국가는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2021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년 기준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124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개국이다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/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2010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년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98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개국에서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10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여년 만에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25%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이상 늘어난 것이다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특히 경제력 상위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15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위 안에 드는 국가들은 모두 합계출산율이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2.1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명 미만으로 내려가 인구 감소가 시작됐다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/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이제 </a:t>
            </a:r>
            <a:r>
              <a:rPr lang="ko-KR" altLang="zh-CN" sz="1800" kern="100" dirty="0" err="1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저출산은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 특정 국가의 문제가 아닌 전 세계적인 문제로 부상한 상황이다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인구 대국인 이웃 중국과 일본은 물론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 '1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억 인구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'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의 베트남도 최근 출산율 하락에 고심하고 있다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noto"/>
              </a:rPr>
              <a:t>다음으로 한국의 출산율 현황과 </a:t>
            </a:r>
            <a:r>
              <a:rPr lang="ko-KR" altLang="zh-CN" sz="1800" kern="100" dirty="0" err="1">
                <a:effectLst/>
                <a:latin typeface="Calibri" panose="020F0502020204030204" pitchFamily="34" charset="0"/>
                <a:ea typeface="Batang" panose="02030600000101010101" pitchFamily="18" charset="-127"/>
                <a:cs typeface="noto"/>
              </a:rPr>
              <a:t>저출산이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Batang" panose="02030600000101010101" pitchFamily="18" charset="-127"/>
                <a:cs typeface="noto"/>
              </a:rPr>
              <a:t> 미치는 영향에 대해 살펴보겠습니다</a:t>
            </a:r>
            <a:r>
              <a:rPr lang="en-US" altLang="zh-CN" sz="1800" kern="100" dirty="0">
                <a:effectLst/>
                <a:latin typeface="Batang" panose="02030600000101010101" pitchFamily="18" charset="-127"/>
                <a:ea typeface="宋体" panose="02010600030101010101" pitchFamily="2" charset="-122"/>
                <a:cs typeface="noto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- </a:t>
            </a:r>
            <a:r>
              <a:rPr lang="ko-KR" altLang="zh-CN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문제 제기</a:t>
            </a:r>
            <a:r>
              <a:rPr lang="en-US" altLang="zh-CN" sz="1800" b="1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: </a:t>
            </a:r>
            <a:r>
              <a:rPr lang="ko-KR" altLang="zh-CN" sz="18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저출생</a:t>
            </a:r>
            <a:r>
              <a:rPr lang="ko-KR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 현상이 세계 여러 국가에서 심화되고 있으며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, </a:t>
            </a:r>
            <a:r>
              <a:rPr lang="ko-KR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사회적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/</a:t>
            </a:r>
            <a:r>
              <a:rPr lang="ko-KR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경제적 전반에 걸쳐 다양한 문제를 초래한다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. 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- </a:t>
            </a:r>
            <a:r>
              <a:rPr lang="ko-KR" altLang="zh-CN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보고서의 목적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: </a:t>
            </a:r>
            <a:r>
              <a:rPr lang="ko-KR" altLang="zh-CN" sz="18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저출생의</a:t>
            </a:r>
            <a:r>
              <a:rPr lang="ko-KR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 원인과 그로 인해 발생하는 영향들을 다각도로 분석하고 해결 방안을 제시한다 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- </a:t>
            </a:r>
            <a:r>
              <a:rPr lang="ko-KR" altLang="zh-CN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연구 목표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: </a:t>
            </a:r>
            <a:r>
              <a:rPr lang="ko-KR" altLang="zh-CN" sz="18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저출생</a:t>
            </a:r>
            <a:r>
              <a:rPr lang="ko-KR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 문제의 사회적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·</a:t>
            </a:r>
            <a:r>
              <a:rPr lang="ko-KR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경제적 영향을 구체적으로 파악하고 대응 방안을 모색한다 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- </a:t>
            </a:r>
            <a:r>
              <a:rPr lang="ko-KR" altLang="zh-CN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저출산 현상의 의미</a:t>
            </a:r>
            <a:r>
              <a:rPr lang="en-US" altLang="zh-CN" sz="1800" b="1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: </a:t>
            </a:r>
            <a:r>
              <a:rPr lang="ko-KR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저출산 현상은 태어나는 아이의 수가 감소하여 사회의 출산율이 낮아지는 현상 을 말한다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Mongolian Baiti" panose="03000500000000000000" pitchFamily="66" charset="0"/>
              </a:rPr>
              <a:t>. 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6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11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12" name="直接连接符 46"/>
              <p:cNvCxnSpPr>
                <a:stCxn id="11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연구배경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825" y="833788"/>
            <a:ext cx="4384702" cy="285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825" y="3683845"/>
            <a:ext cx="4384702" cy="285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5616578" y="5669476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dirty="0">
                  <a:solidFill>
                    <a:srgbClr val="304086"/>
                  </a:solidFill>
                  <a:cs typeface="+mn-ea"/>
                  <a:sym typeface="+mn-lt"/>
                </a:rPr>
                <a:t>02</a:t>
              </a:r>
              <a:endParaRPr lang="zh-CN" altLang="en-US" sz="6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61452" y="2448732"/>
            <a:ext cx="88718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 err="1">
                <a:solidFill>
                  <a:schemeClr val="bg1"/>
                </a:solidFill>
                <a:cs typeface="+mn-ea"/>
                <a:sym typeface="+mn-lt"/>
              </a:rPr>
              <a:t>저출산의</a:t>
            </a:r>
            <a:r>
              <a:rPr lang="ko-KR" altLang="en-US" sz="6600" b="1" dirty="0">
                <a:solidFill>
                  <a:schemeClr val="bg1"/>
                </a:solidFill>
                <a:cs typeface="+mn-ea"/>
                <a:sym typeface="+mn-lt"/>
              </a:rPr>
              <a:t> 원인 분석</a:t>
            </a:r>
            <a:endParaRPr lang="ko-KR" altLang="en-US" sz="6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396810" y="853549"/>
            <a:ext cx="2377561" cy="373293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84838" y="741884"/>
            <a:ext cx="2580697" cy="2841655"/>
            <a:chOff x="5002205" y="2410408"/>
            <a:chExt cx="2152061" cy="2841654"/>
          </a:xfrm>
        </p:grpSpPr>
        <p:sp>
          <p:nvSpPr>
            <p:cNvPr id="17" name="矩形: 圆角 16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032347" y="2561161"/>
              <a:ext cx="2018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2.1</a:t>
              </a:r>
              <a:r>
                <a:rPr lang="zh-CN" altLang="en-US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 </a:t>
              </a:r>
              <a:r>
                <a:rPr lang="ko-KR" altLang="en-US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사회적 요인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5" name="直接连接符 64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33480" y="107744"/>
            <a:ext cx="4509389" cy="490528"/>
            <a:chOff x="632295" y="294582"/>
            <a:chExt cx="2405663" cy="248500"/>
          </a:xfrm>
        </p:grpSpPr>
        <p:sp>
          <p:nvSpPr>
            <p:cNvPr id="4" name="矩形: 圆角 40"/>
            <p:cNvSpPr/>
            <p:nvPr/>
          </p:nvSpPr>
          <p:spPr>
            <a:xfrm>
              <a:off x="1333500" y="294582"/>
              <a:ext cx="1704458" cy="248500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9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10" name="直接连接符 46"/>
              <p:cNvCxnSpPr>
                <a:stCxn id="9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1983205" y="16834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</a:t>
            </a:r>
            <a:r>
              <a:rPr lang="ko-KR" altLang="en-US" b="1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저출산의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 원인 분석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1613" y="1709826"/>
            <a:ext cx="2580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i="0" u="none" strike="noStrike" dirty="0">
                <a:effectLst/>
                <a:latin typeface="-apple-system"/>
              </a:rPr>
              <a:t>결혼과 가족에 관한 규범의 변화</a:t>
            </a:r>
            <a:endParaRPr lang="en-US" altLang="ko-KR" b="1" i="0" u="none" strike="noStrike" dirty="0">
              <a:effectLst/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b="1" i="0" u="none" strike="noStrike" dirty="0">
              <a:effectLst/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i="0" u="none" strike="noStrike" dirty="0">
                <a:effectLst/>
                <a:latin typeface="-apple-system"/>
              </a:rPr>
              <a:t>노동력에 대한 여성의 참여 증가</a:t>
            </a:r>
            <a:endParaRPr kumimoji="1" lang="zh-CN" altLang="en-US" b="1" dirty="0"/>
          </a:p>
        </p:txBody>
      </p:sp>
      <p:sp>
        <p:nvSpPr>
          <p:cNvPr id="13" name="矩形: 圆角 1"/>
          <p:cNvSpPr/>
          <p:nvPr/>
        </p:nvSpPr>
        <p:spPr>
          <a:xfrm>
            <a:off x="3428347" y="853549"/>
            <a:ext cx="2377561" cy="373293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316375" y="741884"/>
            <a:ext cx="2580697" cy="2841655"/>
            <a:chOff x="5002205" y="2410408"/>
            <a:chExt cx="2152061" cy="2841654"/>
          </a:xfrm>
        </p:grpSpPr>
        <p:sp>
          <p:nvSpPr>
            <p:cNvPr id="15" name="矩形: 圆角 16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032347" y="2561161"/>
              <a:ext cx="2018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-apple-system"/>
                </a:rPr>
                <a:t>2.2</a:t>
              </a:r>
              <a:r>
                <a:rPr lang="zh-CN" altLang="en-US" b="1" dirty="0">
                  <a:solidFill>
                    <a:srgbClr val="FFFFFF"/>
                  </a:solidFill>
                  <a:latin typeface="-apple-system"/>
                </a:rPr>
                <a:t> </a:t>
              </a:r>
              <a:r>
                <a:rPr lang="ko-KR" altLang="zh-CN" b="1" dirty="0">
                  <a:solidFill>
                    <a:srgbClr val="FFFFFF"/>
                  </a:solidFill>
                  <a:latin typeface="-apple-system"/>
                </a:rPr>
                <a:t>경제적 요인</a:t>
              </a:r>
              <a:r>
                <a:rPr lang="zh-CN" altLang="zh-CN" b="1" dirty="0">
                  <a:solidFill>
                    <a:srgbClr val="FFFFFF"/>
                  </a:solidFill>
                  <a:latin typeface="-apple-system"/>
                </a:rPr>
                <a:t> </a:t>
              </a:r>
              <a:endParaRPr lang="zh-CN" altLang="en-US" b="1" dirty="0">
                <a:solidFill>
                  <a:srgbClr val="FFFFFF"/>
                </a:solidFill>
                <a:latin typeface="-apple-system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352521" y="1732432"/>
            <a:ext cx="2580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i="0" u="none" strike="noStrike" dirty="0">
                <a:effectLst/>
                <a:latin typeface="-apple-system"/>
              </a:rPr>
              <a:t>자녀 양육 비용 상승 </a:t>
            </a:r>
            <a:endParaRPr lang="en-US" altLang="ko-KR" b="1" i="0" u="none" strike="noStrike" dirty="0">
              <a:effectLst/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i="0" u="none" strike="noStrike" dirty="0">
                <a:effectLst/>
                <a:latin typeface="-apple-system"/>
              </a:rPr>
              <a:t>경제적 불안정성</a:t>
            </a:r>
            <a:endParaRPr lang="en-US" altLang="ko-KR" b="1" i="0" u="none" strike="noStrike" dirty="0">
              <a:effectLst/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ko-KR" altLang="en-US" b="1" dirty="0"/>
              <a:t>지연된 결혼과 출산</a:t>
            </a:r>
            <a:endParaRPr kumimoji="1" lang="en-US" altLang="ko-KR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ko-KR" altLang="en-US" b="1" dirty="0"/>
              <a:t>광범위한 사회적 영향</a:t>
            </a:r>
            <a:endParaRPr kumimoji="1" lang="zh-CN" altLang="en-US" b="1" dirty="0"/>
          </a:p>
        </p:txBody>
      </p:sp>
      <p:sp>
        <p:nvSpPr>
          <p:cNvPr id="24" name="矩形: 圆角 1"/>
          <p:cNvSpPr/>
          <p:nvPr/>
        </p:nvSpPr>
        <p:spPr>
          <a:xfrm>
            <a:off x="422938" y="3998819"/>
            <a:ext cx="2377561" cy="373293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10966" y="3887154"/>
            <a:ext cx="2580697" cy="2841655"/>
            <a:chOff x="5002205" y="2410408"/>
            <a:chExt cx="2152061" cy="2841654"/>
          </a:xfrm>
        </p:grpSpPr>
        <p:sp>
          <p:nvSpPr>
            <p:cNvPr id="26" name="矩形: 圆角 16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032347" y="2561161"/>
              <a:ext cx="2018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2.3</a:t>
              </a:r>
              <a:r>
                <a:rPr lang="zh-CN" altLang="en-US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 </a:t>
              </a:r>
              <a:r>
                <a:rPr lang="ko-KR" altLang="en-US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건강요인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402131" y="4876906"/>
            <a:ext cx="2580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i="0" u="none" strike="noStrike" dirty="0">
                <a:effectLst/>
                <a:latin typeface="-apple-system"/>
              </a:rPr>
              <a:t>불임 문제</a:t>
            </a:r>
            <a:endParaRPr lang="en-US" altLang="ko-KR" b="1" i="0" u="none" strike="noStrike" dirty="0">
              <a:effectLst/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b="1" i="0" u="none" strike="noStrike" dirty="0">
              <a:effectLst/>
              <a:latin typeface="-apple-system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i="0" u="none" strike="noStrike" dirty="0">
                <a:effectLst/>
                <a:latin typeface="-apple-system"/>
              </a:rPr>
              <a:t>생활 습관 관련 질병</a:t>
            </a:r>
            <a:endParaRPr kumimoji="1" lang="zh-CN" altLang="en-US" b="1" dirty="0"/>
          </a:p>
        </p:txBody>
      </p:sp>
      <p:sp>
        <p:nvSpPr>
          <p:cNvPr id="30" name="矩形: 圆角 1"/>
          <p:cNvSpPr/>
          <p:nvPr/>
        </p:nvSpPr>
        <p:spPr>
          <a:xfrm>
            <a:off x="3428347" y="3995176"/>
            <a:ext cx="2377561" cy="373293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3316375" y="3883511"/>
            <a:ext cx="2580697" cy="2841655"/>
            <a:chOff x="5002205" y="2410408"/>
            <a:chExt cx="2152061" cy="2841654"/>
          </a:xfrm>
        </p:grpSpPr>
        <p:sp>
          <p:nvSpPr>
            <p:cNvPr id="68" name="矩形: 圆角 16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032347" y="2561161"/>
              <a:ext cx="2018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2.4</a:t>
              </a:r>
              <a:r>
                <a:rPr lang="zh-CN" altLang="en-US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 </a:t>
              </a:r>
              <a:r>
                <a:rPr lang="ko-KR" altLang="en-US" b="1" i="0" u="none" strike="noStrike" dirty="0">
                  <a:solidFill>
                    <a:srgbClr val="FFFFFF"/>
                  </a:solidFill>
                  <a:effectLst/>
                  <a:latin typeface="-apple-system"/>
                </a:rPr>
                <a:t>정책적 원인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3341025" y="4876906"/>
            <a:ext cx="2580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i="0" u="none" strike="noStrike" dirty="0">
                <a:effectLst/>
                <a:latin typeface="-apple-system"/>
              </a:rPr>
              <a:t>미흡한 저출산 지원 정책</a:t>
            </a:r>
            <a:endParaRPr kumimoji="1" lang="zh-CN" altLang="en-US" b="1" dirty="0"/>
          </a:p>
        </p:txBody>
      </p:sp>
      <p:pic>
        <p:nvPicPr>
          <p:cNvPr id="72" name="shape10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55010" y="1028117"/>
            <a:ext cx="5842452" cy="42282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文本框 72"/>
          <p:cNvSpPr txBox="1"/>
          <p:nvPr/>
        </p:nvSpPr>
        <p:spPr>
          <a:xfrm>
            <a:off x="6255270" y="5396156"/>
            <a:ext cx="5572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zh-CN" sz="16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한국의 합계 출산율 변화 출처통계청 「 인구동향조사 」 </a:t>
            </a:r>
            <a:endParaRPr lang="zh-CN" altLang="zh-CN" sz="16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600" b="1" kern="0" dirty="0">
                <a:solidFill>
                  <a:srgbClr val="333333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ko-KR" altLang="zh-CN" sz="16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자료 </a:t>
            </a:r>
            <a:r>
              <a:rPr lang="en-US" altLang="zh-CN" sz="1600" b="1" kern="0" dirty="0">
                <a:solidFill>
                  <a:srgbClr val="333333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ko-KR" altLang="zh-CN" sz="16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통계청</a:t>
            </a:r>
            <a:r>
              <a:rPr lang="en-US" altLang="zh-CN" sz="1600" b="1" kern="0" dirty="0">
                <a:solidFill>
                  <a:srgbClr val="333333"/>
                </a:solidFill>
                <a:effectLst/>
                <a:latin typeface="Batang" panose="02030600000101010101" pitchFamily="18" charset="-127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ko-KR" altLang="zh-CN" sz="16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Batang" panose="02030600000101010101" pitchFamily="18" charset="-127"/>
                <a:cs typeface="Malgun Gothic" panose="020B0503020000020004" pitchFamily="34" charset="-127"/>
              </a:rPr>
              <a:t>「인구동향조사」 각 연도</a:t>
            </a:r>
            <a:endParaRPr lang="zh-CN" altLang="zh-CN" sz="16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kumimoji="1" lang="zh-CN" altLang="en-US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24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2.1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사회적 요인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7528" y="1136187"/>
            <a:ext cx="11816945" cy="806829"/>
          </a:xfrm>
          <a:prstGeom prst="rect">
            <a:avLst/>
          </a:prstGeom>
          <a:solidFill>
            <a:srgbClr val="788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7527" y="1319672"/>
            <a:ext cx="6101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2.1.1 </a:t>
            </a:r>
            <a:r>
              <a:rPr lang="ko-KR" altLang="zh-CN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결혼과</a:t>
            </a:r>
            <a:r>
              <a:rPr lang="ko-KR" altLang="zh-CN" sz="28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가족에</a:t>
            </a:r>
            <a:r>
              <a:rPr lang="ko-KR" altLang="zh-CN" sz="28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관한</a:t>
            </a:r>
            <a:r>
              <a:rPr lang="ko-KR" altLang="zh-CN" sz="28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규범의</a:t>
            </a:r>
            <a:r>
              <a:rPr lang="ko-KR" altLang="zh-CN" sz="28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변화</a:t>
            </a:r>
            <a:r>
              <a:rPr lang="zh-CN" altLang="zh-CN" sz="2800" dirty="0">
                <a:effectLst/>
              </a:rPr>
              <a:t> </a:t>
            </a:r>
            <a:endParaRPr kumimoji="1"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85133" y="2326220"/>
            <a:ext cx="112891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zh-CN" sz="20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전통적</a:t>
            </a:r>
            <a:r>
              <a:rPr lang="ko-KR" altLang="zh-CN" sz="2000" b="1" u="sng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가치의</a:t>
            </a:r>
            <a:r>
              <a:rPr lang="ko-KR" altLang="zh-CN" sz="2000" b="1" u="sng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전환</a:t>
            </a:r>
            <a:r>
              <a:rPr lang="en-US" altLang="zh-CN" sz="2000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전통적인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구조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핵가족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에서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한부모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혼성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없는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가정과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같은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보다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다양한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형식으로의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전환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데이터는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약정으로서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동거와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동성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파트너십에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수용이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증가하고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있음을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보여준다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r>
              <a:rPr lang="en-US" altLang="zh-CN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zh-CN" sz="2000" b="1" u="sng" kern="0" dirty="0">
                <a:latin typeface="Calibri" panose="020F0502020204030204" pitchFamily="34" charset="0"/>
                <a:cs typeface="Times New Roman" panose="02020603050405020304" pitchFamily="18" charset="0"/>
              </a:rPr>
              <a:t>문화적 수용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사회는 결혼과 자녀 양육에 관한 개인의 선택을 점점 더 인식하고 있다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보고서에 따르면 조기 결혼과 출산보다 경력 향상을 우선시하는 여성에 대한 수용이 증가하고 있다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zh-CN" altLang="zh-CN" sz="2000" kern="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zh-CN" altLang="zh-CN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zh-CN" sz="2000" b="1" u="sng" kern="0" dirty="0">
                <a:latin typeface="Calibri" panose="020F0502020204030204" pitchFamily="34" charset="0"/>
                <a:cs typeface="Times New Roman" panose="02020603050405020304" pitchFamily="18" charset="0"/>
              </a:rPr>
              <a:t>결혼 연령 지연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연구에 따르면 첫 결혼의 평균 연령은 많은 문 화권에서 크게 증가했다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예를 들어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미국에서 이 연령은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 1970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년대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 23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세에서 최근 몇 년 동안 약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 30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세로 증가했으며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이는 사회적 타임라인과 우선 순위의 변화를 반영한다</a:t>
            </a:r>
            <a:r>
              <a:rPr lang="en-US" altLang="zh-CN" sz="2000" kern="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zh-CN" altLang="zh-CN" sz="2000" kern="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2.1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사회적 요인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9400" y="924122"/>
            <a:ext cx="11683999" cy="888607"/>
          </a:xfrm>
          <a:prstGeom prst="rect">
            <a:avLst/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5133" y="1106849"/>
            <a:ext cx="7016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2.1.2</a:t>
            </a:r>
            <a:r>
              <a:rPr lang="zh-CN" altLang="en-US" sz="2800" b="1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노동력에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여성의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참여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</a:t>
            </a:r>
            <a:r>
              <a:rPr lang="ko-KR" altLang="zh-CN" sz="2800" b="1" kern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endParaRPr lang="zh-CN" altLang="zh-CN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5133" y="2275857"/>
            <a:ext cx="113902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lvl="0" indent="-342900" algn="just">
              <a:buFont typeface="Arial" panose="020B0604020202020204" pitchFamily="34" charset="0"/>
              <a:buChar char="•"/>
              <a:defRPr sz="2000" b="1" u="sng" kern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defRPr>
            </a:lvl1pPr>
          </a:lstStyle>
          <a:p>
            <a:r>
              <a:rPr lang="ko-KR" altLang="zh-CN" dirty="0"/>
              <a:t>경제적 필요성과 직업 포부</a:t>
            </a:r>
            <a:r>
              <a:rPr lang="en-US" altLang="zh-CN" dirty="0"/>
              <a:t>:  </a:t>
            </a:r>
            <a:r>
              <a:rPr lang="ko-KR" altLang="zh-CN" b="0" u="none" dirty="0"/>
              <a:t>노동력에서 여성의 확장은 경제적 필요성과 개인적인 야망 모두에 의해 주도되었다</a:t>
            </a:r>
            <a:r>
              <a:rPr lang="en-US" altLang="zh-CN" b="0" u="none" dirty="0"/>
              <a:t>. </a:t>
            </a:r>
            <a:r>
              <a:rPr lang="ko-KR" altLang="zh-CN" b="0" u="none" dirty="0"/>
              <a:t>통계에 따르면 여성의 노동력 참여율은</a:t>
            </a:r>
            <a:r>
              <a:rPr lang="en-US" altLang="zh-CN" b="0" u="none" dirty="0"/>
              <a:t> 1970</a:t>
            </a:r>
            <a:r>
              <a:rPr lang="ko-KR" altLang="zh-CN" b="0" u="none" dirty="0"/>
              <a:t>년대 약</a:t>
            </a:r>
            <a:r>
              <a:rPr lang="en-US" altLang="zh-CN" b="0" u="none" dirty="0"/>
              <a:t> 33%</a:t>
            </a:r>
            <a:r>
              <a:rPr lang="ko-KR" altLang="zh-CN" b="0" u="none" dirty="0"/>
              <a:t>에서 오늘날 많은 선진국에서</a:t>
            </a:r>
            <a:r>
              <a:rPr lang="en-US" altLang="zh-CN" b="0" u="none" dirty="0"/>
              <a:t> 57% </a:t>
            </a:r>
            <a:r>
              <a:rPr lang="ko-KR" altLang="zh-CN" b="0" u="none" dirty="0"/>
              <a:t>이상으로 증가했다</a:t>
            </a:r>
            <a:r>
              <a:rPr lang="en-US" altLang="zh-CN" b="0" u="none" dirty="0"/>
              <a:t>.</a:t>
            </a:r>
            <a:endParaRPr lang="en-US" altLang="zh-CN" b="0" u="none" dirty="0"/>
          </a:p>
          <a:p>
            <a:pPr marL="0" indent="0">
              <a:buNone/>
            </a:pPr>
            <a:r>
              <a:rPr lang="en-US" altLang="zh-CN" b="0" u="none" dirty="0"/>
              <a:t> </a:t>
            </a:r>
            <a:endParaRPr lang="zh-CN" altLang="zh-CN" b="0" u="none" dirty="0"/>
          </a:p>
          <a:p>
            <a:r>
              <a:rPr lang="ko-KR" altLang="zh-CN" dirty="0"/>
              <a:t>가족 계획에 미치는 영향</a:t>
            </a:r>
            <a:r>
              <a:rPr lang="en-US" altLang="zh-CN" dirty="0"/>
              <a:t>: </a:t>
            </a:r>
            <a:r>
              <a:rPr lang="ko-KR" altLang="zh-CN" b="0" u="none" dirty="0"/>
              <a:t>많은 여성들이 가정을 꾸리기 전에 경 력에 집중하기로 선택합니다</a:t>
            </a:r>
            <a:r>
              <a:rPr lang="en-US" altLang="zh-CN" b="0" u="none" dirty="0"/>
              <a:t>. </a:t>
            </a:r>
            <a:r>
              <a:rPr lang="ko-KR" altLang="zh-CN" b="0" u="none" dirty="0"/>
              <a:t>한 연구에 따르면</a:t>
            </a:r>
            <a:r>
              <a:rPr lang="en-US" altLang="zh-CN" b="0" u="none" dirty="0"/>
              <a:t> 25-34</a:t>
            </a:r>
            <a:r>
              <a:rPr lang="ko-KR" altLang="zh-CN" b="0" u="none" dirty="0"/>
              <a:t>세 여성 의</a:t>
            </a:r>
            <a:r>
              <a:rPr lang="en-US" altLang="zh-CN" b="0" u="none" dirty="0"/>
              <a:t> 46%</a:t>
            </a:r>
            <a:r>
              <a:rPr lang="ko-KR" altLang="zh-CN" b="0" u="none" dirty="0"/>
              <a:t>가 자신의 직업을 출산을 지연시키는 핵심 요소로 생각 한다고 한다</a:t>
            </a:r>
            <a:r>
              <a:rPr lang="en-US" altLang="zh-CN" b="0" u="none" dirty="0"/>
              <a:t>.</a:t>
            </a:r>
            <a:endParaRPr lang="en-US" altLang="zh-CN" b="0" u="none" dirty="0"/>
          </a:p>
          <a:p>
            <a:pPr marL="0" indent="0">
              <a:buNone/>
            </a:pPr>
            <a:endParaRPr lang="zh-CN" altLang="zh-CN" b="0" u="none" dirty="0"/>
          </a:p>
          <a:p>
            <a:r>
              <a:rPr lang="ko-KR" altLang="zh-CN" dirty="0"/>
              <a:t>일과 삶의 균형 문제</a:t>
            </a:r>
            <a:r>
              <a:rPr lang="en-US" altLang="zh-CN" dirty="0"/>
              <a:t>: </a:t>
            </a:r>
            <a:r>
              <a:rPr lang="ko-KR" altLang="zh-CN" b="0" u="none" dirty="0"/>
              <a:t>간병인과 전문가로서의 여성의 이중 역할 은 종종 일과 가정 생활의 균형을 찾는 데 어려움을 초래하며</a:t>
            </a:r>
            <a:r>
              <a:rPr lang="en-US" altLang="zh-CN" b="0" u="none" dirty="0"/>
              <a:t>, </a:t>
            </a:r>
            <a:r>
              <a:rPr lang="ko-KR" altLang="zh-CN" b="0" u="none" dirty="0"/>
              <a:t>지원적인 직장 정책의 필요성을 강조한다</a:t>
            </a:r>
            <a:r>
              <a:rPr lang="en-US" altLang="zh-CN" b="0" u="none" dirty="0"/>
              <a:t>.</a:t>
            </a:r>
            <a:endParaRPr lang="zh-CN" altLang="zh-CN" b="0" u="non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2.1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사회적 요인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8279" y="1062118"/>
            <a:ext cx="11915442" cy="857202"/>
          </a:xfrm>
          <a:prstGeom prst="rect">
            <a:avLst/>
          </a:prstGeom>
          <a:solidFill>
            <a:srgbClr val="AACB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7788" y="2526288"/>
            <a:ext cx="57324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zh-CN" sz="24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개인주의와</a:t>
            </a:r>
            <a:r>
              <a:rPr lang="ko-KR" altLang="zh-CN" sz="2400" b="1" u="sng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자기실현</a:t>
            </a:r>
            <a:r>
              <a:rPr lang="en-US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endParaRPr lang="en-US" altLang="zh-CN" sz="2400" kern="0" dirty="0"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젊은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성인들이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자기실현과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개인적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성취를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우선시하면서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개인의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자유에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강조가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증가하고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설문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조사에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en-US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18-29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개인의</a:t>
            </a:r>
            <a:r>
              <a:rPr lang="en-US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70%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개인적인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행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복을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삶의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선택에서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중요한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요소로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간주하며</a:t>
            </a:r>
            <a:r>
              <a:rPr lang="en-US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가족과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관계에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한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접근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방식에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영향을</a:t>
            </a:r>
            <a:r>
              <a:rPr lang="ko-KR" altLang="zh-CN" sz="24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미친다</a:t>
            </a:r>
            <a:r>
              <a:rPr lang="en-US" altLang="zh-CN" sz="24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zh-CN" altLang="zh-CN" sz="24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282800" y="1251996"/>
            <a:ext cx="6947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2.1</a:t>
            </a:r>
            <a:r>
              <a:rPr lang="en-US" altLang="zh-CN" sz="32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.3</a:t>
            </a:r>
            <a:r>
              <a:rPr lang="zh-CN" altLang="en-US" sz="32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zh-CN" sz="32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개인의</a:t>
            </a:r>
            <a:r>
              <a:rPr lang="ko-KR" altLang="zh-CN" sz="32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32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자유와</a:t>
            </a:r>
            <a:r>
              <a:rPr lang="ko-KR" altLang="zh-CN" sz="32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32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경력에</a:t>
            </a:r>
            <a:r>
              <a:rPr lang="ko-KR" altLang="zh-CN" sz="32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32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32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32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강조</a:t>
            </a:r>
            <a:r>
              <a:rPr lang="zh-CN" altLang="zh-CN" sz="3200" dirty="0">
                <a:effectLst/>
              </a:rPr>
              <a:t> </a:t>
            </a:r>
            <a:endParaRPr kumimoji="1" lang="zh-CN" altLang="en-US" sz="3200" dirty="0"/>
          </a:p>
        </p:txBody>
      </p:sp>
      <p:pic>
        <p:nvPicPr>
          <p:cNvPr id="1026" name="Picture 2" descr="2 페이지 | 무료로 다운로드 가능한 앞에서 벡터 &amp; 일러스트 | Freepi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0" y="2159000"/>
            <a:ext cx="39243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2.2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경제적 요인 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5071" y="1060426"/>
            <a:ext cx="11839372" cy="541272"/>
          </a:xfrm>
          <a:prstGeom prst="rect">
            <a:avLst/>
          </a:prstGeom>
          <a:solidFill>
            <a:srgbClr val="788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0563" y="1089291"/>
            <a:ext cx="6112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2.</a:t>
            </a:r>
            <a:r>
              <a:rPr lang="en-US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.1 </a:t>
            </a:r>
            <a:r>
              <a:rPr lang="ko-KR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 양육 비용 상승</a:t>
            </a:r>
            <a:r>
              <a:rPr lang="zh-CN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endParaRPr lang="zh-CN" altLang="en-US" sz="2800" b="1" kern="0" dirty="0"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0563" y="2062185"/>
            <a:ext cx="48577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양육과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관련된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재정적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부담이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크게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증가했으며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선진국에서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자녀를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18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세까지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양육하는데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드는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$250,000</a:t>
            </a:r>
            <a:r>
              <a:rPr lang="ko-KR" altLang="zh-CN" sz="20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초과할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추정에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여기에는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교육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보육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주택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및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생활비와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같은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포함된다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데이터에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가족들은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갖는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것보다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재정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적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안정을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우선시하고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들어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미국에서는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직업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안정과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지출에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우려로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갖는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미루는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부모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추세가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증가하고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있음을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나타낸다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sz="2000" dirty="0"/>
          </a:p>
        </p:txBody>
      </p:sp>
      <p:pic>
        <p:nvPicPr>
          <p:cNvPr id="17" name="shape10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52992" y="1833584"/>
            <a:ext cx="6298445" cy="378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2.2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경제적 요인 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90614" y="1443269"/>
            <a:ext cx="4319486" cy="729744"/>
          </a:xfrm>
          <a:prstGeom prst="rect">
            <a:avLst/>
          </a:prstGeom>
          <a:solidFill>
            <a:srgbClr val="788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90614" y="1558104"/>
            <a:ext cx="4103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2.</a:t>
            </a:r>
            <a:r>
              <a:rPr lang="en-US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r>
              <a:rPr lang="en-US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en-US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지연된 결혼과 출산</a:t>
            </a:r>
            <a:endParaRPr lang="zh-CN" altLang="en-US" sz="2800" b="1" kern="0" dirty="0"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0614" y="2555886"/>
            <a:ext cx="50130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첫 부모의 평균 연령이 증가했으며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 여성들이 이제 아이를 갖기 위해 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30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대까지 기다리고 있다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일본과 이탈리아와 같은 국가에서 정부 통계에 따르면 여성의 첫 아이를 갖는 평균 연령은 지난 수십 년 동안 사회적 변화 및 경제적 요인과 관련이 있다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또한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이러한 추세는 또한 변화 하는 우선 순위를 반영할 수 있으며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 개인들이 정착하기 전에 교육과 경력 발전에 집중한다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endParaRPr kumimoji="1" lang="zh-CN" altLang="en-US" sz="2000" dirty="0"/>
          </a:p>
        </p:txBody>
      </p:sp>
      <p:pic>
        <p:nvPicPr>
          <p:cNvPr id="11" name="shape10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03672" y="1443269"/>
            <a:ext cx="6805445" cy="423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2.2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경제적 요인 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6314" y="925472"/>
            <a:ext cx="11839372" cy="541272"/>
          </a:xfrm>
          <a:prstGeom prst="rect">
            <a:avLst/>
          </a:prstGeom>
          <a:solidFill>
            <a:srgbClr val="788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1806" y="954337"/>
            <a:ext cx="6112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2.</a:t>
            </a:r>
            <a:r>
              <a:rPr lang="en-US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r>
              <a:rPr lang="en-US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lang="zh-CN" altLang="en-US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en-US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경제적 불안정성</a:t>
            </a:r>
            <a:endParaRPr lang="zh-CN" altLang="en-US" sz="2800" b="1" kern="0" dirty="0"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806" y="1672476"/>
            <a:ext cx="118393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양육과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관련된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재정적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부담이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크게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증가했으며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선진국에서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자녀를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18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세까지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양육하는데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드는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$250,000</a:t>
            </a:r>
            <a:r>
              <a:rPr lang="ko-KR" altLang="zh-CN" sz="20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초과할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추정에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여기에는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교육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보육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주택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및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생활비와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같은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포함된다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데이터에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가족들은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갖는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것보다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재정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적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안정을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우선시하고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들어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미국에서는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직업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안정과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지출에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우려로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갖는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미루는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부모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추세가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증가하고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있음을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나타낸다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sz="2000" dirty="0"/>
          </a:p>
        </p:txBody>
      </p:sp>
      <p:sp>
        <p:nvSpPr>
          <p:cNvPr id="17" name="矩形 16"/>
          <p:cNvSpPr/>
          <p:nvPr/>
        </p:nvSpPr>
        <p:spPr>
          <a:xfrm>
            <a:off x="255306" y="3677020"/>
            <a:ext cx="11839372" cy="541272"/>
          </a:xfrm>
          <a:prstGeom prst="rect">
            <a:avLst/>
          </a:prstGeom>
          <a:solidFill>
            <a:srgbClr val="788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0798" y="3705885"/>
            <a:ext cx="6112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2.</a:t>
            </a:r>
            <a:r>
              <a:rPr lang="en-US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lang="en-US" altLang="ko-KR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r>
              <a:rPr lang="en-US" altLang="zh-CN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4</a:t>
            </a:r>
            <a:r>
              <a:rPr lang="zh-CN" altLang="en-US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en-US" sz="28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광범위한 사회적 영향</a:t>
            </a:r>
            <a:endParaRPr lang="zh-CN" altLang="en-US" sz="2800" b="1" kern="0" dirty="0"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39814" y="4580224"/>
            <a:ext cx="11839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 상승과 경제적 불안정의 교차점은 </a:t>
            </a:r>
            <a:r>
              <a:rPr lang="ko-KR" altLang="en-US" sz="20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가족뿐만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아니라 사회적 구조에도 영향을 미친다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여기에는 주택 시장의 변화가 포함되며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 젊은 커플들이 재정적 제약으로 인해 주택을 사는 것보다 임대하는 것을 선호하며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결과적으로 도시 계획과 개발에 영향을 미친다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게다가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재정적 필요 성으로 인해 다세대 생활 방식이 더 보편화됨에 따라 사회적 유 대와 공동체 역학이 바뀔 수 있다</a:t>
            </a:r>
            <a:r>
              <a:rPr lang="en-US" altLang="ko-KR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endParaRPr kumimoji="1"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</a:t>
            </a:r>
            <a:r>
              <a:rPr lang="en-US" altLang="zh-CN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3</a:t>
            </a:r>
            <a:r>
              <a:rPr lang="zh-CN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건강요인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pic>
        <p:nvPicPr>
          <p:cNvPr id="2050" name="Picture 2" descr="불임 부부는 아기에 대한 꿈을 꿉니다 남자와 여자는 등을 맞대고 앉아 생식 문제로 고통받습니다 불임 문제 임신 문제 Ivf 불임 부인과  질환 가족 개념 불임에 대한 스톡 벡터 아트 및 기타 이미지 -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4"/>
          <a:stretch>
            <a:fillRect/>
          </a:stretch>
        </p:blipFill>
        <p:spPr bwMode="auto">
          <a:xfrm>
            <a:off x="6072379" y="1193800"/>
            <a:ext cx="6119622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: 圆角 1"/>
          <p:cNvSpPr/>
          <p:nvPr/>
        </p:nvSpPr>
        <p:spPr>
          <a:xfrm>
            <a:off x="1040892" y="2432560"/>
            <a:ext cx="2177350" cy="404441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06985" y="2228562"/>
            <a:ext cx="2450228" cy="3778537"/>
            <a:chOff x="5002205" y="2410408"/>
            <a:chExt cx="2152061" cy="3450524"/>
          </a:xfrm>
        </p:grpSpPr>
        <p:sp>
          <p:nvSpPr>
            <p:cNvPr id="13" name="矩形: 圆角 16"/>
            <p:cNvSpPr/>
            <p:nvPr/>
          </p:nvSpPr>
          <p:spPr>
            <a:xfrm>
              <a:off x="5002205" y="2410408"/>
              <a:ext cx="2152061" cy="345052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102844" y="2614406"/>
              <a:ext cx="2018155" cy="337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불임률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8" name="矩形: 圆角 30"/>
          <p:cNvSpPr/>
          <p:nvPr/>
        </p:nvSpPr>
        <p:spPr>
          <a:xfrm>
            <a:off x="3710668" y="2432560"/>
            <a:ext cx="2177350" cy="404441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095594" y="2228562"/>
            <a:ext cx="4931395" cy="3778537"/>
            <a:chOff x="2822970" y="2410407"/>
            <a:chExt cx="4331296" cy="3751253"/>
          </a:xfrm>
        </p:grpSpPr>
        <p:sp>
          <p:nvSpPr>
            <p:cNvPr id="20" name="矩形: 圆角 32"/>
            <p:cNvSpPr/>
            <p:nvPr/>
          </p:nvSpPr>
          <p:spPr>
            <a:xfrm>
              <a:off x="5002205" y="2410407"/>
              <a:ext cx="2152061" cy="3751253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2822970" y="2614406"/>
              <a:ext cx="4298029" cy="2702958"/>
              <a:chOff x="-772342" y="2201635"/>
              <a:chExt cx="4298029" cy="2702958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-772342" y="2796654"/>
                <a:ext cx="1816299" cy="2107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통계에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따르면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선진국의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약</a:t>
                </a:r>
                <a:r>
                  <a:rPr lang="en-US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10-15%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의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부부가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불임을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경험하며</a:t>
                </a:r>
                <a:r>
                  <a:rPr lang="en-US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연령</a:t>
                </a:r>
                <a:r>
                  <a:rPr lang="en-US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건강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상태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및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생활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습관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선택과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같은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요인이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이러한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추세에</a:t>
                </a:r>
                <a:r>
                  <a:rPr lang="ko-KR" altLang="zh-CN" sz="1800" kern="0" dirty="0">
                    <a:effectLst/>
                    <a:latin typeface="Calibri" panose="020F0502020204030204" pitchFamily="34" charset="0"/>
                    <a:ea typeface="Mongolian Baiti" panose="03000500000000000000" pitchFamily="66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zh-CN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기여한다</a:t>
                </a:r>
                <a:r>
                  <a:rPr lang="en-US" altLang="ko-KR" sz="1800" kern="0" dirty="0">
                    <a:effectLst/>
                    <a:latin typeface="Mongolian Baiti" panose="03000500000000000000" pitchFamily="66" charset="0"/>
                    <a:ea typeface="Malgun Gothic" panose="020B0503020000020004" pitchFamily="34" charset="-127"/>
                    <a:cs typeface="Mongolian Baiti" panose="03000500000000000000" pitchFamily="66" charset="0"/>
                  </a:rPr>
                  <a:t>.</a:t>
                </a:r>
                <a:endParaRPr lang="zh-CN" altLang="zh-CN" sz="1800" kern="100" dirty="0">
                  <a:effectLst/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507532" y="2201635"/>
                <a:ext cx="2018155" cy="33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bg1"/>
                    </a:solidFill>
                    <a:cs typeface="+mn-ea"/>
                    <a:sym typeface="+mn-lt"/>
                  </a:rPr>
                  <a:t>의학적 상태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5" name="文本框 24"/>
          <p:cNvSpPr txBox="1"/>
          <p:nvPr/>
        </p:nvSpPr>
        <p:spPr>
          <a:xfrm>
            <a:off x="3691344" y="3040999"/>
            <a:ext cx="21966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불임에 영향을 미치는 일반적인 상태에는 </a:t>
            </a:r>
            <a:r>
              <a:rPr lang="ko-KR" altLang="en-US" sz="18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다낭성</a:t>
            </a: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난소 증후군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(</a:t>
            </a:r>
            <a:r>
              <a:rPr lang="en-GB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PCOS), </a:t>
            </a: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자궁내막증 및 남성 인자 불임이 포함되며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수백만 명에게 영향을 미치고 전문 치료가 필요하다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96101" y="1481823"/>
            <a:ext cx="5165393" cy="639214"/>
          </a:xfrm>
          <a:prstGeom prst="rect">
            <a:avLst/>
          </a:prstGeom>
          <a:solidFill>
            <a:srgbClr val="AACB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6985" y="1562416"/>
            <a:ext cx="1784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zh-CN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불임</a:t>
            </a:r>
            <a:r>
              <a:rPr lang="ko-KR" altLang="zh-CN" sz="28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문제</a:t>
            </a:r>
            <a:r>
              <a:rPr lang="zh-CN" altLang="zh-CN" sz="2800" b="1" dirty="0">
                <a:effectLst/>
              </a:rPr>
              <a:t> </a:t>
            </a:r>
            <a:endParaRPr kumimoji="1"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2.3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건강요인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7731" y="1481823"/>
            <a:ext cx="11916540" cy="639214"/>
          </a:xfrm>
          <a:prstGeom prst="rect">
            <a:avLst/>
          </a:prstGeom>
          <a:solidFill>
            <a:srgbClr val="AACB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6669" y="1591291"/>
            <a:ext cx="3326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생활 습관 관련 질병</a:t>
            </a:r>
            <a:endParaRPr kumimoji="1" lang="zh-CN" altLang="en-US" sz="28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37730" y="2418161"/>
            <a:ext cx="72378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라이프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스타일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선택의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영향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잘못된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식단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좌식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행동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및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약물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사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용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담배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알코올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약물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비만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당뇨병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및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심혈관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문제와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같은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라이프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스타일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관련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질병에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기여하며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결과적으로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생식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강에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영향을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미친다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비만과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불임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연구에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비만과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사이에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강한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상관관계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있으며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과체중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여성은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임신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중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어려움과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높은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위험에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직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면하여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건강한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생활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방식에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초점을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맞춘다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정신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건강과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생식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스트레스와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불안을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포함한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정신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건강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상태는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생식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건강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문제와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관련이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있으며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고립된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증상이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아닌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전반적인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건강을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다루는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포괄적인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치료의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필요성을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강조한다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pic>
        <p:nvPicPr>
          <p:cNvPr id="3074" name="Picture 2" descr="나쁜 습관 건강에 해로운 생활 습관 | 프리미엄 벡터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481" y="2114511"/>
            <a:ext cx="4850519" cy="399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2.4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정책적 원인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9400" y="1271458"/>
            <a:ext cx="11683999" cy="541271"/>
          </a:xfrm>
          <a:prstGeom prst="rect">
            <a:avLst/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7297" y="1349592"/>
            <a:ext cx="3607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</a:rPr>
              <a:t> 미흡한 저출산 지원 정책 </a:t>
            </a:r>
            <a:endParaRPr kumimoji="1"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9400" y="2257904"/>
            <a:ext cx="11683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정부는 출산 장려 정책으로 다양한 지원책을 내놓았지만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실효성이 부족한 경우가 많다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 </a:t>
            </a: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예를 들어 육아휴직이나 보육 시설 지원 등 정책이 시행되고 있지만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직장 문화나 경제적 여건 등으로 인해 실제로 이러한 혜택을 충분히 활용하지 못하는 가구가 많다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endParaRPr lang="en-US" altLang="ko-KR" sz="1800" kern="0" dirty="0"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altLang="ko-KR" sz="1800" kern="0" dirty="0"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저소득층과 중산층을 위한 실질적인 경제적 지원이 부족하며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, </a:t>
            </a:r>
            <a:r>
              <a:rPr lang="ko-KR" altLang="en-US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주거와 교육비에 대한 부담을 실질적으로 경감해줄 수 있는 정책이 충분하지 않아 출산율을 높이는데 한계가 있다</a:t>
            </a:r>
            <a:r>
              <a:rPr lang="en-US" altLang="ko-KR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endParaRPr lang="en-US" altLang="ko-KR" sz="1800" kern="0" dirty="0"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altLang="ko-KR" sz="1800" kern="0" dirty="0"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endParaRPr kumimoji="1"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32952" y="4646263"/>
            <a:ext cx="1163627" cy="244718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375491" y="5444914"/>
            <a:ext cx="1697518" cy="289869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630870" y="4680612"/>
            <a:ext cx="1069701" cy="182662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86525" y="4682520"/>
            <a:ext cx="1069701" cy="182662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3624" y="5444914"/>
            <a:ext cx="1697518" cy="2898692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1467" y="4455530"/>
            <a:ext cx="1588557" cy="98339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2495" y="4547377"/>
            <a:ext cx="990769" cy="61333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86794" y="5755606"/>
            <a:ext cx="509182" cy="148421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3725" y="6228145"/>
            <a:ext cx="784295" cy="102875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88772" y="6228145"/>
            <a:ext cx="411027" cy="53914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3447" y="6735674"/>
            <a:ext cx="509182" cy="667889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3556" y="5363995"/>
            <a:ext cx="509182" cy="1484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30408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03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3040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61452" y="2448732"/>
            <a:ext cx="88718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6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저출생으로</a:t>
            </a: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 인한 영향</a:t>
            </a:r>
            <a:endParaRPr kumimoji="0" lang="ko-KR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5048342" y="5377950"/>
            <a:ext cx="1069701" cy="18266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38279" y="1265023"/>
            <a:ext cx="11901321" cy="4894449"/>
          </a:xfrm>
          <a:prstGeom prst="rect">
            <a:avLst/>
          </a:prstGeom>
          <a:solidFill>
            <a:srgbClr val="AACB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5133" y="281640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083708" y="371219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3</a:t>
            </a:r>
            <a:r>
              <a:rPr lang="en-US" altLang="zh-CN" b="1" dirty="0">
                <a:solidFill>
                  <a:srgbClr val="FFFFFF"/>
                </a:solidFill>
                <a:latin typeface="-apple-system"/>
              </a:rPr>
              <a:t>.</a:t>
            </a:r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ko-KR" altLang="en-US" b="1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저출생으로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 인한 영향 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0653" y="1689568"/>
            <a:ext cx="3368530" cy="3796093"/>
          </a:xfrm>
          <a:prstGeom prst="rect">
            <a:avLst/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7303" y="3142436"/>
            <a:ext cx="332655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zh-CN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노동력</a:t>
            </a:r>
            <a:r>
              <a:rPr lang="ko-KR" altLang="zh-CN" sz="2000" i="1" kern="0" dirty="0">
                <a:solidFill>
                  <a:schemeClr val="bg1"/>
                </a:solidFill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</a:t>
            </a:r>
            <a:endParaRPr lang="en-US" altLang="ko-KR" sz="2000" kern="0" dirty="0">
              <a:solidFill>
                <a:schemeClr val="bg1"/>
              </a:solidFill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r>
              <a:rPr lang="zh-CN" altLang="zh-CN" sz="2000" dirty="0">
                <a:solidFill>
                  <a:schemeClr val="bg1"/>
                </a:solidFill>
                <a:effectLst/>
              </a:rPr>
              <a:t> </a:t>
            </a:r>
            <a:endParaRPr lang="en-US" altLang="zh-CN" sz="2000" dirty="0">
              <a:solidFill>
                <a:schemeClr val="bg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zh-CN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의료비용증가</a:t>
            </a:r>
            <a:r>
              <a:rPr lang="zh-CN" altLang="zh-CN" sz="2000" dirty="0">
                <a:solidFill>
                  <a:schemeClr val="bg1"/>
                </a:solidFill>
                <a:effectLst/>
              </a:rPr>
              <a:t> </a:t>
            </a:r>
            <a:endParaRPr lang="en-US" altLang="zh-CN" sz="2000" dirty="0">
              <a:solidFill>
                <a:schemeClr val="bg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zh-CN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연금</a:t>
            </a:r>
            <a:r>
              <a:rPr lang="ko-KR" altLang="zh-CN" sz="2000" kern="0" dirty="0">
                <a:solidFill>
                  <a:schemeClr val="bg1"/>
                </a:solidFill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시스템에</a:t>
            </a:r>
            <a:r>
              <a:rPr lang="ko-KR" altLang="zh-CN" sz="2000" kern="0" dirty="0">
                <a:solidFill>
                  <a:schemeClr val="bg1"/>
                </a:solidFill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000" kern="0" dirty="0">
                <a:solidFill>
                  <a:schemeClr val="bg1"/>
                </a:solidFill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압력</a:t>
            </a:r>
            <a:r>
              <a:rPr lang="zh-CN" altLang="zh-CN" sz="2000" dirty="0">
                <a:solidFill>
                  <a:schemeClr val="bg1"/>
                </a:solidFill>
                <a:effectLst/>
              </a:rPr>
              <a:t> 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365277" y="1690306"/>
            <a:ext cx="3368530" cy="3796093"/>
          </a:xfrm>
          <a:prstGeom prst="rect">
            <a:avLst/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407256" y="3142436"/>
            <a:ext cx="33265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가족 구조 변화</a:t>
            </a:r>
            <a:endParaRPr lang="en-US" altLang="ko-KR" sz="2000" kern="0" dirty="0">
              <a:solidFill>
                <a:schemeClr val="bg1"/>
              </a:solidFill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bg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 많은 노인 간호 서비스 필요</a:t>
            </a:r>
            <a:endParaRPr lang="en-US" altLang="zh-CN" sz="2000" dirty="0">
              <a:solidFill>
                <a:schemeClr val="bg1"/>
              </a:solidFill>
              <a:effectLst/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52925" y="1690306"/>
            <a:ext cx="3368530" cy="3796093"/>
          </a:xfrm>
          <a:prstGeom prst="rect">
            <a:avLst/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094903" y="3142436"/>
            <a:ext cx="32334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 감소와 지방 소멸 위기</a:t>
            </a:r>
            <a:endParaRPr lang="en-US" altLang="zh-CN" sz="2000" dirty="0">
              <a:solidFill>
                <a:schemeClr val="bg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kern="0" dirty="0">
                <a:solidFill>
                  <a:schemeClr val="bg1"/>
                </a:solidFill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지역 경제의 침체와 일자리 감소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70545" y="1787110"/>
            <a:ext cx="3100498" cy="1124747"/>
          </a:xfrm>
          <a:prstGeom prst="roundRect">
            <a:avLst/>
          </a:prstGeom>
          <a:solidFill>
            <a:srgbClr val="AACBFE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26841" y="2132993"/>
            <a:ext cx="3239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20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</a:rPr>
              <a:t>3.1 </a:t>
            </a:r>
            <a:r>
              <a:rPr lang="ko-KR" altLang="zh-CN" sz="20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경제적</a:t>
            </a:r>
            <a:r>
              <a:rPr lang="ko-KR" altLang="zh-CN" sz="2000" b="1" kern="0" dirty="0">
                <a:effectLst/>
                <a:ea typeface="Mongolian Baiti" panose="03000500000000000000" pitchFamily="66" charset="0"/>
              </a:rPr>
              <a:t> </a:t>
            </a:r>
            <a:r>
              <a:rPr lang="ko-KR" altLang="zh-CN" sz="20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영향</a:t>
            </a:r>
            <a:endParaRPr kumimoji="1" lang="zh-CN" altLang="en-US" sz="2000" dirty="0"/>
          </a:p>
        </p:txBody>
      </p:sp>
      <p:sp>
        <p:nvSpPr>
          <p:cNvPr id="34" name="圆角矩形 33"/>
          <p:cNvSpPr/>
          <p:nvPr/>
        </p:nvSpPr>
        <p:spPr>
          <a:xfrm>
            <a:off x="4520283" y="1815721"/>
            <a:ext cx="3100498" cy="1124747"/>
          </a:xfrm>
          <a:prstGeom prst="roundRect">
            <a:avLst/>
          </a:prstGeom>
          <a:solidFill>
            <a:srgbClr val="AACBFE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779696" y="2145050"/>
            <a:ext cx="3368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3.2</a:t>
            </a:r>
            <a:r>
              <a:rPr lang="zh-CN" altLang="en-US" sz="20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en-US" altLang="zh-CN" sz="20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zh-CN" sz="20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사회적 영향</a:t>
            </a:r>
            <a:r>
              <a:rPr lang="zh-CN" altLang="zh-CN" sz="2000" b="1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endParaRPr lang="zh-CN" altLang="en-US" sz="2000" b="1" kern="0" dirty="0"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222831" y="1807685"/>
            <a:ext cx="3100498" cy="1124747"/>
          </a:xfrm>
          <a:prstGeom prst="roundRect">
            <a:avLst/>
          </a:prstGeom>
          <a:solidFill>
            <a:srgbClr val="AACBFE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372042" y="2145050"/>
            <a:ext cx="3368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20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</a:rPr>
              <a:t>3.</a:t>
            </a:r>
            <a:r>
              <a:rPr lang="en-US" altLang="zh-CN" sz="20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</a:rPr>
              <a:t>3</a:t>
            </a:r>
            <a:r>
              <a:rPr lang="vi-VN" altLang="zh-CN" sz="20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</a:rPr>
              <a:t> </a:t>
            </a:r>
            <a:r>
              <a:rPr lang="ko-KR" altLang="en-US" sz="20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지역사회 변화</a:t>
            </a:r>
            <a:endParaRPr kumimoji="1"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18" y="1171905"/>
            <a:ext cx="11865563" cy="4928189"/>
          </a:xfrm>
          <a:prstGeom prst="round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22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0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" name="直接连接符 46"/>
              <p:cNvCxnSpPr>
                <a:stCxn id="30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/>
          <p:cNvSpPr txBox="1"/>
          <p:nvPr/>
        </p:nvSpPr>
        <p:spPr>
          <a:xfrm>
            <a:off x="2095364" y="253715"/>
            <a:ext cx="200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3.1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경제적 영향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17032" y="1327875"/>
            <a:ext cx="101579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3.1.1</a:t>
            </a:r>
            <a:r>
              <a:rPr lang="zh-CN" altLang="en-US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노동력</a:t>
            </a:r>
            <a:r>
              <a:rPr lang="ko-KR" altLang="zh-CN" sz="1800" b="1" i="1" u="sng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</a:t>
            </a:r>
            <a:r>
              <a:rPr lang="en-US" altLang="zh-CN" sz="1800" b="1" i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인구통계학적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변화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18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저출산율로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연령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노동력의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위축을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초래한다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저출생으로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청년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줄어들면서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고령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비중이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높아지고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노동력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부족이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가중된다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국가와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기업은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인력을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확보하기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위해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고령층의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재취업을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촉진하거나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외국인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노동자를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유입해야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하는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상황에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놓이게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되다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.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또한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인건비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상승을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유발하며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장기적으로는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자동화와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인공지능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(AI)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기술을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활용한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인력의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필요성을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증가시킨다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시장의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구조적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변화를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불러일으키며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일자리의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질과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성격이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변화할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가능성이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높다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3.1.2</a:t>
            </a:r>
            <a:r>
              <a:rPr lang="zh-CN" altLang="en-US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의료비용증가</a:t>
            </a:r>
            <a:r>
              <a:rPr lang="en-US" altLang="zh-CN" sz="1800" b="1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출생률이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낮아지면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고령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인구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비율이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높아져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사회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전반의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연령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구조가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AppleSystemUIFont"/>
                <a:cs typeface="AppleSystemUIFont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고령화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되기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때문에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증가함에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관련된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크게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증가합니다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65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이상의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젊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인구보다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3-5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배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높은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것으로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추정된다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WHO</a:t>
            </a:r>
            <a:r>
              <a:rPr lang="ko-KR" altLang="zh-CN" sz="18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고령화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인구는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2030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년까지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선진국의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지출이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GDP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의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20%</a:t>
            </a:r>
            <a:r>
              <a:rPr lang="ko-KR" altLang="zh-CN" sz="1800" kern="0" dirty="0" err="1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도달하여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국가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산과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공공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서비스에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부담을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18" y="1171905"/>
            <a:ext cx="11865563" cy="4928189"/>
          </a:xfrm>
          <a:prstGeom prst="round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22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0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" name="直接连接符 46"/>
              <p:cNvCxnSpPr>
                <a:stCxn id="30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/>
          <p:cNvSpPr txBox="1"/>
          <p:nvPr/>
        </p:nvSpPr>
        <p:spPr>
          <a:xfrm>
            <a:off x="2095364" y="253715"/>
            <a:ext cx="200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3.1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경제적 영향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5067" y="2216337"/>
            <a:ext cx="67044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독일에서는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간호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서비스에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상당한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중점을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두고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있으며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특히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65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이상의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평균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20%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이상을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차지하는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고령화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수용하기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위해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정부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자금과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자원을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늘려야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한다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고령화로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인해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노년층에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대한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지출이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늘어나면서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상대적으로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청년층이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부담해야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하는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세금과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경제적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압박이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커질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있다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Times New Roman" panose="02020603050405020304" pitchFamily="18" charset="0"/>
              </a:rPr>
              <a:t> 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이러한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상황은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세대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불평등을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 err="1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심화시키고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청년층과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노년층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간의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갈등을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유발할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있다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sz="2000" dirty="0"/>
          </a:p>
        </p:txBody>
      </p:sp>
      <p:pic>
        <p:nvPicPr>
          <p:cNvPr id="3" name="shape10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40700" y="1310642"/>
            <a:ext cx="3397628" cy="4650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07" y="1104311"/>
            <a:ext cx="11865563" cy="4928189"/>
          </a:xfrm>
          <a:prstGeom prst="round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22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0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" name="直接连接符 46"/>
              <p:cNvCxnSpPr>
                <a:stCxn id="30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/>
          <p:cNvSpPr txBox="1"/>
          <p:nvPr/>
        </p:nvSpPr>
        <p:spPr>
          <a:xfrm>
            <a:off x="2095364" y="253715"/>
            <a:ext cx="200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3.1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경제적 영향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94364" y="1444746"/>
            <a:ext cx="47969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3.</a:t>
            </a:r>
            <a:r>
              <a:rPr lang="en-US" altLang="zh-CN" b="1" u="sng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1.3</a:t>
            </a:r>
            <a:r>
              <a:rPr lang="zh-CN" altLang="en-US" b="1" u="sng" kern="0" dirty="0"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lang="ko-KR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연금</a:t>
            </a:r>
            <a:r>
              <a:rPr lang="ko-KR" altLang="zh-CN" sz="1800" b="1" u="sng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시스템에</a:t>
            </a:r>
            <a:r>
              <a:rPr lang="ko-KR" altLang="zh-CN" sz="1800" b="1" u="sng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1800" b="1" u="sng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압력</a:t>
            </a:r>
            <a:r>
              <a:rPr lang="en-US" altLang="zh-CN" sz="1800" b="1" u="sng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지속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불가능한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연금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모델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연령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줄어들면서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연금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도에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기여하는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근로자가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줄어들어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장기적인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지속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가능성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문제를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야기한다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연금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부양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비율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퇴직자와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연령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개인의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비율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이탈리아와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일본과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같은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국가에서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50%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이상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상승할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것으로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예상된다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젊은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세대에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재정적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부담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연금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비용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상승은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세금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젊은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세대에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혜택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해석되어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재정적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불균형과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잠재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적인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갈등을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야기한다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pic>
        <p:nvPicPr>
          <p:cNvPr id="6146" name="Picture 2" descr="똑똑한 노후 준비를 위한 3대 연금 알아보기 | 강남구청 &gt; 강남소식 &gt; 카드뉴스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1323781"/>
            <a:ext cx="453390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06" y="924382"/>
            <a:ext cx="11839372" cy="6190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06" y="3657969"/>
            <a:ext cx="11839372" cy="619052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209664" y="243192"/>
            <a:ext cx="309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Malgun Gothic" panose="020B0503020000020004" pitchFamily="34" charset="-127"/>
                <a:cs typeface="+mn-cs"/>
              </a:rPr>
              <a:t>3.2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Malgun Gothic" panose="020B0503020000020004" pitchFamily="34" charset="-127"/>
                <a:cs typeface="+mn-cs"/>
              </a:rPr>
              <a:t>사회적 영향 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-apple-system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1806" y="954337"/>
            <a:ext cx="6112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 구조 변화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806" y="1672476"/>
            <a:ext cx="11839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⁃"/>
            </a:pP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변화하는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구조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전통적인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핵가족은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한부모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가정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혼성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가정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자녀가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없는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가정에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수용이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증가함에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진화하고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데이터는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선진국에서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지난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10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동안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한부모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가정이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30%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강조한다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⁃"/>
            </a:pP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동거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동향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많은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커플들이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결혼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동거를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선택하고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들어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미국에서는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현재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결혼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부부의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약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60%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함께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살고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있으며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전통적인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가족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규범에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영향을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미친다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0798" y="3705885"/>
            <a:ext cx="6112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.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더 많은 노인 간호 서비스 필요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golian Baiti" panose="03000500000000000000" pitchFamily="66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43514" y="4392453"/>
            <a:ext cx="118393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노인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인구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비중이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커져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사회적으로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양질의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돌봄과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의료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서비스가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필요한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인구가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Mongolian Baiti" panose="03000500000000000000" pitchFamily="66" charset="0"/>
              </a:rPr>
              <a:t>증가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AppleExternalUIFontKorean-Regul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⁃"/>
            </a:pP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노인의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비율이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증가함에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간호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서비스에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수요가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높아지고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들어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2030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년까지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국인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5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명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중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1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명은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65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이상이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될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것으로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예상된다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⁃"/>
            </a:pP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돌봄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자원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: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숙련된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간병인과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시설의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부족은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명백하며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연구에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따르면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노인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돌봄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시설의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거의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50%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가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인력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부족을</a:t>
            </a:r>
            <a:r>
              <a:rPr lang="ko-KR" altLang="zh-CN" sz="20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보고한다</a:t>
            </a:r>
            <a:r>
              <a:rPr lang="en-US" altLang="zh-CN" sz="20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18" y="1171905"/>
            <a:ext cx="11865563" cy="4928189"/>
          </a:xfrm>
          <a:prstGeom prst="round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22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0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32" name="直接连接符 46"/>
              <p:cNvCxnSpPr>
                <a:stCxn id="30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/>
          <p:cNvSpPr txBox="1"/>
          <p:nvPr/>
        </p:nvSpPr>
        <p:spPr>
          <a:xfrm>
            <a:off x="2095364" y="253716"/>
            <a:ext cx="231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3.3</a:t>
            </a:r>
            <a:r>
              <a:rPr lang="zh-CN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  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지역사회 변화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216" y="1931467"/>
            <a:ext cx="10741571" cy="3409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u="sng" kern="0" dirty="0">
                <a:latin typeface="Calibri" panose="020F0502020204030204" pitchFamily="34" charset="0"/>
                <a:ea typeface="Malgun Gothic" panose="020B0503020000020004" pitchFamily="34" charset="-127"/>
                <a:cs typeface="Mongolian Baiti" panose="03000500000000000000" pitchFamily="66" charset="0"/>
              </a:rPr>
              <a:t>3.3.1</a:t>
            </a:r>
            <a:r>
              <a:rPr lang="zh-CN" altLang="en-US" b="1" u="sng" kern="0" dirty="0">
                <a:latin typeface="Calibri" panose="020F0502020204030204" pitchFamily="34" charset="0"/>
                <a:ea typeface="Malgun Gothic" panose="020B0503020000020004" pitchFamily="34" charset="-127"/>
                <a:cs typeface="Mongolian Baiti" panose="03000500000000000000" pitchFamily="66" charset="0"/>
              </a:rPr>
              <a:t> 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감소와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지방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소멸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위기</a:t>
            </a:r>
            <a:endParaRPr lang="zh-CN" altLang="zh-CN" sz="1800" b="1" u="sng" strike="noStrike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출산율이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낮아지고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젊은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층이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일자리나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교육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기회를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찾아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대도시로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이주하면서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지방과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농촌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지역의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지속적으로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감소하고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지역은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청년층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인구가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거의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없는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상황에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이르고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장기적으로는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지방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소멸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위기를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맞이할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있다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en-US" altLang="zh-CN" sz="1800" kern="0" dirty="0">
              <a:effectLst/>
              <a:latin typeface="Mongolian Baiti" panose="03000500000000000000" pitchFamily="66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altLang="zh-CN" sz="1800" b="1" u="sng" strike="noStrike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3.3.2</a:t>
            </a:r>
            <a:r>
              <a:rPr lang="zh-CN" altLang="en-US" sz="1800" b="1" u="sng" strike="noStrike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지역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경제의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침체와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일자리</a:t>
            </a:r>
            <a:r>
              <a:rPr lang="ko-KR" altLang="zh-CN" sz="1800" b="1" u="sng" strike="noStrike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ko-KR" altLang="zh-CN" sz="1800" b="1" u="sng" strike="noStrike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</a:t>
            </a:r>
            <a:endParaRPr lang="zh-CN" altLang="zh-CN" sz="1800" u="none" strike="noStrike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Mongolian Baiti" panose="03000500000000000000" pitchFamily="66" charset="0"/>
            </a:endParaRPr>
          </a:p>
          <a:p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지역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사회에서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노동력의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대부분을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차지하는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젊은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층이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줄어들면서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경제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활동이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위축되고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일자리가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감소한다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특히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농업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어업과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같은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전통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산업이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어려움을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겪으며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상권의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쇠퇴로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지역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경제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전반이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침체하게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된다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소규모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상점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병원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학교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등이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폐업하거나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축소되며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필수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서비스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접근성이</a:t>
            </a:r>
            <a:r>
              <a:rPr lang="ko-KR" altLang="zh-CN" sz="1800" kern="0" dirty="0">
                <a:effectLst/>
                <a:latin typeface="Calibri" panose="020F0502020204030204" pitchFamily="34" charset="0"/>
                <a:ea typeface="Mongolian Baiti" panose="03000500000000000000" pitchFamily="66" charset="0"/>
                <a:cs typeface="Times New Roman" panose="02020603050405020304" pitchFamily="18" charset="0"/>
              </a:rPr>
              <a:t> </a:t>
            </a:r>
            <a:r>
              <a:rPr lang="ko-KR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Mongolian Baiti" panose="03000500000000000000" pitchFamily="66" charset="0"/>
              </a:rPr>
              <a:t>낮아진다</a:t>
            </a:r>
            <a:r>
              <a:rPr lang="en-US" altLang="zh-CN" sz="1800" kern="0" dirty="0">
                <a:effectLst/>
                <a:latin typeface="Mongolian Baiti" panose="03000500000000000000" pitchFamily="66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30408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04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3040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61452" y="2448732"/>
            <a:ext cx="88718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한국의 출산장려정책 </a:t>
            </a:r>
            <a:endParaRPr kumimoji="0" lang="ko-KR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72851" y="5064387"/>
            <a:ext cx="711233" cy="93291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88808" y="5414161"/>
            <a:ext cx="784295" cy="102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133" y="157223"/>
            <a:ext cx="4509389" cy="541271"/>
            <a:chOff x="632295" y="294581"/>
            <a:chExt cx="2405663" cy="274206"/>
          </a:xfrm>
        </p:grpSpPr>
        <p:sp>
          <p:nvSpPr>
            <p:cNvPr id="3" name="矩形: 圆角 40"/>
            <p:cNvSpPr/>
            <p:nvPr/>
          </p:nvSpPr>
          <p:spPr>
            <a:xfrm>
              <a:off x="1333500" y="294581"/>
              <a:ext cx="1704458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8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9" name="直接连接符 46"/>
              <p:cNvCxnSpPr>
                <a:stCxn id="8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083708" y="231695"/>
            <a:ext cx="262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4.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한국의 출산장려정책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1054" y="903492"/>
            <a:ext cx="106498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50"/>
              </a:spcAft>
            </a:pPr>
            <a:r>
              <a:rPr lang="ko-KR" altLang="zh-CN" sz="1800" b="1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정부의 출산지원 정책은 다양한 단계와 대상에 맞춰 다각적으로 이루어진다 </a:t>
            </a:r>
            <a:endParaRPr lang="en-US" altLang="ko-KR" sz="1800" b="1" kern="1800" dirty="0">
              <a:solidFill>
                <a:srgbClr val="111111"/>
              </a:solidFill>
              <a:effectLst/>
              <a:latin typeface="Calibri" panose="020F0502020204030204" pitchFamily="34" charset="0"/>
              <a:ea typeface="Malgun Gothic" panose="020B0503020000020004" pitchFamily="34" charset="-127"/>
              <a:cs typeface="Malgun Gothic" panose="020B0503020000020004" pitchFamily="34" charset="-127"/>
            </a:endParaRPr>
          </a:p>
          <a:p>
            <a:pPr algn="just">
              <a:spcAft>
                <a:spcPts val="750"/>
              </a:spcAft>
            </a:pPr>
            <a:endParaRPr lang="zh-CN" altLang="zh-CN" sz="4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아이연령에 따른 지원은 신생아기 때 필요한 의료지원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영유아기 때 보육비지원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보육서비스 확대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학생대상으로 방과 후 학교활동 시행 등이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 </a:t>
            </a:r>
            <a:endParaRPr lang="zh-CN" altLang="zh-CN" sz="2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 err="1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가임기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 여성 및 임산부를 위한 지원은 불임수술비 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저소득층대상으로 산모도우미 서비스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모유수유 지원 등이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 </a:t>
            </a:r>
            <a:endParaRPr lang="zh-CN" altLang="zh-CN" sz="2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취업여성을 위한 지원은 </a:t>
            </a:r>
            <a:r>
              <a:rPr lang="ko-KR" altLang="zh-CN" sz="1800" kern="1800" dirty="0" err="1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산전후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 휴가급여 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배우자 출산간호휴가제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육아휴직제도 활성화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직장보육시설 확대 등이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 </a:t>
            </a:r>
            <a:endParaRPr lang="zh-CN" altLang="zh-CN" sz="2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다자녀 가정을 위한 지원은 주거안정 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보험금인하 혜택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우대금리 적용 등이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 </a:t>
            </a:r>
            <a:endParaRPr lang="en-US" altLang="zh-CN" sz="1800" kern="1800" dirty="0">
              <a:solidFill>
                <a:srgbClr val="11111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  <a:cs typeface="Malgun Gothic" panose="020B0503020000020004" pitchFamily="34" charset="-127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>
                <a:solidFill>
                  <a:srgbClr val="111111"/>
                </a:solidFill>
                <a:effectLst/>
                <a:ea typeface="Malgun Gothic" panose="020B0503020000020004" pitchFamily="34" charset="-127"/>
                <a:cs typeface="Malgun Gothic" panose="020B0503020000020004" pitchFamily="34" charset="-127"/>
              </a:rPr>
              <a:t>입양가정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ea typeface="Malgun Gothic" panose="020B0503020000020004" pitchFamily="34" charset="-127"/>
                <a:cs typeface="Malgun Gothic" panose="020B0503020000020004" pitchFamily="34" charset="-127"/>
              </a:rPr>
              <a:t>장애아 및 농업가정을 위한 지원은 입양가정에 대한 입양수수료 면제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ea typeface="Malgun Gothic" panose="020B0503020000020004" pitchFamily="34" charset="-127"/>
                <a:cs typeface="Malgun Gothic" panose="020B0503020000020004" pitchFamily="34" charset="-127"/>
              </a:rPr>
              <a:t>양육비 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ea typeface="Malgun Gothic" panose="020B0503020000020004" pitchFamily="34" charset="-127"/>
                <a:cs typeface="Malgun Gothic" panose="020B0503020000020004" pitchFamily="34" charset="-127"/>
              </a:rPr>
              <a:t>장애아의 보육비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ea typeface="Malgun Gothic" panose="020B0503020000020004" pitchFamily="34" charset="-127"/>
                <a:cs typeface="Malgun Gothic" panose="020B0503020000020004" pitchFamily="34" charset="-127"/>
              </a:rPr>
              <a:t>교육비 전액지원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ea typeface="Malgun Gothic" panose="020B0503020000020004" pitchFamily="34" charset="-127"/>
                <a:cs typeface="Malgun Gothic" panose="020B0503020000020004" pitchFamily="34" charset="-127"/>
              </a:rPr>
              <a:t>농업가정의 교육비 보육비 지원 등이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cs typeface="Malgun Gothic" panose="020B0503020000020004" pitchFamily="34" charset="-127"/>
              </a:rPr>
              <a:t>.</a:t>
            </a:r>
            <a:r>
              <a:rPr lang="zh-CN" altLang="zh-CN" dirty="0">
                <a:effectLst/>
              </a:rPr>
              <a:t> </a:t>
            </a:r>
            <a:endParaRPr lang="en-US" altLang="ko-KR" sz="1800" kern="1800" dirty="0">
              <a:solidFill>
                <a:srgbClr val="111111"/>
              </a:solidFill>
              <a:effectLst/>
              <a:latin typeface="Calibri" panose="020F0502020204030204" pitchFamily="34" charset="0"/>
              <a:ea typeface="Malgun Gothic" panose="020B0503020000020004" pitchFamily="34" charset="-127"/>
              <a:cs typeface="Malgun Gothic" panose="020B0503020000020004" pitchFamily="34" charset="-127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소득 수준별 지원은 소득에 따라 저소득층에게 많은 지원이 이루어지도록 하고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 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지방자치단체에서도 출산지원이 이뤄지는데 이는 지역마다 조금씩 차이가 난다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 </a:t>
            </a:r>
            <a:r>
              <a:rPr lang="ko-KR" altLang="zh-CN" sz="1800" kern="1800" dirty="0" err="1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출생시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 돈을 지급하는 곳도 있고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예방접종비 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육아관련 교실지원 등이 이루어지고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50"/>
              </a:spcAft>
              <a:buFont typeface="+mj-ea"/>
              <a:buAutoNum type="circleNumDbPlain"/>
            </a:pP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주거 지원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: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결혼과 출산을 장려하기 위한 정책으로 주택청약 우대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신혼부부와 다자녀 가구를 위한 주거 지원 정책도 강화되고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특히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, </a:t>
            </a:r>
            <a:r>
              <a:rPr lang="ko-KR" altLang="zh-CN" sz="1800" kern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Malgun Gothic" panose="020B0503020000020004" pitchFamily="34" charset="-127"/>
              </a:rPr>
              <a:t>신혼부부의 주거비 부담을 줄이기 위한 대출과 보조금 정책도 시행되고 있다</a:t>
            </a:r>
            <a:r>
              <a:rPr lang="en-US" altLang="zh-CN" sz="1800" kern="1800" dirty="0">
                <a:solidFill>
                  <a:srgbClr val="11111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Malgun Gothic" panose="020B0503020000020004" pitchFamily="34" charset="-127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16517" y="594613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30408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05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3040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524471" y="1550067"/>
            <a:ext cx="87026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저출산 문제는 </a:t>
            </a:r>
            <a:endParaRPr kumimoji="0" lang="en-US" altLang="ko-KR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해외에서 사례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 </a:t>
            </a: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연구</a:t>
            </a:r>
            <a:endParaRPr kumimoji="0" lang="ko-KR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48804" y="5557528"/>
            <a:ext cx="509182" cy="1484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프랑스 소개 République française | 투어동아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658" y="14524"/>
            <a:ext cx="12229658" cy="7622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矩形 42"/>
          <p:cNvSpPr/>
          <p:nvPr/>
        </p:nvSpPr>
        <p:spPr>
          <a:xfrm>
            <a:off x="-165100" y="14524"/>
            <a:ext cx="12458700" cy="7302500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  <a:alpha val="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1053592" y="2000761"/>
            <a:ext cx="1912389" cy="369332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27479" y="1796762"/>
            <a:ext cx="2533690" cy="3672650"/>
            <a:chOff x="4920930" y="2410407"/>
            <a:chExt cx="2233336" cy="3277153"/>
          </a:xfrm>
        </p:grpSpPr>
        <p:sp>
          <p:nvSpPr>
            <p:cNvPr id="4" name="矩形: 圆角 16"/>
            <p:cNvSpPr/>
            <p:nvPr/>
          </p:nvSpPr>
          <p:spPr>
            <a:xfrm>
              <a:off x="5002205" y="2410407"/>
              <a:ext cx="2152061" cy="3277153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20930" y="2612958"/>
              <a:ext cx="2018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가족수당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矩形: 圆角 30"/>
          <p:cNvSpPr/>
          <p:nvPr/>
        </p:nvSpPr>
        <p:spPr>
          <a:xfrm>
            <a:off x="3723368" y="2000761"/>
            <a:ext cx="1912389" cy="369332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589462" y="1796763"/>
            <a:ext cx="2225296" cy="3672650"/>
            <a:chOff x="5002205" y="2410408"/>
            <a:chExt cx="2152061" cy="2841654"/>
          </a:xfrm>
        </p:grpSpPr>
        <p:sp>
          <p:nvSpPr>
            <p:cNvPr id="11" name="矩形: 圆角 32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102844" y="2586041"/>
              <a:ext cx="2018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공공 보육 서비스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矩形: 圆角 37"/>
          <p:cNvSpPr/>
          <p:nvPr/>
        </p:nvSpPr>
        <p:spPr>
          <a:xfrm>
            <a:off x="6375568" y="1994922"/>
            <a:ext cx="1912389" cy="369332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32500" y="1796762"/>
            <a:ext cx="2490578" cy="3672650"/>
            <a:chOff x="4958933" y="2410408"/>
            <a:chExt cx="2195334" cy="2841655"/>
          </a:xfrm>
        </p:grpSpPr>
        <p:sp>
          <p:nvSpPr>
            <p:cNvPr id="18" name="矩形: 圆角 47"/>
            <p:cNvSpPr/>
            <p:nvPr/>
          </p:nvSpPr>
          <p:spPr>
            <a:xfrm>
              <a:off x="4958933" y="2410408"/>
              <a:ext cx="2195334" cy="2841655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087563" y="2576369"/>
              <a:ext cx="2018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유연한 육아휴직 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矩形: 圆角 54"/>
          <p:cNvSpPr/>
          <p:nvPr/>
        </p:nvSpPr>
        <p:spPr>
          <a:xfrm>
            <a:off x="9028931" y="1871042"/>
            <a:ext cx="2018155" cy="584775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791241" y="1796762"/>
            <a:ext cx="2424041" cy="3672650"/>
            <a:chOff x="4730225" y="2410407"/>
            <a:chExt cx="2424041" cy="3672649"/>
          </a:xfrm>
        </p:grpSpPr>
        <p:sp>
          <p:nvSpPr>
            <p:cNvPr id="25" name="矩形: 圆角 58"/>
            <p:cNvSpPr/>
            <p:nvPr/>
          </p:nvSpPr>
          <p:spPr>
            <a:xfrm>
              <a:off x="4730225" y="2410407"/>
              <a:ext cx="2424041" cy="3672649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967915" y="2521604"/>
              <a:ext cx="20181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고령층 건강 관리 및 사회적 참여 촉진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31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6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37" name="直接连接符 46"/>
              <p:cNvCxnSpPr>
                <a:stCxn id="36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2095364" y="253716"/>
            <a:ext cx="231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5.1.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프랑스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78548" y="2488593"/>
            <a:ext cx="19874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프랑스는 출산과 양육을 장려하기 위해 가족수당을 지급합니다</a:t>
            </a:r>
            <a:r>
              <a:rPr lang="vi-VN" altLang="zh-CN" sz="18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 수당은 자녀 수에 따라 차등 지급되며</a:t>
            </a:r>
            <a:r>
              <a:rPr lang="vi-VN" altLang="zh-CN" sz="18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가정의 경제적 부담을 경감하는 데 기여한다</a:t>
            </a:r>
            <a:r>
              <a:rPr lang="vi-VN" altLang="zh-CN" sz="18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652885" y="2488592"/>
            <a:ext cx="21274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프랑스는 공공 보육 시설을 통해 저렴한 비용으로 양육 서비스를 제공한다</a:t>
            </a:r>
            <a:r>
              <a:rPr lang="vi-VN" altLang="zh-CN" sz="1800" dirty="0"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이는 부모가 일과 가정을 병행할 수 있도록 도와주며</a:t>
            </a:r>
            <a:r>
              <a:rPr lang="vi-VN" altLang="zh-CN" sz="1800" dirty="0"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특히 여성의 경제적 참여를 촉진한다</a:t>
            </a:r>
            <a:r>
              <a:rPr lang="vi-VN" altLang="zh-CN" sz="1800" dirty="0"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193413" y="2488592"/>
            <a:ext cx="23545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부모는 육아휴직을 유연하게 사용할 수 있으며</a:t>
            </a:r>
            <a:r>
              <a:rPr lang="vi-VN" altLang="zh-CN" sz="18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아버지와 어머니가 육아휴직을 나누어 사용할 수 있는 제도가 마련되어 있다</a:t>
            </a:r>
            <a:r>
              <a:rPr lang="vi-VN" altLang="zh-CN" sz="18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이는 부모의 역할 분담을 촉진하고</a:t>
            </a:r>
            <a:r>
              <a:rPr lang="vi-VN" altLang="zh-CN" sz="18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출산 후 부모의 경력 단절을 방지한다</a:t>
            </a:r>
            <a:r>
              <a:rPr lang="vi-VN" altLang="zh-CN" sz="18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8857114" y="2529651"/>
            <a:ext cx="23545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프랑스는 고령층의 건강 관리와 사회적 참여를 촉진하기 위한 프로그램을 운영하고 있다</a:t>
            </a:r>
            <a:r>
              <a:rPr lang="vi-VN" altLang="zh-CN" sz="1800" dirty="0"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이는 고령 인구의 삶의 질을 향상시키고</a:t>
            </a:r>
            <a:r>
              <a:rPr lang="vi-VN" altLang="zh-CN" sz="1800" dirty="0"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가족 내에서의 역할을 강화하는 데 기여한다</a:t>
            </a:r>
            <a:r>
              <a:rPr lang="vi-VN" altLang="zh-CN" sz="1800" dirty="0"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6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346,026원 서울-스웨덴 저가 항공권 | KAYA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0" y="13854"/>
            <a:ext cx="12221689" cy="684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-165100" y="14524"/>
            <a:ext cx="12458700" cy="7302500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  <a:alpha val="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980876" y="1796674"/>
            <a:ext cx="2474320" cy="646330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5161" y="1592675"/>
            <a:ext cx="3295223" cy="3672650"/>
            <a:chOff x="5002205" y="2410407"/>
            <a:chExt cx="2152061" cy="3277153"/>
          </a:xfrm>
        </p:grpSpPr>
        <p:sp>
          <p:nvSpPr>
            <p:cNvPr id="4" name="矩形: 圆角 16"/>
            <p:cNvSpPr/>
            <p:nvPr/>
          </p:nvSpPr>
          <p:spPr>
            <a:xfrm>
              <a:off x="5002205" y="2410407"/>
              <a:ext cx="2152061" cy="3277153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212286" y="2712877"/>
              <a:ext cx="1751834" cy="576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부모 육아휴직 의무 분담 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矩形: 圆角 30"/>
          <p:cNvSpPr/>
          <p:nvPr/>
        </p:nvSpPr>
        <p:spPr>
          <a:xfrm>
            <a:off x="4997927" y="1790833"/>
            <a:ext cx="2194654" cy="713242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427438" y="1586837"/>
            <a:ext cx="3295223" cy="3672650"/>
            <a:chOff x="5002205" y="2410408"/>
            <a:chExt cx="2152061" cy="2841654"/>
          </a:xfrm>
        </p:grpSpPr>
        <p:sp>
          <p:nvSpPr>
            <p:cNvPr id="11" name="矩形: 圆角 32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136111" y="2701295"/>
              <a:ext cx="2018155" cy="285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공공 보육 무상화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矩形: 圆角 37"/>
          <p:cNvSpPr/>
          <p:nvPr/>
        </p:nvSpPr>
        <p:spPr>
          <a:xfrm>
            <a:off x="8642782" y="1790834"/>
            <a:ext cx="2781132" cy="780156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299715" y="1592675"/>
            <a:ext cx="3420236" cy="3672650"/>
            <a:chOff x="4958933" y="2410408"/>
            <a:chExt cx="2195334" cy="2841655"/>
          </a:xfrm>
        </p:grpSpPr>
        <p:sp>
          <p:nvSpPr>
            <p:cNvPr id="18" name="矩形: 圆角 47"/>
            <p:cNvSpPr/>
            <p:nvPr/>
          </p:nvSpPr>
          <p:spPr>
            <a:xfrm>
              <a:off x="4958933" y="2410408"/>
              <a:ext cx="2195334" cy="2841655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081282" y="2615502"/>
              <a:ext cx="2018155" cy="50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노인 복지 및 고립 예방 프로그램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31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6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37" name="直接连接符 46"/>
              <p:cNvCxnSpPr>
                <a:stCxn id="36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2095364" y="253716"/>
            <a:ext cx="231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5.2.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스웨덴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96739" y="2570990"/>
            <a:ext cx="29536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스웨덴은 부모가 육아휴직을 의무적으로 분담하도록 하는 정책을 시행하고 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이는 아버지의 육아 참여를 장려하고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가정 내 성 평등을 촉진한다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32474" y="2676031"/>
            <a:ext cx="28999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스웨덴은 공공 보육 서비스를 무상으로 제공하여 모든 가정이 양육 서비스를 이용할 수 있도록 한다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이는 부모의 경제적 부담을 줄이고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출산율 증가에 기여한다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8460627" y="2570989"/>
            <a:ext cx="29632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스웨덴은 노인 복지 프로그램을 통해 고령층의 사회적 고립을 예방하고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건강한 노후 생활을 지원한다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이는 가족 내에서의 고령층의 역할을 강화하고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세대 간의 연계를 촉진한다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2024년에 꼭 가봐야 할 베트남에서 가장 아름다운 곳 10곳 | Hoiana Resort &amp; Gol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" y="0"/>
            <a:ext cx="12181602" cy="706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-165100" y="14524"/>
            <a:ext cx="12458700" cy="7302500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  <a:alpha val="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1053592" y="2000760"/>
            <a:ext cx="1912389" cy="584775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72659" y="1796762"/>
            <a:ext cx="2488509" cy="3672650"/>
            <a:chOff x="4960755" y="2410407"/>
            <a:chExt cx="2193511" cy="3277153"/>
          </a:xfrm>
        </p:grpSpPr>
        <p:sp>
          <p:nvSpPr>
            <p:cNvPr id="4" name="矩形: 圆角 16"/>
            <p:cNvSpPr/>
            <p:nvPr/>
          </p:nvSpPr>
          <p:spPr>
            <a:xfrm>
              <a:off x="5002205" y="2410407"/>
              <a:ext cx="2152061" cy="3277153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60755" y="2612957"/>
              <a:ext cx="2018155" cy="521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저출산 지역의 출산 장려 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矩形: 圆角 30"/>
          <p:cNvSpPr/>
          <p:nvPr/>
        </p:nvSpPr>
        <p:spPr>
          <a:xfrm>
            <a:off x="3723368" y="2000761"/>
            <a:ext cx="1912389" cy="584774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589462" y="1796763"/>
            <a:ext cx="2225296" cy="3672650"/>
            <a:chOff x="5002205" y="2410408"/>
            <a:chExt cx="2152061" cy="2841654"/>
          </a:xfrm>
        </p:grpSpPr>
        <p:sp>
          <p:nvSpPr>
            <p:cNvPr id="11" name="矩形: 圆角 32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83192" y="2532883"/>
              <a:ext cx="2018155" cy="50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사회 인프라 및 교육에 대한 투자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矩形: 圆角 37"/>
          <p:cNvSpPr/>
          <p:nvPr/>
        </p:nvSpPr>
        <p:spPr>
          <a:xfrm>
            <a:off x="6375568" y="1994921"/>
            <a:ext cx="1912389" cy="590613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32500" y="1796762"/>
            <a:ext cx="2515456" cy="3672650"/>
            <a:chOff x="4958933" y="2410408"/>
            <a:chExt cx="2217263" cy="2841655"/>
          </a:xfrm>
        </p:grpSpPr>
        <p:sp>
          <p:nvSpPr>
            <p:cNvPr id="18" name="矩形: 圆角 47"/>
            <p:cNvSpPr/>
            <p:nvPr/>
          </p:nvSpPr>
          <p:spPr>
            <a:xfrm>
              <a:off x="4958933" y="2410408"/>
              <a:ext cx="2195334" cy="2841655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158041" y="2562227"/>
              <a:ext cx="2018155" cy="50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노인 인구를 위한 지원 정책 통합 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矩形: 圆角 54"/>
          <p:cNvSpPr/>
          <p:nvPr/>
        </p:nvSpPr>
        <p:spPr>
          <a:xfrm>
            <a:off x="9028931" y="1871042"/>
            <a:ext cx="2018155" cy="714492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791241" y="1796762"/>
            <a:ext cx="2424041" cy="3672650"/>
            <a:chOff x="4730225" y="2410407"/>
            <a:chExt cx="2424041" cy="3672649"/>
          </a:xfrm>
        </p:grpSpPr>
        <p:sp>
          <p:nvSpPr>
            <p:cNvPr id="25" name="矩形: 圆角 58"/>
            <p:cNvSpPr/>
            <p:nvPr/>
          </p:nvSpPr>
          <p:spPr>
            <a:xfrm>
              <a:off x="4730225" y="2410407"/>
              <a:ext cx="2424041" cy="3672649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967915" y="2575845"/>
              <a:ext cx="2018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다양한 인구 정책 도입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31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6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37" name="直接连接符 46"/>
              <p:cNvCxnSpPr>
                <a:stCxn id="36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2095364" y="253716"/>
            <a:ext cx="231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5.</a:t>
            </a:r>
            <a:r>
              <a:rPr lang="en-US" altLang="zh-CN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3</a:t>
            </a:r>
            <a:r>
              <a:rPr lang="zh-CN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베트남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18417" y="2840242"/>
            <a:ext cx="23427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정부는 출산을 촉진하기 위한 노력의 일환으로 출산 장려금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교육비 지원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저렴한 보육 서비스 제공과 같은 재정적 인센티브를 제공하고 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628598" y="2601385"/>
            <a:ext cx="22822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저렴하고 접근하기 쉬운 보육 시설 및 교육 기관의 설립은 가정의 재정적 부담을 완화하는 데 매우 중요하다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또한 자녀가 여러 명인 가정을 위한 지원 메커니즘 강화가 절실히 필요하다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180973" y="2639308"/>
            <a:ext cx="23545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고령화 추세에 적절하게 대응하기 위해 정부는 노인 전용 의료 서비스 및 요양 시설을 강화하는 임무를 맡고 있으며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이는 이후 젊은 인구가 부담하는 책임을 완화할 수 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8857114" y="2612065"/>
            <a:ext cx="24622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정부는 결혼 연령 증가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도시 환경에서의 출산율 감소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새로운 가족 구조의 등장 등 사회적 변화에 효과적으로 대처할 수 있는 보다 적응력 있고 다양한 정책을 마련하는 것이 필수적이다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6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Picture 6" descr="不必爬山也能享受富士山美景～富士山周邊必逛7個景點- LIVE JAPAN (日本旅遊‧文化體驗導覽)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t="1090" r="-6649" b="46641"/>
          <a:stretch>
            <a:fillRect/>
          </a:stretch>
        </p:blipFill>
        <p:spPr bwMode="auto">
          <a:xfrm>
            <a:off x="-165100" y="3423162"/>
            <a:ext cx="13314462" cy="418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-165100" y="14524"/>
            <a:ext cx="12458700" cy="7302500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  <a:alpha val="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980876" y="1796674"/>
            <a:ext cx="2474320" cy="646330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5161" y="1592675"/>
            <a:ext cx="3295223" cy="3672650"/>
            <a:chOff x="5002205" y="2410407"/>
            <a:chExt cx="2152061" cy="3277153"/>
          </a:xfrm>
        </p:grpSpPr>
        <p:sp>
          <p:nvSpPr>
            <p:cNvPr id="4" name="矩形: 圆角 16"/>
            <p:cNvSpPr/>
            <p:nvPr/>
          </p:nvSpPr>
          <p:spPr>
            <a:xfrm>
              <a:off x="5002205" y="2410407"/>
              <a:ext cx="2152061" cy="3277153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144340" y="2716022"/>
              <a:ext cx="1751834" cy="329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보육 무상화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矩形: 圆角 30"/>
          <p:cNvSpPr/>
          <p:nvPr/>
        </p:nvSpPr>
        <p:spPr>
          <a:xfrm>
            <a:off x="4997927" y="1790833"/>
            <a:ext cx="2194654" cy="713242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427438" y="1586837"/>
            <a:ext cx="3295223" cy="3672650"/>
            <a:chOff x="5002205" y="2410408"/>
            <a:chExt cx="2152061" cy="2841654"/>
          </a:xfrm>
        </p:grpSpPr>
        <p:sp>
          <p:nvSpPr>
            <p:cNvPr id="11" name="矩形: 圆角 32"/>
            <p:cNvSpPr/>
            <p:nvPr/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73982" y="2701294"/>
              <a:ext cx="2018155" cy="285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지역 활성화 정책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矩形: 圆角 37"/>
          <p:cNvSpPr/>
          <p:nvPr/>
        </p:nvSpPr>
        <p:spPr>
          <a:xfrm>
            <a:off x="8475477" y="1757376"/>
            <a:ext cx="3173901" cy="780156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299715" y="1592675"/>
            <a:ext cx="3420236" cy="3672650"/>
            <a:chOff x="4958933" y="2410408"/>
            <a:chExt cx="2195334" cy="2841655"/>
          </a:xfrm>
        </p:grpSpPr>
        <p:sp>
          <p:nvSpPr>
            <p:cNvPr id="18" name="矩形: 圆角 47"/>
            <p:cNvSpPr/>
            <p:nvPr/>
          </p:nvSpPr>
          <p:spPr>
            <a:xfrm>
              <a:off x="4958933" y="2410408"/>
              <a:ext cx="2195334" cy="2841655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081282" y="2615502"/>
              <a:ext cx="2018155" cy="50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cs typeface="+mn-ea"/>
                  <a:sym typeface="+mn-lt"/>
                </a:rPr>
                <a:t>고령층 디지털 일자리 창출 및 연금 개혁 추진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31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6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37" name="直接连接符 46"/>
              <p:cNvCxnSpPr>
                <a:stCxn id="36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2095364" y="253716"/>
            <a:ext cx="231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5.4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일본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68086" y="2632842"/>
            <a:ext cx="2953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일본은 보육 시설의 무상화를 추진하여 부모의 경제적 부담을 줄이고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자녀 양육을 장려한다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이는 특히 여성의 경제적 참여를 높이는 데 기여한다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32474" y="2676031"/>
            <a:ext cx="28999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일본은 지역 사회의 활성화를 위한 정책을 시행하고 있다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이는 지역 내 인프라를 개선하고</a:t>
            </a:r>
            <a:r>
              <a:rPr lang="en-US" altLang="ko-KR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젊은 세대가 지역에 정착할 수 있도록 지원한다</a:t>
            </a:r>
            <a:r>
              <a:rPr lang="en-US" altLang="ko-KR" dirty="0"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8460627" y="2652806"/>
            <a:ext cx="29632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일본은 고령층을 위한 디지털 일자리를 창출하고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연금 제도를 개혁하여 고령층의 경제적 자립을 지원합니다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이는 고령층의 사회적 참여를 촉진하고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가족 내에서의 역할을 강화하는 데 기여한다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48" b="21948"/>
          <a:stretch>
            <a:fillRect/>
          </a:stretch>
        </p:blipFill>
        <p:spPr bwMode="auto">
          <a:xfrm>
            <a:off x="-165100" y="4525881"/>
            <a:ext cx="12458700" cy="27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-165100" y="14524"/>
            <a:ext cx="12458700" cy="7302500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  <a:alpha val="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: 圆角 16"/>
          <p:cNvSpPr/>
          <p:nvPr/>
        </p:nvSpPr>
        <p:spPr>
          <a:xfrm>
            <a:off x="555161" y="1592675"/>
            <a:ext cx="3295223" cy="3672650"/>
          </a:xfrm>
          <a:prstGeom prst="roundRect">
            <a:avLst>
              <a:gd name="adj" fmla="val 6380"/>
            </a:avLst>
          </a:prstGeom>
          <a:noFill/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11" name="矩形: 圆角 32"/>
          <p:cNvSpPr/>
          <p:nvPr/>
        </p:nvSpPr>
        <p:spPr>
          <a:xfrm>
            <a:off x="4427438" y="1586837"/>
            <a:ext cx="3295223" cy="3672650"/>
          </a:xfrm>
          <a:prstGeom prst="roundRect">
            <a:avLst>
              <a:gd name="adj" fmla="val 6380"/>
            </a:avLst>
          </a:prstGeom>
          <a:noFill/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18" name="矩形: 圆角 47"/>
          <p:cNvSpPr/>
          <p:nvPr/>
        </p:nvSpPr>
        <p:spPr>
          <a:xfrm>
            <a:off x="8299715" y="1592675"/>
            <a:ext cx="3420236" cy="3672650"/>
          </a:xfrm>
          <a:prstGeom prst="roundRect">
            <a:avLst>
              <a:gd name="adj" fmla="val 6380"/>
            </a:avLst>
          </a:prstGeom>
          <a:noFill/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70833" y="167746"/>
            <a:ext cx="4141594" cy="541271"/>
            <a:chOff x="632295" y="294581"/>
            <a:chExt cx="2209452" cy="274206"/>
          </a:xfrm>
        </p:grpSpPr>
        <p:sp>
          <p:nvSpPr>
            <p:cNvPr id="31" name="矩形: 圆角 40"/>
            <p:cNvSpPr/>
            <p:nvPr/>
          </p:nvSpPr>
          <p:spPr>
            <a:xfrm>
              <a:off x="1333500" y="294581"/>
              <a:ext cx="1508247" cy="274206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408406" y="348703"/>
              <a:ext cx="155669" cy="165612"/>
              <a:chOff x="1375068" y="338376"/>
              <a:chExt cx="155669" cy="165612"/>
            </a:xfrm>
          </p:grpSpPr>
          <p:sp>
            <p:nvSpPr>
              <p:cNvPr id="36" name="圆: 空心 45"/>
              <p:cNvSpPr/>
              <p:nvPr/>
            </p:nvSpPr>
            <p:spPr>
              <a:xfrm>
                <a:off x="1375068" y="338376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37" name="直接连接符 46"/>
              <p:cNvCxnSpPr>
                <a:stCxn id="36" idx="5"/>
              </p:cNvCxnSpPr>
              <p:nvPr/>
            </p:nvCxnSpPr>
            <p:spPr>
              <a:xfrm>
                <a:off x="1479484" y="442792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2095364" y="253716"/>
            <a:ext cx="231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5.5 </a:t>
            </a:r>
            <a:r>
              <a:rPr lang="ko-KR" altLang="en-US" b="1" i="0" u="none" strike="noStrike" dirty="0">
                <a:solidFill>
                  <a:srgbClr val="FFFFFF"/>
                </a:solidFill>
                <a:effectLst/>
                <a:latin typeface="-apple-system"/>
              </a:rPr>
              <a:t>중국</a:t>
            </a:r>
            <a:endParaRPr lang="ko-KR" altLang="en-US" b="1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68086" y="2343705"/>
            <a:ext cx="2953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중국 정부는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2016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년 둘째 자녀에 이어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2021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년 셋째 자녀 출산을 허용하고 다양한 출산 장려책을 내놨지만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양육비 부담과 경제 둔화에 따른 취업난 등이 겹치면서 별다른 효과를 거두지 못하고 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14287" y="2371680"/>
            <a:ext cx="28999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일각에선 남성 </a:t>
            </a:r>
            <a:r>
              <a:rPr lang="en-US" altLang="ko-KR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22</a:t>
            </a:r>
            <a:r>
              <a:rPr lang="ko-KR" altLang="en-US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세</a:t>
            </a:r>
            <a:r>
              <a:rPr lang="en-US" altLang="ko-KR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여성 </a:t>
            </a:r>
            <a:r>
              <a:rPr lang="en-US" altLang="ko-KR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20</a:t>
            </a:r>
            <a:r>
              <a:rPr lang="ko-KR" altLang="en-US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세인 법정 결혼 가능 연령을 낮추자는 등 다양한 제안이 나오고 있지만 조혼</a:t>
            </a:r>
            <a:r>
              <a:rPr lang="en-US" altLang="ko-KR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 err="1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早婚</a:t>
            </a:r>
            <a:r>
              <a:rPr lang="en-US" altLang="ko-KR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 </a:t>
            </a:r>
            <a:r>
              <a:rPr lang="ko-KR" altLang="en-US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등 부작용이 더 클 것이란 반박에 부닥쳤다</a:t>
            </a:r>
            <a:r>
              <a:rPr lang="en-US" altLang="ko-KR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lang="zh-CN" altLang="en-US" kern="1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14269" y="1853501"/>
            <a:ext cx="34202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중국 산시성 </a:t>
            </a:r>
            <a:r>
              <a:rPr lang="ko-KR" altLang="en-US" sz="1800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시안시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당국은 혼인신고를 하는 신혼부부에게 복권을 나눠주는 캠페인마저 벌이고 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시안시는 이 사업에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70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만 위안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약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억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천만원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의 예산을 배정했다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중국 인구는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2022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년 말 기준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14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억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천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175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만명으로 전년도보다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85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만명 줄었다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중국 인구가 감소한 것은 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61</a:t>
            </a:r>
            <a:r>
              <a:rPr lang="ko-KR" altLang="en-US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년 만에 처음 있는 일이다</a:t>
            </a:r>
            <a:r>
              <a:rPr lang="en-US" altLang="ko-KR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8" y="5621608"/>
            <a:ext cx="624846" cy="848233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4989526" y="226692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30408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06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3040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36523" y="1371332"/>
            <a:ext cx="12877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한국의 저출산 문제 해결을 위한 생명윤리적 고찰과 정책적 제언</a:t>
            </a:r>
            <a:endParaRPr kumimoji="0" lang="ko-KR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5646719" y="5256427"/>
            <a:ext cx="517023" cy="701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660106" y="294582"/>
            <a:ext cx="10630194" cy="307777"/>
            <a:chOff x="632295" y="294582"/>
            <a:chExt cx="9371731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8670526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713504" y="2464323"/>
            <a:ext cx="4444935" cy="3874818"/>
            <a:chOff x="988002" y="1587500"/>
            <a:chExt cx="3050598" cy="1638300"/>
          </a:xfrm>
        </p:grpSpPr>
        <p:sp>
          <p:nvSpPr>
            <p:cNvPr id="2" name="矩形: 圆角 1"/>
            <p:cNvSpPr/>
            <p:nvPr/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5" name="Google Shape;1014;p32"/>
            <p:cNvGrpSpPr/>
            <p:nvPr/>
          </p:nvGrpSpPr>
          <p:grpSpPr>
            <a:xfrm>
              <a:off x="3566737" y="1798505"/>
              <a:ext cx="215369" cy="17535"/>
              <a:chOff x="-1667150" y="2801950"/>
              <a:chExt cx="222925" cy="18150"/>
            </a:xfrm>
            <a:solidFill>
              <a:schemeClr val="bg1"/>
            </a:solidFill>
          </p:grpSpPr>
          <p:sp>
            <p:nvSpPr>
              <p:cNvPr id="97" name="Google Shape;1016;p32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8" name="Google Shape;1017;p32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9" name="Google Shape;1018;p32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Google Shape;1019;p32"/>
              <p:cNvSpPr/>
              <p:nvPr/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3" name="文本框 102"/>
            <p:cNvSpPr txBox="1"/>
            <p:nvPr/>
          </p:nvSpPr>
          <p:spPr>
            <a:xfrm>
              <a:off x="1216502" y="1722688"/>
              <a:ext cx="2018155" cy="169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zh-CN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첫째</a:t>
              </a:r>
              <a:r>
                <a:rPr lang="zh-CN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，</a:t>
              </a:r>
              <a:r>
                <a:rPr lang="zh-CN" altLang="zh-CN" sz="2000" dirty="0">
                  <a:effectLst/>
                </a:rPr>
                <a:t> 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93480" y="1139475"/>
            <a:ext cx="116050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20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한국의 낮은 출생률의 원인으로 경제사회적 요인들이 제시되었지만 급격한 저출산 추이를 온전히 설명하고 있지 못하다</a:t>
            </a:r>
            <a:r>
              <a:rPr lang="en-US" altLang="zh-CN" sz="20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zh-CN" sz="20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이에 저자는 </a:t>
            </a:r>
            <a:r>
              <a:rPr lang="ko-KR" altLang="zh-CN" sz="2000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저출산의</a:t>
            </a:r>
            <a:r>
              <a:rPr lang="ko-KR" altLang="zh-CN" sz="20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원인과 대책에 대해 국민의 </a:t>
            </a:r>
            <a:r>
              <a:rPr lang="ko-KR" altLang="zh-CN" sz="2000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의식구조적인</a:t>
            </a:r>
            <a:r>
              <a:rPr lang="ko-KR" altLang="zh-CN" sz="20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측면에 근거하여 </a:t>
            </a:r>
            <a:r>
              <a:rPr lang="ko-KR" altLang="zh-CN" sz="2000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가정친화적인</a:t>
            </a:r>
            <a:r>
              <a:rPr lang="ko-KR" altLang="zh-CN" sz="20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생명윤리적 관점에서 논하고 대안을 제시한다</a:t>
            </a:r>
            <a:r>
              <a:rPr lang="en-US" altLang="zh-CN" sz="2000" kern="1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zh-CN" altLang="zh-CN" sz="20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6445" y="3348472"/>
            <a:ext cx="355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zh-CN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임신</a:t>
            </a:r>
            <a:r>
              <a:rPr lang="en-US" altLang="zh-CN" sz="1800" b="1" dirty="0">
                <a:solidFill>
                  <a:srgbClr val="FFFFFF"/>
                </a:solidFill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출산</a:t>
            </a:r>
            <a:r>
              <a:rPr lang="en-US" altLang="zh-CN" sz="1800" b="1" dirty="0">
                <a:solidFill>
                  <a:srgbClr val="FFFFFF"/>
                </a:solidFill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zh-CN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양육의 문제를 여성만의 문제가 아닌 남녀 모두가 책임지는 선택으로 인식해야 하며 이를 위해 양육비 책임법을 도입하기를 제안한다</a:t>
            </a:r>
            <a:r>
              <a:rPr lang="en-US" altLang="zh-CN" sz="1800" b="1" dirty="0">
                <a:solidFill>
                  <a:srgbClr val="FFFFFF"/>
                </a:solidFill>
                <a:effectLst/>
                <a:latin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kumimoji="1" lang="zh-CN" altLang="en-US" b="1" dirty="0">
              <a:solidFill>
                <a:srgbClr val="FFFFFF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415804" y="2414669"/>
            <a:ext cx="4444935" cy="3874818"/>
            <a:chOff x="988002" y="1587500"/>
            <a:chExt cx="3050598" cy="1638300"/>
          </a:xfrm>
        </p:grpSpPr>
        <p:sp>
          <p:nvSpPr>
            <p:cNvPr id="7" name="矩形: 圆角 1"/>
            <p:cNvSpPr/>
            <p:nvPr/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" name="Google Shape;1014;p32"/>
            <p:cNvGrpSpPr/>
            <p:nvPr/>
          </p:nvGrpSpPr>
          <p:grpSpPr>
            <a:xfrm>
              <a:off x="3566737" y="1798505"/>
              <a:ext cx="215369" cy="17535"/>
              <a:chOff x="-1667150" y="2801950"/>
              <a:chExt cx="222925" cy="18150"/>
            </a:xfrm>
            <a:solidFill>
              <a:schemeClr val="bg1"/>
            </a:solidFill>
          </p:grpSpPr>
          <p:sp>
            <p:nvSpPr>
              <p:cNvPr id="10" name="Google Shape;1016;p32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Google Shape;1017;p32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Google Shape;1018;p32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Google Shape;1019;p32"/>
              <p:cNvSpPr/>
              <p:nvPr/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216041" y="1708063"/>
              <a:ext cx="2018155" cy="169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둘</a:t>
              </a:r>
              <a:r>
                <a:rPr lang="ko-KR" altLang="zh-CN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째</a:t>
              </a:r>
              <a:r>
                <a:rPr lang="zh-CN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，</a:t>
              </a:r>
              <a:r>
                <a:rPr lang="zh-CN" altLang="zh-CN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endParaRPr lang="zh-CN" altLang="en-US" sz="2000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  <a:sym typeface="+mn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748073" y="3099927"/>
            <a:ext cx="40871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모성과 부성</a:t>
            </a:r>
            <a:r>
              <a:rPr lang="en-US" altLang="ko-KR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아동에 대한 부정적 사회 인식을 전환하고 어머니 학교</a:t>
            </a:r>
            <a:r>
              <a:rPr lang="en-US" altLang="ko-KR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아버지 학교</a:t>
            </a:r>
            <a:r>
              <a:rPr lang="en-US" altLang="ko-KR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결혼예비학교 등을 활성화하며</a:t>
            </a:r>
            <a:r>
              <a:rPr lang="en-US" altLang="ko-KR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일과 가정의 양립을 위해 </a:t>
            </a:r>
            <a:r>
              <a:rPr lang="ko-KR" altLang="en-US" sz="1800" b="1" dirty="0" err="1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산전후</a:t>
            </a:r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 휴가 및 육아휴직에 대한 기업의 부담을 없애고 고용보험 미가입자도 동일한 혜택을 받도록 해야 한다</a:t>
            </a:r>
            <a:r>
              <a:rPr lang="en-US" altLang="ko-KR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아이에 대한 배제 문화보다는 환대 문화를 확산시키고</a:t>
            </a:r>
            <a:r>
              <a:rPr lang="en-US" altLang="ko-KR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자녀의 존재가 개인의 삶의 질을 향상시킨다는 사실을 알려야 한다</a:t>
            </a:r>
            <a:r>
              <a:rPr lang="en-US" altLang="ko-KR" sz="1800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71490" y="291520"/>
            <a:ext cx="6737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한국의 저출산 문제 해결을 위한 생명윤리적 고찰과 정책적 제언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34865" y="2464323"/>
            <a:ext cx="4423574" cy="38748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6411616" y="2453464"/>
            <a:ext cx="4423574" cy="38748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660106" y="294582"/>
            <a:ext cx="10630194" cy="307777"/>
            <a:chOff x="632295" y="294582"/>
            <a:chExt cx="9371731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8670526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99827" y="1295403"/>
            <a:ext cx="3703355" cy="5043738"/>
            <a:chOff x="988002" y="1587500"/>
            <a:chExt cx="3050598" cy="1638300"/>
          </a:xfrm>
        </p:grpSpPr>
        <p:sp>
          <p:nvSpPr>
            <p:cNvPr id="2" name="矩形: 圆角 1"/>
            <p:cNvSpPr/>
            <p:nvPr/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5" name="Google Shape;1014;p32"/>
            <p:cNvGrpSpPr/>
            <p:nvPr/>
          </p:nvGrpSpPr>
          <p:grpSpPr>
            <a:xfrm>
              <a:off x="3566737" y="1798505"/>
              <a:ext cx="215369" cy="17535"/>
              <a:chOff x="-1667150" y="2801950"/>
              <a:chExt cx="222925" cy="18150"/>
            </a:xfrm>
            <a:solidFill>
              <a:schemeClr val="bg1"/>
            </a:solidFill>
          </p:grpSpPr>
          <p:sp>
            <p:nvSpPr>
              <p:cNvPr id="97" name="Google Shape;1016;p32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8" name="Google Shape;1017;p32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9" name="Google Shape;1018;p32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Google Shape;1019;p32"/>
              <p:cNvSpPr/>
              <p:nvPr/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3" name="文本框 102"/>
            <p:cNvSpPr txBox="1"/>
            <p:nvPr/>
          </p:nvSpPr>
          <p:spPr>
            <a:xfrm>
              <a:off x="1216502" y="1722688"/>
              <a:ext cx="2018155" cy="169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셋째</a:t>
              </a:r>
              <a:r>
                <a:rPr lang="zh-CN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，</a:t>
              </a:r>
              <a:r>
                <a:rPr lang="zh-CN" altLang="zh-CN" sz="2000" dirty="0">
                  <a:effectLst/>
                </a:rPr>
                <a:t> 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3504" y="2866960"/>
            <a:ext cx="355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가정과 결혼에 대한 부정적 시선에서 벗어나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가정과 결혼이 개인의 행복에 기여한다는 사실을 홍보해야 한다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정부는 가정을 보호하고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인위적으로 </a:t>
            </a:r>
            <a:r>
              <a:rPr lang="ko-KR" altLang="en-US" b="1" dirty="0" err="1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비혼출산을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 장려하는 것은 지양해야 한다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kumimoji="1"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71490" y="291520"/>
            <a:ext cx="6737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cs typeface="+mn-ea"/>
                <a:sym typeface="+mn-lt"/>
              </a:rPr>
              <a:t>한국의 저출산 문제 해결을 위한 생명윤리적 고찰과 정책적 제언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66762" y="1295403"/>
            <a:ext cx="3556000" cy="5051150"/>
            <a:chOff x="988002" y="1587500"/>
            <a:chExt cx="3050598" cy="1638300"/>
          </a:xfrm>
        </p:grpSpPr>
        <p:sp>
          <p:nvSpPr>
            <p:cNvPr id="17" name="矩形: 圆角 1"/>
            <p:cNvSpPr/>
            <p:nvPr/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8" name="Google Shape;1014;p32"/>
            <p:cNvGrpSpPr/>
            <p:nvPr/>
          </p:nvGrpSpPr>
          <p:grpSpPr>
            <a:xfrm>
              <a:off x="3566737" y="1798505"/>
              <a:ext cx="215369" cy="17535"/>
              <a:chOff x="-1667150" y="2801950"/>
              <a:chExt cx="222925" cy="18150"/>
            </a:xfrm>
            <a:solidFill>
              <a:schemeClr val="bg1"/>
            </a:solidFill>
          </p:grpSpPr>
          <p:sp>
            <p:nvSpPr>
              <p:cNvPr id="20" name="Google Shape;1016;p32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Google Shape;1017;p32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Google Shape;1018;p32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Google Shape;1019;p32"/>
              <p:cNvSpPr/>
              <p:nvPr/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216502" y="1722688"/>
              <a:ext cx="2018155" cy="169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넷째</a:t>
              </a:r>
              <a:r>
                <a:rPr lang="zh-CN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，</a:t>
              </a:r>
              <a:r>
                <a:rPr lang="zh-CN" altLang="zh-CN" sz="2000" dirty="0">
                  <a:effectLst/>
                </a:rPr>
                <a:t> 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264247" y="2868337"/>
            <a:ext cx="355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무책임한 성문화에는 </a:t>
            </a:r>
            <a:r>
              <a:rPr lang="ko-KR" altLang="en-US" b="1" dirty="0" err="1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성매개감염병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낙태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난임 등의 부작용이 따르므로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상대방과 생명에 대한 인격적 책임을 지는 문화를 만들며 청소년들에게도 교육해야 한다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endParaRPr kumimoji="1" lang="zh-CN" altLang="en-US" b="1" dirty="0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117067" y="1302815"/>
            <a:ext cx="3833994" cy="5043738"/>
            <a:chOff x="988002" y="1587500"/>
            <a:chExt cx="3050598" cy="1638300"/>
          </a:xfrm>
        </p:grpSpPr>
        <p:sp>
          <p:nvSpPr>
            <p:cNvPr id="26" name="矩形: 圆角 1"/>
            <p:cNvSpPr/>
            <p:nvPr/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7" name="Google Shape;1014;p32"/>
            <p:cNvGrpSpPr/>
            <p:nvPr/>
          </p:nvGrpSpPr>
          <p:grpSpPr>
            <a:xfrm>
              <a:off x="3566737" y="1798505"/>
              <a:ext cx="215369" cy="17535"/>
              <a:chOff x="-1667150" y="2801950"/>
              <a:chExt cx="222925" cy="18150"/>
            </a:xfrm>
            <a:solidFill>
              <a:schemeClr val="bg1"/>
            </a:solidFill>
          </p:grpSpPr>
          <p:sp>
            <p:nvSpPr>
              <p:cNvPr id="29" name="Google Shape;1016;p32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Google Shape;1017;p32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Google Shape;1018;p32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Google Shape;1019;p32"/>
              <p:cNvSpPr/>
              <p:nvPr/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1216502" y="1722688"/>
              <a:ext cx="2018155" cy="169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다섯째 </a:t>
              </a:r>
              <a:r>
                <a:rPr lang="zh-CN" altLang="en-US" sz="2000" kern="100" dirty="0">
                  <a:latin typeface="Calibri" panose="020F050202020403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，</a:t>
              </a:r>
              <a:r>
                <a:rPr lang="zh-CN" altLang="zh-CN" sz="2000" dirty="0">
                  <a:effectLst/>
                </a:rPr>
                <a:t> 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8286342" y="2648371"/>
            <a:ext cx="355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물질중심주의와 생명에 대한 무관심의 문화로서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대만의 생명교육운동의 선례를 참고하여 사회 전체의 생명에 대한 인식을 고양해야 한다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‘</a:t>
            </a:r>
            <a:r>
              <a:rPr lang="ko-KR" altLang="en-US" b="1" dirty="0" err="1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출산생명존중위원회’를</a:t>
            </a:r>
            <a:r>
              <a:rPr lang="ko-KR" altLang="en-US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 설립할 것과 생명존중교육에 대한 법률 제정 또는 자살예방법 내 생명존중문화 사업 확장을 제안하였다</a:t>
            </a:r>
            <a:r>
              <a:rPr lang="en-US" altLang="ko-KR" b="1" dirty="0">
                <a:solidFill>
                  <a:srgbClr val="FFFFFF"/>
                </a:solidFill>
                <a:effectLst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kumimoji="1"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264247" y="1295403"/>
            <a:ext cx="3556000" cy="50511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97312" y="1320806"/>
            <a:ext cx="3710020" cy="50511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8132321" y="1295403"/>
            <a:ext cx="3833993" cy="50511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5145" y="3187147"/>
            <a:ext cx="812802" cy="1066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06435" y="2284691"/>
            <a:ext cx="944032" cy="58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2287" y="2189541"/>
            <a:ext cx="1244600" cy="774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39913" y="2494719"/>
            <a:ext cx="1066800" cy="1066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3244" y="4837492"/>
            <a:ext cx="685800" cy="6159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732" y="2224922"/>
            <a:ext cx="1588557" cy="983391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707110" y="2284691"/>
            <a:ext cx="3397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100" normalizeH="0" baseline="0" noProof="0" dirty="0">
                <a:ln>
                  <a:noFill/>
                </a:ln>
                <a:solidFill>
                  <a:srgbClr val="3040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THANKS</a:t>
            </a:r>
            <a:endParaRPr kumimoji="0" lang="en-US" altLang="zh-CN" sz="6000" b="0" i="0" u="none" strike="noStrike" kern="1200" cap="none" spc="100" normalizeH="0" baseline="0" noProof="0" dirty="0">
              <a:ln>
                <a:noFill/>
              </a:ln>
              <a:solidFill>
                <a:srgbClr val="3040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762780" y="3249578"/>
            <a:ext cx="5626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8000" b="1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감사합니다</a:t>
            </a:r>
            <a:endParaRPr kumimoji="0" lang="zh-CN" altLang="en-US" sz="8000" b="1" i="0" u="none" strike="noStrike" kern="1200" cap="none" spc="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32588" y="3873708"/>
            <a:ext cx="1281451" cy="269498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8665" y="4427361"/>
            <a:ext cx="271774" cy="3564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2464" y="3325522"/>
            <a:ext cx="1054139" cy="18000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3053" y="4783844"/>
            <a:ext cx="822557" cy="111662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061" y="4172472"/>
            <a:ext cx="1196891" cy="180005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1152" y="4837491"/>
            <a:ext cx="209983" cy="2754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136" y="5084473"/>
            <a:ext cx="509182" cy="14842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4507" y="3513184"/>
            <a:ext cx="1156105" cy="15164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86245" y="2579823"/>
            <a:ext cx="1214197" cy="159264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3312" y="3467251"/>
            <a:ext cx="1156105" cy="1516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tags/tag1.xml><?xml version="1.0" encoding="utf-8"?>
<p:tagLst xmlns:p="http://schemas.openxmlformats.org/presentationml/2006/main">
  <p:tag name="commondata" val="eyJoZGlkIjoiNDFmYmIxODljMDllOWMwN2Q1YmY3ZjNiYTdjMGJiMWE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wwlkujl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9631</Words>
  <Application>WPS 演示</Application>
  <PresentationFormat>宽屏</PresentationFormat>
  <Paragraphs>400</Paragraphs>
  <Slides>35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8" baseType="lpstr">
      <vt:lpstr>Arial</vt:lpstr>
      <vt:lpstr>宋体</vt:lpstr>
      <vt:lpstr>Wingdings</vt:lpstr>
      <vt:lpstr>字魂105号-简雅黑</vt:lpstr>
      <vt:lpstr>黑体</vt:lpstr>
      <vt:lpstr>Pretendard</vt:lpstr>
      <vt:lpstr>Segoe Print</vt:lpstr>
      <vt:lpstr>Calibri</vt:lpstr>
      <vt:lpstr>Batang</vt:lpstr>
      <vt:lpstr>noto</vt:lpstr>
      <vt:lpstr>Mongolian Baiti</vt:lpstr>
      <vt:lpstr>Malgun Gothic</vt:lpstr>
      <vt:lpstr>-apple-system</vt:lpstr>
      <vt:lpstr>Times New Roman</vt:lpstr>
      <vt:lpstr>微软雅黑</vt:lpstr>
      <vt:lpstr>BatangChe</vt:lpstr>
      <vt:lpstr>Arial Unicode MS</vt:lpstr>
      <vt:lpstr>等线</vt:lpstr>
      <vt:lpstr>AppleExternalUIFontKorean-Regul</vt:lpstr>
      <vt:lpstr>AppleSystemUIFont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x</cp:lastModifiedBy>
  <cp:revision>60</cp:revision>
  <dcterms:created xsi:type="dcterms:W3CDTF">2020-11-02T11:38:00Z</dcterms:created>
  <dcterms:modified xsi:type="dcterms:W3CDTF">2024-11-26T14:51:19Z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05F5C247B4EE4CC39DF443504892228B_12</vt:lpwstr>
  </property>
  <property fmtid="{D5CDD505-2E9C-101B-9397-08002B2CF9AE}" pid="3" name="KSOProductBuildVer">
    <vt:lpwstr>2052-12.1.0.18608</vt:lpwstr>
  </property>
</Properties>
</file>