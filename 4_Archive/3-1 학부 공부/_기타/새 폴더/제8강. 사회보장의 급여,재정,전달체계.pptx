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720" r:id="rId5"/>
  </p:sldMasterIdLst>
  <p:notesMasterIdLst>
    <p:notesMasterId r:id="rId44"/>
  </p:notesMasterIdLst>
  <p:sldIdLst>
    <p:sldId id="328" r:id="rId6"/>
    <p:sldId id="329" r:id="rId7"/>
    <p:sldId id="334" r:id="rId8"/>
    <p:sldId id="307" r:id="rId9"/>
    <p:sldId id="333" r:id="rId10"/>
    <p:sldId id="308" r:id="rId11"/>
    <p:sldId id="309" r:id="rId12"/>
    <p:sldId id="310" r:id="rId13"/>
    <p:sldId id="335" r:id="rId14"/>
    <p:sldId id="311" r:id="rId15"/>
    <p:sldId id="336" r:id="rId16"/>
    <p:sldId id="337" r:id="rId17"/>
    <p:sldId id="338" r:id="rId18"/>
    <p:sldId id="312" r:id="rId19"/>
    <p:sldId id="313" r:id="rId20"/>
    <p:sldId id="314" r:id="rId21"/>
    <p:sldId id="339" r:id="rId22"/>
    <p:sldId id="340" r:id="rId23"/>
    <p:sldId id="315" r:id="rId24"/>
    <p:sldId id="341" r:id="rId25"/>
    <p:sldId id="342" r:id="rId26"/>
    <p:sldId id="343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30" r:id="rId35"/>
    <p:sldId id="323" r:id="rId36"/>
    <p:sldId id="344" r:id="rId37"/>
    <p:sldId id="324" r:id="rId38"/>
    <p:sldId id="325" r:id="rId39"/>
    <p:sldId id="326" r:id="rId40"/>
    <p:sldId id="346" r:id="rId41"/>
    <p:sldId id="347" r:id="rId42"/>
    <p:sldId id="348" r:id="rId4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BBEB"/>
    <a:srgbClr val="F6F0FA"/>
    <a:srgbClr val="F3EBF9"/>
    <a:srgbClr val="F2EDF9"/>
    <a:srgbClr val="E2CFF1"/>
    <a:srgbClr val="CBDFFD"/>
    <a:srgbClr val="93BDFB"/>
    <a:srgbClr val="669900"/>
    <a:srgbClr val="009900"/>
    <a:srgbClr val="DAE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FA3B4-0395-497F-8128-F3B28AC29429}" v="10" dt="2021-10-30T09:01:16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423" autoAdjust="0"/>
  </p:normalViewPr>
  <p:slideViewPr>
    <p:cSldViewPr>
      <p:cViewPr varScale="1">
        <p:scale>
          <a:sx n="63" d="100"/>
          <a:sy n="63" d="100"/>
        </p:scale>
        <p:origin x="121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진화" userId="92eb4c3a-09df-4608-b9c9-92d107705cdc" providerId="ADAL" clId="{3AF8E7AB-14EC-47E0-8DAD-FA75747C2140}"/>
    <pc:docChg chg="modSld">
      <pc:chgData name="박진화" userId="92eb4c3a-09df-4608-b9c9-92d107705cdc" providerId="ADAL" clId="{3AF8E7AB-14EC-47E0-8DAD-FA75747C2140}" dt="2021-10-21T09:35:56.213" v="60" actId="20577"/>
      <pc:docMkLst>
        <pc:docMk/>
      </pc:docMkLst>
      <pc:sldChg chg="modSp mod">
        <pc:chgData name="박진화" userId="92eb4c3a-09df-4608-b9c9-92d107705cdc" providerId="ADAL" clId="{3AF8E7AB-14EC-47E0-8DAD-FA75747C2140}" dt="2021-10-21T09:35:56.213" v="60" actId="20577"/>
        <pc:sldMkLst>
          <pc:docMk/>
          <pc:sldMk cId="766704445" sldId="315"/>
        </pc:sldMkLst>
        <pc:graphicFrameChg chg="mod modGraphic">
          <ac:chgData name="박진화" userId="92eb4c3a-09df-4608-b9c9-92d107705cdc" providerId="ADAL" clId="{3AF8E7AB-14EC-47E0-8DAD-FA75747C2140}" dt="2021-10-21T09:35:56.213" v="60" actId="20577"/>
          <ac:graphicFrameMkLst>
            <pc:docMk/>
            <pc:sldMk cId="766704445" sldId="315"/>
            <ac:graphicFrameMk id="8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3AF8E7AB-14EC-47E0-8DAD-FA75747C2140}" dt="2021-10-21T09:34:04.343" v="19"/>
        <pc:sldMkLst>
          <pc:docMk/>
          <pc:sldMk cId="1335668886" sldId="340"/>
        </pc:sldMkLst>
        <pc:spChg chg="mod">
          <ac:chgData name="박진화" userId="92eb4c3a-09df-4608-b9c9-92d107705cdc" providerId="ADAL" clId="{3AF8E7AB-14EC-47E0-8DAD-FA75747C2140}" dt="2021-10-21T09:34:04.343" v="19"/>
          <ac:spMkLst>
            <pc:docMk/>
            <pc:sldMk cId="1335668886" sldId="340"/>
            <ac:spMk id="9" creationId="{00000000-0000-0000-0000-000000000000}"/>
          </ac:spMkLst>
        </pc:spChg>
      </pc:sldChg>
    </pc:docChg>
  </pc:docChgLst>
  <pc:docChgLst>
    <pc:chgData name="박진화" userId="92eb4c3a-09df-4608-b9c9-92d107705cdc" providerId="ADAL" clId="{EFAFA3B4-0395-497F-8128-F3B28AC29429}"/>
    <pc:docChg chg="undo custSel modSld">
      <pc:chgData name="박진화" userId="92eb4c3a-09df-4608-b9c9-92d107705cdc" providerId="ADAL" clId="{EFAFA3B4-0395-497F-8128-F3B28AC29429}" dt="2021-10-30T09:03:17.308" v="209"/>
      <pc:docMkLst>
        <pc:docMk/>
      </pc:docMkLst>
      <pc:sldChg chg="modSp mod">
        <pc:chgData name="박진화" userId="92eb4c3a-09df-4608-b9c9-92d107705cdc" providerId="ADAL" clId="{EFAFA3B4-0395-497F-8128-F3B28AC29429}" dt="2021-10-30T08:56:35.466" v="140"/>
        <pc:sldMkLst>
          <pc:docMk/>
          <pc:sldMk cId="474783298" sldId="309"/>
        </pc:sldMkLst>
        <pc:spChg chg="mod">
          <ac:chgData name="박진화" userId="92eb4c3a-09df-4608-b9c9-92d107705cdc" providerId="ADAL" clId="{EFAFA3B4-0395-497F-8128-F3B28AC29429}" dt="2021-10-30T08:53:28.018" v="2" actId="1076"/>
          <ac:spMkLst>
            <pc:docMk/>
            <pc:sldMk cId="474783298" sldId="309"/>
            <ac:spMk id="18" creationId="{00000000-0000-0000-0000-000000000000}"/>
          </ac:spMkLst>
        </pc:spChg>
        <pc:graphicFrameChg chg="mod modGraphic">
          <ac:chgData name="박진화" userId="92eb4c3a-09df-4608-b9c9-92d107705cdc" providerId="ADAL" clId="{EFAFA3B4-0395-497F-8128-F3B28AC29429}" dt="2021-10-30T08:56:35.466" v="140"/>
          <ac:graphicFrameMkLst>
            <pc:docMk/>
            <pc:sldMk cId="474783298" sldId="309"/>
            <ac:graphicFrameMk id="17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EFAFA3B4-0395-497F-8128-F3B28AC29429}" dt="2021-10-30T08:57:28.118" v="145" actId="255"/>
        <pc:sldMkLst>
          <pc:docMk/>
          <pc:sldMk cId="1623917500" sldId="312"/>
        </pc:sldMkLst>
        <pc:spChg chg="mod">
          <ac:chgData name="박진화" userId="92eb4c3a-09df-4608-b9c9-92d107705cdc" providerId="ADAL" clId="{EFAFA3B4-0395-497F-8128-F3B28AC29429}" dt="2021-10-30T08:57:13.871" v="143" actId="1076"/>
          <ac:spMkLst>
            <pc:docMk/>
            <pc:sldMk cId="1623917500" sldId="312"/>
            <ac:spMk id="7" creationId="{00000000-0000-0000-0000-000000000000}"/>
          </ac:spMkLst>
        </pc:spChg>
        <pc:graphicFrameChg chg="modGraphic">
          <ac:chgData name="박진화" userId="92eb4c3a-09df-4608-b9c9-92d107705cdc" providerId="ADAL" clId="{EFAFA3B4-0395-497F-8128-F3B28AC29429}" dt="2021-10-30T08:57:07.146" v="141" actId="255"/>
          <ac:graphicFrameMkLst>
            <pc:docMk/>
            <pc:sldMk cId="1623917500" sldId="312"/>
            <ac:graphicFrameMk id="8" creationId="{00000000-0000-0000-0000-000000000000}"/>
          </ac:graphicFrameMkLst>
        </pc:graphicFrameChg>
        <pc:graphicFrameChg chg="mod modGraphic">
          <ac:chgData name="박진화" userId="92eb4c3a-09df-4608-b9c9-92d107705cdc" providerId="ADAL" clId="{EFAFA3B4-0395-497F-8128-F3B28AC29429}" dt="2021-10-30T08:57:28.118" v="145" actId="255"/>
          <ac:graphicFrameMkLst>
            <pc:docMk/>
            <pc:sldMk cId="1623917500" sldId="312"/>
            <ac:graphicFrameMk id="9" creationId="{00000000-0000-0000-0000-000000000000}"/>
          </ac:graphicFrameMkLst>
        </pc:graphicFrameChg>
        <pc:picChg chg="mod">
          <ac:chgData name="박진화" userId="92eb4c3a-09df-4608-b9c9-92d107705cdc" providerId="ADAL" clId="{EFAFA3B4-0395-497F-8128-F3B28AC29429}" dt="2021-10-30T08:57:18.378" v="144" actId="1076"/>
          <ac:picMkLst>
            <pc:docMk/>
            <pc:sldMk cId="1623917500" sldId="312"/>
            <ac:picMk id="1027" creationId="{00000000-0000-0000-0000-000000000000}"/>
          </ac:picMkLst>
        </pc:picChg>
      </pc:sldChg>
      <pc:sldChg chg="modSp mod">
        <pc:chgData name="박진화" userId="92eb4c3a-09df-4608-b9c9-92d107705cdc" providerId="ADAL" clId="{EFAFA3B4-0395-497F-8128-F3B28AC29429}" dt="2021-10-30T08:58:18.994" v="152" actId="20577"/>
        <pc:sldMkLst>
          <pc:docMk/>
          <pc:sldMk cId="3741189775" sldId="313"/>
        </pc:sldMkLst>
        <pc:graphicFrameChg chg="mod modGraphic">
          <ac:chgData name="박진화" userId="92eb4c3a-09df-4608-b9c9-92d107705cdc" providerId="ADAL" clId="{EFAFA3B4-0395-497F-8128-F3B28AC29429}" dt="2021-10-30T08:58:18.994" v="152" actId="20577"/>
          <ac:graphicFrameMkLst>
            <pc:docMk/>
            <pc:sldMk cId="3741189775" sldId="313"/>
            <ac:graphicFrameMk id="10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EFAFA3B4-0395-497F-8128-F3B28AC29429}" dt="2021-10-30T09:00:06.241" v="156" actId="255"/>
        <pc:sldMkLst>
          <pc:docMk/>
          <pc:sldMk cId="151765973" sldId="317"/>
        </pc:sldMkLst>
        <pc:spChg chg="mod">
          <ac:chgData name="박진화" userId="92eb4c3a-09df-4608-b9c9-92d107705cdc" providerId="ADAL" clId="{EFAFA3B4-0395-497F-8128-F3B28AC29429}" dt="2021-10-30T08:59:58.528" v="155" actId="14100"/>
          <ac:spMkLst>
            <pc:docMk/>
            <pc:sldMk cId="151765973" sldId="317"/>
            <ac:spMk id="12" creationId="{00000000-0000-0000-0000-000000000000}"/>
          </ac:spMkLst>
        </pc:spChg>
        <pc:graphicFrameChg chg="modGraphic">
          <ac:chgData name="박진화" userId="92eb4c3a-09df-4608-b9c9-92d107705cdc" providerId="ADAL" clId="{EFAFA3B4-0395-497F-8128-F3B28AC29429}" dt="2021-10-30T09:00:06.241" v="156" actId="255"/>
          <ac:graphicFrameMkLst>
            <pc:docMk/>
            <pc:sldMk cId="151765973" sldId="317"/>
            <ac:graphicFrameMk id="10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EFAFA3B4-0395-497F-8128-F3B28AC29429}" dt="2021-10-30T09:01:39.945" v="198" actId="1076"/>
        <pc:sldMkLst>
          <pc:docMk/>
          <pc:sldMk cId="3205913520" sldId="318"/>
        </pc:sldMkLst>
        <pc:spChg chg="mod">
          <ac:chgData name="박진화" userId="92eb4c3a-09df-4608-b9c9-92d107705cdc" providerId="ADAL" clId="{EFAFA3B4-0395-497F-8128-F3B28AC29429}" dt="2021-10-30T09:01:39.945" v="198" actId="1076"/>
          <ac:spMkLst>
            <pc:docMk/>
            <pc:sldMk cId="3205913520" sldId="318"/>
            <ac:spMk id="10" creationId="{00000000-0000-0000-0000-000000000000}"/>
          </ac:spMkLst>
        </pc:spChg>
        <pc:graphicFrameChg chg="mod modGraphic">
          <ac:chgData name="박진화" userId="92eb4c3a-09df-4608-b9c9-92d107705cdc" providerId="ADAL" clId="{EFAFA3B4-0395-497F-8128-F3B28AC29429}" dt="2021-10-30T09:01:22.710" v="197" actId="6549"/>
          <ac:graphicFrameMkLst>
            <pc:docMk/>
            <pc:sldMk cId="3205913520" sldId="318"/>
            <ac:graphicFrameMk id="8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EFAFA3B4-0395-497F-8128-F3B28AC29429}" dt="2021-10-30T09:03:17.308" v="209"/>
        <pc:sldMkLst>
          <pc:docMk/>
          <pc:sldMk cId="3327189712" sldId="321"/>
        </pc:sldMkLst>
        <pc:spChg chg="mod">
          <ac:chgData name="박진화" userId="92eb4c3a-09df-4608-b9c9-92d107705cdc" providerId="ADAL" clId="{EFAFA3B4-0395-497F-8128-F3B28AC29429}" dt="2021-10-30T09:02:53.509" v="206" actId="14100"/>
          <ac:spMkLst>
            <pc:docMk/>
            <pc:sldMk cId="3327189712" sldId="321"/>
            <ac:spMk id="15" creationId="{00000000-0000-0000-0000-000000000000}"/>
          </ac:spMkLst>
        </pc:spChg>
        <pc:spChg chg="mod">
          <ac:chgData name="박진화" userId="92eb4c3a-09df-4608-b9c9-92d107705cdc" providerId="ADAL" clId="{EFAFA3B4-0395-497F-8128-F3B28AC29429}" dt="2021-10-30T09:02:56.821" v="207" actId="14100"/>
          <ac:spMkLst>
            <pc:docMk/>
            <pc:sldMk cId="3327189712" sldId="321"/>
            <ac:spMk id="21" creationId="{00000000-0000-0000-0000-000000000000}"/>
          </ac:spMkLst>
        </pc:spChg>
        <pc:graphicFrameChg chg="modGraphic">
          <ac:chgData name="박진화" userId="92eb4c3a-09df-4608-b9c9-92d107705cdc" providerId="ADAL" clId="{EFAFA3B4-0395-497F-8128-F3B28AC29429}" dt="2021-10-30T09:03:17.308" v="209"/>
          <ac:graphicFrameMkLst>
            <pc:docMk/>
            <pc:sldMk cId="3327189712" sldId="321"/>
            <ac:graphicFrameMk id="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8B6E2-6FFE-4E43-9128-2FC654A0449F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FAFDC-D838-4221-905A-6979C4A368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045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8513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567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266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49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035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3934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319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017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940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9627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145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>
                <a:solidFill>
                  <a:prstClr val="black"/>
                </a:solidFill>
              </a:rPr>
              <a:pPr/>
              <a:t>30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3436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3400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990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0FAFDC-D838-4221-905A-6979C4A368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323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73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4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4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68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7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63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60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65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9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91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303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461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10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214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969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808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111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0217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536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613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9238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3482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8238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5894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902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7948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9586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2823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6788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941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0553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6221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6559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284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154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7713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753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2739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36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2952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145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0026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987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7022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6779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4082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1139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0006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4390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495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1125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2715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000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6100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12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/>
              <a:t>2022-10-20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13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03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22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27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06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053790" y="1381512"/>
            <a:ext cx="845104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79512" y="1791122"/>
            <a:ext cx="34034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</a:t>
            </a:r>
            <a:r>
              <a:rPr lang="en-US" altLang="ko-KR" sz="24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급여와 재원</a:t>
            </a:r>
            <a:endParaRPr lang="ko-KR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24547" y="3645024"/>
            <a:ext cx="633670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사회보장의 전통적 급여대상과 세부원칙을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사회보장의 급여의 종류에 대해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 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사회보장의 공공부분 재원을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사회보장의 민간부문 재원을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9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3779912" y="2276872"/>
            <a:ext cx="0" cy="309634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21087" y="548680"/>
            <a:ext cx="1738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CONTENTS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4283968" y="2205370"/>
            <a:ext cx="4536504" cy="3239348"/>
          </a:xfrm>
        </p:spPr>
        <p:txBody>
          <a:bodyPr wrap="square" anchor="t" anchorCtr="0">
            <a:spAutoFit/>
          </a:bodyPr>
          <a:lstStyle/>
          <a:p>
            <a:pPr marL="355600" indent="-355600" fontAlgn="base">
              <a:lnSpc>
                <a:spcPct val="200000"/>
              </a:lnSpc>
              <a:spcBef>
                <a:spcPts val="500"/>
              </a:spcBef>
              <a:buClr>
                <a:srgbClr val="7030A0"/>
              </a:buClr>
              <a:buSzPct val="90000"/>
              <a:buFont typeface="+mj-lt"/>
              <a:buAutoNum type="arabicPeriod"/>
            </a:pP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급여대상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marL="355600" indent="-355600" fontAlgn="base">
              <a:lnSpc>
                <a:spcPct val="200000"/>
              </a:lnSpc>
              <a:spcBef>
                <a:spcPts val="500"/>
              </a:spcBef>
              <a:buClr>
                <a:srgbClr val="7030A0"/>
              </a:buClr>
              <a:buSzPct val="90000"/>
              <a:buFont typeface="+mj-lt"/>
              <a:buAutoNum type="arabicPeriod"/>
            </a:pP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급여형태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marL="355600" indent="-355600" fontAlgn="base">
              <a:lnSpc>
                <a:spcPct val="200000"/>
              </a:lnSpc>
              <a:spcBef>
                <a:spcPts val="500"/>
              </a:spcBef>
              <a:buClr>
                <a:srgbClr val="7030A0"/>
              </a:buClr>
              <a:buSzPct val="90000"/>
              <a:buFont typeface="+mj-lt"/>
              <a:buAutoNum type="arabicPeriod"/>
            </a:pP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재원조달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marL="355600" indent="-355600" fontAlgn="base">
              <a:lnSpc>
                <a:spcPct val="200000"/>
              </a:lnSpc>
              <a:spcBef>
                <a:spcPts val="500"/>
              </a:spcBef>
              <a:buClr>
                <a:srgbClr val="7030A0"/>
              </a:buClr>
              <a:buSzPct val="90000"/>
              <a:buFont typeface="+mj-lt"/>
              <a:buAutoNum type="arabicPeriod"/>
            </a:pPr>
            <a:r>
              <a:rPr lang="ko-KR" altLang="en-US" sz="2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95536" y="3199231"/>
            <a:ext cx="3024336" cy="1251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 </a:t>
            </a:r>
            <a:endParaRPr lang="en-US" altLang="ko-KR" sz="2400" dirty="0">
              <a:solidFill>
                <a:prstClr val="black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ctr">
              <a:spcBef>
                <a:spcPts val="200"/>
              </a:spcBef>
            </a:pP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</a:t>
            </a:r>
            <a:endParaRPr lang="en-US" altLang="ko-KR" sz="2400" dirty="0">
              <a:solidFill>
                <a:prstClr val="black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ctr">
              <a:spcBef>
                <a:spcPts val="200"/>
              </a:spcBef>
            </a:pP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급여</a:t>
            </a:r>
            <a:r>
              <a:rPr lang="en-US" altLang="ko-KR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90458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급여대상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405854" y="2204864"/>
            <a:ext cx="8342609" cy="1507249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72000" rIns="144000" bIns="108000">
            <a:spAutoFit/>
          </a:bodyPr>
          <a:lstStyle/>
          <a:p>
            <a:pPr marL="342900" marR="0" lvl="0" indent="-34290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급여대상이란 사회보장급여를 받을 수 있는 수혜자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개인이나 집단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342900" marR="0" lvl="0" indent="-34290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사회보장급여를 받기 위해서는 일정한 자격요건을 갖추어야 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자격요건은 </a:t>
            </a:r>
            <a:r>
              <a:rPr lang="ko-KR" altLang="en-US" sz="20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일정한 원칙과 구체적 기준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있어야 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63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보편주의와 선별주의 </a:t>
            </a: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: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전통적인 할당원칙</a:t>
            </a:r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급여대상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405854" y="2204864"/>
            <a:ext cx="8342609" cy="2892243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72000" rIns="144000" bIns="10800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사회보장급여의 급여대상의 선정 기준은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보편주의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(universalism)</a:t>
            </a:r>
            <a:r>
              <a:rPr lang="ko-KR" altLang="en-US" sz="2000" dirty="0">
                <a:latin typeface="+mn-ea"/>
              </a:rPr>
              <a:t>와 </a:t>
            </a:r>
            <a:r>
              <a: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선별주의</a:t>
            </a:r>
            <a:r>
              <a:rPr lang="en-US" altLang="ko-KR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(</a:t>
            </a:r>
            <a:r>
              <a:rPr lang="en-US" altLang="ko-KR" sz="2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selectivism</a:t>
            </a:r>
            <a:r>
              <a:rPr lang="en-US" altLang="ko-KR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라는 두 개의 원칙에서 출발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보편주의는 전국민을 대상으로 주어지고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급여는 시민권에 입각한 권리로 제공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아동수당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노령수당 등과 사회보험제도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선별주의는 자산조사를 통해 취약계층이나 요보호대상자를 선별하여 제공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공공부조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공공임대주택</a:t>
            </a:r>
            <a:r>
              <a:rPr lang="en-US" altLang="ko-KR" sz="2000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2651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prstClr val="white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89847" y="2708920"/>
            <a:ext cx="8342609" cy="3867703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72000" rIns="144000" bIns="108000">
            <a:spAutoFit/>
          </a:bodyPr>
          <a:lstStyle/>
          <a:p>
            <a:pPr marL="285750" indent="-285750" fontAlgn="base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</a:rPr>
              <a:t>첫째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급여를 받는 사람들이 권리로서 급여를 받기 때문에 어떤 수치심도 갖지 않아 인간의 존엄성을 보존할 수 있으며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사회적 통합을 높일 수 있음</a:t>
            </a:r>
            <a:endParaRPr lang="en-US" altLang="ko-KR" dirty="0">
              <a:solidFill>
                <a:prstClr val="black"/>
              </a:solidFill>
            </a:endParaRPr>
          </a:p>
          <a:p>
            <a:pPr marL="285750" indent="-285750" fontAlgn="base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</a:rPr>
              <a:t>둘째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사회적으로 </a:t>
            </a:r>
            <a:r>
              <a:rPr lang="ko-KR" altLang="en-US" dirty="0" err="1">
                <a:solidFill>
                  <a:prstClr val="black"/>
                </a:solidFill>
              </a:rPr>
              <a:t>비용효과성</a:t>
            </a:r>
            <a:r>
              <a:rPr lang="en-US" altLang="ko-KR" dirty="0">
                <a:solidFill>
                  <a:prstClr val="black"/>
                </a:solidFill>
              </a:rPr>
              <a:t>(cost effectiveness)</a:t>
            </a:r>
            <a:r>
              <a:rPr lang="ko-KR" altLang="en-US" dirty="0">
                <a:solidFill>
                  <a:prstClr val="black"/>
                </a:solidFill>
              </a:rPr>
              <a:t>을 높일 수 있음</a:t>
            </a:r>
            <a:endParaRPr lang="en-US" altLang="ko-KR" dirty="0">
              <a:solidFill>
                <a:prstClr val="black"/>
              </a:solidFill>
            </a:endParaRPr>
          </a:p>
          <a:p>
            <a:pPr fontAlgn="base">
              <a:lnSpc>
                <a:spcPct val="150000"/>
              </a:lnSpc>
              <a:buClr>
                <a:srgbClr val="7030A0"/>
              </a:buClr>
            </a:pPr>
            <a:r>
              <a:rPr lang="ko-KR" altLang="en-US" dirty="0">
                <a:solidFill>
                  <a:prstClr val="black"/>
                </a:solidFill>
              </a:rPr>
              <a:t>    예방을 위해 사용한 보편적 비용은 장기적으로 볼 때 미래에 발생할지 </a:t>
            </a:r>
            <a:r>
              <a:rPr lang="ko-KR" altLang="en-US" dirty="0" err="1">
                <a:solidFill>
                  <a:prstClr val="black"/>
                </a:solidFill>
              </a:rPr>
              <a:t>모르</a:t>
            </a:r>
            <a:endParaRPr lang="en-US" altLang="ko-KR" dirty="0">
              <a:solidFill>
                <a:prstClr val="black"/>
              </a:solidFill>
            </a:endParaRPr>
          </a:p>
          <a:p>
            <a:pPr fontAlgn="base">
              <a:lnSpc>
                <a:spcPct val="150000"/>
              </a:lnSpc>
              <a:buClr>
                <a:srgbClr val="7030A0"/>
              </a:buClr>
            </a:pPr>
            <a:r>
              <a:rPr lang="en-US" altLang="ko-KR" dirty="0">
                <a:solidFill>
                  <a:prstClr val="black"/>
                </a:solidFill>
              </a:rPr>
              <a:t>    </a:t>
            </a:r>
            <a:r>
              <a:rPr lang="ko-KR" altLang="en-US" dirty="0">
                <a:solidFill>
                  <a:prstClr val="black"/>
                </a:solidFill>
              </a:rPr>
              <a:t>는 사회적 문제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청소년 비행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심리</a:t>
            </a:r>
            <a:r>
              <a:rPr lang="en-US" altLang="ko-KR" dirty="0">
                <a:solidFill>
                  <a:prstClr val="black"/>
                </a:solidFill>
              </a:rPr>
              <a:t>·</a:t>
            </a:r>
            <a:r>
              <a:rPr lang="ko-KR" altLang="en-US" dirty="0">
                <a:solidFill>
                  <a:prstClr val="black"/>
                </a:solidFill>
              </a:rPr>
              <a:t>사회적 장애 등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에 따르는 </a:t>
            </a:r>
            <a:r>
              <a:rPr lang="ko-KR" altLang="en-US" spc="-150" dirty="0">
                <a:solidFill>
                  <a:prstClr val="black"/>
                </a:solidFill>
              </a:rPr>
              <a:t>많은 복지비용을 </a:t>
            </a:r>
            <a:endParaRPr lang="en-US" altLang="ko-KR" spc="-150" dirty="0">
              <a:solidFill>
                <a:prstClr val="black"/>
              </a:solidFill>
            </a:endParaRPr>
          </a:p>
          <a:p>
            <a:pPr fontAlgn="base">
              <a:lnSpc>
                <a:spcPct val="150000"/>
              </a:lnSpc>
              <a:buClr>
                <a:srgbClr val="7030A0"/>
              </a:buClr>
            </a:pPr>
            <a:r>
              <a:rPr lang="en-US" altLang="ko-KR" spc="-150" dirty="0">
                <a:solidFill>
                  <a:prstClr val="black"/>
                </a:solidFill>
              </a:rPr>
              <a:t>     </a:t>
            </a:r>
            <a:r>
              <a:rPr lang="ko-KR" altLang="en-US" spc="-150" dirty="0">
                <a:solidFill>
                  <a:prstClr val="black"/>
                </a:solidFill>
              </a:rPr>
              <a:t>절감하는 </a:t>
            </a:r>
            <a:r>
              <a:rPr lang="ko-KR" altLang="en-US" dirty="0">
                <a:solidFill>
                  <a:prstClr val="black"/>
                </a:solidFill>
              </a:rPr>
              <a:t>효과가 있을 수 있기 때문</a:t>
            </a:r>
            <a:endParaRPr lang="en-US" altLang="ko-KR" dirty="0">
              <a:solidFill>
                <a:prstClr val="black"/>
              </a:solidFill>
            </a:endParaRPr>
          </a:p>
          <a:p>
            <a:pPr marL="285750" indent="-285750" fontAlgn="base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</a:rPr>
              <a:t>셋째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보편주의는 선별주의 보다 운영비용이 적게 듦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자산조사 업무 불필요</a:t>
            </a:r>
            <a:r>
              <a:rPr lang="en-US" altLang="ko-KR" dirty="0">
                <a:solidFill>
                  <a:prstClr val="black"/>
                </a:solidFill>
              </a:rPr>
              <a:t>) </a:t>
            </a:r>
          </a:p>
          <a:p>
            <a:pPr marL="285750" indent="-285750" fontAlgn="base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70C0"/>
                </a:solidFill>
              </a:rPr>
              <a:t>보편주의의 단점으로는 한정된 자원을 꼭 필요한 부분에 효과적으로 사용하는데 한계가 있음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</a:rPr>
              <a:t>보편주의와 선별주의 </a:t>
            </a:r>
            <a:r>
              <a:rPr lang="en-US" altLang="ko-KR" sz="2400" b="1" dirty="0">
                <a:solidFill>
                  <a:srgbClr val="7030A0"/>
                </a:solidFill>
              </a:rPr>
              <a:t>: </a:t>
            </a:r>
            <a:r>
              <a:rPr lang="ko-KR" altLang="en-US" sz="2400" b="1" dirty="0">
                <a:solidFill>
                  <a:srgbClr val="7030A0"/>
                </a:solidFill>
              </a:rPr>
              <a:t>전통적인 할당원칙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405854" y="2132856"/>
            <a:ext cx="3376352" cy="400110"/>
            <a:chOff x="971600" y="2380818"/>
            <a:chExt cx="3376352" cy="400110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Font typeface="Arial" panose="020B0604020202020204" pitchFamily="34" charset="0"/>
                <a:buNone/>
              </a:pPr>
              <a:r>
                <a:rPr lang="ko-KR" altLang="en-US" sz="2000" b="1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보편주의의 장점과 단점</a:t>
              </a:r>
            </a:p>
          </p:txBody>
        </p:sp>
      </p:grpSp>
      <p:sp>
        <p:nvSpPr>
          <p:cNvPr id="22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급여대상</a:t>
            </a:r>
          </a:p>
        </p:txBody>
      </p:sp>
    </p:spTree>
    <p:extLst>
      <p:ext uri="{BB962C8B-B14F-4D97-AF65-F5344CB8AC3E}">
        <p14:creationId xmlns:p14="http://schemas.microsoft.com/office/powerpoint/2010/main" val="196994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5855" y="2780928"/>
            <a:ext cx="8342609" cy="378965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285750" indent="-285750" fontAlgn="base">
              <a:lnSpc>
                <a:spcPts val="3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</a:rPr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필요한 사람들에게만 사회적 자원을 집중함으로써 </a:t>
            </a:r>
            <a:r>
              <a:rPr lang="ko-KR" altLang="en-US" dirty="0">
                <a:solidFill>
                  <a:srgbClr val="00B050"/>
                </a:solidFill>
              </a:rPr>
              <a:t>대상효율성</a:t>
            </a:r>
            <a:r>
              <a:rPr lang="en-US" altLang="ko-KR" dirty="0">
                <a:solidFill>
                  <a:srgbClr val="00B050"/>
                </a:solidFill>
              </a:rPr>
              <a:t>(target efficiency)</a:t>
            </a:r>
            <a:r>
              <a:rPr lang="ko-KR" altLang="en-US" dirty="0">
                <a:solidFill>
                  <a:srgbClr val="00B050"/>
                </a:solidFill>
              </a:rPr>
              <a:t>을 높일 수 있음</a:t>
            </a:r>
            <a:endParaRPr lang="en-US" altLang="ko-KR" dirty="0">
              <a:solidFill>
                <a:srgbClr val="00B050"/>
              </a:solidFill>
            </a:endParaRPr>
          </a:p>
          <a:p>
            <a:pPr marL="285750" indent="-285750" fontAlgn="base">
              <a:lnSpc>
                <a:spcPts val="3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빈곤자를 표적으로 하여 사회적 욕구가 있는 사람에게만 급여를 집중시킬 경우 사회적 형평성과 효율성이 제고되고</a:t>
            </a:r>
            <a:r>
              <a:rPr lang="en-US" altLang="ko-KR" dirty="0"/>
              <a:t>, </a:t>
            </a:r>
            <a:r>
              <a:rPr lang="ko-KR" altLang="en-US" dirty="0"/>
              <a:t>사회적 평등의 원칙에도 부합됨</a:t>
            </a:r>
            <a:endParaRPr lang="en-US" altLang="ko-KR" dirty="0"/>
          </a:p>
          <a:p>
            <a:pPr marL="285750" indent="-285750" fontAlgn="base">
              <a:lnSpc>
                <a:spcPts val="3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</a:rPr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선별주의는 재정이 적게 소요되어 재정확보가 용이함</a:t>
            </a:r>
            <a:r>
              <a:rPr lang="en-US" altLang="ko-KR" dirty="0"/>
              <a:t> </a:t>
            </a:r>
          </a:p>
          <a:p>
            <a:pPr marL="285750" indent="-285750" fontAlgn="base">
              <a:lnSpc>
                <a:spcPts val="3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선별주의는 소득조사나 자산조사를 거쳐 공적인 부조가 필요한 사람에게만 급여를 제공하기 때문에 대상자가 한정되어 보편주의보다 재정이 적게 소요</a:t>
            </a:r>
            <a:endParaRPr lang="en-US" altLang="ko-KR" dirty="0"/>
          </a:p>
          <a:p>
            <a:pPr marL="285750" indent="-285750" fontAlgn="base">
              <a:lnSpc>
                <a:spcPts val="3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70C0"/>
                </a:solidFill>
              </a:rPr>
              <a:t>선별주의의 단점은 수급자가 수치심을 느끼게 됨에 따라 심리</a:t>
            </a:r>
            <a:r>
              <a:rPr lang="en-US" altLang="ko-KR" dirty="0">
                <a:solidFill>
                  <a:srgbClr val="0070C0"/>
                </a:solidFill>
              </a:rPr>
              <a:t>·</a:t>
            </a:r>
            <a:r>
              <a:rPr lang="ko-KR" altLang="en-US" dirty="0">
                <a:solidFill>
                  <a:srgbClr val="0070C0"/>
                </a:solidFill>
              </a:rPr>
              <a:t>사회적 낙인을 줄 수 있다는 점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보편주의와 선별주의 </a:t>
            </a: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: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전통적인 할당원칙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405855" y="2134307"/>
            <a:ext cx="3376352" cy="400110"/>
            <a:chOff x="971600" y="2380818"/>
            <a:chExt cx="3376352" cy="400110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선별주의의 장점과 단점</a:t>
              </a:r>
            </a:p>
          </p:txBody>
        </p:sp>
      </p:grpSp>
      <p:sp>
        <p:nvSpPr>
          <p:cNvPr id="21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급여대상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288329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133487"/>
              </p:ext>
            </p:extLst>
          </p:nvPr>
        </p:nvGraphicFramePr>
        <p:xfrm>
          <a:off x="400695" y="2093246"/>
          <a:ext cx="8342609" cy="4386000"/>
        </p:xfrm>
        <a:graphic>
          <a:graphicData uri="http://schemas.openxmlformats.org/drawingml/2006/table">
            <a:tbl>
              <a:tblPr/>
              <a:tblGrid>
                <a:gridCol w="64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5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구분 </a:t>
                      </a:r>
                    </a:p>
                  </a:txBody>
                  <a:tcPr marL="72000" marR="72000" marT="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보편주의</a:t>
                      </a:r>
                    </a:p>
                  </a:txBody>
                  <a:tcPr marL="72000" marR="72000" marT="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선별주의</a:t>
                      </a:r>
                    </a:p>
                  </a:txBody>
                  <a:tcPr marL="72000" marR="72000" marT="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대상</a:t>
                      </a:r>
                      <a:endParaRPr lang="en-US" altLang="ko-KR" sz="1800" spc="0" baseline="0" dirty="0"/>
                    </a:p>
                  </a:txBody>
                  <a:tcPr marL="72000" marR="72000" marT="36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전 국민을 적용대상으로 함</a:t>
                      </a:r>
                      <a:endParaRPr lang="en-US" altLang="ko-KR" sz="1800" spc="0" baseline="0" dirty="0"/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취약계층과 </a:t>
                      </a:r>
                      <a:r>
                        <a:rPr lang="ko-KR" altLang="en-US" sz="1800" spc="0" baseline="0" dirty="0" err="1"/>
                        <a:t>요보호자</a:t>
                      </a:r>
                      <a:endParaRPr lang="en-US" altLang="ko-KR" sz="1800" spc="0" baseline="0" dirty="0"/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급여</a:t>
                      </a:r>
                      <a:endParaRPr lang="en-US" altLang="ko-KR" sz="1800" spc="0" baseline="0" dirty="0"/>
                    </a:p>
                  </a:txBody>
                  <a:tcPr marL="72000" marR="72000" marT="36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사회적 권리로 주어짐</a:t>
                      </a:r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자산조사를 통해 개인적 욕구와 상황에   </a:t>
                      </a:r>
                      <a:endParaRPr lang="en-US" altLang="ko-KR" sz="1800" spc="0" baseline="0" dirty="0"/>
                    </a:p>
                    <a:p>
                      <a:pPr marL="0" marR="0" indent="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ko-KR" sz="1800" spc="0" baseline="0" dirty="0"/>
                        <a:t>  </a:t>
                      </a:r>
                      <a:r>
                        <a:rPr lang="ko-KR" altLang="en-US" sz="1800" spc="0" baseline="0" dirty="0"/>
                        <a:t>따라 주어짐</a:t>
                      </a:r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장점</a:t>
                      </a:r>
                      <a:endParaRPr lang="en-US" altLang="ko-KR" sz="1800" spc="0" baseline="0" dirty="0"/>
                    </a:p>
                  </a:txBody>
                  <a:tcPr marL="72000" marR="72000" marT="36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최저소득보장</a:t>
                      </a:r>
                      <a:r>
                        <a:rPr lang="en-US" altLang="ko-KR" sz="1800" spc="0" baseline="0" dirty="0"/>
                        <a:t>(</a:t>
                      </a:r>
                      <a:r>
                        <a:rPr lang="ko-KR" altLang="en-US" sz="1800" spc="0" baseline="0" dirty="0"/>
                        <a:t>빈곤예방</a:t>
                      </a:r>
                      <a:r>
                        <a:rPr lang="en-US" altLang="ko-KR" sz="1800" spc="0" baseline="0" dirty="0"/>
                        <a:t>)</a:t>
                      </a:r>
                    </a:p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수혜자에게 낙인을 가하지   </a:t>
                      </a:r>
                      <a:endParaRPr lang="en-US" altLang="ko-KR" sz="1800" spc="0" baseline="0" dirty="0"/>
                    </a:p>
                    <a:p>
                      <a:pPr marL="0" marR="0" indent="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ko-KR" sz="1800" spc="0" baseline="0" dirty="0"/>
                        <a:t>  </a:t>
                      </a:r>
                      <a:r>
                        <a:rPr lang="ko-KR" altLang="en-US" sz="1800" spc="0" baseline="0" dirty="0"/>
                        <a:t>않음</a:t>
                      </a:r>
                    </a:p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행정 절차가 용이함</a:t>
                      </a:r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필요한 사람에게 서비스가 집중됨</a:t>
                      </a:r>
                    </a:p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자원낭비를 줄일 수 있음</a:t>
                      </a:r>
                    </a:p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적은 비용으로 효율성을 높일 수 있음</a:t>
                      </a:r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단점</a:t>
                      </a:r>
                      <a:endParaRPr lang="en-US" altLang="ko-KR" sz="1800" spc="0" baseline="0" dirty="0"/>
                    </a:p>
                  </a:txBody>
                  <a:tcPr marL="72000" marR="72000" marT="36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한정된 자원을 꼭 필요한   부분에 효과적으로 사용하는데 한계 </a:t>
                      </a:r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</a:t>
                      </a:r>
                      <a:r>
                        <a:rPr lang="ko-KR" altLang="en-US" sz="1800" spc="0" baseline="0" dirty="0" err="1"/>
                        <a:t>수급자에게</a:t>
                      </a:r>
                      <a:r>
                        <a:rPr lang="ko-KR" altLang="en-US" sz="1800" spc="0" baseline="0" dirty="0"/>
                        <a:t> 심리</a:t>
                      </a:r>
                      <a:r>
                        <a:rPr lang="en-US" altLang="ko-KR" sz="1800" spc="0" baseline="0" dirty="0"/>
                        <a:t>·</a:t>
                      </a:r>
                      <a:r>
                        <a:rPr lang="ko-KR" altLang="en-US" sz="1800" spc="0" baseline="0" dirty="0"/>
                        <a:t>사회적 낙인을 줄 수 </a:t>
                      </a:r>
                      <a:endParaRPr lang="en-US" altLang="ko-KR" sz="1800" spc="0" baseline="0" dirty="0"/>
                    </a:p>
                    <a:p>
                      <a:pPr marL="0" marR="0" indent="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ko-KR" sz="1800" spc="0" baseline="0" dirty="0"/>
                        <a:t>  </a:t>
                      </a:r>
                      <a:r>
                        <a:rPr lang="ko-KR" altLang="en-US" sz="1800" spc="0" baseline="0" dirty="0"/>
                        <a:t>있음</a:t>
                      </a:r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제도</a:t>
                      </a:r>
                      <a:endParaRPr lang="en-US" altLang="ko-KR" sz="1800" spc="0" baseline="0" dirty="0"/>
                    </a:p>
                  </a:txBody>
                  <a:tcPr marL="72000" marR="72000" marT="36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각종 사회수당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사회보험</a:t>
                      </a:r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spc="0" baseline="0" dirty="0"/>
                        <a:t> 공공부조제도</a:t>
                      </a:r>
                    </a:p>
                  </a:txBody>
                  <a:tcPr marL="72000" marR="72000" marT="36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제목 1"/>
          <p:cNvSpPr txBox="1">
            <a:spLocks/>
          </p:cNvSpPr>
          <p:nvPr/>
        </p:nvSpPr>
        <p:spPr>
          <a:xfrm>
            <a:off x="2436882" y="1556792"/>
            <a:ext cx="3890809" cy="40011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>
                <a:latin typeface="+mn-ea"/>
                <a:ea typeface="+mn-ea"/>
              </a:rPr>
              <a:t>&lt;</a:t>
            </a:r>
            <a:r>
              <a:rPr lang="ko-KR" altLang="en-US" sz="2000" dirty="0">
                <a:latin typeface="+mn-ea"/>
                <a:ea typeface="+mn-ea"/>
              </a:rPr>
              <a:t>표</a:t>
            </a:r>
            <a:r>
              <a:rPr lang="en-US" altLang="ko-KR" sz="2000" dirty="0">
                <a:latin typeface="+mn-ea"/>
                <a:ea typeface="+mn-ea"/>
              </a:rPr>
              <a:t>&gt; </a:t>
            </a:r>
            <a:r>
              <a:rPr lang="ko-KR" altLang="en-US" sz="2000" dirty="0">
                <a:latin typeface="+mn-ea"/>
                <a:ea typeface="+mn-ea"/>
              </a:rPr>
              <a:t>보편주의와 선별주의 비교</a:t>
            </a: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급여대상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474783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급여대상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95536" y="2348880"/>
            <a:ext cx="8352927" cy="365115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indent="-174625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보편주의와 선별주의라는 이분법은 대상자 선정문제를 단순화시켜 이해를 편하게 한다는 장점이 있으나 현실은 이런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이분법으로 대상자를 파악하기 힘든 경우도 있음</a:t>
            </a:r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pPr marL="174625" indent="-174625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즉 사회수당과 사회보험은 모두 보편주의를 적용하지만 사회수당의 경우   거주요건 및 국적이나 인구학적 조건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아동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노인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장애인 등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만 갖추면 기여금을 지불하지 않아도 되지만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반면 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사회보험은 기여금을 지불한 사람만 급여를 수급할 수 있음</a:t>
            </a:r>
            <a:endParaRPr lang="en-US" altLang="ko-KR" dirty="0">
              <a:solidFill>
                <a:srgbClr val="00B050"/>
              </a:solidFill>
              <a:latin typeface="+mn-ea"/>
            </a:endParaRPr>
          </a:p>
          <a:p>
            <a:pPr marL="174625" indent="-174625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따라서 급여대상자를 선정함에 있어 좀 더 세부적인 기준이 필요함</a:t>
            </a:r>
            <a:endParaRPr lang="en-US" altLang="ko-KR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보편주의와 선별주의 </a:t>
            </a: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: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전통적인 할당원칙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07450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급여대상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5536" y="2348880"/>
            <a:ext cx="8352927" cy="282015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보편주의와 선별주의의 단순한 기준의 문제점을 고려하여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길버트와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테렐은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사회보장급여 대상자 선정기준을 좀 더 구체화하여 네 가지로 나누었음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3400" marR="0" lvl="0" indent="-355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+mj-ea"/>
              <a:buAutoNum type="circleNumDbPlain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귀속적 욕구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(attributed needs)</a:t>
            </a:r>
          </a:p>
          <a:p>
            <a:pPr marL="533400" marR="0" lvl="0" indent="-355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+mj-ea"/>
              <a:buAutoNum type="circleNumDbPlain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(compensation)</a:t>
            </a:r>
          </a:p>
          <a:p>
            <a:pPr marL="533400" marR="0" lvl="0" indent="-355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+mj-ea"/>
              <a:buAutoNum type="circleNumDbPlain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진단적 차등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(diagnostic differentiations), </a:t>
            </a:r>
          </a:p>
          <a:p>
            <a:pPr marL="533400" marR="0" lvl="0" indent="-355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+mj-ea"/>
              <a:buAutoNum type="circleNumDbPlain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자산조사욕구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(means-tested needs) 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할당의 세부원칙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612504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급여대상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5536" y="2569796"/>
            <a:ext cx="8352927" cy="3182113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indent="-174625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귀속적 욕구에 의한 할당은 시장에 존재하는 기존의 제도에 의해서는 충족되지 않는 욕구를 공통적으로 가진 사람들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특정한 집단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에 속할 것을 조건으로 함</a:t>
            </a:r>
            <a:endParaRPr lang="en-US" altLang="ko-KR" dirty="0">
              <a:latin typeface="+mn-ea"/>
            </a:endParaRPr>
          </a:p>
          <a:p>
            <a:pPr marL="174625" indent="-174625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특정한 집단이란 모든 국민이 될 수도 있고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노인</a:t>
            </a:r>
            <a:r>
              <a:rPr lang="en-US" altLang="ko-KR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+mn-ea"/>
              </a:rPr>
              <a:t>아동 등 특정한 집단구성원</a:t>
            </a:r>
            <a:r>
              <a:rPr lang="ko-KR" altLang="en-US" dirty="0">
                <a:latin typeface="+mn-ea"/>
              </a:rPr>
              <a:t>이 될 수도 있음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의료서비스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노인수당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아동수당 등</a:t>
            </a:r>
            <a:r>
              <a:rPr lang="en-US" altLang="ko-KR" dirty="0">
                <a:latin typeface="+mn-ea"/>
              </a:rPr>
              <a:t>)</a:t>
            </a:r>
          </a:p>
          <a:p>
            <a:pPr marL="174625" indent="-174625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이 경우 욕구에 대한 </a:t>
            </a:r>
            <a:r>
              <a:rPr lang="ko-KR" altLang="en-US" dirty="0">
                <a:solidFill>
                  <a:srgbClr val="00B0F0"/>
                </a:solidFill>
                <a:latin typeface="+mn-ea"/>
              </a:rPr>
              <a:t>전문가의 규범적 판단기준</a:t>
            </a:r>
            <a:r>
              <a:rPr lang="ko-KR" altLang="en-US" dirty="0">
                <a:latin typeface="+mn-ea"/>
              </a:rPr>
              <a:t>에 따라 특정한 집단이 대상자로 선정됨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할당의 세부원칙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549D765-DE2A-48B9-9AC5-224E8EEF9F44}"/>
              </a:ext>
            </a:extLst>
          </p:cNvPr>
          <p:cNvSpPr txBox="1">
            <a:spLocks/>
          </p:cNvSpPr>
          <p:nvPr/>
        </p:nvSpPr>
        <p:spPr>
          <a:xfrm>
            <a:off x="658248" y="2060848"/>
            <a:ext cx="4705839" cy="4001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귀속적 욕구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1F9F1C9D-D6EB-4AFD-B98B-407296217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69502"/>
            <a:ext cx="215563" cy="21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944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급여대상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5536" y="2569796"/>
            <a:ext cx="8352927" cy="193561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보상에 의한 할당은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사회적</a:t>
            </a:r>
            <a:r>
              <a:rPr lang="en-US" altLang="ko-KR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경제적으로 공헌을 한 사람들의 집단이나 사회로부터 부당한 피해를 입은 사람들의 집단에 속할 것을 조건으로 함</a:t>
            </a:r>
            <a:endParaRPr lang="en-US" altLang="ko-KR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사회보험료를 납부한 사람들과 국가에 기여를 한 유공자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고엽제 피해자 등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형평성에 맞춰 전문가가 규범적으로 판단한 특정한 집단을 대상자로 선정함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할당의 세부원칙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549D765-DE2A-48B9-9AC5-224E8EEF9F44}"/>
              </a:ext>
            </a:extLst>
          </p:cNvPr>
          <p:cNvSpPr txBox="1">
            <a:spLocks/>
          </p:cNvSpPr>
          <p:nvPr/>
        </p:nvSpPr>
        <p:spPr>
          <a:xfrm>
            <a:off x="658248" y="2060848"/>
            <a:ext cx="4705839" cy="4001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보상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1F9F1C9D-D6EB-4AFD-B98B-407296217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69502"/>
            <a:ext cx="215563" cy="21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8228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급여대상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5536" y="2569796"/>
            <a:ext cx="8352927" cy="1520119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진단적 차등에 근거한 할당은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신체적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정신적 손상을 입은 사람과 같이 특정한 재화와 서비스가 필요한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개인을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대상으로 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경우 판단은 전문가의 진단에 의거함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할당의 세부원칙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549D765-DE2A-48B9-9AC5-224E8EEF9F44}"/>
              </a:ext>
            </a:extLst>
          </p:cNvPr>
          <p:cNvSpPr txBox="1">
            <a:spLocks/>
          </p:cNvSpPr>
          <p:nvPr/>
        </p:nvSpPr>
        <p:spPr>
          <a:xfrm>
            <a:off x="658248" y="2060848"/>
            <a:ext cx="4705839" cy="4001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진단적 차등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1F9F1C9D-D6EB-4AFD-B98B-407296217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69502"/>
            <a:ext cx="215563" cy="21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745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급여대상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5536" y="2569796"/>
            <a:ext cx="8352927" cy="193561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자산조사 욕구에 기초한 할당은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 개인이 필요한 재화나 서비스를 구입할 능력이 없음을 나타내는 증거에 기초하여 수급자격을 판정하는 것을 말함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사회적 급여를 받을 수 있는지 여부는 주로 </a:t>
            </a: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경제적 조건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의해 결정됨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기초생활수급자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의료급여수급자 등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할당의 세부원칙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549D765-DE2A-48B9-9AC5-224E8EEF9F44}"/>
              </a:ext>
            </a:extLst>
          </p:cNvPr>
          <p:cNvSpPr txBox="1">
            <a:spLocks/>
          </p:cNvSpPr>
          <p:nvPr/>
        </p:nvSpPr>
        <p:spPr>
          <a:xfrm>
            <a:off x="658248" y="2060848"/>
            <a:ext cx="4705839" cy="4001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자산조사욕구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1F9F1C9D-D6EB-4AFD-B98B-407296217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69502"/>
            <a:ext cx="215563" cy="21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8944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018193"/>
              </p:ext>
            </p:extLst>
          </p:nvPr>
        </p:nvGraphicFramePr>
        <p:xfrm>
          <a:off x="395536" y="2277112"/>
          <a:ext cx="8352929" cy="2703071"/>
        </p:xfrm>
        <a:graphic>
          <a:graphicData uri="http://schemas.openxmlformats.org/drawingml/2006/table">
            <a:tbl>
              <a:tblPr/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10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대 상 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욕구판단 기준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사 </a:t>
                      </a:r>
                      <a:r>
                        <a:rPr lang="ko-KR" altLang="en-US" sz="1800" b="1" spc="0" baseline="0" dirty="0" err="1">
                          <a:solidFill>
                            <a:schemeClr val="tx1"/>
                          </a:solidFill>
                        </a:rPr>
                        <a:t>례</a:t>
                      </a:r>
                      <a:endParaRPr lang="ko-KR" altLang="en-US" sz="1800" b="1" spc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0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귀속적 욕구</a:t>
                      </a:r>
                      <a:endParaRPr lang="en-US" altLang="ko-KR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특정한 집단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계층</a:t>
                      </a:r>
                      <a:endParaRPr lang="en-US" altLang="ko-KR" sz="1800" spc="0" baseline="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지역구성원</a:t>
                      </a:r>
                      <a:endParaRPr lang="en-US" altLang="ko-KR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전문가의 규범적 판단</a:t>
                      </a:r>
                      <a:endParaRPr lang="en-US" altLang="ko-KR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노령수당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아동수당</a:t>
                      </a:r>
                      <a:endParaRPr lang="en-US" altLang="ko-KR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0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보 상</a:t>
                      </a:r>
                      <a:endParaRPr lang="en-US" altLang="ko-KR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사회보험 가입자</a:t>
                      </a:r>
                      <a:endParaRPr lang="en-US" altLang="ko-KR" sz="1800" spc="0" baseline="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ko-KR" sz="1800" spc="0" baseline="0" dirty="0"/>
                        <a:t> </a:t>
                      </a:r>
                      <a:r>
                        <a:rPr lang="ko-KR" altLang="en-US" sz="1800" spc="0" baseline="0" dirty="0"/>
                        <a:t>국가유공자 등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형평성에 입각한 </a:t>
                      </a:r>
                      <a:endParaRPr lang="en-US" altLang="ko-KR" sz="1800" spc="0" baseline="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전문가의 규범적 판단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국민연금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각종 보훈급여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0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진단적 차등</a:t>
                      </a:r>
                      <a:endParaRPr lang="en-US" altLang="ko-KR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장애인 등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전문가의 진단</a:t>
                      </a:r>
                      <a:endParaRPr lang="en-US" altLang="ko-KR" sz="1800" spc="0" baseline="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ko-KR" sz="1800" spc="0" baseline="0" dirty="0"/>
                        <a:t>(</a:t>
                      </a:r>
                      <a:r>
                        <a:rPr lang="ko-KR" altLang="en-US" sz="1800" spc="0" baseline="0" dirty="0"/>
                        <a:t>등급분류</a:t>
                      </a:r>
                      <a:r>
                        <a:rPr lang="en-US" altLang="ko-KR" sz="1800" spc="0" baseline="0" dirty="0"/>
                        <a:t>)</a:t>
                      </a:r>
                      <a:endParaRPr lang="ko-KR" altLang="en-US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노인장기요양보험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장애인연금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자산조사 욕구</a:t>
                      </a:r>
                      <a:endParaRPr lang="en-US" altLang="ko-KR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빈곤층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경제적 기준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 err="1"/>
                        <a:t>국민기초생활보장급여</a:t>
                      </a:r>
                      <a:endParaRPr lang="ko-KR" altLang="en-US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제목 1"/>
          <p:cNvSpPr txBox="1">
            <a:spLocks/>
          </p:cNvSpPr>
          <p:nvPr/>
        </p:nvSpPr>
        <p:spPr>
          <a:xfrm>
            <a:off x="2404758" y="5139460"/>
            <a:ext cx="4036682" cy="3693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>
                <a:latin typeface="+mn-ea"/>
                <a:ea typeface="+mn-ea"/>
              </a:rPr>
              <a:t>&lt;</a:t>
            </a:r>
            <a:r>
              <a:rPr lang="ko-KR" altLang="en-US" sz="1800" dirty="0">
                <a:latin typeface="+mn-ea"/>
                <a:ea typeface="+mn-ea"/>
              </a:rPr>
              <a:t>할당의 원리와 잔여적</a:t>
            </a:r>
            <a:r>
              <a:rPr lang="en-US" altLang="ko-KR" sz="1800" dirty="0">
                <a:latin typeface="+mn-ea"/>
                <a:ea typeface="+mn-ea"/>
              </a:rPr>
              <a:t>·</a:t>
            </a:r>
            <a:r>
              <a:rPr lang="ko-KR" altLang="en-US" sz="1800" dirty="0">
                <a:latin typeface="+mn-ea"/>
                <a:ea typeface="+mn-ea"/>
              </a:rPr>
              <a:t>제도적개념</a:t>
            </a:r>
            <a:r>
              <a:rPr lang="en-US" altLang="ko-KR" sz="1800" dirty="0">
                <a:latin typeface="+mn-ea"/>
                <a:ea typeface="+mn-ea"/>
              </a:rPr>
              <a:t>&gt;</a:t>
            </a:r>
            <a:endParaRPr lang="ko-KR" altLang="en-US" sz="1800" dirty="0">
              <a:latin typeface="+mn-ea"/>
              <a:ea typeface="+mn-ea"/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1586123"/>
              </p:ext>
            </p:extLst>
          </p:nvPr>
        </p:nvGraphicFramePr>
        <p:xfrm>
          <a:off x="389450" y="5547870"/>
          <a:ext cx="8352928" cy="900000"/>
        </p:xfrm>
        <a:graphic>
          <a:graphicData uri="http://schemas.openxmlformats.org/drawingml/2006/table">
            <a:tbl>
              <a:tblPr/>
              <a:tblGrid>
                <a:gridCol w="186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7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귀속적 욕구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보상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진단적 차등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자산조사 욕구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제도적 개념</a:t>
                      </a:r>
                      <a:endParaRPr lang="en-US" altLang="ko-KR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endParaRPr lang="ko-KR" altLang="en-US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endParaRPr lang="ko-KR" altLang="en-US" sz="1800" spc="0" baseline="0" dirty="0"/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800" spc="0" baseline="0" dirty="0"/>
                        <a:t>잔여적 개념</a:t>
                      </a: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급여대상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할당의 세부원칙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185110296" descr="EMB00001f4c828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911" y="6179834"/>
            <a:ext cx="3384376" cy="72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162391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9091417"/>
              </p:ext>
            </p:extLst>
          </p:nvPr>
        </p:nvGraphicFramePr>
        <p:xfrm>
          <a:off x="224111" y="1760054"/>
          <a:ext cx="8740376" cy="4579806"/>
        </p:xfrm>
        <a:graphic>
          <a:graphicData uri="http://schemas.openxmlformats.org/drawingml/2006/table">
            <a:tbl>
              <a:tblPr/>
              <a:tblGrid>
                <a:gridCol w="1197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5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spc="0" baseline="0" dirty="0">
                          <a:solidFill>
                            <a:schemeClr val="tx1"/>
                          </a:solidFill>
                        </a:rPr>
                        <a:t>구분 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spc="0" baseline="0" dirty="0">
                          <a:solidFill>
                            <a:schemeClr val="tx1"/>
                          </a:solidFill>
                        </a:rPr>
                        <a:t>잔여적 복지</a:t>
                      </a:r>
                      <a:r>
                        <a:rPr lang="en-US" altLang="ko-KR" sz="1600" b="1" spc="0" baseline="0" dirty="0">
                          <a:solidFill>
                            <a:schemeClr val="tx1"/>
                          </a:solidFill>
                        </a:rPr>
                        <a:t>(residual welfare)</a:t>
                      </a:r>
                      <a:endParaRPr lang="ko-KR" altLang="en-US" sz="1600" b="1" spc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spc="0" baseline="0" dirty="0">
                          <a:solidFill>
                            <a:schemeClr val="tx1"/>
                          </a:solidFill>
                        </a:rPr>
                        <a:t>제도적 복지</a:t>
                      </a:r>
                      <a:r>
                        <a:rPr lang="en-US" altLang="ko-KR" sz="1600" b="1" spc="0" baseline="0" dirty="0">
                          <a:solidFill>
                            <a:schemeClr val="tx1"/>
                          </a:solidFill>
                        </a:rPr>
                        <a:t>(institutional welfare)</a:t>
                      </a:r>
                      <a:endParaRPr lang="ko-KR" altLang="en-US" sz="1600" b="1" spc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74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400" kern="0" spc="-5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개념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0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가족과 시장경제가 정상적인 기능을 상실하여 개인의 욕구충족과 복지의 일차적 책임을    원활하게 수행하지 못할 때 국가</a:t>
                      </a:r>
                      <a:r>
                        <a:rPr lang="en-US" altLang="ko-KR" sz="1400" kern="10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10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사회복지</a:t>
                      </a:r>
                      <a:r>
                        <a:rPr lang="en-US" altLang="ko-KR" sz="1400" kern="10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400" kern="10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가 개입하여 부족한 잔여부분을 보충해주는 것</a:t>
                      </a:r>
                      <a:endParaRPr lang="ko-KR" altLang="en-US" sz="1400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현대사회는 가족이나 시장경제를 통해 개인의 욕구를 충족시킬 수 없기 때문에 복지제공은 국가가 적극적으로 개입하여 일차적으로 기능해야 한다는 것을 전제로 사회복지가 제도적으로 체계화되어 있는 것 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욕구의 인식</a:t>
                      </a:r>
                      <a:endParaRPr lang="en-US" altLang="ko-KR" sz="1400" spc="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욕구는 비정상적인 것으로 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욕구는 예측되며</a:t>
                      </a:r>
                      <a:r>
                        <a:rPr lang="en-US" altLang="ko-KR" sz="1400" spc="0" baseline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산업화에서 나타남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2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문제의 인식</a:t>
                      </a:r>
                      <a:endParaRPr lang="en-US" altLang="ko-KR" sz="1400" spc="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문제의 상황은 긴급하고 위기임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문제는 현대생활의 복잡성에서 나옴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2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개입의 인식</a:t>
                      </a:r>
                      <a:endParaRPr lang="en-US" altLang="ko-KR" sz="1400" spc="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도움은 자원이 고갈된 후에만 받음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도움은 파괴되기 전에 제공됨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2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빈곤의 책임</a:t>
                      </a:r>
                      <a:endParaRPr lang="en-US" altLang="ko-KR" sz="1400" spc="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개인의 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사회의 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2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낙인 여부</a:t>
                      </a:r>
                      <a:endParaRPr lang="en-US" altLang="ko-KR" sz="1400" spc="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문제와 서비스는 낙인을 수반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낙인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4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지원 형태</a:t>
                      </a:r>
                      <a:endParaRPr lang="en-US" altLang="ko-KR" sz="1400" spc="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서비스는 일시적 개선을 위한 구호품 또는 자선이며</a:t>
                      </a:r>
                      <a:r>
                        <a:rPr lang="en-US" altLang="ko-KR" sz="1400" spc="0" baseline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가능한 한 일찍 종결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서비스는 예방과 재활을 강조하는 제도화로 영구적일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2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기본적 가치</a:t>
                      </a:r>
                      <a:endParaRPr lang="en-US" altLang="ko-KR" sz="1400" spc="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선별주의</a:t>
                      </a:r>
                      <a:r>
                        <a:rPr lang="en-US" altLang="ko-KR" sz="1400" spc="0" baseline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특수성</a:t>
                      </a:r>
                      <a:r>
                        <a:rPr lang="en-US" altLang="ko-KR" sz="1400" spc="0" baseline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치료에 초점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보편주의</a:t>
                      </a:r>
                      <a:r>
                        <a:rPr lang="en-US" altLang="ko-KR" sz="1400" spc="0" baseline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포괄주의</a:t>
                      </a:r>
                      <a:r>
                        <a:rPr lang="en-US" altLang="ko-KR" sz="1400" spc="0" baseline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400" spc="0" baseline="0" dirty="0">
                          <a:latin typeface="+mj-ea"/>
                          <a:ea typeface="+mj-ea"/>
                        </a:rPr>
                        <a:t>예방에 초점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제목 1"/>
          <p:cNvSpPr txBox="1">
            <a:spLocks/>
          </p:cNvSpPr>
          <p:nvPr/>
        </p:nvSpPr>
        <p:spPr>
          <a:xfrm>
            <a:off x="2779607" y="1390722"/>
            <a:ext cx="3605475" cy="3693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>
                <a:latin typeface="+mn-ea"/>
                <a:ea typeface="+mn-ea"/>
              </a:rPr>
              <a:t>&lt;</a:t>
            </a:r>
            <a:r>
              <a:rPr lang="ko-KR" altLang="en-US" sz="1800" dirty="0">
                <a:latin typeface="+mn-ea"/>
                <a:ea typeface="+mn-ea"/>
              </a:rPr>
              <a:t>표</a:t>
            </a:r>
            <a:r>
              <a:rPr lang="en-US" altLang="ko-KR" sz="1800" dirty="0">
                <a:latin typeface="+mn-ea"/>
                <a:ea typeface="+mn-ea"/>
              </a:rPr>
              <a:t>&gt; </a:t>
            </a:r>
            <a:r>
              <a:rPr lang="ko-KR" altLang="en-US" sz="1800" dirty="0">
                <a:latin typeface="+mn-ea"/>
                <a:ea typeface="+mn-ea"/>
              </a:rPr>
              <a:t>잔여적 복지와 제도적 복지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급여대상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74118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/>
        </p:nvSpPr>
        <p:spPr>
          <a:xfrm>
            <a:off x="395536" y="1556792"/>
            <a:ext cx="8352928" cy="198915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사회보장급여의 형태는 크게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현금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물질적 재화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서비스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증서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기회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권력</a:t>
            </a:r>
            <a:r>
              <a:rPr lang="ko-KR" altLang="en-US" sz="1800" dirty="0">
                <a:latin typeface="+mn-ea"/>
              </a:rPr>
              <a:t> 등의 여섯 가지로 나눌 수 있음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이 중 </a:t>
            </a:r>
            <a:r>
              <a:rPr lang="ko-KR" altLang="en-US" sz="1800" dirty="0">
                <a:solidFill>
                  <a:srgbClr val="00B050"/>
                </a:solidFill>
                <a:latin typeface="+mn-ea"/>
              </a:rPr>
              <a:t>물질적 재화와 서비스를 합하여 현물급여</a:t>
            </a:r>
            <a:r>
              <a:rPr lang="ko-KR" altLang="en-US" sz="1800" dirty="0">
                <a:latin typeface="+mn-ea"/>
              </a:rPr>
              <a:t>라고 함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급여는 현금과 현물의 형태가 가장 많이 이용되고 있음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급여형태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238982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286203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급여형태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23529" y="2276872"/>
            <a:ext cx="8352927" cy="401311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현금급여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(benefits in cash)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급여가 금전으로 제공되는 것으로 사회복지급여 중 가장 비중이 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국민연금급여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공공부조의 생계급여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장점은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수급자에게 선택의 자유와 자기결정권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소비자 선택권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부여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둘째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현물급여보다 수급자의 효용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만족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높일 수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셋째</a:t>
            </a:r>
            <a:r>
              <a:rPr lang="en-US" altLang="ko-KR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인간의 존엄성을 유지하는데 현물급여보다 우월함</a:t>
            </a:r>
            <a:r>
              <a:rPr lang="en-US" altLang="ko-KR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특히 소비단계에서</a:t>
            </a:r>
            <a:r>
              <a:rPr lang="en-US" altLang="ko-KR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넷째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물류비용이나 관리운영에 대한 비용이 들지 않아 운영효율성이 높음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단점은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수급자가 급여를 용도 외로 사용할 가능성이 높다는 점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아동수당의 아동양육 외의 비용으로 사용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기초수급자의 생계급여가 음주나 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도박 등 생활비 외의 용도로 사용될 경우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현금급여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2511784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286203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급여형태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23529" y="2276872"/>
            <a:ext cx="8352927" cy="401311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현물급여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(benefits in kind)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급여가 현금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이외의 형태로 제공되는 것으로   </a:t>
            </a:r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물질적인것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주택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식품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생필품 등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서비스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의료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 등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있음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사회보장제도에서 현물급여를 제공하는 제도는 </a:t>
            </a:r>
            <a:r>
              <a:rPr lang="ko-KR" altLang="en-US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국민건강보험제도의</a:t>
            </a:r>
            <a:r>
              <a:rPr lang="en-US" altLang="ko-KR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요양급여와 건강검진 등</a:t>
            </a:r>
            <a:r>
              <a:rPr lang="en-US" altLang="ko-KR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dirty="0" err="1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노인장기요양보험제도</a:t>
            </a:r>
            <a:r>
              <a:rPr lang="en-US" altLang="ko-KR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재가급여</a:t>
            </a:r>
            <a:r>
              <a:rPr lang="en-US" altLang="ko-KR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시설급여</a:t>
            </a:r>
            <a:r>
              <a:rPr lang="en-US" altLang="ko-KR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장점은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첫째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정책의 목표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효율성을 높일 수 있음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소비단계에서 용도 외 사용을 원천적으로 방지하고 정책의 목적을 위해서만 활용할 수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둘째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규모의 경제에 있어 현금급여보다 더 효과적임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대량생산으로 낮은 단가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단점은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획일적인 급여로 소비자 선택의 자유가 제한되고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소비하는 과정에서 수급자에게 수치심을 줄 수 있다는 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현물급여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1335668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943065"/>
              </p:ext>
            </p:extLst>
          </p:nvPr>
        </p:nvGraphicFramePr>
        <p:xfrm>
          <a:off x="467544" y="2060848"/>
          <a:ext cx="8352928" cy="4531404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4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spc="0" baseline="0" dirty="0">
                          <a:solidFill>
                            <a:schemeClr val="tx1"/>
                          </a:solidFill>
                        </a:rPr>
                        <a:t>형태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spc="0" baseline="0" dirty="0">
                          <a:solidFill>
                            <a:schemeClr val="tx1"/>
                          </a:solidFill>
                        </a:rPr>
                        <a:t>내용 및 장단점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spc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spc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78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0" baseline="0" dirty="0"/>
                        <a:t>현금</a:t>
                      </a:r>
                      <a:endParaRPr lang="en-US" altLang="ko-KR" sz="16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  <a:tabLst>
                          <a:tab pos="88900" algn="l"/>
                        </a:tabLst>
                      </a:pPr>
                      <a:r>
                        <a:rPr lang="ko-KR" altLang="en-US" sz="1600" spc="0" baseline="0" dirty="0"/>
                        <a:t> 급여가 금전으로 제공됨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  <a:tabLst>
                          <a:tab pos="88900" algn="l"/>
                        </a:tabLst>
                      </a:pPr>
                      <a:r>
                        <a:rPr lang="ko-KR" altLang="en-US" sz="1600" spc="0" baseline="0" dirty="0"/>
                        <a:t> 급여 중 가장 </a:t>
                      </a:r>
                      <a:r>
                        <a:rPr lang="ko-KR" altLang="en-US" sz="1600" kern="0" spc="0" baseline="0" dirty="0"/>
                        <a:t>비중이</a:t>
                      </a:r>
                      <a:r>
                        <a:rPr lang="ko-KR" altLang="en-US" sz="1600" spc="0" baseline="0" dirty="0"/>
                        <a:t> 높음</a:t>
                      </a:r>
                    </a:p>
                    <a:p>
                      <a:pPr marL="0" marR="0" indent="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  <a:tabLst>
                          <a:tab pos="88900" algn="l"/>
                        </a:tabLst>
                      </a:pPr>
                      <a:r>
                        <a:rPr lang="ko-KR" altLang="en-US" sz="1600" spc="0" baseline="0" dirty="0"/>
                        <a:t> 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ko-KR" altLang="en-US" sz="1600" spc="0" baseline="0" dirty="0"/>
                        <a:t>국민연금급여</a:t>
                      </a:r>
                      <a:r>
                        <a:rPr lang="en-US" altLang="ko-KR" sz="1600" spc="0" baseline="0" dirty="0"/>
                        <a:t>, </a:t>
                      </a:r>
                      <a:r>
                        <a:rPr lang="ko-KR" altLang="en-US" sz="1600" spc="0" baseline="0" dirty="0"/>
                        <a:t>공공부조급여 등</a:t>
                      </a:r>
                      <a:r>
                        <a:rPr lang="en-US" altLang="ko-KR" sz="1600" spc="0" baseline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/>
                        <a:t>장점</a:t>
                      </a:r>
                      <a:endParaRPr lang="en-US" altLang="ko-KR" sz="16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선택의 자유와 자기결정권 보호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수급자의 효용 극대화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인간의 존엄성 유지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운영효율성 높음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ko-KR" altLang="en-US" sz="1600" spc="0" baseline="0" dirty="0"/>
                        <a:t>관리비용 없음</a:t>
                      </a:r>
                      <a:r>
                        <a:rPr lang="en-US" altLang="ko-KR" sz="1600" spc="0" baseline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44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285750" marR="0" indent="-2857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/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용도 외 사용가능성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ko-KR" altLang="en-US" sz="1600" spc="0" baseline="0" dirty="0"/>
                        <a:t>통제 불가능</a:t>
                      </a:r>
                      <a:r>
                        <a:rPr lang="en-US" altLang="ko-KR" sz="1600" spc="0" baseline="0" dirty="0"/>
                        <a:t>)</a:t>
                      </a:r>
                      <a:endParaRPr lang="ko-KR" altLang="en-US" sz="16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78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0" baseline="0" dirty="0"/>
                        <a:t>현물</a:t>
                      </a:r>
                      <a:endParaRPr lang="en-US" altLang="ko-KR" sz="16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급여가 현금 이외의 형태로 제공됨</a:t>
                      </a:r>
                    </a:p>
                    <a:p>
                      <a:pPr marL="0" marR="0" indent="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600" spc="0" baseline="0" dirty="0"/>
                        <a:t>  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ko-KR" altLang="en-US" sz="1600" spc="0" baseline="0" dirty="0"/>
                        <a:t>주택</a:t>
                      </a:r>
                      <a:r>
                        <a:rPr lang="en-US" altLang="ko-KR" sz="1600" spc="0" baseline="0" dirty="0"/>
                        <a:t>, </a:t>
                      </a:r>
                      <a:r>
                        <a:rPr lang="ko-KR" altLang="en-US" sz="1600" spc="0" baseline="0" dirty="0"/>
                        <a:t>식품</a:t>
                      </a:r>
                      <a:r>
                        <a:rPr lang="en-US" altLang="ko-KR" sz="1600" spc="0" baseline="0" dirty="0"/>
                        <a:t>, </a:t>
                      </a:r>
                      <a:r>
                        <a:rPr lang="ko-KR" altLang="en-US" sz="1600" spc="0" baseline="0" dirty="0"/>
                        <a:t>생필품</a:t>
                      </a:r>
                      <a:r>
                        <a:rPr lang="en-US" altLang="ko-KR" sz="1600" spc="0" baseline="0"/>
                        <a:t>, </a:t>
                      </a:r>
                      <a:r>
                        <a:rPr lang="ko-KR" altLang="en-US" sz="1600" spc="0" baseline="0"/>
                        <a:t>의료서비스 </a:t>
                      </a:r>
                      <a:r>
                        <a:rPr lang="ko-KR" altLang="en-US" sz="1600" spc="0" baseline="0" dirty="0"/>
                        <a:t>등</a:t>
                      </a:r>
                      <a:r>
                        <a:rPr lang="en-US" altLang="ko-KR" sz="1600" spc="0" baseline="0" dirty="0"/>
                        <a:t>)</a:t>
                      </a:r>
                      <a:endParaRPr lang="ko-KR" altLang="en-US" sz="16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0" baseline="0" dirty="0"/>
                        <a:t>장점</a:t>
                      </a:r>
                      <a:endParaRPr lang="en-US" altLang="ko-KR" sz="16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정책의 목표효율성 높음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납세자의 정치적 지지가 높음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규모의 경제효과 발생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ko-KR" altLang="en-US" sz="1600" spc="0" baseline="0" dirty="0"/>
                        <a:t>대량생산</a:t>
                      </a:r>
                      <a:r>
                        <a:rPr lang="en-US" altLang="ko-KR" sz="1600" spc="0" baseline="0" dirty="0"/>
                        <a:t>)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용도 외 사용 방지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673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285750" marR="0" indent="-2857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0" baseline="0" dirty="0"/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선택의 자유 제한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많은 운영비용 소요</a:t>
                      </a:r>
                    </a:p>
                    <a:p>
                      <a:pPr marL="85725" marR="0" indent="-85725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 </a:t>
                      </a:r>
                      <a:r>
                        <a:rPr lang="ko-KR" altLang="en-US" sz="1600" spc="0" baseline="0" dirty="0" err="1"/>
                        <a:t>수급자에</a:t>
                      </a:r>
                      <a:r>
                        <a:rPr lang="ko-KR" altLang="en-US" sz="1600" spc="0" baseline="0" dirty="0"/>
                        <a:t> 대한 낙인 현상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급여형태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470477" y="1556854"/>
            <a:ext cx="3523722" cy="3693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&lt;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현금과 현물급여의 장단점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766704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286203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급여형태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23529" y="2276872"/>
            <a:ext cx="8352927" cy="442860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증서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(voucher)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일정한 용도 내에서 수급자로 하여금 원하는 재화나 서비스를 자유롭게 이용할 수 있도록 하는 이용권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현금가치를 갖는 증서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(voucher),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(coupon),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교환권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(stamp)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등을 통칭하여 부름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현금급여와 현물급여의 장점을 살리고 단점을 보완하기 위한 급여형태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lvl="0" indent="-174625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</a:rPr>
              <a:t>즉 </a:t>
            </a: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</a:rPr>
              <a:t>현금급여의 장점</a:t>
            </a:r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</a:rPr>
              <a:t>소비자의 자기결정권</a:t>
            </a:r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</a:rPr>
              <a:t>과 현물급여의 장점</a:t>
            </a:r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</a:rPr>
              <a:t>용도 외 사용 통제</a:t>
            </a:r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</a:rPr>
              <a:t>목표 효율성</a:t>
            </a:r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</a:rPr>
              <a:t>을 살릴 수 있음</a:t>
            </a:r>
            <a:endParaRPr lang="en-US" altLang="ko-KR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우리나라는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2007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년부터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전자바우처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국민행복카드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시스템을 도입하여 장애인활동지원서비스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산모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신생아 건강관리 지원사업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임신출산진료비지원제도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바우처 지원사업 등이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증서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바우처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774523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286203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급여형태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23529" y="2276872"/>
            <a:ext cx="8352927" cy="359761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(opportunities)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의도한 목표를 성취하는 데 도움이 되거나 유리한 조건 등을 부여하는 것을 말함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사회의 불이익 집단들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 소수인종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노인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장애인 등에게 진학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승급 등에서 유리한 기회를 주어 시장의 경쟁에서 평등한 기회를 주는 것임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이는 불리한 집단들에 대한 과거의 부정적 차별을 보상하는 차원의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적극적 차별임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여성이나 장애인에게 일자리의 일정비율을 할당하는 것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공무원 시험에서 제대군인에게 일정한 가산점을 주는 것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농어촌 학생이나 장애인에게 특례입학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기회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792146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286203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급여형태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23529" y="2276872"/>
            <a:ext cx="8352927" cy="2351116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(power)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은 수급자로 하여금 사회보장정책 결정에 대한 권한을 주어 정책의 내용이 그들에게 유리하게 결정되도록 하는 것임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수급자가 정책결정에 참여하여 정책의 내용에 영향을 주게 되면 수급자는  실질적으로 많은 이익을 얻을 수 있음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빈민퇴치운동에 빈민이 참여하고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노사정위원회에 노동자대표의 참여 등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6124" y="1556792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권력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2342907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95536" y="1556792"/>
            <a:ext cx="8352928" cy="4110572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사회보장은 국가의 재정상태와 절대적인 관계에 있음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아무리 좋은 제도가 만들어져도 필요한 재원조달이 이루어지지 못할 경우 그 제도는 계획으로만 그칠 가능성이 높음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재원의 종류는 크게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공공부문의 재원과 민간부문의 재원</a:t>
            </a:r>
            <a:r>
              <a:rPr lang="ko-KR" altLang="en-US" sz="1800" dirty="0">
                <a:latin typeface="+mn-ea"/>
              </a:rPr>
              <a:t>으로 나눌 수 있음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공공부문의 재원은 일반조세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조세지출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조세비용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조세감면</a:t>
            </a:r>
            <a:r>
              <a:rPr lang="en-US" altLang="ko-KR" sz="1800" dirty="0">
                <a:latin typeface="+mn-ea"/>
              </a:rPr>
              <a:t>), </a:t>
            </a:r>
            <a:r>
              <a:rPr lang="ko-KR" altLang="en-US" sz="1800" dirty="0">
                <a:latin typeface="+mn-ea"/>
              </a:rPr>
              <a:t>사회보장성 조세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사회보험료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 등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민간부문 재원은 이용자 부담금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기업복지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자발적 기부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가족 간 이전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비공식 부문</a:t>
            </a:r>
            <a:r>
              <a:rPr lang="en-US" altLang="ko-KR" sz="1800" dirty="0">
                <a:latin typeface="+mn-ea"/>
              </a:rPr>
              <a:t>) </a:t>
            </a:r>
            <a:r>
              <a:rPr lang="ko-KR" altLang="en-US" sz="1800" dirty="0">
                <a:latin typeface="+mn-ea"/>
              </a:rPr>
              <a:t>등</a:t>
            </a:r>
            <a:r>
              <a:rPr lang="en-US" altLang="ko-KR" sz="1800" dirty="0">
                <a:latin typeface="+mn-ea"/>
              </a:rPr>
              <a:t> </a:t>
            </a:r>
            <a:endParaRPr lang="ko-KR" altLang="en-US" sz="1800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066237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189405"/>
              </p:ext>
            </p:extLst>
          </p:nvPr>
        </p:nvGraphicFramePr>
        <p:xfrm>
          <a:off x="395536" y="2058368"/>
          <a:ext cx="8352928" cy="4023360"/>
        </p:xfrm>
        <a:graphic>
          <a:graphicData uri="http://schemas.openxmlformats.org/drawingml/2006/table">
            <a:tbl>
              <a:tblPr/>
              <a:tblGrid>
                <a:gridCol w="16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공공부문 재원</a:t>
                      </a:r>
                      <a:endParaRPr lang="en-US" altLang="ko-KR" sz="18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일반조세</a:t>
                      </a:r>
                      <a:endParaRPr lang="en-US" altLang="ko-KR" sz="18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소득세</a:t>
                      </a:r>
                      <a:endParaRPr lang="en-US" altLang="ko-KR" sz="18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개인소득세</a:t>
                      </a:r>
                      <a:endParaRPr lang="en-US" altLang="ko-KR" sz="18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법인소득세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소비세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일반소비세</a:t>
                      </a:r>
                      <a:r>
                        <a:rPr lang="en-US" altLang="ko-KR" sz="1800" spc="0" baseline="0" dirty="0"/>
                        <a:t>(</a:t>
                      </a:r>
                      <a:r>
                        <a:rPr lang="ko-KR" altLang="en-US" sz="1800" spc="0" baseline="0" dirty="0"/>
                        <a:t>부가가치세</a:t>
                      </a:r>
                      <a:r>
                        <a:rPr lang="en-US" altLang="ko-KR" sz="1800" spc="0" baseline="0" dirty="0"/>
                        <a:t>)</a:t>
                      </a:r>
                      <a:endParaRPr lang="ko-KR" altLang="en-US" sz="18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특별소비세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부</a:t>
                      </a:r>
                      <a:r>
                        <a:rPr lang="en-US" altLang="ko-KR" sz="1800" spc="0" baseline="0" dirty="0"/>
                        <a:t>(</a:t>
                      </a:r>
                      <a:r>
                        <a:rPr lang="ko-KR" altLang="en-US" sz="1800" spc="0" baseline="0" dirty="0"/>
                        <a:t>富</a:t>
                      </a:r>
                      <a:r>
                        <a:rPr lang="en-US" altLang="ko-KR" sz="1800" spc="0" baseline="0" dirty="0"/>
                        <a:t>)</a:t>
                      </a:r>
                      <a:r>
                        <a:rPr lang="ko-KR" altLang="en-US" sz="1800" spc="0" baseline="0" dirty="0"/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재산세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증여세 등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조세지출</a:t>
                      </a:r>
                      <a:r>
                        <a:rPr lang="en-US" altLang="ko-KR" sz="1800" spc="0" baseline="0" dirty="0"/>
                        <a:t>(</a:t>
                      </a:r>
                      <a:r>
                        <a:rPr lang="ko-KR" altLang="en-US" sz="1800" spc="0" baseline="0" dirty="0"/>
                        <a:t>조세비용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조세감면</a:t>
                      </a:r>
                      <a:r>
                        <a:rPr lang="en-US" altLang="ko-KR" sz="1800" spc="0" baseline="0" dirty="0"/>
                        <a:t>)</a:t>
                      </a:r>
                      <a:endParaRPr lang="ko-KR" altLang="en-US" sz="18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 err="1"/>
                        <a:t>사회보장성</a:t>
                      </a:r>
                      <a:r>
                        <a:rPr lang="ko-KR" altLang="en-US" sz="1800" spc="0" baseline="0" dirty="0"/>
                        <a:t> 조세</a:t>
                      </a:r>
                      <a:r>
                        <a:rPr lang="en-US" altLang="ko-KR" sz="1800" spc="0" baseline="0" dirty="0"/>
                        <a:t>(</a:t>
                      </a:r>
                      <a:r>
                        <a:rPr lang="ko-KR" altLang="en-US" sz="1800" spc="0" baseline="0" dirty="0"/>
                        <a:t>사회보험료</a:t>
                      </a:r>
                      <a:r>
                        <a:rPr lang="en-US" altLang="ko-KR" sz="1800" spc="0" baseline="0" dirty="0"/>
                        <a:t>)</a:t>
                      </a:r>
                      <a:endParaRPr lang="ko-KR" altLang="en-US" sz="18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/>
                        <a:t>민간부문 재원</a:t>
                      </a:r>
                      <a:endParaRPr lang="en-US" altLang="ko-KR" sz="18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이용자 부담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기업복지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자발적 기부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spc="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800" spc="0" baseline="0" dirty="0"/>
                        <a:t>가족 간 이전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40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제목 1"/>
          <p:cNvSpPr txBox="1">
            <a:spLocks/>
          </p:cNvSpPr>
          <p:nvPr/>
        </p:nvSpPr>
        <p:spPr>
          <a:xfrm>
            <a:off x="3451266" y="1538923"/>
            <a:ext cx="2632902" cy="40011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>
                <a:latin typeface="+mn-ea"/>
                <a:ea typeface="+mn-ea"/>
              </a:rPr>
              <a:t>&lt;</a:t>
            </a:r>
            <a:r>
              <a:rPr lang="ko-KR" altLang="en-US" sz="2000" dirty="0">
                <a:latin typeface="+mn-ea"/>
                <a:ea typeface="+mn-ea"/>
              </a:rPr>
              <a:t>표</a:t>
            </a:r>
            <a:r>
              <a:rPr lang="en-US" altLang="ko-KR" sz="2000" dirty="0">
                <a:latin typeface="+mn-ea"/>
                <a:ea typeface="+mn-ea"/>
              </a:rPr>
              <a:t>&gt; </a:t>
            </a:r>
            <a:r>
              <a:rPr lang="ko-KR" altLang="en-US" sz="2000" dirty="0">
                <a:latin typeface="+mn-ea"/>
                <a:ea typeface="+mn-ea"/>
              </a:rPr>
              <a:t>재원의 종류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151765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0936060"/>
              </p:ext>
            </p:extLst>
          </p:nvPr>
        </p:nvGraphicFramePr>
        <p:xfrm>
          <a:off x="107505" y="2708920"/>
          <a:ext cx="8856984" cy="3809320"/>
        </p:xfrm>
        <a:graphic>
          <a:graphicData uri="http://schemas.openxmlformats.org/drawingml/2006/table">
            <a:tbl>
              <a:tblPr/>
              <a:tblGrid>
                <a:gridCol w="8856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사회보장비용의 부담</a:t>
                      </a:r>
                      <a:r>
                        <a:rPr lang="en-US" altLang="ko-KR" sz="1800" b="1" spc="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사회보장기본법 제</a:t>
                      </a:r>
                      <a:r>
                        <a:rPr lang="en-US" altLang="ko-KR" sz="1800" b="1" spc="0" baseline="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조</a:t>
                      </a:r>
                      <a:r>
                        <a:rPr lang="en-US" altLang="ko-KR" sz="1800" b="1" spc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800" b="1" spc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336">
                <a:tc>
                  <a:txBody>
                    <a:bodyPr/>
                    <a:lstStyle/>
                    <a:p>
                      <a:pPr marL="342900" marR="0" indent="-342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+mj-ea"/>
                        <a:buAutoNum type="circleNumDbPlain"/>
                      </a:pPr>
                      <a:r>
                        <a:rPr lang="ko-KR" altLang="en-US" sz="1800" spc="0" baseline="0" dirty="0"/>
                        <a:t>사회보장비용의 부담은 각각의 사회보장제도의 목적에 따라 국가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지방자치단체 및 민간부문 간에 합리적으로 조정되어야 한다</a:t>
                      </a:r>
                      <a:r>
                        <a:rPr lang="en-US" altLang="ko-KR" sz="1800" spc="0" baseline="0" dirty="0"/>
                        <a:t>.</a:t>
                      </a:r>
                    </a:p>
                    <a:p>
                      <a:pPr marL="342900" marR="0" indent="-342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+mj-ea"/>
                        <a:buAutoNum type="circleNumDbPlain"/>
                      </a:pPr>
                      <a:r>
                        <a:rPr lang="ko-KR" altLang="en-US" sz="1800" spc="0" baseline="0" dirty="0">
                          <a:solidFill>
                            <a:srgbClr val="FF0000"/>
                          </a:solidFill>
                        </a:rPr>
                        <a:t>사회보험에 드는 비용은 사용자</a:t>
                      </a:r>
                      <a:r>
                        <a:rPr lang="en-US" altLang="ko-KR" sz="1800" spc="0" baseline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800" spc="0" baseline="0" dirty="0" err="1">
                          <a:solidFill>
                            <a:srgbClr val="FF0000"/>
                          </a:solidFill>
                        </a:rPr>
                        <a:t>피용자</a:t>
                      </a:r>
                      <a:r>
                        <a:rPr lang="en-US" altLang="ko-KR" sz="1800" spc="0" baseline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800" spc="0" baseline="0" dirty="0" err="1">
                          <a:solidFill>
                            <a:srgbClr val="FF0000"/>
                          </a:solidFill>
                        </a:rPr>
                        <a:t>被傭者</a:t>
                      </a:r>
                      <a:r>
                        <a:rPr lang="en-US" altLang="ko-KR" sz="1800" spc="0" baseline="0" dirty="0">
                          <a:solidFill>
                            <a:srgbClr val="FF0000"/>
                          </a:solidFill>
                        </a:rPr>
                        <a:t>) </a:t>
                      </a:r>
                      <a:r>
                        <a:rPr lang="ko-KR" altLang="en-US" sz="1800" spc="0" baseline="0" dirty="0">
                          <a:solidFill>
                            <a:srgbClr val="FF0000"/>
                          </a:solidFill>
                        </a:rPr>
                        <a:t>및 자영업자가 부담하는 것을 원칙 </a:t>
                      </a:r>
                      <a:r>
                        <a:rPr lang="ko-KR" altLang="en-US" sz="1800" spc="0" baseline="0" dirty="0"/>
                        <a:t>으로 하되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관계 법령에서 정하는 바에 따라 국가가 그 비용의 일부를 부담 할 수 있다</a:t>
                      </a:r>
                      <a:r>
                        <a:rPr lang="en-US" altLang="ko-KR" sz="1800" spc="0" baseline="0" dirty="0"/>
                        <a:t>.</a:t>
                      </a:r>
                    </a:p>
                    <a:p>
                      <a:pPr marL="342900" marR="0" indent="-342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+mj-ea"/>
                        <a:buAutoNum type="circleNumDbPlain"/>
                      </a:pPr>
                      <a:r>
                        <a:rPr lang="ko-KR" altLang="en-US" sz="1800" spc="0" baseline="0" dirty="0">
                          <a:solidFill>
                            <a:srgbClr val="00B050"/>
                          </a:solidFill>
                        </a:rPr>
                        <a:t>공공부조 및 관계 법령에서 정하는 일정 소득수준 이하의 국민에 대한 사회서비스에 드는 비용의 전부 또는 일부는 국가와 지방자치단체가 부담한다</a:t>
                      </a:r>
                      <a:r>
                        <a:rPr lang="en-US" altLang="ko-KR" sz="1800" spc="0" baseline="0" dirty="0">
                          <a:solidFill>
                            <a:srgbClr val="00B050"/>
                          </a:solidFill>
                        </a:rPr>
                        <a:t>.</a:t>
                      </a:r>
                    </a:p>
                    <a:p>
                      <a:pPr marL="342900" marR="0" indent="-342900" algn="l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+mj-ea"/>
                        <a:buAutoNum type="circleNumDbPlain"/>
                      </a:pPr>
                      <a:r>
                        <a:rPr lang="ko-KR" altLang="en-US" sz="1800" spc="0" baseline="0" dirty="0">
                          <a:solidFill>
                            <a:srgbClr val="00B0F0"/>
                          </a:solidFill>
                        </a:rPr>
                        <a:t>부담 능력이 있는 국민에 대한 사회서비스에 드는 비용은 그 수익자가 부담함을 원칙</a:t>
                      </a:r>
                      <a:r>
                        <a:rPr lang="ko-KR" altLang="en-US" sz="1800" spc="0" baseline="0" dirty="0"/>
                        <a:t>으로 하되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관계 법령에서 정하는 바에 따라 국가와 지방자치단체가 </a:t>
                      </a:r>
                      <a:r>
                        <a:rPr lang="ko-KR" altLang="en-US" sz="1800" spc="0" baseline="0" dirty="0" err="1"/>
                        <a:t>그비용</a:t>
                      </a:r>
                      <a:r>
                        <a:rPr lang="ko-KR" altLang="en-US" sz="1800" spc="0" baseline="0" dirty="0"/>
                        <a:t> 의 일부를 부담할 수 있다</a:t>
                      </a:r>
                      <a:r>
                        <a:rPr lang="en-US" altLang="ko-KR" sz="1800" spc="0" baseline="0" dirty="0"/>
                        <a:t>. 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95536" y="1491794"/>
            <a:ext cx="8352928" cy="110462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fontAlgn="base">
              <a:lnSpc>
                <a:spcPct val="150000"/>
              </a:lnSpc>
              <a:buClr>
                <a:srgbClr val="7030A0"/>
              </a:buClr>
            </a:pPr>
            <a:r>
              <a:rPr lang="en-US" altLang="ko-KR" sz="1800" dirty="0" err="1"/>
              <a:t>우리나라의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사회보장기본법에는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사회보장에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소요되는</a:t>
            </a:r>
            <a:r>
              <a:rPr lang="en-US" altLang="ko-KR" sz="1800" dirty="0"/>
              <a:t> </a:t>
            </a:r>
            <a:r>
              <a:rPr lang="en-US" altLang="ko-KR" sz="1800" dirty="0" err="1"/>
              <a:t>비용의</a:t>
            </a:r>
            <a:r>
              <a:rPr lang="en-US" altLang="ko-KR" sz="1800" dirty="0"/>
              <a:t> </a:t>
            </a:r>
            <a:r>
              <a:rPr lang="en-US" altLang="ko-KR" sz="1800" dirty="0" err="1"/>
              <a:t>부담에</a:t>
            </a:r>
            <a:r>
              <a:rPr lang="en-US" altLang="ko-KR" sz="1800" dirty="0"/>
              <a:t> </a:t>
            </a:r>
            <a:r>
              <a:rPr lang="en-US" altLang="ko-KR" sz="1800" dirty="0" err="1"/>
              <a:t>관해</a:t>
            </a:r>
            <a:r>
              <a:rPr lang="en-US" altLang="ko-KR" sz="1800" dirty="0"/>
              <a:t>  </a:t>
            </a:r>
            <a:r>
              <a:rPr lang="en-US" altLang="ko-KR" sz="1800" dirty="0" err="1"/>
              <a:t>다음과</a:t>
            </a:r>
            <a:r>
              <a:rPr lang="en-US" altLang="ko-KR" sz="1800" dirty="0"/>
              <a:t> </a:t>
            </a:r>
            <a:r>
              <a:rPr lang="en-US" altLang="ko-KR" sz="1800" dirty="0" err="1"/>
              <a:t>같은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원칙을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제시하고</a:t>
            </a:r>
            <a:r>
              <a:rPr lang="en-US" altLang="ko-KR" sz="1800" dirty="0"/>
              <a:t> 있</a:t>
            </a:r>
            <a:r>
              <a:rPr lang="ko-KR" altLang="en-US" sz="1800" dirty="0"/>
              <a:t>음</a:t>
            </a:r>
            <a:endParaRPr lang="en-US" altLang="ko-KR" sz="1800" dirty="0"/>
          </a:p>
        </p:txBody>
      </p:sp>
      <p:sp>
        <p:nvSpPr>
          <p:cNvPr id="6" name="직사각형 5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205913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780928"/>
            <a:ext cx="8342609" cy="282015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일반조세는 과세권자인 국가나 지방자치단체가 재정수입을 조달하기 위해 법률에 규정한 것으로</a:t>
            </a:r>
            <a:r>
              <a:rPr lang="en-US" altLang="ko-KR" dirty="0"/>
              <a:t>, </a:t>
            </a:r>
            <a:r>
              <a:rPr lang="ko-KR" altLang="en-US" dirty="0"/>
              <a:t>직접적인 반대급부 없이 과세요건을 충족한 모든 국민에게 부과</a:t>
            </a:r>
            <a:r>
              <a:rPr lang="en-US" altLang="ko-KR" dirty="0"/>
              <a:t>·</a:t>
            </a:r>
            <a:r>
              <a:rPr lang="ko-KR" altLang="en-US" dirty="0"/>
              <a:t>징수하여 거둬들이는 조세</a:t>
            </a:r>
            <a:r>
              <a:rPr lang="en-US" altLang="ko-KR" dirty="0"/>
              <a:t> </a:t>
            </a:r>
          </a:p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일반조세는 </a:t>
            </a:r>
            <a:r>
              <a:rPr lang="ko-KR" altLang="en-US" dirty="0" err="1">
                <a:solidFill>
                  <a:srgbClr val="FF0000"/>
                </a:solidFill>
              </a:rPr>
              <a:t>사회보장성</a:t>
            </a:r>
            <a:r>
              <a:rPr lang="ko-KR" altLang="en-US" dirty="0">
                <a:solidFill>
                  <a:srgbClr val="FF0000"/>
                </a:solidFill>
              </a:rPr>
              <a:t> 조세와 함께 공공부문에서 조달되는 사회보장제도의 재원 중 가장 큰 부분을 차지함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일반조세에는 소득세</a:t>
            </a:r>
            <a:r>
              <a:rPr lang="en-US" altLang="ko-KR" dirty="0"/>
              <a:t>, </a:t>
            </a:r>
            <a:r>
              <a:rPr lang="ko-KR" altLang="en-US" dirty="0"/>
              <a:t>소비세</a:t>
            </a:r>
            <a:r>
              <a:rPr lang="en-US" altLang="ko-KR" dirty="0"/>
              <a:t>, </a:t>
            </a:r>
            <a:r>
              <a:rPr lang="ko-KR" altLang="en-US" dirty="0"/>
              <a:t>부세가 있음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공공부문 재원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일반조세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(general revenue)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748840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636912"/>
            <a:ext cx="8342609" cy="385377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fontAlgn="base">
              <a:lnSpc>
                <a:spcPts val="25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dirty="0">
                <a:solidFill>
                  <a:srgbClr val="FF0000"/>
                </a:solidFill>
              </a:rPr>
              <a:t>① 소득세</a:t>
            </a:r>
            <a:r>
              <a:rPr lang="en-US" altLang="ko-KR" dirty="0">
                <a:solidFill>
                  <a:srgbClr val="FF0000"/>
                </a:solidFill>
              </a:rPr>
              <a:t>(income tax)</a:t>
            </a:r>
          </a:p>
          <a:p>
            <a:pPr marL="177800" indent="-177800" fontAlgn="base">
              <a:lnSpc>
                <a:spcPts val="25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소득세는 개인이 얻은 소득에 대하여 부과하는 조세로</a:t>
            </a:r>
            <a:r>
              <a:rPr lang="en-US" altLang="ko-KR" dirty="0"/>
              <a:t>, </a:t>
            </a:r>
            <a:r>
              <a:rPr lang="ko-KR" altLang="en-US" dirty="0"/>
              <a:t>일반예산을 구성하는 조세들 가운데 </a:t>
            </a:r>
            <a:r>
              <a:rPr lang="ko-KR" altLang="en-US" dirty="0" err="1">
                <a:solidFill>
                  <a:srgbClr val="0070C0"/>
                </a:solidFill>
              </a:rPr>
              <a:t>누진성을</a:t>
            </a:r>
            <a:r>
              <a:rPr lang="ko-KR" altLang="en-US" dirty="0">
                <a:solidFill>
                  <a:srgbClr val="0070C0"/>
                </a:solidFill>
              </a:rPr>
              <a:t> 높이는데 가장 크게 기여하는 조세임</a:t>
            </a:r>
            <a:endParaRPr lang="en-US" altLang="ko-KR" dirty="0">
              <a:solidFill>
                <a:srgbClr val="0070C0"/>
              </a:solidFill>
            </a:endParaRPr>
          </a:p>
          <a:p>
            <a:pPr marL="177800" indent="-177800" fontAlgn="base">
              <a:lnSpc>
                <a:spcPts val="25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 fontAlgn="base">
              <a:lnSpc>
                <a:spcPts val="25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B050"/>
                </a:solidFill>
              </a:rPr>
              <a:t>개인소득세의 소득재분배효과가 높은 이유 </a:t>
            </a:r>
          </a:p>
          <a:p>
            <a:pPr marL="177800" indent="-177800" fontAlgn="base">
              <a:lnSpc>
                <a:spcPts val="25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기본적으로 부담능력의 원칙에 따라 부과되므로 저소득층보다 고소득층의 소득세율이 높기 때문이고</a:t>
            </a:r>
            <a:r>
              <a:rPr lang="en-US" altLang="ko-KR" dirty="0"/>
              <a:t>, </a:t>
            </a:r>
          </a:p>
          <a:p>
            <a:pPr marL="177800" indent="-177800" fontAlgn="base">
              <a:lnSpc>
                <a:spcPts val="25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개인소득세는 다른 조세에 비해 각종의 조세감면으로 저소득층의 조세부담을 면제</a:t>
            </a:r>
            <a:r>
              <a:rPr lang="en-US" altLang="ko-KR" dirty="0"/>
              <a:t>, </a:t>
            </a:r>
            <a:r>
              <a:rPr lang="ko-KR" altLang="en-US" dirty="0"/>
              <a:t>감면 해주기 때문이며</a:t>
            </a:r>
            <a:r>
              <a:rPr lang="en-US" altLang="ko-KR" dirty="0"/>
              <a:t>, </a:t>
            </a:r>
          </a:p>
          <a:p>
            <a:pPr marL="177800" indent="-177800" fontAlgn="base">
              <a:lnSpc>
                <a:spcPts val="25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개인소득세가 일반예산을 구성하는 조세 가운데 가장 규모가 크고 누진적이기 때문임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공공부문 재원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일반조세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(general revenue)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4119720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281249"/>
              </p:ext>
            </p:extLst>
          </p:nvPr>
        </p:nvGraphicFramePr>
        <p:xfrm>
          <a:off x="420002" y="4077072"/>
          <a:ext cx="8472478" cy="1219200"/>
        </p:xfrm>
        <a:graphic>
          <a:graphicData uri="http://schemas.openxmlformats.org/drawingml/2006/table">
            <a:tbl>
              <a:tblPr/>
              <a:tblGrid>
                <a:gridCol w="136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일반소비세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부가가치세</a:t>
                      </a: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생산에서 소비에 이르는 각 단계의 부가가치에 대해 부과하는 세금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우리나라는 </a:t>
                      </a: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단일세율을 적용</a:t>
                      </a:r>
                      <a:r>
                        <a:rPr lang="en-US" altLang="ko-KR" sz="1700" spc="0" baseline="0" dirty="0">
                          <a:solidFill>
                            <a:srgbClr val="00B0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700" spc="0" baseline="0" dirty="0" err="1">
                          <a:solidFill>
                            <a:srgbClr val="00B0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역진성</a:t>
                      </a:r>
                      <a:r>
                        <a:rPr lang="ko-KR" altLang="en-US" sz="1700" spc="0" baseline="0" dirty="0">
                          <a:solidFill>
                            <a:srgbClr val="00B0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문제</a:t>
                      </a:r>
                      <a:r>
                        <a:rPr lang="en-US" altLang="ko-KR" sz="1700" spc="0" baseline="0" dirty="0">
                          <a:solidFill>
                            <a:srgbClr val="00B0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특별소비세</a:t>
                      </a:r>
                      <a:endParaRPr lang="en-US" altLang="ko-KR" sz="1700" spc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고소득자가 주로 소비하는 소비품에 부과함</a:t>
                      </a: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사치품</a:t>
                      </a: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고가품</a:t>
                      </a: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호화주택</a:t>
                      </a: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부가가치세의 </a:t>
                      </a:r>
                      <a:r>
                        <a:rPr lang="ko-KR" altLang="en-US" sz="1700" spc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역진성을</a:t>
                      </a:r>
                      <a:r>
                        <a:rPr lang="ko-KR" altLang="en-US" sz="1700" spc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극복하기 위한 조치임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420003" y="2564904"/>
            <a:ext cx="8472477" cy="1391457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36000" rIns="144000" bIns="72000">
            <a:spAutoFit/>
          </a:bodyPr>
          <a:lstStyle/>
          <a:p>
            <a:pPr fontAlgn="base">
              <a:lnSpc>
                <a:spcPts val="2500"/>
              </a:lnSpc>
              <a:buClr>
                <a:srgbClr val="7030A0"/>
              </a:buClr>
            </a:pPr>
            <a:r>
              <a:rPr lang="ko-KR" altLang="en-US" sz="1700" dirty="0">
                <a:solidFill>
                  <a:srgbClr val="FF0000"/>
                </a:solidFill>
              </a:rPr>
              <a:t>② 소비세</a:t>
            </a:r>
            <a:r>
              <a:rPr lang="en-US" altLang="ko-KR" sz="1700" dirty="0">
                <a:solidFill>
                  <a:srgbClr val="FF0000"/>
                </a:solidFill>
              </a:rPr>
              <a:t>(consumption tax)</a:t>
            </a:r>
          </a:p>
          <a:p>
            <a:pPr marL="285750" indent="-285750" fontAlgn="base">
              <a:lnSpc>
                <a:spcPts val="25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sz="1700" dirty="0"/>
              <a:t>소비세는 상품을 소비할 때 부과하는 조세</a:t>
            </a:r>
            <a:endParaRPr lang="en-US" altLang="ko-KR" sz="1700" dirty="0"/>
          </a:p>
          <a:p>
            <a:pPr marL="285750" indent="-285750" fontAlgn="base">
              <a:lnSpc>
                <a:spcPts val="25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sz="1700" dirty="0"/>
              <a:t>소비주체들의 부담능력을 고려하지 않고 상품에 대해 똑 같이 부과하기 때문에 소득세에 비해 고소득층의 조세부담률이 저소득층보다 상대적으로 적을 수 있음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공공부문 재원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405855" y="2060848"/>
            <a:ext cx="4958232" cy="400110"/>
            <a:chOff x="405855" y="2134307"/>
            <a:chExt cx="4958232" cy="400110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일반조세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(general revenue)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0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39111" y="5445224"/>
            <a:ext cx="8453369" cy="1035399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36000" rIns="144000" bIns="72000">
            <a:spAutoFit/>
          </a:bodyPr>
          <a:lstStyle/>
          <a:p>
            <a:pPr fontAlgn="base">
              <a:lnSpc>
                <a:spcPts val="2500"/>
              </a:lnSpc>
              <a:buClr>
                <a:srgbClr val="7030A0"/>
              </a:buClr>
            </a:pPr>
            <a:r>
              <a:rPr lang="ko-KR" altLang="en-US" sz="1700" dirty="0"/>
              <a:t>③ 부세</a:t>
            </a:r>
            <a:r>
              <a:rPr lang="en-US" altLang="ko-KR" sz="1700" dirty="0"/>
              <a:t>(</a:t>
            </a:r>
            <a:r>
              <a:rPr lang="ko-KR" altLang="en-US" sz="1700" dirty="0"/>
              <a:t>富稅</a:t>
            </a:r>
            <a:r>
              <a:rPr lang="en-US" altLang="ko-KR" sz="1700" dirty="0"/>
              <a:t>)</a:t>
            </a:r>
          </a:p>
          <a:p>
            <a:pPr marL="285750" indent="-285750" fontAlgn="base">
              <a:lnSpc>
                <a:spcPts val="25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sz="1700" dirty="0"/>
              <a:t>부세란 개인이 소유하는 부에 대해 부과하는 조세로 누진세로 부과함</a:t>
            </a:r>
            <a:endParaRPr lang="en-US" altLang="ko-KR" sz="1700" dirty="0"/>
          </a:p>
          <a:p>
            <a:pPr marL="285750" indent="-285750" fontAlgn="base">
              <a:lnSpc>
                <a:spcPts val="25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sz="1700" dirty="0"/>
              <a:t>재산세</a:t>
            </a:r>
            <a:r>
              <a:rPr lang="en-US" altLang="ko-KR" sz="1700" dirty="0"/>
              <a:t>, </a:t>
            </a:r>
            <a:r>
              <a:rPr lang="ko-KR" altLang="en-US" sz="1700" dirty="0"/>
              <a:t>상속세</a:t>
            </a:r>
            <a:r>
              <a:rPr lang="en-US" altLang="ko-KR" sz="1700" dirty="0"/>
              <a:t>, </a:t>
            </a:r>
            <a:r>
              <a:rPr lang="ko-KR" altLang="en-US" sz="1700" dirty="0"/>
              <a:t>증여세 등 여러 형태가 있는데 가장 중요한 조세는 재산세임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327189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780928"/>
            <a:ext cx="8414617" cy="356747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ts val="25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조세지출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조세비용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은 국가가 세금을 거둬들여 지출하는 대신에  비과세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r>
              <a:rPr lang="ko-KR" altLang="en-US" dirty="0">
                <a:solidFill>
                  <a:srgbClr val="FF0000"/>
                </a:solidFill>
              </a:rPr>
              <a:t>감면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공제해  주는 것으로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세금을 거두는 대신 감면시켜 사회보장의 목표를 이루는 방법임</a:t>
            </a:r>
            <a:endParaRPr lang="en-US" altLang="ko-KR" dirty="0">
              <a:solidFill>
                <a:srgbClr val="FF0000"/>
              </a:solidFill>
            </a:endParaRPr>
          </a:p>
          <a:p>
            <a:pPr marL="177800" indent="-177800" fontAlgn="base">
              <a:lnSpc>
                <a:spcPts val="25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B050"/>
                </a:solidFill>
              </a:rPr>
              <a:t>아동이나 부양가족의 수에 따라서 소득공제를 하거나</a:t>
            </a:r>
            <a:r>
              <a:rPr lang="en-US" altLang="ko-KR" dirty="0">
                <a:solidFill>
                  <a:srgbClr val="00B050"/>
                </a:solidFill>
              </a:rPr>
              <a:t>, </a:t>
            </a:r>
            <a:r>
              <a:rPr lang="ko-KR" altLang="en-US" dirty="0">
                <a:solidFill>
                  <a:srgbClr val="00B050"/>
                </a:solidFill>
              </a:rPr>
              <a:t>근로소득에 대한 면세점을 상향하는 것 등</a:t>
            </a:r>
          </a:p>
          <a:p>
            <a:pPr marL="177800" indent="-177800" fontAlgn="base">
              <a:lnSpc>
                <a:spcPts val="25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장점은 조세를 부과하고 이것을 다시 대상자를 선별해 급여하는 데 드는 비용을 줄임으로써 국가운영의 효율성을 높일 수 있음</a:t>
            </a:r>
            <a:r>
              <a:rPr lang="en-US" altLang="ko-KR" dirty="0"/>
              <a:t> </a:t>
            </a:r>
          </a:p>
          <a:p>
            <a:pPr marL="177800" indent="-177800" fontAlgn="base">
              <a:lnSpc>
                <a:spcPts val="25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그러나 조세감면의 경우 일반적으로 납세액이 많은 고소득층에게 많은 이득을 주기 때문에 소득분배에 역진적인 특성을 가짐</a:t>
            </a:r>
            <a:endParaRPr lang="en-US" altLang="ko-KR" dirty="0"/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공공부문 재원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조세지출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(tax expenditure)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2281010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736076"/>
            <a:ext cx="8342609" cy="387204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ts val="30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 err="1"/>
              <a:t>사회보장성</a:t>
            </a:r>
            <a:r>
              <a:rPr lang="ko-KR" altLang="en-US" dirty="0"/>
              <a:t> 조세는 사회보장과 같은 특별한 목적을 위해 부과되는 조세</a:t>
            </a:r>
            <a:endParaRPr lang="en-US" altLang="ko-KR" dirty="0"/>
          </a:p>
          <a:p>
            <a:pPr marL="177800" indent="-177800" fontAlgn="base">
              <a:lnSpc>
                <a:spcPts val="30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사회보험료의 명칭으로 부과되며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사회보장의 재정에서 중요한 역할을 함</a:t>
            </a:r>
            <a:endParaRPr lang="en-US" altLang="ko-KR" dirty="0">
              <a:solidFill>
                <a:srgbClr val="FF0000"/>
              </a:solidFill>
            </a:endParaRPr>
          </a:p>
          <a:p>
            <a:pPr marL="177800" indent="-177800" fontAlgn="base">
              <a:lnSpc>
                <a:spcPts val="30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사회보험료는 사업주</a:t>
            </a:r>
            <a:r>
              <a:rPr lang="en-US" altLang="ko-KR" dirty="0"/>
              <a:t>(</a:t>
            </a:r>
            <a:r>
              <a:rPr lang="ko-KR" altLang="en-US" dirty="0"/>
              <a:t>부담금</a:t>
            </a:r>
            <a:r>
              <a:rPr lang="en-US" altLang="ko-KR" dirty="0"/>
              <a:t>)</a:t>
            </a:r>
            <a:r>
              <a:rPr lang="ko-KR" altLang="en-US" dirty="0"/>
              <a:t>와 가입자</a:t>
            </a:r>
            <a:r>
              <a:rPr lang="en-US" altLang="ko-KR" dirty="0"/>
              <a:t>(</a:t>
            </a:r>
            <a:r>
              <a:rPr lang="ko-KR" altLang="en-US" dirty="0"/>
              <a:t>기여금</a:t>
            </a:r>
            <a:r>
              <a:rPr lang="en-US" altLang="ko-KR" dirty="0"/>
              <a:t>)</a:t>
            </a:r>
            <a:r>
              <a:rPr lang="ko-KR" altLang="en-US" dirty="0"/>
              <a:t>가 공동으로 부담하고</a:t>
            </a:r>
            <a:r>
              <a:rPr lang="en-US" altLang="ko-KR" dirty="0"/>
              <a:t>, </a:t>
            </a:r>
            <a:r>
              <a:rPr lang="ko-KR" altLang="en-US" dirty="0"/>
              <a:t>정부가 일부 부담하기도 함</a:t>
            </a:r>
            <a:endParaRPr lang="en-US" altLang="ko-KR" dirty="0"/>
          </a:p>
          <a:p>
            <a:pPr marL="177800" indent="-177800" fontAlgn="base">
              <a:lnSpc>
                <a:spcPts val="30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5</a:t>
            </a:r>
            <a:r>
              <a:rPr lang="ko-KR" altLang="en-US" dirty="0"/>
              <a:t>대 사회보험</a:t>
            </a:r>
            <a:r>
              <a:rPr lang="en-US" altLang="ko-KR" spc="-150" dirty="0"/>
              <a:t>(</a:t>
            </a:r>
            <a:r>
              <a:rPr lang="ko-KR" altLang="en-US" spc="-150" dirty="0"/>
              <a:t>국민연금</a:t>
            </a:r>
            <a:r>
              <a:rPr lang="en-US" altLang="ko-KR" spc="-150" dirty="0"/>
              <a:t>, </a:t>
            </a:r>
            <a:r>
              <a:rPr lang="ko-KR" altLang="en-US" spc="-150" dirty="0"/>
              <a:t>국민건강보험</a:t>
            </a:r>
            <a:r>
              <a:rPr lang="en-US" altLang="ko-KR" spc="-150" dirty="0"/>
              <a:t>, </a:t>
            </a:r>
            <a:r>
              <a:rPr lang="ko-KR" altLang="en-US" spc="-150" dirty="0"/>
              <a:t>고용보험</a:t>
            </a:r>
            <a:r>
              <a:rPr lang="en-US" altLang="ko-KR" spc="-150" dirty="0"/>
              <a:t>, </a:t>
            </a:r>
            <a:r>
              <a:rPr lang="ko-KR" altLang="en-US" spc="-150" dirty="0"/>
              <a:t>산재보험</a:t>
            </a:r>
            <a:r>
              <a:rPr lang="en-US" altLang="ko-KR" spc="-150" dirty="0"/>
              <a:t>, </a:t>
            </a:r>
            <a:r>
              <a:rPr lang="ko-KR" altLang="en-US" spc="-150" dirty="0"/>
              <a:t>노인장기요양보험</a:t>
            </a:r>
            <a:r>
              <a:rPr lang="en-US" altLang="ko-KR" spc="-150" dirty="0"/>
              <a:t>)</a:t>
            </a:r>
            <a:r>
              <a:rPr lang="ko-KR" altLang="en-US" spc="-150" dirty="0"/>
              <a:t> 과        </a:t>
            </a:r>
            <a:r>
              <a:rPr lang="en-US" altLang="ko-KR" spc="-150" dirty="0"/>
              <a:t>4</a:t>
            </a:r>
            <a:r>
              <a:rPr lang="ko-KR" altLang="en-US" spc="-150" dirty="0"/>
              <a:t>대 직역연금</a:t>
            </a:r>
            <a:r>
              <a:rPr lang="en-US" altLang="ko-KR" spc="-150" dirty="0"/>
              <a:t>(</a:t>
            </a:r>
            <a:r>
              <a:rPr lang="ko-KR" altLang="en-US" spc="-150" dirty="0"/>
              <a:t>공무원연금</a:t>
            </a:r>
            <a:r>
              <a:rPr lang="en-US" altLang="ko-KR" spc="-150" dirty="0"/>
              <a:t>. </a:t>
            </a:r>
            <a:r>
              <a:rPr lang="ko-KR" altLang="en-US" spc="-150" dirty="0"/>
              <a:t>군인연금</a:t>
            </a:r>
            <a:r>
              <a:rPr lang="en-US" altLang="ko-KR" spc="-150" dirty="0"/>
              <a:t>, </a:t>
            </a:r>
            <a:r>
              <a:rPr lang="ko-KR" altLang="en-US" spc="-150" dirty="0"/>
              <a:t>사학연금</a:t>
            </a:r>
            <a:r>
              <a:rPr lang="en-US" altLang="ko-KR" spc="-150" dirty="0"/>
              <a:t>, </a:t>
            </a:r>
            <a:r>
              <a:rPr lang="ko-KR" altLang="en-US" spc="-150" dirty="0" err="1"/>
              <a:t>별정우체국연금</a:t>
            </a:r>
            <a:r>
              <a:rPr lang="en-US" altLang="ko-KR" spc="-150" dirty="0"/>
              <a:t>)</a:t>
            </a:r>
            <a:r>
              <a:rPr lang="ko-KR" altLang="en-US" spc="-150" dirty="0"/>
              <a:t>에 부과됨</a:t>
            </a:r>
            <a:endParaRPr lang="en-US" altLang="ko-KR" dirty="0"/>
          </a:p>
          <a:p>
            <a:pPr marL="177800" indent="-177800" fontAlgn="base">
              <a:lnSpc>
                <a:spcPts val="3000"/>
              </a:lnSpc>
              <a:spcBef>
                <a:spcPts val="10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사회보험료는 사회보장 및 소득보장에 사용하기 때문에 일반조세에 비해 조세 저항이 약함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</a:rPr>
              <a:t>공공부문 재원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Font typeface="Arial" panose="020B0604020202020204" pitchFamily="34" charset="0"/>
                <a:buNone/>
              </a:pPr>
              <a:r>
                <a:rPr lang="ko-KR" altLang="en-US" sz="2000" b="1" dirty="0" err="1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사회보장성</a:t>
              </a:r>
              <a:r>
                <a:rPr lang="ko-KR" altLang="en-US" sz="2000" b="1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 조세</a:t>
              </a:r>
              <a:r>
                <a:rPr lang="en-US" altLang="ko-KR" sz="2000" b="1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(social security tax)</a:t>
              </a:r>
              <a:endParaRPr lang="ko-KR" altLang="en-US" sz="2000" b="1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1703943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575911"/>
            <a:ext cx="8342609" cy="193561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이용자 부담은 사회보장제도의 이용료 중 본인이 일정한 액수</a:t>
            </a:r>
            <a:r>
              <a:rPr lang="en-US" altLang="ko-KR" dirty="0"/>
              <a:t>(</a:t>
            </a:r>
            <a:r>
              <a:rPr lang="ko-KR" altLang="en-US" dirty="0"/>
              <a:t>비율</a:t>
            </a:r>
            <a:r>
              <a:rPr lang="en-US" altLang="ko-KR" dirty="0"/>
              <a:t>)</a:t>
            </a:r>
            <a:r>
              <a:rPr lang="ko-KR" altLang="en-US" dirty="0"/>
              <a:t>를 부담하는 것</a:t>
            </a:r>
            <a:endParaRPr lang="en-US" altLang="ko-KR" dirty="0"/>
          </a:p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사회복지관 프로그램 이용 시 실비 이용료</a:t>
            </a:r>
            <a:r>
              <a:rPr lang="en-US" altLang="ko-KR" dirty="0"/>
              <a:t>, </a:t>
            </a:r>
            <a:r>
              <a:rPr lang="ko-KR" altLang="en-US" dirty="0"/>
              <a:t>건강보험과 노인장기요양보험</a:t>
            </a:r>
            <a:r>
              <a:rPr lang="en-US" altLang="ko-KR" dirty="0"/>
              <a:t>,  </a:t>
            </a:r>
            <a:r>
              <a:rPr lang="ko-KR" altLang="en-US" dirty="0"/>
              <a:t>바우처 이용자의 본인부담금</a:t>
            </a:r>
            <a:endParaRPr lang="en-US" altLang="ko-KR" dirty="0"/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민간부문 재원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이용자 부담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(user fee)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545417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575911"/>
            <a:ext cx="8342609" cy="4128526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285750" marR="0" lvl="0" indent="-28575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이용자 부담의 장점</a:t>
            </a:r>
          </a:p>
          <a:p>
            <a:pPr marL="0" marR="0" lvl="0" indent="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첫째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불필요한 사회복지서비스의 남용을 막을 수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둘째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사회보장재원 보충으로 정부부담 한계를 극복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셋째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사회보장서비스의 질적 향상 도모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넷째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자존심의 손상을 줄이고 자기존중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(self-respect)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높일 수 있음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285750" marR="0" lvl="0" indent="-28575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이용자 부담의 단점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첫째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저소득층의 부담이 고소득층에 비해 상대적으로 커 소득재분배를 악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    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화시킬 수 있다는 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둘째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부담액수가 크지 않더라도 저소득층에게 부담이 되어 필요한 서비스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    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이용이 제한될 수 있다는 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민간부문 재원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이용자 부담</a:t>
              </a: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(user fee)</a:t>
              </a:r>
              <a:endPara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3.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2692624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780928"/>
            <a:ext cx="8342609" cy="282015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자발적 기여는 민간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개인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재단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기업 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의 자발적인 기부금으로서 기부자가 직접 자선단체에 기부하거나 공동모금단체를 통해 기부하는 것을 말함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자발적 기여의 주된 동기는 자선이나 박애지만 정부의 기부금에 대해 세금을 면제해주는 정책이 큰 뒷받침이 되고 있음</a:t>
            </a:r>
            <a:endParaRPr lang="en-US" altLang="ko-KR" dirty="0"/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기부금은 경제상황에 따라 영향을 받기 때문에 다른 재원에 비해 안정성이 부족함</a:t>
            </a:r>
            <a:r>
              <a:rPr lang="en-US" altLang="ko-KR" dirty="0"/>
              <a:t>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민간부문 재원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자발적 기여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(voluntary contribution)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1142317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780928"/>
            <a:ext cx="8342609" cy="282015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기업복지는 직원의 후생복지를 위한 사용자의 지출로 기업연금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법정퇴직금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출산휴가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장학금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사내 탁아제도 등이 있음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기업복지가 민간재원에서 중요한 위치를 차지하는 이유는 피고용자에게 임금을 지급하는 대신에 기업복지 급여를 지급하는 것이 세제상 유리하고</a:t>
            </a:r>
            <a:r>
              <a:rPr lang="en-US" altLang="ko-KR" dirty="0"/>
              <a:t>,    </a:t>
            </a:r>
            <a:r>
              <a:rPr lang="ko-KR" altLang="en-US" dirty="0"/>
              <a:t>기업복지의 제공을 통하여 우수한 인력을 유치할 수 있으며</a:t>
            </a:r>
            <a:r>
              <a:rPr lang="en-US" altLang="ko-KR" dirty="0"/>
              <a:t>, </a:t>
            </a:r>
            <a:r>
              <a:rPr lang="ko-KR" altLang="en-US" dirty="0"/>
              <a:t>피고용자의 기업에 대한 소속감과 관심을 높일 수 있기 때문임</a:t>
            </a:r>
            <a:endParaRPr lang="en-US" altLang="ko-KR" dirty="0"/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민간부문 재원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기업복지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(occupational welfare)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2578302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5855" y="2780928"/>
            <a:ext cx="8342609" cy="365115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가족 간 이전은 비공식부문의 재원으로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크게 소득이전과 비경제적인 측면에서의 서비스 이전으로 나눌 수 있음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B050"/>
                </a:solidFill>
              </a:rPr>
              <a:t>소득이전은 가족 간의 현금이전이나 의료비 대납</a:t>
            </a:r>
            <a:r>
              <a:rPr lang="en-US" altLang="ko-KR" dirty="0">
                <a:solidFill>
                  <a:srgbClr val="00B050"/>
                </a:solidFill>
              </a:rPr>
              <a:t>, </a:t>
            </a:r>
            <a:r>
              <a:rPr lang="ko-KR" altLang="en-US" dirty="0">
                <a:solidFill>
                  <a:srgbClr val="00B050"/>
                </a:solidFill>
              </a:rPr>
              <a:t>위급한 상황에서 도움을 주는 경우 </a:t>
            </a:r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B0F0"/>
                </a:solidFill>
              </a:rPr>
              <a:t>서비스 이전은 자식들의 노인 부양</a:t>
            </a:r>
            <a:r>
              <a:rPr lang="en-US" altLang="ko-KR" dirty="0">
                <a:solidFill>
                  <a:srgbClr val="00B0F0"/>
                </a:solidFill>
              </a:rPr>
              <a:t>, </a:t>
            </a:r>
            <a:r>
              <a:rPr lang="ko-KR" altLang="en-US" dirty="0">
                <a:solidFill>
                  <a:srgbClr val="00B0F0"/>
                </a:solidFill>
              </a:rPr>
              <a:t>위급한 상황에서의 지지서비스를 제공하는 경우 등</a:t>
            </a:r>
            <a:endParaRPr lang="en-US" altLang="ko-KR" dirty="0">
              <a:solidFill>
                <a:srgbClr val="00B0F0"/>
              </a:solidFill>
            </a:endParaRPr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가족 간 이전은 국가복지가 발전되기 이전에는 중요한 역할을 하였으나 국가복지가 발전하면서 그 역할이 점차 줄어들고 있음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민간부문 재원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5855" y="2134307"/>
            <a:ext cx="4958232" cy="400110"/>
            <a:chOff x="405855" y="2134307"/>
            <a:chExt cx="4958232" cy="400110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855" y="2246971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내용 개체 틀 2"/>
            <p:cNvSpPr txBox="1">
              <a:spLocks/>
            </p:cNvSpPr>
            <p:nvPr/>
          </p:nvSpPr>
          <p:spPr>
            <a:xfrm>
              <a:off x="658248" y="2134307"/>
              <a:ext cx="4705839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가족 간의 이전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(inter-family transfer)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77199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재원조달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급여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재정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731877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2166" y="1772816"/>
            <a:ext cx="8342609" cy="442668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전달체계는 사회보장의 급여나 서비스를 전달하는 방식으로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국가마다 차이는 있지만 대부분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국가와 지방자치단체가 시행하는 것이 일반화되어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사회보장기본법 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29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조에 국가와 지방자치단체의 사회보장 전달체계에 대한 역할을 규정하고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①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국가와 지방자치단체는 모든 국민이 쉽게 이용할 수 있고 사회보장급여가 적시에 제공되도록 지역적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기능적으로 균형 잡힌 사회보장 전달체계를 구축하여야 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②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국가와 지방자치단체는 사회보장 전달체계의 효율적 운영에 필요한 조직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예산 등을 갖추어야 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③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국가와 지방자치단체는 공공부문과 민간부문의 사회보장 전달체계가 효율적으로 연계되도록 노력하여야 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9964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4.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전달체계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455493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2166" y="1772816"/>
            <a:ext cx="8342609" cy="2351116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또한 사회보장기본법 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 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항에는 사회보장의 운영원칙을 밝히고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사회보험은 국가책임으로 시행하고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공공부조와 사회서비스는 국가와 지방   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자치단체의 책임으로 시행하는 것을 </a:t>
            </a:r>
            <a:r>
              <a:rPr kumimoji="0" lang="ko-KR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원칙으로 한다</a:t>
            </a:r>
            <a:r>
              <a:rPr kumimoji="0" lang="en-US" altLang="ko-KR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.”</a:t>
            </a:r>
            <a:r>
              <a:rPr kumimoji="0" lang="ko-KR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 규정되어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따라서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사회보험은 국가가 전달체계의 주체가 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공공부조와 사회서비스는 국가와 지방자치단체가 함께 전달주체가 됨 </a:t>
            </a:r>
          </a:p>
        </p:txBody>
      </p: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9964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4.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전달체계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524192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02166" y="1772816"/>
            <a:ext cx="8342609" cy="401311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285750" marR="0" lvl="0" indent="-28575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사회보장전달체계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국민연금은 보건복지부가 소관부서가 되고 그 산하에 있는 국민연금공단이 전달체계가 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국민건강보험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노인장기요양보험 포함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도 보건복지부가 소관부서가 되고 그 산하에 있는 국민건강보험공단이 전달체계가 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고용보험은 고용노동부가 소관부서가 되고 근로복지공단과 지방고용노동청이 전달체계가 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산재보험은 고용노동부가 소관부서가 되고 그 산하에 있는 근로복지공단이 전달체계가 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제목 1"/>
          <p:cNvSpPr txBox="1">
            <a:spLocks/>
          </p:cNvSpPr>
          <p:nvPr/>
        </p:nvSpPr>
        <p:spPr>
          <a:xfrm>
            <a:off x="224111" y="420678"/>
            <a:ext cx="219964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4.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전달체계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314912" y="518140"/>
            <a:ext cx="2361544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급여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 재정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전달체계</a:t>
            </a:r>
          </a:p>
        </p:txBody>
      </p:sp>
    </p:spTree>
    <p:extLst>
      <p:ext uri="{BB962C8B-B14F-4D97-AF65-F5344CB8AC3E}">
        <p14:creationId xmlns:p14="http://schemas.microsoft.com/office/powerpoint/2010/main" val="362841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3431</TotalTime>
  <Words>3115</Words>
  <Application>Microsoft Office PowerPoint</Application>
  <PresentationFormat>화면 슬라이드 쇼(4:3)</PresentationFormat>
  <Paragraphs>475</Paragraphs>
  <Slides>38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38</vt:i4>
      </vt:variant>
    </vt:vector>
  </HeadingPairs>
  <TitlesOfParts>
    <vt:vector size="50" baseType="lpstr">
      <vt:lpstr>HY울릉도M</vt:lpstr>
      <vt:lpstr>나눔스퀘어 Bold</vt:lpstr>
      <vt:lpstr>나눔스퀘어 ExtraBold</vt:lpstr>
      <vt:lpstr>나눔스퀘어라운드 Bold</vt:lpstr>
      <vt:lpstr>맑은 고딕</vt:lpstr>
      <vt:lpstr>Arial</vt:lpstr>
      <vt:lpstr>Wingdings</vt:lpstr>
      <vt:lpstr>Office 테마</vt:lpstr>
      <vt:lpstr>1_Office 테마</vt:lpstr>
      <vt:lpstr>2_Office 테마</vt:lpstr>
      <vt:lpstr>3_Office 테마</vt:lpstr>
      <vt:lpstr>6_Office 테마</vt:lpstr>
      <vt:lpstr>제5장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</dc:creator>
  <cp:lastModifiedBy>Andrew Kang</cp:lastModifiedBy>
  <cp:revision>520</cp:revision>
  <dcterms:created xsi:type="dcterms:W3CDTF">2018-02-02T09:48:03Z</dcterms:created>
  <dcterms:modified xsi:type="dcterms:W3CDTF">2022-10-20T03:24:54Z</dcterms:modified>
</cp:coreProperties>
</file>