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Default Extension="png" ContentType="image/png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0680700" cy="7556500"/>
  <p:notesSz cx="106807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020" y="1208885"/>
            <a:ext cx="4230658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5069" y="1919294"/>
            <a:ext cx="8550560" cy="4494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113006" y="6877765"/>
            <a:ext cx="49466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#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3175" y="1193654"/>
            <a:ext cx="51346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25"/>
              <a:t>제5강.</a:t>
            </a:r>
            <a:r>
              <a:rPr dirty="0" sz="2800" spc="395"/>
              <a:t> </a:t>
            </a:r>
            <a:r>
              <a:rPr dirty="0" sz="2800" spc="-10"/>
              <a:t>사회후생과</a:t>
            </a:r>
            <a:r>
              <a:rPr dirty="0" sz="2800" spc="395"/>
              <a:t> </a:t>
            </a:r>
            <a:r>
              <a:rPr dirty="0" sz="2800" spc="-5"/>
              <a:t>국가의</a:t>
            </a:r>
            <a:r>
              <a:rPr dirty="0" sz="2800" spc="400"/>
              <a:t> </a:t>
            </a:r>
            <a:r>
              <a:rPr dirty="0" sz="2800" spc="-10"/>
              <a:t>역할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53936" y="2183717"/>
            <a:ext cx="6719570" cy="4021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latin typeface="Malgun Gothic"/>
                <a:cs typeface="Malgun Gothic"/>
              </a:rPr>
              <a:t>제1절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논의의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형식적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체계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사회후생의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극대화(social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welfare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maximization)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Malgun Gothic"/>
              <a:cs typeface="Malgun Gothic"/>
            </a:endParaRPr>
          </a:p>
          <a:p>
            <a:pPr algn="ctr" marL="1857375">
              <a:lnSpc>
                <a:spcPct val="100000"/>
              </a:lnSpc>
            </a:pPr>
            <a:r>
              <a:rPr dirty="0" sz="2400" spc="100">
                <a:solidFill>
                  <a:srgbClr val="0000FF"/>
                </a:solidFill>
                <a:latin typeface="Cambria"/>
                <a:cs typeface="Cambria"/>
              </a:rPr>
              <a:t>m</a:t>
            </a:r>
            <a:r>
              <a:rPr dirty="0" sz="2400" spc="95">
                <a:solidFill>
                  <a:srgbClr val="0000FF"/>
                </a:solidFill>
                <a:latin typeface="Cambria"/>
                <a:cs typeface="Cambria"/>
              </a:rPr>
              <a:t>a</a:t>
            </a:r>
            <a:r>
              <a:rPr dirty="0" sz="2400" spc="190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2500" spc="-40">
                <a:solidFill>
                  <a:srgbClr val="0000FF"/>
                </a:solidFill>
                <a:latin typeface="Lucida Sans Unicode"/>
                <a:cs typeface="Lucida Sans Unicode"/>
              </a:rPr>
              <a:t></a:t>
            </a:r>
            <a:r>
              <a:rPr dirty="0" sz="2500" spc="-28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314" sz="36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145">
                <a:solidFill>
                  <a:srgbClr val="0000FF"/>
                </a:solidFill>
                <a:latin typeface="Lucida Sans Unicode"/>
                <a:cs typeface="Lucida Sans Unicode"/>
              </a:rPr>
              <a:t></a:t>
            </a:r>
            <a:r>
              <a:rPr dirty="0" baseline="2314" sz="3600" spc="-2257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65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2314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 spc="-8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944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2314" sz="3600" spc="-2204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baseline="2314" sz="3600">
              <a:latin typeface="Cambria"/>
              <a:cs typeface="Cambria"/>
            </a:endParaRPr>
          </a:p>
          <a:p>
            <a:pPr algn="ctr" marL="1852930">
              <a:lnSpc>
                <a:spcPct val="100000"/>
              </a:lnSpc>
              <a:spcBef>
                <a:spcPts val="765"/>
              </a:spcBef>
            </a:pPr>
            <a:r>
              <a:rPr dirty="0" sz="2000" spc="40" b="1">
                <a:latin typeface="Malgun Gothic"/>
                <a:cs typeface="Malgun Gothic"/>
              </a:rPr>
              <a:t>s.t.</a:t>
            </a:r>
            <a:endParaRPr sz="2000">
              <a:latin typeface="Malgun Gothic"/>
              <a:cs typeface="Malgun Gothic"/>
            </a:endParaRPr>
          </a:p>
          <a:p>
            <a:pPr algn="ctr" marL="1857375">
              <a:lnSpc>
                <a:spcPct val="100000"/>
              </a:lnSpc>
              <a:spcBef>
                <a:spcPts val="960"/>
              </a:spcBef>
            </a:pP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2679" sz="2550" spc="-20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810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65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83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sz="2400" spc="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254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825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32679" sz="2550" spc="-20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810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944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sz="2400">
              <a:latin typeface="Cambria"/>
              <a:cs typeface="Cambria"/>
            </a:endParaRPr>
          </a:p>
          <a:p>
            <a:pPr algn="ctr" marL="1858645">
              <a:lnSpc>
                <a:spcPct val="100000"/>
              </a:lnSpc>
              <a:spcBef>
                <a:spcPts val="1055"/>
              </a:spcBef>
            </a:pP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baseline="-2222" sz="375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810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96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r>
              <a:rPr dirty="0" baseline="-2222" sz="3750" spc="-637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637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507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832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sz="2400" spc="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2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810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96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r>
              <a:rPr dirty="0" baseline="-2222" sz="3750" spc="-637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652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507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810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sz="2400">
              <a:latin typeface="Cambria"/>
              <a:cs typeface="Cambria"/>
            </a:endParaRPr>
          </a:p>
          <a:p>
            <a:pPr algn="ctr" marL="1729105">
              <a:lnSpc>
                <a:spcPct val="100000"/>
              </a:lnSpc>
              <a:spcBef>
                <a:spcPts val="1195"/>
              </a:spcBef>
            </a:pPr>
            <a:r>
              <a:rPr dirty="0" baseline="19675" sz="3600" spc="-5175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sz="2500" spc="-515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314" sz="3600" spc="-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64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r>
              <a:rPr dirty="0" sz="2500" spc="-42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baseline="35947" sz="2550" spc="-56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</a:t>
            </a:r>
            <a:r>
              <a:rPr dirty="0" baseline="2314" sz="3600" spc="-27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64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r>
              <a:rPr dirty="0" sz="2500" spc="-41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35947" sz="2550" spc="157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 spc="-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19675" sz="3600" spc="-4170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sz="2500" spc="-890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314" sz="36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1005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baseline="35947" sz="2550" spc="-54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</a:t>
            </a:r>
            <a:r>
              <a:rPr dirty="0" baseline="2314" sz="3600" spc="-27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1005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endParaRPr baseline="35947" sz="25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54965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70"/>
              <a:t> </a:t>
            </a:r>
            <a:r>
              <a:rPr dirty="0"/>
              <a:t>최선의</a:t>
            </a:r>
            <a:r>
              <a:rPr dirty="0" spc="270"/>
              <a:t> </a:t>
            </a:r>
            <a:r>
              <a:rPr dirty="0" spc="-5"/>
              <a:t>경제와</a:t>
            </a:r>
            <a:r>
              <a:rPr dirty="0" spc="275"/>
              <a:t> </a:t>
            </a:r>
            <a:r>
              <a:rPr dirty="0" spc="-5"/>
              <a:t>차선의</a:t>
            </a:r>
            <a:r>
              <a:rPr dirty="0" spc="270"/>
              <a:t> </a:t>
            </a:r>
            <a:r>
              <a:rPr dirty="0"/>
              <a:t>경제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936" y="1919294"/>
            <a:ext cx="8573135" cy="42037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79400" indent="-25463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Cambria"/>
              <a:buChar char="○"/>
              <a:tabLst>
                <a:tab pos="279400" algn="l"/>
                <a:tab pos="280035" algn="l"/>
              </a:tabLst>
            </a:pP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최선의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45" b="1">
                <a:solidFill>
                  <a:srgbClr val="0000FF"/>
                </a:solidFill>
                <a:latin typeface="Malgun Gothic"/>
                <a:cs typeface="Malgun Gothic"/>
              </a:rPr>
              <a:t>경제(first-best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economy)</a:t>
            </a:r>
            <a:endParaRPr sz="2000">
              <a:latin typeface="Malgun Gothic"/>
              <a:cs typeface="Malgun Gothic"/>
            </a:endParaRPr>
          </a:p>
          <a:p>
            <a:pPr lvl="1" marL="4375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381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시장의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기능을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바탕으로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자원이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최적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상태로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배분</a:t>
            </a:r>
            <a:endParaRPr sz="2000">
              <a:latin typeface="Malgun Gothic"/>
              <a:cs typeface="Malgun Gothic"/>
            </a:endParaRPr>
          </a:p>
          <a:p>
            <a:pPr lvl="1" marL="437515" indent="-287020">
              <a:lnSpc>
                <a:spcPct val="100000"/>
              </a:lnSpc>
              <a:spcBef>
                <a:spcPts val="795"/>
              </a:spcBef>
              <a:buChar char="-"/>
              <a:tabLst>
                <a:tab pos="4381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정부의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적절한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정책개입을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비효율적이거나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불균형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해소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79400" indent="-25463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Cambria"/>
              <a:buChar char="○"/>
              <a:tabLst>
                <a:tab pos="279400" algn="l"/>
                <a:tab pos="280035" algn="l"/>
              </a:tabLst>
            </a:pP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차선의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30" b="1">
                <a:solidFill>
                  <a:srgbClr val="0000FF"/>
                </a:solidFill>
                <a:latin typeface="Malgun Gothic"/>
                <a:cs typeface="Malgun Gothic"/>
              </a:rPr>
              <a:t>경제(second-best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economy)</a:t>
            </a:r>
            <a:endParaRPr sz="2000">
              <a:latin typeface="Malgun Gothic"/>
              <a:cs typeface="Malgun Gothic"/>
            </a:endParaRPr>
          </a:p>
          <a:p>
            <a:pPr lvl="1" marL="4375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381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시장의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실패가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적절한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국가개입을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통해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달성</a:t>
            </a:r>
            <a:endParaRPr sz="2000">
              <a:latin typeface="Malgun Gothic"/>
              <a:cs typeface="Malgun Gothic"/>
            </a:endParaRPr>
          </a:p>
          <a:p>
            <a:pPr lvl="1" marL="459105" marR="17780" indent="-307975">
              <a:lnSpc>
                <a:spcPct val="133400"/>
              </a:lnSpc>
              <a:buChar char="-"/>
              <a:tabLst>
                <a:tab pos="459105" algn="l"/>
                <a:tab pos="459740" algn="l"/>
                <a:tab pos="1876425" algn="l"/>
                <a:tab pos="2530475" algn="l"/>
                <a:tab pos="2763520" algn="l"/>
                <a:tab pos="3672840" algn="l"/>
                <a:tab pos="4403090" algn="l"/>
                <a:tab pos="5564505" algn="l"/>
                <a:tab pos="6295390" algn="l"/>
                <a:tab pos="7531734" algn="l"/>
              </a:tabLst>
            </a:pP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실패의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요</a:t>
            </a:r>
            <a:r>
              <a:rPr dirty="0" sz="2000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</a:t>
            </a:r>
            <a:r>
              <a:rPr dirty="0" sz="2000" spc="-15" b="1">
                <a:latin typeface="Malgun Gothic"/>
                <a:cs typeface="Malgun Gothic"/>
              </a:rPr>
              <a:t>완</a:t>
            </a:r>
            <a:r>
              <a:rPr dirty="0" sz="2000" b="1">
                <a:latin typeface="Malgun Gothic"/>
                <a:cs typeface="Malgun Gothic"/>
              </a:rPr>
              <a:t>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경쟁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불</a:t>
            </a:r>
            <a:r>
              <a:rPr dirty="0" sz="2000" b="1">
                <a:latin typeface="Malgun Gothic"/>
                <a:cs typeface="Malgun Gothic"/>
              </a:rPr>
              <a:t>완전한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정보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불</a:t>
            </a:r>
            <a:r>
              <a:rPr dirty="0" sz="2000" b="1">
                <a:latin typeface="Malgun Gothic"/>
                <a:cs typeface="Malgun Gothic"/>
              </a:rPr>
              <a:t>확실</a:t>
            </a:r>
            <a:r>
              <a:rPr dirty="0" sz="2000" spc="-15" b="1">
                <a:latin typeface="Malgun Gothic"/>
                <a:cs typeface="Malgun Gothic"/>
              </a:rPr>
              <a:t>성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완비</a:t>
            </a:r>
            <a:r>
              <a:rPr dirty="0" sz="2000" spc="-15" b="1">
                <a:latin typeface="Malgun Gothic"/>
                <a:cs typeface="Malgun Gothic"/>
              </a:rPr>
              <a:t>되</a:t>
            </a:r>
            <a:r>
              <a:rPr dirty="0" sz="2000" b="1">
                <a:latin typeface="Malgun Gothic"/>
                <a:cs typeface="Malgun Gothic"/>
              </a:rPr>
              <a:t>지  </a:t>
            </a:r>
            <a:r>
              <a:rPr dirty="0" sz="2000" b="1">
                <a:latin typeface="Malgun Gothic"/>
                <a:cs typeface="Malgun Gothic"/>
              </a:rPr>
              <a:t>못한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시장,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공공재,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외부성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Malgun Gothic"/>
              <a:cs typeface="Malgun Gothic"/>
            </a:endParaRPr>
          </a:p>
          <a:p>
            <a:pPr marL="151130">
              <a:lnSpc>
                <a:spcPct val="100000"/>
              </a:lnSpc>
              <a:spcBef>
                <a:spcPts val="5"/>
              </a:spcBef>
              <a:tabLst>
                <a:tab pos="413384" algn="l"/>
              </a:tabLst>
            </a:pPr>
            <a:r>
              <a:rPr dirty="0" sz="2000" spc="85" b="1">
                <a:latin typeface="Malgun Gothic"/>
                <a:cs typeface="Malgun Gothic"/>
              </a:rPr>
              <a:t>*</a:t>
            </a:r>
            <a:r>
              <a:rPr dirty="0" sz="2000" spc="85" b="1">
                <a:latin typeface="Malgun Gothic"/>
                <a:cs typeface="Malgun Gothic"/>
              </a:rPr>
              <a:t>	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19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5947" sz="2550" spc="-20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472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3472" sz="36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540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3472" sz="3600" spc="-2257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65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472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3472" sz="3600" spc="-6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65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472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3472" sz="3600" spc="-8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3472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3472" sz="3600" spc="-8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944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3472" sz="3600" spc="-2204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baseline="3472"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0299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"/>
              <a:t>제2절</a:t>
            </a:r>
            <a:r>
              <a:rPr dirty="0" spc="265"/>
              <a:t> </a:t>
            </a:r>
            <a:r>
              <a:rPr dirty="0" spc="-5"/>
              <a:t>경제적</a:t>
            </a:r>
            <a:r>
              <a:rPr dirty="0" spc="270"/>
              <a:t> </a:t>
            </a:r>
            <a:r>
              <a:rPr dirty="0" spc="-5"/>
              <a:t>효율성의</a:t>
            </a:r>
            <a:r>
              <a:rPr dirty="0" spc="270"/>
              <a:t> </a:t>
            </a:r>
            <a:r>
              <a:rPr dirty="0"/>
              <a:t>중요성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936" y="2020737"/>
            <a:ext cx="8598535" cy="4032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경제적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개념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1)</a:t>
            </a:r>
            <a:r>
              <a:rPr dirty="0" sz="2000" spc="24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부분균형이론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279400" indent="-254635">
              <a:lnSpc>
                <a:spcPct val="100000"/>
              </a:lnSpc>
              <a:buFont typeface="Cambria"/>
              <a:buChar char="○"/>
              <a:tabLst>
                <a:tab pos="279400" algn="l"/>
                <a:tab pos="2800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경제적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희소한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자원을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가장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합리적으로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활용하는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lvl="1" marL="437515" indent="-287020">
              <a:lnSpc>
                <a:spcPct val="100000"/>
              </a:lnSpc>
              <a:buChar char="-"/>
              <a:tabLst>
                <a:tab pos="4381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사회적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한계가치(MVS)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90" b="1">
                <a:latin typeface="Malgun Gothic"/>
                <a:cs typeface="Malgun Gothic"/>
              </a:rPr>
              <a:t>=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한계비용(MSC)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Malgun Gothic"/>
              <a:buChar char="-"/>
            </a:pPr>
            <a:endParaRPr sz="1900">
              <a:latin typeface="Malgun Gothic"/>
              <a:cs typeface="Malgun Gothic"/>
            </a:endParaRPr>
          </a:p>
          <a:p>
            <a:pPr lvl="1" marL="451484" marR="43180" indent="-300355">
              <a:lnSpc>
                <a:spcPct val="131000"/>
              </a:lnSpc>
              <a:spcBef>
                <a:spcPts val="5"/>
              </a:spcBef>
              <a:buChar char="-"/>
              <a:tabLst>
                <a:tab pos="451484" algn="l"/>
                <a:tab pos="452120" algn="l"/>
                <a:tab pos="3646804" algn="l"/>
                <a:tab pos="4547870" algn="l"/>
                <a:tab pos="5448935" algn="l"/>
                <a:tab pos="5843270" algn="l"/>
                <a:tab pos="6490335" algn="l"/>
                <a:tab pos="7391400" algn="l"/>
                <a:tab pos="829310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최</a:t>
            </a:r>
            <a:r>
              <a:rPr dirty="0" sz="2000" b="1">
                <a:latin typeface="Malgun Gothic"/>
                <a:cs typeface="Malgun Gothic"/>
              </a:rPr>
              <a:t>적생</a:t>
            </a:r>
            <a:r>
              <a:rPr dirty="0" sz="2000" spc="-15" b="1">
                <a:latin typeface="Malgun Gothic"/>
                <a:cs typeface="Malgun Gothic"/>
              </a:rPr>
              <a:t>산</a:t>
            </a:r>
            <a:r>
              <a:rPr dirty="0" sz="2000" b="1">
                <a:latin typeface="Malgun Gothic"/>
                <a:cs typeface="Malgun Gothic"/>
              </a:rPr>
              <a:t>량</a:t>
            </a:r>
            <a:r>
              <a:rPr dirty="0" sz="2000" spc="80" b="1">
                <a:latin typeface="Malgun Gothic"/>
                <a:cs typeface="Malgun Gothic"/>
              </a:rPr>
              <a:t>(</a:t>
            </a:r>
            <a:r>
              <a:rPr dirty="0" sz="2100" spc="-620">
                <a:solidFill>
                  <a:srgbClr val="0000FF"/>
                </a:solidFill>
                <a:latin typeface="Lucida Sans Unicode"/>
                <a:cs typeface="Lucida Sans Unicode"/>
              </a:rPr>
              <a:t></a:t>
            </a:r>
            <a:r>
              <a:rPr dirty="0" sz="2100" spc="-35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7037" sz="2025" spc="-937">
                <a:solidFill>
                  <a:srgbClr val="0000FF"/>
                </a:solidFill>
                <a:latin typeface="Cambria"/>
                <a:cs typeface="Cambria"/>
              </a:rPr>
              <a:t>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으</a:t>
            </a:r>
            <a:r>
              <a:rPr dirty="0" sz="2000" spc="-15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부터의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이탈은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적어도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이상의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형편을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나  </a:t>
            </a:r>
            <a:r>
              <a:rPr dirty="0" sz="2000" spc="-10" b="1">
                <a:latin typeface="Malgun Gothic"/>
                <a:cs typeface="Malgun Gothic"/>
              </a:rPr>
              <a:t>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불리한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생산물의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조합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335">
                <a:latin typeface="Cambria"/>
                <a:cs typeface="Cambria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파레토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최적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상태,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파레토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70"/>
              <a:t> </a:t>
            </a:r>
            <a:r>
              <a:rPr dirty="0" spc="70"/>
              <a:t>4-1&gt;</a:t>
            </a:r>
            <a:r>
              <a:rPr dirty="0" spc="275"/>
              <a:t> </a:t>
            </a:r>
            <a:r>
              <a:rPr dirty="0" spc="-5"/>
              <a:t>파레토최적의</a:t>
            </a:r>
            <a:r>
              <a:rPr dirty="0" spc="270"/>
              <a:t> </a:t>
            </a:r>
            <a:r>
              <a:rPr dirty="0" spc="-5"/>
              <a:t>부분균형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223" y="2071522"/>
            <a:ext cx="5956136" cy="42740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92278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25"/>
              <a:t> </a:t>
            </a:r>
            <a:r>
              <a:rPr dirty="0" spc="-5"/>
              <a:t>일반균형이론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2397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(1)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파레토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최적조건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4436" y="2734963"/>
            <a:ext cx="3448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90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baseline="4115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4115" sz="2025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400" spc="-35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5466" y="2587349"/>
            <a:ext cx="321627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31838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생산의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효</a:t>
            </a:r>
            <a:r>
              <a:rPr dirty="0" sz="2000" b="1">
                <a:latin typeface="Malgun Gothic"/>
                <a:cs typeface="Malgun Gothic"/>
              </a:rPr>
              <a:t>율성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baseline="1322" sz="3150" spc="-457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baseline="1322" sz="3150" spc="-1042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1322" sz="3150" spc="-1019">
                <a:solidFill>
                  <a:srgbClr val="0000FF"/>
                </a:solidFill>
                <a:latin typeface="Lucida Sans Unicode"/>
                <a:cs typeface="Lucida Sans Unicode"/>
              </a:rPr>
              <a:t></a:t>
            </a:r>
            <a:r>
              <a:rPr dirty="0" baseline="1322" sz="3150" spc="-1507">
                <a:solidFill>
                  <a:srgbClr val="0000FF"/>
                </a:solidFill>
                <a:latin typeface="Lucida Sans Unicode"/>
                <a:cs typeface="Lucida Sans Unicode"/>
              </a:rPr>
              <a:t></a:t>
            </a:r>
            <a:r>
              <a:rPr dirty="0" baseline="1322" sz="3150" spc="-61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9094" sz="2025" spc="-869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endParaRPr baseline="39094" sz="2025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6086" y="2672656"/>
            <a:ext cx="1387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22985" algn="l"/>
              </a:tabLst>
            </a:pPr>
            <a:r>
              <a:rPr dirty="0" sz="2000" spc="-1525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baseline="-19444" sz="3000" spc="-2287">
                <a:solidFill>
                  <a:srgbClr val="0000FF"/>
                </a:solidFill>
                <a:latin typeface="Cambria"/>
                <a:cs typeface="Cambria"/>
              </a:rPr>
              <a:t>	</a:t>
            </a:r>
            <a:r>
              <a:rPr dirty="0" sz="2000" spc="-1525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baseline="-19444" sz="3000" spc="-2287">
                <a:solidFill>
                  <a:srgbClr val="0000FF"/>
                </a:solidFill>
                <a:latin typeface="Cambria"/>
                <a:cs typeface="Cambria"/>
              </a:rPr>
              <a:t></a:t>
            </a:r>
            <a:endParaRPr baseline="-19444"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513" y="2581266"/>
            <a:ext cx="18408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60119" algn="l"/>
              </a:tabLst>
            </a:pPr>
            <a:r>
              <a:rPr dirty="0" sz="2000" spc="-465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000" spc="-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000" spc="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33333" sz="3000" spc="-885">
                <a:solidFill>
                  <a:srgbClr val="0000FF"/>
                </a:solidFill>
                <a:latin typeface="Cambria"/>
                <a:cs typeface="Cambria"/>
              </a:rPr>
              <a:t></a:t>
            </a:r>
            <a:r>
              <a:rPr dirty="0" baseline="33333" sz="3000" spc="8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sz="20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000" spc="-465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0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14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000" spc="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33333" sz="3000" spc="-885">
                <a:solidFill>
                  <a:srgbClr val="0000FF"/>
                </a:solidFill>
                <a:latin typeface="Cambria"/>
                <a:cs typeface="Cambria"/>
              </a:rPr>
              <a:t></a:t>
            </a:r>
            <a:r>
              <a:rPr dirty="0" baseline="33333" sz="30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33333" sz="3000" spc="2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7291" y="2744245"/>
            <a:ext cx="113157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33780" algn="l"/>
              </a:tabLst>
            </a:pPr>
            <a:r>
              <a:rPr dirty="0" sz="1350" spc="-580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sz="1350" spc="-58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7933" y="2734963"/>
            <a:ext cx="3448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75">
                <a:solidFill>
                  <a:srgbClr val="0000FF"/>
                </a:solidFill>
                <a:latin typeface="Lucida Sans Unicode"/>
                <a:cs typeface="Lucida Sans Unicode"/>
              </a:rPr>
              <a:t></a:t>
            </a:r>
            <a:r>
              <a:rPr dirty="0" baseline="4115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4115" sz="2025" spc="-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400" spc="-350">
                <a:solidFill>
                  <a:srgbClr val="0000FF"/>
                </a:solidFill>
                <a:latin typeface="Lucida Sans Unicode"/>
                <a:cs typeface="Lucida Sans Unicode"/>
              </a:rPr>
              <a:t>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3881" y="2579733"/>
            <a:ext cx="119761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 spc="284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680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100" spc="-690">
                <a:solidFill>
                  <a:srgbClr val="0000FF"/>
                </a:solidFill>
                <a:latin typeface="Lucida Sans Unicode"/>
                <a:cs typeface="Lucida Sans Unicode"/>
              </a:rPr>
              <a:t></a:t>
            </a:r>
            <a:r>
              <a:rPr dirty="0" sz="2100" spc="-1005">
                <a:solidFill>
                  <a:srgbClr val="0000FF"/>
                </a:solidFill>
                <a:latin typeface="Lucida Sans Unicode"/>
                <a:cs typeface="Lucida Sans Unicode"/>
              </a:rPr>
              <a:t></a:t>
            </a:r>
            <a:r>
              <a:rPr dirty="0" sz="2100" spc="-409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7037" sz="2025" spc="-1035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baseline="37037" sz="2025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5466" y="3783041"/>
            <a:ext cx="306578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31838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교환의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	</a:t>
            </a:r>
            <a:r>
              <a:rPr dirty="0" sz="2100" spc="-535">
                <a:solidFill>
                  <a:srgbClr val="0000FF"/>
                </a:solidFill>
                <a:latin typeface="Lucida Sans Unicode"/>
                <a:cs typeface="Lucida Sans Unicode"/>
              </a:rPr>
              <a:t></a:t>
            </a:r>
            <a:r>
              <a:rPr dirty="0" baseline="35714" sz="2100" spc="-802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endParaRPr baseline="35714" sz="2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5631" y="4110533"/>
            <a:ext cx="120586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8710" algn="l"/>
              </a:tabLst>
            </a:pP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3029" y="3562181"/>
            <a:ext cx="2051050" cy="550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90220">
              <a:lnSpc>
                <a:spcPts val="2120"/>
              </a:lnSpc>
              <a:spcBef>
                <a:spcPts val="110"/>
              </a:spcBef>
              <a:tabLst>
                <a:tab pos="1584325" algn="l"/>
              </a:tabLst>
            </a:pPr>
            <a:r>
              <a:rPr dirty="0" sz="2100" spc="-67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22633" sz="2025" spc="-1005">
                <a:solidFill>
                  <a:srgbClr val="0000FF"/>
                </a:solidFill>
                <a:latin typeface="Cambria"/>
                <a:cs typeface="Cambria"/>
              </a:rPr>
              <a:t>	</a:t>
            </a:r>
            <a:r>
              <a:rPr dirty="0" sz="2100" spc="-67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22633" sz="2025" spc="-1005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endParaRPr baseline="-22633" sz="2025">
              <a:latin typeface="Cambria"/>
              <a:cs typeface="Cambria"/>
            </a:endParaRPr>
          </a:p>
          <a:p>
            <a:pPr marL="38100">
              <a:lnSpc>
                <a:spcPts val="2000"/>
              </a:lnSpc>
              <a:tabLst>
                <a:tab pos="818515" algn="l"/>
                <a:tab pos="1132205" algn="l"/>
                <a:tab pos="1914525" algn="l"/>
              </a:tabLst>
            </a:pPr>
            <a:r>
              <a:rPr dirty="0" sz="2000" spc="-465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000" spc="3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		</a:t>
            </a:r>
            <a:r>
              <a:rPr dirty="0" sz="2000" spc="-465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000" spc="3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235">
                <a:solidFill>
                  <a:srgbClr val="0000FF"/>
                </a:solidFill>
                <a:latin typeface="Cambria"/>
                <a:cs typeface="Cambria"/>
              </a:rPr>
              <a:t>	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5178" y="3859200"/>
            <a:ext cx="25673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312545" algn="l"/>
                <a:tab pos="2407285" algn="l"/>
              </a:tabLst>
            </a:pPr>
            <a:r>
              <a:rPr dirty="0" baseline="4115" sz="2025" spc="-1192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baseline="6172" sz="2025" spc="-1192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6172" sz="2025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4115" sz="2025" spc="-1035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r>
              <a:rPr dirty="0" baseline="4115" sz="2025" spc="50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1380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baseline="-18518" sz="3150" spc="-2070">
                <a:solidFill>
                  <a:srgbClr val="0000FF"/>
                </a:solidFill>
                <a:latin typeface="Lucida Sans Unicode"/>
                <a:cs typeface="Lucida Sans Unicode"/>
              </a:rPr>
              <a:t>	</a:t>
            </a:r>
            <a:r>
              <a:rPr dirty="0" baseline="3968" sz="2100" spc="-577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968" sz="2100" spc="-13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380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baseline="-18518" sz="3150" spc="-2070">
                <a:solidFill>
                  <a:srgbClr val="0000FF"/>
                </a:solidFill>
                <a:latin typeface="Lucida Sans Unicode"/>
                <a:cs typeface="Lucida Sans Unicode"/>
              </a:rPr>
              <a:t>	</a:t>
            </a:r>
            <a:r>
              <a:rPr dirty="0" baseline="3968" sz="2100" spc="-667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endParaRPr baseline="3968" sz="2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7878" y="3942984"/>
            <a:ext cx="2863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00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baseline="2057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057" sz="2025" spc="-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4983" y="3779994"/>
            <a:ext cx="10541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 spc="284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680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100" spc="-760">
                <a:solidFill>
                  <a:srgbClr val="0000FF"/>
                </a:solidFill>
                <a:latin typeface="Lucida Sans Unicode"/>
                <a:cs typeface="Lucida Sans Unicode"/>
              </a:rPr>
              <a:t></a:t>
            </a:r>
            <a:r>
              <a:rPr dirty="0" baseline="35714" sz="2100" spc="-667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endParaRPr baseline="35714" sz="2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0866" y="4826425"/>
            <a:ext cx="394842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생산과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교환의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종합적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효율성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3934" y="6006885"/>
            <a:ext cx="2863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15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baseline="2057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057" sz="2025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1180" y="5921578"/>
            <a:ext cx="108902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4115" sz="2025" spc="-922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baseline="6172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6172" sz="2025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4115" sz="2025" spc="-1035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r>
              <a:rPr dirty="0" baseline="4115" sz="202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4115" sz="2025" spc="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000" spc="-5270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r>
              <a:rPr dirty="0" baseline="-18518" sz="3150" spc="-1139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endParaRPr baseline="-18518" sz="31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8933" y="6172911"/>
            <a:ext cx="1098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59026" y="6009922"/>
            <a:ext cx="435609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675">
                <a:solidFill>
                  <a:srgbClr val="0000FF"/>
                </a:solidFill>
                <a:latin typeface="Lucida Sans Unicode"/>
                <a:cs typeface="Lucida Sans Unicode"/>
              </a:rPr>
              <a:t>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68534" y="6172911"/>
            <a:ext cx="1098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5060" y="5626082"/>
            <a:ext cx="5225415" cy="5651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621280">
              <a:lnSpc>
                <a:spcPts val="2120"/>
              </a:lnSpc>
              <a:spcBef>
                <a:spcPts val="110"/>
              </a:spcBef>
              <a:tabLst>
                <a:tab pos="3582035" algn="l"/>
              </a:tabLst>
            </a:pPr>
            <a:r>
              <a:rPr dirty="0" sz="2100" spc="-67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22633" sz="2025" spc="-1005">
                <a:solidFill>
                  <a:srgbClr val="0000FF"/>
                </a:solidFill>
                <a:latin typeface="Cambria"/>
                <a:cs typeface="Cambria"/>
              </a:rPr>
              <a:t>	</a:t>
            </a:r>
            <a:r>
              <a:rPr dirty="0" sz="2100" spc="-520">
                <a:solidFill>
                  <a:srgbClr val="0000FF"/>
                </a:solidFill>
                <a:latin typeface="Lucida Sans Unicode"/>
                <a:cs typeface="Lucida Sans Unicode"/>
              </a:rPr>
              <a:t></a:t>
            </a:r>
            <a:r>
              <a:rPr dirty="0" baseline="-22633" sz="2025" spc="-780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endParaRPr baseline="-22633" sz="2025">
              <a:latin typeface="Cambria"/>
              <a:cs typeface="Cambria"/>
            </a:endParaRPr>
          </a:p>
          <a:p>
            <a:pPr marL="38100">
              <a:lnSpc>
                <a:spcPts val="2120"/>
              </a:lnSpc>
              <a:tabLst>
                <a:tab pos="966469" algn="l"/>
                <a:tab pos="2169160" algn="l"/>
                <a:tab pos="2950210" algn="l"/>
                <a:tab pos="4149725" algn="l"/>
              </a:tabLst>
            </a:pP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680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100" spc="-750">
                <a:solidFill>
                  <a:srgbClr val="0000FF"/>
                </a:solidFill>
                <a:latin typeface="Lucida Sans Unicode"/>
                <a:cs typeface="Lucida Sans Unicode"/>
              </a:rPr>
              <a:t></a:t>
            </a:r>
            <a:r>
              <a:rPr dirty="0" baseline="35714" sz="2100" spc="-577">
                <a:solidFill>
                  <a:srgbClr val="0000FF"/>
                </a:solidFill>
                <a:latin typeface="Lucida Sans Unicode"/>
                <a:cs typeface="Lucida Sans Unicode"/>
              </a:rPr>
              <a:t></a:t>
            </a:r>
            <a:r>
              <a:rPr dirty="0" baseline="35714" sz="2100">
                <a:solidFill>
                  <a:srgbClr val="0000FF"/>
                </a:solidFill>
                <a:latin typeface="Lucida Sans Unicode"/>
                <a:cs typeface="Lucida Sans Unicode"/>
              </a:rPr>
              <a:t>	</a:t>
            </a: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 spc="284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695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100" spc="-750">
                <a:solidFill>
                  <a:srgbClr val="0000FF"/>
                </a:solidFill>
                <a:latin typeface="Lucida Sans Unicode"/>
                <a:cs typeface="Lucida Sans Unicode"/>
              </a:rPr>
              <a:t></a:t>
            </a:r>
            <a:r>
              <a:rPr dirty="0" baseline="35714" sz="2100" spc="-667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35714" sz="2100">
                <a:solidFill>
                  <a:srgbClr val="0000FF"/>
                </a:solidFill>
                <a:latin typeface="Lucida Sans Unicode"/>
                <a:cs typeface="Lucida Sans Unicode"/>
              </a:rPr>
              <a:t>	</a:t>
            </a: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15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1852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2777" sz="30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baseline="2777" sz="3000" spc="-1852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baseline="2777" sz="3000" spc="32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17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1852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2777" sz="30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baseline="2777" sz="3000" spc="-1852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baseline="2777" sz="3000" spc="32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2777" sz="3000" spc="-697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777" sz="3000" spc="27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305">
                <a:solidFill>
                  <a:srgbClr val="0000FF"/>
                </a:solidFill>
                <a:latin typeface="Lucida Sans Unicode"/>
                <a:cs typeface="Lucida Sans Unicode"/>
              </a:rPr>
              <a:t></a:t>
            </a:r>
            <a:r>
              <a:rPr dirty="0" sz="2100" spc="-75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sz="2100" spc="-675">
                <a:solidFill>
                  <a:srgbClr val="0000FF"/>
                </a:solidFill>
                <a:latin typeface="Lucida Sans Unicode"/>
                <a:cs typeface="Lucida Sans Unicode"/>
              </a:rPr>
              <a:t>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59001" y="6006885"/>
            <a:ext cx="2863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615">
                <a:solidFill>
                  <a:srgbClr val="0000FF"/>
                </a:solidFill>
                <a:latin typeface="Cambria"/>
                <a:cs typeface="Cambria"/>
              </a:rPr>
              <a:t></a:t>
            </a:r>
            <a:r>
              <a:rPr dirty="0" baseline="2057" sz="2025" spc="-147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057" sz="2025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350" spc="-690">
                <a:solidFill>
                  <a:srgbClr val="0000FF"/>
                </a:solidFill>
                <a:latin typeface="Cambria"/>
                <a:cs typeface="Cambria"/>
              </a:rPr>
              <a:t>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70"/>
              <a:t> </a:t>
            </a:r>
            <a:r>
              <a:rPr dirty="0" spc="70"/>
              <a:t>4-2&gt;</a:t>
            </a:r>
            <a:r>
              <a:rPr dirty="0" spc="275"/>
              <a:t> </a:t>
            </a:r>
            <a:r>
              <a:rPr dirty="0" spc="-5"/>
              <a:t>파레토최적의</a:t>
            </a:r>
            <a:r>
              <a:rPr dirty="0" spc="270"/>
              <a:t> </a:t>
            </a:r>
            <a:r>
              <a:rPr dirty="0" spc="-5"/>
              <a:t>일반균형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028" y="1666354"/>
            <a:ext cx="6726785" cy="44496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7735" cy="236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(2)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파레토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20" b="1">
                <a:latin typeface="Malgun Gothic"/>
                <a:cs typeface="Malgun Gothic"/>
              </a:rPr>
              <a:t>c점에서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5" b="1">
                <a:latin typeface="Malgun Gothic"/>
                <a:cs typeface="Malgun Gothic"/>
              </a:rPr>
              <a:t>d와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사이로의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이동은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파레토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25755" marR="5080" indent="-313690">
              <a:lnSpc>
                <a:spcPct val="133400"/>
              </a:lnSpc>
              <a:buChar char="-"/>
              <a:tabLst>
                <a:tab pos="325755" algn="l"/>
                <a:tab pos="326390" algn="l"/>
                <a:tab pos="1379220" algn="l"/>
                <a:tab pos="1626235" algn="l"/>
                <a:tab pos="2287905" algn="l"/>
                <a:tab pos="2588260" algn="l"/>
                <a:tab pos="3250565" algn="l"/>
                <a:tab pos="4164965" algn="l"/>
                <a:tab pos="6350000" algn="l"/>
                <a:tab pos="7265034" algn="l"/>
              </a:tabLst>
            </a:pP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b="1">
                <a:latin typeface="Malgun Gothic"/>
                <a:cs typeface="Malgun Gothic"/>
              </a:rPr>
              <a:t>점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f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로의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-15" b="1">
                <a:latin typeface="Malgun Gothic"/>
                <a:cs typeface="Malgun Gothic"/>
              </a:rPr>
              <a:t>동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파레</a:t>
            </a:r>
            <a:r>
              <a:rPr dirty="0" sz="2000" spc="-15" b="1">
                <a:latin typeface="Malgun Gothic"/>
                <a:cs typeface="Malgun Gothic"/>
              </a:rPr>
              <a:t>토</a:t>
            </a:r>
            <a:r>
              <a:rPr dirty="0" sz="2000" b="1">
                <a:latin typeface="Malgun Gothic"/>
                <a:cs typeface="Malgun Gothic"/>
              </a:rPr>
              <a:t>개선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면서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롤</a:t>
            </a:r>
            <a:r>
              <a:rPr dirty="0" sz="2000" spc="-15" b="1">
                <a:latin typeface="Malgun Gothic"/>
                <a:cs typeface="Malgun Gothic"/>
              </a:rPr>
              <a:t>즈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최소</a:t>
            </a:r>
            <a:r>
              <a:rPr dirty="0" sz="2000" spc="-15" b="1">
                <a:latin typeface="Malgun Gothic"/>
                <a:cs typeface="Malgun Gothic"/>
              </a:rPr>
              <a:t>극</a:t>
            </a:r>
            <a:r>
              <a:rPr dirty="0" sz="2000" b="1">
                <a:latin typeface="Malgun Gothic"/>
                <a:cs typeface="Malgun Gothic"/>
              </a:rPr>
              <a:t>대의  </a:t>
            </a:r>
            <a:r>
              <a:rPr dirty="0" sz="2000" spc="-30" b="1">
                <a:latin typeface="Malgun Gothic"/>
                <a:cs typeface="Malgun Gothic"/>
              </a:rPr>
              <a:t>원칙(maximun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rule)에도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부합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0123" y="1208885"/>
            <a:ext cx="296227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65"/>
              <a:t> </a:t>
            </a:r>
            <a:r>
              <a:rPr dirty="0" spc="70"/>
              <a:t>4-3&gt;</a:t>
            </a:r>
            <a:r>
              <a:rPr dirty="0" spc="270"/>
              <a:t> </a:t>
            </a:r>
            <a:r>
              <a:rPr dirty="0" spc="-5"/>
              <a:t>파레토</a:t>
            </a:r>
            <a:r>
              <a:rPr dirty="0" spc="265"/>
              <a:t> </a:t>
            </a:r>
            <a:r>
              <a:rPr dirty="0"/>
              <a:t>개선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966" y="1736150"/>
            <a:ext cx="6467699" cy="46842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149542" y="6877765"/>
            <a:ext cx="4216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285">
                <a:latin typeface="Arial MT"/>
                <a:cs typeface="Arial MT"/>
              </a:rPr>
              <a:t>-</a:t>
            </a:r>
            <a:r>
              <a:rPr dirty="0" sz="1000" spc="175">
                <a:latin typeface="Arial MT"/>
                <a:cs typeface="Arial MT"/>
              </a:rPr>
              <a:t> </a:t>
            </a:r>
            <a:fld id="{81D60167-4931-47E6-BA6A-407CBD079E47}" type="slidenum">
              <a:rPr dirty="0" sz="1000" spc="15">
                <a:latin typeface="Arial MT"/>
                <a:cs typeface="Arial MT"/>
              </a:rPr>
              <a:t>1</a:t>
            </a:fld>
            <a:r>
              <a:rPr dirty="0" sz="1000" spc="195">
                <a:latin typeface="Arial MT"/>
                <a:cs typeface="Arial MT"/>
              </a:rPr>
              <a:t> </a:t>
            </a:r>
            <a:r>
              <a:rPr dirty="0" sz="1000" spc="285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7601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70"/>
              <a:t> </a:t>
            </a:r>
            <a:r>
              <a:rPr dirty="0" spc="-5"/>
              <a:t>사회이론과</a:t>
            </a:r>
            <a:r>
              <a:rPr dirty="0" spc="270"/>
              <a:t> </a:t>
            </a:r>
            <a:r>
              <a:rPr dirty="0" spc="-5"/>
              <a:t>효율성의</a:t>
            </a:r>
            <a:r>
              <a:rPr dirty="0" spc="270"/>
              <a:t> </a:t>
            </a:r>
            <a:r>
              <a:rPr dirty="0" spc="-5"/>
              <a:t>관련성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7735" cy="286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655" marR="5080" indent="-275590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7655" algn="l"/>
                <a:tab pos="288290" algn="l"/>
                <a:tab pos="1196975" algn="l"/>
                <a:tab pos="2614295" algn="l"/>
                <a:tab pos="4029710" algn="l"/>
                <a:tab pos="5447030" algn="l"/>
                <a:tab pos="6102985" algn="l"/>
                <a:tab pos="726630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최</a:t>
            </a:r>
            <a:r>
              <a:rPr dirty="0" sz="2000" b="1">
                <a:latin typeface="Malgun Gothic"/>
                <a:cs typeface="Malgun Gothic"/>
              </a:rPr>
              <a:t>선의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에서는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경</a:t>
            </a:r>
            <a:r>
              <a:rPr dirty="0" sz="2000" b="1">
                <a:latin typeface="Malgun Gothic"/>
                <a:cs typeface="Malgun Gothic"/>
              </a:rPr>
              <a:t>제적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효율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이지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못한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태에서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회적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  </a:t>
            </a:r>
            <a:r>
              <a:rPr dirty="0" sz="2000" spc="-5" b="1">
                <a:latin typeface="Malgun Gothic"/>
                <a:cs typeface="Malgun Gothic"/>
              </a:rPr>
              <a:t>정의로운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무의미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파레토정의에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최선의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436880" marR="5080" indent="-298450">
              <a:lnSpc>
                <a:spcPct val="133400"/>
              </a:lnSpc>
              <a:tabLst>
                <a:tab pos="436880" algn="l"/>
                <a:tab pos="828040" algn="l"/>
                <a:tab pos="1727835" algn="l"/>
                <a:tab pos="2627630" algn="l"/>
                <a:tab pos="3781425" algn="l"/>
                <a:tab pos="4427220" algn="l"/>
                <a:tab pos="5074285" algn="l"/>
                <a:tab pos="5719445" algn="l"/>
                <a:tab pos="6873240" algn="l"/>
                <a:tab pos="7773034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사람의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복지가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개선</a:t>
            </a:r>
            <a:r>
              <a:rPr dirty="0" sz="2000" spc="-15" b="1">
                <a:latin typeface="Malgun Gothic"/>
                <a:cs typeface="Malgun Gothic"/>
              </a:rPr>
              <a:t>되</a:t>
            </a:r>
            <a:r>
              <a:rPr dirty="0" sz="2000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그에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다</a:t>
            </a:r>
            <a:r>
              <a:rPr dirty="0" sz="2000" b="1">
                <a:latin typeface="Malgun Gothic"/>
                <a:cs typeface="Malgun Gothic"/>
              </a:rPr>
              <a:t>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람</a:t>
            </a:r>
            <a:r>
              <a:rPr dirty="0" sz="2000" b="1">
                <a:latin typeface="Malgun Gothic"/>
                <a:cs typeface="Malgun Gothic"/>
              </a:rPr>
              <a:t>들의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복</a:t>
            </a:r>
            <a:r>
              <a:rPr dirty="0" sz="2000" b="1">
                <a:latin typeface="Malgun Gothic"/>
                <a:cs typeface="Malgun Gothic"/>
              </a:rPr>
              <a:t>지가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나</a:t>
            </a:r>
            <a:r>
              <a:rPr dirty="0" sz="2000" b="1">
                <a:latin typeface="Malgun Gothic"/>
                <a:cs typeface="Malgun Gothic"/>
              </a:rPr>
              <a:t>빠지  </a:t>
            </a:r>
            <a:r>
              <a:rPr dirty="0" sz="2000" b="1">
                <a:latin typeface="Malgun Gothic"/>
                <a:cs typeface="Malgun Gothic"/>
              </a:rPr>
              <a:t>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않았을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전체적으로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사회복지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수준이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증가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990" y="5269669"/>
            <a:ext cx="22891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126047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개인은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스</a:t>
            </a:r>
            <a:r>
              <a:rPr dirty="0" sz="2000" spc="-15" b="1">
                <a:latin typeface="Malgun Gothic"/>
                <a:cs typeface="Malgun Gothic"/>
              </a:rPr>
              <a:t>스</a:t>
            </a:r>
            <a:r>
              <a:rPr dirty="0" sz="2000" b="1">
                <a:latin typeface="Malgun Gothic"/>
                <a:cs typeface="Malgun Gothic"/>
              </a:rPr>
              <a:t>로의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9594" y="5269669"/>
            <a:ext cx="5995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894" algn="l"/>
                <a:tab pos="1609090" algn="l"/>
                <a:tab pos="2280920" algn="l"/>
                <a:tab pos="3458845" algn="l"/>
                <a:tab pos="4384675" algn="l"/>
                <a:tab pos="4801870" algn="l"/>
                <a:tab pos="5473065" algn="l"/>
              </a:tabLst>
            </a:pPr>
            <a:r>
              <a:rPr dirty="0" sz="2000" b="1">
                <a:latin typeface="Malgun Gothic"/>
                <a:cs typeface="Malgun Gothic"/>
              </a:rPr>
              <a:t>복지에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대해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가장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현</a:t>
            </a:r>
            <a:r>
              <a:rPr dirty="0" sz="2000" spc="-15" b="1">
                <a:latin typeface="Malgun Gothic"/>
                <a:cs typeface="Malgun Gothic"/>
              </a:rPr>
              <a:t>명</a:t>
            </a:r>
            <a:r>
              <a:rPr dirty="0" sz="2000" b="1">
                <a:latin typeface="Malgun Gothic"/>
                <a:cs typeface="Malgun Gothic"/>
              </a:rPr>
              <a:t>하게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판단할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능력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5725" y="5574913"/>
            <a:ext cx="4495800" cy="83883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b="1">
                <a:latin typeface="Malgun Gothic"/>
                <a:cs typeface="Malgun Gothic"/>
              </a:rPr>
              <a:t>보유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합리성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가정.</a:t>
            </a:r>
            <a:endParaRPr sz="2000">
              <a:latin typeface="Malgun Gothic"/>
              <a:cs typeface="Malgun Gothic"/>
            </a:endParaRPr>
          </a:p>
          <a:p>
            <a:pPr marL="70485">
              <a:lnSpc>
                <a:spcPct val="100000"/>
              </a:lnSpc>
              <a:spcBef>
                <a:spcPts val="800"/>
              </a:spcBef>
            </a:pPr>
            <a:r>
              <a:rPr dirty="0" sz="2000" spc="85" b="1">
                <a:latin typeface="Malgun Gothic"/>
                <a:cs typeface="Malgun Gothic"/>
              </a:rPr>
              <a:t>*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제한된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합리성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75" b="1">
                <a:latin typeface="Malgun Gothic"/>
                <a:cs typeface="Malgun Gothic"/>
              </a:rPr>
              <a:t>bounded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rationality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3326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1)</a:t>
            </a:r>
            <a:r>
              <a:rPr dirty="0" spc="275"/>
              <a:t> </a:t>
            </a:r>
            <a:r>
              <a:rPr dirty="0" spc="-5"/>
              <a:t>생산요소의</a:t>
            </a:r>
            <a:r>
              <a:rPr dirty="0" spc="275"/>
              <a:t> </a:t>
            </a:r>
            <a:r>
              <a:rPr dirty="0" spc="-5"/>
              <a:t>공급량이</a:t>
            </a:r>
            <a:r>
              <a:rPr dirty="0" spc="275"/>
              <a:t> </a:t>
            </a:r>
            <a:r>
              <a:rPr dirty="0" spc="-5"/>
              <a:t>고정된</a:t>
            </a:r>
            <a:r>
              <a:rPr dirty="0" spc="275"/>
              <a:t> </a:t>
            </a:r>
            <a:r>
              <a:rPr dirty="0"/>
              <a:t>경우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47735" cy="276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①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자유주의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461645" marR="5080" indent="-323215">
              <a:lnSpc>
                <a:spcPct val="133400"/>
              </a:lnSpc>
              <a:buChar char="-"/>
              <a:tabLst>
                <a:tab pos="461645" algn="l"/>
                <a:tab pos="462280" algn="l"/>
                <a:tab pos="1638300" algn="l"/>
                <a:tab pos="2816225" algn="l"/>
                <a:tab pos="3063240" algn="l"/>
                <a:tab pos="4241165" algn="l"/>
                <a:tab pos="5418455" algn="l"/>
                <a:tab pos="6342380" algn="l"/>
                <a:tab pos="726630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연권적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</a:t>
            </a:r>
            <a:r>
              <a:rPr dirty="0" sz="2000" spc="-15" b="1">
                <a:latin typeface="Malgun Gothic"/>
                <a:cs typeface="Malgun Gothic"/>
              </a:rPr>
              <a:t>유</a:t>
            </a:r>
            <a:r>
              <a:rPr dirty="0" sz="2000" b="1">
                <a:latin typeface="Malgun Gothic"/>
                <a:cs typeface="Malgun Gothic"/>
              </a:rPr>
              <a:t>주의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초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분배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태에서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보</a:t>
            </a:r>
            <a:r>
              <a:rPr dirty="0" sz="2000" spc="-15" b="1">
                <a:latin typeface="Malgun Gothic"/>
                <a:cs typeface="Malgun Gothic"/>
              </a:rPr>
              <a:t>유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</a:t>
            </a:r>
            <a:r>
              <a:rPr dirty="0" sz="2000" spc="-15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충</a:t>
            </a:r>
            <a:r>
              <a:rPr dirty="0" sz="2000" b="1">
                <a:latin typeface="Malgun Gothic"/>
                <a:cs typeface="Malgun Gothic"/>
              </a:rPr>
              <a:t>족된</a:t>
            </a:r>
            <a:r>
              <a:rPr dirty="0" sz="2000" spc="-15" b="1">
                <a:latin typeface="Malgun Gothic"/>
                <a:cs typeface="Malgun Gothic"/>
              </a:rPr>
              <a:t>다</a:t>
            </a:r>
            <a:r>
              <a:rPr dirty="0" sz="2000" b="1">
                <a:latin typeface="Malgun Gothic"/>
                <a:cs typeface="Malgun Gothic"/>
              </a:rPr>
              <a:t>면  </a:t>
            </a:r>
            <a:r>
              <a:rPr dirty="0" sz="2000" spc="-5" b="1">
                <a:latin typeface="Malgun Gothic"/>
                <a:cs typeface="Malgun Gothic"/>
              </a:rPr>
              <a:t>계약곡선상의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어떠한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점으로의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이동도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최적배분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429259" marR="5080" indent="-290830">
              <a:lnSpc>
                <a:spcPct val="133400"/>
              </a:lnSpc>
              <a:buChar char="-"/>
              <a:tabLst>
                <a:tab pos="429895" algn="l"/>
              </a:tabLst>
            </a:pPr>
            <a:r>
              <a:rPr dirty="0" sz="2000" b="1">
                <a:latin typeface="Malgun Gothic"/>
                <a:cs typeface="Malgun Gothic"/>
              </a:rPr>
              <a:t>경험적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자유주의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개인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A와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65" b="1">
                <a:latin typeface="Malgun Gothic"/>
                <a:cs typeface="Malgun Gothic"/>
              </a:rPr>
              <a:t>B의</a:t>
            </a:r>
            <a:r>
              <a:rPr dirty="0" sz="2000" spc="33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최저생계수준이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각각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계약곡선상의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35" b="1">
                <a:latin typeface="Malgun Gothic"/>
                <a:cs typeface="Malgun Gothic"/>
              </a:rPr>
              <a:t>b점과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I점이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된다면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35" b="1">
                <a:latin typeface="Malgun Gothic"/>
                <a:cs typeface="Malgun Gothic"/>
              </a:rPr>
              <a:t>b점과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I점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어떠한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최적배분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42176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②</a:t>
            </a:r>
            <a:r>
              <a:rPr dirty="0" spc="210"/>
              <a:t> </a:t>
            </a:r>
            <a:r>
              <a:rPr dirty="0" spc="-5"/>
              <a:t>진보주의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7416800" cy="439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공리주의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c로부터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5" b="1">
                <a:latin typeface="Malgun Gothic"/>
                <a:cs typeface="Malgun Gothic"/>
              </a:rPr>
              <a:t>d와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사이로의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이동은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총복지를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증대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기수적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효용과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A와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65" b="1">
                <a:latin typeface="Malgun Gothic"/>
                <a:cs typeface="Malgun Gothic"/>
              </a:rPr>
              <a:t>B의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소득의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한계효용이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동일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가정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소득이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균등하게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분배될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사회후생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극대화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-45" b="1">
                <a:latin typeface="Malgun Gothic"/>
                <a:cs typeface="Malgun Gothic"/>
              </a:rPr>
              <a:t>g점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30" b="1">
                <a:latin typeface="Malgun Gothic"/>
                <a:cs typeface="Malgun Gothic"/>
              </a:rPr>
              <a:t>g에서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k로의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이동은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파레토개선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15" b="1">
                <a:latin typeface="Malgun Gothic"/>
                <a:cs typeface="Malgun Gothic"/>
              </a:rPr>
              <a:t>e에서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k로의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이동은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공리주의적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서수적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효용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가정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효용수준을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측정할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구체적으로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어떤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분배상태인지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판단할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그러나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25" b="1">
                <a:latin typeface="Malgun Gothic"/>
                <a:cs typeface="Malgun Gothic"/>
              </a:rPr>
              <a:t>d,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40" b="1">
                <a:latin typeface="Malgun Gothic"/>
                <a:cs typeface="Malgun Gothic"/>
              </a:rPr>
              <a:t>k,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I간에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차이가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없다는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자유주의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견해와는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차별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7867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롤</a:t>
            </a:r>
            <a:r>
              <a:rPr dirty="0" sz="2000" b="1">
                <a:latin typeface="Malgun Gothic"/>
                <a:cs typeface="Malgun Gothic"/>
              </a:rPr>
              <a:t>즈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3940" y="2069457"/>
          <a:ext cx="6036945" cy="2691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430"/>
                <a:gridCol w="381000"/>
                <a:gridCol w="505459"/>
                <a:gridCol w="324484"/>
                <a:gridCol w="4305935"/>
              </a:tblGrid>
              <a:tr h="533111">
                <a:tc>
                  <a:txBody>
                    <a:bodyPr/>
                    <a:lstStyle/>
                    <a:p>
                      <a:pPr algn="ctr" marR="24130">
                        <a:lnSpc>
                          <a:spcPts val="2120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10" b="1">
                          <a:latin typeface="Malgun Gothic"/>
                          <a:cs typeface="Malgun Gothic"/>
                        </a:rPr>
                        <a:t>c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ts val="2120"/>
                        </a:lnSpc>
                      </a:pPr>
                      <a:r>
                        <a:rPr dirty="0" sz="2000">
                          <a:latin typeface="Cambria"/>
                          <a:cs typeface="Cambria"/>
                        </a:rPr>
                        <a:t>⟹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20"/>
                        </a:lnSpc>
                      </a:pPr>
                      <a:r>
                        <a:rPr dirty="0" sz="2000" spc="50" b="1"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dirty="0" sz="2000" spc="22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2120"/>
                        </a:lnSpc>
                      </a:pPr>
                      <a:r>
                        <a:rPr dirty="0" sz="2000" spc="25" b="1">
                          <a:latin typeface="Malgun Gothic"/>
                          <a:cs typeface="Malgun Gothic"/>
                        </a:rPr>
                        <a:t>RI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120"/>
                        </a:lnSpc>
                      </a:pPr>
                      <a:r>
                        <a:rPr dirty="0" sz="2000" spc="15" b="1">
                          <a:latin typeface="Malgun Gothic"/>
                          <a:cs typeface="Malgun Gothic"/>
                        </a:rPr>
                        <a:t>(Rawlsian</a:t>
                      </a:r>
                      <a:r>
                        <a:rPr dirty="0" sz="2000" spc="2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30" b="1">
                          <a:latin typeface="Malgun Gothic"/>
                          <a:cs typeface="Malgun Gothic"/>
                        </a:rPr>
                        <a:t>Improvement)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65" b="1">
                          <a:latin typeface="Malgun Gothic"/>
                          <a:cs typeface="Malgun Gothic"/>
                        </a:rPr>
                        <a:t>and</a:t>
                      </a:r>
                      <a:r>
                        <a:rPr dirty="0" sz="2000" spc="2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50" b="1">
                          <a:latin typeface="Malgun Gothic"/>
                          <a:cs typeface="Malgun Gothic"/>
                        </a:rPr>
                        <a:t>PI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8126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24130">
                        <a:lnSpc>
                          <a:spcPct val="100000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10" b="1">
                          <a:latin typeface="Malgun Gothic"/>
                          <a:cs typeface="Malgun Gothic"/>
                        </a:rPr>
                        <a:t>c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r" marR="55244">
                        <a:lnSpc>
                          <a:spcPct val="100000"/>
                        </a:lnSpc>
                      </a:pPr>
                      <a:r>
                        <a:rPr dirty="0" sz="2000">
                          <a:latin typeface="Cambria"/>
                          <a:cs typeface="Cambria"/>
                        </a:rPr>
                        <a:t>⟹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2000" spc="-100" b="1"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dirty="0" sz="2000" spc="22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2000" spc="45" b="1">
                          <a:latin typeface="Malgun Gothic"/>
                          <a:cs typeface="Malgun Gothic"/>
                        </a:rPr>
                        <a:t>PI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2000" spc="15" b="1">
                          <a:latin typeface="Malgun Gothic"/>
                          <a:cs typeface="Malgun Gothic"/>
                        </a:rPr>
                        <a:t>(Pareto</a:t>
                      </a:r>
                      <a:r>
                        <a:rPr dirty="0" sz="2000" spc="2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20" b="1">
                          <a:latin typeface="Malgun Gothic"/>
                          <a:cs typeface="Malgun Gothic"/>
                        </a:rPr>
                        <a:t>Improvement),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80" b="1">
                          <a:latin typeface="Malgun Gothic"/>
                          <a:cs typeface="Malgun Gothic"/>
                        </a:rPr>
                        <a:t>but</a:t>
                      </a:r>
                      <a:r>
                        <a:rPr dirty="0" sz="2000" spc="2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70" b="1">
                          <a:latin typeface="Malgun Gothic"/>
                          <a:cs typeface="Malgun Gothic"/>
                        </a:rPr>
                        <a:t>not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25" b="1">
                          <a:latin typeface="Malgun Gothic"/>
                          <a:cs typeface="Malgun Gothic"/>
                        </a:rPr>
                        <a:t>RI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</a:tr>
              <a:tr h="8126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24130">
                        <a:lnSpc>
                          <a:spcPct val="100000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10" b="1">
                          <a:latin typeface="Malgun Gothic"/>
                          <a:cs typeface="Malgun Gothic"/>
                        </a:rPr>
                        <a:t>c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r" marR="55244">
                        <a:lnSpc>
                          <a:spcPct val="100000"/>
                        </a:lnSpc>
                      </a:pPr>
                      <a:r>
                        <a:rPr dirty="0" sz="2000">
                          <a:latin typeface="Cambria"/>
                          <a:cs typeface="Cambria"/>
                        </a:rPr>
                        <a:t>⟹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2000" spc="-55" b="1">
                          <a:latin typeface="Malgun Gothic"/>
                          <a:cs typeface="Malgun Gothic"/>
                        </a:rPr>
                        <a:t>d와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1270">
                        <a:lnSpc>
                          <a:spcPct val="100000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e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사이로</a:t>
                      </a:r>
                      <a:r>
                        <a:rPr dirty="0" sz="2000" spc="27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이동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25" b="1">
                          <a:latin typeface="Malgun Gothic"/>
                          <a:cs typeface="Malgun Gothic"/>
                        </a:rPr>
                        <a:t>RI</a:t>
                      </a:r>
                      <a:r>
                        <a:rPr dirty="0" sz="2000" spc="3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65" b="1">
                          <a:latin typeface="Malgun Gothic"/>
                          <a:cs typeface="Malgun Gothic"/>
                        </a:rPr>
                        <a:t>and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50" b="1">
                          <a:latin typeface="Malgun Gothic"/>
                          <a:cs typeface="Malgun Gothic"/>
                        </a:rPr>
                        <a:t>PI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/>
                </a:tc>
              </a:tr>
              <a:tr h="5331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24130">
                        <a:lnSpc>
                          <a:spcPts val="2185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29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10" b="1">
                          <a:latin typeface="Malgun Gothic"/>
                          <a:cs typeface="Malgun Gothic"/>
                        </a:rPr>
                        <a:t>c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r" marR="55244">
                        <a:lnSpc>
                          <a:spcPts val="2185"/>
                        </a:lnSpc>
                      </a:pPr>
                      <a:r>
                        <a:rPr dirty="0" sz="2000">
                          <a:latin typeface="Cambria"/>
                          <a:cs typeface="Cambria"/>
                        </a:rPr>
                        <a:t>⟹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ts val="2185"/>
                        </a:lnSpc>
                      </a:pPr>
                      <a:r>
                        <a:rPr dirty="0" sz="2000" spc="25" b="1">
                          <a:latin typeface="Malgun Gothic"/>
                          <a:cs typeface="Malgun Gothic"/>
                        </a:rPr>
                        <a:t>e와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 marR="1905">
                        <a:lnSpc>
                          <a:spcPts val="2185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k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0480">
                        <a:lnSpc>
                          <a:spcPts val="2185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사이로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이동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dirty="0" sz="2000" spc="28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RI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85" b="1">
                          <a:latin typeface="Malgun Gothic"/>
                          <a:cs typeface="Malgun Gothic"/>
                        </a:rPr>
                        <a:t>but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70" b="1">
                          <a:latin typeface="Malgun Gothic"/>
                          <a:cs typeface="Malgun Gothic"/>
                        </a:rPr>
                        <a:t>not</a:t>
                      </a:r>
                      <a:r>
                        <a:rPr dirty="0" sz="2000" spc="28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50" b="1">
                          <a:latin typeface="Malgun Gothic"/>
                          <a:cs typeface="Malgun Gothic"/>
                        </a:rPr>
                        <a:t>PI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7735" cy="3986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(3)</a:t>
            </a:r>
            <a:r>
              <a:rPr dirty="0" sz="2000" spc="2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사회주의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자원의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평등한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분배를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07975" marR="5080" indent="-307975">
              <a:lnSpc>
                <a:spcPct val="133400"/>
              </a:lnSpc>
              <a:buChar char="-"/>
              <a:tabLst>
                <a:tab pos="307975" algn="l"/>
                <a:tab pos="308610" algn="l"/>
                <a:tab pos="686435" algn="l"/>
                <a:tab pos="908685" algn="l"/>
                <a:tab pos="1807210" algn="l"/>
                <a:tab pos="2451100" algn="l"/>
                <a:tab pos="3282315" algn="l"/>
                <a:tab pos="4434840" algn="l"/>
                <a:tab pos="5332730" algn="l"/>
                <a:tab pos="6231255" algn="l"/>
                <a:tab pos="7381875" algn="l"/>
                <a:tab pos="8280400" algn="l"/>
              </a:tabLst>
            </a:pPr>
            <a:r>
              <a:rPr dirty="0" sz="2000" spc="110" b="1">
                <a:latin typeface="Malgun Gothic"/>
                <a:cs typeface="Malgun Gothic"/>
              </a:rPr>
              <a:t>S</a:t>
            </a:r>
            <a:r>
              <a:rPr dirty="0" sz="2000" spc="30" b="1">
                <a:latin typeface="Malgun Gothic"/>
                <a:cs typeface="Malgun Gothic"/>
              </a:rPr>
              <a:t>I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난한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65" b="1">
                <a:latin typeface="Malgun Gothic"/>
                <a:cs typeface="Malgun Gothic"/>
              </a:rPr>
              <a:t>A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생</a:t>
            </a:r>
            <a:r>
              <a:rPr dirty="0" sz="2000" spc="-15" b="1">
                <a:latin typeface="Malgun Gothic"/>
                <a:cs typeface="Malgun Gothic"/>
              </a:rPr>
              <a:t>산</a:t>
            </a:r>
            <a:r>
              <a:rPr dirty="0" sz="2000" b="1">
                <a:latin typeface="Malgun Gothic"/>
                <a:cs typeface="Malgun Gothic"/>
              </a:rPr>
              <a:t>물의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대적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배가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증</a:t>
            </a:r>
            <a:r>
              <a:rPr dirty="0" sz="2000" b="1">
                <a:latin typeface="Malgun Gothic"/>
                <a:cs typeface="Malgun Gothic"/>
              </a:rPr>
              <a:t>가하여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상대적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  </a:t>
            </a:r>
            <a:r>
              <a:rPr dirty="0" sz="2000" spc="-5" b="1">
                <a:latin typeface="Malgun Gothic"/>
                <a:cs typeface="Malgun Gothic"/>
              </a:rPr>
              <a:t>평등이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감소하는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어떠한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계약곡선상으로의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이동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110" b="1">
                <a:latin typeface="Malgun Gothic"/>
                <a:cs typeface="Malgun Gothic"/>
              </a:rPr>
              <a:t>c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70" b="1">
                <a:latin typeface="Malgun Gothic"/>
                <a:cs typeface="Malgun Gothic"/>
              </a:rPr>
              <a:t>SI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(Socialist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30" b="1">
                <a:latin typeface="Malgun Gothic"/>
                <a:cs typeface="Malgun Gothic"/>
              </a:rPr>
              <a:t>Improvement)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110" b="1">
                <a:latin typeface="Malgun Gothic"/>
                <a:cs typeface="Malgun Gothic"/>
              </a:rPr>
              <a:t>c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25">
                <a:latin typeface="Cambria"/>
                <a:cs typeface="Cambria"/>
              </a:rPr>
              <a:t> </a:t>
            </a:r>
            <a:r>
              <a:rPr dirty="0" sz="2000" spc="-100" b="1">
                <a:latin typeface="Malgun Gothic"/>
                <a:cs typeface="Malgun Gothic"/>
              </a:rPr>
              <a:t>d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45" b="1">
                <a:latin typeface="Malgun Gothic"/>
                <a:cs typeface="Malgun Gothic"/>
              </a:rPr>
              <a:t>SI가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아님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5866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75"/>
              <a:t> </a:t>
            </a:r>
            <a:r>
              <a:rPr dirty="0" spc="-5"/>
              <a:t>생산요소의</a:t>
            </a:r>
            <a:r>
              <a:rPr dirty="0" spc="280"/>
              <a:t> </a:t>
            </a:r>
            <a:r>
              <a:rPr dirty="0" spc="-5"/>
              <a:t>공급량이</a:t>
            </a:r>
            <a:r>
              <a:rPr dirty="0" spc="275"/>
              <a:t> </a:t>
            </a:r>
            <a:r>
              <a:rPr dirty="0" spc="-5"/>
              <a:t>변동하는</a:t>
            </a:r>
            <a:r>
              <a:rPr dirty="0" spc="280"/>
              <a:t> </a:t>
            </a:r>
            <a:r>
              <a:rPr dirty="0"/>
              <a:t>경우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229600" cy="20574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소득세가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부과되면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실질소득이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변화하여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생산요소의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투입량이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변동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z="2000" spc="40">
                <a:latin typeface="Cambria"/>
                <a:cs typeface="Cambria"/>
              </a:rPr>
              <a:t>▸</a:t>
            </a:r>
            <a:r>
              <a:rPr dirty="0" sz="2000" spc="40" b="1">
                <a:latin typeface="Malgun Gothic"/>
                <a:cs typeface="Malgun Gothic"/>
              </a:rPr>
              <a:t>근로소득세의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노동공급효과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대체효과와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소득효과의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상대적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크기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795"/>
              </a:spcBef>
            </a:pPr>
            <a:r>
              <a:rPr dirty="0" sz="2000" spc="60">
                <a:latin typeface="Cambria"/>
                <a:cs typeface="Cambria"/>
              </a:rPr>
              <a:t>▸</a:t>
            </a:r>
            <a:r>
              <a:rPr dirty="0" sz="2000" spc="60" b="1">
                <a:latin typeface="Malgun Gothic"/>
                <a:cs typeface="Malgun Gothic"/>
              </a:rPr>
              <a:t>법인세의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고용효과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요소대체효과와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산출효과의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상대적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크기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35" b="1">
                <a:latin typeface="Malgun Gothic"/>
                <a:cs typeface="Malgun Gothic"/>
              </a:rPr>
              <a:t>k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로의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이동은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적용이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불가피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효율과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형평의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상충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4356374"/>
            <a:ext cx="6159500" cy="1243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5590" marR="5080" indent="-26352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309245" algn="l"/>
                <a:tab pos="309880" algn="l"/>
                <a:tab pos="2507615" algn="l"/>
                <a:tab pos="3185160" algn="l"/>
                <a:tab pos="4876165" algn="l"/>
                <a:tab pos="5130165" algn="l"/>
              </a:tabLst>
            </a:pPr>
            <a:r>
              <a:rPr dirty="0"/>
              <a:t>	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회복</a:t>
            </a:r>
            <a:r>
              <a:rPr dirty="0" sz="2000" spc="-15" b="1">
                <a:latin typeface="Malgun Gothic"/>
                <a:cs typeface="Malgun Gothic"/>
              </a:rPr>
              <a:t>지</a:t>
            </a:r>
            <a:r>
              <a:rPr dirty="0" sz="2000" b="1">
                <a:latin typeface="Malgun Gothic"/>
                <a:cs typeface="Malgun Gothic"/>
              </a:rPr>
              <a:t>극대</a:t>
            </a:r>
            <a:r>
              <a:rPr dirty="0" sz="2000" spc="-15" b="1">
                <a:latin typeface="Malgun Gothic"/>
                <a:cs typeface="Malgun Gothic"/>
              </a:rPr>
              <a:t>화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최</a:t>
            </a:r>
            <a:r>
              <a:rPr dirty="0" sz="2000" b="1">
                <a:latin typeface="Malgun Gothic"/>
                <a:cs typeface="Malgun Gothic"/>
              </a:rPr>
              <a:t>적조</a:t>
            </a:r>
            <a:r>
              <a:rPr dirty="0" sz="2000" spc="-15" b="1">
                <a:latin typeface="Malgun Gothic"/>
                <a:cs typeface="Malgun Gothic"/>
              </a:rPr>
              <a:t>세</a:t>
            </a:r>
            <a:r>
              <a:rPr dirty="0" sz="2000" b="1">
                <a:latin typeface="Malgun Gothic"/>
                <a:cs typeface="Malgun Gothic"/>
              </a:rPr>
              <a:t>모형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효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율성과  </a:t>
            </a:r>
            <a:r>
              <a:rPr dirty="0" sz="2000" spc="-5" b="1">
                <a:latin typeface="Malgun Gothic"/>
                <a:cs typeface="Malgun Gothic"/>
              </a:rPr>
              <a:t>최적화에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영향을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미치는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요인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9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비효율성의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크기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7586" y="4457817"/>
            <a:ext cx="2246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사회정의(공평성)</a:t>
            </a:r>
            <a:r>
              <a:rPr dirty="0" sz="2000" b="1">
                <a:latin typeface="Malgun Gothic"/>
                <a:cs typeface="Malgun Gothic"/>
              </a:rPr>
              <a:t>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2990" y="6083044"/>
            <a:ext cx="64331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85" b="1">
                <a:solidFill>
                  <a:srgbClr val="0000FF"/>
                </a:solidFill>
                <a:latin typeface="Malgun Gothic"/>
                <a:cs typeface="Malgun Gothic"/>
              </a:rPr>
              <a:t>*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효율성과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형평성에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대한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가중치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(이데올로기의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5" b="1">
                <a:solidFill>
                  <a:srgbClr val="0000FF"/>
                </a:solidFill>
                <a:latin typeface="Malgun Gothic"/>
                <a:cs typeface="Malgun Gothic"/>
              </a:rPr>
              <a:t>문제)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079415"/>
            <a:ext cx="8550275" cy="24625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400" spc="50"/>
              <a:t>“Since </a:t>
            </a:r>
            <a:r>
              <a:rPr dirty="0" sz="2400" spc="-30"/>
              <a:t>the </a:t>
            </a:r>
            <a:r>
              <a:rPr dirty="0" sz="2400" spc="-25"/>
              <a:t>economy </a:t>
            </a:r>
            <a:r>
              <a:rPr dirty="0" sz="2400" spc="30"/>
              <a:t>itself </a:t>
            </a:r>
            <a:r>
              <a:rPr dirty="0" sz="2400" spc="85"/>
              <a:t>is </a:t>
            </a:r>
            <a:r>
              <a:rPr dirty="0" sz="2400" spc="-5"/>
              <a:t>complex </a:t>
            </a:r>
            <a:r>
              <a:rPr dirty="0" sz="2400" spc="-80"/>
              <a:t>and</a:t>
            </a:r>
            <a:r>
              <a:rPr dirty="0" sz="2400" spc="680"/>
              <a:t> </a:t>
            </a:r>
            <a:r>
              <a:rPr dirty="0" sz="2400" spc="-30"/>
              <a:t>the </a:t>
            </a:r>
            <a:r>
              <a:rPr dirty="0" sz="2400" spc="30"/>
              <a:t>tax </a:t>
            </a:r>
            <a:r>
              <a:rPr dirty="0" sz="2400" spc="25"/>
              <a:t>law </a:t>
            </a:r>
            <a:r>
              <a:rPr dirty="0" sz="2400" spc="30"/>
              <a:t> </a:t>
            </a:r>
            <a:r>
              <a:rPr dirty="0" sz="2400" spc="-60"/>
              <a:t>must </a:t>
            </a:r>
            <a:r>
              <a:rPr dirty="0" sz="2400" spc="-30"/>
              <a:t>be </a:t>
            </a:r>
            <a:r>
              <a:rPr dirty="0" sz="2400" spc="-10"/>
              <a:t>tailored </a:t>
            </a:r>
            <a:r>
              <a:rPr dirty="0" sz="2400"/>
              <a:t>thereto, </a:t>
            </a:r>
            <a:r>
              <a:rPr dirty="0" sz="2400" spc="-95"/>
              <a:t>no</a:t>
            </a:r>
            <a:r>
              <a:rPr dirty="0" sz="2400" spc="650"/>
              <a:t> </a:t>
            </a:r>
            <a:r>
              <a:rPr dirty="0" sz="2400" spc="5"/>
              <a:t>single </a:t>
            </a:r>
            <a:r>
              <a:rPr dirty="0" sz="2400" spc="-15"/>
              <a:t>concept </a:t>
            </a:r>
            <a:r>
              <a:rPr dirty="0" sz="2400" spc="-60"/>
              <a:t>of </a:t>
            </a:r>
            <a:r>
              <a:rPr dirty="0" sz="2400" spc="30"/>
              <a:t>tax </a:t>
            </a:r>
            <a:r>
              <a:rPr dirty="0" sz="2400" spc="15"/>
              <a:t>base </a:t>
            </a:r>
            <a:r>
              <a:rPr dirty="0" sz="2400" spc="20"/>
              <a:t> </a:t>
            </a:r>
            <a:r>
              <a:rPr dirty="0" sz="2400" spc="10"/>
              <a:t>can</a:t>
            </a:r>
            <a:r>
              <a:rPr dirty="0" sz="2400" spc="15"/>
              <a:t> </a:t>
            </a:r>
            <a:r>
              <a:rPr dirty="0" sz="2400" spc="-30"/>
              <a:t>be</a:t>
            </a:r>
            <a:r>
              <a:rPr dirty="0" sz="2400" spc="-25"/>
              <a:t> </a:t>
            </a:r>
            <a:r>
              <a:rPr dirty="0" sz="2400" spc="-50"/>
              <a:t>implemented</a:t>
            </a:r>
            <a:r>
              <a:rPr dirty="0" sz="2400" spc="-45"/>
              <a:t> </a:t>
            </a:r>
            <a:r>
              <a:rPr dirty="0" sz="2400" spc="-80"/>
              <a:t>to</a:t>
            </a:r>
            <a:r>
              <a:rPr dirty="0" sz="2400" spc="-75"/>
              <a:t> </a:t>
            </a:r>
            <a:r>
              <a:rPr dirty="0" sz="2400"/>
              <a:t>perfection.</a:t>
            </a:r>
            <a:r>
              <a:rPr dirty="0" sz="2400" spc="844"/>
              <a:t> </a:t>
            </a:r>
            <a:r>
              <a:rPr dirty="0" sz="2400" spc="10"/>
              <a:t>Moreover,</a:t>
            </a:r>
            <a:r>
              <a:rPr dirty="0" sz="2400" spc="865"/>
              <a:t> </a:t>
            </a:r>
            <a:r>
              <a:rPr dirty="0" sz="2400" spc="-55"/>
              <a:t>an </a:t>
            </a:r>
            <a:r>
              <a:rPr dirty="0" sz="2400" spc="-50"/>
              <a:t> </a:t>
            </a:r>
            <a:r>
              <a:rPr dirty="0" sz="2400" spc="-30"/>
              <a:t>equitable </a:t>
            </a:r>
            <a:r>
              <a:rPr dirty="0" sz="2400" spc="30"/>
              <a:t>tax </a:t>
            </a:r>
            <a:r>
              <a:rPr dirty="0" sz="2400" spc="35"/>
              <a:t>system </a:t>
            </a:r>
            <a:r>
              <a:rPr dirty="0" sz="2400" spc="-40"/>
              <a:t>cannot </a:t>
            </a:r>
            <a:r>
              <a:rPr dirty="0" sz="2400" spc="-35"/>
              <a:t>be </a:t>
            </a:r>
            <a:r>
              <a:rPr dirty="0" sz="2400"/>
              <a:t>simple. </a:t>
            </a:r>
            <a:r>
              <a:rPr dirty="0" sz="2400" spc="-15"/>
              <a:t>An </a:t>
            </a:r>
            <a:r>
              <a:rPr dirty="0" sz="2400" spc="90"/>
              <a:t>excessively </a:t>
            </a:r>
            <a:r>
              <a:rPr dirty="0" sz="2400" spc="95"/>
              <a:t> </a:t>
            </a:r>
            <a:r>
              <a:rPr dirty="0" sz="2400" spc="-5"/>
              <a:t>complex</a:t>
            </a:r>
            <a:r>
              <a:rPr dirty="0" sz="2400" spc="300"/>
              <a:t> </a:t>
            </a:r>
            <a:r>
              <a:rPr dirty="0" sz="2400" spc="25"/>
              <a:t>tax</a:t>
            </a:r>
            <a:r>
              <a:rPr dirty="0" sz="2400" spc="265"/>
              <a:t> </a:t>
            </a:r>
            <a:r>
              <a:rPr dirty="0" sz="2400" spc="25"/>
              <a:t>structure,</a:t>
            </a:r>
            <a:r>
              <a:rPr dirty="0" sz="2400" spc="275"/>
              <a:t> </a:t>
            </a:r>
            <a:r>
              <a:rPr dirty="0" sz="2400" spc="-95"/>
              <a:t>on</a:t>
            </a:r>
            <a:r>
              <a:rPr dirty="0" sz="2400" spc="385"/>
              <a:t> </a:t>
            </a:r>
            <a:r>
              <a:rPr dirty="0" sz="2400" spc="-30"/>
              <a:t>the</a:t>
            </a:r>
            <a:r>
              <a:rPr dirty="0" sz="2400" spc="320"/>
              <a:t> </a:t>
            </a:r>
            <a:r>
              <a:rPr dirty="0" sz="2400" spc="-15"/>
              <a:t>other</a:t>
            </a:r>
            <a:r>
              <a:rPr dirty="0" sz="2400" spc="310"/>
              <a:t> </a:t>
            </a:r>
            <a:r>
              <a:rPr dirty="0" sz="2400" spc="-50"/>
              <a:t>hand,</a:t>
            </a:r>
            <a:r>
              <a:rPr dirty="0" sz="2400" spc="350"/>
              <a:t> </a:t>
            </a:r>
            <a:r>
              <a:rPr dirty="0" sz="2400" spc="20"/>
              <a:t>leads</a:t>
            </a:r>
            <a:r>
              <a:rPr dirty="0" sz="2400" spc="260"/>
              <a:t> </a:t>
            </a:r>
            <a:r>
              <a:rPr dirty="0" sz="2400" spc="-75"/>
              <a:t>to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6636" y="3516495"/>
            <a:ext cx="8547735" cy="264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2400" spc="-5" b="1">
                <a:latin typeface="Malgun Gothic"/>
                <a:cs typeface="Malgun Gothic"/>
              </a:rPr>
              <a:t>lawful</a:t>
            </a:r>
            <a:r>
              <a:rPr dirty="0" sz="2400" b="1">
                <a:latin typeface="Malgun Gothic"/>
                <a:cs typeface="Malgun Gothic"/>
              </a:rPr>
              <a:t> </a:t>
            </a:r>
            <a:r>
              <a:rPr dirty="0" sz="2400" spc="25" b="1">
                <a:latin typeface="Malgun Gothic"/>
                <a:cs typeface="Malgun Gothic"/>
              </a:rPr>
              <a:t>tax  </a:t>
            </a:r>
            <a:r>
              <a:rPr dirty="0" sz="2400" spc="-5" b="1">
                <a:latin typeface="Malgun Gothic"/>
                <a:cs typeface="Malgun Gothic"/>
              </a:rPr>
              <a:t>avoidance</a:t>
            </a:r>
            <a:r>
              <a:rPr dirty="0" sz="2400" spc="830" b="1">
                <a:latin typeface="Malgun Gothic"/>
                <a:cs typeface="Malgun Gothic"/>
              </a:rPr>
              <a:t> </a:t>
            </a:r>
            <a:r>
              <a:rPr dirty="0" sz="2400" spc="65" b="1">
                <a:latin typeface="Malgun Gothic"/>
                <a:cs typeface="Malgun Gothic"/>
              </a:rPr>
              <a:t>as </a:t>
            </a:r>
            <a:r>
              <a:rPr dirty="0" sz="2400" spc="35" b="1">
                <a:latin typeface="Malgun Gothic"/>
                <a:cs typeface="Malgun Gothic"/>
              </a:rPr>
              <a:t>well  </a:t>
            </a:r>
            <a:r>
              <a:rPr dirty="0" sz="2400" spc="65" b="1">
                <a:latin typeface="Malgun Gothic"/>
                <a:cs typeface="Malgun Gothic"/>
              </a:rPr>
              <a:t>as </a:t>
            </a:r>
            <a:r>
              <a:rPr dirty="0" sz="2400" spc="10" b="1">
                <a:latin typeface="Malgun Gothic"/>
                <a:cs typeface="Malgun Gothic"/>
              </a:rPr>
              <a:t>illegal  </a:t>
            </a:r>
            <a:r>
              <a:rPr dirty="0" sz="2400" spc="20" b="1">
                <a:latin typeface="Malgun Gothic"/>
                <a:cs typeface="Malgun Gothic"/>
              </a:rPr>
              <a:t>evasion,  </a:t>
            </a:r>
            <a:r>
              <a:rPr dirty="0" sz="2400" b="1">
                <a:latin typeface="Malgun Gothic"/>
                <a:cs typeface="Malgun Gothic"/>
              </a:rPr>
              <a:t>which </a:t>
            </a:r>
            <a:r>
              <a:rPr dirty="0" sz="2400" spc="-830" b="1">
                <a:latin typeface="Malgun Gothic"/>
                <a:cs typeface="Malgun Gothic"/>
              </a:rPr>
              <a:t> </a:t>
            </a:r>
            <a:r>
              <a:rPr dirty="0" sz="2400" spc="-30" b="1">
                <a:latin typeface="Malgun Gothic"/>
                <a:cs typeface="Malgun Gothic"/>
              </a:rPr>
              <a:t>in</a:t>
            </a:r>
            <a:r>
              <a:rPr dirty="0" sz="2400" spc="-25" b="1">
                <a:latin typeface="Malgun Gothic"/>
                <a:cs typeface="Malgun Gothic"/>
              </a:rPr>
              <a:t> </a:t>
            </a:r>
            <a:r>
              <a:rPr dirty="0" sz="2400" spc="-40" b="1">
                <a:latin typeface="Malgun Gothic"/>
                <a:cs typeface="Malgun Gothic"/>
              </a:rPr>
              <a:t>turn</a:t>
            </a:r>
            <a:r>
              <a:rPr dirty="0" sz="2400" spc="-35" b="1">
                <a:latin typeface="Malgun Gothic"/>
                <a:cs typeface="Malgun Gothic"/>
              </a:rPr>
              <a:t> </a:t>
            </a:r>
            <a:r>
              <a:rPr dirty="0" sz="2400" spc="-50" b="1">
                <a:latin typeface="Malgun Gothic"/>
                <a:cs typeface="Malgun Gothic"/>
              </a:rPr>
              <a:t>undermined</a:t>
            </a:r>
            <a:r>
              <a:rPr dirty="0" sz="2400" spc="740" b="1">
                <a:latin typeface="Malgun Gothic"/>
                <a:cs typeface="Malgun Gothic"/>
              </a:rPr>
              <a:t> </a:t>
            </a:r>
            <a:r>
              <a:rPr dirty="0" sz="2400" spc="-5" b="1">
                <a:latin typeface="Malgun Gothic"/>
                <a:cs typeface="Malgun Gothic"/>
              </a:rPr>
              <a:t>equity.</a:t>
            </a:r>
            <a:r>
              <a:rPr dirty="0" sz="2400" spc="835" b="1">
                <a:latin typeface="Malgun Gothic"/>
                <a:cs typeface="Malgun Gothic"/>
              </a:rPr>
              <a:t> </a:t>
            </a:r>
            <a:r>
              <a:rPr dirty="0" sz="2400" spc="180" b="1">
                <a:solidFill>
                  <a:srgbClr val="0000FF"/>
                </a:solidFill>
                <a:latin typeface="Malgun Gothic"/>
                <a:cs typeface="Malgun Gothic"/>
              </a:rPr>
              <a:t>Tax </a:t>
            </a:r>
            <a:r>
              <a:rPr dirty="0" sz="2400" spc="20" b="1">
                <a:solidFill>
                  <a:srgbClr val="0000FF"/>
                </a:solidFill>
                <a:latin typeface="Malgun Gothic"/>
                <a:cs typeface="Malgun Gothic"/>
              </a:rPr>
              <a:t>policy, therefore, </a:t>
            </a:r>
            <a:r>
              <a:rPr dirty="0" sz="2400" spc="85" b="1">
                <a:solidFill>
                  <a:srgbClr val="0000FF"/>
                </a:solidFill>
                <a:latin typeface="Malgun Gothic"/>
                <a:cs typeface="Malgun Gothic"/>
              </a:rPr>
              <a:t>is </a:t>
            </a:r>
            <a:r>
              <a:rPr dirty="0" sz="2400" spc="-55" b="1">
                <a:solidFill>
                  <a:srgbClr val="0000FF"/>
                </a:solidFill>
                <a:latin typeface="Malgun Gothic"/>
                <a:cs typeface="Malgun Gothic"/>
              </a:rPr>
              <a:t>an </a:t>
            </a:r>
            <a:r>
              <a:rPr dirty="0" sz="2400" spc="-5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10" b="1">
                <a:solidFill>
                  <a:srgbClr val="0000FF"/>
                </a:solidFill>
                <a:latin typeface="Malgun Gothic"/>
                <a:cs typeface="Malgun Gothic"/>
              </a:rPr>
              <a:t>art </a:t>
            </a:r>
            <a:r>
              <a:rPr dirty="0" sz="2400" spc="-95" b="1">
                <a:solidFill>
                  <a:srgbClr val="0000FF"/>
                </a:solidFill>
                <a:latin typeface="Malgun Gothic"/>
                <a:cs typeface="Malgun Gothic"/>
              </a:rPr>
              <a:t>no</a:t>
            </a:r>
            <a:r>
              <a:rPr dirty="0" sz="2400" spc="-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90" b="1">
                <a:solidFill>
                  <a:srgbClr val="0000FF"/>
                </a:solidFill>
                <a:latin typeface="Malgun Gothic"/>
                <a:cs typeface="Malgun Gothic"/>
              </a:rPr>
              <a:t>less </a:t>
            </a:r>
            <a:r>
              <a:rPr dirty="0" sz="2400" spc="-60" b="1">
                <a:solidFill>
                  <a:srgbClr val="0000FF"/>
                </a:solidFill>
                <a:latin typeface="Malgun Gothic"/>
                <a:cs typeface="Malgun Gothic"/>
              </a:rPr>
              <a:t>than</a:t>
            </a:r>
            <a:r>
              <a:rPr dirty="0" sz="2400" spc="72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Malgun Gothic"/>
                <a:cs typeface="Malgun Gothic"/>
              </a:rPr>
              <a:t>a </a:t>
            </a:r>
            <a:r>
              <a:rPr dirty="0" sz="2400" spc="75" b="1">
                <a:solidFill>
                  <a:srgbClr val="0000FF"/>
                </a:solidFill>
                <a:latin typeface="Malgun Gothic"/>
                <a:cs typeface="Malgun Gothic"/>
              </a:rPr>
              <a:t>science</a:t>
            </a:r>
            <a:r>
              <a:rPr dirty="0" sz="2400" spc="75" b="1">
                <a:latin typeface="Malgun Gothic"/>
                <a:cs typeface="Malgun Gothic"/>
              </a:rPr>
              <a:t>; </a:t>
            </a:r>
            <a:r>
              <a:rPr dirty="0" sz="2400" spc="-80" b="1">
                <a:latin typeface="Malgun Gothic"/>
                <a:cs typeface="Malgun Gothic"/>
              </a:rPr>
              <a:t>and</a:t>
            </a:r>
            <a:r>
              <a:rPr dirty="0" sz="2400" spc="685" b="1">
                <a:latin typeface="Malgun Gothic"/>
                <a:cs typeface="Malgun Gothic"/>
              </a:rPr>
              <a:t> </a:t>
            </a:r>
            <a:r>
              <a:rPr dirty="0" sz="2400" spc="-15" b="1">
                <a:solidFill>
                  <a:srgbClr val="0000FF"/>
                </a:solidFill>
                <a:latin typeface="Malgun Gothic"/>
                <a:cs typeface="Malgun Gothic"/>
              </a:rPr>
              <a:t>equity</a:t>
            </a:r>
            <a:r>
              <a:rPr dirty="0" sz="2400" spc="81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85" b="1">
                <a:solidFill>
                  <a:srgbClr val="0000FF"/>
                </a:solidFill>
                <a:latin typeface="Malgun Gothic"/>
                <a:cs typeface="Malgun Gothic"/>
              </a:rPr>
              <a:t>is </a:t>
            </a:r>
            <a:r>
              <a:rPr dirty="0" sz="2400" spc="-80" b="1">
                <a:solidFill>
                  <a:srgbClr val="0000FF"/>
                </a:solidFill>
                <a:latin typeface="Malgun Gothic"/>
                <a:cs typeface="Malgun Gothic"/>
              </a:rPr>
              <a:t>to</a:t>
            </a:r>
            <a:r>
              <a:rPr dirty="0" sz="2400" spc="6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35" b="1">
                <a:solidFill>
                  <a:srgbClr val="0000FF"/>
                </a:solidFill>
                <a:latin typeface="Malgun Gothic"/>
                <a:cs typeface="Malgun Gothic"/>
              </a:rPr>
              <a:t>be</a:t>
            </a:r>
            <a:r>
              <a:rPr dirty="0" sz="2400" spc="77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5" b="1">
                <a:solidFill>
                  <a:srgbClr val="0000FF"/>
                </a:solidFill>
                <a:latin typeface="Malgun Gothic"/>
                <a:cs typeface="Malgun Gothic"/>
              </a:rPr>
              <a:t>sought </a:t>
            </a:r>
            <a:r>
              <a:rPr dirty="0" sz="2400" spc="-5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65" b="1">
                <a:solidFill>
                  <a:srgbClr val="0000FF"/>
                </a:solidFill>
                <a:latin typeface="Malgun Gothic"/>
                <a:cs typeface="Malgun Gothic"/>
              </a:rPr>
              <a:t>as</a:t>
            </a:r>
            <a:r>
              <a:rPr dirty="0" sz="2400" spc="33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Malgun Gothic"/>
                <a:cs typeface="Malgun Gothic"/>
              </a:rPr>
              <a:t>a</a:t>
            </a:r>
            <a:r>
              <a:rPr dirty="0" sz="2400" spc="36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30" b="1">
                <a:solidFill>
                  <a:srgbClr val="0000FF"/>
                </a:solidFill>
                <a:latin typeface="Malgun Gothic"/>
                <a:cs typeface="Malgun Gothic"/>
              </a:rPr>
              <a:t>matter</a:t>
            </a:r>
            <a:r>
              <a:rPr dirty="0" sz="2400" spc="35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5" b="1">
                <a:solidFill>
                  <a:srgbClr val="0000FF"/>
                </a:solidFill>
                <a:latin typeface="Malgun Gothic"/>
                <a:cs typeface="Malgun Gothic"/>
              </a:rPr>
              <a:t>of</a:t>
            </a:r>
            <a:r>
              <a:rPr dirty="0" sz="2400" spc="35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10" b="1">
                <a:solidFill>
                  <a:srgbClr val="0000FF"/>
                </a:solidFill>
                <a:latin typeface="Malgun Gothic"/>
                <a:cs typeface="Malgun Gothic"/>
              </a:rPr>
              <a:t>degree</a:t>
            </a:r>
            <a:r>
              <a:rPr dirty="0" sz="2400" spc="34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20" b="1">
                <a:solidFill>
                  <a:srgbClr val="0000FF"/>
                </a:solidFill>
                <a:latin typeface="Malgun Gothic"/>
                <a:cs typeface="Malgun Gothic"/>
              </a:rPr>
              <a:t>rather</a:t>
            </a:r>
            <a:r>
              <a:rPr dirty="0" sz="2400" spc="35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60" b="1">
                <a:solidFill>
                  <a:srgbClr val="0000FF"/>
                </a:solidFill>
                <a:latin typeface="Malgun Gothic"/>
                <a:cs typeface="Malgun Gothic"/>
              </a:rPr>
              <a:t>than</a:t>
            </a:r>
            <a:r>
              <a:rPr dirty="0" sz="2400" spc="34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65" b="1">
                <a:solidFill>
                  <a:srgbClr val="0000FF"/>
                </a:solidFill>
                <a:latin typeface="Malgun Gothic"/>
                <a:cs typeface="Malgun Gothic"/>
              </a:rPr>
              <a:t>as</a:t>
            </a:r>
            <a:r>
              <a:rPr dirty="0" sz="2400" spc="34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50" b="1">
                <a:solidFill>
                  <a:srgbClr val="0000FF"/>
                </a:solidFill>
                <a:latin typeface="Malgun Gothic"/>
                <a:cs typeface="Malgun Gothic"/>
              </a:rPr>
              <a:t>an</a:t>
            </a:r>
            <a:r>
              <a:rPr dirty="0" sz="2400" spc="34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20" b="1">
                <a:solidFill>
                  <a:srgbClr val="0000FF"/>
                </a:solidFill>
                <a:latin typeface="Malgun Gothic"/>
                <a:cs typeface="Malgun Gothic"/>
              </a:rPr>
              <a:t>absolute</a:t>
            </a:r>
            <a:r>
              <a:rPr dirty="0" sz="2400" spc="35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400" spc="-40" b="1">
                <a:solidFill>
                  <a:srgbClr val="0000FF"/>
                </a:solidFill>
                <a:latin typeface="Malgun Gothic"/>
                <a:cs typeface="Malgun Gothic"/>
              </a:rPr>
              <a:t>norm</a:t>
            </a:r>
            <a:r>
              <a:rPr dirty="0" sz="2400" spc="-40" b="1">
                <a:latin typeface="Malgun Gothic"/>
                <a:cs typeface="Malgun Gothic"/>
              </a:rPr>
              <a:t>.</a:t>
            </a:r>
            <a:endParaRPr sz="2400">
              <a:latin typeface="Malgun Gothic"/>
              <a:cs typeface="Malgun Gothic"/>
            </a:endParaRPr>
          </a:p>
          <a:p>
            <a:pPr algn="just" marL="12700" marR="5715">
              <a:lnSpc>
                <a:spcPct val="131700"/>
              </a:lnSpc>
              <a:spcBef>
                <a:spcPts val="450"/>
              </a:spcBef>
            </a:pPr>
            <a:r>
              <a:rPr dirty="0" sz="1500" b="1">
                <a:latin typeface="Malgun Gothic"/>
                <a:cs typeface="Malgun Gothic"/>
              </a:rPr>
              <a:t>(Musgrave</a:t>
            </a:r>
            <a:r>
              <a:rPr dirty="0" sz="1500" spc="5" b="1">
                <a:latin typeface="Malgun Gothic"/>
                <a:cs typeface="Malgun Gothic"/>
              </a:rPr>
              <a:t> </a:t>
            </a:r>
            <a:r>
              <a:rPr dirty="0" sz="1500" spc="-50" b="1">
                <a:latin typeface="Malgun Gothic"/>
                <a:cs typeface="Malgun Gothic"/>
              </a:rPr>
              <a:t>and</a:t>
            </a:r>
            <a:r>
              <a:rPr dirty="0" sz="1500" spc="-45" b="1">
                <a:latin typeface="Malgun Gothic"/>
                <a:cs typeface="Malgun Gothic"/>
              </a:rPr>
              <a:t> </a:t>
            </a:r>
            <a:r>
              <a:rPr dirty="0" sz="1500" b="1">
                <a:latin typeface="Malgun Gothic"/>
                <a:cs typeface="Malgun Gothic"/>
              </a:rPr>
              <a:t>Musgrave,</a:t>
            </a:r>
            <a:r>
              <a:rPr dirty="0" sz="1500" spc="5" b="1">
                <a:latin typeface="Malgun Gothic"/>
                <a:cs typeface="Malgun Gothic"/>
              </a:rPr>
              <a:t> </a:t>
            </a:r>
            <a:r>
              <a:rPr dirty="0" sz="1550" spc="-20" b="1">
                <a:latin typeface="Malgun Gothic"/>
                <a:cs typeface="Malgun Gothic"/>
              </a:rPr>
              <a:t>Public</a:t>
            </a:r>
            <a:r>
              <a:rPr dirty="0" sz="1550" spc="-15" b="1">
                <a:latin typeface="Malgun Gothic"/>
                <a:cs typeface="Malgun Gothic"/>
              </a:rPr>
              <a:t> </a:t>
            </a:r>
            <a:r>
              <a:rPr dirty="0" sz="1550" b="1">
                <a:latin typeface="Malgun Gothic"/>
                <a:cs typeface="Malgun Gothic"/>
              </a:rPr>
              <a:t>Finance</a:t>
            </a:r>
            <a:r>
              <a:rPr dirty="0" sz="1550" spc="5" b="1">
                <a:latin typeface="Malgun Gothic"/>
                <a:cs typeface="Malgun Gothic"/>
              </a:rPr>
              <a:t> </a:t>
            </a:r>
            <a:r>
              <a:rPr dirty="0" sz="1550" spc="-45" b="1">
                <a:latin typeface="Malgun Gothic"/>
                <a:cs typeface="Malgun Gothic"/>
              </a:rPr>
              <a:t>In</a:t>
            </a:r>
            <a:r>
              <a:rPr dirty="0" sz="1550" spc="450" b="1">
                <a:latin typeface="Malgun Gothic"/>
                <a:cs typeface="Malgun Gothic"/>
              </a:rPr>
              <a:t> </a:t>
            </a:r>
            <a:r>
              <a:rPr dirty="0" sz="1550" spc="20" b="1">
                <a:latin typeface="Malgun Gothic"/>
                <a:cs typeface="Malgun Gothic"/>
              </a:rPr>
              <a:t>Theory  </a:t>
            </a:r>
            <a:r>
              <a:rPr dirty="0" sz="1550" spc="-75" b="1">
                <a:latin typeface="Malgun Gothic"/>
                <a:cs typeface="Malgun Gothic"/>
              </a:rPr>
              <a:t>and</a:t>
            </a:r>
            <a:r>
              <a:rPr dirty="0" sz="1550" spc="395" b="1">
                <a:latin typeface="Malgun Gothic"/>
                <a:cs typeface="Malgun Gothic"/>
              </a:rPr>
              <a:t> </a:t>
            </a:r>
            <a:r>
              <a:rPr dirty="0" sz="1550" spc="15" b="1">
                <a:latin typeface="Malgun Gothic"/>
                <a:cs typeface="Malgun Gothic"/>
              </a:rPr>
              <a:t>Practice</a:t>
            </a:r>
            <a:r>
              <a:rPr dirty="0" sz="1500" spc="15" b="1">
                <a:latin typeface="Malgun Gothic"/>
                <a:cs typeface="Malgun Gothic"/>
              </a:rPr>
              <a:t>,  </a:t>
            </a:r>
            <a:r>
              <a:rPr dirty="0" sz="1500" spc="20" b="1">
                <a:latin typeface="Malgun Gothic"/>
                <a:cs typeface="Malgun Gothic"/>
              </a:rPr>
              <a:t>1989,  </a:t>
            </a:r>
            <a:r>
              <a:rPr dirty="0" sz="1500" spc="25" b="1">
                <a:latin typeface="Malgun Gothic"/>
                <a:cs typeface="Malgun Gothic"/>
              </a:rPr>
              <a:t>Ch.  </a:t>
            </a:r>
            <a:r>
              <a:rPr dirty="0" sz="1500" spc="20" b="1">
                <a:latin typeface="Malgun Gothic"/>
                <a:cs typeface="Malgun Gothic"/>
              </a:rPr>
              <a:t>13. </a:t>
            </a:r>
            <a:r>
              <a:rPr dirty="0" sz="1500" spc="25" b="1">
                <a:latin typeface="Malgun Gothic"/>
                <a:cs typeface="Malgun Gothic"/>
              </a:rPr>
              <a:t> </a:t>
            </a:r>
            <a:r>
              <a:rPr dirty="0" sz="1500" spc="-15" b="1">
                <a:latin typeface="Malgun Gothic"/>
                <a:cs typeface="Malgun Gothic"/>
              </a:rPr>
              <a:t>Approach</a:t>
            </a:r>
            <a:r>
              <a:rPr dirty="0" sz="1500" spc="210" b="1">
                <a:latin typeface="Malgun Gothic"/>
                <a:cs typeface="Malgun Gothic"/>
              </a:rPr>
              <a:t> </a:t>
            </a:r>
            <a:r>
              <a:rPr dirty="0" sz="1500" spc="-50" b="1">
                <a:latin typeface="Malgun Gothic"/>
                <a:cs typeface="Malgun Gothic"/>
              </a:rPr>
              <a:t>to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spc="110" b="1">
                <a:latin typeface="Malgun Gothic"/>
                <a:cs typeface="Malgun Gothic"/>
              </a:rPr>
              <a:t>Tax</a:t>
            </a:r>
            <a:r>
              <a:rPr dirty="0" sz="1500" spc="215" b="1">
                <a:latin typeface="Malgun Gothic"/>
                <a:cs typeface="Malgun Gothic"/>
              </a:rPr>
              <a:t> </a:t>
            </a:r>
            <a:r>
              <a:rPr dirty="0" sz="1500" spc="20" b="1">
                <a:latin typeface="Malgun Gothic"/>
                <a:cs typeface="Malgun Gothic"/>
              </a:rPr>
              <a:t>Equity,</a:t>
            </a:r>
            <a:r>
              <a:rPr dirty="0" sz="1500" spc="220" b="1">
                <a:latin typeface="Malgun Gothic"/>
                <a:cs typeface="Malgun Gothic"/>
              </a:rPr>
              <a:t> </a:t>
            </a:r>
            <a:r>
              <a:rPr dirty="0" sz="1500" spc="5" b="1">
                <a:latin typeface="Malgun Gothic"/>
                <a:cs typeface="Malgun Gothic"/>
              </a:rPr>
              <a:t>p.228)</a:t>
            </a:r>
            <a:endParaRPr sz="15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008620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분배정책에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따른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억제효과를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고려한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시나리오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buChar char="-"/>
              <a:tabLst>
                <a:tab pos="425450" algn="l"/>
              </a:tabLst>
            </a:pPr>
            <a:r>
              <a:rPr dirty="0" sz="2000" spc="110" b="1">
                <a:latin typeface="Malgun Gothic"/>
                <a:cs typeface="Malgun Gothic"/>
              </a:rPr>
              <a:t>c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20">
                <a:latin typeface="Cambria"/>
                <a:cs typeface="Cambria"/>
              </a:rPr>
              <a:t> </a:t>
            </a:r>
            <a:r>
              <a:rPr dirty="0" sz="2000" spc="-100" b="1">
                <a:latin typeface="Malgun Gothic"/>
                <a:cs typeface="Malgun Gothic"/>
              </a:rPr>
              <a:t>b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효율적이지만,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불공평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buChar char="-"/>
              <a:tabLst>
                <a:tab pos="425450" algn="l"/>
              </a:tabLst>
            </a:pPr>
            <a:r>
              <a:rPr dirty="0" sz="2000" spc="110" b="1">
                <a:latin typeface="Malgun Gothic"/>
                <a:cs typeface="Malgun Gothic"/>
              </a:rPr>
              <a:t>c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-15">
                <a:latin typeface="Cambria"/>
                <a:cs typeface="Cambria"/>
              </a:rPr>
              <a:t> 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총생산량의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크기를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위축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3)</a:t>
            </a:r>
            <a:r>
              <a:rPr dirty="0" sz="2000" spc="229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결론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효율성의</a:t>
            </a:r>
            <a:r>
              <a:rPr dirty="0" sz="2000" spc="2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중요성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복지의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최선의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경제에서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최적배분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사회정의를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필요조건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차선의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경제에서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최적배분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증가는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사회정의를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희생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</a:pPr>
            <a:r>
              <a:rPr dirty="0" sz="2000" spc="85" b="1">
                <a:solidFill>
                  <a:srgbClr val="0000FF"/>
                </a:solidFill>
                <a:latin typeface="Malgun Gothic"/>
                <a:cs typeface="Malgun Gothic"/>
              </a:rPr>
              <a:t>*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효율성과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공평성은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항상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20" b="1">
                <a:solidFill>
                  <a:srgbClr val="0000FF"/>
                </a:solidFill>
                <a:latin typeface="Malgun Gothic"/>
                <a:cs typeface="Malgun Gothic"/>
              </a:rPr>
              <a:t>상충관계(trade-off)에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20" b="1">
                <a:solidFill>
                  <a:srgbClr val="0000FF"/>
                </a:solidFill>
                <a:latin typeface="Malgun Gothic"/>
                <a:cs typeface="Malgun Gothic"/>
              </a:rPr>
              <a:t>있는가?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3602990" cy="114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latin typeface="Malgun Gothic"/>
                <a:cs typeface="Malgun Gothic"/>
              </a:rPr>
              <a:t>제3절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효율성을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국가개입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국가개입의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형태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586" y="2881309"/>
          <a:ext cx="8088630" cy="1068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3292475"/>
                <a:gridCol w="3646804"/>
              </a:tblGrid>
              <a:tr h="352756">
                <a:tc>
                  <a:txBody>
                    <a:bodyPr/>
                    <a:lstStyle/>
                    <a:p>
                      <a:pPr marL="31750">
                        <a:lnSpc>
                          <a:spcPts val="2120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시장의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120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자원배분기능이</a:t>
                      </a:r>
                      <a:r>
                        <a:rPr dirty="0" sz="2000" spc="2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효율적으로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20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작동하기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5" b="1">
                          <a:latin typeface="Malgun Gothic"/>
                          <a:cs typeface="Malgun Gothic"/>
                        </a:rPr>
                        <a:t>전제조건?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714989"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65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*</a:t>
                      </a:r>
                      <a:r>
                        <a:rPr dirty="0" sz="1600" spc="140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5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시장의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31750">
                        <a:lnSpc>
                          <a:spcPts val="2185"/>
                        </a:lnSpc>
                        <a:spcBef>
                          <a:spcPts val="885"/>
                        </a:spcBef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0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이러한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6858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600" spc="-10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실패가</a:t>
                      </a:r>
                      <a:r>
                        <a:rPr dirty="0" sz="1600" spc="220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5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발생하지</a:t>
                      </a:r>
                      <a:r>
                        <a:rPr dirty="0" sz="1600" spc="225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5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않는</a:t>
                      </a:r>
                      <a:r>
                        <a:rPr dirty="0" sz="1600" spc="220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상태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56515">
                        <a:lnSpc>
                          <a:spcPts val="2185"/>
                        </a:lnSpc>
                        <a:spcBef>
                          <a:spcPts val="885"/>
                        </a:spcBef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조건이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충족되지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못할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경우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ts val="2185"/>
                        </a:lnSpc>
                      </a:pP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어떤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형태의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국가개입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20" b="1">
                          <a:latin typeface="Malgun Gothic"/>
                          <a:cs typeface="Malgun Gothic"/>
                        </a:rPr>
                        <a:t>정당화?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6636" y="4356374"/>
            <a:ext cx="8547735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7970" marR="5080" indent="-267970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67970" algn="l"/>
                <a:tab pos="268605" algn="l"/>
              </a:tabLst>
            </a:pPr>
            <a:r>
              <a:rPr dirty="0" sz="2000" b="1">
                <a:latin typeface="Malgun Gothic"/>
                <a:cs typeface="Malgun Gothic"/>
              </a:rPr>
              <a:t>규제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0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공정거래법,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위생법,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의무교육,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자동차보험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가입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의무화,</a:t>
            </a:r>
            <a:r>
              <a:rPr dirty="0" sz="2000" spc="31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최저임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금제,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오염물질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배출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규제법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7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재정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가격보조,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소득보조,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환경세,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교통혼잡세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8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공공생산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공립학교,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국방,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보건의료</a:t>
            </a:r>
            <a:endParaRPr sz="20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80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소득이전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교육바우처,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주거급여,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사회보장급여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4232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65"/>
              <a:t> </a:t>
            </a:r>
            <a:r>
              <a:rPr dirty="0"/>
              <a:t>시장이</a:t>
            </a:r>
            <a:r>
              <a:rPr dirty="0" spc="265"/>
              <a:t> </a:t>
            </a:r>
            <a:r>
              <a:rPr dirty="0" spc="-5"/>
              <a:t>효율적이라는</a:t>
            </a:r>
            <a:r>
              <a:rPr dirty="0" spc="265"/>
              <a:t> </a:t>
            </a:r>
            <a:r>
              <a:rPr dirty="0"/>
              <a:t>가정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1)</a:t>
            </a:r>
            <a:r>
              <a:rPr dirty="0" spc="265"/>
              <a:t> </a:t>
            </a:r>
            <a:r>
              <a:rPr dirty="0" spc="10"/>
              <a:t>완전경쟁(perfect</a:t>
            </a:r>
            <a:r>
              <a:rPr dirty="0" spc="265"/>
              <a:t> </a:t>
            </a:r>
            <a:r>
              <a:rPr dirty="0" spc="-30"/>
              <a:t>competition)</a:t>
            </a:r>
          </a:p>
          <a:p>
            <a:pPr marL="13970" marR="1064260" indent="125730">
              <a:lnSpc>
                <a:spcPts val="6400"/>
              </a:lnSpc>
              <a:spcBef>
                <a:spcPts val="875"/>
              </a:spcBef>
              <a:buChar char="-"/>
              <a:tabLst>
                <a:tab pos="426720" algn="l"/>
              </a:tabLst>
            </a:pPr>
            <a:r>
              <a:rPr dirty="0" spc="5"/>
              <a:t>가격수용자,</a:t>
            </a:r>
            <a:r>
              <a:rPr dirty="0" spc="285"/>
              <a:t> </a:t>
            </a:r>
            <a:r>
              <a:rPr dirty="0"/>
              <a:t>시장에</a:t>
            </a:r>
            <a:r>
              <a:rPr dirty="0" spc="285"/>
              <a:t> </a:t>
            </a:r>
            <a:r>
              <a:rPr dirty="0" spc="-5"/>
              <a:t>참가하는</a:t>
            </a:r>
            <a:r>
              <a:rPr dirty="0" spc="285"/>
              <a:t> </a:t>
            </a:r>
            <a:r>
              <a:rPr dirty="0" spc="-5"/>
              <a:t>개인들의</a:t>
            </a:r>
            <a:r>
              <a:rPr dirty="0" spc="285"/>
              <a:t> </a:t>
            </a:r>
            <a:r>
              <a:rPr dirty="0" spc="-10"/>
              <a:t>상호</a:t>
            </a:r>
            <a:r>
              <a:rPr dirty="0" spc="285"/>
              <a:t> </a:t>
            </a:r>
            <a:r>
              <a:rPr dirty="0"/>
              <a:t>동등한</a:t>
            </a:r>
            <a:r>
              <a:rPr dirty="0" spc="285"/>
              <a:t> </a:t>
            </a:r>
            <a:r>
              <a:rPr dirty="0"/>
              <a:t>힘</a:t>
            </a:r>
            <a:r>
              <a:rPr dirty="0" spc="285"/>
              <a:t> </a:t>
            </a:r>
            <a:r>
              <a:rPr dirty="0" spc="-10"/>
              <a:t>보유 </a:t>
            </a:r>
            <a:r>
              <a:rPr dirty="0" spc="-690"/>
              <a:t> </a:t>
            </a:r>
            <a:r>
              <a:rPr dirty="0"/>
              <a:t>ｏ</a:t>
            </a:r>
            <a:r>
              <a:rPr dirty="0" spc="285"/>
              <a:t> </a:t>
            </a:r>
            <a:r>
              <a:rPr dirty="0" spc="-5">
                <a:solidFill>
                  <a:srgbClr val="0000FF"/>
                </a:solidFill>
              </a:rPr>
              <a:t>후생경제학의</a:t>
            </a:r>
            <a:r>
              <a:rPr dirty="0" spc="290">
                <a:solidFill>
                  <a:srgbClr val="0000FF"/>
                </a:solidFill>
              </a:rPr>
              <a:t> </a:t>
            </a:r>
            <a:r>
              <a:rPr dirty="0" spc="5">
                <a:solidFill>
                  <a:srgbClr val="0000FF"/>
                </a:solidFill>
              </a:rPr>
              <a:t>제1정리</a:t>
            </a:r>
          </a:p>
          <a:p>
            <a:pPr lvl="1" marL="582930" indent="-315595">
              <a:lnSpc>
                <a:spcPts val="2315"/>
              </a:lnSpc>
              <a:buChar char="-"/>
              <a:tabLst>
                <a:tab pos="582930" algn="l"/>
                <a:tab pos="583565" algn="l"/>
                <a:tab pos="1248410" algn="l"/>
                <a:tab pos="2420620" algn="l"/>
                <a:tab pos="3846829" algn="l"/>
                <a:tab pos="5273040" algn="l"/>
                <a:tab pos="5938520" algn="l"/>
                <a:tab pos="6856730" algn="l"/>
                <a:tab pos="8028940" algn="l"/>
              </a:tabLst>
            </a:pP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소비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선호</a:t>
            </a:r>
            <a:r>
              <a:rPr dirty="0" sz="2000" spc="-15" b="1">
                <a:latin typeface="Malgun Gothic"/>
                <a:cs typeface="Malgun Gothic"/>
              </a:rPr>
              <a:t>체</a:t>
            </a:r>
            <a:r>
              <a:rPr dirty="0" sz="2000" b="1">
                <a:latin typeface="Malgun Gothic"/>
                <a:cs typeface="Malgun Gothic"/>
              </a:rPr>
              <a:t>계가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强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單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調性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갖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동</a:t>
            </a:r>
            <a:r>
              <a:rPr dirty="0" sz="2000" b="1">
                <a:latin typeface="Malgun Gothic"/>
                <a:cs typeface="Malgun Gothic"/>
              </a:rPr>
              <a:t>시에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외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성이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존재</a:t>
            </a:r>
            <a:endParaRPr sz="2000">
              <a:latin typeface="Malgun Gothic"/>
              <a:cs typeface="Malgun Gothic"/>
            </a:endParaRPr>
          </a:p>
          <a:p>
            <a:pPr marL="582930">
              <a:lnSpc>
                <a:spcPct val="100000"/>
              </a:lnSpc>
              <a:spcBef>
                <a:spcPts val="800"/>
              </a:spcBef>
            </a:pPr>
            <a:r>
              <a:rPr dirty="0">
                <a:solidFill>
                  <a:srgbClr val="0000FF"/>
                </a:solidFill>
              </a:rPr>
              <a:t>하지</a:t>
            </a:r>
            <a:r>
              <a:rPr dirty="0" spc="28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않는다</a:t>
            </a:r>
            <a:r>
              <a:rPr dirty="0" spc="-5"/>
              <a:t>면</a:t>
            </a:r>
            <a:r>
              <a:rPr dirty="0" spc="285"/>
              <a:t> </a:t>
            </a:r>
            <a:r>
              <a:rPr dirty="0" spc="-5"/>
              <a:t>일반경쟁균형의</a:t>
            </a:r>
            <a:r>
              <a:rPr dirty="0" spc="280"/>
              <a:t> </a:t>
            </a:r>
            <a:r>
              <a:rPr dirty="0" spc="-5"/>
              <a:t>배분은</a:t>
            </a:r>
            <a:r>
              <a:rPr dirty="0" spc="285"/>
              <a:t> </a:t>
            </a:r>
            <a:r>
              <a:rPr dirty="0" spc="-5"/>
              <a:t>파레토효율적이</a:t>
            </a:r>
            <a:r>
              <a:rPr dirty="0" spc="285"/>
              <a:t> </a:t>
            </a:r>
            <a:r>
              <a:rPr dirty="0" spc="20"/>
              <a:t>된다.</a:t>
            </a:r>
          </a:p>
          <a:p>
            <a:pPr lvl="1" marL="627380" marR="6350" indent="-359410">
              <a:lnSpc>
                <a:spcPct val="132900"/>
              </a:lnSpc>
              <a:spcBef>
                <a:spcPts val="15"/>
              </a:spcBef>
              <a:buChar char="-"/>
              <a:tabLst>
                <a:tab pos="627380" algn="l"/>
                <a:tab pos="628015" algn="l"/>
                <a:tab pos="1589405" algn="l"/>
                <a:tab pos="3566795" algn="l"/>
                <a:tab pos="4782820" algn="l"/>
                <a:tab pos="7267575" algn="l"/>
              </a:tabLst>
            </a:pPr>
            <a:r>
              <a:rPr dirty="0" sz="2000" b="1">
                <a:latin typeface="Malgun Gothic"/>
                <a:cs typeface="Malgun Gothic"/>
              </a:rPr>
              <a:t>여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일반</a:t>
            </a:r>
            <a:r>
              <a:rPr dirty="0" sz="2000" spc="-15" b="1">
                <a:latin typeface="Malgun Gothic"/>
                <a:cs typeface="Malgun Gothic"/>
              </a:rPr>
              <a:t>경</a:t>
            </a:r>
            <a:r>
              <a:rPr dirty="0" sz="2000" b="1">
                <a:latin typeface="Malgun Gothic"/>
                <a:cs typeface="Malgun Gothic"/>
              </a:rPr>
              <a:t>쟁균</a:t>
            </a:r>
            <a:r>
              <a:rPr dirty="0" sz="2000" spc="-15" b="1">
                <a:latin typeface="Malgun Gothic"/>
                <a:cs typeface="Malgun Gothic"/>
              </a:rPr>
              <a:t>형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배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이란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완</a:t>
            </a:r>
            <a:r>
              <a:rPr dirty="0" sz="2000" b="1">
                <a:latin typeface="Malgun Gothic"/>
                <a:cs typeface="Malgun Gothic"/>
              </a:rPr>
              <a:t>전경</a:t>
            </a:r>
            <a:r>
              <a:rPr dirty="0" sz="2000" spc="-15" b="1">
                <a:latin typeface="Malgun Gothic"/>
                <a:cs typeface="Malgun Gothic"/>
              </a:rPr>
              <a:t>쟁</a:t>
            </a:r>
            <a:r>
              <a:rPr dirty="0" sz="2000" b="1">
                <a:latin typeface="Malgun Gothic"/>
                <a:cs typeface="Malgun Gothic"/>
              </a:rPr>
              <a:t>시장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원배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을  </a:t>
            </a:r>
            <a:r>
              <a:rPr dirty="0" sz="2000" spc="10" b="1">
                <a:latin typeface="Malgun Gothic"/>
                <a:cs typeface="Malgun Gothic"/>
              </a:rPr>
              <a:t>뜻한다.</a:t>
            </a:r>
            <a:endParaRPr sz="2000">
              <a:latin typeface="Malgun Gothic"/>
              <a:cs typeface="Malgun Gothic"/>
            </a:endParaRPr>
          </a:p>
          <a:p>
            <a:pPr lvl="1" marL="574040" marR="6350" indent="-306070">
              <a:lnSpc>
                <a:spcPct val="133400"/>
              </a:lnSpc>
              <a:buChar char="-"/>
              <a:tabLst>
                <a:tab pos="574040" algn="l"/>
                <a:tab pos="574675" algn="l"/>
                <a:tab pos="1229995" algn="l"/>
                <a:tab pos="1637664" algn="l"/>
                <a:tab pos="2723515" algn="l"/>
                <a:tab pos="3633470" algn="l"/>
                <a:tab pos="4669155" algn="l"/>
                <a:tab pos="5325110" algn="l"/>
                <a:tab pos="6957059" algn="l"/>
                <a:tab pos="8028940" algn="l"/>
              </a:tabLst>
            </a:pPr>
            <a:r>
              <a:rPr dirty="0" sz="2000" b="1">
                <a:latin typeface="Malgun Gothic"/>
                <a:cs typeface="Malgun Gothic"/>
              </a:rPr>
              <a:t>이는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0" b="1">
                <a:latin typeface="Malgun Gothic"/>
                <a:cs typeface="Malgun Gothic"/>
              </a:rPr>
              <a:t>A</a:t>
            </a:r>
            <a:r>
              <a:rPr dirty="0" sz="2000" spc="60" b="1">
                <a:latin typeface="Malgun Gothic"/>
                <a:cs typeface="Malgun Gothic"/>
              </a:rPr>
              <a:t>.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20" b="1">
                <a:latin typeface="Malgun Gothic"/>
                <a:cs typeface="Malgun Gothic"/>
              </a:rPr>
              <a:t>S</a:t>
            </a:r>
            <a:r>
              <a:rPr dirty="0" sz="2000" spc="-160" b="1">
                <a:latin typeface="Malgun Gothic"/>
                <a:cs typeface="Malgun Gothic"/>
              </a:rPr>
              <a:t>m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-65" b="1">
                <a:latin typeface="Malgun Gothic"/>
                <a:cs typeface="Malgun Gothic"/>
              </a:rPr>
              <a:t>h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제시한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u="sng" sz="2000" spc="4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“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보</a:t>
            </a:r>
            <a:r>
              <a:rPr dirty="0" u="sng" sz="2000" spc="-1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이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지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않는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sng" sz="2000" spc="-1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손</a:t>
            </a:r>
            <a:r>
              <a:rPr dirty="0" u="sng" sz="2000" spc="4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”</a:t>
            </a:r>
            <a:r>
              <a:rPr dirty="0" u="sng" sz="2000" spc="3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(</a:t>
            </a:r>
            <a:r>
              <a:rPr dirty="0" u="sng" sz="2000" spc="2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i</a:t>
            </a:r>
            <a:r>
              <a:rPr dirty="0" u="sng" sz="2000" spc="-7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n</a:t>
            </a:r>
            <a:r>
              <a:rPr dirty="0" u="sng" sz="2000" spc="6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v</a:t>
            </a:r>
            <a:r>
              <a:rPr dirty="0" u="sng" sz="2000" spc="2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i</a:t>
            </a:r>
            <a:r>
              <a:rPr dirty="0" u="sng" sz="2000" spc="114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s</a:t>
            </a:r>
            <a:r>
              <a:rPr dirty="0" u="sng" sz="2000" spc="2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i</a:t>
            </a:r>
            <a:r>
              <a:rPr dirty="0" u="sng" sz="2000" spc="-10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b</a:t>
            </a:r>
            <a:r>
              <a:rPr dirty="0" u="sng" sz="2000" spc="3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l</a:t>
            </a:r>
            <a:r>
              <a:rPr dirty="0" u="sng" sz="2000" spc="5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e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sng" sz="2000" spc="-6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h</a:t>
            </a:r>
            <a:r>
              <a:rPr dirty="0" u="sng" sz="2000" spc="-1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a</a:t>
            </a:r>
            <a:r>
              <a:rPr dirty="0" u="sng" sz="2000" spc="-8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n</a:t>
            </a:r>
            <a:r>
              <a:rPr dirty="0" u="sng" sz="2000" spc="-10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d</a:t>
            </a:r>
            <a:r>
              <a:rPr dirty="0" u="sng" sz="2000" spc="3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)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의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sng" sz="2000" spc="-15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명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제 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이론적으로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정당화하는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역할을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279" y="3372319"/>
            <a:ext cx="5175673" cy="34856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6636" y="1108965"/>
            <a:ext cx="8549005" cy="205486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000" b="1">
                <a:latin typeface="Malgun Gothic"/>
                <a:cs typeface="Malgun Gothic"/>
              </a:rPr>
              <a:t>ｏ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후생경제학의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제2정리</a:t>
            </a:r>
            <a:endParaRPr sz="2000">
              <a:latin typeface="Malgun Gothic"/>
              <a:cs typeface="Malgun Gothic"/>
            </a:endParaRPr>
          </a:p>
          <a:p>
            <a:pPr marL="577215" marR="6350" indent="-311150">
              <a:lnSpc>
                <a:spcPts val="3200"/>
              </a:lnSpc>
              <a:spcBef>
                <a:spcPts val="229"/>
              </a:spcBef>
              <a:buChar char="-"/>
              <a:tabLst>
                <a:tab pos="577215" algn="l"/>
                <a:tab pos="577850" algn="l"/>
                <a:tab pos="2601595" algn="l"/>
                <a:tab pos="3515360" algn="l"/>
                <a:tab pos="4428490" algn="l"/>
                <a:tab pos="5692140" algn="l"/>
                <a:tab pos="6352540" algn="l"/>
                <a:tab pos="7519034" algn="l"/>
              </a:tabLst>
            </a:pP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b="1">
                <a:latin typeface="Malgun Gothic"/>
                <a:cs typeface="Malgun Gothic"/>
              </a:rPr>
              <a:t>초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부존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원이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spc="-15" b="1">
                <a:latin typeface="Malgun Gothic"/>
                <a:cs typeface="Malgun Gothic"/>
              </a:rPr>
              <a:t>절</a:t>
            </a:r>
            <a:r>
              <a:rPr dirty="0" sz="2000" b="1">
                <a:latin typeface="Malgun Gothic"/>
                <a:cs typeface="Malgun Gothic"/>
              </a:rPr>
              <a:t>히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분</a:t>
            </a: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상태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비자의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선호</a:t>
            </a:r>
            <a:r>
              <a:rPr dirty="0" sz="2000" spc="-15" b="1">
                <a:latin typeface="Malgun Gothic"/>
                <a:cs typeface="Malgun Gothic"/>
              </a:rPr>
              <a:t>체</a:t>
            </a:r>
            <a:r>
              <a:rPr dirty="0" sz="2000" b="1">
                <a:latin typeface="Malgun Gothic"/>
                <a:cs typeface="Malgun Gothic"/>
              </a:rPr>
              <a:t>계  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볼록성을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가지면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파레토효율적인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배분</a:t>
            </a:r>
            <a:r>
              <a:rPr dirty="0" sz="2000" spc="-5" b="1">
                <a:latin typeface="Malgun Gothic"/>
                <a:cs typeface="Malgun Gothic"/>
              </a:rPr>
              <a:t>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일반경쟁균형이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된다.</a:t>
            </a:r>
            <a:endParaRPr sz="2000">
              <a:latin typeface="Malgun Gothic"/>
              <a:cs typeface="Malgun Gothic"/>
            </a:endParaRPr>
          </a:p>
          <a:p>
            <a:pPr marL="584835" marR="5080" indent="-318770">
              <a:lnSpc>
                <a:spcPts val="3190"/>
              </a:lnSpc>
              <a:buChar char="-"/>
              <a:tabLst>
                <a:tab pos="584835" algn="l"/>
                <a:tab pos="585470" algn="l"/>
                <a:tab pos="1000125" algn="l"/>
                <a:tab pos="1921510" algn="l"/>
                <a:tab pos="3096895" algn="l"/>
                <a:tab pos="4526280" algn="l"/>
                <a:tab pos="7266305" algn="l"/>
              </a:tabLst>
            </a:pP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리는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</a:t>
            </a:r>
            <a:r>
              <a:rPr dirty="0" sz="2000" spc="-15" b="1">
                <a:latin typeface="Malgun Gothic"/>
                <a:cs typeface="Malgun Gothic"/>
              </a:rPr>
              <a:t>율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</a:t>
            </a:r>
            <a:r>
              <a:rPr dirty="0" sz="2000" spc="-15" b="1">
                <a:latin typeface="Malgun Gothic"/>
                <a:cs typeface="Malgun Gothic"/>
              </a:rPr>
              <a:t>원</a:t>
            </a:r>
            <a:r>
              <a:rPr dirty="0" sz="2000" b="1">
                <a:latin typeface="Malgun Gothic"/>
                <a:cs typeface="Malgun Gothic"/>
              </a:rPr>
              <a:t>배분이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권적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-105" b="1">
                <a:latin typeface="Malgun Gothic"/>
                <a:cs typeface="Malgun Gothic"/>
              </a:rPr>
              <a:t>d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85" b="1">
                <a:latin typeface="Malgun Gothic"/>
                <a:cs typeface="Malgun Gothic"/>
              </a:rPr>
              <a:t>r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30" b="1">
                <a:latin typeface="Malgun Gothic"/>
                <a:cs typeface="Malgun Gothic"/>
              </a:rPr>
              <a:t>i</a:t>
            </a:r>
            <a:r>
              <a:rPr dirty="0" sz="2000" spc="20" b="1">
                <a:latin typeface="Malgun Gothic"/>
                <a:cs typeface="Malgun Gothic"/>
              </a:rPr>
              <a:t>z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-105" b="1">
                <a:latin typeface="Malgun Gothic"/>
                <a:cs typeface="Malgun Gothic"/>
              </a:rPr>
              <a:t>d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기구에  </a:t>
            </a:r>
            <a:r>
              <a:rPr dirty="0" sz="2000" b="1">
                <a:latin typeface="Malgun Gothic"/>
                <a:cs typeface="Malgun Gothic"/>
              </a:rPr>
              <a:t>의해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달성될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있음을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보이고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3199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2)</a:t>
            </a:r>
            <a:r>
              <a:rPr dirty="0" spc="275"/>
              <a:t> </a:t>
            </a:r>
            <a:r>
              <a:rPr dirty="0"/>
              <a:t>완전한</a:t>
            </a:r>
            <a:r>
              <a:rPr dirty="0" spc="275"/>
              <a:t> </a:t>
            </a:r>
            <a:r>
              <a:rPr dirty="0" spc="-10"/>
              <a:t>시장</a:t>
            </a:r>
            <a:r>
              <a:rPr dirty="0" spc="280"/>
              <a:t> </a:t>
            </a:r>
            <a:r>
              <a:rPr dirty="0" spc="-15"/>
              <a:t>(complete</a:t>
            </a:r>
            <a:r>
              <a:rPr dirty="0" spc="270"/>
              <a:t> </a:t>
            </a:r>
            <a:r>
              <a:rPr dirty="0" spc="10"/>
              <a:t>markets)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9005" cy="40881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67970" marR="5080" indent="-255904">
              <a:lnSpc>
                <a:spcPct val="133200"/>
              </a:lnSpc>
              <a:spcBef>
                <a:spcPts val="105"/>
              </a:spcBef>
              <a:buFont typeface="Cambria"/>
              <a:buChar char="○"/>
              <a:tabLst>
                <a:tab pos="26860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개인들이 기업의 생산비용을 충당할 </a:t>
            </a:r>
            <a:r>
              <a:rPr dirty="0" sz="2000" b="1">
                <a:latin typeface="Malgun Gothic"/>
                <a:cs typeface="Malgun Gothic"/>
              </a:rPr>
              <a:t>수 있는 수준의 </a:t>
            </a:r>
            <a:r>
              <a:rPr dirty="0" sz="2000" spc="-5" b="1">
                <a:latin typeface="Malgun Gothic"/>
                <a:cs typeface="Malgun Gothic"/>
              </a:rPr>
              <a:t>가격을 지불할 </a:t>
            </a:r>
            <a:r>
              <a:rPr dirty="0" sz="2000" b="1">
                <a:latin typeface="Malgun Gothic"/>
                <a:cs typeface="Malgun Gothic"/>
              </a:rPr>
              <a:t>용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의가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어떤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종류의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재화나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용역도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시장에서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거래될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완전한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시장이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성립하지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공공재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보험시장이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성립할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만한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종류의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실업보험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자본시장이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수요자에게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자금을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제공하는데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실패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학자금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융자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미래시장이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성립되지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않는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선물시장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보완적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시장의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부재로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상품이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공급되지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3031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3)</a:t>
            </a:r>
            <a:r>
              <a:rPr dirty="0" spc="250"/>
              <a:t> </a:t>
            </a:r>
            <a:r>
              <a:rPr dirty="0" spc="-5"/>
              <a:t>시장실패가</a:t>
            </a:r>
            <a:r>
              <a:rPr dirty="0" spc="254"/>
              <a:t> </a:t>
            </a:r>
            <a:r>
              <a:rPr dirty="0"/>
              <a:t>없음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7735" cy="408812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순수공공재의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존재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소비행위의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비경쟁성(비경합성)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30" b="1">
                <a:latin typeface="Malgun Gothic"/>
                <a:cs typeface="Malgun Gothic"/>
              </a:rPr>
              <a:t>한계비용=0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비배제성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무임승차의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문제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algn="just" marL="266700" indent="-254635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외부효과</a:t>
            </a:r>
            <a:endParaRPr sz="2000">
              <a:latin typeface="Malgun Gothic"/>
              <a:cs typeface="Malgun Gothic"/>
            </a:endParaRPr>
          </a:p>
          <a:p>
            <a:pPr algn="just" lvl="1" marL="429259" marR="5080" indent="-290830">
              <a:lnSpc>
                <a:spcPts val="3200"/>
              </a:lnSpc>
              <a:spcBef>
                <a:spcPts val="229"/>
              </a:spcBef>
              <a:buChar char="-"/>
              <a:tabLst>
                <a:tab pos="429895" algn="l"/>
              </a:tabLst>
            </a:pPr>
            <a:r>
              <a:rPr dirty="0" sz="2000" b="1">
                <a:latin typeface="Malgun Gothic"/>
                <a:cs typeface="Malgun Gothic"/>
              </a:rPr>
              <a:t>개인 </a:t>
            </a:r>
            <a:r>
              <a:rPr dirty="0" sz="2000" spc="25" b="1">
                <a:latin typeface="Malgun Gothic"/>
                <a:cs typeface="Malgun Gothic"/>
              </a:rPr>
              <a:t>A의 </a:t>
            </a:r>
            <a:r>
              <a:rPr dirty="0" sz="2000" spc="-5" b="1">
                <a:latin typeface="Malgun Gothic"/>
                <a:cs typeface="Malgun Gothic"/>
              </a:rPr>
              <a:t>경제행위로 </a:t>
            </a:r>
            <a:r>
              <a:rPr dirty="0" sz="2000" spc="-10" b="1">
                <a:latin typeface="Malgun Gothic"/>
                <a:cs typeface="Malgun Gothic"/>
              </a:rPr>
              <a:t>타인 </a:t>
            </a:r>
            <a:r>
              <a:rPr dirty="0" sz="2000" spc="65" b="1">
                <a:latin typeface="Malgun Gothic"/>
                <a:cs typeface="Malgun Gothic"/>
              </a:rPr>
              <a:t>B가 </a:t>
            </a:r>
            <a:r>
              <a:rPr dirty="0" sz="2000" b="1">
                <a:latin typeface="Malgun Gothic"/>
                <a:cs typeface="Malgun Gothic"/>
              </a:rPr>
              <a:t>피해 또는 혜택을 입게 </a:t>
            </a:r>
            <a:r>
              <a:rPr dirty="0" sz="2000" spc="20" b="1">
                <a:latin typeface="Malgun Gothic"/>
                <a:cs typeface="Malgun Gothic"/>
              </a:rPr>
              <a:t>되고, </a:t>
            </a:r>
            <a:r>
              <a:rPr dirty="0" sz="2000" spc="-5" b="1">
                <a:latin typeface="Malgun Gothic"/>
                <a:cs typeface="Malgun Gothic"/>
              </a:rPr>
              <a:t>나아가 </a:t>
            </a:r>
            <a:r>
              <a:rPr dirty="0" sz="2000" b="1">
                <a:latin typeface="Malgun Gothic"/>
                <a:cs typeface="Malgun Gothic"/>
              </a:rPr>
              <a:t> 이에 대한 </a:t>
            </a:r>
            <a:r>
              <a:rPr dirty="0" sz="2000" spc="-5" b="1">
                <a:latin typeface="Malgun Gothic"/>
                <a:cs typeface="Malgun Gothic"/>
              </a:rPr>
              <a:t>비용의 청산이 정상적인 </a:t>
            </a:r>
            <a:r>
              <a:rPr dirty="0" sz="2000" b="1">
                <a:latin typeface="Malgun Gothic"/>
                <a:cs typeface="Malgun Gothic"/>
              </a:rPr>
              <a:t>시장의 </a:t>
            </a:r>
            <a:r>
              <a:rPr dirty="0" sz="2000" spc="-5" b="1">
                <a:latin typeface="Malgun Gothic"/>
                <a:cs typeface="Malgun Gothic"/>
              </a:rPr>
              <a:t>기능을 </a:t>
            </a:r>
            <a:r>
              <a:rPr dirty="0" sz="2000" b="1">
                <a:latin typeface="Malgun Gothic"/>
                <a:cs typeface="Malgun Gothic"/>
              </a:rPr>
              <a:t>통해 </a:t>
            </a:r>
            <a:r>
              <a:rPr dirty="0" sz="2000" spc="-5" b="1">
                <a:latin typeface="Malgun Gothic"/>
                <a:cs typeface="Malgun Gothic"/>
              </a:rPr>
              <a:t>이루어질 </a:t>
            </a:r>
            <a:r>
              <a:rPr dirty="0" sz="2000" b="1">
                <a:latin typeface="Malgun Gothic"/>
                <a:cs typeface="Malgun Gothic"/>
              </a:rPr>
              <a:t>수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algn="just" lvl="1" marL="424815" indent="-287020">
              <a:lnSpc>
                <a:spcPct val="100000"/>
              </a:lnSpc>
              <a:spcBef>
                <a:spcPts val="555"/>
              </a:spcBef>
              <a:buChar char="-"/>
              <a:tabLst>
                <a:tab pos="425450" algn="l"/>
              </a:tabLst>
            </a:pPr>
            <a:r>
              <a:rPr dirty="0" sz="2000" spc="10" b="1">
                <a:latin typeface="Malgun Gothic"/>
                <a:cs typeface="Malgun Gothic"/>
              </a:rPr>
              <a:t>외부경제,</a:t>
            </a:r>
            <a:r>
              <a:rPr dirty="0" sz="2000" spc="229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외부불경제</a:t>
            </a:r>
            <a:endParaRPr sz="2000">
              <a:latin typeface="Malgun Gothic"/>
              <a:cs typeface="Malgun Gothic"/>
            </a:endParaRPr>
          </a:p>
          <a:p>
            <a:pPr algn="just"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해결방법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당사자들간의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합병,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소유권의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확립,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규제,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피구세,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보조금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7543165" cy="164973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규모에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보수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증가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모든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산출량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수준에서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평균비용이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한계비용을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초과하는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자연독점이</a:t>
            </a:r>
            <a:r>
              <a:rPr dirty="0" sz="2000" spc="24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성립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해결방법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민간기업에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보조금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지급,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국유화,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양자의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혼합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75"/>
              <a:t> </a:t>
            </a:r>
            <a:r>
              <a:rPr dirty="0" spc="70"/>
              <a:t>4-4&gt;</a:t>
            </a:r>
            <a:r>
              <a:rPr dirty="0" spc="285"/>
              <a:t> </a:t>
            </a:r>
            <a:r>
              <a:rPr dirty="0" spc="-5"/>
              <a:t>규모에</a:t>
            </a:r>
            <a:r>
              <a:rPr dirty="0" spc="275"/>
              <a:t> </a:t>
            </a:r>
            <a:r>
              <a:rPr dirty="0"/>
              <a:t>대한</a:t>
            </a:r>
            <a:r>
              <a:rPr dirty="0" spc="280"/>
              <a:t> </a:t>
            </a:r>
            <a:r>
              <a:rPr dirty="0"/>
              <a:t>보수</a:t>
            </a:r>
            <a:r>
              <a:rPr dirty="0" spc="275"/>
              <a:t> </a:t>
            </a:r>
            <a:r>
              <a:rPr dirty="0" spc="-10"/>
              <a:t>증가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38" y="2071522"/>
            <a:ext cx="5653470" cy="40821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7945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4)</a:t>
            </a:r>
            <a:r>
              <a:rPr dirty="0" spc="250"/>
              <a:t> </a:t>
            </a:r>
            <a:r>
              <a:rPr dirty="0"/>
              <a:t>완전한</a:t>
            </a:r>
            <a:r>
              <a:rPr dirty="0" spc="250"/>
              <a:t> </a:t>
            </a:r>
            <a:r>
              <a:rPr dirty="0" spc="-10"/>
              <a:t>정보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9240" marR="5080" indent="-255904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69240" algn="l"/>
                <a:tab pos="269875" algn="l"/>
              </a:tabLst>
            </a:pPr>
            <a:r>
              <a:rPr dirty="0" spc="-5"/>
              <a:t>소비자들은 </a:t>
            </a:r>
            <a:r>
              <a:rPr dirty="0"/>
              <a:t>그들이 필요로 하는 재화의 </a:t>
            </a:r>
            <a:r>
              <a:rPr dirty="0" spc="-5"/>
              <a:t>종류와</a:t>
            </a:r>
            <a:r>
              <a:rPr dirty="0"/>
              <a:t> </a:t>
            </a:r>
            <a:r>
              <a:rPr dirty="0" spc="-5"/>
              <a:t>성질에</a:t>
            </a:r>
            <a:r>
              <a:rPr dirty="0"/>
              <a:t> </a:t>
            </a:r>
            <a:r>
              <a:rPr dirty="0" spc="-10"/>
              <a:t>관한</a:t>
            </a:r>
            <a:r>
              <a:rPr dirty="0" spc="-5"/>
              <a:t> 정보를</a:t>
            </a:r>
            <a:r>
              <a:rPr dirty="0"/>
              <a:t> 완 </a:t>
            </a:r>
            <a:r>
              <a:rPr dirty="0" spc="-690"/>
              <a:t> </a:t>
            </a:r>
            <a:r>
              <a:rPr dirty="0"/>
              <a:t>벽하게</a:t>
            </a:r>
            <a:r>
              <a:rPr dirty="0" spc="285"/>
              <a:t> </a:t>
            </a:r>
            <a:r>
              <a:rPr dirty="0" spc="-10"/>
              <a:t>알고</a:t>
            </a:r>
            <a:r>
              <a:rPr dirty="0" spc="290"/>
              <a:t> </a:t>
            </a:r>
            <a:r>
              <a:rPr dirty="0" spc="20"/>
              <a:t>있다.</a:t>
            </a:r>
          </a:p>
          <a:p>
            <a:pPr marL="1270">
              <a:lnSpc>
                <a:spcPct val="100000"/>
              </a:lnSpc>
              <a:buFont typeface="Cambria"/>
              <a:buChar char="○"/>
            </a:pPr>
            <a:endParaRPr sz="2200"/>
          </a:p>
          <a:p>
            <a:pPr marL="267970" indent="-254635">
              <a:lnSpc>
                <a:spcPct val="100000"/>
              </a:lnSpc>
              <a:buFont typeface="Cambria"/>
              <a:buChar char="○"/>
              <a:tabLst>
                <a:tab pos="267970" algn="l"/>
                <a:tab pos="268605" algn="l"/>
              </a:tabLst>
            </a:pPr>
            <a:r>
              <a:rPr dirty="0" spc="-5"/>
              <a:t>대개의</a:t>
            </a:r>
            <a:r>
              <a:rPr dirty="0" spc="285"/>
              <a:t> </a:t>
            </a:r>
            <a:r>
              <a:rPr dirty="0" spc="-5"/>
              <a:t>소비자들은</a:t>
            </a:r>
            <a:r>
              <a:rPr dirty="0" spc="285"/>
              <a:t> </a:t>
            </a:r>
            <a:r>
              <a:rPr dirty="0" spc="-5"/>
              <a:t>재화의</a:t>
            </a:r>
            <a:r>
              <a:rPr dirty="0" spc="285"/>
              <a:t> </a:t>
            </a:r>
            <a:r>
              <a:rPr dirty="0" spc="-5"/>
              <a:t>질이나</a:t>
            </a:r>
            <a:r>
              <a:rPr dirty="0" spc="290"/>
              <a:t> </a:t>
            </a:r>
            <a:r>
              <a:rPr dirty="0"/>
              <a:t>가격에</a:t>
            </a:r>
            <a:r>
              <a:rPr dirty="0" spc="285"/>
              <a:t> </a:t>
            </a:r>
            <a:r>
              <a:rPr dirty="0" spc="-10"/>
              <a:t>대해</a:t>
            </a:r>
            <a:r>
              <a:rPr dirty="0" spc="285"/>
              <a:t> </a:t>
            </a:r>
            <a:r>
              <a:rPr dirty="0" spc="-5"/>
              <a:t>불완전한</a:t>
            </a:r>
            <a:r>
              <a:rPr dirty="0" spc="290"/>
              <a:t> </a:t>
            </a:r>
            <a:r>
              <a:rPr dirty="0"/>
              <a:t>정보</a:t>
            </a:r>
            <a:r>
              <a:rPr dirty="0" spc="285"/>
              <a:t> </a:t>
            </a:r>
            <a:r>
              <a:rPr dirty="0"/>
              <a:t>보유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73940" y="3694684"/>
          <a:ext cx="8185784" cy="659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7364"/>
                <a:gridCol w="2875915"/>
                <a:gridCol w="3533139"/>
              </a:tblGrid>
              <a:tr h="329767">
                <a:tc>
                  <a:txBody>
                    <a:bodyPr/>
                    <a:lstStyle/>
                    <a:p>
                      <a:pPr algn="ctr" marR="23495">
                        <a:lnSpc>
                          <a:spcPts val="2120"/>
                        </a:lnSpc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품질에</a:t>
                      </a:r>
                      <a:r>
                        <a:rPr dirty="0" sz="2000" spc="25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관한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20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정보가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불완전한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20"/>
                        </a:lnSpc>
                      </a:pPr>
                      <a:r>
                        <a:rPr dirty="0" sz="2000" spc="10" b="1">
                          <a:latin typeface="Malgun Gothic"/>
                          <a:cs typeface="Malgun Gothic"/>
                        </a:rPr>
                        <a:t>레몬시장,</a:t>
                      </a:r>
                      <a:r>
                        <a:rPr dirty="0" sz="2000" spc="25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중고차</a:t>
                      </a:r>
                      <a:r>
                        <a:rPr dirty="0" sz="2000" spc="25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시장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329767">
                <a:tc>
                  <a:txBody>
                    <a:bodyPr/>
                    <a:lstStyle/>
                    <a:p>
                      <a:pPr algn="ctr" marR="23495">
                        <a:lnSpc>
                          <a:spcPts val="2185"/>
                        </a:lnSpc>
                        <a:spcBef>
                          <a:spcPts val="310"/>
                        </a:spcBef>
                      </a:pPr>
                      <a:r>
                        <a:rPr dirty="0" sz="2000" spc="420" b="1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2000" spc="2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가격에</a:t>
                      </a:r>
                      <a:r>
                        <a:rPr dirty="0" sz="2000" spc="254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관한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85"/>
                        </a:lnSpc>
                        <a:spcBef>
                          <a:spcPts val="310"/>
                        </a:spcBef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정보가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불완전한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2000" spc="27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140" b="1">
                          <a:latin typeface="Malgun Gothic"/>
                          <a:cs typeface="Malgun Gothic"/>
                        </a:rPr>
                        <a:t>: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185"/>
                        </a:lnSpc>
                        <a:spcBef>
                          <a:spcPts val="310"/>
                        </a:spcBef>
                      </a:pPr>
                      <a:r>
                        <a:rPr dirty="0" sz="2000" spc="10" b="1">
                          <a:latin typeface="Malgun Gothic"/>
                          <a:cs typeface="Malgun Gothic"/>
                        </a:rPr>
                        <a:t>탐색이론,</a:t>
                      </a:r>
                      <a:r>
                        <a:rPr dirty="0" sz="2000" spc="2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유보(의중)임금이론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3937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6636" y="4764584"/>
            <a:ext cx="7416800" cy="164973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상품의</a:t>
            </a:r>
            <a:r>
              <a:rPr dirty="0" sz="2000" spc="229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질</a:t>
            </a:r>
            <a:endParaRPr sz="2000">
              <a:latin typeface="Malgun Gothic"/>
              <a:cs typeface="Malgun Gothic"/>
            </a:endParaRPr>
          </a:p>
          <a:p>
            <a:pPr marL="138430">
              <a:lnSpc>
                <a:spcPct val="100000"/>
              </a:lnSpc>
              <a:spcBef>
                <a:spcPts val="79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제품의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질에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획득하는데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실패할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경우의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대비책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dirty="0" sz="2000" spc="60">
                <a:latin typeface="Cambria"/>
                <a:cs typeface="Cambria"/>
              </a:rPr>
              <a:t>▸</a:t>
            </a:r>
            <a:r>
              <a:rPr dirty="0" sz="2000" spc="60" b="1">
                <a:latin typeface="Malgun Gothic"/>
                <a:cs typeface="Malgun Gothic"/>
              </a:rPr>
              <a:t>시장에서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정보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감정인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의뢰,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정보지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dirty="0" sz="2000" spc="80">
                <a:latin typeface="Cambria"/>
                <a:cs typeface="Cambria"/>
              </a:rPr>
              <a:t>▸</a:t>
            </a:r>
            <a:r>
              <a:rPr dirty="0" sz="2000" spc="80" b="1">
                <a:latin typeface="Malgun Gothic"/>
                <a:cs typeface="Malgun Gothic"/>
              </a:rPr>
              <a:t>국가의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규제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위생법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2990" y="1208885"/>
            <a:ext cx="57359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20"/>
              <a:t>-</a:t>
            </a:r>
            <a:r>
              <a:rPr dirty="0" spc="280"/>
              <a:t> </a:t>
            </a:r>
            <a:r>
              <a:rPr dirty="0" spc="-5"/>
              <a:t>정보를</a:t>
            </a:r>
            <a:r>
              <a:rPr dirty="0" spc="280"/>
              <a:t> </a:t>
            </a:r>
            <a:r>
              <a:rPr dirty="0" spc="-20"/>
              <a:t>가공/처리하는데</a:t>
            </a:r>
            <a:r>
              <a:rPr dirty="0" spc="280"/>
              <a:t> </a:t>
            </a:r>
            <a:r>
              <a:rPr dirty="0" spc="-5"/>
              <a:t>실패할</a:t>
            </a:r>
            <a:r>
              <a:rPr dirty="0" spc="280"/>
              <a:t> </a:t>
            </a:r>
            <a:r>
              <a:rPr dirty="0"/>
              <a:t>경우의</a:t>
            </a:r>
            <a:r>
              <a:rPr dirty="0" spc="280"/>
              <a:t> </a:t>
            </a:r>
            <a:r>
              <a:rPr dirty="0" spc="-5"/>
              <a:t>대비책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220" y="1919294"/>
            <a:ext cx="8103234" cy="327596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spc="80">
                <a:latin typeface="Cambria"/>
                <a:cs typeface="Cambria"/>
              </a:rPr>
              <a:t>▸</a:t>
            </a:r>
            <a:r>
              <a:rPr dirty="0" sz="2000" spc="80" b="1">
                <a:latin typeface="Malgun Gothic"/>
                <a:cs typeface="Malgun Gothic"/>
              </a:rPr>
              <a:t>국가의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행정적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개입이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효율적</a:t>
            </a:r>
            <a:endParaRPr sz="2000">
              <a:latin typeface="Malgun Gothic"/>
              <a:cs typeface="Malgun Gothic"/>
            </a:endParaRPr>
          </a:p>
          <a:p>
            <a:pPr marL="488950" indent="-222885">
              <a:lnSpc>
                <a:spcPct val="100000"/>
              </a:lnSpc>
              <a:spcBef>
                <a:spcPts val="800"/>
              </a:spcBef>
              <a:buChar char="▪"/>
              <a:tabLst>
                <a:tab pos="489584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점차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개선될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488950" indent="-222885">
              <a:lnSpc>
                <a:spcPct val="100000"/>
              </a:lnSpc>
              <a:spcBef>
                <a:spcPts val="795"/>
              </a:spcBef>
              <a:buChar char="▪"/>
              <a:tabLst>
                <a:tab pos="489584" algn="l"/>
              </a:tabLst>
            </a:pPr>
            <a:r>
              <a:rPr dirty="0" sz="2000" spc="-5" b="1">
                <a:latin typeface="Malgun Gothic"/>
                <a:cs typeface="Malgun Gothic"/>
              </a:rPr>
              <a:t>이러한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생산이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저렴하고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효율적일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전자잡지</a:t>
            </a:r>
            <a:endParaRPr sz="2000">
              <a:latin typeface="Malgun Gothic"/>
              <a:cs typeface="Malgun Gothic"/>
            </a:endParaRPr>
          </a:p>
          <a:p>
            <a:pPr marL="488950" indent="-222885">
              <a:lnSpc>
                <a:spcPct val="100000"/>
              </a:lnSpc>
              <a:spcBef>
                <a:spcPts val="800"/>
              </a:spcBef>
              <a:buChar char="▪"/>
              <a:tabLst>
                <a:tab pos="489584" algn="l"/>
              </a:tabLst>
            </a:pPr>
            <a:r>
              <a:rPr dirty="0" sz="2000" spc="-5" b="1">
                <a:latin typeface="Malgun Gothic"/>
                <a:cs typeface="Malgun Gothic"/>
              </a:rPr>
              <a:t>확보한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소비자에게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쉽게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이해될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488950" indent="-222885">
              <a:lnSpc>
                <a:spcPct val="100000"/>
              </a:lnSpc>
              <a:spcBef>
                <a:spcPts val="800"/>
              </a:spcBef>
              <a:buChar char="▪"/>
              <a:tabLst>
                <a:tab pos="489584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정보를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잘못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선택하여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경비가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경미할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488950" indent="-222885">
              <a:lnSpc>
                <a:spcPct val="100000"/>
              </a:lnSpc>
              <a:spcBef>
                <a:spcPts val="795"/>
              </a:spcBef>
              <a:buChar char="▪"/>
              <a:tabLst>
                <a:tab pos="489584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소비자의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기호가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점차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다양해질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80">
                <a:latin typeface="Cambria"/>
                <a:cs typeface="Cambria"/>
              </a:rPr>
              <a:t>▸</a:t>
            </a:r>
            <a:r>
              <a:rPr dirty="0" sz="2000" spc="80" b="1">
                <a:latin typeface="Malgun Gothic"/>
                <a:cs typeface="Malgun Gothic"/>
              </a:rPr>
              <a:t>국가가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공공생산과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자원배분의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방식으로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시장에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개입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의료서비스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327342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가격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시장기능을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통한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획득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전문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감정인에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의뢰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전망</a:t>
            </a:r>
            <a:endParaRPr sz="2000">
              <a:latin typeface="Malgun Gothic"/>
              <a:cs typeface="Malgun Gothic"/>
            </a:endParaRPr>
          </a:p>
          <a:p>
            <a:pPr lvl="1" marL="452120" marR="5080" indent="-313690">
              <a:lnSpc>
                <a:spcPts val="3200"/>
              </a:lnSpc>
              <a:spcBef>
                <a:spcPts val="229"/>
              </a:spcBef>
              <a:buChar char="-"/>
              <a:tabLst>
                <a:tab pos="452120" algn="l"/>
                <a:tab pos="452755" algn="l"/>
                <a:tab pos="2128520" algn="l"/>
                <a:tab pos="3043555" algn="l"/>
                <a:tab pos="3957954" algn="l"/>
                <a:tab pos="4874895" algn="l"/>
                <a:tab pos="5789295" algn="l"/>
                <a:tab pos="6450330" algn="l"/>
                <a:tab pos="7365365" algn="l"/>
                <a:tab pos="8281670" algn="l"/>
              </a:tabLst>
            </a:pPr>
            <a:r>
              <a:rPr dirty="0" sz="2000" b="1">
                <a:latin typeface="Malgun Gothic"/>
                <a:cs typeface="Malgun Gothic"/>
              </a:rPr>
              <a:t>생</a:t>
            </a:r>
            <a:r>
              <a:rPr dirty="0" sz="2000" spc="-15" b="1">
                <a:latin typeface="Malgun Gothic"/>
                <a:cs typeface="Malgun Gothic"/>
              </a:rPr>
              <a:t>애</a:t>
            </a:r>
            <a:r>
              <a:rPr dirty="0" sz="2000" b="1">
                <a:latin typeface="Malgun Gothic"/>
                <a:cs typeface="Malgun Gothic"/>
              </a:rPr>
              <a:t>주기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</a:t>
            </a:r>
            <a:r>
              <a:rPr dirty="0" sz="2000" spc="-15" b="1">
                <a:latin typeface="Malgun Gothic"/>
                <a:cs typeface="Malgun Gothic"/>
              </a:rPr>
              <a:t>용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극대화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방안도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미</a:t>
            </a:r>
            <a:r>
              <a:rPr dirty="0" sz="2000" b="1">
                <a:latin typeface="Malgun Gothic"/>
                <a:cs typeface="Malgun Gothic"/>
              </a:rPr>
              <a:t>래에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관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완전한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정보가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전  </a:t>
            </a:r>
            <a:r>
              <a:rPr dirty="0" sz="2000" spc="-5" b="1">
                <a:latin typeface="Malgun Gothic"/>
                <a:cs typeface="Malgun Gothic"/>
              </a:rPr>
              <a:t>제되어야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565"/>
              </a:spcBef>
              <a:buChar char="-"/>
              <a:tabLst>
                <a:tab pos="425450" algn="l"/>
              </a:tabLst>
            </a:pPr>
            <a:r>
              <a:rPr dirty="0" sz="2000" spc="70" b="1">
                <a:latin typeface="Malgun Gothic"/>
                <a:cs typeface="Malgun Gothic"/>
              </a:rPr>
              <a:t>Fisher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모형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생애소득의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시기적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배분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790"/>
              </a:spcBef>
            </a:pPr>
            <a:r>
              <a:rPr dirty="0" sz="2000" spc="155">
                <a:latin typeface="Cambria"/>
                <a:cs typeface="Cambria"/>
              </a:rPr>
              <a:t>▸</a:t>
            </a:r>
            <a:r>
              <a:rPr dirty="0" sz="2000" spc="155" b="1">
                <a:latin typeface="Malgun Gothic"/>
                <a:cs typeface="Malgun Gothic"/>
              </a:rPr>
              <a:t>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정의된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효용함수,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합리적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행동,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확실성,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완전경쟁시장을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2573" y="1208885"/>
            <a:ext cx="487616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80"/>
              <a:t> </a:t>
            </a:r>
            <a:r>
              <a:rPr dirty="0" spc="70"/>
              <a:t>4-5&gt;</a:t>
            </a:r>
            <a:r>
              <a:rPr dirty="0" spc="285"/>
              <a:t> </a:t>
            </a:r>
            <a:r>
              <a:rPr dirty="0" spc="40"/>
              <a:t>Fisher모형에서</a:t>
            </a:r>
            <a:r>
              <a:rPr dirty="0" spc="280"/>
              <a:t> </a:t>
            </a:r>
            <a:r>
              <a:rPr dirty="0"/>
              <a:t>합리적</a:t>
            </a:r>
            <a:r>
              <a:rPr dirty="0" spc="280"/>
              <a:t> </a:t>
            </a:r>
            <a:r>
              <a:rPr dirty="0" spc="-10"/>
              <a:t>선택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7255" y="2071522"/>
            <a:ext cx="5944783" cy="40821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317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확실성의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세계에서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복지국가의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역할이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매우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제한적인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이유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buChar char="-"/>
              <a:tabLst>
                <a:tab pos="425450" algn="l"/>
              </a:tabLst>
            </a:pPr>
            <a:r>
              <a:rPr dirty="0" sz="2000" spc="5" b="1">
                <a:latin typeface="Malgun Gothic"/>
                <a:cs typeface="Malgun Gothic"/>
              </a:rPr>
              <a:t>(예측할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없는)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위험이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않음으로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보험이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불필요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lvl="1" marL="440055" marR="5080" indent="-301625">
              <a:lnSpc>
                <a:spcPct val="133400"/>
              </a:lnSpc>
              <a:buChar char="-"/>
              <a:tabLst>
                <a:tab pos="440055" algn="l"/>
                <a:tab pos="440690" algn="l"/>
                <a:tab pos="1343025" algn="l"/>
                <a:tab pos="2498090" algn="l"/>
                <a:tab pos="3909695" algn="l"/>
                <a:tab pos="5064760" algn="l"/>
                <a:tab pos="6476365" algn="l"/>
                <a:tab pos="7124700" algn="l"/>
                <a:tab pos="8027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발적인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민간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도를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용하여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생애</a:t>
            </a:r>
            <a:r>
              <a:rPr dirty="0" sz="2000" spc="-15" b="1">
                <a:latin typeface="Malgun Gothic"/>
                <a:cs typeface="Malgun Gothic"/>
              </a:rPr>
              <a:t>주</a:t>
            </a:r>
            <a:r>
              <a:rPr dirty="0" sz="2000" b="1">
                <a:latin typeface="Malgun Gothic"/>
                <a:cs typeface="Malgun Gothic"/>
              </a:rPr>
              <a:t>기에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걸</a:t>
            </a:r>
            <a:r>
              <a:rPr dirty="0" sz="2000" b="1">
                <a:latin typeface="Malgun Gothic"/>
                <a:cs typeface="Malgun Gothic"/>
              </a:rPr>
              <a:t>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안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소비  </a:t>
            </a:r>
            <a:r>
              <a:rPr dirty="0" sz="2000" spc="-5" b="1">
                <a:latin typeface="Malgun Gothic"/>
                <a:cs typeface="Malgun Gothic"/>
              </a:rPr>
              <a:t>수준을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자발적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저축으로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노후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준비,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교육비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차입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lvl="1" marL="470534" indent="-332740">
              <a:lnSpc>
                <a:spcPct val="100000"/>
              </a:lnSpc>
              <a:buChar char="-"/>
              <a:tabLst>
                <a:tab pos="470534" algn="l"/>
                <a:tab pos="471170" algn="l"/>
                <a:tab pos="1657985" algn="l"/>
                <a:tab pos="2592705" algn="l"/>
                <a:tab pos="3526154" algn="l"/>
                <a:tab pos="4460875" algn="l"/>
                <a:tab pos="5140960" algn="l"/>
                <a:tab pos="5821680" algn="l"/>
                <a:tab pos="6078855" algn="l"/>
                <a:tab pos="7520305" algn="l"/>
              </a:tabLst>
            </a:pPr>
            <a:r>
              <a:rPr dirty="0" sz="2000" b="1">
                <a:latin typeface="Malgun Gothic"/>
                <a:cs typeface="Malgun Gothic"/>
              </a:rPr>
              <a:t>일시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빈곤은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차</a:t>
            </a:r>
            <a:r>
              <a:rPr dirty="0" sz="2000" spc="-15" b="1">
                <a:latin typeface="Malgun Gothic"/>
                <a:cs typeface="Malgun Gothic"/>
              </a:rPr>
              <a:t>용</a:t>
            </a:r>
            <a:r>
              <a:rPr dirty="0" sz="2000" b="1">
                <a:latin typeface="Malgun Gothic"/>
                <a:cs typeface="Malgun Gothic"/>
              </a:rPr>
              <a:t>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저축을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통해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해</a:t>
            </a:r>
            <a:r>
              <a:rPr dirty="0" sz="2000" b="1">
                <a:latin typeface="Malgun Gothic"/>
                <a:cs typeface="Malgun Gothic"/>
              </a:rPr>
              <a:t>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노</a:t>
            </a:r>
            <a:r>
              <a:rPr dirty="0" sz="2000" b="1">
                <a:latin typeface="Malgun Gothic"/>
                <a:cs typeface="Malgun Gothic"/>
              </a:rPr>
              <a:t>후시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빈</a:t>
            </a:r>
            <a:r>
              <a:rPr dirty="0" sz="2000" b="1">
                <a:latin typeface="Malgun Gothic"/>
                <a:cs typeface="Malgun Gothic"/>
              </a:rPr>
              <a:t>곤선이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4445" y="4346625"/>
            <a:ext cx="4013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5000" sz="3000" spc="97" b="1">
                <a:latin typeface="Malgun Gothic"/>
                <a:cs typeface="Malgun Gothic"/>
              </a:rPr>
              <a:t>C</a:t>
            </a:r>
            <a:r>
              <a:rPr dirty="0" baseline="-48888" sz="1875" spc="97" b="1">
                <a:latin typeface="Malgun Gothic"/>
                <a:cs typeface="Malgun Gothic"/>
              </a:rPr>
              <a:t>2</a:t>
            </a:r>
            <a:r>
              <a:rPr dirty="0" sz="1250" spc="65" b="1">
                <a:latin typeface="Malgun Gothic"/>
                <a:cs typeface="Malgun Gothic"/>
              </a:rPr>
              <a:t>‘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0457" y="4457817"/>
            <a:ext cx="714120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algun Gothic"/>
                <a:cs typeface="Malgun Gothic"/>
              </a:rPr>
              <a:t>이고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최초로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a점에서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생애소비의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시기적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선택한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2990" y="5168226"/>
            <a:ext cx="842264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 marR="5080" indent="-297180">
              <a:lnSpc>
                <a:spcPct val="133400"/>
              </a:lnSpc>
              <a:spcBef>
                <a:spcPts val="100"/>
              </a:spcBef>
              <a:tabLst>
                <a:tab pos="313690" algn="l"/>
                <a:tab pos="1723389" algn="l"/>
                <a:tab pos="2626360" algn="l"/>
                <a:tab pos="3528695" algn="l"/>
                <a:tab pos="4685665" algn="l"/>
                <a:tab pos="5841365" algn="l"/>
                <a:tab pos="6998334" algn="l"/>
                <a:tab pos="76466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	</a:t>
            </a:r>
            <a:r>
              <a:rPr dirty="0" sz="2000" spc="-15" b="1">
                <a:latin typeface="Malgun Gothic"/>
                <a:cs typeface="Malgun Gothic"/>
              </a:rPr>
              <a:t>복</a:t>
            </a:r>
            <a:r>
              <a:rPr dirty="0" sz="2000" b="1">
                <a:latin typeface="Malgun Gothic"/>
                <a:cs typeface="Malgun Gothic"/>
              </a:rPr>
              <a:t>지국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유</a:t>
            </a:r>
            <a:r>
              <a:rPr dirty="0" sz="2000" spc="-15" b="1">
                <a:latin typeface="Malgun Gothic"/>
                <a:cs typeface="Malgun Gothic"/>
              </a:rPr>
              <a:t>일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역</a:t>
            </a:r>
            <a:r>
              <a:rPr dirty="0" sz="2000" spc="-15" b="1">
                <a:latin typeface="Malgun Gothic"/>
                <a:cs typeface="Malgun Gothic"/>
              </a:rPr>
              <a:t>할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일</a:t>
            </a:r>
            <a:r>
              <a:rPr dirty="0" sz="2000" spc="-15" b="1">
                <a:latin typeface="Malgun Gothic"/>
                <a:cs typeface="Malgun Gothic"/>
              </a:rPr>
              <a:t>생</a:t>
            </a:r>
            <a:r>
              <a:rPr dirty="0" sz="2000" b="1">
                <a:latin typeface="Malgun Gothic"/>
                <a:cs typeface="Malgun Gothic"/>
              </a:rPr>
              <a:t>동안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난하게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살아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사람들  </a:t>
            </a:r>
            <a:r>
              <a:rPr dirty="0" sz="2000" spc="10" b="1">
                <a:latin typeface="Malgun Gothic"/>
                <a:cs typeface="Malgun Gothic"/>
              </a:rPr>
              <a:t>(f점)의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빈곤구제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잔여적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10" b="1">
                <a:solidFill>
                  <a:srgbClr val="0000FF"/>
                </a:solidFill>
                <a:latin typeface="Malgun Gothic"/>
                <a:cs typeface="Malgun Gothic"/>
              </a:rPr>
              <a:t>복지국가(residual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30" b="1">
                <a:solidFill>
                  <a:srgbClr val="0000FF"/>
                </a:solidFill>
                <a:latin typeface="Malgun Gothic"/>
                <a:cs typeface="Malgun Gothic"/>
              </a:rPr>
              <a:t>welfare</a:t>
            </a:r>
            <a:r>
              <a:rPr dirty="0" sz="2000" spc="28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tate)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7735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3.</a:t>
            </a:r>
            <a:r>
              <a:rPr dirty="0" spc="250"/>
              <a:t> </a:t>
            </a:r>
            <a:r>
              <a:rPr dirty="0"/>
              <a:t>정책적</a:t>
            </a:r>
            <a:r>
              <a:rPr dirty="0" spc="250"/>
              <a:t> </a:t>
            </a:r>
            <a:r>
              <a:rPr dirty="0" spc="-10"/>
              <a:t>함의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0" rIns="0" bIns="0" rtlCol="0" vert="horz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900"/>
              </a:spcBef>
              <a:buChar char="-"/>
              <a:tabLst>
                <a:tab pos="299085" algn="l"/>
              </a:tabLst>
            </a:pPr>
            <a:r>
              <a:rPr dirty="0" spc="-5"/>
              <a:t>공공부문의</a:t>
            </a:r>
            <a:r>
              <a:rPr dirty="0" spc="280"/>
              <a:t> </a:t>
            </a:r>
            <a:r>
              <a:rPr dirty="0" spc="-5"/>
              <a:t>규모에</a:t>
            </a:r>
            <a:r>
              <a:rPr dirty="0" spc="285"/>
              <a:t> </a:t>
            </a:r>
            <a:r>
              <a:rPr dirty="0"/>
              <a:t>대해</a:t>
            </a:r>
            <a:r>
              <a:rPr dirty="0" spc="285"/>
              <a:t> </a:t>
            </a:r>
            <a:r>
              <a:rPr dirty="0" spc="-5"/>
              <a:t>분명한</a:t>
            </a:r>
            <a:r>
              <a:rPr dirty="0" spc="285"/>
              <a:t> </a:t>
            </a:r>
            <a:r>
              <a:rPr dirty="0" spc="-5"/>
              <a:t>입장을</a:t>
            </a:r>
            <a:r>
              <a:rPr dirty="0" spc="285"/>
              <a:t> </a:t>
            </a:r>
            <a:r>
              <a:rPr dirty="0" spc="-5"/>
              <a:t>정리하는</a:t>
            </a:r>
            <a:r>
              <a:rPr dirty="0" spc="285"/>
              <a:t> </a:t>
            </a:r>
            <a:r>
              <a:rPr dirty="0"/>
              <a:t>것이</a:t>
            </a:r>
            <a:r>
              <a:rPr dirty="0" spc="285"/>
              <a:t> </a:t>
            </a:r>
            <a:r>
              <a:rPr dirty="0"/>
              <a:t>중요</a:t>
            </a: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pc="80" b="0">
                <a:latin typeface="Cambria"/>
                <a:cs typeface="Cambria"/>
              </a:rPr>
              <a:t>▸</a:t>
            </a:r>
            <a:r>
              <a:rPr dirty="0" spc="80"/>
              <a:t>시장이</a:t>
            </a:r>
            <a:r>
              <a:rPr dirty="0" spc="275"/>
              <a:t> </a:t>
            </a:r>
            <a:r>
              <a:rPr dirty="0" spc="-5"/>
              <a:t>자체적으로</a:t>
            </a:r>
            <a:r>
              <a:rPr dirty="0" spc="280"/>
              <a:t> </a:t>
            </a:r>
            <a:r>
              <a:rPr dirty="0" spc="-5"/>
              <a:t>시장실패를</a:t>
            </a:r>
            <a:r>
              <a:rPr dirty="0" spc="280"/>
              <a:t> </a:t>
            </a:r>
            <a:r>
              <a:rPr dirty="0"/>
              <a:t>보정할</a:t>
            </a:r>
            <a:r>
              <a:rPr dirty="0" spc="280"/>
              <a:t> </a:t>
            </a:r>
            <a:r>
              <a:rPr dirty="0"/>
              <a:t>수</a:t>
            </a:r>
            <a:r>
              <a:rPr dirty="0" spc="280"/>
              <a:t> </a:t>
            </a:r>
            <a:r>
              <a:rPr dirty="0" spc="20"/>
              <a:t>있는가?</a:t>
            </a:r>
          </a:p>
          <a:p>
            <a:pPr marL="266700">
              <a:lnSpc>
                <a:spcPct val="100000"/>
              </a:lnSpc>
              <a:spcBef>
                <a:spcPts val="795"/>
              </a:spcBef>
            </a:pPr>
            <a:r>
              <a:rPr dirty="0" spc="80" b="0">
                <a:latin typeface="Cambria"/>
                <a:cs typeface="Cambria"/>
              </a:rPr>
              <a:t>▸</a:t>
            </a:r>
            <a:r>
              <a:rPr dirty="0" spc="80"/>
              <a:t>어떠한</a:t>
            </a:r>
            <a:r>
              <a:rPr dirty="0" spc="280"/>
              <a:t> </a:t>
            </a:r>
            <a:r>
              <a:rPr dirty="0" spc="-5"/>
              <a:t>형태의</a:t>
            </a:r>
            <a:r>
              <a:rPr dirty="0" spc="285"/>
              <a:t> </a:t>
            </a:r>
            <a:r>
              <a:rPr dirty="0" spc="-5"/>
              <a:t>국가개입이</a:t>
            </a:r>
            <a:r>
              <a:rPr dirty="0" spc="285"/>
              <a:t> </a:t>
            </a:r>
            <a:r>
              <a:rPr dirty="0" spc="-5"/>
              <a:t>효율성의</a:t>
            </a:r>
            <a:r>
              <a:rPr dirty="0" spc="285"/>
              <a:t> </a:t>
            </a:r>
            <a:r>
              <a:rPr dirty="0" spc="-5"/>
              <a:t>개선에</a:t>
            </a:r>
            <a:r>
              <a:rPr dirty="0" spc="285"/>
              <a:t> </a:t>
            </a:r>
            <a:r>
              <a:rPr dirty="0"/>
              <a:t>기여할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85"/>
              <a:t> </a:t>
            </a:r>
            <a:r>
              <a:rPr dirty="0" spc="20"/>
              <a:t>있는가?</a:t>
            </a: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pc="50" b="0">
                <a:latin typeface="Cambria"/>
                <a:cs typeface="Cambria"/>
              </a:rPr>
              <a:t>▸</a:t>
            </a:r>
            <a:r>
              <a:rPr dirty="0" spc="50"/>
              <a:t>국가개입의</a:t>
            </a:r>
            <a:r>
              <a:rPr dirty="0" spc="275"/>
              <a:t> </a:t>
            </a:r>
            <a:r>
              <a:rPr dirty="0"/>
              <a:t>비용이</a:t>
            </a:r>
            <a:r>
              <a:rPr dirty="0" spc="280"/>
              <a:t> </a:t>
            </a:r>
            <a:r>
              <a:rPr dirty="0" spc="-5"/>
              <a:t>효과적으로</a:t>
            </a:r>
            <a:r>
              <a:rPr dirty="0" spc="280"/>
              <a:t> </a:t>
            </a:r>
            <a:r>
              <a:rPr dirty="0" spc="-5"/>
              <a:t>이루어질</a:t>
            </a:r>
            <a:r>
              <a:rPr dirty="0" spc="280"/>
              <a:t> </a:t>
            </a:r>
            <a:r>
              <a:rPr dirty="0"/>
              <a:t>수</a:t>
            </a:r>
            <a:r>
              <a:rPr dirty="0" spc="280"/>
              <a:t> </a:t>
            </a:r>
            <a:r>
              <a:rPr dirty="0" spc="20"/>
              <a:t>있는가?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/>
          </a:p>
          <a:p>
            <a:pPr algn="just" marL="309245" marR="5080" indent="-297180">
              <a:lnSpc>
                <a:spcPct val="133400"/>
              </a:lnSpc>
              <a:buChar char="-"/>
              <a:tabLst>
                <a:tab pos="305435" algn="l"/>
              </a:tabLst>
            </a:pPr>
            <a:r>
              <a:rPr dirty="0" spc="-5"/>
              <a:t>표준가정이</a:t>
            </a:r>
            <a:r>
              <a:rPr dirty="0" spc="325"/>
              <a:t> </a:t>
            </a:r>
            <a:r>
              <a:rPr dirty="0" spc="-5"/>
              <a:t>심각하게</a:t>
            </a:r>
            <a:r>
              <a:rPr dirty="0" spc="320"/>
              <a:t> </a:t>
            </a:r>
            <a:r>
              <a:rPr dirty="0" spc="-5"/>
              <a:t>위배되어</a:t>
            </a:r>
            <a:r>
              <a:rPr dirty="0" spc="330"/>
              <a:t> </a:t>
            </a:r>
            <a:r>
              <a:rPr dirty="0" spc="-5"/>
              <a:t>국가개입이</a:t>
            </a:r>
            <a:r>
              <a:rPr dirty="0" spc="320"/>
              <a:t> </a:t>
            </a:r>
            <a:r>
              <a:rPr dirty="0"/>
              <a:t>필요한</a:t>
            </a:r>
            <a:r>
              <a:rPr dirty="0" spc="320"/>
              <a:t> </a:t>
            </a:r>
            <a:r>
              <a:rPr dirty="0" spc="10"/>
              <a:t>경우에도,</a:t>
            </a:r>
            <a:r>
              <a:rPr dirty="0" spc="325"/>
              <a:t> </a:t>
            </a:r>
            <a:r>
              <a:rPr dirty="0"/>
              <a:t>그를</a:t>
            </a:r>
            <a:r>
              <a:rPr dirty="0" spc="330"/>
              <a:t> </a:t>
            </a:r>
            <a:r>
              <a:rPr dirty="0"/>
              <a:t>통 </a:t>
            </a:r>
            <a:r>
              <a:rPr dirty="0" spc="-690"/>
              <a:t> </a:t>
            </a:r>
            <a:r>
              <a:rPr dirty="0"/>
              <a:t>해 </a:t>
            </a:r>
            <a:r>
              <a:rPr dirty="0" spc="-5"/>
              <a:t>불완전한 시장의 결과를 개선할 </a:t>
            </a:r>
            <a:r>
              <a:rPr dirty="0"/>
              <a:t>수 </a:t>
            </a:r>
            <a:r>
              <a:rPr dirty="0" spc="-10"/>
              <a:t>있을 </a:t>
            </a:r>
            <a:r>
              <a:rPr dirty="0" spc="-5"/>
              <a:t>것으로 판단될 경우에만 </a:t>
            </a:r>
            <a:r>
              <a:rPr dirty="0"/>
              <a:t> </a:t>
            </a:r>
            <a:r>
              <a:rPr dirty="0" spc="-5"/>
              <a:t>국가개입이</a:t>
            </a:r>
            <a:r>
              <a:rPr dirty="0" spc="285"/>
              <a:t> </a:t>
            </a:r>
            <a:r>
              <a:rPr dirty="0" spc="-5"/>
              <a:t>정당성을</a:t>
            </a:r>
            <a:r>
              <a:rPr dirty="0" spc="285"/>
              <a:t> </a:t>
            </a:r>
            <a:r>
              <a:rPr dirty="0" spc="-10"/>
              <a:t>인정</a:t>
            </a:r>
            <a:r>
              <a:rPr dirty="0" spc="290"/>
              <a:t> </a:t>
            </a:r>
            <a:r>
              <a:rPr dirty="0" spc="140"/>
              <a:t>:</a:t>
            </a:r>
            <a:r>
              <a:rPr dirty="0" spc="290"/>
              <a:t> </a:t>
            </a:r>
            <a:r>
              <a:rPr dirty="0" spc="10"/>
              <a:t>정부실패,</a:t>
            </a:r>
            <a:r>
              <a:rPr dirty="0" spc="285"/>
              <a:t> </a:t>
            </a:r>
            <a:r>
              <a:rPr dirty="0" spc="-5"/>
              <a:t>국가개입의</a:t>
            </a:r>
            <a:r>
              <a:rPr dirty="0" spc="290"/>
              <a:t> </a:t>
            </a:r>
            <a:r>
              <a:rPr dirty="0" spc="-5"/>
              <a:t>비용효과성</a:t>
            </a:r>
            <a:r>
              <a:rPr dirty="0" spc="285"/>
              <a:t> </a:t>
            </a:r>
            <a:r>
              <a:rPr dirty="0"/>
              <a:t>문제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/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pc="-5"/>
              <a:t>공공부문의</a:t>
            </a:r>
            <a:r>
              <a:rPr dirty="0" spc="275"/>
              <a:t> </a:t>
            </a:r>
            <a:r>
              <a:rPr dirty="0" spc="-10"/>
              <a:t>규모</a:t>
            </a:r>
            <a:r>
              <a:rPr dirty="0" spc="275"/>
              <a:t> </a:t>
            </a:r>
            <a:r>
              <a:rPr dirty="0"/>
              <a:t>또한</a:t>
            </a:r>
            <a:r>
              <a:rPr dirty="0" spc="280"/>
              <a:t> </a:t>
            </a:r>
            <a:r>
              <a:rPr dirty="0" spc="-5"/>
              <a:t>수요에</a:t>
            </a:r>
            <a:r>
              <a:rPr dirty="0" spc="275"/>
              <a:t> </a:t>
            </a:r>
            <a:r>
              <a:rPr dirty="0"/>
              <a:t>의존</a:t>
            </a: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pc="50" b="0">
                <a:latin typeface="Cambria"/>
                <a:cs typeface="Cambria"/>
              </a:rPr>
              <a:t>▸</a:t>
            </a:r>
            <a:r>
              <a:rPr dirty="0" spc="50"/>
              <a:t>공공부문의</a:t>
            </a:r>
            <a:r>
              <a:rPr dirty="0" spc="280"/>
              <a:t> </a:t>
            </a:r>
            <a:r>
              <a:rPr dirty="0"/>
              <a:t>크기는</a:t>
            </a:r>
            <a:r>
              <a:rPr dirty="0" spc="280"/>
              <a:t> </a:t>
            </a:r>
            <a:r>
              <a:rPr dirty="0" spc="-5"/>
              <a:t>경제학적이면서</a:t>
            </a:r>
            <a:r>
              <a:rPr dirty="0" spc="280"/>
              <a:t> </a:t>
            </a:r>
            <a:r>
              <a:rPr dirty="0" spc="-5"/>
              <a:t>정치경제적</a:t>
            </a:r>
            <a:r>
              <a:rPr dirty="0" spc="285"/>
              <a:t> </a:t>
            </a:r>
            <a:r>
              <a:rPr dirty="0"/>
              <a:t>차원의</a:t>
            </a:r>
            <a:r>
              <a:rPr dirty="0" spc="280"/>
              <a:t> </a:t>
            </a:r>
            <a:r>
              <a:rPr dirty="0" spc="-10"/>
              <a:t>문제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4232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0"/>
              <a:t>제4절.</a:t>
            </a:r>
            <a:r>
              <a:rPr dirty="0" spc="260"/>
              <a:t> </a:t>
            </a:r>
            <a:r>
              <a:rPr dirty="0" spc="-5"/>
              <a:t>사회정의를</a:t>
            </a:r>
            <a:r>
              <a:rPr dirty="0" spc="265"/>
              <a:t> </a:t>
            </a:r>
            <a:r>
              <a:rPr dirty="0"/>
              <a:t>위한</a:t>
            </a:r>
            <a:r>
              <a:rPr dirty="0" spc="265"/>
              <a:t> </a:t>
            </a:r>
            <a:r>
              <a:rPr dirty="0"/>
              <a:t>개입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3296285" cy="114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재분배가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일어나는가?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30" b="1">
                <a:latin typeface="Malgun Gothic"/>
                <a:cs typeface="Malgun Gothic"/>
              </a:rPr>
              <a:t>1)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강제적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3546044"/>
            <a:ext cx="6957059" cy="124269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정치가의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득표극대화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Downs(1957),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40" b="1">
                <a:latin typeface="Malgun Gothic"/>
                <a:cs typeface="Malgun Gothic"/>
              </a:rPr>
              <a:t>Tullock(1970)</a:t>
            </a:r>
            <a:endParaRPr sz="2000">
              <a:latin typeface="Malgun Gothic"/>
              <a:cs typeface="Malgun Gothic"/>
            </a:endParaRPr>
          </a:p>
          <a:p>
            <a:pPr marL="459740" marR="5080" indent="-321310">
              <a:lnSpc>
                <a:spcPts val="3200"/>
              </a:lnSpc>
              <a:spcBef>
                <a:spcPts val="90"/>
              </a:spcBef>
              <a:tabLst>
                <a:tab pos="459740" algn="l"/>
                <a:tab pos="1891030" algn="l"/>
                <a:tab pos="3320415" algn="l"/>
                <a:tab pos="3990340" algn="l"/>
                <a:tab pos="491299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저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득자가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대적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많기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때</a:t>
            </a:r>
            <a:r>
              <a:rPr dirty="0" sz="2000" b="1">
                <a:latin typeface="Malgun Gothic"/>
                <a:cs typeface="Malgun Gothic"/>
              </a:rPr>
              <a:t>문에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재분</a:t>
            </a: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정책을  </a:t>
            </a:r>
            <a:r>
              <a:rPr dirty="0" sz="2000" spc="-5" b="1">
                <a:latin typeface="Malgun Gothic"/>
                <a:cs typeface="Malgun Gothic"/>
              </a:rPr>
              <a:t>소득층의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지지표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획득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9201" y="4051129"/>
            <a:ext cx="14554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745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표</a:t>
            </a:r>
            <a:r>
              <a:rPr dirty="0" sz="2000" b="1">
                <a:latin typeface="Malgun Gothic"/>
                <a:cs typeface="Malgun Gothic"/>
              </a:rPr>
              <a:t>방하여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저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430260" cy="246126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평등사회를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방해하는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압력요인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높은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조세로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인한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상실에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두려움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부자가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상대적으로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많은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권력을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갖는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사회구조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가난한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사람도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부자가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희망에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정도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불평등한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상태를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용인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40" b="1">
                <a:latin typeface="Malgun Gothic"/>
                <a:cs typeface="Malgun Gothic"/>
              </a:rPr>
              <a:t>Tullock(1970)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990" y="3546044"/>
            <a:ext cx="5792470" cy="1242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 marR="5080" indent="-297180">
              <a:lnSpc>
                <a:spcPct val="132900"/>
              </a:lnSpc>
              <a:spcBef>
                <a:spcPts val="100"/>
              </a:spcBef>
              <a:tabLst>
                <a:tab pos="345440" algn="l"/>
                <a:tab pos="1278890" algn="l"/>
                <a:tab pos="2213610" algn="l"/>
                <a:tab pos="3148330" algn="l"/>
                <a:tab pos="4083050" algn="l"/>
                <a:tab pos="527050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	</a:t>
            </a:r>
            <a:r>
              <a:rPr dirty="0" sz="2000" spc="-15" b="1">
                <a:latin typeface="Malgun Gothic"/>
                <a:cs typeface="Malgun Gothic"/>
              </a:rPr>
              <a:t>과</a:t>
            </a:r>
            <a:r>
              <a:rPr dirty="0" sz="2000" b="1">
                <a:latin typeface="Malgun Gothic"/>
                <a:cs typeface="Malgun Gothic"/>
              </a:rPr>
              <a:t>반수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투표제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하에서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</a:t>
            </a:r>
            <a:r>
              <a:rPr dirty="0" sz="2000" spc="-15" b="1">
                <a:latin typeface="Malgun Gothic"/>
                <a:cs typeface="Malgun Gothic"/>
              </a:rPr>
              <a:t>당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저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득층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뿐만  </a:t>
            </a:r>
            <a:r>
              <a:rPr dirty="0" sz="2000" spc="-5" b="1">
                <a:latin typeface="Malgun Gothic"/>
                <a:cs typeface="Malgun Gothic"/>
              </a:rPr>
              <a:t>지지집단으로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포섭해야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필요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dirty="0" sz="2000" spc="85" b="1">
                <a:solidFill>
                  <a:srgbClr val="0000FF"/>
                </a:solidFill>
                <a:latin typeface="Malgun Gothic"/>
                <a:cs typeface="Malgun Gothic"/>
              </a:rPr>
              <a:t>*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중위투표자가설(median</a:t>
            </a:r>
            <a:r>
              <a:rPr dirty="0" sz="2000" spc="2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15" b="1">
                <a:solidFill>
                  <a:srgbClr val="0000FF"/>
                </a:solidFill>
                <a:latin typeface="Malgun Gothic"/>
                <a:cs typeface="Malgun Gothic"/>
              </a:rPr>
              <a:t>voter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0000FF"/>
                </a:solidFill>
                <a:latin typeface="Malgun Gothic"/>
                <a:cs typeface="Malgun Gothic"/>
              </a:rPr>
              <a:t>theorem)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3146" y="3645965"/>
            <a:ext cx="24828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551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아</a:t>
            </a:r>
            <a:r>
              <a:rPr dirty="0" sz="2000" b="1">
                <a:latin typeface="Malgun Gothic"/>
                <a:cs typeface="Malgun Gothic"/>
              </a:rPr>
              <a:t>니라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중간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득층도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2990" y="5168226"/>
            <a:ext cx="842264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315" marR="5080" indent="-348615">
              <a:lnSpc>
                <a:spcPct val="133400"/>
              </a:lnSpc>
              <a:spcBef>
                <a:spcPts val="100"/>
              </a:spcBef>
              <a:tabLst>
                <a:tab pos="360680" algn="l"/>
                <a:tab pos="1818005" algn="l"/>
                <a:tab pos="3274695" algn="l"/>
                <a:tab pos="4733290" algn="l"/>
                <a:tab pos="5428615" algn="l"/>
                <a:tab pos="637857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공</a:t>
            </a:r>
            <a:r>
              <a:rPr dirty="0" sz="2000" b="1">
                <a:latin typeface="Malgun Gothic"/>
                <a:cs typeface="Malgun Gothic"/>
              </a:rPr>
              <a:t>공재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배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비율이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저소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층에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비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오</a:t>
            </a:r>
            <a:r>
              <a:rPr dirty="0" sz="2000" spc="-15" b="1">
                <a:latin typeface="Malgun Gothic"/>
                <a:cs typeface="Malgun Gothic"/>
              </a:rPr>
              <a:t>히</a:t>
            </a:r>
            <a:r>
              <a:rPr dirty="0" sz="2000" b="1">
                <a:latin typeface="Malgun Gothic"/>
                <a:cs typeface="Malgun Gothic"/>
              </a:rPr>
              <a:t>려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-15" b="1">
                <a:latin typeface="Malgun Gothic"/>
                <a:cs typeface="Malgun Gothic"/>
              </a:rPr>
              <a:t>간</a:t>
            </a:r>
            <a:r>
              <a:rPr dirty="0" sz="2000" b="1">
                <a:latin typeface="Malgun Gothic"/>
                <a:cs typeface="Malgun Gothic"/>
              </a:rPr>
              <a:t>소득</a:t>
            </a:r>
            <a:r>
              <a:rPr dirty="0" sz="2000" spc="-15" b="1">
                <a:latin typeface="Malgun Gothic"/>
                <a:cs typeface="Malgun Gothic"/>
              </a:rPr>
              <a:t>계</a:t>
            </a:r>
            <a:r>
              <a:rPr dirty="0" sz="2000" b="1">
                <a:latin typeface="Malgun Gothic"/>
                <a:cs typeface="Malgun Gothic"/>
              </a:rPr>
              <a:t>층에게  </a:t>
            </a:r>
            <a:r>
              <a:rPr dirty="0" sz="2000" spc="-10" b="1">
                <a:latin typeface="Malgun Gothic"/>
                <a:cs typeface="Malgun Gothic"/>
              </a:rPr>
              <a:t>높게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책정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6908165" cy="236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2)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자발적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45" b="1">
                <a:latin typeface="Malgun Gothic"/>
                <a:cs typeface="Malgun Gothic"/>
              </a:rPr>
              <a:t>Hochman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60" b="1">
                <a:latin typeface="Malgun Gothic"/>
                <a:cs typeface="Malgun Gothic"/>
              </a:rPr>
              <a:t>and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Rodgers(1969):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z="2000" spc="-5" b="1">
                <a:latin typeface="Malgun Gothic"/>
                <a:cs typeface="Malgun Gothic"/>
              </a:rPr>
              <a:t>이타적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동기에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기초한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가능성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복지는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타인과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상호의존적이다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545">
                <a:latin typeface="Cambria"/>
                <a:cs typeface="Cambria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외부성이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존재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23792" y="4491653"/>
            <a:ext cx="443357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477895" algn="l"/>
              </a:tabLst>
            </a:pP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5947" sz="2550" spc="-2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2314" sz="36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95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baseline="2314" sz="3600" spc="-2257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2314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 spc="-8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105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2314" sz="3600" spc="-2257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baseline="2314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 spc="36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baseline="-1960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-19607" sz="2550" spc="2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2314" sz="3600" spc="1875">
                <a:solidFill>
                  <a:srgbClr val="0000FF"/>
                </a:solidFill>
                <a:latin typeface="Cambria"/>
                <a:cs typeface="Cambria"/>
              </a:rPr>
              <a:t></a:t>
            </a:r>
            <a:r>
              <a:rPr dirty="0" baseline="2314" sz="3600" spc="-3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r>
              <a:rPr dirty="0" baseline="2314" sz="3600" spc="-2610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baseline="-19607" sz="2550" spc="-892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19607" sz="2550" spc="3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65">
                <a:solidFill>
                  <a:srgbClr val="0000FF"/>
                </a:solidFill>
                <a:latin typeface="Cambria"/>
                <a:cs typeface="Cambria"/>
              </a:rPr>
              <a:t>≥</a:t>
            </a:r>
            <a:r>
              <a:rPr dirty="0" sz="24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9120" y="5781455"/>
            <a:ext cx="38989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3845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2676" y="5928006"/>
            <a:ext cx="41529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2664" y="5674833"/>
            <a:ext cx="7867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2679" sz="2550" spc="-892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32679" sz="2550" spc="17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635">
                <a:solidFill>
                  <a:srgbClr val="0000FF"/>
                </a:solidFill>
                <a:latin typeface="Cambria"/>
                <a:cs typeface="Cambria"/>
              </a:rPr>
              <a:t></a:t>
            </a:r>
            <a:r>
              <a:rPr dirty="0" baseline="-19675" sz="3600" spc="-6007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endParaRPr baseline="-19675"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8940" y="5928006"/>
            <a:ext cx="41529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0009" y="5475623"/>
            <a:ext cx="170053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061085" algn="l"/>
              </a:tabLst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5947" sz="2550">
                <a:solidFill>
                  <a:srgbClr val="0000FF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endParaRPr baseline="35947" sz="25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8929" y="5690065"/>
            <a:ext cx="82550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9411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-29411" sz="2550" spc="89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35">
                <a:solidFill>
                  <a:srgbClr val="0000FF"/>
                </a:solidFill>
                <a:latin typeface="Cambria"/>
                <a:cs typeface="Cambria"/>
              </a:rPr>
              <a:t>≻</a:t>
            </a:r>
            <a:r>
              <a:rPr dirty="0" sz="24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47586" y="1257605"/>
          <a:ext cx="7207884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40"/>
                <a:gridCol w="888365"/>
                <a:gridCol w="5974080"/>
              </a:tblGrid>
              <a:tr h="533111">
                <a:tc>
                  <a:txBody>
                    <a:bodyPr/>
                    <a:lstStyle/>
                    <a:p>
                      <a:pPr marL="31750">
                        <a:lnSpc>
                          <a:spcPts val="2120"/>
                        </a:lnSpc>
                      </a:pPr>
                      <a:r>
                        <a:rPr dirty="0" sz="2000" spc="30" b="1">
                          <a:latin typeface="Malgun Gothic"/>
                          <a:cs typeface="Malgun Gothic"/>
                        </a:rPr>
                        <a:t>3)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2120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자발적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2120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기부(voluntarism)에</a:t>
                      </a:r>
                      <a:r>
                        <a:rPr dirty="0" sz="2000" spc="2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10" b="1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2000" spc="26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b="1">
                          <a:latin typeface="Malgun Gothic"/>
                          <a:cs typeface="Malgun Gothic"/>
                        </a:rPr>
                        <a:t>비판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5331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185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①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r" marR="52069">
                        <a:lnSpc>
                          <a:spcPts val="2185"/>
                        </a:lnSpc>
                      </a:pP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자발적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ts val="2185"/>
                        </a:lnSpc>
                      </a:pPr>
                      <a:r>
                        <a:rPr dirty="0" sz="2000" b="1">
                          <a:latin typeface="Malgun Gothic"/>
                          <a:cs typeface="Malgun Gothic"/>
                        </a:rPr>
                        <a:t>기부는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40" b="1">
                          <a:latin typeface="Malgun Gothic"/>
                          <a:cs typeface="Malgun Gothic"/>
                        </a:rPr>
                        <a:t>무임승차자(free-rider)의</a:t>
                      </a:r>
                      <a:r>
                        <a:rPr dirty="0" sz="2000" spc="29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문제를</a:t>
                      </a:r>
                      <a:r>
                        <a:rPr dirty="0" sz="2000" spc="29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2000" spc="-5" b="1">
                          <a:latin typeface="Malgun Gothic"/>
                          <a:cs typeface="Malgun Gothic"/>
                        </a:rPr>
                        <a:t>초래한다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B="0" marT="1905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92990" y="2731146"/>
            <a:ext cx="8422640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9245" marR="5080" indent="-297180">
              <a:lnSpc>
                <a:spcPct val="133400"/>
              </a:lnSpc>
              <a:spcBef>
                <a:spcPts val="100"/>
              </a:spcBef>
              <a:buChar char="-"/>
              <a:tabLst>
                <a:tab pos="313690" algn="l"/>
                <a:tab pos="314325" algn="l"/>
                <a:tab pos="1216660" algn="l"/>
                <a:tab pos="2118995" algn="l"/>
                <a:tab pos="3528695" algn="l"/>
                <a:tab pos="4938395" algn="l"/>
                <a:tab pos="6350000" algn="l"/>
                <a:tab pos="7252334" algn="l"/>
                <a:tab pos="815530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부가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회전</a:t>
            </a:r>
            <a:r>
              <a:rPr dirty="0" sz="2000" spc="-15" b="1">
                <a:latin typeface="Malgun Gothic"/>
                <a:cs typeface="Malgun Gothic"/>
              </a:rPr>
              <a:t>체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분포를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변화</a:t>
            </a:r>
            <a:r>
              <a:rPr dirty="0" sz="2000" spc="-15" b="1">
                <a:latin typeface="Malgun Gothic"/>
                <a:cs typeface="Malgun Gothic"/>
              </a:rPr>
              <a:t>시</a:t>
            </a:r>
            <a:r>
              <a:rPr dirty="0" sz="2000" b="1">
                <a:latin typeface="Malgun Gothic"/>
                <a:cs typeface="Malgun Gothic"/>
              </a:rPr>
              <a:t>키면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러한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기  </a:t>
            </a:r>
            <a:r>
              <a:rPr dirty="0" sz="2000" b="1">
                <a:latin typeface="Malgun Gothic"/>
                <a:cs typeface="Malgun Gothic"/>
              </a:rPr>
              <a:t>부는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순수공공재의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특성을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5" b="1">
                <a:latin typeface="Malgun Gothic"/>
                <a:cs typeface="Malgun Gothic"/>
              </a:rPr>
              <a:t>갖는다(Thurow,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25" b="1">
                <a:latin typeface="Malgun Gothic"/>
                <a:cs typeface="Malgun Gothic"/>
              </a:rPr>
              <a:t>1971)</a:t>
            </a:r>
            <a:endParaRPr sz="2000">
              <a:latin typeface="Malgun Gothic"/>
              <a:cs typeface="Malgun Gothic"/>
            </a:endParaRPr>
          </a:p>
          <a:p>
            <a:pPr marL="266700">
              <a:lnSpc>
                <a:spcPct val="100000"/>
              </a:lnSpc>
              <a:spcBef>
                <a:spcPts val="800"/>
              </a:spcBef>
            </a:pPr>
            <a:r>
              <a:rPr dirty="0" sz="2000" spc="80">
                <a:latin typeface="Cambria"/>
                <a:cs typeface="Cambria"/>
              </a:rPr>
              <a:t>▸</a:t>
            </a:r>
            <a:r>
              <a:rPr dirty="0" sz="2000" spc="80" b="1">
                <a:latin typeface="Malgun Gothic"/>
                <a:cs typeface="Malgun Gothic"/>
              </a:rPr>
              <a:t>소비에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있어서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비경합성과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배제불가능성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자발적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기부는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필요한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수준만큼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이루어질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532779" y="1433118"/>
            <a:ext cx="2893060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ts val="2310"/>
              </a:lnSpc>
              <a:spcBef>
                <a:spcPts val="125"/>
              </a:spcBef>
            </a:pP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1045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1045" sz="2550" spc="-2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45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1045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682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sz="2400" spc="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</a:t>
            </a:r>
            <a:r>
              <a:rPr dirty="0" sz="2400" spc="7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930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r>
              <a:rPr dirty="0" baseline="-2222" sz="3750" spc="-45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endParaRPr sz="2400">
              <a:latin typeface="Cambria"/>
              <a:cs typeface="Cambria"/>
            </a:endParaRPr>
          </a:p>
          <a:p>
            <a:pPr marL="278765">
              <a:lnSpc>
                <a:spcPts val="1230"/>
              </a:lnSpc>
              <a:tabLst>
                <a:tab pos="1348740" algn="l"/>
              </a:tabLst>
            </a:pPr>
            <a:r>
              <a:rPr dirty="0" sz="1600" spc="-1040">
                <a:solidFill>
                  <a:srgbClr val="0000FF"/>
                </a:solidFill>
                <a:latin typeface="Cambria"/>
                <a:cs typeface="Cambria"/>
              </a:rPr>
              <a:t>	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26782" y="1839480"/>
            <a:ext cx="464184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930">
                <a:solidFill>
                  <a:srgbClr val="0000FF"/>
                </a:solidFill>
                <a:latin typeface="Cambria"/>
                <a:cs typeface="Cambria"/>
              </a:rPr>
              <a:t></a:t>
            </a:r>
            <a:r>
              <a:rPr dirty="0" sz="1600" spc="-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3472" sz="2400" spc="-502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3472" sz="24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600" spc="-785">
                <a:solidFill>
                  <a:srgbClr val="0000FF"/>
                </a:solidFill>
                <a:latin typeface="Cambria"/>
                <a:cs typeface="Cambria"/>
              </a:rPr>
              <a:t>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5105" y="1216501"/>
            <a:ext cx="14986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625">
                <a:solidFill>
                  <a:srgbClr val="0000FF"/>
                </a:solidFill>
                <a:latin typeface="Cambria"/>
                <a:cs typeface="Cambria"/>
              </a:rPr>
              <a:t>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6737" y="1464779"/>
            <a:ext cx="1708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260">
                <a:solidFill>
                  <a:srgbClr val="0000FF"/>
                </a:solidFill>
                <a:latin typeface="Cambria"/>
                <a:cs typeface="Cambria"/>
              </a:rPr>
              <a:t>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46572" y="1304846"/>
            <a:ext cx="660400" cy="6838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300" spc="-1190" b="0">
                <a:solidFill>
                  <a:srgbClr val="0000FF"/>
                </a:solidFill>
                <a:latin typeface="Cambria"/>
                <a:cs typeface="Cambria"/>
              </a:rPr>
              <a:t></a:t>
            </a:r>
            <a:r>
              <a:rPr dirty="0" sz="4300" spc="370" b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1736" sz="2400" spc="-1560" b="0">
                <a:solidFill>
                  <a:srgbClr val="0000FF"/>
                </a:solidFill>
                <a:latin typeface="Cambria"/>
                <a:cs typeface="Cambria"/>
              </a:rPr>
              <a:t></a:t>
            </a:r>
            <a:endParaRPr baseline="1736"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3936" y="2468771"/>
            <a:ext cx="8574405" cy="21450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1155"/>
              </a:spcBef>
              <a:tabLst>
                <a:tab pos="309880" algn="l"/>
                <a:tab pos="1163955" algn="l"/>
              </a:tabLst>
            </a:pPr>
            <a:r>
              <a:rPr dirty="0" sz="2000" spc="-1105">
                <a:solidFill>
                  <a:srgbClr val="0000FF"/>
                </a:solidFill>
                <a:latin typeface="Cambria"/>
                <a:cs typeface="Cambria"/>
              </a:rPr>
              <a:t></a:t>
            </a:r>
            <a:r>
              <a:rPr dirty="0" baseline="-20576" sz="2025" spc="-1327">
                <a:solidFill>
                  <a:srgbClr val="0000FF"/>
                </a:solidFill>
                <a:latin typeface="Cambria"/>
                <a:cs typeface="Cambria"/>
              </a:rPr>
              <a:t></a:t>
            </a:r>
            <a:r>
              <a:rPr dirty="0" baseline="-20576" sz="2025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275">
                <a:solidFill>
                  <a:srgbClr val="0000FF"/>
                </a:solidFill>
                <a:latin typeface="Cambria"/>
                <a:cs typeface="Cambria"/>
              </a:rPr>
              <a:t>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발적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-15" b="1">
                <a:latin typeface="Malgun Gothic"/>
                <a:cs typeface="Malgun Gothic"/>
              </a:rPr>
              <a:t>부</a:t>
            </a:r>
            <a:r>
              <a:rPr dirty="0" sz="2000" b="1">
                <a:latin typeface="Malgun Gothic"/>
                <a:cs typeface="Malgun Gothic"/>
              </a:rPr>
              <a:t>금</a:t>
            </a:r>
            <a:endParaRPr sz="2000">
              <a:latin typeface="Malgun Gothic"/>
              <a:cs typeface="Malgun Gothic"/>
            </a:endParaRPr>
          </a:p>
          <a:p>
            <a:pPr algn="ctr" marL="5715">
              <a:lnSpc>
                <a:spcPct val="100000"/>
              </a:lnSpc>
              <a:spcBef>
                <a:spcPts val="1120"/>
              </a:spcBef>
              <a:tabLst>
                <a:tab pos="330200" algn="l"/>
              </a:tabLst>
            </a:pPr>
            <a:r>
              <a:rPr dirty="0" sz="2100" spc="-550">
                <a:solidFill>
                  <a:srgbClr val="0000FF"/>
                </a:solidFill>
                <a:latin typeface="Lucida Sans Unicode"/>
                <a:cs typeface="Lucida Sans Unicode"/>
              </a:rPr>
              <a:t>	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부자들의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기부금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총액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Malgun Gothic"/>
              <a:cs typeface="Malgun Gothic"/>
            </a:endParaRPr>
          </a:p>
          <a:p>
            <a:pPr marL="338455" marR="17780" indent="-313690">
              <a:lnSpc>
                <a:spcPct val="133400"/>
              </a:lnSpc>
              <a:tabLst>
                <a:tab pos="338455" algn="l"/>
                <a:tab pos="1253490" algn="l"/>
                <a:tab pos="2547620" algn="l"/>
                <a:tab pos="3716654" algn="l"/>
                <a:tab pos="4631690" algn="l"/>
                <a:tab pos="5293995" algn="l"/>
                <a:tab pos="6209030" algn="l"/>
                <a:tab pos="7125334" algn="l"/>
                <a:tab pos="80403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-15" b="1">
                <a:latin typeface="Malgun Gothic"/>
                <a:cs typeface="Malgun Gothic"/>
              </a:rPr>
              <a:t>전</a:t>
            </a:r>
            <a:r>
              <a:rPr dirty="0" sz="2000" spc="45" b="1">
                <a:latin typeface="Malgun Gothic"/>
                <a:cs typeface="Malgun Gothic"/>
              </a:rPr>
              <a:t>(</a:t>
            </a:r>
            <a:r>
              <a:rPr dirty="0" sz="2000" spc="15" b="1">
                <a:latin typeface="Malgun Gothic"/>
                <a:cs typeface="Malgun Gothic"/>
              </a:rPr>
              <a:t>G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공</a:t>
            </a:r>
            <a:r>
              <a:rPr dirty="0" sz="2000" spc="-15" b="1">
                <a:latin typeface="Malgun Gothic"/>
                <a:cs typeface="Malgun Gothic"/>
              </a:rPr>
              <a:t>공</a:t>
            </a:r>
            <a:r>
              <a:rPr dirty="0" sz="2000" b="1">
                <a:latin typeface="Malgun Gothic"/>
                <a:cs typeface="Malgun Gothic"/>
              </a:rPr>
              <a:t>재의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특</a:t>
            </a:r>
            <a:r>
              <a:rPr dirty="0" sz="2000" spc="-15" b="1">
                <a:latin typeface="Malgun Gothic"/>
                <a:cs typeface="Malgun Gothic"/>
              </a:rPr>
              <a:t>성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갖기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때</a:t>
            </a:r>
            <a:r>
              <a:rPr dirty="0" sz="2000" spc="-15" b="1">
                <a:latin typeface="Malgun Gothic"/>
                <a:cs typeface="Malgun Gothic"/>
              </a:rPr>
              <a:t>문</a:t>
            </a:r>
            <a:r>
              <a:rPr dirty="0" sz="2000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개인은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아</a:t>
            </a:r>
            <a:r>
              <a:rPr dirty="0" sz="2000" b="1">
                <a:latin typeface="Malgun Gothic"/>
                <a:cs typeface="Malgun Gothic"/>
              </a:rPr>
              <a:t>무런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비용  </a:t>
            </a:r>
            <a:r>
              <a:rPr dirty="0" sz="2000" b="1">
                <a:latin typeface="Malgun Gothic"/>
                <a:cs typeface="Malgun Gothic"/>
              </a:rPr>
              <a:t>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지불하지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않고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편익만을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향유할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6636" y="4993060"/>
            <a:ext cx="2784475" cy="1243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28930" marR="5080" indent="-316865">
              <a:lnSpc>
                <a:spcPct val="133200"/>
              </a:lnSpc>
              <a:spcBef>
                <a:spcPts val="105"/>
              </a:spcBef>
            </a:pPr>
            <a:r>
              <a:rPr dirty="0" sz="2000" spc="420" b="1">
                <a:latin typeface="Malgun Gothic"/>
                <a:cs typeface="Malgun Gothic"/>
              </a:rPr>
              <a:t>- </a:t>
            </a:r>
            <a:r>
              <a:rPr dirty="0" sz="2000" spc="-5" b="1">
                <a:latin typeface="Malgun Gothic"/>
                <a:cs typeface="Malgun Gothic"/>
              </a:rPr>
              <a:t>무임승차자의 </a:t>
            </a:r>
            <a:r>
              <a:rPr dirty="0" sz="2000" b="1">
                <a:latin typeface="Malgun Gothic"/>
                <a:cs typeface="Malgun Gothic"/>
              </a:rPr>
              <a:t>문제를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득재분배를 추구하는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선택일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있다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1910" y="4993060"/>
            <a:ext cx="563372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930275" algn="l"/>
                <a:tab pos="1184275" algn="l"/>
                <a:tab pos="1848485" algn="l"/>
                <a:tab pos="3274695" algn="l"/>
                <a:tab pos="4194175" algn="l"/>
                <a:tab pos="536638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예</a:t>
            </a:r>
            <a:r>
              <a:rPr dirty="0" sz="2000" b="1">
                <a:latin typeface="Malgun Gothic"/>
                <a:cs typeface="Malgun Gothic"/>
              </a:rPr>
              <a:t>방하기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강제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으로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조세를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부</a:t>
            </a:r>
            <a:r>
              <a:rPr dirty="0" sz="2000" b="1">
                <a:latin typeface="Malgun Gothic"/>
                <a:cs typeface="Malgun Gothic"/>
              </a:rPr>
              <a:t>과하여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  </a:t>
            </a:r>
            <a:r>
              <a:rPr dirty="0" sz="2000" spc="-5" b="1">
                <a:latin typeface="Malgun Gothic"/>
                <a:cs typeface="Malgun Gothic"/>
              </a:rPr>
              <a:t>정부의	정책을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7847" y="5501191"/>
            <a:ext cx="3797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6180" algn="l"/>
                <a:tab pos="2103755" algn="l"/>
                <a:tab pos="3021965" algn="l"/>
              </a:tabLst>
            </a:pPr>
            <a:r>
              <a:rPr dirty="0" sz="2000" b="1">
                <a:latin typeface="Malgun Gothic"/>
                <a:cs typeface="Malgun Gothic"/>
              </a:rPr>
              <a:t>지지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부</a:t>
            </a:r>
            <a:r>
              <a:rPr dirty="0" sz="2000" b="1">
                <a:latin typeface="Malgun Gothic"/>
                <a:cs typeface="Malgun Gothic"/>
              </a:rPr>
              <a:t>자의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투</a:t>
            </a:r>
            <a:r>
              <a:rPr dirty="0" sz="2000" spc="-15" b="1">
                <a:latin typeface="Malgun Gothic"/>
                <a:cs typeface="Malgun Gothic"/>
              </a:rPr>
              <a:t>표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합리적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23171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30" b="1">
                <a:latin typeface="Malgun Gothic"/>
                <a:cs typeface="Malgun Gothic"/>
              </a:rPr>
              <a:t>warm-glow</a:t>
            </a:r>
            <a:r>
              <a:rPr dirty="0" sz="2000" spc="204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모형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990" y="1919294"/>
            <a:ext cx="5717540" cy="1243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6075" marR="5080" indent="-334010">
              <a:lnSpc>
                <a:spcPct val="133200"/>
              </a:lnSpc>
              <a:spcBef>
                <a:spcPts val="105"/>
              </a:spcBef>
              <a:tabLst>
                <a:tab pos="345440" algn="l"/>
                <a:tab pos="1278890" algn="l"/>
                <a:tab pos="2213610" algn="l"/>
                <a:tab pos="3063240" algn="l"/>
                <a:tab pos="3148330" algn="l"/>
                <a:tab pos="4083050" algn="l"/>
                <a:tab pos="545020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	</a:t>
            </a:r>
            <a:r>
              <a:rPr dirty="0" sz="2000" spc="-5" b="1">
                <a:latin typeface="Malgun Gothic"/>
                <a:cs typeface="Malgun Gothic"/>
              </a:rPr>
              <a:t>부자의	</a:t>
            </a:r>
            <a:r>
              <a:rPr dirty="0" sz="2000" b="1">
                <a:latin typeface="Malgun Gothic"/>
                <a:cs typeface="Malgun Gothic"/>
              </a:rPr>
              <a:t>효용은	가난한		</a:t>
            </a:r>
            <a:r>
              <a:rPr dirty="0" sz="2000" spc="-5" b="1">
                <a:latin typeface="Malgun Gothic"/>
                <a:cs typeface="Malgun Gothic"/>
              </a:rPr>
              <a:t>사람의	소득수준뿐만 </a:t>
            </a:r>
            <a:r>
              <a:rPr dirty="0" sz="200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외</a:t>
            </a:r>
            <a:r>
              <a:rPr dirty="0" sz="2000" b="1">
                <a:latin typeface="Malgun Gothic"/>
                <a:cs typeface="Malgun Gothic"/>
              </a:rPr>
              <a:t>부성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-120" b="1">
                <a:latin typeface="Malgun Gothic"/>
                <a:cs typeface="Malgun Gothic"/>
              </a:rPr>
              <a:t>p</a:t>
            </a:r>
            <a:r>
              <a:rPr dirty="0" sz="2000" spc="114" b="1">
                <a:latin typeface="Malgun Gothic"/>
                <a:cs typeface="Malgun Gothic"/>
              </a:rPr>
              <a:t>s</a:t>
            </a:r>
            <a:r>
              <a:rPr dirty="0" sz="2000" spc="100" b="1">
                <a:latin typeface="Malgun Gothic"/>
                <a:cs typeface="Malgun Gothic"/>
              </a:rPr>
              <a:t>y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-65" b="1">
                <a:latin typeface="Malgun Gothic"/>
                <a:cs typeface="Malgun Gothic"/>
              </a:rPr>
              <a:t>h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-80" b="1">
                <a:latin typeface="Malgun Gothic"/>
                <a:cs typeface="Malgun Gothic"/>
              </a:rPr>
              <a:t>g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55" b="1">
                <a:latin typeface="Malgun Gothic"/>
                <a:cs typeface="Malgun Gothic"/>
              </a:rPr>
              <a:t>e</a:t>
            </a:r>
            <a:r>
              <a:rPr dirty="0" sz="2000" spc="114" b="1">
                <a:latin typeface="Malgun Gothic"/>
                <a:cs typeface="Malgun Gothic"/>
              </a:rPr>
              <a:t>x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95" b="1">
                <a:latin typeface="Malgun Gothic"/>
                <a:cs typeface="Malgun Gothic"/>
              </a:rPr>
              <a:t>r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100" b="1">
                <a:latin typeface="Malgun Gothic"/>
                <a:cs typeface="Malgun Gothic"/>
              </a:rPr>
              <a:t>y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그  </a:t>
            </a:r>
            <a:r>
              <a:rPr dirty="0" sz="2000" spc="-10" b="1">
                <a:latin typeface="Malgun Gothic"/>
                <a:cs typeface="Malgun Gothic"/>
              </a:rPr>
              <a:t>관련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9600" y="1919294"/>
            <a:ext cx="265620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7955" marR="5080" indent="-135890">
              <a:lnSpc>
                <a:spcPct val="133400"/>
              </a:lnSpc>
              <a:spcBef>
                <a:spcPts val="100"/>
              </a:spcBef>
              <a:tabLst>
                <a:tab pos="946785" algn="l"/>
                <a:tab pos="1118870" algn="l"/>
                <a:tab pos="188023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아</a:t>
            </a:r>
            <a:r>
              <a:rPr dirty="0" sz="2000" b="1">
                <a:latin typeface="Malgun Gothic"/>
                <a:cs typeface="Malgun Gothic"/>
              </a:rPr>
              <a:t>니라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일</a:t>
            </a:r>
            <a:r>
              <a:rPr dirty="0" sz="2000" b="1">
                <a:latin typeface="Malgun Gothic"/>
                <a:cs typeface="Malgun Gothic"/>
              </a:rPr>
              <a:t>종의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심리적  자</a:t>
            </a:r>
            <a:r>
              <a:rPr dirty="0" sz="2000" spc="-15" b="1">
                <a:latin typeface="Malgun Gothic"/>
                <a:cs typeface="Malgun Gothic"/>
              </a:rPr>
              <a:t>신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	</a:t>
            </a:r>
            <a:r>
              <a:rPr dirty="0" sz="2000" b="1">
                <a:latin typeface="Malgun Gothic"/>
                <a:cs typeface="Malgun Gothic"/>
              </a:rPr>
              <a:t>기부</a:t>
            </a:r>
            <a:r>
              <a:rPr dirty="0" sz="2000" spc="-15" b="1">
                <a:latin typeface="Malgun Gothic"/>
                <a:cs typeface="Malgun Gothic"/>
              </a:rPr>
              <a:t>행</a:t>
            </a:r>
            <a:r>
              <a:rPr dirty="0" sz="2000" b="1">
                <a:latin typeface="Malgun Gothic"/>
                <a:cs typeface="Malgun Gothic"/>
              </a:rPr>
              <a:t>위와도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0290" y="3664569"/>
            <a:ext cx="8446770" cy="17018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13030">
              <a:lnSpc>
                <a:spcPts val="2305"/>
              </a:lnSpc>
              <a:spcBef>
                <a:spcPts val="125"/>
              </a:spcBef>
            </a:pP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2679" sz="2550" spc="-2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45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930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889">
                <a:solidFill>
                  <a:srgbClr val="0000FF"/>
                </a:solidFill>
                <a:latin typeface="Cambria"/>
                <a:cs typeface="Cambria"/>
              </a:rPr>
              <a:t></a:t>
            </a:r>
            <a:r>
              <a:rPr dirty="0" baseline="-2314" sz="36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352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endParaRPr sz="2400">
              <a:latin typeface="Cambria"/>
              <a:cs typeface="Cambria"/>
            </a:endParaRPr>
          </a:p>
          <a:p>
            <a:pPr algn="ctr" marR="38100">
              <a:lnSpc>
                <a:spcPts val="1225"/>
              </a:lnSpc>
              <a:tabLst>
                <a:tab pos="1069975" algn="l"/>
                <a:tab pos="1939289" algn="l"/>
              </a:tabLst>
            </a:pPr>
            <a:r>
              <a:rPr dirty="0" sz="1600" spc="-1040">
                <a:solidFill>
                  <a:srgbClr val="0000FF"/>
                </a:solidFill>
                <a:latin typeface="Cambria"/>
                <a:cs typeface="Cambria"/>
              </a:rPr>
              <a:t>		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600">
              <a:latin typeface="Cambria"/>
              <a:cs typeface="Cambria"/>
            </a:endParaRPr>
          </a:p>
          <a:p>
            <a:pPr marL="358775" marR="17780" indent="-334010">
              <a:lnSpc>
                <a:spcPct val="133400"/>
              </a:lnSpc>
              <a:spcBef>
                <a:spcPts val="136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부자의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기부는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공공재이면서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사적재(private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-40" b="1">
                <a:latin typeface="Malgun Gothic"/>
                <a:cs typeface="Malgun Gothic"/>
              </a:rPr>
              <a:t>good)이기도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 </a:t>
            </a:r>
            <a:r>
              <a:rPr dirty="0" sz="2000" spc="-6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때문에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무임승차자의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상대적으로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적게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180213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②</a:t>
            </a:r>
            <a:r>
              <a:rPr dirty="0" spc="245"/>
              <a:t> </a:t>
            </a:r>
            <a:r>
              <a:rPr dirty="0" spc="-5"/>
              <a:t>차선의</a:t>
            </a:r>
            <a:r>
              <a:rPr dirty="0" spc="250"/>
              <a:t> </a:t>
            </a:r>
            <a:r>
              <a:rPr dirty="0"/>
              <a:t>상태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2990" y="1919294"/>
            <a:ext cx="8422640" cy="12439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33375" marR="5080" indent="-321310">
              <a:lnSpc>
                <a:spcPct val="133200"/>
              </a:lnSpc>
              <a:spcBef>
                <a:spcPts val="10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1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자발적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재분배는</a:t>
            </a:r>
            <a:r>
              <a:rPr dirty="0" sz="2000" spc="3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무임승차자</a:t>
            </a:r>
            <a:r>
              <a:rPr dirty="0" sz="2000" spc="409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문제가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없다고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해도</a:t>
            </a:r>
            <a:r>
              <a:rPr dirty="0" sz="2000" spc="40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부자들이</a:t>
            </a:r>
            <a:r>
              <a:rPr dirty="0" sz="2000" spc="409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자발적으 </a:t>
            </a:r>
            <a:r>
              <a:rPr dirty="0" sz="2000" spc="-6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spc="66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기부하려는</a:t>
            </a:r>
            <a:r>
              <a:rPr dirty="0" sz="2000" spc="6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수준이</a:t>
            </a:r>
            <a:r>
              <a:rPr dirty="0" sz="2000" spc="6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사회적으로</a:t>
            </a:r>
            <a:r>
              <a:rPr dirty="0" sz="2000" spc="6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최적</a:t>
            </a:r>
            <a:r>
              <a:rPr dirty="0" sz="2000" spc="65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수준의</a:t>
            </a:r>
            <a:r>
              <a:rPr dirty="0" sz="2000" spc="65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소득재분배와</a:t>
            </a:r>
            <a:r>
              <a:rPr dirty="0" sz="2000" spc="66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상호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일치하지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않는다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78632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85"/>
              <a:t> </a:t>
            </a:r>
            <a:r>
              <a:rPr dirty="0" spc="-5"/>
              <a:t>재분배는</a:t>
            </a:r>
            <a:r>
              <a:rPr dirty="0" spc="290"/>
              <a:t> </a:t>
            </a:r>
            <a:r>
              <a:rPr dirty="0" spc="-5"/>
              <a:t>현금급여</a:t>
            </a:r>
            <a:r>
              <a:rPr dirty="0" spc="285"/>
              <a:t> </a:t>
            </a:r>
            <a:r>
              <a:rPr dirty="0"/>
              <a:t>또는</a:t>
            </a:r>
            <a:r>
              <a:rPr dirty="0" spc="290"/>
              <a:t> </a:t>
            </a:r>
            <a:r>
              <a:rPr dirty="0" spc="-5"/>
              <a:t>현물급여의</a:t>
            </a:r>
            <a:r>
              <a:rPr dirty="0" spc="285"/>
              <a:t> </a:t>
            </a:r>
            <a:r>
              <a:rPr dirty="0" spc="-5"/>
              <a:t>형태로</a:t>
            </a:r>
            <a:r>
              <a:rPr dirty="0" spc="290"/>
              <a:t> </a:t>
            </a:r>
            <a:r>
              <a:rPr dirty="0" spc="-5"/>
              <a:t>이루어져야</a:t>
            </a:r>
            <a:r>
              <a:rPr dirty="0" spc="285"/>
              <a:t> </a:t>
            </a:r>
            <a:r>
              <a:rPr dirty="0" spc="20"/>
              <a:t>하는가?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7797165" cy="439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1)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경제학적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효율성을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이유로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소비자주권을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제한할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소비자의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정보수준이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미약하여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대리인이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필요한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dirty="0" sz="2000" spc="30">
                <a:latin typeface="Cambria"/>
                <a:cs typeface="Cambria"/>
              </a:rPr>
              <a:t>▸</a:t>
            </a:r>
            <a:r>
              <a:rPr dirty="0" sz="2000" spc="30" b="1">
                <a:latin typeface="Malgun Gothic"/>
                <a:cs typeface="Malgun Gothic"/>
              </a:rPr>
              <a:t>가치재(merit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60" b="1">
                <a:latin typeface="Malgun Gothic"/>
                <a:cs typeface="Malgun Gothic"/>
              </a:rPr>
              <a:t>good)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의무교육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대리인의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선택을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함부로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변경할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경우에만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유효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0"/>
              </a:spcBef>
            </a:pPr>
            <a:r>
              <a:rPr dirty="0" sz="2000" spc="50">
                <a:latin typeface="Cambria"/>
                <a:cs typeface="Cambria"/>
              </a:rPr>
              <a:t>▸</a:t>
            </a:r>
            <a:r>
              <a:rPr dirty="0" sz="2000" spc="50" b="1">
                <a:latin typeface="Malgun Gothic"/>
                <a:cs typeface="Malgun Gothic"/>
              </a:rPr>
              <a:t>현물금여가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임의로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거래될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없어야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805"/>
              </a:spcBef>
            </a:pPr>
            <a:r>
              <a:rPr dirty="0" sz="2000" spc="80">
                <a:latin typeface="Cambria"/>
                <a:cs typeface="Cambria"/>
              </a:rPr>
              <a:t>▸</a:t>
            </a:r>
            <a:r>
              <a:rPr dirty="0" sz="2000" spc="80" b="1">
                <a:latin typeface="Malgun Gothic"/>
                <a:cs typeface="Malgun Gothic"/>
              </a:rPr>
              <a:t>가족이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소비하려는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다른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재화와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쉽게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대체되지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않아야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marL="393065">
              <a:lnSpc>
                <a:spcPct val="100000"/>
              </a:lnSpc>
              <a:spcBef>
                <a:spcPts val="790"/>
              </a:spcBef>
            </a:pPr>
            <a:r>
              <a:rPr dirty="0" sz="2000" spc="50">
                <a:latin typeface="Cambria"/>
                <a:cs typeface="Cambria"/>
              </a:rPr>
              <a:t>▸</a:t>
            </a:r>
            <a:r>
              <a:rPr dirty="0" sz="2000" spc="50" b="1">
                <a:latin typeface="Malgun Gothic"/>
                <a:cs typeface="Malgun Gothic"/>
              </a:rPr>
              <a:t>현물급여의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수급을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거절하는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것이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쉽지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않아야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한다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수평적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불평등이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존재하는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성차별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전시상황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68275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2)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정치경제적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주장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현물급여를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재분배정책을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지지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2778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 b="1">
                <a:latin typeface="Malgun Gothic"/>
                <a:cs typeface="Malgun Gothic"/>
              </a:rPr>
              <a:t>(1)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함수를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이용한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분석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6153" y="2869472"/>
            <a:ext cx="244475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320925" algn="l"/>
              </a:tabLst>
            </a:pP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7581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7581" sz="2550" spc="-26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472" sz="3600" spc="-81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3472" sz="36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060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baseline="3472" sz="3600" spc="-1589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sz="2500" spc="-1060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7581" sz="2550" spc="-168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472" sz="3600" spc="-1687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3472" sz="3600" spc="-7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 spc="-770">
                <a:solidFill>
                  <a:srgbClr val="0000FF"/>
                </a:solidFill>
                <a:latin typeface="Lucida Sans Unicode"/>
                <a:cs typeface="Lucida Sans Unicode"/>
              </a:rPr>
              <a:t>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7581" sz="2550" spc="-1627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3472" sz="3600" spc="-1627">
                <a:solidFill>
                  <a:srgbClr val="0000FF"/>
                </a:solidFill>
                <a:latin typeface="Cambria"/>
                <a:cs typeface="Cambria"/>
              </a:rPr>
              <a:t>	</a:t>
            </a:r>
            <a:r>
              <a:rPr dirty="0" sz="2000" spc="140" b="1">
                <a:latin typeface="Malgun Gothic"/>
                <a:cs typeface="Malgun Gothic"/>
              </a:rPr>
              <a:t>;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75228" y="2726293"/>
            <a:ext cx="1957070" cy="4108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4444" sz="3750" spc="-644" b="0">
                <a:solidFill>
                  <a:srgbClr val="0000FF"/>
                </a:solidFill>
                <a:latin typeface="Lucida Sans Unicode"/>
                <a:cs typeface="Lucida Sans Unicode"/>
              </a:rPr>
              <a:t></a:t>
            </a:r>
            <a:r>
              <a:rPr dirty="0" sz="1700" spc="-595" b="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sz="1700" spc="-160" b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-23148" sz="3600" spc="-810" b="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baseline="-23148" sz="3600" spc="-30" b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4444" sz="3750" spc="-930" b="0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r>
              <a:rPr dirty="0" baseline="-24444" sz="3750" spc="-644" b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470" b="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23148" sz="3600" spc="-810" b="0">
                <a:solidFill>
                  <a:srgbClr val="0000FF"/>
                </a:solidFill>
                <a:latin typeface="Cambria"/>
                <a:cs typeface="Cambria"/>
              </a:rPr>
              <a:t></a:t>
            </a:r>
            <a:r>
              <a:rPr dirty="0" baseline="-23148" sz="3600" spc="-262" b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4444" sz="3750" spc="-1207" b="0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-24444" sz="3750" spc="-622" b="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595" b="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2861" y="3771191"/>
            <a:ext cx="3142615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2679" sz="2550" spc="-2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540">
                <a:solidFill>
                  <a:srgbClr val="0000FF"/>
                </a:solidFill>
                <a:latin typeface="Cambria"/>
                <a:cs typeface="Cambria"/>
              </a:rPr>
              <a:t></a:t>
            </a:r>
            <a:r>
              <a:rPr dirty="0" sz="2400" spc="-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455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</a:t>
            </a:r>
            <a:r>
              <a:rPr dirty="0" baseline="-2222" sz="3750" spc="-1057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r>
              <a:rPr dirty="0" baseline="-2222" sz="3750" spc="-65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765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930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r>
              <a:rPr dirty="0" baseline="-2222" sz="3750" spc="-64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885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222" sz="3750" spc="-1207">
                <a:solidFill>
                  <a:srgbClr val="0000FF"/>
                </a:solidFill>
                <a:latin typeface="Lucida Sans Unicode"/>
                <a:cs typeface="Lucida Sans Unicode"/>
              </a:rPr>
              <a:t></a:t>
            </a:r>
            <a:r>
              <a:rPr dirty="0" baseline="-2222" sz="3750" spc="-622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2679" sz="2550" spc="-1050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sz="2400" spc="-1505">
                <a:solidFill>
                  <a:srgbClr val="0000FF"/>
                </a:solidFill>
                <a:latin typeface="Cambria"/>
                <a:cs typeface="Cambria"/>
              </a:rPr>
              <a:t>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2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664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endParaRPr baseline="-2314"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2724" y="3976494"/>
            <a:ext cx="129539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785">
                <a:solidFill>
                  <a:srgbClr val="0000FF"/>
                </a:solidFill>
                <a:latin typeface="Cambria"/>
                <a:cs typeface="Cambria"/>
              </a:rPr>
              <a:t>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7583" y="3787620"/>
            <a:ext cx="80835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90">
                <a:solidFill>
                  <a:srgbClr val="0000FF"/>
                </a:solidFill>
                <a:latin typeface="Cambria"/>
                <a:cs typeface="Cambria"/>
              </a:rPr>
              <a:t>&gt;</a:t>
            </a:r>
            <a:r>
              <a:rPr dirty="0" sz="2400" spc="-2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807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r>
              <a:rPr dirty="0" sz="2400" spc="-1739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sz="2400" spc="-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314" sz="3600" spc="-1664">
                <a:solidFill>
                  <a:srgbClr val="0000FF"/>
                </a:solidFill>
                <a:latin typeface="Cambria"/>
                <a:cs typeface="Cambria"/>
              </a:rPr>
              <a:t></a:t>
            </a:r>
            <a:endParaRPr baseline="-2314" sz="36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8542" y="3976494"/>
            <a:ext cx="129539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785">
                <a:solidFill>
                  <a:srgbClr val="0000FF"/>
                </a:solidFill>
                <a:latin typeface="Cambria"/>
                <a:cs typeface="Cambria"/>
              </a:rPr>
              <a:t>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01552" y="3976494"/>
            <a:ext cx="129539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785">
                <a:solidFill>
                  <a:srgbClr val="0000FF"/>
                </a:solidFill>
                <a:latin typeface="Cambria"/>
                <a:cs typeface="Cambria"/>
              </a:rPr>
              <a:t>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3401" y="3802851"/>
            <a:ext cx="157099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6955" algn="l"/>
              </a:tabLst>
            </a:pPr>
            <a:r>
              <a:rPr dirty="0" sz="2400" spc="1065">
                <a:solidFill>
                  <a:srgbClr val="0000FF"/>
                </a:solidFill>
                <a:latin typeface="Cambria"/>
                <a:cs typeface="Cambria"/>
              </a:rPr>
              <a:t>≥</a:t>
            </a:r>
            <a:r>
              <a:rPr dirty="0" sz="24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470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r>
              <a:rPr dirty="0" baseline="2314" sz="3600" spc="-2204">
                <a:solidFill>
                  <a:srgbClr val="0000FF"/>
                </a:solidFill>
                <a:latin typeface="Cambria"/>
                <a:cs typeface="Cambria"/>
              </a:rPr>
              <a:t></a:t>
            </a:r>
            <a:r>
              <a:rPr dirty="0" baseline="2314" sz="3600" spc="-67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110">
                <a:solidFill>
                  <a:srgbClr val="0000FF"/>
                </a:solidFill>
                <a:latin typeface="Cambria"/>
                <a:cs typeface="Cambria"/>
              </a:rPr>
              <a:t>	</a:t>
            </a:r>
            <a:r>
              <a:rPr dirty="0" sz="2400" spc="1065">
                <a:solidFill>
                  <a:srgbClr val="0000FF"/>
                </a:solidFill>
                <a:latin typeface="Cambria"/>
                <a:cs typeface="Cambria"/>
              </a:rPr>
              <a:t>≤</a:t>
            </a:r>
            <a:r>
              <a:rPr dirty="0" sz="2400" spc="-1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9487" y="5076225"/>
            <a:ext cx="36449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3685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68109" y="5224300"/>
            <a:ext cx="426084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620">
                <a:solidFill>
                  <a:srgbClr val="0000FF"/>
                </a:solidFill>
                <a:latin typeface="Lucida Sans Unicode"/>
                <a:cs typeface="Lucida Sans Unicode"/>
              </a:rPr>
              <a:t>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87231" y="4969603"/>
            <a:ext cx="78232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34313" sz="2550" spc="-892">
                <a:solidFill>
                  <a:srgbClr val="0000FF"/>
                </a:solidFill>
                <a:latin typeface="Lucida Sans Unicode"/>
                <a:cs typeface="Lucida Sans Unicode"/>
              </a:rPr>
              <a:t></a:t>
            </a:r>
            <a:r>
              <a:rPr dirty="0" baseline="-34313" sz="2550" spc="12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635">
                <a:solidFill>
                  <a:srgbClr val="0000FF"/>
                </a:solidFill>
                <a:latin typeface="Cambria"/>
                <a:cs typeface="Cambria"/>
              </a:rPr>
              <a:t></a:t>
            </a:r>
            <a:r>
              <a:rPr dirty="0" baseline="-19675" sz="3600" spc="-6007">
                <a:solidFill>
                  <a:srgbClr val="0000FF"/>
                </a:solidFill>
                <a:latin typeface="Cambria"/>
                <a:cs typeface="Cambria"/>
              </a:rPr>
              <a:t></a:t>
            </a:r>
            <a:endParaRPr baseline="-19675" sz="3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78940" y="5224300"/>
            <a:ext cx="41529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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0009" y="4770394"/>
            <a:ext cx="170053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061085" algn="l"/>
              </a:tabLst>
            </a:pP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35947" sz="2550">
                <a:solidFill>
                  <a:srgbClr val="0000FF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1135">
                <a:solidFill>
                  <a:srgbClr val="0000FF"/>
                </a:solidFill>
                <a:latin typeface="Cambria"/>
                <a:cs typeface="Cambria"/>
              </a:rPr>
              <a:t></a:t>
            </a:r>
            <a:r>
              <a:rPr dirty="0" sz="2500" spc="-705">
                <a:solidFill>
                  <a:srgbClr val="0000FF"/>
                </a:solidFill>
                <a:latin typeface="Lucida Sans Unicode"/>
                <a:cs typeface="Lucida Sans Unicode"/>
              </a:rPr>
              <a:t></a:t>
            </a:r>
            <a:r>
              <a:rPr dirty="0" sz="2500" spc="-434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baseline="35947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endParaRPr baseline="35947" sz="25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8929" y="4984835"/>
            <a:ext cx="82550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9411" sz="2550" spc="-757">
                <a:solidFill>
                  <a:srgbClr val="0000FF"/>
                </a:solidFill>
                <a:latin typeface="Lucida Sans Unicode"/>
                <a:cs typeface="Lucida Sans Unicode"/>
              </a:rPr>
              <a:t></a:t>
            </a:r>
            <a:r>
              <a:rPr dirty="0" baseline="-29411" sz="2550" spc="89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35">
                <a:solidFill>
                  <a:srgbClr val="0000FF"/>
                </a:solidFill>
                <a:latin typeface="Cambria"/>
                <a:cs typeface="Cambria"/>
              </a:rPr>
              <a:t>≻</a:t>
            </a:r>
            <a:r>
              <a:rPr dirty="0" sz="2400" spc="-3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00" spc="-1205">
                <a:solidFill>
                  <a:srgbClr val="0000FF"/>
                </a:solidFill>
                <a:latin typeface="Cambria"/>
                <a:cs typeface="Cambria"/>
              </a:rPr>
              <a:t>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80098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(2)</a:t>
            </a:r>
            <a:r>
              <a:rPr dirty="0" spc="270"/>
              <a:t> </a:t>
            </a:r>
            <a:r>
              <a:rPr dirty="0" spc="-5"/>
              <a:t>가치재(merit</a:t>
            </a:r>
            <a:r>
              <a:rPr dirty="0" spc="275"/>
              <a:t> </a:t>
            </a:r>
            <a:r>
              <a:rPr dirty="0" spc="-65"/>
              <a:t>good)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9005" cy="286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3210" marR="5080" indent="-271145">
              <a:lnSpc>
                <a:spcPct val="133400"/>
              </a:lnSpc>
              <a:spcBef>
                <a:spcPts val="100"/>
              </a:spcBef>
              <a:buFont typeface="Cambria"/>
              <a:buChar char="○"/>
              <a:tabLst>
                <a:tab pos="28384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소비의 외부성으로 </a:t>
            </a:r>
            <a:r>
              <a:rPr dirty="0" sz="2000" b="1">
                <a:latin typeface="Malgun Gothic"/>
                <a:cs typeface="Malgun Gothic"/>
              </a:rPr>
              <a:t>인해 </a:t>
            </a:r>
            <a:r>
              <a:rPr dirty="0" sz="2000" spc="-5" b="1">
                <a:latin typeface="Malgun Gothic"/>
                <a:cs typeface="Malgun Gothic"/>
              </a:rPr>
              <a:t>교육을 현물이전의 형태로 제공하게 </a:t>
            </a:r>
            <a:r>
              <a:rPr dirty="0" sz="2000" b="1">
                <a:latin typeface="Malgun Gothic"/>
                <a:cs typeface="Malgun Gothic"/>
              </a:rPr>
              <a:t>될 경우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사회전체의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후생수준은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증가한다.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○"/>
            </a:pPr>
            <a:endParaRPr sz="1750">
              <a:latin typeface="Malgun Gothic"/>
              <a:cs typeface="Malgun Gothic"/>
            </a:endParaRPr>
          </a:p>
          <a:p>
            <a:pPr algn="just" marL="283210" marR="5080" indent="-271145">
              <a:lnSpc>
                <a:spcPct val="133300"/>
              </a:lnSpc>
              <a:spcBef>
                <a:spcPts val="5"/>
              </a:spcBef>
              <a:buFont typeface="Cambria"/>
              <a:buChar char="○"/>
              <a:tabLst>
                <a:tab pos="28384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일반적으로</a:t>
            </a:r>
            <a:r>
              <a:rPr dirty="0" sz="2000" spc="41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재분배를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위해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부자가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부담해야</a:t>
            </a:r>
            <a:r>
              <a:rPr dirty="0" sz="2000" spc="4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할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비용은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현금이전에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434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현물이전에서</a:t>
            </a:r>
            <a:r>
              <a:rPr dirty="0" sz="2000" spc="45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높게</a:t>
            </a:r>
            <a:r>
              <a:rPr dirty="0" sz="2000" spc="4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나타날</a:t>
            </a:r>
            <a:r>
              <a:rPr dirty="0" sz="2000" spc="45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44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있다.</a:t>
            </a:r>
            <a:r>
              <a:rPr dirty="0" sz="2000" spc="44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그러나</a:t>
            </a:r>
            <a:r>
              <a:rPr dirty="0" sz="2000" spc="4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부자는</a:t>
            </a:r>
            <a:r>
              <a:rPr dirty="0" sz="2000" spc="45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현물이전을</a:t>
            </a:r>
            <a:r>
              <a:rPr dirty="0" sz="2000" spc="44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위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해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더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많은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소득을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포기하더라도</a:t>
            </a:r>
            <a:r>
              <a:rPr dirty="0" sz="2000" spc="5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사회후생의</a:t>
            </a:r>
            <a:r>
              <a:rPr dirty="0" sz="2000" spc="5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측면에서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현금이전보다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유리할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990" y="4764584"/>
            <a:ext cx="4761865" cy="1242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755" marR="5080" indent="-313690">
              <a:lnSpc>
                <a:spcPct val="132900"/>
              </a:lnSpc>
              <a:spcBef>
                <a:spcPts val="100"/>
              </a:spcBef>
              <a:buChar char="-"/>
              <a:tabLst>
                <a:tab pos="325755" algn="l"/>
                <a:tab pos="326390" algn="l"/>
                <a:tab pos="1494790" algn="l"/>
                <a:tab pos="2409825" algn="l"/>
                <a:tab pos="3324860" algn="l"/>
                <a:tab pos="3987165" algn="l"/>
              </a:tabLst>
            </a:pP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-15" b="1">
                <a:latin typeface="Malgun Gothic"/>
                <a:cs typeface="Malgun Gothic"/>
              </a:rPr>
              <a:t>냐</a:t>
            </a:r>
            <a:r>
              <a:rPr dirty="0" sz="2000" b="1">
                <a:latin typeface="Malgun Gothic"/>
                <a:cs typeface="Malgun Gothic"/>
              </a:rPr>
              <a:t>하면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난한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람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나쁜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비에  </a:t>
            </a:r>
            <a:r>
              <a:rPr dirty="0" sz="2000" b="1">
                <a:latin typeface="Malgun Gothic"/>
                <a:cs typeface="Malgun Gothic"/>
              </a:rPr>
              <a:t>지할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때문이다.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800"/>
              </a:spcBef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복지급여로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술이나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마약을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사는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82734" y="4864504"/>
            <a:ext cx="353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100" algn="l"/>
                <a:tab pos="1842135" algn="l"/>
                <a:tab pos="3265804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따</a:t>
            </a:r>
            <a:r>
              <a:rPr dirty="0" sz="2000" b="1">
                <a:latin typeface="Malgun Gothic"/>
                <a:cs typeface="Malgun Gothic"/>
              </a:rPr>
              <a:t>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부정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외</a:t>
            </a:r>
            <a:r>
              <a:rPr dirty="0" sz="2000" spc="-15" b="1">
                <a:latin typeface="Malgun Gothic"/>
                <a:cs typeface="Malgun Gothic"/>
              </a:rPr>
              <a:t>부</a:t>
            </a:r>
            <a:r>
              <a:rPr dirty="0" sz="2000" b="1">
                <a:latin typeface="Malgun Gothic"/>
                <a:cs typeface="Malgun Gothic"/>
              </a:rPr>
              <a:t>효과를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방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638746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80"/>
              <a:t> </a:t>
            </a:r>
            <a:r>
              <a:rPr dirty="0" spc="70"/>
              <a:t>4-6&gt;</a:t>
            </a:r>
            <a:r>
              <a:rPr dirty="0" spc="285"/>
              <a:t> </a:t>
            </a:r>
            <a:r>
              <a:rPr dirty="0" spc="-5"/>
              <a:t>현금이전과</a:t>
            </a:r>
            <a:r>
              <a:rPr dirty="0" spc="285"/>
              <a:t> </a:t>
            </a:r>
            <a:r>
              <a:rPr dirty="0" spc="-5"/>
              <a:t>현물이전에</a:t>
            </a:r>
            <a:r>
              <a:rPr dirty="0" spc="280"/>
              <a:t> </a:t>
            </a:r>
            <a:r>
              <a:rPr dirty="0"/>
              <a:t>의한</a:t>
            </a:r>
            <a:r>
              <a:rPr dirty="0" spc="280"/>
              <a:t> </a:t>
            </a:r>
            <a:r>
              <a:rPr dirty="0" spc="-5"/>
              <a:t>재분배</a:t>
            </a:r>
            <a:r>
              <a:rPr dirty="0" spc="285"/>
              <a:t> </a:t>
            </a:r>
            <a:r>
              <a:rPr dirty="0"/>
              <a:t>효과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569" y="2071522"/>
            <a:ext cx="5718267" cy="40821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2511" y="1208885"/>
            <a:ext cx="297815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&lt;소득보조</a:t>
            </a:r>
            <a:r>
              <a:rPr dirty="0" spc="250"/>
              <a:t> </a:t>
            </a:r>
            <a:r>
              <a:rPr dirty="0" spc="75"/>
              <a:t>vs.</a:t>
            </a:r>
            <a:r>
              <a:rPr dirty="0" spc="250"/>
              <a:t> </a:t>
            </a:r>
            <a:r>
              <a:rPr dirty="0" spc="-40"/>
              <a:t>가격보조&gt;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054" y="1666367"/>
            <a:ext cx="7060590" cy="45984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29577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3.</a:t>
            </a:r>
            <a:r>
              <a:rPr dirty="0" spc="280"/>
              <a:t> </a:t>
            </a:r>
            <a:r>
              <a:rPr dirty="0"/>
              <a:t>수평적</a:t>
            </a:r>
            <a:r>
              <a:rPr dirty="0" spc="280"/>
              <a:t> </a:t>
            </a:r>
            <a:r>
              <a:rPr dirty="0" spc="-15"/>
              <a:t>형평성(horizontal</a:t>
            </a:r>
            <a:r>
              <a:rPr dirty="0" spc="280"/>
              <a:t> </a:t>
            </a:r>
            <a:r>
              <a:rPr dirty="0" spc="-5"/>
              <a:t>equity)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①</a:t>
            </a:r>
            <a:r>
              <a:rPr dirty="0" spc="280"/>
              <a:t> </a:t>
            </a:r>
            <a:r>
              <a:rPr dirty="0" spc="-5"/>
              <a:t>최소기준의</a:t>
            </a:r>
            <a:r>
              <a:rPr dirty="0" spc="280"/>
              <a:t> </a:t>
            </a:r>
            <a:r>
              <a:rPr dirty="0" spc="-60"/>
              <a:t>문제(minimum</a:t>
            </a:r>
            <a:r>
              <a:rPr dirty="0" spc="275"/>
              <a:t> </a:t>
            </a:r>
            <a:r>
              <a:rPr dirty="0"/>
              <a:t>standards)</a:t>
            </a:r>
          </a:p>
          <a:p>
            <a:pPr marL="1270">
              <a:lnSpc>
                <a:spcPct val="100000"/>
              </a:lnSpc>
              <a:spcBef>
                <a:spcPts val="20"/>
              </a:spcBef>
            </a:pPr>
            <a:endParaRPr sz="1750"/>
          </a:p>
          <a:p>
            <a:pPr marL="461009" marR="5080" indent="-321310">
              <a:lnSpc>
                <a:spcPct val="133400"/>
              </a:lnSpc>
              <a:buChar char="-"/>
              <a:tabLst>
                <a:tab pos="470534" algn="l"/>
                <a:tab pos="471170" algn="l"/>
                <a:tab pos="1402080" algn="l"/>
                <a:tab pos="2842260" algn="l"/>
                <a:tab pos="4026535" algn="l"/>
                <a:tab pos="4705350" algn="l"/>
                <a:tab pos="5636895" algn="l"/>
                <a:tab pos="7774305" algn="l"/>
              </a:tabLst>
            </a:pPr>
            <a:r>
              <a:rPr dirty="0"/>
              <a:t>시</a:t>
            </a:r>
            <a:r>
              <a:rPr dirty="0" spc="-15"/>
              <a:t>장</a:t>
            </a:r>
            <a:r>
              <a:rPr dirty="0"/>
              <a:t>이</a:t>
            </a:r>
            <a:r>
              <a:rPr dirty="0"/>
              <a:t>	</a:t>
            </a:r>
            <a:r>
              <a:rPr dirty="0"/>
              <a:t>효</a:t>
            </a:r>
            <a:r>
              <a:rPr dirty="0" spc="-15"/>
              <a:t>율</a:t>
            </a:r>
            <a:r>
              <a:rPr dirty="0"/>
              <a:t>적으로</a:t>
            </a:r>
            <a:r>
              <a:rPr dirty="0"/>
              <a:t>	</a:t>
            </a:r>
            <a:r>
              <a:rPr dirty="0" spc="-15"/>
              <a:t>기</a:t>
            </a:r>
            <a:r>
              <a:rPr dirty="0"/>
              <a:t>능하기</a:t>
            </a:r>
            <a:r>
              <a:rPr dirty="0"/>
              <a:t>	</a:t>
            </a:r>
            <a:r>
              <a:rPr dirty="0"/>
              <a:t>위한</a:t>
            </a:r>
            <a:r>
              <a:rPr dirty="0"/>
              <a:t>	</a:t>
            </a:r>
            <a:r>
              <a:rPr dirty="0"/>
              <a:t>이</a:t>
            </a:r>
            <a:r>
              <a:rPr dirty="0" spc="-15"/>
              <a:t>론</a:t>
            </a:r>
            <a:r>
              <a:rPr dirty="0"/>
              <a:t>적</a:t>
            </a:r>
            <a:r>
              <a:rPr dirty="0"/>
              <a:t>	</a:t>
            </a:r>
            <a:r>
              <a:rPr dirty="0"/>
              <a:t>가</a:t>
            </a:r>
            <a:r>
              <a:rPr dirty="0" spc="-15"/>
              <a:t>정</a:t>
            </a:r>
            <a:r>
              <a:rPr dirty="0" spc="35"/>
              <a:t>(</a:t>
            </a:r>
            <a:r>
              <a:rPr dirty="0"/>
              <a:t>표</a:t>
            </a:r>
            <a:r>
              <a:rPr dirty="0" spc="-15"/>
              <a:t>준</a:t>
            </a:r>
            <a:r>
              <a:rPr dirty="0"/>
              <a:t>가정</a:t>
            </a:r>
            <a:r>
              <a:rPr dirty="0" spc="20"/>
              <a:t>)</a:t>
            </a:r>
            <a:r>
              <a:rPr dirty="0"/>
              <a:t>이</a:t>
            </a:r>
            <a:r>
              <a:rPr dirty="0"/>
              <a:t>	</a:t>
            </a:r>
            <a:r>
              <a:rPr dirty="0"/>
              <a:t>제대로  </a:t>
            </a:r>
            <a:r>
              <a:rPr dirty="0" spc="-5"/>
              <a:t>충족되지</a:t>
            </a:r>
            <a:r>
              <a:rPr dirty="0" spc="285"/>
              <a:t> </a:t>
            </a:r>
            <a:r>
              <a:rPr dirty="0"/>
              <a:t>못할</a:t>
            </a:r>
            <a:r>
              <a:rPr dirty="0" spc="290"/>
              <a:t> </a:t>
            </a:r>
            <a:r>
              <a:rPr dirty="0" spc="-5"/>
              <a:t>경우에</a:t>
            </a:r>
            <a:r>
              <a:rPr dirty="0" spc="285"/>
              <a:t> </a:t>
            </a:r>
            <a:r>
              <a:rPr dirty="0" spc="-5"/>
              <a:t>정당화</a:t>
            </a:r>
          </a:p>
          <a:p>
            <a:pPr marL="426084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dirty="0" spc="-5"/>
              <a:t>경제주체들이</a:t>
            </a:r>
            <a:r>
              <a:rPr dirty="0" spc="280"/>
              <a:t> </a:t>
            </a:r>
            <a:r>
              <a:rPr dirty="0"/>
              <a:t>정보의</a:t>
            </a:r>
            <a:r>
              <a:rPr dirty="0" spc="285"/>
              <a:t> </a:t>
            </a:r>
            <a:r>
              <a:rPr dirty="0" spc="-5"/>
              <a:t>문제로</a:t>
            </a:r>
            <a:r>
              <a:rPr dirty="0" spc="285"/>
              <a:t> </a:t>
            </a:r>
            <a:r>
              <a:rPr dirty="0" spc="-5"/>
              <a:t>효율적인</a:t>
            </a:r>
            <a:r>
              <a:rPr dirty="0" spc="285"/>
              <a:t> </a:t>
            </a:r>
            <a:r>
              <a:rPr dirty="0" spc="-5"/>
              <a:t>선택을</a:t>
            </a:r>
            <a:r>
              <a:rPr dirty="0" spc="285"/>
              <a:t> </a:t>
            </a:r>
            <a:r>
              <a:rPr dirty="0"/>
              <a:t>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85"/>
              <a:t> </a:t>
            </a:r>
            <a:r>
              <a:rPr dirty="0"/>
              <a:t>없는</a:t>
            </a:r>
            <a:r>
              <a:rPr dirty="0" spc="280"/>
              <a:t> </a:t>
            </a:r>
            <a:r>
              <a:rPr dirty="0"/>
              <a:t>경우</a:t>
            </a:r>
          </a:p>
          <a:p>
            <a:pPr marL="394335">
              <a:lnSpc>
                <a:spcPct val="100000"/>
              </a:lnSpc>
              <a:spcBef>
                <a:spcPts val="790"/>
              </a:spcBef>
            </a:pPr>
            <a:r>
              <a:rPr dirty="0" spc="60" b="0">
                <a:latin typeface="Cambria"/>
                <a:cs typeface="Cambria"/>
              </a:rPr>
              <a:t>▸</a:t>
            </a:r>
            <a:r>
              <a:rPr dirty="0" spc="60"/>
              <a:t>식품위생,</a:t>
            </a:r>
            <a:r>
              <a:rPr dirty="0" spc="275"/>
              <a:t> </a:t>
            </a:r>
            <a:r>
              <a:rPr dirty="0" spc="20"/>
              <a:t>학교,</a:t>
            </a:r>
            <a:r>
              <a:rPr dirty="0" spc="275"/>
              <a:t> </a:t>
            </a:r>
            <a:r>
              <a:rPr dirty="0" spc="-5"/>
              <a:t>병원에</a:t>
            </a:r>
            <a:r>
              <a:rPr dirty="0" spc="275"/>
              <a:t> </a:t>
            </a:r>
            <a:r>
              <a:rPr dirty="0" spc="-5"/>
              <a:t>최소기준</a:t>
            </a:r>
            <a:r>
              <a:rPr dirty="0" spc="275"/>
              <a:t> </a:t>
            </a:r>
            <a:r>
              <a:rPr dirty="0"/>
              <a:t>부과</a:t>
            </a:r>
          </a:p>
          <a:p>
            <a:pPr marL="461009" marR="5080" indent="-321310">
              <a:lnSpc>
                <a:spcPct val="133400"/>
              </a:lnSpc>
              <a:buChar char="-"/>
              <a:tabLst>
                <a:tab pos="441325" algn="l"/>
                <a:tab pos="441959" algn="l"/>
                <a:tab pos="1851025" algn="l"/>
                <a:tab pos="3260725" algn="l"/>
                <a:tab pos="4417695" algn="l"/>
                <a:tab pos="5066030" algn="l"/>
                <a:tab pos="5969000" algn="l"/>
                <a:tab pos="6619240" algn="l"/>
                <a:tab pos="7774305" algn="l"/>
              </a:tabLst>
            </a:pPr>
            <a:r>
              <a:rPr dirty="0" spc="-15"/>
              <a:t>경</a:t>
            </a:r>
            <a:r>
              <a:rPr dirty="0"/>
              <a:t>제주</a:t>
            </a:r>
            <a:r>
              <a:rPr dirty="0" spc="-15"/>
              <a:t>체</a:t>
            </a:r>
            <a:r>
              <a:rPr dirty="0"/>
              <a:t>가</a:t>
            </a:r>
            <a:r>
              <a:rPr dirty="0"/>
              <a:t>	</a:t>
            </a:r>
            <a:r>
              <a:rPr dirty="0"/>
              <a:t>상</a:t>
            </a:r>
            <a:r>
              <a:rPr dirty="0" spc="-15"/>
              <a:t>대</a:t>
            </a:r>
            <a:r>
              <a:rPr dirty="0"/>
              <a:t>적으로</a:t>
            </a:r>
            <a:r>
              <a:rPr dirty="0"/>
              <a:t>	</a:t>
            </a:r>
            <a:r>
              <a:rPr dirty="0"/>
              <a:t>불평</a:t>
            </a:r>
            <a:r>
              <a:rPr dirty="0" spc="-15"/>
              <a:t>등</a:t>
            </a:r>
            <a:r>
              <a:rPr dirty="0"/>
              <a:t>한</a:t>
            </a:r>
            <a:r>
              <a:rPr dirty="0"/>
              <a:t>	</a:t>
            </a:r>
            <a:r>
              <a:rPr dirty="0"/>
              <a:t>힘을</a:t>
            </a:r>
            <a:r>
              <a:rPr dirty="0"/>
              <a:t>	</a:t>
            </a:r>
            <a:r>
              <a:rPr dirty="0"/>
              <a:t>가지게</a:t>
            </a:r>
            <a:r>
              <a:rPr dirty="0"/>
              <a:t>	</a:t>
            </a:r>
            <a:r>
              <a:rPr dirty="0"/>
              <a:t>되어</a:t>
            </a:r>
            <a:r>
              <a:rPr dirty="0"/>
              <a:t>	</a:t>
            </a:r>
            <a:r>
              <a:rPr dirty="0" spc="-15"/>
              <a:t>자</a:t>
            </a:r>
            <a:r>
              <a:rPr dirty="0"/>
              <a:t>신들의</a:t>
            </a:r>
            <a:r>
              <a:rPr dirty="0"/>
              <a:t>	</a:t>
            </a:r>
            <a:r>
              <a:rPr dirty="0"/>
              <a:t>이해를  </a:t>
            </a:r>
            <a:r>
              <a:rPr dirty="0" spc="-5"/>
              <a:t>제대로</a:t>
            </a:r>
            <a:r>
              <a:rPr dirty="0" spc="285"/>
              <a:t> </a:t>
            </a:r>
            <a:r>
              <a:rPr dirty="0"/>
              <a:t>실현할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 spc="-10"/>
              <a:t>없는</a:t>
            </a:r>
            <a:r>
              <a:rPr dirty="0" spc="285"/>
              <a:t> </a:t>
            </a:r>
            <a:r>
              <a:rPr dirty="0"/>
              <a:t>경우</a:t>
            </a:r>
            <a:r>
              <a:rPr dirty="0" spc="290"/>
              <a:t> </a:t>
            </a:r>
            <a:r>
              <a:rPr dirty="0" spc="140"/>
              <a:t>:</a:t>
            </a:r>
            <a:r>
              <a:rPr dirty="0" spc="290"/>
              <a:t> </a:t>
            </a:r>
            <a:r>
              <a:rPr dirty="0" spc="-5"/>
              <a:t>산업안전기준</a:t>
            </a:r>
            <a:r>
              <a:rPr dirty="0" spc="290"/>
              <a:t> </a:t>
            </a:r>
            <a:r>
              <a:rPr dirty="0" spc="20"/>
              <a:t>규제,</a:t>
            </a:r>
            <a:r>
              <a:rPr dirty="0" spc="285"/>
              <a:t> </a:t>
            </a:r>
            <a:r>
              <a:rPr dirty="0" spc="-5"/>
              <a:t>최저임금</a:t>
            </a:r>
          </a:p>
          <a:p>
            <a:pPr marL="426084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dirty="0" spc="-5"/>
              <a:t>외부성의</a:t>
            </a:r>
            <a:r>
              <a:rPr dirty="0" spc="280"/>
              <a:t> </a:t>
            </a:r>
            <a:r>
              <a:rPr dirty="0" spc="-5"/>
              <a:t>문제가</a:t>
            </a:r>
            <a:r>
              <a:rPr dirty="0" spc="285"/>
              <a:t> </a:t>
            </a:r>
            <a:r>
              <a:rPr dirty="0" spc="-5"/>
              <a:t>발생하는</a:t>
            </a:r>
            <a:r>
              <a:rPr dirty="0" spc="285"/>
              <a:t> </a:t>
            </a:r>
            <a:r>
              <a:rPr dirty="0"/>
              <a:t>경우</a:t>
            </a:r>
            <a:r>
              <a:rPr dirty="0" spc="285"/>
              <a:t> </a:t>
            </a:r>
            <a:r>
              <a:rPr dirty="0" spc="140"/>
              <a:t>:</a:t>
            </a:r>
            <a:r>
              <a:rPr dirty="0" spc="290"/>
              <a:t> </a:t>
            </a:r>
            <a:r>
              <a:rPr dirty="0" spc="-5"/>
              <a:t>주택의</a:t>
            </a:r>
            <a:r>
              <a:rPr dirty="0" spc="285"/>
              <a:t> </a:t>
            </a:r>
            <a:r>
              <a:rPr dirty="0" spc="-5"/>
              <a:t>하수시설</a:t>
            </a:r>
            <a:r>
              <a:rPr dirty="0" spc="285"/>
              <a:t> </a:t>
            </a:r>
            <a:r>
              <a:rPr dirty="0"/>
              <a:t>규제</a:t>
            </a:r>
          </a:p>
          <a:p>
            <a:pPr marL="1270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2200"/>
          </a:p>
          <a:p>
            <a:pPr marL="426084" indent="-287020">
              <a:lnSpc>
                <a:spcPct val="100000"/>
              </a:lnSpc>
              <a:buChar char="-"/>
              <a:tabLst>
                <a:tab pos="426720" algn="l"/>
              </a:tabLst>
            </a:pPr>
            <a:r>
              <a:rPr dirty="0" spc="-5"/>
              <a:t>표준가정이</a:t>
            </a:r>
            <a:r>
              <a:rPr dirty="0" spc="285"/>
              <a:t> </a:t>
            </a:r>
            <a:r>
              <a:rPr dirty="0" spc="-5"/>
              <a:t>성립되면</a:t>
            </a:r>
            <a:r>
              <a:rPr dirty="0" spc="285"/>
              <a:t> </a:t>
            </a:r>
            <a:r>
              <a:rPr dirty="0" spc="-5"/>
              <a:t>소비자가</a:t>
            </a:r>
            <a:r>
              <a:rPr dirty="0" spc="290"/>
              <a:t> </a:t>
            </a:r>
            <a:r>
              <a:rPr dirty="0" spc="-5"/>
              <a:t>합리적</a:t>
            </a:r>
            <a:r>
              <a:rPr dirty="0" spc="285"/>
              <a:t> </a:t>
            </a:r>
            <a:r>
              <a:rPr dirty="0" spc="-5"/>
              <a:t>선택을</a:t>
            </a:r>
            <a:r>
              <a:rPr dirty="0" spc="290"/>
              <a:t> </a:t>
            </a:r>
            <a:r>
              <a:rPr dirty="0"/>
              <a:t>할</a:t>
            </a:r>
            <a:r>
              <a:rPr dirty="0" spc="285"/>
              <a:t> </a:t>
            </a:r>
            <a:r>
              <a:rPr dirty="0"/>
              <a:t>수</a:t>
            </a:r>
            <a:r>
              <a:rPr dirty="0" spc="290"/>
              <a:t> </a:t>
            </a:r>
            <a:r>
              <a:rPr dirty="0"/>
              <a:t>있는</a:t>
            </a:r>
            <a:r>
              <a:rPr dirty="0" spc="285"/>
              <a:t> </a:t>
            </a:r>
            <a:r>
              <a:rPr dirty="0"/>
              <a:t>여건</a:t>
            </a:r>
            <a:r>
              <a:rPr dirty="0" spc="290"/>
              <a:t> </a:t>
            </a:r>
            <a:r>
              <a:rPr dirty="0" spc="-10"/>
              <a:t>마련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735" cy="367982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000" b="1">
                <a:latin typeface="Malgun Gothic"/>
                <a:cs typeface="Malgun Gothic"/>
              </a:rPr>
              <a:t>②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평등한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5" b="1">
                <a:latin typeface="Malgun Gothic"/>
                <a:cs typeface="Malgun Gothic"/>
              </a:rPr>
              <a:t>접근성(equal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70" b="1">
                <a:latin typeface="Malgun Gothic"/>
                <a:cs typeface="Malgun Gothic"/>
              </a:rPr>
              <a:t>access)</a:t>
            </a:r>
            <a:endParaRPr sz="2000">
              <a:latin typeface="Malgun Gothic"/>
              <a:cs typeface="Malgun Gothic"/>
            </a:endParaRPr>
          </a:p>
          <a:p>
            <a:pPr marL="459740" marR="5080" indent="-321310">
              <a:lnSpc>
                <a:spcPts val="3200"/>
              </a:lnSpc>
              <a:spcBef>
                <a:spcPts val="229"/>
              </a:spcBef>
              <a:buChar char="-"/>
              <a:tabLst>
                <a:tab pos="459740" algn="l"/>
                <a:tab pos="460375" algn="l"/>
                <a:tab pos="1382395" algn="l"/>
                <a:tab pos="2813685" algn="l"/>
                <a:tab pos="3990340" algn="l"/>
                <a:tab pos="4658360" algn="l"/>
                <a:tab pos="6089650" algn="l"/>
                <a:tab pos="7773034" algn="l"/>
              </a:tabLst>
            </a:pP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효율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으로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능하기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표준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정이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충</a:t>
            </a:r>
            <a:r>
              <a:rPr dirty="0" sz="2000" spc="-15" b="1">
                <a:latin typeface="Malgun Gothic"/>
                <a:cs typeface="Malgun Gothic"/>
              </a:rPr>
              <a:t>족</a:t>
            </a:r>
            <a:r>
              <a:rPr dirty="0" sz="2000" b="1">
                <a:latin typeface="Malgun Gothic"/>
                <a:cs typeface="Malgun Gothic"/>
              </a:rPr>
              <a:t>되더</a:t>
            </a:r>
            <a:r>
              <a:rPr dirty="0" sz="2000" spc="-15" b="1">
                <a:latin typeface="Malgun Gothic"/>
                <a:cs typeface="Malgun Gothic"/>
              </a:rPr>
              <a:t>라</a:t>
            </a:r>
            <a:r>
              <a:rPr dirty="0" sz="2000" b="1">
                <a:latin typeface="Malgun Gothic"/>
                <a:cs typeface="Malgun Gothic"/>
              </a:rPr>
              <a:t>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소</a:t>
            </a:r>
            <a:r>
              <a:rPr dirty="0" sz="2000" spc="-15" b="1">
                <a:latin typeface="Malgun Gothic"/>
                <a:cs typeface="Malgun Gothic"/>
              </a:rPr>
              <a:t>득</a:t>
            </a:r>
            <a:r>
              <a:rPr dirty="0" sz="2000" b="1">
                <a:latin typeface="Malgun Gothic"/>
                <a:cs typeface="Malgun Gothic"/>
              </a:rPr>
              <a:t>부  </a:t>
            </a:r>
            <a:r>
              <a:rPr dirty="0" sz="2000" spc="-5" b="1">
                <a:latin typeface="Malgun Gothic"/>
                <a:cs typeface="Malgun Gothic"/>
              </a:rPr>
              <a:t>족으로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접근의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불평등이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발생할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56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불완전한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불평등한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권력의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분배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개인별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5" b="1">
                <a:latin typeface="Malgun Gothic"/>
                <a:cs typeface="Malgun Gothic"/>
              </a:rPr>
              <a:t>know-how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교육수준,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지식수준,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인간관계에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의해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영향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각종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규제를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개입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30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차별금지법,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보조금,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공공생산(교육방송)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Malgun Gothic"/>
                <a:cs typeface="Malgun Gothic"/>
              </a:rPr>
              <a:t>③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기회의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평등(equal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35" b="1">
                <a:latin typeface="Malgun Gothic"/>
                <a:cs typeface="Malgun Gothic"/>
              </a:rPr>
              <a:t>opportunity)</a:t>
            </a:r>
            <a:endParaRPr sz="2000">
              <a:latin typeface="Malgun Gothic"/>
              <a:cs typeface="Malgun Gothic"/>
            </a:endParaRPr>
          </a:p>
          <a:p>
            <a:pPr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평등한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접근의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밀접한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관련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66192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4.</a:t>
            </a:r>
            <a:r>
              <a:rPr dirty="0" spc="254"/>
              <a:t> </a:t>
            </a:r>
            <a:r>
              <a:rPr dirty="0" spc="-5"/>
              <a:t>재분배가</a:t>
            </a:r>
            <a:r>
              <a:rPr dirty="0" spc="254"/>
              <a:t> </a:t>
            </a:r>
            <a:r>
              <a:rPr dirty="0" spc="15"/>
              <a:t>충분한가?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9005" cy="4088129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just" marL="266700" indent="-254635">
              <a:lnSpc>
                <a:spcPct val="100000"/>
              </a:lnSpc>
              <a:spcBef>
                <a:spcPts val="900"/>
              </a:spcBef>
              <a:buFont typeface="Cambria"/>
              <a:buChar char="○"/>
              <a:tabLst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자유주의자의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견해</a:t>
            </a:r>
            <a:endParaRPr sz="2000">
              <a:latin typeface="Malgun Gothic"/>
              <a:cs typeface="Malgun Gothic"/>
            </a:endParaRPr>
          </a:p>
          <a:p>
            <a:pPr algn="just" lvl="1" marL="443230" marR="5080" indent="-304800">
              <a:lnSpc>
                <a:spcPct val="133200"/>
              </a:lnSpc>
              <a:spcBef>
                <a:spcPts val="5"/>
              </a:spcBef>
              <a:buChar char="-"/>
              <a:tabLst>
                <a:tab pos="44386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자연권적 자유주의자 </a:t>
            </a:r>
            <a:r>
              <a:rPr dirty="0" sz="2000" spc="140" b="1">
                <a:latin typeface="Malgun Gothic"/>
                <a:cs typeface="Malgun Gothic"/>
              </a:rPr>
              <a:t>: </a:t>
            </a:r>
            <a:r>
              <a:rPr dirty="0" sz="2000" b="1">
                <a:latin typeface="Malgun Gothic"/>
                <a:cs typeface="Malgun Gothic"/>
              </a:rPr>
              <a:t>자발적 자선을 통한 </a:t>
            </a:r>
            <a:r>
              <a:rPr dirty="0" sz="2000" spc="-5" b="1">
                <a:latin typeface="Malgun Gothic"/>
                <a:cs typeface="Malgun Gothic"/>
              </a:rPr>
              <a:t>빈곤구제만이 정당한 </a:t>
            </a:r>
            <a:r>
              <a:rPr dirty="0" sz="2000" b="1">
                <a:latin typeface="Malgun Gothic"/>
                <a:cs typeface="Malgun Gothic"/>
              </a:rPr>
              <a:t>방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법이며, </a:t>
            </a:r>
            <a:r>
              <a:rPr dirty="0" sz="2000" b="1">
                <a:latin typeface="Malgun Gothic"/>
                <a:cs typeface="Malgun Gothic"/>
              </a:rPr>
              <a:t>이를 </a:t>
            </a:r>
            <a:r>
              <a:rPr dirty="0" sz="2000" spc="-5" b="1">
                <a:latin typeface="Malgun Gothic"/>
                <a:cs typeface="Malgun Gothic"/>
              </a:rPr>
              <a:t>능가하는 수준의 재분배를 목적으로 </a:t>
            </a:r>
            <a:r>
              <a:rPr dirty="0" sz="2000" spc="-10" b="1">
                <a:latin typeface="Malgun Gothic"/>
                <a:cs typeface="Malgun Gothic"/>
              </a:rPr>
              <a:t>하는 </a:t>
            </a:r>
            <a:r>
              <a:rPr dirty="0" sz="2000" spc="-5" b="1">
                <a:latin typeface="Malgun Gothic"/>
                <a:cs typeface="Malgun Gothic"/>
              </a:rPr>
              <a:t>국가의 </a:t>
            </a:r>
            <a:r>
              <a:rPr dirty="0" sz="2000" spc="-10" b="1">
                <a:latin typeface="Malgun Gothic"/>
                <a:cs typeface="Malgun Gothic"/>
              </a:rPr>
              <a:t>조세 </a:t>
            </a:r>
            <a:r>
              <a:rPr dirty="0" sz="2000" spc="-5" b="1">
                <a:latin typeface="Malgun Gothic"/>
                <a:cs typeface="Malgun Gothic"/>
              </a:rPr>
              <a:t> 정책은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불법적이고,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강압적인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간주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algn="just" lvl="1" marL="443230" marR="5080" indent="-304800">
              <a:lnSpc>
                <a:spcPct val="133400"/>
              </a:lnSpc>
              <a:spcBef>
                <a:spcPts val="5"/>
              </a:spcBef>
              <a:buChar char="-"/>
              <a:tabLst>
                <a:tab pos="44386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경험적 자유주의자 </a:t>
            </a:r>
            <a:r>
              <a:rPr dirty="0" sz="2000" spc="140" b="1">
                <a:latin typeface="Malgun Gothic"/>
                <a:cs typeface="Malgun Gothic"/>
              </a:rPr>
              <a:t>: </a:t>
            </a:r>
            <a:r>
              <a:rPr dirty="0" sz="2000" spc="-5" b="1">
                <a:latin typeface="Malgun Gothic"/>
                <a:cs typeface="Malgun Gothic"/>
              </a:rPr>
              <a:t>자발적 기부에 </a:t>
            </a:r>
            <a:r>
              <a:rPr dirty="0" sz="2000" spc="-10" b="1">
                <a:latin typeface="Malgun Gothic"/>
                <a:cs typeface="Malgun Gothic"/>
              </a:rPr>
              <a:t>의한 </a:t>
            </a:r>
            <a:r>
              <a:rPr dirty="0" sz="2000" spc="-5" b="1">
                <a:latin typeface="Malgun Gothic"/>
                <a:cs typeface="Malgun Gothic"/>
              </a:rPr>
              <a:t>재분배가 무임승차자의 </a:t>
            </a:r>
            <a:r>
              <a:rPr dirty="0" sz="2000" b="1">
                <a:latin typeface="Malgun Gothic"/>
                <a:cs typeface="Malgun Gothic"/>
              </a:rPr>
              <a:t>문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제로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실패할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조세를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재원으로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국가의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구빈정책을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수용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algn="just" lvl="1" marL="440055" marR="5080" indent="-301625">
              <a:lnSpc>
                <a:spcPct val="133400"/>
              </a:lnSpc>
              <a:buChar char="-"/>
              <a:tabLst>
                <a:tab pos="44069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대부분의 자유주의자는 </a:t>
            </a:r>
            <a:r>
              <a:rPr dirty="0" sz="2000" b="1">
                <a:latin typeface="Malgun Gothic"/>
                <a:cs typeface="Malgun Gothic"/>
              </a:rPr>
              <a:t>오늘날 </a:t>
            </a:r>
            <a:r>
              <a:rPr dirty="0" sz="2000" spc="-5" b="1">
                <a:latin typeface="Malgun Gothic"/>
                <a:cs typeface="Malgun Gothic"/>
              </a:rPr>
              <a:t>복지국가들이 </a:t>
            </a:r>
            <a:r>
              <a:rPr dirty="0" sz="2000" b="1">
                <a:latin typeface="Malgun Gothic"/>
                <a:cs typeface="Malgun Gothic"/>
              </a:rPr>
              <a:t>너무 </a:t>
            </a:r>
            <a:r>
              <a:rPr dirty="0" sz="2000" spc="-5" b="1">
                <a:latin typeface="Malgun Gothic"/>
                <a:cs typeface="Malgun Gothic"/>
              </a:rPr>
              <a:t>과도한 수준의 </a:t>
            </a:r>
            <a:r>
              <a:rPr dirty="0" sz="2000" b="1">
                <a:latin typeface="Malgun Gothic"/>
                <a:cs typeface="Malgun Gothic"/>
              </a:rPr>
              <a:t>급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여와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재분배정책을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운영한다고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비판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449135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공리주의자의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견해</a:t>
            </a:r>
            <a:endParaRPr sz="2000">
              <a:latin typeface="Malgun Gothic"/>
              <a:cs typeface="Malgun Gothic"/>
            </a:endParaRPr>
          </a:p>
          <a:p>
            <a:pPr lvl="1" marL="440055" marR="5080" indent="-301625">
              <a:lnSpc>
                <a:spcPts val="3200"/>
              </a:lnSpc>
              <a:spcBef>
                <a:spcPts val="229"/>
              </a:spcBef>
              <a:buChar char="-"/>
              <a:tabLst>
                <a:tab pos="440055" algn="l"/>
                <a:tab pos="440690" algn="l"/>
                <a:tab pos="1343025" algn="l"/>
                <a:tab pos="2752725" algn="l"/>
                <a:tab pos="3909695" algn="l"/>
                <a:tab pos="4558030" algn="l"/>
                <a:tab pos="5967730" algn="l"/>
                <a:tab pos="6870700" algn="l"/>
                <a:tab pos="828167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효</a:t>
            </a:r>
            <a:r>
              <a:rPr dirty="0" sz="2000" b="1">
                <a:latin typeface="Malgun Gothic"/>
                <a:cs typeface="Malgun Gothic"/>
              </a:rPr>
              <a:t>용을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수적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측</a:t>
            </a: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것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능하기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때문에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사회</a:t>
            </a:r>
            <a:r>
              <a:rPr dirty="0" sz="2000" spc="-15" b="1">
                <a:latin typeface="Malgun Gothic"/>
                <a:cs typeface="Malgun Gothic"/>
              </a:rPr>
              <a:t>복</a:t>
            </a:r>
            <a:r>
              <a:rPr dirty="0" sz="2000" b="1">
                <a:latin typeface="Malgun Gothic"/>
                <a:cs typeface="Malgun Gothic"/>
              </a:rPr>
              <a:t>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극  </a:t>
            </a:r>
            <a:r>
              <a:rPr dirty="0" sz="2000" spc="-5" b="1">
                <a:latin typeface="Malgun Gothic"/>
                <a:cs typeface="Malgun Gothic"/>
              </a:rPr>
              <a:t>대화를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실현할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최적의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분배상태를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분별할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algun Gothic"/>
              <a:buChar char="-"/>
            </a:pPr>
            <a:endParaRPr sz="205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롤즈의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견해</a:t>
            </a:r>
            <a:endParaRPr sz="2000">
              <a:latin typeface="Malgun Gothic"/>
              <a:cs typeface="Malgun Gothic"/>
            </a:endParaRPr>
          </a:p>
          <a:p>
            <a:pPr lvl="1" marL="440055" marR="6350" indent="-301625">
              <a:lnSpc>
                <a:spcPct val="133400"/>
              </a:lnSpc>
              <a:buChar char="-"/>
              <a:tabLst>
                <a:tab pos="436880" algn="l"/>
                <a:tab pos="437515" algn="l"/>
                <a:tab pos="1843405" algn="l"/>
                <a:tab pos="2489200" algn="l"/>
                <a:tab pos="3136265" algn="l"/>
                <a:tab pos="4288790" algn="l"/>
                <a:tab pos="5188585" algn="l"/>
                <a:tab pos="6342380" algn="l"/>
                <a:tab pos="6987540" algn="l"/>
                <a:tab pos="7380605" algn="l"/>
                <a:tab pos="828040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생</a:t>
            </a:r>
            <a:r>
              <a:rPr dirty="0" sz="2000" b="1">
                <a:latin typeface="Malgun Gothic"/>
                <a:cs typeface="Malgun Gothic"/>
              </a:rPr>
              <a:t>활수</a:t>
            </a:r>
            <a:r>
              <a:rPr dirty="0" sz="2000" spc="-15" b="1">
                <a:latin typeface="Malgun Gothic"/>
                <a:cs typeface="Malgun Gothic"/>
              </a:rPr>
              <a:t>준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가장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낮은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사</a:t>
            </a:r>
            <a:r>
              <a:rPr dirty="0" sz="2000" b="1">
                <a:latin typeface="Malgun Gothic"/>
                <a:cs typeface="Malgun Gothic"/>
              </a:rPr>
              <a:t>람에게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이익이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돌아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않는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재</a:t>
            </a:r>
            <a:r>
              <a:rPr dirty="0" sz="2000" spc="-15" b="1">
                <a:latin typeface="Malgun Gothic"/>
                <a:cs typeface="Malgun Gothic"/>
              </a:rPr>
              <a:t>화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원  </a:t>
            </a:r>
            <a:r>
              <a:rPr dirty="0" sz="2000" spc="-5" b="1">
                <a:latin typeface="Malgun Gothic"/>
                <a:cs typeface="Malgun Gothic"/>
              </a:rPr>
              <a:t>칙적으로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평등하게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분배되어야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한다.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최적의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분배상태는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실현될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없다.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사회주의자의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견해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자신들의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목표인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평등한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분배상태를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달성하지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못하고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60299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"/>
              <a:t>제5절</a:t>
            </a:r>
            <a:r>
              <a:rPr dirty="0" spc="270"/>
              <a:t> </a:t>
            </a:r>
            <a:r>
              <a:rPr dirty="0" spc="-5"/>
              <a:t>공공선택과</a:t>
            </a:r>
            <a:r>
              <a:rPr dirty="0" spc="270"/>
              <a:t> </a:t>
            </a:r>
            <a:r>
              <a:rPr dirty="0" spc="-5"/>
              <a:t>정부의</a:t>
            </a:r>
            <a:r>
              <a:rPr dirty="0" spc="270"/>
              <a:t> </a:t>
            </a:r>
            <a:r>
              <a:rPr dirty="0"/>
              <a:t>실패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430260" cy="439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5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정부의</a:t>
            </a:r>
            <a:r>
              <a:rPr dirty="0" sz="2000" spc="26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실패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정부개입이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확대된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주된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Muller(2003)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시장실패에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대처한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소득이나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부의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재분배자로서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유권자들의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투표제휴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또는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이익단체의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정치적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압력에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대한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정부반응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관료들의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역할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관료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및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정치인은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자기이익의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극대화를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추구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정치인의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득표극대화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중위투표자,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이익집단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의사면허제도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관료들의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효용극대화,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예산극대화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2618" y="1208885"/>
            <a:ext cx="19913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0" b="1">
                <a:latin typeface="Malgun Gothic"/>
                <a:cs typeface="Malgun Gothic"/>
              </a:rPr>
              <a:t>&lt;니스칸넨</a:t>
            </a:r>
            <a:r>
              <a:rPr dirty="0" sz="2000" spc="210" b="1">
                <a:latin typeface="Malgun Gothic"/>
                <a:cs typeface="Malgun Gothic"/>
              </a:rPr>
              <a:t> </a:t>
            </a:r>
            <a:r>
              <a:rPr dirty="0" sz="2000" spc="-70" b="1">
                <a:latin typeface="Malgun Gothic"/>
                <a:cs typeface="Malgun Gothic"/>
              </a:rPr>
              <a:t>모형&gt;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8751" y="1208885"/>
            <a:ext cx="265811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"/>
              <a:t>&lt;미그-빌레인저</a:t>
            </a:r>
            <a:r>
              <a:rPr dirty="0" spc="229"/>
              <a:t> </a:t>
            </a:r>
            <a:r>
              <a:rPr dirty="0" spc="-70"/>
              <a:t>모형&gt;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334" y="2071522"/>
            <a:ext cx="8522030" cy="35855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9005" cy="327342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000" spc="40" b="1">
                <a:latin typeface="Malgun Gothic"/>
                <a:cs typeface="Malgun Gothic"/>
              </a:rPr>
              <a:t>2.</a:t>
            </a:r>
            <a:r>
              <a:rPr dirty="0" sz="2000" spc="23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평가</a:t>
            </a:r>
            <a:endParaRPr sz="2000">
              <a:latin typeface="Malgun Gothic"/>
              <a:cs typeface="Malgun Gothic"/>
            </a:endParaRPr>
          </a:p>
          <a:p>
            <a:pPr marL="302895" marR="5080" indent="-290830">
              <a:lnSpc>
                <a:spcPts val="3200"/>
              </a:lnSpc>
              <a:spcBef>
                <a:spcPts val="229"/>
              </a:spcBef>
              <a:buChar char="-"/>
              <a:tabLst>
                <a:tab pos="30353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정부규제는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독점적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지대의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문제를</a:t>
            </a:r>
            <a:r>
              <a:rPr dirty="0" sz="2000" spc="3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야기할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수도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있지만,</a:t>
            </a:r>
            <a:r>
              <a:rPr dirty="0" sz="2000" spc="33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동시에</a:t>
            </a:r>
            <a:r>
              <a:rPr dirty="0" sz="2000" spc="3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불완전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정보하에서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소비자를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보호하는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기능을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수행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spcBef>
                <a:spcPts val="565"/>
              </a:spcBef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관료의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자기이익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극대화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논리가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과장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5" b="1">
                <a:latin typeface="Malgun Gothic"/>
                <a:cs typeface="Malgun Gothic"/>
              </a:rPr>
              <a:t>제6절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이론에서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30" b="1">
                <a:latin typeface="Malgun Gothic"/>
                <a:cs typeface="Malgun Gothic"/>
              </a:rPr>
              <a:t>정치로: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민영화의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문제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40" b="1">
                <a:latin typeface="Malgun Gothic"/>
                <a:cs typeface="Malgun Gothic"/>
              </a:rPr>
              <a:t>1.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민영화(privatization)의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개념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663" y="1208885"/>
            <a:ext cx="486537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&lt;그림</a:t>
            </a:r>
            <a:r>
              <a:rPr dirty="0" spc="275"/>
              <a:t> </a:t>
            </a:r>
            <a:r>
              <a:rPr dirty="0" spc="70"/>
              <a:t>4-7&gt;</a:t>
            </a:r>
            <a:r>
              <a:rPr dirty="0" spc="280"/>
              <a:t> </a:t>
            </a:r>
            <a:r>
              <a:rPr dirty="0" spc="-5"/>
              <a:t>공공공급과</a:t>
            </a:r>
            <a:r>
              <a:rPr dirty="0" spc="275"/>
              <a:t> </a:t>
            </a:r>
            <a:r>
              <a:rPr dirty="0" spc="-5"/>
              <a:t>민간공급의</a:t>
            </a:r>
            <a:r>
              <a:rPr dirty="0" spc="275"/>
              <a:t> </a:t>
            </a:r>
            <a:r>
              <a:rPr dirty="0"/>
              <a:t>개관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6954" y="1666367"/>
            <a:ext cx="5168315" cy="45497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7922895" cy="205486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89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민영화에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논의를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명확하게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하기위한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전제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b="1">
                <a:latin typeface="Malgun Gothic"/>
                <a:cs typeface="Malgun Gothic"/>
              </a:rPr>
              <a:t>어떤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부문에서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생산을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담당해야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하는가?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재정은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어떤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부문에서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부담해야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하는가?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규제에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특정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재화의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총생산량이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어떤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영향을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받게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되는가?</a:t>
            </a:r>
            <a:endParaRPr sz="20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규제를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통한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어떤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영향을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받게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되는가?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636" y="3949686"/>
            <a:ext cx="1480820" cy="124587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spc="40" b="1">
                <a:latin typeface="Malgun Gothic"/>
                <a:cs typeface="Malgun Gothic"/>
              </a:rPr>
              <a:t>2.</a:t>
            </a:r>
            <a:r>
              <a:rPr dirty="0" sz="2000" spc="2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주요논점</a:t>
            </a:r>
            <a:endParaRPr sz="2000">
              <a:latin typeface="Malgun Gothic"/>
              <a:cs typeface="Malgun Gothic"/>
            </a:endParaRPr>
          </a:p>
          <a:p>
            <a:pPr marL="440055" marR="5080" indent="-301625">
              <a:lnSpc>
                <a:spcPct val="133400"/>
              </a:lnSpc>
              <a:tabLst>
                <a:tab pos="45212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	</a:t>
            </a:r>
            <a:r>
              <a:rPr dirty="0" sz="2000" b="1">
                <a:latin typeface="Malgun Gothic"/>
                <a:cs typeface="Malgun Gothic"/>
              </a:rPr>
              <a:t>민</a:t>
            </a:r>
            <a:r>
              <a:rPr dirty="0" sz="2000" spc="-15" b="1">
                <a:latin typeface="Malgun Gothic"/>
                <a:cs typeface="Malgun Gothic"/>
              </a:rPr>
              <a:t>영</a:t>
            </a:r>
            <a:r>
              <a:rPr dirty="0" sz="2000" b="1">
                <a:latin typeface="Malgun Gothic"/>
                <a:cs typeface="Malgun Gothic"/>
              </a:rPr>
              <a:t>화와  </a:t>
            </a:r>
            <a:r>
              <a:rPr dirty="0" sz="2000" spc="25" b="1">
                <a:latin typeface="Malgun Gothic"/>
                <a:cs typeface="Malgun Gothic"/>
              </a:rPr>
              <a:t>는가?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5745" y="4457817"/>
            <a:ext cx="6939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  <a:tab pos="1588135" algn="l"/>
                <a:tab pos="2757170" algn="l"/>
                <a:tab pos="4180204" algn="l"/>
                <a:tab pos="5602605" algn="l"/>
                <a:tab pos="6264275" algn="l"/>
                <a:tab pos="667258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관</a:t>
            </a:r>
            <a:r>
              <a:rPr dirty="0" sz="2000" b="1">
                <a:latin typeface="Malgun Gothic"/>
                <a:cs typeface="Malgun Gothic"/>
              </a:rPr>
              <a:t>련된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정책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내용</a:t>
            </a:r>
            <a:r>
              <a:rPr dirty="0" sz="2000" spc="-15" b="1">
                <a:latin typeface="Malgun Gothic"/>
                <a:cs typeface="Malgun Gothic"/>
              </a:rPr>
              <a:t>들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표준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정과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상</a:t>
            </a:r>
            <a:r>
              <a:rPr dirty="0" sz="2000" b="1">
                <a:latin typeface="Malgun Gothic"/>
                <a:cs typeface="Malgun Gothic"/>
              </a:rPr>
              <a:t>호조</a:t>
            </a:r>
            <a:r>
              <a:rPr dirty="0" sz="2000" spc="-15" b="1">
                <a:latin typeface="Malgun Gothic"/>
                <a:cs typeface="Malgun Gothic"/>
              </a:rPr>
              <a:t>화</a:t>
            </a:r>
            <a:r>
              <a:rPr dirty="0" sz="2000" b="1">
                <a:latin typeface="Malgun Gothic"/>
                <a:cs typeface="Malgun Gothic"/>
              </a:rPr>
              <a:t>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2990" y="5168226"/>
            <a:ext cx="842264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690" marR="5080" indent="-301625">
              <a:lnSpc>
                <a:spcPct val="133400"/>
              </a:lnSpc>
              <a:spcBef>
                <a:spcPts val="100"/>
              </a:spcBef>
              <a:tabLst>
                <a:tab pos="313690" algn="l"/>
                <a:tab pos="1469390" algn="l"/>
                <a:tab pos="2371725" algn="l"/>
                <a:tab pos="3783329" algn="l"/>
                <a:tab pos="5193030" algn="l"/>
                <a:tab pos="6350000" algn="l"/>
                <a:tab pos="7252334" algn="l"/>
                <a:tab pos="7901305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념이나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개입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다는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전</a:t>
            </a:r>
            <a:r>
              <a:rPr dirty="0" sz="2000" b="1">
                <a:latin typeface="Malgun Gothic"/>
                <a:cs typeface="Malgun Gothic"/>
              </a:rPr>
              <a:t>문적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객</a:t>
            </a:r>
            <a:r>
              <a:rPr dirty="0" sz="2000" spc="-15" b="1">
                <a:latin typeface="Malgun Gothic"/>
                <a:cs typeface="Malgun Gothic"/>
              </a:rPr>
              <a:t>관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평</a:t>
            </a:r>
            <a:r>
              <a:rPr dirty="0" sz="2000" b="1">
                <a:latin typeface="Malgun Gothic"/>
                <a:cs typeface="Malgun Gothic"/>
              </a:rPr>
              <a:t>가와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대</a:t>
            </a:r>
            <a:r>
              <a:rPr dirty="0" sz="2000" b="1">
                <a:latin typeface="Malgun Gothic"/>
                <a:cs typeface="Malgun Gothic"/>
              </a:rPr>
              <a:t>안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모색  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필요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394144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"/>
              <a:t>제7절</a:t>
            </a:r>
            <a:r>
              <a:rPr dirty="0" spc="275"/>
              <a:t> </a:t>
            </a:r>
            <a:r>
              <a:rPr dirty="0" spc="40"/>
              <a:t>결론:</a:t>
            </a:r>
            <a:r>
              <a:rPr dirty="0" spc="280"/>
              <a:t> </a:t>
            </a:r>
            <a:r>
              <a:rPr dirty="0" spc="-5"/>
              <a:t>경제이론과</a:t>
            </a:r>
            <a:r>
              <a:rPr dirty="0" spc="275"/>
              <a:t> </a:t>
            </a:r>
            <a:r>
              <a:rPr dirty="0" spc="-5"/>
              <a:t>정치이론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143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1.</a:t>
            </a:r>
            <a:r>
              <a:rPr dirty="0" spc="265"/>
              <a:t> </a:t>
            </a:r>
            <a:r>
              <a:rPr dirty="0"/>
              <a:t>정부와</a:t>
            </a:r>
            <a:r>
              <a:rPr dirty="0" spc="270"/>
              <a:t> </a:t>
            </a:r>
            <a:r>
              <a:rPr dirty="0" spc="-5"/>
              <a:t>시장의</a:t>
            </a:r>
            <a:r>
              <a:rPr dirty="0" spc="270"/>
              <a:t> </a:t>
            </a:r>
            <a:r>
              <a:rPr dirty="0" spc="-5"/>
              <a:t>경계선</a:t>
            </a:r>
          </a:p>
          <a:p>
            <a:pPr marL="1270">
              <a:lnSpc>
                <a:spcPct val="100000"/>
              </a:lnSpc>
              <a:spcBef>
                <a:spcPts val="20"/>
              </a:spcBef>
            </a:pPr>
            <a:endParaRPr sz="1750"/>
          </a:p>
          <a:p>
            <a:pPr marL="307340" marR="6350" indent="-294005">
              <a:lnSpc>
                <a:spcPct val="133400"/>
              </a:lnSpc>
              <a:buFont typeface="Cambria"/>
              <a:buChar char="○"/>
              <a:tabLst>
                <a:tab pos="307340" algn="l"/>
                <a:tab pos="307975" algn="l"/>
                <a:tab pos="2303145" algn="l"/>
                <a:tab pos="3353435" algn="l"/>
                <a:tab pos="4280535" algn="l"/>
                <a:tab pos="5716270" algn="l"/>
                <a:tab pos="8281670" algn="l"/>
              </a:tabLst>
            </a:pPr>
            <a:r>
              <a:rPr dirty="0" spc="-15"/>
              <a:t>공</a:t>
            </a:r>
            <a:r>
              <a:rPr dirty="0"/>
              <a:t>공선</a:t>
            </a:r>
            <a:r>
              <a:rPr dirty="0" spc="-15"/>
              <a:t>택</a:t>
            </a:r>
            <a:r>
              <a:rPr dirty="0" spc="35"/>
              <a:t>(</a:t>
            </a:r>
            <a:r>
              <a:rPr dirty="0" spc="-105"/>
              <a:t>p</a:t>
            </a:r>
            <a:r>
              <a:rPr dirty="0" spc="-95"/>
              <a:t>u</a:t>
            </a:r>
            <a:r>
              <a:rPr dirty="0" spc="-105"/>
              <a:t>b</a:t>
            </a:r>
            <a:r>
              <a:rPr dirty="0" spc="35"/>
              <a:t>l</a:t>
            </a:r>
            <a:r>
              <a:rPr dirty="0" spc="20"/>
              <a:t>i</a:t>
            </a:r>
            <a:r>
              <a:rPr dirty="0" spc="110"/>
              <a:t>c</a:t>
            </a:r>
            <a:r>
              <a:rPr dirty="0"/>
              <a:t>	</a:t>
            </a:r>
            <a:r>
              <a:rPr dirty="0" spc="114"/>
              <a:t>c</a:t>
            </a:r>
            <a:r>
              <a:rPr dirty="0" spc="-80"/>
              <a:t>h</a:t>
            </a:r>
            <a:r>
              <a:rPr dirty="0" spc="-70"/>
              <a:t>o</a:t>
            </a:r>
            <a:r>
              <a:rPr dirty="0" spc="20"/>
              <a:t>i</a:t>
            </a:r>
            <a:r>
              <a:rPr dirty="0" spc="100"/>
              <a:t>c</a:t>
            </a:r>
            <a:r>
              <a:rPr dirty="0" spc="45"/>
              <a:t>e</a:t>
            </a:r>
            <a:r>
              <a:rPr dirty="0" spc="35"/>
              <a:t>)</a:t>
            </a:r>
            <a:r>
              <a:rPr dirty="0"/>
              <a:t>	</a:t>
            </a:r>
            <a:r>
              <a:rPr dirty="0"/>
              <a:t>이론은</a:t>
            </a:r>
            <a:r>
              <a:rPr dirty="0"/>
              <a:t>	</a:t>
            </a:r>
            <a:r>
              <a:rPr dirty="0">
                <a:solidFill>
                  <a:srgbClr val="0000FF"/>
                </a:solidFill>
              </a:rPr>
              <a:t>정부</a:t>
            </a:r>
            <a:r>
              <a:rPr dirty="0" spc="-15">
                <a:solidFill>
                  <a:srgbClr val="0000FF"/>
                </a:solidFill>
              </a:rPr>
              <a:t>활</a:t>
            </a:r>
            <a:r>
              <a:rPr dirty="0">
                <a:solidFill>
                  <a:srgbClr val="0000FF"/>
                </a:solidFill>
              </a:rPr>
              <a:t>동을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>
                <a:solidFill>
                  <a:srgbClr val="0000FF"/>
                </a:solidFill>
              </a:rPr>
              <a:t>내</a:t>
            </a:r>
            <a:r>
              <a:rPr dirty="0" spc="-15">
                <a:solidFill>
                  <a:srgbClr val="0000FF"/>
                </a:solidFill>
              </a:rPr>
              <a:t>생</a:t>
            </a:r>
            <a:r>
              <a:rPr dirty="0">
                <a:solidFill>
                  <a:srgbClr val="0000FF"/>
                </a:solidFill>
              </a:rPr>
              <a:t>적</a:t>
            </a:r>
            <a:r>
              <a:rPr dirty="0" spc="35">
                <a:solidFill>
                  <a:srgbClr val="0000FF"/>
                </a:solidFill>
              </a:rPr>
              <a:t>(</a:t>
            </a:r>
            <a:r>
              <a:rPr dirty="0" spc="45">
                <a:solidFill>
                  <a:srgbClr val="0000FF"/>
                </a:solidFill>
              </a:rPr>
              <a:t>e</a:t>
            </a:r>
            <a:r>
              <a:rPr dirty="0" spc="-85">
                <a:solidFill>
                  <a:srgbClr val="0000FF"/>
                </a:solidFill>
              </a:rPr>
              <a:t>n</a:t>
            </a:r>
            <a:r>
              <a:rPr dirty="0" spc="-105">
                <a:solidFill>
                  <a:srgbClr val="0000FF"/>
                </a:solidFill>
              </a:rPr>
              <a:t>d</a:t>
            </a:r>
            <a:r>
              <a:rPr dirty="0" spc="-80">
                <a:solidFill>
                  <a:srgbClr val="0000FF"/>
                </a:solidFill>
              </a:rPr>
              <a:t>o</a:t>
            </a:r>
            <a:r>
              <a:rPr dirty="0" spc="-90">
                <a:solidFill>
                  <a:srgbClr val="0000FF"/>
                </a:solidFill>
              </a:rPr>
              <a:t>g</a:t>
            </a:r>
            <a:r>
              <a:rPr dirty="0" spc="45">
                <a:solidFill>
                  <a:srgbClr val="0000FF"/>
                </a:solidFill>
              </a:rPr>
              <a:t>e</a:t>
            </a:r>
            <a:r>
              <a:rPr dirty="0" spc="-75">
                <a:solidFill>
                  <a:srgbClr val="0000FF"/>
                </a:solidFill>
              </a:rPr>
              <a:t>n</a:t>
            </a:r>
            <a:r>
              <a:rPr dirty="0" spc="-80">
                <a:solidFill>
                  <a:srgbClr val="0000FF"/>
                </a:solidFill>
              </a:rPr>
              <a:t>o</a:t>
            </a:r>
            <a:r>
              <a:rPr dirty="0" spc="-95">
                <a:solidFill>
                  <a:srgbClr val="0000FF"/>
                </a:solidFill>
              </a:rPr>
              <a:t>u</a:t>
            </a:r>
            <a:r>
              <a:rPr dirty="0" spc="114">
                <a:solidFill>
                  <a:srgbClr val="0000FF"/>
                </a:solidFill>
              </a:rPr>
              <a:t>s</a:t>
            </a:r>
            <a:r>
              <a:rPr dirty="0" spc="35">
                <a:solidFill>
                  <a:srgbClr val="0000FF"/>
                </a:solidFill>
              </a:rPr>
              <a:t>)</a:t>
            </a:r>
            <a:r>
              <a:rPr dirty="0">
                <a:solidFill>
                  <a:srgbClr val="0000FF"/>
                </a:solidFill>
              </a:rPr>
              <a:t>	</a:t>
            </a:r>
            <a:r>
              <a:rPr dirty="0"/>
              <a:t>변  </a:t>
            </a:r>
            <a:r>
              <a:rPr dirty="0" spc="-10"/>
              <a:t>수로</a:t>
            </a:r>
            <a:r>
              <a:rPr dirty="0" spc="285"/>
              <a:t> </a:t>
            </a:r>
            <a:r>
              <a:rPr dirty="0" spc="-5"/>
              <a:t>분석한다</a:t>
            </a:r>
          </a:p>
          <a:p>
            <a:pPr lvl="1" marL="471805" marR="5080" indent="-332105">
              <a:lnSpc>
                <a:spcPct val="132900"/>
              </a:lnSpc>
              <a:spcBef>
                <a:spcPts val="10"/>
              </a:spcBef>
              <a:buChar char="-"/>
              <a:tabLst>
                <a:tab pos="471805" algn="l"/>
                <a:tab pos="472440" algn="l"/>
                <a:tab pos="2711450" algn="l"/>
                <a:tab pos="4719320" algn="l"/>
                <a:tab pos="5399405" algn="l"/>
                <a:tab pos="6841490" algn="l"/>
                <a:tab pos="7774305" algn="l"/>
              </a:tabLst>
            </a:pPr>
            <a:r>
              <a:rPr dirty="0" sz="2000" b="1">
                <a:latin typeface="Malgun Gothic"/>
                <a:cs typeface="Malgun Gothic"/>
              </a:rPr>
              <a:t>정</a:t>
            </a:r>
            <a:r>
              <a:rPr dirty="0" sz="2000" spc="-15" b="1">
                <a:latin typeface="Malgun Gothic"/>
                <a:cs typeface="Malgun Gothic"/>
              </a:rPr>
              <a:t>치</a:t>
            </a:r>
            <a:r>
              <a:rPr dirty="0" sz="2000" b="1">
                <a:latin typeface="Malgun Gothic"/>
                <a:cs typeface="Malgun Gothic"/>
              </a:rPr>
              <a:t>시장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-120" b="1">
                <a:latin typeface="Malgun Gothic"/>
                <a:cs typeface="Malgun Gothic"/>
              </a:rPr>
              <a:t>p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30" b="1">
                <a:latin typeface="Malgun Gothic"/>
                <a:cs typeface="Malgun Gothic"/>
              </a:rPr>
              <a:t>i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70" b="1">
                <a:latin typeface="Malgun Gothic"/>
                <a:cs typeface="Malgun Gothic"/>
              </a:rPr>
              <a:t>m</a:t>
            </a:r>
            <a:r>
              <a:rPr dirty="0" sz="2000" b="1">
                <a:latin typeface="Malgun Gothic"/>
                <a:cs typeface="Malgun Gothic"/>
              </a:rPr>
              <a:t>a</a:t>
            </a:r>
            <a:r>
              <a:rPr dirty="0" sz="2000" spc="85" b="1">
                <a:latin typeface="Malgun Gothic"/>
                <a:cs typeface="Malgun Gothic"/>
              </a:rPr>
              <a:t>r</a:t>
            </a:r>
            <a:r>
              <a:rPr dirty="0" sz="2000" spc="25" b="1">
                <a:latin typeface="Malgun Gothic"/>
                <a:cs typeface="Malgun Gothic"/>
              </a:rPr>
              <a:t>k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-105" b="1">
                <a:latin typeface="Malgun Gothic"/>
                <a:cs typeface="Malgun Gothic"/>
              </a:rPr>
              <a:t>p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100" b="1">
                <a:latin typeface="Malgun Gothic"/>
                <a:cs typeface="Malgun Gothic"/>
              </a:rPr>
              <a:t>c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35" b="1">
                <a:latin typeface="Malgun Gothic"/>
                <a:cs typeface="Malgun Gothic"/>
              </a:rPr>
              <a:t>)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통한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회</a:t>
            </a:r>
            <a:r>
              <a:rPr dirty="0" sz="2000" b="1">
                <a:latin typeface="Malgun Gothic"/>
                <a:cs typeface="Malgun Gothic"/>
              </a:rPr>
              <a:t>복지의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성</a:t>
            </a:r>
            <a:r>
              <a:rPr dirty="0" sz="2000" b="1">
                <a:latin typeface="Malgun Gothic"/>
                <a:cs typeface="Malgun Gothic"/>
              </a:rPr>
              <a:t>과가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전통적  </a:t>
            </a:r>
            <a:r>
              <a:rPr dirty="0" sz="2000" spc="-5" b="1">
                <a:latin typeface="Malgun Gothic"/>
                <a:cs typeface="Malgun Gothic"/>
              </a:rPr>
              <a:t>시장의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결과보다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반드시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열등하게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된다는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결론을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도출할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없다</a:t>
            </a:r>
            <a:endParaRPr sz="2000">
              <a:latin typeface="Malgun Gothic"/>
              <a:cs typeface="Malgun Gothic"/>
            </a:endParaRPr>
          </a:p>
          <a:p>
            <a:pPr lvl="1" marL="471805" marR="5080" indent="-332105">
              <a:lnSpc>
                <a:spcPct val="133400"/>
              </a:lnSpc>
              <a:buChar char="-"/>
              <a:tabLst>
                <a:tab pos="453390" algn="l"/>
                <a:tab pos="454025" algn="l"/>
                <a:tab pos="1622425" algn="l"/>
                <a:tab pos="2537460" algn="l"/>
                <a:tab pos="3452495" algn="l"/>
                <a:tab pos="4621530" algn="l"/>
                <a:tab pos="5282565" algn="l"/>
                <a:tab pos="5944870" algn="l"/>
                <a:tab pos="7366634" algn="l"/>
                <a:tab pos="8028940" algn="l"/>
              </a:tabLst>
            </a:pPr>
            <a:r>
              <a:rPr dirty="0" sz="2000" b="1">
                <a:latin typeface="Malgun Gothic"/>
                <a:cs typeface="Malgun Gothic"/>
              </a:rPr>
              <a:t>왜</a:t>
            </a:r>
            <a:r>
              <a:rPr dirty="0" sz="2000" spc="-15" b="1">
                <a:latin typeface="Malgun Gothic"/>
                <a:cs typeface="Malgun Gothic"/>
              </a:rPr>
              <a:t>냐</a:t>
            </a:r>
            <a:r>
              <a:rPr dirty="0" sz="2000" b="1">
                <a:latin typeface="Malgun Gothic"/>
                <a:cs typeface="Malgun Gothic"/>
              </a:rPr>
              <a:t>하면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시</a:t>
            </a:r>
            <a:r>
              <a:rPr dirty="0" sz="2000" b="1">
                <a:latin typeface="Malgun Gothic"/>
                <a:cs typeface="Malgun Gothic"/>
              </a:rPr>
              <a:t>장의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결</a:t>
            </a:r>
            <a:r>
              <a:rPr dirty="0" sz="2000" spc="-15" b="1">
                <a:latin typeface="Malgun Gothic"/>
                <a:cs typeface="Malgun Gothic"/>
              </a:rPr>
              <a:t>과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</a:t>
            </a:r>
            <a:r>
              <a:rPr dirty="0" sz="2000" spc="-15" b="1">
                <a:latin typeface="Malgun Gothic"/>
                <a:cs typeface="Malgun Gothic"/>
              </a:rPr>
              <a:t>율</a:t>
            </a:r>
            <a:r>
              <a:rPr dirty="0" sz="2000" b="1">
                <a:latin typeface="Malgun Gothic"/>
                <a:cs typeface="Malgun Gothic"/>
              </a:rPr>
              <a:t>적일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비</a:t>
            </a:r>
            <a:r>
              <a:rPr dirty="0" sz="2000" spc="-15" b="1">
                <a:latin typeface="Malgun Gothic"/>
                <a:cs typeface="Malgun Gothic"/>
              </a:rPr>
              <a:t>효</a:t>
            </a:r>
            <a:r>
              <a:rPr dirty="0" sz="2000" b="1">
                <a:latin typeface="Malgun Gothic"/>
                <a:cs typeface="Malgun Gothic"/>
              </a:rPr>
              <a:t>율적일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있듯  </a:t>
            </a:r>
            <a:r>
              <a:rPr dirty="0" sz="2000" spc="30" b="1">
                <a:latin typeface="Malgun Gothic"/>
                <a:cs typeface="Malgun Gothic"/>
              </a:rPr>
              <a:t>이,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정부활동도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그러할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때문이다</a:t>
            </a:r>
            <a:endParaRPr sz="2000">
              <a:latin typeface="Malgun Gothic"/>
              <a:cs typeface="Malgun Gothic"/>
            </a:endParaRPr>
          </a:p>
          <a:p>
            <a:pPr lvl="1" marL="426084" indent="-287020">
              <a:lnSpc>
                <a:spcPct val="100000"/>
              </a:lnSpc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시장실패(market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failure)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75" b="1">
                <a:latin typeface="Malgun Gothic"/>
                <a:cs typeface="Malgun Gothic"/>
              </a:rPr>
              <a:t>vs.</a:t>
            </a:r>
            <a:r>
              <a:rPr dirty="0" sz="2000" spc="310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정부실패(government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failure)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108965"/>
            <a:ext cx="8547100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5130" marR="5080" indent="-405130">
              <a:lnSpc>
                <a:spcPct val="132900"/>
              </a:lnSpc>
              <a:spcBef>
                <a:spcPts val="100"/>
              </a:spcBef>
              <a:buFont typeface="Cambria"/>
              <a:buChar char="○"/>
              <a:tabLst>
                <a:tab pos="405130" algn="l"/>
                <a:tab pos="405765" algn="l"/>
                <a:tab pos="2263775" algn="l"/>
                <a:tab pos="3526154" algn="l"/>
                <a:tab pos="5403215" algn="l"/>
                <a:tab pos="6097270" algn="l"/>
                <a:tab pos="6745605" algn="l"/>
                <a:tab pos="7558405" algn="l"/>
              </a:tabLst>
            </a:pP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75" b="1">
                <a:latin typeface="Malgun Gothic"/>
                <a:cs typeface="Malgun Gothic"/>
              </a:rPr>
              <a:t>n</a:t>
            </a:r>
            <a:r>
              <a:rPr dirty="0" sz="2000" spc="-160" b="1">
                <a:latin typeface="Malgun Gothic"/>
                <a:cs typeface="Malgun Gothic"/>
              </a:rPr>
              <a:t>m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35" b="1">
                <a:latin typeface="Malgun Gothic"/>
                <a:cs typeface="Malgun Gothic"/>
              </a:rPr>
              <a:t>(</a:t>
            </a:r>
            <a:r>
              <a:rPr dirty="0" sz="2000" spc="20" b="1">
                <a:latin typeface="Malgun Gothic"/>
                <a:cs typeface="Malgun Gothic"/>
              </a:rPr>
              <a:t>19</a:t>
            </a:r>
            <a:r>
              <a:rPr dirty="0" sz="2000" spc="35" b="1">
                <a:latin typeface="Malgun Gothic"/>
                <a:cs typeface="Malgun Gothic"/>
              </a:rPr>
              <a:t>8</a:t>
            </a:r>
            <a:r>
              <a:rPr dirty="0" sz="2000" spc="20" b="1">
                <a:latin typeface="Malgun Gothic"/>
                <a:cs typeface="Malgun Gothic"/>
              </a:rPr>
              <a:t>7</a:t>
            </a:r>
            <a:r>
              <a:rPr dirty="0" sz="2000" spc="20" b="1">
                <a:latin typeface="Malgun Gothic"/>
                <a:cs typeface="Malgun Gothic"/>
              </a:rPr>
              <a:t>)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65" b="1">
                <a:latin typeface="Malgun Gothic"/>
                <a:cs typeface="Malgun Gothic"/>
              </a:rPr>
              <a:t>'</a:t>
            </a:r>
            <a:r>
              <a:rPr dirty="0" sz="2000" spc="-145" b="1">
                <a:latin typeface="Malgun Gothic"/>
                <a:cs typeface="Malgun Gothic"/>
              </a:rPr>
              <a:t>M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95" b="1">
                <a:latin typeface="Malgun Gothic"/>
                <a:cs typeface="Malgun Gothic"/>
              </a:rPr>
              <a:t>r</a:t>
            </a:r>
            <a:r>
              <a:rPr dirty="0" sz="2000" spc="25" b="1">
                <a:latin typeface="Malgun Gothic"/>
                <a:cs typeface="Malgun Gothic"/>
              </a:rPr>
              <a:t>k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25" b="1">
                <a:latin typeface="Malgun Gothic"/>
                <a:cs typeface="Malgun Gothic"/>
              </a:rPr>
              <a:t>G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60" b="1">
                <a:latin typeface="Malgun Gothic"/>
                <a:cs typeface="Malgun Gothic"/>
              </a:rPr>
              <a:t>v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85" b="1">
                <a:latin typeface="Malgun Gothic"/>
                <a:cs typeface="Malgun Gothic"/>
              </a:rPr>
              <a:t>r</a:t>
            </a:r>
            <a:r>
              <a:rPr dirty="0" sz="2000" spc="-75" b="1">
                <a:latin typeface="Malgun Gothic"/>
                <a:cs typeface="Malgun Gothic"/>
              </a:rPr>
              <a:t>n</a:t>
            </a:r>
            <a:r>
              <a:rPr dirty="0" sz="2000" spc="-170" b="1">
                <a:latin typeface="Malgun Gothic"/>
                <a:cs typeface="Malgun Gothic"/>
              </a:rPr>
              <a:t>m</a:t>
            </a:r>
            <a:r>
              <a:rPr dirty="0" sz="2000" spc="45" b="1">
                <a:latin typeface="Malgun Gothic"/>
                <a:cs typeface="Malgun Gothic"/>
              </a:rPr>
              <a:t>e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-40" b="1">
                <a:latin typeface="Malgun Gothic"/>
                <a:cs typeface="Malgun Gothic"/>
              </a:rPr>
              <a:t>t</a:t>
            </a:r>
            <a:r>
              <a:rPr dirty="0" sz="2000" spc="114" b="1">
                <a:latin typeface="Malgun Gothic"/>
                <a:cs typeface="Malgun Gothic"/>
              </a:rPr>
              <a:t>s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-85" b="1">
                <a:latin typeface="Malgun Gothic"/>
                <a:cs typeface="Malgun Gothic"/>
              </a:rPr>
              <a:t>n</a:t>
            </a:r>
            <a:r>
              <a:rPr dirty="0" sz="2000" spc="-100" b="1">
                <a:latin typeface="Malgun Gothic"/>
                <a:cs typeface="Malgun Gothic"/>
              </a:rPr>
              <a:t>d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-80" b="1">
                <a:latin typeface="Malgun Gothic"/>
                <a:cs typeface="Malgun Gothic"/>
              </a:rPr>
              <a:t>h</a:t>
            </a:r>
            <a:r>
              <a:rPr dirty="0" sz="2000" spc="50" b="1">
                <a:latin typeface="Malgun Gothic"/>
                <a:cs typeface="Malgun Gothic"/>
              </a:rPr>
              <a:t>e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65" b="1">
                <a:latin typeface="Malgun Gothic"/>
                <a:cs typeface="Malgun Gothic"/>
              </a:rPr>
              <a:t>N</a:t>
            </a:r>
            <a:r>
              <a:rPr dirty="0" sz="2000" spc="55" b="1">
                <a:latin typeface="Malgun Gothic"/>
                <a:cs typeface="Malgun Gothic"/>
              </a:rPr>
              <a:t>e</a:t>
            </a:r>
            <a:r>
              <a:rPr dirty="0" sz="2000" spc="25" b="1">
                <a:latin typeface="Malgun Gothic"/>
                <a:cs typeface="Malgun Gothic"/>
              </a:rPr>
              <a:t>w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75" b="1">
                <a:latin typeface="Malgun Gothic"/>
                <a:cs typeface="Malgun Gothic"/>
              </a:rPr>
              <a:t>P</a:t>
            </a:r>
            <a:r>
              <a:rPr dirty="0" sz="2000" spc="-80" b="1">
                <a:latin typeface="Malgun Gothic"/>
                <a:cs typeface="Malgun Gothic"/>
              </a:rPr>
              <a:t>o</a:t>
            </a:r>
            <a:r>
              <a:rPr dirty="0" sz="2000" spc="35" b="1">
                <a:latin typeface="Malgun Gothic"/>
                <a:cs typeface="Malgun Gothic"/>
              </a:rPr>
              <a:t>l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-55" b="1">
                <a:latin typeface="Malgun Gothic"/>
                <a:cs typeface="Malgun Gothic"/>
              </a:rPr>
              <a:t>t</a:t>
            </a:r>
            <a:r>
              <a:rPr dirty="0" sz="2000" spc="20" b="1">
                <a:latin typeface="Malgun Gothic"/>
                <a:cs typeface="Malgun Gothic"/>
              </a:rPr>
              <a:t>i</a:t>
            </a:r>
            <a:r>
              <a:rPr dirty="0" sz="2000" spc="114" b="1">
                <a:latin typeface="Malgun Gothic"/>
                <a:cs typeface="Malgun Gothic"/>
              </a:rPr>
              <a:t>c</a:t>
            </a:r>
            <a:r>
              <a:rPr dirty="0" sz="2000" spc="-15" b="1">
                <a:latin typeface="Malgun Gothic"/>
                <a:cs typeface="Malgun Gothic"/>
              </a:rPr>
              <a:t>a</a:t>
            </a:r>
            <a:r>
              <a:rPr dirty="0" sz="2000" spc="40" b="1">
                <a:latin typeface="Malgun Gothic"/>
                <a:cs typeface="Malgun Gothic"/>
              </a:rPr>
              <a:t>l  </a:t>
            </a:r>
            <a:r>
              <a:rPr dirty="0" sz="2000" b="1">
                <a:latin typeface="Malgun Gothic"/>
                <a:cs typeface="Malgun Gothic"/>
              </a:rPr>
              <a:t>Economy'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2990" y="2020737"/>
            <a:ext cx="1847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6591" y="2020737"/>
            <a:ext cx="810958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  <a:tab pos="2096135" algn="l"/>
                <a:tab pos="3265804" algn="l"/>
                <a:tab pos="4180204" algn="l"/>
                <a:tab pos="5095240" algn="l"/>
                <a:tab pos="5757545" algn="l"/>
                <a:tab pos="6163945" algn="l"/>
                <a:tab pos="7587615" algn="l"/>
              </a:tabLst>
            </a:pP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실</a:t>
            </a:r>
            <a:r>
              <a:rPr dirty="0" sz="2000" spc="-15" b="1">
                <a:latin typeface="Malgun Gothic"/>
                <a:cs typeface="Malgun Gothic"/>
              </a:rPr>
              <a:t>패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근</a:t>
            </a:r>
            <a:r>
              <a:rPr dirty="0" sz="2000" spc="-15" b="1">
                <a:latin typeface="Malgun Gothic"/>
                <a:cs typeface="Malgun Gothic"/>
              </a:rPr>
              <a:t>본</a:t>
            </a:r>
            <a:r>
              <a:rPr dirty="0" sz="2000" b="1">
                <a:latin typeface="Malgun Gothic"/>
                <a:cs typeface="Malgun Gothic"/>
              </a:rPr>
              <a:t>적인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유는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들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상호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협력</a:t>
            </a:r>
            <a:r>
              <a:rPr dirty="0" sz="2000" spc="-15" b="1">
                <a:latin typeface="Malgun Gothic"/>
                <a:cs typeface="Malgun Gothic"/>
              </a:rPr>
              <a:t>행</a:t>
            </a:r>
            <a:r>
              <a:rPr dirty="0" sz="2000" b="1">
                <a:latin typeface="Malgun Gothic"/>
                <a:cs typeface="Malgun Gothic"/>
              </a:rPr>
              <a:t>위가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모두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2990" y="2327505"/>
            <a:ext cx="8422640" cy="408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5755" marR="5080">
              <a:lnSpc>
                <a:spcPct val="132900"/>
              </a:lnSpc>
              <a:spcBef>
                <a:spcPts val="100"/>
              </a:spcBef>
              <a:tabLst>
                <a:tab pos="977265" algn="l"/>
                <a:tab pos="1883410" algn="l"/>
                <a:tab pos="2788920" algn="l"/>
                <a:tab pos="3187700" algn="l"/>
                <a:tab pos="4347845" algn="l"/>
                <a:tab pos="5581015" algn="l"/>
                <a:tab pos="6995159" algn="l"/>
                <a:tab pos="8155305" algn="l"/>
              </a:tabLst>
            </a:pPr>
            <a:r>
              <a:rPr dirty="0" sz="2000" b="1">
                <a:latin typeface="Malgun Gothic"/>
                <a:cs typeface="Malgun Gothic"/>
              </a:rPr>
              <a:t>에게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이익이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돌아갈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있음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불</a:t>
            </a:r>
            <a:r>
              <a:rPr dirty="0" sz="2000" spc="-15" b="1">
                <a:latin typeface="Malgun Gothic"/>
                <a:cs typeface="Malgun Gothic"/>
              </a:rPr>
              <a:t>구</a:t>
            </a:r>
            <a:r>
              <a:rPr dirty="0" sz="2000" b="1">
                <a:latin typeface="Malgun Gothic"/>
                <a:cs typeface="Malgun Gothic"/>
              </a:rPr>
              <a:t>하고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시장</a:t>
            </a:r>
            <a:r>
              <a:rPr dirty="0" sz="2000" spc="-15" b="1">
                <a:latin typeface="Malgun Gothic"/>
                <a:cs typeface="Malgun Gothic"/>
              </a:rPr>
              <a:t>제</a:t>
            </a:r>
            <a:r>
              <a:rPr dirty="0" sz="2000" b="1">
                <a:latin typeface="Malgun Gothic"/>
                <a:cs typeface="Malgun Gothic"/>
              </a:rPr>
              <a:t>도는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자</a:t>
            </a:r>
            <a:r>
              <a:rPr dirty="0" sz="2000" b="1">
                <a:latin typeface="Malgun Gothic"/>
                <a:cs typeface="Malgun Gothic"/>
              </a:rPr>
              <a:t>신만의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효  </a:t>
            </a:r>
            <a:r>
              <a:rPr dirty="0" sz="2000" spc="-5" b="1">
                <a:latin typeface="Malgun Gothic"/>
                <a:cs typeface="Malgun Gothic"/>
              </a:rPr>
              <a:t>용극대화를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추구하는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개인에게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협력적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행동을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강제할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수</a:t>
            </a:r>
            <a:r>
              <a:rPr dirty="0" sz="2000" spc="2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0000FF"/>
                </a:solidFill>
                <a:latin typeface="Malgun Gothic"/>
                <a:cs typeface="Malgun Gothic"/>
              </a:rPr>
              <a:t>없는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346075" marR="5080" indent="-334010">
              <a:lnSpc>
                <a:spcPct val="133400"/>
              </a:lnSpc>
              <a:buChar char="-"/>
              <a:tabLst>
                <a:tab pos="345440" algn="l"/>
                <a:tab pos="346710" algn="l"/>
                <a:tab pos="1787525" algn="l"/>
                <a:tab pos="2974975" algn="l"/>
                <a:tab pos="3909695" algn="l"/>
                <a:tab pos="4337050" algn="l"/>
                <a:tab pos="5270500" algn="l"/>
                <a:tab pos="5952490" algn="l"/>
                <a:tab pos="739394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인정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불</a:t>
            </a:r>
            <a:r>
              <a:rPr dirty="0" sz="2000" b="1">
                <a:latin typeface="Malgun Gothic"/>
                <a:cs typeface="Malgun Gothic"/>
              </a:rPr>
              <a:t>리하게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이용될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없</a:t>
            </a:r>
            <a:r>
              <a:rPr dirty="0" sz="2000" b="1">
                <a:latin typeface="Malgun Gothic"/>
                <a:cs typeface="Malgun Gothic"/>
              </a:rPr>
              <a:t>도록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보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증장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가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결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여</a:t>
            </a:r>
            <a:r>
              <a:rPr dirty="0" sz="2000" b="1">
                <a:latin typeface="Malgun Gothic"/>
                <a:cs typeface="Malgun Gothic"/>
              </a:rPr>
              <a:t>되면  </a:t>
            </a:r>
            <a:r>
              <a:rPr dirty="0" sz="2000" spc="-5" b="1">
                <a:latin typeface="Malgun Gothic"/>
                <a:cs typeface="Malgun Gothic"/>
              </a:rPr>
              <a:t>정보의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은폐,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거래체계의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붕괴,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시장제도의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실패를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초래</a:t>
            </a:r>
            <a:endParaRPr sz="2000">
              <a:latin typeface="Malgun Gothic"/>
              <a:cs typeface="Malgun Gothic"/>
            </a:endParaRPr>
          </a:p>
          <a:p>
            <a:pPr marL="313690" marR="5080" indent="-313690">
              <a:lnSpc>
                <a:spcPts val="3200"/>
              </a:lnSpc>
              <a:spcBef>
                <a:spcPts val="229"/>
              </a:spcBef>
              <a:buClr>
                <a:srgbClr val="000000"/>
              </a:buClr>
              <a:buChar char="-"/>
              <a:tabLst>
                <a:tab pos="313690" algn="l"/>
                <a:tab pos="314325" algn="l"/>
                <a:tab pos="1216660" algn="l"/>
                <a:tab pos="2626360" algn="l"/>
                <a:tab pos="3528695" algn="l"/>
                <a:tab pos="4431665" algn="l"/>
                <a:tab pos="5334635" algn="l"/>
                <a:tab pos="5982970" algn="l"/>
                <a:tab pos="6885940" algn="l"/>
              </a:tabLst>
            </a:pP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집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단적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자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원배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분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의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	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행</a:t>
            </a:r>
            <a:r>
              <a:rPr dirty="0" sz="2000" spc="-15" b="1">
                <a:solidFill>
                  <a:srgbClr val="0000FF"/>
                </a:solidFill>
                <a:latin typeface="Malgun Gothic"/>
                <a:cs typeface="Malgun Gothic"/>
              </a:rPr>
              <a:t>위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개</a:t>
            </a:r>
            <a:r>
              <a:rPr dirty="0" sz="2000" spc="-15" b="1">
                <a:latin typeface="Malgun Gothic"/>
                <a:cs typeface="Malgun Gothic"/>
              </a:rPr>
              <a:t>인</a:t>
            </a:r>
            <a:r>
              <a:rPr dirty="0" sz="2000" b="1">
                <a:latin typeface="Malgun Gothic"/>
                <a:cs typeface="Malgun Gothic"/>
              </a:rPr>
              <a:t>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</a:t>
            </a:r>
            <a:r>
              <a:rPr dirty="0" sz="2000" spc="-15" b="1">
                <a:latin typeface="Malgun Gothic"/>
                <a:cs typeface="Malgun Gothic"/>
              </a:rPr>
              <a:t>율</a:t>
            </a:r>
            <a:r>
              <a:rPr dirty="0" sz="2000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의한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시장의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자원</a:t>
            </a: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분보다  </a:t>
            </a:r>
            <a:r>
              <a:rPr dirty="0" sz="2000" spc="-5" b="1">
                <a:latin typeface="Malgun Gothic"/>
                <a:cs typeface="Malgun Gothic"/>
              </a:rPr>
              <a:t>반드시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열등하다는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결론을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내릴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없다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95" b="1"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가치재의</a:t>
            </a:r>
            <a:r>
              <a:rPr dirty="0" sz="2000" spc="28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공급</a:t>
            </a:r>
            <a:endParaRPr sz="2000">
              <a:latin typeface="Malgun Gothic"/>
              <a:cs typeface="Malgun Gothic"/>
            </a:endParaRPr>
          </a:p>
          <a:p>
            <a:pPr marL="325755" marR="5080" indent="-325755">
              <a:lnSpc>
                <a:spcPts val="3190"/>
              </a:lnSpc>
              <a:spcBef>
                <a:spcPts val="10"/>
              </a:spcBef>
              <a:buChar char="-"/>
              <a:tabLst>
                <a:tab pos="325755" algn="l"/>
                <a:tab pos="326390" algn="l"/>
                <a:tab pos="1270000" algn="l"/>
                <a:tab pos="1747520" algn="l"/>
                <a:tab pos="2193925" algn="l"/>
                <a:tab pos="2664460" algn="l"/>
                <a:tab pos="2863850" algn="l"/>
                <a:tab pos="3324860" algn="l"/>
                <a:tab pos="3787775" algn="l"/>
                <a:tab pos="3987165" algn="l"/>
                <a:tab pos="4457700" algn="l"/>
                <a:tab pos="5128895" algn="l"/>
                <a:tab pos="5408930" algn="l"/>
                <a:tab pos="5544185" algn="l"/>
                <a:tab pos="6071235" algn="l"/>
                <a:tab pos="6722745" algn="l"/>
                <a:tab pos="6986270" algn="l"/>
                <a:tab pos="7646670" algn="l"/>
                <a:tab pos="7901305" algn="l"/>
              </a:tabLst>
            </a:pPr>
            <a:r>
              <a:rPr dirty="0" sz="2000" b="1">
                <a:latin typeface="Malgun Gothic"/>
                <a:cs typeface="Malgun Gothic"/>
              </a:rPr>
              <a:t>시</a:t>
            </a:r>
            <a:r>
              <a:rPr dirty="0" sz="2000" spc="-15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제도와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거</a:t>
            </a:r>
            <a:r>
              <a:rPr dirty="0" sz="2000" b="1">
                <a:latin typeface="Malgun Gothic"/>
                <a:cs typeface="Malgun Gothic"/>
              </a:rPr>
              <a:t>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또는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국</a:t>
            </a:r>
            <a:r>
              <a:rPr dirty="0" sz="2000" b="1">
                <a:latin typeface="Malgun Gothic"/>
                <a:cs typeface="Malgun Gothic"/>
              </a:rPr>
              <a:t>가제</a:t>
            </a:r>
            <a:r>
              <a:rPr dirty="0" sz="2000" spc="-15" b="1">
                <a:latin typeface="Malgun Gothic"/>
                <a:cs typeface="Malgun Gothic"/>
              </a:rPr>
              <a:t>도</a:t>
            </a:r>
            <a:r>
              <a:rPr dirty="0" sz="2000" b="1">
                <a:latin typeface="Malgun Gothic"/>
                <a:cs typeface="Malgun Gothic"/>
              </a:rPr>
              <a:t>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이에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기</a:t>
            </a:r>
            <a:r>
              <a:rPr dirty="0" sz="2000" b="1">
                <a:latin typeface="Malgun Gothic"/>
                <a:cs typeface="Malgun Gothic"/>
              </a:rPr>
              <a:t>초한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집</a:t>
            </a:r>
            <a:r>
              <a:rPr dirty="0" sz="2000" b="1">
                <a:latin typeface="Malgun Gothic"/>
                <a:cs typeface="Malgun Gothic"/>
              </a:rPr>
              <a:t>단적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의사  </a:t>
            </a:r>
            <a:r>
              <a:rPr dirty="0" sz="2000" spc="-15" b="1">
                <a:latin typeface="Malgun Gothic"/>
                <a:cs typeface="Malgun Gothic"/>
              </a:rPr>
              <a:t>결</a:t>
            </a:r>
            <a:r>
              <a:rPr dirty="0" sz="2000" b="1">
                <a:latin typeface="Malgun Gothic"/>
                <a:cs typeface="Malgun Gothic"/>
              </a:rPr>
              <a:t>정과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강</a:t>
            </a:r>
            <a:r>
              <a:rPr dirty="0" sz="2000" b="1">
                <a:latin typeface="Malgun Gothic"/>
                <a:cs typeface="Malgun Gothic"/>
              </a:rPr>
              <a:t>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거</a:t>
            </a:r>
            <a:r>
              <a:rPr dirty="0" sz="2000" b="1">
                <a:latin typeface="Malgun Gothic"/>
                <a:cs typeface="Malgun Gothic"/>
              </a:rPr>
              <a:t>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-15" b="1">
                <a:latin typeface="Malgun Gothic"/>
                <a:cs typeface="Malgun Gothic"/>
              </a:rPr>
              <a:t>운</a:t>
            </a:r>
            <a:r>
              <a:rPr dirty="0" sz="2000" b="1">
                <a:latin typeface="Malgun Gothic"/>
                <a:cs typeface="Malgun Gothic"/>
              </a:rPr>
              <a:t>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어느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것도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그</a:t>
            </a:r>
            <a:r>
              <a:rPr dirty="0" sz="2000" b="1">
                <a:latin typeface="Malgun Gothic"/>
                <a:cs typeface="Malgun Gothic"/>
              </a:rPr>
              <a:t>		</a:t>
            </a:r>
            <a:r>
              <a:rPr dirty="0" sz="2000" b="1">
                <a:latin typeface="Malgun Gothic"/>
                <a:cs typeface="Malgun Gothic"/>
              </a:rPr>
              <a:t>자체</a:t>
            </a:r>
            <a:r>
              <a:rPr dirty="0" sz="2000" spc="-15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회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자</a:t>
            </a:r>
            <a:r>
              <a:rPr dirty="0" sz="2000" spc="-15" b="1">
                <a:latin typeface="Malgun Gothic"/>
                <a:cs typeface="Malgun Gothic"/>
              </a:rPr>
              <a:t>원</a:t>
            </a:r>
            <a:r>
              <a:rPr dirty="0" sz="2000" b="1">
                <a:latin typeface="Malgun Gothic"/>
                <a:cs typeface="Malgun Gothic"/>
              </a:rPr>
              <a:t>의</a:t>
            </a:r>
            <a:endParaRPr sz="2000">
              <a:latin typeface="Malgun Gothic"/>
              <a:cs typeface="Malgun Gothic"/>
            </a:endParaRPr>
          </a:p>
          <a:p>
            <a:pPr marL="346075" marR="6350">
              <a:lnSpc>
                <a:spcPts val="3200"/>
              </a:lnSpc>
              <a:tabLst>
                <a:tab pos="1505585" algn="l"/>
                <a:tab pos="2667000" algn="l"/>
                <a:tab pos="3574415" algn="l"/>
                <a:tab pos="4483735" algn="l"/>
                <a:tab pos="4882515" algn="l"/>
                <a:tab pos="5282565" algn="l"/>
                <a:tab pos="6010275" algn="l"/>
                <a:tab pos="7246620" algn="l"/>
                <a:tab pos="8154034" algn="l"/>
              </a:tabLst>
            </a:pP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분에서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명확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유일한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기준이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없다</a:t>
            </a:r>
            <a:r>
              <a:rPr dirty="0" sz="2000" spc="60" b="1">
                <a:latin typeface="Malgun Gothic"/>
                <a:cs typeface="Malgun Gothic"/>
              </a:rPr>
              <a:t>.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왜냐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면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각</a:t>
            </a:r>
            <a:r>
              <a:rPr dirty="0" sz="2000" spc="-15" b="1">
                <a:latin typeface="Malgun Gothic"/>
                <a:cs typeface="Malgun Gothic"/>
              </a:rPr>
              <a:t>각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제  </a:t>
            </a:r>
            <a:r>
              <a:rPr dirty="0" sz="2000" spc="-10" b="1">
                <a:latin typeface="Malgun Gothic"/>
                <a:cs typeface="Malgun Gothic"/>
              </a:rPr>
              <a:t>도는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사안에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따라서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장점과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단점을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동시에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갖고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있기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때문이다.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477710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2.</a:t>
            </a:r>
            <a:r>
              <a:rPr dirty="0" spc="275"/>
              <a:t> </a:t>
            </a:r>
            <a:r>
              <a:rPr dirty="0" spc="-5"/>
              <a:t>정책목표의</a:t>
            </a:r>
            <a:r>
              <a:rPr dirty="0" spc="280"/>
              <a:t> </a:t>
            </a:r>
            <a:r>
              <a:rPr dirty="0"/>
              <a:t>달성</a:t>
            </a:r>
            <a:r>
              <a:rPr dirty="0" spc="280"/>
              <a:t> </a:t>
            </a:r>
            <a:r>
              <a:rPr dirty="0" spc="140"/>
              <a:t>:</a:t>
            </a:r>
            <a:r>
              <a:rPr dirty="0" spc="285"/>
              <a:t> </a:t>
            </a:r>
            <a:r>
              <a:rPr dirty="0" spc="-5"/>
              <a:t>진보주의자의</a:t>
            </a:r>
            <a:r>
              <a:rPr dirty="0" spc="280"/>
              <a:t> </a:t>
            </a:r>
            <a:r>
              <a:rPr dirty="0"/>
              <a:t>관점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2020737"/>
            <a:ext cx="8549005" cy="3986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복지국가의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목표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사회정의와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경제적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정책수단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소득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이전,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규제,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재정지원,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공공생산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marL="266700" indent="-254635">
              <a:lnSpc>
                <a:spcPct val="100000"/>
              </a:lnSpc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경제조직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140" b="1">
                <a:latin typeface="Malgun Gothic"/>
                <a:cs typeface="Malgun Gothic"/>
              </a:rPr>
              <a:t>: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자유시장제도,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사회주의제도,</a:t>
            </a:r>
            <a:r>
              <a:rPr dirty="0" sz="2000" spc="2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혼합경제제도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mbria"/>
              <a:buChar char="○"/>
            </a:pPr>
            <a:endParaRPr sz="1750">
              <a:latin typeface="Malgun Gothic"/>
              <a:cs typeface="Malgun Gothic"/>
            </a:endParaRPr>
          </a:p>
          <a:p>
            <a:pPr algn="just" marL="302895" marR="5080" indent="-290830">
              <a:lnSpc>
                <a:spcPct val="133200"/>
              </a:lnSpc>
              <a:buFont typeface="Cambria"/>
              <a:buChar char="○"/>
              <a:tabLst>
                <a:tab pos="30353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이데올로기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차원의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논의는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목표의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선택,</a:t>
            </a:r>
            <a:r>
              <a:rPr dirty="0" sz="2000" spc="5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특히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사회정의의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개념</a:t>
            </a:r>
            <a:r>
              <a:rPr dirty="0" sz="2000" spc="57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설정 </a:t>
            </a:r>
            <a:r>
              <a:rPr dirty="0" sz="2000" spc="-6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및 </a:t>
            </a:r>
            <a:r>
              <a:rPr dirty="0" sz="2000" spc="-5" b="1">
                <a:latin typeface="Malgun Gothic"/>
                <a:cs typeface="Malgun Gothic"/>
              </a:rPr>
              <a:t>사회정의와 </a:t>
            </a:r>
            <a:r>
              <a:rPr dirty="0" sz="2000" b="1">
                <a:latin typeface="Malgun Gothic"/>
                <a:cs typeface="Malgun Gothic"/>
              </a:rPr>
              <a:t>경제적 </a:t>
            </a:r>
            <a:r>
              <a:rPr dirty="0" sz="2000" spc="-5" b="1">
                <a:latin typeface="Malgun Gothic"/>
                <a:cs typeface="Malgun Gothic"/>
              </a:rPr>
              <a:t>효율성이 </a:t>
            </a:r>
            <a:r>
              <a:rPr dirty="0" sz="2000" b="1">
                <a:latin typeface="Malgun Gothic"/>
                <a:cs typeface="Malgun Gothic"/>
              </a:rPr>
              <a:t>상호 간 </a:t>
            </a:r>
            <a:r>
              <a:rPr dirty="0" sz="2000" spc="-5" b="1">
                <a:latin typeface="Malgun Gothic"/>
                <a:cs typeface="Malgun Gothic"/>
              </a:rPr>
              <a:t>충돌할 </a:t>
            </a:r>
            <a:r>
              <a:rPr dirty="0" sz="2000" b="1">
                <a:latin typeface="Malgun Gothic"/>
                <a:cs typeface="Malgun Gothic"/>
              </a:rPr>
              <a:t>때 </a:t>
            </a:r>
            <a:r>
              <a:rPr dirty="0" sz="2000" spc="-5" b="1">
                <a:latin typeface="Malgun Gothic"/>
                <a:cs typeface="Malgun Gothic"/>
              </a:rPr>
              <a:t>양자에 </a:t>
            </a:r>
            <a:r>
              <a:rPr dirty="0" sz="2000" spc="-10" b="1">
                <a:latin typeface="Malgun Gothic"/>
                <a:cs typeface="Malgun Gothic"/>
              </a:rPr>
              <a:t>대한 </a:t>
            </a:r>
            <a:r>
              <a:rPr dirty="0" sz="2000" b="1">
                <a:latin typeface="Malgun Gothic"/>
                <a:cs typeface="Malgun Gothic"/>
              </a:rPr>
              <a:t>조정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방식에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국한</a:t>
            </a:r>
            <a:endParaRPr sz="2000">
              <a:latin typeface="Malgun Gothic"/>
              <a:cs typeface="Malgun Gothic"/>
            </a:endParaRPr>
          </a:p>
          <a:p>
            <a:pPr algn="just" marL="138430">
              <a:lnSpc>
                <a:spcPct val="100000"/>
              </a:lnSpc>
              <a:spcBef>
                <a:spcPts val="805"/>
              </a:spcBef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일단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목표가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결정되면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실용적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차원의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문제로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전환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520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정책수단의</a:t>
            </a:r>
            <a:r>
              <a:rPr dirty="0" sz="2000" spc="24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선택기준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○"/>
            </a:pPr>
            <a:endParaRPr sz="2200">
              <a:latin typeface="Malgun Gothic"/>
              <a:cs typeface="Malgun Gothic"/>
            </a:endParaRPr>
          </a:p>
          <a:p>
            <a:pPr algn="just" lvl="1" marL="438784" indent="-300990">
              <a:lnSpc>
                <a:spcPct val="100000"/>
              </a:lnSpc>
              <a:buClr>
                <a:srgbClr val="000000"/>
              </a:buClr>
              <a:buChar char="-"/>
              <a:tabLst>
                <a:tab pos="439420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명제</a:t>
            </a:r>
            <a:r>
              <a:rPr dirty="0" sz="2000" spc="37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80" b="1">
                <a:solidFill>
                  <a:srgbClr val="0000FF"/>
                </a:solidFill>
                <a:latin typeface="Malgun Gothic"/>
                <a:cs typeface="Malgun Gothic"/>
              </a:rPr>
              <a:t>1:</a:t>
            </a:r>
            <a:r>
              <a:rPr dirty="0" sz="2000" spc="409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효율성</a:t>
            </a:r>
            <a:r>
              <a:rPr dirty="0" sz="2000" spc="39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360">
                <a:latin typeface="Cambria"/>
                <a:cs typeface="Cambria"/>
              </a:rPr>
              <a:t>⟹</a:t>
            </a:r>
            <a:r>
              <a:rPr dirty="0" sz="2000" spc="660">
                <a:latin typeface="Cambria"/>
                <a:cs typeface="Cambria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표준가정이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충족되지</a:t>
            </a:r>
            <a:r>
              <a:rPr dirty="0" sz="2000" spc="3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못하는</a:t>
            </a:r>
            <a:r>
              <a:rPr dirty="0" sz="2000" spc="39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r>
              <a:rPr dirty="0" sz="2000" spc="3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정부는</a:t>
            </a:r>
            <a:r>
              <a:rPr dirty="0" sz="2000" spc="39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시장에</a:t>
            </a:r>
            <a:endParaRPr sz="2000">
              <a:latin typeface="Malgun Gothic"/>
              <a:cs typeface="Malgun Gothic"/>
            </a:endParaRPr>
          </a:p>
          <a:p>
            <a:pPr algn="just" marL="2758440">
              <a:lnSpc>
                <a:spcPct val="100000"/>
              </a:lnSpc>
              <a:spcBef>
                <a:spcPts val="800"/>
              </a:spcBef>
            </a:pPr>
            <a:r>
              <a:rPr dirty="0" sz="2000" spc="-5" b="1">
                <a:latin typeface="Malgun Gothic"/>
                <a:cs typeface="Malgun Gothic"/>
              </a:rPr>
              <a:t>개입하여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효율성을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 algn="just" lvl="1" marL="424815" indent="-287020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Char char="-"/>
              <a:tabLst>
                <a:tab pos="425450" algn="l"/>
              </a:tabLst>
            </a:pPr>
            <a:r>
              <a:rPr dirty="0" sz="2000" b="1">
                <a:solidFill>
                  <a:srgbClr val="0000FF"/>
                </a:solidFill>
                <a:latin typeface="Malgun Gothic"/>
                <a:cs typeface="Malgun Gothic"/>
              </a:rPr>
              <a:t>명제</a:t>
            </a:r>
            <a:r>
              <a:rPr dirty="0" sz="2000" spc="260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80" b="1">
                <a:solidFill>
                  <a:srgbClr val="0000FF"/>
                </a:solidFill>
                <a:latin typeface="Malgun Gothic"/>
                <a:cs typeface="Malgun Gothic"/>
              </a:rPr>
              <a:t>2:</a:t>
            </a:r>
            <a:r>
              <a:rPr dirty="0" sz="2000" spc="265" b="1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Malgun Gothic"/>
                <a:cs typeface="Malgun Gothic"/>
              </a:rPr>
              <a:t>사회정의</a:t>
            </a:r>
            <a:endParaRPr sz="2000">
              <a:latin typeface="Malgun Gothic"/>
              <a:cs typeface="Malgun Gothic"/>
            </a:endParaRPr>
          </a:p>
          <a:p>
            <a:pPr algn="just" lvl="2" marL="776605" marR="5080" indent="-384175">
              <a:lnSpc>
                <a:spcPct val="133400"/>
              </a:lnSpc>
              <a:spcBef>
                <a:spcPts val="5"/>
              </a:spcBef>
              <a:buAutoNum type="alphaLcParenR"/>
              <a:tabLst>
                <a:tab pos="777240" algn="l"/>
              </a:tabLst>
            </a:pPr>
            <a:r>
              <a:rPr dirty="0" sz="2000" spc="-5" b="1">
                <a:latin typeface="Malgun Gothic"/>
                <a:cs typeface="Malgun Gothic"/>
              </a:rPr>
              <a:t>비효율성의 문제가 존재하지 않는다면 사회정의의 차원에서 </a:t>
            </a:r>
            <a:r>
              <a:rPr dirty="0" sz="2000" b="1">
                <a:latin typeface="Malgun Gothic"/>
                <a:cs typeface="Malgun Gothic"/>
              </a:rPr>
              <a:t>국가 </a:t>
            </a:r>
            <a:r>
              <a:rPr dirty="0" sz="2000" spc="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개입은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소득이전만으로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충분</a:t>
            </a:r>
            <a:endParaRPr sz="2000">
              <a:latin typeface="Malgun Gothic"/>
              <a:cs typeface="Malgun Gothic"/>
            </a:endParaRPr>
          </a:p>
          <a:p>
            <a:pPr algn="just" lvl="2" marL="779780" marR="6350" indent="-386715">
              <a:lnSpc>
                <a:spcPts val="3200"/>
              </a:lnSpc>
              <a:spcBef>
                <a:spcPts val="229"/>
              </a:spcBef>
              <a:buAutoNum type="alphaLcParenR"/>
              <a:tabLst>
                <a:tab pos="78041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특정</a:t>
            </a:r>
            <a:r>
              <a:rPr dirty="0" sz="2000" spc="42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재화나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서비스를</a:t>
            </a:r>
            <a:r>
              <a:rPr dirty="0" sz="2000" spc="43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국가가</a:t>
            </a:r>
            <a:r>
              <a:rPr dirty="0" sz="2000" spc="43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직접</a:t>
            </a:r>
            <a:r>
              <a:rPr dirty="0" sz="2000" spc="43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공급하는</a:t>
            </a:r>
            <a:r>
              <a:rPr dirty="0" sz="2000" spc="41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것이</a:t>
            </a:r>
            <a:r>
              <a:rPr dirty="0" sz="2000" spc="43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효율성의</a:t>
            </a:r>
            <a:r>
              <a:rPr dirty="0" sz="2000" spc="42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개선 </a:t>
            </a:r>
            <a:r>
              <a:rPr dirty="0" sz="2000" spc="-6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에 기여할 경우 </a:t>
            </a:r>
            <a:r>
              <a:rPr dirty="0" sz="2000" spc="5" b="1">
                <a:latin typeface="Malgun Gothic"/>
                <a:cs typeface="Malgun Gothic"/>
              </a:rPr>
              <a:t>현물이전(무상교육, </a:t>
            </a:r>
            <a:r>
              <a:rPr dirty="0" sz="2000" b="1">
                <a:latin typeface="Malgun Gothic"/>
                <a:cs typeface="Malgun Gothic"/>
              </a:rPr>
              <a:t>무상의료)은 </a:t>
            </a:r>
            <a:r>
              <a:rPr dirty="0" sz="2000" spc="-5" b="1">
                <a:latin typeface="Malgun Gothic"/>
                <a:cs typeface="Malgun Gothic"/>
              </a:rPr>
              <a:t>사회정의의 </a:t>
            </a:r>
            <a:r>
              <a:rPr dirty="0" sz="2000" spc="-10" b="1">
                <a:latin typeface="Malgun Gothic"/>
                <a:cs typeface="Malgun Gothic"/>
              </a:rPr>
              <a:t>차원 </a:t>
            </a:r>
            <a:r>
              <a:rPr dirty="0" sz="2000" spc="-5" b="1">
                <a:latin typeface="Malgun Gothic"/>
                <a:cs typeface="Malgun Gothic"/>
              </a:rPr>
              <a:t> 에서도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긍정적</a:t>
            </a:r>
            <a:endParaRPr sz="2000">
              <a:latin typeface="Malgun Gothic"/>
              <a:cs typeface="Malgun Gothic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Malgun Gothic"/>
              <a:buAutoNum type="alphaLcParenR"/>
            </a:pPr>
            <a:endParaRPr sz="1600">
              <a:latin typeface="Malgun Gothic"/>
              <a:cs typeface="Malgun Gothic"/>
            </a:endParaRPr>
          </a:p>
          <a:p>
            <a:pPr lvl="1" marL="438784" marR="5080" indent="-300355">
              <a:lnSpc>
                <a:spcPct val="133400"/>
              </a:lnSpc>
              <a:buChar char="-"/>
              <a:tabLst>
                <a:tab pos="438784" algn="l"/>
                <a:tab pos="439420" algn="l"/>
                <a:tab pos="1466215" algn="l"/>
                <a:tab pos="2620010" algn="l"/>
                <a:tab pos="3521075" algn="l"/>
                <a:tab pos="5183505" algn="l"/>
                <a:tab pos="5832475" algn="l"/>
                <a:tab pos="6224905" algn="l"/>
                <a:tab pos="6871970" algn="l"/>
                <a:tab pos="7773034" algn="l"/>
              </a:tabLst>
            </a:pPr>
            <a:r>
              <a:rPr dirty="0" sz="2000" spc="45" b="1">
                <a:latin typeface="Malgun Gothic"/>
                <a:cs typeface="Malgun Gothic"/>
              </a:rPr>
              <a:t>“</a:t>
            </a:r>
            <a:r>
              <a:rPr dirty="0" sz="2000" b="1">
                <a:latin typeface="Malgun Gothic"/>
                <a:cs typeface="Malgun Gothic"/>
              </a:rPr>
              <a:t>가</a:t>
            </a:r>
            <a:r>
              <a:rPr dirty="0" sz="2000" spc="-15" b="1">
                <a:latin typeface="Malgun Gothic"/>
                <a:cs typeface="Malgun Gothic"/>
              </a:rPr>
              <a:t>난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</a:t>
            </a:r>
            <a:r>
              <a:rPr dirty="0" sz="2000" spc="-15" b="1">
                <a:latin typeface="Malgun Gothic"/>
                <a:cs typeface="Malgun Gothic"/>
              </a:rPr>
              <a:t>람</a:t>
            </a:r>
            <a:r>
              <a:rPr dirty="0" sz="2000" b="1">
                <a:latin typeface="Malgun Gothic"/>
                <a:cs typeface="Malgun Gothic"/>
              </a:rPr>
              <a:t>들은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적절한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의료</a:t>
            </a:r>
            <a:r>
              <a:rPr dirty="0" sz="2000" spc="-15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비스를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받을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있는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경제적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여유가  </a:t>
            </a:r>
            <a:r>
              <a:rPr dirty="0" sz="2000" spc="-10" b="1">
                <a:latin typeface="Malgun Gothic"/>
                <a:cs typeface="Malgun Gothic"/>
              </a:rPr>
              <a:t>없기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때문에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반드시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무상의료보장제도인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NHS를</a:t>
            </a:r>
            <a:r>
              <a:rPr dirty="0" sz="2000" spc="28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운영해야만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35" b="1">
                <a:latin typeface="Malgun Gothic"/>
                <a:cs typeface="Malgun Gothic"/>
              </a:rPr>
              <a:t>한다”?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66636" y="1208885"/>
            <a:ext cx="8549005" cy="35801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dirty="0" sz="2000" spc="-10" b="1">
                <a:latin typeface="Malgun Gothic"/>
                <a:cs typeface="Malgun Gothic"/>
              </a:rPr>
              <a:t>명제</a:t>
            </a:r>
            <a:r>
              <a:rPr dirty="0" sz="2000" spc="265" b="1">
                <a:latin typeface="Malgun Gothic"/>
                <a:cs typeface="Malgun Gothic"/>
              </a:rPr>
              <a:t> </a:t>
            </a:r>
            <a:r>
              <a:rPr dirty="0" sz="2000" spc="20" b="1">
                <a:latin typeface="Malgun Gothic"/>
                <a:cs typeface="Malgun Gothic"/>
              </a:rPr>
              <a:t>2에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대한</a:t>
            </a:r>
            <a:r>
              <a:rPr dirty="0" sz="2000" spc="27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예외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mbria"/>
              <a:buChar char="○"/>
            </a:pPr>
            <a:endParaRPr sz="1750">
              <a:latin typeface="Malgun Gothic"/>
              <a:cs typeface="Malgun Gothic"/>
            </a:endParaRPr>
          </a:p>
          <a:p>
            <a:pPr lvl="1" marL="459740" marR="6350" indent="-321310">
              <a:lnSpc>
                <a:spcPct val="133400"/>
              </a:lnSpc>
              <a:buChar char="-"/>
              <a:tabLst>
                <a:tab pos="459740" algn="l"/>
                <a:tab pos="460375" algn="l"/>
                <a:tab pos="2143760" algn="l"/>
                <a:tab pos="3574415" algn="l"/>
                <a:tab pos="4751070" algn="l"/>
                <a:tab pos="5673725" algn="l"/>
                <a:tab pos="6850380" algn="l"/>
                <a:tab pos="7773034" algn="l"/>
              </a:tabLst>
            </a:pPr>
            <a:r>
              <a:rPr dirty="0" sz="2000" b="1">
                <a:latin typeface="Malgun Gothic"/>
                <a:cs typeface="Malgun Gothic"/>
              </a:rPr>
              <a:t>공</a:t>
            </a:r>
            <a:r>
              <a:rPr dirty="0" sz="2000" spc="-15" b="1">
                <a:latin typeface="Malgun Gothic"/>
                <a:cs typeface="Malgun Gothic"/>
              </a:rPr>
              <a:t>공</a:t>
            </a:r>
            <a:r>
              <a:rPr dirty="0" sz="2000" b="1">
                <a:latin typeface="Malgun Gothic"/>
                <a:cs typeface="Malgun Gothic"/>
              </a:rPr>
              <a:t>생산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공공</a:t>
            </a: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분의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효</a:t>
            </a:r>
            <a:r>
              <a:rPr dirty="0" sz="2000" b="1">
                <a:latin typeface="Malgun Gothic"/>
                <a:cs typeface="Malgun Gothic"/>
              </a:rPr>
              <a:t>율성을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개</a:t>
            </a:r>
            <a:r>
              <a:rPr dirty="0" sz="2000" b="1">
                <a:latin typeface="Malgun Gothic"/>
                <a:cs typeface="Malgun Gothic"/>
              </a:rPr>
              <a:t>선할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것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라는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</a:t>
            </a:r>
            <a:r>
              <a:rPr dirty="0" sz="2000" spc="-15" b="1">
                <a:latin typeface="Malgun Gothic"/>
                <a:cs typeface="Malgun Gothic"/>
              </a:rPr>
              <a:t>당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근</a:t>
            </a:r>
            <a:r>
              <a:rPr dirty="0" sz="2000" spc="-15" b="1">
                <a:latin typeface="Malgun Gothic"/>
                <a:cs typeface="Malgun Gothic"/>
              </a:rPr>
              <a:t>거</a:t>
            </a:r>
            <a:r>
              <a:rPr dirty="0" sz="2000" b="1">
                <a:latin typeface="Malgun Gothic"/>
                <a:cs typeface="Malgun Gothic"/>
              </a:rPr>
              <a:t>가  </a:t>
            </a:r>
            <a:r>
              <a:rPr dirty="0" sz="2000" b="1">
                <a:latin typeface="Malgun Gothic"/>
                <a:cs typeface="Malgun Gothic"/>
              </a:rPr>
              <a:t>없는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경우에도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정치경제학적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차원에서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현물이전을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주장하는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lvl="1" marL="472440" marR="5080" indent="-334010">
              <a:lnSpc>
                <a:spcPct val="133400"/>
              </a:lnSpc>
              <a:buChar char="-"/>
              <a:tabLst>
                <a:tab pos="471805" algn="l"/>
                <a:tab pos="472440" algn="l"/>
                <a:tab pos="1405255" algn="l"/>
                <a:tab pos="2087245" algn="l"/>
                <a:tab pos="3528695" algn="l"/>
                <a:tab pos="4463415" algn="l"/>
                <a:tab pos="5396865" algn="l"/>
                <a:tab pos="6585584" algn="l"/>
                <a:tab pos="7520305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시</a:t>
            </a:r>
            <a:r>
              <a:rPr dirty="0" sz="2000" b="1">
                <a:latin typeface="Malgun Gothic"/>
                <a:cs typeface="Malgun Gothic"/>
              </a:rPr>
              <a:t>장을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통한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거</a:t>
            </a:r>
            <a:r>
              <a:rPr dirty="0" sz="2000" b="1">
                <a:latin typeface="Malgun Gothic"/>
                <a:cs typeface="Malgun Gothic"/>
              </a:rPr>
              <a:t>래보</a:t>
            </a:r>
            <a:r>
              <a:rPr dirty="0" sz="2000" spc="-15" b="1">
                <a:latin typeface="Malgun Gothic"/>
                <a:cs typeface="Malgun Gothic"/>
              </a:rPr>
              <a:t>다</a:t>
            </a:r>
            <a:r>
              <a:rPr dirty="0" sz="2000" b="1">
                <a:latin typeface="Malgun Gothic"/>
                <a:cs typeface="Malgun Gothic"/>
              </a:rPr>
              <a:t>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무</a:t>
            </a:r>
            <a:r>
              <a:rPr dirty="0" sz="2000" b="1">
                <a:latin typeface="Malgun Gothic"/>
                <a:cs typeface="Malgun Gothic"/>
              </a:rPr>
              <a:t>상의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증</a:t>
            </a:r>
            <a:r>
              <a:rPr dirty="0" sz="2000" b="1">
                <a:latin typeface="Malgun Gothic"/>
                <a:cs typeface="Malgun Gothic"/>
              </a:rPr>
              <a:t>여가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바람</a:t>
            </a:r>
            <a:r>
              <a:rPr dirty="0" sz="2000" spc="-15" b="1">
                <a:latin typeface="Malgun Gothic"/>
                <a:cs typeface="Malgun Gothic"/>
              </a:rPr>
              <a:t>직</a:t>
            </a:r>
            <a:r>
              <a:rPr dirty="0" sz="2000" b="1">
                <a:latin typeface="Malgun Gothic"/>
                <a:cs typeface="Malgun Gothic"/>
              </a:rPr>
              <a:t>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것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판</a:t>
            </a:r>
            <a:r>
              <a:rPr dirty="0" sz="2000" b="1">
                <a:latin typeface="Malgun Gothic"/>
                <a:cs typeface="Malgun Gothic"/>
              </a:rPr>
              <a:t>단되는  </a:t>
            </a:r>
            <a:r>
              <a:rPr dirty="0" sz="2000" spc="-10" b="1">
                <a:latin typeface="Malgun Gothic"/>
                <a:cs typeface="Malgun Gothic"/>
              </a:rPr>
              <a:t>경우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5" b="1">
                <a:latin typeface="Malgun Gothic"/>
                <a:cs typeface="Malgun Gothic"/>
              </a:rPr>
              <a:t>(유아를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직접적인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소비자로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5" b="1">
                <a:latin typeface="Malgun Gothic"/>
                <a:cs typeface="Malgun Gothic"/>
              </a:rPr>
              <a:t>시장,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헌혈)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lvl="1" marL="424815" indent="-287020">
              <a:lnSpc>
                <a:spcPct val="100000"/>
              </a:lnSpc>
              <a:buChar char="-"/>
              <a:tabLst>
                <a:tab pos="425450" algn="l"/>
              </a:tabLst>
            </a:pPr>
            <a:r>
              <a:rPr dirty="0" sz="2000" spc="-5" b="1">
                <a:latin typeface="Malgun Gothic"/>
                <a:cs typeface="Malgun Gothic"/>
              </a:rPr>
              <a:t>최적조세이론의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관점에서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상품가격에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대해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보조금을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지급하는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pc="285"/>
              <a:t>-</a:t>
            </a:r>
            <a:r>
              <a:rPr dirty="0" spc="175"/>
              <a:t> </a:t>
            </a:r>
            <a:fld id="{81D60167-4931-47E6-BA6A-407CBD079E47}" type="slidenum">
              <a:rPr dirty="0" spc="15"/>
              <a:t>10</a:t>
            </a:fld>
            <a:r>
              <a:rPr dirty="0" spc="195"/>
              <a:t> </a:t>
            </a:r>
            <a:r>
              <a:rPr dirty="0" spc="285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636" y="1208885"/>
            <a:ext cx="278892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3.</a:t>
            </a:r>
            <a:r>
              <a:rPr dirty="0" spc="254"/>
              <a:t> </a:t>
            </a:r>
            <a:r>
              <a:rPr dirty="0" spc="-5"/>
              <a:t>자유주의자와의</a:t>
            </a:r>
            <a:r>
              <a:rPr dirty="0" spc="254"/>
              <a:t> </a:t>
            </a:r>
            <a:r>
              <a:rPr dirty="0"/>
              <a:t>논쟁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36" y="1919294"/>
            <a:ext cx="8547735" cy="286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1475" marR="5080" indent="-359410">
              <a:lnSpc>
                <a:spcPct val="133400"/>
              </a:lnSpc>
              <a:spcBef>
                <a:spcPts val="100"/>
              </a:spcBef>
              <a:buChar char="-"/>
              <a:tabLst>
                <a:tab pos="371475" algn="l"/>
                <a:tab pos="372110" algn="l"/>
                <a:tab pos="2857500" algn="l"/>
                <a:tab pos="4580890" algn="l"/>
                <a:tab pos="6049645" algn="l"/>
                <a:tab pos="7773034" algn="l"/>
              </a:tabLst>
            </a:pPr>
            <a:r>
              <a:rPr dirty="0" sz="2000" b="1">
                <a:latin typeface="Malgun Gothic"/>
                <a:cs typeface="Malgun Gothic"/>
              </a:rPr>
              <a:t>자유</a:t>
            </a:r>
            <a:r>
              <a:rPr dirty="0" sz="2000" spc="-15" b="1">
                <a:latin typeface="Malgun Gothic"/>
                <a:cs typeface="Malgun Gothic"/>
              </a:rPr>
              <a:t>주</a:t>
            </a:r>
            <a:r>
              <a:rPr dirty="0" sz="2000" b="1">
                <a:latin typeface="Malgun Gothic"/>
                <a:cs typeface="Malgun Gothic"/>
              </a:rPr>
              <a:t>의자</a:t>
            </a:r>
            <a:r>
              <a:rPr dirty="0" sz="2000" spc="-15" b="1">
                <a:latin typeface="Malgun Gothic"/>
                <a:cs typeface="Malgun Gothic"/>
              </a:rPr>
              <a:t>들</a:t>
            </a:r>
            <a:r>
              <a:rPr dirty="0" sz="2000" b="1">
                <a:latin typeface="Malgun Gothic"/>
                <a:cs typeface="Malgun Gothic"/>
              </a:rPr>
              <a:t>에게서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이</a:t>
            </a:r>
            <a:r>
              <a:rPr dirty="0" sz="2000" b="1">
                <a:latin typeface="Malgun Gothic"/>
                <a:cs typeface="Malgun Gothic"/>
              </a:rPr>
              <a:t>데올</a:t>
            </a:r>
            <a:r>
              <a:rPr dirty="0" sz="2000" spc="-15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기는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복</a:t>
            </a:r>
            <a:r>
              <a:rPr dirty="0" sz="2000" b="1">
                <a:latin typeface="Malgun Gothic"/>
                <a:cs typeface="Malgun Gothic"/>
              </a:rPr>
              <a:t>지국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논</a:t>
            </a:r>
            <a:r>
              <a:rPr dirty="0" sz="2000" spc="-15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과정</a:t>
            </a:r>
            <a:r>
              <a:rPr dirty="0" sz="2000" spc="-15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중</a:t>
            </a:r>
            <a:r>
              <a:rPr dirty="0" sz="2000" spc="-15" b="1">
                <a:latin typeface="Malgun Gothic"/>
                <a:cs typeface="Malgun Gothic"/>
              </a:rPr>
              <a:t>요</a:t>
            </a:r>
            <a:r>
              <a:rPr dirty="0" sz="2000" b="1">
                <a:latin typeface="Malgun Gothic"/>
                <a:cs typeface="Malgun Gothic"/>
              </a:rPr>
              <a:t>한  </a:t>
            </a:r>
            <a:r>
              <a:rPr dirty="0" sz="2000" b="1">
                <a:latin typeface="Malgun Gothic"/>
                <a:cs typeface="Malgun Gothic"/>
              </a:rPr>
              <a:t>역할을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하지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10" b="1">
                <a:latin typeface="Malgun Gothic"/>
                <a:cs typeface="Malgun Gothic"/>
              </a:rPr>
              <a:t>않는다.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따라서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사회정의에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논쟁을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거부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40995" marR="5080" indent="-328930">
              <a:lnSpc>
                <a:spcPct val="133400"/>
              </a:lnSpc>
              <a:buChar char="-"/>
              <a:tabLst>
                <a:tab pos="340995" algn="l"/>
                <a:tab pos="341630" algn="l"/>
                <a:tab pos="1778000" algn="l"/>
                <a:tab pos="2455545" algn="l"/>
                <a:tab pos="3385820" algn="l"/>
                <a:tab pos="4822825" algn="l"/>
                <a:tab pos="6082030" algn="l"/>
                <a:tab pos="7519034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부실</a:t>
            </a:r>
            <a:r>
              <a:rPr dirty="0" sz="2000" spc="-15" b="1">
                <a:latin typeface="Malgun Gothic"/>
                <a:cs typeface="Malgun Gothic"/>
              </a:rPr>
              <a:t>패</a:t>
            </a:r>
            <a:r>
              <a:rPr dirty="0" sz="2000" b="1">
                <a:latin typeface="Malgun Gothic"/>
                <a:cs typeface="Malgun Gothic"/>
              </a:rPr>
              <a:t>에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대한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우</a:t>
            </a:r>
            <a:r>
              <a:rPr dirty="0" sz="2000" b="1">
                <a:latin typeface="Malgun Gothic"/>
                <a:cs typeface="Malgun Gothic"/>
              </a:rPr>
              <a:t>려로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소</a:t>
            </a:r>
            <a:r>
              <a:rPr dirty="0" sz="2000" b="1">
                <a:latin typeface="Malgun Gothic"/>
                <a:cs typeface="Malgun Gothic"/>
              </a:rPr>
              <a:t>득재</a:t>
            </a:r>
            <a:r>
              <a:rPr dirty="0" sz="2000" spc="-15" b="1">
                <a:latin typeface="Malgun Gothic"/>
                <a:cs typeface="Malgun Gothic"/>
              </a:rPr>
              <a:t>분</a:t>
            </a:r>
            <a:r>
              <a:rPr dirty="0" sz="2000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반대</a:t>
            </a:r>
            <a:r>
              <a:rPr dirty="0" sz="2000" spc="-15" b="1">
                <a:latin typeface="Malgun Gothic"/>
                <a:cs typeface="Malgun Gothic"/>
              </a:rPr>
              <a:t>하</a:t>
            </a:r>
            <a:r>
              <a:rPr dirty="0" sz="2000" b="1">
                <a:latin typeface="Malgun Gothic"/>
                <a:cs typeface="Malgun Gothic"/>
              </a:rPr>
              <a:t>며</a:t>
            </a:r>
            <a:r>
              <a:rPr dirty="0" sz="2000" spc="60" b="1">
                <a:latin typeface="Malgun Gothic"/>
                <a:cs typeface="Malgun Gothic"/>
              </a:rPr>
              <a:t>,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현</a:t>
            </a:r>
            <a:r>
              <a:rPr dirty="0" sz="2000" b="1">
                <a:latin typeface="Malgun Gothic"/>
                <a:cs typeface="Malgun Gothic"/>
              </a:rPr>
              <a:t>물형</a:t>
            </a:r>
            <a:r>
              <a:rPr dirty="0" sz="2000" spc="-15" b="1">
                <a:latin typeface="Malgun Gothic"/>
                <a:cs typeface="Malgun Gothic"/>
              </a:rPr>
              <a:t>태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재분</a:t>
            </a:r>
            <a:r>
              <a:rPr dirty="0" sz="2000" spc="-15" b="1">
                <a:latin typeface="Malgun Gothic"/>
                <a:cs typeface="Malgun Gothic"/>
              </a:rPr>
              <a:t>배</a:t>
            </a:r>
            <a:r>
              <a:rPr dirty="0" sz="2000" b="1">
                <a:latin typeface="Malgun Gothic"/>
                <a:cs typeface="Malgun Gothic"/>
              </a:rPr>
              <a:t>가  </a:t>
            </a:r>
            <a:r>
              <a:rPr dirty="0" sz="2000" spc="-5" b="1">
                <a:latin typeface="Malgun Gothic"/>
                <a:cs typeface="Malgun Gothic"/>
              </a:rPr>
              <a:t>현금이전에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비해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위험하다고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주장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Char char="-"/>
            </a:pPr>
            <a:endParaRPr sz="2200">
              <a:latin typeface="Malgun Gothic"/>
              <a:cs typeface="Malgun Gothic"/>
            </a:endParaRPr>
          </a:p>
          <a:p>
            <a:pPr marL="298450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dirty="0" sz="2000" spc="-5" b="1">
                <a:latin typeface="Malgun Gothic"/>
                <a:cs typeface="Malgun Gothic"/>
              </a:rPr>
              <a:t>자유주의자는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시장실패에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대처하는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제한적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차원의</a:t>
            </a:r>
            <a:r>
              <a:rPr dirty="0" sz="2000" spc="290" b="1">
                <a:latin typeface="Malgun Gothic"/>
                <a:cs typeface="Malgun Gothic"/>
              </a:rPr>
              <a:t> </a:t>
            </a:r>
            <a:r>
              <a:rPr dirty="0" sz="2000" spc="-5" b="1">
                <a:latin typeface="Malgun Gothic"/>
                <a:cs typeface="Malgun Gothic"/>
              </a:rPr>
              <a:t>복지국가만을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인정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636" y="5168226"/>
            <a:ext cx="8549005" cy="83883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0"/>
              </a:spcBef>
              <a:tabLst>
                <a:tab pos="316230" algn="l"/>
                <a:tab pos="981710" algn="l"/>
                <a:tab pos="2153920" algn="l"/>
                <a:tab pos="3578860" algn="l"/>
                <a:tab pos="4498340" algn="l"/>
                <a:tab pos="5924550" algn="l"/>
                <a:tab pos="6842759" algn="l"/>
                <a:tab pos="8014970" algn="l"/>
              </a:tabLst>
            </a:pPr>
            <a:r>
              <a:rPr dirty="0" sz="2000" spc="420" b="1">
                <a:latin typeface="Malgun Gothic"/>
                <a:cs typeface="Malgun Gothic"/>
              </a:rPr>
              <a:t>-</a:t>
            </a:r>
            <a:r>
              <a:rPr dirty="0" sz="2000" spc="42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장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합하고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합</a:t>
            </a:r>
            <a:r>
              <a:rPr dirty="0" sz="2000" b="1">
                <a:latin typeface="Malgun Gothic"/>
                <a:cs typeface="Malgun Gothic"/>
              </a:rPr>
              <a:t>리적</a:t>
            </a:r>
            <a:r>
              <a:rPr dirty="0" sz="2000" spc="-15" b="1">
                <a:latin typeface="Malgun Gothic"/>
                <a:cs typeface="Malgun Gothic"/>
              </a:rPr>
              <a:t>으</a:t>
            </a:r>
            <a:r>
              <a:rPr dirty="0" sz="2000" b="1">
                <a:latin typeface="Malgun Gothic"/>
                <a:cs typeface="Malgun Gothic"/>
              </a:rPr>
              <a:t>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설계된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복</a:t>
            </a:r>
            <a:r>
              <a:rPr dirty="0" sz="2000" b="1">
                <a:latin typeface="Malgun Gothic"/>
                <a:cs typeface="Malgun Gothic"/>
              </a:rPr>
              <a:t>지국</a:t>
            </a:r>
            <a:r>
              <a:rPr dirty="0" sz="2000" spc="-15" b="1">
                <a:latin typeface="Malgun Gothic"/>
                <a:cs typeface="Malgun Gothic"/>
              </a:rPr>
              <a:t>가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실</a:t>
            </a:r>
            <a:r>
              <a:rPr dirty="0" sz="2000" b="1">
                <a:latin typeface="Malgun Gothic"/>
                <a:cs typeface="Malgun Gothic"/>
              </a:rPr>
              <a:t>현을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위</a:t>
            </a:r>
            <a:r>
              <a:rPr dirty="0" sz="2000" spc="-15" b="1">
                <a:latin typeface="Malgun Gothic"/>
                <a:cs typeface="Malgun Gothic"/>
              </a:rPr>
              <a:t>해</a:t>
            </a:r>
            <a:r>
              <a:rPr dirty="0" sz="2000" b="1">
                <a:latin typeface="Malgun Gothic"/>
                <a:cs typeface="Malgun Gothic"/>
              </a:rPr>
              <a:t>서는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사회</a:t>
            </a:r>
            <a:endParaRPr sz="2000">
              <a:latin typeface="Malgun Gothic"/>
              <a:cs typeface="Malgun Gothic"/>
            </a:endParaRPr>
          </a:p>
          <a:p>
            <a:pPr algn="r" marR="6350">
              <a:lnSpc>
                <a:spcPct val="100000"/>
              </a:lnSpc>
              <a:spcBef>
                <a:spcPts val="800"/>
              </a:spcBef>
            </a:pPr>
            <a:r>
              <a:rPr dirty="0" sz="2000" b="1">
                <a:latin typeface="Malgun Gothic"/>
                <a:cs typeface="Malgun Gothic"/>
              </a:rPr>
              <a:t>것이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3282" y="5574913"/>
            <a:ext cx="755523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  <a:tabLst>
                <a:tab pos="942340" algn="l"/>
                <a:tab pos="1872614" algn="l"/>
                <a:tab pos="2550160" algn="l"/>
                <a:tab pos="3480435" algn="l"/>
                <a:tab pos="4664710" algn="l"/>
                <a:tab pos="5594985" algn="l"/>
                <a:tab pos="6526530" algn="l"/>
              </a:tabLst>
            </a:pPr>
            <a:r>
              <a:rPr dirty="0" sz="2000" spc="-15" b="1">
                <a:latin typeface="Malgun Gothic"/>
                <a:cs typeface="Malgun Gothic"/>
              </a:rPr>
              <a:t>정</a:t>
            </a:r>
            <a:r>
              <a:rPr dirty="0" sz="2000" b="1">
                <a:latin typeface="Malgun Gothic"/>
                <a:cs typeface="Malgun Gothic"/>
              </a:rPr>
              <a:t>의의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차</a:t>
            </a:r>
            <a:r>
              <a:rPr dirty="0" sz="2000" spc="-15" b="1">
                <a:latin typeface="Malgun Gothic"/>
                <a:cs typeface="Malgun Gothic"/>
              </a:rPr>
              <a:t>원</a:t>
            </a:r>
            <a:r>
              <a:rPr dirty="0" sz="2000" b="1">
                <a:latin typeface="Malgun Gothic"/>
                <a:cs typeface="Malgun Gothic"/>
              </a:rPr>
              <a:t>을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넘어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기</a:t>
            </a:r>
            <a:r>
              <a:rPr dirty="0" sz="2000" spc="-15" b="1">
                <a:latin typeface="Malgun Gothic"/>
                <a:cs typeface="Malgun Gothic"/>
              </a:rPr>
              <a:t>술</a:t>
            </a:r>
            <a:r>
              <a:rPr dirty="0" sz="2000" b="1">
                <a:latin typeface="Malgun Gothic"/>
                <a:cs typeface="Malgun Gothic"/>
              </a:rPr>
              <a:t>적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차</a:t>
            </a:r>
            <a:r>
              <a:rPr dirty="0" sz="2000" spc="-15" b="1">
                <a:latin typeface="Malgun Gothic"/>
                <a:cs typeface="Malgun Gothic"/>
              </a:rPr>
              <a:t>원</a:t>
            </a:r>
            <a:r>
              <a:rPr dirty="0" sz="2000" b="1">
                <a:latin typeface="Malgun Gothic"/>
                <a:cs typeface="Malgun Gothic"/>
              </a:rPr>
              <a:t>에서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정</a:t>
            </a:r>
            <a:r>
              <a:rPr dirty="0" sz="2000" spc="-15" b="1">
                <a:latin typeface="Malgun Gothic"/>
                <a:cs typeface="Malgun Gothic"/>
              </a:rPr>
              <a:t>보</a:t>
            </a:r>
            <a:r>
              <a:rPr dirty="0" sz="2000" b="1">
                <a:latin typeface="Malgun Gothic"/>
                <a:cs typeface="Malgun Gothic"/>
              </a:rPr>
              <a:t>의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b="1">
                <a:latin typeface="Malgun Gothic"/>
                <a:cs typeface="Malgun Gothic"/>
              </a:rPr>
              <a:t>문제를</a:t>
            </a:r>
            <a:r>
              <a:rPr dirty="0" sz="2000" b="1">
                <a:latin typeface="Malgun Gothic"/>
                <a:cs typeface="Malgun Gothic"/>
              </a:rPr>
              <a:t>	</a:t>
            </a:r>
            <a:r>
              <a:rPr dirty="0" sz="2000" spc="-15" b="1">
                <a:latin typeface="Malgun Gothic"/>
                <a:cs typeface="Malgun Gothic"/>
              </a:rPr>
              <a:t>극</a:t>
            </a:r>
            <a:r>
              <a:rPr dirty="0" sz="2000" b="1">
                <a:latin typeface="Malgun Gothic"/>
                <a:cs typeface="Malgun Gothic"/>
              </a:rPr>
              <a:t>복하는  </a:t>
            </a:r>
            <a:r>
              <a:rPr dirty="0" sz="2000" spc="-5" b="1">
                <a:latin typeface="Malgun Gothic"/>
                <a:cs typeface="Malgun Gothic"/>
              </a:rPr>
              <a:t>중요한</a:t>
            </a:r>
            <a:r>
              <a:rPr dirty="0" sz="2000" spc="28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과제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2024-10-01T00:18:06Z</dcterms:created>
  <dcterms:modified xsi:type="dcterms:W3CDTF">2024-10-01T00:18:06Z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</Properties>
</file>