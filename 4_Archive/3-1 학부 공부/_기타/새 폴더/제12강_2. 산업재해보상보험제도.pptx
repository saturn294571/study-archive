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34"/>
  </p:notesMasterIdLst>
  <p:sldIdLst>
    <p:sldId id="513" r:id="rId3"/>
    <p:sldId id="515" r:id="rId4"/>
    <p:sldId id="500" r:id="rId5"/>
    <p:sldId id="518" r:id="rId6"/>
    <p:sldId id="499" r:id="rId7"/>
    <p:sldId id="516" r:id="rId8"/>
    <p:sldId id="502" r:id="rId9"/>
    <p:sldId id="369" r:id="rId10"/>
    <p:sldId id="371" r:id="rId11"/>
    <p:sldId id="519" r:id="rId12"/>
    <p:sldId id="503" r:id="rId13"/>
    <p:sldId id="497" r:id="rId14"/>
    <p:sldId id="373" r:id="rId15"/>
    <p:sldId id="374" r:id="rId16"/>
    <p:sldId id="505" r:id="rId17"/>
    <p:sldId id="379" r:id="rId18"/>
    <p:sldId id="520" r:id="rId19"/>
    <p:sldId id="462" r:id="rId20"/>
    <p:sldId id="376" r:id="rId21"/>
    <p:sldId id="506" r:id="rId22"/>
    <p:sldId id="377" r:id="rId23"/>
    <p:sldId id="521" r:id="rId24"/>
    <p:sldId id="378" r:id="rId25"/>
    <p:sldId id="488" r:id="rId26"/>
    <p:sldId id="508" r:id="rId27"/>
    <p:sldId id="436" r:id="rId28"/>
    <p:sldId id="522" r:id="rId29"/>
    <p:sldId id="523" r:id="rId30"/>
    <p:sldId id="524" r:id="rId31"/>
    <p:sldId id="525" r:id="rId32"/>
    <p:sldId id="412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0C6CF8"/>
    <a:srgbClr val="3399FF"/>
    <a:srgbClr val="2D15DB"/>
    <a:srgbClr val="45E30D"/>
    <a:srgbClr val="01BF0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5B8CC-7A12-440D-9B24-456CD8ECE135}" v="1" dt="2021-11-21T07:10:32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99732" autoAdjust="0"/>
  </p:normalViewPr>
  <p:slideViewPr>
    <p:cSldViewPr>
      <p:cViewPr varScale="1">
        <p:scale>
          <a:sx n="64" d="100"/>
          <a:sy n="64" d="100"/>
        </p:scale>
        <p:origin x="82" y="10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C9E652B3-E279-4C07-9899-1E9A083A775B}"/>
    <pc:docChg chg="undo custSel modSld">
      <pc:chgData name="박진화" userId="92eb4c3a-09df-4608-b9c9-92d107705cdc" providerId="ADAL" clId="{C9E652B3-E279-4C07-9899-1E9A083A775B}" dt="2021-10-22T08:27:02.034" v="91"/>
      <pc:docMkLst>
        <pc:docMk/>
      </pc:docMkLst>
      <pc:sldChg chg="modSp mod">
        <pc:chgData name="박진화" userId="92eb4c3a-09df-4608-b9c9-92d107705cdc" providerId="ADAL" clId="{C9E652B3-E279-4C07-9899-1E9A083A775B}" dt="2021-10-22T08:20:52.366" v="42" actId="255"/>
        <pc:sldMkLst>
          <pc:docMk/>
          <pc:sldMk cId="2894146740" sldId="369"/>
        </pc:sldMkLst>
        <pc:graphicFrameChg chg="modGraphic">
          <ac:chgData name="박진화" userId="92eb4c3a-09df-4608-b9c9-92d107705cdc" providerId="ADAL" clId="{C9E652B3-E279-4C07-9899-1E9A083A775B}" dt="2021-10-22T08:20:52.366" v="42" actId="255"/>
          <ac:graphicFrameMkLst>
            <pc:docMk/>
            <pc:sldMk cId="2894146740" sldId="36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2:07.992" v="56" actId="14100"/>
        <pc:sldMkLst>
          <pc:docMk/>
          <pc:sldMk cId="2223411052" sldId="371"/>
        </pc:sldMkLst>
        <pc:graphicFrameChg chg="mod modGraphic">
          <ac:chgData name="박진화" userId="92eb4c3a-09df-4608-b9c9-92d107705cdc" providerId="ADAL" clId="{C9E652B3-E279-4C07-9899-1E9A083A775B}" dt="2021-10-22T08:22:07.992" v="56" actId="14100"/>
          <ac:graphicFrameMkLst>
            <pc:docMk/>
            <pc:sldMk cId="2223411052" sldId="371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4:18.312" v="69" actId="14100"/>
        <pc:sldMkLst>
          <pc:docMk/>
          <pc:sldMk cId="777262433" sldId="373"/>
        </pc:sldMkLst>
        <pc:graphicFrameChg chg="modGraphic">
          <ac:chgData name="박진화" userId="92eb4c3a-09df-4608-b9c9-92d107705cdc" providerId="ADAL" clId="{C9E652B3-E279-4C07-9899-1E9A083A775B}" dt="2021-10-22T08:24:18.312" v="69" actId="14100"/>
          <ac:graphicFrameMkLst>
            <pc:docMk/>
            <pc:sldMk cId="777262433" sldId="373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4:26.415" v="70" actId="14734"/>
        <pc:sldMkLst>
          <pc:docMk/>
          <pc:sldMk cId="3524173832" sldId="374"/>
        </pc:sldMkLst>
        <pc:graphicFrameChg chg="modGraphic">
          <ac:chgData name="박진화" userId="92eb4c3a-09df-4608-b9c9-92d107705cdc" providerId="ADAL" clId="{C9E652B3-E279-4C07-9899-1E9A083A775B}" dt="2021-10-22T08:24:26.415" v="70" actId="14734"/>
          <ac:graphicFrameMkLst>
            <pc:docMk/>
            <pc:sldMk cId="3524173832" sldId="374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5:16.911" v="73" actId="207"/>
        <pc:sldMkLst>
          <pc:docMk/>
          <pc:sldMk cId="1820484862" sldId="379"/>
        </pc:sldMkLst>
        <pc:spChg chg="mod">
          <ac:chgData name="박진화" userId="92eb4c3a-09df-4608-b9c9-92d107705cdc" providerId="ADAL" clId="{C9E652B3-E279-4C07-9899-1E9A083A775B}" dt="2021-10-22T08:25:16.911" v="73" actId="207"/>
          <ac:spMkLst>
            <pc:docMk/>
            <pc:sldMk cId="1820484862" sldId="379"/>
            <ac:spMk id="5" creationId="{90774EFD-E990-4EA4-BB15-6B363D446A82}"/>
          </ac:spMkLst>
        </pc:spChg>
      </pc:sldChg>
      <pc:sldChg chg="modSp mod">
        <pc:chgData name="박진화" userId="92eb4c3a-09df-4608-b9c9-92d107705cdc" providerId="ADAL" clId="{C9E652B3-E279-4C07-9899-1E9A083A775B}" dt="2021-10-22T08:26:40.121" v="88" actId="20577"/>
        <pc:sldMkLst>
          <pc:docMk/>
          <pc:sldMk cId="2691095410" sldId="462"/>
        </pc:sldMkLst>
        <pc:graphicFrameChg chg="modGraphic">
          <ac:chgData name="박진화" userId="92eb4c3a-09df-4608-b9c9-92d107705cdc" providerId="ADAL" clId="{C9E652B3-E279-4C07-9899-1E9A083A775B}" dt="2021-10-22T08:26:40.121" v="88" actId="20577"/>
          <ac:graphicFrameMkLst>
            <pc:docMk/>
            <pc:sldMk cId="2691095410" sldId="462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3:49.427" v="68" actId="255"/>
        <pc:sldMkLst>
          <pc:docMk/>
          <pc:sldMk cId="2852474293" sldId="503"/>
        </pc:sldMkLst>
        <pc:graphicFrameChg chg="mod modGraphic">
          <ac:chgData name="박진화" userId="92eb4c3a-09df-4608-b9c9-92d107705cdc" providerId="ADAL" clId="{C9E652B3-E279-4C07-9899-1E9A083A775B}" dt="2021-10-22T08:23:49.427" v="68" actId="255"/>
          <ac:graphicFrameMkLst>
            <pc:docMk/>
            <pc:sldMk cId="2852474293" sldId="503"/>
            <ac:graphicFrameMk id="4" creationId="{1E841F8F-FAAD-4150-A336-02DC6957435B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4:37.409" v="71" actId="14734"/>
        <pc:sldMkLst>
          <pc:docMk/>
          <pc:sldMk cId="33459284" sldId="505"/>
        </pc:sldMkLst>
        <pc:graphicFrameChg chg="modGraphic">
          <ac:chgData name="박진화" userId="92eb4c3a-09df-4608-b9c9-92d107705cdc" providerId="ADAL" clId="{C9E652B3-E279-4C07-9899-1E9A083A775B}" dt="2021-10-22T08:24:37.409" v="71" actId="14734"/>
          <ac:graphicFrameMkLst>
            <pc:docMk/>
            <pc:sldMk cId="33459284" sldId="505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2:27.775" v="58" actId="14100"/>
        <pc:sldMkLst>
          <pc:docMk/>
          <pc:sldMk cId="2366357697" sldId="519"/>
        </pc:sldMkLst>
        <pc:graphicFrameChg chg="modGraphic">
          <ac:chgData name="박진화" userId="92eb4c3a-09df-4608-b9c9-92d107705cdc" providerId="ADAL" clId="{C9E652B3-E279-4C07-9899-1E9A083A775B}" dt="2021-10-22T08:22:27.775" v="58" actId="14100"/>
          <ac:graphicFrameMkLst>
            <pc:docMk/>
            <pc:sldMk cId="2366357697" sldId="51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7:02.034" v="91"/>
        <pc:sldMkLst>
          <pc:docMk/>
          <pc:sldMk cId="3891793890" sldId="521"/>
        </pc:sldMkLst>
        <pc:graphicFrameChg chg="mod modGraphic">
          <ac:chgData name="박진화" userId="92eb4c3a-09df-4608-b9c9-92d107705cdc" providerId="ADAL" clId="{C9E652B3-E279-4C07-9899-1E9A083A775B}" dt="2021-10-22T08:27:02.034" v="91"/>
          <ac:graphicFrameMkLst>
            <pc:docMk/>
            <pc:sldMk cId="3891793890" sldId="521"/>
            <ac:graphicFrameMk id="6" creationId="{00000000-0000-0000-0000-000000000000}"/>
          </ac:graphicFrameMkLst>
        </pc:graphicFrameChg>
      </pc:sldChg>
    </pc:docChg>
  </pc:docChgLst>
  <pc:docChgLst>
    <pc:chgData name="박진화" userId="92eb4c3a-09df-4608-b9c9-92d107705cdc" providerId="ADAL" clId="{2645B8CC-7A12-440D-9B24-456CD8ECE135}"/>
    <pc:docChg chg="modSld">
      <pc:chgData name="박진화" userId="92eb4c3a-09df-4608-b9c9-92d107705cdc" providerId="ADAL" clId="{2645B8CC-7A12-440D-9B24-456CD8ECE135}" dt="2021-11-21T07:10:32.654" v="2"/>
      <pc:docMkLst>
        <pc:docMk/>
      </pc:docMkLst>
      <pc:sldChg chg="modSp mod">
        <pc:chgData name="박진화" userId="92eb4c3a-09df-4608-b9c9-92d107705cdc" providerId="ADAL" clId="{2645B8CC-7A12-440D-9B24-456CD8ECE135}" dt="2021-11-21T07:10:32.654" v="2"/>
        <pc:sldMkLst>
          <pc:docMk/>
          <pc:sldMk cId="3891793890" sldId="521"/>
        </pc:sldMkLst>
        <pc:graphicFrameChg chg="mod modGraphic">
          <ac:chgData name="박진화" userId="92eb4c3a-09df-4608-b9c9-92d107705cdc" providerId="ADAL" clId="{2645B8CC-7A12-440D-9B24-456CD8ECE135}" dt="2021-11-21T07:10:32.654" v="2"/>
          <ac:graphicFrameMkLst>
            <pc:docMk/>
            <pc:sldMk cId="3891793890" sldId="521"/>
            <ac:graphicFrameMk id="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FB78-2087-48E7-A297-280F5EFD347C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B801-CA2D-4ADF-9C19-FA669F2B45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9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AC1FF43-5DD1-4E5D-AC73-C8BFB76D1B39}" type="slidenum">
              <a:rPr lang="en-US" altLang="ko-KR" smtClean="0">
                <a:latin typeface="굴림" pitchFamily="50" charset="-127"/>
                <a:ea typeface="굴림" pitchFamily="50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>
                <a:latin typeface="굴림" pitchFamily="50" charset="-127"/>
                <a:ea typeface="굴림" pitchFamily="50" charset="-127"/>
              </a:rPr>
              <a:t>세로형</a:t>
            </a:r>
            <a:r>
              <a:rPr lang="en-US" altLang="ko-KR"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>
                <a:latin typeface="굴림" pitchFamily="50" charset="-127"/>
                <a:ea typeface="굴림" pitchFamily="50" charset="-127"/>
              </a:rPr>
              <a:t>방사형으로 응용가능</a:t>
            </a:r>
            <a:r>
              <a:rPr lang="en-US" altLang="ko-KR">
                <a:latin typeface="굴림" pitchFamily="50" charset="-127"/>
                <a:ea typeface="굴림" pitchFamily="50" charset="-127"/>
              </a:rPr>
              <a:t>)</a:t>
            </a:r>
          </a:p>
          <a:p>
            <a:pPr eaLnBrk="1" hangingPunct="1"/>
            <a:endParaRPr lang="en-US" altLang="ko-KR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9186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266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612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374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05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283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32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47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0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08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3443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7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EEF3-857F-4874-AA1A-D8F1248EFAA6}" type="datetimeFigureOut">
              <a:rPr lang="ko-KR" altLang="en-US" smtClean="0"/>
              <a:pPr/>
              <a:t>2024-11-21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16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10509" y="1381512"/>
            <a:ext cx="931665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51520" y="1800378"/>
            <a:ext cx="3262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ea typeface="나눔스퀘어 ExtraBold" panose="020B0600000101010101" pitchFamily="50" charset="-127"/>
              </a:rPr>
              <a:t>산업재해보상보험제도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24547" y="3356992"/>
            <a:ext cx="609592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의의와 목적을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산재보험제도가 형성된 역사적 배경을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 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도입배경 및 발전과정을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</a:t>
            </a:r>
            <a:r>
              <a:rPr lang="ko-KR" altLang="en-US" sz="1600">
                <a:solidFill>
                  <a:srgbClr val="7030A0"/>
                </a:solidFill>
              </a:rPr>
              <a:t>적용대상과 급여내용을 </a:t>
            </a:r>
            <a:r>
              <a:rPr lang="ko-KR" altLang="en-US" sz="1600" dirty="0">
                <a:solidFill>
                  <a:srgbClr val="7030A0"/>
                </a:solidFill>
              </a:rPr>
              <a:t>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재원조달과 운영체계를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92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80312" y="548680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127137" y="1994611"/>
            <a:ext cx="44369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133961" y="2637526"/>
            <a:ext cx="432778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132830" y="3243513"/>
            <a:ext cx="432778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Group 16"/>
          <p:cNvGrpSpPr>
            <a:grpSpLocks/>
          </p:cNvGrpSpPr>
          <p:nvPr/>
        </p:nvGrpSpPr>
        <p:grpSpPr bwMode="auto">
          <a:xfrm>
            <a:off x="2148885" y="3882999"/>
            <a:ext cx="446384" cy="422201"/>
            <a:chOff x="2078" y="1680"/>
            <a:chExt cx="1615" cy="1615"/>
          </a:xfrm>
        </p:grpSpPr>
        <p:sp>
          <p:nvSpPr>
            <p:cNvPr id="105" name="Oval 1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gray">
            <a:xfrm>
              <a:off x="2253" y="1856"/>
              <a:ext cx="1265" cy="12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Oval 20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Oval 21"/>
            <p:cNvSpPr>
              <a:spLocks noChangeArrowheads="1"/>
            </p:cNvSpPr>
            <p:nvPr/>
          </p:nvSpPr>
          <p:spPr bwMode="gray">
            <a:xfrm>
              <a:off x="2335" y="1938"/>
              <a:ext cx="1100" cy="1099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Oval 22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57542" y="476672"/>
            <a:ext cx="52345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제</a:t>
            </a: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10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산업재해보상보험제도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2150142" y="4524840"/>
            <a:ext cx="443696" cy="408976"/>
            <a:chOff x="2078" y="1680"/>
            <a:chExt cx="1615" cy="1615"/>
          </a:xfrm>
        </p:grpSpPr>
        <p:sp>
          <p:nvSpPr>
            <p:cNvPr id="38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Group 30"/>
          <p:cNvGrpSpPr>
            <a:grpSpLocks/>
          </p:cNvGrpSpPr>
          <p:nvPr/>
        </p:nvGrpSpPr>
        <p:grpSpPr bwMode="auto">
          <a:xfrm>
            <a:off x="2182028" y="5124425"/>
            <a:ext cx="432778" cy="428048"/>
            <a:chOff x="2078" y="1680"/>
            <a:chExt cx="1615" cy="1615"/>
          </a:xfrm>
        </p:grpSpPr>
        <p:sp>
          <p:nvSpPr>
            <p:cNvPr id="46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802260" y="1941009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817200" y="2560698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산재보험의 역사적 배경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832689" y="3207421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도입배경 및 발전과정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9" name="AutoShape 7"/>
          <p:cNvSpPr>
            <a:spLocks noChangeArrowheads="1"/>
          </p:cNvSpPr>
          <p:nvPr/>
        </p:nvSpPr>
        <p:spPr bwMode="gray">
          <a:xfrm>
            <a:off x="2843808" y="4455129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급여내용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gray">
          <a:xfrm>
            <a:off x="2824943" y="5069587"/>
            <a:ext cx="3748403" cy="5093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재      </a:t>
            </a:r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1" name="AutoShape 8"/>
          <p:cNvSpPr>
            <a:spLocks noChangeArrowheads="1"/>
          </p:cNvSpPr>
          <p:nvPr/>
        </p:nvSpPr>
        <p:spPr bwMode="gray">
          <a:xfrm>
            <a:off x="2848162" y="3810819"/>
            <a:ext cx="3717439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적용대상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grpSp>
        <p:nvGrpSpPr>
          <p:cNvPr id="52" name="Group 37"/>
          <p:cNvGrpSpPr>
            <a:grpSpLocks/>
          </p:cNvGrpSpPr>
          <p:nvPr/>
        </p:nvGrpSpPr>
        <p:grpSpPr bwMode="auto">
          <a:xfrm>
            <a:off x="2181749" y="5722398"/>
            <a:ext cx="432778" cy="417872"/>
            <a:chOff x="2078" y="1680"/>
            <a:chExt cx="1615" cy="1615"/>
          </a:xfrm>
        </p:grpSpPr>
        <p:sp>
          <p:nvSpPr>
            <p:cNvPr id="53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0" name="AutoShape 7"/>
          <p:cNvSpPr>
            <a:spLocks noChangeArrowheads="1"/>
          </p:cNvSpPr>
          <p:nvPr/>
        </p:nvSpPr>
        <p:spPr bwMode="gray">
          <a:xfrm>
            <a:off x="2851552" y="5716867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운영체계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225487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  <p:bldP spid="89" grpId="0" animBg="1"/>
      <p:bldP spid="90" grpId="0" animBg="1"/>
      <p:bldP spid="91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69047"/>
              </p:ext>
            </p:extLst>
          </p:nvPr>
        </p:nvGraphicFramePr>
        <p:xfrm>
          <a:off x="251520" y="1124744"/>
          <a:ext cx="8568952" cy="5464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1520">
                <a:tc>
                  <a:txBody>
                    <a:bodyPr/>
                    <a:lstStyle/>
                    <a:p>
                      <a:pPr marL="285750" indent="-285750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산업사회의 고유한 문제인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재해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부상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질병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장해 또는 사망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인한 소득상실을 보전함과 동시에 </a:t>
                      </a:r>
                      <a:r>
                        <a:rPr lang="ko-KR" altLang="en-US" sz="1800" b="0" kern="1200" spc="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요양서비스와 재활서비스를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충분히 </a:t>
                      </a:r>
                      <a:r>
                        <a:rPr lang="ko-KR" altLang="en-US" sz="1800" b="0" kern="120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제공하여 근로자의 성공적인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직업복귀를 도모하는 제도임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대부분의 국가에서 의료보장제도와 함께 가장 오래된 사회보장제도로 우리나라에서도 사회보험 중에서 가장 먼저 도입된 제도임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목적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근로자의 업무상 재해를 신속하고 공정하게 보상하며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재해근로자의    재활 및 사회복귀를 촉진하기 위하여 이에 필요한 보험시설을 설치   운영하고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 예방과 그 밖에 근로자의 복지증진을 위한 사업을 시행하여 근로자 보호에 이바지하는 것을 목적으로 함</a:t>
                      </a:r>
                      <a:endParaRPr lang="ko-KR" altLang="en-US" sz="1800" b="1" dirty="0">
                        <a:solidFill>
                          <a:srgbClr val="C00000"/>
                        </a:solidFill>
                        <a:ea typeface="태 나무" panose="02030603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4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기능 및 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정부주도의 강제보험으로 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ea typeface="태 나무" panose="0203060300010101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➀ 근로자와 유족 보호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➁ 사업주 간의 위험 분산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기능</a:t>
                      </a:r>
                      <a:endParaRPr lang="en-US" altLang="ko-KR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FF66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보험료는 사업주가 전액 부담</a:t>
                      </a:r>
                      <a:endParaRPr lang="en-US" altLang="ko-KR" sz="1800" dirty="0">
                        <a:solidFill>
                          <a:srgbClr val="FF66FF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FF66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보험자는 정부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가입자는 사업주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수급자는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업무상 재해근로자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63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산재보험의 역사적 배경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74272" y="980728"/>
            <a:ext cx="8618207" cy="54291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산재보험의 역사적 배경은 시민법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대원칙의 수정에 따른 무과실책임주의 원칙에서 비롯되었음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시민법은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18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세기 말부터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19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세기 초에 중세 봉건사회를 타파하고 자본주의를 확립한 시민계급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부르주아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이 시민혁명을 통해 건설한 근대 시민사회를 전제로 하여 출현한 법임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시민사회를 지배한 시민법은 소유권 절대의 원칙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계약자유의 원칙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과실책임의 원칙 등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원칙을 사회의 지도 원리로 삼았음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그러나 시민법은 그 현실적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역사적 한계로 인해 수정되지 않을 수 없었음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따라서 단순히 개인의 행복과 이익을 추구하는 원리는 전체 공동체의 안녕을  추구하는 법리로 전환될 수밖에 없었음</a:t>
            </a:r>
            <a:endParaRPr lang="en-US" altLang="ko-KR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D384147-93FC-416D-9EF5-0A38EA80A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73692"/>
              </p:ext>
            </p:extLst>
          </p:nvPr>
        </p:nvGraphicFramePr>
        <p:xfrm>
          <a:off x="297023" y="4365104"/>
          <a:ext cx="8595456" cy="1244538"/>
        </p:xfrm>
        <a:graphic>
          <a:graphicData uri="http://schemas.openxmlformats.org/drawingml/2006/table">
            <a:tbl>
              <a:tblPr/>
              <a:tblGrid>
                <a:gridCol w="859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소유권 절대의 원칙  →  가진 자의 권리남용으로 악용됨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계약자유의 원칙      →  사회적 약자에게 불리한 불공정한 계약으로 이루어짐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과실책임의 원칙      →  과실 입증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어려움</a:t>
                      </a:r>
                      <a:endParaRPr lang="ko-KR" altLang="en-US" sz="1800" b="1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27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8" name="AutoShape 8"/>
          <p:cNvSpPr>
            <a:spLocks noChangeArrowheads="1"/>
          </p:cNvSpPr>
          <p:nvPr/>
        </p:nvSpPr>
        <p:spPr bwMode="auto">
          <a:xfrm>
            <a:off x="1403350" y="5085184"/>
            <a:ext cx="5400898" cy="1000131"/>
          </a:xfrm>
          <a:prstGeom prst="roundRect">
            <a:avLst>
              <a:gd name="adj" fmla="val 5931"/>
            </a:avLst>
          </a:prstGeom>
          <a:gradFill rotWithShape="1">
            <a:gsLst>
              <a:gs pos="0">
                <a:srgbClr val="CBCBCB">
                  <a:alpha val="30000"/>
                </a:srgbClr>
              </a:gs>
              <a:gs pos="50000">
                <a:srgbClr val="CBCBCB">
                  <a:gamma/>
                  <a:tint val="44314"/>
                  <a:invGamma/>
                </a:srgbClr>
              </a:gs>
              <a:gs pos="100000">
                <a:srgbClr val="CBCBCB">
                  <a:alpha val="30000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(3) </a:t>
            </a:r>
            <a:r>
              <a:rPr lang="ko-KR" altLang="en-US" dirty="0"/>
              <a:t>과실 책임주의 수정</a:t>
            </a:r>
            <a:endParaRPr lang="en-US" altLang="ko-KR" dirty="0"/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     </a:t>
            </a:r>
            <a:r>
              <a:rPr lang="en-US" altLang="ko-KR" b="1" dirty="0">
                <a:solidFill>
                  <a:srgbClr val="FF0000"/>
                </a:solidFill>
              </a:rPr>
              <a:t>≫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3399FF"/>
                </a:solidFill>
              </a:rPr>
              <a:t>무과실 책임주의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산재보험의 기초가 됨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1209" name="Freeform 9"/>
          <p:cNvSpPr>
            <a:spLocks/>
          </p:cNvSpPr>
          <p:nvPr/>
        </p:nvSpPr>
        <p:spPr bwMode="auto">
          <a:xfrm>
            <a:off x="3303588" y="1874838"/>
            <a:ext cx="5437187" cy="463550"/>
          </a:xfrm>
          <a:custGeom>
            <a:avLst/>
            <a:gdLst>
              <a:gd name="T0" fmla="*/ 0 w 2610"/>
              <a:gd name="T1" fmla="*/ 504 h 504"/>
              <a:gd name="T2" fmla="*/ 560 w 2610"/>
              <a:gd name="T3" fmla="*/ 0 h 504"/>
              <a:gd name="T4" fmla="*/ 2610 w 2610"/>
              <a:gd name="T5" fmla="*/ 1 h 504"/>
              <a:gd name="T6" fmla="*/ 0 60000 65536"/>
              <a:gd name="T7" fmla="*/ 0 60000 65536"/>
              <a:gd name="T8" fmla="*/ 0 60000 65536"/>
              <a:gd name="T9" fmla="*/ 0 w 2610"/>
              <a:gd name="T10" fmla="*/ 0 h 504"/>
              <a:gd name="T11" fmla="*/ 2610 w 2610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10" h="504">
                <a:moveTo>
                  <a:pt x="0" y="504"/>
                </a:moveTo>
                <a:lnTo>
                  <a:pt x="560" y="0"/>
                </a:lnTo>
                <a:lnTo>
                  <a:pt x="2610" y="1"/>
                </a:lnTo>
              </a:path>
            </a:pathLst>
          </a:cu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 type="oval" w="sm" len="sm"/>
            <a:tailEnd type="oval" w="sm" len="sm"/>
          </a:ln>
        </p:spPr>
        <p:txBody>
          <a:bodyPr wrap="none" lIns="90000" tIns="46800" rIns="90000" bIns="46800" anchor="ctr"/>
          <a:lstStyle/>
          <a:p>
            <a:pPr eaLnBrk="1" latinLnBrk="1" hangingPunct="1">
              <a:defRPr/>
            </a:pPr>
            <a:endParaRPr lang="ko-KR" altLang="en-US"/>
          </a:p>
        </p:txBody>
      </p:sp>
      <p:sp>
        <p:nvSpPr>
          <p:cNvPr id="51210" name="AutoShape 10"/>
          <p:cNvSpPr>
            <a:spLocks noChangeArrowheads="1"/>
          </p:cNvSpPr>
          <p:nvPr/>
        </p:nvSpPr>
        <p:spPr bwMode="auto">
          <a:xfrm>
            <a:off x="4023335" y="2221353"/>
            <a:ext cx="4717439" cy="1174671"/>
          </a:xfrm>
          <a:prstGeom prst="roundRect">
            <a:avLst>
              <a:gd name="adj" fmla="val 5931"/>
            </a:avLst>
          </a:prstGeom>
          <a:gradFill rotWithShape="1">
            <a:gsLst>
              <a:gs pos="0">
                <a:srgbClr val="CBCBCB">
                  <a:alpha val="30000"/>
                </a:srgbClr>
              </a:gs>
              <a:gs pos="50000">
                <a:srgbClr val="E8E8E8"/>
              </a:gs>
              <a:gs pos="100000">
                <a:srgbClr val="CBCBCB">
                  <a:alpha val="30000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342900" indent="-342900" eaLnBrk="1" latinLnBrk="1" hangingPunct="1">
              <a:lnSpc>
                <a:spcPct val="150000"/>
              </a:lnSpc>
              <a:buFontTx/>
              <a:buAutoNum type="arabicParenBoth"/>
              <a:defRPr/>
            </a:pPr>
            <a:r>
              <a:rPr lang="ko-KR" altLang="en-US" dirty="0"/>
              <a:t>소유권 절대의 원칙</a:t>
            </a:r>
            <a:endParaRPr lang="en-US" altLang="ko-KR" dirty="0"/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     </a:t>
            </a:r>
            <a:r>
              <a:rPr lang="en-US" altLang="ko-KR" b="1" dirty="0">
                <a:solidFill>
                  <a:srgbClr val="FF0000"/>
                </a:solidFill>
              </a:rPr>
              <a:t>≫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3399FF"/>
                </a:solidFill>
              </a:rPr>
              <a:t>소유권 제한의 원칙</a:t>
            </a:r>
            <a:r>
              <a:rPr lang="en-US" altLang="ko-KR" b="1" dirty="0">
                <a:solidFill>
                  <a:srgbClr val="3399FF"/>
                </a:solidFill>
              </a:rPr>
              <a:t>(</a:t>
            </a:r>
            <a:r>
              <a:rPr lang="ko-KR" altLang="en-US" b="1" dirty="0">
                <a:solidFill>
                  <a:srgbClr val="3399FF"/>
                </a:solidFill>
              </a:rPr>
              <a:t>사회성</a:t>
            </a:r>
            <a:r>
              <a:rPr lang="en-US" altLang="ko-KR" b="1" dirty="0">
                <a:solidFill>
                  <a:srgbClr val="3399FF"/>
                </a:solidFill>
              </a:rPr>
              <a:t>, </a:t>
            </a:r>
            <a:r>
              <a:rPr lang="ko-KR" altLang="en-US" b="1" dirty="0">
                <a:solidFill>
                  <a:srgbClr val="3399FF"/>
                </a:solidFill>
              </a:rPr>
              <a:t>공공성</a:t>
            </a:r>
            <a:r>
              <a:rPr lang="en-US" altLang="ko-KR" b="1" dirty="0">
                <a:solidFill>
                  <a:srgbClr val="3399FF"/>
                </a:solidFill>
              </a:rPr>
              <a:t>)</a:t>
            </a:r>
            <a:endParaRPr lang="ko-KR" altLang="en-US" b="1" dirty="0">
              <a:solidFill>
                <a:srgbClr val="3399FF"/>
              </a:solidFill>
            </a:endParaRPr>
          </a:p>
        </p:txBody>
      </p:sp>
      <p:sp>
        <p:nvSpPr>
          <p:cNvPr id="51211" name="Freeform 11"/>
          <p:cNvSpPr>
            <a:spLocks/>
          </p:cNvSpPr>
          <p:nvPr/>
        </p:nvSpPr>
        <p:spPr bwMode="auto">
          <a:xfrm>
            <a:off x="3840163" y="3092450"/>
            <a:ext cx="5081587" cy="512763"/>
          </a:xfrm>
          <a:custGeom>
            <a:avLst/>
            <a:gdLst>
              <a:gd name="T0" fmla="*/ 0 w 2460"/>
              <a:gd name="T1" fmla="*/ 0 h 583"/>
              <a:gd name="T2" fmla="*/ 175 w 2460"/>
              <a:gd name="T3" fmla="*/ 583 h 583"/>
              <a:gd name="T4" fmla="*/ 2460 w 2460"/>
              <a:gd name="T5" fmla="*/ 580 h 583"/>
              <a:gd name="T6" fmla="*/ 0 60000 65536"/>
              <a:gd name="T7" fmla="*/ 0 60000 65536"/>
              <a:gd name="T8" fmla="*/ 0 60000 65536"/>
              <a:gd name="T9" fmla="*/ 0 w 2460"/>
              <a:gd name="T10" fmla="*/ 0 h 583"/>
              <a:gd name="T11" fmla="*/ 2460 w 2460"/>
              <a:gd name="T12" fmla="*/ 583 h 5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60" h="583">
                <a:moveTo>
                  <a:pt x="0" y="0"/>
                </a:moveTo>
                <a:lnTo>
                  <a:pt x="175" y="583"/>
                </a:lnTo>
                <a:lnTo>
                  <a:pt x="2460" y="580"/>
                </a:lnTo>
              </a:path>
            </a:pathLst>
          </a:cu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 type="oval" w="sm" len="sm"/>
            <a:tailEnd type="oval" w="sm" len="sm"/>
          </a:ln>
        </p:spPr>
        <p:txBody>
          <a:bodyPr wrap="none" lIns="90000" tIns="46800" rIns="90000" bIns="46800" anchor="ctr"/>
          <a:lstStyle/>
          <a:p>
            <a:pPr eaLnBrk="1" latinLnBrk="1" hangingPunct="1">
              <a:defRPr/>
            </a:pPr>
            <a:endParaRPr lang="ko-KR" altLang="en-US"/>
          </a:p>
        </p:txBody>
      </p:sp>
      <p:sp>
        <p:nvSpPr>
          <p:cNvPr id="51212" name="AutoShape 12"/>
          <p:cNvSpPr>
            <a:spLocks noChangeArrowheads="1"/>
          </p:cNvSpPr>
          <p:nvPr/>
        </p:nvSpPr>
        <p:spPr bwMode="auto">
          <a:xfrm>
            <a:off x="3431680" y="3643705"/>
            <a:ext cx="4628604" cy="1194575"/>
          </a:xfrm>
          <a:prstGeom prst="roundRect">
            <a:avLst>
              <a:gd name="adj" fmla="val 5931"/>
            </a:avLst>
          </a:prstGeom>
          <a:gradFill rotWithShape="1">
            <a:gsLst>
              <a:gs pos="0">
                <a:srgbClr val="CBCBCB">
                  <a:alpha val="30000"/>
                </a:srgbClr>
              </a:gs>
              <a:gs pos="50000">
                <a:srgbClr val="CBCBCB">
                  <a:gamma/>
                  <a:tint val="44314"/>
                  <a:invGamma/>
                </a:srgbClr>
              </a:gs>
              <a:gs pos="100000">
                <a:srgbClr val="CBCBCB">
                  <a:alpha val="30000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(2) </a:t>
            </a:r>
            <a:r>
              <a:rPr lang="ko-KR" altLang="en-US" dirty="0"/>
              <a:t>계약자유의 원칙의 수정</a:t>
            </a:r>
            <a:endParaRPr lang="en-US" altLang="ko-KR" dirty="0"/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ko-KR" altLang="en-US" dirty="0"/>
              <a:t>     </a:t>
            </a:r>
            <a:r>
              <a:rPr lang="ko-KR" altLang="en-US" b="1" dirty="0">
                <a:solidFill>
                  <a:srgbClr val="FF0000"/>
                </a:solidFill>
              </a:rPr>
              <a:t>≫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3399FF"/>
                </a:solidFill>
              </a:rPr>
              <a:t>계약 공정의 원칙</a:t>
            </a:r>
            <a:r>
              <a:rPr lang="en-US" altLang="ko-KR" b="1" dirty="0">
                <a:solidFill>
                  <a:srgbClr val="3399FF"/>
                </a:solidFill>
              </a:rPr>
              <a:t>, </a:t>
            </a:r>
            <a:r>
              <a:rPr lang="ko-KR" altLang="en-US" b="1" dirty="0">
                <a:solidFill>
                  <a:srgbClr val="3399FF"/>
                </a:solidFill>
              </a:rPr>
              <a:t>계약강제의 원칙</a:t>
            </a:r>
          </a:p>
        </p:txBody>
      </p:sp>
      <p:sp>
        <p:nvSpPr>
          <p:cNvPr id="51213" name="Freeform 13"/>
          <p:cNvSpPr>
            <a:spLocks/>
          </p:cNvSpPr>
          <p:nvPr/>
        </p:nvSpPr>
        <p:spPr bwMode="auto">
          <a:xfrm>
            <a:off x="990600" y="3633788"/>
            <a:ext cx="5813425" cy="1204912"/>
          </a:xfrm>
          <a:custGeom>
            <a:avLst/>
            <a:gdLst>
              <a:gd name="T0" fmla="*/ 498 w 2400"/>
              <a:gd name="T1" fmla="*/ 0 h 1747"/>
              <a:gd name="T2" fmla="*/ 0 w 2400"/>
              <a:gd name="T3" fmla="*/ 1745 h 1747"/>
              <a:gd name="T4" fmla="*/ 2400 w 2400"/>
              <a:gd name="T5" fmla="*/ 1747 h 1747"/>
              <a:gd name="T6" fmla="*/ 0 60000 65536"/>
              <a:gd name="T7" fmla="*/ 0 60000 65536"/>
              <a:gd name="T8" fmla="*/ 0 60000 65536"/>
              <a:gd name="T9" fmla="*/ 0 w 2400"/>
              <a:gd name="T10" fmla="*/ 0 h 1747"/>
              <a:gd name="T11" fmla="*/ 2400 w 2400"/>
              <a:gd name="T12" fmla="*/ 1747 h 17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0" h="1747">
                <a:moveTo>
                  <a:pt x="498" y="0"/>
                </a:moveTo>
                <a:lnTo>
                  <a:pt x="0" y="1745"/>
                </a:lnTo>
                <a:lnTo>
                  <a:pt x="2400" y="1747"/>
                </a:lnTo>
              </a:path>
            </a:pathLst>
          </a:cu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 type="oval" w="sm" len="sm"/>
            <a:tailEnd type="oval" w="sm" len="sm"/>
          </a:ln>
        </p:spPr>
        <p:txBody>
          <a:bodyPr wrap="none" lIns="90000" tIns="46800" rIns="90000" bIns="46800" anchor="ctr"/>
          <a:lstStyle/>
          <a:p>
            <a:pPr eaLnBrk="1" latinLnBrk="1" hangingPunct="1">
              <a:defRPr/>
            </a:pPr>
            <a:endParaRPr lang="ko-KR" alt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76213" y="2136775"/>
            <a:ext cx="3663950" cy="1444625"/>
            <a:chOff x="714" y="1469"/>
            <a:chExt cx="1752" cy="693"/>
          </a:xfrm>
        </p:grpSpPr>
        <p:grpSp>
          <p:nvGrpSpPr>
            <p:cNvPr id="24599" name="Group 17"/>
            <p:cNvGrpSpPr>
              <a:grpSpLocks/>
            </p:cNvGrpSpPr>
            <p:nvPr/>
          </p:nvGrpSpPr>
          <p:grpSpPr bwMode="auto">
            <a:xfrm>
              <a:off x="714" y="1469"/>
              <a:ext cx="1752" cy="693"/>
              <a:chOff x="714" y="1469"/>
              <a:chExt cx="1752" cy="693"/>
            </a:xfrm>
          </p:grpSpPr>
          <p:sp>
            <p:nvSpPr>
              <p:cNvPr id="24601" name="Oval 4"/>
              <p:cNvSpPr>
                <a:spLocks noChangeArrowheads="1"/>
              </p:cNvSpPr>
              <p:nvPr/>
            </p:nvSpPr>
            <p:spPr bwMode="auto">
              <a:xfrm>
                <a:off x="1032" y="1545"/>
                <a:ext cx="1178" cy="537"/>
              </a:xfrm>
              <a:prstGeom prst="ellipse">
                <a:avLst/>
              </a:prstGeom>
              <a:solidFill>
                <a:srgbClr val="9595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800"/>
              </a:p>
            </p:txBody>
          </p:sp>
          <p:sp>
            <p:nvSpPr>
              <p:cNvPr id="24602" name="Text Box 5"/>
              <p:cNvSpPr txBox="1">
                <a:spLocks noChangeArrowheads="1"/>
              </p:cNvSpPr>
              <p:nvPr/>
            </p:nvSpPr>
            <p:spPr bwMode="auto">
              <a:xfrm>
                <a:off x="1554" y="1647"/>
                <a:ext cx="1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kumimoji="0" lang="ko-KR" altLang="ko-KR" sz="1800" b="1">
                  <a:solidFill>
                    <a:schemeClr val="bg1"/>
                  </a:solidFill>
                  <a:latin typeface="Times New Roman" pitchFamily="18" charset="0"/>
                  <a:ea typeface="(한)문화방송"/>
                  <a:cs typeface="(한)문화방송"/>
                </a:endParaRPr>
              </a:p>
            </p:txBody>
          </p:sp>
          <p:sp>
            <p:nvSpPr>
              <p:cNvPr id="24603" name="Freeform 6"/>
              <p:cNvSpPr>
                <a:spLocks/>
              </p:cNvSpPr>
              <p:nvPr/>
            </p:nvSpPr>
            <p:spPr bwMode="auto">
              <a:xfrm>
                <a:off x="714" y="1469"/>
                <a:ext cx="1433" cy="572"/>
              </a:xfrm>
              <a:custGeom>
                <a:avLst/>
                <a:gdLst>
                  <a:gd name="T0" fmla="*/ 8 w 2824"/>
                  <a:gd name="T1" fmla="*/ 0 h 2919"/>
                  <a:gd name="T2" fmla="*/ 8 w 2824"/>
                  <a:gd name="T3" fmla="*/ 0 h 2919"/>
                  <a:gd name="T4" fmla="*/ 9 w 2824"/>
                  <a:gd name="T5" fmla="*/ 0 h 2919"/>
                  <a:gd name="T6" fmla="*/ 10 w 2824"/>
                  <a:gd name="T7" fmla="*/ 0 h 2919"/>
                  <a:gd name="T8" fmla="*/ 11 w 2824"/>
                  <a:gd name="T9" fmla="*/ 0 h 2919"/>
                  <a:gd name="T10" fmla="*/ 12 w 2824"/>
                  <a:gd name="T11" fmla="*/ 0 h 2919"/>
                  <a:gd name="T12" fmla="*/ 12 w 2824"/>
                  <a:gd name="T13" fmla="*/ 0 h 2919"/>
                  <a:gd name="T14" fmla="*/ 12 w 2824"/>
                  <a:gd name="T15" fmla="*/ 0 h 2919"/>
                  <a:gd name="T16" fmla="*/ 11 w 2824"/>
                  <a:gd name="T17" fmla="*/ 0 h 2919"/>
                  <a:gd name="T18" fmla="*/ 10 w 2824"/>
                  <a:gd name="T19" fmla="*/ 0 h 2919"/>
                  <a:gd name="T20" fmla="*/ 9 w 2824"/>
                  <a:gd name="T21" fmla="*/ 0 h 2919"/>
                  <a:gd name="T22" fmla="*/ 8 w 2824"/>
                  <a:gd name="T23" fmla="*/ 0 h 2919"/>
                  <a:gd name="T24" fmla="*/ 7 w 2824"/>
                  <a:gd name="T25" fmla="*/ 0 h 2919"/>
                  <a:gd name="T26" fmla="*/ 6 w 2824"/>
                  <a:gd name="T27" fmla="*/ 0 h 2919"/>
                  <a:gd name="T28" fmla="*/ 5 w 2824"/>
                  <a:gd name="T29" fmla="*/ 0 h 2919"/>
                  <a:gd name="T30" fmla="*/ 5 w 2824"/>
                  <a:gd name="T31" fmla="*/ 0 h 2919"/>
                  <a:gd name="T32" fmla="*/ 4 w 2824"/>
                  <a:gd name="T33" fmla="*/ 0 h 2919"/>
                  <a:gd name="T34" fmla="*/ 3 w 2824"/>
                  <a:gd name="T35" fmla="*/ 0 h 2919"/>
                  <a:gd name="T36" fmla="*/ 2 w 2824"/>
                  <a:gd name="T37" fmla="*/ 0 h 2919"/>
                  <a:gd name="T38" fmla="*/ 2 w 2824"/>
                  <a:gd name="T39" fmla="*/ 0 h 2919"/>
                  <a:gd name="T40" fmla="*/ 1 w 2824"/>
                  <a:gd name="T41" fmla="*/ 0 h 2919"/>
                  <a:gd name="T42" fmla="*/ 1 w 2824"/>
                  <a:gd name="T43" fmla="*/ 0 h 2919"/>
                  <a:gd name="T44" fmla="*/ 1 w 2824"/>
                  <a:gd name="T45" fmla="*/ 0 h 2919"/>
                  <a:gd name="T46" fmla="*/ 0 w 2824"/>
                  <a:gd name="T47" fmla="*/ 0 h 2919"/>
                  <a:gd name="T48" fmla="*/ 0 w 2824"/>
                  <a:gd name="T49" fmla="*/ 0 h 2919"/>
                  <a:gd name="T50" fmla="*/ 1 w 2824"/>
                  <a:gd name="T51" fmla="*/ 0 h 2919"/>
                  <a:gd name="T52" fmla="*/ 1 w 2824"/>
                  <a:gd name="T53" fmla="*/ 0 h 2919"/>
                  <a:gd name="T54" fmla="*/ 1 w 2824"/>
                  <a:gd name="T55" fmla="*/ 0 h 2919"/>
                  <a:gd name="T56" fmla="*/ 2 w 2824"/>
                  <a:gd name="T57" fmla="*/ 0 h 2919"/>
                  <a:gd name="T58" fmla="*/ 2 w 2824"/>
                  <a:gd name="T59" fmla="*/ 0 h 2919"/>
                  <a:gd name="T60" fmla="*/ 2 w 2824"/>
                  <a:gd name="T61" fmla="*/ 0 h 2919"/>
                  <a:gd name="T62" fmla="*/ 4 w 2824"/>
                  <a:gd name="T63" fmla="*/ 0 h 2919"/>
                  <a:gd name="T64" fmla="*/ 3 w 2824"/>
                  <a:gd name="T65" fmla="*/ 0 h 2919"/>
                  <a:gd name="T66" fmla="*/ 3 w 2824"/>
                  <a:gd name="T67" fmla="*/ 0 h 2919"/>
                  <a:gd name="T68" fmla="*/ 3 w 2824"/>
                  <a:gd name="T69" fmla="*/ 0 h 2919"/>
                  <a:gd name="T70" fmla="*/ 2 w 2824"/>
                  <a:gd name="T71" fmla="*/ 0 h 2919"/>
                  <a:gd name="T72" fmla="*/ 2 w 2824"/>
                  <a:gd name="T73" fmla="*/ 0 h 2919"/>
                  <a:gd name="T74" fmla="*/ 2 w 2824"/>
                  <a:gd name="T75" fmla="*/ 0 h 2919"/>
                  <a:gd name="T76" fmla="*/ 2 w 2824"/>
                  <a:gd name="T77" fmla="*/ 0 h 2919"/>
                  <a:gd name="T78" fmla="*/ 3 w 2824"/>
                  <a:gd name="T79" fmla="*/ 0 h 2919"/>
                  <a:gd name="T80" fmla="*/ 3 w 2824"/>
                  <a:gd name="T81" fmla="*/ 0 h 2919"/>
                  <a:gd name="T82" fmla="*/ 3 w 2824"/>
                  <a:gd name="T83" fmla="*/ 0 h 2919"/>
                  <a:gd name="T84" fmla="*/ 4 w 2824"/>
                  <a:gd name="T85" fmla="*/ 0 h 2919"/>
                  <a:gd name="T86" fmla="*/ 4 w 2824"/>
                  <a:gd name="T87" fmla="*/ 0 h 2919"/>
                  <a:gd name="T88" fmla="*/ 5 w 2824"/>
                  <a:gd name="T89" fmla="*/ 0 h 2919"/>
                  <a:gd name="T90" fmla="*/ 6 w 2824"/>
                  <a:gd name="T91" fmla="*/ 0 h 2919"/>
                  <a:gd name="T92" fmla="*/ 7 w 2824"/>
                  <a:gd name="T93" fmla="*/ 0 h 2919"/>
                  <a:gd name="T94" fmla="*/ 7 w 2824"/>
                  <a:gd name="T95" fmla="*/ 0 h 2919"/>
                  <a:gd name="T96" fmla="*/ 8 w 2824"/>
                  <a:gd name="T97" fmla="*/ 0 h 291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824"/>
                  <a:gd name="T148" fmla="*/ 0 h 2919"/>
                  <a:gd name="T149" fmla="*/ 2824 w 2824"/>
                  <a:gd name="T150" fmla="*/ 2919 h 291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824" h="2919">
                    <a:moveTo>
                      <a:pt x="1746" y="129"/>
                    </a:moveTo>
                    <a:lnTo>
                      <a:pt x="1826" y="129"/>
                    </a:lnTo>
                    <a:lnTo>
                      <a:pt x="2039" y="134"/>
                    </a:lnTo>
                    <a:lnTo>
                      <a:pt x="2249" y="171"/>
                    </a:lnTo>
                    <a:lnTo>
                      <a:pt x="2454" y="239"/>
                    </a:lnTo>
                    <a:lnTo>
                      <a:pt x="2647" y="323"/>
                    </a:lnTo>
                    <a:lnTo>
                      <a:pt x="2824" y="431"/>
                    </a:lnTo>
                    <a:lnTo>
                      <a:pt x="2714" y="335"/>
                    </a:lnTo>
                    <a:lnTo>
                      <a:pt x="2523" y="209"/>
                    </a:lnTo>
                    <a:lnTo>
                      <a:pt x="2311" y="112"/>
                    </a:lnTo>
                    <a:lnTo>
                      <a:pt x="2098" y="47"/>
                    </a:lnTo>
                    <a:lnTo>
                      <a:pt x="1871" y="3"/>
                    </a:lnTo>
                    <a:lnTo>
                      <a:pt x="1645" y="0"/>
                    </a:lnTo>
                    <a:lnTo>
                      <a:pt x="1419" y="21"/>
                    </a:lnTo>
                    <a:lnTo>
                      <a:pt x="1196" y="76"/>
                    </a:lnTo>
                    <a:lnTo>
                      <a:pt x="985" y="155"/>
                    </a:lnTo>
                    <a:lnTo>
                      <a:pt x="789" y="268"/>
                    </a:lnTo>
                    <a:lnTo>
                      <a:pt x="605" y="402"/>
                    </a:lnTo>
                    <a:lnTo>
                      <a:pt x="442" y="558"/>
                    </a:lnTo>
                    <a:lnTo>
                      <a:pt x="298" y="737"/>
                    </a:lnTo>
                    <a:lnTo>
                      <a:pt x="180" y="939"/>
                    </a:lnTo>
                    <a:lnTo>
                      <a:pt x="92" y="1150"/>
                    </a:lnTo>
                    <a:lnTo>
                      <a:pt x="34" y="1371"/>
                    </a:lnTo>
                    <a:lnTo>
                      <a:pt x="0" y="1601"/>
                    </a:lnTo>
                    <a:lnTo>
                      <a:pt x="0" y="1832"/>
                    </a:lnTo>
                    <a:lnTo>
                      <a:pt x="29" y="2055"/>
                    </a:lnTo>
                    <a:lnTo>
                      <a:pt x="88" y="2276"/>
                    </a:lnTo>
                    <a:lnTo>
                      <a:pt x="180" y="2491"/>
                    </a:lnTo>
                    <a:lnTo>
                      <a:pt x="293" y="2691"/>
                    </a:lnTo>
                    <a:lnTo>
                      <a:pt x="436" y="2868"/>
                    </a:lnTo>
                    <a:lnTo>
                      <a:pt x="483" y="2919"/>
                    </a:lnTo>
                    <a:lnTo>
                      <a:pt x="844" y="2548"/>
                    </a:lnTo>
                    <a:lnTo>
                      <a:pt x="710" y="2389"/>
                    </a:lnTo>
                    <a:lnTo>
                      <a:pt x="605" y="2227"/>
                    </a:lnTo>
                    <a:lnTo>
                      <a:pt x="520" y="2047"/>
                    </a:lnTo>
                    <a:lnTo>
                      <a:pt x="465" y="1862"/>
                    </a:lnTo>
                    <a:lnTo>
                      <a:pt x="436" y="1669"/>
                    </a:lnTo>
                    <a:lnTo>
                      <a:pt x="432" y="1462"/>
                    </a:lnTo>
                    <a:lnTo>
                      <a:pt x="457" y="1266"/>
                    </a:lnTo>
                    <a:lnTo>
                      <a:pt x="507" y="1078"/>
                    </a:lnTo>
                    <a:lnTo>
                      <a:pt x="583" y="895"/>
                    </a:lnTo>
                    <a:lnTo>
                      <a:pt x="689" y="725"/>
                    </a:lnTo>
                    <a:lnTo>
                      <a:pt x="814" y="574"/>
                    </a:lnTo>
                    <a:lnTo>
                      <a:pt x="958" y="440"/>
                    </a:lnTo>
                    <a:lnTo>
                      <a:pt x="1116" y="327"/>
                    </a:lnTo>
                    <a:lnTo>
                      <a:pt x="1293" y="242"/>
                    </a:lnTo>
                    <a:lnTo>
                      <a:pt x="1480" y="176"/>
                    </a:lnTo>
                    <a:lnTo>
                      <a:pt x="1669" y="142"/>
                    </a:lnTo>
                    <a:lnTo>
                      <a:pt x="1746" y="12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AEAEAE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651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04" name="Freeform 7"/>
              <p:cNvSpPr>
                <a:spLocks/>
              </p:cNvSpPr>
              <p:nvPr/>
            </p:nvSpPr>
            <p:spPr bwMode="auto">
              <a:xfrm>
                <a:off x="1031" y="1589"/>
                <a:ext cx="1435" cy="573"/>
              </a:xfrm>
              <a:custGeom>
                <a:avLst/>
                <a:gdLst>
                  <a:gd name="T0" fmla="*/ 5 w 2829"/>
                  <a:gd name="T1" fmla="*/ 0 h 2923"/>
                  <a:gd name="T2" fmla="*/ 5 w 2829"/>
                  <a:gd name="T3" fmla="*/ 0 h 2923"/>
                  <a:gd name="T4" fmla="*/ 4 w 2829"/>
                  <a:gd name="T5" fmla="*/ 0 h 2923"/>
                  <a:gd name="T6" fmla="*/ 3 w 2829"/>
                  <a:gd name="T7" fmla="*/ 0 h 2923"/>
                  <a:gd name="T8" fmla="*/ 2 w 2829"/>
                  <a:gd name="T9" fmla="*/ 0 h 2923"/>
                  <a:gd name="T10" fmla="*/ 1 w 2829"/>
                  <a:gd name="T11" fmla="*/ 0 h 2923"/>
                  <a:gd name="T12" fmla="*/ 0 w 2829"/>
                  <a:gd name="T13" fmla="*/ 0 h 2923"/>
                  <a:gd name="T14" fmla="*/ 1 w 2829"/>
                  <a:gd name="T15" fmla="*/ 0 h 2923"/>
                  <a:gd name="T16" fmla="*/ 2 w 2829"/>
                  <a:gd name="T17" fmla="*/ 0 h 2923"/>
                  <a:gd name="T18" fmla="*/ 3 w 2829"/>
                  <a:gd name="T19" fmla="*/ 0 h 2923"/>
                  <a:gd name="T20" fmla="*/ 3 w 2829"/>
                  <a:gd name="T21" fmla="*/ 0 h 2923"/>
                  <a:gd name="T22" fmla="*/ 4 w 2829"/>
                  <a:gd name="T23" fmla="*/ 0 h 2923"/>
                  <a:gd name="T24" fmla="*/ 5 w 2829"/>
                  <a:gd name="T25" fmla="*/ 0 h 2923"/>
                  <a:gd name="T26" fmla="*/ 6 w 2829"/>
                  <a:gd name="T27" fmla="*/ 0 h 2923"/>
                  <a:gd name="T28" fmla="*/ 7 w 2829"/>
                  <a:gd name="T29" fmla="*/ 0 h 2923"/>
                  <a:gd name="T30" fmla="*/ 8 w 2829"/>
                  <a:gd name="T31" fmla="*/ 0 h 2923"/>
                  <a:gd name="T32" fmla="*/ 9 w 2829"/>
                  <a:gd name="T33" fmla="*/ 0 h 2923"/>
                  <a:gd name="T34" fmla="*/ 10 w 2829"/>
                  <a:gd name="T35" fmla="*/ 0 h 2923"/>
                  <a:gd name="T36" fmla="*/ 11 w 2829"/>
                  <a:gd name="T37" fmla="*/ 0 h 2923"/>
                  <a:gd name="T38" fmla="*/ 11 w 2829"/>
                  <a:gd name="T39" fmla="*/ 0 h 2923"/>
                  <a:gd name="T40" fmla="*/ 12 w 2829"/>
                  <a:gd name="T41" fmla="*/ 0 h 2923"/>
                  <a:gd name="T42" fmla="*/ 12 w 2829"/>
                  <a:gd name="T43" fmla="*/ 0 h 2923"/>
                  <a:gd name="T44" fmla="*/ 12 w 2829"/>
                  <a:gd name="T45" fmla="*/ 0 h 2923"/>
                  <a:gd name="T46" fmla="*/ 12 w 2829"/>
                  <a:gd name="T47" fmla="*/ 0 h 2923"/>
                  <a:gd name="T48" fmla="*/ 12 w 2829"/>
                  <a:gd name="T49" fmla="*/ 0 h 2923"/>
                  <a:gd name="T50" fmla="*/ 12 w 2829"/>
                  <a:gd name="T51" fmla="*/ 0 h 2923"/>
                  <a:gd name="T52" fmla="*/ 12 w 2829"/>
                  <a:gd name="T53" fmla="*/ 0 h 2923"/>
                  <a:gd name="T54" fmla="*/ 12 w 2829"/>
                  <a:gd name="T55" fmla="*/ 0 h 2923"/>
                  <a:gd name="T56" fmla="*/ 11 w 2829"/>
                  <a:gd name="T57" fmla="*/ 0 h 2923"/>
                  <a:gd name="T58" fmla="*/ 11 w 2829"/>
                  <a:gd name="T59" fmla="*/ 0 h 2923"/>
                  <a:gd name="T60" fmla="*/ 10 w 2829"/>
                  <a:gd name="T61" fmla="*/ 0 h 2923"/>
                  <a:gd name="T62" fmla="*/ 9 w 2829"/>
                  <a:gd name="T63" fmla="*/ 0 h 2923"/>
                  <a:gd name="T64" fmla="*/ 9 w 2829"/>
                  <a:gd name="T65" fmla="*/ 0 h 2923"/>
                  <a:gd name="T66" fmla="*/ 10 w 2829"/>
                  <a:gd name="T67" fmla="*/ 0 h 2923"/>
                  <a:gd name="T68" fmla="*/ 10 w 2829"/>
                  <a:gd name="T69" fmla="*/ 0 h 2923"/>
                  <a:gd name="T70" fmla="*/ 10 w 2829"/>
                  <a:gd name="T71" fmla="*/ 0 h 2923"/>
                  <a:gd name="T72" fmla="*/ 11 w 2829"/>
                  <a:gd name="T73" fmla="*/ 0 h 2923"/>
                  <a:gd name="T74" fmla="*/ 11 w 2829"/>
                  <a:gd name="T75" fmla="*/ 0 h 2923"/>
                  <a:gd name="T76" fmla="*/ 11 w 2829"/>
                  <a:gd name="T77" fmla="*/ 0 h 2923"/>
                  <a:gd name="T78" fmla="*/ 10 w 2829"/>
                  <a:gd name="T79" fmla="*/ 0 h 2923"/>
                  <a:gd name="T80" fmla="*/ 10 w 2829"/>
                  <a:gd name="T81" fmla="*/ 0 h 2923"/>
                  <a:gd name="T82" fmla="*/ 10 w 2829"/>
                  <a:gd name="T83" fmla="*/ 0 h 2923"/>
                  <a:gd name="T84" fmla="*/ 9 w 2829"/>
                  <a:gd name="T85" fmla="*/ 0 h 2923"/>
                  <a:gd name="T86" fmla="*/ 8 w 2829"/>
                  <a:gd name="T87" fmla="*/ 0 h 2923"/>
                  <a:gd name="T88" fmla="*/ 8 w 2829"/>
                  <a:gd name="T89" fmla="*/ 0 h 2923"/>
                  <a:gd name="T90" fmla="*/ 7 w 2829"/>
                  <a:gd name="T91" fmla="*/ 0 h 2923"/>
                  <a:gd name="T92" fmla="*/ 6 w 2829"/>
                  <a:gd name="T93" fmla="*/ 0 h 2923"/>
                  <a:gd name="T94" fmla="*/ 5 w 2829"/>
                  <a:gd name="T95" fmla="*/ 0 h 2923"/>
                  <a:gd name="T96" fmla="*/ 5 w 2829"/>
                  <a:gd name="T97" fmla="*/ 0 h 292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829"/>
                  <a:gd name="T148" fmla="*/ 0 h 2923"/>
                  <a:gd name="T149" fmla="*/ 2829 w 2829"/>
                  <a:gd name="T150" fmla="*/ 2923 h 292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829" h="2923">
                    <a:moveTo>
                      <a:pt x="1078" y="2789"/>
                    </a:moveTo>
                    <a:lnTo>
                      <a:pt x="999" y="2794"/>
                    </a:lnTo>
                    <a:lnTo>
                      <a:pt x="788" y="2785"/>
                    </a:lnTo>
                    <a:lnTo>
                      <a:pt x="576" y="2748"/>
                    </a:lnTo>
                    <a:lnTo>
                      <a:pt x="375" y="2684"/>
                    </a:lnTo>
                    <a:lnTo>
                      <a:pt x="180" y="2596"/>
                    </a:lnTo>
                    <a:lnTo>
                      <a:pt x="0" y="2491"/>
                    </a:lnTo>
                    <a:lnTo>
                      <a:pt x="108" y="2588"/>
                    </a:lnTo>
                    <a:lnTo>
                      <a:pt x="307" y="2714"/>
                    </a:lnTo>
                    <a:lnTo>
                      <a:pt x="511" y="2811"/>
                    </a:lnTo>
                    <a:lnTo>
                      <a:pt x="725" y="2872"/>
                    </a:lnTo>
                    <a:lnTo>
                      <a:pt x="953" y="2920"/>
                    </a:lnTo>
                    <a:lnTo>
                      <a:pt x="1179" y="2923"/>
                    </a:lnTo>
                    <a:lnTo>
                      <a:pt x="1410" y="2903"/>
                    </a:lnTo>
                    <a:lnTo>
                      <a:pt x="1629" y="2843"/>
                    </a:lnTo>
                    <a:lnTo>
                      <a:pt x="1840" y="2765"/>
                    </a:lnTo>
                    <a:lnTo>
                      <a:pt x="2040" y="2651"/>
                    </a:lnTo>
                    <a:lnTo>
                      <a:pt x="2220" y="2522"/>
                    </a:lnTo>
                    <a:lnTo>
                      <a:pt x="2384" y="2362"/>
                    </a:lnTo>
                    <a:lnTo>
                      <a:pt x="2530" y="2182"/>
                    </a:lnTo>
                    <a:lnTo>
                      <a:pt x="2649" y="1984"/>
                    </a:lnTo>
                    <a:lnTo>
                      <a:pt x="2732" y="1770"/>
                    </a:lnTo>
                    <a:lnTo>
                      <a:pt x="2795" y="1552"/>
                    </a:lnTo>
                    <a:lnTo>
                      <a:pt x="2829" y="1322"/>
                    </a:lnTo>
                    <a:lnTo>
                      <a:pt x="2829" y="1091"/>
                    </a:lnTo>
                    <a:lnTo>
                      <a:pt x="2795" y="865"/>
                    </a:lnTo>
                    <a:lnTo>
                      <a:pt x="2737" y="642"/>
                    </a:lnTo>
                    <a:lnTo>
                      <a:pt x="2652" y="427"/>
                    </a:lnTo>
                    <a:lnTo>
                      <a:pt x="2535" y="231"/>
                    </a:lnTo>
                    <a:lnTo>
                      <a:pt x="2392" y="50"/>
                    </a:lnTo>
                    <a:lnTo>
                      <a:pt x="2342" y="0"/>
                    </a:lnTo>
                    <a:lnTo>
                      <a:pt x="1983" y="376"/>
                    </a:lnTo>
                    <a:lnTo>
                      <a:pt x="2116" y="534"/>
                    </a:lnTo>
                    <a:lnTo>
                      <a:pt x="2220" y="696"/>
                    </a:lnTo>
                    <a:lnTo>
                      <a:pt x="2304" y="876"/>
                    </a:lnTo>
                    <a:lnTo>
                      <a:pt x="2362" y="1061"/>
                    </a:lnTo>
                    <a:lnTo>
                      <a:pt x="2392" y="1259"/>
                    </a:lnTo>
                    <a:lnTo>
                      <a:pt x="2396" y="1457"/>
                    </a:lnTo>
                    <a:lnTo>
                      <a:pt x="2367" y="1652"/>
                    </a:lnTo>
                    <a:lnTo>
                      <a:pt x="2317" y="1842"/>
                    </a:lnTo>
                    <a:lnTo>
                      <a:pt x="2241" y="2026"/>
                    </a:lnTo>
                    <a:lnTo>
                      <a:pt x="2141" y="2195"/>
                    </a:lnTo>
                    <a:lnTo>
                      <a:pt x="2014" y="2349"/>
                    </a:lnTo>
                    <a:lnTo>
                      <a:pt x="1871" y="2480"/>
                    </a:lnTo>
                    <a:lnTo>
                      <a:pt x="1708" y="2591"/>
                    </a:lnTo>
                    <a:lnTo>
                      <a:pt x="1536" y="2681"/>
                    </a:lnTo>
                    <a:lnTo>
                      <a:pt x="1347" y="2748"/>
                    </a:lnTo>
                    <a:lnTo>
                      <a:pt x="1154" y="2777"/>
                    </a:lnTo>
                    <a:lnTo>
                      <a:pt x="1078" y="278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7E7E7E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651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4600" name="Text Box 19"/>
            <p:cNvSpPr txBox="1">
              <a:spLocks noChangeArrowheads="1"/>
            </p:cNvSpPr>
            <p:nvPr/>
          </p:nvSpPr>
          <p:spPr bwMode="auto">
            <a:xfrm>
              <a:off x="781" y="1697"/>
              <a:ext cx="1464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lnSpc>
                  <a:spcPts val="1500"/>
                </a:lnSpc>
                <a:spcBef>
                  <a:spcPct val="50000"/>
                </a:spcBef>
                <a:buFontTx/>
                <a:buNone/>
              </a:pPr>
              <a:r>
                <a:rPr lang="en-US" altLang="ko-KR" sz="2000" b="1" dirty="0">
                  <a:solidFill>
                    <a:schemeClr val="bg1"/>
                  </a:solidFill>
                </a:rPr>
                <a:t>     </a:t>
              </a:r>
              <a:r>
                <a:rPr lang="ko-KR" altLang="en-US" sz="2000" b="1" dirty="0">
                  <a:solidFill>
                    <a:srgbClr val="FFFF00"/>
                  </a:solidFill>
                </a:rPr>
                <a:t>수정된 시민법의 </a:t>
              </a:r>
              <a:endParaRPr lang="en-US" altLang="ko-KR" sz="2000" b="1" dirty="0">
                <a:solidFill>
                  <a:srgbClr val="FFFF00"/>
                </a:solidFill>
              </a:endParaRPr>
            </a:p>
            <a:p>
              <a:pPr algn="ctr" eaLnBrk="1" hangingPunct="1">
                <a:lnSpc>
                  <a:spcPts val="1500"/>
                </a:lnSpc>
                <a:spcBef>
                  <a:spcPct val="50000"/>
                </a:spcBef>
                <a:buFontTx/>
                <a:buNone/>
              </a:pPr>
              <a:r>
                <a:rPr lang="ko-KR" altLang="en-US" sz="2000" b="1" dirty="0">
                  <a:solidFill>
                    <a:srgbClr val="FFFF00"/>
                  </a:solidFill>
                </a:rPr>
                <a:t>기본원칙</a:t>
              </a:r>
            </a:p>
          </p:txBody>
        </p:sp>
      </p:grpSp>
      <p:sp>
        <p:nvSpPr>
          <p:cNvPr id="24593" name="직사각형 12"/>
          <p:cNvSpPr>
            <a:spLocks noChangeArrowheads="1"/>
          </p:cNvSpPr>
          <p:nvPr/>
        </p:nvSpPr>
        <p:spPr bwMode="auto">
          <a:xfrm>
            <a:off x="5364163" y="1268413"/>
            <a:ext cx="2874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2000" b="1" dirty="0">
                <a:solidFill>
                  <a:srgbClr val="FF66FF"/>
                </a:solidFill>
                <a:latin typeface="Arial" pitchFamily="34" charset="0"/>
              </a:rPr>
              <a:t>시민법의  </a:t>
            </a:r>
            <a:r>
              <a:rPr kumimoji="0" lang="en-US" altLang="ko-KR" sz="2000" b="1" dirty="0">
                <a:solidFill>
                  <a:srgbClr val="FF66FF"/>
                </a:solidFill>
                <a:latin typeface="Arial" pitchFamily="34" charset="0"/>
              </a:rPr>
              <a:t>3</a:t>
            </a:r>
            <a:r>
              <a:rPr kumimoji="0" lang="ko-KR" altLang="en-US" sz="2000" b="1" dirty="0">
                <a:solidFill>
                  <a:srgbClr val="FF66FF"/>
                </a:solidFill>
                <a:latin typeface="Arial" pitchFamily="34" charset="0"/>
              </a:rPr>
              <a:t>대원칙 수정 </a:t>
            </a:r>
            <a:endParaRPr lang="ko-KR" altLang="en-US" sz="2000" b="1" dirty="0">
              <a:solidFill>
                <a:srgbClr val="FF66FF"/>
              </a:solidFill>
            </a:endParaRP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산재보험의 역사적 배경</a:t>
            </a:r>
          </a:p>
        </p:txBody>
      </p:sp>
    </p:spTree>
    <p:extLst>
      <p:ext uri="{BB962C8B-B14F-4D97-AF65-F5344CB8AC3E}">
        <p14:creationId xmlns:p14="http://schemas.microsoft.com/office/powerpoint/2010/main" val="2012725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10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10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산재보험의 역사적 배경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03945" y="1268760"/>
            <a:ext cx="8496944" cy="4598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산재보험은 이러한 무과실책임주의의 원칙에 기초함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무과실책임주의는 자기의 행위에 고의 및 과실이 없더라도 자기의 기업 행위나 소유물이 위험성을 갖고 있어 타인에게 손해를 야기하였다면 그 기업주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행위자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소유자는 위험야기에 따른 손해배상 책임을 져야 한다는 위험책임의 법리로 도입되었음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이 같은 무과실책임보상제도는 독일에서 먼저 법제화되었음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.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소위 비스마르크의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대 보험 중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1884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년에 제정된 산재보험법에서는 산재발생의 책임소재에 따른 보상의 결정과 소송을 통한 개별 보상이라는 기존의 관행을 지양하고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산재보상에 초점을 맞추었음 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이후 독일의 산재보험법은 유럽국가로 확대되기 시작했으며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20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세기 이후에 무과실책임주의 원칙에 기반을 둔 산재보험제도가 보편화되기 시작했음</a:t>
            </a:r>
          </a:p>
        </p:txBody>
      </p:sp>
    </p:spTree>
    <p:extLst>
      <p:ext uri="{BB962C8B-B14F-4D97-AF65-F5344CB8AC3E}">
        <p14:creationId xmlns:p14="http://schemas.microsoft.com/office/powerpoint/2010/main" val="303120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700808"/>
            <a:ext cx="8640960" cy="482453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1948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정부 수립 후 별다른 법률이 없어 이 당시 재해근로자의 유일한 구제방법은 민법에 의한 과실책임주의였음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과실에 대한 근로자의 입증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장기간의 소송으로 실효성이 없음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1953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근로기준법 제정으로 무과실책임에 의한 재해보상제도를 규정함      그러나 보상은 사업주 개인의 재산에 의존함으로써 기업의 도산이나 경제력이 없는 경우 제대로 보상이 이루어지지 않음</a:t>
            </a:r>
            <a:endParaRPr lang="en-US" altLang="ko-KR" sz="18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>
              <a:lnSpc>
                <a:spcPts val="2800"/>
              </a:lnSpc>
            </a:pP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이러한 문제를 해결하기 위해 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1963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년에 정부가 주도하는 강제적용의 산재보험이 제정됨</a:t>
            </a:r>
            <a:endParaRPr lang="en-US" altLang="ko-KR" sz="18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>
              <a:lnSpc>
                <a:spcPts val="2800"/>
              </a:lnSpc>
            </a:pP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산재보험의 제정으로 사용자에게는 재해보상책임에 대한 재정상의 부담을 덜어 주었고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근로자에게는 재해보상 청구권의 간소화로 신속하게 보상을 받을 수  있도록 하였으며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국가가 보험자 역할을 담당하기 때문에 보상의 안정성도 확보할 수 있게 되었음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 </a:t>
            </a:r>
          </a:p>
          <a:p>
            <a:pPr>
              <a:lnSpc>
                <a:spcPts val="3000"/>
              </a:lnSpc>
            </a:pPr>
            <a:endParaRPr lang="ko-KR" altLang="en-US" dirty="0"/>
          </a:p>
          <a:p>
            <a:pPr>
              <a:lnSpc>
                <a:spcPts val="3000"/>
              </a:lnSpc>
            </a:pPr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51520" y="1013282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도입배경</a:t>
            </a:r>
          </a:p>
        </p:txBody>
      </p:sp>
    </p:spTree>
    <p:extLst>
      <p:ext uri="{BB962C8B-B14F-4D97-AF65-F5344CB8AC3E}">
        <p14:creationId xmlns:p14="http://schemas.microsoft.com/office/powerpoint/2010/main" val="360061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575155"/>
              </p:ext>
            </p:extLst>
          </p:nvPr>
        </p:nvGraphicFramePr>
        <p:xfrm>
          <a:off x="267544" y="1628800"/>
          <a:ext cx="8568952" cy="4829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2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1963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산재보험법 제정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1964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산재보험법 시행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상시 근로자 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500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사업장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106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1982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 인정기준 완화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(4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 요양이 필요한 경우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(11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 ≫ 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 ≫ 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적용사업장 확대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(10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사업장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1995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산업재해보상보험 사업을 근로복지공단에 위탁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33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1995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적용사업장 확대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(5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사업장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525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1999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보험급여의 최고 및 최저보상한도 설정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간병급여 신설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512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2000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적용사업장 확대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사업장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2011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보험료 징수업무를 국민건강보험공단에 위탁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6169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2012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유족보상연금에서 남자배우자의 연령제한 삭제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성차별적 요소 삭제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자녀 또는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손자녀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등에 대한 연령범위 상향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(18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미만→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미만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2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발전과정</a:t>
            </a:r>
          </a:p>
        </p:txBody>
      </p:sp>
    </p:spTree>
    <p:extLst>
      <p:ext uri="{BB962C8B-B14F-4D97-AF65-F5344CB8AC3E}">
        <p14:creationId xmlns:p14="http://schemas.microsoft.com/office/powerpoint/2010/main" val="289414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13283"/>
            <a:ext cx="208823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적용사업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794016"/>
              </p:ext>
            </p:extLst>
          </p:nvPr>
        </p:nvGraphicFramePr>
        <p:xfrm>
          <a:off x="323528" y="1587125"/>
          <a:ext cx="8555890" cy="4434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8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346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ts val="28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근로자를 사용하는 모든 사업 또는 사업장</a:t>
                      </a:r>
                      <a:endParaRPr lang="en-US" altLang="ko-KR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latinLnBrk="1">
                        <a:lnSpc>
                          <a:spcPts val="28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근로자를 사용하는 사업은 </a:t>
                      </a:r>
                      <a:r>
                        <a:rPr lang="ko-KR" altLang="en-US" dirty="0" err="1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당연적용자</a:t>
                      </a:r>
                      <a:endParaRPr lang="en-US" altLang="ko-KR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012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제외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ts val="2800"/>
                        </a:lnSpc>
                      </a:pPr>
                      <a:endParaRPr lang="en-US" altLang="ko-KR" sz="180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공무원재해보상법 또는 군인재해보상법에 따라 재해보상이 되는 </a:t>
                      </a:r>
                      <a:endParaRPr lang="en-US" altLang="ko-KR" sz="180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</a:t>
                      </a: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선원법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어선원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어선재해보상보험법 또는 사립학교교직원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연금법에 따라 재해 보상이 되는 사업</a:t>
                      </a: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가구 내 고용활동</a:t>
                      </a: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④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농업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벌목업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제외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어업 및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수렵업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중 법인이 아닌 자의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사업으로서 상시 근로자 수가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명 미만인 사업</a:t>
                      </a:r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411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51520" y="1013283"/>
            <a:ext cx="280831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2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가입자의 종류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49096"/>
              </p:ext>
            </p:extLst>
          </p:nvPr>
        </p:nvGraphicFramePr>
        <p:xfrm>
          <a:off x="251520" y="1595120"/>
          <a:ext cx="8627898" cy="435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7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69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당연적용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당연적용사업은 사업이 개시되거나 사업개시에 필요한 일정요건에 도달하게 되면 사업주의 의사와 관계없이 법률적으로 당연히 보험관계가 성립하는 사업을 의미</a:t>
                      </a: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산재보험법을 적용 받는 사업의 사업주는 당연적용 가입자가 됨</a:t>
                      </a:r>
                      <a:endParaRPr lang="en-US" altLang="ko-KR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769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임의적용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임의적용사업은 산재보험법에 의한 적용제외사업으로 보험가입의 여부가 사업주의 자유의사에 일임되어 있는 사업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당연적용 사업장에 해당하지 않는 사업의 사업주는 공단의 승인을 얻어 임의가입 할 수 있음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공단의 승인을 받고 해지할 수 있음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357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3648" y="1180764"/>
            <a:ext cx="5472608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사업종류별 사업장 및 근로자적용 현황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299498" y="1580256"/>
            <a:ext cx="1440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200" dirty="0"/>
              <a:t>(</a:t>
            </a:r>
            <a:r>
              <a:rPr lang="ko-KR" altLang="en-US" sz="1200" dirty="0"/>
              <a:t>단위</a:t>
            </a:r>
            <a:r>
              <a:rPr lang="en-US" altLang="ko-KR" sz="1200" dirty="0"/>
              <a:t>: </a:t>
            </a:r>
            <a:r>
              <a:rPr lang="ko-KR" altLang="en-US" sz="1200" dirty="0"/>
              <a:t>개소</a:t>
            </a:r>
            <a:r>
              <a:rPr lang="en-US" altLang="ko-KR" sz="1200" dirty="0"/>
              <a:t>, </a:t>
            </a:r>
            <a:r>
              <a:rPr lang="ko-KR" altLang="en-US" sz="1200" dirty="0"/>
              <a:t>명</a:t>
            </a:r>
            <a:r>
              <a:rPr lang="en-US" altLang="ko-KR" sz="1200" dirty="0"/>
              <a:t>, %)</a:t>
            </a:r>
            <a:endParaRPr lang="ko-KR" altLang="en-US" sz="12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841F8F-FAAD-4150-A336-02DC69574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463148"/>
              </p:ext>
            </p:extLst>
          </p:nvPr>
        </p:nvGraphicFramePr>
        <p:xfrm>
          <a:off x="251520" y="1986629"/>
          <a:ext cx="8640959" cy="4717162"/>
        </p:xfrm>
        <a:graphic>
          <a:graphicData uri="http://schemas.openxmlformats.org/drawingml/2006/table">
            <a:tbl>
              <a:tblPr/>
              <a:tblGrid>
                <a:gridCol w="2056385">
                  <a:extLst>
                    <a:ext uri="{9D8B030D-6E8A-4147-A177-3AD203B41FA5}">
                      <a16:colId xmlns:a16="http://schemas.microsoft.com/office/drawing/2014/main" val="2399318523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71197181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1597704286"/>
                    </a:ext>
                  </a:extLst>
                </a:gridCol>
                <a:gridCol w="1063055">
                  <a:extLst>
                    <a:ext uri="{9D8B030D-6E8A-4147-A177-3AD203B41FA5}">
                      <a16:colId xmlns:a16="http://schemas.microsoft.com/office/drawing/2014/main" val="3606555165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857642659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3519467668"/>
                    </a:ext>
                  </a:extLst>
                </a:gridCol>
                <a:gridCol w="994307">
                  <a:extLst>
                    <a:ext uri="{9D8B030D-6E8A-4147-A177-3AD203B41FA5}">
                      <a16:colId xmlns:a16="http://schemas.microsoft.com/office/drawing/2014/main" val="3410253168"/>
                    </a:ext>
                  </a:extLst>
                </a:gridCol>
              </a:tblGrid>
              <a:tr h="25552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2019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2020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2223"/>
                  </a:ext>
                </a:extLst>
              </a:tr>
              <a:tr h="255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사업장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근로자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사업장 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구성비</a:t>
                      </a:r>
                      <a:endParaRPr lang="ko-KR" alt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근로자</a:t>
                      </a:r>
                      <a:endParaRPr lang="ko-KR" alt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구성비</a:t>
                      </a:r>
                      <a:endParaRPr lang="ko-KR" alt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07815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합 계</a:t>
                      </a:r>
                      <a:endParaRPr lang="ko-KR" altLang="en-US" sz="1600" kern="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2,680,874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18,725,160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2,719,308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100.00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18,974,513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100.00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223408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금융</a:t>
                      </a: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, 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보험업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42,320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777,764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42,858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1.58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782,173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4.12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790055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광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1.082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11,108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1,087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10,664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465533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제조업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386,119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4,045,048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395,141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14.53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4,012,541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21.15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768076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전기ㆍ가스ㆍ상수도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2,814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76,687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3,103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011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79,034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0.42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640352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건설업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378,343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2,487,807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329,279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12.11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2,284,916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12.04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1313727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운수ㆍ창고</a:t>
                      </a: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, 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통신업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81,424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910,585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87,059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3.20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936,449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4.94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334933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임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12,289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91,682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12,919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0.48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101,404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0.53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203665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어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1,858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5,121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1,888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4,973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156623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농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18,785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79,482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19,382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0.71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78,940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113006"/>
                  </a:ext>
                </a:extLst>
              </a:tr>
              <a:tr h="294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기타의 사업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1,755,840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10,239,876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1,826,582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67.17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10,683,419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56.30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50588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ABD4F6A-5761-4785-B223-385353653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6922" y="1985963"/>
            <a:ext cx="1406209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474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13283"/>
            <a:ext cx="30963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요건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596507"/>
              </p:ext>
            </p:extLst>
          </p:nvPr>
        </p:nvGraphicFramePr>
        <p:xfrm>
          <a:off x="323528" y="1772816"/>
          <a:ext cx="8555890" cy="4568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6047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※ 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재해란 업무상의 사유에 따른 근로자의 부상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질병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장해 또는 사망을</a:t>
                      </a:r>
                      <a:endParaRPr lang="en-US" altLang="ko-KR" sz="1800" b="0" kern="1200" dirty="0">
                        <a:solidFill>
                          <a:srgbClr val="2D15DB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말함</a:t>
                      </a:r>
                      <a:endParaRPr lang="en-US" altLang="ko-KR" sz="1800" b="0" kern="1200" dirty="0">
                        <a:solidFill>
                          <a:srgbClr val="2D15DB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업무상 재해의 인정기준은 </a:t>
                      </a: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업무상 사고</a:t>
                      </a:r>
                      <a:r>
                        <a:rPr lang="en-US" altLang="ko-KR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FF66FF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업무상 질병</a:t>
                      </a:r>
                      <a:r>
                        <a:rPr lang="en-US" altLang="ko-KR" sz="1800" b="1" kern="1200" dirty="0">
                          <a:solidFill>
                            <a:srgbClr val="FF66FF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45E30D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출퇴근재해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나누어짐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따라서 업무상사고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업무상 질병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출퇴근재해 중 어느 하나에 해당하는 사유로 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부상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질병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장해 또는 사망을 하면 업무상의 재해로 봄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이때 업무와 재해 사이에 </a:t>
                      </a:r>
                      <a:r>
                        <a:rPr lang="ko-KR" altLang="en-US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상당한 인과관계</a:t>
                      </a:r>
                      <a:r>
                        <a:rPr lang="en-US" altLang="zh-TW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相當因果關係</a:t>
                      </a:r>
                      <a:r>
                        <a:rPr lang="en-US" altLang="zh-TW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있어야 함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81205"/>
              </p:ext>
            </p:extLst>
          </p:nvPr>
        </p:nvGraphicFramePr>
        <p:xfrm>
          <a:off x="323528" y="1700808"/>
          <a:ext cx="8568952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3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산재보험 가입 사업장의 근로자일 것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889094"/>
              </p:ext>
            </p:extLst>
          </p:nvPr>
        </p:nvGraphicFramePr>
        <p:xfrm>
          <a:off x="323529" y="2420888"/>
          <a:ext cx="8573369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근로자의 재해가 </a:t>
                      </a:r>
                      <a:r>
                        <a:rPr lang="ko-KR" altLang="en-US" sz="1800" b="0" kern="120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재해</a:t>
                      </a:r>
                      <a:r>
                        <a:rPr lang="ko-KR" altLang="en-US" sz="1800" b="0" kern="120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인정을 받아야 할 것</a:t>
                      </a:r>
                      <a:endParaRPr lang="ko-KR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104345"/>
              </p:ext>
            </p:extLst>
          </p:nvPr>
        </p:nvGraphicFramePr>
        <p:xfrm>
          <a:off x="323529" y="3140969"/>
          <a:ext cx="8568952" cy="6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당해 부상 또는 질병이 </a:t>
                      </a:r>
                      <a:r>
                        <a:rPr lang="en-US" altLang="ko-KR" sz="2000" b="1" u="sng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2000" b="1" u="sng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일 이상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 요양기간을 요할 것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426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98134"/>
              </p:ext>
            </p:extLst>
          </p:nvPr>
        </p:nvGraphicFramePr>
        <p:xfrm>
          <a:off x="323528" y="1988840"/>
          <a:ext cx="8568952" cy="4089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수평선M"/>
                          <a:ea typeface="HY수평선M"/>
                        </a:rPr>
                        <a:t>①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 무 상 사 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아래의 사고 중 어느 하나에 해당되어야 함</a:t>
                      </a:r>
                      <a:endParaRPr lang="en-US" altLang="ko-KR" sz="1800" kern="120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➀ 근로자가 근로계약에 따른 업무나 그에 따르는 행위를 하던 중 발생한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➁ 사업주가 제공한 시설물 등을 이용하던 중 그 시설물 등의 결함이나 관리소홀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발생한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➂ 사업주가 주관하거나 사업주 지시에 따라 참여한 행사나 행사준비 중에 발생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➃ 휴게시간 중 사업주의 지배관리 하에 있다고 볼 수 있는 행위로 발생한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➄ 그 밖에 업무와 관련하여 발생한 사고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483768" y="1370957"/>
            <a:ext cx="3600400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업무상 재해의 인정기준</a:t>
            </a:r>
          </a:p>
        </p:txBody>
      </p:sp>
    </p:spTree>
    <p:extLst>
      <p:ext uri="{BB962C8B-B14F-4D97-AF65-F5344CB8AC3E}">
        <p14:creationId xmlns:p14="http://schemas.microsoft.com/office/powerpoint/2010/main" val="777262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851022"/>
              </p:ext>
            </p:extLst>
          </p:nvPr>
        </p:nvGraphicFramePr>
        <p:xfrm>
          <a:off x="323528" y="1844824"/>
          <a:ext cx="8568952" cy="3762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수평선M"/>
                          <a:ea typeface="HY수평선M"/>
                        </a:rPr>
                        <a:t>②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 무 상  질 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아래의 질병 중 하나에 해당되어야 함</a:t>
                      </a:r>
                      <a:endParaRPr lang="en-US" altLang="ko-KR" sz="1800" kern="120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➀ 업무수행 과정에서 물리적 인자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화학물질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분진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병원체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신체에 부담을 주는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업무 등 근로자의 건강에 장해를 일으킬 수 있는 요인을 취급하거나 그에 노출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되어 발생한 질병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➁ 업무상 부상이 원인이 되어 발생한 질병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➂ 그 밖에 업무와 관련하여 발생한 질병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질병의 인정여부를 심의하기 위해 </a:t>
                      </a:r>
                      <a:r>
                        <a:rPr lang="ko-KR" altLang="en-US" sz="1800" b="1" u="none" kern="1200" dirty="0" err="1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업무상질병판정위원회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공단소속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기관에 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483768" y="1201741"/>
            <a:ext cx="3600400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업무상 재해의 인정기준</a:t>
            </a:r>
          </a:p>
        </p:txBody>
      </p:sp>
    </p:spTree>
    <p:extLst>
      <p:ext uri="{BB962C8B-B14F-4D97-AF65-F5344CB8AC3E}">
        <p14:creationId xmlns:p14="http://schemas.microsoft.com/office/powerpoint/2010/main" val="3524173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12056"/>
              </p:ext>
            </p:extLst>
          </p:nvPr>
        </p:nvGraphicFramePr>
        <p:xfrm>
          <a:off x="251520" y="2060848"/>
          <a:ext cx="8640960" cy="244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수평선M"/>
                          <a:ea typeface="HY수평선M"/>
                        </a:rPr>
                        <a:t>③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 </a:t>
                      </a:r>
                      <a:r>
                        <a:rPr lang="ko-KR" altLang="en-US" sz="1800" dirty="0" err="1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퇴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근 재 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아래의 재해 중 어느 하나에 해당되어야 함</a:t>
                      </a:r>
                      <a:endParaRPr lang="en-US" altLang="ko-KR" sz="1800" kern="120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➀ 사업주가 제공한 교통수단이나 그에 준하는 교통수단을 이용하는 등 사업주의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지배관리 하에서 출퇴근하는 중 발생한 사고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➁ 그 밖에 통상적인 경로와 방법으로 출퇴근하는 중 발생한 사고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483768" y="1370957"/>
            <a:ext cx="3600400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업무상 재해의 구분</a:t>
            </a:r>
          </a:p>
        </p:txBody>
      </p:sp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29B91843-29BB-404D-B233-A81595D8543F}"/>
              </a:ext>
            </a:extLst>
          </p:cNvPr>
          <p:cNvSpPr/>
          <p:nvPr/>
        </p:nvSpPr>
        <p:spPr>
          <a:xfrm>
            <a:off x="281122" y="4775125"/>
            <a:ext cx="8467342" cy="8141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근로자의 고의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자해행위나 범죄행위 또는 그것이 원인이 되어 발생한 부상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질병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장해 또는 사망은 업무상의 재해로 보지 아니함</a:t>
            </a:r>
          </a:p>
        </p:txBody>
      </p:sp>
    </p:spTree>
    <p:extLst>
      <p:ext uri="{BB962C8B-B14F-4D97-AF65-F5344CB8AC3E}">
        <p14:creationId xmlns:p14="http://schemas.microsoft.com/office/powerpoint/2010/main" val="3345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24848"/>
              </p:ext>
            </p:extLst>
          </p:nvPr>
        </p:nvGraphicFramePr>
        <p:xfrm>
          <a:off x="323528" y="2200825"/>
          <a:ext cx="8496944" cy="4596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2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6423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</a:t>
                      </a: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부상 또는 질병의 치료를 위해 지급하는 현물급여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이내의 요양으로 치유될 수 있으면 지급하지 아니함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요양급여의 범위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➀ 진찰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검사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➁ 약제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치료재료와 의지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義肢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밖의 보조기의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➂ 처치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기타의 치료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➃ 재활치료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⑤ 입원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⑥ 간호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⑦ 이송 등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48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 의료기관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근로복지공단에 두는 의료기관 </a:t>
                      </a: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의료법에 따른 상급종합병원</a:t>
                      </a: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상급종합병원에서 요양할 필요가 있다는 의학적 소견이 있어야 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의료법에 따른 의료기관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조산원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병원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종합병원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 지역보건법에 따른 보건소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보건의료원 포함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59228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90774EFD-E990-4EA4-BB15-6B363D446A82}"/>
              </a:ext>
            </a:extLst>
          </p:cNvPr>
          <p:cNvSpPr/>
          <p:nvPr/>
        </p:nvSpPr>
        <p:spPr>
          <a:xfrm>
            <a:off x="335780" y="1501061"/>
            <a:ext cx="8556700" cy="590054"/>
          </a:xfrm>
          <a:prstGeom prst="round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산재보험급여는 요양급여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휴업급여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장해급여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간병급여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유족급여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상병보상연금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 err="1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장의비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직업재활급여가 있음</a:t>
            </a:r>
          </a:p>
        </p:txBody>
      </p:sp>
    </p:spTree>
    <p:extLst>
      <p:ext uri="{BB962C8B-B14F-4D97-AF65-F5344CB8AC3E}">
        <p14:creationId xmlns:p14="http://schemas.microsoft.com/office/powerpoint/2010/main" val="182048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7579" y="1772816"/>
            <a:ext cx="8496944" cy="2529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요양급여를 신청한 후 산재보험 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수급권자로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결정되기 전에는 건강보험법 또는 의료급여법에 따른 요양급여를 받을 수 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한편 요양급여를 받은 자가 치유 후 요양의 대상이 되었던 업무상의 부상 또는 질병이 재발하거나 치유 당시 보다 상태가 악화되어 이를 치유하기 위한 적극적인 치료가 필요하다는 의학적 소견이 있으면 다시 요양급여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재요양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을 받을 수 있음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07579" y="1044934"/>
            <a:ext cx="2536229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4286864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27620"/>
              </p:ext>
            </p:extLst>
          </p:nvPr>
        </p:nvGraphicFramePr>
        <p:xfrm>
          <a:off x="358844" y="1603337"/>
          <a:ext cx="8533636" cy="3810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5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휴업급여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3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사유로 부상을 당하거나 질병에 걸린 근로자에게 요양으로   취업하지 못한 기간에 대해 지급하는 급여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다만 취업하지 못한 기간이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이내이면 지급하지 않음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휴업급여의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일당 지급액은 </a:t>
                      </a:r>
                      <a:r>
                        <a:rPr lang="ko-KR" altLang="en-US" sz="1800" b="0" kern="120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평균임금의 </a:t>
                      </a:r>
                      <a:r>
                        <a:rPr lang="en-US" altLang="ko-KR" sz="1800" b="0" kern="120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</a:t>
                      </a:r>
                      <a:r>
                        <a:rPr lang="ko-KR" altLang="en-US" sz="1800" b="0" kern="120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상당하는 금액</a:t>
                      </a:r>
                      <a:endParaRPr lang="en-US" altLang="ko-KR" sz="1800" b="0" kern="1200" dirty="0">
                        <a:solidFill>
                          <a:srgbClr val="00B0F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휴업급여 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=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평균임금 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× 70% ×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요양으로 취업하지 못한 기간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일수</a:t>
                      </a:r>
                      <a:r>
                        <a:rPr lang="en-US" altLang="ko-KR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기준 평균임금의 최고보상기준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226,191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spc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산정한 휴업급여가 최저임금보다 적으면 최저임금액을 </a:t>
                      </a:r>
                      <a:r>
                        <a:rPr lang="en-US" altLang="ko-KR" sz="1800" kern="1200" spc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spc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일당 휴업급여의 지급액으로 함</a:t>
                      </a:r>
                      <a:endParaRPr lang="en-US" altLang="ko-KR" sz="1800" kern="1200" spc="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기준 최저임금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: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69,760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시간급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최저임금액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X 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30963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BF4DD5FF-DC89-4955-8B87-87F1212100F7}"/>
              </a:ext>
            </a:extLst>
          </p:cNvPr>
          <p:cNvSpPr/>
          <p:nvPr/>
        </p:nvSpPr>
        <p:spPr>
          <a:xfrm>
            <a:off x="358844" y="5402669"/>
            <a:ext cx="8533636" cy="1379974"/>
          </a:xfrm>
          <a:prstGeom prst="roundRect">
            <a:avLst/>
          </a:prstGeom>
          <a:noFill/>
          <a:effectLst>
            <a:outerShdw blurRad="40000" dist="20000" dir="5400000" rotWithShape="0">
              <a:schemeClr val="bg1">
                <a:alpha val="38000"/>
              </a:scheme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/>
            </a:pP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근로기준법 제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조 제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항 제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6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호</a:t>
            </a:r>
            <a:endParaRPr lang="en-US" altLang="ko-KR" b="1" dirty="0">
              <a:solidFill>
                <a:srgbClr val="2D15DB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   평균임금이란 이를 산정하여야 할 사유가 발생한 날 이전 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개월 동안에 그  </a:t>
            </a:r>
            <a:endParaRPr lang="en-US" altLang="ko-KR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  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근로자에게 지급된 임금의 총액을 그 기간의 총 일수로 나눈 금액을 말함</a:t>
            </a:r>
            <a:endParaRPr lang="en-US" altLang="ko-KR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1095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08616"/>
              </p:ext>
            </p:extLst>
          </p:nvPr>
        </p:nvGraphicFramePr>
        <p:xfrm>
          <a:off x="323528" y="1700808"/>
          <a:ext cx="8496944" cy="4753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0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장해급여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10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근로자가 업무상의 사유로 부상을 당하거나 질병에 걸려 치유된 후 신체 등에 장해가 있는 경우에 그 근로자에게 지급하는 급여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1-3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급은 연금으로 지급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의무적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4-7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등급은 연금과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일시금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중 선택 가능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8-14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등급은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일시금으로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지급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22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간병급여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재해근로자가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치료 종결 후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간병이 필요하여 간병을 받는 자에게 지급하는 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요양기간 중에는 요양급여에 간병비가 포함되어 있음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37626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2059568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27252"/>
              </p:ext>
            </p:extLst>
          </p:nvPr>
        </p:nvGraphicFramePr>
        <p:xfrm>
          <a:off x="323528" y="1556792"/>
          <a:ext cx="8496944" cy="5031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7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⑤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근로자가 업무상의 사유로 사망한 경우 그 유족에게 지급하는 급여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근로자가 사망할 당시 생계를 같이 하고 있던 유가족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에게 유족보상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연금 또는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유족보상일시금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유족보상연금 수급자격자가 없는 경우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으로 지급함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lvl="0" indent="-2844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유족보상연금 수급자격자의 순위 및 범위</a:t>
                      </a:r>
                      <a:endParaRPr lang="en-US" altLang="ko-KR" sz="16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lvl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배우자 </a:t>
                      </a:r>
                      <a:endParaRPr lang="en-US" altLang="ko-KR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lvl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②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자녀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(25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③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부모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(60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④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손 자녀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(19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54250" marR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⑤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조부모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(60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⑥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형제자매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(19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미만이거나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 또는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 err="1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</a:t>
                      </a:r>
                      <a:r>
                        <a:rPr lang="ko-KR" altLang="en-US" sz="1700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소멸 사유</a:t>
                      </a:r>
                      <a:endParaRPr lang="en-US" altLang="ko-KR" sz="1700" kern="0" spc="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700" kern="0" spc="0" baseline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 사망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배우자의 재혼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자녀 등의 연령 초과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장애상태</a:t>
                      </a:r>
                      <a:r>
                        <a:rPr lang="ko-KR" altLang="en-US" sz="1700" kern="0" spc="0" baseline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해소 등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endParaRPr lang="ko-KR" altLang="en-US" sz="17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44827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3503620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864160"/>
              </p:ext>
            </p:extLst>
          </p:nvPr>
        </p:nvGraphicFramePr>
        <p:xfrm>
          <a:off x="323528" y="1556793"/>
          <a:ext cx="8496944" cy="377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0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3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⑥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상병보상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금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재해근로자가 요양을 시작한 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 </a:t>
                      </a:r>
                      <a:r>
                        <a:rPr lang="en-US" altLang="ko-KR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년이 지난 날 이후에도 </a:t>
                      </a:r>
                      <a:r>
                        <a:rPr lang="ko-KR" altLang="en-US" sz="18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치유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되지 않은 상태이고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중증요양상태의 정도가 대통령령으로 정한 중증요양상태등급 기준에 해당되며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요양으로 인해 취업하지 못하였을 경우</a:t>
                      </a:r>
                      <a:r>
                        <a:rPr lang="ko-KR" altLang="en-US" sz="1800" kern="0" spc="0" baseline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휴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업급여를 중지하고 중중요양상태 등급에 따라 </a:t>
                      </a:r>
                      <a:r>
                        <a:rPr lang="ko-KR" altLang="en-US" sz="1800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휴업급여 대신에 지급하는 급여</a:t>
                      </a:r>
                      <a:endParaRPr lang="en-US" altLang="ko-KR" sz="1800" kern="0" spc="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근로자가 요양을 시작한지 </a:t>
                      </a:r>
                      <a:r>
                        <a:rPr lang="en-US" altLang="ko-KR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년이 지난 날 이후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에 상병보상연금을 지급받고 있으면 사용자는 근로자와의 고용관계를 종료하고 근로기준법에 따른 모든 손해배상 의무를 면할 수 있음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52028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1552462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20913"/>
              </p:ext>
            </p:extLst>
          </p:nvPr>
        </p:nvGraphicFramePr>
        <p:xfrm>
          <a:off x="323528" y="1556792"/>
          <a:ext cx="8496944" cy="2210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1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2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⑦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재해로 사망한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경우 장례를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지낸 유족에게 지급하는 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평균임금의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일분에 상당하는 금액 지급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8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⑧ 직업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재활급여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장해급여를 받은 자 중 취업을 위한 직업훈련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직장복귀에 필요한 적응훈련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재활운동 등에 소요되는 비용을 지원하는 급여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52028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3891793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459987"/>
              </p:ext>
            </p:extLst>
          </p:nvPr>
        </p:nvGraphicFramePr>
        <p:xfrm>
          <a:off x="323528" y="1745230"/>
          <a:ext cx="8496944" cy="4102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9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⑨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특별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사업주의 고의 또는 과실로 인해 산업재해가 발생했을 경우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산재법에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의한 보상 외에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사업주에 대해 민사 손해배상 청구를 할 수 있음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소송비용과 시간 등으로 손해배상 청구를 포기하고 </a:t>
                      </a:r>
                      <a:r>
                        <a:rPr lang="ko-KR" altLang="en-US" sz="1700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수급권자와</a:t>
                      </a:r>
                      <a:r>
                        <a:rPr lang="ko-KR" altLang="en-US" sz="17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사업주가  합의한 경우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이에 갈음하여 </a:t>
                      </a:r>
                      <a:r>
                        <a:rPr lang="ko-KR" altLang="en-US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산재보험에서 손해배상액과 동일한 배상을 받을 수 있게 함</a:t>
                      </a:r>
                      <a:r>
                        <a:rPr lang="en-US" altLang="ko-KR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이를 특별급여라 함</a:t>
                      </a:r>
                      <a:r>
                        <a:rPr lang="en-US" altLang="ko-KR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특별급여가 지급되었을 경우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수급권자와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사업주 사이에 서로 합의가 된 것으로 보고 보험자는 그 급여 전액을 사업주로부터 전액 징수함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장해특별급여 </a:t>
                      </a:r>
                      <a:r>
                        <a:rPr lang="en-US" altLang="ko-KR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</a:t>
                      </a:r>
                      <a:r>
                        <a:rPr lang="en-US" altLang="ko-KR" sz="1600" u="none" kern="0" spc="0" baseline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600" u="none" kern="0" spc="0" baseline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고의 또는 과실에 의한 업무상재해로 근로자가 장해를 입은 경우     </a:t>
                      </a:r>
                      <a:endParaRPr lang="en-US" altLang="ko-KR" sz="1600" u="none" kern="0" spc="0" baseline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유족특별급여 </a:t>
                      </a:r>
                      <a:r>
                        <a:rPr lang="en-US" altLang="ko-KR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u="none" kern="0" spc="0" baseline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고의 또는 과실에 의한 업무상재해로 근로자가 사망한 경우 </a:t>
                      </a:r>
                      <a:endParaRPr lang="en-US" altLang="ko-KR" sz="1600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291530" y="5877272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ko-KR" altLang="en-US" dirty="0">
                <a:solidFill>
                  <a:srgbClr val="0C6CF8"/>
                </a:solidFill>
                <a:latin typeface="+mj-lt"/>
                <a:ea typeface="HY울릉도M" panose="02030600000101010101" pitchFamily="18" charset="-127"/>
              </a:rPr>
              <a:t>☞ 산재보험은 요양급여를 제외하고는 대부분 현금급여를 제공하고 있음</a:t>
            </a:r>
            <a:r>
              <a:rPr lang="en-US" altLang="ko-KR" dirty="0">
                <a:solidFill>
                  <a:srgbClr val="0C6CF8"/>
                </a:solidFill>
                <a:latin typeface="+mj-lt"/>
                <a:ea typeface="HY울릉도M" panose="02030600000101010101" pitchFamily="18" charset="-127"/>
              </a:rPr>
              <a:t>   </a:t>
            </a:r>
            <a:endParaRPr lang="ko-KR" altLang="en-US" dirty="0">
              <a:solidFill>
                <a:srgbClr val="0C6CF8"/>
              </a:solidFill>
              <a:latin typeface="+mj-lt"/>
              <a:ea typeface="HY울릉도M" panose="02030600000101010101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23528" y="1013283"/>
            <a:ext cx="259228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1520968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75667" y="1628800"/>
            <a:ext cx="8424936" cy="41957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ko-KR" altLang="en-US" b="1" dirty="0">
                <a:latin typeface="HY울릉도M" panose="02030600000101010101" pitchFamily="18" charset="-127"/>
                <a:ea typeface="태 나무" panose="02030603000101010101" pitchFamily="18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(1) </a:t>
            </a:r>
            <a:r>
              <a:rPr lang="ko-KR" altLang="en-US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최고보상기준제도와 최저보상기준제도</a:t>
            </a:r>
            <a:endParaRPr lang="en-US" altLang="ko-KR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HY울릉도M" panose="02030600000101010101" pitchFamily="18" charset="-127"/>
                <a:ea typeface="태 나무" panose="02030603000101010101" pitchFamily="18" charset="-127"/>
              </a:rPr>
              <a:t>산재보상에 따른 보험급여는 과거 </a:t>
            </a:r>
            <a:r>
              <a:rPr lang="ko-KR" altLang="en-US" b="1" dirty="0" err="1">
                <a:latin typeface="HY울릉도M" panose="02030600000101010101" pitchFamily="18" charset="-127"/>
                <a:ea typeface="태 나무" panose="02030603000101010101" pitchFamily="18" charset="-127"/>
              </a:rPr>
              <a:t>소득상실분의</a:t>
            </a:r>
            <a:r>
              <a:rPr lang="ko-KR" altLang="en-US" b="1" dirty="0">
                <a:latin typeface="HY울릉도M" panose="02030600000101010101" pitchFamily="18" charset="-127"/>
                <a:ea typeface="태 나무" panose="02030603000101010101" pitchFamily="18" charset="-127"/>
              </a:rPr>
              <a:t> 보상의 목표보다 생활유지를 목표로 하기 때문에 보험급여가  너무 많거나 적을 경우에 이를 조정할 필요가 있어 이를 위해 마련한  제도임</a:t>
            </a:r>
            <a:endParaRPr lang="en-US" altLang="ko-KR" b="1" dirty="0">
              <a:latin typeface="HY울릉도M" panose="02030600000101010101" pitchFamily="18" charset="-127"/>
              <a:ea typeface="태 나무" panose="02030603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최고보상기준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: 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산재근로자의 평균임금이 상용근로자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5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명 이상 사업체의 전체근로자 임금평균액의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1.8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배를 초과할 경우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1.8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배를 그 근로자의 평균임금으로 함</a:t>
            </a:r>
            <a:endParaRPr lang="en-US" altLang="ko-KR" b="1" dirty="0">
              <a:solidFill>
                <a:srgbClr val="2D15DB"/>
              </a:solidFill>
              <a:latin typeface="HY울릉도M" panose="02030600000101010101" pitchFamily="18" charset="-127"/>
              <a:ea typeface="태 나무" panose="02030603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최저보상기준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산재근로자의 평균임금이 상용근로자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명 이상 사업체의 전체근로자 임금평균액의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2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분의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보다 적은 경우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2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분의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을 그 근로자의 평균임금으로 함</a:t>
            </a:r>
            <a:endParaRPr lang="en-US" altLang="ko-KR" b="1" dirty="0">
              <a:solidFill>
                <a:srgbClr val="FF0000"/>
              </a:solidFill>
              <a:latin typeface="HY울릉도M" panose="02030600000101010101" pitchFamily="18" charset="-127"/>
              <a:ea typeface="태 나무" panose="02030603000101010101" pitchFamily="18" charset="-127"/>
            </a:endParaRP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13283"/>
            <a:ext cx="338437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산정기준</a:t>
            </a:r>
          </a:p>
        </p:txBody>
      </p:sp>
    </p:spTree>
    <p:extLst>
      <p:ext uri="{BB962C8B-B14F-4D97-AF65-F5344CB8AC3E}">
        <p14:creationId xmlns:p14="http://schemas.microsoft.com/office/powerpoint/2010/main" val="3072835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7579" y="1772816"/>
            <a:ext cx="8496944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(2) </a:t>
            </a:r>
            <a:r>
              <a:rPr lang="ko-KR" altLang="en-US" dirty="0" err="1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임금변동순응률제도</a:t>
            </a:r>
            <a:endParaRPr lang="en-US" altLang="ko-KR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급여수준의 적정 보상을 위해 급여에 임금증감률을 반영하는 제도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매년 근로자의 임금수준이 어느 정도 상승하고 있는 데 비하여 장기적으로    요양을 받게 되는 근로자의 급여는 재해 당시의 평균임금을 기준으로 하기 때문에 실질가치가 상대적으로 하락하여 이를 보완하기 위해 마련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해당 근로자의 평균임금을 산정하여야 할 사유가 발생한 날부터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년이 지난  이후에는 매년 전체 근로자의 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임금평균액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증감률에 따라 평균임금을 증감함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근로자의 연령이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60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세에 도달한 이후에는 소비자물가변동률에 따라 평균임금을 증감함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07579" y="1044934"/>
            <a:ext cx="338437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산정기준</a:t>
            </a:r>
          </a:p>
        </p:txBody>
      </p:sp>
    </p:spTree>
    <p:extLst>
      <p:ext uri="{BB962C8B-B14F-4D97-AF65-F5344CB8AC3E}">
        <p14:creationId xmlns:p14="http://schemas.microsoft.com/office/powerpoint/2010/main" val="2137011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44282"/>
              </p:ext>
            </p:extLst>
          </p:nvPr>
        </p:nvGraphicFramePr>
        <p:xfrm>
          <a:off x="323528" y="1556792"/>
          <a:ext cx="8496944" cy="444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6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근로기준법과 민법과의 관계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lvl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산재보험법에 의해 보상을 받는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수급권자는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동일한 사유에 대해  근로기준법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민법 등 다른 법령에 따른 보상을 받는 것이 제한됨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➀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산재보험법에 의해 보상을 받으면 </a:t>
                      </a:r>
                      <a:r>
                        <a:rPr lang="ko-KR" altLang="en-US" sz="18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보험가입자는</a:t>
                      </a:r>
                      <a:endParaRPr lang="en-US" altLang="ko-KR" sz="18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근로기준법에 따른 재해보상책임의 면제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➁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동일한 사유에 대해 산재보험법에 따른 보험급여를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받으면 보험 가입자는 그 금액의 한도 내에서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민법 등의 손해배상</a:t>
                      </a:r>
                      <a:endParaRPr lang="en-US" altLang="ko-KR" sz="18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책임이 면제됨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6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국민연금과의 관계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산재보험법에 의해 장해급여 또는 유족급여를 받는 자가 동일한  사유로 국민연금법에 의해 장애연금이나 유족연금을 받는 경우에 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국민연금법에 의한 장애연금과 유족연금은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1/2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감액하여 지급됨</a:t>
                      </a:r>
                      <a:endParaRPr lang="ko-KR" altLang="en-US" sz="1800" kern="0" spc="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741682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4)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다른 법에 의한 보상 및 배상과 중복급여 조정</a:t>
            </a:r>
          </a:p>
        </p:txBody>
      </p:sp>
    </p:spTree>
    <p:extLst>
      <p:ext uri="{BB962C8B-B14F-4D97-AF65-F5344CB8AC3E}">
        <p14:creationId xmlns:p14="http://schemas.microsoft.com/office/powerpoint/2010/main" val="4044764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91505"/>
              </p:ext>
            </p:extLst>
          </p:nvPr>
        </p:nvGraphicFramePr>
        <p:xfrm>
          <a:off x="287524" y="1830834"/>
          <a:ext cx="8568952" cy="4392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2488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산재보험료는 </a:t>
                      </a:r>
                      <a:r>
                        <a:rPr lang="ko-KR" altLang="en-US" sz="1800" b="0" u="none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사업주가 전액 부담함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무과실책임주의로 근로자 보호 목적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보험료는 업종별 산재보험료율을 기본으로 하되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개별실적요율을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병행 적용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(1) </a:t>
                      </a:r>
                      <a:r>
                        <a:rPr lang="ko-KR" altLang="en-US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업종별 산재보험료율</a:t>
                      </a:r>
                      <a:endParaRPr lang="en-US" altLang="ko-KR" sz="1800" b="1" u="none" kern="0" spc="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업종별 산재보험료율은 매년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30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일을 기준으로 하여 과거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동안의 보수총액에 대한 산재보험급여총액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사고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질병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출퇴근 재해 중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가목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비율을 기초로 하여 산재보험법에 따른 연금 등 산재보험 급여에 드는 금액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재해예방 및 재해근로자의 복지증진에 드는 금액 등의 비용을 고려하여 사업의 종류별로 구분하여 고용노동부령으로 점함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출퇴근 재해 중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나목에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해당하는 업무상 재해는 사업의 종류를 구분하지 않음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3AA7C8A0-7BD2-4C14-9784-9B47C4C52B18}"/>
              </a:ext>
            </a:extLst>
          </p:cNvPr>
          <p:cNvSpPr/>
          <p:nvPr/>
        </p:nvSpPr>
        <p:spPr>
          <a:xfrm>
            <a:off x="305860" y="1127031"/>
            <a:ext cx="18178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</p:spTree>
    <p:extLst>
      <p:ext uri="{BB962C8B-B14F-4D97-AF65-F5344CB8AC3E}">
        <p14:creationId xmlns:p14="http://schemas.microsoft.com/office/powerpoint/2010/main" val="528009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775909"/>
              </p:ext>
            </p:extLst>
          </p:nvPr>
        </p:nvGraphicFramePr>
        <p:xfrm>
          <a:off x="305860" y="1830833"/>
          <a:ext cx="8568952" cy="46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4511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산정을 위해 사업주는 전년도 근로자에게 지급한 보수총액을 매년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일까지 근로복지공단에 신고해야 함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공단은 근로자의 개인별 보수총액에 그 사업에 적용되는 업종별 산재보험료율과 출퇴근 재해 중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나목에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적용되는 산재보험료율을 각각 곱해 그 금액을 합산하여 사업주가 납부하여야 할 보험료를 산정함 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(2) </a:t>
                      </a:r>
                      <a:r>
                        <a:rPr lang="ko-KR" altLang="en-US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 실적요율</a:t>
                      </a:r>
                      <a:endParaRPr lang="en-US" altLang="ko-KR" sz="1800" b="1" u="none" kern="0" spc="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동일한 사업이라도 재해율이 높은 사업장과 낮은 사업장에 대해 보험료율 차등적용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 사업장의 재해발생 정도에 따라 일정범위 내에서 산재보험료율 인상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인하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737EE273-B224-4EEE-87E9-04CA7C29EA6C}"/>
              </a:ext>
            </a:extLst>
          </p:cNvPr>
          <p:cNvSpPr/>
          <p:nvPr/>
        </p:nvSpPr>
        <p:spPr>
          <a:xfrm>
            <a:off x="305860" y="1127031"/>
            <a:ext cx="18178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68ECD1-14AA-41E5-84B9-EE678331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933056"/>
            <a:ext cx="8568952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66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768328"/>
              </p:ext>
            </p:extLst>
          </p:nvPr>
        </p:nvGraphicFramePr>
        <p:xfrm>
          <a:off x="255875" y="1678794"/>
          <a:ext cx="8568952" cy="477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454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(3)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개산보험료와 확정보험료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건설업과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벌목업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등은 월별로 종사자 수가 다르고 기간제 또는 시간제로 고용하는 근로자가 많아 월별 보수총액을 계산하는 것이 어렵기 때문에 보험료를 월별로 납부하지 않고 년 또는 분기별로 납부함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 경우 개산보험료와 확정보험료 제도를 사용함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692023FA-3434-4F5E-BC9C-CD8BA4FD21BD}"/>
              </a:ext>
            </a:extLst>
          </p:cNvPr>
          <p:cNvSpPr/>
          <p:nvPr/>
        </p:nvSpPr>
        <p:spPr>
          <a:xfrm>
            <a:off x="305860" y="1127031"/>
            <a:ext cx="18178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6B5F83-5BA4-4664-A426-A44389866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3" y="3868928"/>
            <a:ext cx="8505653" cy="258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43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292303"/>
              </p:ext>
            </p:extLst>
          </p:nvPr>
        </p:nvGraphicFramePr>
        <p:xfrm>
          <a:off x="251520" y="1830833"/>
          <a:ext cx="8568952" cy="1598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8167"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국가는 예산의 범위에서 보험사업의 사무집행에 드는 비용을 일반회계에서   부담하여야 함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국가는 예산의 범위에서 보험 사업에 드는 비용의 일부를 지원할 수 있음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692023FA-3434-4F5E-BC9C-CD8BA4FD21BD}"/>
              </a:ext>
            </a:extLst>
          </p:cNvPr>
          <p:cNvSpPr/>
          <p:nvPr/>
        </p:nvSpPr>
        <p:spPr>
          <a:xfrm>
            <a:off x="305860" y="1127031"/>
            <a:ext cx="304200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정부의 재정지원</a:t>
            </a:r>
          </a:p>
        </p:txBody>
      </p:sp>
    </p:spTree>
    <p:extLst>
      <p:ext uri="{BB962C8B-B14F-4D97-AF65-F5344CB8AC3E}">
        <p14:creationId xmlns:p14="http://schemas.microsoft.com/office/powerpoint/2010/main" val="3397302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29275"/>
              </p:ext>
            </p:extLst>
          </p:nvPr>
        </p:nvGraphicFramePr>
        <p:xfrm>
          <a:off x="287524" y="1268760"/>
          <a:ext cx="8568952" cy="497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7760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산재보험의 사업운영을 관장하는 기관은 </a:t>
                      </a:r>
                      <a:r>
                        <a:rPr lang="ko-KR" altLang="en-US" sz="1800" b="0" kern="0" spc="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고용노동부</a:t>
                      </a:r>
                      <a:endParaRPr lang="en-US" altLang="ko-KR" sz="1800" b="0" kern="0" spc="0" dirty="0">
                        <a:solidFill>
                          <a:srgbClr val="3399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업무는 고용노동부의 위탁을 받은 </a:t>
                      </a:r>
                      <a:r>
                        <a:rPr lang="ko-KR" altLang="en-US" sz="18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 직접적으로 수행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근로복지공단은 보험가입자와 </a:t>
                      </a:r>
                      <a:r>
                        <a:rPr lang="ko-KR" altLang="en-US" sz="1800" b="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수급자에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관한 기록의 관리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.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유지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보험급여의   결정과 지급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재해를 입은 근로자 등의 진료와 요양 및 재활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근로자의 복지증진을 위한 사업 등을 수행함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baseline="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</a:t>
                      </a:r>
                      <a:r>
                        <a:rPr lang="ko-KR" altLang="en-US" sz="1800" b="0" kern="0" spc="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징수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는 </a:t>
                      </a:r>
                      <a:r>
                        <a:rPr lang="en-US" altLang="ko-KR" sz="1800" b="0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2011</a:t>
                      </a:r>
                      <a:r>
                        <a:rPr lang="ko-KR" altLang="en-US" sz="1800" b="0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년부터 국민건강보험공단이 통합 징수함</a:t>
                      </a:r>
                      <a:endParaRPr lang="en-US" altLang="ko-KR" sz="1800" b="0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산업재해보상보험 및 예방에 관한 중요 사항을 심의하기 위하여 고용노동부에 </a:t>
                      </a:r>
                      <a:r>
                        <a:rPr lang="ko-KR" altLang="en-US" sz="1800" b="0" kern="120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산업재해보상보험 및 예방심의위원회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둠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질병 인정여부를 심의하기 위해 </a:t>
                      </a:r>
                      <a:r>
                        <a:rPr lang="ko-KR" altLang="en-US" sz="1800" b="0" i="0" u="none" kern="1200" dirty="0" err="1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업무상질병판정위원회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공단소속기관에 둠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605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9190</TotalTime>
  <Words>2631</Words>
  <Application>Microsoft Office PowerPoint</Application>
  <PresentationFormat>화면 슬라이드 쇼(4:3)</PresentationFormat>
  <Paragraphs>443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47" baseType="lpstr">
      <vt:lpstr>HY수평선M</vt:lpstr>
      <vt:lpstr>HY울릉도B</vt:lpstr>
      <vt:lpstr>HY울릉도M</vt:lpstr>
      <vt:lpstr>굴림</vt:lpstr>
      <vt:lpstr>나눔스퀘어 Bold</vt:lpstr>
      <vt:lpstr>나눔스퀘어 ExtraBold</vt:lpstr>
      <vt:lpstr>나눔스퀘어라운드 Bold</vt:lpstr>
      <vt:lpstr>맑은 고딕</vt:lpstr>
      <vt:lpstr>-윤고딕120</vt:lpstr>
      <vt:lpstr>-윤명조120</vt:lpstr>
      <vt:lpstr>태 나무</vt:lpstr>
      <vt:lpstr>Arial</vt:lpstr>
      <vt:lpstr>Times New Roman</vt:lpstr>
      <vt:lpstr>Wingdings</vt:lpstr>
      <vt:lpstr>Office 테마</vt:lpstr>
      <vt:lpstr>1_Office 테마</vt:lpstr>
      <vt:lpstr>제10장</vt:lpstr>
      <vt:lpstr>content</vt:lpstr>
      <vt:lpstr>1. 의의 및 목적</vt:lpstr>
      <vt:lpstr>2. 산재보험의 역사적 배경</vt:lpstr>
      <vt:lpstr>2. 산재보험의 역사적 배경</vt:lpstr>
      <vt:lpstr>2. 산재보험의 역사적 배경</vt:lpstr>
      <vt:lpstr>3. 도입배경 및 발전과정</vt:lpstr>
      <vt:lpstr>3. 도입배경 및 발전과정</vt:lpstr>
      <vt:lpstr>4. 적용대상</vt:lpstr>
      <vt:lpstr>4. 적용대상</vt:lpstr>
      <vt:lpstr>4. 적용대상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6. 재정</vt:lpstr>
      <vt:lpstr>6. 재정</vt:lpstr>
      <vt:lpstr>6. 재정</vt:lpstr>
      <vt:lpstr>6. 재정</vt:lpstr>
      <vt:lpstr>7. 운영체계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【사회보장론】 (Social Security )</dc:title>
  <dc:creator>my</dc:creator>
  <cp:lastModifiedBy>노동주</cp:lastModifiedBy>
  <cp:revision>1252</cp:revision>
  <dcterms:created xsi:type="dcterms:W3CDTF">2013-07-17T08:20:07Z</dcterms:created>
  <dcterms:modified xsi:type="dcterms:W3CDTF">2024-11-21T12:05:31Z</dcterms:modified>
</cp:coreProperties>
</file>